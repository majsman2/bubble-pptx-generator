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900.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4"/>
  </p:sldMasterIdLst>
  <p:notesMasterIdLst>
    <p:notesMasterId r:id="rId24"/>
  </p:notesMasterIdLst>
  <p:sldIdLst>
    <p:sldId id="258" r:id="rId5"/>
    <p:sldId id="331" r:id="rId6"/>
    <p:sldId id="355" r:id="rId7"/>
    <p:sldId id="314" r:id="rId8"/>
    <p:sldId id="327" r:id="rId9"/>
    <p:sldId id="316" r:id="rId10"/>
    <p:sldId id="300" r:id="rId11"/>
    <p:sldId id="301" r:id="rId12"/>
    <p:sldId id="357" r:id="rId30"/>
    <p:sldId id="307" r:id="rId13"/>
    <p:sldId id="272" r:id="rId23"/>
  </p:sldIdLst>
  <p:sldSz cx="7559675" cy="10691813"/>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Forfatter" initials="A" userId="Author" providerId="AD"/>
  <p188:author id="{5A717729-70A1-A95A-729B-0270D7318E5A}" name="Amanda Simonsen" initials="AS" userId="S::amanda.simonsen@cphchangery.dk::11aad7e9-3369-4d2e-bd33-a826dd209a06" providerId="AD"/>
  <p188:author id="{95582667-6102-27E7-ED8E-01A166EB4B6B}" name="Guest User" initials="GU" userId="Guest User" providerId="Windows Live"/>
  <p188:author id="{D710FB69-54CF-AFDB-ADF5-2ED737B81BDA}" name="Nicolai Petersen" initials="NP" userId="6925884bbfe4e3a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7477"/>
    <a:srgbClr val="D1DAD4"/>
    <a:srgbClr val="0000FF"/>
    <a:srgbClr val="1B4529"/>
    <a:srgbClr val="FFFF99"/>
    <a:srgbClr val="1B24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39" d="100"/>
          <a:sy n="39" d="100"/>
        </p:scale>
        <p:origin x="2144" y="44"/>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26"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25" Type="http://schemas.openxmlformats.org/officeDocument/2006/relationships/presProps" Target="presProps.xml"/><Relationship Id="rId2" Type="http://schemas.openxmlformats.org/officeDocument/2006/relationships/customXml" Target="../customXml/item2.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27" Type="http://schemas.openxmlformats.org/officeDocument/2006/relationships/theme" Target="theme/theme1.xml"/><Relationship Id="rId30" Type="http://schemas.openxmlformats.org/officeDocument/2006/relationships/slide" Target="slides/slide90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IBM Plex Sans" panose="020B0503050203000203" pitchFamily="34" charset="0"/>
              </a:defRPr>
            </a:lvl1pPr>
          </a:lstStyle>
          <a:p>
            <a:endParaRPr lang="de-DE"/>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IBM Plex Sans" panose="020B0503050203000203" pitchFamily="34" charset="0"/>
              </a:defRPr>
            </a:lvl1pPr>
          </a:lstStyle>
          <a:p>
            <a:fld id="{12DFE416-DAD6-D749-857D-2E29C861AEBD}" type="datetimeFigureOut">
              <a:rPr lang="de-DE" smtClean="0"/>
              <a:pPr/>
              <a:t>12/08/2026</a:t>
            </a:fld>
            <a:endParaRPr lang="de-DE"/>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Click to edit Master text styles</a:t>
            </a:r>
          </a:p>
          <a:p>
            <a:pPr lvl="1"/>
            <a:r>
              <a:rPr lang="de-DE"/>
              <a:t xml:space="preserve">Zweite Ebene</a:t>
            </a:r>
          </a:p>
          <a:p>
            <a:pPr lvl="2"/>
            <a:r>
              <a:rPr lang="de-DE"/>
              <a:t xml:space="preserve">Dritte Ebene</a:t>
            </a:r>
          </a:p>
          <a:p>
            <a:pPr lvl="3"/>
            <a:r>
              <a:rPr lang="de-DE"/>
              <a:t xml:space="preserve">Vierte Ebene</a:t>
            </a:r>
          </a:p>
          <a:p>
            <a:pPr lvl="4"/>
            <a:r>
              <a:rPr lang="de-DE"/>
              <a:t xml:space="preserve">Fünfte Ebene</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IBM Plex Sans" panose="020B0503050203000203" pitchFamily="34" charset="0"/>
              </a:defRPr>
            </a:lvl1pPr>
          </a:lstStyle>
          <a:p>
            <a:endParaRPr lang="de-DE"/>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IBM Plex Sans" panose="020B0503050203000203" pitchFamily="34" charset="0"/>
              </a:defRPr>
            </a:lvl1pPr>
          </a:lstStyle>
          <a:p>
            <a:fld id="{45BFCFCE-5A78-CB4C-8592-F27D9484E3BD}" type="slidenum">
              <a:rPr lang="de-DE" smtClean="0"/>
              <a:pPr/>
              <a:t>‹nr.›</a:t>
            </a:fld>
            <a:endParaRPr lang="de-DE"/>
          </a:p>
        </p:txBody>
      </p:sp>
    </p:spTree>
    <p:extLst>
      <p:ext uri="{BB962C8B-B14F-4D97-AF65-F5344CB8AC3E}">
        <p14:creationId xmlns:p14="http://schemas.microsoft.com/office/powerpoint/2010/main" val="2960237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IBM Plex Sans" panose="020B0503050203000203" pitchFamily="34" charset="0"/>
        <a:ea typeface="+mn-ea"/>
        <a:cs typeface="+mn-cs"/>
      </a:defRPr>
    </a:lvl1pPr>
    <a:lvl2pPr marL="457200" algn="l" defTabSz="914400" rtl="0" eaLnBrk="1" latinLnBrk="0" hangingPunct="1">
      <a:defRPr sz="1200" kern="1200">
        <a:solidFill>
          <a:schemeClr val="tx1"/>
        </a:solidFill>
        <a:latin typeface="IBM Plex Sans" panose="020B0503050203000203" pitchFamily="34" charset="0"/>
        <a:ea typeface="+mn-ea"/>
        <a:cs typeface="+mn-cs"/>
      </a:defRPr>
    </a:lvl2pPr>
    <a:lvl3pPr marL="914400" algn="l" defTabSz="914400" rtl="0" eaLnBrk="1" latinLnBrk="0" hangingPunct="1">
      <a:defRPr sz="1200" kern="1200">
        <a:solidFill>
          <a:schemeClr val="tx1"/>
        </a:solidFill>
        <a:latin typeface="IBM Plex Sans" panose="020B0503050203000203" pitchFamily="34" charset="0"/>
        <a:ea typeface="+mn-ea"/>
        <a:cs typeface="+mn-cs"/>
      </a:defRPr>
    </a:lvl3pPr>
    <a:lvl4pPr marL="1371600" algn="l" defTabSz="914400" rtl="0" eaLnBrk="1" latinLnBrk="0" hangingPunct="1">
      <a:defRPr sz="1200" kern="1200">
        <a:solidFill>
          <a:schemeClr val="tx1"/>
        </a:solidFill>
        <a:latin typeface="IBM Plex Sans" panose="020B0503050203000203" pitchFamily="34" charset="0"/>
        <a:ea typeface="+mn-ea"/>
        <a:cs typeface="+mn-cs"/>
      </a:defRPr>
    </a:lvl4pPr>
    <a:lvl5pPr marL="1828800" algn="l" defTabSz="914400" rtl="0" eaLnBrk="1" latinLnBrk="0" hangingPunct="1">
      <a:defRPr sz="1200" kern="1200">
        <a:solidFill>
          <a:schemeClr val="tx1"/>
        </a:solidFill>
        <a:latin typeface="IBM Plex Sans" panose="020B050305020300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de-DE"/>
          </a:p>
        </p:txBody>
      </p:sp>
      <p:sp>
        <p:nvSpPr>
          <p:cNvPr id="4" name="Pladsholder til slidenummer 3"/>
          <p:cNvSpPr>
            <a:spLocks noGrp="1"/>
          </p:cNvSpPr>
          <p:nvPr>
            <p:ph type="sldNum" sz="quarter" idx="5"/>
          </p:nvPr>
        </p:nvSpPr>
        <p:spPr/>
        <p:txBody>
          <a:bodyPr/>
          <a:lstStyle/>
          <a:p>
            <a:fld id="{45BFCFCE-5A78-CB4C-8592-F27D9484E3BD}" type="slidenum">
              <a:rPr lang="de-DE" smtClean="0"/>
              <a:pPr/>
              <a:t>1</a:t>
            </a:fld>
            <a:endParaRPr lang="de-DE"/>
          </a:p>
        </p:txBody>
      </p:sp>
    </p:spTree>
    <p:extLst>
      <p:ext uri="{BB962C8B-B14F-4D97-AF65-F5344CB8AC3E}">
        <p14:creationId xmlns:p14="http://schemas.microsoft.com/office/powerpoint/2010/main" val="804952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de-DE"/>
          </a:p>
        </p:txBody>
      </p:sp>
      <p:sp>
        <p:nvSpPr>
          <p:cNvPr id="4" name="Pladsholder til slidenummer 3"/>
          <p:cNvSpPr>
            <a:spLocks noGrp="1"/>
          </p:cNvSpPr>
          <p:nvPr>
            <p:ph type="sldNum" sz="quarter" idx="5"/>
          </p:nvPr>
        </p:nvSpPr>
        <p:spPr/>
        <p:txBody>
          <a:bodyPr/>
          <a:lstStyle/>
          <a:p>
            <a:fld id="{45BFCFCE-5A78-CB4C-8592-F27D9484E3BD}" type="slidenum">
              <a:rPr lang="de-DE" smtClean="0"/>
              <a:pPr/>
              <a:t>2</a:t>
            </a:fld>
            <a:endParaRPr lang="de-DE"/>
          </a:p>
        </p:txBody>
      </p:sp>
    </p:spTree>
    <p:extLst>
      <p:ext uri="{BB962C8B-B14F-4D97-AF65-F5344CB8AC3E}">
        <p14:creationId xmlns:p14="http://schemas.microsoft.com/office/powerpoint/2010/main" val="3631039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de-DE"/>
          </a:p>
        </p:txBody>
      </p:sp>
      <p:sp>
        <p:nvSpPr>
          <p:cNvPr id="4" name="Pladsholder til slidenummer 3"/>
          <p:cNvSpPr>
            <a:spLocks noGrp="1"/>
          </p:cNvSpPr>
          <p:nvPr>
            <p:ph type="sldNum" sz="quarter" idx="5"/>
          </p:nvPr>
        </p:nvSpPr>
        <p:spPr/>
        <p:txBody>
          <a:bodyPr/>
          <a:lstStyle/>
          <a:p>
            <a:fld id="{45BFCFCE-5A78-CB4C-8592-F27D9484E3BD}" type="slidenum">
              <a:rPr lang="de-DE" smtClean="0"/>
              <a:pPr/>
              <a:t>3</a:t>
            </a:fld>
            <a:endParaRPr lang="de-DE"/>
          </a:p>
        </p:txBody>
      </p:sp>
    </p:spTree>
    <p:extLst>
      <p:ext uri="{BB962C8B-B14F-4D97-AF65-F5344CB8AC3E}">
        <p14:creationId xmlns:p14="http://schemas.microsoft.com/office/powerpoint/2010/main" val="3059604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r>
              <a:rPr lang="de-DE"/>
              <a:t xml:space="preserve">Entfernt: </a:t>
            </a:r>
            <a:r>
              <a:rPr lang="de-DE" sz="1200" b="0" i="0" u="none" strike="noStrike" kern="1200">
                <a:solidFill>
                  <a:schemeClr val="tx1"/>
                </a:solidFill>
                <a:effectLst/>
                <a:latin typeface="IBM Plex Sans" panose="020B0503050203000203" pitchFamily="34" charset="0"/>
                <a:ea typeface="+mn-ea"/>
                <a:cs typeface="+mn-cs"/>
              </a:rPr>
              <a:t>{{documents_B2}}</a:t>
            </a:r>
          </a:p>
          <a:p>
            <a:r>
              <a:rPr lang="de-DE" sz="1200" b="0" i="0" u="none" strike="noStrike" kern="1200">
                <a:solidFill>
                  <a:schemeClr val="tx1"/>
                </a:solidFill>
                <a:effectLst/>
                <a:latin typeface="IBM Plex Sans" panose="020B0503050203000203" pitchFamily="34" charset="0"/>
                <a:ea typeface="+mn-ea"/>
                <a:cs typeface="+mn-cs"/>
              </a:rPr>
              <a:t xml:space="preserve">Hinzugefügt: Spalte zur Überwachung</a:t>
            </a:r>
            <a:r>
              <a:rPr lang="de-DE" sz="1200" b="0" i="0" u="none" strike="noStrike" kern="1200">
                <a:solidFill>
                  <a:schemeClr val="tx1"/>
                </a:solidFill>
                <a:effectLst/>
                <a:latin typeface="IBM Plex Sans" panose="020B0503050203000203" pitchFamily="34" charset="0"/>
                <a:ea typeface="+mn-ea"/>
                <a:cs typeface="+mn-cs"/>
              </a:rPr>
              <a:t xml:space="preserve"/>
            </a:r>
            <a:r>
              <a:rPr lang="de-DE" sz="1200" b="0" i="0" u="none" strike="noStrike" kern="1200">
                <a:solidFill>
                  <a:schemeClr val="tx1"/>
                </a:solidFill>
                <a:effectLst/>
                <a:latin typeface="IBM Plex Sans" panose="020B0503050203000203" pitchFamily="34" charset="0"/>
                <a:ea typeface="+mn-ea"/>
                <a:cs typeface="+mn-cs"/>
              </a:rPr>
              <a:t xml:space="preserve"/>
            </a:r>
            <a:r>
              <a:rPr lang="de-DE" sz="1200" b="0" i="0" u="none" strike="noStrike" kern="1200">
                <a:solidFill>
                  <a:schemeClr val="tx1"/>
                </a:solidFill>
                <a:effectLst/>
                <a:latin typeface="IBM Plex Sans" panose="020B0503050203000203" pitchFamily="34" charset="0"/>
                <a:ea typeface="+mn-ea"/>
                <a:cs typeface="+mn-cs"/>
              </a:rPr>
              <a:t xml:space="preserve"/>
            </a:r>
            <a:r>
              <a:rPr lang="de-DE" sz="1200" b="0" i="0" u="none" strike="noStrike" kern="1200">
                <a:solidFill>
                  <a:schemeClr val="tx1"/>
                </a:solidFill>
                <a:effectLst/>
                <a:latin typeface="IBM Plex Sans" panose="020B0503050203000203" pitchFamily="34" charset="0"/>
                <a:ea typeface="+mn-ea"/>
                <a:cs typeface="+mn-cs"/>
              </a:rPr>
              <a:t xml:space="preserve"/>
            </a:r>
            <a:endParaRPr lang="de-DE"/>
          </a:p>
        </p:txBody>
      </p:sp>
      <p:sp>
        <p:nvSpPr>
          <p:cNvPr id="4" name="Pladsholder til slidenummer 3"/>
          <p:cNvSpPr>
            <a:spLocks noGrp="1"/>
          </p:cNvSpPr>
          <p:nvPr>
            <p:ph type="sldNum" sz="quarter" idx="5"/>
          </p:nvPr>
        </p:nvSpPr>
        <p:spPr/>
        <p:txBody>
          <a:bodyPr/>
          <a:lstStyle/>
          <a:p>
            <a:fld id="{45BFCFCE-5A78-CB4C-8592-F27D9484E3BD}" type="slidenum">
              <a:rPr lang="de-DE" smtClean="0"/>
              <a:pPr/>
              <a:t>4</a:t>
            </a:fld>
            <a:endParaRPr lang="de-DE"/>
          </a:p>
        </p:txBody>
      </p:sp>
    </p:spTree>
    <p:extLst>
      <p:ext uri="{BB962C8B-B14F-4D97-AF65-F5344CB8AC3E}">
        <p14:creationId xmlns:p14="http://schemas.microsoft.com/office/powerpoint/2010/main" val="3400092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de-DE"/>
          </a:p>
        </p:txBody>
      </p:sp>
      <p:sp>
        <p:nvSpPr>
          <p:cNvPr id="3" name="Pladsholder til noter 2"/>
          <p:cNvSpPr>
            <a:spLocks noGrp="1"/>
          </p:cNvSpPr>
          <p:nvPr>
            <p:ph type="body" idx="1"/>
          </p:nvPr>
        </p:nvSpPr>
        <p:spPr/>
        <p:txBody>
          <a:bodyPr/>
          <a:lstStyle/>
          <a:p>
            <a:pPr rtl="0"/>
            <a:r>
              <a:rPr lang="de-DE"/>
              <a:t xml:space="preserve">Entfernt: </a:t>
            </a:r>
            <a:r>
              <a:rPr lang="de-DE" sz="1200" b="0" i="0" u="none" strike="noStrike" kern="1200">
                <a:solidFill>
                  <a:schemeClr val="tx1"/>
                </a:solidFill>
                <a:effectLst/>
                <a:latin typeface="IBM Plex Sans" panose="020B0503050203000203" pitchFamily="34" charset="0"/>
                <a:ea typeface="+mn-ea"/>
                <a:cs typeface="+mn-cs"/>
              </a:rPr>
              <a:t>{{Insert_CO2e_intensity}}</a:t>
            </a:r>
            <a:endParaRPr lang="de-DE"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e-DE" smtClean="0"/>
              <a:pPr/>
              <a:t>5</a:t>
            </a:fld>
            <a:endParaRPr lang="de-DE"/>
          </a:p>
        </p:txBody>
      </p:sp>
    </p:spTree>
    <p:extLst>
      <p:ext uri="{BB962C8B-B14F-4D97-AF65-F5344CB8AC3E}">
        <p14:creationId xmlns:p14="http://schemas.microsoft.com/office/powerpoint/2010/main" val="3098348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de-DE"/>
              <a:t xml:space="preserve">Entfernt: </a:t>
            </a:r>
            <a:r>
              <a:rPr lang="de-DE" sz="1200" b="0" i="0" u="none" strike="noStrike" kern="1200">
                <a:solidFill>
                  <a:schemeClr val="tx1"/>
                </a:solidFill>
                <a:effectLst/>
                <a:latin typeface="IBM Plex Sans" panose="020B0503050203000203" pitchFamily="34" charset="0"/>
                <a:ea typeface="+mn-ea"/>
                <a:cs typeface="+mn-cs"/>
              </a:rPr>
              <a:t>{{uploaded_documents_B4}}</a:t>
            </a:r>
            <a:endParaRPr lang="de-DE"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e-DE" smtClean="0"/>
              <a:pPr/>
              <a:t>6</a:t>
            </a:fld>
            <a:endParaRPr lang="de-DE"/>
          </a:p>
        </p:txBody>
      </p:sp>
    </p:spTree>
    <p:extLst>
      <p:ext uri="{BB962C8B-B14F-4D97-AF65-F5344CB8AC3E}">
        <p14:creationId xmlns:p14="http://schemas.microsoft.com/office/powerpoint/2010/main" val="2474281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de-DE"/>
          </a:p>
        </p:txBody>
      </p:sp>
      <p:sp>
        <p:nvSpPr>
          <p:cNvPr id="3" name="Pladsholder til noter 2"/>
          <p:cNvSpPr>
            <a:spLocks noGrp="1"/>
          </p:cNvSpPr>
          <p:nvPr>
            <p:ph type="body" idx="1"/>
          </p:nvPr>
        </p:nvSpPr>
        <p:spPr/>
        <p:txBody>
          <a:bodyPr/>
          <a:lstStyle/>
          <a:p>
            <a:endParaRPr lang="de-DE"/>
          </a:p>
        </p:txBody>
      </p:sp>
      <p:sp>
        <p:nvSpPr>
          <p:cNvPr id="4" name="Pladsholder til slidenummer 3"/>
          <p:cNvSpPr>
            <a:spLocks noGrp="1"/>
          </p:cNvSpPr>
          <p:nvPr>
            <p:ph type="sldNum" sz="quarter" idx="5"/>
          </p:nvPr>
        </p:nvSpPr>
        <p:spPr/>
        <p:txBody>
          <a:bodyPr/>
          <a:lstStyle/>
          <a:p>
            <a:fld id="{45BFCFCE-5A78-CB4C-8592-F27D9484E3BD}" type="slidenum">
              <a:rPr lang="de-DE" smtClean="0"/>
              <a:pPr/>
              <a:t>7</a:t>
            </a:fld>
            <a:endParaRPr lang="de-DE"/>
          </a:p>
        </p:txBody>
      </p:sp>
    </p:spTree>
    <p:extLst>
      <p:ext uri="{BB962C8B-B14F-4D97-AF65-F5344CB8AC3E}">
        <p14:creationId xmlns:p14="http://schemas.microsoft.com/office/powerpoint/2010/main" val="2243809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de-DE"/>
              <a:t xml:space="preserve">Entfernt: </a:t>
            </a:r>
            <a:r>
              <a:rPr lang="de-DE" sz="1200" b="0" i="0" u="none" strike="noStrike" kern="1200">
                <a:solidFill>
                  <a:schemeClr val="tx1"/>
                </a:solidFill>
                <a:effectLst/>
                <a:latin typeface="IBM Plex Sans" panose="020B0503050203000203" pitchFamily="34" charset="0"/>
                <a:ea typeface="+mn-ea"/>
                <a:cs typeface="+mn-cs"/>
              </a:rPr>
              <a:t>{{</a:t>
            </a:r>
            <a:r>
              <a:rPr lang="de-DE" sz="1200" b="0" i="0" u="none" strike="noStrike" kern="1200">
                <a:solidFill>
                  <a:schemeClr val="tx1"/>
                </a:solidFill>
                <a:effectLst/>
                <a:latin typeface="IBM Plex Sans" panose="020B0503050203000203" pitchFamily="34" charset="0"/>
                <a:ea typeface="+mn-ea"/>
                <a:cs typeface="+mn-cs"/>
              </a:rPr>
              <a:t>omsatningsrate</a:t>
            </a:r>
            <a:r>
              <a:rPr lang="de-DE" sz="1200" b="0" i="0" u="none" strike="noStrike" kern="1200">
                <a:solidFill>
                  <a:schemeClr val="tx1"/>
                </a:solidFill>
                <a:effectLst/>
                <a:latin typeface="IBM Plex Sans" panose="020B0503050203000203" pitchFamily="34" charset="0"/>
                <a:ea typeface="+mn-ea"/>
                <a:cs typeface="+mn-cs"/>
              </a:rPr>
              <a:t>}}</a:t>
            </a:r>
            <a:endParaRPr lang="de-DE"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e-DE" smtClean="0"/>
              <a:pPr/>
              <a:t>8</a:t>
            </a:fld>
            <a:endParaRPr lang="de-DE"/>
          </a:p>
        </p:txBody>
      </p:sp>
    </p:spTree>
    <p:extLst>
      <p:ext uri="{BB962C8B-B14F-4D97-AF65-F5344CB8AC3E}">
        <p14:creationId xmlns:p14="http://schemas.microsoft.com/office/powerpoint/2010/main" val="40643826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de-DE"/>
          </a:p>
        </p:txBody>
      </p:sp>
      <p:sp>
        <p:nvSpPr>
          <p:cNvPr id="4" name="Pladsholder til slidenummer 3"/>
          <p:cNvSpPr>
            <a:spLocks noGrp="1"/>
          </p:cNvSpPr>
          <p:nvPr>
            <p:ph type="sldNum" sz="quarter" idx="5"/>
          </p:nvPr>
        </p:nvSpPr>
        <p:spPr/>
        <p:txBody>
          <a:bodyPr/>
          <a:lstStyle/>
          <a:p>
            <a:fld id="{45BFCFCE-5A78-CB4C-8592-F27D9484E3BD}" type="slidenum">
              <a:rPr lang="de-DE" smtClean="0"/>
              <a:pPr/>
              <a:t>9</a:t>
            </a:fld>
            <a:endParaRPr lang="de-DE"/>
          </a:p>
        </p:txBody>
      </p:sp>
    </p:spTree>
    <p:extLst>
      <p:ext uri="{BB962C8B-B14F-4D97-AF65-F5344CB8AC3E}">
        <p14:creationId xmlns:p14="http://schemas.microsoft.com/office/powerpoint/2010/main" val="3061253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templat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2E31B1D-D5FA-1144-A6D9-FDFA19DD3A3B}"/>
              </a:ext>
            </a:extLst>
          </p:cNvPr>
          <p:cNvSpPr>
            <a:spLocks noGrp="1"/>
          </p:cNvSpPr>
          <p:nvPr>
            <p:ph type="body" sz="quarter" idx="14"/>
          </p:nvPr>
        </p:nvSpPr>
        <p:spPr>
          <a:xfrm>
            <a:off x="417725" y="1422386"/>
            <a:ext cx="2071467" cy="4440060"/>
          </a:xfrm>
        </p:spPr>
        <p:txBody>
          <a:bodyPr/>
          <a:lstStyle>
            <a:lvl1pPr marL="0" indent="0">
              <a:buNone/>
              <a:defRPr/>
            </a:lvl1pPr>
          </a:lstStyle>
          <a:p>
            <a:pPr lvl="0"/>
            <a:r>
              <a:rPr lang="de-DE" noProof="0"/>
              <a:t>Click</a:t>
            </a:r>
            <a:r>
              <a:rPr lang="de-DE" noProof="0"/>
              <a:t> to </a:t>
            </a:r>
            <a:r>
              <a:rPr lang="de-DE" noProof="0"/>
              <a:t>edit</a:t>
            </a:r>
            <a:r>
              <a:rPr lang="de-DE" noProof="0"/>
              <a:t> Master </a:t>
            </a:r>
            <a:r>
              <a:rPr lang="de-DE" noProof="0"/>
              <a:t>text</a:t>
            </a:r>
            <a:r>
              <a:rPr lang="de-DE" noProof="0"/>
              <a:t> styles</a:t>
            </a:r>
          </a:p>
        </p:txBody>
      </p:sp>
      <p:sp>
        <p:nvSpPr>
          <p:cNvPr id="11" name="Text Placeholder 9">
            <a:extLst>
              <a:ext uri="{FF2B5EF4-FFF2-40B4-BE49-F238E27FC236}">
                <a16:creationId xmlns:a16="http://schemas.microsoft.com/office/drawing/2014/main" id="{F1EF6F5B-4C89-A089-DA32-6A1686CD0B74}"/>
              </a:ext>
            </a:extLst>
          </p:cNvPr>
          <p:cNvSpPr>
            <a:spLocks noGrp="1"/>
          </p:cNvSpPr>
          <p:nvPr>
            <p:ph type="body" sz="quarter" idx="15"/>
          </p:nvPr>
        </p:nvSpPr>
        <p:spPr>
          <a:xfrm>
            <a:off x="2676401" y="1422387"/>
            <a:ext cx="2071466" cy="4440059"/>
          </a:xfrm>
        </p:spPr>
        <p:txBody>
          <a:bodyPr/>
          <a:lstStyle>
            <a:lvl1pPr marL="0" indent="0">
              <a:buNone/>
              <a:defRPr/>
            </a:lvl1pPr>
          </a:lstStyle>
          <a:p>
            <a:pPr lvl="0"/>
            <a:r>
              <a:rPr lang="de-DE" noProof="0"/>
              <a:t>Click</a:t>
            </a:r>
            <a:r>
              <a:rPr lang="de-DE" noProof="0"/>
              <a:t> to </a:t>
            </a:r>
            <a:r>
              <a:rPr lang="de-DE" noProof="0"/>
              <a:t>edit</a:t>
            </a:r>
            <a:r>
              <a:rPr lang="de-DE" noProof="0"/>
              <a:t> Master </a:t>
            </a:r>
            <a:r>
              <a:rPr lang="de-DE" noProof="0"/>
              <a:t>text</a:t>
            </a:r>
            <a:r>
              <a:rPr lang="de-DE" noProof="0"/>
              <a:t> styles</a:t>
            </a:r>
          </a:p>
        </p:txBody>
      </p:sp>
      <p:sp>
        <p:nvSpPr>
          <p:cNvPr id="2" name="Title 1">
            <a:extLst>
              <a:ext uri="{FF2B5EF4-FFF2-40B4-BE49-F238E27FC236}">
                <a16:creationId xmlns:a16="http://schemas.microsoft.com/office/drawing/2014/main" id="{4149F0AB-3484-3BD8-5F17-C0910484351A}"/>
              </a:ext>
            </a:extLst>
          </p:cNvPr>
          <p:cNvSpPr>
            <a:spLocks noGrp="1"/>
          </p:cNvSpPr>
          <p:nvPr>
            <p:ph type="title"/>
          </p:nvPr>
        </p:nvSpPr>
        <p:spPr/>
        <p:txBody>
          <a:bodyPr/>
          <a:lstStyle/>
          <a:p>
            <a:r>
              <a:rPr lang="de-DE"/>
              <a:t>Click to edit Master title style</a:t>
            </a:r>
          </a:p>
        </p:txBody>
      </p:sp>
    </p:spTree>
    <p:extLst>
      <p:ext uri="{BB962C8B-B14F-4D97-AF65-F5344CB8AC3E}">
        <p14:creationId xmlns:p14="http://schemas.microsoft.com/office/powerpoint/2010/main" val="3469057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side med billedebaggr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ESG wordmark"/>
          <p:cNvSpPr txBox="1"/>
          <p:nvPr/>
        </p:nvSpPr>
        <p:spPr>
          <a:xfrm>
            <a:off x="365760" y="2537424"/>
            <a:ext cx="6828155" cy="2228341"/>
          </a:xfrm>
          <a:prstGeom prst="rect">
            <a:avLst/>
          </a:prstGeom>
          <a:noFill/>
        </p:spPr>
        <p:txBody>
          <a:bodyPr wrap="square" lIns="0" tIns="0" rIns="0" bIns="0" anchor="ctr">
            <a:noAutofit/>
          </a:bodyPr>
          <a:lstStyle/>
          <a:p>
            <a:pPr algn="ctr"/>
            <a:r>
              <a:rPr lang="en-GB" sz="12900" b="1" spc="-322" dirty="0">
                <a:solidFill>
                  <a:srgbClr val="FFFFFF"/>
                </a:solidFill>
                <a:latin typeface="+mn-lt"/>
              </a:rPr>
              <a:t>ESG</a:t>
            </a:r>
            <a:endParaRPr lang="en-GB" sz="12900" b="1" spc="-322"/>
          </a:p>
        </p:txBody>
      </p:sp>
      <p:sp>
        <p:nvSpPr>
          <p:cNvPr id="7" name="Footer Placeholder 6">
            <a:extLst>
              <a:ext uri="{FF2B5EF4-FFF2-40B4-BE49-F238E27FC236}">
                <a16:creationId xmlns:a16="http://schemas.microsoft.com/office/drawing/2014/main" id="{85E44590-AE8B-6098-6E3A-22BBF073CF8E}"/>
              </a:ext>
            </a:extLst>
          </p:cNvPr>
          <p:cNvSpPr>
            <a:spLocks noGrp="1"/>
          </p:cNvSpPr>
          <p:nvPr>
            <p:ph type="ftr" sz="quarter" idx="15"/>
          </p:nvPr>
        </p:nvSpPr>
        <p:spPr>
          <a:xfrm>
            <a:off x="2184109" y="6707538"/>
            <a:ext cx="3052354" cy="234336"/>
          </a:xfrm>
        </p:spPr>
        <p:txBody>
          <a:bodyPr/>
          <a:lstStyle>
            <a:lvl1pPr algn="ctr">
              <a:defRPr sz="1150">
                <a:solidFill>
                  <a:schemeClr val="bg1"/>
                </a:solidFill>
              </a:defRPr>
            </a:lvl1pPr>
          </a:lstStyle>
          <a:p>
            <a:r>
              <a:rPr lang="de-DE"/>
              <a:t xml:space="preserve">KLICKEN, UM FIRMENNAME EINZUFÜGEN</a:t>
            </a:r>
          </a:p>
        </p:txBody>
      </p:sp>
      <p:sp>
        <p:nvSpPr>
          <p:cNvPr id="5" name="Titel 4">
            <a:extLst>
              <a:ext uri="{FF2B5EF4-FFF2-40B4-BE49-F238E27FC236}">
                <a16:creationId xmlns:a16="http://schemas.microsoft.com/office/drawing/2014/main" id="{A3676786-DF78-2A13-71BF-8354606B0D04}"/>
              </a:ext>
            </a:extLst>
          </p:cNvPr>
          <p:cNvSpPr>
            <a:spLocks noGrp="1"/>
          </p:cNvSpPr>
          <p:nvPr>
            <p:ph type="title" hasCustomPrompt="1"/>
          </p:nvPr>
        </p:nvSpPr>
        <p:spPr>
          <a:xfrm>
            <a:off x="754701" y="6237584"/>
            <a:ext cx="5915802" cy="152274"/>
          </a:xfrm>
        </p:spPr>
        <p:txBody>
          <a:bodyPr/>
          <a:lstStyle>
            <a:lvl1pPr algn="ctr">
              <a:defRPr sz="900" spc="300">
                <a:solidFill>
                  <a:schemeClr val="bg1"/>
                </a:solidFill>
              </a:defRPr>
            </a:lvl1pPr>
          </a:lstStyle>
          <a:p>
            <a:r>
              <a:rPr lang="de-DE"/>
              <a:t xml:space="preserve">TITEL EINFÜGEN</a:t>
            </a:r>
          </a:p>
        </p:txBody>
      </p:sp>
    </p:spTree>
    <p:extLst>
      <p:ext uri="{BB962C8B-B14F-4D97-AF65-F5344CB8AC3E}">
        <p14:creationId xmlns:p14="http://schemas.microsoft.com/office/powerpoint/2010/main" val="2290891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SG opgørels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9358A1A1-81A1-00B9-5F3F-17B9B899E502}"/>
              </a:ext>
            </a:extLst>
          </p:cNvPr>
          <p:cNvSpPr>
            <a:spLocks noGrp="1"/>
          </p:cNvSpPr>
          <p:nvPr>
            <p:ph type="body" sz="quarter" idx="17"/>
          </p:nvPr>
        </p:nvSpPr>
        <p:spPr>
          <a:xfrm>
            <a:off x="423975" y="1381944"/>
            <a:ext cx="2687561" cy="4470221"/>
          </a:xfrm>
        </p:spPr>
        <p:txBody>
          <a:bodyPr/>
          <a:lstStyle>
            <a:lvl1pPr marL="0" indent="0">
              <a:lnSpc>
                <a:spcPct val="129000"/>
              </a:lnSpc>
              <a:spcAft>
                <a:spcPts val="0"/>
              </a:spcAft>
              <a:buNone/>
              <a:tabLst>
                <a:tab pos="239990" algn="l"/>
                <a:tab pos="389984" algn="l"/>
                <a:tab pos="3419863" algn="r"/>
              </a:tabLst>
              <a:defRPr sz="725">
                <a:solidFill>
                  <a:schemeClr val="tx2"/>
                </a:solidFill>
              </a:defRPr>
            </a:lvl1pPr>
          </a:lstStyle>
          <a:p>
            <a:pPr lvl="0"/>
            <a:r>
              <a:rPr lang="de-DE" noProof="0"/>
              <a:t>Click</a:t>
            </a:r>
            <a:r>
              <a:rPr lang="de-DE" noProof="0"/>
              <a:t> to </a:t>
            </a:r>
            <a:r>
              <a:rPr lang="de-DE" noProof="0"/>
              <a:t>edit</a:t>
            </a:r>
            <a:r>
              <a:rPr lang="de-DE" noProof="0"/>
              <a:t> Master </a:t>
            </a:r>
            <a:r>
              <a:rPr lang="de-DE" noProof="0"/>
              <a:t>text</a:t>
            </a:r>
            <a:r>
              <a:rPr lang="de-DE" noProof="0"/>
              <a:t> styles</a:t>
            </a:r>
          </a:p>
        </p:txBody>
      </p:sp>
      <p:sp>
        <p:nvSpPr>
          <p:cNvPr id="2" name="Text Placeholder 9">
            <a:extLst>
              <a:ext uri="{FF2B5EF4-FFF2-40B4-BE49-F238E27FC236}">
                <a16:creationId xmlns:a16="http://schemas.microsoft.com/office/drawing/2014/main" id="{DDD3249A-9EA8-2D06-EED5-368B4A02469F}"/>
              </a:ext>
            </a:extLst>
          </p:cNvPr>
          <p:cNvSpPr>
            <a:spLocks noGrp="1"/>
          </p:cNvSpPr>
          <p:nvPr>
            <p:ph type="body" sz="quarter" idx="20"/>
          </p:nvPr>
        </p:nvSpPr>
        <p:spPr>
          <a:xfrm>
            <a:off x="3934311" y="1374025"/>
            <a:ext cx="2687561" cy="4470220"/>
          </a:xfrm>
        </p:spPr>
        <p:txBody>
          <a:bodyPr/>
          <a:lstStyle>
            <a:lvl1pPr marL="0" indent="0">
              <a:lnSpc>
                <a:spcPct val="129000"/>
              </a:lnSpc>
              <a:spcAft>
                <a:spcPts val="0"/>
              </a:spcAft>
              <a:buNone/>
              <a:tabLst>
                <a:tab pos="239990" algn="l"/>
                <a:tab pos="389984" algn="l"/>
                <a:tab pos="3419863" algn="r"/>
              </a:tabLst>
              <a:defRPr sz="725">
                <a:solidFill>
                  <a:schemeClr val="tx2"/>
                </a:solidFill>
              </a:defRPr>
            </a:lvl1pPr>
          </a:lstStyle>
          <a:p>
            <a:pPr lvl="0"/>
            <a:r>
              <a:rPr lang="de-DE" noProof="0"/>
              <a:t>Click</a:t>
            </a:r>
            <a:r>
              <a:rPr lang="de-DE" noProof="0"/>
              <a:t> to </a:t>
            </a:r>
            <a:r>
              <a:rPr lang="de-DE" noProof="0"/>
              <a:t>edit</a:t>
            </a:r>
            <a:r>
              <a:rPr lang="de-DE" noProof="0"/>
              <a:t> Master </a:t>
            </a:r>
            <a:r>
              <a:rPr lang="de-DE" noProof="0"/>
              <a:t>text</a:t>
            </a:r>
            <a:r>
              <a:rPr lang="de-DE" noProof="0"/>
              <a:t> styles</a:t>
            </a:r>
          </a:p>
        </p:txBody>
      </p:sp>
      <p:sp>
        <p:nvSpPr>
          <p:cNvPr id="6" name="Footer Placeholder 5">
            <a:extLst>
              <a:ext uri="{FF2B5EF4-FFF2-40B4-BE49-F238E27FC236}">
                <a16:creationId xmlns:a16="http://schemas.microsoft.com/office/drawing/2014/main" id="{CB27BA12-0C2B-874F-CB3D-A69B54828ED2}"/>
              </a:ext>
            </a:extLst>
          </p:cNvPr>
          <p:cNvSpPr>
            <a:spLocks noGrp="1"/>
          </p:cNvSpPr>
          <p:nvPr>
            <p:ph type="ftr" sz="quarter" idx="22"/>
          </p:nvPr>
        </p:nvSpPr>
        <p:spPr/>
        <p:txBody>
          <a:bodyPr/>
          <a:lstStyle/>
          <a:p>
            <a:r>
              <a:rPr lang="de-DE"/>
              <a:t xml:space="preserve">KLICKEN, UM FIRMENNAME EINZUFÜGEN</a:t>
            </a:r>
          </a:p>
        </p:txBody>
      </p:sp>
      <p:sp>
        <p:nvSpPr>
          <p:cNvPr id="8" name="Slide Number Placeholder 7">
            <a:extLst>
              <a:ext uri="{FF2B5EF4-FFF2-40B4-BE49-F238E27FC236}">
                <a16:creationId xmlns:a16="http://schemas.microsoft.com/office/drawing/2014/main" id="{A28E22E3-1CE9-39F0-37B9-6694C2F99A83}"/>
              </a:ext>
            </a:extLst>
          </p:cNvPr>
          <p:cNvSpPr>
            <a:spLocks noGrp="1"/>
          </p:cNvSpPr>
          <p:nvPr>
            <p:ph type="sldNum" sz="quarter" idx="23"/>
          </p:nvPr>
        </p:nvSpPr>
        <p:spPr/>
        <p:txBody>
          <a:bodyPr/>
          <a:lstStyle/>
          <a:p>
            <a:fld id="{5A0D23CF-C5A3-5445-819D-C647D180BB4B}" type="slidenum">
              <a:rPr lang="de-DE" smtClean="0"/>
              <a:pPr/>
              <a:t>‹nr.›</a:t>
            </a:fld>
            <a:endParaRPr lang="de-DE"/>
          </a:p>
        </p:txBody>
      </p:sp>
      <p:sp>
        <p:nvSpPr>
          <p:cNvPr id="9" name="Title 8">
            <a:extLst>
              <a:ext uri="{FF2B5EF4-FFF2-40B4-BE49-F238E27FC236}">
                <a16:creationId xmlns:a16="http://schemas.microsoft.com/office/drawing/2014/main" id="{9EC510F1-C32E-301D-A9BE-CDD982DBFB2C}"/>
              </a:ext>
            </a:extLst>
          </p:cNvPr>
          <p:cNvSpPr>
            <a:spLocks noGrp="1"/>
          </p:cNvSpPr>
          <p:nvPr>
            <p:ph type="title"/>
          </p:nvPr>
        </p:nvSpPr>
        <p:spPr/>
        <p:txBody>
          <a:bodyPr/>
          <a:lstStyle/>
          <a:p>
            <a:r>
              <a:rPr lang="de-DE"/>
              <a:t>Click to edit Master title style</a:t>
            </a:r>
          </a:p>
        </p:txBody>
      </p:sp>
    </p:spTree>
    <p:extLst>
      <p:ext uri="{BB962C8B-B14F-4D97-AF65-F5344CB8AC3E}">
        <p14:creationId xmlns:p14="http://schemas.microsoft.com/office/powerpoint/2010/main" val="2992085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AB499-BDA0-E170-C4FB-7C73F109F59F}"/>
              </a:ext>
            </a:extLst>
          </p:cNvPr>
          <p:cNvSpPr>
            <a:spLocks noGrp="1"/>
          </p:cNvSpPr>
          <p:nvPr>
            <p:ph type="title"/>
          </p:nvPr>
        </p:nvSpPr>
        <p:spPr/>
        <p:txBody>
          <a:bodyPr/>
          <a:lstStyle/>
          <a:p>
            <a:r>
              <a:rPr lang="de-DE" noProof="0"/>
              <a:t>Click</a:t>
            </a:r>
            <a:r>
              <a:rPr lang="de-DE" noProof="0"/>
              <a:t> to </a:t>
            </a:r>
            <a:r>
              <a:rPr lang="de-DE" noProof="0"/>
              <a:t>edit</a:t>
            </a:r>
            <a:r>
              <a:rPr lang="de-DE" noProof="0"/>
              <a:t> Master </a:t>
            </a:r>
            <a:r>
              <a:rPr lang="de-DE" noProof="0"/>
              <a:t>title</a:t>
            </a:r>
            <a:r>
              <a:rPr lang="de-DE" noProof="0"/>
              <a:t> style</a:t>
            </a:r>
          </a:p>
        </p:txBody>
      </p:sp>
      <p:sp>
        <p:nvSpPr>
          <p:cNvPr id="3" name="Date Placeholder 2">
            <a:extLst>
              <a:ext uri="{FF2B5EF4-FFF2-40B4-BE49-F238E27FC236}">
                <a16:creationId xmlns:a16="http://schemas.microsoft.com/office/drawing/2014/main" id="{85623CC7-2A44-6728-81B8-5D1C36C8A523}"/>
              </a:ext>
            </a:extLst>
          </p:cNvPr>
          <p:cNvSpPr>
            <a:spLocks noGrp="1"/>
          </p:cNvSpPr>
          <p:nvPr>
            <p:ph type="dt" sz="half" idx="10"/>
          </p:nvPr>
        </p:nvSpPr>
        <p:spPr/>
        <p:txBody>
          <a:bodyPr/>
          <a:lstStyle/>
          <a:p>
            <a:endParaRPr lang="de-DE" noProof="0"/>
          </a:p>
        </p:txBody>
      </p:sp>
      <p:sp>
        <p:nvSpPr>
          <p:cNvPr id="4" name="Footer Placeholder 3">
            <a:extLst>
              <a:ext uri="{FF2B5EF4-FFF2-40B4-BE49-F238E27FC236}">
                <a16:creationId xmlns:a16="http://schemas.microsoft.com/office/drawing/2014/main" id="{2B78E23B-9CAA-A290-D3B6-2404D06EC1A2}"/>
              </a:ext>
            </a:extLst>
          </p:cNvPr>
          <p:cNvSpPr>
            <a:spLocks noGrp="1"/>
          </p:cNvSpPr>
          <p:nvPr>
            <p:ph type="ftr" sz="quarter" idx="11"/>
          </p:nvPr>
        </p:nvSpPr>
        <p:spPr/>
        <p:txBody>
          <a:bodyPr/>
          <a:lstStyle/>
          <a:p>
            <a:r>
              <a:rPr lang="de-DE" noProof="0"/>
              <a:t xml:space="preserve">KLICKEN, UM FIRMENNAME EINZUFÜGEN</a:t>
            </a:r>
          </a:p>
        </p:txBody>
      </p:sp>
      <p:sp>
        <p:nvSpPr>
          <p:cNvPr id="5" name="Slide Number Placeholder 4">
            <a:extLst>
              <a:ext uri="{FF2B5EF4-FFF2-40B4-BE49-F238E27FC236}">
                <a16:creationId xmlns:a16="http://schemas.microsoft.com/office/drawing/2014/main" id="{A316B95B-509A-04EA-4971-5BB7A30A29F3}"/>
              </a:ext>
            </a:extLst>
          </p:cNvPr>
          <p:cNvSpPr>
            <a:spLocks noGrp="1"/>
          </p:cNvSpPr>
          <p:nvPr>
            <p:ph type="sldNum" sz="quarter" idx="12"/>
          </p:nvPr>
        </p:nvSpPr>
        <p:spPr/>
        <p:txBody>
          <a:bodyPr/>
          <a:lstStyle/>
          <a:p>
            <a:fld id="{5A0D23CF-C5A3-5445-819D-C647D180BB4B}" type="slidenum">
              <a:rPr lang="de-DE" noProof="0" smtClean="0"/>
              <a:pPr/>
              <a:t>‹nr.›</a:t>
            </a:fld>
            <a:endParaRPr lang="de-DE" noProof="0"/>
          </a:p>
        </p:txBody>
      </p:sp>
    </p:spTree>
    <p:extLst>
      <p:ext uri="{BB962C8B-B14F-4D97-AF65-F5344CB8AC3E}">
        <p14:creationId xmlns:p14="http://schemas.microsoft.com/office/powerpoint/2010/main" val="1832852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fslutningsslide">
    <p:bg>
      <p:bgPr>
        <a:solidFill>
          <a:srgbClr val="1B4529"/>
        </a:solidFill>
        <a:effectLst/>
      </p:bgPr>
    </p:bg>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5FF3099D-2911-2DC2-30C9-600914A49C92}"/>
              </a:ext>
            </a:extLst>
          </p:cNvPr>
          <p:cNvSpPr>
            <a:spLocks noGrp="1"/>
          </p:cNvSpPr>
          <p:nvPr>
            <p:ph idx="1" hasCustomPrompt="1"/>
          </p:nvPr>
        </p:nvSpPr>
        <p:spPr>
          <a:xfrm>
            <a:off x="754701" y="2186263"/>
            <a:ext cx="5915802" cy="1217034"/>
          </a:xfrm>
          <a:solidFill>
            <a:srgbClr val="1B4529"/>
          </a:solidFill>
        </p:spPr>
        <p:txBody>
          <a:bodyPr>
            <a:normAutofit/>
          </a:bodyPr>
          <a:lstStyle>
            <a:lvl1pPr marL="0" indent="0">
              <a:lnSpc>
                <a:spcPct val="100000"/>
              </a:lnSpc>
              <a:spcBef>
                <a:spcPts val="167"/>
              </a:spcBef>
              <a:buFontTx/>
              <a:buNone/>
              <a:defRPr sz="900">
                <a:solidFill>
                  <a:schemeClr val="bg1"/>
                </a:solidFill>
              </a:defRPr>
            </a:lvl1pPr>
            <a:lvl2pPr marL="149994" indent="0">
              <a:buFontTx/>
              <a:buNone/>
              <a:defRPr sz="900">
                <a:solidFill>
                  <a:schemeClr val="bg1"/>
                </a:solidFill>
              </a:defRPr>
            </a:lvl2pPr>
            <a:lvl3pPr marL="419983" indent="-134995">
              <a:defRPr sz="900">
                <a:solidFill>
                  <a:schemeClr val="bg1"/>
                </a:solidFill>
              </a:defRPr>
            </a:lvl3pPr>
            <a:lvl4pPr marL="584977" indent="-134995">
              <a:defRPr sz="900">
                <a:solidFill>
                  <a:schemeClr val="bg1"/>
                </a:solidFill>
              </a:defRPr>
            </a:lvl4pPr>
            <a:lvl5pPr marL="719971" indent="-134995">
              <a:defRPr sz="900">
                <a:solidFill>
                  <a:schemeClr val="bg1"/>
                </a:solidFill>
              </a:defRPr>
            </a:lvl5pPr>
          </a:lstStyle>
          <a:p>
            <a:pPr lvl="0"/>
            <a:r>
              <a:rPr lang="de-DE" noProof="0"/>
              <a:t xml:space="preserve">Unternehmensinformationen einfügen</a:t>
            </a:r>
          </a:p>
        </p:txBody>
      </p:sp>
      <p:sp>
        <p:nvSpPr>
          <p:cNvPr id="4" name="Title 3">
            <a:extLst>
              <a:ext uri="{FF2B5EF4-FFF2-40B4-BE49-F238E27FC236}">
                <a16:creationId xmlns:a16="http://schemas.microsoft.com/office/drawing/2014/main" id="{6DF97A03-6A5A-CE52-A825-964660171C82}"/>
              </a:ext>
            </a:extLst>
          </p:cNvPr>
          <p:cNvSpPr>
            <a:spLocks noGrp="1"/>
          </p:cNvSpPr>
          <p:nvPr>
            <p:ph type="title"/>
          </p:nvPr>
        </p:nvSpPr>
        <p:spPr/>
        <p:txBody>
          <a:bodyPr/>
          <a:lstStyle>
            <a:lvl1pPr>
              <a:defRPr>
                <a:solidFill>
                  <a:schemeClr val="bg1"/>
                </a:solidFill>
              </a:defRPr>
            </a:lvl1pPr>
          </a:lstStyle>
          <a:p>
            <a:r>
              <a:rPr lang="de-DE" noProof="0"/>
              <a:t>Click</a:t>
            </a:r>
            <a:r>
              <a:rPr lang="de-DE" noProof="0"/>
              <a:t> to </a:t>
            </a:r>
            <a:r>
              <a:rPr lang="de-DE" noProof="0"/>
              <a:t>edit</a:t>
            </a:r>
            <a:r>
              <a:rPr lang="de-DE" noProof="0"/>
              <a:t> Master </a:t>
            </a:r>
            <a:r>
              <a:rPr lang="de-DE" noProof="0"/>
              <a:t>title</a:t>
            </a:r>
            <a:r>
              <a:rPr lang="de-DE" noProof="0"/>
              <a:t> style</a:t>
            </a:r>
          </a:p>
        </p:txBody>
      </p:sp>
      <p:sp>
        <p:nvSpPr>
          <p:cNvPr id="10" name="Footer Placeholder 9">
            <a:extLst>
              <a:ext uri="{FF2B5EF4-FFF2-40B4-BE49-F238E27FC236}">
                <a16:creationId xmlns:a16="http://schemas.microsoft.com/office/drawing/2014/main" id="{C0ED9E13-9DB5-7219-D300-DD32B15B25DA}"/>
              </a:ext>
            </a:extLst>
          </p:cNvPr>
          <p:cNvSpPr>
            <a:spLocks noGrp="1"/>
          </p:cNvSpPr>
          <p:nvPr>
            <p:ph type="ftr" sz="quarter" idx="15"/>
          </p:nvPr>
        </p:nvSpPr>
        <p:spPr/>
        <p:txBody>
          <a:bodyPr/>
          <a:lstStyle>
            <a:lvl1pPr>
              <a:defRPr>
                <a:solidFill>
                  <a:schemeClr val="bg1"/>
                </a:solidFill>
              </a:defRPr>
            </a:lvl1pPr>
          </a:lstStyle>
          <a:p>
            <a:r>
              <a:rPr lang="de-DE" noProof="0"/>
              <a:t xml:space="preserve">KLICKEN, UM FIRMENNAME EINZUFÜGEN</a:t>
            </a:r>
          </a:p>
        </p:txBody>
      </p:sp>
      <p:sp>
        <p:nvSpPr>
          <p:cNvPr id="11" name="Slide Number Placeholder 10">
            <a:extLst>
              <a:ext uri="{FF2B5EF4-FFF2-40B4-BE49-F238E27FC236}">
                <a16:creationId xmlns:a16="http://schemas.microsoft.com/office/drawing/2014/main" id="{85AA5A7D-770A-67C5-6EFF-8AD1F28FC232}"/>
              </a:ext>
            </a:extLst>
          </p:cNvPr>
          <p:cNvSpPr>
            <a:spLocks noGrp="1"/>
          </p:cNvSpPr>
          <p:nvPr>
            <p:ph type="sldNum" sz="quarter" idx="16"/>
          </p:nvPr>
        </p:nvSpPr>
        <p:spPr/>
        <p:txBody>
          <a:bodyPr/>
          <a:lstStyle>
            <a:lvl1pPr>
              <a:defRPr>
                <a:solidFill>
                  <a:schemeClr val="bg1">
                    <a:alpha val="70000"/>
                  </a:schemeClr>
                </a:solidFill>
              </a:defRPr>
            </a:lvl1pPr>
          </a:lstStyle>
          <a:p>
            <a:fld id="{5A0D23CF-C5A3-5445-819D-C647D180BB4B}" type="slidenum">
              <a:rPr lang="de-DE" noProof="0" smtClean="0"/>
              <a:pPr/>
              <a:t>‹nr.›</a:t>
            </a:fld>
            <a:endParaRPr lang="de-DE" noProof="0"/>
          </a:p>
        </p:txBody>
      </p:sp>
    </p:spTree>
    <p:extLst>
      <p:ext uri="{BB962C8B-B14F-4D97-AF65-F5344CB8AC3E}">
        <p14:creationId xmlns:p14="http://schemas.microsoft.com/office/powerpoint/2010/main" val="2348340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Pladsholder til tekst 2">
            <a:extLst>
              <a:ext uri="{FF2B5EF4-FFF2-40B4-BE49-F238E27FC236}">
                <a16:creationId xmlns:a16="http://schemas.microsoft.com/office/drawing/2014/main" id="{3B61CC4E-F6A2-4C3F-CE7B-BB195B240393}"/>
              </a:ext>
            </a:extLst>
          </p:cNvPr>
          <p:cNvSpPr>
            <a:spLocks noGrp="1"/>
          </p:cNvSpPr>
          <p:nvPr>
            <p:ph type="body" idx="1"/>
          </p:nvPr>
        </p:nvSpPr>
        <p:spPr>
          <a:xfrm>
            <a:off x="423975" y="1422668"/>
            <a:ext cx="6583503" cy="4439883"/>
          </a:xfrm>
          <a:prstGeom prst="rect">
            <a:avLst/>
          </a:prstGeom>
        </p:spPr>
        <p:txBody>
          <a:bodyPr vert="horz" lIns="0" tIns="0" rIns="0" bIns="0" rtlCol="0">
            <a:noAutofit/>
          </a:bodyPr>
          <a:lstStyle/>
          <a:p>
            <a:pPr lvl="0"/>
            <a:r>
              <a:rPr lang="de-DE" noProof="0"/>
              <a:t>Click to edit Master text styles</a:t>
            </a:r>
          </a:p>
          <a:p>
            <a:pPr lvl="1"/>
            <a:r>
              <a:rPr lang="de-DE" noProof="0"/>
              <a:t xml:space="preserve">Zweite Ebene</a:t>
            </a:r>
          </a:p>
          <a:p>
            <a:pPr lvl="2"/>
            <a:r>
              <a:rPr lang="de-DE" noProof="0"/>
              <a:t xml:space="preserve">Dritte Ebene</a:t>
            </a:r>
          </a:p>
          <a:p>
            <a:pPr lvl="3"/>
            <a:r>
              <a:rPr lang="de-DE" noProof="0"/>
              <a:t xml:space="preserve">Vierte Ebene</a:t>
            </a:r>
          </a:p>
          <a:p>
            <a:pPr lvl="4"/>
            <a:r>
              <a:rPr lang="de-DE" noProof="0"/>
              <a:t xml:space="preserve">Fünfte Ebene</a:t>
            </a:r>
          </a:p>
        </p:txBody>
      </p:sp>
      <p:sp>
        <p:nvSpPr>
          <p:cNvPr id="4" name="Pladsholder til dato 3">
            <a:extLst>
              <a:ext uri="{FF2B5EF4-FFF2-40B4-BE49-F238E27FC236}">
                <a16:creationId xmlns:a16="http://schemas.microsoft.com/office/drawing/2014/main" id="{8550164C-751B-845B-9F9B-5F2B4F1FB4E6}"/>
              </a:ext>
            </a:extLst>
          </p:cNvPr>
          <p:cNvSpPr>
            <a:spLocks noGrp="1"/>
          </p:cNvSpPr>
          <p:nvPr>
            <p:ph type="dt" sz="half" idx="2"/>
          </p:nvPr>
        </p:nvSpPr>
        <p:spPr>
          <a:xfrm>
            <a:off x="276685" y="10152285"/>
            <a:ext cx="1617485" cy="128235"/>
          </a:xfrm>
          <a:prstGeom prst="rect">
            <a:avLst/>
          </a:prstGeom>
        </p:spPr>
        <p:txBody>
          <a:bodyPr vert="horz" lIns="0" tIns="0" rIns="0" bIns="0" rtlCol="0" anchor="t" anchorCtr="0">
            <a:noAutofit/>
          </a:bodyPr>
          <a:lstStyle>
            <a:lvl1pPr algn="l">
              <a:defRPr sz="825">
                <a:solidFill>
                  <a:srgbClr val="5F7D69"/>
                </a:solidFill>
                <a:latin typeface="IBM Plex Sans" panose="020B0503050203000203" pitchFamily="34" charset="0"/>
              </a:defRPr>
            </a:lvl1pPr>
          </a:lstStyle>
          <a:p>
            <a:endParaRPr lang="de-DE"/>
          </a:p>
        </p:txBody>
      </p:sp>
      <p:sp>
        <p:nvSpPr>
          <p:cNvPr id="5" name="Pladsholder til sidefod 4">
            <a:extLst>
              <a:ext uri="{FF2B5EF4-FFF2-40B4-BE49-F238E27FC236}">
                <a16:creationId xmlns:a16="http://schemas.microsoft.com/office/drawing/2014/main" id="{7AB68935-0A2D-A618-8989-FB93D31273FE}"/>
              </a:ext>
            </a:extLst>
          </p:cNvPr>
          <p:cNvSpPr>
            <a:spLocks noGrp="1"/>
          </p:cNvSpPr>
          <p:nvPr>
            <p:ph type="ftr" sz="quarter" idx="3"/>
          </p:nvPr>
        </p:nvSpPr>
        <p:spPr>
          <a:xfrm>
            <a:off x="5000661" y="365760"/>
            <a:ext cx="2147858" cy="128235"/>
          </a:xfrm>
          <a:prstGeom prst="rect">
            <a:avLst/>
          </a:prstGeom>
        </p:spPr>
        <p:txBody>
          <a:bodyPr vert="horz" lIns="0" tIns="0" rIns="0" bIns="0" rtlCol="0" anchor="t" anchorCtr="0">
            <a:noAutofit/>
          </a:bodyPr>
          <a:lstStyle>
            <a:lvl1pPr algn="r">
              <a:defRPr sz="825" b="1">
                <a:solidFill>
                  <a:srgbClr val="5F7D69"/>
                </a:solidFill>
                <a:latin typeface="IBM Plex Sans" panose="020B0503050203000203" pitchFamily="34" charset="0"/>
              </a:defRPr>
            </a:lvl1pPr>
          </a:lstStyle>
          <a:p>
            <a:r>
              <a:rPr lang="de-DE"/>
              <a:t xml:space="preserve">KLICKEN, UM FIRMENNAME EINZUFÜGEN</a:t>
            </a:r>
          </a:p>
        </p:txBody>
      </p:sp>
      <p:sp>
        <p:nvSpPr>
          <p:cNvPr id="6" name="Pladsholder til slidenummer 5">
            <a:extLst>
              <a:ext uri="{FF2B5EF4-FFF2-40B4-BE49-F238E27FC236}">
                <a16:creationId xmlns:a16="http://schemas.microsoft.com/office/drawing/2014/main" id="{77E57B8E-CD4B-57B4-607F-20E2BE60DB5F}"/>
              </a:ext>
            </a:extLst>
          </p:cNvPr>
          <p:cNvSpPr>
            <a:spLocks noGrp="1"/>
          </p:cNvSpPr>
          <p:nvPr>
            <p:ph type="sldNum" sz="quarter" idx="4"/>
          </p:nvPr>
        </p:nvSpPr>
        <p:spPr>
          <a:xfrm>
            <a:off x="5531035" y="10152285"/>
            <a:ext cx="1617485" cy="128235"/>
          </a:xfrm>
          <a:prstGeom prst="rect">
            <a:avLst/>
          </a:prstGeom>
        </p:spPr>
        <p:txBody>
          <a:bodyPr vert="horz" lIns="0" tIns="0" rIns="0" bIns="0" rtlCol="0" anchor="t" anchorCtr="0">
            <a:noAutofit/>
          </a:bodyPr>
          <a:lstStyle>
            <a:lvl1pPr algn="r">
              <a:defRPr sz="825">
                <a:solidFill>
                  <a:schemeClr val="tx2">
                    <a:alpha val="70000"/>
                  </a:schemeClr>
                </a:solidFill>
                <a:latin typeface="IBM Plex Sans" panose="020B0503050203000203" pitchFamily="34" charset="0"/>
              </a:defRPr>
            </a:lvl1pPr>
          </a:lstStyle>
          <a:p>
            <a:fld id="{5A0D23CF-C5A3-5445-819D-C647D180BB4B}" type="slidenum">
              <a:rPr lang="de-DE" smtClean="0"/>
              <a:pPr/>
              <a:t>‹nr.›</a:t>
            </a:fld>
            <a:endParaRPr lang="de-DE"/>
          </a:p>
        </p:txBody>
      </p:sp>
      <p:sp>
        <p:nvSpPr>
          <p:cNvPr id="7" name="Title Placeholder 6">
            <a:extLst>
              <a:ext uri="{FF2B5EF4-FFF2-40B4-BE49-F238E27FC236}">
                <a16:creationId xmlns:a16="http://schemas.microsoft.com/office/drawing/2014/main" id="{8788DFCC-4D37-4C1B-5213-E1D68A373009}"/>
              </a:ext>
            </a:extLst>
          </p:cNvPr>
          <p:cNvSpPr>
            <a:spLocks noGrp="1"/>
          </p:cNvSpPr>
          <p:nvPr>
            <p:ph type="title"/>
          </p:nvPr>
        </p:nvSpPr>
        <p:spPr>
          <a:xfrm>
            <a:off x="423976" y="751839"/>
            <a:ext cx="6583504" cy="207741"/>
          </a:xfrm>
          <a:prstGeom prst="rect">
            <a:avLst/>
          </a:prstGeom>
        </p:spPr>
        <p:txBody>
          <a:bodyPr vert="horz" wrap="square" lIns="0" tIns="0" rIns="0" bIns="0" rtlCol="0" anchor="t" anchorCtr="0">
            <a:spAutoFit/>
          </a:bodyPr>
          <a:lstStyle/>
          <a:p>
            <a:r>
              <a:rPr lang="de-DE" noProof="0"/>
              <a:t>Click to edit Master title style</a:t>
            </a:r>
          </a:p>
        </p:txBody>
      </p:sp>
    </p:spTree>
    <p:extLst>
      <p:ext uri="{BB962C8B-B14F-4D97-AF65-F5344CB8AC3E}">
        <p14:creationId xmlns:p14="http://schemas.microsoft.com/office/powerpoint/2010/main" val="3535313756"/>
      </p:ext>
    </p:extLst>
  </p:cSld>
  <p:clrMap bg1="lt1" tx1="dk1" bg2="lt2" tx2="dk2" accent1="accent1" accent2="accent2" accent3="accent3" accent4="accent4" accent5="accent5" accent6="accent6" hlink="hlink" folHlink="folHlink"/>
  <p:sldLayoutIdLst>
    <p:sldLayoutId id="2147483678" r:id="rId1"/>
    <p:sldLayoutId id="2147483681" r:id="rId2"/>
    <p:sldLayoutId id="2147483694" r:id="rId3"/>
    <p:sldLayoutId id="2147483696" r:id="rId4"/>
    <p:sldLayoutId id="2147483690" r:id="rId5"/>
  </p:sldLayoutIdLst>
  <p:hf hdr="0" dt="0"/>
  <p:txStyles>
    <p:title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p:titleStyle>
    <p:bodyStyle>
      <a:lvl1pPr marL="59998" indent="-59998" algn="l" defTabSz="914400" rtl="0" eaLnBrk="1" latinLnBrk="0" hangingPunct="1">
        <a:lnSpc>
          <a:spcPct val="106000"/>
        </a:lnSpc>
        <a:spcBef>
          <a:spcPts val="0"/>
        </a:spcBef>
        <a:buFont typeface="Arial" panose="020B0604020202020204" pitchFamily="34" charset="0"/>
        <a:buChar char="•"/>
        <a:defRPr sz="725" b="0" kern="1200" spc="-10" baseline="0">
          <a:solidFill>
            <a:schemeClr val="tx2"/>
          </a:solidFill>
          <a:latin typeface="+mn-lt"/>
          <a:ea typeface="+mn-ea"/>
          <a:cs typeface="+mn-cs"/>
        </a:defRPr>
      </a:lvl1pPr>
      <a:lvl2pPr marL="119995"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2pPr>
      <a:lvl3pPr marL="179993"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3pPr>
      <a:lvl4pPr marL="239990"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4pPr>
      <a:lvl5pPr marL="299988"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5pPr>
      <a:lvl6pPr marL="209541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6pPr>
      <a:lvl7pPr marL="2476401"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7pPr>
      <a:lvl8pPr marL="285738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8pPr>
      <a:lvl9pPr marL="3238370"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9pPr>
    </p:bodyStyle>
    <p:otherStyle>
      <a:defPPr>
        <a:defRPr lang="de-DE"/>
      </a:defPPr>
      <a:lvl1pPr marL="0" algn="l" defTabSz="914400" rtl="0" eaLnBrk="1" latinLnBrk="0" hangingPunct="1">
        <a:defRPr sz="1475" kern="1200">
          <a:solidFill>
            <a:schemeClr val="tx1"/>
          </a:solidFill>
          <a:latin typeface="+mn-lt"/>
          <a:ea typeface="+mn-ea"/>
          <a:cs typeface="+mn-cs"/>
        </a:defRPr>
      </a:lvl1pPr>
      <a:lvl2pPr marL="380985" algn="l" defTabSz="914400" rtl="0" eaLnBrk="1" latinLnBrk="0" hangingPunct="1">
        <a:defRPr sz="1475" kern="1200">
          <a:solidFill>
            <a:schemeClr val="tx1"/>
          </a:solidFill>
          <a:latin typeface="+mn-lt"/>
          <a:ea typeface="+mn-ea"/>
          <a:cs typeface="+mn-cs"/>
        </a:defRPr>
      </a:lvl2pPr>
      <a:lvl3pPr marL="761970" algn="l" defTabSz="914400" rtl="0" eaLnBrk="1" latinLnBrk="0" hangingPunct="1">
        <a:defRPr sz="1475" kern="1200">
          <a:solidFill>
            <a:schemeClr val="tx1"/>
          </a:solidFill>
          <a:latin typeface="+mn-lt"/>
          <a:ea typeface="+mn-ea"/>
          <a:cs typeface="+mn-cs"/>
        </a:defRPr>
      </a:lvl3pPr>
      <a:lvl4pPr marL="1142954" algn="l" defTabSz="914400" rtl="0" eaLnBrk="1" latinLnBrk="0" hangingPunct="1">
        <a:defRPr sz="1475" kern="1200">
          <a:solidFill>
            <a:schemeClr val="tx1"/>
          </a:solidFill>
          <a:latin typeface="+mn-lt"/>
          <a:ea typeface="+mn-ea"/>
          <a:cs typeface="+mn-cs"/>
        </a:defRPr>
      </a:lvl4pPr>
      <a:lvl5pPr marL="1523939" algn="l" defTabSz="914400" rtl="0" eaLnBrk="1" latinLnBrk="0" hangingPunct="1">
        <a:defRPr sz="1475" kern="1200">
          <a:solidFill>
            <a:schemeClr val="tx1"/>
          </a:solidFill>
          <a:latin typeface="+mn-lt"/>
          <a:ea typeface="+mn-ea"/>
          <a:cs typeface="+mn-cs"/>
        </a:defRPr>
      </a:lvl5pPr>
      <a:lvl6pPr marL="1904924" algn="l" defTabSz="914400" rtl="0" eaLnBrk="1" latinLnBrk="0" hangingPunct="1">
        <a:defRPr sz="1475" kern="1200">
          <a:solidFill>
            <a:schemeClr val="tx1"/>
          </a:solidFill>
          <a:latin typeface="+mn-lt"/>
          <a:ea typeface="+mn-ea"/>
          <a:cs typeface="+mn-cs"/>
        </a:defRPr>
      </a:lvl6pPr>
      <a:lvl7pPr marL="2285909" algn="l" defTabSz="914400" rtl="0" eaLnBrk="1" latinLnBrk="0" hangingPunct="1">
        <a:defRPr sz="1475" kern="1200">
          <a:solidFill>
            <a:schemeClr val="tx1"/>
          </a:solidFill>
          <a:latin typeface="+mn-lt"/>
          <a:ea typeface="+mn-ea"/>
          <a:cs typeface="+mn-cs"/>
        </a:defRPr>
      </a:lvl7pPr>
      <a:lvl8pPr marL="2666893" algn="l" defTabSz="914400" rtl="0" eaLnBrk="1" latinLnBrk="0" hangingPunct="1">
        <a:defRPr sz="1475" kern="1200">
          <a:solidFill>
            <a:schemeClr val="tx1"/>
          </a:solidFill>
          <a:latin typeface="+mn-lt"/>
          <a:ea typeface="+mn-ea"/>
          <a:cs typeface="+mn-cs"/>
        </a:defRPr>
      </a:lvl8pPr>
      <a:lvl9pPr marL="3047878" algn="l" defTabSz="914400" rtl="0" eaLnBrk="1" latinLnBrk="0" hangingPunct="1">
        <a:defRPr sz="1475"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20" userDrawn="1">
          <p15:clr>
            <a:srgbClr val="F26B43"/>
          </p15:clr>
        </p15:guide>
        <p15:guide id="4" pos="2533" userDrawn="1">
          <p15:clr>
            <a:srgbClr val="F26B43"/>
          </p15:clr>
        </p15:guide>
        <p15:guide id="5" pos="2733" userDrawn="1">
          <p15:clr>
            <a:srgbClr val="F26B43"/>
          </p15:clr>
        </p15:guide>
        <p15:guide id="6" pos="4946" userDrawn="1">
          <p15:clr>
            <a:srgbClr val="F26B43"/>
          </p15:clr>
        </p15:guide>
        <p15:guide id="7" pos="5146" userDrawn="1">
          <p15:clr>
            <a:srgbClr val="F26B43"/>
          </p15:clr>
        </p15:guide>
        <p15:guide id="8" pos="7360" userDrawn="1">
          <p15:clr>
            <a:srgbClr val="F26B43"/>
          </p15:clr>
        </p15:guide>
        <p15:guide id="9" orient="horz" userDrawn="1">
          <p15:clr>
            <a:srgbClr val="F26B43"/>
          </p15:clr>
        </p15:guide>
        <p15:guide id="10" orient="horz" pos="4320" userDrawn="1">
          <p15:clr>
            <a:srgbClr val="F26B43"/>
          </p15:clr>
        </p15:guide>
        <p15:guide id="11" orient="horz" pos="320" userDrawn="1">
          <p15:clr>
            <a:srgbClr val="F26B43"/>
          </p15:clr>
        </p15:guide>
        <p15:guide id="12" orient="horz" pos="4000" userDrawn="1">
          <p15:clr>
            <a:srgbClr val="F26B43"/>
          </p15:clr>
        </p15:guide>
        <p15:guide id="13" orient="horz" pos="6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0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92A8525A-459C-C975-663E-23EF33D3BFBC}"/>
              </a:ext>
            </a:extLst>
          </p:cNvPr>
          <p:cNvSpPr>
            <a:spLocks noGrp="1"/>
          </p:cNvSpPr>
          <p:nvPr>
            <p:ph type="title"/>
          </p:nvPr>
        </p:nvSpPr>
        <p:spPr>
          <a:xfrm>
            <a:off x="411480" y="6237584"/>
            <a:ext cx="6737040" cy="126952"/>
          </a:xfrm>
        </p:spPr>
        <p:txBody>
          <a:bodyPr/>
          <a:lstStyle/>
          <a:p>
            <a:r>
              <a:rPr lang="de-DE" noProof="0"/>
              <a:t xml:space="preserve">ESG-BERICHT {{insert_year}}</a:t>
            </a:r>
          </a:p>
        </p:txBody>
      </p:sp>
      <p:sp>
        <p:nvSpPr>
          <p:cNvPr id="4" name="Footer Placeholder 3">
            <a:extLst>
              <a:ext uri="{FF2B5EF4-FFF2-40B4-BE49-F238E27FC236}">
                <a16:creationId xmlns:a16="http://schemas.microsoft.com/office/drawing/2014/main" id="{734E8629-539E-87AE-7B49-CC26832ADCE2}"/>
              </a:ext>
            </a:extLst>
          </p:cNvPr>
          <p:cNvSpPr>
            <a:spLocks noGrp="1"/>
          </p:cNvSpPr>
          <p:nvPr>
            <p:ph type="ftr" sz="quarter" idx="15"/>
          </p:nvPr>
        </p:nvSpPr>
        <p:spPr>
          <a:xfrm>
            <a:off x="411480" y="6707538"/>
            <a:ext cx="6737040" cy="234336"/>
          </a:xfrm>
        </p:spPr>
        <p:txBody>
          <a:bodyPr/>
          <a:lstStyle/>
          <a:p>
            <a:r>
              <a:rPr lang="de-DE" noProof="0"/>
              <a:t>{{company_name}}</a:t>
            </a:r>
            <a:endParaRPr lang="de-DE" b="0" noProof="0"/>
          </a:p>
        </p:txBody>
      </p:sp>
    </p:spTree>
    <p:extLst>
      <p:ext uri="{BB962C8B-B14F-4D97-AF65-F5344CB8AC3E}">
        <p14:creationId xmlns:p14="http://schemas.microsoft.com/office/powerpoint/2010/main" val="2428557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1FDDEE7-C270-1824-E7E0-80B15F3FDDC2}"/>
              </a:ext>
            </a:extLst>
          </p:cNvPr>
          <p:cNvSpPr>
            <a:spLocks noGrp="1"/>
          </p:cNvSpPr>
          <p:nvPr>
            <p:ph type="title"/>
          </p:nvPr>
        </p:nvSpPr>
        <p:spPr>
          <a:xfrm>
            <a:off x="411480" y="834189"/>
            <a:ext cx="6737040" cy="415482"/>
          </a:xfrm>
        </p:spPr>
        <p:txBody>
          <a:bodyPr/>
          <a:lstStyle/>
          <a:p>
            <a:r>
              <a:rPr lang="de-DE" noProof="0"/>
              <a:t xml:space="preserve">ESG-Bericht</a:t>
            </a:r>
            <a:r>
              <a:rPr lang="de-DE" b="0" noProof="0">
                <a:solidFill>
                  <a:srgbClr val="1B4528"/>
                </a:solidFill>
                <a:ea typeface="+mn-ea"/>
                <a:cs typeface="+mn-cs"/>
              </a:rPr>
              <a:t> </a:t>
            </a:r>
            <a:br>
              <a:rPr lang="de-DE" b="0" noProof="0">
                <a:solidFill>
                  <a:srgbClr val="1B4528"/>
                </a:solidFill>
                <a:ea typeface="+mn-ea"/>
                <a:cs typeface="+mn-cs"/>
              </a:rPr>
            </a:br>
            <a:endParaRPr lang="de-DE" b="0" noProof="0">
              <a:solidFill>
                <a:srgbClr val="1B4528"/>
              </a:solidFill>
              <a:ea typeface="+mn-ea"/>
              <a:cs typeface="+mn-cs"/>
            </a:endParaRPr>
          </a:p>
        </p:txBody>
      </p:sp>
      <p:sp>
        <p:nvSpPr>
          <p:cNvPr id="4" name="Text Placeholder 2">
            <a:extLst>
              <a:ext uri="{FF2B5EF4-FFF2-40B4-BE49-F238E27FC236}">
                <a16:creationId xmlns:a16="http://schemas.microsoft.com/office/drawing/2014/main" id="{34D83B42-66BB-638E-55C1-84FD1F7A8354}"/>
              </a:ext>
            </a:extLst>
          </p:cNvPr>
          <p:cNvSpPr>
            <a:spLocks noGrp="1"/>
          </p:cNvSpPr>
          <p:nvPr>
            <p:ph type="body" sz="quarter" idx="17"/>
          </p:nvPr>
        </p:nvSpPr>
        <p:spPr>
          <a:xfrm>
            <a:off x="411480" y="877124"/>
            <a:ext cx="6598920" cy="4470221"/>
          </a:xfrm>
        </p:spPr>
        <p:txBody>
          <a:bodyPr/>
          <a:lstStyle/>
          <a:p>
            <a:pPr>
              <a:lnSpc>
                <a:spcPct val="150000"/>
              </a:lnSpc>
              <a:tabLst>
                <a:tab pos="239439" algn="l"/>
                <a:tab pos="388922" algn="l"/>
                <a:tab pos="3737091" algn="r"/>
              </a:tabLst>
            </a:pPr>
            <a:endParaRPr lang="de-DE" sz="975" b="1" noProof="0" dirty="0">
              <a:latin typeface="+mj-lt"/>
            </a:endParaRPr>
          </a:p>
          <a:p>
            <a:pPr>
              <a:lnSpc>
                <a:spcPct val="150000"/>
              </a:lnSpc>
              <a:tabLst>
                <a:tab pos="239439" algn="l"/>
                <a:tab pos="388922" algn="l"/>
                <a:tab pos="3737091" algn="r"/>
              </a:tabLst>
            </a:pPr>
            <a:endParaRPr lang="de-DE" sz="975" b="1" noProof="0" dirty="0">
              <a:latin typeface="+mj-lt"/>
            </a:endParaRP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Allgemeine Informationen				</a:t>
            </a:r>
            <a:endParaRPr lang="de-DE"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de-DE" sz="975" b="1" kern="1200" spc="-10" noProof="0">
                <a:solidFill>
                  <a:schemeClr val="tx2"/>
                </a:solidFill>
                <a:latin typeface="+mn-lt"/>
                <a:ea typeface="+mn-ea"/>
                <a:cs typeface="+mn-cs"/>
              </a:rPr>
              <a:t xml:space="preserve">Verfahrensweisen, Richtlinien und Initiativen für eine nachhaltigere Wirtschaft	</a:t>
            </a:r>
            <a:endParaRPr lang="de-DE" sz="975" b="1" noProof="0" dirty="0">
              <a:latin typeface="+mj-lt"/>
            </a:endParaRP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Energieverbrauch				</a:t>
            </a:r>
            <a:endParaRPr lang="de-DE" sz="975" noProof="0" dirty="0">
              <a:latin typeface="+mj-lt"/>
            </a:endParaRP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CO₂e-Emissionen 				</a:t>
            </a:r>
            <a:endParaRPr lang="de-DE" sz="975" noProof="0" dirty="0">
              <a:latin typeface="+mj-lt"/>
            </a:endParaRP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Luft-, Wasser- und Bodenverschmutzung</a:t>
            </a:r>
            <a:r>
              <a:rPr lang="de-DE" sz="975" noProof="0">
                <a:latin typeface="+mj-lt"/>
              </a:rPr>
              <a:t>				</a:t>
            </a: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Biodiversität</a:t>
            </a:r>
            <a:r>
              <a:rPr lang="de-DE" sz="975" noProof="0">
                <a:latin typeface="+mj-lt"/>
              </a:rPr>
              <a:t>				</a:t>
            </a: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Wasser	</a:t>
            </a:r>
            <a:r>
              <a:rPr lang="de-DE" sz="975" noProof="0">
                <a:latin typeface="+mj-lt"/>
              </a:rPr>
              <a:t> 			</a:t>
            </a: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Ressourcennutzung, Kreislaufwirtschaft und Abfallbewirtschaftung</a:t>
            </a:r>
            <a:r>
              <a:rPr lang="de-DE" sz="975" noProof="0">
                <a:latin typeface="+mj-lt"/>
              </a:rPr>
              <a:t>				</a:t>
            </a:r>
            <a:endParaRPr lang="de-DE"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Eigene Arbeitskräfte: Allgemeine Merkmale</a:t>
            </a:r>
            <a:r>
              <a:rPr lang="de-DE" sz="975" noProof="0">
                <a:latin typeface="+mj-lt"/>
              </a:rPr>
              <a:t>				</a:t>
            </a:r>
            <a:endParaRPr lang="de-DE"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Eigene Arbeitskräfte: Gesundheit &amp; Sicherheit</a:t>
            </a:r>
            <a:r>
              <a:rPr lang="de-DE" sz="975" noProof="0">
                <a:latin typeface="+mj-lt"/>
              </a:rPr>
              <a:t>				</a:t>
            </a:r>
            <a:endParaRPr lang="de-DE"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Eigene Arbeitskräfte: Vergütung, Tarifverhandlungen und Schulung</a:t>
            </a:r>
            <a:r>
              <a:rPr lang="de-DE" sz="975" noProof="0">
                <a:latin typeface="+mj-lt"/>
              </a:rPr>
              <a:t>		</a:t>
            </a:r>
            <a:endParaRPr lang="de-DE"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de-DE" sz="975" b="1" noProof="0">
                <a:latin typeface="+mj-lt"/>
              </a:rPr>
              <a:t xml:space="preserve">Unternehmenspolitik</a:t>
            </a:r>
            <a:r>
              <a:rPr lang="de-DE" sz="975" noProof="0">
                <a:latin typeface="+mj-lt"/>
              </a:rPr>
              <a:t>	 			</a:t>
            </a:r>
            <a:endParaRPr lang="de-DE" sz="975" noProof="0" dirty="0">
              <a:solidFill>
                <a:srgbClr val="1B4528"/>
              </a:solidFill>
              <a:latin typeface="+mj-lt"/>
            </a:endParaRPr>
          </a:p>
          <a:p>
            <a:pPr>
              <a:tabLst>
                <a:tab pos="239439" algn="l"/>
                <a:tab pos="388922" algn="l"/>
                <a:tab pos="3737091" algn="r"/>
              </a:tabLst>
            </a:pPr>
            <a:endParaRPr lang="de-DE" sz="975" noProof="0" dirty="0">
              <a:latin typeface="+mj-lt"/>
            </a:endParaRPr>
          </a:p>
          <a:p>
            <a:pPr>
              <a:tabLst>
                <a:tab pos="239439" algn="l"/>
                <a:tab pos="388922" algn="l"/>
                <a:tab pos="3737091" algn="r"/>
              </a:tabLst>
            </a:pPr>
            <a:endParaRPr lang="de-DE" sz="975" noProof="0" dirty="0">
              <a:latin typeface="+mj-lt"/>
            </a:endParaRPr>
          </a:p>
          <a:p>
            <a:pPr>
              <a:tabLst>
                <a:tab pos="239439" algn="l"/>
                <a:tab pos="388922" algn="l"/>
                <a:tab pos="3737091" algn="r"/>
              </a:tabLst>
            </a:pPr>
            <a:endParaRPr lang="de-DE" noProof="0" dirty="0">
              <a:latin typeface="+mj-lt"/>
            </a:endParaRPr>
          </a:p>
          <a:p>
            <a:pPr>
              <a:tabLst>
                <a:tab pos="239439" algn="l"/>
                <a:tab pos="388922" algn="l"/>
                <a:tab pos="3737091" algn="r"/>
              </a:tabLst>
            </a:pPr>
            <a:endParaRPr lang="de-DE" noProof="0" dirty="0">
              <a:latin typeface="+mj-lt"/>
            </a:endParaRPr>
          </a:p>
        </p:txBody>
      </p:sp>
      <p:sp>
        <p:nvSpPr>
          <p:cNvPr id="5" name="Footer Placeholder 4">
            <a:extLst>
              <a:ext uri="{FF2B5EF4-FFF2-40B4-BE49-F238E27FC236}">
                <a16:creationId xmlns:a16="http://schemas.microsoft.com/office/drawing/2014/main" id="{663AAC2A-0E1A-03B9-5DD7-E396252E7CF3}"/>
              </a:ext>
              <a:ext uri="{C183D7F6-B498-43B3-948B-1728B52AA6E4}">
                <adec:decorative xmlns:adec="http://schemas.microsoft.com/office/drawing/2017/decorative" val="1"/>
              </a:ext>
            </a:extLst>
          </p:cNvPr>
          <p:cNvSpPr>
            <a:spLocks noGrp="1"/>
          </p:cNvSpPr>
          <p:nvPr>
            <p:ph type="ftr" sz="quarter" idx="22"/>
          </p:nvPr>
        </p:nvSpPr>
        <p:spPr>
          <a:xfrm>
            <a:off x="411480" y="365760"/>
            <a:ext cx="6737040" cy="128235"/>
          </a:xfrm>
        </p:spPr>
        <p:txBody>
          <a:bodyPr/>
          <a:lstStyle/>
          <a:p>
            <a:r>
              <a:rPr lang="de-DE" noProof="0"/>
              <a:t>{{company_name}}</a:t>
            </a:r>
          </a:p>
        </p:txBody>
      </p:sp>
      <p:sp>
        <p:nvSpPr>
          <p:cNvPr id="2" name="Slide Number Placeholder 5">
            <a:extLst>
              <a:ext uri="{FF2B5EF4-FFF2-40B4-BE49-F238E27FC236}">
                <a16:creationId xmlns:a16="http://schemas.microsoft.com/office/drawing/2014/main" id="{EAF64D3B-AE78-BA15-5D3D-CEE3410664A0}"/>
              </a:ext>
              <a:ext uri="{C183D7F6-B498-43B3-948B-1728B52AA6E4}">
                <adec:decorative xmlns:adec="http://schemas.microsoft.com/office/drawing/2017/decorative" val="1"/>
              </a:ext>
            </a:extLst>
          </p:cNvPr>
          <p:cNvSpPr>
            <a:spLocks noGrp="1"/>
          </p:cNvSpPr>
          <p:nvPr>
            <p:ph type="sldNum" sz="quarter" idx="23"/>
          </p:nvPr>
        </p:nvSpPr>
        <p:spPr>
          <a:xfrm>
            <a:off x="3853152" y="10152285"/>
            <a:ext cx="3295368" cy="128235"/>
          </a:xfrm>
        </p:spPr>
        <p:txBody>
          <a:bodyPr/>
          <a:lstStyle/>
          <a:p>
            <a:fld id="{5A0D23CF-C5A3-5445-819D-C647D180BB4B}" type="slidenum">
              <a:rPr lang="de-DE" noProof="0" smtClean="0"/>
              <a:pPr/>
              <a:t>2</a:t>
            </a:fld>
            <a:endParaRPr lang="de-DE" noProof="0"/>
          </a:p>
        </p:txBody>
      </p:sp>
    </p:spTree>
    <p:extLst>
      <p:ext uri="{BB962C8B-B14F-4D97-AF65-F5344CB8AC3E}">
        <p14:creationId xmlns:p14="http://schemas.microsoft.com/office/powerpoint/2010/main" val="1720570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11480" y="805890"/>
            <a:ext cx="6737040" cy="207741"/>
          </a:xfrm>
        </p:spPr>
        <p:txBody>
          <a:bodyPr/>
          <a:lstStyle/>
          <a:p>
            <a:r>
              <a:rPr lang="de-DE" noProof="0"/>
              <a:t xml:space="preserve">Grundlagen für die Erstellung (B1) </a:t>
            </a:r>
          </a:p>
        </p:txBody>
      </p:sp>
      <p:sp>
        <p:nvSpPr>
          <p:cNvPr id="15" name="Text Placeholder 2">
            <a:extLst>
              <a:ext uri="{FF2B5EF4-FFF2-40B4-BE49-F238E27FC236}">
                <a16:creationId xmlns:a16="http://schemas.microsoft.com/office/drawing/2014/main" id="{BACC1DA0-DFDE-C844-7562-0528953EC068}"/>
              </a:ext>
            </a:extLst>
          </p:cNvPr>
          <p:cNvSpPr txBox="1">
            <a:spLocks/>
          </p:cNvSpPr>
          <p:nvPr/>
        </p:nvSpPr>
        <p:spPr>
          <a:xfrm>
            <a:off x="411480" y="3496881"/>
            <a:ext cx="3295368" cy="143157"/>
          </a:xfrm>
          <a:prstGeom prst="rect">
            <a:avLst/>
          </a:prstGeom>
        </p:spPr>
        <p:txBody>
          <a:bodyPr lIns="0" tIns="0" rIns="0" bIns="0"/>
          <a:lstStyle>
            <a:lvl1pPr marL="59998" indent="-59998" algn="l" defTabSz="914400" rtl="0" eaLnBrk="1" latinLnBrk="0" hangingPunct="1">
              <a:lnSpc>
                <a:spcPct val="106000"/>
              </a:lnSpc>
              <a:spcBef>
                <a:spcPts val="0"/>
              </a:spcBef>
              <a:buFont typeface="Arial" panose="020B0604020202020204" pitchFamily="34" charset="0"/>
              <a:buChar char="•"/>
              <a:defRPr sz="725" b="0" kern="1200" spc="-10" baseline="0">
                <a:solidFill>
                  <a:schemeClr val="tx2"/>
                </a:solidFill>
                <a:latin typeface="+mn-lt"/>
                <a:ea typeface="+mn-ea"/>
                <a:cs typeface="+mn-cs"/>
              </a:defRPr>
            </a:lvl1pPr>
            <a:lvl2pPr marL="119995"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2pPr>
            <a:lvl3pPr marL="179993"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3pPr>
            <a:lvl4pPr marL="239990"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4pPr>
            <a:lvl5pPr marL="299988"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5pPr>
            <a:lvl6pPr marL="209541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6pPr>
            <a:lvl7pPr marL="2476401"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7pPr>
            <a:lvl8pPr marL="285738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8pPr>
            <a:lvl9pPr marL="3238370"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9pPr>
          </a:lstStyle>
          <a:p>
            <a:pPr marL="0" indent="0">
              <a:buNone/>
            </a:pPr>
            <a:endParaRPr lang="de-DE" noProof="0">
              <a:solidFill>
                <a:srgbClr val="1B4528"/>
              </a:solidFill>
            </a:endParaRPr>
          </a:p>
        </p:txBody>
      </p:sp>
      <p:graphicFrame>
        <p:nvGraphicFramePr>
          <p:cNvPr id="16" name="Table 2">
            <a:extLst>
              <a:ext uri="{FF2B5EF4-FFF2-40B4-BE49-F238E27FC236}">
                <a16:creationId xmlns:a16="http://schemas.microsoft.com/office/drawing/2014/main" id="{693470FC-B633-430A-0791-18B9C81D050C}"/>
              </a:ext>
            </a:extLst>
          </p:cNvPr>
          <p:cNvGraphicFramePr>
            <a:graphicFrameLocks noGrp="1"/>
          </p:cNvGraphicFramePr>
          <p:nvPr>
            <p:extLst>
              <p:ext uri="{D42A27DB-BD31-4B8C-83A1-F6EECF244321}">
                <p14:modId xmlns:p14="http://schemas.microsoft.com/office/powerpoint/2010/main" val="400147983"/>
              </p:ext>
            </p:extLst>
          </p:nvPr>
        </p:nvGraphicFramePr>
        <p:xfrm>
          <a:off x="411480" y="5566262"/>
          <a:ext cx="3295368" cy="1087544"/>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1902117154"/>
                    </a:ext>
                  </a:extLst>
                </a:gridCol>
                <a:gridCol w="1771498">
                  <a:extLst>
                    <a:ext uri="{9D8B030D-6E8A-4147-A177-3AD203B41FA5}">
                      <a16:colId xmlns:a16="http://schemas.microsoft.com/office/drawing/2014/main" val="1904521774"/>
                    </a:ext>
                  </a:extLst>
                </a:gridCol>
              </a:tblGrid>
              <a:tr h="383809">
                <a:tc gridSpan="2">
                  <a:txBody>
                    <a:bodyPr/>
                    <a:lstStyle/>
                    <a:p>
                      <a:pPr marL="0" algn="l" defTabSz="914400" rtl="0" eaLnBrk="1" latinLnBrk="0" hangingPunct="1"/>
                      <a:r>
                        <a:rPr lang="de-DE" sz="975" b="1" kern="1200" spc="-10" noProof="0">
                          <a:solidFill>
                            <a:schemeClr val="tx2"/>
                          </a:solidFill>
                          <a:latin typeface="+mn-lt"/>
                          <a:ea typeface="+mn-ea"/>
                          <a:cs typeface="+mn-cs"/>
                        </a:rPr>
                        <a:t xml:space="preserve">Liste der in diesem ESG-Bericht erfassten Tochterunternehmen </a:t>
                      </a:r>
                      <a:r>
                        <a:rPr lang="de-DE" sz="975" b="0" kern="1200" spc="-10" noProof="0">
                          <a:solidFill>
                            <a:schemeClr val="tx2"/>
                          </a:solidFill>
                          <a:latin typeface="+mn-lt"/>
                          <a:ea typeface="+mn-ea"/>
                          <a:cs typeface="+mn-cs"/>
                        </a:rPr>
                        <a:t xml:space="preserve">(Nr. 27d)</a:t>
                      </a:r>
                      <a:endParaRPr lang="de-DE" sz="975" b="0" i="1"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e-DE"/>
                    </a:p>
                  </a:txBody>
                  <a:tcPr/>
                </a:tc>
                <a:extLst>
                  <a:ext uri="{0D108BD9-81ED-4DB2-BD59-A6C34878D82A}">
                    <a16:rowId xmlns:a16="http://schemas.microsoft.com/office/drawing/2014/main" val="625231048"/>
                  </a:ext>
                </a:extLst>
              </a:tr>
              <a:tr h="383809">
                <a:tc>
                  <a:txBody>
                    <a:bodyPr/>
                    <a:lstStyle/>
                    <a:p>
                      <a:pPr algn="l"/>
                      <a:r>
                        <a:rPr lang="de-DE" sz="975" b="1" kern="1200" spc="-10" noProof="0">
                          <a:solidFill>
                            <a:schemeClr val="tx2"/>
                          </a:solidFill>
                          <a:latin typeface="+mn-lt"/>
                          <a:ea typeface="+mn-ea"/>
                          <a:cs typeface="+mn-cs"/>
                        </a:rPr>
                        <a:t xml:space="preserve">Name des Tochterunternehmens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e-DE" sz="975" b="1" kern="1200" spc="-10" noProof="0">
                          <a:solidFill>
                            <a:schemeClr val="tx2"/>
                          </a:solidFill>
                          <a:latin typeface="+mn-lt"/>
                          <a:ea typeface="+mn-ea"/>
                          <a:cs typeface="+mn-cs"/>
                        </a:rPr>
                        <a:t xml:space="preserve">Anschrift des Tochterunternehmens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319926">
                <a:tc>
                  <a:txBody>
                    <a:bodyPr/>
                    <a:lstStyle/>
                    <a:p>
                      <a:pPr rtl="0" fontAlgn="t" algn="l">
                        <a:buNone/>
                      </a:pPr>
                      <a:r>
                        <a:rPr lang="de-DE" sz="975" b="0" i="0" u="none" strike="noStrike" noProof="0">
                          <a:solidFill>
                            <a:srgbClr val="1B4528"/>
                          </a:solidFill>
                          <a:effectLst/>
                          <a:latin typeface="Inter"/>
                        </a:rPr>
                        <a:t>{{subsidiary}}</a:t>
                      </a:r>
                      <a:endParaRPr lang="de-DE"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r">
                        <a:buNone/>
                      </a:pPr>
                      <a:r>
                        <a:rPr lang="de-DE" sz="975" b="0" i="0" u="none" strike="noStrike" noProof="0">
                          <a:solidFill>
                            <a:srgbClr val="1B4528"/>
                          </a:solidFill>
                          <a:effectLst/>
                          <a:latin typeface="Inter"/>
                        </a:rPr>
                        <a:t>{{</a:t>
                      </a:r>
                      <a:r>
                        <a:rPr lang="de-DE" sz="975" b="0" i="0" u="none" strike="noStrike" noProof="0">
                          <a:solidFill>
                            <a:srgbClr val="1B4528"/>
                          </a:solidFill>
                          <a:effectLst/>
                          <a:latin typeface="Inter"/>
                        </a:rPr>
                        <a:t>subsidiary_address</a:t>
                      </a:r>
                      <a:r>
                        <a:rPr lang="de-DE" sz="975" b="0" i="0" u="none" strike="noStrike" noProof="0">
                          <a:solidFill>
                            <a:srgbClr val="1B4528"/>
                          </a:solidFill>
                          <a:effectLst/>
                          <a:latin typeface="Inter"/>
                        </a:rPr>
                        <a:t>}}</a:t>
                      </a:r>
                      <a:endParaRPr lang="de-DE" sz="975" noProof="0" dirty="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a:xfrm>
            <a:off x="411480" y="10197818"/>
            <a:ext cx="6737040" cy="128235"/>
          </a:xfrm>
        </p:spPr>
        <p:txBody>
          <a:bodyPr/>
          <a:lstStyle/>
          <a:p>
            <a:fld id="{5A0D23CF-C5A3-5445-819D-C647D180BB4B}" type="slidenum">
              <a:rPr lang="de-DE" noProof="0" smtClean="0"/>
              <a:pPr/>
              <a:t>3</a:t>
            </a:fld>
            <a:endParaRPr lang="de-DE"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a:xfrm>
            <a:off x="411480" y="365760"/>
            <a:ext cx="6737040" cy="128235"/>
          </a:xfrm>
        </p:spPr>
        <p:txBody>
          <a:bodyPr/>
          <a:lstStyle/>
          <a:p>
            <a:r>
              <a:rPr lang="de-DE" noProof="0"/>
              <a:t>{{company_name}}</a:t>
            </a:r>
            <a:endParaRPr lang="de-DE" b="0" noProof="0"/>
          </a:p>
          <a:p>
            <a:br>
              <a:rPr lang="de-DE" noProof="0"/>
            </a:br>
            <a:endParaRPr lang="de-DE" noProof="0"/>
          </a:p>
        </p:txBody>
      </p:sp>
      <p:graphicFrame>
        <p:nvGraphicFramePr>
          <p:cNvPr id="2" name="Table 12">
            <a:extLst>
              <a:ext uri="{FF2B5EF4-FFF2-40B4-BE49-F238E27FC236}">
                <a16:creationId xmlns:a16="http://schemas.microsoft.com/office/drawing/2014/main" id="{AA61E98C-E974-CA6B-E7E0-7ED257077648}"/>
              </a:ext>
            </a:extLst>
          </p:cNvPr>
          <p:cNvGraphicFramePr>
            <a:graphicFrameLocks noGrp="1"/>
          </p:cNvGraphicFramePr>
          <p:nvPr>
            <p:extLst>
              <p:ext uri="{D42A27DB-BD31-4B8C-83A1-F6EECF244321}">
                <p14:modId xmlns:p14="http://schemas.microsoft.com/office/powerpoint/2010/main" val="4248128672"/>
              </p:ext>
            </p:extLst>
          </p:nvPr>
        </p:nvGraphicFramePr>
        <p:xfrm>
          <a:off x="411480" y="4091258"/>
          <a:ext cx="3295368" cy="1466698"/>
        </p:xfrm>
        <a:graphic>
          <a:graphicData uri="http://schemas.openxmlformats.org/drawingml/2006/table">
            <a:tbl>
              <a:tblPr firstRow="1">
                <a:tableStyleId>{2A488322-F2BA-4B5B-9748-0D474271808F}</a:tableStyleId>
              </a:tblPr>
              <a:tblGrid>
                <a:gridCol w="2775619">
                  <a:extLst>
                    <a:ext uri="{9D8B030D-6E8A-4147-A177-3AD203B41FA5}">
                      <a16:colId xmlns:a16="http://schemas.microsoft.com/office/drawing/2014/main" val="2698153288"/>
                    </a:ext>
                  </a:extLst>
                </a:gridCol>
                <a:gridCol w="519749">
                  <a:extLst>
                    <a:ext uri="{9D8B030D-6E8A-4147-A177-3AD203B41FA5}">
                      <a16:colId xmlns:a16="http://schemas.microsoft.com/office/drawing/2014/main" val="2119413191"/>
                    </a:ext>
                  </a:extLst>
                </a:gridCol>
              </a:tblGrid>
              <a:tr h="383809">
                <a:tc gridSpan="2">
                  <a:txBody>
                    <a:bodyPr/>
                    <a:lstStyle/>
                    <a:p>
                      <a:r>
                        <a:rPr lang="de-DE" sz="975" b="1" noProof="0">
                          <a:solidFill>
                            <a:schemeClr val="tx2"/>
                          </a:solidFill>
                        </a:rPr>
                        <a:t xml:space="preserve">Individuelle oder konsolidierte Berichterstattung</a:t>
                      </a:r>
                      <a:r>
                        <a:rPr lang="de-DE" sz="975" b="0" noProof="0">
                          <a:solidFill>
                            <a:schemeClr val="tx2"/>
                          </a:solidFill>
                        </a:rPr>
                        <a:t xml:space="preserve"> (Nr. 27c)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de-DE"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391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0" kern="1200" spc="-10" noProof="0">
                          <a:solidFill>
                            <a:schemeClr val="tx2"/>
                          </a:solidFill>
                          <a:latin typeface="+mn-lt"/>
                          <a:ea typeface="+mn-ea"/>
                          <a:cs typeface="+mn-cs"/>
                        </a:rPr>
                        <a:t xml:space="preserve">Der Bericht wurde auf </a:t>
                      </a:r>
                      <a:r>
                        <a:rPr lang="de-DE" sz="975" b="1" kern="1200" spc="-10" noProof="0">
                          <a:solidFill>
                            <a:schemeClr val="tx2"/>
                          </a:solidFill>
                          <a:latin typeface="+mn-lt"/>
                          <a:ea typeface="+mn-ea"/>
                          <a:cs typeface="+mn-cs"/>
                        </a:rPr>
                        <a:t xml:space="preserve">individueller Basis </a:t>
                      </a:r>
                      <a:r>
                        <a:rPr lang="de-DE" sz="975" b="0" kern="1200" spc="-10" noProof="0">
                          <a:solidFill>
                            <a:schemeClr val="tx2"/>
                          </a:solidFill>
                          <a:latin typeface="+mn-lt"/>
                          <a:ea typeface="+mn-ea"/>
                          <a:cs typeface="+mn-cs"/>
                        </a:rPr>
                        <a:t xml:space="preserve">erstellt (d. h. der Bericht erfasst keine Tochterunternehmen)</a:t>
                      </a:r>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e-DE" sz="975" b="0" i="0" u="none" strike="noStrike" noProof="0">
                          <a:solidFill>
                            <a:srgbClr val="1B4528"/>
                          </a:solidFill>
                          <a:effectLst/>
                          <a:latin typeface="Inter"/>
                        </a:rPr>
                        <a:t>{{yes_subsidiary?}}</a:t>
                      </a:r>
                      <a:endParaRPr lang="de-DE"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5437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0" kern="1200" spc="-10" noProof="0">
                          <a:solidFill>
                            <a:schemeClr val="tx2"/>
                          </a:solidFill>
                          <a:latin typeface="+mn-lt"/>
                          <a:ea typeface="+mn-ea"/>
                          <a:cs typeface="+mn-cs"/>
                        </a:rPr>
                        <a:t xml:space="preserve">Der Bericht wurde auf </a:t>
                      </a:r>
                      <a:r>
                        <a:rPr lang="de-DE" sz="975" b="1" kern="1200" spc="-10" noProof="0">
                          <a:solidFill>
                            <a:schemeClr val="tx2"/>
                          </a:solidFill>
                          <a:latin typeface="+mn-lt"/>
                          <a:ea typeface="+mn-ea"/>
                          <a:cs typeface="+mn-cs"/>
                        </a:rPr>
                        <a:t xml:space="preserve">konsolidierter Basis </a:t>
                      </a:r>
                      <a:r>
                        <a:rPr lang="de-DE" sz="975" b="0" kern="1200" spc="-10" noProof="0">
                          <a:solidFill>
                            <a:schemeClr val="tx2"/>
                          </a:solidFill>
                          <a:latin typeface="+mn-lt"/>
                          <a:ea typeface="+mn-ea"/>
                          <a:cs typeface="+mn-cs"/>
                        </a:rPr>
                        <a:t xml:space="preserve">erstellt (d. h. der Bericht umfasst die Tochterunternehmen des Unternehmens) </a:t>
                      </a:r>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e-DE" sz="975" b="0" i="0" u="none" strike="noStrike" noProof="0">
                          <a:solidFill>
                            <a:srgbClr val="1B4528"/>
                          </a:solidFill>
                          <a:effectLst/>
                          <a:latin typeface="Inter"/>
                        </a:rPr>
                        <a:t>{{no_subsidiary?}}</a:t>
                      </a:r>
                      <a:endParaRPr lang="de-DE"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graphicFrame>
        <p:nvGraphicFramePr>
          <p:cNvPr id="8" name="Table 12">
            <a:extLst>
              <a:ext uri="{FF2B5EF4-FFF2-40B4-BE49-F238E27FC236}">
                <a16:creationId xmlns:a16="http://schemas.microsoft.com/office/drawing/2014/main" id="{C0F79360-A773-09D0-5119-A3FDBC3F6D97}"/>
              </a:ext>
            </a:extLst>
          </p:cNvPr>
          <p:cNvGraphicFramePr>
            <a:graphicFrameLocks noGrp="1"/>
          </p:cNvGraphicFramePr>
          <p:nvPr>
            <p:extLst>
              <p:ext uri="{D42A27DB-BD31-4B8C-83A1-F6EECF244321}">
                <p14:modId xmlns:p14="http://schemas.microsoft.com/office/powerpoint/2010/main" val="29321190"/>
              </p:ext>
            </p:extLst>
          </p:nvPr>
        </p:nvGraphicFramePr>
        <p:xfrm>
          <a:off x="411480" y="2459885"/>
          <a:ext cx="3295368" cy="1413476"/>
        </p:xfrm>
        <a:graphic>
          <a:graphicData uri="http://schemas.openxmlformats.org/drawingml/2006/table">
            <a:tbl>
              <a:tblPr firstRow="1">
                <a:tableStyleId>{2A488322-F2BA-4B5B-9748-0D474271808F}</a:tableStyleId>
              </a:tblPr>
              <a:tblGrid>
                <a:gridCol w="2780615">
                  <a:extLst>
                    <a:ext uri="{9D8B030D-6E8A-4147-A177-3AD203B41FA5}">
                      <a16:colId xmlns:a16="http://schemas.microsoft.com/office/drawing/2014/main" val="2698153288"/>
                    </a:ext>
                  </a:extLst>
                </a:gridCol>
                <a:gridCol w="514753">
                  <a:extLst>
                    <a:ext uri="{9D8B030D-6E8A-4147-A177-3AD203B41FA5}">
                      <a16:colId xmlns:a16="http://schemas.microsoft.com/office/drawing/2014/main" val="2119413191"/>
                    </a:ext>
                  </a:extLst>
                </a:gridCol>
              </a:tblGrid>
              <a:tr h="356479">
                <a:tc gridSpan="2">
                  <a:txBody>
                    <a:bodyPr/>
                    <a:lstStyle/>
                    <a:p>
                      <a:r>
                        <a:rPr lang="de-DE" sz="975" b="1" kern="1200" spc="-10" noProof="0">
                          <a:solidFill>
                            <a:schemeClr val="tx2"/>
                          </a:solidFill>
                          <a:latin typeface="+mn-lt"/>
                          <a:ea typeface="+mn-ea"/>
                          <a:cs typeface="+mn-cs"/>
                        </a:rPr>
                        <a:t xml:space="preserve">Basismodul oder Basismodul +</a:t>
                      </a:r>
                      <a:r>
                        <a:rPr lang="de-DE" sz="975" b="0" kern="1200" spc="-10" noProof="0">
                          <a:solidFill>
                            <a:schemeClr val="tx2"/>
                          </a:solidFill>
                          <a:latin typeface="+mn-lt"/>
                          <a:ea typeface="+mn-ea"/>
                          <a:cs typeface="+mn-cs"/>
                        </a:rPr>
                        <a:t> </a:t>
                      </a:r>
                      <a:r>
                        <a:rPr lang="de-DE" sz="975" b="1" kern="1200" spc="-10" noProof="0">
                          <a:solidFill>
                            <a:schemeClr val="tx2"/>
                          </a:solidFill>
                          <a:latin typeface="+mn-lt"/>
                          <a:ea typeface="+mn-ea"/>
                          <a:cs typeface="+mn-cs"/>
                        </a:rPr>
                        <a:t xml:space="preserve">Zusatzmodul </a:t>
                      </a:r>
                      <a:r>
                        <a:rPr lang="de-DE" sz="975" b="0" kern="1200" spc="-10" noProof="0">
                          <a:solidFill>
                            <a:schemeClr val="tx2"/>
                          </a:solidFill>
                          <a:latin typeface="+mn-lt"/>
                          <a:ea typeface="+mn-ea"/>
                          <a:cs typeface="+mn-cs"/>
                        </a:rPr>
                        <a:t xml:space="preserve">(Nr. 27a)</a:t>
                      </a:r>
                      <a:r>
                        <a:rPr lang="de-DE" sz="975" b="1" kern="1200" spc="-10" noProof="0">
                          <a:solidFill>
                            <a:schemeClr val="tx2"/>
                          </a:solidFill>
                          <a:latin typeface="+mn-lt"/>
                          <a:ea typeface="+mn-ea"/>
                          <a:cs typeface="+mn-cs"/>
                        </a:rPr>
                        <a:t> </a:t>
                      </a:r>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de-DE"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239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0" kern="1200" spc="-10" noProof="0">
                          <a:solidFill>
                            <a:schemeClr val="tx2"/>
                          </a:solidFill>
                          <a:latin typeface="+mn-lt"/>
                          <a:ea typeface="+mn-ea"/>
                          <a:cs typeface="+mn-cs"/>
                        </a:rPr>
                        <a:t xml:space="preserve">Der Bericht basiert auf dem </a:t>
                      </a:r>
                      <a:r>
                        <a:rPr lang="de-DE" sz="975" b="1" kern="1200" spc="-10" noProof="0">
                          <a:solidFill>
                            <a:schemeClr val="tx2"/>
                          </a:solidFill>
                          <a:latin typeface="+mn-lt"/>
                          <a:ea typeface="+mn-ea"/>
                          <a:cs typeface="+mn-cs"/>
                        </a:rPr>
                        <a:t xml:space="preserve">Basismodul</a:t>
                      </a:r>
                      <a:r>
                        <a:rPr lang="de-DE" sz="975" b="0" kern="1200" spc="-10" noProof="0">
                          <a:solidFill>
                            <a:schemeClr val="tx2"/>
                          </a:solidFill>
                          <a:latin typeface="+mn-lt"/>
                          <a:ea typeface="+mn-ea"/>
                          <a:cs typeface="+mn-cs"/>
                        </a:rPr>
                        <a:t xml:space="preserve"> des freiwilligen KMU-Standards </a:t>
                      </a:r>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e-DE" sz="975" b="0" i="0" u="none" strike="noStrike" noProof="0">
                          <a:solidFill>
                            <a:srgbClr val="1B4528"/>
                          </a:solidFill>
                          <a:effectLst/>
                          <a:latin typeface="Inter"/>
                        </a:rPr>
                        <a:t>{{basic_module?}}</a:t>
                      </a:r>
                      <a:endParaRPr lang="de-DE"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5330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0" kern="1200" spc="-10" noProof="0">
                          <a:solidFill>
                            <a:schemeClr val="tx2"/>
                          </a:solidFill>
                          <a:latin typeface="+mn-lt"/>
                          <a:ea typeface="+mn-ea"/>
                          <a:cs typeface="+mn-cs"/>
                        </a:rPr>
                        <a:t xml:space="preserve">Der Bericht basiert auf dem </a:t>
                      </a:r>
                      <a:r>
                        <a:rPr lang="de-DE" sz="975" b="1" kern="1200" spc="-10" noProof="0">
                          <a:solidFill>
                            <a:schemeClr val="tx2"/>
                          </a:solidFill>
                          <a:latin typeface="+mn-lt"/>
                          <a:ea typeface="+mn-ea"/>
                          <a:cs typeface="+mn-cs"/>
                        </a:rPr>
                        <a:t xml:space="preserve">Basismodul</a:t>
                      </a:r>
                      <a:r>
                        <a:rPr lang="de-DE" sz="975" b="0" kern="1200" spc="-10" noProof="0">
                          <a:solidFill>
                            <a:schemeClr val="tx2"/>
                          </a:solidFill>
                          <a:latin typeface="+mn-lt"/>
                          <a:ea typeface="+mn-ea"/>
                          <a:cs typeface="+mn-cs"/>
                        </a:rPr>
                        <a:t xml:space="preserve"> und </a:t>
                      </a:r>
                      <a:r>
                        <a:rPr lang="de-DE" sz="975" b="1" kern="1200" spc="-10" noProof="0">
                          <a:solidFill>
                            <a:schemeClr val="tx2"/>
                          </a:solidFill>
                          <a:latin typeface="+mn-lt"/>
                          <a:ea typeface="+mn-ea"/>
                          <a:cs typeface="+mn-cs"/>
                        </a:rPr>
                        <a:t xml:space="preserve">Zusatzmodul </a:t>
                      </a:r>
                      <a:r>
                        <a:rPr lang="de-DE" sz="975" b="0" kern="1200" spc="-10" noProof="0">
                          <a:solidFill>
                            <a:schemeClr val="tx2"/>
                          </a:solidFill>
                          <a:latin typeface="+mn-lt"/>
                          <a:ea typeface="+mn-ea"/>
                          <a:cs typeface="+mn-cs"/>
                        </a:rPr>
                        <a:t xml:space="preserve">des freiwilligen KMU-Standards</a:t>
                      </a:r>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e-DE" sz="975" b="0" i="0" u="none" strike="noStrike" noProof="0">
                          <a:solidFill>
                            <a:srgbClr val="1B4528"/>
                          </a:solidFill>
                          <a:effectLst/>
                          <a:latin typeface="Inter"/>
                        </a:rPr>
                        <a:t>{{comprehensive?}}</a:t>
                      </a:r>
                      <a:endParaRPr lang="de-DE"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sp>
        <p:nvSpPr>
          <p:cNvPr id="10" name="Tekstfelt 9">
            <a:extLst>
              <a:ext uri="{FF2B5EF4-FFF2-40B4-BE49-F238E27FC236}">
                <a16:creationId xmlns:a16="http://schemas.microsoft.com/office/drawing/2014/main" id="{08CE8BB8-760E-14A7-E273-1C19DEAB1C88}"/>
              </a:ext>
            </a:extLst>
          </p:cNvPr>
          <p:cNvSpPr txBox="1"/>
          <p:nvPr/>
        </p:nvSpPr>
        <p:spPr>
          <a:xfrm>
            <a:off x="411480" y="1287528"/>
            <a:ext cx="6737040" cy="846352"/>
          </a:xfrm>
          <a:prstGeom prst="rect">
            <a:avLst/>
          </a:prstGeom>
          <a:noFill/>
        </p:spPr>
        <p:txBody>
          <a:bodyPr wrap="square">
            <a:spAutoFit/>
          </a:bodyPr>
          <a:lstStyle/>
          <a:p>
            <a:pPr rtl="0">
              <a:buNone/>
            </a:pPr>
            <a:r>
              <a:rPr lang="de-DE" sz="975" b="0" i="0" u="none" strike="noStrike" noProof="0">
                <a:solidFill>
                  <a:schemeClr val="tx2"/>
                </a:solidFill>
                <a:effectLst/>
                <a:latin typeface="Inter"/>
              </a:rPr>
              <a:t xml:space="preserve">Das Unternehmen hat seinen Nachhaltigkeitsbericht nach dem VSME-Standard erstellt, der einem strukturierten Ansatz folgt, um sicherzustellen, dass die erforderlichen Informationen standardisiert und transparent berichtet werden. Der Bericht spiegelt die vom Unternehmen ausgewählten und abgedeckten Nachhaltigkeitsmodule wider. Darüber hinaus ist angegeben, ob der Nachhaltigkeitsbericht auf individueller Basis (nur eigene Daten des Unternehmens) oder auf konsolidierter Basis erstellt wird. Dieser Abschnitt enthält grundlegende Informationen über das Unternehmen, z. B. seine Rechtsform, NACE-Code(s), Bilanzsumme und Umsatzerlöse, Zahl der Beschäftigten sowie Informationen über das Land der Hauptgeschäftstätigkeit und den Standort weiterer wesentlicher Vermögenswerte.</a:t>
            </a:r>
            <a:endParaRPr lang="de-DE" sz="975" b="0" noProof="0">
              <a:solidFill>
                <a:schemeClr val="tx2"/>
              </a:solidFill>
              <a:effectLst/>
            </a:endParaRPr>
          </a:p>
        </p:txBody>
      </p:sp>
      <p:graphicFrame>
        <p:nvGraphicFramePr>
          <p:cNvPr id="13" name="Table 2">
            <a:extLst>
              <a:ext uri="{FF2B5EF4-FFF2-40B4-BE49-F238E27FC236}">
                <a16:creationId xmlns:a16="http://schemas.microsoft.com/office/drawing/2014/main" id="{34E7B75C-B2E3-1B8A-2080-FEF363E738AC}"/>
              </a:ext>
            </a:extLst>
          </p:cNvPr>
          <p:cNvGraphicFramePr>
            <a:graphicFrameLocks noGrp="1"/>
          </p:cNvGraphicFramePr>
          <p:nvPr>
            <p:extLst>
              <p:ext uri="{D42A27DB-BD31-4B8C-83A1-F6EECF244321}">
                <p14:modId xmlns:p14="http://schemas.microsoft.com/office/powerpoint/2010/main" val="3921828815"/>
              </p:ext>
            </p:extLst>
          </p:nvPr>
        </p:nvGraphicFramePr>
        <p:xfrm>
          <a:off x="3853152" y="4091258"/>
          <a:ext cx="3295368" cy="2562547"/>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1902117154"/>
                    </a:ext>
                  </a:extLst>
                </a:gridCol>
                <a:gridCol w="1771498">
                  <a:extLst>
                    <a:ext uri="{9D8B030D-6E8A-4147-A177-3AD203B41FA5}">
                      <a16:colId xmlns:a16="http://schemas.microsoft.com/office/drawing/2014/main" val="1904521774"/>
                    </a:ext>
                  </a:extLst>
                </a:gridCol>
              </a:tblGrid>
              <a:tr h="550458">
                <a:tc gridSpan="2">
                  <a:txBody>
                    <a:bodyPr/>
                    <a:lstStyle/>
                    <a:p>
                      <a:pPr algn="l"/>
                      <a:r>
                        <a:rPr lang="de-DE" sz="975" b="1" kern="1200" spc="-10" noProof="0">
                          <a:solidFill>
                            <a:schemeClr val="tx2"/>
                          </a:solidFill>
                          <a:latin typeface="+mn-lt"/>
                          <a:ea typeface="+mn-ea"/>
                          <a:cs typeface="+mn-cs"/>
                        </a:rPr>
                        <a:t xml:space="preserve">Grundlegende Informationen über das Unternehmen</a:t>
                      </a:r>
                      <a:r>
                        <a:rPr lang="de-DE" sz="975" b="0" kern="1200" spc="-10" noProof="0">
                          <a:solidFill>
                            <a:schemeClr val="tx2"/>
                          </a:solidFill>
                          <a:latin typeface="+mn-lt"/>
                          <a:ea typeface="+mn-ea"/>
                          <a:cs typeface="+mn-cs"/>
                        </a:rPr>
                        <a:t xml:space="preserve"> (Nr. 27e, i-v)</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404245">
                <a:tc>
                  <a:txBody>
                    <a:bodyPr/>
                    <a:lstStyle/>
                    <a:p>
                      <a:pPr algn="l"/>
                      <a:r>
                        <a:rPr lang="de-DE" sz="975" b="1" kern="1200" spc="-10" noProof="0">
                          <a:solidFill>
                            <a:schemeClr val="tx2"/>
                          </a:solidFill>
                          <a:latin typeface="+mn-lt"/>
                          <a:ea typeface="+mn-ea"/>
                          <a:cs typeface="+mn-cs"/>
                        </a:rPr>
                        <a:t xml:space="preserve">Rechtsform</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de-DE" sz="975" b="0" i="0" u="none" strike="noStrike" noProof="0">
                          <a:solidFill>
                            <a:srgbClr val="1B4528"/>
                          </a:solidFill>
                          <a:effectLst/>
                          <a:latin typeface="Inter"/>
                        </a:rPr>
                        <a:t>{{branchekode}}</a:t>
                      </a:r>
                      <a:endParaRPr lang="de-DE" sz="975" b="0"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4042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1" kern="1200" spc="-10" noProof="0">
                          <a:solidFill>
                            <a:schemeClr val="tx2"/>
                          </a:solidFill>
                          <a:latin typeface="+mn-lt"/>
                          <a:ea typeface="+mn-ea"/>
                          <a:cs typeface="+mn-cs"/>
                        </a:rPr>
                        <a:t xml:space="preserve">NACE-Code(s)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de-DE" sz="975" b="0" i="0" u="none" strike="noStrike" noProof="0">
                          <a:solidFill>
                            <a:srgbClr val="1B4528"/>
                          </a:solidFill>
                          <a:effectLst/>
                          <a:latin typeface="Inter"/>
                        </a:rPr>
                        <a:t>{{NACE}}</a:t>
                      </a:r>
                      <a:endParaRPr lang="de-DE"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4042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1" kern="1200" spc="-10" noProof="0">
                          <a:solidFill>
                            <a:schemeClr val="tx2"/>
                          </a:solidFill>
                          <a:latin typeface="+mn-lt"/>
                          <a:ea typeface="+mn-ea"/>
                          <a:cs typeface="+mn-cs"/>
                        </a:rPr>
                        <a:t xml:space="preserve">Bilanzsumme (EUR)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de-DE" sz="975" b="0" i="0" u="none" strike="noStrike" noProof="0">
                          <a:solidFill>
                            <a:srgbClr val="1B4528"/>
                          </a:solidFill>
                          <a:effectLst/>
                          <a:latin typeface="Inter"/>
                        </a:rPr>
                        <a:t>{{balance}}</a:t>
                      </a:r>
                      <a:endParaRPr lang="de-DE"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404245">
                <a:tc>
                  <a:txBody>
                    <a:bodyPr/>
                    <a:lstStyle/>
                    <a:p>
                      <a:pPr algn="l"/>
                      <a:r>
                        <a:rPr lang="de-DE" sz="975" b="1" kern="1200" spc="-10" noProof="0">
                          <a:solidFill>
                            <a:schemeClr val="tx2"/>
                          </a:solidFill>
                          <a:latin typeface="+mn-lt"/>
                          <a:ea typeface="+mn-ea"/>
                          <a:cs typeface="+mn-cs"/>
                        </a:rPr>
                        <a:t xml:space="preserve">Umsatzerlöse (EUR)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de-DE" sz="975" b="0" i="0" u="none" strike="noStrike" noProof="0">
                          <a:solidFill>
                            <a:srgbClr val="1B4528"/>
                          </a:solidFill>
                          <a:effectLst/>
                          <a:latin typeface="Inter"/>
                        </a:rPr>
                        <a:t>{{revenue}}</a:t>
                      </a:r>
                      <a:endParaRPr lang="de-DE"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75682954"/>
                  </a:ext>
                </a:extLst>
              </a:tr>
              <a:tr h="395107">
                <a:tc>
                  <a:txBody>
                    <a:bodyPr/>
                    <a:lstStyle/>
                    <a:p>
                      <a:pPr algn="l"/>
                      <a:r>
                        <a:rPr lang="de-DE" sz="975" b="1" kern="1200" spc="-10" noProof="0">
                          <a:solidFill>
                            <a:schemeClr val="tx2"/>
                          </a:solidFill>
                          <a:latin typeface="+mn-lt"/>
                          <a:ea typeface="+mn-ea"/>
                          <a:cs typeface="+mn-cs"/>
                        </a:rPr>
                        <a:t xml:space="preserve">Beschäftigte </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de-DE" sz="975" b="0" i="0" u="none" strike="noStrike" noProof="0">
                          <a:solidFill>
                            <a:srgbClr val="1B4528"/>
                          </a:solidFill>
                          <a:effectLst/>
                          <a:latin typeface="Inter"/>
                        </a:rPr>
                        <a:t>{{total_employees}}</a:t>
                      </a:r>
                      <a:endParaRPr lang="de-DE"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78571433"/>
                  </a:ext>
                </a:extLst>
              </a:tr>
            </a:tbl>
          </a:graphicData>
        </a:graphic>
      </p:graphicFrame>
      <p:graphicFrame>
        <p:nvGraphicFramePr>
          <p:cNvPr id="17" name="Tabel 16">
            <a:extLst>
              <a:ext uri="{FF2B5EF4-FFF2-40B4-BE49-F238E27FC236}">
                <a16:creationId xmlns:a16="http://schemas.microsoft.com/office/drawing/2014/main" id="{13BBF8C9-04F7-33C5-AAA0-F953F0D5DFD7}"/>
              </a:ext>
            </a:extLst>
          </p:cNvPr>
          <p:cNvGraphicFramePr>
            <a:graphicFrameLocks noGrp="1"/>
          </p:cNvGraphicFramePr>
          <p:nvPr>
            <p:extLst>
              <p:ext uri="{D42A27DB-BD31-4B8C-83A1-F6EECF244321}">
                <p14:modId xmlns:p14="http://schemas.microsoft.com/office/powerpoint/2010/main" val="1366799974"/>
              </p:ext>
            </p:extLst>
          </p:nvPr>
        </p:nvGraphicFramePr>
        <p:xfrm>
          <a:off x="3853152" y="2463605"/>
          <a:ext cx="3295368" cy="1409756"/>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613205895"/>
                    </a:ext>
                  </a:extLst>
                </a:gridCol>
                <a:gridCol w="1771498">
                  <a:extLst>
                    <a:ext uri="{9D8B030D-6E8A-4147-A177-3AD203B41FA5}">
                      <a16:colId xmlns:a16="http://schemas.microsoft.com/office/drawing/2014/main" val="2415866723"/>
                    </a:ext>
                  </a:extLst>
                </a:gridCol>
              </a:tblGrid>
              <a:tr h="595218">
                <a:tc gridSpan="2">
                  <a:txBody>
                    <a:bodyPr/>
                    <a:lstStyle/>
                    <a:p>
                      <a:pPr algn="l"/>
                      <a:r>
                        <a:rPr lang="de-DE" sz="975" b="1" kern="1200" spc="-10" noProof="0">
                          <a:solidFill>
                            <a:schemeClr val="tx2"/>
                          </a:solidFill>
                          <a:latin typeface="+mn-lt"/>
                          <a:ea typeface="+mn-ea"/>
                          <a:cs typeface="+mn-cs"/>
                        </a:rPr>
                        <a:t xml:space="preserve">Der ESG-Bericht enthält Auslassungen aufgrund vertraulicher Geschäftsinformationen </a:t>
                      </a:r>
                      <a:r>
                        <a:rPr lang="de-DE" sz="975" b="0" kern="1200" spc="-10" noProof="0">
                          <a:solidFill>
                            <a:schemeClr val="tx2"/>
                          </a:solidFill>
                          <a:latin typeface="+mn-lt"/>
                          <a:ea typeface="+mn-ea"/>
                          <a:cs typeface="+mn-cs"/>
                        </a:rPr>
                        <a:t xml:space="preserve">(Nr. 27b)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76069134"/>
                  </a:ext>
                </a:extLst>
              </a:tr>
              <a:tr h="8145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725" b="0" kern="1200" spc="-10" noProof="0" dirty="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975" b="0" kern="1200" spc="-10" noProof="0">
                          <a:solidFill>
                            <a:schemeClr val="tx2"/>
                          </a:solidFill>
                          <a:latin typeface="+mn-lt"/>
                          <a:ea typeface="+mn-ea"/>
                          <a:cs typeface="+mn-cs"/>
                        </a:rPr>
                        <a:t xml:space="preserve">Folgende Angaben wurden ausgelassen</a:t>
                      </a:r>
                    </a:p>
                    <a:p>
                      <a:pPr algn="l"/>
                      <a:endParaRPr lang="de-DE" sz="725" b="1" kern="1200" spc="-10" noProof="0" dirty="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a:r>
                        <a:rPr lang="de-DE" sz="975" noProof="0">
                          <a:solidFill>
                            <a:srgbClr val="1B4528"/>
                          </a:solidFill>
                          <a:latin typeface="+mn-lt"/>
                          <a:cs typeface="Calibri" panose="020F0502020204030204" pitchFamily="34" charset="0"/>
                        </a:rPr>
                        <a:t>{{</a:t>
                      </a:r>
                      <a:r>
                        <a:rPr lang="de-DE" sz="975" noProof="0">
                          <a:solidFill>
                            <a:srgbClr val="1B4528"/>
                          </a:solidFill>
                          <a:latin typeface="+mn-lt"/>
                          <a:cs typeface="Calibri" panose="020F0502020204030204" pitchFamily="34" charset="0"/>
                        </a:rPr>
                        <a:t>confidentiality_info</a:t>
                      </a:r>
                      <a:r>
                        <a:rPr lang="de-DE" sz="975" noProof="0">
                          <a:solidFill>
                            <a:srgbClr val="1B4528"/>
                          </a:solidFill>
                          <a:latin typeface="+mn-lt"/>
                          <a:cs typeface="Calibri" panose="020F0502020204030204" pitchFamily="34" charset="0"/>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74898051"/>
                  </a:ext>
                </a:extLst>
              </a:tr>
            </a:tbl>
          </a:graphicData>
        </a:graphic>
      </p:graphicFrame>
      <p:pic>
        <p:nvPicPr>
          <p:cNvPr id="7" name="Graphic 10">
            <a:extLst>
              <a:ext uri="{FF2B5EF4-FFF2-40B4-BE49-F238E27FC236}">
                <a16:creationId xmlns:a16="http://schemas.microsoft.com/office/drawing/2014/main" id="{B7787C85-A727-F625-AB96-75DC598E568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6763533"/>
            <a:ext cx="6737040" cy="193826"/>
          </a:xfrm>
          <a:prstGeom prst="rect">
            <a:avLst/>
          </a:prstGeom>
        </p:spPr>
      </p:pic>
      <p:graphicFrame>
        <p:nvGraphicFramePr>
          <p:cNvPr id="11" name="Tabel 10">
            <a:extLst>
              <a:ext uri="{FF2B5EF4-FFF2-40B4-BE49-F238E27FC236}">
                <a16:creationId xmlns:a16="http://schemas.microsoft.com/office/drawing/2014/main" id="{B9D30E23-F89B-8050-32F5-223B5B3C1DCD}"/>
              </a:ext>
            </a:extLst>
          </p:cNvPr>
          <p:cNvGraphicFramePr>
            <a:graphicFrameLocks noGrp="1"/>
          </p:cNvGraphicFramePr>
          <p:nvPr>
            <p:extLst>
              <p:ext uri="{D42A27DB-BD31-4B8C-83A1-F6EECF244321}">
                <p14:modId xmlns:p14="http://schemas.microsoft.com/office/powerpoint/2010/main" val="3088782911"/>
              </p:ext>
            </p:extLst>
          </p:nvPr>
        </p:nvGraphicFramePr>
        <p:xfrm>
          <a:off x="411480" y="9400510"/>
          <a:ext cx="6737040" cy="834696"/>
        </p:xfrm>
        <a:graphic>
          <a:graphicData uri="http://schemas.openxmlformats.org/drawingml/2006/table">
            <a:tbl>
              <a:tblPr firstRow="1">
                <a:tableStyleId>{2A488322-F2BA-4B5B-9748-0D474271808F}</a:tableStyleId>
              </a:tblPr>
              <a:tblGrid>
                <a:gridCol w="2316045">
                  <a:extLst>
                    <a:ext uri="{9D8B030D-6E8A-4147-A177-3AD203B41FA5}">
                      <a16:colId xmlns:a16="http://schemas.microsoft.com/office/drawing/2014/main" val="3746818765"/>
                    </a:ext>
                  </a:extLst>
                </a:gridCol>
                <a:gridCol w="2222875">
                  <a:extLst>
                    <a:ext uri="{9D8B030D-6E8A-4147-A177-3AD203B41FA5}">
                      <a16:colId xmlns:a16="http://schemas.microsoft.com/office/drawing/2014/main" val="465692987"/>
                    </a:ext>
                  </a:extLst>
                </a:gridCol>
                <a:gridCol w="1172530">
                  <a:extLst>
                    <a:ext uri="{9D8B030D-6E8A-4147-A177-3AD203B41FA5}">
                      <a16:colId xmlns:a16="http://schemas.microsoft.com/office/drawing/2014/main" val="857047578"/>
                    </a:ext>
                  </a:extLst>
                </a:gridCol>
                <a:gridCol w="1025590">
                  <a:extLst>
                    <a:ext uri="{9D8B030D-6E8A-4147-A177-3AD203B41FA5}">
                      <a16:colId xmlns:a16="http://schemas.microsoft.com/office/drawing/2014/main" val="1742107540"/>
                    </a:ext>
                  </a:extLst>
                </a:gridCol>
              </a:tblGrid>
              <a:tr h="209992">
                <a:tc>
                  <a:txBody>
                    <a:bodyPr/>
                    <a:lstStyle/>
                    <a:p>
                      <a:r>
                        <a:rPr lang="de-DE" sz="975" b="1" kern="1200" spc="-10" noProof="0">
                          <a:solidFill>
                            <a:schemeClr val="tx2"/>
                          </a:solidFill>
                          <a:latin typeface="+mn-lt"/>
                          <a:ea typeface="+mn-ea"/>
                          <a:cs typeface="+mn-cs"/>
                        </a:rPr>
                        <a:t xml:space="preserve">Name des ESG-Zertifikats/Umweltsiegels </a:t>
                      </a:r>
                      <a:r>
                        <a:rPr lang="de-DE" sz="975" b="0" kern="1200" spc="-10" noProof="0">
                          <a:solidFill>
                            <a:schemeClr val="tx2"/>
                          </a:solidFill>
                          <a:latin typeface="+mn-lt"/>
                          <a:ea typeface="+mn-ea"/>
                          <a:cs typeface="+mn-cs"/>
                        </a:rPr>
                        <a:t xml:space="preserve">(Nr. 28)</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e-DE" sz="975" b="1" kern="1200" spc="-10" noProof="0">
                          <a:solidFill>
                            <a:schemeClr val="tx2"/>
                          </a:solidFill>
                          <a:latin typeface="+mn-lt"/>
                          <a:ea typeface="+mn-ea"/>
                          <a:cs typeface="+mn-cs"/>
                        </a:rPr>
                        <a:t xml:space="preserve">Kurze Beschreibung</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e-DE" sz="975" b="1" kern="1200" spc="-10" noProof="0">
                          <a:solidFill>
                            <a:schemeClr val="tx2"/>
                          </a:solidFill>
                          <a:latin typeface="+mn-lt"/>
                          <a:ea typeface="+mn-ea"/>
                          <a:cs typeface="+mn-cs"/>
                        </a:rPr>
                        <a:t xml:space="preserve">Datum der Ausstellung/</a:t>
                      </a:r>
                    </a:p>
                    <a:p>
                      <a:pPr algn="l"/>
                      <a:r>
                        <a:rPr lang="de-DE" sz="975" b="1" kern="1200" spc="-10" noProof="0">
                          <a:solidFill>
                            <a:schemeClr val="tx2"/>
                          </a:solidFill>
                          <a:latin typeface="+mn-lt"/>
                          <a:ea typeface="+mn-ea"/>
                          <a:cs typeface="+mn-cs"/>
                        </a:rPr>
                        <a:t xml:space="preserve">Gültigkeit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e-DE" sz="975" b="1" kern="1200" spc="-10" noProof="0">
                          <a:solidFill>
                            <a:schemeClr val="tx2"/>
                          </a:solidFill>
                          <a:latin typeface="+mn-lt"/>
                          <a:ea typeface="+mn-ea"/>
                          <a:cs typeface="+mn-cs"/>
                        </a:rPr>
                        <a:t xml:space="preserve">Etwaige Bewertungsnote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613430332"/>
                  </a:ext>
                </a:extLst>
              </a:tr>
              <a:tr h="209992">
                <a:tc>
                  <a:txBody>
                    <a:bodyPr/>
                    <a:lstStyle/>
                    <a:p>
                      <a:pPr rtl="0" fontAlgn="ctr" algn="l">
                        <a:buNone/>
                      </a:pPr>
                      <a:r>
                        <a:rPr lang="de-DE" sz="975" b="0" i="0" u="none" strike="noStrike" noProof="0">
                          <a:solidFill>
                            <a:srgbClr val="1B4528"/>
                          </a:solidFill>
                          <a:effectLst/>
                          <a:latin typeface="Inter"/>
                        </a:rPr>
                        <a:t>{{certificate_or_ecolabel}}</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de-DE" sz="975" b="0" i="0" u="none" strike="noStrike" noProof="0">
                          <a:solidFill>
                            <a:srgbClr val="1B4528"/>
                          </a:solidFill>
                          <a:effectLst/>
                          <a:latin typeface="Inter"/>
                        </a:rPr>
                        <a:t>{{description_certificate}}</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de-DE" sz="975" b="0" i="0" u="none" strike="noStrike" noProof="0">
                          <a:solidFill>
                            <a:srgbClr val="1B4528"/>
                          </a:solidFill>
                          <a:effectLst/>
                          <a:latin typeface="Inter"/>
                        </a:rPr>
                        <a:t>{{</a:t>
                      </a:r>
                      <a:r>
                        <a:rPr lang="de-DE" sz="975" b="0" i="0" u="none" strike="noStrike" noProof="0">
                          <a:solidFill>
                            <a:srgbClr val="1B4528"/>
                          </a:solidFill>
                          <a:effectLst/>
                          <a:latin typeface="Inter"/>
                        </a:rPr>
                        <a:t>date_certicate</a:t>
                      </a:r>
                      <a:r>
                        <a:rPr lang="de-DE" sz="975" b="0" i="0" u="none" strike="noStrike" noProof="0">
                          <a:solidFill>
                            <a:srgbClr val="1B4528"/>
                          </a:solidFill>
                          <a:effectLst/>
                          <a:latin typeface="Inter"/>
                        </a:rPr>
                        <a:t>}}</a:t>
                      </a:r>
                      <a:endParaRPr lang="de-DE"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de-DE" sz="975" b="0" i="0" u="none" strike="noStrike" noProof="0">
                          <a:solidFill>
                            <a:srgbClr val="1B4528"/>
                          </a:solidFill>
                          <a:effectLst/>
                          <a:latin typeface="Inter"/>
                        </a:rPr>
                        <a:t>{{</a:t>
                      </a:r>
                      <a:r>
                        <a:rPr lang="de-DE" sz="975" b="0" i="0" u="none" strike="noStrike" noProof="0">
                          <a:solidFill>
                            <a:srgbClr val="1B4528"/>
                          </a:solidFill>
                          <a:effectLst/>
                          <a:latin typeface="Inter"/>
                        </a:rPr>
                        <a:t>certiciate_possible_rating</a:t>
                      </a:r>
                      <a:r>
                        <a:rPr lang="de-DE" sz="975" b="0" i="0" u="none" strike="noStrike" noProof="0">
                          <a:solidFill>
                            <a:srgbClr val="1B4528"/>
                          </a:solidFill>
                          <a:effectLst/>
                          <a:latin typeface="Inter"/>
                        </a:rPr>
                        <a:t>}}</a:t>
                      </a:r>
                      <a:endParaRPr lang="de-DE"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5006062"/>
                  </a:ext>
                </a:extLst>
              </a:tr>
            </a:tbl>
          </a:graphicData>
        </a:graphic>
      </p:graphicFrame>
      <p:graphicFrame>
        <p:nvGraphicFramePr>
          <p:cNvPr id="14" name="Tabel 13">
            <a:extLst>
              <a:ext uri="{FF2B5EF4-FFF2-40B4-BE49-F238E27FC236}">
                <a16:creationId xmlns:a16="http://schemas.microsoft.com/office/drawing/2014/main" id="{6CA17681-1928-380D-D58C-D782D51253FF}"/>
              </a:ext>
            </a:extLst>
          </p:cNvPr>
          <p:cNvGraphicFramePr>
            <a:graphicFrameLocks noGrp="1"/>
          </p:cNvGraphicFramePr>
          <p:nvPr>
            <p:extLst>
              <p:ext uri="{D42A27DB-BD31-4B8C-83A1-F6EECF244321}">
                <p14:modId xmlns:p14="http://schemas.microsoft.com/office/powerpoint/2010/main" val="4040236016"/>
              </p:ext>
            </p:extLst>
          </p:nvPr>
        </p:nvGraphicFramePr>
        <p:xfrm>
          <a:off x="411480" y="7507669"/>
          <a:ext cx="6737040" cy="1032702"/>
        </p:xfrm>
        <a:graphic>
          <a:graphicData uri="http://schemas.openxmlformats.org/drawingml/2006/table">
            <a:tbl>
              <a:tblPr firstRow="1">
                <a:tableStyleId>{2A488322-F2BA-4B5B-9748-0D474271808F}</a:tableStyleId>
              </a:tblPr>
              <a:tblGrid>
                <a:gridCol w="1227849">
                  <a:extLst>
                    <a:ext uri="{9D8B030D-6E8A-4147-A177-3AD203B41FA5}">
                      <a16:colId xmlns:a16="http://schemas.microsoft.com/office/drawing/2014/main" val="2041236584"/>
                    </a:ext>
                  </a:extLst>
                </a:gridCol>
                <a:gridCol w="1303858">
                  <a:extLst>
                    <a:ext uri="{9D8B030D-6E8A-4147-A177-3AD203B41FA5}">
                      <a16:colId xmlns:a16="http://schemas.microsoft.com/office/drawing/2014/main" val="2637180759"/>
                    </a:ext>
                  </a:extLst>
                </a:gridCol>
                <a:gridCol w="996273">
                  <a:extLst>
                    <a:ext uri="{9D8B030D-6E8A-4147-A177-3AD203B41FA5}">
                      <a16:colId xmlns:a16="http://schemas.microsoft.com/office/drawing/2014/main" val="1126871569"/>
                    </a:ext>
                  </a:extLst>
                </a:gridCol>
                <a:gridCol w="973628">
                  <a:extLst>
                    <a:ext uri="{9D8B030D-6E8A-4147-A177-3AD203B41FA5}">
                      <a16:colId xmlns:a16="http://schemas.microsoft.com/office/drawing/2014/main" val="573454477"/>
                    </a:ext>
                  </a:extLst>
                </a:gridCol>
                <a:gridCol w="1079296">
                  <a:extLst>
                    <a:ext uri="{9D8B030D-6E8A-4147-A177-3AD203B41FA5}">
                      <a16:colId xmlns:a16="http://schemas.microsoft.com/office/drawing/2014/main" val="3277283369"/>
                    </a:ext>
                  </a:extLst>
                </a:gridCol>
                <a:gridCol w="1156136">
                  <a:extLst>
                    <a:ext uri="{9D8B030D-6E8A-4147-A177-3AD203B41FA5}">
                      <a16:colId xmlns:a16="http://schemas.microsoft.com/office/drawing/2014/main" val="3975353283"/>
                    </a:ext>
                  </a:extLst>
                </a:gridCol>
              </a:tblGrid>
              <a:tr h="269989">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1" kern="1200" spc="-10" noProof="0">
                          <a:solidFill>
                            <a:schemeClr val="tx2"/>
                          </a:solidFill>
                          <a:latin typeface="+mn-lt"/>
                          <a:ea typeface="+mn-ea"/>
                          <a:cs typeface="+mn-cs"/>
                        </a:rPr>
                        <a:t xml:space="preserve">Anschriften und Geoposition </a:t>
                      </a:r>
                      <a:r>
                        <a:rPr lang="de-DE" sz="975" b="1" u="none" kern="1200" spc="-10" noProof="0">
                          <a:solidFill>
                            <a:schemeClr val="tx2"/>
                          </a:solidFill>
                          <a:latin typeface="+mn-lt"/>
                          <a:ea typeface="+mn-ea"/>
                          <a:cs typeface="+mn-cs"/>
                        </a:rPr>
                        <a:t xml:space="preserve">wesentlicher</a:t>
                      </a:r>
                      <a:r>
                        <a:rPr lang="de-DE" sz="975" b="1" kern="1200" spc="-10" noProof="0">
                          <a:solidFill>
                            <a:schemeClr val="tx2"/>
                          </a:solidFill>
                          <a:latin typeface="+mn-lt"/>
                          <a:ea typeface="+mn-ea"/>
                          <a:cs typeface="+mn-cs"/>
                        </a:rPr>
                        <a:t xml:space="preserve"> Vermögenswerte und Standorte, die das Unternehmen</a:t>
                      </a:r>
                      <a:r>
                        <a:rPr lang="de-DE" sz="975" b="0" kern="1200" spc="-10" noProof="0">
                          <a:solidFill>
                            <a:schemeClr val="tx2"/>
                          </a:solidFill>
                          <a:latin typeface="+mn-lt"/>
                          <a:ea typeface="+mn-ea"/>
                          <a:cs typeface="+mn-cs"/>
                        </a:rPr>
                        <a:t> </a:t>
                      </a:r>
                      <a:r>
                        <a:rPr lang="de-DE" sz="975" b="1" kern="1200" spc="-10" noProof="0">
                          <a:solidFill>
                            <a:schemeClr val="tx2"/>
                          </a:solidFill>
                          <a:latin typeface="+mn-lt"/>
                          <a:ea typeface="+mn-ea"/>
                          <a:cs typeface="+mn-cs"/>
                        </a:rPr>
                        <a:t xml:space="preserve">besitzt, gepachtet hat oder bewirtschaftet </a:t>
                      </a:r>
                      <a:r>
                        <a:rPr lang="de-DE" sz="975" b="0" kern="1200" spc="-10" noProof="0">
                          <a:solidFill>
                            <a:schemeClr val="tx2"/>
                          </a:solidFill>
                          <a:latin typeface="+mn-lt"/>
                          <a:ea typeface="+mn-ea"/>
                          <a:cs typeface="+mn-cs"/>
                        </a:rPr>
                        <a:t xml:space="preserve">(Nr. 27e, vi, vii)</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975" b="1" kern="1200" spc="-10" noProof="0" dirty="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e-DE"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e-DE"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e-DE"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e-DE"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e-DE"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108498375"/>
                  </a:ext>
                </a:extLst>
              </a:tr>
              <a:tr h="269989">
                <a:tc>
                  <a:txBody>
                    <a:bodyPr/>
                    <a:lstStyle/>
                    <a:p>
                      <a:pPr algn="l"/>
                      <a:r>
                        <a:rPr lang="de-DE" sz="975" b="1" kern="1200" spc="-10" noProof="0">
                          <a:solidFill>
                            <a:schemeClr val="tx2"/>
                          </a:solidFill>
                          <a:latin typeface="+mn-lt"/>
                          <a:ea typeface="+mn-ea"/>
                          <a:cs typeface="+mn-cs"/>
                        </a:rPr>
                        <a:t xml:space="preserve">Standort</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975" b="1" kern="1200" spc="-10" noProof="0">
                          <a:solidFill>
                            <a:schemeClr val="tx2"/>
                          </a:solidFill>
                          <a:latin typeface="+mn-lt"/>
                          <a:ea typeface="+mn-ea"/>
                          <a:cs typeface="+mn-cs"/>
                        </a:rPr>
                        <a:t xml:space="preserve">Anschrift</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975" b="1" kern="1200" spc="-10" noProof="0">
                          <a:solidFill>
                            <a:schemeClr val="tx2"/>
                          </a:solidFill>
                          <a:latin typeface="+mn-lt"/>
                          <a:ea typeface="+mn-ea"/>
                          <a:cs typeface="+mn-cs"/>
                        </a:rPr>
                        <a:t xml:space="preserve">PLZ</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975" b="1" kern="1200" spc="-10" noProof="0">
                          <a:solidFill>
                            <a:schemeClr val="tx2"/>
                          </a:solidFill>
                          <a:latin typeface="+mn-lt"/>
                          <a:ea typeface="+mn-ea"/>
                          <a:cs typeface="+mn-cs"/>
                        </a:rPr>
                        <a:t xml:space="preserve">Stadt</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975" b="1" kern="1200" spc="-10" noProof="0">
                          <a:solidFill>
                            <a:schemeClr val="tx2"/>
                          </a:solidFill>
                          <a:latin typeface="+mn-lt"/>
                          <a:ea typeface="+mn-ea"/>
                          <a:cs typeface="+mn-cs"/>
                        </a:rPr>
                        <a:t xml:space="preserve">Land</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975" b="1" kern="1200" spc="-10" noProof="0">
                          <a:solidFill>
                            <a:schemeClr val="tx2"/>
                          </a:solidFill>
                          <a:latin typeface="+mn-lt"/>
                          <a:ea typeface="+mn-ea"/>
                          <a:cs typeface="+mn-cs"/>
                        </a:rPr>
                        <a:t xml:space="preserve">Geoposition (Koordinaten)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282431150"/>
                  </a:ext>
                </a:extLst>
              </a:tr>
              <a:tr h="269989">
                <a:tc>
                  <a:txBody>
                    <a:bodyPr/>
                    <a:lstStyle/>
                    <a:p>
                      <a:pPr rtl="0" fontAlgn="t" algn="l">
                        <a:buNone/>
                      </a:pPr>
                      <a:r>
                        <a:rPr lang="de-DE" sz="975" b="0" i="0" u="none" strike="noStrike" noProof="0">
                          <a:solidFill>
                            <a:srgbClr val="1B4528"/>
                          </a:solidFill>
                          <a:effectLst/>
                          <a:latin typeface="Inter"/>
                        </a:rPr>
                        <a:t>{{geolocation}}</a:t>
                      </a:r>
                      <a:endParaRPr lang="de-DE"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de-DE" sz="975" b="0" i="0" u="none" strike="noStrike" noProof="0">
                          <a:solidFill>
                            <a:srgbClr val="1B4528"/>
                          </a:solidFill>
                          <a:effectLst/>
                          <a:latin typeface="Inter"/>
                        </a:rPr>
                        <a:t>{{</a:t>
                      </a:r>
                      <a:r>
                        <a:rPr lang="de-DE" sz="975" b="0" i="0" u="none" strike="noStrike" noProof="0">
                          <a:solidFill>
                            <a:srgbClr val="1B4528"/>
                          </a:solidFill>
                          <a:effectLst/>
                          <a:latin typeface="Inter"/>
                        </a:rPr>
                        <a:t>geolocation_adress</a:t>
                      </a:r>
                      <a:r>
                        <a:rPr lang="de-DE" sz="975" b="0" i="0" u="none" strike="noStrike" noProof="0">
                          <a:solidFill>
                            <a:srgbClr val="1B4528"/>
                          </a:solidFill>
                          <a:effectLst/>
                          <a:latin typeface="Inter"/>
                        </a:rPr>
                        <a:t>}}</a:t>
                      </a:r>
                      <a:endParaRPr lang="de-DE" sz="975" b="0" noProof="0" dirty="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de-DE" sz="975" b="0" i="0" u="none" strike="noStrike" noProof="0">
                          <a:solidFill>
                            <a:srgbClr val="1B4528"/>
                          </a:solidFill>
                          <a:effectLst/>
                          <a:latin typeface="Inter"/>
                        </a:rPr>
                        <a:t>{{geolocation_postcode}}</a:t>
                      </a:r>
                      <a:endParaRPr lang="de-DE"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de-DE" sz="975" b="0" i="0" u="none" strike="noStrike" noProof="0">
                          <a:solidFill>
                            <a:srgbClr val="1B4528"/>
                          </a:solidFill>
                          <a:effectLst/>
                          <a:latin typeface="Inter"/>
                        </a:rPr>
                        <a:t>{{geolocation_city}}</a:t>
                      </a:r>
                      <a:endParaRPr lang="de-DE"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de-DE" sz="975" b="0" i="0" u="none" strike="noStrike" noProof="0">
                          <a:solidFill>
                            <a:srgbClr val="1B4528"/>
                          </a:solidFill>
                          <a:effectLst/>
                          <a:latin typeface="Inter"/>
                        </a:rPr>
                        <a:t>{{geolocation_country}}</a:t>
                      </a:r>
                      <a:endParaRPr lang="de-DE"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de-DE" sz="975" b="0" i="0" u="none" strike="noStrike" noProof="0">
                          <a:solidFill>
                            <a:srgbClr val="1B4528"/>
                          </a:solidFill>
                          <a:effectLst/>
                          <a:latin typeface="Inter"/>
                        </a:rPr>
                        <a:t>{{</a:t>
                      </a:r>
                      <a:r>
                        <a:rPr lang="de-DE" sz="975" b="0" i="0" u="none" strike="noStrike" noProof="0">
                          <a:solidFill>
                            <a:srgbClr val="1B4528"/>
                          </a:solidFill>
                          <a:effectLst/>
                          <a:latin typeface="Inter"/>
                        </a:rPr>
                        <a:t>geolocation_coordinates</a:t>
                      </a:r>
                      <a:r>
                        <a:rPr lang="de-DE" sz="975" b="0" i="0" u="none" strike="noStrike" noProof="0">
                          <a:solidFill>
                            <a:srgbClr val="1B4528"/>
                          </a:solidFill>
                          <a:effectLst/>
                          <a:latin typeface="Inter"/>
                        </a:rPr>
                        <a:t>}}</a:t>
                      </a:r>
                      <a:endParaRPr lang="de-DE" sz="975" b="0" noProof="0" dirty="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669926511"/>
                  </a:ext>
                </a:extLst>
              </a:tr>
            </a:tbl>
          </a:graphicData>
        </a:graphic>
      </p:graphicFrame>
      <p:sp>
        <p:nvSpPr>
          <p:cNvPr id="19" name="Tekstfelt 18">
            <a:extLst>
              <a:ext uri="{FF2B5EF4-FFF2-40B4-BE49-F238E27FC236}">
                <a16:creationId xmlns:a16="http://schemas.microsoft.com/office/drawing/2014/main" id="{E833CCA7-4D9A-7EEC-4359-1F0F50503027}"/>
              </a:ext>
            </a:extLst>
          </p:cNvPr>
          <p:cNvSpPr txBox="1"/>
          <p:nvPr/>
        </p:nvSpPr>
        <p:spPr>
          <a:xfrm>
            <a:off x="411480" y="6795448"/>
            <a:ext cx="6737040" cy="538588"/>
          </a:xfrm>
          <a:prstGeom prst="rect">
            <a:avLst/>
          </a:prstGeom>
          <a:noFill/>
        </p:spPr>
        <p:txBody>
          <a:bodyPr wrap="square">
            <a:spAutoFit/>
          </a:bodyPr>
          <a:lstStyle/>
          <a:p>
            <a:pPr>
              <a:spcBef>
                <a:spcPts val="750"/>
              </a:spcBef>
            </a:pPr>
            <a:r>
              <a:rPr lang="de-DE" sz="975" b="0" i="0" u="none" strike="noStrike" noProof="0">
                <a:solidFill>
                  <a:schemeClr val="tx2"/>
                </a:solidFill>
                <a:effectLst/>
                <a:latin typeface="Inter"/>
              </a:rPr>
              <a:t xml:space="preserve">Nachstehend werden die Geopositionen des Unternehmens und die Orte seiner Tätigkeit beschrieben. Diese Angaben können für klimabedingte Risikozonen genutzt werden und informieren über Anlagen, Einrichtungen und/oder den Hauptsitz</a:t>
            </a:r>
            <a:r>
              <a:rPr lang="de-DE" sz="975" noProof="0">
                <a:solidFill>
                  <a:schemeClr val="tx2"/>
                </a:solidFill>
                <a:latin typeface="Inter"/>
              </a:rPr>
              <a:t xml:space="preserve">. Relevante Nachhaltigkeitszertifizierungen oder -siegel sind ebenfalls angegeben, einschließlich Aussteller, Datum und etwaiger Bewertungsnote.</a:t>
            </a:r>
            <a:endParaRPr lang="de-DE" sz="975" b="0" noProof="0" dirty="0">
              <a:solidFill>
                <a:schemeClr val="tx2"/>
              </a:solidFill>
              <a:effectLst/>
              <a:latin typeface="Inter"/>
            </a:endParaRPr>
          </a:p>
        </p:txBody>
      </p:sp>
      <p:sp>
        <p:nvSpPr>
          <p:cNvPr id="21" name="Tekstfelt 20">
            <a:extLst>
              <a:ext uri="{FF2B5EF4-FFF2-40B4-BE49-F238E27FC236}">
                <a16:creationId xmlns:a16="http://schemas.microsoft.com/office/drawing/2014/main" id="{491B3392-69C7-8B39-2F36-18D17714B1CA}"/>
              </a:ext>
            </a:extLst>
          </p:cNvPr>
          <p:cNvSpPr txBox="1"/>
          <p:nvPr/>
        </p:nvSpPr>
        <p:spPr>
          <a:xfrm>
            <a:off x="411480" y="8963107"/>
            <a:ext cx="6737040" cy="230823"/>
          </a:xfrm>
          <a:prstGeom prst="rect">
            <a:avLst/>
          </a:prstGeom>
          <a:noFill/>
        </p:spPr>
        <p:txBody>
          <a:bodyPr wrap="square">
            <a:spAutoFit/>
          </a:bodyPr>
          <a:lstStyle/>
          <a:p>
            <a:r>
              <a:rPr lang="de-DE" sz="975" noProof="0">
                <a:solidFill>
                  <a:srgbClr val="487477"/>
                </a:solidFill>
                <a:latin typeface="Inter"/>
              </a:rPr>
              <a:t xml:space="preserve">Die Zertifikate und Umweltsiegel des Unternehmens sind nachstehend aufgeführt.</a:t>
            </a:r>
          </a:p>
        </p:txBody>
      </p:sp>
    </p:spTree>
    <p:extLst>
      <p:ext uri="{BB962C8B-B14F-4D97-AF65-F5344CB8AC3E}">
        <p14:creationId xmlns:p14="http://schemas.microsoft.com/office/powerpoint/2010/main" val="4169988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17033"/>
            <a:ext cx="6737040" cy="207741"/>
          </a:xfrm>
        </p:spPr>
        <p:txBody>
          <a:bodyPr/>
          <a:lstStyle/>
          <a:p>
            <a:r>
              <a:rPr lang="de-DE" noProof="0"/>
              <a:t xml:space="preserve">Verfahrensweisen, Richtlinien und künftige Initiativen für den Übergang zu einer nachhaltigeren Wirtschaft (B2)</a:t>
            </a:r>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{{company_name}}</a:t>
            </a:r>
            <a:endParaRPr lang="de-DE" b="0" noProof="0"/>
          </a:p>
          <a:p>
            <a:endParaRPr lang="de-DE"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877360368"/>
              </p:ext>
            </p:extLst>
          </p:nvPr>
        </p:nvGraphicFramePr>
        <p:xfrm>
          <a:off x="411480" y="2494291"/>
          <a:ext cx="6737040" cy="4084888"/>
        </p:xfrm>
        <a:graphic>
          <a:graphicData uri="http://schemas.openxmlformats.org/drawingml/2006/table">
            <a:tbl>
              <a:tblPr firstRow="1">
                <a:tableStyleId>{2A488322-F2BA-4B5B-9748-0D474271808F}</a:tableStyleId>
              </a:tblPr>
              <a:tblGrid>
                <a:gridCol w="1204357">
                  <a:extLst>
                    <a:ext uri="{9D8B030D-6E8A-4147-A177-3AD203B41FA5}">
                      <a16:colId xmlns:a16="http://schemas.microsoft.com/office/drawing/2014/main" val="1902117154"/>
                    </a:ext>
                  </a:extLst>
                </a:gridCol>
                <a:gridCol w="1272057">
                  <a:extLst>
                    <a:ext uri="{9D8B030D-6E8A-4147-A177-3AD203B41FA5}">
                      <a16:colId xmlns:a16="http://schemas.microsoft.com/office/drawing/2014/main" val="1904521774"/>
                    </a:ext>
                  </a:extLst>
                </a:gridCol>
                <a:gridCol w="996189">
                  <a:extLst>
                    <a:ext uri="{9D8B030D-6E8A-4147-A177-3AD203B41FA5}">
                      <a16:colId xmlns:a16="http://schemas.microsoft.com/office/drawing/2014/main" val="3164053669"/>
                    </a:ext>
                  </a:extLst>
                </a:gridCol>
                <a:gridCol w="1394665">
                  <a:extLst>
                    <a:ext uri="{9D8B030D-6E8A-4147-A177-3AD203B41FA5}">
                      <a16:colId xmlns:a16="http://schemas.microsoft.com/office/drawing/2014/main" val="1484983729"/>
                    </a:ext>
                  </a:extLst>
                </a:gridCol>
                <a:gridCol w="1869772">
                  <a:extLst>
                    <a:ext uri="{9D8B030D-6E8A-4147-A177-3AD203B41FA5}">
                      <a16:colId xmlns:a16="http://schemas.microsoft.com/office/drawing/2014/main" val="3920544300"/>
                    </a:ext>
                  </a:extLst>
                </a:gridCol>
              </a:tblGrid>
              <a:tr h="396886">
                <a:tc>
                  <a:txBody>
                    <a:bodyPr/>
                    <a:lstStyle/>
                    <a:p>
                      <a:r>
                        <a:rPr lang="de-DE" sz="975" b="1" kern="1200" spc="-10" noProof="0">
                          <a:solidFill>
                            <a:schemeClr val="tx2"/>
                          </a:solidFill>
                          <a:latin typeface="+mn-lt"/>
                          <a:ea typeface="+mn-ea"/>
                          <a:cs typeface="+mn-cs"/>
                        </a:rPr>
                        <a:t xml:space="preserve">Bereich</a:t>
                      </a:r>
                    </a:p>
                    <a:p>
                      <a:r>
                        <a:rPr lang="de-DE" sz="975" b="0" kern="1200" spc="-10" noProof="0">
                          <a:solidFill>
                            <a:schemeClr val="tx2"/>
                          </a:solidFill>
                          <a:latin typeface="+mn-lt"/>
                          <a:ea typeface="+mn-ea"/>
                          <a:cs typeface="+mn-cs"/>
                        </a:rPr>
                        <a:t xml:space="preserve">(Nr. 29a-d)</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975" b="1" kern="1200" spc="-10" noProof="0">
                          <a:solidFill>
                            <a:schemeClr val="tx2"/>
                          </a:solidFill>
                          <a:latin typeface="+mn-lt"/>
                          <a:ea typeface="+mn-ea"/>
                          <a:cs typeface="+mn-cs"/>
                        </a:rPr>
                        <a:t xml:space="preserve">Konkrete Verfahrensweise oder Richtlinie vorhanden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975" b="1" kern="1200" spc="-10" noProof="0">
                          <a:solidFill>
                            <a:schemeClr val="tx2"/>
                          </a:solidFill>
                          <a:latin typeface="+mn-lt"/>
                          <a:ea typeface="+mn-ea"/>
                          <a:cs typeface="+mn-cs"/>
                        </a:rPr>
                        <a:t xml:space="preserve">Ist die Richtlinie öffentlich zugänglich? </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975" b="1" kern="1200" spc="-10" noProof="0">
                          <a:solidFill>
                            <a:schemeClr val="tx2"/>
                          </a:solidFill>
                          <a:latin typeface="+mn-lt"/>
                          <a:ea typeface="+mn-ea"/>
                          <a:cs typeface="+mn-cs"/>
                        </a:rPr>
                        <a:t xml:space="preserve">Das Unternehmen hat künftige Initiativen und Pläne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e-DE" sz="975" b="1" kern="1200" spc="-10" noProof="0">
                          <a:solidFill>
                            <a:schemeClr val="tx2"/>
                          </a:solidFill>
                          <a:latin typeface="+mn-lt"/>
                          <a:ea typeface="+mn-ea"/>
                          <a:cs typeface="+mn-cs"/>
                        </a:rPr>
                        <a:t xml:space="preserve">Konkrete Ziele zur Überwachung der Umsetzung von Verfahrensweisen und Richtlinien vorhanden?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253742">
                <a:tc>
                  <a:txBody>
                    <a:bodyPr/>
                    <a:lstStyle/>
                    <a:p>
                      <a:pPr algn="l"/>
                      <a:r>
                        <a:rPr lang="de-DE" sz="975" b="1" kern="1200" spc="-10" noProof="0">
                          <a:solidFill>
                            <a:schemeClr val="tx2"/>
                          </a:solidFill>
                          <a:latin typeface="+mn-lt"/>
                          <a:ea typeface="+mn-ea"/>
                          <a:cs typeface="+mn-cs"/>
                        </a:rPr>
                        <a:t xml:space="preserve">Klimawandel</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975" b="0" i="0" u="none" strike="noStrike" noProof="0">
                          <a:solidFill>
                            <a:srgbClr val="1B4528"/>
                          </a:solidFill>
                          <a:effectLst/>
                          <a:latin typeface="Inter"/>
                        </a:rPr>
                        <a:t>{{climate_change_concrete}}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{{climate_change_publicly}}</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{{climate_change_future}}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975" b="0" i="0" u="none" strike="noStrike" noProof="0">
                          <a:solidFill>
                            <a:srgbClr val="1B4528"/>
                          </a:solidFill>
                          <a:latin typeface="Inter"/>
                        </a:rPr>
                        <a:t>{{climate_change_plan}}</a:t>
                      </a:r>
                      <a:endParaRPr lang="de-DE">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40796">
                <a:tc>
                  <a:txBody>
                    <a:bodyPr/>
                    <a:lstStyle/>
                    <a:p>
                      <a:pPr algn="l"/>
                      <a:r>
                        <a:rPr lang="de-DE" sz="975" b="1" kern="1200" spc="-10" noProof="0">
                          <a:solidFill>
                            <a:schemeClr val="tx2"/>
                          </a:solidFill>
                          <a:latin typeface="+mn-lt"/>
                          <a:ea typeface="+mn-ea"/>
                          <a:cs typeface="+mn-cs"/>
                        </a:rPr>
                        <a:t xml:space="preserve">Umweltver­schmutzung</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975" b="0" i="0" u="none" strike="noStrike" noProof="0">
                          <a:solidFill>
                            <a:srgbClr val="1B4528"/>
                          </a:solidFill>
                          <a:effectLst/>
                          <a:latin typeface="Inter"/>
                        </a:rPr>
                        <a:t>{{pollution_concrete}}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{{pollution_publicly}}</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{{pollution_future}}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975" b="0" i="0" u="none" strike="noStrike" noProof="0">
                          <a:solidFill>
                            <a:srgbClr val="1B4528"/>
                          </a:solidFill>
                          <a:latin typeface="Inter"/>
                        </a:rPr>
                        <a:t>{{pollution_plan}}</a:t>
                      </a:r>
                      <a:endParaRPr lang="de-DE">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47635">
                <a:tc>
                  <a:txBody>
                    <a:bodyPr/>
                    <a:lstStyle/>
                    <a:p>
                      <a:pPr algn="l"/>
                      <a:r>
                        <a:rPr lang="de-DE" sz="975" b="1" kern="1200" spc="-10" noProof="0">
                          <a:solidFill>
                            <a:schemeClr val="tx2"/>
                          </a:solidFill>
                          <a:latin typeface="+mn-lt"/>
                          <a:ea typeface="+mn-ea"/>
                          <a:cs typeface="+mn-cs"/>
                        </a:rPr>
                        <a:t xml:space="preserve">Wasser- und Meeresressourcen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975" b="0" i="0" u="none" strike="noStrike" noProof="0">
                          <a:solidFill>
                            <a:srgbClr val="1B4528"/>
                          </a:solidFill>
                          <a:effectLst/>
                          <a:latin typeface="Inter"/>
                        </a:rPr>
                        <a:t>{{water_concrete}}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{{water_publicly}}</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{{water_future}}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975" b="0" i="0" u="none" strike="noStrike" noProof="0">
                          <a:solidFill>
                            <a:srgbClr val="1B4528"/>
                          </a:solidFill>
                          <a:latin typeface="Inter"/>
                        </a:rPr>
                        <a:t>{{water_plan}}</a:t>
                      </a:r>
                      <a:endParaRPr lang="de-DE">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247635">
                <a:tc>
                  <a:txBody>
                    <a:bodyPr/>
                    <a:lstStyle/>
                    <a:p>
                      <a:pPr algn="l"/>
                      <a:r>
                        <a:rPr lang="de-DE" sz="975" b="1" kern="1200" spc="-10" noProof="0">
                          <a:solidFill>
                            <a:schemeClr val="tx2"/>
                          </a:solidFill>
                          <a:latin typeface="+mn-lt"/>
                          <a:ea typeface="+mn-ea"/>
                          <a:cs typeface="+mn-cs"/>
                        </a:rPr>
                        <a:t xml:space="preserve">Biodiversität und Ökosysteme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975" b="0" i="0" u="none" strike="noStrike" noProof="0">
                          <a:solidFill>
                            <a:srgbClr val="1B4528"/>
                          </a:solidFill>
                          <a:effectLst/>
                          <a:latin typeface="Inter"/>
                        </a:rPr>
                        <a:t>{{biodiversity_concrete}}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{{biodiversity_publicly}}</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{{biodiversity_future}}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975" b="0" i="0" u="none" strike="noStrike" noProof="0">
                          <a:solidFill>
                            <a:srgbClr val="1B4528"/>
                          </a:solidFill>
                          <a:latin typeface="Inter"/>
                        </a:rPr>
                        <a:t>{{biodiversity_plan}}</a:t>
                      </a:r>
                      <a:endParaRPr lang="de-DE">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47635">
                <a:tc>
                  <a:txBody>
                    <a:bodyPr/>
                    <a:lstStyle/>
                    <a:p>
                      <a:pPr algn="l"/>
                      <a:r>
                        <a:rPr lang="de-DE" sz="975" b="1" kern="1200" spc="-10" noProof="0">
                          <a:solidFill>
                            <a:schemeClr val="tx2"/>
                          </a:solidFill>
                          <a:latin typeface="+mn-lt"/>
                          <a:ea typeface="+mn-ea"/>
                          <a:cs typeface="+mn-cs"/>
                        </a:rPr>
                        <a:t xml:space="preserve">Kreislaufwirt­schaft</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975" b="0" i="0" u="none" strike="noStrike" noProof="0">
                          <a:solidFill>
                            <a:srgbClr val="1B4528"/>
                          </a:solidFill>
                          <a:effectLst/>
                          <a:latin typeface="Inter"/>
                        </a:rPr>
                        <a:t>{{circular_concrete}}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{{circular_publicly}}</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{{circular_future}}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975" b="0" i="0" u="none" strike="noStrike" noProof="0">
                          <a:solidFill>
                            <a:srgbClr val="1B4528"/>
                          </a:solidFill>
                          <a:latin typeface="Inter"/>
                        </a:rPr>
                        <a:t>{{circular_plan}}</a:t>
                      </a:r>
                      <a:endParaRPr lang="de-DE">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47635">
                <a:tc>
                  <a:txBody>
                    <a:bodyPr/>
                    <a:lstStyle/>
                    <a:p>
                      <a:pPr algn="l"/>
                      <a:r>
                        <a:rPr lang="de-DE" sz="975" b="1" kern="1200" spc="-10" noProof="0">
                          <a:solidFill>
                            <a:schemeClr val="tx2"/>
                          </a:solidFill>
                          <a:latin typeface="+mn-lt"/>
                          <a:ea typeface="+mn-ea"/>
                          <a:cs typeface="+mn-cs"/>
                        </a:rPr>
                        <a:t xml:space="preserve">Arbeitskräfte des Unternehmens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975" b="0" i="0" u="none" strike="noStrike" noProof="0">
                          <a:solidFill>
                            <a:srgbClr val="1B4528"/>
                          </a:solidFill>
                          <a:effectLst/>
                          <a:latin typeface="Inter"/>
                        </a:rPr>
                        <a:t>{{workforce_concrete}}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{{workforce_publicly}}</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{{workforce_future}}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975" b="0" i="0" u="none" strike="noStrike" noProof="0">
                          <a:solidFill>
                            <a:srgbClr val="1B4528"/>
                          </a:solidFill>
                          <a:latin typeface="Inter"/>
                        </a:rPr>
                        <a:t>{{workforce_plan}}</a:t>
                      </a:r>
                      <a:endParaRPr lang="de-DE">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247635">
                <a:tc>
                  <a:txBody>
                    <a:bodyPr/>
                    <a:lstStyle/>
                    <a:p>
                      <a:pPr algn="l"/>
                      <a:r>
                        <a:rPr lang="de-DE" sz="975" b="1" kern="1200" spc="-10" noProof="0">
                          <a:solidFill>
                            <a:schemeClr val="tx2"/>
                          </a:solidFill>
                          <a:latin typeface="+mn-lt"/>
                          <a:ea typeface="+mn-ea"/>
                          <a:cs typeface="+mn-cs"/>
                        </a:rPr>
                        <a:t xml:space="preserve">Arbeitskräfte in der Wertschöpfungs­kette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975" b="0" i="0" u="none" strike="noStrike" noProof="0">
                          <a:solidFill>
                            <a:srgbClr val="1B4528"/>
                          </a:solidFill>
                          <a:effectLst/>
                          <a:latin typeface="Inter"/>
                        </a:rPr>
                        <a:t>{{workers_concrete}}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{{workers_publicly}}</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{{workers_future}}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975" b="0" i="0" u="none" strike="noStrike" noProof="0">
                          <a:solidFill>
                            <a:srgbClr val="1B4528"/>
                          </a:solidFill>
                          <a:latin typeface="Inter"/>
                        </a:rPr>
                        <a:t>{{workers_plan}}</a:t>
                      </a:r>
                      <a:endParaRPr lang="de-DE">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247635">
                <a:tc>
                  <a:txBody>
                    <a:bodyPr/>
                    <a:lstStyle/>
                    <a:p>
                      <a:pPr algn="l"/>
                      <a:r>
                        <a:rPr lang="de-DE" sz="975" b="1" kern="1200" spc="-10" noProof="0">
                          <a:solidFill>
                            <a:schemeClr val="tx2"/>
                          </a:solidFill>
                          <a:latin typeface="+mn-lt"/>
                          <a:ea typeface="+mn-ea"/>
                          <a:cs typeface="+mn-cs"/>
                        </a:rPr>
                        <a:t xml:space="preserve">Betroffene Gemeinschaften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975" b="0" i="0" u="none" strike="noStrike" noProof="0">
                          <a:solidFill>
                            <a:srgbClr val="1B4528"/>
                          </a:solidFill>
                          <a:effectLst/>
                          <a:latin typeface="Inter"/>
                        </a:rPr>
                        <a:t>{{communities_concrete}}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{{communities_publicly}}</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{{communities_future}}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975" b="0" i="0" u="none" strike="noStrike" noProof="0">
                          <a:solidFill>
                            <a:srgbClr val="1B4528"/>
                          </a:solidFill>
                          <a:latin typeface="Inter"/>
                        </a:rPr>
                        <a:t>{{communities_plan}}</a:t>
                      </a:r>
                      <a:endParaRPr lang="de-DE">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247635">
                <a:tc>
                  <a:txBody>
                    <a:bodyPr/>
                    <a:lstStyle/>
                    <a:p>
                      <a:pPr algn="l"/>
                      <a:r>
                        <a:rPr lang="de-DE" sz="975" b="1" kern="1200" spc="-10" noProof="0">
                          <a:solidFill>
                            <a:schemeClr val="tx2"/>
                          </a:solidFill>
                          <a:latin typeface="+mn-lt"/>
                          <a:ea typeface="+mn-ea"/>
                          <a:cs typeface="+mn-cs"/>
                        </a:rPr>
                        <a:t xml:space="preserve">Verbraucher und Endnutzer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975" b="0" i="0" u="none" strike="noStrike" noProof="0">
                          <a:solidFill>
                            <a:srgbClr val="1B4528"/>
                          </a:solidFill>
                          <a:effectLst/>
                          <a:latin typeface="Inter"/>
                        </a:rPr>
                        <a:t>{{consumers_concrete}}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{{consumers_publicly}}</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{{consumers_future}}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975" b="0" i="0" u="none" strike="noStrike" noProof="0">
                          <a:solidFill>
                            <a:srgbClr val="1B4528"/>
                          </a:solidFill>
                          <a:latin typeface="Inter"/>
                        </a:rPr>
                        <a:t>{{consumers_plan}}</a:t>
                      </a:r>
                      <a:endParaRPr lang="de-DE">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247635">
                <a:tc>
                  <a:txBody>
                    <a:bodyPr/>
                    <a:lstStyle/>
                    <a:p>
                      <a:pPr algn="l"/>
                      <a:r>
                        <a:rPr lang="de-DE" sz="975" b="1" kern="1200" spc="-10" noProof="0">
                          <a:solidFill>
                            <a:schemeClr val="tx2"/>
                          </a:solidFill>
                          <a:latin typeface="+mn-lt"/>
                          <a:ea typeface="+mn-ea"/>
                          <a:cs typeface="+mn-cs"/>
                        </a:rPr>
                        <a:t xml:space="preserve">Unternehmenspolitik</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e-DE" sz="975" b="0" i="0" u="none" strike="noStrike" noProof="0">
                          <a:solidFill>
                            <a:srgbClr val="1B4528"/>
                          </a:solidFill>
                          <a:effectLst/>
                          <a:latin typeface="Inter"/>
                        </a:rPr>
                        <a:t>{{governance_concrete}}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{{governance_publicly}}</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e-DE" sz="975" b="0" i="0" u="none" strike="noStrike" noProof="0">
                          <a:solidFill>
                            <a:srgbClr val="1B4528"/>
                          </a:solidFill>
                          <a:effectLst/>
                          <a:latin typeface="Inter"/>
                        </a:rPr>
                        <a:t>{{governance_future}}</a:t>
                      </a:r>
                      <a:endParaRPr lang="de-DE"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e-DE" sz="975" b="0" i="0" u="none" strike="noStrike" noProof="0">
                          <a:solidFill>
                            <a:srgbClr val="1B4528"/>
                          </a:solidFill>
                          <a:latin typeface="Inter"/>
                        </a:rPr>
                        <a:t>{{governance_plan}}</a:t>
                      </a:r>
                      <a:endParaRPr lang="de-DE">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6" name="Tekstfelt 15">
            <a:extLst>
              <a:ext uri="{FF2B5EF4-FFF2-40B4-BE49-F238E27FC236}">
                <a16:creationId xmlns:a16="http://schemas.microsoft.com/office/drawing/2014/main" id="{E7AD2C12-E6AC-4ADE-675B-7B86B0E0EA4B}"/>
              </a:ext>
            </a:extLst>
          </p:cNvPr>
          <p:cNvSpPr txBox="1"/>
          <p:nvPr/>
        </p:nvSpPr>
        <p:spPr>
          <a:xfrm>
            <a:off x="411480" y="1513504"/>
            <a:ext cx="6737040" cy="538588"/>
          </a:xfrm>
          <a:prstGeom prst="rect">
            <a:avLst/>
          </a:prstGeom>
          <a:noFill/>
        </p:spPr>
        <p:txBody>
          <a:bodyPr wrap="square">
            <a:spAutoFit/>
          </a:bodyPr>
          <a:lstStyle/>
          <a:p>
            <a:pPr rtl="0">
              <a:spcBef>
                <a:spcPts val="750"/>
              </a:spcBef>
              <a:buNone/>
            </a:pPr>
            <a:r>
              <a:rPr lang="de-DE" sz="975" b="0" i="0" u="none" strike="noStrike" noProof="0">
                <a:solidFill>
                  <a:schemeClr val="tx2"/>
                </a:solidFill>
                <a:effectLst/>
                <a:latin typeface="Inter"/>
              </a:rPr>
              <a:t xml:space="preserve">Dieser Abschnitt beschreibt die Verfahrensweisen, Richtlinien und künftigen Initiativen, die das Unternehmen zur Unterstützung einer nachhaltigen Wirtschaft umgesetzt hat. Dazu gehört die Angabe, welche konkreten Maßnahmen das Unternehmen ergriffen hat, um negative Umweltauswirkungen zu verringern und die Arbeitsbedingungen sowie die Gleichbehandlung zu verbessern (JA/NEIN).</a:t>
            </a:r>
            <a:br>
              <a:rPr lang="de-DE" sz="975" noProof="0">
                <a:solidFill>
                  <a:schemeClr val="tx2"/>
                </a:solidFill>
              </a:rPr>
            </a:br>
            <a:endParaRPr lang="de-DE" sz="975" noProof="0">
              <a:solidFill>
                <a:schemeClr val="tx2"/>
              </a:solidFill>
            </a:endParaRPr>
          </a:p>
        </p:txBody>
      </p:sp>
      <p:sp>
        <p:nvSpPr>
          <p:cNvPr id="17" name="Slide Number Placeholder 5">
            <a:extLst>
              <a:ext uri="{FF2B5EF4-FFF2-40B4-BE49-F238E27FC236}">
                <a16:creationId xmlns:a16="http://schemas.microsoft.com/office/drawing/2014/main" id="{9D599EAE-DDC4-5624-F234-BCDE014B0531}"/>
              </a:ext>
              <a:ext uri="{C183D7F6-B498-43B3-948B-1728B52AA6E4}">
                <adec:decorative xmlns:adec="http://schemas.microsoft.com/office/drawing/2017/decorative" val="1"/>
              </a:ext>
            </a:extLst>
          </p:cNvPr>
          <p:cNvSpPr>
            <a:spLocks noGrp="1"/>
          </p:cNvSpPr>
          <p:nvPr>
            <p:ph type="sldNum" sz="quarter" idx="12"/>
          </p:nvPr>
        </p:nvSpPr>
        <p:spPr>
          <a:xfrm>
            <a:off x="411480" y="10152285"/>
            <a:ext cx="6737040" cy="128235"/>
          </a:xfrm>
        </p:spPr>
        <p:txBody>
          <a:bodyPr/>
          <a:lstStyle/>
          <a:p>
            <a:fld id="{5A0D23CF-C5A3-5445-819D-C647D180BB4B}" type="slidenum">
              <a:rPr lang="de-DE" noProof="0" smtClean="0"/>
              <a:pPr/>
              <a:t>4</a:t>
            </a:fld>
            <a:endParaRPr lang="de-DE" noProof="0"/>
          </a:p>
        </p:txBody>
      </p:sp>
    </p:spTree>
    <p:extLst>
      <p:ext uri="{BB962C8B-B14F-4D97-AF65-F5344CB8AC3E}">
        <p14:creationId xmlns:p14="http://schemas.microsoft.com/office/powerpoint/2010/main" val="2000975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e-DE" noProof="0"/>
              <a:t xml:space="preserve">Energieverbrauch (B3)</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21529703"/>
              </p:ext>
            </p:extLst>
          </p:nvPr>
        </p:nvGraphicFramePr>
        <p:xfrm>
          <a:off x="411480" y="2059046"/>
          <a:ext cx="6737040" cy="2125940"/>
        </p:xfrm>
        <a:graphic>
          <a:graphicData uri="http://schemas.openxmlformats.org/drawingml/2006/table">
            <a:tbl>
              <a:tblPr firstRow="1">
                <a:tableStyleId>{2A488322-F2BA-4B5B-9748-0D474271808F}</a:tableStyleId>
              </a:tblPr>
              <a:tblGrid>
                <a:gridCol w="1828416">
                  <a:extLst>
                    <a:ext uri="{9D8B030D-6E8A-4147-A177-3AD203B41FA5}">
                      <a16:colId xmlns:a16="http://schemas.microsoft.com/office/drawing/2014/main" val="2698153288"/>
                    </a:ext>
                  </a:extLst>
                </a:gridCol>
                <a:gridCol w="1697216">
                  <a:extLst>
                    <a:ext uri="{9D8B030D-6E8A-4147-A177-3AD203B41FA5}">
                      <a16:colId xmlns:a16="http://schemas.microsoft.com/office/drawing/2014/main" val="1451447067"/>
                    </a:ext>
                  </a:extLst>
                </a:gridCol>
                <a:gridCol w="1789850">
                  <a:extLst>
                    <a:ext uri="{9D8B030D-6E8A-4147-A177-3AD203B41FA5}">
                      <a16:colId xmlns:a16="http://schemas.microsoft.com/office/drawing/2014/main" val="2943870936"/>
                    </a:ext>
                  </a:extLst>
                </a:gridCol>
                <a:gridCol w="1421558">
                  <a:extLst>
                    <a:ext uri="{9D8B030D-6E8A-4147-A177-3AD203B41FA5}">
                      <a16:colId xmlns:a16="http://schemas.microsoft.com/office/drawing/2014/main" val="656209149"/>
                    </a:ext>
                  </a:extLst>
                </a:gridCol>
              </a:tblGrid>
              <a:tr h="207723">
                <a:tc gridSpan="4">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e-DE" sz="975" b="1" noProof="0">
                          <a:solidFill>
                            <a:schemeClr val="tx2"/>
                          </a:solidFill>
                        </a:rPr>
                        <a:t xml:space="preserve">Energieverbrauch in MWh </a:t>
                      </a:r>
                      <a:r>
                        <a:rPr lang="de-DE" sz="975" b="0" noProof="0">
                          <a:solidFill>
                            <a:schemeClr val="tx2"/>
                          </a:solidFill>
                        </a:rPr>
                        <a:t xml:space="preserve">(Nr. 32)</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de-DE"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de-DE"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lang="de-DE" sz="725" b="1"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38440226"/>
                  </a:ext>
                </a:extLst>
              </a:tr>
              <a:tr h="330257">
                <a:tc>
                  <a:txBody>
                    <a:bodyPr/>
                    <a:lstStyle/>
                    <a:p>
                      <a:pPr>
                        <a:lnSpc>
                          <a:spcPct val="106000"/>
                        </a:lnSpc>
                      </a:pPr>
                      <a:endParaRPr lang="de-DE"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de-DE" sz="975" b="1" noProof="0">
                          <a:solidFill>
                            <a:schemeClr val="tx2"/>
                          </a:solidFill>
                        </a:rPr>
                        <a:t xml:space="preserve">Erneuerbarer Energieverbrauch</a:t>
                      </a:r>
                      <a:r>
                        <a:rPr lang="de-DE" sz="975" b="1" noProof="0">
                          <a:solidFill>
                            <a:schemeClr val="tx2"/>
                          </a:solidFill>
                        </a:rPr>
                        <a:t xml:space="preserve"> (MWh)</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de-DE" sz="975" b="1" noProof="0">
                          <a:solidFill>
                            <a:schemeClr val="tx2"/>
                          </a:solidFill>
                        </a:rPr>
                        <a:t xml:space="preserve">Nicht erneuerbarer Energieverbrauch</a:t>
                      </a:r>
                      <a:r>
                        <a:rPr lang="de-DE" sz="975" b="1" noProof="0">
                          <a:solidFill>
                            <a:schemeClr val="tx2"/>
                          </a:solidFill>
                        </a:rPr>
                        <a:t xml:space="preserve"> (MWh)</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e-DE" sz="975" b="1" noProof="0">
                          <a:solidFill>
                            <a:schemeClr val="tx2"/>
                          </a:solidFill>
                        </a:rPr>
                        <a:t xml:space="preserve">Gesamtenergieverbrauch (MWh)</a:t>
                      </a:r>
                    </a:p>
                    <a:p>
                      <a:pPr marL="0" marR="0" lvl="0" indent="0" algn="r" defTabSz="914400" rtl="0" eaLnBrk="1" fontAlgn="auto" latinLnBrk="0" hangingPunct="1">
                        <a:lnSpc>
                          <a:spcPct val="106000"/>
                        </a:lnSpc>
                        <a:spcBef>
                          <a:spcPts val="0"/>
                        </a:spcBef>
                        <a:spcAft>
                          <a:spcPts val="0"/>
                        </a:spcAft>
                        <a:buClrTx/>
                        <a:buSzTx/>
                        <a:buFontTx/>
                        <a:buNone/>
                        <a:tabLst/>
                        <a:defRPr/>
                      </a:pPr>
                      <a:r>
                        <a:rPr lang="de-DE" sz="975" b="1" noProof="0">
                          <a:solidFill>
                            <a:srgbClr val="1B4528"/>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30257">
                <a:tc>
                  <a:txBody>
                    <a:bodyPr/>
                    <a:lstStyle/>
                    <a:p>
                      <a:pPr>
                        <a:lnSpc>
                          <a:spcPct val="106000"/>
                        </a:lnSpc>
                      </a:pPr>
                      <a:r>
                        <a:rPr lang="de-DE" sz="975" b="1" noProof="0">
                          <a:solidFill>
                            <a:schemeClr val="tx2"/>
                          </a:solidFill>
                        </a:rPr>
                        <a:t xml:space="preserve">Strom </a:t>
                      </a:r>
                      <a:r>
                        <a:rPr lang="de-DE" sz="975" b="0" noProof="0">
                          <a:solidFill>
                            <a:schemeClr val="tx2"/>
                          </a:solidFill>
                        </a:rPr>
                        <a:t xml:space="preserve">(wie in den Rechnungen der Versorgungsunternehmen angegeben)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BM Plex Sans" panose="020B0503050203000203" pitchFamily="34" charset="0"/>
                        </a:rPr>
                        <a:t>{{electricity_renewable}}</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e-DE" sz="975" b="0" i="0" u="none" strike="noStrike" noProof="0">
                          <a:solidFill>
                            <a:srgbClr val="1B4528"/>
                          </a:solidFill>
                          <a:effectLst/>
                          <a:latin typeface="IBM Plex Sans" panose="020B0503050203000203" pitchFamily="34" charset="0"/>
                        </a:rPr>
                        <a:t>{{electricity_non_rewenable}}</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e-DE" sz="975" b="0" i="0" u="none" strike="noStrike" noProof="0">
                          <a:solidFill>
                            <a:srgbClr val="1B4528"/>
                          </a:solidFill>
                          <a:effectLst/>
                          <a:latin typeface="IBM Plex Sans" panose="020B0503050203000203" pitchFamily="34" charset="0"/>
                        </a:rPr>
                        <a:t>{{total_electricity}}</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07723">
                <a:tc>
                  <a:txBody>
                    <a:bodyPr/>
                    <a:lstStyle/>
                    <a:p>
                      <a:pPr>
                        <a:lnSpc>
                          <a:spcPct val="106000"/>
                        </a:lnSpc>
                      </a:pPr>
                      <a:r>
                        <a:rPr lang="de-DE" sz="975" b="1" noProof="0">
                          <a:solidFill>
                            <a:schemeClr val="tx2"/>
                          </a:solidFill>
                        </a:rPr>
                        <a:t xml:space="preserve">Kraft-/Brennstoffe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BM Plex Sans" panose="020B0503050203000203" pitchFamily="34" charset="0"/>
                        </a:rPr>
                        <a:t>{{fuel_renewable}}</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e-DE" sz="975" b="0" i="0" u="none" strike="noStrike" noProof="0">
                          <a:solidFill>
                            <a:srgbClr val="1B4528"/>
                          </a:solidFill>
                          <a:effectLst/>
                          <a:latin typeface="IBM Plex Sans" panose="020B0503050203000203" pitchFamily="34" charset="0"/>
                        </a:rPr>
                        <a:t>{{fuel_non_rewenable}}</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e-DE" sz="975" b="0" i="0" u="none" strike="noStrike" noProof="0">
                          <a:solidFill>
                            <a:srgbClr val="1B4528"/>
                          </a:solidFill>
                          <a:effectLst/>
                          <a:latin typeface="IBM Plex Sans" panose="020B0503050203000203" pitchFamily="34" charset="0"/>
                        </a:rPr>
                        <a:t>{{total_fuel}}</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28766998"/>
                  </a:ext>
                </a:extLst>
              </a:tr>
              <a:tr h="207723">
                <a:tc>
                  <a:txBody>
                    <a:bodyPr/>
                    <a:lstStyle/>
                    <a:p>
                      <a:pPr>
                        <a:lnSpc>
                          <a:spcPct val="106000"/>
                        </a:lnSpc>
                      </a:pPr>
                      <a:r>
                        <a:rPr lang="de-DE" sz="975" b="1" noProof="0">
                          <a:solidFill>
                            <a:schemeClr val="tx2"/>
                          </a:solidFill>
                        </a:rPr>
                        <a:t xml:space="preserve">Sonstiges (z. B. Fernwärme)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BM Plex Sans" panose="020B0503050203000203" pitchFamily="34" charset="0"/>
                        </a:rPr>
                        <a:t>{{district_heating_rewenable}}</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e-DE" sz="975" b="0" i="0" u="none" strike="noStrike" noProof="0">
                          <a:solidFill>
                            <a:srgbClr val="1B4528"/>
                          </a:solidFill>
                          <a:effectLst/>
                          <a:latin typeface="IBM Plex Sans" panose="020B0503050203000203" pitchFamily="34" charset="0"/>
                        </a:rPr>
                        <a:t>{{district_heating_non_rewenable}}</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e-DE" sz="975" b="0" i="0" u="none" strike="noStrike" noProof="0">
                          <a:solidFill>
                            <a:srgbClr val="1B4528"/>
                          </a:solidFill>
                          <a:effectLst/>
                          <a:latin typeface="IBM Plex Sans" panose="020B0503050203000203" pitchFamily="34" charset="0"/>
                        </a:rPr>
                        <a:t>{{total_district_heating}}</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62237485"/>
                  </a:ext>
                </a:extLst>
              </a:tr>
              <a:tr h="207723">
                <a:tc>
                  <a:txBody>
                    <a:bodyPr/>
                    <a:lstStyle/>
                    <a:p>
                      <a:pPr>
                        <a:lnSpc>
                          <a:spcPct val="106000"/>
                        </a:lnSpc>
                      </a:pPr>
                      <a:r>
                        <a:rPr lang="de-DE" sz="975" b="1" noProof="0">
                          <a:solidFill>
                            <a:schemeClr val="tx2"/>
                          </a:solidFill>
                        </a:rPr>
                        <a:t xml:space="preserve">Insgesamt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BM Plex Sans" panose="020B0503050203000203" pitchFamily="34" charset="0"/>
                        </a:rPr>
                        <a:t>{{renewable_energy_total}}</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e-DE" sz="975" b="0" i="0" u="none" strike="noStrike" noProof="0">
                          <a:solidFill>
                            <a:srgbClr val="1B4528"/>
                          </a:solidFill>
                          <a:effectLst/>
                          <a:latin typeface="IBM Plex Sans" panose="020B0503050203000203" pitchFamily="34" charset="0"/>
                        </a:rPr>
                        <a:t>{{non_rewenable_energy_total}}</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e-DE" sz="975" b="0" i="0" u="none" strike="noStrike" noProof="0">
                          <a:solidFill>
                            <a:srgbClr val="1B4528"/>
                          </a:solidFill>
                          <a:effectLst/>
                          <a:latin typeface="IBM Plex Sans" panose="020B0503050203000203" pitchFamily="34" charset="0"/>
                        </a:rPr>
                        <a:t>{{total_energy_consumption}}</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55206388"/>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e-DE" noProof="0" smtClean="0"/>
              <a:pPr/>
              <a:t>5</a:t>
            </a:fld>
            <a:endParaRPr lang="de-DE"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{{company_name}}</a:t>
            </a:r>
            <a:endParaRPr lang="de-DE" b="0" noProof="0"/>
          </a:p>
          <a:p>
            <a:br>
              <a:rPr lang="de-DE" noProof="0"/>
            </a:br>
            <a:endParaRPr lang="de-DE" noProof="0"/>
          </a:p>
        </p:txBody>
      </p:sp>
      <p:sp>
        <p:nvSpPr>
          <p:cNvPr id="12" name="Tekstfelt 11">
            <a:extLst>
              <a:ext uri="{FF2B5EF4-FFF2-40B4-BE49-F238E27FC236}">
                <a16:creationId xmlns:a16="http://schemas.microsoft.com/office/drawing/2014/main" id="{4EDC705C-923B-3F7B-2016-F3C31DC2828B}"/>
              </a:ext>
            </a:extLst>
          </p:cNvPr>
          <p:cNvSpPr txBox="1"/>
          <p:nvPr/>
        </p:nvSpPr>
        <p:spPr>
          <a:xfrm>
            <a:off x="411480" y="1204910"/>
            <a:ext cx="6737040" cy="689402"/>
          </a:xfrm>
          <a:prstGeom prst="rect">
            <a:avLst/>
          </a:prstGeom>
          <a:noFill/>
        </p:spPr>
        <p:txBody>
          <a:bodyPr wrap="square" lIns="76197" tIns="38098" rIns="76197" bIns="38098" anchor="t">
            <a:spAutoFit/>
          </a:bodyPr>
          <a:lstStyle/>
          <a:p>
            <a:r>
              <a:rPr lang="de-DE" sz="975" b="0" i="0" u="none" strike="noStrike" noProof="0">
                <a:solidFill>
                  <a:schemeClr val="tx2"/>
                </a:solidFill>
                <a:effectLst/>
                <a:latin typeface="Inter"/>
              </a:rPr>
              <a:t xml:space="preserve">Dieser Abschnitt gibt die CO2-Emissionen aus dem Energieverbrauch an, aufgeteilt in erneuerbaren und nicht erneuerbaren Verbrauch. </a:t>
            </a:r>
            <a:r>
              <a:rPr lang="de-DE" sz="975" noProof="0">
                <a:solidFill>
                  <a:schemeClr val="tx2"/>
                </a:solidFill>
                <a:latin typeface="Inter"/>
              </a:rPr>
              <a:t xml:space="preserve">Die Emissionen werden nach </a:t>
            </a:r>
            <a:r>
              <a:rPr lang="de-DE" sz="975" b="0" i="0" u="none" strike="noStrike" noProof="0">
                <a:solidFill>
                  <a:schemeClr val="tx2"/>
                </a:solidFill>
                <a:effectLst/>
                <a:latin typeface="Inter"/>
              </a:rPr>
              <a:t xml:space="preserve">den Festlegungen des THG-Protokolls zu direkten und indirekten Emissionen angegeben. </a:t>
            </a:r>
            <a:br>
              <a:rPr lang="de-DE" sz="975" b="0" i="0" u="none" strike="noStrike" noProof="0" dirty="0">
                <a:effectLst/>
                <a:latin typeface="Inter"/>
              </a:rPr>
            </a:br>
            <a:br>
              <a:rPr lang="de-DE" sz="975" dirty="0">
                <a:latin typeface="Inter"/>
              </a:rPr>
            </a:br>
            <a:r>
              <a:rPr lang="de-DE" sz="650" b="0" i="0" u="none" strike="noStrike" noProof="0">
                <a:solidFill>
                  <a:schemeClr val="tx2"/>
                </a:solidFill>
                <a:effectLst/>
                <a:latin typeface="Inter"/>
              </a:rPr>
              <a:t> </a:t>
            </a:r>
            <a:endParaRPr lang="de-DE" sz="975" b="0" i="0" u="none" strike="noStrike" noProof="0" dirty="0">
              <a:solidFill>
                <a:schemeClr val="tx2"/>
              </a:solidFill>
              <a:effectLst/>
              <a:latin typeface="Inter"/>
            </a:endParaRPr>
          </a:p>
          <a:p>
            <a:pPr rtl="0">
              <a:buNone/>
            </a:pPr>
            <a:endParaRPr lang="de-DE" sz="975" b="0" noProof="0">
              <a:solidFill>
                <a:schemeClr val="tx2"/>
              </a:solidFill>
              <a:effectLst/>
              <a:latin typeface="Inter"/>
            </a:endParaRPr>
          </a:p>
          <a:p>
            <a:pPr>
              <a:buNone/>
            </a:pPr>
            <a:endParaRPr lang="de-DE" b="0" noProof="0">
              <a:solidFill>
                <a:schemeClr val="tx2"/>
              </a:solidFill>
              <a:effectLst/>
              <a:latin typeface="Inter"/>
            </a:endParaRPr>
          </a:p>
          <a:p>
            <a:pPr>
              <a:buNone/>
            </a:pPr>
            <a:endParaRPr lang="de-DE" sz="1325" noProof="0">
              <a:solidFill>
                <a:schemeClr val="tx2"/>
              </a:solidFill>
              <a:latin typeface="Inter"/>
            </a:endParaRPr>
          </a:p>
          <a:p>
            <a:pPr>
              <a:buNone/>
            </a:pPr>
            <a:endParaRPr lang="de-DE" sz="1325" b="0" noProof="0">
              <a:solidFill>
                <a:schemeClr val="tx2"/>
              </a:solidFill>
              <a:effectLst/>
              <a:latin typeface="Inter"/>
            </a:endParaRPr>
          </a:p>
          <a:p>
            <a:pPr>
              <a:buNone/>
            </a:pPr>
            <a:endParaRPr lang="de-DE" sz="1325" noProof="0">
              <a:solidFill>
                <a:schemeClr val="tx2"/>
              </a:solidFill>
              <a:latin typeface="Inter"/>
            </a:endParaRPr>
          </a:p>
          <a:p>
            <a:pPr>
              <a:buNone/>
            </a:pPr>
            <a:endParaRPr lang="de-DE" sz="1325" b="0" noProof="0">
              <a:solidFill>
                <a:schemeClr val="tx2"/>
              </a:solidFill>
              <a:effectLst/>
              <a:latin typeface="Inter"/>
            </a:endParaRPr>
          </a:p>
          <a:p>
            <a:endParaRPr lang="de-DE" sz="1325" b="1">
              <a:latin typeface="+mj-lt"/>
            </a:endParaRPr>
          </a:p>
        </p:txBody>
      </p:sp>
      <p:graphicFrame>
        <p:nvGraphicFramePr>
          <p:cNvPr id="15" name="Table 18">
            <a:extLst>
              <a:ext uri="{FF2B5EF4-FFF2-40B4-BE49-F238E27FC236}">
                <a16:creationId xmlns:a16="http://schemas.microsoft.com/office/drawing/2014/main" id="{550C2B5F-F365-2A58-DF02-C096E906DD7B}"/>
              </a:ext>
            </a:extLst>
          </p:cNvPr>
          <p:cNvGraphicFramePr>
            <a:graphicFrameLocks noGrp="1"/>
          </p:cNvGraphicFramePr>
          <p:nvPr>
            <p:extLst>
              <p:ext uri="{D42A27DB-BD31-4B8C-83A1-F6EECF244321}">
                <p14:modId xmlns:p14="http://schemas.microsoft.com/office/powerpoint/2010/main" val="4106924491"/>
              </p:ext>
            </p:extLst>
          </p:nvPr>
        </p:nvGraphicFramePr>
        <p:xfrm>
          <a:off x="411480" y="6553529"/>
          <a:ext cx="6737040" cy="903578"/>
        </p:xfrm>
        <a:graphic>
          <a:graphicData uri="http://schemas.openxmlformats.org/drawingml/2006/table">
            <a:tbl>
              <a:tblPr firstRow="1">
                <a:tableStyleId>{2A488322-F2BA-4B5B-9748-0D474271808F}</a:tableStyleId>
              </a:tblPr>
              <a:tblGrid>
                <a:gridCol w="5333961">
                  <a:extLst>
                    <a:ext uri="{9D8B030D-6E8A-4147-A177-3AD203B41FA5}">
                      <a16:colId xmlns:a16="http://schemas.microsoft.com/office/drawing/2014/main" val="2698153288"/>
                    </a:ext>
                  </a:extLst>
                </a:gridCol>
                <a:gridCol w="1403079">
                  <a:extLst>
                    <a:ext uri="{9D8B030D-6E8A-4147-A177-3AD203B41FA5}">
                      <a16:colId xmlns:a16="http://schemas.microsoft.com/office/drawing/2014/main" val="656209149"/>
                    </a:ext>
                  </a:extLst>
                </a:gridCol>
              </a:tblGrid>
              <a:tr h="226610">
                <a:tc>
                  <a:txBody>
                    <a:bodyPr/>
                    <a:lstStyle/>
                    <a:p>
                      <a:pPr>
                        <a:lnSpc>
                          <a:spcPct val="106000"/>
                        </a:lnSpc>
                      </a:pPr>
                      <a:r>
                        <a:rPr lang="de-DE" sz="975" b="1" noProof="0">
                          <a:solidFill>
                            <a:schemeClr val="tx2"/>
                          </a:solidFill>
                        </a:rPr>
                        <a:t xml:space="preserve">Treibhausgasemissionen </a:t>
                      </a:r>
                      <a:r>
                        <a:rPr lang="de-DE" sz="975" b="0" noProof="0">
                          <a:solidFill>
                            <a:schemeClr val="tx2"/>
                          </a:solidFill>
                        </a:rPr>
                        <a:t xml:space="preserve">(Nr. 33)</a:t>
                      </a:r>
                      <a:endParaRPr lang="de-DE"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e-DE" sz="975" b="1" noProof="0">
                          <a:solidFill>
                            <a:schemeClr val="tx2"/>
                          </a:solidFill>
                        </a:rPr>
                        <a:t xml:space="preserve">Jahr </a:t>
                      </a:r>
                      <a:r>
                        <a:rPr lang="de-DE" sz="975" b="1" noProof="0">
                          <a:solidFill>
                            <a:srgbClr val="1B4528"/>
                          </a:solidFill>
                          <a:latin typeface="Calibri" panose="020F0502020204030204" pitchFamily="34" charset="0"/>
                          <a:cs typeface="Calibri" panose="020F0502020204030204" pitchFamily="34" charset="0"/>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25656">
                <a:tc>
                  <a:txBody>
                    <a:bodyPr/>
                    <a:lstStyle/>
                    <a:p>
                      <a:pPr>
                        <a:lnSpc>
                          <a:spcPct val="106000"/>
                        </a:lnSpc>
                      </a:pPr>
                      <a:r>
                        <a:rPr lang="de-DE" sz="975" b="1" noProof="0">
                          <a:solidFill>
                            <a:schemeClr val="tx2"/>
                          </a:solidFill>
                        </a:rPr>
                        <a:t xml:space="preserve">Scope-1-CO₂e-Emissionen</a:t>
                      </a:r>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nter"/>
                        </a:rPr>
                        <a:t>{{scope1}}</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25656">
                <a:tc>
                  <a:txBody>
                    <a:bodyPr/>
                    <a:lstStyle/>
                    <a:p>
                      <a:pPr>
                        <a:lnSpc>
                          <a:spcPct val="106000"/>
                        </a:lnSpc>
                      </a:pPr>
                      <a:r>
                        <a:rPr lang="de-DE" sz="975" b="1" noProof="0">
                          <a:solidFill>
                            <a:schemeClr val="tx2"/>
                          </a:solidFill>
                        </a:rPr>
                        <a:t xml:space="preserve">Scope-2-CO₂e-Emissionen (standortbezogen) </a:t>
                      </a:r>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nter"/>
                        </a:rPr>
                        <a:t>{{scope2}}</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25656">
                <a:tc>
                  <a:txBody>
                    <a:bodyPr/>
                    <a:lstStyle/>
                    <a:p>
                      <a:pPr>
                        <a:lnSpc>
                          <a:spcPct val="106000"/>
                        </a:lnSpc>
                      </a:pPr>
                      <a:r>
                        <a:rPr lang="de-DE" sz="975" b="1" noProof="0">
                          <a:solidFill>
                            <a:schemeClr val="tx2"/>
                          </a:solidFill>
                        </a:rPr>
                        <a:t xml:space="preserve">Gesamte CO₂e-Emissionen aus Scope 1 und Scope 2 </a:t>
                      </a:r>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nter"/>
                        </a:rPr>
                        <a:t>{{total_scope}}</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graphicFrame>
        <p:nvGraphicFramePr>
          <p:cNvPr id="913" name="B3 market-based (voluntary)"/>
          <p:cNvGraphicFramePr>
            <a:graphicFrameLocks noGrp="1"/>
          </p:cNvGraphicFramePr>
          <p:nvPr>
            <p:extLst>
              <p:ext uri="{D42A27DB-BD31-4B8C-83A1-F6EECF244321}">
                <p14:modId xmlns:p14="http://schemas.microsoft.com/office/powerpoint/2010/main" val="4106924491"/>
              </p:ext>
            </p:extLst>
          </p:nvPr>
        </p:nvGraphicFramePr>
        <p:xfrm>
          <a:off x="411480" y="7630596"/>
          <a:ext cx="6737040" cy="451312"/>
        </p:xfrm>
        <a:graphic>
          <a:graphicData uri="http://schemas.openxmlformats.org/drawingml/2006/table">
            <a:tbl>
              <a:tblPr firstRow="0">
                <a:tableStyleId>{2A488322-F2BA-4B5B-9748-0D474271808F}</a:tableStyleId>
              </a:tblPr>
              <a:tblGrid>
                <a:gridCol w="5333961">
                  <a:extLst>
                    <a:ext uri="{9D8B030D-6E8A-4147-A177-3AD203B41FA5}">
                      <a16:colId xmlns:a16="http://schemas.microsoft.com/office/drawing/2014/main" val="2698153288"/>
                    </a:ext>
                  </a:extLst>
                </a:gridCol>
                <a:gridCol w="1403079">
                  <a:extLst>
                    <a:ext uri="{9D8B030D-6E8A-4147-A177-3AD203B41FA5}">
                      <a16:colId xmlns:a16="http://schemas.microsoft.com/office/drawing/2014/main" val="656209149"/>
                    </a:ext>
                  </a:extLst>
                </a:gridCol>
              </a:tblGrid>
              <a:tr h="225656">
                <a:tc>
                  <a:txBody>
                    <a:bodyPr/>
                    <a:lstStyle/>
                    <a:p>
                      <a:pPr>
                        <a:lnSpc>
                          <a:spcPct val="106000"/>
                        </a:lnSpc>
                      </a:pPr>
                      <a:r>
                        <a:rPr lang="de-DE" sz="975" b="1" noProof="0">
                          <a:solidFill>
                            <a:schemeClr val="tx2"/>
                          </a:solidFill>
                        </a:rPr>
                        <a:t xml:space="preserve">Scope-2-CO₂e-Emissionen (marktbezogen) (freiwillig)</a:t>
                      </a:r>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nter"/>
                        </a:rPr>
                        <a:t>{{scope1_marked}}</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25656">
                <a:tc>
                  <a:txBody>
                    <a:bodyPr/>
                    <a:lstStyle/>
                    <a:p>
                      <a:pPr>
                        <a:lnSpc>
                          <a:spcPct val="106000"/>
                        </a:lnSpc>
                      </a:pPr>
                      <a:r>
                        <a:rPr lang="de-DE" sz="975" b="1" noProof="0">
                          <a:solidFill>
                            <a:schemeClr val="tx2"/>
                          </a:solidFill>
                        </a:rPr>
                        <a:t xml:space="preserve">Gesamte CO₂e-Emissionen aus Scope 1 und Scope 2 (marktbezogen) (freiwillig)</a:t>
                      </a:r>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nter"/>
                        </a:rPr>
                        <a:t>{{scope2_marked}}</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912" name="Tekstfelt 11 (cont.)">
            <a:extLst>
              <a:ext uri="{FF2B5EF4-FFF2-40B4-BE49-F238E27FC236}">
                <a16:creationId xmlns:a16="http://schemas.microsoft.com/office/drawing/2014/main" id="{4EDC705C-923B-3F7B-2016-F3C31DC2828B}"/>
              </a:ext>
            </a:extLst>
          </p:cNvPr>
          <p:cNvSpPr txBox="1"/>
          <p:nvPr/>
        </p:nvSpPr>
        <p:spPr>
          <a:xfrm>
            <a:off x="411480" y="4333689"/>
            <a:ext cx="6737040" cy="2194560"/>
          </a:xfrm>
          <a:prstGeom prst="rect">
            <a:avLst/>
          </a:prstGeom>
          <a:noFill/>
        </p:spPr>
        <p:txBody>
          <a:bodyPr wrap="square" lIns="76197" tIns="38098" rIns="76197" bIns="38098" anchor="t">
            <a:spAutoFit/>
          </a:bodyPr>
          <a:lstStyle/>
          <a:p>
            <a:br>
              <a:rPr lang="de-DE" b="1" dirty="0">
                <a:latin typeface="+mj-lt"/>
              </a:rPr>
            </a:br>
            <a:r>
              <a:rPr lang="de-DE" b="1" i="0" u="none" strike="noStrike" noProof="0">
                <a:solidFill>
                  <a:schemeClr val="tx2"/>
                </a:solidFill>
                <a:effectLst/>
                <a:latin typeface="+mj-lt"/>
              </a:rPr>
              <a:t xml:space="preserve">CO₂e-Emissionen (B3)</a:t>
            </a:r>
            <a:endParaRPr lang="de-DE" noProof="0">
              <a:solidFill>
                <a:schemeClr val="tx2"/>
              </a:solidFill>
              <a:effectLst/>
              <a:latin typeface="+mj-lt"/>
            </a:endParaRPr>
          </a:p>
          <a:p>
            <a:r>
              <a:rPr lang="de-DE" sz="650">
                <a:latin typeface="Inter"/>
              </a:rPr>
              <a:t> </a:t>
            </a:r>
            <a:br>
              <a:rPr lang="de-DE" sz="975" dirty="0">
                <a:solidFill>
                  <a:schemeClr val="tx2"/>
                </a:solidFill>
                <a:latin typeface="Inter"/>
              </a:rPr>
            </a:br>
            <a:r>
              <a:rPr lang="de-DE" sz="975" b="0" i="0" u="none" strike="noStrike" noProof="0">
                <a:solidFill>
                  <a:schemeClr val="tx2"/>
                </a:solidFill>
                <a:effectLst/>
                <a:latin typeface="Inter"/>
              </a:rPr>
              <a:t xml:space="preserve">Nr. 33 enthält Angaben zu den Treibhausgasemissionen des Unternehmens auf Basis der Scope-1- und Scope-2-Emissionen. Scope 1 bezeichnet die direkten Emissionen aus Quellen, die das Unternehmen besitzt oder direkt kontrolliert, z. B. die Verbrennung von Kraftstoff in Firmenfahrzeugen, die Beheizung von Gebäuden mit Erdgas sowie Emissionen aus industriellen Prozessen und Leckagen in Systemen wie der Kühlung.</a:t>
            </a:r>
            <a:r>
              <a:rPr lang="de-DE" sz="975" noProof="0">
                <a:solidFill>
                  <a:schemeClr val="tx2"/>
                </a:solidFill>
                <a:latin typeface="Inter"/>
              </a:rPr>
              <a:t> </a:t>
            </a:r>
            <a:r>
              <a:rPr lang="de-DE" sz="975" b="0" i="0" u="none" strike="noStrike" noProof="0">
                <a:solidFill>
                  <a:schemeClr val="tx2"/>
                </a:solidFill>
                <a:effectLst/>
                <a:latin typeface="Inter"/>
              </a:rPr>
              <a:t>Scope 2</a:t>
            </a:r>
            <a:r>
              <a:rPr lang="de-DE" sz="975" noProof="0">
                <a:solidFill>
                  <a:schemeClr val="tx2"/>
                </a:solidFill>
                <a:latin typeface="Inter"/>
              </a:rPr>
              <a:t xml:space="preserve"> umfasst i</a:t>
            </a:r>
            <a:r>
              <a:rPr lang="de-DE" sz="975" b="0" i="0" u="none" strike="noStrike" noProof="0">
                <a:solidFill>
                  <a:schemeClr val="tx2"/>
                </a:solidFill>
                <a:effectLst/>
                <a:latin typeface="Inter"/>
              </a:rPr>
              <a:t xml:space="preserve">ndirekte Emissionen aus erworbenem Strom, d. h. aus der Erzeugung der vom Unternehmen erworbenen und genutzten Elektrizität, des Dampfes, der Wärme oder der Kühlung. Obwohl sie bei den Energieerzeugern entstehen, werden sie dem Unternehmen zugerechnet, weil es die Energie verbraucht.</a:t>
            </a:r>
            <a:endParaRPr lang="de-DE" sz="975" b="0" noProof="0">
              <a:solidFill>
                <a:schemeClr val="tx2"/>
              </a:solidFill>
              <a:effectLst/>
              <a:latin typeface="Inter"/>
            </a:endParaRPr>
          </a:p>
        </p:txBody>
      </p:sp>
    </p:spTree>
    <p:extLst>
      <p:ext uri="{BB962C8B-B14F-4D97-AF65-F5344CB8AC3E}">
        <p14:creationId xmlns:p14="http://schemas.microsoft.com/office/powerpoint/2010/main" val="2910765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e-DE" noProof="0"/>
              <a:t xml:space="preserve">Luft-, Wasser- und Bodenverschmutzung (B4)</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455973087"/>
              </p:ext>
            </p:extLst>
          </p:nvPr>
        </p:nvGraphicFramePr>
        <p:xfrm>
          <a:off x="411480" y="1625932"/>
          <a:ext cx="6737040" cy="666620"/>
        </p:xfrm>
        <a:graphic>
          <a:graphicData uri="http://schemas.openxmlformats.org/drawingml/2006/table">
            <a:tbl>
              <a:tblPr firstRow="1">
                <a:tableStyleId>{2A488322-F2BA-4B5B-9748-0D474271808F}</a:tableStyleId>
              </a:tblPr>
              <a:tblGrid>
                <a:gridCol w="2134358">
                  <a:extLst>
                    <a:ext uri="{9D8B030D-6E8A-4147-A177-3AD203B41FA5}">
                      <a16:colId xmlns:a16="http://schemas.microsoft.com/office/drawing/2014/main" val="2698153288"/>
                    </a:ext>
                  </a:extLst>
                </a:gridCol>
                <a:gridCol w="2057899">
                  <a:extLst>
                    <a:ext uri="{9D8B030D-6E8A-4147-A177-3AD203B41FA5}">
                      <a16:colId xmlns:a16="http://schemas.microsoft.com/office/drawing/2014/main" val="2119413191"/>
                    </a:ext>
                  </a:extLst>
                </a:gridCol>
                <a:gridCol w="2544783">
                  <a:extLst>
                    <a:ext uri="{9D8B030D-6E8A-4147-A177-3AD203B41FA5}">
                      <a16:colId xmlns:a16="http://schemas.microsoft.com/office/drawing/2014/main" val="683090399"/>
                    </a:ext>
                  </a:extLst>
                </a:gridCol>
              </a:tblGrid>
              <a:tr h="232847">
                <a:tc gridSpan="3">
                  <a:txBody>
                    <a:bodyPr/>
                    <a:lstStyle/>
                    <a:p>
                      <a:pPr>
                        <a:lnSpc>
                          <a:spcPct val="106000"/>
                        </a:lnSpc>
                      </a:pPr>
                      <a:r>
                        <a:rPr lang="de-DE" sz="806" b="1" noProof="0">
                          <a:solidFill>
                            <a:schemeClr val="tx2"/>
                          </a:solidFill>
                        </a:rPr>
                        <a:t xml:space="preserve">Luft-, Wasser- und Bodenverschmutzung </a:t>
                      </a:r>
                      <a:r>
                        <a:rPr lang="de-DE" sz="806" b="0" noProof="0">
                          <a:solidFill>
                            <a:schemeClr val="tx2"/>
                          </a:solidFill>
                        </a:rPr>
                        <a:t xml:space="preserve">(Nr. 34)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e-DE"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e-DE"/>
                    </a:p>
                  </a:txBody>
                  <a:tcPr/>
                </a:tc>
                <a:extLst>
                  <a:ext uri="{0D108BD9-81ED-4DB2-BD59-A6C34878D82A}">
                    <a16:rowId xmlns:a16="http://schemas.microsoft.com/office/drawing/2014/main" val="625231048"/>
                  </a:ext>
                </a:extLst>
              </a:tr>
              <a:tr h="232847">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lang="de-DE" sz="806" b="1" noProof="0">
                          <a:solidFill>
                            <a:schemeClr val="tx2"/>
                          </a:solidFill>
                        </a:rPr>
                        <a:t xml:space="preserve">Art der Verschmutzung </a:t>
                      </a:r>
                      <a:r>
                        <a:rPr lang="de-DE" sz="806" b="0" noProof="0">
                          <a:solidFill>
                            <a:schemeClr val="tx2"/>
                          </a:solidFill>
                        </a:rPr>
                        <a:t xml:space="preserve">(z. B. Schadstoff)</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de-DE" sz="806" b="1" noProof="0">
                          <a:solidFill>
                            <a:schemeClr val="tx2"/>
                          </a:solidFill>
                        </a:rPr>
                        <a:t xml:space="preserve">Wo? </a:t>
                      </a:r>
                      <a:r>
                        <a:rPr lang="de-DE" sz="806" b="0" noProof="0">
                          <a:solidFill>
                            <a:schemeClr val="tx2"/>
                          </a:solidFill>
                        </a:rPr>
                        <a:t xml:space="preserve">(Luft, Wasser, Boden)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de-DE" sz="806" b="1" noProof="0">
                          <a:solidFill>
                            <a:schemeClr val="tx2"/>
                          </a:solidFill>
                        </a:rPr>
                        <a:t xml:space="preserve">Menge</a:t>
                      </a:r>
                      <a:endParaRPr lang="de-DE" sz="806"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00926">
                <a:tc>
                  <a:txBody>
                    <a:bodyPr/>
                    <a:lstStyle/>
                    <a:p>
                      <a:pPr rtl="0" fontAlgn="ctr" algn="l">
                        <a:buNone/>
                      </a:pPr>
                      <a:r>
                        <a:rPr lang="de-DE" sz="806" b="0" i="0" u="none" strike="noStrike" noProof="0">
                          <a:solidFill>
                            <a:srgbClr val="1B4528"/>
                          </a:solidFill>
                          <a:effectLst/>
                          <a:latin typeface="Inter"/>
                        </a:rPr>
                        <a:t>{{type_of_pollution}}</a:t>
                      </a:r>
                      <a:endParaRPr lang="de-DE" sz="806"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r" rtl="0" fontAlgn="ctr">
                        <a:buNone/>
                      </a:pPr>
                      <a:r>
                        <a:rPr lang="de-DE" sz="806" b="0" i="0" u="none" strike="noStrike" noProof="0">
                          <a:solidFill>
                            <a:srgbClr val="1B4528"/>
                          </a:solidFill>
                          <a:effectLst/>
                          <a:latin typeface="Inter"/>
                        </a:rPr>
                        <a:t>{{scope_pollution}}</a:t>
                      </a:r>
                      <a:endParaRPr lang="de-DE"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de-DE" sz="806" b="0" i="0" u="none" strike="noStrike" noProof="0">
                          <a:solidFill>
                            <a:srgbClr val="1B4528"/>
                          </a:solidFill>
                          <a:effectLst/>
                          <a:latin typeface="Inter"/>
                        </a:rPr>
                        <a:t>{{</a:t>
                      </a:r>
                      <a:r>
                        <a:rPr lang="de-DE" sz="806" b="0" i="0" u="none" strike="noStrike" noProof="0">
                          <a:solidFill>
                            <a:srgbClr val="1B4528"/>
                          </a:solidFill>
                          <a:effectLst/>
                          <a:latin typeface="Inter"/>
                        </a:rPr>
                        <a:t>pollution_medium</a:t>
                      </a:r>
                      <a:r>
                        <a:rPr lang="de-DE" sz="806" b="0" i="0" u="none" strike="noStrike" noProof="0">
                          <a:solidFill>
                            <a:srgbClr val="1B4528"/>
                          </a:solidFill>
                          <a:effectLst/>
                          <a:latin typeface="Inter"/>
                        </a:rPr>
                        <a:t>}}</a:t>
                      </a:r>
                      <a:endParaRPr lang="de-DE" sz="806"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{{company_name}}</a:t>
            </a:r>
            <a:endParaRPr lang="de-DE" b="0" noProof="0"/>
          </a:p>
          <a:p>
            <a:br>
              <a:rPr lang="de-DE" noProof="0"/>
            </a:br>
            <a:endParaRPr lang="de-DE" noProof="0"/>
          </a:p>
        </p:txBody>
      </p:sp>
      <p:sp>
        <p:nvSpPr>
          <p:cNvPr id="10" name="Tekstfelt 9">
            <a:extLst>
              <a:ext uri="{FF2B5EF4-FFF2-40B4-BE49-F238E27FC236}">
                <a16:creationId xmlns:a16="http://schemas.microsoft.com/office/drawing/2014/main" id="{CADEAD42-343C-93CC-A8B0-E63EFFC56411}"/>
              </a:ext>
            </a:extLst>
          </p:cNvPr>
          <p:cNvSpPr txBox="1"/>
          <p:nvPr/>
        </p:nvSpPr>
        <p:spPr>
          <a:xfrm>
            <a:off x="411480" y="1192938"/>
            <a:ext cx="6737040" cy="384705"/>
          </a:xfrm>
          <a:prstGeom prst="rect">
            <a:avLst/>
          </a:prstGeom>
          <a:noFill/>
        </p:spPr>
        <p:txBody>
          <a:bodyPr wrap="square">
            <a:spAutoFit/>
          </a:bodyPr>
          <a:lstStyle/>
          <a:p>
            <a:pPr rtl="0">
              <a:buNone/>
            </a:pPr>
            <a:r>
              <a:rPr lang="de-DE" sz="806" b="0" i="0" u="none" strike="noStrike" noProof="0">
                <a:solidFill>
                  <a:schemeClr val="tx2"/>
                </a:solidFill>
                <a:effectLst/>
                <a:latin typeface="Inter"/>
              </a:rPr>
              <a:t xml:space="preserve">Das Unternehmen berichtet die Gesamtmenge der Schadstoffe, die aus seinen Anlagen emittiert werden. Die Angaben zu den einzelnen Schadstoffen und deren Mengen, die in Luft, Wasser und Boden emittiert werden,</a:t>
            </a:r>
            <a:r>
              <a:rPr lang="de-DE" sz="806" noProof="0">
                <a:solidFill>
                  <a:schemeClr val="tx2"/>
                </a:solidFill>
                <a:latin typeface="Inter"/>
              </a:rPr>
              <a:t xml:space="preserve"> sind nachstehend aufgeführt.</a:t>
            </a:r>
          </a:p>
        </p:txBody>
      </p:sp>
      <p:sp>
        <p:nvSpPr>
          <p:cNvPr id="16" name="Title 3">
            <a:extLst>
              <a:ext uri="{FF2B5EF4-FFF2-40B4-BE49-F238E27FC236}">
                <a16:creationId xmlns:a16="http://schemas.microsoft.com/office/drawing/2014/main" id="{82FDC1C8-BB82-8F83-2FCB-640700A5A089}"/>
              </a:ext>
            </a:extLst>
          </p:cNvPr>
          <p:cNvSpPr txBox="1">
            <a:spLocks/>
          </p:cNvSpPr>
          <p:nvPr/>
        </p:nvSpPr>
        <p:spPr>
          <a:xfrm>
            <a:off x="411480" y="2673447"/>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220" b="1" kern="1200" spc="-10" baseline="0">
                <a:solidFill>
                  <a:schemeClr val="tx2"/>
                </a:solidFill>
                <a:latin typeface="+mj-lt"/>
                <a:ea typeface="+mj-ea"/>
                <a:cs typeface="+mj-cs"/>
              </a:defRPr>
            </a:lvl1pPr>
          </a:lstStyle>
          <a:p>
            <a:r>
              <a:rPr lang="de-DE" noProof="0"/>
              <a:t xml:space="preserve">Biodiversität (B5) </a:t>
            </a:r>
          </a:p>
        </p:txBody>
      </p:sp>
      <p:graphicFrame>
        <p:nvGraphicFramePr>
          <p:cNvPr id="17" name="Table 12">
            <a:extLst>
              <a:ext uri="{FF2B5EF4-FFF2-40B4-BE49-F238E27FC236}">
                <a16:creationId xmlns:a16="http://schemas.microsoft.com/office/drawing/2014/main" id="{2F8CEDBC-7529-8ACB-98F8-C532E7876A9C}"/>
              </a:ext>
            </a:extLst>
          </p:cNvPr>
          <p:cNvGraphicFramePr>
            <a:graphicFrameLocks noGrp="1"/>
          </p:cNvGraphicFramePr>
          <p:nvPr>
            <p:extLst>
              <p:ext uri="{D42A27DB-BD31-4B8C-83A1-F6EECF244321}">
                <p14:modId xmlns:p14="http://schemas.microsoft.com/office/powerpoint/2010/main" val="1488959812"/>
              </p:ext>
            </p:extLst>
          </p:nvPr>
        </p:nvGraphicFramePr>
        <p:xfrm>
          <a:off x="411480" y="3665551"/>
          <a:ext cx="6737040" cy="729933"/>
        </p:xfrm>
        <a:graphic>
          <a:graphicData uri="http://schemas.openxmlformats.org/drawingml/2006/table">
            <a:tbl>
              <a:tblPr firstRow="1">
                <a:tableStyleId>{2A488322-F2BA-4B5B-9748-0D474271808F}</a:tableStyleId>
              </a:tblPr>
              <a:tblGrid>
                <a:gridCol w="1223626">
                  <a:extLst>
                    <a:ext uri="{9D8B030D-6E8A-4147-A177-3AD203B41FA5}">
                      <a16:colId xmlns:a16="http://schemas.microsoft.com/office/drawing/2014/main" val="2698153288"/>
                    </a:ext>
                  </a:extLst>
                </a:gridCol>
                <a:gridCol w="1837805">
                  <a:extLst>
                    <a:ext uri="{9D8B030D-6E8A-4147-A177-3AD203B41FA5}">
                      <a16:colId xmlns:a16="http://schemas.microsoft.com/office/drawing/2014/main" val="2119413191"/>
                    </a:ext>
                  </a:extLst>
                </a:gridCol>
                <a:gridCol w="1837805">
                  <a:extLst>
                    <a:ext uri="{9D8B030D-6E8A-4147-A177-3AD203B41FA5}">
                      <a16:colId xmlns:a16="http://schemas.microsoft.com/office/drawing/2014/main" val="656209149"/>
                    </a:ext>
                  </a:extLst>
                </a:gridCol>
                <a:gridCol w="1837804">
                  <a:extLst>
                    <a:ext uri="{9D8B030D-6E8A-4147-A177-3AD203B41FA5}">
                      <a16:colId xmlns:a16="http://schemas.microsoft.com/office/drawing/2014/main" val="1502960985"/>
                    </a:ext>
                  </a:extLst>
                </a:gridCol>
              </a:tblGrid>
              <a:tr h="192389">
                <a:tc gridSpan="4">
                  <a:txBody>
                    <a:bodyPr/>
                    <a:lstStyle/>
                    <a:p>
                      <a:r>
                        <a:rPr lang="de-DE" sz="806" b="1" noProof="0">
                          <a:solidFill>
                            <a:schemeClr val="tx2"/>
                          </a:solidFill>
                        </a:rPr>
                        <a:t xml:space="preserve">Standorte in oder in der Nähe von ‚Gebieten mit schutzbedürftiger Biodiversität‘, die das Unternehmen besitzt, gepachtet hat oder bewirtschaftet </a:t>
                      </a:r>
                      <a:r>
                        <a:rPr lang="de-DE" sz="806" b="0" noProof="0">
                          <a:solidFill>
                            <a:schemeClr val="tx2"/>
                          </a:solidFill>
                        </a:rPr>
                        <a:t xml:space="preserve">(Nr. 35)</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e-DE"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de-DE"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de-DE"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7668">
                <a:tc>
                  <a:txBody>
                    <a:bodyPr/>
                    <a:lstStyle/>
                    <a:p>
                      <a:r>
                        <a:rPr lang="de-DE" sz="806" b="1" noProof="0">
                          <a:solidFill>
                            <a:schemeClr val="tx2"/>
                          </a:solidFill>
                        </a:rPr>
                        <a:t xml:space="preserve">Standort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e-DE" sz="806" b="1" noProof="0">
                          <a:solidFill>
                            <a:schemeClr val="tx2"/>
                          </a:solidFill>
                        </a:rPr>
                        <a:t xml:space="preserve">Fläche in Hektar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e-DE" sz="806" b="1" noProof="0">
                          <a:solidFill>
                            <a:schemeClr val="tx2"/>
                          </a:solidFill>
                        </a:rPr>
                        <a:t xml:space="preserve">Gebiet mit schutzbedürftiger Biodiversität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e-DE" sz="806" b="1" noProof="0">
                          <a:solidFill>
                            <a:schemeClr val="tx2"/>
                          </a:solidFill>
                        </a:rPr>
                        <a:t xml:space="preserve">Angabe: in oder in der Nähe eines Gebiets mit schutzbedürftiger Biodiversität</a:t>
                      </a:r>
                      <a:endParaRPr lang="de-DE" sz="806"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26340">
                <a:tc>
                  <a:txBody>
                    <a:bodyPr/>
                    <a:lstStyle/>
                    <a:p>
                      <a:pPr rtl="0" fontAlgn="ctr" algn="l">
                        <a:buNone/>
                      </a:pPr>
                      <a:r>
                        <a:rPr lang="de-DE" sz="806" b="0" i="0" u="none" strike="noStrike" noProof="0">
                          <a:solidFill>
                            <a:srgbClr val="1B4528"/>
                          </a:solidFill>
                          <a:effectLst/>
                          <a:latin typeface="Inter"/>
                        </a:rPr>
                        <a:t>{{country_location}}</a:t>
                      </a:r>
                      <a:endParaRPr lang="de-DE"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de-DE" sz="806" b="0" i="0" u="none" strike="noStrike" noProof="0">
                          <a:solidFill>
                            <a:srgbClr val="1B4528"/>
                          </a:solidFill>
                          <a:effectLst/>
                          <a:latin typeface="Inter"/>
                        </a:rPr>
                        <a:t> {{area_hect}}</a:t>
                      </a:r>
                      <a:endParaRPr lang="de-DE"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e-DE" sz="806" b="0" i="0" u="none" strike="noStrike" noProof="0">
                          <a:solidFill>
                            <a:srgbClr val="1B4528"/>
                          </a:solidFill>
                          <a:effectLst/>
                          <a:latin typeface="Inter"/>
                        </a:rPr>
                        <a:t>{{area_name}}</a:t>
                      </a:r>
                      <a:endParaRPr lang="de-DE"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e-DE" sz="806" b="0" i="0" u="none" strike="noStrike" noProof="0">
                          <a:solidFill>
                            <a:srgbClr val="1B4528"/>
                          </a:solidFill>
                          <a:effectLst/>
                          <a:latin typeface="Inter"/>
                        </a:rPr>
                        <a:t>{{</a:t>
                      </a:r>
                      <a:r>
                        <a:rPr lang="de-DE" sz="806" b="0" i="0" u="none" strike="noStrike" noProof="0">
                          <a:solidFill>
                            <a:srgbClr val="1B4528"/>
                          </a:solidFill>
                          <a:effectLst/>
                          <a:latin typeface="Inter"/>
                        </a:rPr>
                        <a:t>biosensitive_area</a:t>
                      </a:r>
                      <a:r>
                        <a:rPr lang="de-DE" sz="806" b="0" i="0" u="none" strike="noStrike" noProof="0">
                          <a:solidFill>
                            <a:srgbClr val="1B4528"/>
                          </a:solidFill>
                          <a:effectLst/>
                          <a:latin typeface="Inter"/>
                        </a:rPr>
                        <a:t>}}</a:t>
                      </a:r>
                      <a:endParaRPr lang="de-DE" sz="806"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8" name="Tekstfelt 17">
            <a:extLst>
              <a:ext uri="{FF2B5EF4-FFF2-40B4-BE49-F238E27FC236}">
                <a16:creationId xmlns:a16="http://schemas.microsoft.com/office/drawing/2014/main" id="{6378062B-84AF-684A-9726-0422CE54B0A8}"/>
              </a:ext>
            </a:extLst>
          </p:cNvPr>
          <p:cNvSpPr txBox="1"/>
          <p:nvPr/>
        </p:nvSpPr>
        <p:spPr>
          <a:xfrm>
            <a:off x="411480" y="2954463"/>
            <a:ext cx="6737040" cy="538588"/>
          </a:xfrm>
          <a:prstGeom prst="rect">
            <a:avLst/>
          </a:prstGeom>
          <a:noFill/>
        </p:spPr>
        <p:txBody>
          <a:bodyPr wrap="square">
            <a:spAutoFit/>
          </a:bodyPr>
          <a:lstStyle/>
          <a:p>
            <a:pPr rtl="0">
              <a:spcBef>
                <a:spcPts val="750"/>
              </a:spcBef>
              <a:spcAft>
                <a:spcPts val="750"/>
              </a:spcAft>
              <a:buNone/>
            </a:pPr>
            <a:r>
              <a:rPr lang="de-DE" sz="806" b="0" i="0" u="none" strike="noStrike" noProof="0">
                <a:solidFill>
                  <a:schemeClr val="tx2"/>
                </a:solidFill>
                <a:effectLst/>
                <a:latin typeface="Inter"/>
              </a:rPr>
              <a:t xml:space="preserve">Die Angaben des Unternehmens betreffen die Standorte, an denen es tätig ist und die in oder in der Nähe von Gebieten mit schutzbedürftiger Biodiversität liegen. Gebiete mit schutzbedürftiger Biodiversität sind als solche in besonderen Naturschutzvorschriften auf europäischer oder internationaler Ebene definiert. Dazu gehören Gebiete, die zu Natura 2000, zur UNESCO und zu den Schlüsselgebieten der Biodiversität (Key Biodiversity Areas, KBAs) zählen, sowie andere Schutzgebiete.</a:t>
            </a:r>
            <a:endParaRPr lang="de-DE" sz="806" noProof="0">
              <a:solidFill>
                <a:schemeClr val="tx2"/>
              </a:solidFill>
              <a:latin typeface="Inter"/>
            </a:endParaRPr>
          </a:p>
        </p:txBody>
      </p:sp>
      <p:sp>
        <p:nvSpPr>
          <p:cNvPr id="2" name="Title 3">
            <a:extLst>
              <a:ext uri="{FF2B5EF4-FFF2-40B4-BE49-F238E27FC236}">
                <a16:creationId xmlns:a16="http://schemas.microsoft.com/office/drawing/2014/main" id="{9FF30C2A-99E4-0235-442A-B520E2E3D75D}"/>
              </a:ext>
            </a:extLst>
          </p:cNvPr>
          <p:cNvSpPr txBox="1">
            <a:spLocks/>
          </p:cNvSpPr>
          <p:nvPr/>
        </p:nvSpPr>
        <p:spPr>
          <a:xfrm>
            <a:off x="423976" y="4761067"/>
            <a:ext cx="6583504"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220" b="1" kern="1200" spc="-10" baseline="0">
                <a:solidFill>
                  <a:schemeClr val="tx2"/>
                </a:solidFill>
                <a:latin typeface="+mj-lt"/>
                <a:ea typeface="+mj-ea"/>
                <a:cs typeface="+mj-cs"/>
              </a:defRPr>
            </a:lvl1pPr>
          </a:lstStyle>
          <a:p>
            <a:r>
              <a:rPr lang="de-DE"/>
              <a:t xml:space="preserve">Wasser (B6)</a:t>
            </a:r>
          </a:p>
        </p:txBody>
      </p:sp>
      <p:graphicFrame>
        <p:nvGraphicFramePr>
          <p:cNvPr id="3" name="Table 12">
            <a:extLst>
              <a:ext uri="{FF2B5EF4-FFF2-40B4-BE49-F238E27FC236}">
                <a16:creationId xmlns:a16="http://schemas.microsoft.com/office/drawing/2014/main" id="{EDF86973-DC05-3ECC-6067-2F53E4BE429D}"/>
              </a:ext>
            </a:extLst>
          </p:cNvPr>
          <p:cNvGraphicFramePr>
            <a:graphicFrameLocks noGrp="1"/>
          </p:cNvGraphicFramePr>
          <p:nvPr>
            <p:extLst>
              <p:ext uri="{D42A27DB-BD31-4B8C-83A1-F6EECF244321}">
                <p14:modId xmlns:p14="http://schemas.microsoft.com/office/powerpoint/2010/main" val="2484575700"/>
              </p:ext>
            </p:extLst>
          </p:nvPr>
        </p:nvGraphicFramePr>
        <p:xfrm>
          <a:off x="411480" y="5769811"/>
          <a:ext cx="3295368" cy="961731"/>
        </p:xfrm>
        <a:graphic>
          <a:graphicData uri="http://schemas.openxmlformats.org/drawingml/2006/table">
            <a:tbl>
              <a:tblPr firstRow="1">
                <a:tableStyleId>{2A488322-F2BA-4B5B-9748-0D474271808F}</a:tableStyleId>
              </a:tblPr>
              <a:tblGrid>
                <a:gridCol w="2113984">
                  <a:extLst>
                    <a:ext uri="{9D8B030D-6E8A-4147-A177-3AD203B41FA5}">
                      <a16:colId xmlns:a16="http://schemas.microsoft.com/office/drawing/2014/main" val="2698153288"/>
                    </a:ext>
                  </a:extLst>
                </a:gridCol>
                <a:gridCol w="1181384">
                  <a:extLst>
                    <a:ext uri="{9D8B030D-6E8A-4147-A177-3AD203B41FA5}">
                      <a16:colId xmlns:a16="http://schemas.microsoft.com/office/drawing/2014/main" val="2119413191"/>
                    </a:ext>
                  </a:extLst>
                </a:gridCol>
              </a:tblGrid>
              <a:tr h="4808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806" b="1" noProof="0">
                          <a:solidFill>
                            <a:schemeClr val="tx2"/>
                          </a:solidFill>
                        </a:rPr>
                        <a:t xml:space="preserve">Wasserentnahme </a:t>
                      </a:r>
                      <a:r>
                        <a:rPr lang="de-DE" sz="806" b="0" noProof="0">
                          <a:solidFill>
                            <a:schemeClr val="tx2"/>
                          </a:solidFill>
                        </a:rPr>
                        <a:t xml:space="preserve">(Nr. 36)</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e-DE" sz="806" b="1" noProof="0">
                          <a:solidFill>
                            <a:schemeClr val="tx2"/>
                          </a:solidFill>
                        </a:rPr>
                        <a:t xml:space="preserve">Jahr </a:t>
                      </a:r>
                      <a:r>
                        <a:rPr lang="de-DE" sz="806" b="1" noProof="0">
                          <a:solidFill>
                            <a:srgbClr val="1B4528"/>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80865">
                <a:tc>
                  <a:txBody>
                    <a:bodyPr/>
                    <a:lstStyle/>
                    <a:p>
                      <a:r>
                        <a:rPr lang="de-DE" sz="806" b="0" noProof="0">
                          <a:solidFill>
                            <a:schemeClr val="tx2"/>
                          </a:solidFill>
                        </a:rPr>
                        <a:t xml:space="preserve">Insgesamt für alle Standorte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806" b="0" i="0" u="none" strike="noStrike" kern="1200" cap="none" spc="0" normalizeH="0" baseline="0" noProof="0">
                          <a:ln>
                            <a:noFill/>
                          </a:ln>
                          <a:solidFill>
                            <a:srgbClr val="1B4528"/>
                          </a:solidFill>
                          <a:effectLst/>
                          <a:uLnTx/>
                          <a:uFillTx/>
                          <a:latin typeface="+mn-lt"/>
                          <a:ea typeface="+mn-ea"/>
                          <a:cs typeface="+mn-cs"/>
                        </a:rPr>
                        <a:t>{{</a:t>
                      </a:r>
                      <a:r>
                        <a:rPr kumimoji="0" lang="de-DE" sz="806" b="0" i="0" u="none" strike="noStrike" kern="1200" cap="none" spc="0" normalizeH="0" baseline="0" noProof="0">
                          <a:ln>
                            <a:noFill/>
                          </a:ln>
                          <a:solidFill>
                            <a:srgbClr val="1B4528"/>
                          </a:solidFill>
                          <a:effectLst/>
                          <a:uLnTx/>
                          <a:uFillTx/>
                          <a:latin typeface="+mn-lt"/>
                          <a:ea typeface="+mn-ea"/>
                          <a:cs typeface="+mn-cs"/>
                        </a:rPr>
                        <a:t>total_withdrawal</a:t>
                      </a:r>
                      <a:r>
                        <a:rPr kumimoji="0" lang="de-DE" sz="806" b="0" i="0" u="none" strike="noStrike" kern="1200" cap="none" spc="0" normalizeH="0" baseline="0" noProof="0">
                          <a:ln>
                            <a:noFill/>
                          </a:ln>
                          <a:solidFill>
                            <a:srgbClr val="1B4528"/>
                          </a:solidFill>
                          <a:effectLst/>
                          <a:uLnTx/>
                          <a:uFillTx/>
                          <a:latin typeface="+mn-lt"/>
                          <a:ea typeface="+mn-ea"/>
                          <a:cs typeface="+mn-cs"/>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7" name="Table 16">
            <a:extLst>
              <a:ext uri="{FF2B5EF4-FFF2-40B4-BE49-F238E27FC236}">
                <a16:creationId xmlns:a16="http://schemas.microsoft.com/office/drawing/2014/main" id="{CC1DA924-567E-0F60-A4EA-4D7C2A7DFBCC}"/>
              </a:ext>
            </a:extLst>
          </p:cNvPr>
          <p:cNvGraphicFramePr>
            <a:graphicFrameLocks noGrp="1"/>
          </p:cNvGraphicFramePr>
          <p:nvPr>
            <p:extLst>
              <p:ext uri="{D42A27DB-BD31-4B8C-83A1-F6EECF244321}">
                <p14:modId xmlns:p14="http://schemas.microsoft.com/office/powerpoint/2010/main" val="1841516023"/>
              </p:ext>
            </p:extLst>
          </p:nvPr>
        </p:nvGraphicFramePr>
        <p:xfrm>
          <a:off x="3853152" y="5769810"/>
          <a:ext cx="3295368" cy="961732"/>
        </p:xfrm>
        <a:graphic>
          <a:graphicData uri="http://schemas.openxmlformats.org/drawingml/2006/table">
            <a:tbl>
              <a:tblPr firstRow="1">
                <a:tableStyleId>{2A488322-F2BA-4B5B-9748-0D474271808F}</a:tableStyleId>
              </a:tblPr>
              <a:tblGrid>
                <a:gridCol w="2217448">
                  <a:extLst>
                    <a:ext uri="{9D8B030D-6E8A-4147-A177-3AD203B41FA5}">
                      <a16:colId xmlns:a16="http://schemas.microsoft.com/office/drawing/2014/main" val="2698153288"/>
                    </a:ext>
                  </a:extLst>
                </a:gridCol>
                <a:gridCol w="1077920">
                  <a:extLst>
                    <a:ext uri="{9D8B030D-6E8A-4147-A177-3AD203B41FA5}">
                      <a16:colId xmlns:a16="http://schemas.microsoft.com/office/drawing/2014/main" val="2119413191"/>
                    </a:ext>
                  </a:extLst>
                </a:gridCol>
              </a:tblGrid>
              <a:tr h="3199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806" b="1" noProof="0">
                          <a:solidFill>
                            <a:schemeClr val="tx2"/>
                          </a:solidFill>
                        </a:rPr>
                        <a:t xml:space="preserve">Wasserverbrauch </a:t>
                      </a:r>
                      <a:r>
                        <a:rPr lang="de-DE" sz="806" b="0" noProof="0">
                          <a:solidFill>
                            <a:schemeClr val="tx2"/>
                          </a:solidFill>
                        </a:rPr>
                        <a:t xml:space="preserve">(Nr. 37)</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e-DE" sz="806" b="1" noProof="0">
                          <a:solidFill>
                            <a:schemeClr val="tx2"/>
                          </a:solidFill>
                        </a:rPr>
                        <a:t xml:space="preserve">Jahr </a:t>
                      </a:r>
                      <a:r>
                        <a:rPr lang="de-DE" sz="806" b="1" noProof="0">
                          <a:solidFill>
                            <a:srgbClr val="1B4528"/>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98687">
                <a:tc>
                  <a:txBody>
                    <a:bodyPr/>
                    <a:lstStyle/>
                    <a:p>
                      <a:r>
                        <a:rPr lang="de-DE" sz="806" b="0" noProof="0">
                          <a:solidFill>
                            <a:schemeClr val="tx2"/>
                          </a:solidFill>
                        </a:rPr>
                        <a:t xml:space="preserve">Insgesamt für alle Standorte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e-DE" sz="806" b="0" i="0" u="none" strike="noStrike" noProof="0">
                          <a:solidFill>
                            <a:srgbClr val="1B4528"/>
                          </a:solidFill>
                          <a:effectLst/>
                          <a:latin typeface="Inter"/>
                        </a:rPr>
                        <a:t>{{consumption_total}}</a:t>
                      </a:r>
                      <a:endParaRPr lang="de-DE"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431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806" b="0" noProof="0">
                          <a:solidFill>
                            <a:schemeClr val="tx2"/>
                          </a:solidFill>
                        </a:rPr>
                        <a:t xml:space="preserve">Von Standorten in Gebieten mit Wasserknappheit (hoher Wasserstress)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e-DE" sz="806" b="0" i="0" u="none" strike="noStrike" noProof="0">
                          <a:solidFill>
                            <a:srgbClr val="1B4528"/>
                          </a:solidFill>
                          <a:effectLst/>
                          <a:latin typeface="Inter"/>
                        </a:rPr>
                        <a:t>{{</a:t>
                      </a:r>
                      <a:r>
                        <a:rPr lang="de-DE" sz="806" b="0" i="0" u="none" strike="noStrike" noProof="0">
                          <a:solidFill>
                            <a:srgbClr val="1B4528"/>
                          </a:solidFill>
                          <a:effectLst/>
                          <a:latin typeface="Inter"/>
                        </a:rPr>
                        <a:t>consumption_waterstress</a:t>
                      </a:r>
                      <a:r>
                        <a:rPr lang="de-DE" sz="806" b="0" i="0" u="none" strike="noStrike" noProof="0">
                          <a:solidFill>
                            <a:srgbClr val="1B4528"/>
                          </a:solidFill>
                          <a:effectLst/>
                          <a:latin typeface="Inter"/>
                        </a:rPr>
                        <a:t>}}</a:t>
                      </a:r>
                      <a:endParaRPr lang="de-DE" sz="806"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75797269"/>
                  </a:ext>
                </a:extLst>
              </a:tr>
            </a:tbl>
          </a:graphicData>
        </a:graphic>
      </p:graphicFrame>
      <p:sp>
        <p:nvSpPr>
          <p:cNvPr id="8" name="Tekstfelt 7">
            <a:extLst>
              <a:ext uri="{FF2B5EF4-FFF2-40B4-BE49-F238E27FC236}">
                <a16:creationId xmlns:a16="http://schemas.microsoft.com/office/drawing/2014/main" id="{920A9AE1-EB9B-1D7D-09D0-432E15617FEB}"/>
              </a:ext>
            </a:extLst>
          </p:cNvPr>
          <p:cNvSpPr txBox="1"/>
          <p:nvPr/>
        </p:nvSpPr>
        <p:spPr>
          <a:xfrm>
            <a:off x="411480" y="5091770"/>
            <a:ext cx="6737040" cy="384705"/>
          </a:xfrm>
          <a:prstGeom prst="rect">
            <a:avLst/>
          </a:prstGeom>
          <a:noFill/>
        </p:spPr>
        <p:txBody>
          <a:bodyPr wrap="square">
            <a:spAutoFit/>
          </a:bodyPr>
          <a:lstStyle/>
          <a:p>
            <a:pPr rtl="0">
              <a:spcBef>
                <a:spcPts val="750"/>
              </a:spcBef>
              <a:buNone/>
            </a:pPr>
            <a:r>
              <a:rPr lang="de-DE" sz="806" b="0" i="0" u="none" strike="noStrike" noProof="0">
                <a:solidFill>
                  <a:schemeClr val="tx2"/>
                </a:solidFill>
                <a:effectLst/>
                <a:latin typeface="Inter"/>
              </a:rPr>
              <a:t xml:space="preserve">Die Wasserentnahme ist die vom Unternehmen genutzte Wassermenge, wobei </a:t>
            </a:r>
            <a:r>
              <a:rPr lang="de-DE" sz="806" noProof="0">
                <a:solidFill>
                  <a:schemeClr val="tx2"/>
                </a:solidFill>
                <a:latin typeface="Inter"/>
              </a:rPr>
              <a:t xml:space="preserve">der Verbrauch das Wasser bezeichnet, das </a:t>
            </a:r>
            <a:r>
              <a:rPr lang="de-DE" sz="806" b="0" i="0" u="none" strike="noStrike" noProof="0">
                <a:solidFill>
                  <a:schemeClr val="tx2"/>
                </a:solidFill>
                <a:effectLst/>
                <a:latin typeface="Inter"/>
              </a:rPr>
              <a:t xml:space="preserve">nicht in Gewässer oder an Dritte abgeleitet wird bzw. werden soll. Dieser Abschnitt gibt die gesamte Wasserentnahme des Unternehmens an. Wasserverbrauch</a:t>
            </a:r>
            <a:r>
              <a:rPr lang="de-DE" sz="806" noProof="0">
                <a:solidFill>
                  <a:schemeClr val="tx2"/>
                </a:solidFill>
                <a:latin typeface="Inter"/>
              </a:rPr>
              <a:t> </a:t>
            </a:r>
            <a:r>
              <a:rPr lang="de-DE" sz="806" b="0" i="0" u="none" strike="noStrike" noProof="0">
                <a:solidFill>
                  <a:schemeClr val="tx2"/>
                </a:solidFill>
                <a:effectLst/>
                <a:latin typeface="Inter"/>
              </a:rPr>
              <a:t xml:space="preserve">und Wasserableitung aus Gebieten mit hohem Wasserstress sind nachstehend aufgeführt.</a:t>
            </a:r>
            <a:endParaRPr lang="de-DE" sz="806" b="0" noProof="0" dirty="0">
              <a:solidFill>
                <a:schemeClr val="tx2"/>
              </a:solidFill>
              <a:effectLst/>
              <a:latin typeface="Inter"/>
            </a:endParaRPr>
          </a:p>
        </p:txBody>
      </p:sp>
      <p:sp>
        <p:nvSpPr>
          <p:cNvPr id="9" name="Title 3">
            <a:extLst>
              <a:ext uri="{FF2B5EF4-FFF2-40B4-BE49-F238E27FC236}">
                <a16:creationId xmlns:a16="http://schemas.microsoft.com/office/drawing/2014/main" id="{42E20686-EF75-EDCE-51EC-6D93E8BC9DB0}"/>
              </a:ext>
            </a:extLst>
          </p:cNvPr>
          <p:cNvSpPr txBox="1">
            <a:spLocks/>
          </p:cNvSpPr>
          <p:nvPr/>
        </p:nvSpPr>
        <p:spPr>
          <a:xfrm>
            <a:off x="411480" y="7162338"/>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220" b="1" kern="1200" spc="-10" baseline="0">
                <a:solidFill>
                  <a:schemeClr val="tx2"/>
                </a:solidFill>
                <a:latin typeface="+mj-lt"/>
                <a:ea typeface="+mj-ea"/>
                <a:cs typeface="+mj-cs"/>
              </a:defRPr>
            </a:lvl1pPr>
          </a:lstStyle>
          <a:p>
            <a:r>
              <a:rPr lang="de-DE" noProof="0"/>
              <a:t xml:space="preserve">Ressourcennutzung, Kreislaufwirtschaft und Abfallbewirtschaftung (B7) </a:t>
            </a:r>
          </a:p>
        </p:txBody>
      </p:sp>
      <p:graphicFrame>
        <p:nvGraphicFramePr>
          <p:cNvPr id="11" name="Table 12">
            <a:extLst>
              <a:ext uri="{FF2B5EF4-FFF2-40B4-BE49-F238E27FC236}">
                <a16:creationId xmlns:a16="http://schemas.microsoft.com/office/drawing/2014/main" id="{65985E2E-2BF9-6FC2-7FED-19CBF40C65E9}"/>
              </a:ext>
            </a:extLst>
          </p:cNvPr>
          <p:cNvGraphicFramePr>
            <a:graphicFrameLocks noGrp="1"/>
          </p:cNvGraphicFramePr>
          <p:nvPr>
            <p:extLst>
              <p:ext uri="{D42A27DB-BD31-4B8C-83A1-F6EECF244321}">
                <p14:modId xmlns:p14="http://schemas.microsoft.com/office/powerpoint/2010/main" val="2602752189"/>
              </p:ext>
            </p:extLst>
          </p:nvPr>
        </p:nvGraphicFramePr>
        <p:xfrm>
          <a:off x="3853152" y="7582850"/>
          <a:ext cx="3295368" cy="821437"/>
        </p:xfrm>
        <a:graphic>
          <a:graphicData uri="http://schemas.openxmlformats.org/drawingml/2006/table">
            <a:tbl>
              <a:tblPr firstRow="1">
                <a:tableStyleId>{2A488322-F2BA-4B5B-9748-0D474271808F}</a:tableStyleId>
              </a:tblPr>
              <a:tblGrid>
                <a:gridCol w="1303671">
                  <a:extLst>
                    <a:ext uri="{9D8B030D-6E8A-4147-A177-3AD203B41FA5}">
                      <a16:colId xmlns:a16="http://schemas.microsoft.com/office/drawing/2014/main" val="2698153288"/>
                    </a:ext>
                  </a:extLst>
                </a:gridCol>
                <a:gridCol w="1013047">
                  <a:extLst>
                    <a:ext uri="{9D8B030D-6E8A-4147-A177-3AD203B41FA5}">
                      <a16:colId xmlns:a16="http://schemas.microsoft.com/office/drawing/2014/main" val="2119413191"/>
                    </a:ext>
                  </a:extLst>
                </a:gridCol>
                <a:gridCol w="978650">
                  <a:extLst>
                    <a:ext uri="{9D8B030D-6E8A-4147-A177-3AD203B41FA5}">
                      <a16:colId xmlns:a16="http://schemas.microsoft.com/office/drawing/2014/main" val="656209149"/>
                    </a:ext>
                  </a:extLst>
                </a:gridCol>
              </a:tblGrid>
              <a:tr h="224582">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806" b="1" noProof="0">
                          <a:solidFill>
                            <a:schemeClr val="tx2"/>
                          </a:solidFill>
                        </a:rPr>
                        <a:t xml:space="preserve">Anwendung der Grundsätze der Kreislaufwirtschaft </a:t>
                      </a:r>
                      <a:r>
                        <a:rPr lang="de-DE" sz="806" b="0" noProof="0">
                          <a:solidFill>
                            <a:schemeClr val="tx2"/>
                          </a:solidFill>
                        </a:rPr>
                        <a:t xml:space="preserve">(Nr. 38)</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e-DE"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de-DE"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24335">
                <a:tc rowSpan="2">
                  <a:txBody>
                    <a:bodyPr/>
                    <a:lstStyle/>
                    <a:p>
                      <a:r>
                        <a:rPr lang="de-DE" sz="806" b="0" noProof="0">
                          <a:solidFill>
                            <a:schemeClr val="tx2"/>
                          </a:solidFill>
                        </a:rPr>
                        <a:t xml:space="preserve">Mein Unternehmen wendet Kreislaufgrundsätze an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e-DE" sz="806" b="1" noProof="0">
                          <a:solidFill>
                            <a:schemeClr val="tx2"/>
                          </a:solidFill>
                        </a:rPr>
                        <a:t xml:space="preserve">Ja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e-DE" sz="806" b="1" noProof="0">
                          <a:solidFill>
                            <a:schemeClr val="tx2"/>
                          </a:solidFill>
                        </a:rPr>
                        <a:t xml:space="preserve">Nein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85898">
                <a:tc v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e-DE" sz="806" b="0" i="0" u="none" strike="noStrike" noProof="0">
                          <a:solidFill>
                            <a:srgbClr val="1B4528"/>
                          </a:solidFill>
                          <a:effectLst/>
                          <a:latin typeface="Inter"/>
                        </a:rPr>
                        <a:t>{{circular_economy_princples_yes}}</a:t>
                      </a:r>
                      <a:endParaRPr lang="de-DE"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de-DE" sz="806" b="0" i="0" u="none" strike="noStrike" noProof="0">
                          <a:solidFill>
                            <a:srgbClr val="1B4528"/>
                          </a:solidFill>
                          <a:effectLst/>
                          <a:latin typeface="Inter"/>
                        </a:rPr>
                        <a:t>{{circular_economy_princples_no?}}</a:t>
                      </a:r>
                      <a:endParaRPr lang="de-DE" sz="806"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4" name="Tekstfelt 13">
            <a:extLst>
              <a:ext uri="{FF2B5EF4-FFF2-40B4-BE49-F238E27FC236}">
                <a16:creationId xmlns:a16="http://schemas.microsoft.com/office/drawing/2014/main" id="{C277F934-C96A-D8A6-5040-970AFDDF7CBA}"/>
              </a:ext>
            </a:extLst>
          </p:cNvPr>
          <p:cNvSpPr txBox="1"/>
          <p:nvPr/>
        </p:nvSpPr>
        <p:spPr>
          <a:xfrm>
            <a:off x="411480" y="7565828"/>
            <a:ext cx="3295368" cy="692470"/>
          </a:xfrm>
          <a:prstGeom prst="rect">
            <a:avLst/>
          </a:prstGeom>
          <a:noFill/>
        </p:spPr>
        <p:txBody>
          <a:bodyPr wrap="square" lIns="76197" tIns="38098" rIns="76197" bIns="38098" anchor="t">
            <a:spAutoFit/>
          </a:bodyPr>
          <a:lstStyle/>
          <a:p>
            <a:pPr rtl="0">
              <a:buNone/>
            </a:pPr>
            <a:r>
              <a:rPr lang="de-DE" sz="806" b="0" i="0" u="none" strike="noStrike" noProof="0">
                <a:solidFill>
                  <a:schemeClr val="tx2"/>
                </a:solidFill>
                <a:effectLst/>
                <a:latin typeface="Inter"/>
              </a:rPr>
              <a:t xml:space="preserve">Diese Angabepflicht informiert darüber, ob das Unternehmen</a:t>
            </a:r>
            <a:r>
              <a:rPr lang="de-DE" sz="806" noProof="0">
                <a:solidFill>
                  <a:schemeClr val="tx2"/>
                </a:solidFill>
                <a:latin typeface="Inter"/>
              </a:rPr>
              <a:t xml:space="preserve"> die Grundsätze der Kreislaufwirtschaft anwendet, u. a. Grundsätze zur Verringerung von Abfall und Umweltverschmutzung sowie einen Fokus auf kreislauffähige Produkte und Materialien.</a:t>
            </a:r>
          </a:p>
        </p:txBody>
      </p:sp>
      <p:graphicFrame>
        <p:nvGraphicFramePr>
          <p:cNvPr id="19" name="Table 2">
            <a:extLst>
              <a:ext uri="{FF2B5EF4-FFF2-40B4-BE49-F238E27FC236}">
                <a16:creationId xmlns:a16="http://schemas.microsoft.com/office/drawing/2014/main" id="{8505FDBE-A563-0A36-5C55-C4AD815DDDED}"/>
              </a:ext>
            </a:extLst>
          </p:cNvPr>
          <p:cNvGraphicFramePr>
            <a:graphicFrameLocks noGrp="1"/>
          </p:cNvGraphicFramePr>
          <p:nvPr>
            <p:extLst>
              <p:ext uri="{D42A27DB-BD31-4B8C-83A1-F6EECF244321}">
                <p14:modId xmlns:p14="http://schemas.microsoft.com/office/powerpoint/2010/main" val="3948212178"/>
              </p:ext>
            </p:extLst>
          </p:nvPr>
        </p:nvGraphicFramePr>
        <p:xfrm>
          <a:off x="411480" y="8694093"/>
          <a:ext cx="6737040" cy="972231"/>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56127">
                <a:tc>
                  <a:txBody>
                    <a:bodyPr/>
                    <a:lstStyle/>
                    <a:p>
                      <a:r>
                        <a:rPr lang="de-DE" sz="806" b="1" noProof="0">
                          <a:solidFill>
                            <a:schemeClr val="tx2"/>
                          </a:solidFill>
                        </a:rPr>
                        <a:t xml:space="preserve">Beschreibung, wie das Unternehmen die Grundsätze der Kreislaufwirtschaft anwendet </a:t>
                      </a:r>
                      <a:r>
                        <a:rPr lang="de-DE" sz="806" b="0" noProof="0">
                          <a:solidFill>
                            <a:schemeClr val="tx2"/>
                          </a:solidFill>
                        </a:rPr>
                        <a:t xml:space="preserve">(Nr. 38 Fortsetzung)</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786630">
                <a:tc>
                  <a:txBody>
                    <a:bodyPr/>
                    <a:lstStyle/>
                    <a:p>
                      <a:pPr algn="l"/>
                      <a:r>
                        <a:rPr lang="de-DE" sz="806" b="0" kern="1200" noProof="0">
                          <a:solidFill>
                            <a:srgbClr val="1B4528"/>
                          </a:solidFill>
                          <a:latin typeface="+mn-lt"/>
                          <a:ea typeface="+mn-ea"/>
                          <a:cs typeface="+mn-cs"/>
                        </a:rPr>
                        <a:t>{{</a:t>
                      </a:r>
                      <a:r>
                        <a:rPr lang="de-DE" sz="806" b="0" kern="1200" noProof="0">
                          <a:solidFill>
                            <a:srgbClr val="1B4528"/>
                          </a:solidFill>
                          <a:latin typeface="+mn-lt"/>
                          <a:ea typeface="+mn-ea"/>
                          <a:cs typeface="+mn-cs"/>
                        </a:rPr>
                        <a:t>description_of_circular_economies</a:t>
                      </a:r>
                      <a:r>
                        <a:rPr lang="de-DE" sz="806" b="0" kern="1200" noProof="0">
                          <a:solidFill>
                            <a:srgbClr val="1B4528"/>
                          </a:solidFill>
                          <a:latin typeface="+mn-lt"/>
                          <a:ea typeface="+mn-ea"/>
                          <a:cs typeface="+mn-cs"/>
                        </a:rPr>
                        <a:t>}}</a:t>
                      </a:r>
                    </a:p>
                    <a:p>
                      <a:pPr algn="l"/>
                      <a:endParaRPr lang="de-DE" sz="806" b="0" kern="1200" noProof="0" dirty="0">
                        <a:solidFill>
                          <a:srgbClr val="1B4528"/>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20" name="Slide Number Placeholder 5">
            <a:extLst>
              <a:ext uri="{FF2B5EF4-FFF2-40B4-BE49-F238E27FC236}">
                <a16:creationId xmlns:a16="http://schemas.microsoft.com/office/drawing/2014/main" id="{807FF15E-F555-86DB-24C3-D51ED88AD423}"/>
              </a:ext>
              <a:ext uri="{C183D7F6-B498-43B3-948B-1728B52AA6E4}">
                <adec:decorative xmlns:adec="http://schemas.microsoft.com/office/drawing/2017/decorative" val="1"/>
              </a:ext>
            </a:extLst>
          </p:cNvPr>
          <p:cNvSpPr>
            <a:spLocks noGrp="1"/>
          </p:cNvSpPr>
          <p:nvPr>
            <p:ph type="sldNum" sz="quarter" idx="12"/>
          </p:nvPr>
        </p:nvSpPr>
        <p:spPr>
          <a:xfrm>
            <a:off x="5531035" y="10152285"/>
            <a:ext cx="1617485" cy="128235"/>
          </a:xfrm>
        </p:spPr>
        <p:txBody>
          <a:bodyPr/>
          <a:lstStyle/>
          <a:p>
            <a:fld id="{5A0D23CF-C5A3-5445-819D-C647D180BB4B}" type="slidenum">
              <a:rPr lang="de-DE" noProof="0" smtClean="0"/>
              <a:pPr/>
              <a:t>6</a:t>
            </a:fld>
            <a:endParaRPr lang="de-DE" noProof="0"/>
          </a:p>
        </p:txBody>
      </p:sp>
    </p:spTree>
    <p:extLst>
      <p:ext uri="{BB962C8B-B14F-4D97-AF65-F5344CB8AC3E}">
        <p14:creationId xmlns:p14="http://schemas.microsoft.com/office/powerpoint/2010/main" val="2705646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e-DE" noProof="0"/>
              <a:t xml:space="preserve">Ressourcennutzung, Kreislaufwirtschaft und Abfallbewirtschaftung (B7) – Fortsetzung</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706275317"/>
              </p:ext>
            </p:extLst>
          </p:nvPr>
        </p:nvGraphicFramePr>
        <p:xfrm>
          <a:off x="411480" y="2279479"/>
          <a:ext cx="6596000" cy="1615286"/>
        </p:xfrm>
        <a:graphic>
          <a:graphicData uri="http://schemas.openxmlformats.org/drawingml/2006/table">
            <a:tbl>
              <a:tblPr firstRow="1">
                <a:tableStyleId>{2A488322-F2BA-4B5B-9748-0D474271808F}</a:tableStyleId>
              </a:tblPr>
              <a:tblGrid>
                <a:gridCol w="2044249">
                  <a:extLst>
                    <a:ext uri="{9D8B030D-6E8A-4147-A177-3AD203B41FA5}">
                      <a16:colId xmlns:a16="http://schemas.microsoft.com/office/drawing/2014/main" val="2698153288"/>
                    </a:ext>
                  </a:extLst>
                </a:gridCol>
                <a:gridCol w="2284259">
                  <a:extLst>
                    <a:ext uri="{9D8B030D-6E8A-4147-A177-3AD203B41FA5}">
                      <a16:colId xmlns:a16="http://schemas.microsoft.com/office/drawing/2014/main" val="2119413191"/>
                    </a:ext>
                  </a:extLst>
                </a:gridCol>
                <a:gridCol w="2267492">
                  <a:extLst>
                    <a:ext uri="{9D8B030D-6E8A-4147-A177-3AD203B41FA5}">
                      <a16:colId xmlns:a16="http://schemas.microsoft.com/office/drawing/2014/main" val="4075157689"/>
                    </a:ext>
                  </a:extLst>
                </a:gridCol>
              </a:tblGrid>
              <a:tr h="273819">
                <a:tc gridSpan="3">
                  <a:txBody>
                    <a:bodyPr/>
                    <a:lstStyle/>
                    <a:p>
                      <a:pPr algn="ctr"/>
                      <a:r>
                        <a:rPr lang="de-DE" sz="975" b="1" noProof="0">
                          <a:solidFill>
                            <a:schemeClr val="tx2"/>
                          </a:solidFill>
                        </a:rPr>
                        <a:t xml:space="preserve">Jährliches Gesamtabfallaufkommen</a:t>
                      </a:r>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e-DE" sz="6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e-DE"/>
                    </a:p>
                  </a:txBody>
                  <a:tcPr/>
                </a:tc>
                <a:extLst>
                  <a:ext uri="{0D108BD9-81ED-4DB2-BD59-A6C34878D82A}">
                    <a16:rowId xmlns:a16="http://schemas.microsoft.com/office/drawing/2014/main" val="625231048"/>
                  </a:ext>
                </a:extLst>
              </a:tr>
              <a:tr h="286343">
                <a:tc>
                  <a:txBody>
                    <a:bodyPr/>
                    <a:lstStyle/>
                    <a:p>
                      <a:endParaRPr lang="de-DE"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e-DE" sz="975" b="1" noProof="0">
                          <a:solidFill>
                            <a:schemeClr val="tx2"/>
                          </a:solidFill>
                        </a:rPr>
                        <a:t xml:space="preserve">Gesamtabfallmenge </a:t>
                      </a:r>
                      <a:r>
                        <a:rPr lang="de-DE" sz="975" b="0" noProof="0">
                          <a:solidFill>
                            <a:schemeClr val="tx2"/>
                          </a:solidFill>
                        </a:rPr>
                        <a:t xml:space="preserve">(Nr. 39a)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e-DE" sz="975" b="1" noProof="0">
                          <a:solidFill>
                            <a:schemeClr val="tx2"/>
                          </a:solidFill>
                        </a:rPr>
                        <a:t xml:space="preserve">Abfälle, die zum Recycling oder zur Vorbereitung der Wiederverwendung umgeleitet werden </a:t>
                      </a:r>
                      <a:r>
                        <a:rPr lang="de-DE" sz="975" b="0" noProof="0">
                          <a:solidFill>
                            <a:schemeClr val="tx2"/>
                          </a:solidFill>
                        </a:rPr>
                        <a:t xml:space="preserve">(Nr. 39b)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340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1" noProof="0">
                          <a:solidFill>
                            <a:schemeClr val="tx2"/>
                          </a:solidFill>
                        </a:rPr>
                        <a:t xml:space="preserve">Nicht gefährliche Abfälle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3316940764"/>
                  </a:ext>
                </a:extLst>
              </a:tr>
              <a:tr h="194713">
                <a:tc>
                  <a:txBody>
                    <a:bodyPr/>
                    <a:lstStyle/>
                    <a:p>
                      <a:pPr rtl="0" fontAlgn="ctr" algn="l">
                        <a:buNone/>
                      </a:pPr>
                      <a:r>
                        <a:rPr lang="de-DE" sz="975" b="0" i="0" u="none" strike="noStrike" noProof="0">
                          <a:solidFill>
                            <a:srgbClr val="1B4528"/>
                          </a:solidFill>
                          <a:effectLst/>
                          <a:latin typeface="Inter"/>
                        </a:rPr>
                        <a:t>{{Type_af_affald}}</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nter"/>
                        </a:rPr>
                        <a:t>{{kg_tons_total}}</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e-DE" sz="975" b="0" i="0" u="none" strike="noStrike" noProof="0">
                          <a:solidFill>
                            <a:srgbClr val="1B4528"/>
                          </a:solidFill>
                          <a:effectLst/>
                          <a:latin typeface="Inter"/>
                        </a:rPr>
                        <a:t>{{genbrug_kg_tons}}</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12229">
                <a:tc>
                  <a:txBody>
                    <a:bodyPr/>
                    <a:lstStyle/>
                    <a:p>
                      <a:r>
                        <a:rPr lang="de-DE" sz="975" b="1" noProof="0">
                          <a:solidFill>
                            <a:schemeClr val="tx2"/>
                          </a:solidFill>
                        </a:rPr>
                        <a:t xml:space="preserve">Gefährliche Abfälle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e-DE"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69942695"/>
                  </a:ext>
                </a:extLst>
              </a:tr>
              <a:tr h="194713">
                <a:tc>
                  <a:txBody>
                    <a:bodyPr/>
                    <a:lstStyle/>
                    <a:p>
                      <a:pPr rtl="0" fontAlgn="ctr" algn="l">
                        <a:buNone/>
                      </a:pPr>
                      <a:r>
                        <a:rPr lang="de-DE" sz="975" b="0" i="0" u="none" strike="noStrike" noProof="0">
                          <a:solidFill>
                            <a:srgbClr val="1B4528"/>
                          </a:solidFill>
                          <a:effectLst/>
                          <a:latin typeface="Inter"/>
                        </a:rPr>
                        <a:t>{{Type_af_affald_farlig}}</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nter"/>
                        </a:rPr>
                        <a:t>{{farlig_kg_tons}}</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e-DE" sz="975" b="0" i="0" u="none" strike="noStrike" noProof="0">
                          <a:solidFill>
                            <a:srgbClr val="1B4528"/>
                          </a:solidFill>
                          <a:effectLst/>
                          <a:latin typeface="Inter"/>
                        </a:rPr>
                        <a:t>{{</a:t>
                      </a:r>
                      <a:r>
                        <a:rPr lang="de-DE" sz="975" b="0" i="0" u="none" strike="noStrike" noProof="0">
                          <a:solidFill>
                            <a:srgbClr val="1B4528"/>
                          </a:solidFill>
                          <a:effectLst/>
                          <a:latin typeface="Inter"/>
                        </a:rPr>
                        <a:t>farlig_genbrug_kg_tons</a:t>
                      </a:r>
                      <a:r>
                        <a:rPr lang="de-DE" sz="975" b="0" i="0" u="none" strike="noStrike" noProof="0">
                          <a:solidFill>
                            <a:srgbClr val="1B4528"/>
                          </a:solidFill>
                          <a:effectLst/>
                          <a:latin typeface="Inter"/>
                        </a:rPr>
                        <a:t>}}</a:t>
                      </a:r>
                      <a:endParaRPr lang="de-DE"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02232709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e-DE" noProof="0" smtClean="0"/>
              <a:pPr/>
              <a:t>7</a:t>
            </a:fld>
            <a:endParaRPr lang="de-DE"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{{company_name}}</a:t>
            </a:r>
            <a:endParaRPr lang="de-DE" b="0" noProof="0"/>
          </a:p>
          <a:p>
            <a:br>
              <a:rPr lang="de-DE" noProof="0"/>
            </a:br>
            <a:endParaRPr lang="de-DE" noProof="0"/>
          </a:p>
        </p:txBody>
      </p:sp>
      <p:sp>
        <p:nvSpPr>
          <p:cNvPr id="12" name="Tekstfelt 11">
            <a:extLst>
              <a:ext uri="{FF2B5EF4-FFF2-40B4-BE49-F238E27FC236}">
                <a16:creationId xmlns:a16="http://schemas.microsoft.com/office/drawing/2014/main" id="{482E45A0-0E1E-550D-794B-89296A5D4E7E}"/>
              </a:ext>
            </a:extLst>
          </p:cNvPr>
          <p:cNvSpPr txBox="1"/>
          <p:nvPr/>
        </p:nvSpPr>
        <p:spPr>
          <a:xfrm>
            <a:off x="411480" y="1436370"/>
            <a:ext cx="6737040" cy="384705"/>
          </a:xfrm>
          <a:prstGeom prst="rect">
            <a:avLst/>
          </a:prstGeom>
          <a:noFill/>
        </p:spPr>
        <p:txBody>
          <a:bodyPr wrap="square">
            <a:spAutoFit/>
          </a:bodyPr>
          <a:lstStyle/>
          <a:p>
            <a:pPr rtl="0">
              <a:buNone/>
            </a:pPr>
            <a:r>
              <a:rPr lang="de-DE" sz="975" b="0" i="0" u="none" strike="noStrike" noProof="0">
                <a:solidFill>
                  <a:schemeClr val="tx2"/>
                </a:solidFill>
                <a:effectLst/>
                <a:latin typeface="Inter"/>
              </a:rPr>
              <a:t xml:space="preserve">Der folgende Abschnitt enthält Informationen über den Materialverbrauch und die Abfallbewirtschaftung. Die Informationen beziehen sich auf die Kreislaufwirtschaft und zeigen, wie sich das jährliche Gesamtabfallaufkommen des Unternehmens (gefährlich/nicht gefährlich) aufteilt; ebenso werden die Mengen relevanter Materialien angegeben. </a:t>
            </a:r>
            <a:endParaRPr lang="de-DE" sz="975" noProof="0">
              <a:solidFill>
                <a:schemeClr val="tx2"/>
              </a:solidFill>
              <a:latin typeface="Inter"/>
            </a:endParaRPr>
          </a:p>
        </p:txBody>
      </p:sp>
      <p:graphicFrame>
        <p:nvGraphicFramePr>
          <p:cNvPr id="15" name="Table 12">
            <a:extLst>
              <a:ext uri="{FF2B5EF4-FFF2-40B4-BE49-F238E27FC236}">
                <a16:creationId xmlns:a16="http://schemas.microsoft.com/office/drawing/2014/main" id="{D0A6EC25-74E1-FBFB-6875-6CDF69A95318}"/>
              </a:ext>
            </a:extLst>
          </p:cNvPr>
          <p:cNvGraphicFramePr>
            <a:graphicFrameLocks noGrp="1"/>
          </p:cNvGraphicFramePr>
          <p:nvPr>
            <p:extLst>
              <p:ext uri="{D42A27DB-BD31-4B8C-83A1-F6EECF244321}">
                <p14:modId xmlns:p14="http://schemas.microsoft.com/office/powerpoint/2010/main" val="3083849396"/>
              </p:ext>
            </p:extLst>
          </p:nvPr>
        </p:nvGraphicFramePr>
        <p:xfrm>
          <a:off x="415509" y="4169114"/>
          <a:ext cx="6583504" cy="741928"/>
        </p:xfrm>
        <a:graphic>
          <a:graphicData uri="http://schemas.openxmlformats.org/drawingml/2006/table">
            <a:tbl>
              <a:tblPr firstRow="1">
                <a:tableStyleId>{2A488322-F2BA-4B5B-9748-0D474271808F}</a:tableStyleId>
              </a:tblPr>
              <a:tblGrid>
                <a:gridCol w="4223962">
                  <a:extLst>
                    <a:ext uri="{9D8B030D-6E8A-4147-A177-3AD203B41FA5}">
                      <a16:colId xmlns:a16="http://schemas.microsoft.com/office/drawing/2014/main" val="2698153288"/>
                    </a:ext>
                  </a:extLst>
                </a:gridCol>
                <a:gridCol w="2359542">
                  <a:extLst>
                    <a:ext uri="{9D8B030D-6E8A-4147-A177-3AD203B41FA5}">
                      <a16:colId xmlns:a16="http://schemas.microsoft.com/office/drawing/2014/main" val="2119413191"/>
                    </a:ext>
                  </a:extLst>
                </a:gridCol>
              </a:tblGrid>
              <a:tr h="360553">
                <a:tc>
                  <a:txBody>
                    <a:bodyPr/>
                    <a:lstStyle/>
                    <a:p>
                      <a:r>
                        <a:rPr lang="de-DE" sz="975" b="1" noProof="0">
                          <a:solidFill>
                            <a:schemeClr val="tx2"/>
                          </a:solidFill>
                        </a:rPr>
                        <a:t xml:space="preserve">Relevante Materialien </a:t>
                      </a:r>
                      <a:r>
                        <a:rPr lang="de-DE" sz="975" b="0" noProof="0">
                          <a:solidFill>
                            <a:schemeClr val="tx2"/>
                          </a:solidFill>
                        </a:rPr>
                        <a:t xml:space="preserve">(Nr. 39c)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e-DE" sz="975" b="1" noProof="0">
                          <a:solidFill>
                            <a:schemeClr val="tx2"/>
                          </a:solidFill>
                        </a:rPr>
                        <a:t xml:space="preserve">Jährlicher Massenstrom </a:t>
                      </a:r>
                      <a:r>
                        <a:rPr lang="de-DE" sz="975" b="1" noProof="0">
                          <a:solidFill>
                            <a:srgbClr val="1B4528"/>
                          </a:solidFill>
                        </a:rPr>
                        <a:t>{{insert_year}}</a:t>
                      </a:r>
                      <a:endParaRPr lang="de-DE"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81375">
                <a:tc>
                  <a:txBody>
                    <a:bodyPr/>
                    <a:lstStyle/>
                    <a:p>
                      <a:pPr algn="l"/>
                      <a:r>
                        <a:rPr lang="de-DE" sz="975" b="0" i="0" u="none" strike="noStrike" noProof="0">
                          <a:solidFill>
                            <a:srgbClr val="1B4528"/>
                          </a:solidFill>
                          <a:latin typeface="Inter"/>
                        </a:rPr>
                        <a:t>{{significant_material}}</a:t>
                      </a:r>
                      <a:endParaRPr lang="de-DE" sz="975" b="0" noProof="0">
                        <a:solidFill>
                          <a:srgbClr val="1B4528"/>
                        </a:solidFill>
                        <a:latin typeface="Inter"/>
                        <a:cs typeface="Calibri"/>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de-DE" sz="975" b="0" i="0" u="none" strike="noStrike" noProof="0">
                          <a:solidFill>
                            <a:srgbClr val="1B4528"/>
                          </a:solidFill>
                          <a:latin typeface="Inter"/>
                        </a:rPr>
                        <a:t>{{</a:t>
                      </a:r>
                      <a:r>
                        <a:rPr lang="de-DE" sz="975" b="0" i="0" u="none" strike="noStrike" noProof="0">
                          <a:solidFill>
                            <a:srgbClr val="1B4528"/>
                          </a:solidFill>
                          <a:latin typeface="Inter"/>
                        </a:rPr>
                        <a:t>significant_material_unit</a:t>
                      </a:r>
                      <a:r>
                        <a:rPr lang="de-DE" sz="975" b="0" i="0" u="none" strike="noStrike" noProof="0">
                          <a:solidFill>
                            <a:srgbClr val="1B4528"/>
                          </a:solidFill>
                          <a:latin typeface="Inter"/>
                        </a:rPr>
                        <a:t>}}</a:t>
                      </a:r>
                      <a:endParaRPr lang="de-DE" sz="975" b="0" i="0" u="none" strike="noStrike" noProof="0" dirty="0">
                        <a:solidFill>
                          <a:srgbClr val="000000"/>
                        </a:solidFill>
                        <a:latin typeface="Inter"/>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Tree>
    <p:extLst>
      <p:ext uri="{BB962C8B-B14F-4D97-AF65-F5344CB8AC3E}">
        <p14:creationId xmlns:p14="http://schemas.microsoft.com/office/powerpoint/2010/main" val="2096508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e-DE" noProof="0"/>
              <a:t xml:space="preserve">Eigene Arbeitskräfte: Allgemeine Merkmale (B8) </a:t>
            </a:r>
          </a:p>
        </p:txBody>
      </p:sp>
      <p:graphicFrame>
        <p:nvGraphicFramePr>
          <p:cNvPr id="8" name="Table 7">
            <a:extLst>
              <a:ext uri="{FF2B5EF4-FFF2-40B4-BE49-F238E27FC236}">
                <a16:creationId xmlns:a16="http://schemas.microsoft.com/office/drawing/2014/main" id="{CE6D2864-50B1-0967-9DFF-408DD8B377E5}"/>
              </a:ext>
            </a:extLst>
          </p:cNvPr>
          <p:cNvGraphicFramePr>
            <a:graphicFrameLocks noGrp="1"/>
          </p:cNvGraphicFramePr>
          <p:nvPr>
            <p:extLst>
              <p:ext uri="{D42A27DB-BD31-4B8C-83A1-F6EECF244321}">
                <p14:modId xmlns:p14="http://schemas.microsoft.com/office/powerpoint/2010/main" val="3894231013"/>
              </p:ext>
            </p:extLst>
          </p:nvPr>
        </p:nvGraphicFramePr>
        <p:xfrm>
          <a:off x="411480" y="2164682"/>
          <a:ext cx="3295368" cy="1720837"/>
        </p:xfrm>
        <a:graphic>
          <a:graphicData uri="http://schemas.openxmlformats.org/drawingml/2006/table">
            <a:tbl>
              <a:tblPr firstRow="1">
                <a:tableStyleId>{2A488322-F2BA-4B5B-9748-0D474271808F}</a:tableStyleId>
              </a:tblPr>
              <a:tblGrid>
                <a:gridCol w="1647684">
                  <a:extLst>
                    <a:ext uri="{9D8B030D-6E8A-4147-A177-3AD203B41FA5}">
                      <a16:colId xmlns:a16="http://schemas.microsoft.com/office/drawing/2014/main" val="2698153288"/>
                    </a:ext>
                  </a:extLst>
                </a:gridCol>
                <a:gridCol w="1647684">
                  <a:extLst>
                    <a:ext uri="{9D8B030D-6E8A-4147-A177-3AD203B41FA5}">
                      <a16:colId xmlns:a16="http://schemas.microsoft.com/office/drawing/2014/main" val="2119413191"/>
                    </a:ext>
                  </a:extLst>
                </a:gridCol>
              </a:tblGrid>
              <a:tr h="638602">
                <a:tc>
                  <a:txBody>
                    <a:bodyPr/>
                    <a:lstStyle/>
                    <a:p>
                      <a:r>
                        <a:rPr lang="de-DE" sz="975" b="1" noProof="0">
                          <a:solidFill>
                            <a:schemeClr val="tx2"/>
                          </a:solidFill>
                        </a:rPr>
                        <a:t xml:space="preserve">Art des Arbeitsvertrags </a:t>
                      </a:r>
                      <a:r>
                        <a:rPr lang="de-DE" sz="975" b="0" noProof="0">
                          <a:solidFill>
                            <a:schemeClr val="tx2"/>
                          </a:solidFill>
                        </a:rPr>
                        <a:t xml:space="preserve">(Nr. 40a)</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e-DE" sz="975" b="1" noProof="0">
                          <a:solidFill>
                            <a:schemeClr val="tx2"/>
                          </a:solidFill>
                        </a:rPr>
                        <a:t xml:space="preserve">Zahl der Beschäftigten (Anzahl der Personen oder Vollzeitäquivalente)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57699">
                <a:tc>
                  <a:txBody>
                    <a:bodyPr/>
                    <a:lstStyle/>
                    <a:p>
                      <a:r>
                        <a:rPr lang="de-DE" sz="975" b="0" noProof="0">
                          <a:solidFill>
                            <a:schemeClr val="tx2"/>
                          </a:solidFill>
                        </a:rPr>
                        <a:t xml:space="preserve">Befristete Beschäftigung</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nter"/>
                        </a:rPr>
                        <a:t>{{temporary}}</a:t>
                      </a:r>
                      <a:endParaRPr lang="de-DE"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366837">
                <a:tc>
                  <a:txBody>
                    <a:bodyPr/>
                    <a:lstStyle/>
                    <a:p>
                      <a:r>
                        <a:rPr lang="de-DE" sz="975" b="0" noProof="0">
                          <a:solidFill>
                            <a:schemeClr val="tx2"/>
                          </a:solidFill>
                        </a:rPr>
                        <a:t xml:space="preserve">Unbefristete Beschäftigung</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nter"/>
                        </a:rPr>
                        <a:t>{{fulltime}}</a:t>
                      </a:r>
                      <a:endParaRPr lang="de-DE"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57699">
                <a:tc>
                  <a:txBody>
                    <a:bodyPr/>
                    <a:lstStyle/>
                    <a:p>
                      <a:r>
                        <a:rPr lang="de-DE" sz="975" b="0" noProof="0">
                          <a:solidFill>
                            <a:schemeClr val="tx2"/>
                          </a:solidFill>
                        </a:rPr>
                        <a:t xml:space="preserve">Beschäftigte insgesamt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nter"/>
                        </a:rPr>
                        <a:t>{{total_employees}}</a:t>
                      </a:r>
                      <a:endParaRPr lang="de-DE"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bl>
          </a:graphicData>
        </a:graphic>
      </p:graphicFrame>
      <p:graphicFrame>
        <p:nvGraphicFramePr>
          <p:cNvPr id="9" name="Table 8">
            <a:extLst>
              <a:ext uri="{FF2B5EF4-FFF2-40B4-BE49-F238E27FC236}">
                <a16:creationId xmlns:a16="http://schemas.microsoft.com/office/drawing/2014/main" id="{746843BE-938A-9316-3C8E-320134DF837C}"/>
              </a:ext>
            </a:extLst>
          </p:cNvPr>
          <p:cNvGraphicFramePr>
            <a:graphicFrameLocks noGrp="1"/>
          </p:cNvGraphicFramePr>
          <p:nvPr>
            <p:extLst>
              <p:ext uri="{D42A27DB-BD31-4B8C-83A1-F6EECF244321}">
                <p14:modId xmlns:p14="http://schemas.microsoft.com/office/powerpoint/2010/main" val="3482765489"/>
              </p:ext>
            </p:extLst>
          </p:nvPr>
        </p:nvGraphicFramePr>
        <p:xfrm>
          <a:off x="3853152" y="2164686"/>
          <a:ext cx="3295368" cy="1720833"/>
        </p:xfrm>
        <a:graphic>
          <a:graphicData uri="http://schemas.openxmlformats.org/drawingml/2006/table">
            <a:tbl>
              <a:tblPr firstRow="1">
                <a:tableStyleId>{2A488322-F2BA-4B5B-9748-0D474271808F}</a:tableStyleId>
              </a:tblPr>
              <a:tblGrid>
                <a:gridCol w="1647684">
                  <a:extLst>
                    <a:ext uri="{9D8B030D-6E8A-4147-A177-3AD203B41FA5}">
                      <a16:colId xmlns:a16="http://schemas.microsoft.com/office/drawing/2014/main" val="2698153288"/>
                    </a:ext>
                  </a:extLst>
                </a:gridCol>
                <a:gridCol w="1647684">
                  <a:extLst>
                    <a:ext uri="{9D8B030D-6E8A-4147-A177-3AD203B41FA5}">
                      <a16:colId xmlns:a16="http://schemas.microsoft.com/office/drawing/2014/main" val="2119413191"/>
                    </a:ext>
                  </a:extLst>
                </a:gridCol>
              </a:tblGrid>
              <a:tr h="520883">
                <a:tc>
                  <a:txBody>
                    <a:bodyPr/>
                    <a:lstStyle/>
                    <a:p>
                      <a:r>
                        <a:rPr lang="de-DE" sz="975" b="1" noProof="0">
                          <a:solidFill>
                            <a:schemeClr val="tx2"/>
                          </a:solidFill>
                          <a:latin typeface="+mn-lt"/>
                        </a:rPr>
                        <a:t xml:space="preserve">Geschlecht</a:t>
                      </a:r>
                      <a:r>
                        <a:rPr lang="de-DE" sz="975" b="0" noProof="0">
                          <a:solidFill>
                            <a:schemeClr val="tx2"/>
                          </a:solidFill>
                          <a:latin typeface="+mn-lt"/>
                        </a:rPr>
                        <a:t xml:space="preserve"> (Nr. 40b)</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e-DE" sz="975" b="1" noProof="0">
                          <a:solidFill>
                            <a:schemeClr val="tx2"/>
                          </a:solidFill>
                          <a:latin typeface="+mn-lt"/>
                        </a:rPr>
                        <a:t xml:space="preserve">Zahl der Beschäftigten (Anzahl der Personen oder Vollzeitäquivalente)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a:txBody>
                    <a:bodyPr/>
                    <a:lstStyle/>
                    <a:p>
                      <a:r>
                        <a:rPr lang="de-DE" sz="975" b="0" noProof="0">
                          <a:solidFill>
                            <a:schemeClr val="tx2"/>
                          </a:solidFill>
                          <a:latin typeface="+mn-lt"/>
                        </a:rPr>
                        <a:t xml:space="preserve">Männlich</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nter"/>
                        </a:rPr>
                        <a:t>{{men}}</a:t>
                      </a:r>
                      <a:endParaRPr lang="de-DE"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de-DE" sz="975" b="0" noProof="0">
                          <a:solidFill>
                            <a:schemeClr val="tx2"/>
                          </a:solidFill>
                          <a:latin typeface="+mn-lt"/>
                        </a:rPr>
                        <a:t xml:space="preserve">Weiblich</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nter"/>
                        </a:rPr>
                        <a:t>{{women}}</a:t>
                      </a:r>
                      <a:endParaRPr lang="de-DE"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r h="239990">
                <a:tc>
                  <a:txBody>
                    <a:bodyPr/>
                    <a:lstStyle/>
                    <a:p>
                      <a:r>
                        <a:rPr lang="de-DE" sz="975" b="0" noProof="0">
                          <a:solidFill>
                            <a:schemeClr val="tx2"/>
                          </a:solidFill>
                          <a:latin typeface="+mn-lt"/>
                        </a:rPr>
                        <a:t xml:space="preserve">Sonstiges</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nter"/>
                        </a:rPr>
                        <a:t>{{others}}</a:t>
                      </a:r>
                      <a:endParaRPr lang="de-DE"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r h="239990">
                <a:tc>
                  <a:txBody>
                    <a:bodyPr/>
                    <a:lstStyle/>
                    <a:p>
                      <a:r>
                        <a:rPr lang="de-DE" sz="975" b="0" noProof="0">
                          <a:solidFill>
                            <a:schemeClr val="tx2"/>
                          </a:solidFill>
                          <a:latin typeface="+mn-lt"/>
                        </a:rPr>
                        <a:t xml:space="preserve">Nicht erfasst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nter"/>
                        </a:rPr>
                        <a:t>{{not_registeret}}</a:t>
                      </a:r>
                      <a:endParaRPr lang="de-DE"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151098499"/>
                  </a:ext>
                </a:extLst>
              </a:tr>
              <a:tr h="239990">
                <a:tc>
                  <a:txBody>
                    <a:bodyPr/>
                    <a:lstStyle/>
                    <a:p>
                      <a:r>
                        <a:rPr lang="de-DE" sz="975" b="0" noProof="0">
                          <a:solidFill>
                            <a:schemeClr val="tx2"/>
                          </a:solidFill>
                          <a:latin typeface="+mn-lt"/>
                        </a:rPr>
                        <a:t xml:space="preserve">Beschäftigte insgesamt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nter"/>
                        </a:rPr>
                        <a:t>{{total_employees}}</a:t>
                      </a:r>
                      <a:endParaRPr lang="de-DE"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4190025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e-DE" noProof="0" smtClean="0"/>
              <a:pPr/>
              <a:t>8</a:t>
            </a:fld>
            <a:endParaRPr lang="de-DE"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{{company_name}}</a:t>
            </a:r>
            <a:endParaRPr lang="de-DE" b="0" noProof="0"/>
          </a:p>
          <a:p>
            <a:br>
              <a:rPr lang="de-DE" noProof="0"/>
            </a:br>
            <a:endParaRPr lang="de-DE" noProof="0"/>
          </a:p>
        </p:txBody>
      </p:sp>
      <p:sp>
        <p:nvSpPr>
          <p:cNvPr id="3" name="Tekstfelt 2">
            <a:extLst>
              <a:ext uri="{FF2B5EF4-FFF2-40B4-BE49-F238E27FC236}">
                <a16:creationId xmlns:a16="http://schemas.microsoft.com/office/drawing/2014/main" id="{B45D574B-3D14-8531-DB71-2FD2A411CD63}"/>
              </a:ext>
            </a:extLst>
          </p:cNvPr>
          <p:cNvSpPr txBox="1"/>
          <p:nvPr/>
        </p:nvSpPr>
        <p:spPr>
          <a:xfrm>
            <a:off x="411480" y="1189771"/>
            <a:ext cx="6737040" cy="692470"/>
          </a:xfrm>
          <a:prstGeom prst="rect">
            <a:avLst/>
          </a:prstGeom>
          <a:noFill/>
        </p:spPr>
        <p:txBody>
          <a:bodyPr wrap="square">
            <a:spAutoFit/>
          </a:bodyPr>
          <a:lstStyle/>
          <a:p>
            <a:pPr rtl="0">
              <a:buNone/>
            </a:pPr>
            <a:r>
              <a:rPr lang="de-DE" sz="975" b="0" i="0" u="none" strike="noStrike" noProof="0">
                <a:solidFill>
                  <a:srgbClr val="25595D"/>
                </a:solidFill>
                <a:effectLst/>
                <a:latin typeface="Inter"/>
              </a:rPr>
              <a:t xml:space="preserve">Das Unternehmen hat die Zahl der Beschäftigten zu folgenden Aufschlüsselungen angegeben: Art des Arbeitsvertrags, wobei die Beschäftigten nach befristeten und unbefristeten Verträgen unterteilt werden; Geschlecht, was Aufschluss über die Geschlechterverteilung unter den Beschäftigten gibt; und Land des Arbeitsvertrags, was relevant ist, wenn das Unternehmen in mehreren Ländern tätig ist.</a:t>
            </a:r>
            <a:endParaRPr lang="de-DE" sz="975" b="0" noProof="0">
              <a:effectLst/>
              <a:latin typeface="Inter"/>
            </a:endParaRPr>
          </a:p>
          <a:p>
            <a:pPr>
              <a:buNone/>
            </a:pPr>
            <a:br>
              <a:rPr lang="de-DE" sz="975" noProof="0">
                <a:latin typeface="Inter"/>
              </a:rPr>
            </a:br>
            <a:endParaRPr lang="de-DE" sz="975" noProof="0">
              <a:latin typeface="Inter"/>
            </a:endParaRPr>
          </a:p>
        </p:txBody>
      </p:sp>
      <p:graphicFrame>
        <p:nvGraphicFramePr>
          <p:cNvPr id="13" name="Table 13">
            <a:extLst>
              <a:ext uri="{FF2B5EF4-FFF2-40B4-BE49-F238E27FC236}">
                <a16:creationId xmlns:a16="http://schemas.microsoft.com/office/drawing/2014/main" id="{42F1F305-B426-7DDF-1FC3-46007564CD01}"/>
              </a:ext>
            </a:extLst>
          </p:cNvPr>
          <p:cNvGraphicFramePr>
            <a:graphicFrameLocks noGrp="1"/>
          </p:cNvGraphicFramePr>
          <p:nvPr>
            <p:extLst>
              <p:ext uri="{D42A27DB-BD31-4B8C-83A1-F6EECF244321}">
                <p14:modId xmlns:p14="http://schemas.microsoft.com/office/powerpoint/2010/main" val="2261046685"/>
              </p:ext>
            </p:extLst>
          </p:nvPr>
        </p:nvGraphicFramePr>
        <p:xfrm>
          <a:off x="411480" y="4271445"/>
          <a:ext cx="6737040" cy="1053148"/>
        </p:xfrm>
        <a:graphic>
          <a:graphicData uri="http://schemas.openxmlformats.org/drawingml/2006/table">
            <a:tbl>
              <a:tblPr firstRow="1">
                <a:tableStyleId>{2A488322-F2BA-4B5B-9748-0D474271808F}</a:tableStyleId>
              </a:tblPr>
              <a:tblGrid>
                <a:gridCol w="3601465">
                  <a:extLst>
                    <a:ext uri="{9D8B030D-6E8A-4147-A177-3AD203B41FA5}">
                      <a16:colId xmlns:a16="http://schemas.microsoft.com/office/drawing/2014/main" val="2698153288"/>
                    </a:ext>
                  </a:extLst>
                </a:gridCol>
                <a:gridCol w="3135575">
                  <a:extLst>
                    <a:ext uri="{9D8B030D-6E8A-4147-A177-3AD203B41FA5}">
                      <a16:colId xmlns:a16="http://schemas.microsoft.com/office/drawing/2014/main" val="2119413191"/>
                    </a:ext>
                  </a:extLst>
                </a:gridCol>
              </a:tblGrid>
              <a:tr h="239990">
                <a:tc>
                  <a:txBody>
                    <a:bodyPr/>
                    <a:lstStyle/>
                    <a:p>
                      <a:r>
                        <a:rPr lang="de-DE" sz="975" b="1" noProof="0">
                          <a:solidFill>
                            <a:schemeClr val="tx2"/>
                          </a:solidFill>
                        </a:rPr>
                        <a:t xml:space="preserve">Land (in dem der Arbeitsvertrag geschlossen wurde) </a:t>
                      </a:r>
                      <a:r>
                        <a:rPr lang="de-DE" sz="975" b="0" noProof="0">
                          <a:solidFill>
                            <a:schemeClr val="tx2"/>
                          </a:solidFill>
                        </a:rPr>
                        <a:t xml:space="preserve">(Nr. 40c)</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e-DE" sz="975" b="1" noProof="0">
                          <a:solidFill>
                            <a:schemeClr val="tx2"/>
                          </a:solidFill>
                        </a:rPr>
                        <a:t xml:space="preserve">Zahl der Beschäftigten (Anzahl der Personen oder Vollzeitäquivalente)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a:txBody>
                    <a:bodyPr/>
                    <a:lstStyle/>
                    <a:p>
                      <a:r>
                        <a:rPr lang="de-DE" sz="975" b="0" noProof="0">
                          <a:solidFill>
                            <a:schemeClr val="tx2"/>
                          </a:solidFill>
                        </a:rPr>
                        <a:t xml:space="preserve">Dänemark</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de-DE" sz="975" b="0" i="0" u="none" strike="noStrike" noProof="0">
                          <a:solidFill>
                            <a:srgbClr val="1B4528"/>
                          </a:solidFill>
                          <a:effectLst/>
                          <a:latin typeface="Inter"/>
                        </a:rPr>
                        <a:t>{{Denmark}}</a:t>
                      </a:r>
                      <a:endParaRPr lang="de-DE"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39990">
                <a:tc>
                  <a:txBody>
                    <a:bodyPr/>
                    <a:lstStyle/>
                    <a:p>
                      <a:pPr rtl="0" fontAlgn="ctr" algn="l">
                        <a:buNone/>
                      </a:pPr>
                      <a:r>
                        <a:rPr lang="de-DE" sz="975" b="0" i="0" u="none" strike="noStrike" noProof="0">
                          <a:solidFill>
                            <a:srgbClr val="1B4528"/>
                          </a:solidFill>
                          <a:effectLst/>
                          <a:latin typeface="Inter"/>
                        </a:rPr>
                        <a:t>{{Land_b}}</a:t>
                      </a:r>
                      <a:endParaRPr lang="de-DE"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de-DE" sz="975" b="0" i="0" u="none" strike="noStrike" noProof="0">
                          <a:solidFill>
                            <a:srgbClr val="1B4528"/>
                          </a:solidFill>
                          <a:effectLst/>
                          <a:latin typeface="Inter"/>
                        </a:rPr>
                        <a:t>{{</a:t>
                      </a:r>
                      <a:r>
                        <a:rPr lang="de-DE" sz="975" b="0" i="0" u="none" strike="noStrike" noProof="0">
                          <a:solidFill>
                            <a:srgbClr val="1B4528"/>
                          </a:solidFill>
                          <a:effectLst/>
                        </a:rPr>
                        <a:t>FTE_eller_antal_personer_land_b</a:t>
                      </a:r>
                      <a:r>
                        <a:rPr lang="de-DE" sz="975" b="0" i="0" u="none" strike="noStrike" noProof="0">
                          <a:solidFill>
                            <a:srgbClr val="1B4528"/>
                          </a:solidFill>
                          <a:effectLst/>
                          <a:latin typeface="Inter"/>
                        </a:rPr>
                        <a:t>}}</a:t>
                      </a:r>
                      <a:endParaRPr lang="de-DE"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de-DE" sz="975" b="0" noProof="0">
                          <a:solidFill>
                            <a:schemeClr val="tx2"/>
                          </a:solidFill>
                        </a:rPr>
                        <a:t xml:space="preserve">Beschäftigte insgesamt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e-DE" sz="975" b="0" i="0" u="none" strike="noStrike" noProof="0">
                          <a:solidFill>
                            <a:srgbClr val="1B4528"/>
                          </a:solidFill>
                          <a:effectLst/>
                          <a:latin typeface="Inter"/>
                        </a:rPr>
                        <a:t>{{Total_out_of_countries}}</a:t>
                      </a:r>
                      <a:endParaRPr lang="de-DE"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bl>
          </a:graphicData>
        </a:graphic>
      </p:graphicFrame>
    </p:spTree>
    <p:extLst>
      <p:ext uri="{BB962C8B-B14F-4D97-AF65-F5344CB8AC3E}">
        <p14:creationId xmlns:p14="http://schemas.microsoft.com/office/powerpoint/2010/main" val="2298971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e-DE" noProof="0"/>
              <a:t xml:space="preserve">Unternehmenspolitik: Anzahl der Verurteilungen und Geldstrafen wegen Korruption &amp; Bestechung (B11) </a:t>
            </a:r>
          </a:p>
        </p:txBody>
      </p:sp>
      <p:graphicFrame>
        <p:nvGraphicFramePr>
          <p:cNvPr id="22" name="Table 21">
            <a:extLst>
              <a:ext uri="{FF2B5EF4-FFF2-40B4-BE49-F238E27FC236}">
                <a16:creationId xmlns:a16="http://schemas.microsoft.com/office/drawing/2014/main" id="{AF65586E-0EF1-899A-1FCC-C083408ADE09}"/>
              </a:ext>
            </a:extLst>
          </p:cNvPr>
          <p:cNvGraphicFramePr>
            <a:graphicFrameLocks noGrp="1"/>
          </p:cNvGraphicFramePr>
          <p:nvPr>
            <p:extLst>
              <p:ext uri="{D42A27DB-BD31-4B8C-83A1-F6EECF244321}">
                <p14:modId xmlns:p14="http://schemas.microsoft.com/office/powerpoint/2010/main" val="2655272026"/>
              </p:ext>
            </p:extLst>
          </p:nvPr>
        </p:nvGraphicFramePr>
        <p:xfrm>
          <a:off x="411480" y="2556047"/>
          <a:ext cx="6737040" cy="509980"/>
        </p:xfrm>
        <a:graphic>
          <a:graphicData uri="http://schemas.openxmlformats.org/drawingml/2006/table">
            <a:tbl>
              <a:tblPr firstRow="1">
                <a:tableStyleId>{2A488322-F2BA-4B5B-9748-0D474271808F}</a:tableStyleId>
              </a:tblPr>
              <a:tblGrid>
                <a:gridCol w="2245680">
                  <a:extLst>
                    <a:ext uri="{9D8B030D-6E8A-4147-A177-3AD203B41FA5}">
                      <a16:colId xmlns:a16="http://schemas.microsoft.com/office/drawing/2014/main" val="2698153288"/>
                    </a:ext>
                  </a:extLst>
                </a:gridCol>
                <a:gridCol w="2245680">
                  <a:extLst>
                    <a:ext uri="{9D8B030D-6E8A-4147-A177-3AD203B41FA5}">
                      <a16:colId xmlns:a16="http://schemas.microsoft.com/office/drawing/2014/main" val="2119413191"/>
                    </a:ext>
                  </a:extLst>
                </a:gridCol>
                <a:gridCol w="2245680">
                  <a:extLst>
                    <a:ext uri="{9D8B030D-6E8A-4147-A177-3AD203B41FA5}">
                      <a16:colId xmlns:a16="http://schemas.microsoft.com/office/drawing/2014/main" val="1502960985"/>
                    </a:ext>
                  </a:extLst>
                </a:gridCol>
              </a:tblGrid>
              <a:tr h="254990">
                <a:tc rowSpan="2">
                  <a:txBody>
                    <a:bodyPr/>
                    <a:lstStyle/>
                    <a:p>
                      <a:r>
                        <a:rPr lang="de-DE" sz="975" b="1" noProof="0">
                          <a:solidFill>
                            <a:schemeClr val="tx2"/>
                          </a:solidFill>
                        </a:rPr>
                        <a:t xml:space="preserve">Korruption und Bestechung </a:t>
                      </a:r>
                      <a:r>
                        <a:rPr lang="de-DE" sz="975" b="0" noProof="0">
                          <a:solidFill>
                            <a:schemeClr val="tx2"/>
                          </a:solidFill>
                        </a:rPr>
                        <a:t xml:space="preserve">(Nr. 43)</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a:r>
                        <a:rPr lang="de-DE" sz="975" b="1" noProof="0">
                          <a:solidFill>
                            <a:schemeClr val="tx2"/>
                          </a:solidFill>
                        </a:rPr>
                        <a:t xml:space="preserve">Anzahl der Verurteilungen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e-DE" sz="975" b="1" noProof="0">
                          <a:solidFill>
                            <a:schemeClr val="tx2"/>
                          </a:solidFill>
                        </a:rPr>
                        <a:t xml:space="preserve">Gesamtbetrag der Geldstrafen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54990">
                <a:tc vMerge="1">
                  <a:txBody>
                    <a:bodyPr/>
                    <a:lstStyle/>
                    <a:p>
                      <a:endParaRPr lang="de-DE" sz="725"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de-DE" sz="975" b="0" i="0" u="none" strike="noStrike" noProof="0">
                          <a:solidFill>
                            <a:srgbClr val="1B4528"/>
                          </a:solidFill>
                          <a:effectLst/>
                          <a:latin typeface="Inter"/>
                        </a:rPr>
                        <a:t>{{domme}}</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de-DE" sz="975" b="0" i="0" u="none" strike="noStrike" noProof="0">
                          <a:solidFill>
                            <a:srgbClr val="1B4528"/>
                          </a:solidFill>
                          <a:effectLst/>
                          <a:latin typeface="Inter"/>
                        </a:rPr>
                        <a:t>{{samlet_bodestorrelse}}</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e-DE" noProof="0" smtClean="0"/>
              <a:pPr/>
              <a:t>9</a:t>
            </a:fld>
            <a:endParaRPr lang="de-DE"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{{company_name}}</a:t>
            </a:r>
            <a:endParaRPr lang="de-DE" b="0" noProof="0"/>
          </a:p>
          <a:p>
            <a:endParaRPr lang="de-DE" noProof="0"/>
          </a:p>
        </p:txBody>
      </p:sp>
      <p:sp>
        <p:nvSpPr>
          <p:cNvPr id="9" name="Tekstfelt 8">
            <a:extLst>
              <a:ext uri="{FF2B5EF4-FFF2-40B4-BE49-F238E27FC236}">
                <a16:creationId xmlns:a16="http://schemas.microsoft.com/office/drawing/2014/main" id="{18D9DD8E-27FC-601F-5895-E2455B4CB3B0}"/>
              </a:ext>
            </a:extLst>
          </p:cNvPr>
          <p:cNvSpPr txBox="1"/>
          <p:nvPr/>
        </p:nvSpPr>
        <p:spPr>
          <a:xfrm>
            <a:off x="411480" y="1445509"/>
            <a:ext cx="6737040" cy="846352"/>
          </a:xfrm>
          <a:prstGeom prst="rect">
            <a:avLst/>
          </a:prstGeom>
          <a:noFill/>
        </p:spPr>
        <p:txBody>
          <a:bodyPr wrap="square">
            <a:spAutoFit/>
          </a:bodyPr>
          <a:lstStyle/>
          <a:p>
            <a:pPr rtl="0">
              <a:buNone/>
            </a:pPr>
            <a:r>
              <a:rPr lang="de-DE" sz="975" b="0" i="0" u="none" strike="noStrike" noProof="0">
                <a:solidFill>
                  <a:schemeClr val="tx2"/>
                </a:solidFill>
                <a:effectLst/>
                <a:latin typeface="Inter"/>
              </a:rPr>
              <a:t xml:space="preserve">Das Unternehmen hat Verstöße gegen Vorschriften zur Bekämpfung von Korruption und Bestechung im Berichtszeitraum angegeben. War das Unternehmen an Verurteilungen oder Geldstrafen wegen solcher Verstöße beteiligt, wurden folgende Angaben offengelegt: Anzahl der Verurteilungen und Gesamtbetrag der verhängten Geldstrafen. Diese Angaben betreffen die Geschäftsethik und Nachhaltigkeit des Unternehmens, insbesondere den Umgang mit Korruption und Bestechung, und sind nachstehend aufgeführt.</a:t>
            </a:r>
            <a:endParaRPr lang="de-DE" sz="975" b="0" noProof="0">
              <a:solidFill>
                <a:schemeClr val="tx2"/>
              </a:solidFill>
              <a:effectLst/>
              <a:latin typeface="Inter"/>
            </a:endParaRPr>
          </a:p>
          <a:p>
            <a:pPr>
              <a:buNone/>
            </a:pPr>
            <a:br>
              <a:rPr lang="de-DE" sz="975" noProof="0">
                <a:solidFill>
                  <a:schemeClr val="tx2"/>
                </a:solidFill>
                <a:latin typeface="Inter"/>
              </a:rPr>
            </a:br>
            <a:endParaRPr lang="de-DE" sz="975" noProof="0">
              <a:solidFill>
                <a:schemeClr val="tx2"/>
              </a:solidFill>
              <a:latin typeface="Inter"/>
            </a:endParaRPr>
          </a:p>
        </p:txBody>
      </p:sp>
    </p:spTree>
    <p:extLst>
      <p:ext uri="{BB962C8B-B14F-4D97-AF65-F5344CB8AC3E}">
        <p14:creationId xmlns:p14="http://schemas.microsoft.com/office/powerpoint/2010/main" val="26821186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237B3177-8AE4-2BCB-D392-E3B969EBBB7B}"/>
              </a:ext>
            </a:extLst>
          </p:cNvPr>
          <p:cNvSpPr>
            <a:spLocks noGrp="1"/>
          </p:cNvSpPr>
          <p:nvPr>
            <p:ph idx="1"/>
          </p:nvPr>
        </p:nvSpPr>
        <p:spPr>
          <a:xfrm>
            <a:off x="411480" y="6007478"/>
            <a:ext cx="6737040" cy="861898"/>
          </a:xfrm>
          <a:noFill/>
        </p:spPr>
        <p:txBody>
          <a:bodyPr>
            <a:normAutofit/>
          </a:bodyPr>
          <a:lstStyle/>
          <a:p>
            <a:pPr algn="ctr"/>
            <a:r>
              <a:rPr lang="de-DE" sz="1475" b="1" noProof="0">
                <a:solidFill>
                  <a:srgbClr val="FFFFFF"/>
                </a:solidFill>
                <a:latin typeface="IBM Plex Sans" panose="020B0503050203000203" pitchFamily="34" charset="0"/>
              </a:rPr>
              <a:t>{{company_name}}</a:t>
            </a:r>
          </a:p>
          <a:p>
            <a:pPr algn="ctr"/>
            <a:r>
              <a:rPr lang="de-DE" sz="1475" b="1" noProof="0">
                <a:solidFill>
                  <a:srgbClr val="FFFFFF"/>
                </a:solidFill>
                <a:latin typeface="IBM Plex Sans" panose="020B0503050203000203" pitchFamily="34" charset="0"/>
              </a:rPr>
              <a:t>{{insert_year}}</a:t>
            </a:r>
            <a:br>
              <a:rPr lang="de-DE" sz="1475" b="1" noProof="0">
                <a:solidFill>
                  <a:srgbClr val="FFFFFF"/>
                </a:solidFill>
                <a:latin typeface="IBM Plex Sans" panose="020B0503050203000203" pitchFamily="34" charset="0"/>
              </a:rPr>
            </a:br>
            <a:endParaRPr lang="de-DE" sz="1475" noProof="0"/>
          </a:p>
        </p:txBody>
      </p:sp>
      <p:sp>
        <p:nvSpPr>
          <p:cNvPr id="4" name="Pladsholder til slidenummer 3">
            <a:extLst>
              <a:ext uri="{FF2B5EF4-FFF2-40B4-BE49-F238E27FC236}">
                <a16:creationId xmlns:a16="http://schemas.microsoft.com/office/drawing/2014/main" id="{48F46A40-E7BB-3909-2FA6-1A954E10A816}"/>
              </a:ext>
            </a:extLst>
          </p:cNvPr>
          <p:cNvSpPr>
            <a:spLocks noGrp="1"/>
          </p:cNvSpPr>
          <p:nvPr>
            <p:ph type="sldNum" sz="quarter" idx="16"/>
          </p:nvPr>
        </p:nvSpPr>
        <p:spPr>
          <a:xfrm>
            <a:off x="411480" y="10152285"/>
            <a:ext cx="6737040" cy="128235"/>
          </a:xfrm>
        </p:spPr>
        <p:txBody>
          <a:bodyPr/>
          <a:lstStyle/>
          <a:p>
            <a:fld id="{5A0D23CF-C5A3-5445-819D-C647D180BB4B}" type="slidenum">
              <a:rPr lang="de-DE" noProof="0" smtClean="0"/>
              <a:pPr/>
              <a:t>19</a:t>
            </a:fld>
            <a:endParaRPr lang="de-DE" noProof="0"/>
          </a:p>
        </p:txBody>
      </p:sp>
    </p:spTree>
    <p:extLst>
      <p:ext uri="{BB962C8B-B14F-4D97-AF65-F5344CB8AC3E}">
        <p14:creationId xmlns:p14="http://schemas.microsoft.com/office/powerpoint/2010/main" val="3140708205"/>
      </p:ext>
    </p:extLst>
  </p:cSld>
  <p:clrMapOvr>
    <a:masterClrMapping/>
  </p:clrMapOvr>
</p:sld>
</file>

<file path=ppt/slides/slide9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e-DE" noProof="0"/>
              <a:t xml:space="preserve">Eigene Arbeitskräfte: Gesundheitsschutz und Sicherheit (B9)</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3735616830"/>
              </p:ext>
            </p:extLst>
          </p:nvPr>
        </p:nvGraphicFramePr>
        <p:xfrm>
          <a:off x="411480" y="2566049"/>
          <a:ext cx="3295368" cy="1096597"/>
        </p:xfrm>
        <a:graphic>
          <a:graphicData uri="http://schemas.openxmlformats.org/drawingml/2006/table">
            <a:tbl>
              <a:tblPr firstRow="1">
                <a:tableStyleId>{2A488322-F2BA-4B5B-9748-0D474271808F}</a:tableStyleId>
              </a:tblPr>
              <a:tblGrid>
                <a:gridCol w="1824877">
                  <a:extLst>
                    <a:ext uri="{9D8B030D-6E8A-4147-A177-3AD203B41FA5}">
                      <a16:colId xmlns:a16="http://schemas.microsoft.com/office/drawing/2014/main" val="2698153288"/>
                    </a:ext>
                  </a:extLst>
                </a:gridCol>
                <a:gridCol w="1470491">
                  <a:extLst>
                    <a:ext uri="{9D8B030D-6E8A-4147-A177-3AD203B41FA5}">
                      <a16:colId xmlns:a16="http://schemas.microsoft.com/office/drawing/2014/main" val="2119413191"/>
                    </a:ext>
                  </a:extLst>
                </a:gridCol>
              </a:tblGrid>
              <a:tr h="3838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1" noProof="0">
                          <a:solidFill>
                            <a:schemeClr val="tx2"/>
                          </a:solidFill>
                        </a:rPr>
                        <a:t xml:space="preserve">Meldepflichtige Arbeitsunfälle </a:t>
                      </a:r>
                      <a:r>
                        <a:rPr lang="de-DE" sz="975" b="0" noProof="0">
                          <a:solidFill>
                            <a:schemeClr val="tx2"/>
                          </a:solidFill>
                        </a:rPr>
                        <a:t xml:space="preserve">(Nr. 41a)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975" b="1" noProof="0">
                          <a:solidFill>
                            <a:schemeClr val="tx2"/>
                          </a:solidFill>
                        </a:rPr>
                        <a:t xml:space="preserve">Jahr</a:t>
                      </a:r>
                      <a:r>
                        <a:rPr lang="de-DE" sz="975" b="1" noProof="0">
                          <a:solidFill>
                            <a:srgbClr val="1B4528"/>
                          </a:solidFill>
                          <a:latin typeface="Calibri"/>
                          <a:cs typeface="Calibri"/>
                        </a:rPr>
                        <a:t> {{insert_year}}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56394">
                <a:tc>
                  <a:txBody>
                    <a:bodyPr/>
                    <a:lstStyle/>
                    <a:p>
                      <a:r>
                        <a:rPr lang="de-DE" sz="975" b="0" noProof="0">
                          <a:solidFill>
                            <a:schemeClr val="tx2"/>
                          </a:solidFill>
                        </a:rPr>
                        <a:t xml:space="preserve">Anzahl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sz="975" b="0" i="0" u="none" strike="noStrike" kern="1200" cap="none" spc="0" normalizeH="0" baseline="0" noProof="0">
                          <a:ln>
                            <a:noFill/>
                          </a:ln>
                          <a:solidFill>
                            <a:srgbClr val="1B4528"/>
                          </a:solidFill>
                          <a:effectLst/>
                          <a:uLnTx/>
                          <a:uFillTx/>
                          <a:latin typeface="Inter"/>
                          <a:ea typeface="+mn-ea"/>
                          <a:cs typeface="+mn-cs"/>
                        </a:rPr>
                        <a:t>{{</a:t>
                      </a:r>
                      <a:r>
                        <a:rPr lang="de-DE" sz="975" b="0" i="0" u="none" strike="noStrike" kern="1200" cap="none" spc="0" normalizeH="0" baseline="0" noProof="0">
                          <a:ln>
                            <a:noFill/>
                          </a:ln>
                          <a:solidFill>
                            <a:srgbClr val="1B4528"/>
                          </a:solidFill>
                          <a:effectLst/>
                          <a:uLnTx/>
                          <a:uFillTx/>
                          <a:latin typeface="Inter"/>
                        </a:rPr>
                        <a:t>indsat_antal_accidents</a:t>
                      </a:r>
                      <a:r>
                        <a:rPr lang="de-DE" sz="975" b="0" i="0" u="none" strike="noStrike" kern="1200" cap="none" spc="0" normalizeH="0" baseline="0" noProof="0">
                          <a:ln>
                            <a:noFill/>
                          </a:ln>
                          <a:solidFill>
                            <a:srgbClr val="1B4528"/>
                          </a:solidFill>
                          <a:effectLst/>
                          <a:uLnTx/>
                          <a:uFillTx/>
                          <a:latin typeface="Inter"/>
                          <a:ea typeface="+mn-ea"/>
                          <a:cs typeface="+mn-cs"/>
                        </a:rPr>
                        <a:t>}}</a:t>
                      </a:r>
                      <a:endParaRPr kumimoji="0" lang="de-DE" sz="975" b="0" i="0" u="none" strike="noStrike" kern="1200" cap="none" spc="0" normalizeH="0" baseline="0" noProof="0">
                        <a:ln>
                          <a:noFill/>
                        </a:ln>
                        <a:solidFill>
                          <a:srgbClr val="1B4528"/>
                        </a:solidFill>
                        <a:effectLst/>
                        <a:uLnTx/>
                        <a:uFillTx/>
                        <a:latin typeface="Inter"/>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56394">
                <a:tc>
                  <a:txBody>
                    <a:bodyPr/>
                    <a:lstStyle/>
                    <a:p>
                      <a:r>
                        <a:rPr lang="de-DE" sz="975" b="0" noProof="0">
                          <a:solidFill>
                            <a:schemeClr val="tx2"/>
                          </a:solidFill>
                        </a:rPr>
                        <a:t xml:space="preserve">Quote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sz="975" b="0" i="0" u="none" strike="noStrike" kern="1200" cap="none" spc="0" normalizeH="0" baseline="0" noProof="0">
                          <a:ln>
                            <a:noFill/>
                          </a:ln>
                          <a:solidFill>
                            <a:srgbClr val="1B4528"/>
                          </a:solidFill>
                          <a:effectLst/>
                          <a:uLnTx/>
                          <a:uFillTx/>
                          <a:latin typeface="Inter"/>
                          <a:ea typeface="+mn-ea"/>
                          <a:cs typeface="+mn-cs"/>
                        </a:rPr>
                        <a:t>{{</a:t>
                      </a:r>
                      <a:r>
                        <a:rPr lang="de-DE" sz="975" b="0" i="0" u="none" strike="noStrike" kern="1200" cap="none" spc="0" normalizeH="0" baseline="0" noProof="0">
                          <a:ln>
                            <a:noFill/>
                          </a:ln>
                          <a:solidFill>
                            <a:srgbClr val="1B4528"/>
                          </a:solidFill>
                          <a:effectLst/>
                          <a:uLnTx/>
                          <a:uFillTx/>
                          <a:latin typeface="Inter"/>
                        </a:rPr>
                        <a:t>indsat_accidents_frequents</a:t>
                      </a:r>
                      <a:r>
                        <a:rPr lang="de-DE" sz="975" b="0" i="0" u="none" strike="noStrike" kern="1200" cap="none" spc="0" normalizeH="0" baseline="0" noProof="0">
                          <a:ln>
                            <a:noFill/>
                          </a:ln>
                          <a:solidFill>
                            <a:srgbClr val="1B4528"/>
                          </a:solidFill>
                          <a:effectLst/>
                          <a:uLnTx/>
                          <a:uFillTx/>
                          <a:latin typeface="Inter"/>
                          <a:ea typeface="+mn-ea"/>
                          <a:cs typeface="+mn-cs"/>
                        </a:rPr>
                        <a:t>}}</a:t>
                      </a:r>
                      <a:endParaRPr kumimoji="0" lang="de-DE" sz="975" b="0" i="0" u="none" strike="noStrike" kern="1200" cap="none" spc="0" normalizeH="0" baseline="0" noProof="0">
                        <a:ln>
                          <a:noFill/>
                        </a:ln>
                        <a:solidFill>
                          <a:srgbClr val="1B4528"/>
                        </a:solidFill>
                        <a:effectLst/>
                        <a:uLnTx/>
                        <a:uFillTx/>
                        <a:latin typeface="Inter"/>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graphicFrame>
        <p:nvGraphicFramePr>
          <p:cNvPr id="9" name="Table 8">
            <a:extLst>
              <a:ext uri="{FF2B5EF4-FFF2-40B4-BE49-F238E27FC236}">
                <a16:creationId xmlns:a16="http://schemas.microsoft.com/office/drawing/2014/main" id="{F34D7173-AC05-2CA2-966F-6F3A8736B5C6}"/>
              </a:ext>
            </a:extLst>
          </p:cNvPr>
          <p:cNvGraphicFramePr>
            <a:graphicFrameLocks noGrp="1"/>
          </p:cNvGraphicFramePr>
          <p:nvPr>
            <p:extLst>
              <p:ext uri="{D42A27DB-BD31-4B8C-83A1-F6EECF244321}">
                <p14:modId xmlns:p14="http://schemas.microsoft.com/office/powerpoint/2010/main" val="3388670097"/>
              </p:ext>
            </p:extLst>
          </p:nvPr>
        </p:nvGraphicFramePr>
        <p:xfrm>
          <a:off x="3853152" y="2566050"/>
          <a:ext cx="3295368" cy="1114873"/>
        </p:xfrm>
        <a:graphic>
          <a:graphicData uri="http://schemas.openxmlformats.org/drawingml/2006/table">
            <a:tbl>
              <a:tblPr firstRow="1">
                <a:tableStyleId>{2A488322-F2BA-4B5B-9748-0D474271808F}</a:tableStyleId>
              </a:tblPr>
              <a:tblGrid>
                <a:gridCol w="2276416">
                  <a:extLst>
                    <a:ext uri="{9D8B030D-6E8A-4147-A177-3AD203B41FA5}">
                      <a16:colId xmlns:a16="http://schemas.microsoft.com/office/drawing/2014/main" val="2698153288"/>
                    </a:ext>
                  </a:extLst>
                </a:gridCol>
                <a:gridCol w="1018952">
                  <a:extLst>
                    <a:ext uri="{9D8B030D-6E8A-4147-A177-3AD203B41FA5}">
                      <a16:colId xmlns:a16="http://schemas.microsoft.com/office/drawing/2014/main" val="2119413191"/>
                    </a:ext>
                  </a:extLst>
                </a:gridCol>
              </a:tblGrid>
              <a:tr h="3746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1" noProof="0">
                          <a:solidFill>
                            <a:schemeClr val="tx2"/>
                          </a:solidFill>
                        </a:rPr>
                        <a:t xml:space="preserve">Arbeitsbedingte Todesfälle </a:t>
                      </a:r>
                      <a:r>
                        <a:rPr lang="de-DE" sz="975" b="0" noProof="0">
                          <a:solidFill>
                            <a:schemeClr val="tx2"/>
                          </a:solidFill>
                        </a:rPr>
                        <a:t xml:space="preserve">(Nr. 41b)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975" b="1" noProof="0">
                          <a:solidFill>
                            <a:schemeClr val="tx2"/>
                          </a:solidFill>
                        </a:rPr>
                        <a:t xml:space="preserve">Jahr</a:t>
                      </a:r>
                      <a:r>
                        <a:rPr lang="de-DE" sz="975" b="1" noProof="0">
                          <a:solidFill>
                            <a:srgbClr val="1B4528"/>
                          </a:solidFill>
                          <a:latin typeface="Calibri"/>
                          <a:cs typeface="Calibri"/>
                        </a:rPr>
                        <a:t> {{insert_year}}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83809">
                <a:tc>
                  <a:txBody>
                    <a:bodyPr/>
                    <a:lstStyle/>
                    <a:p>
                      <a:r>
                        <a:rPr lang="de-DE" sz="975" b="0" noProof="0">
                          <a:solidFill>
                            <a:schemeClr val="tx2"/>
                          </a:solidFill>
                        </a:rPr>
                        <a:t xml:space="preserve">Infolge arbeitsbedingter Verletzung/Unfall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a:lnSpc>
                          <a:spcPct val="100000"/>
                        </a:lnSpc>
                        <a:spcBef>
                          <a:spcPts val="0"/>
                        </a:spcBef>
                        <a:spcAft>
                          <a:spcPts val="0"/>
                        </a:spcAft>
                        <a:buNone/>
                        <a:tabLst/>
                        <a:defRPr/>
                      </a:pPr>
                      <a:r>
                        <a:rPr lang="de-DE" sz="975" b="0" i="0" u="none" strike="noStrike" kern="1200" cap="none" spc="0" normalizeH="0" baseline="0" noProof="0">
                          <a:ln>
                            <a:noFill/>
                          </a:ln>
                          <a:solidFill>
                            <a:srgbClr val="1B4528"/>
                          </a:solidFill>
                          <a:effectLst/>
                          <a:uLnTx/>
                          <a:uFillTx/>
                          <a:latin typeface="Inter"/>
                          <a:ea typeface="+mn-ea"/>
                          <a:cs typeface="+mn-cs"/>
                        </a:rPr>
                        <a:t>{{</a:t>
                      </a:r>
                      <a:r>
                        <a:rPr lang="de-DE" sz="975" b="0" i="0" u="none" strike="noStrike" kern="1200" cap="none" spc="0" normalizeH="0" baseline="0" noProof="0">
                          <a:ln>
                            <a:noFill/>
                          </a:ln>
                          <a:solidFill>
                            <a:srgbClr val="1B4528"/>
                          </a:solidFill>
                          <a:effectLst/>
                          <a:uLnTx/>
                          <a:uFillTx/>
                          <a:latin typeface="Inter"/>
                        </a:rPr>
                        <a:t>deaths_by_accidents</a:t>
                      </a:r>
                      <a:r>
                        <a:rPr lang="de-DE" sz="975" b="0" i="0" u="none" strike="noStrike" kern="1200" cap="none" spc="0" normalizeH="0" baseline="0" noProof="0">
                          <a:ln>
                            <a:noFill/>
                          </a:ln>
                          <a:solidFill>
                            <a:srgbClr val="1B4528"/>
                          </a:solidFill>
                          <a:effectLst/>
                          <a:uLnTx/>
                          <a:uFillTx/>
                          <a:latin typeface="Inter"/>
                          <a:ea typeface="+mn-ea"/>
                          <a:cs typeface="+mn-cs"/>
                        </a:rPr>
                        <a:t>}}</a:t>
                      </a:r>
                      <a:endParaRPr kumimoji="0" lang="de-DE" sz="975" b="0" i="0" u="none" strike="noStrike" kern="1200" cap="none" spc="0" normalizeH="0" baseline="0" noProof="0">
                        <a:ln>
                          <a:noFill/>
                        </a:ln>
                        <a:solidFill>
                          <a:srgbClr val="1B4528"/>
                        </a:solidFill>
                        <a:effectLst/>
                        <a:uLnTx/>
                        <a:uFillTx/>
                        <a:latin typeface="Inter"/>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56394">
                <a:tc>
                  <a:txBody>
                    <a:bodyPr/>
                    <a:lstStyle/>
                    <a:p>
                      <a:r>
                        <a:rPr lang="de-DE" sz="975" b="0" noProof="0">
                          <a:solidFill>
                            <a:schemeClr val="tx2"/>
                          </a:solidFill>
                        </a:rPr>
                        <a:t xml:space="preserve">Infolge arbeitsbedingter Erkrankung</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sz="975" b="0" i="0" u="none" strike="noStrike" kern="1200" cap="none" spc="0" normalizeH="0" baseline="0" noProof="0">
                          <a:ln>
                            <a:noFill/>
                          </a:ln>
                          <a:solidFill>
                            <a:srgbClr val="1B4528"/>
                          </a:solidFill>
                          <a:effectLst/>
                          <a:uLnTx/>
                          <a:uFillTx/>
                          <a:latin typeface="Inter"/>
                          <a:ea typeface="+mn-ea"/>
                          <a:cs typeface="+mn-cs"/>
                        </a:rPr>
                        <a:t>{{</a:t>
                      </a:r>
                      <a:r>
                        <a:rPr lang="de-DE" sz="975" b="0" i="0" u="none" strike="noStrike" kern="1200" cap="none" spc="0" normalizeH="0" baseline="0" noProof="0">
                          <a:ln>
                            <a:noFill/>
                          </a:ln>
                          <a:solidFill>
                            <a:srgbClr val="1B4528"/>
                          </a:solidFill>
                          <a:effectLst/>
                          <a:uLnTx/>
                          <a:uFillTx/>
                          <a:latin typeface="Inter"/>
                        </a:rPr>
                        <a:t>deaths_by_health</a:t>
                      </a:r>
                      <a:r>
                        <a:rPr lang="de-DE" sz="975" b="0" i="0" u="none" strike="noStrike" kern="1200" cap="none" spc="0" normalizeH="0" baseline="0" noProof="0">
                          <a:ln>
                            <a:noFill/>
                          </a:ln>
                          <a:solidFill>
                            <a:srgbClr val="1B4528"/>
                          </a:solidFill>
                          <a:effectLst/>
                          <a:uLnTx/>
                          <a:uFillTx/>
                          <a:latin typeface="Inter"/>
                          <a:ea typeface="+mn-ea"/>
                          <a:cs typeface="+mn-cs"/>
                        </a:rPr>
                        <a:t>}}</a:t>
                      </a:r>
                      <a:endParaRPr kumimoji="0" lang="de-DE" sz="975" b="0" i="0" u="none" strike="noStrike" kern="1200" cap="none" spc="0" normalizeH="0" baseline="0" noProof="0">
                        <a:ln>
                          <a:noFill/>
                        </a:ln>
                        <a:solidFill>
                          <a:srgbClr val="1B4528"/>
                        </a:solidFill>
                        <a:effectLst/>
                        <a:uLnTx/>
                        <a:uFillTx/>
                        <a:latin typeface="Inter"/>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e-DE" noProof="0" smtClean="0"/>
              <a:pPr/>
              <a:t>11</a:t>
            </a:fld>
            <a:endParaRPr lang="de-DE"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e-DE" noProof="0"/>
              <a:t>{{</a:t>
            </a:r>
            <a:r>
              <a:rPr lang="de-DE" noProof="0"/>
              <a:t>company_name</a:t>
            </a:r>
            <a:r>
              <a:rPr lang="de-DE" noProof="0"/>
              <a:t>}}</a:t>
            </a:r>
            <a:endParaRPr lang="de-DE" b="0" noProof="0"/>
          </a:p>
          <a:p>
            <a:br>
              <a:rPr lang="de-DE" noProof="0"/>
            </a:br>
            <a:endParaRPr lang="de-DE" noProof="0"/>
          </a:p>
        </p:txBody>
      </p:sp>
      <p:sp>
        <p:nvSpPr>
          <p:cNvPr id="23" name="Tekstfelt 22">
            <a:extLst>
              <a:ext uri="{FF2B5EF4-FFF2-40B4-BE49-F238E27FC236}">
                <a16:creationId xmlns:a16="http://schemas.microsoft.com/office/drawing/2014/main" id="{5D01A9BD-1028-6124-EDFA-F7528B760856}"/>
              </a:ext>
            </a:extLst>
          </p:cNvPr>
          <p:cNvSpPr txBox="1"/>
          <p:nvPr/>
        </p:nvSpPr>
        <p:spPr>
          <a:xfrm>
            <a:off x="411480" y="1210441"/>
            <a:ext cx="6737040" cy="692470"/>
          </a:xfrm>
          <a:prstGeom prst="rect">
            <a:avLst/>
          </a:prstGeom>
          <a:noFill/>
        </p:spPr>
        <p:txBody>
          <a:bodyPr wrap="square">
            <a:spAutoFit/>
          </a:bodyPr>
          <a:lstStyle/>
          <a:p>
            <a:pPr rtl="0">
              <a:buNone/>
            </a:pPr>
            <a:r>
              <a:rPr lang="de-DE" sz="975" b="0" i="0" u="none" strike="noStrike" noProof="0">
                <a:solidFill>
                  <a:schemeClr val="tx2"/>
                </a:solidFill>
                <a:effectLst/>
                <a:latin typeface="Inter"/>
              </a:rPr>
              <a:t xml:space="preserve">Das Unternehmen hat Informationen über die Zahl der meldepflichtigen Arbeitsunfälle und der arbeitsbedingten Todesfälle zu folgenden Aufschlüsselungen angegeben: Anzahl und Quote. Darüber hinaus, ob arbeitsbedingte Todesfälle auf arbeitsbedingte Verletzungen/Unfälle oder auf Erkrankungen zurückzuführen sind.</a:t>
            </a:r>
            <a:endParaRPr lang="de-DE" sz="975" b="0" noProof="0">
              <a:solidFill>
                <a:schemeClr val="tx2"/>
              </a:solidFill>
              <a:effectLst/>
              <a:latin typeface="Inter"/>
            </a:endParaRPr>
          </a:p>
          <a:p>
            <a:pPr>
              <a:buNone/>
            </a:pPr>
            <a:br>
              <a:rPr lang="de-DE" sz="975" noProof="0">
                <a:solidFill>
                  <a:schemeClr val="tx2"/>
                </a:solidFill>
                <a:latin typeface="Inter"/>
              </a:rPr>
            </a:br>
            <a:endParaRPr lang="de-DE" sz="975" noProof="0">
              <a:solidFill>
                <a:schemeClr val="tx2"/>
              </a:solidFill>
              <a:latin typeface="Inter"/>
            </a:endParaRPr>
          </a:p>
        </p:txBody>
      </p:sp>
      <p:sp>
        <p:nvSpPr>
          <p:cNvPr id="24" name="Title 3">
            <a:extLst>
              <a:ext uri="{FF2B5EF4-FFF2-40B4-BE49-F238E27FC236}">
                <a16:creationId xmlns:a16="http://schemas.microsoft.com/office/drawing/2014/main" id="{9671F0E7-ADFB-1E9D-A747-4277AC9D48F4}"/>
              </a:ext>
            </a:extLst>
          </p:cNvPr>
          <p:cNvSpPr txBox="1">
            <a:spLocks/>
          </p:cNvSpPr>
          <p:nvPr/>
        </p:nvSpPr>
        <p:spPr>
          <a:xfrm>
            <a:off x="411480" y="3790651"/>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de-DE" noProof="0"/>
              <a:t xml:space="preserve">Eigene Arbeitskräfte: Vergütung, Tarifverhandlungen und Schulung (B10)</a:t>
            </a:r>
          </a:p>
        </p:txBody>
      </p:sp>
      <p:graphicFrame>
        <p:nvGraphicFramePr>
          <p:cNvPr id="26" name="Table 14">
            <a:extLst>
              <a:ext uri="{FF2B5EF4-FFF2-40B4-BE49-F238E27FC236}">
                <a16:creationId xmlns:a16="http://schemas.microsoft.com/office/drawing/2014/main" id="{B9DC9ED6-A05A-D3CE-334F-D39DB9606395}"/>
              </a:ext>
            </a:extLst>
          </p:cNvPr>
          <p:cNvGraphicFramePr>
            <a:graphicFrameLocks noGrp="1"/>
          </p:cNvGraphicFramePr>
          <p:nvPr>
            <p:extLst>
              <p:ext uri="{D42A27DB-BD31-4B8C-83A1-F6EECF244321}">
                <p14:modId xmlns:p14="http://schemas.microsoft.com/office/powerpoint/2010/main" val="2949925802"/>
              </p:ext>
            </p:extLst>
          </p:nvPr>
        </p:nvGraphicFramePr>
        <p:xfrm>
          <a:off x="3853152" y="6402118"/>
          <a:ext cx="3295368" cy="1078322"/>
        </p:xfrm>
        <a:graphic>
          <a:graphicData uri="http://schemas.openxmlformats.org/drawingml/2006/table">
            <a:tbl>
              <a:tblPr firstRow="1">
                <a:tableStyleId>{2A488322-F2BA-4B5B-9748-0D474271808F}</a:tableStyleId>
              </a:tblPr>
              <a:tblGrid>
                <a:gridCol w="2292985">
                  <a:extLst>
                    <a:ext uri="{9D8B030D-6E8A-4147-A177-3AD203B41FA5}">
                      <a16:colId xmlns:a16="http://schemas.microsoft.com/office/drawing/2014/main" val="2698153288"/>
                    </a:ext>
                  </a:extLst>
                </a:gridCol>
                <a:gridCol w="1002383">
                  <a:extLst>
                    <a:ext uri="{9D8B030D-6E8A-4147-A177-3AD203B41FA5}">
                      <a16:colId xmlns:a16="http://schemas.microsoft.com/office/drawing/2014/main" val="2119413191"/>
                    </a:ext>
                  </a:extLst>
                </a:gridCol>
              </a:tblGrid>
              <a:tr h="480852">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1" noProof="0">
                          <a:solidFill>
                            <a:schemeClr val="tx2"/>
                          </a:solidFill>
                        </a:rPr>
                        <a:t xml:space="preserve">Entgeltgefälle zwischen männlichen und weiblichen Beschäftigten </a:t>
                      </a:r>
                      <a:r>
                        <a:rPr lang="de-DE" sz="975" b="0" noProof="0">
                          <a:solidFill>
                            <a:schemeClr val="tx2"/>
                          </a:solidFill>
                        </a:rPr>
                        <a:t xml:space="preserve">(Nr. 42b)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975" b="1" noProof="0">
                          <a:solidFill>
                            <a:schemeClr val="tx2"/>
                          </a:solidFill>
                        </a:rPr>
                        <a:t xml:space="preserve">Jahr</a:t>
                      </a:r>
                      <a:r>
                        <a:rPr lang="de-DE" sz="975" b="1" noProof="0">
                          <a:solidFill>
                            <a:srgbClr val="1B4528"/>
                          </a:solidFill>
                          <a:latin typeface="Calibri" panose="020F0502020204030204" pitchFamily="34" charset="0"/>
                          <a:cs typeface="Calibri" panose="020F0502020204030204" pitchFamily="34" charset="0"/>
                        </a:rPr>
                        <a:t> </a:t>
                      </a:r>
                      <a:r>
                        <a:rPr lang="de-DE" sz="975" b="1" noProof="0">
                          <a:solidFill>
                            <a:srgbClr val="1B4528"/>
                          </a:solidFill>
                        </a:rPr>
                        <a:t>{{</a:t>
                      </a:r>
                      <a:r>
                        <a:rPr lang="de-DE" sz="975" b="1" noProof="0">
                          <a:solidFill>
                            <a:srgbClr val="1B4528"/>
                          </a:solidFill>
                        </a:rPr>
                        <a:t>insert_year</a:t>
                      </a:r>
                      <a:r>
                        <a:rPr lang="de-DE" sz="975" b="1" noProof="0">
                          <a:solidFill>
                            <a:srgbClr val="1B4528"/>
                          </a:solidFill>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97470">
                <a:tc v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a:r>
                        <a:rPr lang="de-DE" sz="975" b="0" noProof="0">
                          <a:solidFill>
                            <a:srgbClr val="1B4528"/>
                          </a:solidFill>
                        </a:rPr>
                        <a:t>{{</a:t>
                      </a:r>
                      <a:r>
                        <a:rPr lang="de-DE" sz="975" b="0" noProof="0">
                          <a:solidFill>
                            <a:srgbClr val="1B4528"/>
                          </a:solidFill>
                        </a:rPr>
                        <a:t>indsat_procentvise_lonforskel</a:t>
                      </a:r>
                      <a:r>
                        <a:rPr lang="de-DE" sz="975" b="0" noProof="0">
                          <a:solidFill>
                            <a:srgbClr val="1B4528"/>
                          </a:solidFill>
                        </a:rPr>
                        <a:t>}}</a:t>
                      </a:r>
                    </a:p>
                  </a:txBody>
                  <a:tcPr marL="29999" marR="29999"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27" name="Tabel 26">
            <a:extLst>
              <a:ext uri="{FF2B5EF4-FFF2-40B4-BE49-F238E27FC236}">
                <a16:creationId xmlns:a16="http://schemas.microsoft.com/office/drawing/2014/main" id="{6746C932-5E3F-E60C-3154-F9D424D47444}"/>
              </a:ext>
            </a:extLst>
          </p:cNvPr>
          <p:cNvGraphicFramePr>
            <a:graphicFrameLocks noGrp="1"/>
          </p:cNvGraphicFramePr>
          <p:nvPr>
            <p:extLst>
              <p:ext uri="{D42A27DB-BD31-4B8C-83A1-F6EECF244321}">
                <p14:modId xmlns:p14="http://schemas.microsoft.com/office/powerpoint/2010/main" val="1071495807"/>
              </p:ext>
            </p:extLst>
          </p:nvPr>
        </p:nvGraphicFramePr>
        <p:xfrm>
          <a:off x="411480" y="6402121"/>
          <a:ext cx="3295368" cy="1078320"/>
        </p:xfrm>
        <a:graphic>
          <a:graphicData uri="http://schemas.openxmlformats.org/drawingml/2006/table">
            <a:tbl>
              <a:tblPr firstRow="1">
                <a:tableStyleId>{2A488322-F2BA-4B5B-9748-0D474271808F}</a:tableStyleId>
              </a:tblPr>
              <a:tblGrid>
                <a:gridCol w="1807924">
                  <a:extLst>
                    <a:ext uri="{9D8B030D-6E8A-4147-A177-3AD203B41FA5}">
                      <a16:colId xmlns:a16="http://schemas.microsoft.com/office/drawing/2014/main" val="160727125"/>
                    </a:ext>
                  </a:extLst>
                </a:gridCol>
                <a:gridCol w="762792">
                  <a:extLst>
                    <a:ext uri="{9D8B030D-6E8A-4147-A177-3AD203B41FA5}">
                      <a16:colId xmlns:a16="http://schemas.microsoft.com/office/drawing/2014/main" val="1767985329"/>
                    </a:ext>
                  </a:extLst>
                </a:gridCol>
                <a:gridCol w="724652">
                  <a:extLst>
                    <a:ext uri="{9D8B030D-6E8A-4147-A177-3AD203B41FA5}">
                      <a16:colId xmlns:a16="http://schemas.microsoft.com/office/drawing/2014/main" val="1397164534"/>
                    </a:ext>
                  </a:extLst>
                </a:gridCol>
              </a:tblGrid>
              <a:tr h="388378">
                <a:tc>
                  <a:txBody>
                    <a:bodyPr/>
                    <a:lstStyle/>
                    <a:p>
                      <a:r>
                        <a:rPr lang="de-DE" sz="975" b="1" noProof="0">
                          <a:solidFill>
                            <a:schemeClr val="tx2"/>
                          </a:solidFill>
                        </a:rPr>
                        <a:t xml:space="preserve">Angaben zum Mindestlohn </a:t>
                      </a:r>
                      <a:r>
                        <a:rPr lang="de-DE" sz="975" b="0" noProof="0">
                          <a:solidFill>
                            <a:schemeClr val="tx2"/>
                          </a:solidFill>
                        </a:rPr>
                        <a:t>(42a)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e-DE" sz="975" b="1" noProof="0">
                          <a:solidFill>
                            <a:schemeClr val="tx2"/>
                          </a:solidFill>
                        </a:rPr>
                        <a:t>Ja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e-DE" sz="975" b="1" noProof="0">
                          <a:solidFill>
                            <a:schemeClr val="tx2"/>
                          </a:solidFill>
                        </a:rPr>
                        <a:t xml:space="preserve">Nein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4203607533"/>
                  </a:ext>
                </a:extLst>
              </a:tr>
              <a:tr h="689942">
                <a:tc>
                  <a:txBody>
                    <a:bodyPr/>
                    <a:lstStyle/>
                    <a:p>
                      <a:r>
                        <a:rPr lang="de-DE" sz="975" b="0" noProof="0">
                          <a:solidFill>
                            <a:schemeClr val="tx2"/>
                          </a:solidFill>
                        </a:rPr>
                        <a:t xml:space="preserve">Im Unternehmen erhalten alle Beschäftigten ein Entgelt mindestens in Höhe des Mindestlohns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e-DE" sz="975" b="0" i="0" u="none" strike="noStrike" noProof="0">
                          <a:solidFill>
                            <a:srgbClr val="1B4528"/>
                          </a:solidFill>
                          <a:effectLst/>
                          <a:latin typeface="Inter"/>
                        </a:rPr>
                        <a:t>{{</a:t>
                      </a:r>
                      <a:r>
                        <a:rPr lang="de-DE" sz="975" b="0" i="0" u="none" strike="noStrike" noProof="0">
                          <a:solidFill>
                            <a:srgbClr val="1B4528"/>
                          </a:solidFill>
                          <a:effectLst/>
                          <a:latin typeface="Inter"/>
                        </a:rPr>
                        <a:t>minumum_wage_yes</a:t>
                      </a:r>
                      <a:r>
                        <a:rPr lang="de-DE" sz="975" b="0" i="0" u="none" strike="noStrike" noProof="0">
                          <a:solidFill>
                            <a:srgbClr val="1B4528"/>
                          </a:solidFill>
                          <a:effectLst/>
                          <a:latin typeface="Inter"/>
                        </a:rPr>
                        <a:t>?}}</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de-DE" sz="975" b="0" i="0" u="none" strike="noStrike" noProof="0">
                          <a:solidFill>
                            <a:srgbClr val="1B4528"/>
                          </a:solidFill>
                          <a:effectLst/>
                          <a:latin typeface="Inter"/>
                        </a:rPr>
                        <a:t>{{</a:t>
                      </a:r>
                      <a:r>
                        <a:rPr lang="de-DE" sz="975" b="0" i="0" u="none" strike="noStrike" noProof="0">
                          <a:solidFill>
                            <a:srgbClr val="1B4528"/>
                          </a:solidFill>
                          <a:effectLst/>
                          <a:latin typeface="Inter"/>
                        </a:rPr>
                        <a:t>minimum_wage_no</a:t>
                      </a:r>
                      <a:r>
                        <a:rPr lang="de-DE" sz="975" b="0" i="0" u="none" strike="noStrike" noProof="0">
                          <a:solidFill>
                            <a:srgbClr val="1B4528"/>
                          </a:solidFill>
                          <a:effectLst/>
                          <a:latin typeface="Inter"/>
                        </a:rPr>
                        <a:t>?}}</a:t>
                      </a:r>
                      <a:endParaRPr lang="de-DE"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393907362"/>
                  </a:ext>
                </a:extLst>
              </a:tr>
            </a:tbl>
          </a:graphicData>
        </a:graphic>
      </p:graphicFrame>
      <p:graphicFrame>
        <p:nvGraphicFramePr>
          <p:cNvPr id="29" name="Table 16">
            <a:extLst>
              <a:ext uri="{FF2B5EF4-FFF2-40B4-BE49-F238E27FC236}">
                <a16:creationId xmlns:a16="http://schemas.microsoft.com/office/drawing/2014/main" id="{9493B198-6182-0768-EF14-0EF37F9E9F4F}"/>
              </a:ext>
            </a:extLst>
          </p:cNvPr>
          <p:cNvGraphicFramePr>
            <a:graphicFrameLocks noGrp="1"/>
          </p:cNvGraphicFramePr>
          <p:nvPr>
            <p:extLst>
              <p:ext uri="{D42A27DB-BD31-4B8C-83A1-F6EECF244321}">
                <p14:modId xmlns:p14="http://schemas.microsoft.com/office/powerpoint/2010/main" val="654789346"/>
              </p:ext>
            </p:extLst>
          </p:nvPr>
        </p:nvGraphicFramePr>
        <p:xfrm>
          <a:off x="411480" y="7898222"/>
          <a:ext cx="3295368" cy="959692"/>
        </p:xfrm>
        <a:graphic>
          <a:graphicData uri="http://schemas.openxmlformats.org/drawingml/2006/table">
            <a:tbl>
              <a:tblPr firstRow="1">
                <a:tableStyleId>{2A488322-F2BA-4B5B-9748-0D474271808F}</a:tableStyleId>
              </a:tblPr>
              <a:tblGrid>
                <a:gridCol w="1821125">
                  <a:extLst>
                    <a:ext uri="{9D8B030D-6E8A-4147-A177-3AD203B41FA5}">
                      <a16:colId xmlns:a16="http://schemas.microsoft.com/office/drawing/2014/main" val="81046444"/>
                    </a:ext>
                  </a:extLst>
                </a:gridCol>
                <a:gridCol w="1474243">
                  <a:extLst>
                    <a:ext uri="{9D8B030D-6E8A-4147-A177-3AD203B41FA5}">
                      <a16:colId xmlns:a16="http://schemas.microsoft.com/office/drawing/2014/main" val="2119413191"/>
                    </a:ext>
                  </a:extLst>
                </a:gridCol>
              </a:tblGrid>
              <a:tr h="3587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1" noProof="0">
                          <a:solidFill>
                            <a:schemeClr val="tx2"/>
                          </a:solidFill>
                        </a:rPr>
                        <a:t xml:space="preserve">Tarifvertrag </a:t>
                      </a:r>
                      <a:r>
                        <a:rPr lang="de-DE" sz="975" b="0" noProof="0">
                          <a:solidFill>
                            <a:schemeClr val="tx2"/>
                          </a:solidFill>
                        </a:rPr>
                        <a:t xml:space="preserve">(Nr. 42c)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975" b="1" noProof="0">
                          <a:solidFill>
                            <a:schemeClr val="tx2"/>
                          </a:solidFill>
                        </a:rPr>
                        <a:t xml:space="preserve">Jahr</a:t>
                      </a:r>
                      <a:r>
                        <a:rPr lang="de-DE" sz="975" b="1" noProof="0">
                          <a:solidFill>
                            <a:srgbClr val="1B4528"/>
                          </a:solidFill>
                          <a:latin typeface="Calibri" panose="020F0502020204030204" pitchFamily="34" charset="0"/>
                          <a:cs typeface="Calibri" panose="020F0502020204030204" pitchFamily="34" charset="0"/>
                        </a:rPr>
                        <a:t> {{</a:t>
                      </a:r>
                      <a:r>
                        <a:rPr lang="de-DE" sz="975" b="1" noProof="0">
                          <a:solidFill>
                            <a:srgbClr val="1B4528"/>
                          </a:solidFill>
                          <a:latin typeface="Calibri" panose="020F0502020204030204" pitchFamily="34" charset="0"/>
                          <a:cs typeface="Calibri" panose="020F0502020204030204" pitchFamily="34" charset="0"/>
                        </a:rPr>
                        <a:t>insert_year</a:t>
                      </a:r>
                      <a:r>
                        <a:rPr lang="de-DE" sz="975" b="1" noProof="0">
                          <a:solidFill>
                            <a:srgbClr val="1B4528"/>
                          </a:solidFill>
                          <a:latin typeface="Calibri" panose="020F0502020204030204" pitchFamily="34" charset="0"/>
                          <a:cs typeface="Calibri" panose="020F0502020204030204" pitchFamily="34" charset="0"/>
                        </a:rPr>
                        <a:t>}}</a:t>
                      </a:r>
                      <a:endParaRPr lang="de-DE" sz="975" b="1"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6009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75" b="0" noProof="0">
                          <a:solidFill>
                            <a:schemeClr val="tx2"/>
                          </a:solidFill>
                        </a:rPr>
                        <a:t xml:space="preserve">Prozentualer Anteil der Beschäftigten, die von einem Tarifvertrag abgedeckt sind</a:t>
                      </a:r>
                      <a:endParaRPr kumimoji="0" lang="de-DE" sz="975" b="0" i="0" u="none" strike="noStrike" kern="1200" cap="none" spc="0" normalizeH="0" baseline="0" noProof="0">
                        <a:ln>
                          <a:noFill/>
                        </a:ln>
                        <a:solidFill>
                          <a:srgbClr val="1B4528"/>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975" b="0" i="0" u="none" strike="noStrike" kern="1200" cap="none" spc="0" normalizeH="0" baseline="0" noProof="0">
                          <a:ln>
                            <a:noFill/>
                          </a:ln>
                          <a:solidFill>
                            <a:srgbClr val="1B4528"/>
                          </a:solidFill>
                          <a:effectLst/>
                          <a:uLnTx/>
                          <a:uFillTx/>
                          <a:latin typeface="+mn-lt"/>
                          <a:ea typeface="+mn-ea"/>
                          <a:cs typeface="+mn-cs"/>
                        </a:rPr>
                        <a:t>{{</a:t>
                      </a:r>
                      <a:r>
                        <a:rPr kumimoji="0" lang="de-DE" sz="975" b="0" i="0" u="none" strike="noStrike" kern="1200" cap="none" spc="0" normalizeH="0" baseline="0" noProof="0">
                          <a:ln>
                            <a:noFill/>
                          </a:ln>
                          <a:solidFill>
                            <a:srgbClr val="1B4528"/>
                          </a:solidFill>
                          <a:effectLst/>
                          <a:uLnTx/>
                          <a:uFillTx/>
                          <a:latin typeface="+mn-lt"/>
                          <a:ea typeface="+mn-ea"/>
                          <a:cs typeface="+mn-cs"/>
                        </a:rPr>
                        <a:t>indsat_procentvis_ansatte</a:t>
                      </a:r>
                      <a:r>
                        <a:rPr kumimoji="0" lang="de-DE" sz="975" b="0" i="0" u="none" strike="noStrike" kern="1200" cap="none" spc="0" normalizeH="0" baseline="0" noProof="0">
                          <a:ln>
                            <a:noFill/>
                          </a:ln>
                          <a:solidFill>
                            <a:srgbClr val="1B4528"/>
                          </a:solidFill>
                          <a:effectLst/>
                          <a:uLnTx/>
                          <a:uFillTx/>
                          <a:latin typeface="+mn-lt"/>
                          <a:ea typeface="+mn-ea"/>
                          <a:cs typeface="+mn-cs"/>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31" name="Table 19">
            <a:extLst>
              <a:ext uri="{FF2B5EF4-FFF2-40B4-BE49-F238E27FC236}">
                <a16:creationId xmlns:a16="http://schemas.microsoft.com/office/drawing/2014/main" id="{12B3A72C-4031-E6CE-E541-98C8068B1C36}"/>
              </a:ext>
            </a:extLst>
          </p:cNvPr>
          <p:cNvGraphicFramePr>
            <a:graphicFrameLocks noGrp="1"/>
          </p:cNvGraphicFramePr>
          <p:nvPr>
            <p:extLst>
              <p:ext uri="{D42A27DB-BD31-4B8C-83A1-F6EECF244321}">
                <p14:modId xmlns:p14="http://schemas.microsoft.com/office/powerpoint/2010/main" val="469699691"/>
              </p:ext>
            </p:extLst>
          </p:nvPr>
        </p:nvGraphicFramePr>
        <p:xfrm>
          <a:off x="3853152" y="7898221"/>
          <a:ext cx="3295368" cy="959693"/>
        </p:xfrm>
        <a:graphic>
          <a:graphicData uri="http://schemas.openxmlformats.org/drawingml/2006/table">
            <a:tbl>
              <a:tblPr firstRow="1">
                <a:tableStyleId>{2A488322-F2BA-4B5B-9748-0D474271808F}</a:tableStyleId>
              </a:tblPr>
              <a:tblGrid>
                <a:gridCol w="2294254">
                  <a:extLst>
                    <a:ext uri="{9D8B030D-6E8A-4147-A177-3AD203B41FA5}">
                      <a16:colId xmlns:a16="http://schemas.microsoft.com/office/drawing/2014/main" val="2698153288"/>
                    </a:ext>
                  </a:extLst>
                </a:gridCol>
                <a:gridCol w="1001114">
                  <a:extLst>
                    <a:ext uri="{9D8B030D-6E8A-4147-A177-3AD203B41FA5}">
                      <a16:colId xmlns:a16="http://schemas.microsoft.com/office/drawing/2014/main" val="2119413191"/>
                    </a:ext>
                  </a:extLst>
                </a:gridCol>
              </a:tblGrid>
              <a:tr h="493554">
                <a:tc>
                  <a:txBody>
                    <a:bodyPr/>
                    <a:lstStyle/>
                    <a:p>
                      <a:r>
                        <a:rPr lang="de-DE" sz="975" b="1" noProof="0">
                          <a:solidFill>
                            <a:schemeClr val="tx2"/>
                          </a:solidFill>
                        </a:rPr>
                        <a:t xml:space="preserve">Durchschnittliche Schulungsstunden je Beschäftigtem </a:t>
                      </a:r>
                      <a:r>
                        <a:rPr lang="de-DE" sz="975" b="0" noProof="0">
                          <a:solidFill>
                            <a:schemeClr val="tx2"/>
                          </a:solidFill>
                        </a:rPr>
                        <a:t xml:space="preserve">(Nr. 42d)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975" b="1" noProof="0">
                          <a:solidFill>
                            <a:schemeClr val="tx2"/>
                          </a:solidFill>
                        </a:rPr>
                        <a:t xml:space="preserve">Jahr</a:t>
                      </a:r>
                      <a:r>
                        <a:rPr lang="de-DE" sz="975" b="1" noProof="0">
                          <a:solidFill>
                            <a:srgbClr val="1B4528"/>
                          </a:solidFill>
                          <a:latin typeface="Calibri"/>
                          <a:cs typeface="Calibri"/>
                        </a:rPr>
                        <a:t> {{insert_year}}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66139">
                <a:tc>
                  <a:txBody>
                    <a:bodyPr/>
                    <a:lstStyle/>
                    <a:p>
                      <a:r>
                        <a:rPr lang="de-DE" sz="975" b="0" noProof="0">
                          <a:solidFill>
                            <a:schemeClr val="tx2"/>
                          </a:solidFill>
                        </a:rPr>
                        <a:t xml:space="preserve">Stunde(n) je Beschäftigtem</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e-DE" sz="975" b="0" i="0" u="none" strike="noStrike" noProof="0">
                          <a:solidFill>
                            <a:srgbClr val="1B4528"/>
                          </a:solidFill>
                          <a:effectLst/>
                          <a:latin typeface="Inter"/>
                        </a:rPr>
                        <a:t>{{gennemsnitstimer}}</a:t>
                      </a:r>
                      <a:endParaRPr lang="de-DE" sz="975" b="0" noProof="0">
                        <a:effectLst/>
                      </a:endParaRPr>
                    </a:p>
                  </a:txBody>
                  <a:tcPr marL="15874" marR="15874"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00585068"/>
                  </a:ext>
                </a:extLst>
              </a:tr>
            </a:tbl>
          </a:graphicData>
        </a:graphic>
      </p:graphicFrame>
      <p:sp>
        <p:nvSpPr>
          <p:cNvPr id="32" name="Tekstfelt 31">
            <a:extLst>
              <a:ext uri="{FF2B5EF4-FFF2-40B4-BE49-F238E27FC236}">
                <a16:creationId xmlns:a16="http://schemas.microsoft.com/office/drawing/2014/main" id="{067FE542-2FEF-EE03-D854-E2D5CB1E1DB8}"/>
              </a:ext>
            </a:extLst>
          </p:cNvPr>
          <p:cNvSpPr txBox="1"/>
          <p:nvPr/>
        </p:nvSpPr>
        <p:spPr>
          <a:xfrm>
            <a:off x="411480" y="4483209"/>
            <a:ext cx="6737040" cy="846352"/>
          </a:xfrm>
          <a:prstGeom prst="rect">
            <a:avLst/>
          </a:prstGeom>
          <a:noFill/>
        </p:spPr>
        <p:txBody>
          <a:bodyPr wrap="square">
            <a:spAutoFit/>
          </a:bodyPr>
          <a:lstStyle/>
          <a:p>
            <a:pPr rtl="0">
              <a:buNone/>
            </a:pPr>
            <a:r>
              <a:rPr lang="de-DE" sz="975" b="0" i="0" u="none" strike="noStrike" noProof="0">
                <a:solidFill>
                  <a:schemeClr val="tx2"/>
                </a:solidFill>
                <a:effectLst/>
                <a:latin typeface="Inter"/>
              </a:rPr>
              <a:t xml:space="preserve">Das Unternehmen hat Angaben zum Mindestlohn gemacht sowie den prozentualen Anteil der Beschäftigten angegeben, die von Tarifverträgen abgedeckt sind, und die durchschnittliche jährliche Stundenzahl der Schulungen je Beschäftigtem, aufgeschlüsselt nach Geschlecht. Ist das Unternehmen bereits nach EU-Rechtsvorschriften 8 oder anderen nationalen Vorschriften verpflichtet, das prozentuale Entgeltgefälle zwischen seinen weiblichen und männlichen Beschäftigten zu melden, so hat es dies anzugeben.</a:t>
            </a:r>
          </a:p>
          <a:p>
            <a:pPr>
              <a:buNone/>
            </a:pPr>
            <a:br>
              <a:rPr lang="de-DE" sz="975" noProof="0">
                <a:solidFill>
                  <a:schemeClr val="tx2"/>
                </a:solidFill>
                <a:latin typeface="Inter"/>
              </a:rPr>
            </a:br>
            <a:endParaRPr lang="de-DE" sz="975" noProof="0">
              <a:solidFill>
                <a:schemeClr val="tx2"/>
              </a:solidFill>
              <a:latin typeface="Inter"/>
            </a:endParaRPr>
          </a:p>
        </p:txBody>
      </p:sp>
    </p:spTree>
    <p:extLst>
      <p:ext uri="{BB962C8B-B14F-4D97-AF65-F5344CB8AC3E}">
        <p14:creationId xmlns:p14="http://schemas.microsoft.com/office/powerpoint/2010/main" val="1034862067"/>
      </p:ext>
    </p:extLst>
  </p:cSld>
  <p:clrMapOvr>
    <a:masterClrMapping/>
  </p:clrMapOvr>
</p:sld>
</file>

<file path=ppt/theme/theme1.xml><?xml version="1.0" encoding="utf-8"?>
<a:theme xmlns:a="http://schemas.openxmlformats.org/drawingml/2006/main" name="Tema ESG skabelon 2023">
  <a:themeElements>
    <a:clrScheme name="Custom 63">
      <a:dk1>
        <a:srgbClr val="000000"/>
      </a:dk1>
      <a:lt1>
        <a:srgbClr val="FFFFFF"/>
      </a:lt1>
      <a:dk2>
        <a:srgbClr val="1B4528"/>
      </a:dk2>
      <a:lt2>
        <a:srgbClr val="D1DAD4"/>
      </a:lt2>
      <a:accent1>
        <a:srgbClr val="1B4528"/>
      </a:accent1>
      <a:accent2>
        <a:srgbClr val="2D55FF"/>
      </a:accent2>
      <a:accent3>
        <a:srgbClr val="FCFC95"/>
      </a:accent3>
      <a:accent4>
        <a:srgbClr val="5F7D69"/>
      </a:accent4>
      <a:accent5>
        <a:srgbClr val="8DA294"/>
      </a:accent5>
      <a:accent6>
        <a:srgbClr val="BBC7BF"/>
      </a:accent6>
      <a:hlink>
        <a:srgbClr val="00A65A"/>
      </a:hlink>
      <a:folHlink>
        <a:srgbClr val="A6A6A6"/>
      </a:folHlink>
    </a:clrScheme>
    <a:fontScheme name="Custom 19">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5F7D69"/>
        </a:solidFill>
        <a:ln>
          <a:noFill/>
        </a:ln>
      </a:spPr>
      <a:bodyPr lIns="126000" tIns="108000" rIns="108000" bIns="144000" rtlCol="0" anchor="t" anchorCtr="0"/>
      <a:lstStyle>
        <a:defPPr algn="l">
          <a:lnSpc>
            <a:spcPct val="106000"/>
          </a:lnSpc>
          <a:defRPr sz="900" spc="-10" dirty="0"/>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lnSpc>
            <a:spcPct val="120000"/>
          </a:lnSpc>
          <a:defRPr sz="900" spc="-10" dirty="0" smtClean="0">
            <a:solidFill>
              <a:schemeClr val="bg1"/>
            </a:solidFill>
          </a:defRPr>
        </a:defPPr>
      </a:lstStyle>
    </a:txDef>
  </a:objectDefaults>
  <a:extraClrSchemeLst/>
  <a:custClrLst>
    <a:custClr name="Grøn 100%">
      <a:srgbClr val="1B4529"/>
    </a:custClr>
    <a:custClr name="Grøn 90%">
      <a:srgbClr val="32583E"/>
    </a:custClr>
    <a:custClr name="Grøn 80%">
      <a:srgbClr val="496A54"/>
    </a:custClr>
    <a:custClr name="Grøn 70%">
      <a:srgbClr val="5F7D69"/>
    </a:custClr>
    <a:custClr name="Grøn 60%">
      <a:srgbClr val="768F7F"/>
    </a:custClr>
    <a:custClr name="Grøn 50%">
      <a:srgbClr val="8DA294"/>
    </a:custClr>
    <a:custClr name="Grøn 40%">
      <a:srgbClr val="A4B5A9"/>
    </a:custClr>
    <a:custClr name="Grøn 30%">
      <a:srgbClr val="BBC7BF"/>
    </a:custClr>
    <a:custClr name="Grøn 20%">
      <a:srgbClr val="D1DAD4"/>
    </a:custClr>
    <a:custClr name="Grøn 10%">
      <a:srgbClr val="E8ECEA"/>
    </a:custClr>
  </a:custClrLst>
  <a:extLst>
    <a:ext uri="{05A4C25C-085E-4340-85A3-A5531E510DB2}">
      <thm15:themeFamily xmlns:thm15="http://schemas.microsoft.com/office/thememl/2012/main" name="Tema ESG skabelon 2023" id="{4F616B44-E23C-9D4B-A414-B698B6CB0592}" vid="{C1CEAE3D-34EF-BE45-B60E-4DC3BCA22C44}"/>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43a5b9ff-ef68-4e08-86c8-07b185fdc818" xsi:nil="true"/>
    <indhold xmlns="a1c42b88-5e29-4fe4-8139-416e072a19cb" xsi:nil="true"/>
    <lcf76f155ced4ddcb4097134ff3c332f xmlns="a1c42b88-5e29-4fe4-8139-416e072a19c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4C5C98558ED72C4BBCB756F8247CFA4C" ma:contentTypeVersion="18" ma:contentTypeDescription="Opret et nyt dokument." ma:contentTypeScope="" ma:versionID="05a2f073985d4662672e64bc9a421606">
  <xsd:schema xmlns:xsd="http://www.w3.org/2001/XMLSchema" xmlns:xs="http://www.w3.org/2001/XMLSchema" xmlns:p="http://schemas.microsoft.com/office/2006/metadata/properties" xmlns:ns2="a1c42b88-5e29-4fe4-8139-416e072a19cb" xmlns:ns3="202ccbda-223a-4645-9097-be5f8cdf3aa6" xmlns:ns4="43a5b9ff-ef68-4e08-86c8-07b185fdc818" targetNamespace="http://schemas.microsoft.com/office/2006/metadata/properties" ma:root="true" ma:fieldsID="50f1595d426bd689bc07261444f354ae" ns2:_="" ns3:_="" ns4:_="">
    <xsd:import namespace="a1c42b88-5e29-4fe4-8139-416e072a19cb"/>
    <xsd:import namespace="202ccbda-223a-4645-9097-be5f8cdf3aa6"/>
    <xsd:import namespace="43a5b9ff-ef68-4e08-86c8-07b185fdc818"/>
    <xsd:element name="properties">
      <xsd:complexType>
        <xsd:sequence>
          <xsd:element name="documentManagement">
            <xsd:complexType>
              <xsd:all>
                <xsd:element ref="ns2:MediaServiceMetadata" minOccurs="0"/>
                <xsd:element ref="ns2:MediaServiceFastMetadata" minOccurs="0"/>
                <xsd:element ref="ns2:MediaLengthInSeconds" minOccurs="0"/>
                <xsd:element ref="ns3:SharedWithUsers" minOccurs="0"/>
                <xsd:element ref="ns3:SharedWithDetails" minOccurs="0"/>
                <xsd:element ref="ns2:MediaServiceAutoKeyPoints" minOccurs="0"/>
                <xsd:element ref="ns2:MediaServiceKeyPoints" minOccurs="0"/>
                <xsd:element ref="ns2:MediaServiceDateTaken"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indhold"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c42b88-5e29-4fe4-8139-416e072a19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Length (seconds)" ma:internalName="MediaLengthInSeconds" ma:readOnly="true">
      <xsd:simpleType>
        <xsd:restriction base="dms:Unknow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Billedmærker" ma:readOnly="false" ma:fieldId="{5cf76f15-5ced-4ddc-b409-7134ff3c332f}" ma:taxonomyMulti="true" ma:sspId="5bc8fd69-a729-4468-93ff-8d64956d1ba4" ma:termSetId="09814cd3-568e-fe90-9814-8d621ff8fb84" ma:anchorId="fba54fb3-c3e1-fe81-a776-ca4b69148c4d" ma:open="true" ma:isKeyword="false">
      <xsd:complexType>
        <xsd:sequence>
          <xsd:element ref="pc:Terms" minOccurs="0" maxOccurs="1"/>
        </xsd:sequence>
      </xsd:complex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indhold" ma:index="22" nillable="true" ma:displayName="indhold" ma:format="Dropdown" ma:internalName="indhold">
      <xsd:simpleType>
        <xsd:restriction base="dms:Text">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02ccbda-223a-4645-9097-be5f8cdf3aa6" elementFormDefault="qualified">
    <xsd:import namespace="http://schemas.microsoft.com/office/2006/documentManagement/types"/>
    <xsd:import namespace="http://schemas.microsoft.com/office/infopath/2007/PartnerControls"/>
    <xsd:element name="SharedWithUsers" ma:index="11"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Delt med detaljer"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3a5b9ff-ef68-4e08-86c8-07b185fdc818"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a2a80f0-0fad-4372-b264-33bf0361a80c}" ma:internalName="TaxCatchAll" ma:showField="CatchAllData" ma:web="202ccbda-223a-4645-9097-be5f8cdf3a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2C55C2-A88D-45C1-99A2-B6C1D18AED07}">
  <ds:schemaRefs>
    <ds:schemaRef ds:uri="43a5b9ff-ef68-4e08-86c8-07b185fdc818"/>
    <ds:schemaRef ds:uri="a1c42b88-5e29-4fe4-8139-416e072a19cb"/>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C3C50CC-B1F2-4B3E-8326-2BA1B8993967}">
  <ds:schemaRefs>
    <ds:schemaRef ds:uri="202ccbda-223a-4645-9097-be5f8cdf3aa6"/>
    <ds:schemaRef ds:uri="43a5b9ff-ef68-4e08-86c8-07b185fdc818"/>
    <ds:schemaRef ds:uri="a1c42b88-5e29-4fe4-8139-416e072a19c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7C2DE4E-10FC-4FD7-BA3A-6232093B728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4975</Words>
  <Application>Microsoft Office PowerPoint</Application>
  <PresentationFormat>Brugerdefineret</PresentationFormat>
  <Paragraphs>637</Paragraphs>
  <Slides>19</Slides>
  <Notes>16</Notes>
  <HiddenSlides>0</HiddenSlides>
  <MMClips>0</MMClips>
  <ScaleCrop>false</ScaleCrop>
  <HeadingPairs>
    <vt:vector size="6" baseType="variant">
      <vt:variant>
        <vt:lpstr>Benyttede skrifttyper</vt:lpstr>
      </vt:variant>
      <vt:variant>
        <vt:i4>4</vt:i4>
      </vt:variant>
      <vt:variant>
        <vt:lpstr>Tema</vt:lpstr>
      </vt:variant>
      <vt:variant>
        <vt:i4>1</vt:i4>
      </vt:variant>
      <vt:variant>
        <vt:lpstr>Slidetitler</vt:lpstr>
      </vt:variant>
      <vt:variant>
        <vt:i4>19</vt:i4>
      </vt:variant>
    </vt:vector>
  </HeadingPairs>
  <TitlesOfParts>
    <vt:vector size="24" baseType="lpstr">
      <vt:lpstr>Arial</vt:lpstr>
      <vt:lpstr>Calibri</vt:lpstr>
      <vt:lpstr>IBM Plex Sans</vt:lpstr>
      <vt:lpstr>Inter</vt:lpstr>
      <vt:lpstr>Tema ESG skabelon 2023</vt:lpstr>
      <vt:lpstr>ESG REPORT {{insert_year}}</vt:lpstr>
      <vt:lpstr>ESG report  </vt:lpstr>
      <vt:lpstr>Basis for preparation (B1) </vt:lpstr>
      <vt:lpstr>Practices, policies and future initiatives for transitioning towards a more sustainable economy (B2)</vt:lpstr>
      <vt:lpstr>Energy consumption (B3)</vt:lpstr>
      <vt:lpstr>Pollution of air, water and soil (B4)</vt:lpstr>
      <vt:lpstr>Resource use, circular economy and waste management (B7) – continued</vt:lpstr>
      <vt:lpstr>Own workforce: General characteristics (B8) </vt:lpstr>
      <vt:lpstr>Business conduct: Number of convictions and fines related to corruption &amp; bribery (B11) </vt:lpstr>
      <vt:lpstr>PowerPoint-præsentation</vt:lpstr>
      <vt:lpstr>Strategy: Business model and sustainability-related initiatives (C1)</vt:lpstr>
      <vt:lpstr>Practices, policies and future initiatives for transitioning towards a more sustainable economy (C2)</vt:lpstr>
      <vt:lpstr>CO₂e emissions under B3 in the Basic Module</vt:lpstr>
      <vt:lpstr>Climate risks (C4)</vt:lpstr>
      <vt:lpstr>Climate risks (C4) - continued</vt:lpstr>
      <vt:lpstr>Additional (general) workforce characteristics (C5)</vt:lpstr>
      <vt:lpstr>Severe negative human rights incidents (C7) – Own workforce</vt:lpstr>
      <vt:lpstr>Revenues from certain activities (C8)</vt:lpstr>
      <vt:lpstr>PowerPoint-præsentation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Simonsen</dc:creator>
  <cp:lastModifiedBy>Amanda Simonsen</cp:lastModifiedBy>
  <cp:revision>28</cp:revision>
  <dcterms:created xsi:type="dcterms:W3CDTF">2025-02-28T18:51:17Z</dcterms:created>
  <dcterms:modified xsi:type="dcterms:W3CDTF">2026-08-12T20:10:01Z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0x0101004C5C98558ED72C4BBCB756F8247CFA4C</vt:lpwstr>
  </property>
  <property fmtid="{D5CDD505-2E9C-101B-9397-08002B2CF9AE}" pid="3" name="MediaServiceImageTags">
    <vt:lpwstr/>
  </property>
</Properties>
</file>