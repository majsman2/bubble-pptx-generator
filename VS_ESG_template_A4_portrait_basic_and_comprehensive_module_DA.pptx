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da-DK" smtClean="0"/>
              <a:pPr/>
              <a:t>12/08/2026</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Click to edit Master text styles</a:t>
            </a:r>
          </a:p>
          <a:p>
            <a:pPr lvl="1"/>
            <a:r>
              <a:rPr lang="da-DK"/>
              <a:t xml:space="preserve">Andet niveau</a:t>
            </a:r>
          </a:p>
          <a:p>
            <a:pPr lvl="2"/>
            <a:r>
              <a:rPr lang="da-DK"/>
              <a:t xml:space="preserve">Tredje niveau</a:t>
            </a:r>
          </a:p>
          <a:p>
            <a:pPr lvl="3"/>
            <a:r>
              <a:rPr lang="da-DK"/>
              <a:t xml:space="preserve">Fjerde niveau</a:t>
            </a:r>
          </a:p>
          <a:p>
            <a:pPr lvl="4"/>
            <a:r>
              <a:rPr lang="da-DK"/>
              <a:t xml:space="preserve">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da-DK" smtClean="0"/>
              <a:pPr/>
              <a:t>‹nr.›</a:t>
            </a:fld>
            <a:endParaRPr lang="da-DK"/>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a:t>
            </a:fld>
            <a:endParaRPr lang="da-DK"/>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2</a:t>
            </a:fld>
            <a:endParaRPr lang="da-DK"/>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3</a:t>
            </a:fld>
            <a:endParaRPr lang="da-DK"/>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{{documents_B2}}</a:t>
            </a:r>
          </a:p>
          <a:p>
            <a:r>
              <a:rPr lang="da-DK" sz="1200" b="0" i="0" u="none" strike="noStrike" kern="1200">
                <a:solidFill>
                  <a:schemeClr val="tx1"/>
                </a:solidFill>
                <a:effectLst/>
                <a:latin typeface="IBM Plex Sans" panose="020B0503050203000203" pitchFamily="34" charset="0"/>
                <a:ea typeface="+mn-ea"/>
                <a:cs typeface="+mn-cs"/>
              </a:rPr>
              <a:t xml:space="preserve">Tilføjet: kolonne om monitorering</a:t>
            </a:r>
            <a:r>
              <a:rPr lang="da-DK" sz="1200" b="0" i="0" u="none" strike="noStrike" kern="1200">
                <a:solidFill>
                  <a:schemeClr val="tx1"/>
                </a:solidFill>
                <a:effectLst/>
                <a:latin typeface="IBM Plex Sans" panose="020B0503050203000203" pitchFamily="34" charset="0"/>
                <a:ea typeface="+mn-ea"/>
                <a:cs typeface="+mn-cs"/>
              </a:rPr>
              <a:t xml:space="preserve"/>
            </a:r>
            <a:r>
              <a:rPr lang="da-DK" sz="1200" b="0" i="0" u="none" strike="noStrike" kern="1200">
                <a:solidFill>
                  <a:schemeClr val="tx1"/>
                </a:solidFill>
                <a:effectLst/>
                <a:latin typeface="IBM Plex Sans" panose="020B0503050203000203" pitchFamily="34" charset="0"/>
                <a:ea typeface="+mn-ea"/>
                <a:cs typeface="+mn-cs"/>
              </a:rPr>
              <a:t xml:space="preserve"/>
            </a:r>
            <a:r>
              <a:rPr lang="da-DK" sz="1200" b="0" i="0" u="none" strike="noStrike" kern="1200">
                <a:solidFill>
                  <a:schemeClr val="tx1"/>
                </a:solidFill>
                <a:effectLst/>
                <a:latin typeface="IBM Plex Sans" panose="020B0503050203000203" pitchFamily="34" charset="0"/>
                <a:ea typeface="+mn-ea"/>
                <a:cs typeface="+mn-cs"/>
              </a:rPr>
              <a:t xml:space="preserve"/>
            </a:r>
            <a:r>
              <a:rPr lang="da-DK" sz="1200" b="0" i="0" u="none" strike="noStrike" kern="1200">
                <a:solidFill>
                  <a:schemeClr val="tx1"/>
                </a:solidFill>
                <a:effectLst/>
                <a:latin typeface="IBM Plex Sans" panose="020B0503050203000203" pitchFamily="34" charset="0"/>
                <a:ea typeface="+mn-ea"/>
                <a:cs typeface="+mn-cs"/>
              </a:rPr>
              <a:t xml:space="preserve"/>
            </a:r>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4</a:t>
            </a:fld>
            <a:endParaRPr lang="da-DK"/>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pPr rtl="0"/>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{{Insert_CO2e_intensity}}</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5</a:t>
            </a:fld>
            <a:endParaRPr lang="da-DK"/>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{{uploaded_documents_B4}}</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6</a:t>
            </a:fld>
            <a:endParaRPr lang="da-DK"/>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7</a:t>
            </a:fld>
            <a:endParaRPr lang="da-DK"/>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a-DK"/>
              <a:t xml:space="preserve">Fjernet: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a:solidFill>
                  <a:schemeClr val="tx1"/>
                </a:solidFill>
                <a:effectLst/>
                <a:latin typeface="IBM Plex Sans" panose="020B0503050203000203" pitchFamily="34" charset="0"/>
                <a:ea typeface="+mn-ea"/>
                <a:cs typeface="+mn-cs"/>
              </a:rPr>
              <a:t>omsatningsrate</a:t>
            </a:r>
            <a:r>
              <a:rPr lang="da-DK" sz="1200" b="0" i="0" u="none" strike="noStrike" kern="1200">
                <a:solidFill>
                  <a:schemeClr val="tx1"/>
                </a:solidFill>
                <a:effectLst/>
                <a:latin typeface="IBM Plex Sans" panose="020B0503050203000203" pitchFamily="34" charset="0"/>
                <a:ea typeface="+mn-ea"/>
                <a:cs typeface="+mn-cs"/>
              </a:rPr>
              <a:t>}}</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8</a:t>
            </a:fld>
            <a:endParaRPr lang="da-DK"/>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9</a:t>
            </a:fld>
            <a:endParaRPr lang="da-DK"/>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10</a:t>
            </a:fld>
            <a:endParaRPr lang="da-DK"/>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11</a:t>
            </a:fld>
            <a:endParaRPr lang="da-DK"/>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12</a:t>
            </a:fld>
            <a:endParaRPr lang="da-DK"/>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13</a:t>
            </a:fld>
            <a:endParaRPr lang="da-DK"/>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14</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45BFCFCE-5A78-CB4C-8592-F27D9484E3BD}" type="slidenum">
              <a:rPr lang="da-DK" smtClean="0"/>
              <a:pPr/>
              <a:t>15</a:t>
            </a:fld>
            <a:endParaRPr lang="da-DK"/>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da-DK"/>
              <a:t xml:space="preserve">Tilføjet fra B8: </a:t>
            </a:r>
            <a:r>
              <a:rPr lang="da-DK" sz="1200" b="0" i="0" u="none" strike="noStrike" kern="1200">
                <a:solidFill>
                  <a:schemeClr val="tx1"/>
                </a:solidFill>
                <a:effectLst/>
                <a:latin typeface="IBM Plex Sans" panose="020B0503050203000203" pitchFamily="34" charset="0"/>
                <a:ea typeface="+mn-ea"/>
                <a:cs typeface="+mn-cs"/>
              </a:rPr>
              <a:t>{{</a:t>
            </a:r>
            <a:r>
              <a:rPr lang="da-DK" sz="1200" b="0" i="0" u="none" strike="noStrike" kern="1200">
                <a:solidFill>
                  <a:schemeClr val="tx1"/>
                </a:solidFill>
                <a:effectLst/>
                <a:latin typeface="IBM Plex Sans" panose="020B0503050203000203" pitchFamily="34" charset="0"/>
                <a:ea typeface="+mn-ea"/>
                <a:cs typeface="+mn-cs"/>
              </a:rPr>
              <a:t>omsatningsrate</a:t>
            </a:r>
            <a:r>
              <a:rPr lang="da-DK" sz="1200" b="0" i="0" u="none" strike="noStrike" kern="1200">
                <a:solidFill>
                  <a:schemeClr val="tx1"/>
                </a:solidFill>
                <a:effectLst/>
                <a:latin typeface="IBM Plex Sans" panose="020B0503050203000203" pitchFamily="34" charset="0"/>
                <a:ea typeface="+mn-ea"/>
                <a:cs typeface="+mn-cs"/>
              </a:rPr>
              <a:t>}}</a:t>
            </a:r>
            <a:endParaRPr lang="da-DK"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da-DK" smtClean="0"/>
              <a:pPr/>
              <a:t>16</a:t>
            </a:fld>
            <a:endParaRPr lang="da-DK"/>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da-DK"/>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da-DK"/>
              <a:t xml:space="preserve">KLIK FOR AT INDSÆTTE FIRMANAVN</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da-DK"/>
              <a:t xml:space="preserve">INDSÆT TITEL</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da-DK" noProof="0"/>
              <a:t>Click</a:t>
            </a:r>
            <a:r>
              <a:rPr lang="da-DK" noProof="0"/>
              <a:t> to </a:t>
            </a:r>
            <a:r>
              <a:rPr lang="da-DK" noProof="0"/>
              <a:t>edit</a:t>
            </a:r>
            <a:r>
              <a:rPr lang="da-DK" noProof="0"/>
              <a:t> Master </a:t>
            </a:r>
            <a:r>
              <a:rPr lang="da-DK" noProof="0"/>
              <a:t>text</a:t>
            </a:r>
            <a:r>
              <a:rPr lang="da-DK"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da-DK"/>
              <a:t xml:space="preserve">KLIK FOR AT INDSÆTTE FIRMANAVN</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da-DK" smtClean="0"/>
              <a:pPr/>
              <a:t>‹nr.›</a:t>
            </a:fld>
            <a:endParaRPr lang="da-DK"/>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da-DK"/>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da-DK" noProof="0"/>
              <a:t>Click</a:t>
            </a:r>
            <a:r>
              <a:rPr lang="da-DK" noProof="0"/>
              <a:t> to </a:t>
            </a:r>
            <a:r>
              <a:rPr lang="da-DK" noProof="0"/>
              <a:t>edit</a:t>
            </a:r>
            <a:r>
              <a:rPr lang="da-DK" noProof="0"/>
              <a:t> Master </a:t>
            </a:r>
            <a:r>
              <a:rPr lang="da-DK" noProof="0"/>
              <a:t>title</a:t>
            </a:r>
            <a:r>
              <a:rPr lang="da-DK"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da-DK"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da-DK" noProof="0"/>
              <a:t xml:space="preserve">KLIK FOR AT INDSÆTTE FIRMANAVN</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da-DK" noProof="0"/>
              <a:t xml:space="preserve">Indsæt virksomhedsinformation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da-DK" noProof="0"/>
              <a:t>Click</a:t>
            </a:r>
            <a:r>
              <a:rPr lang="da-DK" noProof="0"/>
              <a:t> to </a:t>
            </a:r>
            <a:r>
              <a:rPr lang="da-DK" noProof="0"/>
              <a:t>edit</a:t>
            </a:r>
            <a:r>
              <a:rPr lang="da-DK" noProof="0"/>
              <a:t> Master </a:t>
            </a:r>
            <a:r>
              <a:rPr lang="da-DK" noProof="0"/>
              <a:t>title</a:t>
            </a:r>
            <a:r>
              <a:rPr lang="da-DK"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da-DK" noProof="0"/>
              <a:t xml:space="preserve">KLIK FOR AT INDSÆTTE FIRMANAVN</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da-DK" noProof="0" smtClean="0"/>
              <a:pPr/>
              <a:t>‹nr.›</a:t>
            </a:fld>
            <a:endParaRPr lang="da-DK"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da-DK" noProof="0"/>
              <a:t>Click to edit Master text styles</a:t>
            </a:r>
          </a:p>
          <a:p>
            <a:pPr lvl="1"/>
            <a:r>
              <a:rPr lang="da-DK" noProof="0"/>
              <a:t xml:space="preserve">Andet niveau</a:t>
            </a:r>
          </a:p>
          <a:p>
            <a:pPr lvl="2"/>
            <a:r>
              <a:rPr lang="da-DK" noProof="0"/>
              <a:t xml:space="preserve">Tredje niveau</a:t>
            </a:r>
          </a:p>
          <a:p>
            <a:pPr lvl="3"/>
            <a:r>
              <a:rPr lang="da-DK" noProof="0"/>
              <a:t xml:space="preserve">Fjerde niveau</a:t>
            </a:r>
          </a:p>
          <a:p>
            <a:pPr lvl="4"/>
            <a:r>
              <a:rPr lang="da-DK" noProof="0"/>
              <a:t xml:space="preserve">Femte niveau</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da-DK"/>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da-DK"/>
              <a:t xml:space="preserve">KLIK FOR AT INDSÆTTE FIRMANAVN</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da-DK" smtClean="0"/>
              <a:pPr/>
              <a:t>‹nr.›</a:t>
            </a:fld>
            <a:endParaRPr lang="da-DK"/>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da-DK"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da-DK"/>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da-DK" noProof="0"/>
              <a:t xml:space="preserve">OPGØRELSE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da-DK" noProof="0"/>
              <a:t>{{company_name}}</a:t>
            </a:r>
            <a:endParaRPr lang="da-DK"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da-DK" noProof="0"/>
              <a:t xml:space="preserve">ESG opgørelse</a:t>
            </a:r>
            <a:r>
              <a:rPr lang="da-DK" b="0" noProof="0">
                <a:solidFill>
                  <a:srgbClr val="1B4528"/>
                </a:solidFill>
                <a:ea typeface="+mn-ea"/>
                <a:cs typeface="+mn-cs"/>
              </a:rPr>
              <a:t> </a:t>
            </a:r>
            <a:br>
              <a:rPr lang="da-DK" b="0" noProof="0">
                <a:solidFill>
                  <a:srgbClr val="1B4528"/>
                </a:solidFill>
                <a:ea typeface="+mn-ea"/>
                <a:cs typeface="+mn-cs"/>
              </a:rPr>
            </a:br>
            <a:endParaRPr lang="da-DK"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da-DK" sz="975" b="1" noProof="0" dirty="0">
              <a:latin typeface="+mj-lt"/>
            </a:endParaRPr>
          </a:p>
          <a:p>
            <a:pPr>
              <a:lnSpc>
                <a:spcPct val="150000"/>
              </a:lnSpc>
              <a:tabLst>
                <a:tab pos="239439" algn="l"/>
                <a:tab pos="388922" algn="l"/>
                <a:tab pos="3737091" algn="r"/>
              </a:tabLst>
            </a:pPr>
            <a:endParaRPr lang="da-DK" sz="975" b="1"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Generelle oplysninger				</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kern="1200" spc="-10" noProof="0">
                <a:solidFill>
                  <a:schemeClr val="tx2"/>
                </a:solidFill>
                <a:latin typeface="+mn-lt"/>
                <a:ea typeface="+mn-ea"/>
                <a:cs typeface="+mn-cs"/>
              </a:rPr>
              <a:t xml:space="preserve">Indsatser, politikker og initiativer for omstilling til en mere bæredygtig økonomi	</a:t>
            </a:r>
            <a:endParaRPr lang="da-DK" sz="975" b="1"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Energiforbrug				</a:t>
            </a:r>
            <a:endParaRPr lang="da-DK" sz="975"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CO₂e udledning 				</a:t>
            </a:r>
            <a:endParaRPr lang="da-DK" sz="975" noProof="0" dirty="0">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Forurening af luft, vand og jord</a:t>
            </a:r>
            <a:r>
              <a:rPr lang="da-DK" sz="975" noProof="0">
                <a:latin typeface="+mj-lt"/>
              </a:rPr>
              <a:t>				</a:t>
            </a: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Biodiversitet</a:t>
            </a:r>
            <a:r>
              <a:rPr lang="da-DK" sz="975" noProof="0">
                <a:latin typeface="+mj-lt"/>
              </a:rPr>
              <a:t>				</a:t>
            </a: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Vand	</a:t>
            </a:r>
            <a:r>
              <a:rPr lang="da-DK" sz="975" noProof="0">
                <a:latin typeface="+mj-lt"/>
              </a:rPr>
              <a:t> 			</a:t>
            </a: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Ressourceforbrug, cirkulærøkonomi og affaldshåndtering</a:t>
            </a:r>
            <a:r>
              <a:rPr lang="da-DK" sz="975" noProof="0">
                <a:latin typeface="+mj-lt"/>
              </a:rPr>
              <a:t>				</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Egen arbejdsstyrke: Generelle karakteristika</a:t>
            </a:r>
            <a:r>
              <a:rPr lang="da-DK" sz="975" noProof="0">
                <a:latin typeface="+mj-lt"/>
              </a:rPr>
              <a:t>				</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Egen arbejdsstyrke: Sundhed og sikkerhed</a:t>
            </a:r>
            <a:r>
              <a:rPr lang="da-DK" sz="975" noProof="0">
                <a:latin typeface="+mj-lt"/>
              </a:rPr>
              <a:t>				</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Egen arbejdsstyrke: Vederlag, overenskomster og uddannelse</a:t>
            </a:r>
            <a:r>
              <a:rPr lang="da-DK" sz="975" noProof="0">
                <a:latin typeface="+mj-lt"/>
              </a:rPr>
              <a:t>		</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Virksomhedsadfærd</a:t>
            </a:r>
            <a:r>
              <a:rPr lang="da-DK" sz="975" noProof="0">
                <a:latin typeface="+mj-lt"/>
              </a:rPr>
              <a:t>	 			</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Strategi: Forretningsmodel og bæredygtighedsrelaterede initiativer</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Indsatser, politikker og fremtidige initiativer for omstilling til en mere bæredygtig økonomi</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CO₂e-reduktionsmål</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Klimaomstilling</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Klimarisici</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Supplerende (generelle) oplysninger om arbejdsstyrken</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Menneskerettighedspolitikker og -processer</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Alvorlige negative menneskerettighedshændelser</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Indtægter fra bestemte aktiviteter</a:t>
            </a:r>
            <a:endParaRPr lang="da-DK"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da-DK" sz="975" b="1" noProof="0">
                <a:latin typeface="+mj-lt"/>
              </a:rPr>
              <a:t xml:space="preserve">Kønsfordeling i øverste ledelsesorgan</a:t>
            </a:r>
            <a:endParaRPr lang="da-DK" sz="975" noProof="0" dirty="0">
              <a:solidFill>
                <a:srgbClr val="1B4528"/>
              </a:solidFill>
              <a:latin typeface="+mj-lt"/>
            </a:endParaRPr>
          </a:p>
          <a:p>
            <a:pPr>
              <a:tabLst>
                <a:tab pos="239439" algn="l"/>
                <a:tab pos="388922" algn="l"/>
                <a:tab pos="3737091" algn="r"/>
              </a:tabLst>
            </a:pPr>
            <a:endParaRPr lang="da-DK" sz="975"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da-DK"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da-DK" noProof="0" smtClean="0"/>
              <a:pPr/>
              <a:t>2</a:t>
            </a:fld>
            <a:endParaRPr lang="da-DK"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da-DK" noProof="0"/>
              <a:t xml:space="preserve">Grundlag for udarbejdelse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da-DK"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807513"/>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83809">
                <a:tc gridSpan="2">
                  <a:txBody>
                    <a:bodyPr/>
                    <a:lstStyle/>
                    <a:p>
                      <a:pPr marL="0" algn="l" defTabSz="914400" rtl="0" eaLnBrk="1" latinLnBrk="0" hangingPunct="1"/>
                      <a:r>
                        <a:rPr lang="da-DK" sz="975" b="1" kern="1200" spc="-10" noProof="0">
                          <a:solidFill>
                            <a:schemeClr val="tx2"/>
                          </a:solidFill>
                          <a:latin typeface="+mn-lt"/>
                          <a:ea typeface="+mn-ea"/>
                          <a:cs typeface="+mn-cs"/>
                        </a:rPr>
                        <a:t xml:space="preserve">Oversigt over datterselskaber, der indgår i denne ESG-opgørelse </a:t>
                      </a:r>
                      <a:r>
                        <a:rPr lang="da-DK" sz="975" b="0" kern="1200" spc="-10" noProof="0">
                          <a:solidFill>
                            <a:schemeClr val="tx2"/>
                          </a:solidFill>
                          <a:latin typeface="+mn-lt"/>
                          <a:ea typeface="+mn-ea"/>
                          <a:cs typeface="+mn-cs"/>
                        </a:rPr>
                        <a:t xml:space="preserve">(pkt. 27d)</a:t>
                      </a:r>
                      <a:endParaRPr lang="da-DK"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19319">
                <a:tc>
                  <a:txBody>
                    <a:bodyPr/>
                    <a:lstStyle/>
                    <a:p>
                      <a:pPr algn="l"/>
                      <a:r>
                        <a:rPr lang="da-DK" sz="975" b="1" kern="1200" spc="-10" noProof="0">
                          <a:solidFill>
                            <a:schemeClr val="tx2"/>
                          </a:solidFill>
                          <a:latin typeface="+mn-lt"/>
                          <a:ea typeface="+mn-ea"/>
                          <a:cs typeface="+mn-cs"/>
                        </a:rPr>
                        <a:t xml:space="preserve">Navn på datterselskab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Adresse på datterselskab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04385">
                <a:tc>
                  <a:txBody>
                    <a:bodyPr/>
                    <a:lstStyle/>
                    <a:p>
                      <a:pPr rtl="0" fontAlgn="t" algn="l">
                        <a:buNone/>
                      </a:pPr>
                      <a:r>
                        <a:rPr lang="da-DK" sz="975" b="0" i="0" u="none" strike="noStrike" noProof="0">
                          <a:solidFill>
                            <a:srgbClr val="1B4528"/>
                          </a:solidFill>
                          <a:effectLst/>
                          <a:latin typeface="Inter"/>
                        </a:rPr>
                        <a:t>{{subsidiary}}</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subsidiary_address</a:t>
                      </a:r>
                      <a:r>
                        <a:rPr lang="da-DK" sz="975" b="0" i="0" u="none" strike="noStrike" noProof="0">
                          <a:solidFill>
                            <a:srgbClr val="1B4528"/>
                          </a:solidFill>
                          <a:effectLst/>
                          <a:latin typeface="Inter"/>
                        </a:rPr>
                        <a:t>}}</a:t>
                      </a:r>
                      <a:endParaRPr lang="da-DK"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a-DK" noProof="0" smtClean="0"/>
              <a:pPr/>
              <a:t>3</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da-DK" noProof="0"/>
              <a:t>{{company_name}}</a:t>
            </a:r>
            <a:endParaRPr lang="da-DK" b="0" noProof="0"/>
          </a:p>
          <a:p>
            <a:br>
              <a:rPr lang="da-DK" noProof="0"/>
            </a:br>
            <a:endParaRPr lang="da-DK"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306777"/>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da-DK" sz="975" b="1" noProof="0">
                          <a:solidFill>
                            <a:schemeClr val="tx2"/>
                          </a:solidFill>
                        </a:rPr>
                        <a:t xml:space="preserve">Individuel eller konsolideret rapportering</a:t>
                      </a:r>
                      <a:r>
                        <a:rPr lang="da-DK" sz="975" b="0" noProof="0">
                          <a:solidFill>
                            <a:schemeClr val="tx2"/>
                          </a:solidFill>
                        </a:rPr>
                        <a:t xml:space="preserve"> (pkt.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udarbejdet på </a:t>
                      </a:r>
                      <a:r>
                        <a:rPr lang="da-DK" sz="975" b="1" kern="1200" spc="-10" noProof="0">
                          <a:solidFill>
                            <a:schemeClr val="tx2"/>
                          </a:solidFill>
                          <a:latin typeface="+mn-lt"/>
                          <a:ea typeface="+mn-ea"/>
                          <a:cs typeface="+mn-cs"/>
                        </a:rPr>
                        <a:t xml:space="preserve">individuel basis </a:t>
                      </a:r>
                      <a:r>
                        <a:rPr lang="da-DK" sz="975" b="0" kern="1200" spc="-10" noProof="0">
                          <a:solidFill>
                            <a:schemeClr val="tx2"/>
                          </a:solidFill>
                          <a:latin typeface="+mn-lt"/>
                          <a:ea typeface="+mn-ea"/>
                          <a:cs typeface="+mn-cs"/>
                        </a:rPr>
                        <a:t xml:space="preserve">(dvs. opgørelsen dækker ikke eventuelle datterselskaber)</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975" b="0" i="0" u="none" strike="noStrike" noProof="0">
                          <a:solidFill>
                            <a:srgbClr val="1B4528"/>
                          </a:solidFill>
                          <a:effectLst/>
                          <a:latin typeface="Inter"/>
                        </a:rPr>
                        <a:t>{{yes_subsidiary?}}</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udarbejdet på et </a:t>
                      </a:r>
                      <a:r>
                        <a:rPr lang="da-DK" sz="975" b="1" kern="1200" spc="-10" noProof="0">
                          <a:solidFill>
                            <a:schemeClr val="tx2"/>
                          </a:solidFill>
                          <a:latin typeface="+mn-lt"/>
                          <a:ea typeface="+mn-ea"/>
                          <a:cs typeface="+mn-cs"/>
                        </a:rPr>
                        <a:t xml:space="preserve">konsolideret grundlag </a:t>
                      </a:r>
                      <a:r>
                        <a:rPr lang="da-DK" sz="975" b="0" kern="1200" spc="-10" noProof="0">
                          <a:solidFill>
                            <a:schemeClr val="tx2"/>
                          </a:solidFill>
                          <a:latin typeface="+mn-lt"/>
                          <a:ea typeface="+mn-ea"/>
                          <a:cs typeface="+mn-cs"/>
                        </a:rPr>
                        <a:t xml:space="preserve">(dvs. opgørelsen omfatter virksomhedens datterselskaber)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975" b="0" i="0" u="none" strike="noStrike" noProof="0">
                          <a:solidFill>
                            <a:srgbClr val="1B4528"/>
                          </a:solidFill>
                          <a:effectLst/>
                          <a:latin typeface="Inter"/>
                        </a:rPr>
                        <a:t>{{no_subsidiary?}}</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98246"/>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56479">
                <a:tc gridSpan="2">
                  <a:txBody>
                    <a:bodyPr/>
                    <a:lstStyle/>
                    <a:p>
                      <a:r>
                        <a:rPr lang="da-DK" sz="975" b="1" kern="1200" spc="-10" noProof="0">
                          <a:solidFill>
                            <a:schemeClr val="tx2"/>
                          </a:solidFill>
                          <a:latin typeface="+mn-lt"/>
                          <a:ea typeface="+mn-ea"/>
                          <a:cs typeface="+mn-cs"/>
                        </a:rPr>
                        <a:t xml:space="preserve">Basismodul, eller Basismodul +</a:t>
                      </a:r>
                      <a:r>
                        <a:rPr lang="da-DK" sz="975" b="0" kern="1200" spc="-10" noProof="0">
                          <a:solidFill>
                            <a:schemeClr val="tx2"/>
                          </a:solidFill>
                          <a:latin typeface="+mn-lt"/>
                          <a:ea typeface="+mn-ea"/>
                          <a:cs typeface="+mn-cs"/>
                        </a:rPr>
                        <a:t> </a:t>
                      </a:r>
                      <a:r>
                        <a:rPr lang="da-DK" sz="975" b="1" kern="1200" spc="-10" noProof="0">
                          <a:solidFill>
                            <a:schemeClr val="tx2"/>
                          </a:solidFill>
                          <a:latin typeface="+mn-lt"/>
                          <a:ea typeface="+mn-ea"/>
                          <a:cs typeface="+mn-cs"/>
                        </a:rPr>
                        <a:t xml:space="preserve">Udvidet Modul </a:t>
                      </a:r>
                      <a:r>
                        <a:rPr lang="da-DK" sz="975" b="0" kern="1200" spc="-10" noProof="0">
                          <a:solidFill>
                            <a:schemeClr val="tx2"/>
                          </a:solidFill>
                          <a:latin typeface="+mn-lt"/>
                          <a:ea typeface="+mn-ea"/>
                          <a:cs typeface="+mn-cs"/>
                        </a:rPr>
                        <a:t xml:space="preserve">(pkt. 27a)</a:t>
                      </a:r>
                      <a:r>
                        <a:rPr lang="da-DK" sz="975" b="1" kern="1200" spc="-10" noProof="0">
                          <a:solidFill>
                            <a:schemeClr val="tx2"/>
                          </a:solidFill>
                          <a:latin typeface="+mn-lt"/>
                          <a:ea typeface="+mn-ea"/>
                          <a:cs typeface="+mn-cs"/>
                        </a:rPr>
                        <a:t>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026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baseret på </a:t>
                      </a:r>
                      <a:r>
                        <a:rPr lang="da-DK" sz="975" b="1" kern="1200" spc="-10" noProof="0">
                          <a:solidFill>
                            <a:schemeClr val="tx2"/>
                          </a:solidFill>
                          <a:latin typeface="+mn-lt"/>
                          <a:ea typeface="+mn-ea"/>
                          <a:cs typeface="+mn-cs"/>
                        </a:rPr>
                        <a:t xml:space="preserve">Basismodulet</a:t>
                      </a:r>
                      <a:r>
                        <a:rPr lang="da-DK" sz="975" b="0" kern="1200" spc="-10" noProof="0">
                          <a:solidFill>
                            <a:schemeClr val="tx2"/>
                          </a:solidFill>
                          <a:latin typeface="+mn-lt"/>
                          <a:ea typeface="+mn-ea"/>
                          <a:cs typeface="+mn-cs"/>
                        </a:rPr>
                        <a:t xml:space="preserve"> i den frivillige SMV-standard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975" b="0" i="0" u="none" strike="noStrike" noProof="0">
                          <a:solidFill>
                            <a:srgbClr val="1B4528"/>
                          </a:solidFill>
                          <a:effectLst/>
                          <a:latin typeface="Inter"/>
                        </a:rPr>
                        <a:t>{{basic_module?}}</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Opgørelsen er baseret på </a:t>
                      </a:r>
                      <a:r>
                        <a:rPr lang="da-DK" sz="975" b="1" kern="1200" spc="-10" noProof="0">
                          <a:solidFill>
                            <a:schemeClr val="tx2"/>
                          </a:solidFill>
                          <a:latin typeface="+mn-lt"/>
                          <a:ea typeface="+mn-ea"/>
                          <a:cs typeface="+mn-cs"/>
                        </a:rPr>
                        <a:t xml:space="preserve">Basismodulet</a:t>
                      </a:r>
                      <a:r>
                        <a:rPr lang="da-DK" sz="975" b="0" kern="1200" spc="-10" noProof="0">
                          <a:solidFill>
                            <a:schemeClr val="tx2"/>
                          </a:solidFill>
                          <a:latin typeface="+mn-lt"/>
                          <a:ea typeface="+mn-ea"/>
                          <a:cs typeface="+mn-cs"/>
                        </a:rPr>
                        <a:t xml:space="preserve"> og </a:t>
                      </a:r>
                      <a:r>
                        <a:rPr lang="da-DK" sz="975" b="1" kern="1200" spc="-10" noProof="0">
                          <a:solidFill>
                            <a:schemeClr val="tx2"/>
                          </a:solidFill>
                          <a:latin typeface="+mn-lt"/>
                          <a:ea typeface="+mn-ea"/>
                          <a:cs typeface="+mn-cs"/>
                        </a:rPr>
                        <a:t xml:space="preserve">Udvidet Modul </a:t>
                      </a:r>
                      <a:r>
                        <a:rPr lang="da-DK" sz="975" b="0" kern="1200" spc="-10" noProof="0">
                          <a:solidFill>
                            <a:schemeClr val="tx2"/>
                          </a:solidFill>
                          <a:latin typeface="+mn-lt"/>
                          <a:ea typeface="+mn-ea"/>
                          <a:cs typeface="+mn-cs"/>
                        </a:rPr>
                        <a:t xml:space="preserve">i den frivillige SMV-standard</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975" b="0" i="0" u="none" strike="noStrike" noProof="0">
                          <a:solidFill>
                            <a:srgbClr val="1B4528"/>
                          </a:solidFill>
                          <a:effectLst/>
                          <a:latin typeface="Inter"/>
                        </a:rPr>
                        <a:t>{{comprehensive?}}</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udarbejdet deres bæredygtighedsrapport gennem VS standarden, som følger en struktureret tilgang for at sikre, at de nødvendige oplysninger rapporteres standardiseret og gennemsigtigt. Rapporten afspejles af de bæredygtighedsmoduler, der er udvalgt og dækket af virksomheden. Derudover er det angivet, om bæredygtighedsrapporten udarbejdes på individuel basis (kun virksomhedens egne data) eller på konsolideret basis. Dette afsnit indeholder grundlæggende oplysninger om virksomheden, f.eks. dens retlige form, NACE-sektorkode(r), balancestørrelse og omsætning, antal ansatte samt oplysninger om virksomhedens primære driftsland og placeringen af andre væsentlige aktiver.</a:t>
            </a:r>
            <a:endParaRPr lang="da-DK"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125799"/>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59842">
                <a:tc gridSpan="2">
                  <a:txBody>
                    <a:bodyPr/>
                    <a:lstStyle/>
                    <a:p>
                      <a:pPr algn="l"/>
                      <a:r>
                        <a:rPr lang="da-DK" sz="975" b="1" kern="1200" spc="-10" noProof="0">
                          <a:solidFill>
                            <a:schemeClr val="tx2"/>
                          </a:solidFill>
                          <a:latin typeface="+mn-lt"/>
                          <a:ea typeface="+mn-ea"/>
                          <a:cs typeface="+mn-cs"/>
                        </a:rPr>
                        <a:t xml:space="preserve">Grundlæggende informationer om </a:t>
                      </a:r>
                      <a:r>
                        <a:rPr lang="da-DK" sz="975" b="0" kern="1200" spc="-10" noProof="0">
                          <a:solidFill>
                            <a:schemeClr val="tx2"/>
                          </a:solidFill>
                          <a:latin typeface="+mn-lt"/>
                          <a:ea typeface="+mn-ea"/>
                          <a:cs typeface="+mn-cs"/>
                        </a:rPr>
                        <a:t xml:space="preserve"> (pkt.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397002">
                <a:tc>
                  <a:txBody>
                    <a:bodyPr/>
                    <a:lstStyle/>
                    <a:p>
                      <a:pPr algn="l"/>
                      <a:r>
                        <a:rPr lang="da-DK" sz="975" b="1" kern="1200" spc="-10" noProof="0">
                          <a:solidFill>
                            <a:schemeClr val="tx2"/>
                          </a:solidFill>
                          <a:latin typeface="+mn-lt"/>
                          <a:ea typeface="+mn-ea"/>
                          <a:cs typeface="+mn-cs"/>
                        </a:rPr>
                        <a:t xml:space="preserve">Virksomhedsform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975" b="0" i="0" u="none" strike="noStrike" noProof="0">
                          <a:solidFill>
                            <a:srgbClr val="1B4528"/>
                          </a:solidFill>
                          <a:effectLst/>
                          <a:latin typeface="Inter"/>
                        </a:rPr>
                        <a:t>{{branchekode}}</a:t>
                      </a:r>
                      <a:endParaRPr lang="da-DK"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970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NACE sektor kode(r)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975" b="0" i="0" u="none" strike="noStrike" noProof="0">
                          <a:solidFill>
                            <a:srgbClr val="1B4528"/>
                          </a:solidFill>
                          <a:effectLst/>
                          <a:latin typeface="Inter"/>
                        </a:rPr>
                        <a:t>{{NACE}}</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060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Balancesum (i Euro eller dk)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975" b="0" i="0" u="none" strike="noStrike" noProof="0">
                          <a:solidFill>
                            <a:srgbClr val="1B4528"/>
                          </a:solidFill>
                          <a:effectLst/>
                          <a:latin typeface="Inter"/>
                        </a:rPr>
                        <a:t>{{balance}}</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06055">
                <a:tc>
                  <a:txBody>
                    <a:bodyPr/>
                    <a:lstStyle/>
                    <a:p>
                      <a:pPr algn="l"/>
                      <a:r>
                        <a:rPr lang="da-DK" sz="975" b="1" kern="1200" spc="-10" noProof="0">
                          <a:solidFill>
                            <a:schemeClr val="tx2"/>
                          </a:solidFill>
                          <a:latin typeface="+mn-lt"/>
                          <a:ea typeface="+mn-ea"/>
                          <a:cs typeface="+mn-cs"/>
                        </a:rPr>
                        <a:t>Omsætning (i Euro eller dk)</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975" b="0" i="0" u="none" strike="noStrike" noProof="0">
                          <a:solidFill>
                            <a:srgbClr val="1B4528"/>
                          </a:solidFill>
                          <a:effectLst/>
                          <a:latin typeface="Inter"/>
                        </a:rPr>
                        <a:t>{{revenue}}</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59842">
                <a:tc>
                  <a:txBody>
                    <a:bodyPr/>
                    <a:lstStyle/>
                    <a:p>
                      <a:pPr algn="l"/>
                      <a:r>
                        <a:rPr lang="da-DK" sz="975" b="1" kern="1200" spc="-10" noProof="0">
                          <a:solidFill>
                            <a:schemeClr val="tx2"/>
                          </a:solidFill>
                          <a:latin typeface="+mn-lt"/>
                          <a:ea typeface="+mn-ea"/>
                          <a:cs typeface="+mn-cs"/>
                        </a:rPr>
                        <a:t xml:space="preserve">Antal ansatte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da-DK" sz="975" b="0" i="0" u="none" strike="noStrike" noProof="0">
                          <a:solidFill>
                            <a:srgbClr val="1B4528"/>
                          </a:solidFill>
                          <a:effectLst/>
                          <a:latin typeface="Inter"/>
                        </a:rPr>
                        <a:t>{{total_employees}}</a:t>
                      </a:r>
                      <a:endParaRPr lang="da-DK"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94526"/>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45653">
                <a:tc gridSpan="2">
                  <a:txBody>
                    <a:bodyPr/>
                    <a:lstStyle/>
                    <a:p>
                      <a:pPr algn="l"/>
                      <a:r>
                        <a:rPr lang="da-DK" sz="975" b="1" kern="1200" spc="-10" noProof="0">
                          <a:solidFill>
                            <a:schemeClr val="tx2"/>
                          </a:solidFill>
                          <a:latin typeface="+mn-lt"/>
                          <a:ea typeface="+mn-ea"/>
                          <a:cs typeface="+mn-cs"/>
                        </a:rPr>
                        <a:t xml:space="preserve">ESG-opgørelsen indeholder udeladelser grundet sensitiv forretningsinformation </a:t>
                      </a:r>
                      <a:r>
                        <a:rPr lang="da-DK" sz="975" b="0" kern="1200" spc="-10" noProof="0">
                          <a:solidFill>
                            <a:schemeClr val="tx2"/>
                          </a:solidFill>
                          <a:latin typeface="+mn-lt"/>
                          <a:ea typeface="+mn-ea"/>
                          <a:cs typeface="+mn-cs"/>
                        </a:rPr>
                        <a:t xml:space="preserve">(pkt.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48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kern="1200" spc="-10" noProof="0">
                          <a:solidFill>
                            <a:schemeClr val="tx2"/>
                          </a:solidFill>
                          <a:latin typeface="+mn-lt"/>
                          <a:ea typeface="+mn-ea"/>
                          <a:cs typeface="+mn-cs"/>
                        </a:rPr>
                        <a:t xml:space="preserve">Følgende oplysnings-punkter er udeladt</a:t>
                      </a:r>
                    </a:p>
                    <a:p>
                      <a:pPr algn="l"/>
                      <a:endParaRPr lang="da-DK"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a-DK" sz="975" noProof="0">
                          <a:solidFill>
                            <a:srgbClr val="1B4528"/>
                          </a:solidFill>
                          <a:latin typeface="+mn-lt"/>
                          <a:cs typeface="Calibri" panose="020F0502020204030204" pitchFamily="34" charset="0"/>
                        </a:rPr>
                        <a:t>{{</a:t>
                      </a:r>
                      <a:r>
                        <a:rPr lang="da-DK" sz="975" noProof="0">
                          <a:solidFill>
                            <a:srgbClr val="1B4528"/>
                          </a:solidFill>
                          <a:latin typeface="+mn-lt"/>
                          <a:cs typeface="Calibri" panose="020F0502020204030204" pitchFamily="34" charset="0"/>
                        </a:rPr>
                        <a:t>confidentiality_info</a:t>
                      </a:r>
                      <a:r>
                        <a:rPr lang="da-DK" sz="975" noProof="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da-DK" sz="975" b="1" kern="1200" spc="-10" noProof="0">
                          <a:solidFill>
                            <a:schemeClr val="tx2"/>
                          </a:solidFill>
                          <a:latin typeface="+mn-lt"/>
                          <a:ea typeface="+mn-ea"/>
                          <a:cs typeface="+mn-cs"/>
                        </a:rPr>
                        <a:t xml:space="preserve">Navn på ESG-certifikat/miljømærke </a:t>
                      </a:r>
                      <a:r>
                        <a:rPr lang="da-DK" sz="975" b="0" kern="1200" spc="-10" noProof="0">
                          <a:solidFill>
                            <a:schemeClr val="tx2"/>
                          </a:solidFill>
                          <a:latin typeface="+mn-lt"/>
                          <a:ea typeface="+mn-ea"/>
                          <a:cs typeface="+mn-cs"/>
                        </a:rPr>
                        <a:t xml:space="preserve">(pkt.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Kort beskrivelse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Dato for udstedelse/</a:t>
                      </a:r>
                    </a:p>
                    <a:p>
                      <a:pPr algn="l"/>
                      <a:r>
                        <a:rPr lang="da-DK" sz="975" b="1" kern="1200" spc="-10" noProof="0">
                          <a:solidFill>
                            <a:schemeClr val="tx2"/>
                          </a:solidFill>
                          <a:latin typeface="+mn-lt"/>
                          <a:ea typeface="+mn-ea"/>
                          <a:cs typeface="+mn-cs"/>
                        </a:rPr>
                        <a:t xml:space="preserve">gyldighed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da-DK" sz="975" b="1" kern="1200" spc="-10" noProof="0">
                          <a:solidFill>
                            <a:schemeClr val="tx2"/>
                          </a:solidFill>
                          <a:latin typeface="+mn-lt"/>
                          <a:ea typeface="+mn-ea"/>
                          <a:cs typeface="+mn-cs"/>
                        </a:rPr>
                        <a:t xml:space="preserve">Evt. rating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da-DK" sz="975" b="0" i="0" u="none" strike="noStrike" noProof="0">
                          <a:solidFill>
                            <a:srgbClr val="1B4528"/>
                          </a:solidFill>
                          <a:effectLst/>
                          <a:latin typeface="Inter"/>
                        </a:rPr>
                        <a:t>{{certificate_or_ecolabel}}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a-DK" sz="975" b="0" i="0" u="none" strike="noStrike" noProof="0">
                          <a:solidFill>
                            <a:srgbClr val="1B4528"/>
                          </a:solidFill>
                          <a:effectLst/>
                          <a:latin typeface="Inter"/>
                        </a:rPr>
                        <a:t>{{description_certificate}}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date_certicate</a:t>
                      </a:r>
                      <a:r>
                        <a:rPr lang="da-DK" sz="975" b="0" i="0" u="none" strike="noStrike" noProof="0">
                          <a:solidFill>
                            <a:srgbClr val="1B4528"/>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certiciate_possible_rating</a:t>
                      </a:r>
                      <a:r>
                        <a:rPr lang="da-DK" sz="975" b="0" i="0" u="none" strike="noStrike" noProof="0">
                          <a:solidFill>
                            <a:srgbClr val="1B4528"/>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Adresser og geolokation på </a:t>
                      </a:r>
                      <a:r>
                        <a:rPr lang="da-DK" sz="975" b="1" u="none" kern="1200" spc="-10" noProof="0">
                          <a:solidFill>
                            <a:schemeClr val="tx2"/>
                          </a:solidFill>
                          <a:latin typeface="+mn-lt"/>
                          <a:ea typeface="+mn-ea"/>
                          <a:cs typeface="+mn-cs"/>
                        </a:rPr>
                        <a:t xml:space="preserve">væsentlige</a:t>
                      </a:r>
                      <a:r>
                        <a:rPr lang="da-DK" sz="975" b="1" kern="1200" spc="-10" noProof="0">
                          <a:solidFill>
                            <a:schemeClr val="tx2"/>
                          </a:solidFill>
                          <a:latin typeface="+mn-lt"/>
                          <a:ea typeface="+mn-ea"/>
                          <a:cs typeface="+mn-cs"/>
                        </a:rPr>
                        <a:t xml:space="preserve"> aktiver og anlæg, som virksomheden</a:t>
                      </a:r>
                      <a:r>
                        <a:rPr lang="da-DK" sz="975" b="0" kern="1200" spc="-10" noProof="0">
                          <a:solidFill>
                            <a:schemeClr val="tx2"/>
                          </a:solidFill>
                          <a:latin typeface="+mn-lt"/>
                          <a:ea typeface="+mn-ea"/>
                          <a:cs typeface="+mn-cs"/>
                        </a:rPr>
                        <a:t> </a:t>
                      </a:r>
                      <a:r>
                        <a:rPr lang="da-DK" sz="975" b="1" kern="1200" spc="-10" noProof="0">
                          <a:solidFill>
                            <a:schemeClr val="tx2"/>
                          </a:solidFill>
                          <a:latin typeface="+mn-lt"/>
                          <a:ea typeface="+mn-ea"/>
                          <a:cs typeface="+mn-cs"/>
                        </a:rPr>
                        <a:t xml:space="preserve">ejer, lejer eller forvalter </a:t>
                      </a:r>
                      <a:r>
                        <a:rPr lang="da-DK" sz="975" b="0" kern="1200" spc="-10" noProof="0">
                          <a:solidFill>
                            <a:schemeClr val="tx2"/>
                          </a:solidFill>
                          <a:latin typeface="+mn-lt"/>
                          <a:ea typeface="+mn-ea"/>
                          <a:cs typeface="+mn-cs"/>
                        </a:rPr>
                        <a:t xml:space="preserve">(pkt.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da-DK" sz="975" b="1" kern="1200" spc="-10" noProof="0">
                          <a:solidFill>
                            <a:schemeClr val="tx2"/>
                          </a:solidFill>
                          <a:latin typeface="+mn-lt"/>
                          <a:ea typeface="+mn-ea"/>
                          <a:cs typeface="+mn-cs"/>
                        </a:rPr>
                        <a:t xml:space="preserve">Sted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Adresse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Postnummer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By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Land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Geolokation (koordinater)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da-DK" sz="975" b="0" i="0" u="none" strike="noStrike" noProof="0">
                          <a:solidFill>
                            <a:srgbClr val="1B4528"/>
                          </a:solidFill>
                          <a:effectLst/>
                          <a:latin typeface="Inter"/>
                        </a:rPr>
                        <a:t>{{geolocation}}</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geolocation_adress</a:t>
                      </a:r>
                      <a:r>
                        <a:rPr lang="da-DK" sz="975" b="0" i="0" u="none" strike="noStrike" noProof="0">
                          <a:solidFill>
                            <a:srgbClr val="1B4528"/>
                          </a:solidFill>
                          <a:effectLst/>
                          <a:latin typeface="Inter"/>
                        </a:rPr>
                        <a:t>}}</a:t>
                      </a:r>
                      <a:endParaRPr lang="da-DK"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975" b="0" i="0" u="none" strike="noStrike" noProof="0">
                          <a:solidFill>
                            <a:srgbClr val="1B4528"/>
                          </a:solidFill>
                          <a:effectLst/>
                          <a:latin typeface="Inter"/>
                        </a:rPr>
                        <a:t>{{geolocation_postcode}}</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975" b="0" i="0" u="none" strike="noStrike" noProof="0">
                          <a:solidFill>
                            <a:srgbClr val="1B4528"/>
                          </a:solidFill>
                          <a:effectLst/>
                          <a:latin typeface="Inter"/>
                        </a:rPr>
                        <a:t>{{geolocation_city}}</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975" b="0" i="0" u="none" strike="noStrike" noProof="0">
                          <a:solidFill>
                            <a:srgbClr val="1B4528"/>
                          </a:solidFill>
                          <a:effectLst/>
                          <a:latin typeface="Inter"/>
                        </a:rPr>
                        <a:t>{{geolocation_country}}</a:t>
                      </a:r>
                      <a:endParaRPr lang="da-DK"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geolocation_coordinates</a:t>
                      </a:r>
                      <a:r>
                        <a:rPr lang="da-DK" sz="975" b="0" i="0" u="none" strike="noStrike" noProof="0">
                          <a:solidFill>
                            <a:srgbClr val="1B4528"/>
                          </a:solidFill>
                          <a:effectLst/>
                          <a:latin typeface="Inter"/>
                        </a:rPr>
                        <a:t>}}</a:t>
                      </a:r>
                      <a:endParaRPr lang="da-DK"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da-DK" sz="975" b="0" i="0" u="none" strike="noStrike" noProof="0">
                <a:solidFill>
                  <a:schemeClr val="tx2"/>
                </a:solidFill>
                <a:effectLst/>
                <a:latin typeface="Inter"/>
              </a:rPr>
              <a:t xml:space="preserve">Nedenfor er en beskrivelse af virksomhedens geolokationer, samt hvor virksomheden opererer. Disse oplysninger kan anvendes til klimarelaterede risikozoner og giver oplysninger om virksomhedens anlæg, faciliteter og/eller hovedkvarter</a:t>
            </a:r>
            <a:r>
              <a:rPr lang="da-DK" sz="975" noProof="0">
                <a:solidFill>
                  <a:schemeClr val="tx2"/>
                </a:solidFill>
                <a:latin typeface="Inter"/>
              </a:rPr>
              <a:t xml:space="preserve">. Relevante bæredygtighedscertificeringer eller -mærker er også angivet, herunder udsteder af certificeringen, dato og eventuel rating.</a:t>
            </a:r>
            <a:endParaRPr lang="da-DK"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da-DK" sz="975" noProof="0">
                <a:solidFill>
                  <a:srgbClr val="487477"/>
                </a:solidFill>
                <a:latin typeface="Inter"/>
              </a:rPr>
              <a:t xml:space="preserve">Virksomhedens certifikater og miljømærker er listet nedenfor.</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da-DK" noProof="0"/>
              <a:t xml:space="preserve">Indsatser, politikker og fremtidige initiativer for omstilling til en mere bæredygtig økonomi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da-DK" sz="975" b="1" kern="1200" spc="-10" noProof="0">
                          <a:solidFill>
                            <a:schemeClr val="tx2"/>
                          </a:solidFill>
                          <a:latin typeface="+mn-lt"/>
                          <a:ea typeface="+mn-ea"/>
                          <a:cs typeface="+mn-cs"/>
                        </a:rPr>
                        <a:t xml:space="preserve">Område</a:t>
                      </a:r>
                    </a:p>
                    <a:p>
                      <a:r>
                        <a:rPr lang="da-DK" sz="975" b="0" kern="1200" spc="-10" noProof="0">
                          <a:solidFill>
                            <a:schemeClr val="tx2"/>
                          </a:solidFill>
                          <a:latin typeface="+mn-lt"/>
                          <a:ea typeface="+mn-ea"/>
                          <a:cs typeface="+mn-cs"/>
                        </a:rPr>
                        <a:t xml:space="preserve">(pkt.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Virksomheden har en konkret indsats eller politik på området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Er politikken offentligt tilgængelig?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Virksomheden har fremtidige initiativer og planer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Virksomheden har konkrete målsætninger til at monitorere implementering af indsatser og politikker?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da-DK" sz="975" b="1" kern="1200" spc="-10" noProof="0">
                          <a:solidFill>
                            <a:schemeClr val="tx2"/>
                          </a:solidFill>
                          <a:latin typeface="+mn-lt"/>
                          <a:ea typeface="+mn-ea"/>
                          <a:cs typeface="+mn-cs"/>
                        </a:rPr>
                        <a:t xml:space="preserve">Klimaforandringer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{{climate_change_concrete}}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{{climate_change_publicly}}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{{climate_change_future}}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{{climate_change_plan}}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da-DK" sz="975" b="1" kern="1200" spc="-10" noProof="0">
                          <a:solidFill>
                            <a:schemeClr val="tx2"/>
                          </a:solidFill>
                          <a:latin typeface="+mn-lt"/>
                          <a:ea typeface="+mn-ea"/>
                          <a:cs typeface="+mn-cs"/>
                        </a:rPr>
                        <a:t xml:space="preserve">Forurening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{{pollution_concrete}}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{{pollution_publicly}}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{{pollution_future}}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{{pollution_plan}}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da-DK" sz="975" b="1" kern="1200" spc="-10" noProof="0">
                          <a:solidFill>
                            <a:schemeClr val="tx2"/>
                          </a:solidFill>
                          <a:latin typeface="+mn-lt"/>
                          <a:ea typeface="+mn-ea"/>
                          <a:cs typeface="+mn-cs"/>
                        </a:rPr>
                        <a:t xml:space="preserve">Vand -og Havressourcer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{{water_concrete}}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{{water_publicly}}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{{water_future}}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{{water_plan}}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da-DK" sz="975" b="1" kern="1200" spc="-10" noProof="0">
                          <a:solidFill>
                            <a:schemeClr val="tx2"/>
                          </a:solidFill>
                          <a:latin typeface="+mn-lt"/>
                          <a:ea typeface="+mn-ea"/>
                          <a:cs typeface="+mn-cs"/>
                        </a:rPr>
                        <a:t xml:space="preserve">Biodiversitet og Økosystemer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{{biodiversity_concrete}}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{{biodiversity_publicly}}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{{biodiversity_future}}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{{biodiversity_plan}}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da-DK" sz="975" b="1" kern="1200" spc="-10" noProof="0">
                          <a:solidFill>
                            <a:schemeClr val="tx2"/>
                          </a:solidFill>
                          <a:latin typeface="+mn-lt"/>
                          <a:ea typeface="+mn-ea"/>
                          <a:cs typeface="+mn-cs"/>
                        </a:rPr>
                        <a:t xml:space="preserve">Cirkulær økonomi</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{{circular_concrete}}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{{circular_publicly}}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{{circular_future}}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{{circular_plan}}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da-DK" sz="975" b="1" kern="1200" spc="-10" noProof="0">
                          <a:solidFill>
                            <a:schemeClr val="tx2"/>
                          </a:solidFill>
                          <a:latin typeface="+mn-lt"/>
                          <a:ea typeface="+mn-ea"/>
                          <a:cs typeface="+mn-cs"/>
                        </a:rPr>
                        <a:t xml:space="preserve">Egen arbejdsstyrke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{{workforce_concrete}}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{{workforce_publicly}}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{{workforce_future}}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{{workforce_plan}}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da-DK" sz="975" b="1" kern="1200" spc="-10" noProof="0">
                          <a:solidFill>
                            <a:schemeClr val="tx2"/>
                          </a:solidFill>
                          <a:latin typeface="+mn-lt"/>
                          <a:ea typeface="+mn-ea"/>
                          <a:cs typeface="+mn-cs"/>
                        </a:rPr>
                        <a:t xml:space="preserve">Arbejdere i værdikæden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{{workers_concrete}}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{{workers_publicly}}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{{workers_future}}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{{workers_plan}}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da-DK" sz="975" b="1" kern="1200" spc="-10" noProof="0">
                          <a:solidFill>
                            <a:schemeClr val="tx2"/>
                          </a:solidFill>
                          <a:latin typeface="+mn-lt"/>
                          <a:ea typeface="+mn-ea"/>
                          <a:cs typeface="+mn-cs"/>
                        </a:rPr>
                        <a:t xml:space="preserve">Berørte samfund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{{communities_concrete}}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{{communities_publicly}}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{{communities_future}}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{{communities_plan}}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da-DK" sz="975" b="1" kern="1200" spc="-10" noProof="0">
                          <a:solidFill>
                            <a:schemeClr val="tx2"/>
                          </a:solidFill>
                          <a:latin typeface="+mn-lt"/>
                          <a:ea typeface="+mn-ea"/>
                          <a:cs typeface="+mn-cs"/>
                        </a:rPr>
                        <a:t xml:space="preserve">Forbrugere og slutbrugere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{{consumers_concrete}}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{{consumers_publicly}}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{{consumers_future}}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{{consumers_plan}}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da-DK" sz="975" b="1" kern="1200" spc="-10" noProof="0">
                          <a:solidFill>
                            <a:schemeClr val="tx2"/>
                          </a:solidFill>
                          <a:latin typeface="+mn-lt"/>
                          <a:ea typeface="+mn-ea"/>
                          <a:cs typeface="+mn-cs"/>
                        </a:rPr>
                        <a:t xml:space="preserve">Virksomhedsledelse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{{governance_concrete}}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{{governance_publicly}}</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{{governance_future}}</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latin typeface="Inter"/>
                        </a:rPr>
                        <a:t>{{governance_plan}}</a:t>
                      </a:r>
                      <a:endParaRPr lang="da-DK">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da-DK" sz="975" b="0" i="0" u="none" strike="noStrike" noProof="0">
                <a:solidFill>
                  <a:schemeClr val="tx2"/>
                </a:solidFill>
                <a:effectLst/>
                <a:latin typeface="Inter"/>
              </a:rPr>
              <a:t xml:space="preserve">Dette afsnit skitserer de praksisser, politikker og fremtidige initiativer, som virksomheden har implementeret for at understøtte en bæredygtig økonomi. Dette omfatter angivelse af, hvilke konkrete tiltag virksomheden har taget for at reducere negative miljøpåvirkninger, forbedre arbejdsforhold og ligebehandling (JA/NEJ).</a:t>
            </a:r>
            <a:br>
              <a:rPr lang="da-DK" sz="975" noProof="0">
                <a:solidFill>
                  <a:schemeClr val="tx2"/>
                </a:solidFill>
              </a:rPr>
            </a:br>
            <a:endParaRPr lang="da-DK"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da-DK" noProof="0" smtClean="0"/>
              <a:pPr/>
              <a:t>4</a:t>
            </a:fld>
            <a:endParaRPr lang="da-DK"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Energiforbrug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Energiforbrug i MWh </a:t>
                      </a:r>
                      <a:r>
                        <a:rPr lang="da-DK" sz="975" b="0" noProof="0">
                          <a:solidFill>
                            <a:schemeClr val="tx2"/>
                          </a:solidFill>
                        </a:rPr>
                        <a:t xml:space="preserve">(pkt.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da-DK"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da-DK"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975" b="1" noProof="0">
                          <a:solidFill>
                            <a:schemeClr val="tx2"/>
                          </a:solidFill>
                        </a:rPr>
                        <a:t xml:space="preserve">Vedvarende energiforbrug</a:t>
                      </a:r>
                      <a:r>
                        <a:rPr lang="da-DK"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da-DK" sz="975" b="1" noProof="0">
                          <a:solidFill>
                            <a:schemeClr val="tx2"/>
                          </a:solidFill>
                        </a:rPr>
                        <a:t xml:space="preserve">Ikke-vedvarende energiforbrug</a:t>
                      </a:r>
                      <a:r>
                        <a:rPr lang="da-DK" sz="975" b="1" noProof="0">
                          <a:solidFill>
                            <a:schemeClr val="tx2"/>
                          </a:solidFill>
                        </a:rPr>
                        <a:t xml:space="preserve">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Total energiforbrug (MWh)</a:t>
                      </a:r>
                    </a:p>
                    <a:p>
                      <a:pPr marL="0" marR="0" lvl="0" indent="0" algn="r" defTabSz="914400" rtl="0" eaLnBrk="1" fontAlgn="auto" latinLnBrk="0" hangingPunct="1">
                        <a:lnSpc>
                          <a:spcPct val="106000"/>
                        </a:lnSpc>
                        <a:spcBef>
                          <a:spcPts val="0"/>
                        </a:spcBef>
                        <a:spcAft>
                          <a:spcPts val="0"/>
                        </a:spcAft>
                        <a:buClrTx/>
                        <a:buSzTx/>
                        <a:buFontTx/>
                        <a:buNone/>
                        <a:tabLst/>
                        <a:defRPr/>
                      </a:pPr>
                      <a:r>
                        <a:rPr lang="da-DK"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da-DK" sz="975" b="1" noProof="0">
                          <a:solidFill>
                            <a:schemeClr val="tx2"/>
                          </a:solidFill>
                        </a:rPr>
                        <a:t xml:space="preserve">Elektricitet </a:t>
                      </a:r>
                      <a:r>
                        <a:rPr lang="da-DK" sz="975" b="0" noProof="0">
                          <a:solidFill>
                            <a:schemeClr val="tx2"/>
                          </a:solidFill>
                        </a:rPr>
                        <a:t xml:space="preserve">(som det fremgår af virksomhedens forbrugsregninger)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{{electricity_renewable}}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{{electricity_non_rewenable}}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{{total_electricity}}</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da-DK" sz="975" b="1" noProof="0">
                          <a:solidFill>
                            <a:schemeClr val="tx2"/>
                          </a:solidFill>
                        </a:rPr>
                        <a:t xml:space="preserve">Brændstoffer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{{fuel_renewable}}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{{fuel_non_rewenable}}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{{total_fuel}}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da-DK" sz="975" b="1" noProof="0">
                          <a:solidFill>
                            <a:schemeClr val="tx2"/>
                          </a:solidFill>
                        </a:rPr>
                        <a:t xml:space="preserve">Andet (fx fjernvarme)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{{district_heating_rewenable}}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{{district_heating_non_rewenable}}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{{total_district_heating}}</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da-DK"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{{renewable_energy_total}}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{{non_rewenable_energy_total}}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BM Plex Sans" panose="020B0503050203000203" pitchFamily="34" charset="0"/>
                        </a:rPr>
                        <a:t>{{total_energy_consumption}}</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5</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da-DK" sz="975" b="0" i="0" u="none" strike="noStrike" noProof="0">
                <a:solidFill>
                  <a:schemeClr val="tx2"/>
                </a:solidFill>
                <a:effectLst/>
                <a:latin typeface="Inter"/>
              </a:rPr>
              <a:t xml:space="preserve">Dette afsnit angiver virksomhedens CO2-udledning fra energiforbrug og angiver vedvarende og ikke-vedvarende forbrug. </a:t>
            </a:r>
            <a:r>
              <a:rPr lang="da-DK" sz="975" noProof="0">
                <a:solidFill>
                  <a:schemeClr val="tx2"/>
                </a:solidFill>
                <a:latin typeface="Inter"/>
              </a:rPr>
              <a:t xml:space="preserve">Udledningerne er oplyst ud fra </a:t>
            </a:r>
            <a:r>
              <a:rPr lang="da-DK" sz="975" b="0" i="0" u="none" strike="noStrike" noProof="0">
                <a:solidFill>
                  <a:schemeClr val="tx2"/>
                </a:solidFill>
                <a:effectLst/>
                <a:latin typeface="Inter"/>
              </a:rPr>
              <a:t xml:space="preserve">GHG-protokollens definitioner afhvad direkte og indirekte emissioner omfatter. </a:t>
            </a:r>
            <a:br>
              <a:rPr lang="da-DK" sz="975" b="0" i="0" u="none" strike="noStrike" noProof="0" dirty="0">
                <a:effectLst/>
                <a:latin typeface="Inter"/>
              </a:rPr>
            </a:br>
            <a:br>
              <a:rPr lang="da-DK" sz="975" dirty="0">
                <a:latin typeface="Inter"/>
              </a:rPr>
            </a:br>
            <a:r>
              <a:rPr lang="da-DK" sz="650" b="0" i="0" u="none" strike="noStrike" noProof="0">
                <a:solidFill>
                  <a:schemeClr val="tx2"/>
                </a:solidFill>
                <a:effectLst/>
                <a:latin typeface="Inter"/>
              </a:rPr>
              <a:t> </a:t>
            </a:r>
            <a:endParaRPr lang="da-DK" sz="975" b="0" i="0" u="none" strike="noStrike" noProof="0" dirty="0">
              <a:solidFill>
                <a:schemeClr val="tx2"/>
              </a:solidFill>
              <a:effectLst/>
              <a:latin typeface="Inter"/>
            </a:endParaRPr>
          </a:p>
          <a:p>
            <a:pPr rtl="0">
              <a:buNone/>
            </a:pPr>
            <a:endParaRPr lang="da-DK" sz="975" b="0" noProof="0">
              <a:solidFill>
                <a:schemeClr val="tx2"/>
              </a:solidFill>
              <a:effectLst/>
              <a:latin typeface="Inter"/>
            </a:endParaRPr>
          </a:p>
          <a:p>
            <a:pPr>
              <a:buNone/>
            </a:pPr>
            <a:endParaRPr lang="da-DK" b="0" noProof="0">
              <a:solidFill>
                <a:schemeClr val="tx2"/>
              </a:solidFill>
              <a:effectLst/>
              <a:latin typeface="Inter"/>
            </a:endParaRPr>
          </a:p>
          <a:p>
            <a:pPr>
              <a:buNone/>
            </a:pPr>
            <a:endParaRPr lang="da-DK" sz="1325" noProof="0">
              <a:solidFill>
                <a:schemeClr val="tx2"/>
              </a:solidFill>
              <a:latin typeface="Inter"/>
            </a:endParaRPr>
          </a:p>
          <a:p>
            <a:pPr>
              <a:buNone/>
            </a:pPr>
            <a:endParaRPr lang="da-DK" sz="1325" b="0" noProof="0">
              <a:solidFill>
                <a:schemeClr val="tx2"/>
              </a:solidFill>
              <a:effectLst/>
              <a:latin typeface="Inter"/>
            </a:endParaRPr>
          </a:p>
          <a:p>
            <a:pPr>
              <a:buNone/>
            </a:pPr>
            <a:endParaRPr lang="da-DK" sz="1325" noProof="0">
              <a:solidFill>
                <a:schemeClr val="tx2"/>
              </a:solidFill>
              <a:latin typeface="Inter"/>
            </a:endParaRPr>
          </a:p>
          <a:p>
            <a:pPr>
              <a:buNone/>
            </a:pPr>
            <a:endParaRPr lang="da-DK" sz="1325" b="0" noProof="0">
              <a:solidFill>
                <a:schemeClr val="tx2"/>
              </a:solidFill>
              <a:effectLst/>
              <a:latin typeface="Inter"/>
            </a:endParaRPr>
          </a:p>
          <a:p>
            <a:endParaRPr lang="da-DK"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da-DK" sz="975" b="1" noProof="0">
                          <a:solidFill>
                            <a:schemeClr val="tx2"/>
                          </a:solidFill>
                        </a:rPr>
                        <a:t xml:space="preserve">Udledning af drivhusgasser </a:t>
                      </a:r>
                      <a:r>
                        <a:rPr lang="da-DK" sz="975" b="0" noProof="0">
                          <a:solidFill>
                            <a:schemeClr val="tx2"/>
                          </a:solidFill>
                        </a:rPr>
                        <a:t xml:space="preserve">(pkt. 33)</a:t>
                      </a: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År </a:t>
                      </a:r>
                      <a:r>
                        <a:rPr lang="da-DK"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da-DK" sz="975" b="1" noProof="0">
                          <a:solidFill>
                            <a:schemeClr val="tx2"/>
                          </a:solidFill>
                        </a:rPr>
                        <a:t xml:space="preserve">Scope 1 CO₂e-udledninger</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{{scope1}}</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da-DK" sz="975" b="1" noProof="0">
                          <a:solidFill>
                            <a:schemeClr val="tx2"/>
                          </a:solidFill>
                        </a:rPr>
                        <a:t xml:space="preserve">Scope 2 CO₂e-udledninger (lokationsbaseret)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{{scope2}}</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a-DK" sz="975" b="1" noProof="0">
                          <a:solidFill>
                            <a:schemeClr val="tx2"/>
                          </a:solidFill>
                        </a:rPr>
                        <a:t xml:space="preserve">Total CO₂e-udledning fra scope 1 og scope 2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{{total_scope}}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da-DK" sz="975" b="1" noProof="0">
                          <a:solidFill>
                            <a:schemeClr val="tx2"/>
                          </a:solidFill>
                        </a:rPr>
                        <a:t xml:space="preserve">Scope 2 CO₂e-udledninger (markedsbaseret) (frivillig)</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{{scope1_marked}}</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da-DK" sz="975" b="1" noProof="0">
                          <a:solidFill>
                            <a:schemeClr val="tx2"/>
                          </a:solidFill>
                        </a:rPr>
                        <a:t xml:space="preserve">Total CO₂e-udledning fra scope 1 og scope 2 (markedsbaseret) (frivillig)</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{{scope2_marked}}</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da-DK" b="1" dirty="0">
                <a:latin typeface="+mj-lt"/>
              </a:rPr>
            </a:br>
            <a:r>
              <a:rPr lang="da-DK" b="1" i="0" u="none" strike="noStrike" noProof="0">
                <a:solidFill>
                  <a:schemeClr val="tx2"/>
                </a:solidFill>
                <a:effectLst/>
                <a:latin typeface="+mj-lt"/>
              </a:rPr>
              <a:t xml:space="preserve">CO₂e-udledning (B3)</a:t>
            </a:r>
            <a:endParaRPr lang="da-DK" noProof="0">
              <a:solidFill>
                <a:schemeClr val="tx2"/>
              </a:solidFill>
              <a:effectLst/>
              <a:latin typeface="+mj-lt"/>
            </a:endParaRPr>
          </a:p>
          <a:p>
            <a:r>
              <a:rPr lang="da-DK" sz="650">
                <a:latin typeface="Inter"/>
              </a:rPr>
              <a:t> </a:t>
            </a:r>
            <a:br>
              <a:rPr lang="da-DK" sz="975" dirty="0">
                <a:solidFill>
                  <a:schemeClr val="tx2"/>
                </a:solidFill>
                <a:latin typeface="Inter"/>
              </a:rPr>
            </a:br>
            <a:r>
              <a:rPr lang="da-DK" sz="975" b="0" i="0" u="none" strike="noStrike" noProof="0">
                <a:solidFill>
                  <a:schemeClr val="tx2"/>
                </a:solidFill>
                <a:effectLst/>
                <a:latin typeface="Inter"/>
              </a:rPr>
              <a:t xml:space="preserve">Pkt. 33 indeholder oplysninger om virksomhedens drivhusgasemissioner baseret på Scope 1- og Scope 2-emissioner. Scope 1 angiver de direkte drivhusgasemissioner og inkluderer emissioner fra kilder, som virksomheden ejer eller kontrollerer direkte. Dette omfatter for eksempel afbrænding af brændstof i firmakøretøjer eller opvarmning af bygninger med naturgas samt emissioner fra industrielle processer og lækager i systemer som f.eks. køling.</a:t>
            </a:r>
            <a:r>
              <a:rPr lang="da-DK" sz="975" noProof="0">
                <a:solidFill>
                  <a:schemeClr val="tx2"/>
                </a:solidFill>
                <a:latin typeface="Inter"/>
              </a:rPr>
              <a:t> </a:t>
            </a:r>
            <a:r>
              <a:rPr lang="da-DK" sz="975" b="0" i="0" u="none" strike="noStrike" noProof="0">
                <a:solidFill>
                  <a:schemeClr val="tx2"/>
                </a:solidFill>
                <a:effectLst/>
                <a:latin typeface="Inter"/>
              </a:rPr>
              <a:t>Scope 2</a:t>
            </a:r>
            <a:r>
              <a:rPr lang="da-DK" sz="975" noProof="0">
                <a:solidFill>
                  <a:schemeClr val="tx2"/>
                </a:solidFill>
                <a:latin typeface="Inter"/>
              </a:rPr>
              <a:t xml:space="preserve"> angiver i</a:t>
            </a:r>
            <a:r>
              <a:rPr lang="da-DK" sz="975" b="0" i="0" u="none" strike="noStrike" noProof="0">
                <a:solidFill>
                  <a:schemeClr val="tx2"/>
                </a:solidFill>
                <a:effectLst/>
                <a:latin typeface="Inter"/>
              </a:rPr>
              <a:t xml:space="preserve">ndirekte emissioner fra køb af elektricitet, som refererer til emissioner fra produktion af den el, damp, varme eller køling, som virksomheden køber og bruger. Selvom disse emissioner stammer fra energiproducenterne, tilskrives de virksomheden, fordi den forbruger energien.</a:t>
            </a:r>
            <a:endParaRPr lang="da-DK"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Forurening af luft, vand og jord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da-DK" sz="824" b="1" noProof="0">
                          <a:solidFill>
                            <a:schemeClr val="tx2"/>
                          </a:solidFill>
                        </a:rPr>
                        <a:t xml:space="preserve">Forurening af luft, vand og jord </a:t>
                      </a:r>
                      <a:r>
                        <a:rPr lang="da-DK" sz="824" b="0" noProof="0">
                          <a:solidFill>
                            <a:schemeClr val="tx2"/>
                          </a:solidFill>
                        </a:rPr>
                        <a:t xml:space="preserve">(pkt.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da-DK" sz="824" b="1" noProof="0">
                          <a:solidFill>
                            <a:schemeClr val="tx2"/>
                          </a:solidFill>
                        </a:rPr>
                        <a:t xml:space="preserve">Type af forurening </a:t>
                      </a:r>
                      <a:r>
                        <a:rPr lang="da-DK" sz="824" b="0" noProof="0">
                          <a:solidFill>
                            <a:schemeClr val="tx2"/>
                          </a:solidFill>
                        </a:rPr>
                        <a:t xml:space="preserve">(fx stof)</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824" b="1" noProof="0">
                          <a:solidFill>
                            <a:schemeClr val="tx2"/>
                          </a:solidFill>
                        </a:rPr>
                        <a:t xml:space="preserve">Hvor? </a:t>
                      </a:r>
                      <a:r>
                        <a:rPr lang="da-DK" sz="824" b="0" noProof="0">
                          <a:solidFill>
                            <a:schemeClr val="tx2"/>
                          </a:solidFill>
                        </a:rPr>
                        <a:t xml:space="preserve">(luft, vand, jord)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da-DK" sz="824" b="1" noProof="0">
                          <a:solidFill>
                            <a:schemeClr val="tx2"/>
                          </a:solidFill>
                        </a:rPr>
                        <a:t xml:space="preserve">Omfang</a:t>
                      </a:r>
                      <a:endParaRPr lang="da-DK" sz="824"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da-DK" sz="824" b="0" i="0" u="none" strike="noStrike" noProof="0">
                          <a:solidFill>
                            <a:srgbClr val="1B4528"/>
                          </a:solidFill>
                          <a:effectLst/>
                          <a:latin typeface="Inter"/>
                        </a:rPr>
                        <a:t>{{type_of_pollution}}</a:t>
                      </a:r>
                      <a:endParaRPr lang="da-DK" sz="824"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da-DK" sz="824" b="0" i="0" u="none" strike="noStrike" noProof="0">
                          <a:solidFill>
                            <a:srgbClr val="1B4528"/>
                          </a:solidFill>
                          <a:effectLst/>
                          <a:latin typeface="Inter"/>
                        </a:rPr>
                        <a:t>{{scope_pollution}}</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824" b="0" i="0" u="none" strike="noStrike" noProof="0">
                          <a:solidFill>
                            <a:srgbClr val="1B4528"/>
                          </a:solidFill>
                          <a:effectLst/>
                          <a:latin typeface="Inter"/>
                        </a:rPr>
                        <a:t>{{</a:t>
                      </a:r>
                      <a:r>
                        <a:rPr lang="da-DK" sz="824" b="0" i="0" u="none" strike="noStrike" noProof="0">
                          <a:solidFill>
                            <a:srgbClr val="1B4528"/>
                          </a:solidFill>
                          <a:effectLst/>
                          <a:latin typeface="Inter"/>
                        </a:rPr>
                        <a:t>pollution_medium</a:t>
                      </a:r>
                      <a:r>
                        <a:rPr lang="da-DK" sz="824" b="0" i="0" u="none" strike="noStrike" noProof="0">
                          <a:solidFill>
                            <a:srgbClr val="1B4528"/>
                          </a:solidFill>
                          <a:effectLst/>
                          <a:latin typeface="Inter"/>
                        </a:rPr>
                        <a:t>}}</a:t>
                      </a:r>
                      <a:endParaRPr lang="da-DK" sz="824"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da-DK" sz="824" b="0" i="0" u="none" strike="noStrike" noProof="0">
                <a:solidFill>
                  <a:schemeClr val="tx2"/>
                </a:solidFill>
                <a:effectLst/>
                <a:latin typeface="Inter"/>
              </a:rPr>
              <a:t xml:space="preserve">Virksomheden rapporterer den samlede mængde af forurenende stoffer, der udledes fra deres anlæg. Rapportering om specifikke forurenende stoffer og deres mængder, der udledes til luft, vand og jord</a:t>
            </a:r>
            <a:r>
              <a:rPr lang="da-DK" sz="824" noProof="0">
                <a:solidFill>
                  <a:schemeClr val="tx2"/>
                </a:solidFill>
                <a:latin typeface="Inter"/>
              </a:rPr>
              <a:t xml:space="preserve"> er anført nedenfor.</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47" b="1" kern="1200" spc="-10" baseline="0">
                <a:solidFill>
                  <a:schemeClr val="tx2"/>
                </a:solidFill>
                <a:latin typeface="+mj-lt"/>
                <a:ea typeface="+mj-ea"/>
                <a:cs typeface="+mj-cs"/>
              </a:defRPr>
            </a:lvl1pPr>
          </a:lstStyle>
          <a:p>
            <a:r>
              <a:rPr lang="da-DK" noProof="0"/>
              <a:t xml:space="preserve">Biodiversitet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da-DK" sz="824" b="1" noProof="0">
                          <a:solidFill>
                            <a:schemeClr val="tx2"/>
                          </a:solidFill>
                        </a:rPr>
                        <a:t xml:space="preserve">Områder i nærheden af eller i 'biodiversitetsfølsomme områder’, som virksomheden ejer, lejer eller forvalter </a:t>
                      </a:r>
                      <a:r>
                        <a:rPr lang="da-DK" sz="824" b="0" noProof="0">
                          <a:solidFill>
                            <a:schemeClr val="tx2"/>
                          </a:solidFill>
                        </a:rPr>
                        <a:t xml:space="preserve">(pkt.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da-DK" sz="824" b="1" noProof="0">
                          <a:solidFill>
                            <a:schemeClr val="tx2"/>
                          </a:solidFill>
                        </a:rPr>
                        <a:t xml:space="preserve">Lokation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824" b="1" noProof="0">
                          <a:solidFill>
                            <a:schemeClr val="tx2"/>
                          </a:solidFill>
                        </a:rPr>
                        <a:t xml:space="preserve">Areal opgjort i hektar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824" b="1" noProof="0">
                          <a:solidFill>
                            <a:schemeClr val="tx2"/>
                          </a:solidFill>
                        </a:rPr>
                        <a:t xml:space="preserve">Biodiversitetsfølsomt område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824" b="1" noProof="0">
                          <a:solidFill>
                            <a:schemeClr val="tx2"/>
                          </a:solidFill>
                        </a:rPr>
                        <a:t xml:space="preserve">Specifikation: I nærheden af eller i et biodiversitetsfølsomt område</a:t>
                      </a:r>
                      <a:endParaRPr lang="da-DK" sz="824"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da-DK" sz="824" b="0" i="0" u="none" strike="noStrike" noProof="0">
                          <a:solidFill>
                            <a:srgbClr val="1B4528"/>
                          </a:solidFill>
                          <a:effectLst/>
                          <a:latin typeface="Inter"/>
                        </a:rPr>
                        <a:t>{{country_location}}</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a-DK" sz="824" b="0" i="0" u="none" strike="noStrike" noProof="0">
                          <a:solidFill>
                            <a:srgbClr val="1B4528"/>
                          </a:solidFill>
                          <a:effectLst/>
                          <a:latin typeface="Inter"/>
                        </a:rPr>
                        <a:t> {{area_hect}}</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824" b="0" i="0" u="none" strike="noStrike" noProof="0">
                          <a:solidFill>
                            <a:srgbClr val="1B4528"/>
                          </a:solidFill>
                          <a:effectLst/>
                          <a:latin typeface="Inter"/>
                        </a:rPr>
                        <a:t>{{area_name}}</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824" b="0" i="0" u="none" strike="noStrike" noProof="0">
                          <a:solidFill>
                            <a:srgbClr val="1B4528"/>
                          </a:solidFill>
                          <a:effectLst/>
                          <a:latin typeface="Inter"/>
                        </a:rPr>
                        <a:t>{{</a:t>
                      </a:r>
                      <a:r>
                        <a:rPr lang="da-DK" sz="824" b="0" i="0" u="none" strike="noStrike" noProof="0">
                          <a:solidFill>
                            <a:srgbClr val="1B4528"/>
                          </a:solidFill>
                          <a:effectLst/>
                          <a:latin typeface="Inter"/>
                        </a:rPr>
                        <a:t>biosensitive_area</a:t>
                      </a:r>
                      <a:r>
                        <a:rPr lang="da-DK" sz="824" b="0" i="0" u="none" strike="noStrike" noProof="0">
                          <a:solidFill>
                            <a:srgbClr val="1B4528"/>
                          </a:solidFill>
                          <a:effectLst/>
                          <a:latin typeface="Inter"/>
                        </a:rPr>
                        <a:t>}}</a:t>
                      </a:r>
                      <a:endParaRPr lang="da-DK" sz="824"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da-DK" sz="824" b="0" i="0" u="none" strike="noStrike" noProof="0">
                <a:solidFill>
                  <a:schemeClr val="tx2"/>
                </a:solidFill>
                <a:effectLst/>
                <a:latin typeface="Inter"/>
              </a:rPr>
              <a:t xml:space="preserve">Virksomhedens oplysninger vedrører de steder, den opererer på, som er placeret i eller i nærheden af biodiversitetsfølsomme områder. Biodiversitetsfølsomme områder defineres som sådanne i særlige naturbeskyttelsesbestemmelser på europæisk eller internationalt plan. Dette omfatter områder, der tilhører Natura 2000, UNESCO og vigtige biodiversitetsområder (KBA'er) samt andre beskyttede områder.</a:t>
            </a:r>
            <a:endParaRPr lang="da-DK" sz="824"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779343"/>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47" b="1" kern="1200" spc="-10" baseline="0">
                <a:solidFill>
                  <a:schemeClr val="tx2"/>
                </a:solidFill>
                <a:latin typeface="+mj-lt"/>
                <a:ea typeface="+mj-ea"/>
                <a:cs typeface="+mj-cs"/>
              </a:defRPr>
            </a:lvl1pPr>
          </a:lstStyle>
          <a:p>
            <a:r>
              <a:rPr lang="da-DK"/>
              <a:t xml:space="preserve">Vand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788087"/>
          <a:ext cx="3295368" cy="983975"/>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49655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1" noProof="0">
                          <a:solidFill>
                            <a:schemeClr val="tx2"/>
                          </a:solidFill>
                        </a:rPr>
                        <a:t xml:space="preserve">Vandudtag </a:t>
                      </a:r>
                      <a:r>
                        <a:rPr lang="da-DK" sz="824" b="0" noProof="0">
                          <a:solidFill>
                            <a:schemeClr val="tx2"/>
                          </a:solidFill>
                        </a:rPr>
                        <a:t xml:space="preserve">(pkt.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824" b="1" noProof="0">
                          <a:solidFill>
                            <a:schemeClr val="tx2"/>
                          </a:solidFill>
                        </a:rPr>
                        <a:t xml:space="preserve">År </a:t>
                      </a:r>
                      <a:r>
                        <a:rPr lang="da-DK" sz="824"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7419">
                <a:tc>
                  <a:txBody>
                    <a:bodyPr/>
                    <a:lstStyle/>
                    <a:p>
                      <a:r>
                        <a:rPr lang="da-DK" sz="824" b="0" noProof="0">
                          <a:solidFill>
                            <a:schemeClr val="tx2"/>
                          </a:solidFill>
                        </a:rPr>
                        <a:t xml:space="preserve">Samlet for alle lokationer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a-DK" sz="824" b="0" i="0" u="none" strike="noStrike" kern="1200" cap="none" spc="0" normalizeH="0" baseline="0" noProof="0">
                          <a:ln>
                            <a:noFill/>
                          </a:ln>
                          <a:solidFill>
                            <a:srgbClr val="1B4528"/>
                          </a:solidFill>
                          <a:effectLst/>
                          <a:uLnTx/>
                          <a:uFillTx/>
                          <a:latin typeface="+mn-lt"/>
                          <a:ea typeface="+mn-ea"/>
                          <a:cs typeface="+mn-cs"/>
                        </a:rPr>
                        <a:t>{{</a:t>
                      </a:r>
                      <a:r>
                        <a:rPr kumimoji="0" lang="da-DK" sz="824" b="0" i="0" u="none" strike="noStrike" kern="1200" cap="none" spc="0" normalizeH="0" baseline="0" noProof="0">
                          <a:ln>
                            <a:noFill/>
                          </a:ln>
                          <a:solidFill>
                            <a:srgbClr val="1B4528"/>
                          </a:solidFill>
                          <a:effectLst/>
                          <a:uLnTx/>
                          <a:uFillTx/>
                          <a:latin typeface="+mn-lt"/>
                          <a:ea typeface="+mn-ea"/>
                          <a:cs typeface="+mn-cs"/>
                        </a:rPr>
                        <a:t>total_withdrawal</a:t>
                      </a:r>
                      <a:r>
                        <a:rPr kumimoji="0" lang="da-DK" sz="824" b="0" i="0" u="none" strike="noStrike" kern="1200" cap="none" spc="0" normalizeH="0" baseline="0" noProof="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788087"/>
          <a:ext cx="3295368" cy="983975"/>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329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1" noProof="0">
                          <a:solidFill>
                            <a:schemeClr val="tx2"/>
                          </a:solidFill>
                        </a:rPr>
                        <a:t xml:space="preserve">Vandforbrug </a:t>
                      </a:r>
                      <a:r>
                        <a:rPr lang="da-DK" sz="824" b="0" noProof="0">
                          <a:solidFill>
                            <a:schemeClr val="tx2"/>
                          </a:solidFill>
                        </a:rPr>
                        <a:t xml:space="preserve">(pkt.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824" b="1" noProof="0">
                          <a:solidFill>
                            <a:schemeClr val="tx2"/>
                          </a:solidFill>
                        </a:rPr>
                        <a:t xml:space="preserve">År </a:t>
                      </a:r>
                      <a:r>
                        <a:rPr lang="da-DK" sz="824"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13748">
                <a:tc>
                  <a:txBody>
                    <a:bodyPr/>
                    <a:lstStyle/>
                    <a:p>
                      <a:r>
                        <a:rPr lang="da-DK" sz="824" b="0" noProof="0">
                          <a:solidFill>
                            <a:schemeClr val="tx2"/>
                          </a:solidFill>
                        </a:rPr>
                        <a:t xml:space="preserve">Samlet for alle lokationer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24" b="0" i="0" u="none" strike="noStrike" noProof="0">
                          <a:solidFill>
                            <a:srgbClr val="1B4528"/>
                          </a:solidFill>
                          <a:effectLst/>
                          <a:latin typeface="Inter"/>
                        </a:rPr>
                        <a:t>{{consumption_total}}</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411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0" noProof="0">
                          <a:solidFill>
                            <a:schemeClr val="tx2"/>
                          </a:solidFill>
                        </a:rPr>
                        <a:t xml:space="preserve">Fra lokationer i områder med mangel på vand (højt vandstress)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24" b="0" i="0" u="none" strike="noStrike" noProof="0">
                          <a:solidFill>
                            <a:srgbClr val="1B4528"/>
                          </a:solidFill>
                          <a:effectLst/>
                          <a:latin typeface="Inter"/>
                        </a:rPr>
                        <a:t>{{</a:t>
                      </a:r>
                      <a:r>
                        <a:rPr lang="da-DK" sz="824" b="0" i="0" u="none" strike="noStrike" noProof="0">
                          <a:solidFill>
                            <a:srgbClr val="1B4528"/>
                          </a:solidFill>
                          <a:effectLst/>
                          <a:latin typeface="Inter"/>
                        </a:rPr>
                        <a:t>consumption_waterstress</a:t>
                      </a:r>
                      <a:r>
                        <a:rPr lang="da-DK" sz="824" b="0" i="0" u="none" strike="noStrike" noProof="0">
                          <a:solidFill>
                            <a:srgbClr val="1B4528"/>
                          </a:solidFill>
                          <a:effectLst/>
                          <a:latin typeface="Inter"/>
                        </a:rPr>
                        <a:t>}}</a:t>
                      </a:r>
                      <a:endParaRPr lang="da-DK" sz="824"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5110046"/>
            <a:ext cx="6737040" cy="384705"/>
          </a:xfrm>
          <a:prstGeom prst="rect">
            <a:avLst/>
          </a:prstGeom>
          <a:noFill/>
        </p:spPr>
        <p:txBody>
          <a:bodyPr wrap="square">
            <a:spAutoFit/>
          </a:bodyPr>
          <a:lstStyle/>
          <a:p>
            <a:pPr rtl="0">
              <a:spcBef>
                <a:spcPts val="750"/>
              </a:spcBef>
              <a:buNone/>
            </a:pPr>
            <a:r>
              <a:rPr lang="da-DK" sz="824" b="0" i="0" u="none" strike="noStrike" noProof="0">
                <a:solidFill>
                  <a:schemeClr val="tx2"/>
                </a:solidFill>
                <a:effectLst/>
                <a:latin typeface="Inter"/>
              </a:rPr>
              <a:t xml:space="preserve">Vandudtaget er den mængde vand, der anvendes af virksomheden, hvorunder </a:t>
            </a:r>
            <a:r>
              <a:rPr lang="da-DK" sz="824" noProof="0">
                <a:solidFill>
                  <a:schemeClr val="tx2"/>
                </a:solidFill>
                <a:latin typeface="Inter"/>
              </a:rPr>
              <a:t xml:space="preserve">forbruget angiver vand der </a:t>
            </a:r>
            <a:r>
              <a:rPr lang="da-DK" sz="824" b="0" i="0" u="none" strike="noStrike" noProof="0">
                <a:solidFill>
                  <a:schemeClr val="tx2"/>
                </a:solidFill>
                <a:effectLst/>
                <a:latin typeface="Inter"/>
              </a:rPr>
              <a:t xml:space="preserve">ikke udledes eller planlægges udledt tilbage til vandmiljøet eller til en tredjepart. I dette afsnit oplyses virksomhedens samlede vandudtag. Virksomhedens vandforbrug</a:t>
            </a:r>
            <a:r>
              <a:rPr lang="da-DK" sz="824" noProof="0">
                <a:solidFill>
                  <a:schemeClr val="tx2"/>
                </a:solidFill>
                <a:latin typeface="Inter"/>
              </a:rPr>
              <a:t> </a:t>
            </a:r>
            <a:r>
              <a:rPr lang="da-DK" sz="824" b="0" i="0" u="none" strike="noStrike" noProof="0">
                <a:solidFill>
                  <a:schemeClr val="tx2"/>
                </a:solidFill>
                <a:effectLst/>
                <a:latin typeface="Inter"/>
              </a:rPr>
              <a:t xml:space="preserve">og vandudledning fra områder med høj vandstress er anført nedenfor.</a:t>
            </a:r>
            <a:endParaRPr lang="da-DK" sz="824"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180614"/>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247" b="1" kern="1200" spc="-10" baseline="0">
                <a:solidFill>
                  <a:schemeClr val="tx2"/>
                </a:solidFill>
                <a:latin typeface="+mj-lt"/>
                <a:ea typeface="+mj-ea"/>
                <a:cs typeface="+mj-cs"/>
              </a:defRPr>
            </a:lvl1pPr>
          </a:lstStyle>
          <a:p>
            <a:r>
              <a:rPr lang="da-DK" noProof="0"/>
              <a:t xml:space="preserve">Ressourceforbrug, cirkulær økonomi og affaldshåndtering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601126"/>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24" b="1" noProof="0">
                          <a:solidFill>
                            <a:schemeClr val="tx2"/>
                          </a:solidFill>
                        </a:rPr>
                        <a:t xml:space="preserve">Oplysning om anvendelse af principper fra cirkulær økonomi </a:t>
                      </a:r>
                      <a:r>
                        <a:rPr lang="da-DK" sz="824" b="0" noProof="0">
                          <a:solidFill>
                            <a:schemeClr val="tx2"/>
                          </a:solidFill>
                        </a:rPr>
                        <a:t xml:space="preserve">(pkt.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da-DK" sz="7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da-DK" sz="824" b="0" noProof="0">
                          <a:solidFill>
                            <a:schemeClr val="tx2"/>
                          </a:solidFill>
                        </a:rPr>
                        <a:t xml:space="preserve">Min virksomhed anvender principper fra cirkulær økonomi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824"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824" b="1" noProof="0">
                          <a:solidFill>
                            <a:schemeClr val="tx2"/>
                          </a:solidFill>
                        </a:rPr>
                        <a:t xml:space="preserve">Nej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24" b="0" i="0" u="none" strike="noStrike" noProof="0">
                          <a:solidFill>
                            <a:srgbClr val="1B4528"/>
                          </a:solidFill>
                          <a:effectLst/>
                          <a:latin typeface="Inter"/>
                        </a:rPr>
                        <a:t>{{circular_economy_princples_yes}}</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824" b="0" i="0" u="none" strike="noStrike" noProof="0">
                          <a:solidFill>
                            <a:srgbClr val="1B4528"/>
                          </a:solidFill>
                          <a:effectLst/>
                          <a:latin typeface="Inter"/>
                        </a:rPr>
                        <a:t>{{circular_economy_princples_no?}}</a:t>
                      </a:r>
                      <a:endParaRPr lang="da-DK" sz="824"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584104"/>
            <a:ext cx="3295368" cy="692470"/>
          </a:xfrm>
          <a:prstGeom prst="rect">
            <a:avLst/>
          </a:prstGeom>
          <a:noFill/>
        </p:spPr>
        <p:txBody>
          <a:bodyPr wrap="square" lIns="76197" tIns="38098" rIns="76197" bIns="38098" anchor="t">
            <a:spAutoFit/>
          </a:bodyPr>
          <a:lstStyle/>
          <a:p>
            <a:pPr rtl="0">
              <a:buNone/>
            </a:pPr>
            <a:r>
              <a:rPr lang="da-DK" sz="824" b="0" i="0" u="none" strike="noStrike" noProof="0">
                <a:solidFill>
                  <a:schemeClr val="tx2"/>
                </a:solidFill>
                <a:effectLst/>
                <a:latin typeface="Inter"/>
              </a:rPr>
              <a:t xml:space="preserve">Dette informationskrav angiver information om hvorvidt virksomheden</a:t>
            </a:r>
            <a:r>
              <a:rPr lang="da-DK" sz="824" noProof="0">
                <a:solidFill>
                  <a:schemeClr val="tx2"/>
                </a:solidFill>
                <a:latin typeface="Inter"/>
              </a:rPr>
              <a:t xml:space="preserve"> anvender principper for cirkulær økonomi. Herunder, om der er principper i anvendelse når det kommer til reduktion af affald og forurening samt fokus på cirkulære produkter og materialer.</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8712369"/>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da-DK" sz="824" b="1" noProof="0">
                          <a:solidFill>
                            <a:schemeClr val="tx2"/>
                          </a:solidFill>
                        </a:rPr>
                        <a:t xml:space="preserve">Beskrivelse af, hvordan virksomheden arbejder med principper fra cirkulær økonomi </a:t>
                      </a:r>
                      <a:r>
                        <a:rPr lang="da-DK" sz="824" b="0" noProof="0">
                          <a:solidFill>
                            <a:schemeClr val="tx2"/>
                          </a:solidFill>
                        </a:rPr>
                        <a:t xml:space="preserve">(pkt. 38 fortsat)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da-DK" sz="824" b="0" kern="1200" noProof="0">
                          <a:solidFill>
                            <a:srgbClr val="1B4528"/>
                          </a:solidFill>
                          <a:latin typeface="+mn-lt"/>
                          <a:ea typeface="+mn-ea"/>
                          <a:cs typeface="+mn-cs"/>
                        </a:rPr>
                        <a:t>{{</a:t>
                      </a:r>
                      <a:r>
                        <a:rPr lang="da-DK" sz="824" b="0" kern="1200" noProof="0">
                          <a:solidFill>
                            <a:srgbClr val="1B4528"/>
                          </a:solidFill>
                          <a:latin typeface="+mn-lt"/>
                          <a:ea typeface="+mn-ea"/>
                          <a:cs typeface="+mn-cs"/>
                        </a:rPr>
                        <a:t>description_of_circular_economies</a:t>
                      </a:r>
                      <a:r>
                        <a:rPr lang="da-DK" sz="824" b="0" kern="1200" noProof="0">
                          <a:solidFill>
                            <a:srgbClr val="1B4528"/>
                          </a:solidFill>
                          <a:latin typeface="+mn-lt"/>
                          <a:ea typeface="+mn-ea"/>
                          <a:cs typeface="+mn-cs"/>
                        </a:rPr>
                        <a:t>}}</a:t>
                      </a:r>
                    </a:p>
                    <a:p>
                      <a:pPr algn="l"/>
                      <a:endParaRPr lang="da-DK" sz="824"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da-DK" noProof="0" smtClean="0"/>
              <a:pPr/>
              <a:t>6</a:t>
            </a:fld>
            <a:endParaRPr lang="da-DK"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Ressourceforbrug, cirkulær økonomi og affaldshåndtering (B7) – fortsat</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da-DK" sz="975" b="1" noProof="0">
                          <a:solidFill>
                            <a:schemeClr val="tx2"/>
                          </a:solidFill>
                        </a:rPr>
                        <a:t xml:space="preserve">Samlet mængde affald årligt</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da-DK"/>
                    </a:p>
                  </a:txBody>
                  <a:tcPr/>
                </a:tc>
                <a:extLst>
                  <a:ext uri="{0D108BD9-81ED-4DB2-BD59-A6C34878D82A}">
                    <a16:rowId xmlns:a16="http://schemas.microsoft.com/office/drawing/2014/main" val="625231048"/>
                  </a:ext>
                </a:extLst>
              </a:tr>
              <a:tr h="286343">
                <a:tc>
                  <a:txBody>
                    <a:bodyPr/>
                    <a:lstStyle/>
                    <a:p>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75" b="1" noProof="0">
                          <a:solidFill>
                            <a:schemeClr val="tx2"/>
                          </a:solidFill>
                        </a:rPr>
                        <a:t xml:space="preserve">Samlet mængde affald </a:t>
                      </a:r>
                      <a:r>
                        <a:rPr lang="da-DK" sz="975" b="0" noProof="0">
                          <a:solidFill>
                            <a:schemeClr val="tx2"/>
                          </a:solidFill>
                        </a:rPr>
                        <a:t xml:space="preserve">(pkt.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75" b="1" noProof="0">
                          <a:solidFill>
                            <a:schemeClr val="tx2"/>
                          </a:solidFill>
                        </a:rPr>
                        <a:t xml:space="preserve">Affald der omdirigeres til genanvendelse eller forberedelse mhp. genbrug </a:t>
                      </a:r>
                      <a:r>
                        <a:rPr lang="da-DK" sz="975" b="0" noProof="0">
                          <a:solidFill>
                            <a:schemeClr val="tx2"/>
                          </a:solidFill>
                        </a:rPr>
                        <a:t xml:space="preserve">(pkt.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Ikke-farligt affald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da-DK" sz="975" b="0" i="0" u="none" strike="noStrike" noProof="0">
                          <a:solidFill>
                            <a:srgbClr val="1B4528"/>
                          </a:solidFill>
                          <a:effectLst/>
                          <a:latin typeface="Inter"/>
                        </a:rPr>
                        <a:t>{{Type_af_affald}}</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{{kg_tons_total}}</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nter"/>
                        </a:rPr>
                        <a:t>{{genbrug_kg_tons}}</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da-DK" sz="975" b="1" noProof="0">
                          <a:solidFill>
                            <a:schemeClr val="tx2"/>
                          </a:solidFill>
                        </a:rPr>
                        <a:t xml:space="preserve">Farligt affald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da-DK" sz="975" b="0" i="0" u="none" strike="noStrike" noProof="0">
                          <a:solidFill>
                            <a:srgbClr val="1B4528"/>
                          </a:solidFill>
                          <a:effectLst/>
                          <a:latin typeface="Inter"/>
                        </a:rPr>
                        <a:t>{{Type_af_affald_farlig}}</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{{farlig_kg_tons}}</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farlig_genbrug_kg_tons</a:t>
                      </a:r>
                      <a:r>
                        <a:rPr lang="da-DK" sz="975" b="0" i="0" u="none" strike="noStrike" noProof="0">
                          <a:solidFill>
                            <a:srgbClr val="1B4528"/>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7</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Følgende afsnit angiver oplysninger om materialeforbrug og affaldshåndtering. Oplysningerne er relateret til cirkulær økonomi og angiver virksomhedens samlede årlige affaldsproduktion (farligt/ikke-farligt) er fordelt og ligeledes anføres mængderne af væsentlige materialer. </a:t>
            </a:r>
            <a:endParaRPr lang="da-DK"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da-DK" sz="975" b="1" noProof="0">
                          <a:solidFill>
                            <a:schemeClr val="tx2"/>
                          </a:solidFill>
                        </a:rPr>
                        <a:t xml:space="preserve">Væsentlige materialer </a:t>
                      </a:r>
                      <a:r>
                        <a:rPr lang="da-DK" sz="975" b="0" noProof="0">
                          <a:solidFill>
                            <a:schemeClr val="tx2"/>
                          </a:solidFill>
                        </a:rPr>
                        <a:t xml:space="preserve">(pkt.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da-DK" sz="975" b="1" noProof="0">
                          <a:solidFill>
                            <a:schemeClr val="tx2"/>
                          </a:solidFill>
                        </a:rPr>
                        <a:t xml:space="preserve">Årligt masse-flow </a:t>
                      </a:r>
                      <a:r>
                        <a:rPr lang="da-DK" sz="975" b="1" noProof="0">
                          <a:solidFill>
                            <a:srgbClr val="1B4528"/>
                          </a:solidFill>
                        </a:rPr>
                        <a:t>{{insert_year}}</a:t>
                      </a: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da-DK" sz="975" b="0" i="0" u="none" strike="noStrike" noProof="0">
                          <a:solidFill>
                            <a:srgbClr val="1B4528"/>
                          </a:solidFill>
                          <a:latin typeface="Inter"/>
                        </a:rPr>
                        <a:t>{{significant_material}}</a:t>
                      </a:r>
                      <a:endParaRPr lang="da-DK"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da-DK" sz="975" b="0" i="0" u="none" strike="noStrike" noProof="0">
                          <a:solidFill>
                            <a:srgbClr val="1B4528"/>
                          </a:solidFill>
                          <a:latin typeface="Inter"/>
                        </a:rPr>
                        <a:t>{{</a:t>
                      </a:r>
                      <a:r>
                        <a:rPr lang="da-DK" sz="975" b="0" i="0" u="none" strike="noStrike" noProof="0">
                          <a:solidFill>
                            <a:srgbClr val="1B4528"/>
                          </a:solidFill>
                          <a:latin typeface="Inter"/>
                        </a:rPr>
                        <a:t>significant_material_unit</a:t>
                      </a:r>
                      <a:r>
                        <a:rPr lang="da-DK" sz="975" b="0" i="0" u="none" strike="noStrike" noProof="0">
                          <a:solidFill>
                            <a:srgbClr val="1B4528"/>
                          </a:solidFill>
                          <a:latin typeface="Inter"/>
                        </a:rPr>
                        <a:t>}}</a:t>
                      </a:r>
                      <a:endParaRPr lang="da-DK"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Egen arbejdsstyrke: Generelle karakteristika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71789">
                <a:tc>
                  <a:txBody>
                    <a:bodyPr/>
                    <a:lstStyle/>
                    <a:p>
                      <a:r>
                        <a:rPr lang="da-DK" sz="975" b="1" noProof="0">
                          <a:solidFill>
                            <a:schemeClr val="tx2"/>
                          </a:solidFill>
                        </a:rPr>
                        <a:t xml:space="preserve">Kontrakttype </a:t>
                      </a:r>
                      <a:r>
                        <a:rPr lang="da-DK" sz="975" b="0" noProof="0">
                          <a:solidFill>
                            <a:schemeClr val="tx2"/>
                          </a:solidFill>
                        </a:rPr>
                        <a:t xml:space="preserve">(pkt.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rPr>
                        <a:t xml:space="preserve">Antal ansatte (antal personer eller fuldtidsækvivalenter)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9970">
                <a:tc>
                  <a:txBody>
                    <a:bodyPr/>
                    <a:lstStyle/>
                    <a:p>
                      <a:r>
                        <a:rPr lang="da-DK" sz="975" b="0" noProof="0">
                          <a:solidFill>
                            <a:schemeClr val="tx2"/>
                          </a:solidFill>
                        </a:rPr>
                        <a:t xml:space="preserve">Midlertidig ansættelse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{{temporary}}</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9108">
                <a:tc>
                  <a:txBody>
                    <a:bodyPr/>
                    <a:lstStyle/>
                    <a:p>
                      <a:r>
                        <a:rPr lang="da-DK" sz="975" b="0" noProof="0">
                          <a:solidFill>
                            <a:schemeClr val="tx2"/>
                          </a:solidFill>
                        </a:rPr>
                        <a:t xml:space="preserve">Fastansættelse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{{fulltime}}</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9970">
                <a:tc>
                  <a:txBody>
                    <a:bodyPr/>
                    <a:lstStyle/>
                    <a:p>
                      <a:r>
                        <a:rPr lang="da-DK" sz="975" b="0" noProof="0">
                          <a:solidFill>
                            <a:schemeClr val="tx2"/>
                          </a:solidFill>
                        </a:rPr>
                        <a:t xml:space="preserve">Totalt antal ansatte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{{total_employees}}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da-DK" sz="975" b="1" noProof="0">
                          <a:solidFill>
                            <a:schemeClr val="tx2"/>
                          </a:solidFill>
                          <a:latin typeface="+mn-lt"/>
                        </a:rPr>
                        <a:t xml:space="preserve">Køn</a:t>
                      </a:r>
                      <a:r>
                        <a:rPr lang="da-DK" sz="975" b="0" noProof="0">
                          <a:solidFill>
                            <a:schemeClr val="tx2"/>
                          </a:solidFill>
                          <a:latin typeface="+mn-lt"/>
                        </a:rPr>
                        <a:t xml:space="preserve"> (pkt.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latin typeface="+mn-lt"/>
                        </a:rPr>
                        <a:t xml:space="preserve">Antal ansatte (antal personer eller fuldtidsækvivalenter)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a-DK" sz="975" b="0" noProof="0">
                          <a:solidFill>
                            <a:schemeClr val="tx2"/>
                          </a:solidFill>
                          <a:latin typeface="+mn-lt"/>
                        </a:rPr>
                        <a:t xml:space="preserve">Mand</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{{men}}</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a-DK" sz="975" b="0" noProof="0">
                          <a:solidFill>
                            <a:schemeClr val="tx2"/>
                          </a:solidFill>
                          <a:latin typeface="+mn-lt"/>
                        </a:rPr>
                        <a:t xml:space="preserve">Kvinde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{{women}}</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da-DK" sz="975" b="0" noProof="0">
                          <a:solidFill>
                            <a:schemeClr val="tx2"/>
                          </a:solidFill>
                          <a:latin typeface="+mn-lt"/>
                        </a:rPr>
                        <a:t xml:space="preserve">Andet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{{others}}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da-DK" sz="975" b="0" noProof="0">
                          <a:solidFill>
                            <a:schemeClr val="tx2"/>
                          </a:solidFill>
                          <a:latin typeface="+mn-lt"/>
                        </a:rPr>
                        <a:t xml:space="preserve">Ikke registreret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{{not_registeret}}</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da-DK" sz="975" b="0" noProof="0">
                          <a:solidFill>
                            <a:schemeClr val="tx2"/>
                          </a:solidFill>
                          <a:latin typeface="+mn-lt"/>
                        </a:rPr>
                        <a:t xml:space="preserve">Totalt antal ansatte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{{total_employees}}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8</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da-DK" sz="975" b="0" i="0" u="none" strike="noStrike" noProof="0">
                <a:solidFill>
                  <a:srgbClr val="25595D"/>
                </a:solidFill>
                <a:effectLst/>
                <a:latin typeface="Inter"/>
              </a:rPr>
              <a:t xml:space="preserve">Virksomheden har oplyst antallet af medarbejdere for følgende specifikationer: Type ansættelseskontrakt, hvor medarbejderne er opdelt i midlertidige og faste kontrakter; Køn, som giver indsigt i kønsfordelingen blandt medarbejderne; og ansættelseskontraktens land, hvilket er relevant, hvis virksomheden opererer i flere lande.</a:t>
            </a:r>
            <a:endParaRPr lang="da-DK" sz="975" b="0" noProof="0">
              <a:effectLst/>
              <a:latin typeface="Inter"/>
            </a:endParaRPr>
          </a:p>
          <a:p>
            <a:pPr>
              <a:buNone/>
            </a:pPr>
            <a:br>
              <a:rPr lang="da-DK" sz="975" noProof="0">
                <a:latin typeface="Inter"/>
              </a:rPr>
            </a:br>
            <a:endParaRPr lang="da-DK"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da-DK" sz="975" b="1" noProof="0">
                          <a:solidFill>
                            <a:schemeClr val="tx2"/>
                          </a:solidFill>
                        </a:rPr>
                        <a:t xml:space="preserve">Land (hvor ansættelseskontrakten er indgået) </a:t>
                      </a:r>
                      <a:r>
                        <a:rPr lang="da-DK" sz="975" b="0" noProof="0">
                          <a:solidFill>
                            <a:schemeClr val="tx2"/>
                          </a:solidFill>
                        </a:rPr>
                        <a:t xml:space="preserve">(pkt.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rPr>
                        <a:t xml:space="preserve">Antal ansatte (antal personer eller fuldtidsækvivalenter)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da-DK" sz="975" b="0" noProof="0">
                          <a:solidFill>
                            <a:schemeClr val="tx2"/>
                          </a:solidFill>
                        </a:rPr>
                        <a:t xml:space="preserve">Danmark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a-DK" sz="975" b="0" i="0" u="none" strike="noStrike" noProof="0">
                          <a:solidFill>
                            <a:srgbClr val="1B4528"/>
                          </a:solidFill>
                          <a:effectLst/>
                          <a:latin typeface="Inter"/>
                        </a:rPr>
                        <a:t>{{Denmark}}</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da-DK" sz="975" b="0" i="0" u="none" strike="noStrike" noProof="0">
                          <a:solidFill>
                            <a:srgbClr val="1B4528"/>
                          </a:solidFill>
                          <a:effectLst/>
                          <a:latin typeface="Inter"/>
                        </a:rPr>
                        <a:t>{{Land_b}}</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da-DK" sz="975" b="0" i="0" u="none" strike="noStrike" noProof="0">
                          <a:solidFill>
                            <a:srgbClr val="1B4528"/>
                          </a:solidFill>
                          <a:effectLst/>
                          <a:latin typeface="Inter"/>
                        </a:rPr>
                        <a:t>{{</a:t>
                      </a:r>
                      <a:r>
                        <a:rPr lang="da-DK" sz="975" b="0" i="0" u="none" strike="noStrike" noProof="0">
                          <a:solidFill>
                            <a:srgbClr val="1B4528"/>
                          </a:solidFill>
                          <a:effectLst/>
                        </a:rPr>
                        <a:t>FTE_eller_antal_personer_land_b</a:t>
                      </a:r>
                      <a:r>
                        <a:rPr lang="da-DK" sz="975" b="0" i="0" u="none" strike="noStrike" noProof="0">
                          <a:solidFill>
                            <a:srgbClr val="1B4528"/>
                          </a:solidFill>
                          <a:effectLst/>
                          <a:latin typeface="Inter"/>
                        </a:rPr>
                        <a:t>}}</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a-DK" sz="975" b="0" noProof="0">
                          <a:solidFill>
                            <a:schemeClr val="tx2"/>
                          </a:solidFill>
                        </a:rPr>
                        <a:t xml:space="preserve">Totalt antal ansatte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975" b="0" i="0" u="none" strike="noStrike" noProof="0">
                          <a:solidFill>
                            <a:srgbClr val="1B4528"/>
                          </a:solidFill>
                          <a:effectLst/>
                          <a:latin typeface="Inter"/>
                        </a:rPr>
                        <a:t>{{Total_out_of_countries}}</a:t>
                      </a:r>
                      <a:endParaRPr lang="da-DK"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a:t xml:space="preserve">Egen arbejdsstyrke: Vederlag, overenskomster og uddannelse (B10)</a:t>
            </a:r>
            <a:endParaRPr lang="da-DK"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78323"/>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Lønforskel mellem mandlige og kvindelige ansatte </a:t>
                      </a:r>
                      <a:r>
                        <a:rPr lang="da-DK" sz="975" b="0" noProof="0">
                          <a:solidFill>
                            <a:schemeClr val="tx2"/>
                          </a:solidFill>
                        </a:rPr>
                        <a:t xml:space="preserve">(pkt.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Year</a:t>
                      </a:r>
                      <a:r>
                        <a:rPr lang="da-DK" sz="975" b="1" noProof="0">
                          <a:solidFill>
                            <a:srgbClr val="1B4528"/>
                          </a:solidFill>
                          <a:latin typeface="Calibri" panose="020F0502020204030204" pitchFamily="34" charset="0"/>
                          <a:cs typeface="Calibri" panose="020F0502020204030204" pitchFamily="34" charset="0"/>
                        </a:rPr>
                        <a:t> </a:t>
                      </a:r>
                      <a:r>
                        <a:rPr lang="da-DK"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0">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da-DK" sz="975" b="0" noProof="0">
                          <a:solidFill>
                            <a:srgbClr val="1B4528"/>
                          </a:solidFill>
                        </a:rPr>
                        <a:t>{{</a:t>
                      </a:r>
                      <a:r>
                        <a:rPr lang="da-DK" sz="975" b="0" noProof="0">
                          <a:solidFill>
                            <a:srgbClr val="1B4528"/>
                          </a:solidFill>
                        </a:rPr>
                        <a:t>indsat_procentvise_lonforskel</a:t>
                      </a:r>
                      <a:r>
                        <a:rPr lang="da-DK" sz="975" b="0" noProof="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78320"/>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92947">
                <a:tc>
                  <a:txBody>
                    <a:bodyPr/>
                    <a:lstStyle/>
                    <a:p>
                      <a:r>
                        <a:rPr lang="da-DK" sz="975" b="1" noProof="0">
                          <a:solidFill>
                            <a:schemeClr val="tx2"/>
                          </a:solidFill>
                        </a:rPr>
                        <a:t xml:space="preserve">Oplysninger om minimumsløn </a:t>
                      </a:r>
                      <a:r>
                        <a:rPr lang="da-DK"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1" noProof="0">
                          <a:solidFill>
                            <a:schemeClr val="tx2"/>
                          </a:solidFill>
                        </a:rPr>
                        <a:t xml:space="preserve">Ja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1" noProof="0">
                          <a:solidFill>
                            <a:schemeClr val="tx2"/>
                          </a:solidFill>
                        </a:rPr>
                        <a:t xml:space="preserve">Nej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85373">
                <a:tc>
                  <a:txBody>
                    <a:bodyPr/>
                    <a:lstStyle/>
                    <a:p>
                      <a:r>
                        <a:rPr lang="da-DK" sz="975" b="0" noProof="0">
                          <a:solidFill>
                            <a:schemeClr val="tx2"/>
                          </a:solidFill>
                        </a:rPr>
                        <a:t xml:space="preserve">I virksomheden modtager alle ansatte en løn, der som minimum er på niveau med minimumslønnen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975" b="0" i="0" u="none" strike="noStrike" noProof="0">
                          <a:solidFill>
                            <a:srgbClr val="1B4528"/>
                          </a:solidFill>
                          <a:effectLst/>
                          <a:latin typeface="Inter"/>
                        </a:rPr>
                        <a:t>{{minumum_wage_yes?}}</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975" b="0" i="0" u="none" strike="noStrike" noProof="0">
                          <a:solidFill>
                            <a:srgbClr val="1B4528"/>
                          </a:solidFill>
                          <a:effectLst/>
                          <a:latin typeface="Inter"/>
                        </a:rPr>
                        <a:t>{{minimum_wage_no?}}</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65966"/>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Kollektiv overenskomst </a:t>
                      </a:r>
                      <a:r>
                        <a:rPr lang="da-DK" sz="975" b="0" noProof="0">
                          <a:solidFill>
                            <a:schemeClr val="tx2"/>
                          </a:solidFill>
                        </a:rPr>
                        <a:t xml:space="preserve">(pkt.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Year</a:t>
                      </a:r>
                      <a:r>
                        <a:rPr lang="da-DK" sz="975" b="1" noProof="0">
                          <a:solidFill>
                            <a:srgbClr val="1B4528"/>
                          </a:solidFill>
                          <a:latin typeface="Calibri" panose="020F0502020204030204" pitchFamily="34" charset="0"/>
                          <a:cs typeface="Calibri" panose="020F0502020204030204" pitchFamily="34" charset="0"/>
                        </a:rPr>
                        <a:t> {{insert_year}}</a:t>
                      </a:r>
                      <a:endParaRPr lang="da-DK"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17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0" noProof="0">
                          <a:solidFill>
                            <a:schemeClr val="tx2"/>
                          </a:solidFill>
                        </a:rPr>
                        <a:t xml:space="preserve">Procentvis ansatte, der er dækket af en kollektiv overenskomst</a:t>
                      </a:r>
                      <a:endParaRPr kumimoji="0" lang="da-DK"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a-DK" sz="975" b="0" i="0" u="none" strike="noStrike" kern="1200" cap="none" spc="0" normalizeH="0" baseline="0" noProof="0">
                          <a:ln>
                            <a:noFill/>
                          </a:ln>
                          <a:solidFill>
                            <a:srgbClr val="1B4528"/>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65968"/>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7560">
                <a:tc>
                  <a:txBody>
                    <a:bodyPr/>
                    <a:lstStyle/>
                    <a:p>
                      <a:r>
                        <a:rPr lang="da-DK" sz="975" b="1" noProof="0">
                          <a:solidFill>
                            <a:schemeClr val="tx2"/>
                          </a:solidFill>
                        </a:rPr>
                        <a:t xml:space="preserve">Uddannelsestimer i gennemsnit pr. ansat </a:t>
                      </a:r>
                      <a:r>
                        <a:rPr lang="da-DK" sz="975" b="0" noProof="0">
                          <a:solidFill>
                            <a:schemeClr val="tx2"/>
                          </a:solidFill>
                        </a:rPr>
                        <a:t xml:space="preserve">(pkt.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Year</a:t>
                      </a:r>
                      <a:r>
                        <a:rPr lang="da-DK"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8408">
                <a:tc>
                  <a:txBody>
                    <a:bodyPr/>
                    <a:lstStyle/>
                    <a:p>
                      <a:r>
                        <a:rPr lang="da-DK" sz="975" b="0" noProof="0">
                          <a:solidFill>
                            <a:schemeClr val="tx2"/>
                          </a:solidFill>
                        </a:rPr>
                        <a:t xml:space="preserve">Time(r) pr. ansat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gennemsnitstimer</a:t>
                      </a:r>
                      <a:r>
                        <a:rPr lang="da-DK" sz="975" b="0" i="0" u="none" strike="noStrike" noProof="0">
                          <a:solidFill>
                            <a:srgbClr val="1B4528"/>
                          </a:solidFill>
                          <a:effectLst/>
                          <a:latin typeface="Inter"/>
                        </a:rPr>
                        <a:t>}}</a:t>
                      </a:r>
                      <a:endParaRPr lang="da-DK"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oplysninger om minimumsløn samt oplyst procentdelen af medarbejdere, der er omfattet af kollektive overenskomster, og det gennemsnitlige antal uddannelsestimer pr. medarbejder pr. år, opdelt efter køn. Hvis virksomheden allerede i henhold til EU-lovgivningen 8 eller andre nationale bestemmelser er forpligtet til at indberette den procentvise lønforskel mellem sine kvindelige og mandlige medarbejdere, skal den oplyse dette.</a:t>
            </a:r>
          </a:p>
          <a:p>
            <a:pPr>
              <a:buNone/>
            </a:pPr>
            <a:br>
              <a:rPr lang="da-DK" sz="975" noProof="0">
                <a:solidFill>
                  <a:schemeClr val="tx2"/>
                </a:solidFill>
                <a:latin typeface="Inter"/>
              </a:rPr>
            </a:br>
            <a:endParaRPr lang="da-DK"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da-DK" noProof="0"/>
              <a:t xml:space="preserve">Virksomhedsadfærd: Antal domme og bøder i relation til korruption &amp; bestikkelse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da-DK" sz="975" b="1" noProof="0">
                          <a:solidFill>
                            <a:schemeClr val="tx2"/>
                          </a:solidFill>
                        </a:rPr>
                        <a:t xml:space="preserve">Korruption og bestikkelse </a:t>
                      </a:r>
                      <a:r>
                        <a:rPr lang="da-DK" sz="975" b="0" noProof="0">
                          <a:solidFill>
                            <a:schemeClr val="tx2"/>
                          </a:solidFill>
                        </a:rPr>
                        <a:t xml:space="preserve">(pkt.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da-DK" sz="975" b="1" noProof="0">
                          <a:solidFill>
                            <a:schemeClr val="tx2"/>
                          </a:solidFill>
                        </a:rPr>
                        <a:t xml:space="preserve">Antal domme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da-DK" sz="975" b="1" noProof="0">
                          <a:solidFill>
                            <a:schemeClr val="tx2"/>
                          </a:solidFill>
                        </a:rPr>
                        <a:t xml:space="preserve">Samlede bødestørrelse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da-DK"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{{domme}}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da-DK" sz="975" b="0" i="0" u="none" strike="noStrike" noProof="0">
                          <a:solidFill>
                            <a:srgbClr val="1B4528"/>
                          </a:solidFill>
                          <a:effectLst/>
                          <a:latin typeface="Inter"/>
                        </a:rPr>
                        <a:t>{{samlet_bodestorrelse}}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9</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overtrædelser af anti-korruptions- og anti-bestikkelseslove i den rapporterede periode. Hvis virksomheden har været involveret i domme eller bøder for overtrædelse af disse love, er følgende oplysninger blevet offentliggjort: Antallet af domme og det samlede bødebeløb, der er pålagt som følge af overtrædelserne. Disse oplysninger vedrører virksomhedens forretningsetik og bæredygtighed, især i forhold til håndtering af korruption og bestikkelse og er anført nedenfor.</a:t>
            </a:r>
            <a:endParaRPr lang="da-DK" sz="975" b="0" noProof="0">
              <a:solidFill>
                <a:schemeClr val="tx2"/>
              </a:solidFill>
              <a:effectLst/>
              <a:latin typeface="Inter"/>
            </a:endParaRPr>
          </a:p>
          <a:p>
            <a:pPr>
              <a:buNone/>
            </a:pPr>
            <a:br>
              <a:rPr lang="da-DK" sz="975" noProof="0">
                <a:solidFill>
                  <a:schemeClr val="tx2"/>
                </a:solidFill>
                <a:latin typeface="Inter"/>
              </a:rPr>
            </a:br>
            <a:endParaRPr lang="da-DK"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da-DK" sz="3325" b="1" noProof="0"/>
              <a:t xml:space="preserve">Oplysningspunkter i Udvidet Modul</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da-DK" noProof="0" smtClean="0"/>
              <a:pPr/>
              <a:t>10</a:t>
            </a:fld>
            <a:endParaRPr lang="da-DK"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da-DK" sz="1475" b="1" i="0" u="none" strike="noStrike" kern="1200" spc="-10" noProof="0">
                <a:solidFill>
                  <a:srgbClr val="1B4528"/>
                </a:solidFill>
                <a:effectLst/>
                <a:latin typeface="IBM Plex Sans" panose="020B0503050203000203" pitchFamily="34" charset="0"/>
              </a:rPr>
              <a:t xml:space="preserve">Strategi: Forretningsmodel og bæredygtighedsrelaterede initiativer (C1)</a:t>
            </a:r>
            <a:endParaRPr lang="da-DK"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11</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da-DK" sz="975" b="1" noProof="0">
                          <a:solidFill>
                            <a:schemeClr val="tx2"/>
                          </a:solidFill>
                        </a:rPr>
                        <a:t xml:space="preserve">Beskrivelse af væsentlige grupper af produkter og/eller tjenesteydelser, som </a:t>
                      </a:r>
                      <a:r>
                        <a:rPr lang="da-DK" sz="975" b="1" kern="1200" noProof="0">
                          <a:solidFill>
                            <a:srgbClr val="1B4528"/>
                          </a:solidFill>
                          <a:latin typeface="+mn-lt"/>
                          <a:ea typeface="+mn-ea"/>
                          <a:cs typeface="+mn-cs"/>
                        </a:rPr>
                        <a:t>{{company_name}} </a:t>
                      </a:r>
                      <a:r>
                        <a:rPr lang="da-DK" sz="975" b="1" kern="1200" noProof="0">
                          <a:solidFill>
                            <a:schemeClr val="tx2"/>
                          </a:solidFill>
                          <a:latin typeface="+mn-lt"/>
                          <a:ea typeface="+mn-ea"/>
                          <a:cs typeface="+mn-cs"/>
                        </a:rPr>
                        <a:t xml:space="preserve">tilbyder</a:t>
                      </a:r>
                      <a:r>
                        <a:rPr lang="da-DK" sz="975" b="1" noProof="0">
                          <a:solidFill>
                            <a:schemeClr val="tx2"/>
                          </a:solidFill>
                        </a:rPr>
                        <a:t> </a:t>
                      </a:r>
                      <a:r>
                        <a:rPr lang="da-DK" sz="975" b="0" noProof="0">
                          <a:solidFill>
                            <a:schemeClr val="tx2"/>
                          </a:solidFill>
                        </a:rPr>
                        <a:t xml:space="preserve">(pkt.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da-DK" sz="975" b="0" noProof="0">
                          <a:solidFill>
                            <a:srgbClr val="1B4528"/>
                          </a:solidFill>
                        </a:rPr>
                        <a:t>{{markets_description}}</a:t>
                      </a:r>
                      <a:endParaRPr lang="da-DK"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da-DK" sz="975" b="1" noProof="0">
                          <a:solidFill>
                            <a:schemeClr val="tx2"/>
                          </a:solidFill>
                        </a:rPr>
                        <a:t xml:space="preserve">Beskrivelse af de væsentlige markeder, som </a:t>
                      </a:r>
                      <a:r>
                        <a:rPr lang="da-DK" sz="975" b="1" kern="1200" noProof="0">
                          <a:solidFill>
                            <a:srgbClr val="1B4528"/>
                          </a:solidFill>
                          <a:latin typeface="+mn-lt"/>
                          <a:ea typeface="+mn-ea"/>
                          <a:cs typeface="+mn-cs"/>
                        </a:rPr>
                        <a:t>{{company_name}} </a:t>
                      </a:r>
                      <a:r>
                        <a:rPr lang="da-DK" sz="975" b="1" noProof="0">
                          <a:solidFill>
                            <a:schemeClr val="tx2"/>
                          </a:solidFill>
                        </a:rPr>
                        <a:t xml:space="preserve">arbejder med </a:t>
                      </a:r>
                      <a:r>
                        <a:rPr lang="da-DK" sz="975" b="0" noProof="0">
                          <a:solidFill>
                            <a:schemeClr val="tx2"/>
                          </a:solidFill>
                        </a:rPr>
                        <a:t xml:space="preserve">(pkt.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da-DK" sz="975" b="0" noProof="0">
                          <a:solidFill>
                            <a:srgbClr val="1B4528"/>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da-DK" sz="975" b="1" noProof="0">
                          <a:solidFill>
                            <a:schemeClr val="tx2"/>
                          </a:solidFill>
                        </a:rPr>
                        <a:t xml:space="preserve">Beskrivelse af </a:t>
                      </a:r>
                      <a:r>
                        <a:rPr lang="da-DK" sz="975" b="1" kern="1200" noProof="0">
                          <a:solidFill>
                            <a:srgbClr val="1B4528"/>
                          </a:solidFill>
                          <a:latin typeface="+mn-lt"/>
                          <a:ea typeface="+mn-ea"/>
                          <a:cs typeface="+mn-cs"/>
                        </a:rPr>
                        <a:t>{{company_name}}</a:t>
                      </a:r>
                      <a:r>
                        <a:rPr lang="da-DK" sz="975" b="1" kern="1200" noProof="0">
                          <a:solidFill>
                            <a:schemeClr val="accent1"/>
                          </a:solidFill>
                          <a:latin typeface="+mn-lt"/>
                          <a:ea typeface="+mn-ea"/>
                          <a:cs typeface="+mn-cs"/>
                        </a:rPr>
                        <a:t>’s</a:t>
                      </a:r>
                      <a:r>
                        <a:rPr lang="da-DK" sz="975" b="1" kern="1200" noProof="0">
                          <a:solidFill>
                            <a:srgbClr val="1B4528"/>
                          </a:solidFill>
                          <a:latin typeface="+mn-lt"/>
                          <a:ea typeface="+mn-ea"/>
                          <a:cs typeface="+mn-cs"/>
                        </a:rPr>
                        <a:t> </a:t>
                      </a:r>
                      <a:r>
                        <a:rPr lang="da-DK" sz="975" b="1" noProof="0">
                          <a:solidFill>
                            <a:schemeClr val="tx2"/>
                          </a:solidFill>
                        </a:rPr>
                        <a:t xml:space="preserve">primære forretningsforbindelser </a:t>
                      </a:r>
                      <a:r>
                        <a:rPr lang="da-DK" sz="975" b="0" noProof="0">
                          <a:solidFill>
                            <a:schemeClr val="tx2"/>
                          </a:solidFill>
                        </a:rPr>
                        <a:t xml:space="preserve">(pkt.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da-DK" sz="975" b="0" noProof="0">
                          <a:solidFill>
                            <a:srgbClr val="1B4528"/>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da-DK" sz="975" b="1" noProof="0">
                          <a:solidFill>
                            <a:schemeClr val="tx2"/>
                          </a:solidFill>
                        </a:rPr>
                        <a:t xml:space="preserve">Beskrivelse af overordnet forretningsmodel og strategi </a:t>
                      </a:r>
                      <a:r>
                        <a:rPr lang="da-DK" sz="975" b="0" noProof="0">
                          <a:solidFill>
                            <a:schemeClr val="tx2"/>
                          </a:solidFill>
                        </a:rPr>
                        <a:t xml:space="preserve">(pkt.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da-DK" sz="975" b="0" noProof="0">
                          <a:solidFill>
                            <a:srgbClr val="1B4528"/>
                          </a:solidFill>
                        </a:rPr>
                        <a:t>{{products_description}}</a:t>
                      </a:r>
                    </a:p>
                    <a:p>
                      <a:pPr algn="l"/>
                      <a:endParaRPr lang="da-DK"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da-DK" sz="975" b="1" noProof="0">
                          <a:solidFill>
                            <a:schemeClr val="tx2"/>
                          </a:solidFill>
                        </a:rPr>
                        <a:t xml:space="preserve">Beskrivelse af, hvor </a:t>
                      </a:r>
                      <a:r>
                        <a:rPr lang="da-DK" sz="975" b="1" kern="1200" noProof="0">
                          <a:solidFill>
                            <a:srgbClr val="1B4528"/>
                          </a:solidFill>
                          <a:latin typeface="+mn-lt"/>
                          <a:ea typeface="+mn-ea"/>
                          <a:cs typeface="+mn-cs"/>
                        </a:rPr>
                        <a:t>{{company_name}}</a:t>
                      </a:r>
                      <a:r>
                        <a:rPr lang="da-DK" sz="975" b="1" kern="1200" noProof="0">
                          <a:solidFill>
                            <a:schemeClr val="accent1"/>
                          </a:solidFill>
                          <a:latin typeface="+mn-lt"/>
                          <a:ea typeface="+mn-ea"/>
                          <a:cs typeface="+mn-cs"/>
                        </a:rPr>
                        <a:t xml:space="preserve">´s strategi og forretningsmodel har bæredygtighedsrelaterede elementer</a:t>
                      </a:r>
                      <a:r>
                        <a:rPr lang="da-DK" sz="975" b="0" noProof="0">
                          <a:solidFill>
                            <a:schemeClr val="tx2"/>
                          </a:solidFill>
                        </a:rPr>
                        <a:t xml:space="preserve">(pkt.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da-DK" sz="975" b="0" noProof="0">
                          <a:solidFill>
                            <a:srgbClr val="1B4528"/>
                          </a:solidFill>
                        </a:rPr>
                        <a:t>{{business_model}}</a:t>
                      </a:r>
                      <a:endParaRPr lang="da-DK"/>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beskrivelse af overordnet forretningsmodel og strategi; produkter og/eller tjenesteydelser; markeder; forretningsforbindelser samt om virksomhedens forretningsmodel har bæredygtighedsrelaterede elementer. </a:t>
            </a:r>
            <a:endParaRPr lang="da-DK"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da-DK" noProof="0">
                <a:latin typeface="+mn-lt"/>
                <a:ea typeface="+mn-ea"/>
                <a:cs typeface="+mn-cs"/>
              </a:rPr>
              <a:t xml:space="preserve">I</a:t>
            </a:r>
            <a:r>
              <a:rPr lang="da-DK" sz="1475" b="1" kern="1200" spc="-10" noProof="0">
                <a:solidFill>
                  <a:schemeClr val="tx2"/>
                </a:solidFill>
                <a:latin typeface="+mn-lt"/>
                <a:ea typeface="+mn-ea"/>
                <a:cs typeface="+mn-cs"/>
              </a:rPr>
              <a:t xml:space="preserve">ndsatser, politikker og fremtidige initiativer for omstilling til en mere bæredygtig økonomi (C2)</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12</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da-DK" sz="975" b="1" kern="1200" spc="-10" noProof="0">
                          <a:solidFill>
                            <a:schemeClr val="tx2"/>
                          </a:solidFill>
                          <a:latin typeface="+mn-lt"/>
                          <a:ea typeface="+mn-ea"/>
                          <a:cs typeface="+mn-cs"/>
                        </a:rPr>
                        <a:t xml:space="preserve">Område</a:t>
                      </a:r>
                    </a:p>
                    <a:p>
                      <a:pPr algn="l"/>
                      <a:r>
                        <a:rPr lang="da-DK" sz="975" b="0" kern="1200" spc="-10" noProof="0">
                          <a:solidFill>
                            <a:schemeClr val="tx2"/>
                          </a:solidFill>
                          <a:latin typeface="+mn-lt"/>
                          <a:ea typeface="+mn-ea"/>
                          <a:cs typeface="+mn-cs"/>
                        </a:rPr>
                        <a:t xml:space="preserve">(pkt.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975" b="1" kern="1200" spc="-10" noProof="0">
                          <a:solidFill>
                            <a:schemeClr val="tx2"/>
                          </a:solidFill>
                          <a:latin typeface="+mn-lt"/>
                          <a:ea typeface="+mn-ea"/>
                          <a:cs typeface="+mn-cs"/>
                        </a:rPr>
                        <a:t xml:space="preserve">Kort beskrivelse </a:t>
                      </a:r>
                      <a:r>
                        <a:rPr lang="da-DK" sz="975" b="1" u="none" kern="1200" spc="-10" noProof="0">
                          <a:solidFill>
                            <a:schemeClr val="tx2"/>
                          </a:solidFill>
                          <a:latin typeface="+mn-lt"/>
                          <a:ea typeface="+mn-ea"/>
                          <a:cs typeface="+mn-cs"/>
                        </a:rPr>
                        <a:t xml:space="preserve">af eksisterende </a:t>
                      </a:r>
                      <a:r>
                        <a:rPr lang="da-DK" sz="975" b="1" kern="1200" spc="-10" noProof="0">
                          <a:solidFill>
                            <a:schemeClr val="tx2"/>
                          </a:solidFill>
                          <a:latin typeface="+mn-lt"/>
                          <a:ea typeface="+mn-ea"/>
                          <a:cs typeface="+mn-cs"/>
                        </a:rPr>
                        <a:t xml:space="preserve">indsatser/politikker/handlinger (jf. oplysningspunkt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da-DK" sz="975" b="1" kern="1200" spc="-10" noProof="0">
                          <a:solidFill>
                            <a:schemeClr val="tx2"/>
                          </a:solidFill>
                          <a:latin typeface="+mn-lt"/>
                          <a:ea typeface="+mn-ea"/>
                          <a:cs typeface="+mn-cs"/>
                        </a:rPr>
                        <a:t xml:space="preserve">Kort beskrivelse af eventuelle </a:t>
                      </a:r>
                      <a:r>
                        <a:rPr lang="da-DK" sz="975" b="1" u="none" kern="1200" spc="-10" noProof="0">
                          <a:solidFill>
                            <a:schemeClr val="tx2"/>
                          </a:solidFill>
                          <a:latin typeface="+mn-lt"/>
                          <a:ea typeface="+mn-ea"/>
                          <a:cs typeface="+mn-cs"/>
                        </a:rPr>
                        <a:t xml:space="preserve">fremtidige</a:t>
                      </a:r>
                      <a:r>
                        <a:rPr lang="da-DK" sz="975" b="1" kern="1200" spc="-10" noProof="0">
                          <a:solidFill>
                            <a:schemeClr val="tx2"/>
                          </a:solidFill>
                          <a:latin typeface="+mn-lt"/>
                          <a:ea typeface="+mn-ea"/>
                          <a:cs typeface="+mn-cs"/>
                        </a:rPr>
                        <a:t xml:space="preserve"> målsætninger (jf. oplysningspunkt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spc="-10" noProof="0">
                          <a:solidFill>
                            <a:schemeClr val="bg1"/>
                          </a:solidFill>
                        </a:rPr>
                        <a:t xml:space="preserve">Oplysningspunktet </a:t>
                      </a:r>
                      <a:r>
                        <a:rPr lang="da-DK" sz="975" b="1" spc="-10" noProof="0">
                          <a:solidFill>
                            <a:schemeClr val="bg1"/>
                          </a:solidFill>
                        </a:rPr>
                        <a:t xml:space="preserve">er frivilligt</a:t>
                      </a:r>
                      <a:endParaRPr lang="da-DK"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da-DK"/>
                    </a:p>
                  </a:txBody>
                  <a:tcPr/>
                </a:tc>
                <a:tc vMerge="1">
                  <a:txBody>
                    <a:bodyPr/>
                    <a:lstStyle/>
                    <a:p>
                      <a:endParaRPr lang="da-DK"/>
                    </a:p>
                  </a:txBody>
                  <a:tcPr/>
                </a:tc>
                <a:tc vMerge="1">
                  <a:txBody>
                    <a:bodyPr/>
                    <a:lstStyle/>
                    <a:p>
                      <a:endParaRPr lang="da-DK"/>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Angivelse af det højeste ledelsesniveau i virksomheden, der er ansvarlig for implementeringen </a:t>
                      </a:r>
                      <a:r>
                        <a:rPr lang="da-DK" sz="975" b="0" kern="1200" spc="-10" noProof="0">
                          <a:solidFill>
                            <a:schemeClr val="tx2"/>
                          </a:solidFill>
                          <a:latin typeface="+mn-lt"/>
                          <a:ea typeface="+mn-ea"/>
                          <a:cs typeface="+mn-cs"/>
                        </a:rPr>
                        <a:t xml:space="preserve">(pkt.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da-DK" sz="975" b="1" kern="1200" spc="-10" noProof="0">
                          <a:solidFill>
                            <a:schemeClr val="tx2"/>
                          </a:solidFill>
                          <a:latin typeface="+mn-lt"/>
                          <a:ea typeface="+mn-ea"/>
                          <a:cs typeface="+mn-cs"/>
                        </a:rPr>
                        <a:t xml:space="preserve">Klimaforandringer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Climate_C2_Description_Existing_Practices</a:t>
                      </a:r>
                      <a:r>
                        <a:rPr lang="da-DK" sz="975" b="0" i="0" u="none" strike="noStrike" noProof="0">
                          <a:solidFill>
                            <a:srgbClr val="1B4528"/>
                          </a:solidFill>
                          <a:effectLst/>
                          <a:latin typeface="Inter"/>
                        </a:rPr>
                        <a:t>}}</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Climate_C2_Future_Practices</a:t>
                      </a:r>
                      <a:r>
                        <a:rPr lang="da-DK" sz="975" b="0" i="0" u="none" strike="noStrike" noProof="0">
                          <a:solidFill>
                            <a:srgbClr val="1B4528"/>
                          </a:solidFill>
                          <a:effectLst/>
                          <a:latin typeface="Inter"/>
                        </a:rPr>
                        <a:t>}}</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Climate_C2_Management_Level</a:t>
                      </a:r>
                      <a:r>
                        <a:rPr lang="da-DK" sz="975" b="0" i="0" u="none" strike="noStrike" noProof="0">
                          <a:solidFill>
                            <a:srgbClr val="1B4528"/>
                          </a:solidFill>
                          <a:effectLst/>
                          <a:latin typeface="Inter"/>
                        </a:rPr>
                        <a:t>}}</a:t>
                      </a:r>
                      <a:endParaRPr lang="da-DK"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da-DK" sz="975" b="1" kern="1200" spc="-10" noProof="0">
                          <a:solidFill>
                            <a:schemeClr val="tx2"/>
                          </a:solidFill>
                          <a:latin typeface="+mn-lt"/>
                          <a:ea typeface="+mn-ea"/>
                          <a:cs typeface="+mn-cs"/>
                        </a:rPr>
                        <a:t xml:space="preserve">Forurening</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Pollution_C2_Description_Existing_Practices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Pollution_C2_Future_Practices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Pollution_C2_Management_Level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da-DK" sz="975" b="1" kern="1200" spc="-10" noProof="0">
                          <a:solidFill>
                            <a:schemeClr val="tx2"/>
                          </a:solidFill>
                          <a:latin typeface="+mn-lt"/>
                          <a:ea typeface="+mn-ea"/>
                          <a:cs typeface="+mn-cs"/>
                        </a:rPr>
                        <a:t xml:space="preserve">Vand -og Havressourcer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Water_C2_Description_Existing_Practices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Water_C2_Future_Practices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BM Plex Sans"/>
                        </a:rPr>
                        <a:t>Water_C2_Management_Level</a:t>
                      </a:r>
                      <a:r>
                        <a:rPr lang="da-DK" sz="975" b="0" i="0" u="none" strike="noStrike" noProof="0">
                          <a:solidFill>
                            <a:srgbClr val="1B4528"/>
                          </a:solidFill>
                          <a:effectLst/>
                          <a:latin typeface="Inter"/>
                        </a:rPr>
                        <a:t>}}</a:t>
                      </a:r>
                      <a:endParaRPr lang="da-DK" sz="975" b="0" i="0" u="none" strike="noStrike" noProof="0">
                        <a:solidFill>
                          <a:srgbClr val="000000"/>
                        </a:solidFill>
                        <a:effectLst/>
                        <a:latin typeface="Inter"/>
                      </a:endParaRPr>
                    </a:p>
                    <a:p>
                      <a:pPr lvl="0">
                        <a:buNone/>
                      </a:pPr>
                      <a:endParaRPr lang="da-DK" sz="975" b="0" i="0" u="none" strike="noStrike" noProof="0">
                        <a:solidFill>
                          <a:srgbClr val="1B4528"/>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da-DK" sz="975" b="1" kern="1200" spc="-10" noProof="0">
                          <a:solidFill>
                            <a:schemeClr val="tx2"/>
                          </a:solidFill>
                          <a:latin typeface="+mn-lt"/>
                          <a:ea typeface="+mn-ea"/>
                          <a:cs typeface="+mn-cs"/>
                        </a:rPr>
                        <a:t xml:space="preserve">Biodiversitet og Økosystemer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Bio_C2_Description_Existing_Practices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Bio_C2_Future_Practices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Bio_C2_Management_Level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da-DK" sz="975" b="1" kern="1200" spc="-10" noProof="0">
                          <a:solidFill>
                            <a:schemeClr val="tx2"/>
                          </a:solidFill>
                          <a:latin typeface="+mn-lt"/>
                          <a:ea typeface="+mn-ea"/>
                          <a:cs typeface="+mn-cs"/>
                        </a:rPr>
                        <a:t xml:space="preserve">Cirkulær økonomi</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Circular_C2_Description_Existing_Practices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Circular_C2_Future_Practices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Circular_C2_Management_Level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da-DK" sz="975" b="1" kern="1200" spc="-10" noProof="0">
                          <a:solidFill>
                            <a:schemeClr val="tx2"/>
                          </a:solidFill>
                          <a:latin typeface="+mn-lt"/>
                          <a:ea typeface="+mn-ea"/>
                          <a:cs typeface="+mn-cs"/>
                        </a:rPr>
                        <a:t xml:space="preserve">Egen arbejdsstyrke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Own_Workforce_C2_Description_Existing_Practices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Own_Workforce_C2_Future_Practices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Own_Workforce_C2_Management_Level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da-DK" sz="975" b="1" kern="1200" spc="-10" noProof="0">
                          <a:solidFill>
                            <a:schemeClr val="tx2"/>
                          </a:solidFill>
                          <a:latin typeface="+mn-lt"/>
                          <a:ea typeface="+mn-ea"/>
                          <a:cs typeface="+mn-cs"/>
                        </a:rPr>
                        <a:t xml:space="preserve">Arbejdere i værdikæden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Workers_Value_Chain_C2_Description_Existing_Practices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Workers_Value_Chain_C2_Future_Practices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Workers_Value_Chain_C2_Management_Level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da-DK" sz="975" b="1" kern="1200" spc="-10" noProof="0">
                          <a:solidFill>
                            <a:schemeClr val="tx2"/>
                          </a:solidFill>
                          <a:latin typeface="+mn-lt"/>
                          <a:ea typeface="+mn-ea"/>
                          <a:cs typeface="+mn-cs"/>
                        </a:rPr>
                        <a:t xml:space="preserve">Berørte samfund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Affected_C2_Description_Existing_Practices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Affected_C2_Future_Practices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Affected_C2_Management_Level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da-DK" sz="975" b="1" kern="1200" spc="-10" noProof="0">
                          <a:solidFill>
                            <a:schemeClr val="tx2"/>
                          </a:solidFill>
                          <a:latin typeface="+mn-lt"/>
                          <a:ea typeface="+mn-ea"/>
                          <a:cs typeface="+mn-cs"/>
                        </a:rPr>
                        <a:t xml:space="preserve">Forbrugere og slutbrugere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Consumers_C2_Description_Existing_Practices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Consumers_C2_Future_Practices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Consumers_C2_Management_Level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da-DK" sz="975" b="1" kern="1200" spc="-10" noProof="0">
                          <a:solidFill>
                            <a:schemeClr val="tx2"/>
                          </a:solidFill>
                          <a:latin typeface="+mn-lt"/>
                          <a:ea typeface="+mn-ea"/>
                          <a:cs typeface="+mn-cs"/>
                        </a:rPr>
                        <a:t xml:space="preserve">Virksomhedsledelse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Governance_C2_Description_Existing_Practices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Governance_C2_Future_Practices</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da-DK" sz="975" b="0" i="0" u="none" strike="noStrike" noProof="0">
                          <a:solidFill>
                            <a:srgbClr val="1B4528"/>
                          </a:solidFill>
                          <a:effectLst/>
                          <a:latin typeface="Inter"/>
                        </a:rPr>
                        <a:t>{{</a:t>
                      </a:r>
                      <a:r>
                        <a:rPr lang="da-DK" sz="975" b="0" i="0" u="none" strike="noStrike" noProof="0">
                          <a:solidFill>
                            <a:srgbClr val="1B4528"/>
                          </a:solidFill>
                          <a:effectLst/>
                        </a:rPr>
                        <a:t>Governance_C2_Management_Level</a:t>
                      </a:r>
                      <a:r>
                        <a:rPr lang="da-DK" sz="975" b="0" i="0" u="none" strike="noStrike" noProof="0">
                          <a:solidFill>
                            <a:srgbClr val="1B4528"/>
                          </a:solidFill>
                          <a:effectLst/>
                          <a:latin typeface="Inter"/>
                        </a:rPr>
                        <a:t>}}</a:t>
                      </a:r>
                      <a:endParaRPr lang="da-DK"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da-DK" sz="975" noProof="0">
                <a:solidFill>
                  <a:schemeClr val="tx2"/>
                </a:solidFill>
              </a:rPr>
              <a:t xml:space="preserve">Nedenstående tabel er udfyldt, da virksomheden allerede har iværksat konkrete indsatser, politikker eller initiativer, der bidrager til omstillingen mod en mere bæredygtig økonomi. Virksomheden har svaret ”JA” til et eller flere oplysningspunkter under B2 i Basismodulet. Nedenstående angiver et mere fyldestgørende svar på politikker, initiativer og indsatser som er igangsat for omstilling til en mere bæredygtig økonomi i virksomheden</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da-DK" noProof="0">
                <a:solidFill>
                  <a:srgbClr val="1B4528"/>
                </a:solidFill>
                <a:latin typeface="IBM Plex Sans" panose="020B0503050203000203" pitchFamily="34" charset="0"/>
              </a:rPr>
              <a:t xml:space="preserve">CO₂e-udledning under B3 i Basismodulet</a:t>
            </a:r>
            <a:endParaRPr lang="da-DK"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13</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da-DK" sz="975" b="1" kern="1200" spc="-10" noProof="0">
                          <a:solidFill>
                            <a:schemeClr val="tx2"/>
                          </a:solidFill>
                          <a:latin typeface="+mn-lt"/>
                          <a:ea typeface="+mn-ea"/>
                          <a:cs typeface="+mn-cs"/>
                        </a:rPr>
                        <a:t xml:space="preserve">CO₂e-reduktionsmål </a:t>
                      </a:r>
                      <a:r>
                        <a:rPr lang="da-DK" sz="975" b="0" kern="1200" spc="-10" noProof="0">
                          <a:solidFill>
                            <a:schemeClr val="tx2"/>
                          </a:solidFill>
                          <a:latin typeface="+mn-lt"/>
                          <a:ea typeface="+mn-ea"/>
                          <a:cs typeface="+mn-cs"/>
                        </a:rPr>
                        <a:t xml:space="preserve">(pkt.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da-DK"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da-DK" sz="975" b="1" kern="1200" spc="-10" noProof="0">
                          <a:solidFill>
                            <a:schemeClr val="tx2"/>
                          </a:solidFill>
                          <a:latin typeface="+mn-lt"/>
                          <a:ea typeface="+mn-ea"/>
                          <a:cs typeface="+mn-cs"/>
                        </a:rPr>
                        <a:t xml:space="preserve">Reduktionsmål i år </a:t>
                      </a:r>
                      <a:r>
                        <a:rPr lang="da-DK" sz="975" b="1" kern="1200" spc="-10" noProof="0">
                          <a:solidFill>
                            <a:srgbClr val="1B4528"/>
                          </a:solidFill>
                          <a:latin typeface="+mn-lt"/>
                          <a:ea typeface="+mn-ea"/>
                          <a:cs typeface="+mn-cs"/>
                        </a:rPr>
                        <a:t>{{baseline_year-1}}</a:t>
                      </a:r>
                      <a:endParaRPr lang="da-DK" sz="975" b="0" kern="1200" spc="-10" noProof="0">
                        <a:solidFill>
                          <a:srgbClr val="1B4528"/>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CO₂e-udledning i baselineår:</a:t>
                      </a:r>
                      <a:r>
                        <a:rPr lang="da-DK" sz="975" b="0" kern="1200" spc="-10" noProof="0">
                          <a:solidFill>
                            <a:schemeClr val="tx2"/>
                          </a:solidFill>
                          <a:latin typeface="+mn-lt"/>
                          <a:ea typeface="+mn-ea"/>
                          <a:cs typeface="+mn-cs"/>
                        </a:rPr>
                        <a:t> </a:t>
                      </a:r>
                      <a:r>
                        <a:rPr lang="da-DK" sz="975" b="1" kern="1200" spc="-10" noProof="0">
                          <a:solidFill>
                            <a:srgbClr val="1B4528"/>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a-DK" sz="975" b="0" i="0" u="none" strike="noStrike" noProof="0">
                          <a:solidFill>
                            <a:srgbClr val="1B4528"/>
                          </a:solidFill>
                          <a:effectLst/>
                          <a:latin typeface="Inter"/>
                        </a:rPr>
                        <a:t>{{scope1_target}}</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da-DK" sz="975" b="0" i="0" u="none" strike="noStrike" noProof="0">
                          <a:solidFill>
                            <a:srgbClr val="1B4528"/>
                          </a:solidFill>
                          <a:effectLst/>
                          <a:latin typeface="Inter"/>
                        </a:rPr>
                        <a:t>{{scope1_baseline}}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a-DK" sz="975" b="0" i="0" u="none" strike="noStrike" noProof="0">
                          <a:solidFill>
                            <a:srgbClr val="1B4528"/>
                          </a:solidFill>
                          <a:effectLst/>
                          <a:latin typeface="Inter"/>
                        </a:rPr>
                        <a:t>{{scope2_target}}</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da-DK" sz="975" b="0" i="0" u="none" strike="noStrike" noProof="0">
                          <a:solidFill>
                            <a:srgbClr val="1B4528"/>
                          </a:solidFill>
                          <a:effectLst/>
                          <a:latin typeface="Inter"/>
                        </a:rPr>
                        <a:t>{{scope2_baseline}}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da-DK"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a-DK" sz="975" b="0" i="0" u="none" strike="noStrike" noProof="0">
                          <a:solidFill>
                            <a:srgbClr val="1B4528"/>
                          </a:solidFill>
                          <a:effectLst/>
                          <a:latin typeface="Inter"/>
                        </a:rPr>
                        <a:t>{{scope3_target}}</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da-DK" sz="975" b="0" i="0" u="none" strike="noStrike" noProof="0">
                          <a:solidFill>
                            <a:srgbClr val="1B4528"/>
                          </a:solidFill>
                          <a:effectLst/>
                          <a:latin typeface="Inter"/>
                        </a:rPr>
                        <a:t>{{scope3_baseline}}</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da-DK" sz="975" b="1" kern="1200" spc="-10" noProof="0">
                          <a:solidFill>
                            <a:schemeClr val="tx2"/>
                          </a:solidFill>
                          <a:latin typeface="+mn-lt"/>
                          <a:ea typeface="+mn-ea"/>
                          <a:cs typeface="+mn-cs"/>
                        </a:rPr>
                        <a:t xml:space="preserve">Liste over de vigtigste handlinger </a:t>
                      </a:r>
                      <a:r>
                        <a:rPr lang="da-DK" sz="975" b="1" kern="1200" noProof="0">
                          <a:solidFill>
                            <a:srgbClr val="1B4528"/>
                          </a:solidFill>
                          <a:latin typeface="+mn-lt"/>
                          <a:ea typeface="+mn-ea"/>
                          <a:cs typeface="+mn-cs"/>
                        </a:rPr>
                        <a:t>{{Company name}} </a:t>
                      </a:r>
                      <a:r>
                        <a:rPr lang="da-DK" sz="975" b="0" kern="1200" noProof="0">
                          <a:solidFill>
                            <a:srgbClr val="1B4528"/>
                          </a:solidFill>
                          <a:latin typeface="+mn-lt"/>
                          <a:ea typeface="+mn-ea"/>
                          <a:cs typeface="+mn-cs"/>
                        </a:rPr>
                        <a:t> </a:t>
                      </a:r>
                      <a:r>
                        <a:rPr lang="da-DK" sz="975" b="1" kern="1200" spc="-10" noProof="0">
                          <a:solidFill>
                            <a:schemeClr val="tx2"/>
                          </a:solidFill>
                          <a:latin typeface="+mn-lt"/>
                          <a:ea typeface="+mn-ea"/>
                          <a:cs typeface="+mn-cs"/>
                        </a:rPr>
                        <a:t xml:space="preserve">implementerer for at nå CO₂e-reduktionsmålene </a:t>
                      </a:r>
                      <a:r>
                        <a:rPr lang="da-DK" sz="975" b="0" kern="1200" spc="-10" noProof="0">
                          <a:solidFill>
                            <a:schemeClr val="tx2"/>
                          </a:solidFill>
                          <a:latin typeface="+mn-lt"/>
                          <a:ea typeface="+mn-ea"/>
                          <a:cs typeface="+mn-cs"/>
                        </a:rPr>
                        <a:t xml:space="preserve">(pkt.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da-DK" sz="975" b="0" noProof="0">
                          <a:solidFill>
                            <a:srgbClr val="1B4528"/>
                          </a:solidFill>
                        </a:rPr>
                        <a:t>{{</a:t>
                      </a:r>
                      <a:r>
                        <a:rPr lang="da-DK" sz="975" b="0" noProof="0">
                          <a:solidFill>
                            <a:srgbClr val="1B4528"/>
                          </a:solidFill>
                        </a:rPr>
                        <a:t>mainaction</a:t>
                      </a:r>
                      <a:r>
                        <a:rPr lang="da-DK" sz="975" b="0" noProof="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noProof="0"/>
              <a:t xml:space="preserve">CO₂e-reduktionsmål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da-DK" sz="975" b="1" noProof="0">
                          <a:solidFill>
                            <a:schemeClr val="tx2"/>
                          </a:solidFill>
                        </a:rPr>
                        <a:t xml:space="preserve">Udledning af drivhusgasser –</a:t>
                      </a:r>
                      <a:r>
                        <a:rPr lang="da-DK" sz="975" b="0" noProof="0">
                          <a:solidFill>
                            <a:schemeClr val="tx2"/>
                          </a:solidFill>
                        </a:rPr>
                        <a:t xml:space="preserve"> (tilføjes pkt. 33)</a:t>
                      </a: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da-DK" sz="975" b="1" noProof="0">
                          <a:solidFill>
                            <a:schemeClr val="tx2"/>
                          </a:solidFill>
                        </a:rPr>
                        <a:t xml:space="preserve">År </a:t>
                      </a:r>
                      <a:r>
                        <a:rPr lang="da-DK" sz="975" b="1" noProof="0">
                          <a:solidFill>
                            <a:srgbClr val="1B4528"/>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r">
                        <a:lnSpc>
                          <a:spcPct val="100000"/>
                        </a:lnSpc>
                        <a:spcBef>
                          <a:spcPts val="0"/>
                        </a:spcBef>
                        <a:spcAft>
                          <a:spcPts val="0"/>
                        </a:spcAft>
                        <a:buNone/>
                      </a:pPr>
                      <a:r>
                        <a:rPr lang="da-DK" sz="975" b="0" i="0" u="none" strike="noStrike" kern="1200" noProof="0">
                          <a:solidFill>
                            <a:srgbClr val="1B4528"/>
                          </a:solidFill>
                          <a:latin typeface="IBM Plex Sans"/>
                          <a:ea typeface="+mn-ea"/>
                          <a:cs typeface="+mn-cs"/>
                        </a:rPr>
                        <a:t>{{scope3_description_table}}</a:t>
                      </a:r>
                      <a:endParaRPr lang="da-DK"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r">
                        <a:lnSpc>
                          <a:spcPct val="100000"/>
                        </a:lnSpc>
                        <a:spcBef>
                          <a:spcPts val="0"/>
                        </a:spcBef>
                        <a:spcAft>
                          <a:spcPts val="0"/>
                        </a:spcAft>
                        <a:buNone/>
                      </a:pPr>
                      <a:r>
                        <a:rPr lang="da-DK" sz="975" b="0" i="0" u="none" strike="noStrike" kern="1200" cap="none" spc="0" normalizeH="0" baseline="0" noProof="0">
                          <a:ln>
                            <a:noFill/>
                          </a:ln>
                          <a:solidFill>
                            <a:srgbClr val="1B4528"/>
                          </a:solidFill>
                          <a:effectLst/>
                          <a:uLnTx/>
                          <a:uFillTx/>
                          <a:latin typeface="IBM Plex Sans"/>
                          <a:ea typeface="+mn-ea"/>
                          <a:cs typeface="+mn-cs"/>
                        </a:rPr>
                        <a:t>{{scope3_emissions_table}}</a:t>
                      </a:r>
                      <a:endParaRPr lang="da-DK"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da-DK" sz="975" b="1" noProof="0">
                          <a:solidFill>
                            <a:schemeClr val="tx2"/>
                          </a:solidFill>
                        </a:rPr>
                        <a:t xml:space="preserve">CO₂e-udledninger i scope 3 total (lokationsbaseret)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r">
                        <a:lnSpc>
                          <a:spcPct val="100000"/>
                        </a:lnSpc>
                        <a:spcBef>
                          <a:spcPts val="0"/>
                        </a:spcBef>
                        <a:spcAft>
                          <a:spcPts val="0"/>
                        </a:spcAft>
                        <a:buNone/>
                      </a:pPr>
                      <a:r>
                        <a:rPr lang="da-DK" sz="975" b="0" i="0" u="none" strike="noStrike" kern="1200" cap="none" spc="0" normalizeH="0" baseline="0" noProof="0">
                          <a:ln>
                            <a:noFill/>
                          </a:ln>
                          <a:solidFill>
                            <a:srgbClr val="1B4528"/>
                          </a:solidFill>
                          <a:effectLst/>
                          <a:uLnTx/>
                          <a:uFillTx/>
                          <a:latin typeface="IBM Plex Sans"/>
                          <a:ea typeface="+mn-ea"/>
                          <a:cs typeface="+mn-cs"/>
                        </a:rPr>
                        <a:t>{{scope3}}</a:t>
                      </a:r>
                      <a:endParaRPr lang="da-DK"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da-DK" sz="975" b="1" noProof="0">
                          <a:solidFill>
                            <a:schemeClr val="tx2"/>
                          </a:solidFill>
                        </a:rPr>
                        <a:t xml:space="preserve">Total CO₂e-udledning for scope 1, 2 og 3   </a:t>
                      </a:r>
                      <a:endParaRPr lang="da-DK"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6000"/>
                        </a:lnSpc>
                        <a:spcBef>
                          <a:spcPts val="0"/>
                        </a:spcBef>
                        <a:spcAft>
                          <a:spcPts val="0"/>
                        </a:spcAft>
                        <a:buClrTx/>
                        <a:buSzTx/>
                        <a:buFontTx/>
                        <a:buNone/>
                        <a:tabLst/>
                        <a:defRPr/>
                      </a:pPr>
                      <a:r>
                        <a:rPr kumimoji="0" lang="da-DK" sz="975" b="0" i="0" u="none" strike="noStrike" kern="1200" cap="none" spc="0" normalizeH="0" baseline="0" noProof="0">
                          <a:ln>
                            <a:noFill/>
                          </a:ln>
                          <a:solidFill>
                            <a:srgbClr val="1B4528"/>
                          </a:solidFill>
                          <a:effectLst/>
                          <a:uLnTx/>
                          <a:uFillTx/>
                          <a:latin typeface="+mn-lt"/>
                          <a:ea typeface="+mn-ea"/>
                          <a:cs typeface="+mn-cs"/>
                        </a:rPr>
                        <a:t>{{</a:t>
                      </a:r>
                      <a:r>
                        <a:rPr kumimoji="0" lang="da-DK" sz="975" b="0" i="0" u="none" strike="noStrike" kern="1200" cap="none" spc="0" normalizeH="0" baseline="0" noProof="0">
                          <a:ln>
                            <a:noFill/>
                          </a:ln>
                          <a:solidFill>
                            <a:srgbClr val="1B4528"/>
                          </a:solidFill>
                          <a:effectLst/>
                          <a:uLnTx/>
                          <a:uFillTx/>
                          <a:latin typeface="+mn-lt"/>
                          <a:ea typeface="+mn-ea"/>
                          <a:cs typeface="+mn-cs"/>
                        </a:rPr>
                        <a:t>total_all_scopes</a:t>
                      </a:r>
                      <a:r>
                        <a:rPr kumimoji="0" lang="da-DK" sz="975" b="0" i="0" u="none" strike="noStrike" kern="1200" cap="none" spc="0" normalizeH="0" baseline="0" noProof="0">
                          <a:ln>
                            <a:noFill/>
                          </a:ln>
                          <a:solidFill>
                            <a:srgbClr val="1B4528"/>
                          </a:solidFill>
                          <a:effectLst/>
                          <a:uLnTx/>
                          <a:uFillTx/>
                          <a:latin typeface="+mn-lt"/>
                          <a:ea typeface="+mn-ea"/>
                          <a:cs typeface="+mn-cs"/>
                        </a:rPr>
                        <a:t>}}</a:t>
                      </a:r>
                      <a:endParaRPr kumimoji="0" lang="da-DK" sz="975" b="0" i="0" u="none" strike="noStrike" kern="1200" cap="none" spc="0" normalizeH="0" baseline="0" noProof="0" dirty="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en oversigt over udledning af drivhusgasserne i Scope 3 som følger GHG-protokollen. Virksomheden angiver den samlede udledning og den lokationsbaserede udledning fra Scope 3. Virksomhedens CO₂e-reduktionsmål er anført, herunder virksomhedens vigtigste handlinger for at møde reduktionsmål</a:t>
            </a:r>
            <a:r>
              <a:rPr lang="da-DK" sz="975" noProof="0">
                <a:solidFill>
                  <a:schemeClr val="tx2"/>
                </a:solidFill>
                <a:latin typeface="Inter"/>
              </a:rPr>
              <a:t xml:space="preserve">ene.</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a:t xml:space="preserve">Klimaomstilling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da-DK" sz="975" b="1" kern="1200" spc="-10" noProof="0">
                          <a:solidFill>
                            <a:schemeClr val="tx2"/>
                          </a:solidFill>
                          <a:latin typeface="+mn-lt"/>
                          <a:ea typeface="+mn-ea"/>
                          <a:cs typeface="+mn-cs"/>
                        </a:rPr>
                        <a:t xml:space="preserve">Kommende omstillingsplan </a:t>
                      </a:r>
                      <a:r>
                        <a:rPr lang="da-DK" sz="975" b="0" kern="1200" spc="-10" noProof="0">
                          <a:solidFill>
                            <a:schemeClr val="tx2"/>
                          </a:solidFill>
                          <a:latin typeface="+mn-lt"/>
                          <a:ea typeface="+mn-ea"/>
                          <a:cs typeface="+mn-cs"/>
                        </a:rPr>
                        <a:t xml:space="preserve">(pkt.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da-DK"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da-DK" sz="975" b="1" kern="1200" noProof="0">
                          <a:solidFill>
                            <a:srgbClr val="1B4528"/>
                          </a:solidFill>
                          <a:latin typeface="+mn-lt"/>
                          <a:ea typeface="+mn-ea"/>
                          <a:cs typeface="+mn-cs"/>
                        </a:rPr>
                        <a:t>{{company_name}} </a:t>
                      </a:r>
                      <a:r>
                        <a:rPr lang="da-DK" sz="975" b="1" kern="1200" noProof="0">
                          <a:solidFill>
                            <a:schemeClr val="tx2"/>
                          </a:solidFill>
                          <a:latin typeface="+mn-lt"/>
                          <a:ea typeface="+mn-ea"/>
                          <a:cs typeface="+mn-cs"/>
                        </a:rPr>
                        <a:t xml:space="preserve">vil igangsætte en konkret omstillingsplan </a:t>
                      </a:r>
                      <a:r>
                        <a:rPr lang="da-DK" sz="975" b="1" noProof="0">
                          <a:solidFill>
                            <a:schemeClr val="tx2"/>
                          </a:solidFill>
                        </a:rPr>
                        <a:t xml:space="preserve">for at modvirke klimaforandringer</a:t>
                      </a:r>
                      <a:endParaRPr lang="da-DK"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a-DK" sz="975" b="0" i="0" u="none" strike="noStrike" noProof="0">
                          <a:solidFill>
                            <a:srgbClr val="1B4528"/>
                          </a:solidFill>
                          <a:effectLst/>
                          <a:latin typeface="Inter"/>
                        </a:rPr>
                        <a:t>{{transition_plan?}}</a:t>
                      </a:r>
                      <a:endParaRPr lang="da-DK"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da-DK" sz="975" b="1" kern="1200" noProof="0">
                          <a:solidFill>
                            <a:schemeClr val="tx2"/>
                          </a:solidFill>
                          <a:latin typeface="+mn-lt"/>
                          <a:ea typeface="+mn-ea"/>
                          <a:cs typeface="+mn-cs"/>
                        </a:rPr>
                        <a:t xml:space="preserve">Tidspunkt for vedtagelse af omstillingsplan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transition_plan_date</a:t>
                      </a:r>
                      <a:r>
                        <a:rPr lang="da-DK" sz="975" b="0" i="0" u="none" strike="noStrike" noProof="0">
                          <a:solidFill>
                            <a:srgbClr val="1B4528"/>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da-DK" sz="975" b="1" kern="1200" spc="-10" noProof="0">
                          <a:solidFill>
                            <a:schemeClr val="tx2"/>
                          </a:solidFill>
                          <a:latin typeface="+mn-lt"/>
                          <a:ea typeface="+mn-ea"/>
                          <a:cs typeface="+mn-cs"/>
                        </a:rPr>
                        <a:t xml:space="preserve">Omstillingsplan for modvirkning af klimaforandringer </a:t>
                      </a:r>
                      <a:r>
                        <a:rPr lang="da-DK" sz="975" b="0" kern="1200" spc="-10" noProof="0">
                          <a:solidFill>
                            <a:schemeClr val="tx2"/>
                          </a:solidFill>
                          <a:latin typeface="+mn-lt"/>
                          <a:ea typeface="+mn-ea"/>
                          <a:cs typeface="+mn-cs"/>
                        </a:rPr>
                        <a:t xml:space="preserve">(pkt.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da-DK" sz="975" b="0" noProof="0">
                          <a:solidFill>
                            <a:srgbClr val="1B4528"/>
                          </a:solidFill>
                        </a:rPr>
                        <a:t>{{</a:t>
                      </a:r>
                      <a:r>
                        <a:rPr lang="da-DK" sz="975" b="0" noProof="0">
                          <a:solidFill>
                            <a:srgbClr val="1B4528"/>
                          </a:solidFill>
                        </a:rPr>
                        <a:t>transition_plan</a:t>
                      </a:r>
                      <a:r>
                        <a:rPr lang="da-DK" sz="975" b="0" noProof="0">
                          <a:solidFill>
                            <a:srgbClr val="1B4528"/>
                          </a:solidFill>
                        </a:rPr>
                        <a:t>}}</a:t>
                      </a:r>
                    </a:p>
                    <a:p>
                      <a:pPr algn="l"/>
                      <a:endParaRPr lang="da-DK" sz="975" b="0" noProof="0" dirty="0">
                        <a:solidFill>
                          <a:srgbClr val="1B4528"/>
                        </a:solidFill>
                      </a:endParaRPr>
                    </a:p>
                    <a:p>
                      <a:pPr algn="l"/>
                      <a:endParaRPr lang="da-DK" sz="975" b="0" noProof="0" dirty="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De nedenstående oplysninger relaterer sig til virksomhedens omstillingsplan for modvirkning af klimaforandringer. Omstillingen er relateret til virksomhedens CO₂e-reduktionsmål.</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Dette oplysningspunkt er udfyldt, da virksomheden har angivet at de vil igangsætte en konkret omstillingsplan samt dato for vedtagelse.</a:t>
            </a:r>
            <a:endParaRPr lang="da-DK"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da-DK" noProof="0"/>
              <a:t xml:space="preserve">K</a:t>
            </a:r>
            <a:r>
              <a:rPr lang="da-DK" sz="1475" b="1" noProof="0">
                <a:solidFill>
                  <a:schemeClr val="tx2"/>
                </a:solidFill>
              </a:rPr>
              <a:t xml:space="preserve">limarisici (C4)</a:t>
            </a:r>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da-DK" sz="825" b="0" kern="1200" noProof="0">
                          <a:solidFill>
                            <a:schemeClr val="tx2"/>
                          </a:solidFill>
                          <a:latin typeface="+mn-lt"/>
                          <a:ea typeface="+mn-ea"/>
                          <a:cs typeface="+mn-cs"/>
                        </a:rPr>
                        <a:t xml:space="preserve">(pkt.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da-DK" sz="825" b="0" kern="1200" noProof="0">
                          <a:solidFill>
                            <a:schemeClr val="tx2"/>
                          </a:solidFill>
                          <a:latin typeface="+mn-lt"/>
                          <a:ea typeface="+mn-ea"/>
                          <a:cs typeface="+mn-cs"/>
                        </a:rPr>
                        <a:t xml:space="preserve">(pkt.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825" b="0" kern="1200" noProof="0">
                          <a:solidFill>
                            <a:schemeClr val="tx2"/>
                          </a:solidFill>
                          <a:latin typeface="+mn-lt"/>
                          <a:ea typeface="+mn-ea"/>
                          <a:cs typeface="+mn-cs"/>
                        </a:rPr>
                        <a:t xml:space="preserve">(pkt.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da-DK" sz="825" b="0" kern="1200" noProof="0">
                          <a:solidFill>
                            <a:schemeClr val="tx2"/>
                          </a:solidFill>
                          <a:latin typeface="+mn-lt"/>
                          <a:ea typeface="+mn-ea"/>
                          <a:cs typeface="+mn-cs"/>
                        </a:rPr>
                        <a:t xml:space="preserve">(pkt.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Klimarelaterede risici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Hvor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Kort beskrivelse af risici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Eksponering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noProof="0">
                          <a:solidFill>
                            <a:schemeClr val="tx2"/>
                          </a:solidFill>
                        </a:rPr>
                        <a:t xml:space="preserve">(lav/mellem/høj)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Sårbarhed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noProof="0">
                          <a:solidFill>
                            <a:schemeClr val="tx2"/>
                          </a:solidFill>
                        </a:rPr>
                        <a:t xml:space="preserve">(lav/mellem/høj)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Tidshorisont </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i="0" noProof="0">
                          <a:solidFill>
                            <a:schemeClr val="tx2"/>
                          </a:solidFill>
                        </a:rPr>
                        <a:t xml:space="preserve">(0-1 år/2-5 år/ &gt;5 år)</a:t>
                      </a:r>
                      <a:endParaRPr lang="da-DK"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Tilpasning iværksat </a:t>
                      </a:r>
                      <a:r>
                        <a:rPr lang="da-DK" sz="825" b="0" noProof="0">
                          <a:solidFill>
                            <a:schemeClr val="tx2"/>
                          </a:solidFill>
                        </a:rPr>
                        <a:t xml:space="preserve">(JA/NEJ)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noProof="0">
                          <a:solidFill>
                            <a:schemeClr val="tx2"/>
                          </a:solidFill>
                        </a:rPr>
                        <a:t xml:space="preserve">Kroniske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Aktiver</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{{chronic_aktiver_description}}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{{chronic_aktiver_eksponerning}}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{{chronic_aktiver_time}}</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Aktiviteter</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{{chronic_aktiveter_description}}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{{chronic_aktivteter_eksponerning}}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{{chronic_aktivteter_sårbarhed}}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{{chronic_aktivteter_time}}</a:t>
                      </a:r>
                      <a:endParaRPr lang="da-DK"/>
                    </a:p>
                    <a:p>
                      <a:pPr lvl="0" algn="ctr">
                        <a:lnSpc>
                          <a:spcPct val="100000"/>
                        </a:lnSpc>
                        <a:spcBef>
                          <a:spcPts val="0"/>
                        </a:spcBef>
                        <a:spcAft>
                          <a:spcPts val="0"/>
                        </a:spcAft>
                        <a:buNone/>
                      </a:pP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{{chronic_aktivteter_tilpasning}}</a:t>
                      </a:r>
                      <a:endParaRPr lang="da-DK"/>
                    </a:p>
                    <a:p>
                      <a:pPr marL="0" marR="0" lvl="0" indent="0" algn="ctr">
                        <a:lnSpc>
                          <a:spcPct val="100000"/>
                        </a:lnSpc>
                        <a:spcBef>
                          <a:spcPts val="0"/>
                        </a:spcBef>
                        <a:spcAft>
                          <a:spcPts val="0"/>
                        </a:spcAft>
                        <a:buClrTx/>
                        <a:buSzTx/>
                        <a:buFontTx/>
                        <a:buNone/>
                      </a:pP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Værdikæde</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{{chronic_value_description}}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{{chronic_value_eksponerning}}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{{chronic_value_sårbarhed}}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{{chronic_value_time}}</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{{chronic_value_tilpasning}}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kern="1200" noProof="0">
                          <a:solidFill>
                            <a:schemeClr val="tx2"/>
                          </a:solidFill>
                          <a:latin typeface="+mn-lt"/>
                          <a:ea typeface="+mn-ea"/>
                          <a:cs typeface="+mn-cs"/>
                        </a:rPr>
                        <a:t xml:space="preserve">Akutte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Aktiver</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{{akut_aktiver_description}}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Aktiviteter</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{{akut_aktiviteter_description}}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{{akut_aktiviteter_eksponering}}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{{akut_aktiviteter_sårbarhed}}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{{akut_aktiviteter_tidshorisont}}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{{akut_aktiviteter_tilpasning}}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Værdikæde</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{{akut_værdikæde_description}}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{{akut_værdikæde_eksponering}}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{{akut_værdikæde_sårbarhed}}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{{akut_værdikæde_tidshorisont}}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{{akut_værdikæde_tilpasning}}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1" kern="1200" noProof="0">
                          <a:solidFill>
                            <a:schemeClr val="tx2"/>
                          </a:solidFill>
                          <a:latin typeface="+mn-lt"/>
                          <a:ea typeface="+mn-ea"/>
                          <a:cs typeface="+mn-cs"/>
                        </a:rPr>
                        <a:t xml:space="preserve">Omstillings-hændelse</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Aktiver</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{{omstilling_aktiver_description}}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Aktiviteter</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{{omstilling_aktiviteter_description}}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{{omstilling_aktiviteter_eksponering}}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{{omstilling_aktiviteter_sårbarhed}}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{{omstilling_aktiviteter_tidshorisont}}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{{omstilling_aktiviteter_tilpasning}}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25" b="0" kern="1200" noProof="0">
                          <a:solidFill>
                            <a:schemeClr val="tx2"/>
                          </a:solidFill>
                          <a:latin typeface="+mn-lt"/>
                          <a:ea typeface="+mn-ea"/>
                          <a:cs typeface="+mn-cs"/>
                        </a:rPr>
                        <a:t xml:space="preserve">Værdikæde</a:t>
                      </a:r>
                      <a:endParaRPr lang="da-DK"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rPr>
                        <a:t>{{omstilling_værdikæde_description}}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{{omstilling_værdikæde_eksponering}}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{{omstilling_værdikæde_sårbarhed}}</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{{omstilling_værdikæde_tidshorisont}}</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825" b="0" i="0" u="none" strike="noStrike" noProof="0">
                          <a:solidFill>
                            <a:srgbClr val="1B4528"/>
                          </a:solidFill>
                          <a:latin typeface="IBM Plex Sans"/>
                        </a:rPr>
                        <a:t>{{omstilling_værdikæde_tilpasning}}</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da-DK" dirty="0">
                <a:solidFill>
                  <a:srgbClr val="1B4528">
                    <a:alpha val="70000"/>
                  </a:srgbClr>
                </a:solidFill>
              </a:rPr>
              <a:t>14</a:t>
            </a:fld>
            <a:endParaRPr lang="da-DK"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en oversigt over klimarelaterede risici. Herunder om disse er kroniske, akutte eller omstillingsrelaterede og hvor disse er placeret (aktiver, aktiviteter eller i virksomhedens værdikæde. </a:t>
            </a:r>
            <a:endParaRPr lang="da-DK"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da-DK" noProof="0"/>
              <a:t xml:space="preserve">K</a:t>
            </a:r>
            <a:r>
              <a:rPr lang="da-DK" sz="1475" b="1" noProof="0">
                <a:solidFill>
                  <a:schemeClr val="tx2"/>
                </a:solidFill>
              </a:rPr>
              <a:t xml:space="preserve">limarisici (C4) - fortsat</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15</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da-DK" sz="975" b="0" kern="1200" noProof="0">
                          <a:solidFill>
                            <a:schemeClr val="tx2"/>
                          </a:solidFill>
                          <a:latin typeface="+mn-lt"/>
                          <a:ea typeface="+mn-ea"/>
                          <a:cs typeface="+mn-cs"/>
                        </a:rPr>
                        <a:t xml:space="preserve">(pkt.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Potentiel negativ </a:t>
                      </a:r>
                      <a:r>
                        <a:rPr lang="da-DK" sz="975" b="1" kern="1200" noProof="0">
                          <a:solidFill>
                            <a:schemeClr val="tx2"/>
                          </a:solidFill>
                          <a:latin typeface="+mn-lt"/>
                          <a:ea typeface="+mn-ea"/>
                          <a:cs typeface="+mn-cs"/>
                        </a:rPr>
                        <a:t xml:space="preserve">påvirkning på virksomhedens finansielle præstation og forretningsdrift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Finansiel risiko</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0" kern="1200" noProof="0">
                          <a:solidFill>
                            <a:schemeClr val="tx2"/>
                          </a:solidFill>
                          <a:latin typeface="+mn-lt"/>
                          <a:ea typeface="+mn-ea"/>
                          <a:cs typeface="+mn-cs"/>
                        </a:rPr>
                        <a:t xml:space="preserve">(lav/mellem/høj)</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noProof="0">
                          <a:solidFill>
                            <a:schemeClr val="tx2"/>
                          </a:solidFill>
                        </a:rPr>
                        <a:t xml:space="preserve">Tidshorisont</a:t>
                      </a:r>
                    </a:p>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0" i="0" noProof="0">
                          <a:solidFill>
                            <a:schemeClr val="tx2"/>
                          </a:solidFill>
                        </a:rPr>
                        <a:t xml:space="preserve">(0-1 år/2-5 år/ &gt;5 år)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Kroniske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da-DK" sz="975" b="0" i="0" u="none" strike="noStrike" noProof="0">
                          <a:solidFill>
                            <a:srgbClr val="1B4528"/>
                          </a:solidFill>
                        </a:rPr>
                        <a:t>{{chronic_hazards}}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{{chronic connection financial </a:t>
                      </a:r>
                      <a:r>
                        <a:rPr lang="da-DK" sz="975" b="0" i="0" u="none" strike="noStrike" noProof="0">
                          <a:solidFill>
                            <a:srgbClr val="1B4528"/>
                          </a:solidFill>
                          <a:latin typeface="IBM Plex Sans"/>
                          <a:ea typeface="+mn-ea"/>
                          <a:cs typeface="+mn-cs"/>
                        </a:rPr>
                        <a:t>and operations}}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{{chronic_financial_risk}}</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{{chronic_time_horizon}}</a:t>
                      </a:r>
                      <a:endParaRPr lang="da-DK"/>
                    </a:p>
                    <a:p>
                      <a:pPr marL="0" marR="0" lvl="0" indent="0" algn="ctr" defTabSz="914400">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Akutte farer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da-DK" sz="975" b="0" i="0" u="none" strike="noStrike" noProof="0">
                          <a:solidFill>
                            <a:srgbClr val="1B4528"/>
                          </a:solidFill>
                        </a:rPr>
                        <a:t>{{acute_hazards}}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{{acute connection </a:t>
                      </a:r>
                      <a:r>
                        <a:rPr lang="da-DK" sz="975" b="0" i="0" u="none" strike="noStrike" noProof="0">
                          <a:solidFill>
                            <a:srgbClr val="1B4528"/>
                          </a:solidFill>
                          <a:latin typeface="IBM Plex Sans"/>
                          <a:ea typeface="+mn-ea"/>
                          <a:cs typeface="+mn-cs"/>
                        </a:rPr>
                        <a:t>financial and operations}}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{{acute_financial_risk}}</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{{acute_time_horizon}}</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975" b="1" kern="1200" noProof="0">
                          <a:solidFill>
                            <a:schemeClr val="tx2"/>
                          </a:solidFill>
                          <a:latin typeface="+mn-lt"/>
                          <a:ea typeface="+mn-ea"/>
                          <a:cs typeface="+mn-cs"/>
                        </a:rPr>
                        <a:t xml:space="preserve">Omstillingsrisici</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da-DK" sz="975" b="0" i="0" u="none" strike="noStrike" noProof="0">
                          <a:solidFill>
                            <a:srgbClr val="1B4528"/>
                          </a:solidFill>
                        </a:rPr>
                        <a:t>{{climate_related}}</a:t>
                      </a:r>
                      <a:endParaRPr lang="da-DK"/>
                    </a:p>
                    <a:p>
                      <a:pPr lvl="0" algn="l">
                        <a:lnSpc>
                          <a:spcPct val="100000"/>
                        </a:lnSpc>
                        <a:spcBef>
                          <a:spcPts val="0"/>
                        </a:spcBef>
                        <a:spcAft>
                          <a:spcPts val="0"/>
                        </a:spcAft>
                        <a:buNone/>
                      </a:pPr>
                      <a:endParaRPr lang="da-DK" sz="975" b="0" i="0" u="none" strike="noStrike" noProof="0">
                        <a:solidFill>
                          <a:srgbClr val="1B4528"/>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{{climate connection financial </a:t>
                      </a:r>
                      <a:r>
                        <a:rPr lang="da-DK" sz="975" b="0" i="0" u="none" strike="noStrike" noProof="0">
                          <a:solidFill>
                            <a:srgbClr val="1B4528"/>
                          </a:solidFill>
                          <a:latin typeface="IBM Plex Sans"/>
                          <a:ea typeface="+mn-ea"/>
                          <a:cs typeface="+mn-cs"/>
                        </a:rPr>
                        <a:t>and operations}}</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{{climate_related_risk}}</a:t>
                      </a:r>
                      <a:endParaRPr lang="da-DK"/>
                    </a:p>
                    <a:p>
                      <a:pPr lvl="0" algn="ctr">
                        <a:lnSpc>
                          <a:spcPct val="100000"/>
                        </a:lnSpc>
                        <a:spcBef>
                          <a:spcPts val="0"/>
                        </a:spcBef>
                        <a:spcAft>
                          <a:spcPts val="0"/>
                        </a:spcAft>
                        <a:buNone/>
                      </a:pP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rPr>
                        <a:t>{{climate_time_horizon}}</a:t>
                      </a:r>
                      <a:endParaRPr lang="da-DK"/>
                    </a:p>
                    <a:p>
                      <a:pPr marL="0" marR="0" lvl="0" indent="0" algn="ctr" defTabSz="914400">
                        <a:lnSpc>
                          <a:spcPct val="100000"/>
                        </a:lnSpc>
                        <a:spcBef>
                          <a:spcPts val="0"/>
                        </a:spcBef>
                        <a:spcAft>
                          <a:spcPts val="0"/>
                        </a:spcAft>
                        <a:buClrTx/>
                        <a:buSzTx/>
                        <a:buFontTx/>
                        <a:buNone/>
                        <a:tabLst/>
                        <a:defRPr/>
                      </a:pPr>
                      <a:endParaRPr lang="da-DK"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Virksomheden har angivet en oversigt over klimarelaterede risici. Herunder om disse er kroniske, akutte eller omstillingsrelaterede og om disse kan have en potentiel negativ påvirkning på virksomhedens finansielle præsentation og forretningsdrift.</a:t>
            </a:r>
            <a:endParaRPr lang="da-DK"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da-DK" sz="1327" b="1" i="0" u="none" strike="noStrike" kern="1200" spc="-10" noProof="0">
                <a:solidFill>
                  <a:srgbClr val="1B4528"/>
                </a:solidFill>
              </a:rPr>
              <a:t xml:space="preserve">Supplerende (generelle) oplysninger om arbejdsstyrken (C5)</a:t>
            </a:r>
            <a:endParaRPr lang="da-DK"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16</a:t>
            </a:fld>
            <a:endParaRPr lang="da-DK"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br>
              <a:rPr lang="da-DK" noProof="0"/>
            </a:br>
            <a:endParaRPr lang="da-DK"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644160"/>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32208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77" b="1" i="0" noProof="0">
                          <a:solidFill>
                            <a:schemeClr val="tx2"/>
                          </a:solidFill>
                        </a:rPr>
                        <a:t xml:space="preserve">Forholdet mellem kvinder og mænd på ledelsesniveau </a:t>
                      </a:r>
                      <a:r>
                        <a:rPr lang="da-DK" sz="877" b="0" i="0" noProof="0">
                          <a:solidFill>
                            <a:schemeClr val="tx2"/>
                          </a:solidFill>
                        </a:rPr>
                        <a:t xml:space="preserve">(pkt.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877" b="1" i="0" u="none" strike="noStrike" noProof="0">
                          <a:solidFill>
                            <a:srgbClr val="1B4528"/>
                          </a:solidFill>
                          <a:effectLst/>
                          <a:latin typeface="IBM Plex Sans" panose="020B0503050203000203" pitchFamily="34" charset="0"/>
                        </a:rPr>
                        <a:t xml:space="preserve">År </a:t>
                      </a:r>
                      <a:r>
                        <a:rPr lang="da-DK" sz="877" b="1" i="0" u="none" strike="noStrike" noProof="0">
                          <a:solidFill>
                            <a:srgbClr val="1B4528"/>
                          </a:solidFill>
                          <a:effectLst/>
                          <a:latin typeface="IBM Plex Sans" panose="020B0503050203000203" pitchFamily="34" charset="0"/>
                        </a:rPr>
                        <a:t>{{Insert year}}</a:t>
                      </a:r>
                      <a:endParaRPr lang="da-DK"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22080">
                <a:tc vMerge="1">
                  <a:txBody>
                    <a:bodyPr/>
                    <a:lstStyle/>
                    <a:p>
                      <a:endParaRPr lang="da-DK"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877" b="0" i="0" u="none" strike="noStrike" noProof="0">
                          <a:solidFill>
                            <a:srgbClr val="1B4528"/>
                          </a:solidFill>
                          <a:effectLst/>
                          <a:latin typeface="IBM Plex Sans" panose="020B0503050203000203" pitchFamily="34" charset="0"/>
                        </a:rPr>
                        <a:t>{{gender_balance}}</a:t>
                      </a:r>
                      <a:endParaRPr lang="da-DK"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644160"/>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32208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77" b="1" i="0" noProof="0">
                          <a:solidFill>
                            <a:schemeClr val="tx2"/>
                          </a:solidFill>
                        </a:rPr>
                        <a:t xml:space="preserve">Medarbejderomsætning i rapporteringsåret </a:t>
                      </a:r>
                      <a:r>
                        <a:rPr lang="da-DK" sz="877" b="0" i="0" noProof="0">
                          <a:solidFill>
                            <a:schemeClr val="tx2"/>
                          </a:solidFill>
                        </a:rPr>
                        <a:t xml:space="preserve">(pkt.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da-DK" sz="877" b="1" i="0" u="none" strike="noStrike" noProof="0">
                          <a:solidFill>
                            <a:srgbClr val="1B4528"/>
                          </a:solidFill>
                          <a:effectLst/>
                          <a:latin typeface="IBM Plex Sans" panose="020B0503050203000203" pitchFamily="34" charset="0"/>
                        </a:rPr>
                        <a:t xml:space="preserve">År </a:t>
                      </a:r>
                      <a:r>
                        <a:rPr lang="da-DK" sz="877" b="1" i="0" u="none" strike="noStrike" noProof="0">
                          <a:solidFill>
                            <a:srgbClr val="1B4528"/>
                          </a:solidFill>
                          <a:effectLst/>
                          <a:latin typeface="IBM Plex Sans" panose="020B0503050203000203" pitchFamily="34" charset="0"/>
                        </a:rPr>
                        <a:t>{{Insert year}}</a:t>
                      </a:r>
                      <a:endParaRPr lang="da-DK" sz="877"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22080">
                <a:tc vMerge="1">
                  <a:txBody>
                    <a:bodyPr/>
                    <a:lstStyle/>
                    <a:p>
                      <a:endParaRPr lang="da-DK" sz="750"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da-DK" sz="877" b="0" i="0" u="none" strike="noStrike" noProof="0">
                          <a:solidFill>
                            <a:srgbClr val="1B4528"/>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da-DK" sz="877" b="0" i="0" u="none" strike="noStrike" noProof="0">
                <a:solidFill>
                  <a:schemeClr val="tx2"/>
                </a:solidFill>
                <a:effectLst/>
                <a:latin typeface="Inter"/>
              </a:rPr>
              <a:t xml:space="preserve">Den nedenstående information er supplement til anden oplysning om virksomhedens arbejdsstyrke. Herunder, hvordan virksomhedens forhold mellem mænd og kvinder på ledelsesniveau fordeler sig.</a:t>
            </a:r>
            <a:endParaRPr lang="da-DK" sz="877" b="0" noProof="0">
              <a:solidFill>
                <a:schemeClr val="tx2"/>
              </a:solidFill>
              <a:effectLst/>
              <a:latin typeface="Inter"/>
            </a:endParaRPr>
          </a:p>
          <a:p>
            <a:pPr>
              <a:buNone/>
            </a:pPr>
            <a:br>
              <a:rPr lang="da-DK" sz="877" noProof="0">
                <a:solidFill>
                  <a:schemeClr val="tx2"/>
                </a:solidFill>
                <a:latin typeface="Inter"/>
              </a:rPr>
            </a:br>
            <a:endParaRPr lang="da-DK" sz="877"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77" b="1" kern="1200" noProof="0">
                          <a:solidFill>
                            <a:schemeClr val="tx2"/>
                          </a:solidFill>
                          <a:latin typeface="+mn-lt"/>
                          <a:ea typeface="+mn-ea"/>
                          <a:cs typeface="+mn-cs"/>
                        </a:rPr>
                        <a:t xml:space="preserve">Selvstændige og vikarer </a:t>
                      </a:r>
                      <a:r>
                        <a:rPr lang="da-DK" sz="877" b="0" noProof="0">
                          <a:solidFill>
                            <a:schemeClr val="tx2"/>
                          </a:solidFill>
                        </a:rPr>
                        <a:t xml:space="preserve">(pkt. 60)</a:t>
                      </a:r>
                      <a:endParaRPr lang="da-DK" sz="877"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877"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877" b="1" kern="1200" noProof="0">
                          <a:solidFill>
                            <a:schemeClr val="tx2"/>
                          </a:solidFill>
                          <a:latin typeface="+mn-lt"/>
                          <a:ea typeface="+mn-ea"/>
                          <a:cs typeface="+mn-cs"/>
                        </a:rPr>
                        <a:t xml:space="preserve">Antal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da-DK" sz="877" b="1" noProof="0">
                          <a:solidFill>
                            <a:schemeClr val="tx2"/>
                          </a:solidFill>
                        </a:rPr>
                        <a:t xml:space="preserve">Selvstændige (uden egne 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{{self-employeed}}</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da-DK" sz="877" b="1" noProof="0">
                          <a:solidFill>
                            <a:schemeClr val="tx2"/>
                          </a:solidFill>
                        </a:rPr>
                        <a:t xml:space="preserve">Vikarer (rekrutteret via et vikarbureau) </a:t>
                      </a:r>
                      <a:endParaRPr lang="da-DK" sz="877"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a:t>
                      </a:r>
                      <a:r>
                        <a:rPr lang="da-DK" sz="877" b="0" i="0" u="none" strike="noStrike" noProof="0">
                          <a:solidFill>
                            <a:srgbClr val="1B4528"/>
                          </a:solidFill>
                          <a:effectLst/>
                          <a:latin typeface="Inter"/>
                        </a:rPr>
                        <a:t>temp_workers</a:t>
                      </a:r>
                      <a:r>
                        <a:rPr lang="da-DK" sz="877" b="0" i="0" u="none" strike="noStrike" noProof="0">
                          <a:solidFill>
                            <a:srgbClr val="1B4528"/>
                          </a:solidFill>
                          <a:effectLst/>
                          <a:latin typeface="Inter"/>
                        </a:rPr>
                        <a:t>}}</a:t>
                      </a:r>
                      <a:endParaRPr lang="da-DK" sz="877"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da-DK" sz="877" b="0" i="0" u="none" strike="noStrike" noProof="0">
                <a:solidFill>
                  <a:schemeClr val="tx2"/>
                </a:solidFill>
                <a:effectLst/>
                <a:latin typeface="Inter"/>
              </a:rPr>
              <a:t xml:space="preserve">Den nedenstående information er udfyldt for at informere om antallet af selvstændige og vikarer virksomheden har.</a:t>
            </a:r>
            <a:endParaRPr lang="da-DK" sz="877"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327" b="1" kern="1200" spc="-10" baseline="0">
                <a:solidFill>
                  <a:schemeClr val="tx2"/>
                </a:solidFill>
                <a:latin typeface="+mj-lt"/>
                <a:ea typeface="+mj-ea"/>
                <a:cs typeface="+mj-cs"/>
              </a:defRPr>
            </a:lvl1pPr>
          </a:lstStyle>
          <a:p>
            <a:r>
              <a:rPr lang="da-DK">
                <a:solidFill>
                  <a:srgbClr val="1B4528"/>
                </a:solidFill>
                <a:latin typeface="+mn-lt"/>
                <a:ea typeface="+mn-ea"/>
                <a:cs typeface="+mn-cs"/>
              </a:rPr>
              <a:t xml:space="preserve">Menneskerettighedspolitikker og -processer (C6</a:t>
            </a:r>
            <a:r>
              <a:rPr lang="da-DK"/>
              <a:t xml:space="preserve">) - Egen arbejdsstyrke</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877" b="1" kern="1200" noProof="0">
                          <a:solidFill>
                            <a:srgbClr val="1B4528"/>
                          </a:solidFill>
                          <a:latin typeface="+mn-lt"/>
                          <a:ea typeface="+mn-ea"/>
                          <a:cs typeface="+mn-cs"/>
                        </a:rPr>
                        <a:t>{{company_name}}</a:t>
                      </a:r>
                      <a:r>
                        <a:rPr lang="da-DK" sz="877" b="1" noProof="0">
                          <a:solidFill>
                            <a:schemeClr val="tx2"/>
                          </a:solidFill>
                        </a:rPr>
                        <a:t xml:space="preserve"> har </a:t>
                      </a:r>
                      <a:r>
                        <a:rPr lang="da-DK" sz="877" b="1" kern="1200" spc="-10" noProof="0">
                          <a:solidFill>
                            <a:schemeClr val="tx2"/>
                          </a:solidFill>
                          <a:latin typeface="+mn-lt"/>
                          <a:ea typeface="+mn-ea"/>
                          <a:cs typeface="+mn-cs"/>
                        </a:rPr>
                        <a:t xml:space="preserve">en ansvarlighedspolitik </a:t>
                      </a:r>
                      <a:r>
                        <a:rPr lang="da-DK" sz="877" b="1" i="1" kern="1200" spc="-10" noProof="0">
                          <a:solidFill>
                            <a:schemeClr val="tx2"/>
                          </a:solidFill>
                          <a:latin typeface="+mn-lt"/>
                          <a:ea typeface="+mn-ea"/>
                          <a:cs typeface="+mn-cs"/>
                        </a:rPr>
                        <a:t xml:space="preserve">og/eller</a:t>
                      </a:r>
                      <a:r>
                        <a:rPr lang="da-DK" sz="877" b="1" kern="1200" spc="-10" noProof="0">
                          <a:solidFill>
                            <a:schemeClr val="tx2"/>
                          </a:solidFill>
                          <a:latin typeface="+mn-lt"/>
                          <a:ea typeface="+mn-ea"/>
                          <a:cs typeface="+mn-cs"/>
                        </a:rPr>
                        <a:t xml:space="preserve"> en menneskerettighedspolitik for vores </a:t>
                      </a:r>
                      <a:r>
                        <a:rPr lang="da-DK" sz="877" b="1" u="sng" kern="1200" spc="-10" noProof="0">
                          <a:solidFill>
                            <a:schemeClr val="tx2"/>
                          </a:solidFill>
                          <a:latin typeface="+mn-lt"/>
                          <a:ea typeface="+mn-ea"/>
                          <a:cs typeface="+mn-cs"/>
                        </a:rPr>
                        <a:t xml:space="preserve">egen arbejdsstyrke</a:t>
                      </a:r>
                      <a:r>
                        <a:rPr lang="da-DK" sz="877" b="0" u="none" kern="1200" spc="-10" noProof="0">
                          <a:solidFill>
                            <a:schemeClr val="tx2"/>
                          </a:solidFill>
                          <a:latin typeface="+mn-lt"/>
                          <a:ea typeface="+mn-ea"/>
                          <a:cs typeface="+mn-cs"/>
                        </a:rPr>
                        <a:t xml:space="preserve"> (pkt. 61a)</a:t>
                      </a:r>
                      <a:endParaRPr lang="da-DK" sz="877"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877" b="0" noProof="0">
                          <a:solidFill>
                            <a:srgbClr val="1B4528"/>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da-DK" sz="877" b="1" kern="1200" noProof="0">
                          <a:solidFill>
                            <a:schemeClr val="tx1"/>
                          </a:solidFill>
                          <a:latin typeface="+mn-lt"/>
                          <a:ea typeface="+mn-ea"/>
                          <a:cs typeface="+mn-cs"/>
                        </a:rPr>
                        <a:t xml:space="preserve">Ansvarligheds- eller menneskerettighedspolitikken dækker disse emner: </a:t>
                      </a:r>
                      <a:r>
                        <a:rPr lang="da-DK" sz="877" b="0" u="none" kern="1200" spc="-10" noProof="0">
                          <a:solidFill>
                            <a:schemeClr val="tx2"/>
                          </a:solidFill>
                          <a:latin typeface="+mn-lt"/>
                          <a:ea typeface="+mn-ea"/>
                          <a:cs typeface="+mn-cs"/>
                        </a:rPr>
                        <a:t xml:space="preserve">(pkt. 61b)</a:t>
                      </a:r>
                      <a:endParaRPr lang="da-DK" sz="877"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5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da-DK" sz="877" b="0" noProof="0">
                          <a:solidFill>
                            <a:schemeClr val="tx2"/>
                          </a:solidFill>
                        </a:rPr>
                        <a:t xml:space="preserve">Børnearbejde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{{child_labour_polict?}}</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da-DK" sz="877" b="0" noProof="0">
                          <a:solidFill>
                            <a:schemeClr val="tx2"/>
                          </a:solidFill>
                        </a:rPr>
                        <a:t xml:space="preserve">Tvangsarbejde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{{forced_labour_policy?}}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da-DK" sz="877" b="0" noProof="0">
                          <a:solidFill>
                            <a:schemeClr val="tx2"/>
                          </a:solidFill>
                        </a:rPr>
                        <a:t xml:space="preserve">Menneskehandel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{{human_policy?}}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da-DK" sz="877" b="0" noProof="0">
                          <a:solidFill>
                            <a:schemeClr val="tx2"/>
                          </a:solidFill>
                        </a:rPr>
                        <a:t xml:space="preserve">Diskrimination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{{discrimanation_policy?}}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da-DK" sz="877" b="0" noProof="0">
                          <a:solidFill>
                            <a:schemeClr val="tx2"/>
                          </a:solidFill>
                        </a:rPr>
                        <a:t xml:space="preserve">Sikkerhed og forebyggelse af ulykker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{{safety_policy?}}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da-DK" sz="877" b="0" noProof="0">
                          <a:solidFill>
                            <a:schemeClr val="tx2"/>
                          </a:solidFill>
                        </a:rPr>
                        <a:t xml:space="preserve">Andet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da-DK" sz="877" b="0" i="0" u="none" strike="noStrike" noProof="0">
                          <a:solidFill>
                            <a:srgbClr val="1B4528"/>
                          </a:solidFill>
                          <a:effectLst/>
                          <a:latin typeface="Inter"/>
                        </a:rPr>
                        <a:t>{{other_policy?}}</a:t>
                      </a:r>
                      <a:endParaRPr lang="da-DK" sz="877"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da-DK" sz="877" b="1" noProof="0">
                          <a:solidFill>
                            <a:schemeClr val="tx2"/>
                          </a:solidFill>
                        </a:rPr>
                        <a:t xml:space="preserve">Hvis ja til ”Andet”, specificer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da-DK" sz="877" b="0" noProof="0" dirty="0">
                        <a:solidFill>
                          <a:schemeClr val="tx2"/>
                        </a:solidFill>
                      </a:endParaRPr>
                    </a:p>
                    <a:p>
                      <a:pPr lvl="0" algn="r">
                        <a:lnSpc>
                          <a:spcPct val="100000"/>
                        </a:lnSpc>
                        <a:spcBef>
                          <a:spcPts val="0"/>
                        </a:spcBef>
                        <a:spcAft>
                          <a:spcPts val="0"/>
                        </a:spcAft>
                        <a:buNone/>
                      </a:pPr>
                      <a:r>
                        <a:rPr lang="da-DK" sz="877" b="0" i="0" u="none" strike="noStrike" kern="1200" noProof="0">
                          <a:solidFill>
                            <a:srgbClr val="1B4528"/>
                          </a:solidFill>
                          <a:latin typeface="Inter"/>
                          <a:ea typeface="+mn-ea"/>
                          <a:cs typeface="+mn-cs"/>
                        </a:rPr>
                        <a:t>{{C6_other_description}}</a:t>
                      </a:r>
                      <a:endParaRPr lang="da-DK" sz="877" b="0" i="0" u="none" strike="noStrike" kern="1200" noProof="0" dirty="0">
                        <a:solidFill>
                          <a:srgbClr val="000000"/>
                        </a:solidFill>
                        <a:latin typeface="Inter"/>
                        <a:ea typeface="+mn-ea"/>
                        <a:cs typeface="+mn-cs"/>
                      </a:endParaRPr>
                    </a:p>
                    <a:p>
                      <a:endParaRPr lang="da-DK" sz="877"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da-DK" sz="750"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da-DK" sz="877" b="1" noProof="0">
                          <a:solidFill>
                            <a:schemeClr val="tx2"/>
                          </a:solidFill>
                        </a:rPr>
                        <a:t xml:space="preserve">Virksomheden har en klagemekanisme for vores </a:t>
                      </a:r>
                      <a:r>
                        <a:rPr lang="da-DK" sz="877" b="1" u="sng" noProof="0">
                          <a:solidFill>
                            <a:schemeClr val="tx2"/>
                          </a:solidFill>
                        </a:rPr>
                        <a:t xml:space="preserve">egen arbejdsstyrke</a:t>
                      </a:r>
                      <a:r>
                        <a:rPr lang="da-DK" sz="877" b="0" u="sng" noProof="0">
                          <a:solidFill>
                            <a:schemeClr val="tx2"/>
                          </a:solidFill>
                        </a:rPr>
                        <a:t> </a:t>
                      </a:r>
                      <a:r>
                        <a:rPr lang="da-DK" sz="877" b="0" noProof="0">
                          <a:solidFill>
                            <a:schemeClr val="tx2"/>
                          </a:solidFill>
                        </a:rPr>
                        <a:t xml:space="preserve">(pkt.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877" b="0" noProof="0">
                          <a:solidFill>
                            <a:srgbClr val="1B4528"/>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da-DK" sz="877" b="0" i="0" u="none" strike="noStrike" noProof="0">
                <a:solidFill>
                  <a:schemeClr val="tx2"/>
                </a:solidFill>
                <a:effectLst/>
                <a:latin typeface="Inter"/>
              </a:rPr>
              <a:t xml:space="preserve">Nedenfor er </a:t>
            </a:r>
            <a:r>
              <a:rPr lang="da-DK" sz="877" noProof="0">
                <a:solidFill>
                  <a:schemeClr val="tx2"/>
                </a:solidFill>
                <a:latin typeface="Inter"/>
              </a:rPr>
              <a:t xml:space="preserve">angivet information om </a:t>
            </a:r>
            <a:r>
              <a:rPr lang="da-DK" sz="877" b="0" i="0" u="none" strike="noStrike" noProof="0">
                <a:solidFill>
                  <a:schemeClr val="tx2"/>
                </a:solidFill>
                <a:effectLst/>
                <a:latin typeface="Inter"/>
              </a:rPr>
              <a:t xml:space="preserve">virksomhedens ansvarlighedspolitik og/eller menneskerettighedspolitik som dækker egen arbejdsstyrk</a:t>
            </a:r>
            <a:r>
              <a:rPr lang="da-DK" sz="877" noProof="0">
                <a:solidFill>
                  <a:schemeClr val="tx2"/>
                </a:solidFill>
                <a:latin typeface="Inter"/>
              </a:rPr>
              <a:t xml:space="preserve">e. Ligeledes om virksomheden har en klagemekanisme, der gør det muligt for medarbejdere at rapportere forhold relateret til menneskerettighedskrænkelser, diskrimination, chikane eller andre kritisable forhold.</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da-DK" sz="1475" b="1" i="0" u="none" strike="noStrike" kern="1200" spc="-10" noProof="0">
                <a:solidFill>
                  <a:srgbClr val="1B4528"/>
                </a:solidFill>
                <a:latin typeface="+mn-lt"/>
                <a:ea typeface="+mn-ea"/>
                <a:cs typeface="+mn-cs"/>
              </a:rPr>
              <a:t xml:space="preserve">Alvorlige negative menneskerettighedshændelser (C7</a:t>
            </a:r>
            <a:r>
              <a:rPr lang="da-DK" noProof="0"/>
              <a:t xml:space="preserve">) – Egen arbejdsstyrke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17</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da-DK" sz="975" b="1" kern="1200" spc="-10" noProof="0">
                          <a:solidFill>
                            <a:schemeClr val="tx2"/>
                          </a:solidFill>
                          <a:latin typeface="+mn-lt"/>
                          <a:ea typeface="+mn-ea"/>
                          <a:cs typeface="+mn-cs"/>
                        </a:rPr>
                        <a:t xml:space="preserve">Er der for virksomhedens </a:t>
                      </a:r>
                      <a:r>
                        <a:rPr lang="da-DK" sz="975" b="1" u="sng" kern="1200" spc="-10" noProof="0">
                          <a:solidFill>
                            <a:schemeClr val="tx2"/>
                          </a:solidFill>
                          <a:latin typeface="+mn-lt"/>
                          <a:ea typeface="+mn-ea"/>
                          <a:cs typeface="+mn-cs"/>
                        </a:rPr>
                        <a:t xml:space="preserve">egen arbejdsstyrke</a:t>
                      </a:r>
                      <a:r>
                        <a:rPr lang="da-DK" sz="975" b="1" u="none" kern="1200" spc="-10" noProof="0">
                          <a:solidFill>
                            <a:schemeClr val="tx2"/>
                          </a:solidFill>
                          <a:latin typeface="+mn-lt"/>
                          <a:ea typeface="+mn-ea"/>
                          <a:cs typeface="+mn-cs"/>
                        </a:rPr>
                        <a:t xml:space="preserve"> </a:t>
                      </a:r>
                      <a:r>
                        <a:rPr lang="da-DK" sz="975" b="1" kern="1200" spc="-10" noProof="0">
                          <a:solidFill>
                            <a:schemeClr val="tx2"/>
                          </a:solidFill>
                          <a:latin typeface="+mn-lt"/>
                          <a:ea typeface="+mn-ea"/>
                          <a:cs typeface="+mn-cs"/>
                        </a:rPr>
                        <a:t xml:space="preserve">bekræftede negative hændelser, der relaterer sig til nedenstående </a:t>
                      </a:r>
                      <a:r>
                        <a:rPr lang="da-DK" sz="975" b="0" kern="1200" spc="-10" noProof="0">
                          <a:solidFill>
                            <a:schemeClr val="tx2"/>
                          </a:solidFill>
                          <a:latin typeface="+mn-lt"/>
                          <a:ea typeface="+mn-ea"/>
                          <a:cs typeface="+mn-cs"/>
                        </a:rPr>
                        <a:t xml:space="preserve">(pkt.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da-DK" sz="975" b="1" kern="1200" spc="-10" noProof="0">
                          <a:solidFill>
                            <a:schemeClr val="tx2"/>
                          </a:solidFill>
                          <a:latin typeface="+mn-lt"/>
                          <a:ea typeface="+mn-ea"/>
                          <a:cs typeface="+mn-cs"/>
                        </a:rPr>
                        <a:t xml:space="preserve">Børnearbejde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rgbClr val="1B4528"/>
                          </a:solidFill>
                        </a:rPr>
                        <a:t>{{child_labour_yes?}}</a:t>
                      </a:r>
                      <a:endParaRPr lang="da-DK"/>
                    </a:p>
                    <a:p>
                      <a:pPr lvl="0" algn="l">
                        <a:lnSpc>
                          <a:spcPct val="100000"/>
                        </a:lnSpc>
                        <a:spcBef>
                          <a:spcPts val="0"/>
                        </a:spcBef>
                        <a:spcAft>
                          <a:spcPts val="0"/>
                        </a:spcAft>
                        <a:buNone/>
                      </a:pPr>
                      <a:r>
                        <a:rPr lang="da-DK" sz="975" b="0" i="0" u="none" strike="noStrike" noProof="0">
                          <a:solidFill>
                            <a:srgbClr val="1B4528"/>
                          </a:solidFill>
                        </a:rPr>
                        <a:t>{{child_labour_desc}}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da-DK" sz="975" b="1" kern="1200" spc="-10" noProof="0">
                          <a:solidFill>
                            <a:schemeClr val="tx2"/>
                          </a:solidFill>
                          <a:latin typeface="+mn-lt"/>
                          <a:ea typeface="+mn-ea"/>
                          <a:cs typeface="+mn-cs"/>
                        </a:rPr>
                        <a:t xml:space="preserve">Tvangsarbejde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rgbClr val="1B4528"/>
                          </a:solidFill>
                        </a:rPr>
                        <a:t>{{forced_labour_yes?}}</a:t>
                      </a:r>
                      <a:endParaRPr lang="da-DK"/>
                    </a:p>
                    <a:p>
                      <a:pPr lvl="0" algn="l" defTabSz="914400">
                        <a:lnSpc>
                          <a:spcPct val="100000"/>
                        </a:lnSpc>
                        <a:spcBef>
                          <a:spcPts val="0"/>
                        </a:spcBef>
                        <a:spcAft>
                          <a:spcPts val="0"/>
                        </a:spcAft>
                        <a:buNone/>
                        <a:tabLst/>
                        <a:defRPr/>
                      </a:pPr>
                      <a:r>
                        <a:rPr lang="da-DK" sz="975" b="0" i="0" u="none" strike="noStrike" noProof="0">
                          <a:solidFill>
                            <a:srgbClr val="1B4528"/>
                          </a:solidFill>
                        </a:rPr>
                        <a:t>{{forced_labour_desc}}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da-DK" sz="975" b="1" kern="1200" spc="-10" noProof="0">
                          <a:solidFill>
                            <a:schemeClr val="tx2"/>
                          </a:solidFill>
                          <a:latin typeface="+mn-lt"/>
                          <a:ea typeface="+mn-ea"/>
                          <a:cs typeface="+mn-cs"/>
                        </a:rPr>
                        <a:t xml:space="preserve">Menneskehandel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rgbClr val="1B4528"/>
                          </a:solidFill>
                        </a:rPr>
                        <a:t>{{human_trafficking_yes?}}</a:t>
                      </a:r>
                      <a:endParaRPr lang="da-DK"/>
                    </a:p>
                    <a:p>
                      <a:pPr lvl="0" algn="l" defTabSz="914400">
                        <a:lnSpc>
                          <a:spcPct val="100000"/>
                        </a:lnSpc>
                        <a:spcBef>
                          <a:spcPts val="0"/>
                        </a:spcBef>
                        <a:spcAft>
                          <a:spcPts val="0"/>
                        </a:spcAft>
                        <a:buNone/>
                        <a:tabLst/>
                        <a:defRPr/>
                      </a:pPr>
                      <a:r>
                        <a:rPr lang="da-DK" sz="975" b="0" i="0" u="none" strike="noStrike" noProof="0">
                          <a:solidFill>
                            <a:srgbClr val="1B4528"/>
                          </a:solidFill>
                        </a:rPr>
                        <a:t>{{human_trafficking_desc}}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da-DK" sz="975" b="1" kern="1200" spc="-10" noProof="0">
                          <a:solidFill>
                            <a:schemeClr val="tx2"/>
                          </a:solidFill>
                          <a:latin typeface="+mn-lt"/>
                          <a:ea typeface="+mn-ea"/>
                          <a:cs typeface="+mn-cs"/>
                        </a:rPr>
                        <a:t xml:space="preserve">Diskrimination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rgbClr val="1B4528"/>
                          </a:solidFill>
                        </a:rPr>
                        <a:t>{{discrimination_yes?}}</a:t>
                      </a:r>
                      <a:endParaRPr lang="da-DK"/>
                    </a:p>
                    <a:p>
                      <a:pPr lvl="0" algn="l" defTabSz="914400">
                        <a:lnSpc>
                          <a:spcPct val="100000"/>
                        </a:lnSpc>
                        <a:spcBef>
                          <a:spcPts val="0"/>
                        </a:spcBef>
                        <a:spcAft>
                          <a:spcPts val="0"/>
                        </a:spcAft>
                        <a:buNone/>
                        <a:tabLst/>
                        <a:defRPr/>
                      </a:pPr>
                      <a:r>
                        <a:rPr lang="da-DK" sz="975" b="0" i="0" u="none" strike="noStrike" noProof="0">
                          <a:solidFill>
                            <a:srgbClr val="1B4528"/>
                          </a:solidFill>
                        </a:rPr>
                        <a:t>{{discrimination_desc}}</a:t>
                      </a:r>
                      <a:endParaRPr lang="da-DK"/>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da-DK" sz="975" b="1" kern="1200" spc="-10" noProof="0">
                          <a:solidFill>
                            <a:schemeClr val="tx2"/>
                          </a:solidFill>
                          <a:latin typeface="+mn-lt"/>
                          <a:ea typeface="+mn-ea"/>
                          <a:cs typeface="+mn-cs"/>
                        </a:rPr>
                        <a:t xml:space="preserve">Andet </a:t>
                      </a:r>
                      <a:endParaRPr lang="da-DK"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da-DK" sz="975" b="0" i="0" u="none" strike="noStrike" noProof="0">
                          <a:solidFill>
                            <a:srgbClr val="1B4528"/>
                          </a:solidFill>
                          <a:latin typeface="IBM Plex Sans"/>
                          <a:cs typeface="Calibri"/>
                        </a:rPr>
                        <a:t>{{other</a:t>
                      </a:r>
                      <a:r>
                        <a:rPr lang="da-DK" sz="975" b="0" i="0" u="none" strike="noStrike" noProof="0">
                          <a:solidFill>
                            <a:srgbClr val="1B4528"/>
                          </a:solidFill>
                          <a:latin typeface="IBM Plex Sans"/>
                        </a:rPr>
                        <a:t>_yes?}}</a:t>
                      </a:r>
                      <a:endParaRPr lang="da-DK"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da-DK" sz="975" b="0" i="0" u="none" strike="noStrike" noProof="0">
                          <a:solidFill>
                            <a:srgbClr val="1B4528"/>
                          </a:solidFill>
                          <a:latin typeface="IBM Plex Sans"/>
                        </a:rPr>
                        <a:t>{{other_desc}}</a:t>
                      </a:r>
                      <a:endParaRPr lang="da-DK"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da-DK" sz="975" b="0" i="0" u="none" strike="noStrike" noProof="0">
                <a:solidFill>
                  <a:schemeClr val="tx2"/>
                </a:solidFill>
                <a:effectLst/>
                <a:latin typeface="Inter"/>
              </a:rPr>
              <a:t xml:space="preserve">De følgende oplysningskrav angiver, virksomhedens afrapportering på negative hændelser som relaterer sig til børnearbejde, tvangsarbejde, menneskehandel og diskrimination. Virksomhed angiver i dette afsnit om ovenstående relateret til egen arbejdsstyrke.</a:t>
            </a:r>
            <a:endParaRPr lang="da-DK" sz="975" b="0" noProof="0">
              <a:solidFill>
                <a:schemeClr val="tx2"/>
              </a:solidFill>
              <a:effectLst/>
              <a:latin typeface="Inter"/>
            </a:endParaRPr>
          </a:p>
          <a:p>
            <a:pPr>
              <a:buNone/>
            </a:pPr>
            <a:br>
              <a:rPr lang="da-DK" sz="975" noProof="0">
                <a:solidFill>
                  <a:schemeClr val="tx2"/>
                </a:solidFill>
                <a:latin typeface="Inter"/>
              </a:rPr>
            </a:br>
            <a:endParaRPr lang="da-DK"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a:solidFill>
                  <a:srgbClr val="1B4528"/>
                </a:solidFill>
                <a:latin typeface="+mn-lt"/>
                <a:ea typeface="+mn-ea"/>
                <a:cs typeface="+mn-cs"/>
              </a:rPr>
              <a:t xml:space="preserve">Alvorlige negative menneskerettighedshændelser (C7</a:t>
            </a:r>
            <a:r>
              <a:rPr lang="da-DK"/>
              <a:t xml:space="preserve">) – I værdikæden</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da-DK" sz="975" b="1" kern="1200" spc="-10" noProof="0">
                          <a:solidFill>
                            <a:schemeClr val="tx2"/>
                          </a:solidFill>
                          <a:latin typeface="+mn-lt"/>
                          <a:ea typeface="+mn-ea"/>
                          <a:cs typeface="+mn-cs"/>
                        </a:rPr>
                        <a:t xml:space="preserve">Er virksomheden bekendt med bekræftede negative menneskerettighedshændelser i </a:t>
                      </a:r>
                      <a:r>
                        <a:rPr lang="da-DK" sz="975" b="1" kern="1200" noProof="0">
                          <a:solidFill>
                            <a:srgbClr val="1B4528"/>
                          </a:solidFill>
                          <a:latin typeface="+mn-lt"/>
                          <a:ea typeface="+mn-ea"/>
                          <a:cs typeface="+mn-cs"/>
                        </a:rPr>
                        <a:t>{{company_name}}’s</a:t>
                      </a:r>
                      <a:r>
                        <a:rPr lang="da-DK" sz="975" b="1" kern="1200" noProof="0">
                          <a:solidFill>
                            <a:schemeClr val="tx2"/>
                          </a:solidFill>
                          <a:latin typeface="+mn-lt"/>
                          <a:ea typeface="+mn-ea"/>
                          <a:cs typeface="+mn-cs"/>
                        </a:rPr>
                        <a:t> </a:t>
                      </a:r>
                      <a:r>
                        <a:rPr lang="da-DK" sz="975" b="1" kern="1200" spc="-10" noProof="0">
                          <a:solidFill>
                            <a:schemeClr val="tx2"/>
                          </a:solidFill>
                          <a:latin typeface="+mn-lt"/>
                          <a:ea typeface="+mn-ea"/>
                          <a:cs typeface="+mn-cs"/>
                        </a:rPr>
                        <a:t xml:space="preserve">værdikæde </a:t>
                      </a:r>
                      <a:r>
                        <a:rPr lang="da-DK" sz="975" b="0" kern="1200" spc="-10" noProof="0">
                          <a:solidFill>
                            <a:schemeClr val="tx2"/>
                          </a:solidFill>
                          <a:latin typeface="+mn-lt"/>
                          <a:ea typeface="+mn-ea"/>
                          <a:cs typeface="+mn-cs"/>
                        </a:rPr>
                        <a:t xml:space="preserve">(pkt.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da-DK"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da-DK" sz="975" b="1" kern="1200" spc="-10" noProof="0">
                          <a:solidFill>
                            <a:schemeClr val="tx2"/>
                          </a:solidFill>
                          <a:latin typeface="+mn-lt"/>
                          <a:ea typeface="+mn-ea"/>
                          <a:cs typeface="+mn-cs"/>
                        </a:rPr>
                        <a:t xml:space="preserve">Arbejdere i værdikæden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da-DK" sz="975" b="0" i="0" u="none" strike="noStrike" noProof="0">
                          <a:solidFill>
                            <a:srgbClr val="1B4528"/>
                          </a:solidFill>
                          <a:effectLst/>
                          <a:latin typeface="Inter"/>
                        </a:rPr>
                        <a:t>{{incidents_workers_value_chain}}</a:t>
                      </a:r>
                      <a:endParaRPr lang="da-DK" sz="975" noProof="0">
                        <a:solidFill>
                          <a:srgbClr val="1B4528"/>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da-DK" sz="975" b="1" kern="1200" spc="-10" noProof="0">
                          <a:solidFill>
                            <a:schemeClr val="tx2"/>
                          </a:solidFill>
                          <a:latin typeface="+mn-lt"/>
                          <a:ea typeface="+mn-ea"/>
                          <a:cs typeface="+mn-cs"/>
                        </a:rPr>
                        <a:t xml:space="preserve">Berørte samfund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da-DK" sz="975" b="0" i="0" u="none" strike="noStrike" noProof="0">
                          <a:solidFill>
                            <a:srgbClr val="1B4528"/>
                          </a:solidFill>
                          <a:effectLst/>
                          <a:latin typeface="Inter"/>
                        </a:rPr>
                        <a:t>{{incidents_affected_communities}}</a:t>
                      </a:r>
                      <a:endParaRPr lang="da-DK" sz="975" kern="1200" noProof="0">
                        <a:solidFill>
                          <a:srgbClr val="1B4528"/>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da-DK" sz="975" b="1" kern="1200" spc="-10" noProof="0">
                          <a:solidFill>
                            <a:schemeClr val="tx2"/>
                          </a:solidFill>
                          <a:latin typeface="+mn-lt"/>
                          <a:ea typeface="+mn-ea"/>
                          <a:cs typeface="+mn-cs"/>
                        </a:rPr>
                        <a:t xml:space="preserve">Forbrugere og slutbrugere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da-DK" sz="975" b="0" i="0" u="none" strike="noStrike" noProof="0">
                          <a:solidFill>
                            <a:srgbClr val="1B4528"/>
                          </a:solidFill>
                          <a:effectLst/>
                          <a:latin typeface="Inter"/>
                        </a:rPr>
                        <a:t>{{</a:t>
                      </a:r>
                      <a:r>
                        <a:rPr lang="da-DK" sz="975" b="0" i="0" u="none" strike="noStrike" noProof="0">
                          <a:solidFill>
                            <a:srgbClr val="1B4528"/>
                          </a:solidFill>
                          <a:effectLst/>
                          <a:latin typeface="Inter"/>
                        </a:rPr>
                        <a:t>incidents_consumers</a:t>
                      </a:r>
                      <a:r>
                        <a:rPr lang="da-DK" sz="975" b="0" i="0" u="none" strike="noStrike" noProof="0">
                          <a:solidFill>
                            <a:srgbClr val="1B4528"/>
                          </a:solidFill>
                          <a:effectLst/>
                          <a:latin typeface="Inter"/>
                        </a:rPr>
                        <a:t>}}</a:t>
                      </a:r>
                      <a:endParaRPr lang="da-DK"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da-DK" sz="975" b="0" i="0" u="none" strike="noStrike" noProof="0">
                <a:solidFill>
                  <a:schemeClr val="tx2"/>
                </a:solidFill>
                <a:effectLst/>
                <a:latin typeface="Inter"/>
              </a:rPr>
              <a:t xml:space="preserve">Nedenfor er </a:t>
            </a:r>
            <a:r>
              <a:rPr lang="da-DK" sz="975" noProof="0">
                <a:solidFill>
                  <a:schemeClr val="tx2"/>
                </a:solidFill>
                <a:latin typeface="Inter"/>
              </a:rPr>
              <a:t xml:space="preserve">angivet information om </a:t>
            </a:r>
            <a:r>
              <a:rPr lang="da-DK" sz="975" b="0" i="0" u="none" strike="noStrike" noProof="0">
                <a:solidFill>
                  <a:schemeClr val="tx2"/>
                </a:solidFill>
                <a:effectLst/>
                <a:latin typeface="Inter"/>
              </a:rPr>
              <a:t xml:space="preserve">virksomhedens kendskab til bekræftede negative menneskerettighedshændelser i virksomhedens værdikæde.</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da-DK" sz="1475" b="1" i="0" u="none" strike="noStrike" kern="1200" spc="-10" noProof="0">
                <a:solidFill>
                  <a:srgbClr val="1B4528"/>
                </a:solidFill>
              </a:rPr>
              <a:t xml:space="preserve">Indtægter fra bestemte aktiviteter (C8)</a:t>
            </a:r>
            <a:endParaRPr lang="da-DK"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da-DK" noProof="0" smtClean="0"/>
              <a:pPr/>
              <a:t>18</a:t>
            </a:fld>
            <a:endParaRPr lang="da-DK"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da-DK" noProof="0"/>
              <a:t>{{company_name}}</a:t>
            </a:r>
            <a:endParaRPr lang="da-DK" b="0" noProof="0"/>
          </a:p>
          <a:p>
            <a:endParaRPr lang="da-DK"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a-DK" sz="975" b="1" kern="1200" spc="-10" noProof="0">
                          <a:solidFill>
                            <a:schemeClr val="tx2"/>
                          </a:solidFill>
                          <a:latin typeface="+mn-lt"/>
                          <a:ea typeface="+mn-ea"/>
                          <a:cs typeface="+mn-cs"/>
                        </a:rPr>
                        <a:t xml:space="preserve">Indtægter fra udvalgte sektorer</a:t>
                      </a:r>
                      <a:r>
                        <a:rPr lang="da-DK" sz="975" b="0" kern="1200" spc="-10" noProof="0">
                          <a:solidFill>
                            <a:schemeClr val="tx2"/>
                          </a:solidFill>
                          <a:latin typeface="+mn-lt"/>
                          <a:ea typeface="+mn-ea"/>
                          <a:cs typeface="+mn-cs"/>
                        </a:rPr>
                        <a:t xml:space="preserve"> (Pkt. 63 a-d)</a:t>
                      </a:r>
                    </a:p>
                    <a:p>
                      <a:pPr algn="l"/>
                      <a:endParaRPr lang="da-DK"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a-DK" sz="725"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da-DK"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da-DK" sz="975" b="1" i="0" u="none" strike="noStrike" noProof="0">
                          <a:solidFill>
                            <a:srgbClr val="1B4528"/>
                          </a:solidFill>
                          <a:effectLst/>
                          <a:latin typeface="IBM Plex Sans" panose="020B0503050203000203" pitchFamily="34" charset="0"/>
                        </a:rPr>
                        <a:t xml:space="preserve">Indtægt i år </a:t>
                      </a:r>
                      <a:r>
                        <a:rPr lang="da-DK" sz="975" b="1" i="0" u="none" strike="noStrike" noProof="0">
                          <a:solidFill>
                            <a:srgbClr val="1B4528"/>
                          </a:solidFill>
                          <a:effectLst/>
                          <a:latin typeface="Inter"/>
                        </a:rPr>
                        <a:t>{{Insert year}}</a:t>
                      </a:r>
                      <a:endParaRPr lang="da-DK"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da-DK" sz="975" b="1" kern="1200" spc="-10" noProof="0">
                          <a:solidFill>
                            <a:schemeClr val="tx2"/>
                          </a:solidFill>
                          <a:latin typeface="+mn-lt"/>
                          <a:ea typeface="+mn-ea"/>
                          <a:cs typeface="+mn-cs"/>
                        </a:rPr>
                        <a:t xml:space="preserve">Kontroversielle våben (personelminer, klyngebomber, kemiske våben og biologiske våben)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{{revenue_weapons}}</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da-DK" sz="975" b="1" kern="1200" spc="-10" noProof="0">
                          <a:solidFill>
                            <a:schemeClr val="tx2"/>
                          </a:solidFill>
                          <a:latin typeface="+mn-lt"/>
                          <a:ea typeface="+mn-ea"/>
                          <a:cs typeface="+mn-cs"/>
                        </a:rPr>
                        <a:t xml:space="preserve">Dyrkning og/eller produktion af tobak</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{{revenue_cultivation}}</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da-DK" sz="975" b="1" kern="1200" spc="-10" noProof="0">
                          <a:solidFill>
                            <a:schemeClr val="tx2"/>
                          </a:solidFill>
                          <a:latin typeface="+mn-lt"/>
                          <a:ea typeface="+mn-ea"/>
                          <a:cs typeface="+mn-cs"/>
                        </a:rPr>
                        <a:t xml:space="preserve">Fossile brændstoffer: Kul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{{revenue_coal}}</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da-DK" sz="975" b="1" kern="1200" spc="-10" noProof="0">
                          <a:solidFill>
                            <a:schemeClr val="tx2"/>
                          </a:solidFill>
                          <a:latin typeface="+mn-lt"/>
                          <a:ea typeface="+mn-ea"/>
                          <a:cs typeface="+mn-cs"/>
                        </a:rPr>
                        <a:t xml:space="preserve">Fossile brændstoffer: Olie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{{revenue_oil}}</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da-DK" sz="975" b="1" kern="1200" spc="-10" noProof="0">
                          <a:solidFill>
                            <a:schemeClr val="tx2"/>
                          </a:solidFill>
                          <a:latin typeface="+mn-lt"/>
                          <a:ea typeface="+mn-ea"/>
                          <a:cs typeface="+mn-cs"/>
                        </a:rPr>
                        <a:t xml:space="preserve">Fossile brændstoffer: Gas/Naturgas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{{revenue_gas}}</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da-DK" sz="975" b="1" kern="1200" spc="-10" noProof="0">
                          <a:solidFill>
                            <a:schemeClr val="tx2"/>
                          </a:solidFill>
                          <a:latin typeface="+mn-lt"/>
                          <a:ea typeface="+mn-ea"/>
                          <a:cs typeface="+mn-cs"/>
                        </a:rPr>
                        <a:t xml:space="preserve">Kemikalieproduktion til produktion af pesticider og andre agrokemiske produkter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da-DK" sz="975" b="0" i="0" u="none" strike="noStrike" noProof="0">
                          <a:solidFill>
                            <a:srgbClr val="1B4528"/>
                          </a:solidFill>
                          <a:effectLst/>
                          <a:latin typeface="Inter"/>
                        </a:rPr>
                        <a:t>{{revenue_chemichal}}</a:t>
                      </a:r>
                      <a:endParaRPr lang="da-DK"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da-DK" sz="975" noProof="0">
                <a:solidFill>
                  <a:schemeClr val="tx2"/>
                </a:solidFill>
                <a:latin typeface="Inter"/>
              </a:rPr>
              <a:t xml:space="preserve">V</a:t>
            </a:r>
            <a:r>
              <a:rPr lang="da-DK" sz="975" b="0" i="0" u="none" strike="noStrike" noProof="0">
                <a:solidFill>
                  <a:schemeClr val="tx2"/>
                </a:solidFill>
                <a:effectLst/>
                <a:latin typeface="Inter"/>
              </a:rPr>
              <a:t xml:space="preserve">irksomheden har angivet indtægter fra udvalgte sektorer og angivet beløbsstørrelser fra disse aktiviteter.</a:t>
            </a:r>
            <a:endParaRPr lang="da-DK"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da-DK" noProof="0">
                <a:solidFill>
                  <a:srgbClr val="1B4528"/>
                </a:solidFill>
              </a:rPr>
              <a:t xml:space="preserve">Kønsfordeling i øverste ledelsesorgan (C9)</a:t>
            </a:r>
            <a:endParaRPr lang="da-DK"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da-DK" sz="975" b="1" kern="1200" spc="-10" noProof="0">
                          <a:solidFill>
                            <a:schemeClr val="tx2"/>
                          </a:solidFill>
                          <a:latin typeface="+mj-lt"/>
                          <a:ea typeface="+mn-ea"/>
                          <a:cs typeface="+mn-cs"/>
                        </a:rPr>
                        <a:t xml:space="preserve">Forholdet mellem kvinder og mænd i det øverste ledelsesorgan (</a:t>
                      </a:r>
                      <a:r>
                        <a:rPr lang="da-DK" sz="975" b="0" kern="1200" spc="-10" noProof="0">
                          <a:solidFill>
                            <a:schemeClr val="tx2"/>
                          </a:solidFill>
                          <a:latin typeface="+mj-lt"/>
                          <a:ea typeface="+mn-ea"/>
                          <a:cs typeface="+mn-cs"/>
                        </a:rPr>
                        <a:t xml:space="preserve">pkt. 64</a:t>
                      </a:r>
                      <a:r>
                        <a:rPr lang="da-DK"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da-DK" sz="975" b="1" noProof="0">
                          <a:solidFill>
                            <a:schemeClr val="tx2"/>
                          </a:solidFill>
                        </a:rPr>
                        <a:t xml:space="preserve">År </a:t>
                      </a:r>
                      <a:r>
                        <a:rPr lang="da-DK" sz="975" b="1" i="0" u="none" strike="noStrike" noProof="0">
                          <a:solidFill>
                            <a:srgbClr val="1B4528"/>
                          </a:solidFill>
                          <a:effectLst/>
                          <a:latin typeface="Inter"/>
                        </a:rPr>
                        <a:t>{{Insert year}}</a:t>
                      </a:r>
                      <a:endParaRPr lang="da-DK"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da-DK"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a:r>
                        <a:rPr lang="da-DK" sz="975" b="0" noProof="0">
                          <a:solidFill>
                            <a:srgbClr val="1B4528"/>
                          </a:solidFill>
                        </a:rPr>
                        <a:t>{{</a:t>
                      </a:r>
                      <a:r>
                        <a:rPr lang="da-DK" sz="975" b="0" i="0" u="none" strike="noStrike" noProof="0">
                          <a:solidFill>
                            <a:srgbClr val="1B4528"/>
                          </a:solidFill>
                          <a:latin typeface="IBM Plex Sans"/>
                        </a:rPr>
                        <a:t>gender_supreme_body</a:t>
                      </a:r>
                      <a:r>
                        <a:rPr lang="da-DK" sz="975" b="0" noProof="0">
                          <a:solidFill>
                            <a:srgbClr val="1B4528"/>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da-DK" b="0" noProof="0">
                <a:effectLst/>
              </a:rPr>
              <a:t> </a:t>
            </a:r>
            <a:endParaRPr lang="da-DK"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da-DK" sz="975" noProof="0">
                <a:solidFill>
                  <a:schemeClr val="tx2"/>
                </a:solidFill>
                <a:latin typeface="Inter"/>
              </a:rPr>
              <a:t xml:space="preserve">V</a:t>
            </a:r>
            <a:r>
              <a:rPr lang="da-DK" sz="975" b="0" i="0" u="none" strike="noStrike" noProof="0">
                <a:solidFill>
                  <a:schemeClr val="tx2"/>
                </a:solidFill>
                <a:effectLst/>
                <a:latin typeface="Inter"/>
              </a:rPr>
              <a:t xml:space="preserve">irksomheden har angivet forholdet mellem kvinder og mænd i det øverste ledelsesorgan.</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da-DK" sz="1475" b="1" noProof="0">
                <a:solidFill>
                  <a:srgbClr val="FFFFFF"/>
                </a:solidFill>
                <a:latin typeface="IBM Plex Sans" panose="020B0503050203000203" pitchFamily="34" charset="0"/>
              </a:rPr>
              <a:t>{{company_name}}</a:t>
            </a:r>
          </a:p>
          <a:p>
            <a:pPr algn="ctr"/>
            <a:r>
              <a:rPr lang="da-DK" sz="1475" b="1" noProof="0">
                <a:solidFill>
                  <a:srgbClr val="FFFFFF"/>
                </a:solidFill>
                <a:latin typeface="IBM Plex Sans" panose="020B0503050203000203" pitchFamily="34" charset="0"/>
              </a:rPr>
              <a:t>{{insert_year}}</a:t>
            </a:r>
            <a:br>
              <a:rPr lang="da-DK" sz="1475" b="1" noProof="0">
                <a:solidFill>
                  <a:srgbClr val="FFFFFF"/>
                </a:solidFill>
                <a:latin typeface="IBM Plex Sans" panose="020B0503050203000203" pitchFamily="34" charset="0"/>
              </a:rPr>
            </a:br>
            <a:endParaRPr lang="da-DK"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da-DK" noProof="0" smtClean="0"/>
              <a:pPr/>
              <a:t>19</a:t>
            </a:fld>
            <a:endParaRPr lang="da-DK"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