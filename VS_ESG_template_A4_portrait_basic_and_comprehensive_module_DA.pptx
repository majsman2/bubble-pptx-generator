
<file path=[Content_Types].xml><?xml version="1.0" encoding="utf-8"?>
<Types xmlns="http://schemas.openxmlformats.org/package/2006/content-types">
  <Default Extension="jpeg" ContentType="image/jpe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75" r:id="rId4"/>
  </p:sldMasterIdLst>
  <p:notesMasterIdLst>
    <p:notesMasterId r:id="rId24"/>
  </p:notesMasterIdLst>
  <p:sldIdLst>
    <p:sldId id="258" r:id="rId5"/>
    <p:sldId id="331" r:id="rId6"/>
    <p:sldId id="355" r:id="rId7"/>
    <p:sldId id="314" r:id="rId8"/>
    <p:sldId id="327" r:id="rId9"/>
    <p:sldId id="316" r:id="rId10"/>
    <p:sldId id="300" r:id="rId11"/>
    <p:sldId id="301" r:id="rId12"/>
    <p:sldId id="307" r:id="rId13"/>
    <p:sldId id="335" r:id="rId14"/>
    <p:sldId id="334" r:id="rId15"/>
    <p:sldId id="337" r:id="rId16"/>
    <p:sldId id="339" r:id="rId17"/>
    <p:sldId id="352" r:id="rId18"/>
    <p:sldId id="356" r:id="rId19"/>
    <p:sldId id="345" r:id="rId20"/>
    <p:sldId id="342" r:id="rId21"/>
    <p:sldId id="348" r:id="rId22"/>
    <p:sldId id="272" r:id="rId23"/>
  </p:sldIdLst>
  <p:sldSz cx="7559675" cy="10691813"/>
  <p:notesSz cx="6858000" cy="9144000"/>
  <p:defaultTextStyle>
    <a:defPPr>
      <a:defRPr lang="da-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2D200454-40CA-4A62-9FC3-DE9A4176ACB9}">
      <p15:notesGuideLst xmlns:p15="http://schemas.microsoft.com/office/powerpoint/2012/main">
        <p15:guide id="1" orient="horz" pos="2880" userDrawn="1">
          <p15:clr>
            <a:srgbClr val="A4A3A4"/>
          </p15:clr>
        </p15:guide>
        <p15:guide id="2" pos="2160" userDrawn="1">
          <p15:clr>
            <a:srgbClr val="A4A3A4"/>
          </p15:clr>
        </p15:guide>
      </p15:notes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0000000-0000-0000-0000-000000000000}" name="Forfatter" initials="A" userId="Author" providerId="AD"/>
  <p188:author id="{5A717729-70A1-A95A-729B-0270D7318E5A}" name="Amanda Simonsen" initials="AS" userId="S::amanda.simonsen@cphchangery.dk::11aad7e9-3369-4d2e-bd33-a826dd209a06" providerId="AD"/>
  <p188:author id="{95582667-6102-27E7-ED8E-01A166EB4B6B}" name="Guest User" initials="GU" userId="Guest User" providerId="Windows Live"/>
  <p188:author id="{D710FB69-54CF-AFDB-ADF5-2ED737B81BDA}" name="Nicolai Petersen" initials="NP" userId="6925884bbfe4e3a6"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487477"/>
    <a:srgbClr val="D1DAD4"/>
    <a:srgbClr val="0000FF"/>
    <a:srgbClr val="1B4529"/>
    <a:srgbClr val="FFFF99"/>
    <a:srgbClr val="1B242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A488322-F2BA-4B5B-9748-0D474271808F}" styleName="Medium Style 3 – Accent 6">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6"/>
          </a:solidFill>
        </a:fill>
      </a:tcStyle>
    </a:lastCol>
    <a:firstCol>
      <a:tcTxStyle b="on">
        <a:fontRef idx="minor">
          <a:scrgbClr r="0" g="0" b="0"/>
        </a:fontRef>
        <a:schemeClr val="lt1"/>
      </a:tcTxStyle>
      <a:tcStyle>
        <a:tcBdr/>
        <a:fill>
          <a:solidFill>
            <a:schemeClr val="accent6"/>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6"/>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howGuides="1">
      <p:cViewPr varScale="1">
        <p:scale>
          <a:sx n="39" d="100"/>
          <a:sy n="39" d="100"/>
        </p:scale>
        <p:origin x="2144" y="44"/>
      </p:cViewPr>
      <p:guideLst/>
    </p:cSldViewPr>
  </p:slideViewPr>
  <p:notesTextViewPr>
    <p:cViewPr>
      <p:scale>
        <a:sx n="1" d="1"/>
        <a:sy n="1" d="1"/>
      </p:scale>
      <p:origin x="0" y="0"/>
    </p:cViewPr>
  </p:notesTextViewPr>
  <p:notesViewPr>
    <p:cSldViewPr snapToGrid="0">
      <p:cViewPr>
        <p:scale>
          <a:sx n="1" d="2"/>
          <a:sy n="1" d="2"/>
        </p:scale>
        <p:origin x="0" y="0"/>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viewProps" Target="viewProps.xml"/><Relationship Id="rId3" Type="http://schemas.openxmlformats.org/officeDocument/2006/relationships/customXml" Target="../customXml/item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presProps" Target="presProp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microsoft.com/office/2018/10/relationships/authors" Target="author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notesMaster" Target="notesMasters/notesMaster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tableStyles" Target="tableStyles.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Pladsholder til sidehoved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atin typeface="IBM Plex Sans" panose="020B0503050203000203" pitchFamily="34" charset="0"/>
              </a:defRPr>
            </a:lvl1pPr>
          </a:lstStyle>
          <a:p>
            <a:endParaRPr lang="da-DK"/>
          </a:p>
        </p:txBody>
      </p:sp>
      <p:sp>
        <p:nvSpPr>
          <p:cNvPr id="3" name="Pladsholder til dato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atin typeface="IBM Plex Sans" panose="020B0503050203000203" pitchFamily="34" charset="0"/>
              </a:defRPr>
            </a:lvl1pPr>
          </a:lstStyle>
          <a:p>
            <a:fld id="{12DFE416-DAD6-D749-857D-2E29C861AEBD}" type="datetimeFigureOut">
              <a:rPr lang="da-DK" smtClean="0"/>
              <a:pPr/>
              <a:t>12/08/2026</a:t>
            </a:fld>
            <a:endParaRPr lang="da-DK"/>
          </a:p>
        </p:txBody>
      </p:sp>
      <p:sp>
        <p:nvSpPr>
          <p:cNvPr id="4" name="Pladsholder til slidebillede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da-DK"/>
          </a:p>
        </p:txBody>
      </p:sp>
      <p:sp>
        <p:nvSpPr>
          <p:cNvPr id="5" name="Pladsholder til not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da-DK"/>
              <a:t>Click to edit Master text styles</a:t>
            </a:r>
          </a:p>
          <a:p>
            <a:pPr lvl="1"/>
            <a:r>
              <a:rPr lang="da-DK"/>
              <a:t xml:space="preserve">Andet niveau</a:t>
            </a:r>
          </a:p>
          <a:p>
            <a:pPr lvl="2"/>
            <a:r>
              <a:rPr lang="da-DK"/>
              <a:t xml:space="preserve">Tredje niveau</a:t>
            </a:r>
          </a:p>
          <a:p>
            <a:pPr lvl="3"/>
            <a:r>
              <a:rPr lang="da-DK"/>
              <a:t xml:space="preserve">Fjerde niveau</a:t>
            </a:r>
          </a:p>
          <a:p>
            <a:pPr lvl="4"/>
            <a:r>
              <a:rPr lang="da-DK"/>
              <a:t xml:space="preserve">Femte niveau</a:t>
            </a:r>
          </a:p>
        </p:txBody>
      </p:sp>
      <p:sp>
        <p:nvSpPr>
          <p:cNvPr id="6" name="Pladsholder til sidefod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atin typeface="IBM Plex Sans" panose="020B0503050203000203" pitchFamily="34" charset="0"/>
              </a:defRPr>
            </a:lvl1pPr>
          </a:lstStyle>
          <a:p>
            <a:endParaRPr lang="da-DK"/>
          </a:p>
        </p:txBody>
      </p:sp>
      <p:sp>
        <p:nvSpPr>
          <p:cNvPr id="7" name="Pladsholder til slidenumm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atin typeface="IBM Plex Sans" panose="020B0503050203000203" pitchFamily="34" charset="0"/>
              </a:defRPr>
            </a:lvl1pPr>
          </a:lstStyle>
          <a:p>
            <a:fld id="{45BFCFCE-5A78-CB4C-8592-F27D9484E3BD}" type="slidenum">
              <a:rPr lang="da-DK" smtClean="0"/>
              <a:pPr/>
              <a:t>‹nr.›</a:t>
            </a:fld>
            <a:endParaRPr lang="da-DK"/>
          </a:p>
        </p:txBody>
      </p:sp>
    </p:spTree>
    <p:extLst>
      <p:ext uri="{BB962C8B-B14F-4D97-AF65-F5344CB8AC3E}">
        <p14:creationId xmlns:p14="http://schemas.microsoft.com/office/powerpoint/2010/main" val="296023780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IBM Plex Sans" panose="020B0503050203000203" pitchFamily="34" charset="0"/>
        <a:ea typeface="+mn-ea"/>
        <a:cs typeface="+mn-cs"/>
      </a:defRPr>
    </a:lvl1pPr>
    <a:lvl2pPr marL="457200" algn="l" defTabSz="914400" rtl="0" eaLnBrk="1" latinLnBrk="0" hangingPunct="1">
      <a:defRPr sz="1200" kern="1200">
        <a:solidFill>
          <a:schemeClr val="tx1"/>
        </a:solidFill>
        <a:latin typeface="IBM Plex Sans" panose="020B0503050203000203" pitchFamily="34" charset="0"/>
        <a:ea typeface="+mn-ea"/>
        <a:cs typeface="+mn-cs"/>
      </a:defRPr>
    </a:lvl2pPr>
    <a:lvl3pPr marL="914400" algn="l" defTabSz="914400" rtl="0" eaLnBrk="1" latinLnBrk="0" hangingPunct="1">
      <a:defRPr sz="1200" kern="1200">
        <a:solidFill>
          <a:schemeClr val="tx1"/>
        </a:solidFill>
        <a:latin typeface="IBM Plex Sans" panose="020B0503050203000203" pitchFamily="34" charset="0"/>
        <a:ea typeface="+mn-ea"/>
        <a:cs typeface="+mn-cs"/>
      </a:defRPr>
    </a:lvl3pPr>
    <a:lvl4pPr marL="1371600" algn="l" defTabSz="914400" rtl="0" eaLnBrk="1" latinLnBrk="0" hangingPunct="1">
      <a:defRPr sz="1200" kern="1200">
        <a:solidFill>
          <a:schemeClr val="tx1"/>
        </a:solidFill>
        <a:latin typeface="IBM Plex Sans" panose="020B0503050203000203" pitchFamily="34" charset="0"/>
        <a:ea typeface="+mn-ea"/>
        <a:cs typeface="+mn-cs"/>
      </a:defRPr>
    </a:lvl4pPr>
    <a:lvl5pPr marL="1828800" algn="l" defTabSz="914400" rtl="0" eaLnBrk="1" latinLnBrk="0" hangingPunct="1">
      <a:defRPr sz="1200" kern="1200">
        <a:solidFill>
          <a:schemeClr val="tx1"/>
        </a:solidFill>
        <a:latin typeface="IBM Plex Sans" panose="020B0503050203000203"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a:xfrm>
            <a:off x="2338388" y="1143000"/>
            <a:ext cx="2181225" cy="3086100"/>
          </a:xfrm>
        </p:spPr>
      </p:sp>
      <p:sp>
        <p:nvSpPr>
          <p:cNvPr id="3" name="Pladsholder til noter 2"/>
          <p:cNvSpPr>
            <a:spLocks noGrp="1"/>
          </p:cNvSpPr>
          <p:nvPr>
            <p:ph type="body" idx="1"/>
          </p:nvPr>
        </p:nvSpPr>
        <p:spPr/>
        <p:txBody>
          <a:bodyPr/>
          <a:lstStyle/>
          <a:p>
            <a:endParaRPr lang="da-DK"/>
          </a:p>
        </p:txBody>
      </p:sp>
      <p:sp>
        <p:nvSpPr>
          <p:cNvPr id="4" name="Pladsholder til slidenummer 3"/>
          <p:cNvSpPr>
            <a:spLocks noGrp="1"/>
          </p:cNvSpPr>
          <p:nvPr>
            <p:ph type="sldNum" sz="quarter" idx="5"/>
          </p:nvPr>
        </p:nvSpPr>
        <p:spPr/>
        <p:txBody>
          <a:bodyPr/>
          <a:lstStyle/>
          <a:p>
            <a:fld id="{45BFCFCE-5A78-CB4C-8592-F27D9484E3BD}" type="slidenum">
              <a:rPr lang="da-DK" smtClean="0"/>
              <a:pPr/>
              <a:t>1</a:t>
            </a:fld>
            <a:endParaRPr lang="da-DK"/>
          </a:p>
        </p:txBody>
      </p:sp>
    </p:spTree>
    <p:extLst>
      <p:ext uri="{BB962C8B-B14F-4D97-AF65-F5344CB8AC3E}">
        <p14:creationId xmlns:p14="http://schemas.microsoft.com/office/powerpoint/2010/main" val="80495282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a:xfrm>
            <a:off x="2338388" y="1143000"/>
            <a:ext cx="2181225" cy="3086100"/>
          </a:xfrm>
        </p:spPr>
      </p:sp>
      <p:sp>
        <p:nvSpPr>
          <p:cNvPr id="3" name="Pladsholder til noter 2"/>
          <p:cNvSpPr>
            <a:spLocks noGrp="1"/>
          </p:cNvSpPr>
          <p:nvPr>
            <p:ph type="body" idx="1"/>
          </p:nvPr>
        </p:nvSpPr>
        <p:spPr/>
        <p:txBody>
          <a:bodyPr/>
          <a:lstStyle/>
          <a:p>
            <a:endParaRPr lang="da-DK"/>
          </a:p>
        </p:txBody>
      </p:sp>
      <p:sp>
        <p:nvSpPr>
          <p:cNvPr id="4" name="Pladsholder til slidenummer 3"/>
          <p:cNvSpPr>
            <a:spLocks noGrp="1"/>
          </p:cNvSpPr>
          <p:nvPr>
            <p:ph type="sldNum" sz="quarter" idx="5"/>
          </p:nvPr>
        </p:nvSpPr>
        <p:spPr/>
        <p:txBody>
          <a:bodyPr/>
          <a:lstStyle/>
          <a:p>
            <a:fld id="{45BFCFCE-5A78-CB4C-8592-F27D9484E3BD}" type="slidenum">
              <a:rPr lang="da-DK" smtClean="0"/>
              <a:pPr/>
              <a:t>2</a:t>
            </a:fld>
            <a:endParaRPr lang="da-DK"/>
          </a:p>
        </p:txBody>
      </p:sp>
    </p:spTree>
    <p:extLst>
      <p:ext uri="{BB962C8B-B14F-4D97-AF65-F5344CB8AC3E}">
        <p14:creationId xmlns:p14="http://schemas.microsoft.com/office/powerpoint/2010/main" val="363103975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a:xfrm>
            <a:off x="2338388" y="1143000"/>
            <a:ext cx="2181225" cy="3086100"/>
          </a:xfrm>
        </p:spPr>
      </p:sp>
      <p:sp>
        <p:nvSpPr>
          <p:cNvPr id="3" name="Pladsholder til noter 2"/>
          <p:cNvSpPr>
            <a:spLocks noGrp="1"/>
          </p:cNvSpPr>
          <p:nvPr>
            <p:ph type="body" idx="1"/>
          </p:nvPr>
        </p:nvSpPr>
        <p:spPr/>
        <p:txBody>
          <a:bodyPr/>
          <a:lstStyle/>
          <a:p>
            <a:endParaRPr lang="da-DK"/>
          </a:p>
        </p:txBody>
      </p:sp>
      <p:sp>
        <p:nvSpPr>
          <p:cNvPr id="4" name="Pladsholder til slidenummer 3"/>
          <p:cNvSpPr>
            <a:spLocks noGrp="1"/>
          </p:cNvSpPr>
          <p:nvPr>
            <p:ph type="sldNum" sz="quarter" idx="5"/>
          </p:nvPr>
        </p:nvSpPr>
        <p:spPr/>
        <p:txBody>
          <a:bodyPr/>
          <a:lstStyle/>
          <a:p>
            <a:fld id="{45BFCFCE-5A78-CB4C-8592-F27D9484E3BD}" type="slidenum">
              <a:rPr lang="da-DK" smtClean="0"/>
              <a:pPr/>
              <a:t>3</a:t>
            </a:fld>
            <a:endParaRPr lang="da-DK"/>
          </a:p>
        </p:txBody>
      </p:sp>
    </p:spTree>
    <p:extLst>
      <p:ext uri="{BB962C8B-B14F-4D97-AF65-F5344CB8AC3E}">
        <p14:creationId xmlns:p14="http://schemas.microsoft.com/office/powerpoint/2010/main" val="305960441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a:xfrm>
            <a:off x="2338388" y="1143000"/>
            <a:ext cx="2181225" cy="3086100"/>
          </a:xfrm>
        </p:spPr>
      </p:sp>
      <p:sp>
        <p:nvSpPr>
          <p:cNvPr id="3" name="Pladsholder til noter 2"/>
          <p:cNvSpPr>
            <a:spLocks noGrp="1"/>
          </p:cNvSpPr>
          <p:nvPr>
            <p:ph type="body" idx="1"/>
          </p:nvPr>
        </p:nvSpPr>
        <p:spPr/>
        <p:txBody>
          <a:bodyPr/>
          <a:lstStyle/>
          <a:p>
            <a:r>
              <a:rPr lang="da-DK"/>
              <a:t xml:space="preserve">Fjernet: </a:t>
            </a:r>
            <a:r>
              <a:rPr lang="da-DK" sz="1200" b="0" i="0" u="none" strike="noStrike" kern="1200">
                <a:solidFill>
                  <a:schemeClr val="tx1"/>
                </a:solidFill>
                <a:effectLst/>
                <a:latin typeface="IBM Plex Sans" panose="020B0503050203000203" pitchFamily="34" charset="0"/>
                <a:ea typeface="+mn-ea"/>
                <a:cs typeface="+mn-cs"/>
              </a:rPr>
              <a:t>{{documents_B2}}</a:t>
            </a:r>
          </a:p>
          <a:p>
            <a:r>
              <a:rPr lang="da-DK" sz="1200" b="0" i="0" u="none" strike="noStrike" kern="1200">
                <a:solidFill>
                  <a:schemeClr val="tx1"/>
                </a:solidFill>
                <a:effectLst/>
                <a:latin typeface="IBM Plex Sans" panose="020B0503050203000203" pitchFamily="34" charset="0"/>
                <a:ea typeface="+mn-ea"/>
                <a:cs typeface="+mn-cs"/>
              </a:rPr>
              <a:t xml:space="preserve">Tilføjet: kolonne om monitorering</a:t>
            </a:r>
            <a:r>
              <a:rPr lang="da-DK" sz="1200" b="0" i="0" u="none" strike="noStrike" kern="1200">
                <a:solidFill>
                  <a:schemeClr val="tx1"/>
                </a:solidFill>
                <a:effectLst/>
                <a:latin typeface="IBM Plex Sans" panose="020B0503050203000203" pitchFamily="34" charset="0"/>
                <a:ea typeface="+mn-ea"/>
                <a:cs typeface="+mn-cs"/>
              </a:rPr>
              <a:t xml:space="preserve"/>
            </a:r>
            <a:r>
              <a:rPr lang="da-DK" sz="1200" b="0" i="0" u="none" strike="noStrike" kern="1200">
                <a:solidFill>
                  <a:schemeClr val="tx1"/>
                </a:solidFill>
                <a:effectLst/>
                <a:latin typeface="IBM Plex Sans" panose="020B0503050203000203" pitchFamily="34" charset="0"/>
                <a:ea typeface="+mn-ea"/>
                <a:cs typeface="+mn-cs"/>
              </a:rPr>
              <a:t xml:space="preserve"/>
            </a:r>
            <a:r>
              <a:rPr lang="da-DK" sz="1200" b="0" i="0" u="none" strike="noStrike" kern="1200">
                <a:solidFill>
                  <a:schemeClr val="tx1"/>
                </a:solidFill>
                <a:effectLst/>
                <a:latin typeface="IBM Plex Sans" panose="020B0503050203000203" pitchFamily="34" charset="0"/>
                <a:ea typeface="+mn-ea"/>
                <a:cs typeface="+mn-cs"/>
              </a:rPr>
              <a:t xml:space="preserve"/>
            </a:r>
            <a:r>
              <a:rPr lang="da-DK" sz="1200" b="0" i="0" u="none" strike="noStrike" kern="1200">
                <a:solidFill>
                  <a:schemeClr val="tx1"/>
                </a:solidFill>
                <a:effectLst/>
                <a:latin typeface="IBM Plex Sans" panose="020B0503050203000203" pitchFamily="34" charset="0"/>
                <a:ea typeface="+mn-ea"/>
                <a:cs typeface="+mn-cs"/>
              </a:rPr>
              <a:t xml:space="preserve"/>
            </a:r>
            <a:endParaRPr lang="da-DK"/>
          </a:p>
        </p:txBody>
      </p:sp>
      <p:sp>
        <p:nvSpPr>
          <p:cNvPr id="4" name="Pladsholder til slidenummer 3"/>
          <p:cNvSpPr>
            <a:spLocks noGrp="1"/>
          </p:cNvSpPr>
          <p:nvPr>
            <p:ph type="sldNum" sz="quarter" idx="5"/>
          </p:nvPr>
        </p:nvSpPr>
        <p:spPr/>
        <p:txBody>
          <a:bodyPr/>
          <a:lstStyle/>
          <a:p>
            <a:fld id="{45BFCFCE-5A78-CB4C-8592-F27D9484E3BD}" type="slidenum">
              <a:rPr lang="da-DK" smtClean="0"/>
              <a:pPr/>
              <a:t>4</a:t>
            </a:fld>
            <a:endParaRPr lang="da-DK"/>
          </a:p>
        </p:txBody>
      </p:sp>
    </p:spTree>
    <p:extLst>
      <p:ext uri="{BB962C8B-B14F-4D97-AF65-F5344CB8AC3E}">
        <p14:creationId xmlns:p14="http://schemas.microsoft.com/office/powerpoint/2010/main" val="340009200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a:xfrm>
            <a:off x="2338388" y="1143000"/>
            <a:ext cx="2181225" cy="3086100"/>
          </a:xfrm>
        </p:spPr>
        <p:txBody>
          <a:bodyPr/>
          <a:lstStyle/>
          <a:p>
            <a:endParaRPr lang="da-DK"/>
          </a:p>
        </p:txBody>
      </p:sp>
      <p:sp>
        <p:nvSpPr>
          <p:cNvPr id="3" name="Pladsholder til noter 2"/>
          <p:cNvSpPr>
            <a:spLocks noGrp="1"/>
          </p:cNvSpPr>
          <p:nvPr>
            <p:ph type="body" idx="1"/>
          </p:nvPr>
        </p:nvSpPr>
        <p:spPr/>
        <p:txBody>
          <a:bodyPr/>
          <a:lstStyle/>
          <a:p>
            <a:pPr rtl="0"/>
            <a:r>
              <a:rPr lang="da-DK"/>
              <a:t xml:space="preserve">Fjernet: </a:t>
            </a:r>
            <a:r>
              <a:rPr lang="da-DK" sz="1200" b="0" i="0" u="none" strike="noStrike" kern="1200">
                <a:solidFill>
                  <a:schemeClr val="tx1"/>
                </a:solidFill>
                <a:effectLst/>
                <a:latin typeface="IBM Plex Sans" panose="020B0503050203000203" pitchFamily="34" charset="0"/>
                <a:ea typeface="+mn-ea"/>
                <a:cs typeface="+mn-cs"/>
              </a:rPr>
              <a:t>{{Insert_CO2e_intensity}}</a:t>
            </a:r>
            <a:endParaRPr lang="da-DK" b="0">
              <a:effectLst/>
            </a:endParaRPr>
          </a:p>
        </p:txBody>
      </p:sp>
      <p:sp>
        <p:nvSpPr>
          <p:cNvPr id="4" name="Pladsholder til slidenummer 3"/>
          <p:cNvSpPr>
            <a:spLocks noGrp="1"/>
          </p:cNvSpPr>
          <p:nvPr>
            <p:ph type="sldNum" sz="quarter" idx="5"/>
          </p:nvPr>
        </p:nvSpPr>
        <p:spPr/>
        <p:txBody>
          <a:bodyPr/>
          <a:lstStyle/>
          <a:p>
            <a:fld id="{45BFCFCE-5A78-CB4C-8592-F27D9484E3BD}" type="slidenum">
              <a:rPr lang="da-DK" smtClean="0"/>
              <a:pPr/>
              <a:t>5</a:t>
            </a:fld>
            <a:endParaRPr lang="da-DK"/>
          </a:p>
        </p:txBody>
      </p:sp>
    </p:spTree>
    <p:extLst>
      <p:ext uri="{BB962C8B-B14F-4D97-AF65-F5344CB8AC3E}">
        <p14:creationId xmlns:p14="http://schemas.microsoft.com/office/powerpoint/2010/main" val="309834824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a:xfrm>
            <a:off x="2338388" y="1143000"/>
            <a:ext cx="2181225" cy="3086100"/>
          </a:xfrm>
        </p:spPr>
      </p:sp>
      <p:sp>
        <p:nvSpPr>
          <p:cNvPr id="3" name="Pladsholder til noter 2"/>
          <p:cNvSpPr>
            <a:spLocks noGrp="1"/>
          </p:cNvSpPr>
          <p:nvPr>
            <p:ph type="body" idx="1"/>
          </p:nvPr>
        </p:nvSpPr>
        <p:spPr/>
        <p:txBody>
          <a:bodyPr/>
          <a:lstStyle/>
          <a:p>
            <a:pPr rtl="0"/>
            <a:r>
              <a:rPr lang="da-DK"/>
              <a:t xml:space="preserve">Fjernet: </a:t>
            </a:r>
            <a:r>
              <a:rPr lang="da-DK" sz="1200" b="0" i="0" u="none" strike="noStrike" kern="1200">
                <a:solidFill>
                  <a:schemeClr val="tx1"/>
                </a:solidFill>
                <a:effectLst/>
                <a:latin typeface="IBM Plex Sans" panose="020B0503050203000203" pitchFamily="34" charset="0"/>
                <a:ea typeface="+mn-ea"/>
                <a:cs typeface="+mn-cs"/>
              </a:rPr>
              <a:t>{{uploaded_documents_B4}}</a:t>
            </a:r>
            <a:endParaRPr lang="da-DK" b="0">
              <a:effectLst/>
            </a:endParaRPr>
          </a:p>
        </p:txBody>
      </p:sp>
      <p:sp>
        <p:nvSpPr>
          <p:cNvPr id="4" name="Pladsholder til slidenummer 3"/>
          <p:cNvSpPr>
            <a:spLocks noGrp="1"/>
          </p:cNvSpPr>
          <p:nvPr>
            <p:ph type="sldNum" sz="quarter" idx="5"/>
          </p:nvPr>
        </p:nvSpPr>
        <p:spPr/>
        <p:txBody>
          <a:bodyPr/>
          <a:lstStyle/>
          <a:p>
            <a:fld id="{45BFCFCE-5A78-CB4C-8592-F27D9484E3BD}" type="slidenum">
              <a:rPr lang="da-DK" smtClean="0"/>
              <a:pPr/>
              <a:t>6</a:t>
            </a:fld>
            <a:endParaRPr lang="da-DK"/>
          </a:p>
        </p:txBody>
      </p:sp>
    </p:spTree>
    <p:extLst>
      <p:ext uri="{BB962C8B-B14F-4D97-AF65-F5344CB8AC3E}">
        <p14:creationId xmlns:p14="http://schemas.microsoft.com/office/powerpoint/2010/main" val="24742816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a:xfrm>
            <a:off x="2338388" y="1143000"/>
            <a:ext cx="2181225" cy="3086100"/>
          </a:xfrm>
        </p:spPr>
        <p:txBody>
          <a:bodyPr/>
          <a:lstStyle/>
          <a:p>
            <a:endParaRPr lang="da-DK"/>
          </a:p>
        </p:txBody>
      </p:sp>
      <p:sp>
        <p:nvSpPr>
          <p:cNvPr id="3" name="Pladsholder til noter 2"/>
          <p:cNvSpPr>
            <a:spLocks noGrp="1"/>
          </p:cNvSpPr>
          <p:nvPr>
            <p:ph type="body" idx="1"/>
          </p:nvPr>
        </p:nvSpPr>
        <p:spPr/>
        <p:txBody>
          <a:bodyPr/>
          <a:lstStyle/>
          <a:p>
            <a:endParaRPr lang="da-DK"/>
          </a:p>
        </p:txBody>
      </p:sp>
      <p:sp>
        <p:nvSpPr>
          <p:cNvPr id="4" name="Pladsholder til slidenummer 3"/>
          <p:cNvSpPr>
            <a:spLocks noGrp="1"/>
          </p:cNvSpPr>
          <p:nvPr>
            <p:ph type="sldNum" sz="quarter" idx="5"/>
          </p:nvPr>
        </p:nvSpPr>
        <p:spPr/>
        <p:txBody>
          <a:bodyPr/>
          <a:lstStyle/>
          <a:p>
            <a:fld id="{45BFCFCE-5A78-CB4C-8592-F27D9484E3BD}" type="slidenum">
              <a:rPr lang="da-DK" smtClean="0"/>
              <a:pPr/>
              <a:t>7</a:t>
            </a:fld>
            <a:endParaRPr lang="da-DK"/>
          </a:p>
        </p:txBody>
      </p:sp>
    </p:spTree>
    <p:extLst>
      <p:ext uri="{BB962C8B-B14F-4D97-AF65-F5344CB8AC3E}">
        <p14:creationId xmlns:p14="http://schemas.microsoft.com/office/powerpoint/2010/main" val="224380954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a:xfrm>
            <a:off x="2338388" y="1143000"/>
            <a:ext cx="2181225" cy="3086100"/>
          </a:xfrm>
        </p:spPr>
      </p:sp>
      <p:sp>
        <p:nvSpPr>
          <p:cNvPr id="3" name="Pladsholder til noter 2"/>
          <p:cNvSpPr>
            <a:spLocks noGrp="1"/>
          </p:cNvSpPr>
          <p:nvPr>
            <p:ph type="body" idx="1"/>
          </p:nvPr>
        </p:nvSpPr>
        <p:spPr/>
        <p:txBody>
          <a:bodyPr/>
          <a:lstStyle/>
          <a:p>
            <a:pPr rtl="0"/>
            <a:r>
              <a:rPr lang="da-DK"/>
              <a:t xml:space="preserve">Fjernet: </a:t>
            </a:r>
            <a:r>
              <a:rPr lang="da-DK" sz="1200" b="0" i="0" u="none" strike="noStrike" kern="1200">
                <a:solidFill>
                  <a:schemeClr val="tx1"/>
                </a:solidFill>
                <a:effectLst/>
                <a:latin typeface="IBM Plex Sans" panose="020B0503050203000203" pitchFamily="34" charset="0"/>
                <a:ea typeface="+mn-ea"/>
                <a:cs typeface="+mn-cs"/>
              </a:rPr>
              <a:t>{{</a:t>
            </a:r>
            <a:r>
              <a:rPr lang="da-DK" sz="1200" b="0" i="0" u="none" strike="noStrike" kern="1200">
                <a:solidFill>
                  <a:schemeClr val="tx1"/>
                </a:solidFill>
                <a:effectLst/>
                <a:latin typeface="IBM Plex Sans" panose="020B0503050203000203" pitchFamily="34" charset="0"/>
                <a:ea typeface="+mn-ea"/>
                <a:cs typeface="+mn-cs"/>
              </a:rPr>
              <a:t>omsatningsrate</a:t>
            </a:r>
            <a:r>
              <a:rPr lang="da-DK" sz="1200" b="0" i="0" u="none" strike="noStrike" kern="1200">
                <a:solidFill>
                  <a:schemeClr val="tx1"/>
                </a:solidFill>
                <a:effectLst/>
                <a:latin typeface="IBM Plex Sans" panose="020B0503050203000203" pitchFamily="34" charset="0"/>
                <a:ea typeface="+mn-ea"/>
                <a:cs typeface="+mn-cs"/>
              </a:rPr>
              <a:t>}}</a:t>
            </a:r>
            <a:endParaRPr lang="da-DK" b="0">
              <a:effectLst/>
            </a:endParaRPr>
          </a:p>
        </p:txBody>
      </p:sp>
      <p:sp>
        <p:nvSpPr>
          <p:cNvPr id="4" name="Pladsholder til slidenummer 3"/>
          <p:cNvSpPr>
            <a:spLocks noGrp="1"/>
          </p:cNvSpPr>
          <p:nvPr>
            <p:ph type="sldNum" sz="quarter" idx="5"/>
          </p:nvPr>
        </p:nvSpPr>
        <p:spPr/>
        <p:txBody>
          <a:bodyPr/>
          <a:lstStyle/>
          <a:p>
            <a:fld id="{45BFCFCE-5A78-CB4C-8592-F27D9484E3BD}" type="slidenum">
              <a:rPr lang="da-DK" smtClean="0"/>
              <a:pPr/>
              <a:t>8</a:t>
            </a:fld>
            <a:endParaRPr lang="da-DK"/>
          </a:p>
        </p:txBody>
      </p:sp>
    </p:spTree>
    <p:extLst>
      <p:ext uri="{BB962C8B-B14F-4D97-AF65-F5344CB8AC3E}">
        <p14:creationId xmlns:p14="http://schemas.microsoft.com/office/powerpoint/2010/main" val="406438260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a:xfrm>
            <a:off x="2338388" y="1143000"/>
            <a:ext cx="2181225" cy="3086100"/>
          </a:xfrm>
        </p:spPr>
      </p:sp>
      <p:sp>
        <p:nvSpPr>
          <p:cNvPr id="3" name="Pladsholder til noter 2"/>
          <p:cNvSpPr>
            <a:spLocks noGrp="1"/>
          </p:cNvSpPr>
          <p:nvPr>
            <p:ph type="body" idx="1"/>
          </p:nvPr>
        </p:nvSpPr>
        <p:spPr/>
        <p:txBody>
          <a:bodyPr/>
          <a:lstStyle/>
          <a:p>
            <a:endParaRPr lang="da-DK"/>
          </a:p>
        </p:txBody>
      </p:sp>
      <p:sp>
        <p:nvSpPr>
          <p:cNvPr id="4" name="Pladsholder til slidenummer 3"/>
          <p:cNvSpPr>
            <a:spLocks noGrp="1"/>
          </p:cNvSpPr>
          <p:nvPr>
            <p:ph type="sldNum" sz="quarter" idx="5"/>
          </p:nvPr>
        </p:nvSpPr>
        <p:spPr/>
        <p:txBody>
          <a:bodyPr/>
          <a:lstStyle/>
          <a:p>
            <a:fld id="{45BFCFCE-5A78-CB4C-8592-F27D9484E3BD}" type="slidenum">
              <a:rPr lang="da-DK" smtClean="0"/>
              <a:pPr/>
              <a:t>9</a:t>
            </a:fld>
            <a:endParaRPr lang="da-DK"/>
          </a:p>
        </p:txBody>
      </p:sp>
    </p:spTree>
    <p:extLst>
      <p:ext uri="{BB962C8B-B14F-4D97-AF65-F5344CB8AC3E}">
        <p14:creationId xmlns:p14="http://schemas.microsoft.com/office/powerpoint/2010/main" val="30612534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a:xfrm>
            <a:off x="2338388" y="1143000"/>
            <a:ext cx="2181225" cy="3086100"/>
          </a:xfrm>
        </p:spPr>
      </p:sp>
      <p:sp>
        <p:nvSpPr>
          <p:cNvPr id="3" name="Pladsholder til noter 2"/>
          <p:cNvSpPr>
            <a:spLocks noGrp="1"/>
          </p:cNvSpPr>
          <p:nvPr>
            <p:ph type="body" idx="1"/>
          </p:nvPr>
        </p:nvSpPr>
        <p:spPr/>
        <p:txBody>
          <a:bodyPr/>
          <a:lstStyle/>
          <a:p>
            <a:endParaRPr lang="da-DK"/>
          </a:p>
        </p:txBody>
      </p:sp>
      <p:sp>
        <p:nvSpPr>
          <p:cNvPr id="4" name="Pladsholder til slidenummer 3"/>
          <p:cNvSpPr>
            <a:spLocks noGrp="1"/>
          </p:cNvSpPr>
          <p:nvPr>
            <p:ph type="sldNum" sz="quarter" idx="5"/>
          </p:nvPr>
        </p:nvSpPr>
        <p:spPr/>
        <p:txBody>
          <a:bodyPr/>
          <a:lstStyle/>
          <a:p>
            <a:fld id="{45BFCFCE-5A78-CB4C-8592-F27D9484E3BD}" type="slidenum">
              <a:rPr lang="da-DK" smtClean="0"/>
              <a:pPr/>
              <a:t>10</a:t>
            </a:fld>
            <a:endParaRPr lang="da-DK"/>
          </a:p>
        </p:txBody>
      </p:sp>
    </p:spTree>
    <p:extLst>
      <p:ext uri="{BB962C8B-B14F-4D97-AF65-F5344CB8AC3E}">
        <p14:creationId xmlns:p14="http://schemas.microsoft.com/office/powerpoint/2010/main" val="32229163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a:xfrm>
            <a:off x="2338388" y="1143000"/>
            <a:ext cx="2181225" cy="3086100"/>
          </a:xfrm>
        </p:spPr>
      </p:sp>
      <p:sp>
        <p:nvSpPr>
          <p:cNvPr id="3" name="Pladsholder til noter 2"/>
          <p:cNvSpPr>
            <a:spLocks noGrp="1"/>
          </p:cNvSpPr>
          <p:nvPr>
            <p:ph type="body" idx="1"/>
          </p:nvPr>
        </p:nvSpPr>
        <p:spPr/>
        <p:txBody>
          <a:bodyPr/>
          <a:lstStyle/>
          <a:p>
            <a:endParaRPr lang="da-DK"/>
          </a:p>
        </p:txBody>
      </p:sp>
      <p:sp>
        <p:nvSpPr>
          <p:cNvPr id="4" name="Pladsholder til slidenummer 3"/>
          <p:cNvSpPr>
            <a:spLocks noGrp="1"/>
          </p:cNvSpPr>
          <p:nvPr>
            <p:ph type="sldNum" sz="quarter" idx="5"/>
          </p:nvPr>
        </p:nvSpPr>
        <p:spPr/>
        <p:txBody>
          <a:bodyPr/>
          <a:lstStyle/>
          <a:p>
            <a:fld id="{45BFCFCE-5A78-CB4C-8592-F27D9484E3BD}" type="slidenum">
              <a:rPr lang="da-DK" smtClean="0"/>
              <a:pPr/>
              <a:t>11</a:t>
            </a:fld>
            <a:endParaRPr lang="da-DK"/>
          </a:p>
        </p:txBody>
      </p:sp>
    </p:spTree>
    <p:extLst>
      <p:ext uri="{BB962C8B-B14F-4D97-AF65-F5344CB8AC3E}">
        <p14:creationId xmlns:p14="http://schemas.microsoft.com/office/powerpoint/2010/main" val="192306450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a:xfrm>
            <a:off x="2338388" y="1143000"/>
            <a:ext cx="2181225" cy="3086100"/>
          </a:xfrm>
        </p:spPr>
      </p:sp>
      <p:sp>
        <p:nvSpPr>
          <p:cNvPr id="3" name="Pladsholder til noter 2"/>
          <p:cNvSpPr>
            <a:spLocks noGrp="1"/>
          </p:cNvSpPr>
          <p:nvPr>
            <p:ph type="body" idx="1"/>
          </p:nvPr>
        </p:nvSpPr>
        <p:spPr/>
        <p:txBody>
          <a:bodyPr/>
          <a:lstStyle/>
          <a:p>
            <a:endParaRPr lang="da-DK"/>
          </a:p>
        </p:txBody>
      </p:sp>
      <p:sp>
        <p:nvSpPr>
          <p:cNvPr id="4" name="Pladsholder til slidenummer 3"/>
          <p:cNvSpPr>
            <a:spLocks noGrp="1"/>
          </p:cNvSpPr>
          <p:nvPr>
            <p:ph type="sldNum" sz="quarter" idx="5"/>
          </p:nvPr>
        </p:nvSpPr>
        <p:spPr/>
        <p:txBody>
          <a:bodyPr/>
          <a:lstStyle/>
          <a:p>
            <a:fld id="{45BFCFCE-5A78-CB4C-8592-F27D9484E3BD}" type="slidenum">
              <a:rPr lang="da-DK" smtClean="0"/>
              <a:pPr/>
              <a:t>12</a:t>
            </a:fld>
            <a:endParaRPr lang="da-DK"/>
          </a:p>
        </p:txBody>
      </p:sp>
    </p:spTree>
    <p:extLst>
      <p:ext uri="{BB962C8B-B14F-4D97-AF65-F5344CB8AC3E}">
        <p14:creationId xmlns:p14="http://schemas.microsoft.com/office/powerpoint/2010/main" val="312520469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a:xfrm>
            <a:off x="2338388" y="1143000"/>
            <a:ext cx="2181225" cy="3086100"/>
          </a:xfrm>
        </p:spPr>
      </p:sp>
      <p:sp>
        <p:nvSpPr>
          <p:cNvPr id="3" name="Pladsholder til noter 2"/>
          <p:cNvSpPr>
            <a:spLocks noGrp="1"/>
          </p:cNvSpPr>
          <p:nvPr>
            <p:ph type="body" idx="1"/>
          </p:nvPr>
        </p:nvSpPr>
        <p:spPr/>
        <p:txBody>
          <a:bodyPr/>
          <a:lstStyle/>
          <a:p>
            <a:endParaRPr lang="da-DK"/>
          </a:p>
        </p:txBody>
      </p:sp>
      <p:sp>
        <p:nvSpPr>
          <p:cNvPr id="4" name="Pladsholder til slidenummer 3"/>
          <p:cNvSpPr>
            <a:spLocks noGrp="1"/>
          </p:cNvSpPr>
          <p:nvPr>
            <p:ph type="sldNum" sz="quarter" idx="5"/>
          </p:nvPr>
        </p:nvSpPr>
        <p:spPr/>
        <p:txBody>
          <a:bodyPr/>
          <a:lstStyle/>
          <a:p>
            <a:fld id="{45BFCFCE-5A78-CB4C-8592-F27D9484E3BD}" type="slidenum">
              <a:rPr lang="da-DK" smtClean="0"/>
              <a:pPr/>
              <a:t>13</a:t>
            </a:fld>
            <a:endParaRPr lang="da-DK"/>
          </a:p>
        </p:txBody>
      </p:sp>
    </p:spTree>
    <p:extLst>
      <p:ext uri="{BB962C8B-B14F-4D97-AF65-F5344CB8AC3E}">
        <p14:creationId xmlns:p14="http://schemas.microsoft.com/office/powerpoint/2010/main" val="365806216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a:xfrm>
            <a:off x="2338388" y="1143000"/>
            <a:ext cx="2181225" cy="3086100"/>
          </a:xfrm>
        </p:spPr>
        <p:txBody>
          <a:bodyPr/>
          <a:lstStyle/>
          <a:p>
            <a:endParaRPr lang="da-DK"/>
          </a:p>
        </p:txBody>
      </p:sp>
      <p:sp>
        <p:nvSpPr>
          <p:cNvPr id="3" name="Pladsholder til noter 2"/>
          <p:cNvSpPr>
            <a:spLocks noGrp="1"/>
          </p:cNvSpPr>
          <p:nvPr>
            <p:ph type="body" idx="1"/>
          </p:nvPr>
        </p:nvSpPr>
        <p:spPr/>
        <p:txBody>
          <a:bodyPr/>
          <a:lstStyle/>
          <a:p>
            <a:endParaRPr lang="da-DK"/>
          </a:p>
        </p:txBody>
      </p:sp>
      <p:sp>
        <p:nvSpPr>
          <p:cNvPr id="4" name="Pladsholder til slidenummer 3"/>
          <p:cNvSpPr>
            <a:spLocks noGrp="1"/>
          </p:cNvSpPr>
          <p:nvPr>
            <p:ph type="sldNum" sz="quarter" idx="5"/>
          </p:nvPr>
        </p:nvSpPr>
        <p:spPr/>
        <p:txBody>
          <a:bodyPr/>
          <a:lstStyle/>
          <a:p>
            <a:fld id="{45BFCFCE-5A78-CB4C-8592-F27D9484E3BD}" type="slidenum">
              <a:rPr lang="da-DK" smtClean="0"/>
              <a:pPr/>
              <a:t>14</a:t>
            </a:fld>
            <a:endParaRPr lang="da-DK"/>
          </a:p>
        </p:txBody>
      </p:sp>
    </p:spTree>
    <p:extLst>
      <p:ext uri="{BB962C8B-B14F-4D97-AF65-F5344CB8AC3E}">
        <p14:creationId xmlns:p14="http://schemas.microsoft.com/office/powerpoint/2010/main" val="297654794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a:xfrm>
            <a:off x="2338388" y="1143000"/>
            <a:ext cx="2181225" cy="3086100"/>
          </a:xfrm>
        </p:spPr>
        <p:txBody>
          <a:bodyPr/>
          <a:lstStyle/>
          <a:p>
            <a:endParaRPr lang="da-DK"/>
          </a:p>
        </p:txBody>
      </p:sp>
      <p:sp>
        <p:nvSpPr>
          <p:cNvPr id="3" name="Pladsholder til noter 2"/>
          <p:cNvSpPr>
            <a:spLocks noGrp="1"/>
          </p:cNvSpPr>
          <p:nvPr>
            <p:ph type="body" idx="1"/>
          </p:nvPr>
        </p:nvSpPr>
        <p:spPr/>
        <p:txBody>
          <a:bodyPr/>
          <a:lstStyle/>
          <a:p>
            <a:endParaRPr lang="da-DK"/>
          </a:p>
        </p:txBody>
      </p:sp>
      <p:sp>
        <p:nvSpPr>
          <p:cNvPr id="4" name="Pladsholder til slidenummer 3"/>
          <p:cNvSpPr>
            <a:spLocks noGrp="1"/>
          </p:cNvSpPr>
          <p:nvPr>
            <p:ph type="sldNum" sz="quarter" idx="5"/>
          </p:nvPr>
        </p:nvSpPr>
        <p:spPr/>
        <p:txBody>
          <a:bodyPr/>
          <a:lstStyle/>
          <a:p>
            <a:fld id="{45BFCFCE-5A78-CB4C-8592-F27D9484E3BD}" type="slidenum">
              <a:rPr lang="da-DK" smtClean="0"/>
              <a:pPr/>
              <a:t>15</a:t>
            </a:fld>
            <a:endParaRPr lang="da-DK"/>
          </a:p>
        </p:txBody>
      </p:sp>
    </p:spTree>
    <p:extLst>
      <p:ext uri="{BB962C8B-B14F-4D97-AF65-F5344CB8AC3E}">
        <p14:creationId xmlns:p14="http://schemas.microsoft.com/office/powerpoint/2010/main" val="297654794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a:xfrm>
            <a:off x="2338388" y="1143000"/>
            <a:ext cx="2181225" cy="3086100"/>
          </a:xfrm>
        </p:spPr>
      </p:sp>
      <p:sp>
        <p:nvSpPr>
          <p:cNvPr id="3" name="Pladsholder til noter 2"/>
          <p:cNvSpPr>
            <a:spLocks noGrp="1"/>
          </p:cNvSpPr>
          <p:nvPr>
            <p:ph type="body" idx="1"/>
          </p:nvPr>
        </p:nvSpPr>
        <p:spPr/>
        <p:txBody>
          <a:bodyPr/>
          <a:lstStyle/>
          <a:p>
            <a:pPr rtl="0"/>
            <a:r>
              <a:rPr lang="da-DK"/>
              <a:t xml:space="preserve">Tilføjet fra B8: </a:t>
            </a:r>
            <a:r>
              <a:rPr lang="da-DK" sz="1200" b="0" i="0" u="none" strike="noStrike" kern="1200">
                <a:solidFill>
                  <a:schemeClr val="tx1"/>
                </a:solidFill>
                <a:effectLst/>
                <a:latin typeface="IBM Plex Sans" panose="020B0503050203000203" pitchFamily="34" charset="0"/>
                <a:ea typeface="+mn-ea"/>
                <a:cs typeface="+mn-cs"/>
              </a:rPr>
              <a:t>{{</a:t>
            </a:r>
            <a:r>
              <a:rPr lang="da-DK" sz="1200" b="0" i="0" u="none" strike="noStrike" kern="1200">
                <a:solidFill>
                  <a:schemeClr val="tx1"/>
                </a:solidFill>
                <a:effectLst/>
                <a:latin typeface="IBM Plex Sans" panose="020B0503050203000203" pitchFamily="34" charset="0"/>
                <a:ea typeface="+mn-ea"/>
                <a:cs typeface="+mn-cs"/>
              </a:rPr>
              <a:t>omsatningsrate</a:t>
            </a:r>
            <a:r>
              <a:rPr lang="da-DK" sz="1200" b="0" i="0" u="none" strike="noStrike" kern="1200">
                <a:solidFill>
                  <a:schemeClr val="tx1"/>
                </a:solidFill>
                <a:effectLst/>
                <a:latin typeface="IBM Plex Sans" panose="020B0503050203000203" pitchFamily="34" charset="0"/>
                <a:ea typeface="+mn-ea"/>
                <a:cs typeface="+mn-cs"/>
              </a:rPr>
              <a:t>}}</a:t>
            </a:r>
            <a:endParaRPr lang="da-DK" b="0">
              <a:effectLst/>
            </a:endParaRPr>
          </a:p>
        </p:txBody>
      </p:sp>
      <p:sp>
        <p:nvSpPr>
          <p:cNvPr id="4" name="Pladsholder til slidenummer 3"/>
          <p:cNvSpPr>
            <a:spLocks noGrp="1"/>
          </p:cNvSpPr>
          <p:nvPr>
            <p:ph type="sldNum" sz="quarter" idx="5"/>
          </p:nvPr>
        </p:nvSpPr>
        <p:spPr/>
        <p:txBody>
          <a:bodyPr/>
          <a:lstStyle/>
          <a:p>
            <a:fld id="{45BFCFCE-5A78-CB4C-8592-F27D9484E3BD}" type="slidenum">
              <a:rPr lang="da-DK" smtClean="0"/>
              <a:pPr/>
              <a:t>16</a:t>
            </a:fld>
            <a:endParaRPr lang="da-DK"/>
          </a:p>
        </p:txBody>
      </p:sp>
    </p:spTree>
    <p:extLst>
      <p:ext uri="{BB962C8B-B14F-4D97-AF65-F5344CB8AC3E}">
        <p14:creationId xmlns:p14="http://schemas.microsoft.com/office/powerpoint/2010/main" val="394237085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Intro template">
    <p:bg>
      <p:bgPr>
        <a:solidFill>
          <a:schemeClr val="bg1"/>
        </a:solidFill>
        <a:effectLst/>
      </p:bgPr>
    </p:bg>
    <p:spTree>
      <p:nvGrpSpPr>
        <p:cNvPr id="1" name=""/>
        <p:cNvGrpSpPr/>
        <p:nvPr/>
      </p:nvGrpSpPr>
      <p:grpSpPr>
        <a:xfrm>
          <a:off x="0" y="0"/>
          <a:ext cx="0" cy="0"/>
          <a:chOff x="0" y="0"/>
          <a:chExt cx="0" cy="0"/>
        </a:xfrm>
      </p:grpSpPr>
      <p:sp>
        <p:nvSpPr>
          <p:cNvPr id="10" name="Text Placeholder 9">
            <a:extLst>
              <a:ext uri="{FF2B5EF4-FFF2-40B4-BE49-F238E27FC236}">
                <a16:creationId xmlns:a16="http://schemas.microsoft.com/office/drawing/2014/main" id="{52E31B1D-D5FA-1144-A6D9-FDFA19DD3A3B}"/>
              </a:ext>
            </a:extLst>
          </p:cNvPr>
          <p:cNvSpPr>
            <a:spLocks noGrp="1"/>
          </p:cNvSpPr>
          <p:nvPr>
            <p:ph type="body" sz="quarter" idx="14"/>
          </p:nvPr>
        </p:nvSpPr>
        <p:spPr>
          <a:xfrm>
            <a:off x="417725" y="1422386"/>
            <a:ext cx="2071467" cy="4440060"/>
          </a:xfrm>
        </p:spPr>
        <p:txBody>
          <a:bodyPr/>
          <a:lstStyle>
            <a:lvl1pPr marL="0" indent="0">
              <a:buNone/>
              <a:defRPr/>
            </a:lvl1pPr>
          </a:lstStyle>
          <a:p>
            <a:pPr lvl="0"/>
            <a:r>
              <a:rPr lang="da-DK" noProof="0"/>
              <a:t>Click</a:t>
            </a:r>
            <a:r>
              <a:rPr lang="da-DK" noProof="0"/>
              <a:t> to </a:t>
            </a:r>
            <a:r>
              <a:rPr lang="da-DK" noProof="0"/>
              <a:t>edit</a:t>
            </a:r>
            <a:r>
              <a:rPr lang="da-DK" noProof="0"/>
              <a:t> Master </a:t>
            </a:r>
            <a:r>
              <a:rPr lang="da-DK" noProof="0"/>
              <a:t>text</a:t>
            </a:r>
            <a:r>
              <a:rPr lang="da-DK" noProof="0"/>
              <a:t> styles</a:t>
            </a:r>
          </a:p>
        </p:txBody>
      </p:sp>
      <p:sp>
        <p:nvSpPr>
          <p:cNvPr id="11" name="Text Placeholder 9">
            <a:extLst>
              <a:ext uri="{FF2B5EF4-FFF2-40B4-BE49-F238E27FC236}">
                <a16:creationId xmlns:a16="http://schemas.microsoft.com/office/drawing/2014/main" id="{F1EF6F5B-4C89-A089-DA32-6A1686CD0B74}"/>
              </a:ext>
            </a:extLst>
          </p:cNvPr>
          <p:cNvSpPr>
            <a:spLocks noGrp="1"/>
          </p:cNvSpPr>
          <p:nvPr>
            <p:ph type="body" sz="quarter" idx="15"/>
          </p:nvPr>
        </p:nvSpPr>
        <p:spPr>
          <a:xfrm>
            <a:off x="2676401" y="1422387"/>
            <a:ext cx="2071466" cy="4440059"/>
          </a:xfrm>
        </p:spPr>
        <p:txBody>
          <a:bodyPr/>
          <a:lstStyle>
            <a:lvl1pPr marL="0" indent="0">
              <a:buNone/>
              <a:defRPr/>
            </a:lvl1pPr>
          </a:lstStyle>
          <a:p>
            <a:pPr lvl="0"/>
            <a:r>
              <a:rPr lang="da-DK" noProof="0"/>
              <a:t>Click</a:t>
            </a:r>
            <a:r>
              <a:rPr lang="da-DK" noProof="0"/>
              <a:t> to </a:t>
            </a:r>
            <a:r>
              <a:rPr lang="da-DK" noProof="0"/>
              <a:t>edit</a:t>
            </a:r>
            <a:r>
              <a:rPr lang="da-DK" noProof="0"/>
              <a:t> Master </a:t>
            </a:r>
            <a:r>
              <a:rPr lang="da-DK" noProof="0"/>
              <a:t>text</a:t>
            </a:r>
            <a:r>
              <a:rPr lang="da-DK" noProof="0"/>
              <a:t> styles</a:t>
            </a:r>
          </a:p>
        </p:txBody>
      </p:sp>
      <p:sp>
        <p:nvSpPr>
          <p:cNvPr id="2" name="Title 1">
            <a:extLst>
              <a:ext uri="{FF2B5EF4-FFF2-40B4-BE49-F238E27FC236}">
                <a16:creationId xmlns:a16="http://schemas.microsoft.com/office/drawing/2014/main" id="{4149F0AB-3484-3BD8-5F17-C0910484351A}"/>
              </a:ext>
            </a:extLst>
          </p:cNvPr>
          <p:cNvSpPr>
            <a:spLocks noGrp="1"/>
          </p:cNvSpPr>
          <p:nvPr>
            <p:ph type="title"/>
          </p:nvPr>
        </p:nvSpPr>
        <p:spPr/>
        <p:txBody>
          <a:bodyPr/>
          <a:lstStyle/>
          <a:p>
            <a:r>
              <a:rPr lang="da-DK"/>
              <a:t>Click to edit Master title style</a:t>
            </a:r>
          </a:p>
        </p:txBody>
      </p:sp>
    </p:spTree>
    <p:extLst>
      <p:ext uri="{BB962C8B-B14F-4D97-AF65-F5344CB8AC3E}">
        <p14:creationId xmlns:p14="http://schemas.microsoft.com/office/powerpoint/2010/main" val="346905747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Forside med billedebaggrun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8" name="ESG wordmark"/>
          <p:cNvSpPr txBox="1"/>
          <p:nvPr/>
        </p:nvSpPr>
        <p:spPr>
          <a:xfrm>
            <a:off x="365760" y="2537424"/>
            <a:ext cx="6828155" cy="2228341"/>
          </a:xfrm>
          <a:prstGeom prst="rect">
            <a:avLst/>
          </a:prstGeom>
          <a:noFill/>
        </p:spPr>
        <p:txBody>
          <a:bodyPr wrap="square" lIns="0" tIns="0" rIns="0" bIns="0" anchor="ctr">
            <a:noAutofit/>
          </a:bodyPr>
          <a:lstStyle/>
          <a:p>
            <a:pPr algn="ctr"/>
            <a:r>
              <a:rPr lang="en-GB" sz="12900" b="1" spc="-322" dirty="0">
                <a:solidFill>
                  <a:srgbClr val="FFFFFF"/>
                </a:solidFill>
                <a:latin typeface="+mn-lt"/>
              </a:rPr>
              <a:t>ESG</a:t>
            </a:r>
            <a:endParaRPr lang="en-GB" sz="12900" b="1" spc="-322"/>
          </a:p>
        </p:txBody>
      </p:sp>
      <p:sp>
        <p:nvSpPr>
          <p:cNvPr id="7" name="Footer Placeholder 6">
            <a:extLst>
              <a:ext uri="{FF2B5EF4-FFF2-40B4-BE49-F238E27FC236}">
                <a16:creationId xmlns:a16="http://schemas.microsoft.com/office/drawing/2014/main" id="{85E44590-AE8B-6098-6E3A-22BBF073CF8E}"/>
              </a:ext>
            </a:extLst>
          </p:cNvPr>
          <p:cNvSpPr>
            <a:spLocks noGrp="1"/>
          </p:cNvSpPr>
          <p:nvPr>
            <p:ph type="ftr" sz="quarter" idx="15"/>
          </p:nvPr>
        </p:nvSpPr>
        <p:spPr>
          <a:xfrm>
            <a:off x="2184109" y="6707538"/>
            <a:ext cx="3052354" cy="234336"/>
          </a:xfrm>
        </p:spPr>
        <p:txBody>
          <a:bodyPr/>
          <a:lstStyle>
            <a:lvl1pPr algn="ctr">
              <a:defRPr sz="1150">
                <a:solidFill>
                  <a:schemeClr val="bg1"/>
                </a:solidFill>
              </a:defRPr>
            </a:lvl1pPr>
          </a:lstStyle>
          <a:p>
            <a:r>
              <a:rPr lang="da-DK"/>
              <a:t xml:space="preserve">KLIK FOR AT INDSÆTTE FIRMANAVN</a:t>
            </a:r>
          </a:p>
        </p:txBody>
      </p:sp>
      <p:sp>
        <p:nvSpPr>
          <p:cNvPr id="5" name="Titel 4">
            <a:extLst>
              <a:ext uri="{FF2B5EF4-FFF2-40B4-BE49-F238E27FC236}">
                <a16:creationId xmlns:a16="http://schemas.microsoft.com/office/drawing/2014/main" id="{A3676786-DF78-2A13-71BF-8354606B0D04}"/>
              </a:ext>
            </a:extLst>
          </p:cNvPr>
          <p:cNvSpPr>
            <a:spLocks noGrp="1"/>
          </p:cNvSpPr>
          <p:nvPr>
            <p:ph type="title" hasCustomPrompt="1"/>
          </p:nvPr>
        </p:nvSpPr>
        <p:spPr>
          <a:xfrm>
            <a:off x="754701" y="6237584"/>
            <a:ext cx="5915802" cy="152274"/>
          </a:xfrm>
        </p:spPr>
        <p:txBody>
          <a:bodyPr/>
          <a:lstStyle>
            <a:lvl1pPr algn="ctr">
              <a:defRPr sz="900" spc="300">
                <a:solidFill>
                  <a:schemeClr val="bg1"/>
                </a:solidFill>
              </a:defRPr>
            </a:lvl1pPr>
          </a:lstStyle>
          <a:p>
            <a:r>
              <a:rPr lang="da-DK"/>
              <a:t xml:space="preserve">INDSÆT TITEL</a:t>
            </a:r>
          </a:p>
        </p:txBody>
      </p:sp>
    </p:spTree>
    <p:extLst>
      <p:ext uri="{BB962C8B-B14F-4D97-AF65-F5344CB8AC3E}">
        <p14:creationId xmlns:p14="http://schemas.microsoft.com/office/powerpoint/2010/main" val="22908913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ESG opgørelse">
    <p:bg>
      <p:bgPr>
        <a:solidFill>
          <a:schemeClr val="bg1"/>
        </a:solidFill>
        <a:effectLst/>
      </p:bgPr>
    </p:bg>
    <p:spTree>
      <p:nvGrpSpPr>
        <p:cNvPr id="1" name=""/>
        <p:cNvGrpSpPr/>
        <p:nvPr/>
      </p:nvGrpSpPr>
      <p:grpSpPr>
        <a:xfrm>
          <a:off x="0" y="0"/>
          <a:ext cx="0" cy="0"/>
          <a:chOff x="0" y="0"/>
          <a:chExt cx="0" cy="0"/>
        </a:xfrm>
      </p:grpSpPr>
      <p:sp>
        <p:nvSpPr>
          <p:cNvPr id="10" name="Text Placeholder 9">
            <a:extLst>
              <a:ext uri="{FF2B5EF4-FFF2-40B4-BE49-F238E27FC236}">
                <a16:creationId xmlns:a16="http://schemas.microsoft.com/office/drawing/2014/main" id="{9358A1A1-81A1-00B9-5F3F-17B9B899E502}"/>
              </a:ext>
            </a:extLst>
          </p:cNvPr>
          <p:cNvSpPr>
            <a:spLocks noGrp="1"/>
          </p:cNvSpPr>
          <p:nvPr>
            <p:ph type="body" sz="quarter" idx="17"/>
          </p:nvPr>
        </p:nvSpPr>
        <p:spPr>
          <a:xfrm>
            <a:off x="423975" y="1381944"/>
            <a:ext cx="2687561" cy="4470221"/>
          </a:xfrm>
        </p:spPr>
        <p:txBody>
          <a:bodyPr/>
          <a:lstStyle>
            <a:lvl1pPr marL="0" indent="0">
              <a:lnSpc>
                <a:spcPct val="129000"/>
              </a:lnSpc>
              <a:spcAft>
                <a:spcPts val="0"/>
              </a:spcAft>
              <a:buNone/>
              <a:tabLst>
                <a:tab pos="239990" algn="l"/>
                <a:tab pos="389984" algn="l"/>
                <a:tab pos="3419863" algn="r"/>
              </a:tabLst>
              <a:defRPr sz="725">
                <a:solidFill>
                  <a:schemeClr val="tx2"/>
                </a:solidFill>
              </a:defRPr>
            </a:lvl1pPr>
          </a:lstStyle>
          <a:p>
            <a:pPr lvl="0"/>
            <a:r>
              <a:rPr lang="da-DK" noProof="0"/>
              <a:t>Click</a:t>
            </a:r>
            <a:r>
              <a:rPr lang="da-DK" noProof="0"/>
              <a:t> to </a:t>
            </a:r>
            <a:r>
              <a:rPr lang="da-DK" noProof="0"/>
              <a:t>edit</a:t>
            </a:r>
            <a:r>
              <a:rPr lang="da-DK" noProof="0"/>
              <a:t> Master </a:t>
            </a:r>
            <a:r>
              <a:rPr lang="da-DK" noProof="0"/>
              <a:t>text</a:t>
            </a:r>
            <a:r>
              <a:rPr lang="da-DK" noProof="0"/>
              <a:t> styles</a:t>
            </a:r>
          </a:p>
        </p:txBody>
      </p:sp>
      <p:sp>
        <p:nvSpPr>
          <p:cNvPr id="2" name="Text Placeholder 9">
            <a:extLst>
              <a:ext uri="{FF2B5EF4-FFF2-40B4-BE49-F238E27FC236}">
                <a16:creationId xmlns:a16="http://schemas.microsoft.com/office/drawing/2014/main" id="{DDD3249A-9EA8-2D06-EED5-368B4A02469F}"/>
              </a:ext>
            </a:extLst>
          </p:cNvPr>
          <p:cNvSpPr>
            <a:spLocks noGrp="1"/>
          </p:cNvSpPr>
          <p:nvPr>
            <p:ph type="body" sz="quarter" idx="20"/>
          </p:nvPr>
        </p:nvSpPr>
        <p:spPr>
          <a:xfrm>
            <a:off x="3934311" y="1374025"/>
            <a:ext cx="2687561" cy="4470220"/>
          </a:xfrm>
        </p:spPr>
        <p:txBody>
          <a:bodyPr/>
          <a:lstStyle>
            <a:lvl1pPr marL="0" indent="0">
              <a:lnSpc>
                <a:spcPct val="129000"/>
              </a:lnSpc>
              <a:spcAft>
                <a:spcPts val="0"/>
              </a:spcAft>
              <a:buNone/>
              <a:tabLst>
                <a:tab pos="239990" algn="l"/>
                <a:tab pos="389984" algn="l"/>
                <a:tab pos="3419863" algn="r"/>
              </a:tabLst>
              <a:defRPr sz="725">
                <a:solidFill>
                  <a:schemeClr val="tx2"/>
                </a:solidFill>
              </a:defRPr>
            </a:lvl1pPr>
          </a:lstStyle>
          <a:p>
            <a:pPr lvl="0"/>
            <a:r>
              <a:rPr lang="da-DK" noProof="0"/>
              <a:t>Click</a:t>
            </a:r>
            <a:r>
              <a:rPr lang="da-DK" noProof="0"/>
              <a:t> to </a:t>
            </a:r>
            <a:r>
              <a:rPr lang="da-DK" noProof="0"/>
              <a:t>edit</a:t>
            </a:r>
            <a:r>
              <a:rPr lang="da-DK" noProof="0"/>
              <a:t> Master </a:t>
            </a:r>
            <a:r>
              <a:rPr lang="da-DK" noProof="0"/>
              <a:t>text</a:t>
            </a:r>
            <a:r>
              <a:rPr lang="da-DK" noProof="0"/>
              <a:t> styles</a:t>
            </a:r>
          </a:p>
        </p:txBody>
      </p:sp>
      <p:sp>
        <p:nvSpPr>
          <p:cNvPr id="6" name="Footer Placeholder 5">
            <a:extLst>
              <a:ext uri="{FF2B5EF4-FFF2-40B4-BE49-F238E27FC236}">
                <a16:creationId xmlns:a16="http://schemas.microsoft.com/office/drawing/2014/main" id="{CB27BA12-0C2B-874F-CB3D-A69B54828ED2}"/>
              </a:ext>
            </a:extLst>
          </p:cNvPr>
          <p:cNvSpPr>
            <a:spLocks noGrp="1"/>
          </p:cNvSpPr>
          <p:nvPr>
            <p:ph type="ftr" sz="quarter" idx="22"/>
          </p:nvPr>
        </p:nvSpPr>
        <p:spPr/>
        <p:txBody>
          <a:bodyPr/>
          <a:lstStyle/>
          <a:p>
            <a:r>
              <a:rPr lang="da-DK"/>
              <a:t xml:space="preserve">KLIK FOR AT INDSÆTTE FIRMANAVN</a:t>
            </a:r>
          </a:p>
        </p:txBody>
      </p:sp>
      <p:sp>
        <p:nvSpPr>
          <p:cNvPr id="8" name="Slide Number Placeholder 7">
            <a:extLst>
              <a:ext uri="{FF2B5EF4-FFF2-40B4-BE49-F238E27FC236}">
                <a16:creationId xmlns:a16="http://schemas.microsoft.com/office/drawing/2014/main" id="{A28E22E3-1CE9-39F0-37B9-6694C2F99A83}"/>
              </a:ext>
            </a:extLst>
          </p:cNvPr>
          <p:cNvSpPr>
            <a:spLocks noGrp="1"/>
          </p:cNvSpPr>
          <p:nvPr>
            <p:ph type="sldNum" sz="quarter" idx="23"/>
          </p:nvPr>
        </p:nvSpPr>
        <p:spPr/>
        <p:txBody>
          <a:bodyPr/>
          <a:lstStyle/>
          <a:p>
            <a:fld id="{5A0D23CF-C5A3-5445-819D-C647D180BB4B}" type="slidenum">
              <a:rPr lang="da-DK" smtClean="0"/>
              <a:pPr/>
              <a:t>‹nr.›</a:t>
            </a:fld>
            <a:endParaRPr lang="da-DK"/>
          </a:p>
        </p:txBody>
      </p:sp>
      <p:sp>
        <p:nvSpPr>
          <p:cNvPr id="9" name="Title 8">
            <a:extLst>
              <a:ext uri="{FF2B5EF4-FFF2-40B4-BE49-F238E27FC236}">
                <a16:creationId xmlns:a16="http://schemas.microsoft.com/office/drawing/2014/main" id="{9EC510F1-C32E-301D-A9BE-CDD982DBFB2C}"/>
              </a:ext>
            </a:extLst>
          </p:cNvPr>
          <p:cNvSpPr>
            <a:spLocks noGrp="1"/>
          </p:cNvSpPr>
          <p:nvPr>
            <p:ph type="title"/>
          </p:nvPr>
        </p:nvSpPr>
        <p:spPr/>
        <p:txBody>
          <a:bodyPr/>
          <a:lstStyle/>
          <a:p>
            <a:r>
              <a:rPr lang="da-DK"/>
              <a:t>Click to edit Master title style</a:t>
            </a:r>
          </a:p>
        </p:txBody>
      </p:sp>
    </p:spTree>
    <p:extLst>
      <p:ext uri="{BB962C8B-B14F-4D97-AF65-F5344CB8AC3E}">
        <p14:creationId xmlns:p14="http://schemas.microsoft.com/office/powerpoint/2010/main" val="299208577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6AB499-BDA0-E170-C4FB-7C73F109F59F}"/>
              </a:ext>
            </a:extLst>
          </p:cNvPr>
          <p:cNvSpPr>
            <a:spLocks noGrp="1"/>
          </p:cNvSpPr>
          <p:nvPr>
            <p:ph type="title"/>
          </p:nvPr>
        </p:nvSpPr>
        <p:spPr/>
        <p:txBody>
          <a:bodyPr/>
          <a:lstStyle/>
          <a:p>
            <a:r>
              <a:rPr lang="da-DK" noProof="0"/>
              <a:t>Click</a:t>
            </a:r>
            <a:r>
              <a:rPr lang="da-DK" noProof="0"/>
              <a:t> to </a:t>
            </a:r>
            <a:r>
              <a:rPr lang="da-DK" noProof="0"/>
              <a:t>edit</a:t>
            </a:r>
            <a:r>
              <a:rPr lang="da-DK" noProof="0"/>
              <a:t> Master </a:t>
            </a:r>
            <a:r>
              <a:rPr lang="da-DK" noProof="0"/>
              <a:t>title</a:t>
            </a:r>
            <a:r>
              <a:rPr lang="da-DK" noProof="0"/>
              <a:t> style</a:t>
            </a:r>
          </a:p>
        </p:txBody>
      </p:sp>
      <p:sp>
        <p:nvSpPr>
          <p:cNvPr id="3" name="Date Placeholder 2">
            <a:extLst>
              <a:ext uri="{FF2B5EF4-FFF2-40B4-BE49-F238E27FC236}">
                <a16:creationId xmlns:a16="http://schemas.microsoft.com/office/drawing/2014/main" id="{85623CC7-2A44-6728-81B8-5D1C36C8A523}"/>
              </a:ext>
            </a:extLst>
          </p:cNvPr>
          <p:cNvSpPr>
            <a:spLocks noGrp="1"/>
          </p:cNvSpPr>
          <p:nvPr>
            <p:ph type="dt" sz="half" idx="10"/>
          </p:nvPr>
        </p:nvSpPr>
        <p:spPr/>
        <p:txBody>
          <a:bodyPr/>
          <a:lstStyle/>
          <a:p>
            <a:endParaRPr lang="da-DK" noProof="0"/>
          </a:p>
        </p:txBody>
      </p:sp>
      <p:sp>
        <p:nvSpPr>
          <p:cNvPr id="4" name="Footer Placeholder 3">
            <a:extLst>
              <a:ext uri="{FF2B5EF4-FFF2-40B4-BE49-F238E27FC236}">
                <a16:creationId xmlns:a16="http://schemas.microsoft.com/office/drawing/2014/main" id="{2B78E23B-9CAA-A290-D3B6-2404D06EC1A2}"/>
              </a:ext>
            </a:extLst>
          </p:cNvPr>
          <p:cNvSpPr>
            <a:spLocks noGrp="1"/>
          </p:cNvSpPr>
          <p:nvPr>
            <p:ph type="ftr" sz="quarter" idx="11"/>
          </p:nvPr>
        </p:nvSpPr>
        <p:spPr/>
        <p:txBody>
          <a:bodyPr/>
          <a:lstStyle/>
          <a:p>
            <a:r>
              <a:rPr lang="da-DK" noProof="0"/>
              <a:t xml:space="preserve">KLIK FOR AT INDSÆTTE FIRMANAVN</a:t>
            </a:r>
          </a:p>
        </p:txBody>
      </p:sp>
      <p:sp>
        <p:nvSpPr>
          <p:cNvPr id="5" name="Slide Number Placeholder 4">
            <a:extLst>
              <a:ext uri="{FF2B5EF4-FFF2-40B4-BE49-F238E27FC236}">
                <a16:creationId xmlns:a16="http://schemas.microsoft.com/office/drawing/2014/main" id="{A316B95B-509A-04EA-4971-5BB7A30A29F3}"/>
              </a:ext>
            </a:extLst>
          </p:cNvPr>
          <p:cNvSpPr>
            <a:spLocks noGrp="1"/>
          </p:cNvSpPr>
          <p:nvPr>
            <p:ph type="sldNum" sz="quarter" idx="12"/>
          </p:nvPr>
        </p:nvSpPr>
        <p:spPr/>
        <p:txBody>
          <a:bodyPr/>
          <a:lstStyle/>
          <a:p>
            <a:fld id="{5A0D23CF-C5A3-5445-819D-C647D180BB4B}" type="slidenum">
              <a:rPr lang="da-DK" noProof="0" smtClean="0"/>
              <a:pPr/>
              <a:t>‹nr.›</a:t>
            </a:fld>
            <a:endParaRPr lang="da-DK" noProof="0"/>
          </a:p>
        </p:txBody>
      </p:sp>
    </p:spTree>
    <p:extLst>
      <p:ext uri="{BB962C8B-B14F-4D97-AF65-F5344CB8AC3E}">
        <p14:creationId xmlns:p14="http://schemas.microsoft.com/office/powerpoint/2010/main" val="183285293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Afslutningsslide">
    <p:bg>
      <p:bgPr>
        <a:solidFill>
          <a:srgbClr val="1B4529"/>
        </a:solidFill>
        <a:effectLst/>
      </p:bgPr>
    </p:bg>
    <p:spTree>
      <p:nvGrpSpPr>
        <p:cNvPr id="1" name=""/>
        <p:cNvGrpSpPr/>
        <p:nvPr/>
      </p:nvGrpSpPr>
      <p:grpSpPr>
        <a:xfrm>
          <a:off x="0" y="0"/>
          <a:ext cx="0" cy="0"/>
          <a:chOff x="0" y="0"/>
          <a:chExt cx="0" cy="0"/>
        </a:xfrm>
      </p:grpSpPr>
      <p:sp>
        <p:nvSpPr>
          <p:cNvPr id="3" name="Pladsholder til indhold 2">
            <a:extLst>
              <a:ext uri="{FF2B5EF4-FFF2-40B4-BE49-F238E27FC236}">
                <a16:creationId xmlns:a16="http://schemas.microsoft.com/office/drawing/2014/main" id="{5FF3099D-2911-2DC2-30C9-600914A49C92}"/>
              </a:ext>
            </a:extLst>
          </p:cNvPr>
          <p:cNvSpPr>
            <a:spLocks noGrp="1"/>
          </p:cNvSpPr>
          <p:nvPr>
            <p:ph idx="1" hasCustomPrompt="1"/>
          </p:nvPr>
        </p:nvSpPr>
        <p:spPr>
          <a:xfrm>
            <a:off x="754701" y="2186263"/>
            <a:ext cx="5915802" cy="1217034"/>
          </a:xfrm>
          <a:solidFill>
            <a:srgbClr val="1B4529"/>
          </a:solidFill>
        </p:spPr>
        <p:txBody>
          <a:bodyPr>
            <a:normAutofit/>
          </a:bodyPr>
          <a:lstStyle>
            <a:lvl1pPr marL="0" indent="0">
              <a:lnSpc>
                <a:spcPct val="100000"/>
              </a:lnSpc>
              <a:spcBef>
                <a:spcPts val="167"/>
              </a:spcBef>
              <a:buFontTx/>
              <a:buNone/>
              <a:defRPr sz="900">
                <a:solidFill>
                  <a:schemeClr val="bg1"/>
                </a:solidFill>
              </a:defRPr>
            </a:lvl1pPr>
            <a:lvl2pPr marL="149994" indent="0">
              <a:buFontTx/>
              <a:buNone/>
              <a:defRPr sz="900">
                <a:solidFill>
                  <a:schemeClr val="bg1"/>
                </a:solidFill>
              </a:defRPr>
            </a:lvl2pPr>
            <a:lvl3pPr marL="419983" indent="-134995">
              <a:defRPr sz="900">
                <a:solidFill>
                  <a:schemeClr val="bg1"/>
                </a:solidFill>
              </a:defRPr>
            </a:lvl3pPr>
            <a:lvl4pPr marL="584977" indent="-134995">
              <a:defRPr sz="900">
                <a:solidFill>
                  <a:schemeClr val="bg1"/>
                </a:solidFill>
              </a:defRPr>
            </a:lvl4pPr>
            <a:lvl5pPr marL="719971" indent="-134995">
              <a:defRPr sz="900">
                <a:solidFill>
                  <a:schemeClr val="bg1"/>
                </a:solidFill>
              </a:defRPr>
            </a:lvl5pPr>
          </a:lstStyle>
          <a:p>
            <a:pPr lvl="0"/>
            <a:r>
              <a:rPr lang="da-DK" noProof="0"/>
              <a:t xml:space="preserve">Indsæt virksomhedsinformation</a:t>
            </a:r>
          </a:p>
        </p:txBody>
      </p:sp>
      <p:sp>
        <p:nvSpPr>
          <p:cNvPr id="4" name="Title 3">
            <a:extLst>
              <a:ext uri="{FF2B5EF4-FFF2-40B4-BE49-F238E27FC236}">
                <a16:creationId xmlns:a16="http://schemas.microsoft.com/office/drawing/2014/main" id="{6DF97A03-6A5A-CE52-A825-964660171C82}"/>
              </a:ext>
            </a:extLst>
          </p:cNvPr>
          <p:cNvSpPr>
            <a:spLocks noGrp="1"/>
          </p:cNvSpPr>
          <p:nvPr>
            <p:ph type="title"/>
          </p:nvPr>
        </p:nvSpPr>
        <p:spPr/>
        <p:txBody>
          <a:bodyPr/>
          <a:lstStyle>
            <a:lvl1pPr>
              <a:defRPr>
                <a:solidFill>
                  <a:schemeClr val="bg1"/>
                </a:solidFill>
              </a:defRPr>
            </a:lvl1pPr>
          </a:lstStyle>
          <a:p>
            <a:r>
              <a:rPr lang="da-DK" noProof="0"/>
              <a:t>Click</a:t>
            </a:r>
            <a:r>
              <a:rPr lang="da-DK" noProof="0"/>
              <a:t> to </a:t>
            </a:r>
            <a:r>
              <a:rPr lang="da-DK" noProof="0"/>
              <a:t>edit</a:t>
            </a:r>
            <a:r>
              <a:rPr lang="da-DK" noProof="0"/>
              <a:t> Master </a:t>
            </a:r>
            <a:r>
              <a:rPr lang="da-DK" noProof="0"/>
              <a:t>title</a:t>
            </a:r>
            <a:r>
              <a:rPr lang="da-DK" noProof="0"/>
              <a:t> style</a:t>
            </a:r>
          </a:p>
        </p:txBody>
      </p:sp>
      <p:sp>
        <p:nvSpPr>
          <p:cNvPr id="10" name="Footer Placeholder 9">
            <a:extLst>
              <a:ext uri="{FF2B5EF4-FFF2-40B4-BE49-F238E27FC236}">
                <a16:creationId xmlns:a16="http://schemas.microsoft.com/office/drawing/2014/main" id="{C0ED9E13-9DB5-7219-D300-DD32B15B25DA}"/>
              </a:ext>
            </a:extLst>
          </p:cNvPr>
          <p:cNvSpPr>
            <a:spLocks noGrp="1"/>
          </p:cNvSpPr>
          <p:nvPr>
            <p:ph type="ftr" sz="quarter" idx="15"/>
          </p:nvPr>
        </p:nvSpPr>
        <p:spPr/>
        <p:txBody>
          <a:bodyPr/>
          <a:lstStyle>
            <a:lvl1pPr>
              <a:defRPr>
                <a:solidFill>
                  <a:schemeClr val="bg1"/>
                </a:solidFill>
              </a:defRPr>
            </a:lvl1pPr>
          </a:lstStyle>
          <a:p>
            <a:r>
              <a:rPr lang="da-DK" noProof="0"/>
              <a:t xml:space="preserve">KLIK FOR AT INDSÆTTE FIRMANAVN</a:t>
            </a:r>
          </a:p>
        </p:txBody>
      </p:sp>
      <p:sp>
        <p:nvSpPr>
          <p:cNvPr id="11" name="Slide Number Placeholder 10">
            <a:extLst>
              <a:ext uri="{FF2B5EF4-FFF2-40B4-BE49-F238E27FC236}">
                <a16:creationId xmlns:a16="http://schemas.microsoft.com/office/drawing/2014/main" id="{85AA5A7D-770A-67C5-6EFF-8AD1F28FC232}"/>
              </a:ext>
            </a:extLst>
          </p:cNvPr>
          <p:cNvSpPr>
            <a:spLocks noGrp="1"/>
          </p:cNvSpPr>
          <p:nvPr>
            <p:ph type="sldNum" sz="quarter" idx="16"/>
          </p:nvPr>
        </p:nvSpPr>
        <p:spPr/>
        <p:txBody>
          <a:bodyPr/>
          <a:lstStyle>
            <a:lvl1pPr>
              <a:defRPr>
                <a:solidFill>
                  <a:schemeClr val="bg1">
                    <a:alpha val="70000"/>
                  </a:schemeClr>
                </a:solidFill>
              </a:defRPr>
            </a:lvl1pPr>
          </a:lstStyle>
          <a:p>
            <a:fld id="{5A0D23CF-C5A3-5445-819D-C647D180BB4B}" type="slidenum">
              <a:rPr lang="da-DK" noProof="0" smtClean="0"/>
              <a:pPr/>
              <a:t>‹nr.›</a:t>
            </a:fld>
            <a:endParaRPr lang="da-DK" noProof="0"/>
          </a:p>
        </p:txBody>
      </p:sp>
    </p:spTree>
    <p:extLst>
      <p:ext uri="{BB962C8B-B14F-4D97-AF65-F5344CB8AC3E}">
        <p14:creationId xmlns:p14="http://schemas.microsoft.com/office/powerpoint/2010/main" val="234834086"/>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 name="Pladsholder til tekst 2">
            <a:extLst>
              <a:ext uri="{FF2B5EF4-FFF2-40B4-BE49-F238E27FC236}">
                <a16:creationId xmlns:a16="http://schemas.microsoft.com/office/drawing/2014/main" id="{3B61CC4E-F6A2-4C3F-CE7B-BB195B240393}"/>
              </a:ext>
            </a:extLst>
          </p:cNvPr>
          <p:cNvSpPr>
            <a:spLocks noGrp="1"/>
          </p:cNvSpPr>
          <p:nvPr>
            <p:ph type="body" idx="1"/>
          </p:nvPr>
        </p:nvSpPr>
        <p:spPr>
          <a:xfrm>
            <a:off x="423975" y="1422668"/>
            <a:ext cx="6583503" cy="4439883"/>
          </a:xfrm>
          <a:prstGeom prst="rect">
            <a:avLst/>
          </a:prstGeom>
        </p:spPr>
        <p:txBody>
          <a:bodyPr vert="horz" lIns="0" tIns="0" rIns="0" bIns="0" rtlCol="0">
            <a:noAutofit/>
          </a:bodyPr>
          <a:lstStyle/>
          <a:p>
            <a:pPr lvl="0"/>
            <a:r>
              <a:rPr lang="da-DK" noProof="0"/>
              <a:t>Click to edit Master text styles</a:t>
            </a:r>
          </a:p>
          <a:p>
            <a:pPr lvl="1"/>
            <a:r>
              <a:rPr lang="da-DK" noProof="0"/>
              <a:t xml:space="preserve">Andet niveau</a:t>
            </a:r>
          </a:p>
          <a:p>
            <a:pPr lvl="2"/>
            <a:r>
              <a:rPr lang="da-DK" noProof="0"/>
              <a:t xml:space="preserve">Tredje niveau</a:t>
            </a:r>
          </a:p>
          <a:p>
            <a:pPr lvl="3"/>
            <a:r>
              <a:rPr lang="da-DK" noProof="0"/>
              <a:t xml:space="preserve">Fjerde niveau</a:t>
            </a:r>
          </a:p>
          <a:p>
            <a:pPr lvl="4"/>
            <a:r>
              <a:rPr lang="da-DK" noProof="0"/>
              <a:t xml:space="preserve">Femte niveau</a:t>
            </a:r>
          </a:p>
        </p:txBody>
      </p:sp>
      <p:sp>
        <p:nvSpPr>
          <p:cNvPr id="4" name="Pladsholder til dato 3">
            <a:extLst>
              <a:ext uri="{FF2B5EF4-FFF2-40B4-BE49-F238E27FC236}">
                <a16:creationId xmlns:a16="http://schemas.microsoft.com/office/drawing/2014/main" id="{8550164C-751B-845B-9F9B-5F2B4F1FB4E6}"/>
              </a:ext>
            </a:extLst>
          </p:cNvPr>
          <p:cNvSpPr>
            <a:spLocks noGrp="1"/>
          </p:cNvSpPr>
          <p:nvPr>
            <p:ph type="dt" sz="half" idx="2"/>
          </p:nvPr>
        </p:nvSpPr>
        <p:spPr>
          <a:xfrm>
            <a:off x="276685" y="10152285"/>
            <a:ext cx="1617485" cy="128235"/>
          </a:xfrm>
          <a:prstGeom prst="rect">
            <a:avLst/>
          </a:prstGeom>
        </p:spPr>
        <p:txBody>
          <a:bodyPr vert="horz" lIns="0" tIns="0" rIns="0" bIns="0" rtlCol="0" anchor="t" anchorCtr="0">
            <a:noAutofit/>
          </a:bodyPr>
          <a:lstStyle>
            <a:lvl1pPr algn="l">
              <a:defRPr sz="825">
                <a:solidFill>
                  <a:srgbClr val="5F7D69"/>
                </a:solidFill>
                <a:latin typeface="IBM Plex Sans" panose="020B0503050203000203" pitchFamily="34" charset="0"/>
              </a:defRPr>
            </a:lvl1pPr>
          </a:lstStyle>
          <a:p>
            <a:endParaRPr lang="da-DK"/>
          </a:p>
        </p:txBody>
      </p:sp>
      <p:sp>
        <p:nvSpPr>
          <p:cNvPr id="5" name="Pladsholder til sidefod 4">
            <a:extLst>
              <a:ext uri="{FF2B5EF4-FFF2-40B4-BE49-F238E27FC236}">
                <a16:creationId xmlns:a16="http://schemas.microsoft.com/office/drawing/2014/main" id="{7AB68935-0A2D-A618-8989-FB93D31273FE}"/>
              </a:ext>
            </a:extLst>
          </p:cNvPr>
          <p:cNvSpPr>
            <a:spLocks noGrp="1"/>
          </p:cNvSpPr>
          <p:nvPr>
            <p:ph type="ftr" sz="quarter" idx="3"/>
          </p:nvPr>
        </p:nvSpPr>
        <p:spPr>
          <a:xfrm>
            <a:off x="5000661" y="365760"/>
            <a:ext cx="2147858" cy="128235"/>
          </a:xfrm>
          <a:prstGeom prst="rect">
            <a:avLst/>
          </a:prstGeom>
        </p:spPr>
        <p:txBody>
          <a:bodyPr vert="horz" lIns="0" tIns="0" rIns="0" bIns="0" rtlCol="0" anchor="t" anchorCtr="0">
            <a:noAutofit/>
          </a:bodyPr>
          <a:lstStyle>
            <a:lvl1pPr algn="r">
              <a:defRPr sz="825" b="1">
                <a:solidFill>
                  <a:srgbClr val="5F7D69"/>
                </a:solidFill>
                <a:latin typeface="IBM Plex Sans" panose="020B0503050203000203" pitchFamily="34" charset="0"/>
              </a:defRPr>
            </a:lvl1pPr>
          </a:lstStyle>
          <a:p>
            <a:r>
              <a:rPr lang="da-DK"/>
              <a:t xml:space="preserve">KLIK FOR AT INDSÆTTE FIRMANAVN</a:t>
            </a:r>
          </a:p>
        </p:txBody>
      </p:sp>
      <p:sp>
        <p:nvSpPr>
          <p:cNvPr id="6" name="Pladsholder til slidenummer 5">
            <a:extLst>
              <a:ext uri="{FF2B5EF4-FFF2-40B4-BE49-F238E27FC236}">
                <a16:creationId xmlns:a16="http://schemas.microsoft.com/office/drawing/2014/main" id="{77E57B8E-CD4B-57B4-607F-20E2BE60DB5F}"/>
              </a:ext>
            </a:extLst>
          </p:cNvPr>
          <p:cNvSpPr>
            <a:spLocks noGrp="1"/>
          </p:cNvSpPr>
          <p:nvPr>
            <p:ph type="sldNum" sz="quarter" idx="4"/>
          </p:nvPr>
        </p:nvSpPr>
        <p:spPr>
          <a:xfrm>
            <a:off x="5531035" y="10152285"/>
            <a:ext cx="1617485" cy="128235"/>
          </a:xfrm>
          <a:prstGeom prst="rect">
            <a:avLst/>
          </a:prstGeom>
        </p:spPr>
        <p:txBody>
          <a:bodyPr vert="horz" lIns="0" tIns="0" rIns="0" bIns="0" rtlCol="0" anchor="t" anchorCtr="0">
            <a:noAutofit/>
          </a:bodyPr>
          <a:lstStyle>
            <a:lvl1pPr algn="r">
              <a:defRPr sz="825">
                <a:solidFill>
                  <a:schemeClr val="tx2">
                    <a:alpha val="70000"/>
                  </a:schemeClr>
                </a:solidFill>
                <a:latin typeface="IBM Plex Sans" panose="020B0503050203000203" pitchFamily="34" charset="0"/>
              </a:defRPr>
            </a:lvl1pPr>
          </a:lstStyle>
          <a:p>
            <a:fld id="{5A0D23CF-C5A3-5445-819D-C647D180BB4B}" type="slidenum">
              <a:rPr lang="da-DK" smtClean="0"/>
              <a:pPr/>
              <a:t>‹nr.›</a:t>
            </a:fld>
            <a:endParaRPr lang="da-DK"/>
          </a:p>
        </p:txBody>
      </p:sp>
      <p:sp>
        <p:nvSpPr>
          <p:cNvPr id="7" name="Title Placeholder 6">
            <a:extLst>
              <a:ext uri="{FF2B5EF4-FFF2-40B4-BE49-F238E27FC236}">
                <a16:creationId xmlns:a16="http://schemas.microsoft.com/office/drawing/2014/main" id="{8788DFCC-4D37-4C1B-5213-E1D68A373009}"/>
              </a:ext>
            </a:extLst>
          </p:cNvPr>
          <p:cNvSpPr>
            <a:spLocks noGrp="1"/>
          </p:cNvSpPr>
          <p:nvPr>
            <p:ph type="title"/>
          </p:nvPr>
        </p:nvSpPr>
        <p:spPr>
          <a:xfrm>
            <a:off x="423976" y="751839"/>
            <a:ext cx="6583504" cy="207741"/>
          </a:xfrm>
          <a:prstGeom prst="rect">
            <a:avLst/>
          </a:prstGeom>
        </p:spPr>
        <p:txBody>
          <a:bodyPr vert="horz" wrap="square" lIns="0" tIns="0" rIns="0" bIns="0" rtlCol="0" anchor="t" anchorCtr="0">
            <a:spAutoFit/>
          </a:bodyPr>
          <a:lstStyle/>
          <a:p>
            <a:r>
              <a:rPr lang="da-DK" noProof="0"/>
              <a:t>Click to edit Master title style</a:t>
            </a:r>
          </a:p>
        </p:txBody>
      </p:sp>
    </p:spTree>
    <p:extLst>
      <p:ext uri="{BB962C8B-B14F-4D97-AF65-F5344CB8AC3E}">
        <p14:creationId xmlns:p14="http://schemas.microsoft.com/office/powerpoint/2010/main" val="3535313756"/>
      </p:ext>
    </p:extLst>
  </p:cSld>
  <p:clrMap bg1="lt1" tx1="dk1" bg2="lt2" tx2="dk2" accent1="accent1" accent2="accent2" accent3="accent3" accent4="accent4" accent5="accent5" accent6="accent6" hlink="hlink" folHlink="folHlink"/>
  <p:sldLayoutIdLst>
    <p:sldLayoutId id="2147483678" r:id="rId1"/>
    <p:sldLayoutId id="2147483681" r:id="rId2"/>
    <p:sldLayoutId id="2147483694" r:id="rId3"/>
    <p:sldLayoutId id="2147483696" r:id="rId4"/>
    <p:sldLayoutId id="2147483690" r:id="rId5"/>
  </p:sldLayoutIdLst>
  <p:hf hdr="0" dt="0"/>
  <p:txStyles>
    <p:titleStyle>
      <a:lvl1pPr algn="l" defTabSz="914400" rtl="0" eaLnBrk="1" latinLnBrk="0" hangingPunct="1">
        <a:lnSpc>
          <a:spcPct val="90000"/>
        </a:lnSpc>
        <a:spcBef>
          <a:spcPct val="0"/>
        </a:spcBef>
        <a:buNone/>
        <a:defRPr sz="1475" b="1" kern="1200" spc="-10" baseline="0">
          <a:solidFill>
            <a:schemeClr val="tx2"/>
          </a:solidFill>
          <a:latin typeface="+mj-lt"/>
          <a:ea typeface="+mj-ea"/>
          <a:cs typeface="+mj-cs"/>
        </a:defRPr>
      </a:lvl1pPr>
    </p:titleStyle>
    <p:bodyStyle>
      <a:lvl1pPr marL="59998" indent="-59998" algn="l" defTabSz="914400" rtl="0" eaLnBrk="1" latinLnBrk="0" hangingPunct="1">
        <a:lnSpc>
          <a:spcPct val="106000"/>
        </a:lnSpc>
        <a:spcBef>
          <a:spcPts val="0"/>
        </a:spcBef>
        <a:buFont typeface="Arial" panose="020B0604020202020204" pitchFamily="34" charset="0"/>
        <a:buChar char="•"/>
        <a:defRPr sz="725" b="0" kern="1200" spc="-10" baseline="0">
          <a:solidFill>
            <a:schemeClr val="tx2"/>
          </a:solidFill>
          <a:latin typeface="+mn-lt"/>
          <a:ea typeface="+mn-ea"/>
          <a:cs typeface="+mn-cs"/>
        </a:defRPr>
      </a:lvl1pPr>
      <a:lvl2pPr marL="119995" indent="-59998" algn="l" defTabSz="914400" rtl="0" eaLnBrk="1" latinLnBrk="0" hangingPunct="1">
        <a:lnSpc>
          <a:spcPct val="106000"/>
        </a:lnSpc>
        <a:spcBef>
          <a:spcPts val="0"/>
        </a:spcBef>
        <a:buFont typeface="Arial" panose="020B0604020202020204" pitchFamily="34" charset="0"/>
        <a:buChar char="•"/>
        <a:defRPr sz="725" kern="1200" spc="-10" baseline="0">
          <a:solidFill>
            <a:schemeClr val="tx2"/>
          </a:solidFill>
          <a:latin typeface="+mn-lt"/>
          <a:ea typeface="+mn-ea"/>
          <a:cs typeface="+mn-cs"/>
        </a:defRPr>
      </a:lvl2pPr>
      <a:lvl3pPr marL="179993" indent="-59998" algn="l" defTabSz="914400" rtl="0" eaLnBrk="1" latinLnBrk="0" hangingPunct="1">
        <a:lnSpc>
          <a:spcPct val="106000"/>
        </a:lnSpc>
        <a:spcBef>
          <a:spcPts val="0"/>
        </a:spcBef>
        <a:buFont typeface="Arial" panose="020B0604020202020204" pitchFamily="34" charset="0"/>
        <a:buChar char="•"/>
        <a:defRPr sz="725" kern="1200" spc="-10" baseline="0">
          <a:solidFill>
            <a:schemeClr val="tx2"/>
          </a:solidFill>
          <a:latin typeface="+mn-lt"/>
          <a:ea typeface="+mn-ea"/>
          <a:cs typeface="+mn-cs"/>
        </a:defRPr>
      </a:lvl3pPr>
      <a:lvl4pPr marL="239990" indent="-59998" algn="l" defTabSz="914400" rtl="0" eaLnBrk="1" latinLnBrk="0" hangingPunct="1">
        <a:lnSpc>
          <a:spcPct val="106000"/>
        </a:lnSpc>
        <a:spcBef>
          <a:spcPts val="0"/>
        </a:spcBef>
        <a:buFont typeface="Arial" panose="020B0604020202020204" pitchFamily="34" charset="0"/>
        <a:buChar char="•"/>
        <a:defRPr sz="725" kern="1200" spc="-10" baseline="0">
          <a:solidFill>
            <a:schemeClr val="tx2"/>
          </a:solidFill>
          <a:latin typeface="+mn-lt"/>
          <a:ea typeface="+mn-ea"/>
          <a:cs typeface="+mn-cs"/>
        </a:defRPr>
      </a:lvl4pPr>
      <a:lvl5pPr marL="299988" indent="-59998" algn="l" defTabSz="914400" rtl="0" eaLnBrk="1" latinLnBrk="0" hangingPunct="1">
        <a:lnSpc>
          <a:spcPct val="106000"/>
        </a:lnSpc>
        <a:spcBef>
          <a:spcPts val="0"/>
        </a:spcBef>
        <a:buFont typeface="Arial" panose="020B0604020202020204" pitchFamily="34" charset="0"/>
        <a:buChar char="•"/>
        <a:defRPr sz="725" kern="1200" spc="-10" baseline="0">
          <a:solidFill>
            <a:schemeClr val="tx2"/>
          </a:solidFill>
          <a:latin typeface="+mn-lt"/>
          <a:ea typeface="+mn-ea"/>
          <a:cs typeface="+mn-cs"/>
        </a:defRPr>
      </a:lvl5pPr>
      <a:lvl6pPr marL="2095416" indent="-190492" algn="l" defTabSz="914400" rtl="0" eaLnBrk="1" latinLnBrk="0" hangingPunct="1">
        <a:lnSpc>
          <a:spcPct val="90000"/>
        </a:lnSpc>
        <a:spcBef>
          <a:spcPts val="417"/>
        </a:spcBef>
        <a:buFont typeface="Arial" panose="020B0604020202020204" pitchFamily="34" charset="0"/>
        <a:buChar char="•"/>
        <a:defRPr sz="1475" kern="1200">
          <a:solidFill>
            <a:schemeClr val="tx1"/>
          </a:solidFill>
          <a:latin typeface="+mn-lt"/>
          <a:ea typeface="+mn-ea"/>
          <a:cs typeface="+mn-cs"/>
        </a:defRPr>
      </a:lvl6pPr>
      <a:lvl7pPr marL="2476401" indent="-190492" algn="l" defTabSz="914400" rtl="0" eaLnBrk="1" latinLnBrk="0" hangingPunct="1">
        <a:lnSpc>
          <a:spcPct val="90000"/>
        </a:lnSpc>
        <a:spcBef>
          <a:spcPts val="417"/>
        </a:spcBef>
        <a:buFont typeface="Arial" panose="020B0604020202020204" pitchFamily="34" charset="0"/>
        <a:buChar char="•"/>
        <a:defRPr sz="1475" kern="1200">
          <a:solidFill>
            <a:schemeClr val="tx1"/>
          </a:solidFill>
          <a:latin typeface="+mn-lt"/>
          <a:ea typeface="+mn-ea"/>
          <a:cs typeface="+mn-cs"/>
        </a:defRPr>
      </a:lvl7pPr>
      <a:lvl8pPr marL="2857386" indent="-190492" algn="l" defTabSz="914400" rtl="0" eaLnBrk="1" latinLnBrk="0" hangingPunct="1">
        <a:lnSpc>
          <a:spcPct val="90000"/>
        </a:lnSpc>
        <a:spcBef>
          <a:spcPts val="417"/>
        </a:spcBef>
        <a:buFont typeface="Arial" panose="020B0604020202020204" pitchFamily="34" charset="0"/>
        <a:buChar char="•"/>
        <a:defRPr sz="1475" kern="1200">
          <a:solidFill>
            <a:schemeClr val="tx1"/>
          </a:solidFill>
          <a:latin typeface="+mn-lt"/>
          <a:ea typeface="+mn-ea"/>
          <a:cs typeface="+mn-cs"/>
        </a:defRPr>
      </a:lvl8pPr>
      <a:lvl9pPr marL="3238370" indent="-190492" algn="l" defTabSz="914400" rtl="0" eaLnBrk="1" latinLnBrk="0" hangingPunct="1">
        <a:lnSpc>
          <a:spcPct val="90000"/>
        </a:lnSpc>
        <a:spcBef>
          <a:spcPts val="417"/>
        </a:spcBef>
        <a:buFont typeface="Arial" panose="020B0604020202020204" pitchFamily="34" charset="0"/>
        <a:buChar char="•"/>
        <a:defRPr sz="1475" kern="1200">
          <a:solidFill>
            <a:schemeClr val="tx1"/>
          </a:solidFill>
          <a:latin typeface="+mn-lt"/>
          <a:ea typeface="+mn-ea"/>
          <a:cs typeface="+mn-cs"/>
        </a:defRPr>
      </a:lvl9pPr>
    </p:bodyStyle>
    <p:otherStyle>
      <a:defPPr>
        <a:defRPr lang="da-DK"/>
      </a:defPPr>
      <a:lvl1pPr marL="0" algn="l" defTabSz="914400" rtl="0" eaLnBrk="1" latinLnBrk="0" hangingPunct="1">
        <a:defRPr sz="1475" kern="1200">
          <a:solidFill>
            <a:schemeClr val="tx1"/>
          </a:solidFill>
          <a:latin typeface="+mn-lt"/>
          <a:ea typeface="+mn-ea"/>
          <a:cs typeface="+mn-cs"/>
        </a:defRPr>
      </a:lvl1pPr>
      <a:lvl2pPr marL="380985" algn="l" defTabSz="914400" rtl="0" eaLnBrk="1" latinLnBrk="0" hangingPunct="1">
        <a:defRPr sz="1475" kern="1200">
          <a:solidFill>
            <a:schemeClr val="tx1"/>
          </a:solidFill>
          <a:latin typeface="+mn-lt"/>
          <a:ea typeface="+mn-ea"/>
          <a:cs typeface="+mn-cs"/>
        </a:defRPr>
      </a:lvl2pPr>
      <a:lvl3pPr marL="761970" algn="l" defTabSz="914400" rtl="0" eaLnBrk="1" latinLnBrk="0" hangingPunct="1">
        <a:defRPr sz="1475" kern="1200">
          <a:solidFill>
            <a:schemeClr val="tx1"/>
          </a:solidFill>
          <a:latin typeface="+mn-lt"/>
          <a:ea typeface="+mn-ea"/>
          <a:cs typeface="+mn-cs"/>
        </a:defRPr>
      </a:lvl3pPr>
      <a:lvl4pPr marL="1142954" algn="l" defTabSz="914400" rtl="0" eaLnBrk="1" latinLnBrk="0" hangingPunct="1">
        <a:defRPr sz="1475" kern="1200">
          <a:solidFill>
            <a:schemeClr val="tx1"/>
          </a:solidFill>
          <a:latin typeface="+mn-lt"/>
          <a:ea typeface="+mn-ea"/>
          <a:cs typeface="+mn-cs"/>
        </a:defRPr>
      </a:lvl4pPr>
      <a:lvl5pPr marL="1523939" algn="l" defTabSz="914400" rtl="0" eaLnBrk="1" latinLnBrk="0" hangingPunct="1">
        <a:defRPr sz="1475" kern="1200">
          <a:solidFill>
            <a:schemeClr val="tx1"/>
          </a:solidFill>
          <a:latin typeface="+mn-lt"/>
          <a:ea typeface="+mn-ea"/>
          <a:cs typeface="+mn-cs"/>
        </a:defRPr>
      </a:lvl5pPr>
      <a:lvl6pPr marL="1904924" algn="l" defTabSz="914400" rtl="0" eaLnBrk="1" latinLnBrk="0" hangingPunct="1">
        <a:defRPr sz="1475" kern="1200">
          <a:solidFill>
            <a:schemeClr val="tx1"/>
          </a:solidFill>
          <a:latin typeface="+mn-lt"/>
          <a:ea typeface="+mn-ea"/>
          <a:cs typeface="+mn-cs"/>
        </a:defRPr>
      </a:lvl6pPr>
      <a:lvl7pPr marL="2285909" algn="l" defTabSz="914400" rtl="0" eaLnBrk="1" latinLnBrk="0" hangingPunct="1">
        <a:defRPr sz="1475" kern="1200">
          <a:solidFill>
            <a:schemeClr val="tx1"/>
          </a:solidFill>
          <a:latin typeface="+mn-lt"/>
          <a:ea typeface="+mn-ea"/>
          <a:cs typeface="+mn-cs"/>
        </a:defRPr>
      </a:lvl7pPr>
      <a:lvl8pPr marL="2666893" algn="l" defTabSz="914400" rtl="0" eaLnBrk="1" latinLnBrk="0" hangingPunct="1">
        <a:defRPr sz="1475" kern="1200">
          <a:solidFill>
            <a:schemeClr val="tx1"/>
          </a:solidFill>
          <a:latin typeface="+mn-lt"/>
          <a:ea typeface="+mn-ea"/>
          <a:cs typeface="+mn-cs"/>
        </a:defRPr>
      </a:lvl8pPr>
      <a:lvl9pPr marL="3047878" algn="l" defTabSz="914400" rtl="0" eaLnBrk="1" latinLnBrk="0" hangingPunct="1">
        <a:defRPr sz="1475" kern="1200">
          <a:solidFill>
            <a:schemeClr val="tx1"/>
          </a:solidFill>
          <a:latin typeface="+mn-lt"/>
          <a:ea typeface="+mn-ea"/>
          <a:cs typeface="+mn-cs"/>
        </a:defRPr>
      </a:lvl9pPr>
    </p:otherStyle>
  </p:txStyles>
  <p:extLst>
    <p:ext uri="{27BBF7A9-308A-43DC-89C8-2F10F3537804}">
      <p15:sldGuideLst xmlns:p15="http://schemas.microsoft.com/office/powerpoint/2012/main">
        <p15:guide id="1" userDrawn="1">
          <p15:clr>
            <a:srgbClr val="F26B43"/>
          </p15:clr>
        </p15:guide>
        <p15:guide id="2" pos="7680" userDrawn="1">
          <p15:clr>
            <a:srgbClr val="F26B43"/>
          </p15:clr>
        </p15:guide>
        <p15:guide id="3" pos="320" userDrawn="1">
          <p15:clr>
            <a:srgbClr val="F26B43"/>
          </p15:clr>
        </p15:guide>
        <p15:guide id="4" pos="2533" userDrawn="1">
          <p15:clr>
            <a:srgbClr val="F26B43"/>
          </p15:clr>
        </p15:guide>
        <p15:guide id="5" pos="2733" userDrawn="1">
          <p15:clr>
            <a:srgbClr val="F26B43"/>
          </p15:clr>
        </p15:guide>
        <p15:guide id="6" pos="4946" userDrawn="1">
          <p15:clr>
            <a:srgbClr val="F26B43"/>
          </p15:clr>
        </p15:guide>
        <p15:guide id="7" pos="5146" userDrawn="1">
          <p15:clr>
            <a:srgbClr val="F26B43"/>
          </p15:clr>
        </p15:guide>
        <p15:guide id="8" pos="7360" userDrawn="1">
          <p15:clr>
            <a:srgbClr val="F26B43"/>
          </p15:clr>
        </p15:guide>
        <p15:guide id="9" orient="horz" userDrawn="1">
          <p15:clr>
            <a:srgbClr val="F26B43"/>
          </p15:clr>
        </p15:guide>
        <p15:guide id="10" orient="horz" pos="4320" userDrawn="1">
          <p15:clr>
            <a:srgbClr val="F26B43"/>
          </p15:clr>
        </p15:guide>
        <p15:guide id="11" orient="horz" pos="320" userDrawn="1">
          <p15:clr>
            <a:srgbClr val="F26B43"/>
          </p15:clr>
        </p15:guide>
        <p15:guide id="12" orient="horz" pos="4000" userDrawn="1">
          <p15:clr>
            <a:srgbClr val="F26B43"/>
          </p15:clr>
        </p15:guide>
        <p15:guide id="13" orient="horz" pos="640"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notesSlide" Target="../notesSlides/notesSlide14.xml"/><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a:extLst>
              <a:ext uri="{FF2B5EF4-FFF2-40B4-BE49-F238E27FC236}">
                <a16:creationId xmlns:a16="http://schemas.microsoft.com/office/drawing/2014/main" id="{92A8525A-459C-C975-663E-23EF33D3BFBC}"/>
              </a:ext>
            </a:extLst>
          </p:cNvPr>
          <p:cNvSpPr>
            <a:spLocks noGrp="1"/>
          </p:cNvSpPr>
          <p:nvPr>
            <p:ph type="title"/>
          </p:nvPr>
        </p:nvSpPr>
        <p:spPr>
          <a:xfrm>
            <a:off x="411480" y="6237584"/>
            <a:ext cx="6737040" cy="126952"/>
          </a:xfrm>
        </p:spPr>
        <p:txBody>
          <a:bodyPr/>
          <a:lstStyle/>
          <a:p>
            <a:r>
              <a:rPr lang="da-DK" noProof="0"/>
              <a:t xml:space="preserve">OPGØRELSE {{insert_year}}</a:t>
            </a:r>
          </a:p>
        </p:txBody>
      </p:sp>
      <p:sp>
        <p:nvSpPr>
          <p:cNvPr id="4" name="Footer Placeholder 3">
            <a:extLst>
              <a:ext uri="{FF2B5EF4-FFF2-40B4-BE49-F238E27FC236}">
                <a16:creationId xmlns:a16="http://schemas.microsoft.com/office/drawing/2014/main" id="{734E8629-539E-87AE-7B49-CC26832ADCE2}"/>
              </a:ext>
            </a:extLst>
          </p:cNvPr>
          <p:cNvSpPr>
            <a:spLocks noGrp="1"/>
          </p:cNvSpPr>
          <p:nvPr>
            <p:ph type="ftr" sz="quarter" idx="15"/>
          </p:nvPr>
        </p:nvSpPr>
        <p:spPr>
          <a:xfrm>
            <a:off x="411480" y="6707538"/>
            <a:ext cx="6737040" cy="234336"/>
          </a:xfrm>
        </p:spPr>
        <p:txBody>
          <a:bodyPr/>
          <a:lstStyle/>
          <a:p>
            <a:r>
              <a:rPr lang="da-DK" noProof="0"/>
              <a:t>{{company_name}}</a:t>
            </a:r>
            <a:endParaRPr lang="da-DK" b="0" noProof="0"/>
          </a:p>
        </p:txBody>
      </p:sp>
    </p:spTree>
    <p:extLst>
      <p:ext uri="{BB962C8B-B14F-4D97-AF65-F5344CB8AC3E}">
        <p14:creationId xmlns:p14="http://schemas.microsoft.com/office/powerpoint/2010/main" val="242855778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41FDDEE7-C270-1824-E7E0-80B15F3FDDC2}"/>
              </a:ext>
            </a:extLst>
          </p:cNvPr>
          <p:cNvSpPr>
            <a:spLocks noGrp="1"/>
          </p:cNvSpPr>
          <p:nvPr>
            <p:ph type="title"/>
          </p:nvPr>
        </p:nvSpPr>
        <p:spPr>
          <a:xfrm>
            <a:off x="411480" y="834189"/>
            <a:ext cx="6737040" cy="415482"/>
          </a:xfrm>
        </p:spPr>
        <p:txBody>
          <a:bodyPr/>
          <a:lstStyle/>
          <a:p>
            <a:r>
              <a:rPr lang="da-DK" noProof="0"/>
              <a:t xml:space="preserve">ESG opgørelse</a:t>
            </a:r>
            <a:r>
              <a:rPr lang="da-DK" b="0" noProof="0">
                <a:solidFill>
                  <a:srgbClr val="1B4528"/>
                </a:solidFill>
                <a:ea typeface="+mn-ea"/>
                <a:cs typeface="+mn-cs"/>
              </a:rPr>
              <a:t> </a:t>
            </a:r>
            <a:br>
              <a:rPr lang="da-DK" b="0" noProof="0">
                <a:solidFill>
                  <a:srgbClr val="1B4528"/>
                </a:solidFill>
                <a:ea typeface="+mn-ea"/>
                <a:cs typeface="+mn-cs"/>
              </a:rPr>
            </a:br>
            <a:endParaRPr lang="da-DK" b="0" noProof="0">
              <a:solidFill>
                <a:srgbClr val="1B4528"/>
              </a:solidFill>
              <a:ea typeface="+mn-ea"/>
              <a:cs typeface="+mn-cs"/>
            </a:endParaRPr>
          </a:p>
        </p:txBody>
      </p:sp>
      <p:sp>
        <p:nvSpPr>
          <p:cNvPr id="4" name="Text Placeholder 2">
            <a:extLst>
              <a:ext uri="{FF2B5EF4-FFF2-40B4-BE49-F238E27FC236}">
                <a16:creationId xmlns:a16="http://schemas.microsoft.com/office/drawing/2014/main" id="{34D83B42-66BB-638E-55C1-84FD1F7A8354}"/>
              </a:ext>
            </a:extLst>
          </p:cNvPr>
          <p:cNvSpPr>
            <a:spLocks noGrp="1"/>
          </p:cNvSpPr>
          <p:nvPr>
            <p:ph type="body" sz="quarter" idx="17"/>
          </p:nvPr>
        </p:nvSpPr>
        <p:spPr>
          <a:xfrm>
            <a:off x="411480" y="877124"/>
            <a:ext cx="6598920" cy="4470221"/>
          </a:xfrm>
        </p:spPr>
        <p:txBody>
          <a:bodyPr/>
          <a:lstStyle/>
          <a:p>
            <a:pPr>
              <a:lnSpc>
                <a:spcPct val="150000"/>
              </a:lnSpc>
              <a:tabLst>
                <a:tab pos="239439" algn="l"/>
                <a:tab pos="388922" algn="l"/>
                <a:tab pos="3737091" algn="r"/>
              </a:tabLst>
            </a:pPr>
            <a:endParaRPr lang="da-DK" sz="975" b="1" noProof="0" dirty="0">
              <a:latin typeface="+mj-lt"/>
            </a:endParaRPr>
          </a:p>
          <a:p>
            <a:pPr>
              <a:lnSpc>
                <a:spcPct val="150000"/>
              </a:lnSpc>
              <a:tabLst>
                <a:tab pos="239439" algn="l"/>
                <a:tab pos="388922" algn="l"/>
                <a:tab pos="3737091" algn="r"/>
              </a:tabLst>
            </a:pPr>
            <a:endParaRPr lang="da-DK" sz="975" b="1" noProof="0" dirty="0">
              <a:latin typeface="+mj-lt"/>
            </a:endParaRPr>
          </a:p>
          <a:p>
            <a:pPr marL="190492" indent="-221991">
              <a:lnSpc>
                <a:spcPct val="150000"/>
              </a:lnSpc>
              <a:buFont typeface="+mj-lt"/>
              <a:buAutoNum type="arabicPeriod"/>
              <a:tabLst>
                <a:tab pos="239439" algn="l"/>
                <a:tab pos="388922" algn="l"/>
                <a:tab pos="3737091" algn="r"/>
              </a:tabLst>
            </a:pPr>
            <a:r>
              <a:rPr lang="da-DK" sz="975" b="1" noProof="0">
                <a:latin typeface="+mj-lt"/>
              </a:rPr>
              <a:t xml:space="preserve">Generelle oplysninger				</a:t>
            </a:r>
            <a:endParaRPr lang="da-DK" sz="975" noProof="0" dirty="0">
              <a:solidFill>
                <a:srgbClr val="1B4528"/>
              </a:solidFill>
              <a:latin typeface="+mj-lt"/>
            </a:endParaRPr>
          </a:p>
          <a:p>
            <a:pPr marL="190492" indent="-221991">
              <a:lnSpc>
                <a:spcPct val="150000"/>
              </a:lnSpc>
              <a:buFont typeface="+mj-lt"/>
              <a:buAutoNum type="arabicPeriod"/>
              <a:tabLst>
                <a:tab pos="239439" algn="l"/>
                <a:tab pos="388922" algn="l"/>
                <a:tab pos="3737091" algn="r"/>
              </a:tabLst>
            </a:pPr>
            <a:r>
              <a:rPr lang="da-DK" sz="975" b="1" kern="1200" spc="-10" noProof="0">
                <a:solidFill>
                  <a:schemeClr val="tx2"/>
                </a:solidFill>
                <a:latin typeface="+mn-lt"/>
                <a:ea typeface="+mn-ea"/>
                <a:cs typeface="+mn-cs"/>
              </a:rPr>
              <a:t xml:space="preserve">Indsatser, politikker og initiativer for omstilling til en mere bæredygtig økonomi	</a:t>
            </a:r>
            <a:endParaRPr lang="da-DK" sz="975" b="1" noProof="0" dirty="0">
              <a:latin typeface="+mj-lt"/>
            </a:endParaRPr>
          </a:p>
          <a:p>
            <a:pPr marL="190492" indent="-221991">
              <a:lnSpc>
                <a:spcPct val="150000"/>
              </a:lnSpc>
              <a:buFont typeface="+mj-lt"/>
              <a:buAutoNum type="arabicPeriod"/>
              <a:tabLst>
                <a:tab pos="239439" algn="l"/>
                <a:tab pos="388922" algn="l"/>
                <a:tab pos="3737091" algn="r"/>
              </a:tabLst>
            </a:pPr>
            <a:r>
              <a:rPr lang="da-DK" sz="975" b="1" noProof="0">
                <a:latin typeface="+mj-lt"/>
              </a:rPr>
              <a:t xml:space="preserve">Energiforbrug				</a:t>
            </a:r>
            <a:endParaRPr lang="da-DK" sz="975" noProof="0" dirty="0">
              <a:latin typeface="+mj-lt"/>
            </a:endParaRPr>
          </a:p>
          <a:p>
            <a:pPr marL="190492" indent="-221991">
              <a:lnSpc>
                <a:spcPct val="150000"/>
              </a:lnSpc>
              <a:buFont typeface="+mj-lt"/>
              <a:buAutoNum type="arabicPeriod"/>
              <a:tabLst>
                <a:tab pos="239439" algn="l"/>
                <a:tab pos="388922" algn="l"/>
                <a:tab pos="3737091" algn="r"/>
              </a:tabLst>
            </a:pPr>
            <a:r>
              <a:rPr lang="da-DK" sz="975" b="1" noProof="0">
                <a:latin typeface="+mj-lt"/>
              </a:rPr>
              <a:t xml:space="preserve">CO₂e udledning 				</a:t>
            </a:r>
            <a:endParaRPr lang="da-DK" sz="975" noProof="0" dirty="0">
              <a:latin typeface="+mj-lt"/>
            </a:endParaRPr>
          </a:p>
          <a:p>
            <a:pPr marL="190492" indent="-221991">
              <a:lnSpc>
                <a:spcPct val="150000"/>
              </a:lnSpc>
              <a:buFont typeface="+mj-lt"/>
              <a:buAutoNum type="arabicPeriod"/>
              <a:tabLst>
                <a:tab pos="239439" algn="l"/>
                <a:tab pos="388922" algn="l"/>
                <a:tab pos="3737091" algn="r"/>
              </a:tabLst>
            </a:pPr>
            <a:r>
              <a:rPr lang="da-DK" sz="975" b="1" noProof="0">
                <a:latin typeface="+mj-lt"/>
              </a:rPr>
              <a:t xml:space="preserve">Forurening af luft, vand og jord</a:t>
            </a:r>
            <a:r>
              <a:rPr lang="da-DK" sz="975" noProof="0">
                <a:latin typeface="+mj-lt"/>
              </a:rPr>
              <a:t>				</a:t>
            </a:r>
          </a:p>
          <a:p>
            <a:pPr marL="190492" indent="-221991">
              <a:lnSpc>
                <a:spcPct val="150000"/>
              </a:lnSpc>
              <a:buFont typeface="+mj-lt"/>
              <a:buAutoNum type="arabicPeriod"/>
              <a:tabLst>
                <a:tab pos="239439" algn="l"/>
                <a:tab pos="388922" algn="l"/>
                <a:tab pos="3737091" algn="r"/>
              </a:tabLst>
            </a:pPr>
            <a:r>
              <a:rPr lang="da-DK" sz="975" b="1" noProof="0">
                <a:latin typeface="+mj-lt"/>
              </a:rPr>
              <a:t xml:space="preserve">Biodiversitet</a:t>
            </a:r>
            <a:r>
              <a:rPr lang="da-DK" sz="975" noProof="0">
                <a:latin typeface="+mj-lt"/>
              </a:rPr>
              <a:t>				</a:t>
            </a:r>
          </a:p>
          <a:p>
            <a:pPr marL="190492" indent="-221991">
              <a:lnSpc>
                <a:spcPct val="150000"/>
              </a:lnSpc>
              <a:buFont typeface="+mj-lt"/>
              <a:buAutoNum type="arabicPeriod"/>
              <a:tabLst>
                <a:tab pos="239439" algn="l"/>
                <a:tab pos="388922" algn="l"/>
                <a:tab pos="3737091" algn="r"/>
              </a:tabLst>
            </a:pPr>
            <a:r>
              <a:rPr lang="da-DK" sz="975" b="1" noProof="0">
                <a:latin typeface="+mj-lt"/>
              </a:rPr>
              <a:t xml:space="preserve">Vand	</a:t>
            </a:r>
            <a:r>
              <a:rPr lang="da-DK" sz="975" noProof="0">
                <a:latin typeface="+mj-lt"/>
              </a:rPr>
              <a:t> 			</a:t>
            </a:r>
          </a:p>
          <a:p>
            <a:pPr marL="190492" indent="-221991">
              <a:lnSpc>
                <a:spcPct val="150000"/>
              </a:lnSpc>
              <a:buFont typeface="+mj-lt"/>
              <a:buAutoNum type="arabicPeriod"/>
              <a:tabLst>
                <a:tab pos="239439" algn="l"/>
                <a:tab pos="388922" algn="l"/>
                <a:tab pos="3737091" algn="r"/>
              </a:tabLst>
            </a:pPr>
            <a:r>
              <a:rPr lang="da-DK" sz="975" b="1" noProof="0">
                <a:latin typeface="+mj-lt"/>
              </a:rPr>
              <a:t xml:space="preserve">Ressourceforbrug, cirkulærøkonomi og affaldshåndtering</a:t>
            </a:r>
            <a:r>
              <a:rPr lang="da-DK" sz="975" noProof="0">
                <a:latin typeface="+mj-lt"/>
              </a:rPr>
              <a:t>				</a:t>
            </a:r>
            <a:endParaRPr lang="da-DK" sz="975" noProof="0" dirty="0">
              <a:solidFill>
                <a:srgbClr val="1B4528"/>
              </a:solidFill>
              <a:latin typeface="+mj-lt"/>
            </a:endParaRPr>
          </a:p>
          <a:p>
            <a:pPr marL="190492" indent="-221991">
              <a:lnSpc>
                <a:spcPct val="150000"/>
              </a:lnSpc>
              <a:buFont typeface="+mj-lt"/>
              <a:buAutoNum type="arabicPeriod"/>
              <a:tabLst>
                <a:tab pos="239439" algn="l"/>
                <a:tab pos="388922" algn="l"/>
                <a:tab pos="3737091" algn="r"/>
              </a:tabLst>
            </a:pPr>
            <a:r>
              <a:rPr lang="da-DK" sz="975" b="1" noProof="0">
                <a:latin typeface="+mj-lt"/>
              </a:rPr>
              <a:t xml:space="preserve">Egen arbejdsstyrke: Generelle karakteristika</a:t>
            </a:r>
            <a:r>
              <a:rPr lang="da-DK" sz="975" noProof="0">
                <a:latin typeface="+mj-lt"/>
              </a:rPr>
              <a:t>				</a:t>
            </a:r>
            <a:endParaRPr lang="da-DK" sz="975" noProof="0" dirty="0">
              <a:solidFill>
                <a:srgbClr val="1B4528"/>
              </a:solidFill>
              <a:latin typeface="+mj-lt"/>
            </a:endParaRPr>
          </a:p>
          <a:p>
            <a:pPr marL="190492" indent="-221991">
              <a:lnSpc>
                <a:spcPct val="150000"/>
              </a:lnSpc>
              <a:buFont typeface="+mj-lt"/>
              <a:buAutoNum type="arabicPeriod"/>
              <a:tabLst>
                <a:tab pos="239439" algn="l"/>
                <a:tab pos="388922" algn="l"/>
                <a:tab pos="3737091" algn="r"/>
              </a:tabLst>
            </a:pPr>
            <a:r>
              <a:rPr lang="da-DK" sz="975" b="1" noProof="0">
                <a:latin typeface="+mj-lt"/>
              </a:rPr>
              <a:t xml:space="preserve">Egen arbejdsstyrke: Sundhed og sikkerhed</a:t>
            </a:r>
            <a:r>
              <a:rPr lang="da-DK" sz="975" noProof="0">
                <a:latin typeface="+mj-lt"/>
              </a:rPr>
              <a:t>				</a:t>
            </a:r>
            <a:endParaRPr lang="da-DK" sz="975" noProof="0" dirty="0">
              <a:solidFill>
                <a:srgbClr val="1B4528"/>
              </a:solidFill>
              <a:latin typeface="+mj-lt"/>
            </a:endParaRPr>
          </a:p>
          <a:p>
            <a:pPr marL="190492" indent="-221991">
              <a:lnSpc>
                <a:spcPct val="150000"/>
              </a:lnSpc>
              <a:buFont typeface="+mj-lt"/>
              <a:buAutoNum type="arabicPeriod"/>
              <a:tabLst>
                <a:tab pos="239439" algn="l"/>
                <a:tab pos="388922" algn="l"/>
                <a:tab pos="3737091" algn="r"/>
              </a:tabLst>
            </a:pPr>
            <a:r>
              <a:rPr lang="da-DK" sz="975" b="1" noProof="0">
                <a:latin typeface="+mj-lt"/>
              </a:rPr>
              <a:t xml:space="preserve">Egen arbejdsstyrke: Vederlag, overenskomster og uddannelse</a:t>
            </a:r>
            <a:r>
              <a:rPr lang="da-DK" sz="975" noProof="0">
                <a:latin typeface="+mj-lt"/>
              </a:rPr>
              <a:t>		</a:t>
            </a:r>
            <a:endParaRPr lang="da-DK" sz="975" noProof="0" dirty="0">
              <a:solidFill>
                <a:srgbClr val="1B4528"/>
              </a:solidFill>
              <a:latin typeface="+mj-lt"/>
            </a:endParaRPr>
          </a:p>
          <a:p>
            <a:pPr marL="190492" indent="-221991">
              <a:lnSpc>
                <a:spcPct val="150000"/>
              </a:lnSpc>
              <a:buFont typeface="+mj-lt"/>
              <a:buAutoNum type="arabicPeriod"/>
              <a:tabLst>
                <a:tab pos="239439" algn="l"/>
                <a:tab pos="388922" algn="l"/>
                <a:tab pos="3737091" algn="r"/>
              </a:tabLst>
            </a:pPr>
            <a:r>
              <a:rPr lang="da-DK" sz="975" b="1" noProof="0">
                <a:latin typeface="+mj-lt"/>
              </a:rPr>
              <a:t xml:space="preserve">Virksomhedsadfærd</a:t>
            </a:r>
            <a:r>
              <a:rPr lang="da-DK" sz="975" noProof="0">
                <a:latin typeface="+mj-lt"/>
              </a:rPr>
              <a:t>	 			</a:t>
            </a:r>
            <a:endParaRPr lang="da-DK" sz="975" noProof="0" dirty="0">
              <a:solidFill>
                <a:srgbClr val="1B4528"/>
              </a:solidFill>
              <a:latin typeface="+mj-lt"/>
            </a:endParaRPr>
          </a:p>
          <a:p>
            <a:pPr marL="190492" indent="-221991">
              <a:lnSpc>
                <a:spcPct val="150000"/>
              </a:lnSpc>
              <a:buFont typeface="+mj-lt"/>
              <a:buAutoNum type="arabicPeriod"/>
              <a:tabLst>
                <a:tab pos="239439" algn="l"/>
                <a:tab pos="388922" algn="l"/>
                <a:tab pos="3737091" algn="r"/>
              </a:tabLst>
            </a:pPr>
            <a:r>
              <a:rPr lang="da-DK" sz="975" b="1" noProof="0">
                <a:latin typeface="+mj-lt"/>
              </a:rPr>
              <a:t xml:space="preserve">Strategi: Forretningsmodel og bæredygtighedsrelaterede initiativer</a:t>
            </a:r>
            <a:endParaRPr lang="da-DK" sz="975" noProof="0" dirty="0">
              <a:solidFill>
                <a:srgbClr val="1B4528"/>
              </a:solidFill>
              <a:latin typeface="+mj-lt"/>
            </a:endParaRPr>
          </a:p>
          <a:p>
            <a:pPr marL="190492" indent="-221991">
              <a:lnSpc>
                <a:spcPct val="150000"/>
              </a:lnSpc>
              <a:buFont typeface="+mj-lt"/>
              <a:buAutoNum type="arabicPeriod"/>
              <a:tabLst>
                <a:tab pos="239439" algn="l"/>
                <a:tab pos="388922" algn="l"/>
                <a:tab pos="3737091" algn="r"/>
              </a:tabLst>
            </a:pPr>
            <a:r>
              <a:rPr lang="da-DK" sz="975" b="1" noProof="0">
                <a:latin typeface="+mj-lt"/>
              </a:rPr>
              <a:t xml:space="preserve">Indsatser, politikker og fremtidige initiativer for omstilling til en mere bæredygtig økonomi</a:t>
            </a:r>
            <a:endParaRPr lang="da-DK" sz="975" noProof="0" dirty="0">
              <a:solidFill>
                <a:srgbClr val="1B4528"/>
              </a:solidFill>
              <a:latin typeface="+mj-lt"/>
            </a:endParaRPr>
          </a:p>
          <a:p>
            <a:pPr marL="190492" indent="-221991">
              <a:lnSpc>
                <a:spcPct val="150000"/>
              </a:lnSpc>
              <a:buFont typeface="+mj-lt"/>
              <a:buAutoNum type="arabicPeriod"/>
              <a:tabLst>
                <a:tab pos="239439" algn="l"/>
                <a:tab pos="388922" algn="l"/>
                <a:tab pos="3737091" algn="r"/>
              </a:tabLst>
            </a:pPr>
            <a:r>
              <a:rPr lang="da-DK" sz="975" b="1" noProof="0">
                <a:latin typeface="+mj-lt"/>
              </a:rPr>
              <a:t xml:space="preserve">CO₂e-reduktionsmål</a:t>
            </a:r>
            <a:endParaRPr lang="da-DK" sz="975" noProof="0" dirty="0">
              <a:solidFill>
                <a:srgbClr val="1B4528"/>
              </a:solidFill>
              <a:latin typeface="+mj-lt"/>
            </a:endParaRPr>
          </a:p>
          <a:p>
            <a:pPr marL="190492" indent="-221991">
              <a:lnSpc>
                <a:spcPct val="150000"/>
              </a:lnSpc>
              <a:buFont typeface="+mj-lt"/>
              <a:buAutoNum type="arabicPeriod"/>
              <a:tabLst>
                <a:tab pos="239439" algn="l"/>
                <a:tab pos="388922" algn="l"/>
                <a:tab pos="3737091" algn="r"/>
              </a:tabLst>
            </a:pPr>
            <a:r>
              <a:rPr lang="da-DK" sz="975" b="1" noProof="0">
                <a:latin typeface="+mj-lt"/>
              </a:rPr>
              <a:t xml:space="preserve">Klimaomstilling</a:t>
            </a:r>
            <a:endParaRPr lang="da-DK" sz="975" noProof="0" dirty="0">
              <a:solidFill>
                <a:srgbClr val="1B4528"/>
              </a:solidFill>
              <a:latin typeface="+mj-lt"/>
            </a:endParaRPr>
          </a:p>
          <a:p>
            <a:pPr marL="190492" indent="-221991">
              <a:lnSpc>
                <a:spcPct val="150000"/>
              </a:lnSpc>
              <a:buFont typeface="+mj-lt"/>
              <a:buAutoNum type="arabicPeriod"/>
              <a:tabLst>
                <a:tab pos="239439" algn="l"/>
                <a:tab pos="388922" algn="l"/>
                <a:tab pos="3737091" algn="r"/>
              </a:tabLst>
            </a:pPr>
            <a:r>
              <a:rPr lang="da-DK" sz="975" b="1" noProof="0">
                <a:latin typeface="+mj-lt"/>
              </a:rPr>
              <a:t xml:space="preserve">Klimarisici</a:t>
            </a:r>
            <a:endParaRPr lang="da-DK" sz="975" noProof="0" dirty="0">
              <a:solidFill>
                <a:srgbClr val="1B4528"/>
              </a:solidFill>
              <a:latin typeface="+mj-lt"/>
            </a:endParaRPr>
          </a:p>
          <a:p>
            <a:pPr marL="190492" indent="-221991">
              <a:lnSpc>
                <a:spcPct val="150000"/>
              </a:lnSpc>
              <a:buFont typeface="+mj-lt"/>
              <a:buAutoNum type="arabicPeriod"/>
              <a:tabLst>
                <a:tab pos="239439" algn="l"/>
                <a:tab pos="388922" algn="l"/>
                <a:tab pos="3737091" algn="r"/>
              </a:tabLst>
            </a:pPr>
            <a:r>
              <a:rPr lang="da-DK" sz="975" b="1" noProof="0">
                <a:latin typeface="+mj-lt"/>
              </a:rPr>
              <a:t xml:space="preserve">Supplerende (generelle) oplysninger om arbejdsstyrken</a:t>
            </a:r>
            <a:endParaRPr lang="da-DK" sz="975" noProof="0" dirty="0">
              <a:solidFill>
                <a:srgbClr val="1B4528"/>
              </a:solidFill>
              <a:latin typeface="+mj-lt"/>
            </a:endParaRPr>
          </a:p>
          <a:p>
            <a:pPr marL="190492" indent="-221991">
              <a:lnSpc>
                <a:spcPct val="150000"/>
              </a:lnSpc>
              <a:buFont typeface="+mj-lt"/>
              <a:buAutoNum type="arabicPeriod"/>
              <a:tabLst>
                <a:tab pos="239439" algn="l"/>
                <a:tab pos="388922" algn="l"/>
                <a:tab pos="3737091" algn="r"/>
              </a:tabLst>
            </a:pPr>
            <a:r>
              <a:rPr lang="da-DK" sz="975" b="1" noProof="0">
                <a:latin typeface="+mj-lt"/>
              </a:rPr>
              <a:t xml:space="preserve">Menneskerettighedspolitikker og -processer</a:t>
            </a:r>
            <a:endParaRPr lang="da-DK" sz="975" noProof="0" dirty="0">
              <a:solidFill>
                <a:srgbClr val="1B4528"/>
              </a:solidFill>
              <a:latin typeface="+mj-lt"/>
            </a:endParaRPr>
          </a:p>
          <a:p>
            <a:pPr marL="190492" indent="-221991">
              <a:lnSpc>
                <a:spcPct val="150000"/>
              </a:lnSpc>
              <a:buFont typeface="+mj-lt"/>
              <a:buAutoNum type="arabicPeriod"/>
              <a:tabLst>
                <a:tab pos="239439" algn="l"/>
                <a:tab pos="388922" algn="l"/>
                <a:tab pos="3737091" algn="r"/>
              </a:tabLst>
            </a:pPr>
            <a:r>
              <a:rPr lang="da-DK" sz="975" b="1" noProof="0">
                <a:latin typeface="+mj-lt"/>
              </a:rPr>
              <a:t xml:space="preserve">Alvorlige negative menneskerettighedshændelser</a:t>
            </a:r>
            <a:endParaRPr lang="da-DK" sz="975" noProof="0" dirty="0">
              <a:solidFill>
                <a:srgbClr val="1B4528"/>
              </a:solidFill>
              <a:latin typeface="+mj-lt"/>
            </a:endParaRPr>
          </a:p>
          <a:p>
            <a:pPr marL="190492" indent="-221991">
              <a:lnSpc>
                <a:spcPct val="150000"/>
              </a:lnSpc>
              <a:buFont typeface="+mj-lt"/>
              <a:buAutoNum type="arabicPeriod"/>
              <a:tabLst>
                <a:tab pos="239439" algn="l"/>
                <a:tab pos="388922" algn="l"/>
                <a:tab pos="3737091" algn="r"/>
              </a:tabLst>
            </a:pPr>
            <a:r>
              <a:rPr lang="da-DK" sz="975" b="1" noProof="0">
                <a:latin typeface="+mj-lt"/>
              </a:rPr>
              <a:t xml:space="preserve">Indtægter fra bestemte aktiviteter</a:t>
            </a:r>
            <a:endParaRPr lang="da-DK" sz="975" noProof="0" dirty="0">
              <a:solidFill>
                <a:srgbClr val="1B4528"/>
              </a:solidFill>
              <a:latin typeface="+mj-lt"/>
            </a:endParaRPr>
          </a:p>
          <a:p>
            <a:pPr marL="190492" indent="-221991">
              <a:lnSpc>
                <a:spcPct val="150000"/>
              </a:lnSpc>
              <a:buFont typeface="+mj-lt"/>
              <a:buAutoNum type="arabicPeriod"/>
              <a:tabLst>
                <a:tab pos="239439" algn="l"/>
                <a:tab pos="388922" algn="l"/>
                <a:tab pos="3737091" algn="r"/>
              </a:tabLst>
            </a:pPr>
            <a:r>
              <a:rPr lang="da-DK" sz="975" b="1" noProof="0">
                <a:latin typeface="+mj-lt"/>
              </a:rPr>
              <a:t xml:space="preserve">Kønsfordeling i øverste ledelsesorgan</a:t>
            </a:r>
            <a:endParaRPr lang="da-DK" sz="975" noProof="0" dirty="0">
              <a:solidFill>
                <a:srgbClr val="1B4528"/>
              </a:solidFill>
              <a:latin typeface="+mj-lt"/>
            </a:endParaRPr>
          </a:p>
          <a:p>
            <a:pPr>
              <a:tabLst>
                <a:tab pos="239439" algn="l"/>
                <a:tab pos="388922" algn="l"/>
                <a:tab pos="3737091" algn="r"/>
              </a:tabLst>
            </a:pPr>
            <a:endParaRPr lang="da-DK" sz="975" noProof="0" dirty="0">
              <a:latin typeface="+mj-lt"/>
            </a:endParaRPr>
          </a:p>
        </p:txBody>
      </p:sp>
      <p:sp>
        <p:nvSpPr>
          <p:cNvPr id="5" name="Footer Placeholder 4">
            <a:extLst>
              <a:ext uri="{FF2B5EF4-FFF2-40B4-BE49-F238E27FC236}">
                <a16:creationId xmlns:a16="http://schemas.microsoft.com/office/drawing/2014/main" id="{663AAC2A-0E1A-03B9-5DD7-E396252E7CF3}"/>
              </a:ext>
              <a:ext uri="{C183D7F6-B498-43B3-948B-1728B52AA6E4}">
                <adec:decorative xmlns:adec="http://schemas.microsoft.com/office/drawing/2017/decorative" val="1"/>
              </a:ext>
            </a:extLst>
          </p:cNvPr>
          <p:cNvSpPr>
            <a:spLocks noGrp="1"/>
          </p:cNvSpPr>
          <p:nvPr>
            <p:ph type="ftr" sz="quarter" idx="22"/>
          </p:nvPr>
        </p:nvSpPr>
        <p:spPr>
          <a:xfrm>
            <a:off x="411480" y="365760"/>
            <a:ext cx="6737040" cy="128235"/>
          </a:xfrm>
        </p:spPr>
        <p:txBody>
          <a:bodyPr/>
          <a:lstStyle/>
          <a:p>
            <a:r>
              <a:rPr lang="da-DK" noProof="0"/>
              <a:t>{{company_name}}</a:t>
            </a:r>
          </a:p>
        </p:txBody>
      </p:sp>
      <p:sp>
        <p:nvSpPr>
          <p:cNvPr id="2" name="Slide Number Placeholder 5">
            <a:extLst>
              <a:ext uri="{FF2B5EF4-FFF2-40B4-BE49-F238E27FC236}">
                <a16:creationId xmlns:a16="http://schemas.microsoft.com/office/drawing/2014/main" id="{EAF64D3B-AE78-BA15-5D3D-CEE3410664A0}"/>
              </a:ext>
              <a:ext uri="{C183D7F6-B498-43B3-948B-1728B52AA6E4}">
                <adec:decorative xmlns:adec="http://schemas.microsoft.com/office/drawing/2017/decorative" val="1"/>
              </a:ext>
            </a:extLst>
          </p:cNvPr>
          <p:cNvSpPr>
            <a:spLocks noGrp="1"/>
          </p:cNvSpPr>
          <p:nvPr>
            <p:ph type="sldNum" sz="quarter" idx="23"/>
          </p:nvPr>
        </p:nvSpPr>
        <p:spPr>
          <a:xfrm>
            <a:off x="3853152" y="10152285"/>
            <a:ext cx="3295368" cy="128235"/>
          </a:xfrm>
        </p:spPr>
        <p:txBody>
          <a:bodyPr/>
          <a:lstStyle/>
          <a:p>
            <a:fld id="{5A0D23CF-C5A3-5445-819D-C647D180BB4B}" type="slidenum">
              <a:rPr lang="da-DK" noProof="0" smtClean="0"/>
              <a:pPr/>
              <a:t>2</a:t>
            </a:fld>
            <a:endParaRPr lang="da-DK" noProof="0"/>
          </a:p>
        </p:txBody>
      </p:sp>
    </p:spTree>
    <p:extLst>
      <p:ext uri="{BB962C8B-B14F-4D97-AF65-F5344CB8AC3E}">
        <p14:creationId xmlns:p14="http://schemas.microsoft.com/office/powerpoint/2010/main" val="172057084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F150DD1-68D5-731F-A718-D62C3CF30A65}"/>
              </a:ext>
            </a:extLst>
          </p:cNvPr>
          <p:cNvSpPr>
            <a:spLocks noGrp="1"/>
          </p:cNvSpPr>
          <p:nvPr>
            <p:ph type="title"/>
          </p:nvPr>
        </p:nvSpPr>
        <p:spPr>
          <a:xfrm>
            <a:off x="411480" y="805890"/>
            <a:ext cx="6737040" cy="207741"/>
          </a:xfrm>
        </p:spPr>
        <p:txBody>
          <a:bodyPr/>
          <a:lstStyle/>
          <a:p>
            <a:r>
              <a:rPr lang="da-DK" noProof="0"/>
              <a:t xml:space="preserve">Grundlag for udarbejdelse (B1) </a:t>
            </a:r>
          </a:p>
        </p:txBody>
      </p:sp>
      <p:sp>
        <p:nvSpPr>
          <p:cNvPr id="15" name="Text Placeholder 2">
            <a:extLst>
              <a:ext uri="{FF2B5EF4-FFF2-40B4-BE49-F238E27FC236}">
                <a16:creationId xmlns:a16="http://schemas.microsoft.com/office/drawing/2014/main" id="{BACC1DA0-DFDE-C844-7562-0528953EC068}"/>
              </a:ext>
            </a:extLst>
          </p:cNvPr>
          <p:cNvSpPr txBox="1">
            <a:spLocks/>
          </p:cNvSpPr>
          <p:nvPr/>
        </p:nvSpPr>
        <p:spPr>
          <a:xfrm>
            <a:off x="411480" y="3496881"/>
            <a:ext cx="3295368" cy="143157"/>
          </a:xfrm>
          <a:prstGeom prst="rect">
            <a:avLst/>
          </a:prstGeom>
        </p:spPr>
        <p:txBody>
          <a:bodyPr lIns="0" tIns="0" rIns="0" bIns="0"/>
          <a:lstStyle>
            <a:lvl1pPr marL="59998" indent="-59998" algn="l" defTabSz="914400" rtl="0" eaLnBrk="1" latinLnBrk="0" hangingPunct="1">
              <a:lnSpc>
                <a:spcPct val="106000"/>
              </a:lnSpc>
              <a:spcBef>
                <a:spcPts val="0"/>
              </a:spcBef>
              <a:buFont typeface="Arial" panose="020B0604020202020204" pitchFamily="34" charset="0"/>
              <a:buChar char="•"/>
              <a:defRPr sz="725" b="0" kern="1200" spc="-10" baseline="0">
                <a:solidFill>
                  <a:schemeClr val="tx2"/>
                </a:solidFill>
                <a:latin typeface="+mn-lt"/>
                <a:ea typeface="+mn-ea"/>
                <a:cs typeface="+mn-cs"/>
              </a:defRPr>
            </a:lvl1pPr>
            <a:lvl2pPr marL="119995" indent="-59998" algn="l" defTabSz="914400" rtl="0" eaLnBrk="1" latinLnBrk="0" hangingPunct="1">
              <a:lnSpc>
                <a:spcPct val="106000"/>
              </a:lnSpc>
              <a:spcBef>
                <a:spcPts val="0"/>
              </a:spcBef>
              <a:buFont typeface="Arial" panose="020B0604020202020204" pitchFamily="34" charset="0"/>
              <a:buChar char="•"/>
              <a:defRPr sz="725" kern="1200" spc="-10" baseline="0">
                <a:solidFill>
                  <a:schemeClr val="tx2"/>
                </a:solidFill>
                <a:latin typeface="+mn-lt"/>
                <a:ea typeface="+mn-ea"/>
                <a:cs typeface="+mn-cs"/>
              </a:defRPr>
            </a:lvl2pPr>
            <a:lvl3pPr marL="179993" indent="-59998" algn="l" defTabSz="914400" rtl="0" eaLnBrk="1" latinLnBrk="0" hangingPunct="1">
              <a:lnSpc>
                <a:spcPct val="106000"/>
              </a:lnSpc>
              <a:spcBef>
                <a:spcPts val="0"/>
              </a:spcBef>
              <a:buFont typeface="Arial" panose="020B0604020202020204" pitchFamily="34" charset="0"/>
              <a:buChar char="•"/>
              <a:defRPr sz="725" kern="1200" spc="-10" baseline="0">
                <a:solidFill>
                  <a:schemeClr val="tx2"/>
                </a:solidFill>
                <a:latin typeface="+mn-lt"/>
                <a:ea typeface="+mn-ea"/>
                <a:cs typeface="+mn-cs"/>
              </a:defRPr>
            </a:lvl3pPr>
            <a:lvl4pPr marL="239990" indent="-59998" algn="l" defTabSz="914400" rtl="0" eaLnBrk="1" latinLnBrk="0" hangingPunct="1">
              <a:lnSpc>
                <a:spcPct val="106000"/>
              </a:lnSpc>
              <a:spcBef>
                <a:spcPts val="0"/>
              </a:spcBef>
              <a:buFont typeface="Arial" panose="020B0604020202020204" pitchFamily="34" charset="0"/>
              <a:buChar char="•"/>
              <a:defRPr sz="725" kern="1200" spc="-10" baseline="0">
                <a:solidFill>
                  <a:schemeClr val="tx2"/>
                </a:solidFill>
                <a:latin typeface="+mn-lt"/>
                <a:ea typeface="+mn-ea"/>
                <a:cs typeface="+mn-cs"/>
              </a:defRPr>
            </a:lvl4pPr>
            <a:lvl5pPr marL="299988" indent="-59998" algn="l" defTabSz="914400" rtl="0" eaLnBrk="1" latinLnBrk="0" hangingPunct="1">
              <a:lnSpc>
                <a:spcPct val="106000"/>
              </a:lnSpc>
              <a:spcBef>
                <a:spcPts val="0"/>
              </a:spcBef>
              <a:buFont typeface="Arial" panose="020B0604020202020204" pitchFamily="34" charset="0"/>
              <a:buChar char="•"/>
              <a:defRPr sz="725" kern="1200" spc="-10" baseline="0">
                <a:solidFill>
                  <a:schemeClr val="tx2"/>
                </a:solidFill>
                <a:latin typeface="+mn-lt"/>
                <a:ea typeface="+mn-ea"/>
                <a:cs typeface="+mn-cs"/>
              </a:defRPr>
            </a:lvl5pPr>
            <a:lvl6pPr marL="2095416" indent="-190492" algn="l" defTabSz="914400" rtl="0" eaLnBrk="1" latinLnBrk="0" hangingPunct="1">
              <a:lnSpc>
                <a:spcPct val="90000"/>
              </a:lnSpc>
              <a:spcBef>
                <a:spcPts val="417"/>
              </a:spcBef>
              <a:buFont typeface="Arial" panose="020B0604020202020204" pitchFamily="34" charset="0"/>
              <a:buChar char="•"/>
              <a:defRPr sz="1475" kern="1200">
                <a:solidFill>
                  <a:schemeClr val="tx1"/>
                </a:solidFill>
                <a:latin typeface="+mn-lt"/>
                <a:ea typeface="+mn-ea"/>
                <a:cs typeface="+mn-cs"/>
              </a:defRPr>
            </a:lvl6pPr>
            <a:lvl7pPr marL="2476401" indent="-190492" algn="l" defTabSz="914400" rtl="0" eaLnBrk="1" latinLnBrk="0" hangingPunct="1">
              <a:lnSpc>
                <a:spcPct val="90000"/>
              </a:lnSpc>
              <a:spcBef>
                <a:spcPts val="417"/>
              </a:spcBef>
              <a:buFont typeface="Arial" panose="020B0604020202020204" pitchFamily="34" charset="0"/>
              <a:buChar char="•"/>
              <a:defRPr sz="1475" kern="1200">
                <a:solidFill>
                  <a:schemeClr val="tx1"/>
                </a:solidFill>
                <a:latin typeface="+mn-lt"/>
                <a:ea typeface="+mn-ea"/>
                <a:cs typeface="+mn-cs"/>
              </a:defRPr>
            </a:lvl7pPr>
            <a:lvl8pPr marL="2857386" indent="-190492" algn="l" defTabSz="914400" rtl="0" eaLnBrk="1" latinLnBrk="0" hangingPunct="1">
              <a:lnSpc>
                <a:spcPct val="90000"/>
              </a:lnSpc>
              <a:spcBef>
                <a:spcPts val="417"/>
              </a:spcBef>
              <a:buFont typeface="Arial" panose="020B0604020202020204" pitchFamily="34" charset="0"/>
              <a:buChar char="•"/>
              <a:defRPr sz="1475" kern="1200">
                <a:solidFill>
                  <a:schemeClr val="tx1"/>
                </a:solidFill>
                <a:latin typeface="+mn-lt"/>
                <a:ea typeface="+mn-ea"/>
                <a:cs typeface="+mn-cs"/>
              </a:defRPr>
            </a:lvl8pPr>
            <a:lvl9pPr marL="3238370" indent="-190492" algn="l" defTabSz="914400" rtl="0" eaLnBrk="1" latinLnBrk="0" hangingPunct="1">
              <a:lnSpc>
                <a:spcPct val="90000"/>
              </a:lnSpc>
              <a:spcBef>
                <a:spcPts val="417"/>
              </a:spcBef>
              <a:buFont typeface="Arial" panose="020B0604020202020204" pitchFamily="34" charset="0"/>
              <a:buChar char="•"/>
              <a:defRPr sz="1475" kern="1200">
                <a:solidFill>
                  <a:schemeClr val="tx1"/>
                </a:solidFill>
                <a:latin typeface="+mn-lt"/>
                <a:ea typeface="+mn-ea"/>
                <a:cs typeface="+mn-cs"/>
              </a:defRPr>
            </a:lvl9pPr>
          </a:lstStyle>
          <a:p>
            <a:pPr marL="0" indent="0">
              <a:buNone/>
            </a:pPr>
            <a:endParaRPr lang="da-DK" noProof="0">
              <a:solidFill>
                <a:srgbClr val="1B4528"/>
              </a:solidFill>
            </a:endParaRPr>
          </a:p>
        </p:txBody>
      </p:sp>
      <p:graphicFrame>
        <p:nvGraphicFramePr>
          <p:cNvPr id="16" name="Table 2">
            <a:extLst>
              <a:ext uri="{FF2B5EF4-FFF2-40B4-BE49-F238E27FC236}">
                <a16:creationId xmlns:a16="http://schemas.microsoft.com/office/drawing/2014/main" id="{693470FC-B633-430A-0791-18B9C81D050C}"/>
              </a:ext>
            </a:extLst>
          </p:cNvPr>
          <p:cNvGraphicFramePr>
            <a:graphicFrameLocks noGrp="1"/>
          </p:cNvGraphicFramePr>
          <p:nvPr>
            <p:extLst>
              <p:ext uri="{D42A27DB-BD31-4B8C-83A1-F6EECF244321}">
                <p14:modId xmlns:p14="http://schemas.microsoft.com/office/powerpoint/2010/main" val="400147983"/>
              </p:ext>
            </p:extLst>
          </p:nvPr>
        </p:nvGraphicFramePr>
        <p:xfrm>
          <a:off x="411480" y="5403107"/>
          <a:ext cx="3295368" cy="770151"/>
        </p:xfrm>
        <a:graphic>
          <a:graphicData uri="http://schemas.openxmlformats.org/drawingml/2006/table">
            <a:tbl>
              <a:tblPr firstRow="1">
                <a:tableStyleId>{2A488322-F2BA-4B5B-9748-0D474271808F}</a:tableStyleId>
              </a:tblPr>
              <a:tblGrid>
                <a:gridCol w="1523870">
                  <a:extLst>
                    <a:ext uri="{9D8B030D-6E8A-4147-A177-3AD203B41FA5}">
                      <a16:colId xmlns:a16="http://schemas.microsoft.com/office/drawing/2014/main" val="1902117154"/>
                    </a:ext>
                  </a:extLst>
                </a:gridCol>
                <a:gridCol w="1771498">
                  <a:extLst>
                    <a:ext uri="{9D8B030D-6E8A-4147-A177-3AD203B41FA5}">
                      <a16:colId xmlns:a16="http://schemas.microsoft.com/office/drawing/2014/main" val="1904521774"/>
                    </a:ext>
                  </a:extLst>
                </a:gridCol>
              </a:tblGrid>
              <a:tr h="255788">
                <a:tc gridSpan="2">
                  <a:txBody>
                    <a:bodyPr/>
                    <a:lstStyle/>
                    <a:p>
                      <a:pPr marL="0" algn="l" defTabSz="914400" rtl="0" eaLnBrk="1" latinLnBrk="0" hangingPunct="1"/>
                      <a:r>
                        <a:rPr lang="da-DK" sz="975" b="1" kern="1200" spc="-10" noProof="0">
                          <a:solidFill>
                            <a:schemeClr val="tx2"/>
                          </a:solidFill>
                          <a:latin typeface="+mn-lt"/>
                          <a:ea typeface="+mn-ea"/>
                          <a:cs typeface="+mn-cs"/>
                        </a:rPr>
                        <a:t xml:space="preserve">Oversigt over datterselskaber, der indgår i denne ESG-opgørelse </a:t>
                      </a:r>
                      <a:r>
                        <a:rPr lang="da-DK" sz="975" b="0" kern="1200" spc="-10" noProof="0">
                          <a:solidFill>
                            <a:schemeClr val="tx2"/>
                          </a:solidFill>
                          <a:latin typeface="+mn-lt"/>
                          <a:ea typeface="+mn-ea"/>
                          <a:cs typeface="+mn-cs"/>
                        </a:rPr>
                        <a:t xml:space="preserve">(pkt. 27d)</a:t>
                      </a:r>
                      <a:endParaRPr lang="da-DK" sz="975" b="0" i="1" kern="1200" spc="-10" noProof="0">
                        <a:solidFill>
                          <a:schemeClr val="tx2"/>
                        </a:solidFill>
                        <a:latin typeface="+mn-lt"/>
                        <a:ea typeface="+mn-ea"/>
                        <a:cs typeface="+mn-cs"/>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endParaRPr lang="da-DK"/>
                    </a:p>
                  </a:txBody>
                  <a:tcPr/>
                </a:tc>
                <a:extLst>
                  <a:ext uri="{0D108BD9-81ED-4DB2-BD59-A6C34878D82A}">
                    <a16:rowId xmlns:a16="http://schemas.microsoft.com/office/drawing/2014/main" val="625231048"/>
                  </a:ext>
                </a:extLst>
              </a:tr>
              <a:tr h="147556">
                <a:tc>
                  <a:txBody>
                    <a:bodyPr/>
                    <a:lstStyle/>
                    <a:p>
                      <a:pPr algn="l"/>
                      <a:r>
                        <a:rPr lang="da-DK" sz="975" b="1" kern="1200" spc="-10" noProof="0">
                          <a:solidFill>
                            <a:schemeClr val="tx2"/>
                          </a:solidFill>
                          <a:latin typeface="+mn-lt"/>
                          <a:ea typeface="+mn-ea"/>
                          <a:cs typeface="+mn-cs"/>
                        </a:rPr>
                        <a:t xml:space="preserve">Navn på datterselskab </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algn="l"/>
                      <a:r>
                        <a:rPr lang="da-DK" sz="975" b="1" kern="1200" spc="-10" noProof="0">
                          <a:solidFill>
                            <a:schemeClr val="tx2"/>
                          </a:solidFill>
                          <a:latin typeface="+mn-lt"/>
                          <a:ea typeface="+mn-ea"/>
                          <a:cs typeface="+mn-cs"/>
                        </a:rPr>
                        <a:t xml:space="preserve">Adresse på datterselskab</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3642311251"/>
                  </a:ext>
                </a:extLst>
              </a:tr>
              <a:tr h="204385">
                <a:tc>
                  <a:txBody>
                    <a:bodyPr/>
                    <a:lstStyle/>
                    <a:p>
                      <a:pPr rtl="0" fontAlgn="t" algn="l">
                        <a:buNone/>
                      </a:pPr>
                      <a:r>
                        <a:rPr lang="da-DK" sz="975" b="0" i="0" u="none" strike="noStrike" noProof="0">
                          <a:solidFill>
                            <a:srgbClr val="1B4528"/>
                          </a:solidFill>
                          <a:effectLst/>
                          <a:latin typeface="Inter"/>
                        </a:rPr>
                        <a:t>{{subsidiary}}</a:t>
                      </a:r>
                      <a:endParaRPr lang="da-DK" sz="975"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r">
                        <a:buNone/>
                      </a:pPr>
                      <a:r>
                        <a:rPr lang="da-DK" sz="975" b="0" i="0" u="none" strike="noStrike" noProof="0">
                          <a:solidFill>
                            <a:srgbClr val="1B4528"/>
                          </a:solidFill>
                          <a:effectLst/>
                          <a:latin typeface="Inter"/>
                        </a:rPr>
                        <a:t>{{</a:t>
                      </a:r>
                      <a:r>
                        <a:rPr lang="da-DK" sz="975" b="0" i="0" u="none" strike="noStrike" noProof="0">
                          <a:solidFill>
                            <a:srgbClr val="1B4528"/>
                          </a:solidFill>
                          <a:effectLst/>
                          <a:latin typeface="Inter"/>
                        </a:rPr>
                        <a:t>subsidiary_address</a:t>
                      </a:r>
                      <a:r>
                        <a:rPr lang="da-DK" sz="975" b="0" i="0" u="none" strike="noStrike" noProof="0">
                          <a:solidFill>
                            <a:srgbClr val="1B4528"/>
                          </a:solidFill>
                          <a:effectLst/>
                          <a:latin typeface="Inter"/>
                        </a:rPr>
                        <a:t>}}</a:t>
                      </a:r>
                      <a:endParaRPr lang="da-DK" sz="975" noProof="0" dirty="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80349995"/>
                  </a:ext>
                </a:extLst>
              </a:tr>
            </a:tbl>
          </a:graphicData>
        </a:graphic>
      </p:graphicFrame>
      <p:sp>
        <p:nvSpPr>
          <p:cNvPr id="6" name="Slide Number Placeholder 5">
            <a:extLst>
              <a:ext uri="{FF2B5EF4-FFF2-40B4-BE49-F238E27FC236}">
                <a16:creationId xmlns:a16="http://schemas.microsoft.com/office/drawing/2014/main" id="{4477F7BF-85D3-AAB2-E437-08AF193582A9}"/>
              </a:ext>
              <a:ext uri="{C183D7F6-B498-43B3-948B-1728B52AA6E4}">
                <adec:decorative xmlns:adec="http://schemas.microsoft.com/office/drawing/2017/decorative" val="1"/>
              </a:ext>
            </a:extLst>
          </p:cNvPr>
          <p:cNvSpPr>
            <a:spLocks noGrp="1"/>
          </p:cNvSpPr>
          <p:nvPr>
            <p:ph type="sldNum" sz="quarter" idx="12"/>
          </p:nvPr>
        </p:nvSpPr>
        <p:spPr>
          <a:xfrm>
            <a:off x="411480" y="10152285"/>
            <a:ext cx="6737040" cy="128235"/>
          </a:xfrm>
        </p:spPr>
        <p:txBody>
          <a:bodyPr/>
          <a:lstStyle/>
          <a:p>
            <a:fld id="{5A0D23CF-C5A3-5445-819D-C647D180BB4B}" type="slidenum">
              <a:rPr lang="da-DK" noProof="0" smtClean="0"/>
              <a:pPr/>
              <a:t>3</a:t>
            </a:fld>
            <a:endParaRPr lang="da-DK" noProof="0"/>
          </a:p>
        </p:txBody>
      </p:sp>
      <p:sp>
        <p:nvSpPr>
          <p:cNvPr id="5" name="Footer Placeholder 4">
            <a:extLst>
              <a:ext uri="{FF2B5EF4-FFF2-40B4-BE49-F238E27FC236}">
                <a16:creationId xmlns:a16="http://schemas.microsoft.com/office/drawing/2014/main" id="{DBAF5DBA-985E-0DEE-3635-AA29433685C0}"/>
              </a:ext>
              <a:ext uri="{C183D7F6-B498-43B3-948B-1728B52AA6E4}">
                <adec:decorative xmlns:adec="http://schemas.microsoft.com/office/drawing/2017/decorative" val="1"/>
              </a:ext>
            </a:extLst>
          </p:cNvPr>
          <p:cNvSpPr>
            <a:spLocks noGrp="1"/>
          </p:cNvSpPr>
          <p:nvPr>
            <p:ph type="ftr" sz="quarter" idx="11"/>
          </p:nvPr>
        </p:nvSpPr>
        <p:spPr>
          <a:xfrm>
            <a:off x="411480" y="365760"/>
            <a:ext cx="6737040" cy="128235"/>
          </a:xfrm>
        </p:spPr>
        <p:txBody>
          <a:bodyPr/>
          <a:lstStyle/>
          <a:p>
            <a:r>
              <a:rPr lang="da-DK" noProof="0"/>
              <a:t>{{company_name}}</a:t>
            </a:r>
            <a:endParaRPr lang="da-DK" b="0" noProof="0"/>
          </a:p>
          <a:p>
            <a:br>
              <a:rPr lang="da-DK" noProof="0"/>
            </a:br>
            <a:endParaRPr lang="da-DK" noProof="0"/>
          </a:p>
        </p:txBody>
      </p:sp>
      <p:graphicFrame>
        <p:nvGraphicFramePr>
          <p:cNvPr id="2" name="Table 12">
            <a:extLst>
              <a:ext uri="{FF2B5EF4-FFF2-40B4-BE49-F238E27FC236}">
                <a16:creationId xmlns:a16="http://schemas.microsoft.com/office/drawing/2014/main" id="{AA61E98C-E974-CA6B-E7E0-7ED257077648}"/>
              </a:ext>
            </a:extLst>
          </p:cNvPr>
          <p:cNvGraphicFramePr>
            <a:graphicFrameLocks noGrp="1"/>
          </p:cNvGraphicFramePr>
          <p:nvPr>
            <p:extLst>
              <p:ext uri="{D42A27DB-BD31-4B8C-83A1-F6EECF244321}">
                <p14:modId xmlns:p14="http://schemas.microsoft.com/office/powerpoint/2010/main" val="4248128672"/>
              </p:ext>
            </p:extLst>
          </p:nvPr>
        </p:nvGraphicFramePr>
        <p:xfrm>
          <a:off x="411480" y="4091258"/>
          <a:ext cx="3295368" cy="1220124"/>
        </p:xfrm>
        <a:graphic>
          <a:graphicData uri="http://schemas.openxmlformats.org/drawingml/2006/table">
            <a:tbl>
              <a:tblPr firstRow="1">
                <a:tableStyleId>{2A488322-F2BA-4B5B-9748-0D474271808F}</a:tableStyleId>
              </a:tblPr>
              <a:tblGrid>
                <a:gridCol w="2775619">
                  <a:extLst>
                    <a:ext uri="{9D8B030D-6E8A-4147-A177-3AD203B41FA5}">
                      <a16:colId xmlns:a16="http://schemas.microsoft.com/office/drawing/2014/main" val="2698153288"/>
                    </a:ext>
                  </a:extLst>
                </a:gridCol>
                <a:gridCol w="519749">
                  <a:extLst>
                    <a:ext uri="{9D8B030D-6E8A-4147-A177-3AD203B41FA5}">
                      <a16:colId xmlns:a16="http://schemas.microsoft.com/office/drawing/2014/main" val="2119413191"/>
                    </a:ext>
                  </a:extLst>
                </a:gridCol>
              </a:tblGrid>
              <a:tr h="171405">
                <a:tc gridSpan="2">
                  <a:txBody>
                    <a:bodyPr/>
                    <a:lstStyle/>
                    <a:p>
                      <a:r>
                        <a:rPr lang="da-DK" sz="975" b="1" noProof="0">
                          <a:solidFill>
                            <a:schemeClr val="tx2"/>
                          </a:solidFill>
                        </a:rPr>
                        <a:t xml:space="preserve">Individuel eller konsolideret rapportering</a:t>
                      </a:r>
                      <a:r>
                        <a:rPr lang="da-DK" sz="975" b="0" noProof="0">
                          <a:solidFill>
                            <a:schemeClr val="tx2"/>
                          </a:solidFill>
                        </a:rPr>
                        <a:t xml:space="preserve"> (pkt. 27c)</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algn="ctr"/>
                      <a:endParaRPr lang="da-DK" sz="725" b="1">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24520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a-DK" sz="975" b="0" kern="1200" spc="-10" noProof="0">
                          <a:solidFill>
                            <a:schemeClr val="tx2"/>
                          </a:solidFill>
                          <a:latin typeface="+mn-lt"/>
                          <a:ea typeface="+mn-ea"/>
                          <a:cs typeface="+mn-cs"/>
                        </a:rPr>
                        <a:t xml:space="preserve">Opgørelsen er udarbejdet på </a:t>
                      </a:r>
                      <a:r>
                        <a:rPr lang="da-DK" sz="975" b="1" kern="1200" spc="-10" noProof="0">
                          <a:solidFill>
                            <a:schemeClr val="tx2"/>
                          </a:solidFill>
                          <a:latin typeface="+mn-lt"/>
                          <a:ea typeface="+mn-ea"/>
                          <a:cs typeface="+mn-cs"/>
                        </a:rPr>
                        <a:t xml:space="preserve">individuel basis </a:t>
                      </a:r>
                      <a:r>
                        <a:rPr lang="da-DK" sz="975" b="0" kern="1200" spc="-10" noProof="0">
                          <a:solidFill>
                            <a:schemeClr val="tx2"/>
                          </a:solidFill>
                          <a:latin typeface="+mn-lt"/>
                          <a:ea typeface="+mn-ea"/>
                          <a:cs typeface="+mn-cs"/>
                        </a:rPr>
                        <a:t xml:space="preserve">(dvs. opgørelsen dækker ikke eventuelle datterselskaber)</a:t>
                      </a:r>
                      <a:endParaRPr lang="da-DK" sz="975" b="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r" rtl="0" fontAlgn="ctr">
                        <a:buNone/>
                      </a:pPr>
                      <a:r>
                        <a:rPr lang="da-DK" sz="975" b="0" i="0" u="none" strike="noStrike" noProof="0">
                          <a:solidFill>
                            <a:srgbClr val="1B4528"/>
                          </a:solidFill>
                          <a:effectLst/>
                          <a:latin typeface="Inter"/>
                        </a:rPr>
                        <a:t>{{yes_subsidiary?}}</a:t>
                      </a:r>
                      <a:endParaRPr lang="da-DK" sz="975"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4240345905"/>
                  </a:ext>
                </a:extLst>
              </a:tr>
              <a:tr h="24520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a-DK" sz="975" b="0" kern="1200" spc="-10" noProof="0">
                          <a:solidFill>
                            <a:schemeClr val="tx2"/>
                          </a:solidFill>
                          <a:latin typeface="+mn-lt"/>
                          <a:ea typeface="+mn-ea"/>
                          <a:cs typeface="+mn-cs"/>
                        </a:rPr>
                        <a:t xml:space="preserve">Opgørelsen er udarbejdet på et </a:t>
                      </a:r>
                      <a:r>
                        <a:rPr lang="da-DK" sz="975" b="1" kern="1200" spc="-10" noProof="0">
                          <a:solidFill>
                            <a:schemeClr val="tx2"/>
                          </a:solidFill>
                          <a:latin typeface="+mn-lt"/>
                          <a:ea typeface="+mn-ea"/>
                          <a:cs typeface="+mn-cs"/>
                        </a:rPr>
                        <a:t xml:space="preserve">konsolideret grundlag </a:t>
                      </a:r>
                      <a:r>
                        <a:rPr lang="da-DK" sz="975" b="0" kern="1200" spc="-10" noProof="0">
                          <a:solidFill>
                            <a:schemeClr val="tx2"/>
                          </a:solidFill>
                          <a:latin typeface="+mn-lt"/>
                          <a:ea typeface="+mn-ea"/>
                          <a:cs typeface="+mn-cs"/>
                        </a:rPr>
                        <a:t xml:space="preserve">(dvs. opgørelsen omfatter virksomhedens datterselskaber) </a:t>
                      </a:r>
                      <a:endParaRPr lang="da-DK" sz="975" b="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r" rtl="0" fontAlgn="ctr">
                        <a:buNone/>
                      </a:pPr>
                      <a:r>
                        <a:rPr lang="da-DK" sz="975" b="0" i="0" u="none" strike="noStrike" noProof="0">
                          <a:solidFill>
                            <a:srgbClr val="1B4528"/>
                          </a:solidFill>
                          <a:effectLst/>
                          <a:latin typeface="Inter"/>
                        </a:rPr>
                        <a:t>{{no_subsidiary?}}</a:t>
                      </a:r>
                      <a:endParaRPr lang="da-DK" sz="975"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369514074"/>
                  </a:ext>
                </a:extLst>
              </a:tr>
            </a:tbl>
          </a:graphicData>
        </a:graphic>
      </p:graphicFrame>
      <p:graphicFrame>
        <p:nvGraphicFramePr>
          <p:cNvPr id="8" name="Table 12">
            <a:extLst>
              <a:ext uri="{FF2B5EF4-FFF2-40B4-BE49-F238E27FC236}">
                <a16:creationId xmlns:a16="http://schemas.microsoft.com/office/drawing/2014/main" id="{C0F79360-A773-09D0-5119-A3FDBC3F6D97}"/>
              </a:ext>
            </a:extLst>
          </p:cNvPr>
          <p:cNvGraphicFramePr>
            <a:graphicFrameLocks noGrp="1"/>
          </p:cNvGraphicFramePr>
          <p:nvPr>
            <p:extLst>
              <p:ext uri="{D42A27DB-BD31-4B8C-83A1-F6EECF244321}">
                <p14:modId xmlns:p14="http://schemas.microsoft.com/office/powerpoint/2010/main" val="29321190"/>
              </p:ext>
            </p:extLst>
          </p:nvPr>
        </p:nvGraphicFramePr>
        <p:xfrm>
          <a:off x="411480" y="2459885"/>
          <a:ext cx="3295368" cy="1433032"/>
        </p:xfrm>
        <a:graphic>
          <a:graphicData uri="http://schemas.openxmlformats.org/drawingml/2006/table">
            <a:tbl>
              <a:tblPr firstRow="1">
                <a:tableStyleId>{2A488322-F2BA-4B5B-9748-0D474271808F}</a:tableStyleId>
              </a:tblPr>
              <a:tblGrid>
                <a:gridCol w="2780615">
                  <a:extLst>
                    <a:ext uri="{9D8B030D-6E8A-4147-A177-3AD203B41FA5}">
                      <a16:colId xmlns:a16="http://schemas.microsoft.com/office/drawing/2014/main" val="2698153288"/>
                    </a:ext>
                  </a:extLst>
                </a:gridCol>
                <a:gridCol w="514753">
                  <a:extLst>
                    <a:ext uri="{9D8B030D-6E8A-4147-A177-3AD203B41FA5}">
                      <a16:colId xmlns:a16="http://schemas.microsoft.com/office/drawing/2014/main" val="2119413191"/>
                    </a:ext>
                  </a:extLst>
                </a:gridCol>
              </a:tblGrid>
              <a:tr h="392947">
                <a:tc gridSpan="2">
                  <a:txBody>
                    <a:bodyPr/>
                    <a:lstStyle/>
                    <a:p>
                      <a:r>
                        <a:rPr lang="da-DK" sz="975" b="1" kern="1200" spc="-10" noProof="0">
                          <a:solidFill>
                            <a:schemeClr val="tx2"/>
                          </a:solidFill>
                          <a:latin typeface="+mn-lt"/>
                          <a:ea typeface="+mn-ea"/>
                          <a:cs typeface="+mn-cs"/>
                        </a:rPr>
                        <a:t xml:space="preserve">Basismodul, eller Basismodul +</a:t>
                      </a:r>
                      <a:r>
                        <a:rPr lang="da-DK" sz="975" b="0" kern="1200" spc="-10" noProof="0">
                          <a:solidFill>
                            <a:schemeClr val="tx2"/>
                          </a:solidFill>
                          <a:latin typeface="+mn-lt"/>
                          <a:ea typeface="+mn-ea"/>
                          <a:cs typeface="+mn-cs"/>
                        </a:rPr>
                        <a:t> </a:t>
                      </a:r>
                      <a:r>
                        <a:rPr lang="da-DK" sz="975" b="1" kern="1200" spc="-10" noProof="0">
                          <a:solidFill>
                            <a:schemeClr val="tx2"/>
                          </a:solidFill>
                          <a:latin typeface="+mn-lt"/>
                          <a:ea typeface="+mn-ea"/>
                          <a:cs typeface="+mn-cs"/>
                        </a:rPr>
                        <a:t xml:space="preserve">Udvidet Modul </a:t>
                      </a:r>
                      <a:r>
                        <a:rPr lang="da-DK" sz="975" b="0" kern="1200" spc="-10" noProof="0">
                          <a:solidFill>
                            <a:schemeClr val="tx2"/>
                          </a:solidFill>
                          <a:latin typeface="+mn-lt"/>
                          <a:ea typeface="+mn-ea"/>
                          <a:cs typeface="+mn-cs"/>
                        </a:rPr>
                        <a:t xml:space="preserve">(pkt. 27a)</a:t>
                      </a:r>
                      <a:r>
                        <a:rPr lang="da-DK" sz="975" b="1" kern="1200" spc="-10" noProof="0">
                          <a:solidFill>
                            <a:schemeClr val="tx2"/>
                          </a:solidFill>
                          <a:latin typeface="+mn-lt"/>
                          <a:ea typeface="+mn-ea"/>
                          <a:cs typeface="+mn-cs"/>
                        </a:rPr>
                        <a:t> </a:t>
                      </a:r>
                      <a:endParaRPr lang="da-DK" sz="975" b="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algn="ctr"/>
                      <a:endParaRPr lang="da-DK" sz="725" b="1">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50260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a-DK" sz="975" b="0" kern="1200" spc="-10" noProof="0">
                          <a:solidFill>
                            <a:schemeClr val="tx2"/>
                          </a:solidFill>
                          <a:latin typeface="+mn-lt"/>
                          <a:ea typeface="+mn-ea"/>
                          <a:cs typeface="+mn-cs"/>
                        </a:rPr>
                        <a:t xml:space="preserve">Opgørelsen er baseret på </a:t>
                      </a:r>
                      <a:r>
                        <a:rPr lang="da-DK" sz="975" b="1" kern="1200" spc="-10" noProof="0">
                          <a:solidFill>
                            <a:schemeClr val="tx2"/>
                          </a:solidFill>
                          <a:latin typeface="+mn-lt"/>
                          <a:ea typeface="+mn-ea"/>
                          <a:cs typeface="+mn-cs"/>
                        </a:rPr>
                        <a:t xml:space="preserve">Basismodulet</a:t>
                      </a:r>
                      <a:r>
                        <a:rPr lang="da-DK" sz="975" b="0" kern="1200" spc="-10" noProof="0">
                          <a:solidFill>
                            <a:schemeClr val="tx2"/>
                          </a:solidFill>
                          <a:latin typeface="+mn-lt"/>
                          <a:ea typeface="+mn-ea"/>
                          <a:cs typeface="+mn-cs"/>
                        </a:rPr>
                        <a:t xml:space="preserve"> i den frivillige SMV-standard </a:t>
                      </a:r>
                      <a:endParaRPr lang="da-DK" sz="975" b="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r" rtl="0" fontAlgn="ctr">
                        <a:buNone/>
                      </a:pPr>
                      <a:r>
                        <a:rPr lang="da-DK" sz="975" b="0" i="0" u="none" strike="noStrike" noProof="0">
                          <a:solidFill>
                            <a:srgbClr val="1B4528"/>
                          </a:solidFill>
                          <a:effectLst/>
                          <a:latin typeface="Inter"/>
                        </a:rPr>
                        <a:t>{{basic_module?}}</a:t>
                      </a:r>
                      <a:endParaRPr lang="da-DK" sz="975"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4240345905"/>
                  </a:ext>
                </a:extLst>
              </a:tr>
              <a:tr h="53916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a-DK" sz="975" b="0" kern="1200" spc="-10" noProof="0">
                          <a:solidFill>
                            <a:schemeClr val="tx2"/>
                          </a:solidFill>
                          <a:latin typeface="+mn-lt"/>
                          <a:ea typeface="+mn-ea"/>
                          <a:cs typeface="+mn-cs"/>
                        </a:rPr>
                        <a:t xml:space="preserve">Opgørelsen er baseret på </a:t>
                      </a:r>
                      <a:r>
                        <a:rPr lang="da-DK" sz="975" b="1" kern="1200" spc="-10" noProof="0">
                          <a:solidFill>
                            <a:schemeClr val="tx2"/>
                          </a:solidFill>
                          <a:latin typeface="+mn-lt"/>
                          <a:ea typeface="+mn-ea"/>
                          <a:cs typeface="+mn-cs"/>
                        </a:rPr>
                        <a:t xml:space="preserve">Basismodulet</a:t>
                      </a:r>
                      <a:r>
                        <a:rPr lang="da-DK" sz="975" b="0" kern="1200" spc="-10" noProof="0">
                          <a:solidFill>
                            <a:schemeClr val="tx2"/>
                          </a:solidFill>
                          <a:latin typeface="+mn-lt"/>
                          <a:ea typeface="+mn-ea"/>
                          <a:cs typeface="+mn-cs"/>
                        </a:rPr>
                        <a:t xml:space="preserve"> og </a:t>
                      </a:r>
                      <a:r>
                        <a:rPr lang="da-DK" sz="975" b="1" kern="1200" spc="-10" noProof="0">
                          <a:solidFill>
                            <a:schemeClr val="tx2"/>
                          </a:solidFill>
                          <a:latin typeface="+mn-lt"/>
                          <a:ea typeface="+mn-ea"/>
                          <a:cs typeface="+mn-cs"/>
                        </a:rPr>
                        <a:t xml:space="preserve">Udvidet Modul </a:t>
                      </a:r>
                      <a:r>
                        <a:rPr lang="da-DK" sz="975" b="0" kern="1200" spc="-10" noProof="0">
                          <a:solidFill>
                            <a:schemeClr val="tx2"/>
                          </a:solidFill>
                          <a:latin typeface="+mn-lt"/>
                          <a:ea typeface="+mn-ea"/>
                          <a:cs typeface="+mn-cs"/>
                        </a:rPr>
                        <a:t xml:space="preserve">i den frivillige SMV-standard</a:t>
                      </a:r>
                      <a:endParaRPr lang="da-DK" sz="975" b="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r" rtl="0" fontAlgn="ctr">
                        <a:buNone/>
                      </a:pPr>
                      <a:r>
                        <a:rPr lang="da-DK" sz="975" b="0" i="0" u="none" strike="noStrike" noProof="0">
                          <a:solidFill>
                            <a:srgbClr val="1B4528"/>
                          </a:solidFill>
                          <a:effectLst/>
                          <a:latin typeface="Inter"/>
                        </a:rPr>
                        <a:t>{{comprehensive?}}</a:t>
                      </a:r>
                      <a:endParaRPr lang="da-DK" sz="975"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369514074"/>
                  </a:ext>
                </a:extLst>
              </a:tr>
            </a:tbl>
          </a:graphicData>
        </a:graphic>
      </p:graphicFrame>
      <p:sp>
        <p:nvSpPr>
          <p:cNvPr id="10" name="Tekstfelt 9">
            <a:extLst>
              <a:ext uri="{FF2B5EF4-FFF2-40B4-BE49-F238E27FC236}">
                <a16:creationId xmlns:a16="http://schemas.microsoft.com/office/drawing/2014/main" id="{08CE8BB8-760E-14A7-E273-1C19DEAB1C88}"/>
              </a:ext>
            </a:extLst>
          </p:cNvPr>
          <p:cNvSpPr txBox="1"/>
          <p:nvPr/>
        </p:nvSpPr>
        <p:spPr>
          <a:xfrm>
            <a:off x="411480" y="1287528"/>
            <a:ext cx="6737040" cy="846352"/>
          </a:xfrm>
          <a:prstGeom prst="rect">
            <a:avLst/>
          </a:prstGeom>
          <a:noFill/>
        </p:spPr>
        <p:txBody>
          <a:bodyPr wrap="square">
            <a:spAutoFit/>
          </a:bodyPr>
          <a:lstStyle/>
          <a:p>
            <a:pPr rtl="0">
              <a:buNone/>
            </a:pPr>
            <a:r>
              <a:rPr lang="da-DK" sz="975" b="0" i="0" u="none" strike="noStrike" noProof="0">
                <a:solidFill>
                  <a:schemeClr val="tx2"/>
                </a:solidFill>
                <a:effectLst/>
                <a:latin typeface="Inter"/>
              </a:rPr>
              <a:t xml:space="preserve">Virksomheden har udarbejdet deres bæredygtighedsrapport gennem VS standarden, som følger en struktureret tilgang for at sikre, at de nødvendige oplysninger rapporteres standardiseret og gennemsigtigt. Rapporten afspejles af de bæredygtighedsmoduler, der er udvalgt og dækket af virksomheden. Derudover er det angivet, om bæredygtighedsrapporten udarbejdes på individuel basis (kun virksomhedens egne data) eller på konsolideret basis. Dette afsnit indeholder grundlæggende oplysninger om virksomheden, f.eks. dens retlige form, NACE-sektorkode(r), balancestørrelse og omsætning, antal ansatte samt oplysninger om virksomhedens primære driftsland og placeringen af andre væsentlige aktiver.</a:t>
            </a:r>
            <a:endParaRPr lang="da-DK" sz="975" b="0" noProof="0">
              <a:solidFill>
                <a:schemeClr val="tx2"/>
              </a:solidFill>
              <a:effectLst/>
            </a:endParaRPr>
          </a:p>
        </p:txBody>
      </p:sp>
      <p:graphicFrame>
        <p:nvGraphicFramePr>
          <p:cNvPr id="13" name="Table 2">
            <a:extLst>
              <a:ext uri="{FF2B5EF4-FFF2-40B4-BE49-F238E27FC236}">
                <a16:creationId xmlns:a16="http://schemas.microsoft.com/office/drawing/2014/main" id="{34E7B75C-B2E3-1B8A-2080-FEF363E738AC}"/>
              </a:ext>
            </a:extLst>
          </p:cNvPr>
          <p:cNvGraphicFramePr>
            <a:graphicFrameLocks noGrp="1"/>
          </p:cNvGraphicFramePr>
          <p:nvPr>
            <p:extLst>
              <p:ext uri="{D42A27DB-BD31-4B8C-83A1-F6EECF244321}">
                <p14:modId xmlns:p14="http://schemas.microsoft.com/office/powerpoint/2010/main" val="3921828815"/>
              </p:ext>
            </p:extLst>
          </p:nvPr>
        </p:nvGraphicFramePr>
        <p:xfrm>
          <a:off x="3853152" y="4091258"/>
          <a:ext cx="3295368" cy="2074345"/>
        </p:xfrm>
        <a:graphic>
          <a:graphicData uri="http://schemas.openxmlformats.org/drawingml/2006/table">
            <a:tbl>
              <a:tblPr firstRow="1">
                <a:tableStyleId>{2A488322-F2BA-4B5B-9748-0D474271808F}</a:tableStyleId>
              </a:tblPr>
              <a:tblGrid>
                <a:gridCol w="1523870">
                  <a:extLst>
                    <a:ext uri="{9D8B030D-6E8A-4147-A177-3AD203B41FA5}">
                      <a16:colId xmlns:a16="http://schemas.microsoft.com/office/drawing/2014/main" val="1902117154"/>
                    </a:ext>
                  </a:extLst>
                </a:gridCol>
                <a:gridCol w="1771498">
                  <a:extLst>
                    <a:ext uri="{9D8B030D-6E8A-4147-A177-3AD203B41FA5}">
                      <a16:colId xmlns:a16="http://schemas.microsoft.com/office/drawing/2014/main" val="1904521774"/>
                    </a:ext>
                  </a:extLst>
                </a:gridCol>
              </a:tblGrid>
              <a:tr h="206590">
                <a:tc gridSpan="2">
                  <a:txBody>
                    <a:bodyPr/>
                    <a:lstStyle/>
                    <a:p>
                      <a:pPr algn="l"/>
                      <a:r>
                        <a:rPr lang="da-DK" sz="975" b="1" kern="1200" spc="-10" noProof="0">
                          <a:solidFill>
                            <a:schemeClr val="tx2"/>
                          </a:solidFill>
                          <a:latin typeface="+mn-lt"/>
                          <a:ea typeface="+mn-ea"/>
                          <a:cs typeface="+mn-cs"/>
                        </a:rPr>
                        <a:t xml:space="preserve">Grundlæggende informationer om </a:t>
                      </a:r>
                      <a:r>
                        <a:rPr lang="da-DK" sz="975" b="0" kern="1200" spc="-10" noProof="0">
                          <a:solidFill>
                            <a:schemeClr val="tx2"/>
                          </a:solidFill>
                          <a:latin typeface="+mn-lt"/>
                          <a:ea typeface="+mn-ea"/>
                          <a:cs typeface="+mn-cs"/>
                        </a:rPr>
                        <a:t xml:space="preserve"> (pkt. 27e, i-v)</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3642311251"/>
                  </a:ext>
                </a:extLst>
              </a:tr>
              <a:tr h="585757">
                <a:tc>
                  <a:txBody>
                    <a:bodyPr/>
                    <a:lstStyle/>
                    <a:p>
                      <a:pPr algn="l"/>
                      <a:r>
                        <a:rPr lang="da-DK" sz="975" b="1" kern="1200" spc="-10" noProof="0">
                          <a:solidFill>
                            <a:schemeClr val="tx2"/>
                          </a:solidFill>
                          <a:latin typeface="+mn-lt"/>
                          <a:ea typeface="+mn-ea"/>
                          <a:cs typeface="+mn-cs"/>
                        </a:rPr>
                        <a:t xml:space="preserve">Virksomhedsform</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r">
                        <a:buNone/>
                      </a:pPr>
                      <a:r>
                        <a:rPr lang="da-DK" sz="975" b="0" i="0" u="none" strike="noStrike" noProof="0">
                          <a:solidFill>
                            <a:srgbClr val="1B4528"/>
                          </a:solidFill>
                          <a:effectLst/>
                          <a:latin typeface="Inter"/>
                        </a:rPr>
                        <a:t>{{branchekode}}</a:t>
                      </a:r>
                      <a:endParaRPr lang="da-DK" sz="975" b="0" noProof="0">
                        <a:effectLst/>
                      </a:endParaRPr>
                    </a:p>
                  </a:txBody>
                  <a:tcPr marL="31749" marR="31749" marT="21166" marB="2116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80349995"/>
                  </a:ext>
                </a:extLst>
              </a:tr>
              <a:tr h="3594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a-DK" sz="975" b="1" kern="1200" spc="-10" noProof="0">
                          <a:solidFill>
                            <a:schemeClr val="tx2"/>
                          </a:solidFill>
                          <a:latin typeface="+mn-lt"/>
                          <a:ea typeface="+mn-ea"/>
                          <a:cs typeface="+mn-cs"/>
                        </a:rPr>
                        <a:t xml:space="preserve">NACE sektor kode(r)</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r">
                        <a:buNone/>
                      </a:pPr>
                      <a:r>
                        <a:rPr lang="da-DK" sz="975" b="0" i="0" u="none" strike="noStrike" noProof="0">
                          <a:solidFill>
                            <a:srgbClr val="1B4528"/>
                          </a:solidFill>
                          <a:effectLst/>
                          <a:latin typeface="Inter"/>
                        </a:rPr>
                        <a:t>{{NACE}}</a:t>
                      </a:r>
                      <a:endParaRPr lang="da-DK" sz="975" noProof="0">
                        <a:effectLst/>
                      </a:endParaRPr>
                    </a:p>
                  </a:txBody>
                  <a:tcPr marL="31749" marR="31749" marT="21166" marB="2116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940256071"/>
                  </a:ext>
                </a:extLst>
              </a:tr>
              <a:tr h="35482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a-DK" sz="975" b="1" kern="1200" spc="-10" noProof="0">
                          <a:solidFill>
                            <a:schemeClr val="tx2"/>
                          </a:solidFill>
                          <a:latin typeface="+mn-lt"/>
                          <a:ea typeface="+mn-ea"/>
                          <a:cs typeface="+mn-cs"/>
                        </a:rPr>
                        <a:t xml:space="preserve">Balancesum (i Euro eller dk)</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r">
                        <a:buNone/>
                      </a:pPr>
                      <a:r>
                        <a:rPr lang="da-DK" sz="975" b="0" i="0" u="none" strike="noStrike" noProof="0">
                          <a:solidFill>
                            <a:srgbClr val="1B4528"/>
                          </a:solidFill>
                          <a:effectLst/>
                          <a:latin typeface="Inter"/>
                        </a:rPr>
                        <a:t>{{balance}}</a:t>
                      </a:r>
                      <a:endParaRPr lang="da-DK" sz="975" noProof="0">
                        <a:effectLst/>
                      </a:endParaRPr>
                    </a:p>
                  </a:txBody>
                  <a:tcPr marL="31749" marR="31749" marT="21166" marB="2116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2442156864"/>
                  </a:ext>
                </a:extLst>
              </a:tr>
              <a:tr h="354821">
                <a:tc>
                  <a:txBody>
                    <a:bodyPr/>
                    <a:lstStyle/>
                    <a:p>
                      <a:pPr algn="l"/>
                      <a:r>
                        <a:rPr lang="da-DK" sz="975" b="1" kern="1200" spc="-10" noProof="0">
                          <a:solidFill>
                            <a:schemeClr val="tx2"/>
                          </a:solidFill>
                          <a:latin typeface="+mn-lt"/>
                          <a:ea typeface="+mn-ea"/>
                          <a:cs typeface="+mn-cs"/>
                        </a:rPr>
                        <a:t>Omsætning (i Euro eller dk)</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r">
                        <a:buNone/>
                      </a:pPr>
                      <a:r>
                        <a:rPr lang="da-DK" sz="975" b="0" i="0" u="none" strike="noStrike" noProof="0">
                          <a:solidFill>
                            <a:srgbClr val="1B4528"/>
                          </a:solidFill>
                          <a:effectLst/>
                          <a:latin typeface="Inter"/>
                        </a:rPr>
                        <a:t>{{revenue}}</a:t>
                      </a:r>
                      <a:endParaRPr lang="da-DK" sz="975" noProof="0">
                        <a:effectLst/>
                      </a:endParaRPr>
                    </a:p>
                  </a:txBody>
                  <a:tcPr marL="31749" marR="31749" marT="21166" marB="2116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975682954"/>
                  </a:ext>
                </a:extLst>
              </a:tr>
              <a:tr h="206590">
                <a:tc>
                  <a:txBody>
                    <a:bodyPr/>
                    <a:lstStyle/>
                    <a:p>
                      <a:pPr algn="l"/>
                      <a:r>
                        <a:rPr lang="da-DK" sz="975" b="1" kern="1200" spc="-10" noProof="0">
                          <a:solidFill>
                            <a:schemeClr val="tx2"/>
                          </a:solidFill>
                          <a:latin typeface="+mn-lt"/>
                          <a:ea typeface="+mn-ea"/>
                          <a:cs typeface="+mn-cs"/>
                        </a:rPr>
                        <a:t xml:space="preserve">Antal ansatte </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r">
                        <a:buNone/>
                      </a:pPr>
                      <a:r>
                        <a:rPr lang="da-DK" sz="975" b="0" i="0" u="none" strike="noStrike" noProof="0">
                          <a:solidFill>
                            <a:srgbClr val="1B4528"/>
                          </a:solidFill>
                          <a:effectLst/>
                          <a:latin typeface="Inter"/>
                        </a:rPr>
                        <a:t>{{total_employees}}</a:t>
                      </a:r>
                      <a:endParaRPr lang="da-DK" sz="975" noProof="0">
                        <a:effectLst/>
                      </a:endParaRPr>
                    </a:p>
                  </a:txBody>
                  <a:tcPr marL="31749" marR="31749" marT="21166" marB="2116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378571433"/>
                  </a:ext>
                </a:extLst>
              </a:tr>
            </a:tbl>
          </a:graphicData>
        </a:graphic>
      </p:graphicFrame>
      <p:graphicFrame>
        <p:nvGraphicFramePr>
          <p:cNvPr id="17" name="Tabel 16">
            <a:extLst>
              <a:ext uri="{FF2B5EF4-FFF2-40B4-BE49-F238E27FC236}">
                <a16:creationId xmlns:a16="http://schemas.microsoft.com/office/drawing/2014/main" id="{13BBF8C9-04F7-33C5-AAA0-F953F0D5DFD7}"/>
              </a:ext>
            </a:extLst>
          </p:cNvPr>
          <p:cNvGraphicFramePr>
            <a:graphicFrameLocks noGrp="1"/>
          </p:cNvGraphicFramePr>
          <p:nvPr>
            <p:extLst>
              <p:ext uri="{D42A27DB-BD31-4B8C-83A1-F6EECF244321}">
                <p14:modId xmlns:p14="http://schemas.microsoft.com/office/powerpoint/2010/main" val="1366799974"/>
              </p:ext>
            </p:extLst>
          </p:nvPr>
        </p:nvGraphicFramePr>
        <p:xfrm>
          <a:off x="3853152" y="2463605"/>
          <a:ext cx="3295368" cy="1336743"/>
        </p:xfrm>
        <a:graphic>
          <a:graphicData uri="http://schemas.openxmlformats.org/drawingml/2006/table">
            <a:tbl>
              <a:tblPr firstRow="1">
                <a:tableStyleId>{2A488322-F2BA-4B5B-9748-0D474271808F}</a:tableStyleId>
              </a:tblPr>
              <a:tblGrid>
                <a:gridCol w="1523870">
                  <a:extLst>
                    <a:ext uri="{9D8B030D-6E8A-4147-A177-3AD203B41FA5}">
                      <a16:colId xmlns:a16="http://schemas.microsoft.com/office/drawing/2014/main" val="613205895"/>
                    </a:ext>
                  </a:extLst>
                </a:gridCol>
                <a:gridCol w="1771498">
                  <a:extLst>
                    <a:ext uri="{9D8B030D-6E8A-4147-A177-3AD203B41FA5}">
                      <a16:colId xmlns:a16="http://schemas.microsoft.com/office/drawing/2014/main" val="2415866723"/>
                    </a:ext>
                  </a:extLst>
                </a:gridCol>
              </a:tblGrid>
              <a:tr h="409653">
                <a:tc gridSpan="2">
                  <a:txBody>
                    <a:bodyPr/>
                    <a:lstStyle/>
                    <a:p>
                      <a:pPr algn="l"/>
                      <a:r>
                        <a:rPr lang="da-DK" sz="975" b="1" kern="1200" spc="-10" noProof="0">
                          <a:solidFill>
                            <a:schemeClr val="tx2"/>
                          </a:solidFill>
                          <a:latin typeface="+mn-lt"/>
                          <a:ea typeface="+mn-ea"/>
                          <a:cs typeface="+mn-cs"/>
                        </a:rPr>
                        <a:t xml:space="preserve">ESG-opgørelsen indeholder udeladelser grundet sensitiv forretningsinformation </a:t>
                      </a:r>
                      <a:r>
                        <a:rPr lang="da-DK" sz="975" b="0" kern="1200" spc="-10" noProof="0">
                          <a:solidFill>
                            <a:schemeClr val="tx2"/>
                          </a:solidFill>
                          <a:latin typeface="+mn-lt"/>
                          <a:ea typeface="+mn-ea"/>
                          <a:cs typeface="+mn-cs"/>
                        </a:rPr>
                        <a:t xml:space="preserve">(pkt. 27b)</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176069134"/>
                  </a:ext>
                </a:extLst>
              </a:tr>
              <a:tr h="92709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da-DK" sz="725" b="0" kern="1200" spc="-10" noProof="0" dirty="0">
                        <a:solidFill>
                          <a:schemeClr val="tx2"/>
                        </a:solidFill>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da-DK" sz="975" b="0" kern="1200" spc="-10" noProof="0">
                          <a:solidFill>
                            <a:schemeClr val="tx2"/>
                          </a:solidFill>
                          <a:latin typeface="+mn-lt"/>
                          <a:ea typeface="+mn-ea"/>
                          <a:cs typeface="+mn-cs"/>
                        </a:rPr>
                        <a:t xml:space="preserve">Følgende oplysnings-punkter er udeladt</a:t>
                      </a:r>
                    </a:p>
                    <a:p>
                      <a:pPr algn="l"/>
                      <a:endParaRPr lang="da-DK" sz="725" b="1" kern="1200" spc="-10" noProof="0" dirty="0">
                        <a:solidFill>
                          <a:schemeClr val="tx2"/>
                        </a:solidFill>
                        <a:latin typeface="+mn-lt"/>
                        <a:ea typeface="+mn-ea"/>
                        <a:cs typeface="+mn-cs"/>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r"/>
                      <a:r>
                        <a:rPr lang="da-DK" sz="975" noProof="0">
                          <a:solidFill>
                            <a:srgbClr val="1B4528"/>
                          </a:solidFill>
                          <a:latin typeface="+mn-lt"/>
                          <a:cs typeface="Calibri" panose="020F0502020204030204" pitchFamily="34" charset="0"/>
                        </a:rPr>
                        <a:t>{{</a:t>
                      </a:r>
                      <a:r>
                        <a:rPr lang="da-DK" sz="975" noProof="0">
                          <a:solidFill>
                            <a:srgbClr val="1B4528"/>
                          </a:solidFill>
                          <a:latin typeface="+mn-lt"/>
                          <a:cs typeface="Calibri" panose="020F0502020204030204" pitchFamily="34" charset="0"/>
                        </a:rPr>
                        <a:t>confidentiality_info</a:t>
                      </a:r>
                      <a:r>
                        <a:rPr lang="da-DK" sz="975" noProof="0">
                          <a:solidFill>
                            <a:srgbClr val="1B4528"/>
                          </a:solidFill>
                          <a:latin typeface="+mn-lt"/>
                          <a:cs typeface="Calibri" panose="020F0502020204030204" pitchFamily="34" charset="0"/>
                        </a:rPr>
                        <a:t>}}</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3674898051"/>
                  </a:ext>
                </a:extLst>
              </a:tr>
            </a:tbl>
          </a:graphicData>
        </a:graphic>
      </p:graphicFrame>
      <p:pic>
        <p:nvPicPr>
          <p:cNvPr id="7" name="Graphic 10">
            <a:extLst>
              <a:ext uri="{FF2B5EF4-FFF2-40B4-BE49-F238E27FC236}">
                <a16:creationId xmlns:a16="http://schemas.microsoft.com/office/drawing/2014/main" id="{B7787C85-A727-F625-AB96-75DC598E5686}"/>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11480" y="6507074"/>
            <a:ext cx="6737040" cy="193826"/>
          </a:xfrm>
          <a:prstGeom prst="rect">
            <a:avLst/>
          </a:prstGeom>
        </p:spPr>
      </p:pic>
      <p:graphicFrame>
        <p:nvGraphicFramePr>
          <p:cNvPr id="11" name="Tabel 10">
            <a:extLst>
              <a:ext uri="{FF2B5EF4-FFF2-40B4-BE49-F238E27FC236}">
                <a16:creationId xmlns:a16="http://schemas.microsoft.com/office/drawing/2014/main" id="{B9D30E23-F89B-8050-32F5-223B5B3C1DCD}"/>
              </a:ext>
            </a:extLst>
          </p:cNvPr>
          <p:cNvGraphicFramePr>
            <a:graphicFrameLocks noGrp="1"/>
          </p:cNvGraphicFramePr>
          <p:nvPr>
            <p:extLst>
              <p:ext uri="{D42A27DB-BD31-4B8C-83A1-F6EECF244321}">
                <p14:modId xmlns:p14="http://schemas.microsoft.com/office/powerpoint/2010/main" val="3088782911"/>
              </p:ext>
            </p:extLst>
          </p:nvPr>
        </p:nvGraphicFramePr>
        <p:xfrm>
          <a:off x="411480" y="9144051"/>
          <a:ext cx="6737040" cy="686106"/>
        </p:xfrm>
        <a:graphic>
          <a:graphicData uri="http://schemas.openxmlformats.org/drawingml/2006/table">
            <a:tbl>
              <a:tblPr firstRow="1">
                <a:tableStyleId>{2A488322-F2BA-4B5B-9748-0D474271808F}</a:tableStyleId>
              </a:tblPr>
              <a:tblGrid>
                <a:gridCol w="2316045">
                  <a:extLst>
                    <a:ext uri="{9D8B030D-6E8A-4147-A177-3AD203B41FA5}">
                      <a16:colId xmlns:a16="http://schemas.microsoft.com/office/drawing/2014/main" val="3746818765"/>
                    </a:ext>
                  </a:extLst>
                </a:gridCol>
                <a:gridCol w="2222875">
                  <a:extLst>
                    <a:ext uri="{9D8B030D-6E8A-4147-A177-3AD203B41FA5}">
                      <a16:colId xmlns:a16="http://schemas.microsoft.com/office/drawing/2014/main" val="465692987"/>
                    </a:ext>
                  </a:extLst>
                </a:gridCol>
                <a:gridCol w="1172530">
                  <a:extLst>
                    <a:ext uri="{9D8B030D-6E8A-4147-A177-3AD203B41FA5}">
                      <a16:colId xmlns:a16="http://schemas.microsoft.com/office/drawing/2014/main" val="857047578"/>
                    </a:ext>
                  </a:extLst>
                </a:gridCol>
                <a:gridCol w="1025590">
                  <a:extLst>
                    <a:ext uri="{9D8B030D-6E8A-4147-A177-3AD203B41FA5}">
                      <a16:colId xmlns:a16="http://schemas.microsoft.com/office/drawing/2014/main" val="1742107540"/>
                    </a:ext>
                  </a:extLst>
                </a:gridCol>
              </a:tblGrid>
              <a:tr h="209992">
                <a:tc>
                  <a:txBody>
                    <a:bodyPr/>
                    <a:lstStyle/>
                    <a:p>
                      <a:r>
                        <a:rPr lang="da-DK" sz="975" b="1" kern="1200" spc="-10" noProof="0">
                          <a:solidFill>
                            <a:schemeClr val="tx2"/>
                          </a:solidFill>
                          <a:latin typeface="+mn-lt"/>
                          <a:ea typeface="+mn-ea"/>
                          <a:cs typeface="+mn-cs"/>
                        </a:rPr>
                        <a:t xml:space="preserve">Navn på ESG-certifikat/miljømærke </a:t>
                      </a:r>
                      <a:r>
                        <a:rPr lang="da-DK" sz="975" b="0" kern="1200" spc="-10" noProof="0">
                          <a:solidFill>
                            <a:schemeClr val="tx2"/>
                          </a:solidFill>
                          <a:latin typeface="+mn-lt"/>
                          <a:ea typeface="+mn-ea"/>
                          <a:cs typeface="+mn-cs"/>
                        </a:rPr>
                        <a:t xml:space="preserve">(pkt. 28)</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algn="l"/>
                      <a:r>
                        <a:rPr lang="da-DK" sz="975" b="1" kern="1200" spc="-10" noProof="0">
                          <a:solidFill>
                            <a:schemeClr val="tx2"/>
                          </a:solidFill>
                          <a:latin typeface="+mn-lt"/>
                          <a:ea typeface="+mn-ea"/>
                          <a:cs typeface="+mn-cs"/>
                        </a:rPr>
                        <a:t xml:space="preserve">Kort beskrivelse</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algn="l"/>
                      <a:r>
                        <a:rPr lang="da-DK" sz="975" b="1" kern="1200" spc="-10" noProof="0">
                          <a:solidFill>
                            <a:schemeClr val="tx2"/>
                          </a:solidFill>
                          <a:latin typeface="+mn-lt"/>
                          <a:ea typeface="+mn-ea"/>
                          <a:cs typeface="+mn-cs"/>
                        </a:rPr>
                        <a:t xml:space="preserve">Dato for udstedelse/</a:t>
                      </a:r>
                    </a:p>
                    <a:p>
                      <a:pPr algn="l"/>
                      <a:r>
                        <a:rPr lang="da-DK" sz="975" b="1" kern="1200" spc="-10" noProof="0">
                          <a:solidFill>
                            <a:schemeClr val="tx2"/>
                          </a:solidFill>
                          <a:latin typeface="+mn-lt"/>
                          <a:ea typeface="+mn-ea"/>
                          <a:cs typeface="+mn-cs"/>
                        </a:rPr>
                        <a:t xml:space="preserve">gyldighed</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algn="l"/>
                      <a:r>
                        <a:rPr lang="da-DK" sz="975" b="1" kern="1200" spc="-10" noProof="0">
                          <a:solidFill>
                            <a:schemeClr val="tx2"/>
                          </a:solidFill>
                          <a:latin typeface="+mn-lt"/>
                          <a:ea typeface="+mn-ea"/>
                          <a:cs typeface="+mn-cs"/>
                        </a:rPr>
                        <a:t xml:space="preserve">Evt. rating</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613430332"/>
                  </a:ext>
                </a:extLst>
              </a:tr>
              <a:tr h="209992">
                <a:tc>
                  <a:txBody>
                    <a:bodyPr/>
                    <a:lstStyle/>
                    <a:p>
                      <a:pPr rtl="0" fontAlgn="ctr" algn="l">
                        <a:buNone/>
                      </a:pPr>
                      <a:r>
                        <a:rPr lang="da-DK" sz="975" b="0" i="0" u="none" strike="noStrike" noProof="0">
                          <a:solidFill>
                            <a:srgbClr val="1B4528"/>
                          </a:solidFill>
                          <a:effectLst/>
                          <a:latin typeface="Inter"/>
                        </a:rPr>
                        <a:t>{{certificate_or_ecolabel}}</a:t>
                      </a:r>
                      <a:endParaRPr lang="da-DK"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ctr" algn="l">
                        <a:buNone/>
                      </a:pPr>
                      <a:r>
                        <a:rPr lang="da-DK" sz="975" b="0" i="0" u="none" strike="noStrike" noProof="0">
                          <a:solidFill>
                            <a:srgbClr val="1B4528"/>
                          </a:solidFill>
                          <a:effectLst/>
                          <a:latin typeface="Inter"/>
                        </a:rPr>
                        <a:t>{{description_certificate}}</a:t>
                      </a:r>
                      <a:endParaRPr lang="da-DK"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ctr" algn="l">
                        <a:buNone/>
                      </a:pPr>
                      <a:r>
                        <a:rPr lang="da-DK" sz="975" b="0" i="0" u="none" strike="noStrike" noProof="0">
                          <a:solidFill>
                            <a:srgbClr val="1B4528"/>
                          </a:solidFill>
                          <a:effectLst/>
                          <a:latin typeface="Inter"/>
                        </a:rPr>
                        <a:t>{{</a:t>
                      </a:r>
                      <a:r>
                        <a:rPr lang="da-DK" sz="975" b="0" i="0" u="none" strike="noStrike" noProof="0">
                          <a:solidFill>
                            <a:srgbClr val="1B4528"/>
                          </a:solidFill>
                          <a:effectLst/>
                          <a:latin typeface="Inter"/>
                        </a:rPr>
                        <a:t>date_certicate</a:t>
                      </a:r>
                      <a:r>
                        <a:rPr lang="da-DK" sz="975" b="0" i="0" u="none" strike="noStrike" noProof="0">
                          <a:solidFill>
                            <a:srgbClr val="1B4528"/>
                          </a:solidFill>
                          <a:effectLst/>
                          <a:latin typeface="Inter"/>
                        </a:rPr>
                        <a:t>}}</a:t>
                      </a:r>
                      <a:endParaRPr lang="da-DK" sz="975" b="0" noProof="0" dirty="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ctr" algn="l">
                        <a:buNone/>
                      </a:pPr>
                      <a:r>
                        <a:rPr lang="da-DK" sz="975" b="0" i="0" u="none" strike="noStrike" noProof="0">
                          <a:solidFill>
                            <a:srgbClr val="1B4528"/>
                          </a:solidFill>
                          <a:effectLst/>
                          <a:latin typeface="Inter"/>
                        </a:rPr>
                        <a:t>{{</a:t>
                      </a:r>
                      <a:r>
                        <a:rPr lang="da-DK" sz="975" b="0" i="0" u="none" strike="noStrike" noProof="0">
                          <a:solidFill>
                            <a:srgbClr val="1B4528"/>
                          </a:solidFill>
                          <a:effectLst/>
                          <a:latin typeface="Inter"/>
                        </a:rPr>
                        <a:t>certiciate_possible_rating</a:t>
                      </a:r>
                      <a:r>
                        <a:rPr lang="da-DK" sz="975" b="0" i="0" u="none" strike="noStrike" noProof="0">
                          <a:solidFill>
                            <a:srgbClr val="1B4528"/>
                          </a:solidFill>
                          <a:effectLst/>
                          <a:latin typeface="Inter"/>
                        </a:rPr>
                        <a:t>}}</a:t>
                      </a:r>
                      <a:endParaRPr lang="da-DK" sz="975" b="0" noProof="0" dirty="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95006062"/>
                  </a:ext>
                </a:extLst>
              </a:tr>
            </a:tbl>
          </a:graphicData>
        </a:graphic>
      </p:graphicFrame>
      <p:graphicFrame>
        <p:nvGraphicFramePr>
          <p:cNvPr id="14" name="Tabel 13">
            <a:extLst>
              <a:ext uri="{FF2B5EF4-FFF2-40B4-BE49-F238E27FC236}">
                <a16:creationId xmlns:a16="http://schemas.microsoft.com/office/drawing/2014/main" id="{6CA17681-1928-380D-D58C-D782D51253FF}"/>
              </a:ext>
            </a:extLst>
          </p:cNvPr>
          <p:cNvGraphicFramePr>
            <a:graphicFrameLocks noGrp="1"/>
          </p:cNvGraphicFramePr>
          <p:nvPr>
            <p:extLst>
              <p:ext uri="{D42A27DB-BD31-4B8C-83A1-F6EECF244321}">
                <p14:modId xmlns:p14="http://schemas.microsoft.com/office/powerpoint/2010/main" val="4040236016"/>
              </p:ext>
            </p:extLst>
          </p:nvPr>
        </p:nvGraphicFramePr>
        <p:xfrm>
          <a:off x="411480" y="7251210"/>
          <a:ext cx="6737040" cy="1181292"/>
        </p:xfrm>
        <a:graphic>
          <a:graphicData uri="http://schemas.openxmlformats.org/drawingml/2006/table">
            <a:tbl>
              <a:tblPr firstRow="1">
                <a:tableStyleId>{2A488322-F2BA-4B5B-9748-0D474271808F}</a:tableStyleId>
              </a:tblPr>
              <a:tblGrid>
                <a:gridCol w="1227849">
                  <a:extLst>
                    <a:ext uri="{9D8B030D-6E8A-4147-A177-3AD203B41FA5}">
                      <a16:colId xmlns:a16="http://schemas.microsoft.com/office/drawing/2014/main" val="2041236584"/>
                    </a:ext>
                  </a:extLst>
                </a:gridCol>
                <a:gridCol w="1303858">
                  <a:extLst>
                    <a:ext uri="{9D8B030D-6E8A-4147-A177-3AD203B41FA5}">
                      <a16:colId xmlns:a16="http://schemas.microsoft.com/office/drawing/2014/main" val="2637180759"/>
                    </a:ext>
                  </a:extLst>
                </a:gridCol>
                <a:gridCol w="996273">
                  <a:extLst>
                    <a:ext uri="{9D8B030D-6E8A-4147-A177-3AD203B41FA5}">
                      <a16:colId xmlns:a16="http://schemas.microsoft.com/office/drawing/2014/main" val="1126871569"/>
                    </a:ext>
                  </a:extLst>
                </a:gridCol>
                <a:gridCol w="973628">
                  <a:extLst>
                    <a:ext uri="{9D8B030D-6E8A-4147-A177-3AD203B41FA5}">
                      <a16:colId xmlns:a16="http://schemas.microsoft.com/office/drawing/2014/main" val="573454477"/>
                    </a:ext>
                  </a:extLst>
                </a:gridCol>
                <a:gridCol w="1079296">
                  <a:extLst>
                    <a:ext uri="{9D8B030D-6E8A-4147-A177-3AD203B41FA5}">
                      <a16:colId xmlns:a16="http://schemas.microsoft.com/office/drawing/2014/main" val="3277283369"/>
                    </a:ext>
                  </a:extLst>
                </a:gridCol>
                <a:gridCol w="1156136">
                  <a:extLst>
                    <a:ext uri="{9D8B030D-6E8A-4147-A177-3AD203B41FA5}">
                      <a16:colId xmlns:a16="http://schemas.microsoft.com/office/drawing/2014/main" val="3975353283"/>
                    </a:ext>
                  </a:extLst>
                </a:gridCol>
              </a:tblGrid>
              <a:tr h="269989">
                <a:tc gridSpan="6">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a-DK" sz="975" b="1" kern="1200" spc="-10" noProof="0">
                          <a:solidFill>
                            <a:schemeClr val="tx2"/>
                          </a:solidFill>
                          <a:latin typeface="+mn-lt"/>
                          <a:ea typeface="+mn-ea"/>
                          <a:cs typeface="+mn-cs"/>
                        </a:rPr>
                        <a:t xml:space="preserve">Adresser og geolokation på </a:t>
                      </a:r>
                      <a:r>
                        <a:rPr lang="da-DK" sz="975" b="1" u="none" kern="1200" spc="-10" noProof="0">
                          <a:solidFill>
                            <a:schemeClr val="tx2"/>
                          </a:solidFill>
                          <a:latin typeface="+mn-lt"/>
                          <a:ea typeface="+mn-ea"/>
                          <a:cs typeface="+mn-cs"/>
                        </a:rPr>
                        <a:t xml:space="preserve">væsentlige</a:t>
                      </a:r>
                      <a:r>
                        <a:rPr lang="da-DK" sz="975" b="1" kern="1200" spc="-10" noProof="0">
                          <a:solidFill>
                            <a:schemeClr val="tx2"/>
                          </a:solidFill>
                          <a:latin typeface="+mn-lt"/>
                          <a:ea typeface="+mn-ea"/>
                          <a:cs typeface="+mn-cs"/>
                        </a:rPr>
                        <a:t xml:space="preserve"> aktiver og anlæg, som virksomheden</a:t>
                      </a:r>
                      <a:r>
                        <a:rPr lang="da-DK" sz="975" b="0" kern="1200" spc="-10" noProof="0">
                          <a:solidFill>
                            <a:schemeClr val="tx2"/>
                          </a:solidFill>
                          <a:latin typeface="+mn-lt"/>
                          <a:ea typeface="+mn-ea"/>
                          <a:cs typeface="+mn-cs"/>
                        </a:rPr>
                        <a:t> </a:t>
                      </a:r>
                      <a:r>
                        <a:rPr lang="da-DK" sz="975" b="1" kern="1200" spc="-10" noProof="0">
                          <a:solidFill>
                            <a:schemeClr val="tx2"/>
                          </a:solidFill>
                          <a:latin typeface="+mn-lt"/>
                          <a:ea typeface="+mn-ea"/>
                          <a:cs typeface="+mn-cs"/>
                        </a:rPr>
                        <a:t xml:space="preserve">ejer, lejer eller forvalter </a:t>
                      </a:r>
                      <a:r>
                        <a:rPr lang="da-DK" sz="975" b="0" kern="1200" spc="-10" noProof="0">
                          <a:solidFill>
                            <a:schemeClr val="tx2"/>
                          </a:solidFill>
                          <a:latin typeface="+mn-lt"/>
                          <a:ea typeface="+mn-ea"/>
                          <a:cs typeface="+mn-cs"/>
                        </a:rPr>
                        <a:t xml:space="preserve">(pkt. 27e, vi, vii)</a:t>
                      </a:r>
                    </a:p>
                    <a:p>
                      <a:pPr marL="0" marR="0" lvl="0" indent="0" algn="l" defTabSz="914400" rtl="0" eaLnBrk="1" fontAlgn="auto" latinLnBrk="0" hangingPunct="1">
                        <a:lnSpc>
                          <a:spcPct val="100000"/>
                        </a:lnSpc>
                        <a:spcBef>
                          <a:spcPts val="0"/>
                        </a:spcBef>
                        <a:spcAft>
                          <a:spcPts val="0"/>
                        </a:spcAft>
                        <a:buClrTx/>
                        <a:buSzTx/>
                        <a:buFontTx/>
                        <a:buNone/>
                        <a:tabLst/>
                        <a:defRPr/>
                      </a:pPr>
                      <a:endParaRPr lang="da-DK" sz="975" b="1" kern="1200" spc="-10" noProof="0" dirty="0">
                        <a:solidFill>
                          <a:schemeClr val="tx2"/>
                        </a:solidFill>
                        <a:latin typeface="+mn-lt"/>
                        <a:ea typeface="+mn-ea"/>
                        <a:cs typeface="+mn-cs"/>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pPr algn="l"/>
                      <a:endParaRPr lang="da-DK" sz="725" b="1" kern="1200" spc="-10" noProof="0">
                        <a:solidFill>
                          <a:schemeClr val="tx2"/>
                        </a:solidFill>
                        <a:latin typeface="+mn-lt"/>
                        <a:ea typeface="+mn-ea"/>
                        <a:cs typeface="+mn-cs"/>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pPr algn="l"/>
                      <a:endParaRPr lang="da-DK" sz="725" b="1" kern="1200" spc="-10" noProof="0">
                        <a:solidFill>
                          <a:schemeClr val="tx2"/>
                        </a:solidFill>
                        <a:latin typeface="+mn-lt"/>
                        <a:ea typeface="+mn-ea"/>
                        <a:cs typeface="+mn-cs"/>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pPr algn="l"/>
                      <a:endParaRPr lang="da-DK" sz="725" b="1" kern="1200" spc="-10" noProof="0">
                        <a:solidFill>
                          <a:schemeClr val="tx2"/>
                        </a:solidFill>
                        <a:latin typeface="+mn-lt"/>
                        <a:ea typeface="+mn-ea"/>
                        <a:cs typeface="+mn-cs"/>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pPr algn="l"/>
                      <a:endParaRPr lang="da-DK" sz="725" b="1" kern="1200" spc="-10" noProof="0">
                        <a:solidFill>
                          <a:schemeClr val="tx2"/>
                        </a:solidFill>
                        <a:latin typeface="+mn-lt"/>
                        <a:ea typeface="+mn-ea"/>
                        <a:cs typeface="+mn-cs"/>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pPr algn="l"/>
                      <a:endParaRPr lang="da-DK" sz="725" b="1" kern="1200" spc="-10" noProof="0">
                        <a:solidFill>
                          <a:schemeClr val="tx2"/>
                        </a:solidFill>
                        <a:latin typeface="+mn-lt"/>
                        <a:ea typeface="+mn-ea"/>
                        <a:cs typeface="+mn-cs"/>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extLst>
                  <a:ext uri="{0D108BD9-81ED-4DB2-BD59-A6C34878D82A}">
                    <a16:rowId xmlns:a16="http://schemas.microsoft.com/office/drawing/2014/main" val="2108498375"/>
                  </a:ext>
                </a:extLst>
              </a:tr>
              <a:tr h="269989">
                <a:tc>
                  <a:txBody>
                    <a:bodyPr/>
                    <a:lstStyle/>
                    <a:p>
                      <a:pPr algn="l"/>
                      <a:r>
                        <a:rPr lang="da-DK" sz="975" b="1" kern="1200" spc="-10" noProof="0">
                          <a:solidFill>
                            <a:schemeClr val="tx2"/>
                          </a:solidFill>
                          <a:latin typeface="+mn-lt"/>
                          <a:ea typeface="+mn-ea"/>
                          <a:cs typeface="+mn-cs"/>
                        </a:rPr>
                        <a:t xml:space="preserve">Sted</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da-DK" sz="975" b="1" kern="1200" spc="-10" noProof="0">
                          <a:solidFill>
                            <a:schemeClr val="tx2"/>
                          </a:solidFill>
                          <a:latin typeface="+mn-lt"/>
                          <a:ea typeface="+mn-ea"/>
                          <a:cs typeface="+mn-cs"/>
                        </a:rPr>
                        <a:t xml:space="preserve">Adresse</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da-DK" sz="975" b="1" kern="1200" spc="-10" noProof="0">
                          <a:solidFill>
                            <a:schemeClr val="tx2"/>
                          </a:solidFill>
                          <a:latin typeface="+mn-lt"/>
                          <a:ea typeface="+mn-ea"/>
                          <a:cs typeface="+mn-cs"/>
                        </a:rPr>
                        <a:t xml:space="preserve">Postnummer</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da-DK" sz="975" b="1" kern="1200" spc="-10" noProof="0">
                          <a:solidFill>
                            <a:schemeClr val="tx2"/>
                          </a:solidFill>
                          <a:latin typeface="+mn-lt"/>
                          <a:ea typeface="+mn-ea"/>
                          <a:cs typeface="+mn-cs"/>
                        </a:rPr>
                        <a:t xml:space="preserve">By</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da-DK" sz="975" b="1" kern="1200" spc="-10" noProof="0">
                          <a:solidFill>
                            <a:schemeClr val="tx2"/>
                          </a:solidFill>
                          <a:latin typeface="+mn-lt"/>
                          <a:ea typeface="+mn-ea"/>
                          <a:cs typeface="+mn-cs"/>
                        </a:rPr>
                        <a:t xml:space="preserve">Land</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da-DK" sz="975" b="1" kern="1200" spc="-10" noProof="0">
                          <a:solidFill>
                            <a:schemeClr val="tx2"/>
                          </a:solidFill>
                          <a:latin typeface="+mn-lt"/>
                          <a:ea typeface="+mn-ea"/>
                          <a:cs typeface="+mn-cs"/>
                        </a:rPr>
                        <a:t xml:space="preserve">Geolokation (koordinater)</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extLst>
                  <a:ext uri="{0D108BD9-81ED-4DB2-BD59-A6C34878D82A}">
                    <a16:rowId xmlns:a16="http://schemas.microsoft.com/office/drawing/2014/main" val="3282431150"/>
                  </a:ext>
                </a:extLst>
              </a:tr>
              <a:tr h="269989">
                <a:tc>
                  <a:txBody>
                    <a:bodyPr/>
                    <a:lstStyle/>
                    <a:p>
                      <a:pPr rtl="0" fontAlgn="t" algn="l">
                        <a:buNone/>
                      </a:pPr>
                      <a:r>
                        <a:rPr lang="da-DK" sz="975" b="0" i="0" u="none" strike="noStrike" noProof="0">
                          <a:solidFill>
                            <a:srgbClr val="1B4528"/>
                          </a:solidFill>
                          <a:effectLst/>
                          <a:latin typeface="Inter"/>
                        </a:rPr>
                        <a:t>{{geolocation}}</a:t>
                      </a:r>
                      <a:endParaRPr lang="da-DK" sz="975" b="0" noProof="0">
                        <a:effectLst/>
                      </a:endParaRPr>
                    </a:p>
                  </a:txBody>
                  <a:tcPr marL="15874" marR="15874" marT="10583" marB="10583">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l">
                        <a:buNone/>
                      </a:pPr>
                      <a:r>
                        <a:rPr lang="da-DK" sz="975" b="0" i="0" u="none" strike="noStrike" noProof="0">
                          <a:solidFill>
                            <a:srgbClr val="1B4528"/>
                          </a:solidFill>
                          <a:effectLst/>
                          <a:latin typeface="Inter"/>
                        </a:rPr>
                        <a:t>{{</a:t>
                      </a:r>
                      <a:r>
                        <a:rPr lang="da-DK" sz="975" b="0" i="0" u="none" strike="noStrike" noProof="0">
                          <a:solidFill>
                            <a:srgbClr val="1B4528"/>
                          </a:solidFill>
                          <a:effectLst/>
                          <a:latin typeface="Inter"/>
                        </a:rPr>
                        <a:t>geolocation_adress</a:t>
                      </a:r>
                      <a:r>
                        <a:rPr lang="da-DK" sz="975" b="0" i="0" u="none" strike="noStrike" noProof="0">
                          <a:solidFill>
                            <a:srgbClr val="1B4528"/>
                          </a:solidFill>
                          <a:effectLst/>
                          <a:latin typeface="Inter"/>
                        </a:rPr>
                        <a:t>}}</a:t>
                      </a:r>
                      <a:endParaRPr lang="da-DK" sz="975" b="0" noProof="0" dirty="0">
                        <a:effectLst/>
                      </a:endParaRPr>
                    </a:p>
                  </a:txBody>
                  <a:tcPr marL="15874" marR="15874" marT="10583" marB="10583">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l">
                        <a:buNone/>
                      </a:pPr>
                      <a:r>
                        <a:rPr lang="da-DK" sz="975" b="0" i="0" u="none" strike="noStrike" noProof="0">
                          <a:solidFill>
                            <a:srgbClr val="1B4528"/>
                          </a:solidFill>
                          <a:effectLst/>
                          <a:latin typeface="Inter"/>
                        </a:rPr>
                        <a:t>{{geolocation_postcode}}</a:t>
                      </a:r>
                      <a:endParaRPr lang="da-DK" sz="975" b="0" noProof="0">
                        <a:effectLst/>
                      </a:endParaRPr>
                    </a:p>
                  </a:txBody>
                  <a:tcPr marL="15874" marR="15874" marT="10583" marB="10583">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l">
                        <a:buNone/>
                      </a:pPr>
                      <a:r>
                        <a:rPr lang="da-DK" sz="975" b="0" i="0" u="none" strike="noStrike" noProof="0">
                          <a:solidFill>
                            <a:srgbClr val="1B4528"/>
                          </a:solidFill>
                          <a:effectLst/>
                          <a:latin typeface="Inter"/>
                        </a:rPr>
                        <a:t>{{geolocation_city}}</a:t>
                      </a:r>
                      <a:endParaRPr lang="da-DK" sz="975" b="0" noProof="0">
                        <a:effectLst/>
                      </a:endParaRPr>
                    </a:p>
                  </a:txBody>
                  <a:tcPr marL="15874" marR="15874" marT="10583" marB="10583">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l">
                        <a:buNone/>
                      </a:pPr>
                      <a:r>
                        <a:rPr lang="da-DK" sz="975" b="0" i="0" u="none" strike="noStrike" noProof="0">
                          <a:solidFill>
                            <a:srgbClr val="1B4528"/>
                          </a:solidFill>
                          <a:effectLst/>
                          <a:latin typeface="Inter"/>
                        </a:rPr>
                        <a:t>{{geolocation_country}}</a:t>
                      </a:r>
                      <a:endParaRPr lang="da-DK" sz="975" b="0" noProof="0">
                        <a:effectLst/>
                      </a:endParaRPr>
                    </a:p>
                  </a:txBody>
                  <a:tcPr marL="15874" marR="15874" marT="10583" marB="10583">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l">
                        <a:buNone/>
                      </a:pPr>
                      <a:r>
                        <a:rPr lang="da-DK" sz="975" b="0" i="0" u="none" strike="noStrike" noProof="0">
                          <a:solidFill>
                            <a:srgbClr val="1B4528"/>
                          </a:solidFill>
                          <a:effectLst/>
                          <a:latin typeface="Inter"/>
                        </a:rPr>
                        <a:t>{{</a:t>
                      </a:r>
                      <a:r>
                        <a:rPr lang="da-DK" sz="975" b="0" i="0" u="none" strike="noStrike" noProof="0">
                          <a:solidFill>
                            <a:srgbClr val="1B4528"/>
                          </a:solidFill>
                          <a:effectLst/>
                          <a:latin typeface="Inter"/>
                        </a:rPr>
                        <a:t>geolocation_coordinates</a:t>
                      </a:r>
                      <a:r>
                        <a:rPr lang="da-DK" sz="975" b="0" i="0" u="none" strike="noStrike" noProof="0">
                          <a:solidFill>
                            <a:srgbClr val="1B4528"/>
                          </a:solidFill>
                          <a:effectLst/>
                          <a:latin typeface="Inter"/>
                        </a:rPr>
                        <a:t>}}</a:t>
                      </a:r>
                      <a:endParaRPr lang="da-DK" sz="975" b="0" noProof="0" dirty="0">
                        <a:effectLst/>
                      </a:endParaRPr>
                    </a:p>
                  </a:txBody>
                  <a:tcPr marL="15874" marR="15874" marT="10583" marB="10583">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2669926511"/>
                  </a:ext>
                </a:extLst>
              </a:tr>
            </a:tbl>
          </a:graphicData>
        </a:graphic>
      </p:graphicFrame>
      <p:sp>
        <p:nvSpPr>
          <p:cNvPr id="19" name="Tekstfelt 18">
            <a:extLst>
              <a:ext uri="{FF2B5EF4-FFF2-40B4-BE49-F238E27FC236}">
                <a16:creationId xmlns:a16="http://schemas.microsoft.com/office/drawing/2014/main" id="{E833CCA7-4D9A-7EEC-4359-1F0F50503027}"/>
              </a:ext>
            </a:extLst>
          </p:cNvPr>
          <p:cNvSpPr txBox="1"/>
          <p:nvPr/>
        </p:nvSpPr>
        <p:spPr>
          <a:xfrm>
            <a:off x="411480" y="6538989"/>
            <a:ext cx="6737040" cy="538588"/>
          </a:xfrm>
          <a:prstGeom prst="rect">
            <a:avLst/>
          </a:prstGeom>
          <a:noFill/>
        </p:spPr>
        <p:txBody>
          <a:bodyPr wrap="square">
            <a:spAutoFit/>
          </a:bodyPr>
          <a:lstStyle/>
          <a:p>
            <a:pPr>
              <a:spcBef>
                <a:spcPts val="750"/>
              </a:spcBef>
            </a:pPr>
            <a:r>
              <a:rPr lang="da-DK" sz="975" b="0" i="0" u="none" strike="noStrike" noProof="0">
                <a:solidFill>
                  <a:schemeClr val="tx2"/>
                </a:solidFill>
                <a:effectLst/>
                <a:latin typeface="Inter"/>
              </a:rPr>
              <a:t xml:space="preserve">Nedenfor er en beskrivelse af virksomhedens geolokationer, samt hvor virksomheden opererer. Disse oplysninger kan anvendes til klimarelaterede risikozoner og giver oplysninger om virksomhedens anlæg, faciliteter og/eller hovedkvarter</a:t>
            </a:r>
            <a:r>
              <a:rPr lang="da-DK" sz="975" noProof="0">
                <a:solidFill>
                  <a:schemeClr val="tx2"/>
                </a:solidFill>
                <a:latin typeface="Inter"/>
              </a:rPr>
              <a:t xml:space="preserve">. Relevante bæredygtighedscertificeringer eller -mærker er også angivet, herunder udsteder af certificeringen, dato og eventuel rating.</a:t>
            </a:r>
            <a:endParaRPr lang="da-DK" sz="975" b="0" noProof="0" dirty="0">
              <a:solidFill>
                <a:schemeClr val="tx2"/>
              </a:solidFill>
              <a:effectLst/>
              <a:latin typeface="Inter"/>
            </a:endParaRPr>
          </a:p>
        </p:txBody>
      </p:sp>
      <p:sp>
        <p:nvSpPr>
          <p:cNvPr id="21" name="Tekstfelt 20">
            <a:extLst>
              <a:ext uri="{FF2B5EF4-FFF2-40B4-BE49-F238E27FC236}">
                <a16:creationId xmlns:a16="http://schemas.microsoft.com/office/drawing/2014/main" id="{491B3392-69C7-8B39-2F36-18D17714B1CA}"/>
              </a:ext>
            </a:extLst>
          </p:cNvPr>
          <p:cNvSpPr txBox="1"/>
          <p:nvPr/>
        </p:nvSpPr>
        <p:spPr>
          <a:xfrm>
            <a:off x="411480" y="8706648"/>
            <a:ext cx="6737040" cy="230823"/>
          </a:xfrm>
          <a:prstGeom prst="rect">
            <a:avLst/>
          </a:prstGeom>
          <a:noFill/>
        </p:spPr>
        <p:txBody>
          <a:bodyPr wrap="square">
            <a:spAutoFit/>
          </a:bodyPr>
          <a:lstStyle/>
          <a:p>
            <a:r>
              <a:rPr lang="da-DK" sz="975" noProof="0">
                <a:solidFill>
                  <a:srgbClr val="487477"/>
                </a:solidFill>
                <a:latin typeface="Inter"/>
              </a:rPr>
              <a:t xml:space="preserve">Virksomhedens certifikater og miljømærker er listet nedenfor.</a:t>
            </a:r>
          </a:p>
        </p:txBody>
      </p:sp>
    </p:spTree>
    <p:extLst>
      <p:ext uri="{BB962C8B-B14F-4D97-AF65-F5344CB8AC3E}">
        <p14:creationId xmlns:p14="http://schemas.microsoft.com/office/powerpoint/2010/main" val="416998842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C62860-972E-E884-9828-460A25BDCE9F}"/>
              </a:ext>
            </a:extLst>
          </p:cNvPr>
          <p:cNvSpPr>
            <a:spLocks noGrp="1"/>
          </p:cNvSpPr>
          <p:nvPr>
            <p:ph type="title"/>
          </p:nvPr>
        </p:nvSpPr>
        <p:spPr>
          <a:xfrm>
            <a:off x="411480" y="817033"/>
            <a:ext cx="6737040" cy="207741"/>
          </a:xfrm>
        </p:spPr>
        <p:txBody>
          <a:bodyPr/>
          <a:lstStyle/>
          <a:p>
            <a:r>
              <a:rPr lang="da-DK" noProof="0"/>
              <a:t xml:space="preserve">Indsatser, politikker og fremtidige initiativer for omstilling til en mere bæredygtig økonomi (B2)</a:t>
            </a:r>
          </a:p>
        </p:txBody>
      </p:sp>
      <p:sp>
        <p:nvSpPr>
          <p:cNvPr id="5" name="Footer Placeholder 4">
            <a:extLst>
              <a:ext uri="{FF2B5EF4-FFF2-40B4-BE49-F238E27FC236}">
                <a16:creationId xmlns:a16="http://schemas.microsoft.com/office/drawing/2014/main" id="{340F24C5-33C0-4C2D-8193-33A504950FC4}"/>
              </a:ext>
              <a:ext uri="{C183D7F6-B498-43B3-948B-1728B52AA6E4}">
                <adec:decorative xmlns:adec="http://schemas.microsoft.com/office/drawing/2017/decorative" val="1"/>
              </a:ext>
            </a:extLst>
          </p:cNvPr>
          <p:cNvSpPr>
            <a:spLocks noGrp="1"/>
          </p:cNvSpPr>
          <p:nvPr>
            <p:ph type="ftr" sz="quarter" idx="11"/>
          </p:nvPr>
        </p:nvSpPr>
        <p:spPr/>
        <p:txBody>
          <a:bodyPr/>
          <a:lstStyle/>
          <a:p>
            <a:r>
              <a:rPr lang="da-DK" noProof="0"/>
              <a:t>{{company_name}}</a:t>
            </a:r>
            <a:endParaRPr lang="da-DK" b="0" noProof="0"/>
          </a:p>
          <a:p>
            <a:endParaRPr lang="da-DK" noProof="0"/>
          </a:p>
        </p:txBody>
      </p:sp>
      <p:graphicFrame>
        <p:nvGraphicFramePr>
          <p:cNvPr id="11" name="Table 2">
            <a:extLst>
              <a:ext uri="{FF2B5EF4-FFF2-40B4-BE49-F238E27FC236}">
                <a16:creationId xmlns:a16="http://schemas.microsoft.com/office/drawing/2014/main" id="{A420AFF6-414E-4EC8-A668-F0BFECC8260A}"/>
              </a:ext>
            </a:extLst>
          </p:cNvPr>
          <p:cNvGraphicFramePr>
            <a:graphicFrameLocks noGrp="1"/>
          </p:cNvGraphicFramePr>
          <p:nvPr>
            <p:extLst>
              <p:ext uri="{D42A27DB-BD31-4B8C-83A1-F6EECF244321}">
                <p14:modId xmlns:p14="http://schemas.microsoft.com/office/powerpoint/2010/main" val="1877360368"/>
              </p:ext>
            </p:extLst>
          </p:nvPr>
        </p:nvGraphicFramePr>
        <p:xfrm>
          <a:off x="411480" y="2494291"/>
          <a:ext cx="6737040" cy="4084888"/>
        </p:xfrm>
        <a:graphic>
          <a:graphicData uri="http://schemas.openxmlformats.org/drawingml/2006/table">
            <a:tbl>
              <a:tblPr firstRow="1">
                <a:tableStyleId>{2A488322-F2BA-4B5B-9748-0D474271808F}</a:tableStyleId>
              </a:tblPr>
              <a:tblGrid>
                <a:gridCol w="1204357">
                  <a:extLst>
                    <a:ext uri="{9D8B030D-6E8A-4147-A177-3AD203B41FA5}">
                      <a16:colId xmlns:a16="http://schemas.microsoft.com/office/drawing/2014/main" val="1902117154"/>
                    </a:ext>
                  </a:extLst>
                </a:gridCol>
                <a:gridCol w="1272057">
                  <a:extLst>
                    <a:ext uri="{9D8B030D-6E8A-4147-A177-3AD203B41FA5}">
                      <a16:colId xmlns:a16="http://schemas.microsoft.com/office/drawing/2014/main" val="1904521774"/>
                    </a:ext>
                  </a:extLst>
                </a:gridCol>
                <a:gridCol w="996189">
                  <a:extLst>
                    <a:ext uri="{9D8B030D-6E8A-4147-A177-3AD203B41FA5}">
                      <a16:colId xmlns:a16="http://schemas.microsoft.com/office/drawing/2014/main" val="3164053669"/>
                    </a:ext>
                  </a:extLst>
                </a:gridCol>
                <a:gridCol w="1394665">
                  <a:extLst>
                    <a:ext uri="{9D8B030D-6E8A-4147-A177-3AD203B41FA5}">
                      <a16:colId xmlns:a16="http://schemas.microsoft.com/office/drawing/2014/main" val="1484983729"/>
                    </a:ext>
                  </a:extLst>
                </a:gridCol>
                <a:gridCol w="1869772">
                  <a:extLst>
                    <a:ext uri="{9D8B030D-6E8A-4147-A177-3AD203B41FA5}">
                      <a16:colId xmlns:a16="http://schemas.microsoft.com/office/drawing/2014/main" val="3920544300"/>
                    </a:ext>
                  </a:extLst>
                </a:gridCol>
              </a:tblGrid>
              <a:tr h="396886">
                <a:tc>
                  <a:txBody>
                    <a:bodyPr/>
                    <a:lstStyle/>
                    <a:p>
                      <a:r>
                        <a:rPr lang="da-DK" sz="975" b="1" kern="1200" spc="-10" noProof="0">
                          <a:solidFill>
                            <a:schemeClr val="tx2"/>
                          </a:solidFill>
                          <a:latin typeface="+mn-lt"/>
                          <a:ea typeface="+mn-ea"/>
                          <a:cs typeface="+mn-cs"/>
                        </a:rPr>
                        <a:t xml:space="preserve">Område</a:t>
                      </a:r>
                    </a:p>
                    <a:p>
                      <a:r>
                        <a:rPr lang="da-DK" sz="975" b="0" kern="1200" spc="-10" noProof="0">
                          <a:solidFill>
                            <a:schemeClr val="tx2"/>
                          </a:solidFill>
                          <a:latin typeface="+mn-lt"/>
                          <a:ea typeface="+mn-ea"/>
                          <a:cs typeface="+mn-cs"/>
                        </a:rPr>
                        <a:t xml:space="preserve">(pkt. 29a-d)</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da-DK" sz="975" b="1" kern="1200" spc="-10" noProof="0">
                          <a:solidFill>
                            <a:schemeClr val="tx2"/>
                          </a:solidFill>
                          <a:latin typeface="+mn-lt"/>
                          <a:ea typeface="+mn-ea"/>
                          <a:cs typeface="+mn-cs"/>
                        </a:rPr>
                        <a:t xml:space="preserve">Virksomheden har en konkret indsats eller politik på området</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da-DK" sz="975" b="1" kern="1200" spc="-10" noProof="0">
                          <a:solidFill>
                            <a:schemeClr val="tx2"/>
                          </a:solidFill>
                          <a:latin typeface="+mn-lt"/>
                          <a:ea typeface="+mn-ea"/>
                          <a:cs typeface="+mn-cs"/>
                        </a:rPr>
                        <a:t xml:space="preserve">Er politikken offentligt tilgængelig? </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da-DK" sz="975" b="1" kern="1200" spc="-10" noProof="0">
                          <a:solidFill>
                            <a:schemeClr val="tx2"/>
                          </a:solidFill>
                          <a:latin typeface="+mn-lt"/>
                          <a:ea typeface="+mn-ea"/>
                          <a:cs typeface="+mn-cs"/>
                        </a:rPr>
                        <a:t xml:space="preserve">Virksomheden har fremtidige initiativer og planer</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da-DK" sz="975" b="1" kern="1200" spc="-10" noProof="0">
                          <a:solidFill>
                            <a:schemeClr val="tx2"/>
                          </a:solidFill>
                          <a:latin typeface="+mn-lt"/>
                          <a:ea typeface="+mn-ea"/>
                          <a:cs typeface="+mn-cs"/>
                        </a:rPr>
                        <a:t xml:space="preserve">Virksomheden har konkrete målsætninger til at monitorere implementering af indsatser og politikker?</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extLst>
                  <a:ext uri="{0D108BD9-81ED-4DB2-BD59-A6C34878D82A}">
                    <a16:rowId xmlns:a16="http://schemas.microsoft.com/office/drawing/2014/main" val="3642311251"/>
                  </a:ext>
                </a:extLst>
              </a:tr>
              <a:tr h="253742">
                <a:tc>
                  <a:txBody>
                    <a:bodyPr/>
                    <a:lstStyle/>
                    <a:p>
                      <a:pPr algn="l"/>
                      <a:r>
                        <a:rPr lang="da-DK" sz="975" b="1" kern="1200" spc="-10" noProof="0">
                          <a:solidFill>
                            <a:schemeClr val="tx2"/>
                          </a:solidFill>
                          <a:latin typeface="+mn-lt"/>
                          <a:ea typeface="+mn-ea"/>
                          <a:cs typeface="+mn-cs"/>
                        </a:rPr>
                        <a:t xml:space="preserve">Klimaforandringer</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ctr">
                        <a:buNone/>
                      </a:pPr>
                      <a:r>
                        <a:rPr lang="da-DK" sz="975" b="0" i="0" u="none" strike="noStrike" noProof="0">
                          <a:solidFill>
                            <a:srgbClr val="1B4528"/>
                          </a:solidFill>
                          <a:effectLst/>
                          <a:latin typeface="Inter"/>
                        </a:rPr>
                        <a:t>{{climate_change_concrete}}</a:t>
                      </a:r>
                      <a:endParaRPr lang="da-DK"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da-DK" sz="975" b="0" i="0" u="none" strike="noStrike" noProof="0">
                          <a:solidFill>
                            <a:srgbClr val="1B4528"/>
                          </a:solidFill>
                          <a:effectLst/>
                          <a:latin typeface="Inter"/>
                        </a:rPr>
                        <a:t>{{climate_change_publicly}}</a:t>
                      </a:r>
                      <a:endParaRPr lang="da-DK"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da-DK" sz="975" b="0" i="0" u="none" strike="noStrike" noProof="0">
                          <a:solidFill>
                            <a:srgbClr val="1B4528"/>
                          </a:solidFill>
                          <a:effectLst/>
                          <a:latin typeface="Inter"/>
                        </a:rPr>
                        <a:t>{{climate_change_future}}</a:t>
                      </a:r>
                      <a:endParaRPr lang="da-DK"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ctr">
                        <a:lnSpc>
                          <a:spcPct val="100000"/>
                        </a:lnSpc>
                        <a:spcBef>
                          <a:spcPts val="0"/>
                        </a:spcBef>
                        <a:spcAft>
                          <a:spcPts val="0"/>
                        </a:spcAft>
                        <a:buNone/>
                      </a:pPr>
                      <a:r>
                        <a:rPr lang="da-DK" sz="975" b="0" i="0" u="none" strike="noStrike" noProof="0">
                          <a:solidFill>
                            <a:srgbClr val="1B4528"/>
                          </a:solidFill>
                          <a:latin typeface="Inter"/>
                        </a:rPr>
                        <a:t>{{climate_change_plan}}</a:t>
                      </a:r>
                      <a:endParaRPr lang="da-DK">
                        <a:latin typeface="Inter"/>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80349995"/>
                  </a:ext>
                </a:extLst>
              </a:tr>
              <a:tr h="240796">
                <a:tc>
                  <a:txBody>
                    <a:bodyPr/>
                    <a:lstStyle/>
                    <a:p>
                      <a:pPr algn="l"/>
                      <a:r>
                        <a:rPr lang="da-DK" sz="975" b="1" kern="1200" spc="-10" noProof="0">
                          <a:solidFill>
                            <a:schemeClr val="tx2"/>
                          </a:solidFill>
                          <a:latin typeface="+mn-lt"/>
                          <a:ea typeface="+mn-ea"/>
                          <a:cs typeface="+mn-cs"/>
                        </a:rPr>
                        <a:t xml:space="preserve">Forurening</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ctr">
                        <a:buNone/>
                      </a:pPr>
                      <a:r>
                        <a:rPr lang="da-DK" sz="975" b="0" i="0" u="none" strike="noStrike" noProof="0">
                          <a:solidFill>
                            <a:srgbClr val="1B4528"/>
                          </a:solidFill>
                          <a:effectLst/>
                          <a:latin typeface="Inter"/>
                        </a:rPr>
                        <a:t>{{pollution_concrete}}</a:t>
                      </a:r>
                      <a:endParaRPr lang="da-DK"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da-DK" sz="975" b="0" i="0" u="none" strike="noStrike" noProof="0">
                          <a:solidFill>
                            <a:srgbClr val="1B4528"/>
                          </a:solidFill>
                          <a:effectLst/>
                          <a:latin typeface="Inter"/>
                        </a:rPr>
                        <a:t>{{pollution_publicly}}</a:t>
                      </a:r>
                      <a:endParaRPr lang="da-DK"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da-DK" sz="975" b="0" i="0" u="none" strike="noStrike" noProof="0">
                          <a:solidFill>
                            <a:srgbClr val="1B4528"/>
                          </a:solidFill>
                          <a:effectLst/>
                          <a:latin typeface="Inter"/>
                        </a:rPr>
                        <a:t>{{pollution_future}}</a:t>
                      </a:r>
                      <a:endParaRPr lang="da-DK"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ctr">
                        <a:lnSpc>
                          <a:spcPct val="100000"/>
                        </a:lnSpc>
                        <a:spcBef>
                          <a:spcPts val="0"/>
                        </a:spcBef>
                        <a:spcAft>
                          <a:spcPts val="0"/>
                        </a:spcAft>
                        <a:buNone/>
                      </a:pPr>
                      <a:r>
                        <a:rPr lang="da-DK" sz="975" b="0" i="0" u="none" strike="noStrike" noProof="0">
                          <a:solidFill>
                            <a:srgbClr val="1B4528"/>
                          </a:solidFill>
                          <a:latin typeface="Inter"/>
                        </a:rPr>
                        <a:t>{{pollution_plan}}</a:t>
                      </a:r>
                      <a:endParaRPr lang="da-DK">
                        <a:latin typeface="Inter"/>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940256071"/>
                  </a:ext>
                </a:extLst>
              </a:tr>
              <a:tr h="247635">
                <a:tc>
                  <a:txBody>
                    <a:bodyPr/>
                    <a:lstStyle/>
                    <a:p>
                      <a:pPr algn="l"/>
                      <a:r>
                        <a:rPr lang="da-DK" sz="975" b="1" kern="1200" spc="-10" noProof="0">
                          <a:solidFill>
                            <a:schemeClr val="tx2"/>
                          </a:solidFill>
                          <a:latin typeface="+mn-lt"/>
                          <a:ea typeface="+mn-ea"/>
                          <a:cs typeface="+mn-cs"/>
                        </a:rPr>
                        <a:t xml:space="preserve">Vand -og Havressourcer</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ctr">
                        <a:buNone/>
                      </a:pPr>
                      <a:r>
                        <a:rPr lang="da-DK" sz="975" b="0" i="0" u="none" strike="noStrike" noProof="0">
                          <a:solidFill>
                            <a:srgbClr val="1B4528"/>
                          </a:solidFill>
                          <a:effectLst/>
                          <a:latin typeface="Inter"/>
                        </a:rPr>
                        <a:t>{{water_concrete}}</a:t>
                      </a:r>
                      <a:endParaRPr lang="da-DK"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da-DK" sz="975" b="0" i="0" u="none" strike="noStrike" noProof="0">
                          <a:solidFill>
                            <a:srgbClr val="1B4528"/>
                          </a:solidFill>
                          <a:effectLst/>
                          <a:latin typeface="Inter"/>
                        </a:rPr>
                        <a:t>{{water_publicly}}</a:t>
                      </a:r>
                      <a:endParaRPr lang="da-DK"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da-DK" sz="975" b="0" i="0" u="none" strike="noStrike" noProof="0">
                          <a:solidFill>
                            <a:srgbClr val="1B4528"/>
                          </a:solidFill>
                          <a:effectLst/>
                          <a:latin typeface="Inter"/>
                        </a:rPr>
                        <a:t>{{water_future}}</a:t>
                      </a:r>
                      <a:endParaRPr lang="da-DK"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ctr">
                        <a:lnSpc>
                          <a:spcPct val="100000"/>
                        </a:lnSpc>
                        <a:spcBef>
                          <a:spcPts val="0"/>
                        </a:spcBef>
                        <a:spcAft>
                          <a:spcPts val="0"/>
                        </a:spcAft>
                        <a:buNone/>
                      </a:pPr>
                      <a:r>
                        <a:rPr lang="da-DK" sz="975" b="0" i="0" u="none" strike="noStrike" noProof="0">
                          <a:solidFill>
                            <a:srgbClr val="1B4528"/>
                          </a:solidFill>
                          <a:latin typeface="Inter"/>
                        </a:rPr>
                        <a:t>{{water_plan}}</a:t>
                      </a:r>
                      <a:endParaRPr lang="da-DK">
                        <a:latin typeface="Inter"/>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2442156864"/>
                  </a:ext>
                </a:extLst>
              </a:tr>
              <a:tr h="247635">
                <a:tc>
                  <a:txBody>
                    <a:bodyPr/>
                    <a:lstStyle/>
                    <a:p>
                      <a:pPr algn="l"/>
                      <a:r>
                        <a:rPr lang="da-DK" sz="975" b="1" kern="1200" spc="-10" noProof="0">
                          <a:solidFill>
                            <a:schemeClr val="tx2"/>
                          </a:solidFill>
                          <a:latin typeface="+mn-lt"/>
                          <a:ea typeface="+mn-ea"/>
                          <a:cs typeface="+mn-cs"/>
                        </a:rPr>
                        <a:t xml:space="preserve">Biodiversitet og Økosystemer</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ctr">
                        <a:buNone/>
                      </a:pPr>
                      <a:r>
                        <a:rPr lang="da-DK" sz="975" b="0" i="0" u="none" strike="noStrike" noProof="0">
                          <a:solidFill>
                            <a:srgbClr val="1B4528"/>
                          </a:solidFill>
                          <a:effectLst/>
                          <a:latin typeface="Inter"/>
                        </a:rPr>
                        <a:t>{{biodiversity_concrete}}</a:t>
                      </a:r>
                      <a:endParaRPr lang="da-DK"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da-DK" sz="975" b="0" i="0" u="none" strike="noStrike" noProof="0">
                          <a:solidFill>
                            <a:srgbClr val="1B4528"/>
                          </a:solidFill>
                          <a:effectLst/>
                          <a:latin typeface="Inter"/>
                        </a:rPr>
                        <a:t>{{biodiversity_publicly}}</a:t>
                      </a:r>
                      <a:endParaRPr lang="da-DK"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da-DK" sz="975" b="0" i="0" u="none" strike="noStrike" noProof="0">
                          <a:solidFill>
                            <a:srgbClr val="1B4528"/>
                          </a:solidFill>
                          <a:effectLst/>
                          <a:latin typeface="Inter"/>
                        </a:rPr>
                        <a:t>{{biodiversity_future}}</a:t>
                      </a:r>
                      <a:endParaRPr lang="da-DK"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ctr">
                        <a:lnSpc>
                          <a:spcPct val="100000"/>
                        </a:lnSpc>
                        <a:spcBef>
                          <a:spcPts val="0"/>
                        </a:spcBef>
                        <a:spcAft>
                          <a:spcPts val="0"/>
                        </a:spcAft>
                        <a:buNone/>
                      </a:pPr>
                      <a:r>
                        <a:rPr lang="da-DK" sz="975" b="0" i="0" u="none" strike="noStrike" noProof="0">
                          <a:solidFill>
                            <a:srgbClr val="1B4528"/>
                          </a:solidFill>
                          <a:latin typeface="Inter"/>
                        </a:rPr>
                        <a:t>{{biodiversity_plan}}</a:t>
                      </a:r>
                      <a:endParaRPr lang="da-DK">
                        <a:latin typeface="Inter"/>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2197746340"/>
                  </a:ext>
                </a:extLst>
              </a:tr>
              <a:tr h="247635">
                <a:tc>
                  <a:txBody>
                    <a:bodyPr/>
                    <a:lstStyle/>
                    <a:p>
                      <a:pPr algn="l"/>
                      <a:r>
                        <a:rPr lang="da-DK" sz="975" b="1" kern="1200" spc="-10" noProof="0">
                          <a:solidFill>
                            <a:schemeClr val="tx2"/>
                          </a:solidFill>
                          <a:latin typeface="+mn-lt"/>
                          <a:ea typeface="+mn-ea"/>
                          <a:cs typeface="+mn-cs"/>
                        </a:rPr>
                        <a:t xml:space="preserve">Cirkulær økonomi</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ctr">
                        <a:buNone/>
                      </a:pPr>
                      <a:r>
                        <a:rPr lang="da-DK" sz="975" b="0" i="0" u="none" strike="noStrike" noProof="0">
                          <a:solidFill>
                            <a:srgbClr val="1B4528"/>
                          </a:solidFill>
                          <a:effectLst/>
                          <a:latin typeface="Inter"/>
                        </a:rPr>
                        <a:t>{{circular_concrete}}</a:t>
                      </a:r>
                      <a:endParaRPr lang="da-DK"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da-DK" sz="975" b="0" i="0" u="none" strike="noStrike" noProof="0">
                          <a:solidFill>
                            <a:srgbClr val="1B4528"/>
                          </a:solidFill>
                          <a:effectLst/>
                          <a:latin typeface="Inter"/>
                        </a:rPr>
                        <a:t>{{circular_publicly}}</a:t>
                      </a:r>
                      <a:endParaRPr lang="da-DK"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da-DK" sz="975" b="0" i="0" u="none" strike="noStrike" noProof="0">
                          <a:solidFill>
                            <a:srgbClr val="1B4528"/>
                          </a:solidFill>
                          <a:effectLst/>
                          <a:latin typeface="Inter"/>
                        </a:rPr>
                        <a:t>{{circular_future}}</a:t>
                      </a:r>
                      <a:endParaRPr lang="da-DK"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ctr">
                        <a:lnSpc>
                          <a:spcPct val="100000"/>
                        </a:lnSpc>
                        <a:spcBef>
                          <a:spcPts val="0"/>
                        </a:spcBef>
                        <a:spcAft>
                          <a:spcPts val="0"/>
                        </a:spcAft>
                        <a:buNone/>
                      </a:pPr>
                      <a:r>
                        <a:rPr lang="da-DK" sz="975" b="0" i="0" u="none" strike="noStrike" noProof="0">
                          <a:solidFill>
                            <a:srgbClr val="1B4528"/>
                          </a:solidFill>
                          <a:latin typeface="Inter"/>
                        </a:rPr>
                        <a:t>{{circular_plan}}</a:t>
                      </a:r>
                      <a:endParaRPr lang="da-DK">
                        <a:latin typeface="Inter"/>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942359221"/>
                  </a:ext>
                </a:extLst>
              </a:tr>
              <a:tr h="247635">
                <a:tc>
                  <a:txBody>
                    <a:bodyPr/>
                    <a:lstStyle/>
                    <a:p>
                      <a:pPr algn="l"/>
                      <a:r>
                        <a:rPr lang="da-DK" sz="975" b="1" kern="1200" spc="-10" noProof="0">
                          <a:solidFill>
                            <a:schemeClr val="tx2"/>
                          </a:solidFill>
                          <a:latin typeface="+mn-lt"/>
                          <a:ea typeface="+mn-ea"/>
                          <a:cs typeface="+mn-cs"/>
                        </a:rPr>
                        <a:t xml:space="preserve">Egen arbejdsstyrke</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ctr">
                        <a:buNone/>
                      </a:pPr>
                      <a:r>
                        <a:rPr lang="da-DK" sz="975" b="0" i="0" u="none" strike="noStrike" noProof="0">
                          <a:solidFill>
                            <a:srgbClr val="1B4528"/>
                          </a:solidFill>
                          <a:effectLst/>
                          <a:latin typeface="Inter"/>
                        </a:rPr>
                        <a:t>{{workforce_concrete}}</a:t>
                      </a:r>
                      <a:endParaRPr lang="da-DK"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da-DK" sz="975" b="0" i="0" u="none" strike="noStrike" noProof="0">
                          <a:solidFill>
                            <a:srgbClr val="1B4528"/>
                          </a:solidFill>
                          <a:effectLst/>
                          <a:latin typeface="Inter"/>
                        </a:rPr>
                        <a:t>{{workforce_publicly}}</a:t>
                      </a:r>
                      <a:endParaRPr lang="da-DK"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da-DK" sz="975" b="0" i="0" u="none" strike="noStrike" noProof="0">
                          <a:solidFill>
                            <a:srgbClr val="1B4528"/>
                          </a:solidFill>
                          <a:effectLst/>
                          <a:latin typeface="Inter"/>
                        </a:rPr>
                        <a:t>{{workforce_future}}</a:t>
                      </a:r>
                      <a:endParaRPr lang="da-DK"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ctr">
                        <a:lnSpc>
                          <a:spcPct val="100000"/>
                        </a:lnSpc>
                        <a:spcBef>
                          <a:spcPts val="0"/>
                        </a:spcBef>
                        <a:spcAft>
                          <a:spcPts val="0"/>
                        </a:spcAft>
                        <a:buNone/>
                      </a:pPr>
                      <a:r>
                        <a:rPr lang="da-DK" sz="975" b="0" i="0" u="none" strike="noStrike" noProof="0">
                          <a:solidFill>
                            <a:srgbClr val="1B4528"/>
                          </a:solidFill>
                          <a:latin typeface="Inter"/>
                        </a:rPr>
                        <a:t>{{workforce_plan}}</a:t>
                      </a:r>
                      <a:endParaRPr lang="da-DK">
                        <a:latin typeface="Inter"/>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107384999"/>
                  </a:ext>
                </a:extLst>
              </a:tr>
              <a:tr h="247635">
                <a:tc>
                  <a:txBody>
                    <a:bodyPr/>
                    <a:lstStyle/>
                    <a:p>
                      <a:pPr algn="l"/>
                      <a:r>
                        <a:rPr lang="da-DK" sz="975" b="1" kern="1200" spc="-10" noProof="0">
                          <a:solidFill>
                            <a:schemeClr val="tx2"/>
                          </a:solidFill>
                          <a:latin typeface="+mn-lt"/>
                          <a:ea typeface="+mn-ea"/>
                          <a:cs typeface="+mn-cs"/>
                        </a:rPr>
                        <a:t xml:space="preserve">Arbejdere i værdikæden</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ctr">
                        <a:buNone/>
                      </a:pPr>
                      <a:r>
                        <a:rPr lang="da-DK" sz="975" b="0" i="0" u="none" strike="noStrike" noProof="0">
                          <a:solidFill>
                            <a:srgbClr val="1B4528"/>
                          </a:solidFill>
                          <a:effectLst/>
                          <a:latin typeface="Inter"/>
                        </a:rPr>
                        <a:t>{{workers_concrete}}</a:t>
                      </a:r>
                      <a:endParaRPr lang="da-DK"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da-DK" sz="975" b="0" i="0" u="none" strike="noStrike" noProof="0">
                          <a:solidFill>
                            <a:srgbClr val="1B4528"/>
                          </a:solidFill>
                          <a:effectLst/>
                          <a:latin typeface="Inter"/>
                        </a:rPr>
                        <a:t>{{workers_publicly}}</a:t>
                      </a:r>
                      <a:endParaRPr lang="da-DK"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da-DK" sz="975" b="0" i="0" u="none" strike="noStrike" noProof="0">
                          <a:solidFill>
                            <a:srgbClr val="1B4528"/>
                          </a:solidFill>
                          <a:effectLst/>
                          <a:latin typeface="Inter"/>
                        </a:rPr>
                        <a:t>{{workers_future}}</a:t>
                      </a:r>
                      <a:endParaRPr lang="da-DK"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ctr">
                        <a:lnSpc>
                          <a:spcPct val="100000"/>
                        </a:lnSpc>
                        <a:spcBef>
                          <a:spcPts val="0"/>
                        </a:spcBef>
                        <a:spcAft>
                          <a:spcPts val="0"/>
                        </a:spcAft>
                        <a:buNone/>
                      </a:pPr>
                      <a:r>
                        <a:rPr lang="da-DK" sz="975" b="0" i="0" u="none" strike="noStrike" noProof="0">
                          <a:solidFill>
                            <a:srgbClr val="1B4528"/>
                          </a:solidFill>
                          <a:latin typeface="Inter"/>
                        </a:rPr>
                        <a:t>{{workers_plan}}</a:t>
                      </a:r>
                      <a:endParaRPr lang="da-DK">
                        <a:latin typeface="Inter"/>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101919361"/>
                  </a:ext>
                </a:extLst>
              </a:tr>
              <a:tr h="247635">
                <a:tc>
                  <a:txBody>
                    <a:bodyPr/>
                    <a:lstStyle/>
                    <a:p>
                      <a:pPr algn="l"/>
                      <a:r>
                        <a:rPr lang="da-DK" sz="975" b="1" kern="1200" spc="-10" noProof="0">
                          <a:solidFill>
                            <a:schemeClr val="tx2"/>
                          </a:solidFill>
                          <a:latin typeface="+mn-lt"/>
                          <a:ea typeface="+mn-ea"/>
                          <a:cs typeface="+mn-cs"/>
                        </a:rPr>
                        <a:t xml:space="preserve">Berørte samfund</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ctr">
                        <a:buNone/>
                      </a:pPr>
                      <a:r>
                        <a:rPr lang="da-DK" sz="975" b="0" i="0" u="none" strike="noStrike" noProof="0">
                          <a:solidFill>
                            <a:srgbClr val="1B4528"/>
                          </a:solidFill>
                          <a:effectLst/>
                          <a:latin typeface="Inter"/>
                        </a:rPr>
                        <a:t>{{communities_concrete}}</a:t>
                      </a:r>
                      <a:endParaRPr lang="da-DK"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da-DK" sz="975" b="0" i="0" u="none" strike="noStrike" noProof="0">
                          <a:solidFill>
                            <a:srgbClr val="1B4528"/>
                          </a:solidFill>
                          <a:effectLst/>
                          <a:latin typeface="Inter"/>
                        </a:rPr>
                        <a:t>{{communities_publicly}}</a:t>
                      </a:r>
                      <a:endParaRPr lang="da-DK"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da-DK" sz="975" b="0" i="0" u="none" strike="noStrike" noProof="0">
                          <a:solidFill>
                            <a:srgbClr val="1B4528"/>
                          </a:solidFill>
                          <a:effectLst/>
                          <a:latin typeface="Inter"/>
                        </a:rPr>
                        <a:t>{{communities_future}}</a:t>
                      </a:r>
                      <a:endParaRPr lang="da-DK"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ctr">
                        <a:lnSpc>
                          <a:spcPct val="100000"/>
                        </a:lnSpc>
                        <a:spcBef>
                          <a:spcPts val="0"/>
                        </a:spcBef>
                        <a:spcAft>
                          <a:spcPts val="0"/>
                        </a:spcAft>
                        <a:buNone/>
                      </a:pPr>
                      <a:r>
                        <a:rPr lang="da-DK" sz="975" b="0" i="0" u="none" strike="noStrike" noProof="0">
                          <a:solidFill>
                            <a:srgbClr val="1B4528"/>
                          </a:solidFill>
                          <a:latin typeface="Inter"/>
                        </a:rPr>
                        <a:t>{{communities_plan}}</a:t>
                      </a:r>
                      <a:endParaRPr lang="da-DK">
                        <a:latin typeface="Inter"/>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3336877917"/>
                  </a:ext>
                </a:extLst>
              </a:tr>
              <a:tr h="247635">
                <a:tc>
                  <a:txBody>
                    <a:bodyPr/>
                    <a:lstStyle/>
                    <a:p>
                      <a:pPr algn="l"/>
                      <a:r>
                        <a:rPr lang="da-DK" sz="975" b="1" kern="1200" spc="-10" noProof="0">
                          <a:solidFill>
                            <a:schemeClr val="tx2"/>
                          </a:solidFill>
                          <a:latin typeface="+mn-lt"/>
                          <a:ea typeface="+mn-ea"/>
                          <a:cs typeface="+mn-cs"/>
                        </a:rPr>
                        <a:t xml:space="preserve">Forbrugere og slutbrugere</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ctr">
                        <a:buNone/>
                      </a:pPr>
                      <a:r>
                        <a:rPr lang="da-DK" sz="975" b="0" i="0" u="none" strike="noStrike" noProof="0">
                          <a:solidFill>
                            <a:srgbClr val="1B4528"/>
                          </a:solidFill>
                          <a:effectLst/>
                          <a:latin typeface="Inter"/>
                        </a:rPr>
                        <a:t>{{consumers_concrete}}</a:t>
                      </a:r>
                      <a:endParaRPr lang="da-DK"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da-DK" sz="975" b="0" i="0" u="none" strike="noStrike" noProof="0">
                          <a:solidFill>
                            <a:srgbClr val="1B4528"/>
                          </a:solidFill>
                          <a:effectLst/>
                          <a:latin typeface="Inter"/>
                        </a:rPr>
                        <a:t>{{consumers_publicly}}</a:t>
                      </a:r>
                      <a:endParaRPr lang="da-DK"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da-DK" sz="975" b="0" i="0" u="none" strike="noStrike" noProof="0">
                          <a:solidFill>
                            <a:srgbClr val="1B4528"/>
                          </a:solidFill>
                          <a:effectLst/>
                          <a:latin typeface="Inter"/>
                        </a:rPr>
                        <a:t>{{consumers_future}}</a:t>
                      </a:r>
                      <a:endParaRPr lang="da-DK"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ctr">
                        <a:lnSpc>
                          <a:spcPct val="100000"/>
                        </a:lnSpc>
                        <a:spcBef>
                          <a:spcPts val="0"/>
                        </a:spcBef>
                        <a:spcAft>
                          <a:spcPts val="0"/>
                        </a:spcAft>
                        <a:buNone/>
                      </a:pPr>
                      <a:r>
                        <a:rPr lang="da-DK" sz="975" b="0" i="0" u="none" strike="noStrike" noProof="0">
                          <a:solidFill>
                            <a:srgbClr val="1B4528"/>
                          </a:solidFill>
                          <a:latin typeface="Inter"/>
                        </a:rPr>
                        <a:t>{{consumers_plan}}</a:t>
                      </a:r>
                      <a:endParaRPr lang="da-DK">
                        <a:latin typeface="Inter"/>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2815053185"/>
                  </a:ext>
                </a:extLst>
              </a:tr>
              <a:tr h="247635">
                <a:tc>
                  <a:txBody>
                    <a:bodyPr/>
                    <a:lstStyle/>
                    <a:p>
                      <a:pPr algn="l"/>
                      <a:r>
                        <a:rPr lang="da-DK" sz="975" b="1" kern="1200" spc="-10" noProof="0">
                          <a:solidFill>
                            <a:schemeClr val="tx2"/>
                          </a:solidFill>
                          <a:latin typeface="+mn-lt"/>
                          <a:ea typeface="+mn-ea"/>
                          <a:cs typeface="+mn-cs"/>
                        </a:rPr>
                        <a:t xml:space="preserve">Virksomhedsledelse</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ctr">
                        <a:buNone/>
                      </a:pPr>
                      <a:r>
                        <a:rPr lang="da-DK" sz="975" b="0" i="0" u="none" strike="noStrike" noProof="0">
                          <a:solidFill>
                            <a:srgbClr val="1B4528"/>
                          </a:solidFill>
                          <a:effectLst/>
                          <a:latin typeface="Inter"/>
                        </a:rPr>
                        <a:t>{{governance_concrete}}</a:t>
                      </a:r>
                      <a:endParaRPr lang="da-DK"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da-DK" sz="975" b="0" i="0" u="none" strike="noStrike" noProof="0">
                          <a:solidFill>
                            <a:srgbClr val="1B4528"/>
                          </a:solidFill>
                          <a:effectLst/>
                          <a:latin typeface="Inter"/>
                        </a:rPr>
                        <a:t>{{governance_publicly}}</a:t>
                      </a:r>
                      <a:endParaRPr lang="da-DK"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da-DK" sz="975" b="0" i="0" u="none" strike="noStrike" noProof="0">
                          <a:solidFill>
                            <a:srgbClr val="1B4528"/>
                          </a:solidFill>
                          <a:effectLst/>
                          <a:latin typeface="Inter"/>
                        </a:rPr>
                        <a:t>{{governance_future}}</a:t>
                      </a:r>
                      <a:endParaRPr lang="da-DK"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ctr">
                        <a:lnSpc>
                          <a:spcPct val="100000"/>
                        </a:lnSpc>
                        <a:spcBef>
                          <a:spcPts val="0"/>
                        </a:spcBef>
                        <a:spcAft>
                          <a:spcPts val="0"/>
                        </a:spcAft>
                        <a:buNone/>
                      </a:pPr>
                      <a:r>
                        <a:rPr lang="da-DK" sz="975" b="0" i="0" u="none" strike="noStrike" noProof="0">
                          <a:solidFill>
                            <a:srgbClr val="1B4528"/>
                          </a:solidFill>
                          <a:latin typeface="Inter"/>
                        </a:rPr>
                        <a:t>{{governance_plan}}</a:t>
                      </a:r>
                      <a:endParaRPr lang="da-DK">
                        <a:latin typeface="Inter"/>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904057792"/>
                  </a:ext>
                </a:extLst>
              </a:tr>
            </a:tbl>
          </a:graphicData>
        </a:graphic>
      </p:graphicFrame>
      <p:sp>
        <p:nvSpPr>
          <p:cNvPr id="16" name="Tekstfelt 15">
            <a:extLst>
              <a:ext uri="{FF2B5EF4-FFF2-40B4-BE49-F238E27FC236}">
                <a16:creationId xmlns:a16="http://schemas.microsoft.com/office/drawing/2014/main" id="{E7AD2C12-E6AC-4ADE-675B-7B86B0E0EA4B}"/>
              </a:ext>
            </a:extLst>
          </p:cNvPr>
          <p:cNvSpPr txBox="1"/>
          <p:nvPr/>
        </p:nvSpPr>
        <p:spPr>
          <a:xfrm>
            <a:off x="411480" y="1513504"/>
            <a:ext cx="6737040" cy="538588"/>
          </a:xfrm>
          <a:prstGeom prst="rect">
            <a:avLst/>
          </a:prstGeom>
          <a:noFill/>
        </p:spPr>
        <p:txBody>
          <a:bodyPr wrap="square">
            <a:spAutoFit/>
          </a:bodyPr>
          <a:lstStyle/>
          <a:p>
            <a:pPr rtl="0">
              <a:spcBef>
                <a:spcPts val="750"/>
              </a:spcBef>
              <a:buNone/>
            </a:pPr>
            <a:r>
              <a:rPr lang="da-DK" sz="975" b="0" i="0" u="none" strike="noStrike" noProof="0">
                <a:solidFill>
                  <a:schemeClr val="tx2"/>
                </a:solidFill>
                <a:effectLst/>
                <a:latin typeface="Inter"/>
              </a:rPr>
              <a:t xml:space="preserve">Dette afsnit skitserer de praksisser, politikker og fremtidige initiativer, som virksomheden har implementeret for at understøtte en bæredygtig økonomi. Dette omfatter angivelse af, hvilke konkrete tiltag virksomheden har taget for at reducere negative miljøpåvirkninger, forbedre arbejdsforhold og ligebehandling (JA/NEJ).</a:t>
            </a:r>
            <a:br>
              <a:rPr lang="da-DK" sz="975" noProof="0">
                <a:solidFill>
                  <a:schemeClr val="tx2"/>
                </a:solidFill>
              </a:rPr>
            </a:br>
            <a:endParaRPr lang="da-DK" sz="975" noProof="0">
              <a:solidFill>
                <a:schemeClr val="tx2"/>
              </a:solidFill>
            </a:endParaRPr>
          </a:p>
        </p:txBody>
      </p:sp>
      <p:sp>
        <p:nvSpPr>
          <p:cNvPr id="17" name="Slide Number Placeholder 5">
            <a:extLst>
              <a:ext uri="{FF2B5EF4-FFF2-40B4-BE49-F238E27FC236}">
                <a16:creationId xmlns:a16="http://schemas.microsoft.com/office/drawing/2014/main" id="{9D599EAE-DDC4-5624-F234-BCDE014B0531}"/>
              </a:ext>
              <a:ext uri="{C183D7F6-B498-43B3-948B-1728B52AA6E4}">
                <adec:decorative xmlns:adec="http://schemas.microsoft.com/office/drawing/2017/decorative" val="1"/>
              </a:ext>
            </a:extLst>
          </p:cNvPr>
          <p:cNvSpPr>
            <a:spLocks noGrp="1"/>
          </p:cNvSpPr>
          <p:nvPr>
            <p:ph type="sldNum" sz="quarter" idx="12"/>
          </p:nvPr>
        </p:nvSpPr>
        <p:spPr>
          <a:xfrm>
            <a:off x="411480" y="10152285"/>
            <a:ext cx="6737040" cy="128235"/>
          </a:xfrm>
        </p:spPr>
        <p:txBody>
          <a:bodyPr/>
          <a:lstStyle/>
          <a:p>
            <a:fld id="{5A0D23CF-C5A3-5445-819D-C647D180BB4B}" type="slidenum">
              <a:rPr lang="da-DK" noProof="0" smtClean="0"/>
              <a:pPr/>
              <a:t>4</a:t>
            </a:fld>
            <a:endParaRPr lang="da-DK" noProof="0"/>
          </a:p>
        </p:txBody>
      </p:sp>
    </p:spTree>
    <p:extLst>
      <p:ext uri="{BB962C8B-B14F-4D97-AF65-F5344CB8AC3E}">
        <p14:creationId xmlns:p14="http://schemas.microsoft.com/office/powerpoint/2010/main" val="200097550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F150DD1-68D5-731F-A718-D62C3CF30A65}"/>
              </a:ext>
            </a:extLst>
          </p:cNvPr>
          <p:cNvSpPr>
            <a:spLocks noGrp="1"/>
          </p:cNvSpPr>
          <p:nvPr>
            <p:ph type="title"/>
          </p:nvPr>
        </p:nvSpPr>
        <p:spPr/>
        <p:txBody>
          <a:bodyPr/>
          <a:lstStyle/>
          <a:p>
            <a:r>
              <a:rPr lang="da-DK" noProof="0"/>
              <a:t xml:space="preserve">Energiforbrug (B3)</a:t>
            </a:r>
          </a:p>
        </p:txBody>
      </p:sp>
      <p:graphicFrame>
        <p:nvGraphicFramePr>
          <p:cNvPr id="13" name="Table 12">
            <a:extLst>
              <a:ext uri="{FF2B5EF4-FFF2-40B4-BE49-F238E27FC236}">
                <a16:creationId xmlns:a16="http://schemas.microsoft.com/office/drawing/2014/main" id="{AE932BB9-32D4-19FC-5E73-EB89688D4CBF}"/>
              </a:ext>
            </a:extLst>
          </p:cNvPr>
          <p:cNvGraphicFramePr>
            <a:graphicFrameLocks noGrp="1"/>
          </p:cNvGraphicFramePr>
          <p:nvPr>
            <p:extLst>
              <p:ext uri="{D42A27DB-BD31-4B8C-83A1-F6EECF244321}">
                <p14:modId xmlns:p14="http://schemas.microsoft.com/office/powerpoint/2010/main" val="121529703"/>
              </p:ext>
            </p:extLst>
          </p:nvPr>
        </p:nvGraphicFramePr>
        <p:xfrm>
          <a:off x="411480" y="2059046"/>
          <a:ext cx="6737040" cy="1968460"/>
        </p:xfrm>
        <a:graphic>
          <a:graphicData uri="http://schemas.openxmlformats.org/drawingml/2006/table">
            <a:tbl>
              <a:tblPr firstRow="1">
                <a:tableStyleId>{2A488322-F2BA-4B5B-9748-0D474271808F}</a:tableStyleId>
              </a:tblPr>
              <a:tblGrid>
                <a:gridCol w="1828416">
                  <a:extLst>
                    <a:ext uri="{9D8B030D-6E8A-4147-A177-3AD203B41FA5}">
                      <a16:colId xmlns:a16="http://schemas.microsoft.com/office/drawing/2014/main" val="2698153288"/>
                    </a:ext>
                  </a:extLst>
                </a:gridCol>
                <a:gridCol w="1697216">
                  <a:extLst>
                    <a:ext uri="{9D8B030D-6E8A-4147-A177-3AD203B41FA5}">
                      <a16:colId xmlns:a16="http://schemas.microsoft.com/office/drawing/2014/main" val="1451447067"/>
                    </a:ext>
                  </a:extLst>
                </a:gridCol>
                <a:gridCol w="1789850">
                  <a:extLst>
                    <a:ext uri="{9D8B030D-6E8A-4147-A177-3AD203B41FA5}">
                      <a16:colId xmlns:a16="http://schemas.microsoft.com/office/drawing/2014/main" val="2943870936"/>
                    </a:ext>
                  </a:extLst>
                </a:gridCol>
                <a:gridCol w="1421558">
                  <a:extLst>
                    <a:ext uri="{9D8B030D-6E8A-4147-A177-3AD203B41FA5}">
                      <a16:colId xmlns:a16="http://schemas.microsoft.com/office/drawing/2014/main" val="656209149"/>
                    </a:ext>
                  </a:extLst>
                </a:gridCol>
              </a:tblGrid>
              <a:tr h="207723">
                <a:tc gridSpan="4">
                  <a:txBody>
                    <a:bodyPr/>
                    <a:lstStyle/>
                    <a:p>
                      <a:pPr marL="0" marR="0" lvl="0" indent="0" algn="ctr" defTabSz="914400" rtl="0" eaLnBrk="1" fontAlgn="auto" latinLnBrk="0" hangingPunct="1">
                        <a:lnSpc>
                          <a:spcPct val="106000"/>
                        </a:lnSpc>
                        <a:spcBef>
                          <a:spcPts val="0"/>
                        </a:spcBef>
                        <a:spcAft>
                          <a:spcPts val="0"/>
                        </a:spcAft>
                        <a:buClrTx/>
                        <a:buSzTx/>
                        <a:buFontTx/>
                        <a:buNone/>
                        <a:tabLst/>
                        <a:defRPr/>
                      </a:pPr>
                      <a:r>
                        <a:rPr lang="da-DK" sz="975" b="1" noProof="0">
                          <a:solidFill>
                            <a:schemeClr val="tx2"/>
                          </a:solidFill>
                        </a:rPr>
                        <a:t xml:space="preserve">Energiforbrug i MWh </a:t>
                      </a:r>
                      <a:r>
                        <a:rPr lang="da-DK" sz="975" b="0" noProof="0">
                          <a:solidFill>
                            <a:schemeClr val="tx2"/>
                          </a:solidFill>
                        </a:rPr>
                        <a:t xml:space="preserve">(pkt. 32)</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a:lnSpc>
                          <a:spcPct val="106000"/>
                        </a:lnSpc>
                      </a:pPr>
                      <a:endParaRPr lang="da-DK" sz="725" b="1">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a:lnSpc>
                          <a:spcPct val="106000"/>
                        </a:lnSpc>
                      </a:pPr>
                      <a:endParaRPr lang="da-DK" sz="725" b="1">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marL="0" marR="0" lvl="0" indent="0" algn="ctr" defTabSz="914400" rtl="0" eaLnBrk="1" fontAlgn="auto" latinLnBrk="0" hangingPunct="1">
                        <a:lnSpc>
                          <a:spcPct val="106000"/>
                        </a:lnSpc>
                        <a:spcBef>
                          <a:spcPts val="0"/>
                        </a:spcBef>
                        <a:spcAft>
                          <a:spcPts val="0"/>
                        </a:spcAft>
                        <a:buClrTx/>
                        <a:buSzTx/>
                        <a:buFontTx/>
                        <a:buNone/>
                        <a:tabLst/>
                        <a:defRPr/>
                      </a:pPr>
                      <a:endParaRPr lang="da-DK" sz="725" b="1" noProof="0">
                        <a:solidFill>
                          <a:srgbClr val="1B4528"/>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38440226"/>
                  </a:ext>
                </a:extLst>
              </a:tr>
              <a:tr h="330257">
                <a:tc>
                  <a:txBody>
                    <a:bodyPr/>
                    <a:lstStyle/>
                    <a:p>
                      <a:pPr>
                        <a:lnSpc>
                          <a:spcPct val="106000"/>
                        </a:lnSpc>
                      </a:pPr>
                      <a:endParaRPr lang="da-DK" sz="975" b="1"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nSpc>
                          <a:spcPct val="106000"/>
                        </a:lnSpc>
                      </a:pPr>
                      <a:r>
                        <a:rPr lang="da-DK" sz="975" b="1" noProof="0">
                          <a:solidFill>
                            <a:schemeClr val="tx2"/>
                          </a:solidFill>
                        </a:rPr>
                        <a:t xml:space="preserve">Vedvarende energiforbrug</a:t>
                      </a:r>
                      <a:r>
                        <a:rPr lang="da-DK" sz="975" b="1" noProof="0">
                          <a:solidFill>
                            <a:schemeClr val="tx2"/>
                          </a:solidFill>
                        </a:rPr>
                        <a:t xml:space="preserve"> (MWh)</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nSpc>
                          <a:spcPct val="106000"/>
                        </a:lnSpc>
                      </a:pPr>
                      <a:r>
                        <a:rPr lang="da-DK" sz="975" b="1" noProof="0">
                          <a:solidFill>
                            <a:schemeClr val="tx2"/>
                          </a:solidFill>
                        </a:rPr>
                        <a:t xml:space="preserve">Ikke-vedvarende energiforbrug</a:t>
                      </a:r>
                      <a:r>
                        <a:rPr lang="da-DK" sz="975" b="1" noProof="0">
                          <a:solidFill>
                            <a:schemeClr val="tx2"/>
                          </a:solidFill>
                        </a:rPr>
                        <a:t xml:space="preserve"> (MWh)</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6000"/>
                        </a:lnSpc>
                        <a:spcBef>
                          <a:spcPts val="0"/>
                        </a:spcBef>
                        <a:spcAft>
                          <a:spcPts val="0"/>
                        </a:spcAft>
                        <a:buClrTx/>
                        <a:buSzTx/>
                        <a:buFontTx/>
                        <a:buNone/>
                        <a:tabLst/>
                        <a:defRPr/>
                      </a:pPr>
                      <a:r>
                        <a:rPr lang="da-DK" sz="975" b="1" noProof="0">
                          <a:solidFill>
                            <a:schemeClr val="tx2"/>
                          </a:solidFill>
                        </a:rPr>
                        <a:t xml:space="preserve">Total energiforbrug (MWh)</a:t>
                      </a:r>
                    </a:p>
                    <a:p>
                      <a:pPr marL="0" marR="0" lvl="0" indent="0" algn="r" defTabSz="914400" rtl="0" eaLnBrk="1" fontAlgn="auto" latinLnBrk="0" hangingPunct="1">
                        <a:lnSpc>
                          <a:spcPct val="106000"/>
                        </a:lnSpc>
                        <a:spcBef>
                          <a:spcPts val="0"/>
                        </a:spcBef>
                        <a:spcAft>
                          <a:spcPts val="0"/>
                        </a:spcAft>
                        <a:buClrTx/>
                        <a:buSzTx/>
                        <a:buFontTx/>
                        <a:buNone/>
                        <a:tabLst/>
                        <a:defRPr/>
                      </a:pPr>
                      <a:r>
                        <a:rPr lang="da-DK" sz="975" b="1" noProof="0">
                          <a:solidFill>
                            <a:srgbClr val="1B4528"/>
                          </a:solidFill>
                        </a:rPr>
                        <a:t>{{insert_year}}</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330257">
                <a:tc>
                  <a:txBody>
                    <a:bodyPr/>
                    <a:lstStyle/>
                    <a:p>
                      <a:pPr>
                        <a:lnSpc>
                          <a:spcPct val="106000"/>
                        </a:lnSpc>
                      </a:pPr>
                      <a:r>
                        <a:rPr lang="da-DK" sz="975" b="1" noProof="0">
                          <a:solidFill>
                            <a:schemeClr val="tx2"/>
                          </a:solidFill>
                        </a:rPr>
                        <a:t xml:space="preserve">Elektricitet </a:t>
                      </a:r>
                      <a:r>
                        <a:rPr lang="da-DK" sz="975" b="0" noProof="0">
                          <a:solidFill>
                            <a:schemeClr val="tx2"/>
                          </a:solidFill>
                        </a:rPr>
                        <a:t xml:space="preserve">(som det fremgår af virksomhedens forbrugsregninger)</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da-DK" sz="975" b="0" i="0" u="none" strike="noStrike" noProof="0">
                          <a:solidFill>
                            <a:srgbClr val="1B4528"/>
                          </a:solidFill>
                          <a:effectLst/>
                          <a:latin typeface="IBM Plex Sans" panose="020B0503050203000203" pitchFamily="34" charset="0"/>
                        </a:rPr>
                        <a:t>{{electricity_renewable}}</a:t>
                      </a:r>
                      <a:endParaRPr lang="da-DK"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lgn="r">
                        <a:buNone/>
                      </a:pPr>
                      <a:r>
                        <a:rPr lang="da-DK" sz="975" b="0" i="0" u="none" strike="noStrike" noProof="0">
                          <a:solidFill>
                            <a:srgbClr val="1B4528"/>
                          </a:solidFill>
                          <a:effectLst/>
                          <a:latin typeface="IBM Plex Sans" panose="020B0503050203000203" pitchFamily="34" charset="0"/>
                        </a:rPr>
                        <a:t>{{electricity_non_rewenable}}</a:t>
                      </a:r>
                      <a:endParaRPr lang="da-DK"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lgn="r">
                        <a:buNone/>
                      </a:pPr>
                      <a:r>
                        <a:rPr lang="da-DK" sz="975" b="0" i="0" u="none" strike="noStrike" noProof="0">
                          <a:solidFill>
                            <a:srgbClr val="1B4528"/>
                          </a:solidFill>
                          <a:effectLst/>
                          <a:latin typeface="IBM Plex Sans" panose="020B0503050203000203" pitchFamily="34" charset="0"/>
                        </a:rPr>
                        <a:t>{{total_electricity}}</a:t>
                      </a:r>
                      <a:endParaRPr lang="da-DK"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977038530"/>
                  </a:ext>
                </a:extLst>
              </a:tr>
              <a:tr h="207723">
                <a:tc>
                  <a:txBody>
                    <a:bodyPr/>
                    <a:lstStyle/>
                    <a:p>
                      <a:pPr>
                        <a:lnSpc>
                          <a:spcPct val="106000"/>
                        </a:lnSpc>
                      </a:pPr>
                      <a:r>
                        <a:rPr lang="da-DK" sz="975" b="1" noProof="0">
                          <a:solidFill>
                            <a:schemeClr val="tx2"/>
                          </a:solidFill>
                        </a:rPr>
                        <a:t xml:space="preserve">Brændstoffer</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da-DK" sz="975" b="0" i="0" u="none" strike="noStrike" noProof="0">
                          <a:solidFill>
                            <a:srgbClr val="1B4528"/>
                          </a:solidFill>
                          <a:effectLst/>
                          <a:latin typeface="IBM Plex Sans" panose="020B0503050203000203" pitchFamily="34" charset="0"/>
                        </a:rPr>
                        <a:t>{{fuel_renewable}}</a:t>
                      </a:r>
                      <a:endParaRPr lang="da-DK"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lgn="r">
                        <a:buNone/>
                      </a:pPr>
                      <a:r>
                        <a:rPr lang="da-DK" sz="975" b="0" i="0" u="none" strike="noStrike" noProof="0">
                          <a:solidFill>
                            <a:srgbClr val="1B4528"/>
                          </a:solidFill>
                          <a:effectLst/>
                          <a:latin typeface="IBM Plex Sans" panose="020B0503050203000203" pitchFamily="34" charset="0"/>
                        </a:rPr>
                        <a:t>{{fuel_non_rewenable}}</a:t>
                      </a:r>
                      <a:endParaRPr lang="da-DK"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lgn="r">
                        <a:buNone/>
                      </a:pPr>
                      <a:r>
                        <a:rPr lang="da-DK" sz="975" b="0" i="0" u="none" strike="noStrike" noProof="0">
                          <a:solidFill>
                            <a:srgbClr val="1B4528"/>
                          </a:solidFill>
                          <a:effectLst/>
                          <a:latin typeface="IBM Plex Sans" panose="020B0503050203000203" pitchFamily="34" charset="0"/>
                        </a:rPr>
                        <a:t>{{total_fuel}}</a:t>
                      </a:r>
                      <a:endParaRPr lang="da-DK"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3228766998"/>
                  </a:ext>
                </a:extLst>
              </a:tr>
              <a:tr h="207723">
                <a:tc>
                  <a:txBody>
                    <a:bodyPr/>
                    <a:lstStyle/>
                    <a:p>
                      <a:pPr>
                        <a:lnSpc>
                          <a:spcPct val="106000"/>
                        </a:lnSpc>
                      </a:pPr>
                      <a:r>
                        <a:rPr lang="da-DK" sz="975" b="1" noProof="0">
                          <a:solidFill>
                            <a:schemeClr val="tx2"/>
                          </a:solidFill>
                        </a:rPr>
                        <a:t xml:space="preserve">Andet (fx fjernvarme)</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da-DK" sz="975" b="0" i="0" u="none" strike="noStrike" noProof="0">
                          <a:solidFill>
                            <a:srgbClr val="1B4528"/>
                          </a:solidFill>
                          <a:effectLst/>
                          <a:latin typeface="IBM Plex Sans" panose="020B0503050203000203" pitchFamily="34" charset="0"/>
                        </a:rPr>
                        <a:t>{{district_heating_rewenable}}</a:t>
                      </a:r>
                      <a:endParaRPr lang="da-DK"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lgn="r">
                        <a:buNone/>
                      </a:pPr>
                      <a:r>
                        <a:rPr lang="da-DK" sz="975" b="0" i="0" u="none" strike="noStrike" noProof="0">
                          <a:solidFill>
                            <a:srgbClr val="1B4528"/>
                          </a:solidFill>
                          <a:effectLst/>
                          <a:latin typeface="IBM Plex Sans" panose="020B0503050203000203" pitchFamily="34" charset="0"/>
                        </a:rPr>
                        <a:t>{{district_heating_non_rewenable}}</a:t>
                      </a:r>
                      <a:endParaRPr lang="da-DK"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lgn="r">
                        <a:buNone/>
                      </a:pPr>
                      <a:r>
                        <a:rPr lang="da-DK" sz="975" b="0" i="0" u="none" strike="noStrike" noProof="0">
                          <a:solidFill>
                            <a:srgbClr val="1B4528"/>
                          </a:solidFill>
                          <a:effectLst/>
                          <a:latin typeface="IBM Plex Sans" panose="020B0503050203000203" pitchFamily="34" charset="0"/>
                        </a:rPr>
                        <a:t>{{total_district_heating}}</a:t>
                      </a:r>
                      <a:endParaRPr lang="da-DK"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362237485"/>
                  </a:ext>
                </a:extLst>
              </a:tr>
              <a:tr h="207723">
                <a:tc>
                  <a:txBody>
                    <a:bodyPr/>
                    <a:lstStyle/>
                    <a:p>
                      <a:pPr>
                        <a:lnSpc>
                          <a:spcPct val="106000"/>
                        </a:lnSpc>
                      </a:pPr>
                      <a:r>
                        <a:rPr lang="da-DK" sz="975" b="1" noProof="0">
                          <a:solidFill>
                            <a:schemeClr val="tx2"/>
                          </a:solidFill>
                        </a:rPr>
                        <a:t>Total</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da-DK" sz="975" b="0" i="0" u="none" strike="noStrike" noProof="0">
                          <a:solidFill>
                            <a:srgbClr val="1B4528"/>
                          </a:solidFill>
                          <a:effectLst/>
                          <a:latin typeface="IBM Plex Sans" panose="020B0503050203000203" pitchFamily="34" charset="0"/>
                        </a:rPr>
                        <a:t>{{renewable_energy_total}}</a:t>
                      </a:r>
                      <a:endParaRPr lang="da-DK"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lgn="r">
                        <a:buNone/>
                      </a:pPr>
                      <a:r>
                        <a:rPr lang="da-DK" sz="975" b="0" i="0" u="none" strike="noStrike" noProof="0">
                          <a:solidFill>
                            <a:srgbClr val="1B4528"/>
                          </a:solidFill>
                          <a:effectLst/>
                          <a:latin typeface="IBM Plex Sans" panose="020B0503050203000203" pitchFamily="34" charset="0"/>
                        </a:rPr>
                        <a:t>{{non_rewenable_energy_total}}</a:t>
                      </a:r>
                      <a:endParaRPr lang="da-DK"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lgn="r">
                        <a:buNone/>
                      </a:pPr>
                      <a:r>
                        <a:rPr lang="da-DK" sz="975" b="0" i="0" u="none" strike="noStrike" noProof="0">
                          <a:solidFill>
                            <a:srgbClr val="1B4528"/>
                          </a:solidFill>
                          <a:effectLst/>
                          <a:latin typeface="IBM Plex Sans" panose="020B0503050203000203" pitchFamily="34" charset="0"/>
                        </a:rPr>
                        <a:t>{{total_energy_consumption}}</a:t>
                      </a:r>
                      <a:endParaRPr lang="da-DK"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855206388"/>
                  </a:ext>
                </a:extLst>
              </a:tr>
            </a:tbl>
          </a:graphicData>
        </a:graphic>
      </p:graphicFrame>
      <p:sp>
        <p:nvSpPr>
          <p:cNvPr id="6" name="Slide Number Placeholder 5">
            <a:extLst>
              <a:ext uri="{FF2B5EF4-FFF2-40B4-BE49-F238E27FC236}">
                <a16:creationId xmlns:a16="http://schemas.microsoft.com/office/drawing/2014/main" id="{4477F7BF-85D3-AAB2-E437-08AF193582A9}"/>
              </a:ext>
              <a:ext uri="{C183D7F6-B498-43B3-948B-1728B52AA6E4}">
                <adec:decorative xmlns:adec="http://schemas.microsoft.com/office/drawing/2017/decorative" val="1"/>
              </a:ext>
            </a:extLst>
          </p:cNvPr>
          <p:cNvSpPr>
            <a:spLocks noGrp="1"/>
          </p:cNvSpPr>
          <p:nvPr>
            <p:ph type="sldNum" sz="quarter" idx="12"/>
          </p:nvPr>
        </p:nvSpPr>
        <p:spPr/>
        <p:txBody>
          <a:bodyPr/>
          <a:lstStyle/>
          <a:p>
            <a:fld id="{5A0D23CF-C5A3-5445-819D-C647D180BB4B}" type="slidenum">
              <a:rPr lang="da-DK" noProof="0" smtClean="0"/>
              <a:pPr/>
              <a:t>5</a:t>
            </a:fld>
            <a:endParaRPr lang="da-DK" noProof="0"/>
          </a:p>
        </p:txBody>
      </p:sp>
      <p:sp>
        <p:nvSpPr>
          <p:cNvPr id="5" name="Footer Placeholder 4">
            <a:extLst>
              <a:ext uri="{FF2B5EF4-FFF2-40B4-BE49-F238E27FC236}">
                <a16:creationId xmlns:a16="http://schemas.microsoft.com/office/drawing/2014/main" id="{DBAF5DBA-985E-0DEE-3635-AA29433685C0}"/>
              </a:ext>
              <a:ext uri="{C183D7F6-B498-43B3-948B-1728B52AA6E4}">
                <adec:decorative xmlns:adec="http://schemas.microsoft.com/office/drawing/2017/decorative" val="1"/>
              </a:ext>
            </a:extLst>
          </p:cNvPr>
          <p:cNvSpPr>
            <a:spLocks noGrp="1"/>
          </p:cNvSpPr>
          <p:nvPr>
            <p:ph type="ftr" sz="quarter" idx="11"/>
          </p:nvPr>
        </p:nvSpPr>
        <p:spPr/>
        <p:txBody>
          <a:bodyPr/>
          <a:lstStyle/>
          <a:p>
            <a:r>
              <a:rPr lang="da-DK" noProof="0"/>
              <a:t>{{company_name}}</a:t>
            </a:r>
            <a:endParaRPr lang="da-DK" b="0" noProof="0"/>
          </a:p>
          <a:p>
            <a:br>
              <a:rPr lang="da-DK" noProof="0"/>
            </a:br>
            <a:endParaRPr lang="da-DK" noProof="0"/>
          </a:p>
        </p:txBody>
      </p:sp>
      <p:sp>
        <p:nvSpPr>
          <p:cNvPr id="12" name="Tekstfelt 11">
            <a:extLst>
              <a:ext uri="{FF2B5EF4-FFF2-40B4-BE49-F238E27FC236}">
                <a16:creationId xmlns:a16="http://schemas.microsoft.com/office/drawing/2014/main" id="{4EDC705C-923B-3F7B-2016-F3C31DC2828B}"/>
              </a:ext>
            </a:extLst>
          </p:cNvPr>
          <p:cNvSpPr txBox="1"/>
          <p:nvPr/>
        </p:nvSpPr>
        <p:spPr>
          <a:xfrm>
            <a:off x="411480" y="1204910"/>
            <a:ext cx="6737040" cy="689402"/>
          </a:xfrm>
          <a:prstGeom prst="rect">
            <a:avLst/>
          </a:prstGeom>
          <a:noFill/>
        </p:spPr>
        <p:txBody>
          <a:bodyPr wrap="square" lIns="76197" tIns="38098" rIns="76197" bIns="38098" anchor="t">
            <a:spAutoFit/>
          </a:bodyPr>
          <a:lstStyle/>
          <a:p>
            <a:r>
              <a:rPr lang="da-DK" sz="975" b="0" i="0" u="none" strike="noStrike" noProof="0">
                <a:solidFill>
                  <a:schemeClr val="tx2"/>
                </a:solidFill>
                <a:effectLst/>
                <a:latin typeface="Inter"/>
              </a:rPr>
              <a:t xml:space="preserve">Dette afsnit angiver virksomhedens CO2-udledning fra energiforbrug og angiver vedvarende og ikke-vedvarende forbrug. </a:t>
            </a:r>
            <a:r>
              <a:rPr lang="da-DK" sz="975" noProof="0">
                <a:solidFill>
                  <a:schemeClr val="tx2"/>
                </a:solidFill>
                <a:latin typeface="Inter"/>
              </a:rPr>
              <a:t xml:space="preserve">Udledningerne er oplyst ud fra </a:t>
            </a:r>
            <a:r>
              <a:rPr lang="da-DK" sz="975" b="0" i="0" u="none" strike="noStrike" noProof="0">
                <a:solidFill>
                  <a:schemeClr val="tx2"/>
                </a:solidFill>
                <a:effectLst/>
                <a:latin typeface="Inter"/>
              </a:rPr>
              <a:t xml:space="preserve">GHG-protokollens definitioner afhvad direkte og indirekte emissioner omfatter. </a:t>
            </a:r>
            <a:br>
              <a:rPr lang="da-DK" sz="975" b="0" i="0" u="none" strike="noStrike" noProof="0" dirty="0">
                <a:effectLst/>
                <a:latin typeface="Inter"/>
              </a:rPr>
            </a:br>
            <a:br>
              <a:rPr lang="da-DK" sz="975" dirty="0">
                <a:latin typeface="Inter"/>
              </a:rPr>
            </a:br>
            <a:r>
              <a:rPr lang="da-DK" sz="650" b="0" i="0" u="none" strike="noStrike" noProof="0">
                <a:solidFill>
                  <a:schemeClr val="tx2"/>
                </a:solidFill>
                <a:effectLst/>
                <a:latin typeface="Inter"/>
              </a:rPr>
              <a:t> </a:t>
            </a:r>
            <a:endParaRPr lang="da-DK" sz="975" b="0" i="0" u="none" strike="noStrike" noProof="0" dirty="0">
              <a:solidFill>
                <a:schemeClr val="tx2"/>
              </a:solidFill>
              <a:effectLst/>
              <a:latin typeface="Inter"/>
            </a:endParaRPr>
          </a:p>
          <a:p>
            <a:pPr rtl="0">
              <a:buNone/>
            </a:pPr>
            <a:endParaRPr lang="da-DK" sz="975" b="0" noProof="0">
              <a:solidFill>
                <a:schemeClr val="tx2"/>
              </a:solidFill>
              <a:effectLst/>
              <a:latin typeface="Inter"/>
            </a:endParaRPr>
          </a:p>
          <a:p>
            <a:pPr>
              <a:buNone/>
            </a:pPr>
            <a:endParaRPr lang="da-DK" b="0" noProof="0">
              <a:solidFill>
                <a:schemeClr val="tx2"/>
              </a:solidFill>
              <a:effectLst/>
              <a:latin typeface="Inter"/>
            </a:endParaRPr>
          </a:p>
          <a:p>
            <a:pPr>
              <a:buNone/>
            </a:pPr>
            <a:endParaRPr lang="da-DK" sz="1325" noProof="0">
              <a:solidFill>
                <a:schemeClr val="tx2"/>
              </a:solidFill>
              <a:latin typeface="Inter"/>
            </a:endParaRPr>
          </a:p>
          <a:p>
            <a:pPr>
              <a:buNone/>
            </a:pPr>
            <a:endParaRPr lang="da-DK" sz="1325" b="0" noProof="0">
              <a:solidFill>
                <a:schemeClr val="tx2"/>
              </a:solidFill>
              <a:effectLst/>
              <a:latin typeface="Inter"/>
            </a:endParaRPr>
          </a:p>
          <a:p>
            <a:pPr>
              <a:buNone/>
            </a:pPr>
            <a:endParaRPr lang="da-DK" sz="1325" noProof="0">
              <a:solidFill>
                <a:schemeClr val="tx2"/>
              </a:solidFill>
              <a:latin typeface="Inter"/>
            </a:endParaRPr>
          </a:p>
          <a:p>
            <a:pPr>
              <a:buNone/>
            </a:pPr>
            <a:endParaRPr lang="da-DK" sz="1325" b="0" noProof="0">
              <a:solidFill>
                <a:schemeClr val="tx2"/>
              </a:solidFill>
              <a:effectLst/>
              <a:latin typeface="Inter"/>
            </a:endParaRPr>
          </a:p>
          <a:p>
            <a:endParaRPr lang="da-DK" sz="1325" b="1">
              <a:latin typeface="+mj-lt"/>
            </a:endParaRPr>
          </a:p>
        </p:txBody>
      </p:sp>
      <p:graphicFrame>
        <p:nvGraphicFramePr>
          <p:cNvPr id="15" name="Table 18">
            <a:extLst>
              <a:ext uri="{FF2B5EF4-FFF2-40B4-BE49-F238E27FC236}">
                <a16:creationId xmlns:a16="http://schemas.microsoft.com/office/drawing/2014/main" id="{550C2B5F-F365-2A58-DF02-C096E906DD7B}"/>
              </a:ext>
            </a:extLst>
          </p:cNvPr>
          <p:cNvGraphicFramePr>
            <a:graphicFrameLocks noGrp="1"/>
          </p:cNvGraphicFramePr>
          <p:nvPr>
            <p:extLst>
              <p:ext uri="{D42A27DB-BD31-4B8C-83A1-F6EECF244321}">
                <p14:modId xmlns:p14="http://schemas.microsoft.com/office/powerpoint/2010/main" val="4106924491"/>
              </p:ext>
            </p:extLst>
          </p:nvPr>
        </p:nvGraphicFramePr>
        <p:xfrm>
          <a:off x="411480" y="6553529"/>
          <a:ext cx="6737040" cy="903578"/>
        </p:xfrm>
        <a:graphic>
          <a:graphicData uri="http://schemas.openxmlformats.org/drawingml/2006/table">
            <a:tbl>
              <a:tblPr firstRow="1">
                <a:tableStyleId>{2A488322-F2BA-4B5B-9748-0D474271808F}</a:tableStyleId>
              </a:tblPr>
              <a:tblGrid>
                <a:gridCol w="5333961">
                  <a:extLst>
                    <a:ext uri="{9D8B030D-6E8A-4147-A177-3AD203B41FA5}">
                      <a16:colId xmlns:a16="http://schemas.microsoft.com/office/drawing/2014/main" val="2698153288"/>
                    </a:ext>
                  </a:extLst>
                </a:gridCol>
                <a:gridCol w="1403079">
                  <a:extLst>
                    <a:ext uri="{9D8B030D-6E8A-4147-A177-3AD203B41FA5}">
                      <a16:colId xmlns:a16="http://schemas.microsoft.com/office/drawing/2014/main" val="656209149"/>
                    </a:ext>
                  </a:extLst>
                </a:gridCol>
              </a:tblGrid>
              <a:tr h="226610">
                <a:tc>
                  <a:txBody>
                    <a:bodyPr/>
                    <a:lstStyle/>
                    <a:p>
                      <a:pPr>
                        <a:lnSpc>
                          <a:spcPct val="106000"/>
                        </a:lnSpc>
                      </a:pPr>
                      <a:r>
                        <a:rPr lang="da-DK" sz="975" b="1" noProof="0">
                          <a:solidFill>
                            <a:schemeClr val="tx2"/>
                          </a:solidFill>
                        </a:rPr>
                        <a:t xml:space="preserve">Udledning af drivhusgasser </a:t>
                      </a:r>
                      <a:r>
                        <a:rPr lang="da-DK" sz="975" b="0" noProof="0">
                          <a:solidFill>
                            <a:schemeClr val="tx2"/>
                          </a:solidFill>
                        </a:rPr>
                        <a:t xml:space="preserve">(pkt. 33)</a:t>
                      </a:r>
                      <a:endParaRPr lang="da-DK" sz="975" b="1"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6000"/>
                        </a:lnSpc>
                        <a:spcBef>
                          <a:spcPts val="0"/>
                        </a:spcBef>
                        <a:spcAft>
                          <a:spcPts val="0"/>
                        </a:spcAft>
                        <a:buClrTx/>
                        <a:buSzTx/>
                        <a:buFontTx/>
                        <a:buNone/>
                        <a:tabLst/>
                        <a:defRPr/>
                      </a:pPr>
                      <a:r>
                        <a:rPr lang="da-DK" sz="975" b="1" noProof="0">
                          <a:solidFill>
                            <a:schemeClr val="tx2"/>
                          </a:solidFill>
                        </a:rPr>
                        <a:t xml:space="preserve">År </a:t>
                      </a:r>
                      <a:r>
                        <a:rPr lang="da-DK" sz="975" b="1" noProof="0">
                          <a:solidFill>
                            <a:srgbClr val="1B4528"/>
                          </a:solidFill>
                          <a:latin typeface="Calibri" panose="020F0502020204030204" pitchFamily="34" charset="0"/>
                          <a:cs typeface="Calibri" panose="020F0502020204030204" pitchFamily="34" charset="0"/>
                        </a:rPr>
                        <a:t>{{insert_year}}</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225656">
                <a:tc>
                  <a:txBody>
                    <a:bodyPr/>
                    <a:lstStyle/>
                    <a:p>
                      <a:pPr>
                        <a:lnSpc>
                          <a:spcPct val="106000"/>
                        </a:lnSpc>
                      </a:pPr>
                      <a:r>
                        <a:rPr lang="da-DK" sz="975" b="1" noProof="0">
                          <a:solidFill>
                            <a:schemeClr val="tx2"/>
                          </a:solidFill>
                        </a:rPr>
                        <a:t xml:space="preserve">Scope 1 CO₂e-udledninger</a:t>
                      </a:r>
                      <a:endParaRPr lang="da-DK" sz="975" b="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da-DK" sz="975" b="0" i="0" u="none" strike="noStrike" noProof="0">
                          <a:solidFill>
                            <a:srgbClr val="1B4528"/>
                          </a:solidFill>
                          <a:effectLst/>
                          <a:latin typeface="Inter"/>
                        </a:rPr>
                        <a:t>{{scope1}}</a:t>
                      </a:r>
                      <a:endParaRPr lang="da-DK"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977038530"/>
                  </a:ext>
                </a:extLst>
              </a:tr>
              <a:tr h="225656">
                <a:tc>
                  <a:txBody>
                    <a:bodyPr/>
                    <a:lstStyle/>
                    <a:p>
                      <a:pPr>
                        <a:lnSpc>
                          <a:spcPct val="106000"/>
                        </a:lnSpc>
                      </a:pPr>
                      <a:r>
                        <a:rPr lang="da-DK" sz="975" b="1" noProof="0">
                          <a:solidFill>
                            <a:schemeClr val="tx2"/>
                          </a:solidFill>
                        </a:rPr>
                        <a:t xml:space="preserve">Scope 2 CO₂e-udledninger (lokationsbaseret) </a:t>
                      </a:r>
                      <a:endParaRPr lang="da-DK" sz="975" b="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da-DK" sz="975" b="0" i="0" u="none" strike="noStrike" noProof="0">
                          <a:solidFill>
                            <a:srgbClr val="1B4528"/>
                          </a:solidFill>
                          <a:effectLst/>
                          <a:latin typeface="Inter"/>
                        </a:rPr>
                        <a:t>{{scope2}}</a:t>
                      </a:r>
                      <a:endParaRPr lang="da-DK"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r h="225656">
                <a:tc>
                  <a:txBody>
                    <a:bodyPr/>
                    <a:lstStyle/>
                    <a:p>
                      <a:pPr>
                        <a:lnSpc>
                          <a:spcPct val="106000"/>
                        </a:lnSpc>
                      </a:pPr>
                      <a:r>
                        <a:rPr lang="da-DK" sz="975" b="1" noProof="0">
                          <a:solidFill>
                            <a:schemeClr val="tx2"/>
                          </a:solidFill>
                        </a:rPr>
                        <a:t xml:space="preserve">Total CO₂e-udledning fra scope 1 og scope 2 </a:t>
                      </a:r>
                      <a:endParaRPr lang="da-DK" sz="975" b="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da-DK" sz="975" b="0" i="0" u="none" strike="noStrike" noProof="0">
                          <a:solidFill>
                            <a:srgbClr val="1B4528"/>
                          </a:solidFill>
                          <a:effectLst/>
                          <a:latin typeface="Inter"/>
                        </a:rPr>
                        <a:t>{{total_scope}}</a:t>
                      </a:r>
                      <a:endParaRPr lang="da-DK"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339040515"/>
                  </a:ext>
                </a:extLst>
              </a:tr>
            </a:tbl>
          </a:graphicData>
        </a:graphic>
      </p:graphicFrame>
      <p:sp>
        <p:nvSpPr>
          <p:cNvPr id="912" name="Tekstfelt 11 (cont.)">
            <a:extLst>
              <a:ext uri="{FF2B5EF4-FFF2-40B4-BE49-F238E27FC236}">
                <a16:creationId xmlns:a16="http://schemas.microsoft.com/office/drawing/2014/main" id="{4EDC705C-923B-3F7B-2016-F3C31DC2828B}"/>
              </a:ext>
            </a:extLst>
          </p:cNvPr>
          <p:cNvSpPr txBox="1"/>
          <p:nvPr/>
        </p:nvSpPr>
        <p:spPr>
          <a:xfrm>
            <a:off x="411480" y="4333689"/>
            <a:ext cx="6737040" cy="2194560"/>
          </a:xfrm>
          <a:prstGeom prst="rect">
            <a:avLst/>
          </a:prstGeom>
          <a:noFill/>
        </p:spPr>
        <p:txBody>
          <a:bodyPr wrap="square" lIns="76197" tIns="38098" rIns="76197" bIns="38098" anchor="t">
            <a:spAutoFit/>
          </a:bodyPr>
          <a:lstStyle/>
          <a:p>
            <a:br>
              <a:rPr lang="da-DK" b="1" dirty="0">
                <a:latin typeface="+mj-lt"/>
              </a:rPr>
            </a:br>
            <a:r>
              <a:rPr lang="da-DK" b="1" i="0" u="none" strike="noStrike" noProof="0">
                <a:solidFill>
                  <a:schemeClr val="tx2"/>
                </a:solidFill>
                <a:effectLst/>
                <a:latin typeface="+mj-lt"/>
              </a:rPr>
              <a:t xml:space="preserve">CO₂e-udledning (B3)</a:t>
            </a:r>
            <a:endParaRPr lang="da-DK" noProof="0">
              <a:solidFill>
                <a:schemeClr val="tx2"/>
              </a:solidFill>
              <a:effectLst/>
              <a:latin typeface="+mj-lt"/>
            </a:endParaRPr>
          </a:p>
          <a:p>
            <a:r>
              <a:rPr lang="da-DK" sz="650">
                <a:latin typeface="Inter"/>
              </a:rPr>
              <a:t> </a:t>
            </a:r>
            <a:br>
              <a:rPr lang="da-DK" sz="975" dirty="0">
                <a:solidFill>
                  <a:schemeClr val="tx2"/>
                </a:solidFill>
                <a:latin typeface="Inter"/>
              </a:rPr>
            </a:br>
            <a:r>
              <a:rPr lang="da-DK" sz="975" b="0" i="0" u="none" strike="noStrike" noProof="0">
                <a:solidFill>
                  <a:schemeClr val="tx2"/>
                </a:solidFill>
                <a:effectLst/>
                <a:latin typeface="Inter"/>
              </a:rPr>
              <a:t xml:space="preserve">Pkt. 33 indeholder oplysninger om virksomhedens drivhusgasemissioner baseret på Scope 1- og Scope 2-emissioner. Scope 1 angiver de direkte drivhusgasemissioner og inkluderer emissioner fra kilder, som virksomheden ejer eller kontrollerer direkte. Dette omfatter for eksempel afbrænding af brændstof i firmakøretøjer eller opvarmning af bygninger med naturgas samt emissioner fra industrielle processer og lækager i systemer som f.eks. køling.</a:t>
            </a:r>
            <a:r>
              <a:rPr lang="da-DK" sz="975" noProof="0">
                <a:solidFill>
                  <a:schemeClr val="tx2"/>
                </a:solidFill>
                <a:latin typeface="Inter"/>
              </a:rPr>
              <a:t> </a:t>
            </a:r>
            <a:r>
              <a:rPr lang="da-DK" sz="975" b="0" i="0" u="none" strike="noStrike" noProof="0">
                <a:solidFill>
                  <a:schemeClr val="tx2"/>
                </a:solidFill>
                <a:effectLst/>
                <a:latin typeface="Inter"/>
              </a:rPr>
              <a:t>Scope 2</a:t>
            </a:r>
            <a:r>
              <a:rPr lang="da-DK" sz="975" noProof="0">
                <a:solidFill>
                  <a:schemeClr val="tx2"/>
                </a:solidFill>
                <a:latin typeface="Inter"/>
              </a:rPr>
              <a:t xml:space="preserve"> angiver i</a:t>
            </a:r>
            <a:r>
              <a:rPr lang="da-DK" sz="975" b="0" i="0" u="none" strike="noStrike" noProof="0">
                <a:solidFill>
                  <a:schemeClr val="tx2"/>
                </a:solidFill>
                <a:effectLst/>
                <a:latin typeface="Inter"/>
              </a:rPr>
              <a:t xml:space="preserve">ndirekte emissioner fra køb af elektricitet, som refererer til emissioner fra produktion af den el, damp, varme eller køling, som virksomheden køber og bruger. Selvom disse emissioner stammer fra energiproducenterne, tilskrives de virksomheden, fordi den forbruger energien.</a:t>
            </a:r>
            <a:endParaRPr lang="da-DK" sz="975" b="0" noProof="0">
              <a:solidFill>
                <a:schemeClr val="tx2"/>
              </a:solidFill>
              <a:effectLst/>
              <a:latin typeface="Inter"/>
            </a:endParaRPr>
          </a:p>
        </p:txBody>
      </p:sp>
    </p:spTree>
    <p:extLst>
      <p:ext uri="{BB962C8B-B14F-4D97-AF65-F5344CB8AC3E}">
        <p14:creationId xmlns:p14="http://schemas.microsoft.com/office/powerpoint/2010/main" val="291076555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F150DD1-68D5-731F-A718-D62C3CF30A65}"/>
              </a:ext>
            </a:extLst>
          </p:cNvPr>
          <p:cNvSpPr>
            <a:spLocks noGrp="1"/>
          </p:cNvSpPr>
          <p:nvPr>
            <p:ph type="title"/>
          </p:nvPr>
        </p:nvSpPr>
        <p:spPr/>
        <p:txBody>
          <a:bodyPr/>
          <a:lstStyle/>
          <a:p>
            <a:r>
              <a:rPr lang="da-DK" noProof="0"/>
              <a:t xml:space="preserve">Forurening af luft, vand og jord (B4)</a:t>
            </a:r>
          </a:p>
        </p:txBody>
      </p:sp>
      <p:graphicFrame>
        <p:nvGraphicFramePr>
          <p:cNvPr id="13" name="Table 12">
            <a:extLst>
              <a:ext uri="{FF2B5EF4-FFF2-40B4-BE49-F238E27FC236}">
                <a16:creationId xmlns:a16="http://schemas.microsoft.com/office/drawing/2014/main" id="{AE932BB9-32D4-19FC-5E73-EB89688D4CBF}"/>
              </a:ext>
            </a:extLst>
          </p:cNvPr>
          <p:cNvGraphicFramePr>
            <a:graphicFrameLocks noGrp="1"/>
          </p:cNvGraphicFramePr>
          <p:nvPr>
            <p:extLst>
              <p:ext uri="{D42A27DB-BD31-4B8C-83A1-F6EECF244321}">
                <p14:modId xmlns:p14="http://schemas.microsoft.com/office/powerpoint/2010/main" val="455973087"/>
              </p:ext>
            </p:extLst>
          </p:nvPr>
        </p:nvGraphicFramePr>
        <p:xfrm>
          <a:off x="411480" y="1625932"/>
          <a:ext cx="6737040" cy="666620"/>
        </p:xfrm>
        <a:graphic>
          <a:graphicData uri="http://schemas.openxmlformats.org/drawingml/2006/table">
            <a:tbl>
              <a:tblPr firstRow="1">
                <a:tableStyleId>{2A488322-F2BA-4B5B-9748-0D474271808F}</a:tableStyleId>
              </a:tblPr>
              <a:tblGrid>
                <a:gridCol w="2134358">
                  <a:extLst>
                    <a:ext uri="{9D8B030D-6E8A-4147-A177-3AD203B41FA5}">
                      <a16:colId xmlns:a16="http://schemas.microsoft.com/office/drawing/2014/main" val="2698153288"/>
                    </a:ext>
                  </a:extLst>
                </a:gridCol>
                <a:gridCol w="2057899">
                  <a:extLst>
                    <a:ext uri="{9D8B030D-6E8A-4147-A177-3AD203B41FA5}">
                      <a16:colId xmlns:a16="http://schemas.microsoft.com/office/drawing/2014/main" val="2119413191"/>
                    </a:ext>
                  </a:extLst>
                </a:gridCol>
                <a:gridCol w="2544783">
                  <a:extLst>
                    <a:ext uri="{9D8B030D-6E8A-4147-A177-3AD203B41FA5}">
                      <a16:colId xmlns:a16="http://schemas.microsoft.com/office/drawing/2014/main" val="683090399"/>
                    </a:ext>
                  </a:extLst>
                </a:gridCol>
              </a:tblGrid>
              <a:tr h="232847">
                <a:tc gridSpan="3">
                  <a:txBody>
                    <a:bodyPr/>
                    <a:lstStyle/>
                    <a:p>
                      <a:pPr>
                        <a:lnSpc>
                          <a:spcPct val="106000"/>
                        </a:lnSpc>
                      </a:pPr>
                      <a:r>
                        <a:rPr lang="da-DK" sz="824" b="1" noProof="0">
                          <a:solidFill>
                            <a:schemeClr val="tx2"/>
                          </a:solidFill>
                        </a:rPr>
                        <a:t xml:space="preserve">Forurening af luft, vand og jord </a:t>
                      </a:r>
                      <a:r>
                        <a:rPr lang="da-DK" sz="824" b="0" noProof="0">
                          <a:solidFill>
                            <a:schemeClr val="tx2"/>
                          </a:solidFill>
                        </a:rPr>
                        <a:t xml:space="preserve">(pkt. 34) </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endParaRPr lang="da-DK" sz="750" b="1">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endParaRPr lang="da-DK"/>
                    </a:p>
                  </a:txBody>
                  <a:tcPr/>
                </a:tc>
                <a:extLst>
                  <a:ext uri="{0D108BD9-81ED-4DB2-BD59-A6C34878D82A}">
                    <a16:rowId xmlns:a16="http://schemas.microsoft.com/office/drawing/2014/main" val="625231048"/>
                  </a:ext>
                </a:extLst>
              </a:tr>
              <a:tr h="232847">
                <a:tc>
                  <a:txBody>
                    <a:bodyPr/>
                    <a:lstStyle/>
                    <a:p>
                      <a:pPr marL="0" marR="0" lvl="0" indent="0" algn="l" defTabSz="914400" rtl="0" eaLnBrk="1" fontAlgn="auto" latinLnBrk="0" hangingPunct="1">
                        <a:lnSpc>
                          <a:spcPct val="106000"/>
                        </a:lnSpc>
                        <a:spcBef>
                          <a:spcPts val="0"/>
                        </a:spcBef>
                        <a:spcAft>
                          <a:spcPts val="0"/>
                        </a:spcAft>
                        <a:buClrTx/>
                        <a:buSzTx/>
                        <a:buFontTx/>
                        <a:buNone/>
                        <a:tabLst/>
                        <a:defRPr/>
                      </a:pPr>
                      <a:r>
                        <a:rPr lang="da-DK" sz="824" b="1" noProof="0">
                          <a:solidFill>
                            <a:schemeClr val="tx2"/>
                          </a:solidFill>
                        </a:rPr>
                        <a:t xml:space="preserve">Type af forurening </a:t>
                      </a:r>
                      <a:r>
                        <a:rPr lang="da-DK" sz="824" b="0" noProof="0">
                          <a:solidFill>
                            <a:schemeClr val="tx2"/>
                          </a:solidFill>
                        </a:rPr>
                        <a:t xml:space="preserve">(fx stof)</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a:lnSpc>
                          <a:spcPct val="106000"/>
                        </a:lnSpc>
                      </a:pPr>
                      <a:r>
                        <a:rPr lang="da-DK" sz="824" b="1" noProof="0">
                          <a:solidFill>
                            <a:schemeClr val="tx2"/>
                          </a:solidFill>
                        </a:rPr>
                        <a:t xml:space="preserve">Hvor? </a:t>
                      </a:r>
                      <a:r>
                        <a:rPr lang="da-DK" sz="824" b="0" noProof="0">
                          <a:solidFill>
                            <a:schemeClr val="tx2"/>
                          </a:solidFill>
                        </a:rPr>
                        <a:t xml:space="preserve">(luft, vand, jord)</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a:lnSpc>
                          <a:spcPct val="106000"/>
                        </a:lnSpc>
                      </a:pPr>
                      <a:r>
                        <a:rPr lang="da-DK" sz="824" b="1" noProof="0">
                          <a:solidFill>
                            <a:schemeClr val="tx2"/>
                          </a:solidFill>
                        </a:rPr>
                        <a:t xml:space="preserve">Omfang</a:t>
                      </a:r>
                      <a:endParaRPr lang="da-DK" sz="824" b="0" noProof="0">
                        <a:solidFill>
                          <a:srgbClr val="1B4528"/>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200926">
                <a:tc>
                  <a:txBody>
                    <a:bodyPr/>
                    <a:lstStyle/>
                    <a:p>
                      <a:pPr rtl="0" fontAlgn="ctr" algn="l">
                        <a:buNone/>
                      </a:pPr>
                      <a:r>
                        <a:rPr lang="da-DK" sz="824" b="0" i="0" u="none" strike="noStrike" noProof="0">
                          <a:solidFill>
                            <a:srgbClr val="1B4528"/>
                          </a:solidFill>
                          <a:effectLst/>
                          <a:latin typeface="Inter"/>
                        </a:rPr>
                        <a:t>{{type_of_pollution}}</a:t>
                      </a:r>
                      <a:endParaRPr lang="da-DK" sz="824"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noFill/>
                  </a:tcPr>
                </a:tc>
                <a:tc>
                  <a:txBody>
                    <a:bodyPr/>
                    <a:lstStyle/>
                    <a:p>
                      <a:pPr algn="r" rtl="0" fontAlgn="ctr">
                        <a:buNone/>
                      </a:pPr>
                      <a:r>
                        <a:rPr lang="da-DK" sz="824" b="0" i="0" u="none" strike="noStrike" noProof="0">
                          <a:solidFill>
                            <a:srgbClr val="1B4528"/>
                          </a:solidFill>
                          <a:effectLst/>
                          <a:latin typeface="Inter"/>
                        </a:rPr>
                        <a:t>{{scope_pollution}}</a:t>
                      </a:r>
                      <a:endParaRPr lang="da-DK" sz="824"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r" rtl="0" fontAlgn="ctr">
                        <a:buNone/>
                      </a:pPr>
                      <a:r>
                        <a:rPr lang="da-DK" sz="824" b="0" i="0" u="none" strike="noStrike" noProof="0">
                          <a:solidFill>
                            <a:srgbClr val="1B4528"/>
                          </a:solidFill>
                          <a:effectLst/>
                          <a:latin typeface="Inter"/>
                        </a:rPr>
                        <a:t>{{</a:t>
                      </a:r>
                      <a:r>
                        <a:rPr lang="da-DK" sz="824" b="0" i="0" u="none" strike="noStrike" noProof="0">
                          <a:solidFill>
                            <a:srgbClr val="1B4528"/>
                          </a:solidFill>
                          <a:effectLst/>
                          <a:latin typeface="Inter"/>
                        </a:rPr>
                        <a:t>pollution_medium</a:t>
                      </a:r>
                      <a:r>
                        <a:rPr lang="da-DK" sz="824" b="0" i="0" u="none" strike="noStrike" noProof="0">
                          <a:solidFill>
                            <a:srgbClr val="1B4528"/>
                          </a:solidFill>
                          <a:effectLst/>
                          <a:latin typeface="Inter"/>
                        </a:rPr>
                        <a:t>}}</a:t>
                      </a:r>
                      <a:endParaRPr lang="da-DK" sz="824" b="0" noProof="0" dirty="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339040515"/>
                  </a:ext>
                </a:extLst>
              </a:tr>
            </a:tbl>
          </a:graphicData>
        </a:graphic>
      </p:graphicFrame>
      <p:sp>
        <p:nvSpPr>
          <p:cNvPr id="5" name="Footer Placeholder 4">
            <a:extLst>
              <a:ext uri="{FF2B5EF4-FFF2-40B4-BE49-F238E27FC236}">
                <a16:creationId xmlns:a16="http://schemas.microsoft.com/office/drawing/2014/main" id="{DBAF5DBA-985E-0DEE-3635-AA29433685C0}"/>
              </a:ext>
              <a:ext uri="{C183D7F6-B498-43B3-948B-1728B52AA6E4}">
                <adec:decorative xmlns:adec="http://schemas.microsoft.com/office/drawing/2017/decorative" val="1"/>
              </a:ext>
            </a:extLst>
          </p:cNvPr>
          <p:cNvSpPr>
            <a:spLocks noGrp="1"/>
          </p:cNvSpPr>
          <p:nvPr>
            <p:ph type="ftr" sz="quarter" idx="11"/>
          </p:nvPr>
        </p:nvSpPr>
        <p:spPr/>
        <p:txBody>
          <a:bodyPr/>
          <a:lstStyle/>
          <a:p>
            <a:r>
              <a:rPr lang="da-DK" noProof="0"/>
              <a:t>{{company_name}}</a:t>
            </a:r>
            <a:endParaRPr lang="da-DK" b="0" noProof="0"/>
          </a:p>
          <a:p>
            <a:br>
              <a:rPr lang="da-DK" noProof="0"/>
            </a:br>
            <a:endParaRPr lang="da-DK" noProof="0"/>
          </a:p>
        </p:txBody>
      </p:sp>
      <p:sp>
        <p:nvSpPr>
          <p:cNvPr id="10" name="Tekstfelt 9">
            <a:extLst>
              <a:ext uri="{FF2B5EF4-FFF2-40B4-BE49-F238E27FC236}">
                <a16:creationId xmlns:a16="http://schemas.microsoft.com/office/drawing/2014/main" id="{CADEAD42-343C-93CC-A8B0-E63EFFC56411}"/>
              </a:ext>
            </a:extLst>
          </p:cNvPr>
          <p:cNvSpPr txBox="1"/>
          <p:nvPr/>
        </p:nvSpPr>
        <p:spPr>
          <a:xfrm>
            <a:off x="411480" y="1192938"/>
            <a:ext cx="6737040" cy="384705"/>
          </a:xfrm>
          <a:prstGeom prst="rect">
            <a:avLst/>
          </a:prstGeom>
          <a:noFill/>
        </p:spPr>
        <p:txBody>
          <a:bodyPr wrap="square">
            <a:spAutoFit/>
          </a:bodyPr>
          <a:lstStyle/>
          <a:p>
            <a:pPr rtl="0">
              <a:buNone/>
            </a:pPr>
            <a:r>
              <a:rPr lang="da-DK" sz="824" b="0" i="0" u="none" strike="noStrike" noProof="0">
                <a:solidFill>
                  <a:schemeClr val="tx2"/>
                </a:solidFill>
                <a:effectLst/>
                <a:latin typeface="Inter"/>
              </a:rPr>
              <a:t xml:space="preserve">Virksomheden rapporterer den samlede mængde af forurenende stoffer, der udledes fra deres anlæg. Rapportering om specifikke forurenende stoffer og deres mængder, der udledes til luft, vand og jord</a:t>
            </a:r>
            <a:r>
              <a:rPr lang="da-DK" sz="824" noProof="0">
                <a:solidFill>
                  <a:schemeClr val="tx2"/>
                </a:solidFill>
                <a:latin typeface="Inter"/>
              </a:rPr>
              <a:t xml:space="preserve"> er anført nedenfor.</a:t>
            </a:r>
          </a:p>
        </p:txBody>
      </p:sp>
      <p:sp>
        <p:nvSpPr>
          <p:cNvPr id="16" name="Title 3">
            <a:extLst>
              <a:ext uri="{FF2B5EF4-FFF2-40B4-BE49-F238E27FC236}">
                <a16:creationId xmlns:a16="http://schemas.microsoft.com/office/drawing/2014/main" id="{82FDC1C8-BB82-8F83-2FCB-640700A5A089}"/>
              </a:ext>
            </a:extLst>
          </p:cNvPr>
          <p:cNvSpPr txBox="1">
            <a:spLocks/>
          </p:cNvSpPr>
          <p:nvPr/>
        </p:nvSpPr>
        <p:spPr>
          <a:xfrm>
            <a:off x="411480" y="2673447"/>
            <a:ext cx="6737040" cy="207741"/>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1247" b="1" kern="1200" spc="-10" baseline="0">
                <a:solidFill>
                  <a:schemeClr val="tx2"/>
                </a:solidFill>
                <a:latin typeface="+mj-lt"/>
                <a:ea typeface="+mj-ea"/>
                <a:cs typeface="+mj-cs"/>
              </a:defRPr>
            </a:lvl1pPr>
          </a:lstStyle>
          <a:p>
            <a:r>
              <a:rPr lang="da-DK" noProof="0"/>
              <a:t xml:space="preserve">Biodiversitet (B5) </a:t>
            </a:r>
          </a:p>
        </p:txBody>
      </p:sp>
      <p:graphicFrame>
        <p:nvGraphicFramePr>
          <p:cNvPr id="17" name="Table 12">
            <a:extLst>
              <a:ext uri="{FF2B5EF4-FFF2-40B4-BE49-F238E27FC236}">
                <a16:creationId xmlns:a16="http://schemas.microsoft.com/office/drawing/2014/main" id="{2F8CEDBC-7529-8ACB-98F8-C532E7876A9C}"/>
              </a:ext>
            </a:extLst>
          </p:cNvPr>
          <p:cNvGraphicFramePr>
            <a:graphicFrameLocks noGrp="1"/>
          </p:cNvGraphicFramePr>
          <p:nvPr>
            <p:extLst>
              <p:ext uri="{D42A27DB-BD31-4B8C-83A1-F6EECF244321}">
                <p14:modId xmlns:p14="http://schemas.microsoft.com/office/powerpoint/2010/main" val="1488959812"/>
              </p:ext>
            </p:extLst>
          </p:nvPr>
        </p:nvGraphicFramePr>
        <p:xfrm>
          <a:off x="411480" y="3665551"/>
          <a:ext cx="6737040" cy="792106"/>
        </p:xfrm>
        <a:graphic>
          <a:graphicData uri="http://schemas.openxmlformats.org/drawingml/2006/table">
            <a:tbl>
              <a:tblPr firstRow="1">
                <a:tableStyleId>{2A488322-F2BA-4B5B-9748-0D474271808F}</a:tableStyleId>
              </a:tblPr>
              <a:tblGrid>
                <a:gridCol w="1223626">
                  <a:extLst>
                    <a:ext uri="{9D8B030D-6E8A-4147-A177-3AD203B41FA5}">
                      <a16:colId xmlns:a16="http://schemas.microsoft.com/office/drawing/2014/main" val="2698153288"/>
                    </a:ext>
                  </a:extLst>
                </a:gridCol>
                <a:gridCol w="1837805">
                  <a:extLst>
                    <a:ext uri="{9D8B030D-6E8A-4147-A177-3AD203B41FA5}">
                      <a16:colId xmlns:a16="http://schemas.microsoft.com/office/drawing/2014/main" val="2119413191"/>
                    </a:ext>
                  </a:extLst>
                </a:gridCol>
                <a:gridCol w="1837805">
                  <a:extLst>
                    <a:ext uri="{9D8B030D-6E8A-4147-A177-3AD203B41FA5}">
                      <a16:colId xmlns:a16="http://schemas.microsoft.com/office/drawing/2014/main" val="656209149"/>
                    </a:ext>
                  </a:extLst>
                </a:gridCol>
                <a:gridCol w="1837804">
                  <a:extLst>
                    <a:ext uri="{9D8B030D-6E8A-4147-A177-3AD203B41FA5}">
                      <a16:colId xmlns:a16="http://schemas.microsoft.com/office/drawing/2014/main" val="1502960985"/>
                    </a:ext>
                  </a:extLst>
                </a:gridCol>
              </a:tblGrid>
              <a:tr h="192389">
                <a:tc gridSpan="4">
                  <a:txBody>
                    <a:bodyPr/>
                    <a:lstStyle/>
                    <a:p>
                      <a:r>
                        <a:rPr lang="da-DK" sz="824" b="1" noProof="0">
                          <a:solidFill>
                            <a:schemeClr val="tx2"/>
                          </a:solidFill>
                        </a:rPr>
                        <a:t xml:space="preserve">Områder i nærheden af eller i 'biodiversitetsfølsomme områder’, som virksomheden ejer, lejer eller forvalter </a:t>
                      </a:r>
                      <a:r>
                        <a:rPr lang="da-DK" sz="824" b="0" noProof="0">
                          <a:solidFill>
                            <a:schemeClr val="tx2"/>
                          </a:solidFill>
                        </a:rPr>
                        <a:t xml:space="preserve">(pkt. 35)</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endParaRPr lang="da-DK" sz="750" b="1">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algn="ctr"/>
                      <a:endParaRPr lang="da-DK" sz="750" b="1">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algn="ctr"/>
                      <a:endParaRPr lang="da-DK" sz="750" b="1">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287668">
                <a:tc>
                  <a:txBody>
                    <a:bodyPr/>
                    <a:lstStyle/>
                    <a:p>
                      <a:r>
                        <a:rPr lang="da-DK" sz="824" b="1" noProof="0">
                          <a:solidFill>
                            <a:schemeClr val="tx2"/>
                          </a:solidFill>
                        </a:rPr>
                        <a:t xml:space="preserve">Lokation</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r>
                        <a:rPr lang="da-DK" sz="824" b="1" noProof="0">
                          <a:solidFill>
                            <a:schemeClr val="tx2"/>
                          </a:solidFill>
                        </a:rPr>
                        <a:t xml:space="preserve">Areal opgjort i hektar</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r>
                        <a:rPr lang="da-DK" sz="824" b="1" noProof="0">
                          <a:solidFill>
                            <a:schemeClr val="tx2"/>
                          </a:solidFill>
                        </a:rPr>
                        <a:t xml:space="preserve">Biodiversitetsfølsomt område</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r>
                        <a:rPr lang="da-DK" sz="824" b="1" noProof="0">
                          <a:solidFill>
                            <a:schemeClr val="tx2"/>
                          </a:solidFill>
                        </a:rPr>
                        <a:t xml:space="preserve">Specifikation: I nærheden af eller i et biodiversitetsfølsomt område</a:t>
                      </a:r>
                      <a:endParaRPr lang="da-DK" sz="824" b="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226340">
                <a:tc>
                  <a:txBody>
                    <a:bodyPr/>
                    <a:lstStyle/>
                    <a:p>
                      <a:pPr rtl="0" fontAlgn="ctr" algn="l">
                        <a:buNone/>
                      </a:pPr>
                      <a:r>
                        <a:rPr lang="da-DK" sz="824" b="0" i="0" u="none" strike="noStrike" noProof="0">
                          <a:solidFill>
                            <a:srgbClr val="1B4528"/>
                          </a:solidFill>
                          <a:effectLst/>
                          <a:latin typeface="Inter"/>
                        </a:rPr>
                        <a:t>{{country_location}}</a:t>
                      </a:r>
                      <a:endParaRPr lang="da-DK" sz="824"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noFill/>
                  </a:tcPr>
                </a:tc>
                <a:tc>
                  <a:txBody>
                    <a:bodyPr/>
                    <a:lstStyle/>
                    <a:p>
                      <a:pPr rtl="0" fontAlgn="ctr" algn="r">
                        <a:buNone/>
                      </a:pPr>
                      <a:r>
                        <a:rPr lang="da-DK" sz="824" b="0" i="0" u="none" strike="noStrike" noProof="0">
                          <a:solidFill>
                            <a:srgbClr val="1B4528"/>
                          </a:solidFill>
                          <a:effectLst/>
                          <a:latin typeface="Inter"/>
                        </a:rPr>
                        <a:t> {{area_hect}}</a:t>
                      </a:r>
                      <a:endParaRPr lang="da-DK" sz="824"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lgn="r">
                        <a:buNone/>
                      </a:pPr>
                      <a:r>
                        <a:rPr lang="da-DK" sz="824" b="0" i="0" u="none" strike="noStrike" noProof="0">
                          <a:solidFill>
                            <a:srgbClr val="1B4528"/>
                          </a:solidFill>
                          <a:effectLst/>
                          <a:latin typeface="Inter"/>
                        </a:rPr>
                        <a:t>{{area_name}}</a:t>
                      </a:r>
                      <a:endParaRPr lang="da-DK" sz="824"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lgn="r">
                        <a:buNone/>
                      </a:pPr>
                      <a:r>
                        <a:rPr lang="da-DK" sz="824" b="0" i="0" u="none" strike="noStrike" noProof="0">
                          <a:solidFill>
                            <a:srgbClr val="1B4528"/>
                          </a:solidFill>
                          <a:effectLst/>
                          <a:latin typeface="Inter"/>
                        </a:rPr>
                        <a:t>{{</a:t>
                      </a:r>
                      <a:r>
                        <a:rPr lang="da-DK" sz="824" b="0" i="0" u="none" strike="noStrike" noProof="0">
                          <a:solidFill>
                            <a:srgbClr val="1B4528"/>
                          </a:solidFill>
                          <a:effectLst/>
                          <a:latin typeface="Inter"/>
                        </a:rPr>
                        <a:t>biosensitive_area</a:t>
                      </a:r>
                      <a:r>
                        <a:rPr lang="da-DK" sz="824" b="0" i="0" u="none" strike="noStrike" noProof="0">
                          <a:solidFill>
                            <a:srgbClr val="1B4528"/>
                          </a:solidFill>
                          <a:effectLst/>
                          <a:latin typeface="Inter"/>
                        </a:rPr>
                        <a:t>}}</a:t>
                      </a:r>
                      <a:endParaRPr lang="da-DK" sz="824" b="0" noProof="0" dirty="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bl>
          </a:graphicData>
        </a:graphic>
      </p:graphicFrame>
      <p:sp>
        <p:nvSpPr>
          <p:cNvPr id="18" name="Tekstfelt 17">
            <a:extLst>
              <a:ext uri="{FF2B5EF4-FFF2-40B4-BE49-F238E27FC236}">
                <a16:creationId xmlns:a16="http://schemas.microsoft.com/office/drawing/2014/main" id="{6378062B-84AF-684A-9726-0422CE54B0A8}"/>
              </a:ext>
            </a:extLst>
          </p:cNvPr>
          <p:cNvSpPr txBox="1"/>
          <p:nvPr/>
        </p:nvSpPr>
        <p:spPr>
          <a:xfrm>
            <a:off x="411480" y="2954463"/>
            <a:ext cx="6737040" cy="538588"/>
          </a:xfrm>
          <a:prstGeom prst="rect">
            <a:avLst/>
          </a:prstGeom>
          <a:noFill/>
        </p:spPr>
        <p:txBody>
          <a:bodyPr wrap="square">
            <a:spAutoFit/>
          </a:bodyPr>
          <a:lstStyle/>
          <a:p>
            <a:pPr rtl="0">
              <a:spcBef>
                <a:spcPts val="750"/>
              </a:spcBef>
              <a:spcAft>
                <a:spcPts val="750"/>
              </a:spcAft>
              <a:buNone/>
            </a:pPr>
            <a:r>
              <a:rPr lang="da-DK" sz="824" b="0" i="0" u="none" strike="noStrike" noProof="0">
                <a:solidFill>
                  <a:schemeClr val="tx2"/>
                </a:solidFill>
                <a:effectLst/>
                <a:latin typeface="Inter"/>
              </a:rPr>
              <a:t xml:space="preserve">Virksomhedens oplysninger vedrører de steder, den opererer på, som er placeret i eller i nærheden af biodiversitetsfølsomme områder. Biodiversitetsfølsomme områder defineres som sådanne i særlige naturbeskyttelsesbestemmelser på europæisk eller internationalt plan. Dette omfatter områder, der tilhører Natura 2000, UNESCO og vigtige biodiversitetsområder (KBA'er) samt andre beskyttede områder.</a:t>
            </a:r>
            <a:endParaRPr lang="da-DK" sz="824" noProof="0">
              <a:solidFill>
                <a:schemeClr val="tx2"/>
              </a:solidFill>
              <a:latin typeface="Inter"/>
            </a:endParaRPr>
          </a:p>
        </p:txBody>
      </p:sp>
      <p:sp>
        <p:nvSpPr>
          <p:cNvPr id="2" name="Title 3">
            <a:extLst>
              <a:ext uri="{FF2B5EF4-FFF2-40B4-BE49-F238E27FC236}">
                <a16:creationId xmlns:a16="http://schemas.microsoft.com/office/drawing/2014/main" id="{9FF30C2A-99E4-0235-442A-B520E2E3D75D}"/>
              </a:ext>
            </a:extLst>
          </p:cNvPr>
          <p:cNvSpPr txBox="1">
            <a:spLocks/>
          </p:cNvSpPr>
          <p:nvPr/>
        </p:nvSpPr>
        <p:spPr>
          <a:xfrm>
            <a:off x="423976" y="4779343"/>
            <a:ext cx="6583504" cy="207741"/>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1247" b="1" kern="1200" spc="-10" baseline="0">
                <a:solidFill>
                  <a:schemeClr val="tx2"/>
                </a:solidFill>
                <a:latin typeface="+mj-lt"/>
                <a:ea typeface="+mj-ea"/>
                <a:cs typeface="+mj-cs"/>
              </a:defRPr>
            </a:lvl1pPr>
          </a:lstStyle>
          <a:p>
            <a:r>
              <a:rPr lang="da-DK"/>
              <a:t xml:space="preserve">Vand (B6)</a:t>
            </a:r>
          </a:p>
        </p:txBody>
      </p:sp>
      <p:graphicFrame>
        <p:nvGraphicFramePr>
          <p:cNvPr id="3" name="Table 12">
            <a:extLst>
              <a:ext uri="{FF2B5EF4-FFF2-40B4-BE49-F238E27FC236}">
                <a16:creationId xmlns:a16="http://schemas.microsoft.com/office/drawing/2014/main" id="{EDF86973-DC05-3ECC-6067-2F53E4BE429D}"/>
              </a:ext>
            </a:extLst>
          </p:cNvPr>
          <p:cNvGraphicFramePr>
            <a:graphicFrameLocks noGrp="1"/>
          </p:cNvGraphicFramePr>
          <p:nvPr>
            <p:extLst>
              <p:ext uri="{D42A27DB-BD31-4B8C-83A1-F6EECF244321}">
                <p14:modId xmlns:p14="http://schemas.microsoft.com/office/powerpoint/2010/main" val="2484575700"/>
              </p:ext>
            </p:extLst>
          </p:nvPr>
        </p:nvGraphicFramePr>
        <p:xfrm>
          <a:off x="411480" y="5788087"/>
          <a:ext cx="3295368" cy="1118085"/>
        </p:xfrm>
        <a:graphic>
          <a:graphicData uri="http://schemas.openxmlformats.org/drawingml/2006/table">
            <a:tbl>
              <a:tblPr firstRow="1">
                <a:tableStyleId>{2A488322-F2BA-4B5B-9748-0D474271808F}</a:tableStyleId>
              </a:tblPr>
              <a:tblGrid>
                <a:gridCol w="2113984">
                  <a:extLst>
                    <a:ext uri="{9D8B030D-6E8A-4147-A177-3AD203B41FA5}">
                      <a16:colId xmlns:a16="http://schemas.microsoft.com/office/drawing/2014/main" val="2698153288"/>
                    </a:ext>
                  </a:extLst>
                </a:gridCol>
                <a:gridCol w="1181384">
                  <a:extLst>
                    <a:ext uri="{9D8B030D-6E8A-4147-A177-3AD203B41FA5}">
                      <a16:colId xmlns:a16="http://schemas.microsoft.com/office/drawing/2014/main" val="2119413191"/>
                    </a:ext>
                  </a:extLst>
                </a:gridCol>
              </a:tblGrid>
              <a:tr h="56672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a-DK" sz="824" b="1" noProof="0">
                          <a:solidFill>
                            <a:schemeClr val="tx2"/>
                          </a:solidFill>
                        </a:rPr>
                        <a:t xml:space="preserve">Vandudtag </a:t>
                      </a:r>
                      <a:r>
                        <a:rPr lang="da-DK" sz="824" b="0" noProof="0">
                          <a:solidFill>
                            <a:schemeClr val="tx2"/>
                          </a:solidFill>
                        </a:rPr>
                        <a:t xml:space="preserve">(pkt. 36)</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6000"/>
                        </a:lnSpc>
                        <a:spcBef>
                          <a:spcPts val="0"/>
                        </a:spcBef>
                        <a:spcAft>
                          <a:spcPts val="0"/>
                        </a:spcAft>
                        <a:buClrTx/>
                        <a:buSzTx/>
                        <a:buFontTx/>
                        <a:buNone/>
                        <a:tabLst/>
                        <a:defRPr/>
                      </a:pPr>
                      <a:r>
                        <a:rPr lang="da-DK" sz="824" b="1" noProof="0">
                          <a:solidFill>
                            <a:schemeClr val="tx2"/>
                          </a:solidFill>
                        </a:rPr>
                        <a:t xml:space="preserve">År </a:t>
                      </a:r>
                      <a:r>
                        <a:rPr lang="da-DK" sz="824" b="1" noProof="0">
                          <a:solidFill>
                            <a:srgbClr val="1B4528"/>
                          </a:solidFill>
                        </a:rPr>
                        <a:t>{{insert_year}}</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551364">
                <a:tc>
                  <a:txBody>
                    <a:bodyPr/>
                    <a:lstStyle/>
                    <a:p>
                      <a:r>
                        <a:rPr lang="da-DK" sz="824" b="0" noProof="0">
                          <a:solidFill>
                            <a:schemeClr val="tx2"/>
                          </a:solidFill>
                        </a:rPr>
                        <a:t xml:space="preserve">Samlet for alle lokationer</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a-DK" sz="824" b="0" i="0" u="none" strike="noStrike" kern="1200" cap="none" spc="0" normalizeH="0" baseline="0" noProof="0">
                          <a:ln>
                            <a:noFill/>
                          </a:ln>
                          <a:solidFill>
                            <a:srgbClr val="1B4528"/>
                          </a:solidFill>
                          <a:effectLst/>
                          <a:uLnTx/>
                          <a:uFillTx/>
                          <a:latin typeface="+mn-lt"/>
                          <a:ea typeface="+mn-ea"/>
                          <a:cs typeface="+mn-cs"/>
                        </a:rPr>
                        <a:t>{{</a:t>
                      </a:r>
                      <a:r>
                        <a:rPr kumimoji="0" lang="da-DK" sz="824" b="0" i="0" u="none" strike="noStrike" kern="1200" cap="none" spc="0" normalizeH="0" baseline="0" noProof="0">
                          <a:ln>
                            <a:noFill/>
                          </a:ln>
                          <a:solidFill>
                            <a:srgbClr val="1B4528"/>
                          </a:solidFill>
                          <a:effectLst/>
                          <a:uLnTx/>
                          <a:uFillTx/>
                          <a:latin typeface="+mn-lt"/>
                          <a:ea typeface="+mn-ea"/>
                          <a:cs typeface="+mn-cs"/>
                        </a:rPr>
                        <a:t>total_withdrawal</a:t>
                      </a:r>
                      <a:r>
                        <a:rPr kumimoji="0" lang="da-DK" sz="824" b="0" i="0" u="none" strike="noStrike" kern="1200" cap="none" spc="0" normalizeH="0" baseline="0" noProof="0">
                          <a:ln>
                            <a:noFill/>
                          </a:ln>
                          <a:solidFill>
                            <a:srgbClr val="1B4528"/>
                          </a:solidFill>
                          <a:effectLst/>
                          <a:uLnTx/>
                          <a:uFillTx/>
                          <a:latin typeface="+mn-lt"/>
                          <a:ea typeface="+mn-ea"/>
                          <a:cs typeface="+mn-cs"/>
                        </a:rPr>
                        <a:t>}}</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bl>
          </a:graphicData>
        </a:graphic>
      </p:graphicFrame>
      <p:graphicFrame>
        <p:nvGraphicFramePr>
          <p:cNvPr id="7" name="Table 16">
            <a:extLst>
              <a:ext uri="{FF2B5EF4-FFF2-40B4-BE49-F238E27FC236}">
                <a16:creationId xmlns:a16="http://schemas.microsoft.com/office/drawing/2014/main" id="{CC1DA924-567E-0F60-A4EA-4D7C2A7DFBCC}"/>
              </a:ext>
            </a:extLst>
          </p:cNvPr>
          <p:cNvGraphicFramePr>
            <a:graphicFrameLocks noGrp="1"/>
          </p:cNvGraphicFramePr>
          <p:nvPr>
            <p:extLst>
              <p:ext uri="{D42A27DB-BD31-4B8C-83A1-F6EECF244321}">
                <p14:modId xmlns:p14="http://schemas.microsoft.com/office/powerpoint/2010/main" val="1841516023"/>
              </p:ext>
            </p:extLst>
          </p:nvPr>
        </p:nvGraphicFramePr>
        <p:xfrm>
          <a:off x="3853152" y="5788087"/>
          <a:ext cx="3295368" cy="1106440"/>
        </p:xfrm>
        <a:graphic>
          <a:graphicData uri="http://schemas.openxmlformats.org/drawingml/2006/table">
            <a:tbl>
              <a:tblPr firstRow="1">
                <a:tableStyleId>{2A488322-F2BA-4B5B-9748-0D474271808F}</a:tableStyleId>
              </a:tblPr>
              <a:tblGrid>
                <a:gridCol w="2217448">
                  <a:extLst>
                    <a:ext uri="{9D8B030D-6E8A-4147-A177-3AD203B41FA5}">
                      <a16:colId xmlns:a16="http://schemas.microsoft.com/office/drawing/2014/main" val="2698153288"/>
                    </a:ext>
                  </a:extLst>
                </a:gridCol>
                <a:gridCol w="1077920">
                  <a:extLst>
                    <a:ext uri="{9D8B030D-6E8A-4147-A177-3AD203B41FA5}">
                      <a16:colId xmlns:a16="http://schemas.microsoft.com/office/drawing/2014/main" val="2119413191"/>
                    </a:ext>
                  </a:extLst>
                </a:gridCol>
              </a:tblGrid>
              <a:tr h="45996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a-DK" sz="824" b="1" noProof="0">
                          <a:solidFill>
                            <a:schemeClr val="tx2"/>
                          </a:solidFill>
                        </a:rPr>
                        <a:t xml:space="preserve">Vandforbrug </a:t>
                      </a:r>
                      <a:r>
                        <a:rPr lang="da-DK" sz="824" b="0" noProof="0">
                          <a:solidFill>
                            <a:schemeClr val="tx2"/>
                          </a:solidFill>
                        </a:rPr>
                        <a:t xml:space="preserve">(pkt. 37)</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6000"/>
                        </a:lnSpc>
                        <a:spcBef>
                          <a:spcPts val="0"/>
                        </a:spcBef>
                        <a:spcAft>
                          <a:spcPts val="0"/>
                        </a:spcAft>
                        <a:buClrTx/>
                        <a:buSzTx/>
                        <a:buFontTx/>
                        <a:buNone/>
                        <a:tabLst/>
                        <a:defRPr/>
                      </a:pPr>
                      <a:r>
                        <a:rPr lang="da-DK" sz="824" b="1" noProof="0">
                          <a:solidFill>
                            <a:schemeClr val="tx2"/>
                          </a:solidFill>
                        </a:rPr>
                        <a:t xml:space="preserve">År </a:t>
                      </a:r>
                      <a:r>
                        <a:rPr lang="da-DK" sz="824" b="1" noProof="0">
                          <a:solidFill>
                            <a:srgbClr val="1B4528"/>
                          </a:solidFill>
                        </a:rPr>
                        <a:t>{{insert_year}}</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313748">
                <a:tc>
                  <a:txBody>
                    <a:bodyPr/>
                    <a:lstStyle/>
                    <a:p>
                      <a:r>
                        <a:rPr lang="da-DK" sz="824" b="0" noProof="0">
                          <a:solidFill>
                            <a:schemeClr val="tx2"/>
                          </a:solidFill>
                        </a:rPr>
                        <a:t xml:space="preserve">Samlet for alle lokationer</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r" rtl="0" fontAlgn="ctr">
                        <a:buNone/>
                      </a:pPr>
                      <a:r>
                        <a:rPr lang="da-DK" sz="824" b="0" i="0" u="none" strike="noStrike" noProof="0">
                          <a:solidFill>
                            <a:srgbClr val="1B4528"/>
                          </a:solidFill>
                          <a:effectLst/>
                          <a:latin typeface="Inter"/>
                        </a:rPr>
                        <a:t>{{consumption_total}}</a:t>
                      </a:r>
                      <a:endParaRPr lang="da-DK" sz="824"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r h="34116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a-DK" sz="824" b="0" noProof="0">
                          <a:solidFill>
                            <a:schemeClr val="tx2"/>
                          </a:solidFill>
                        </a:rPr>
                        <a:t xml:space="preserve">Fra lokationer i områder med mangel på vand (højt vandstress)</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r" rtl="0" fontAlgn="ctr">
                        <a:buNone/>
                      </a:pPr>
                      <a:r>
                        <a:rPr lang="da-DK" sz="824" b="0" i="0" u="none" strike="noStrike" noProof="0">
                          <a:solidFill>
                            <a:srgbClr val="1B4528"/>
                          </a:solidFill>
                          <a:effectLst/>
                          <a:latin typeface="Inter"/>
                        </a:rPr>
                        <a:t>{{</a:t>
                      </a:r>
                      <a:r>
                        <a:rPr lang="da-DK" sz="824" b="0" i="0" u="none" strike="noStrike" noProof="0">
                          <a:solidFill>
                            <a:srgbClr val="1B4528"/>
                          </a:solidFill>
                          <a:effectLst/>
                          <a:latin typeface="Inter"/>
                        </a:rPr>
                        <a:t>consumption_waterstress</a:t>
                      </a:r>
                      <a:r>
                        <a:rPr lang="da-DK" sz="824" b="0" i="0" u="none" strike="noStrike" noProof="0">
                          <a:solidFill>
                            <a:srgbClr val="1B4528"/>
                          </a:solidFill>
                          <a:effectLst/>
                          <a:latin typeface="Inter"/>
                        </a:rPr>
                        <a:t>}}</a:t>
                      </a:r>
                      <a:endParaRPr lang="da-DK" sz="824" noProof="0" dirty="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4175797269"/>
                  </a:ext>
                </a:extLst>
              </a:tr>
            </a:tbl>
          </a:graphicData>
        </a:graphic>
      </p:graphicFrame>
      <p:sp>
        <p:nvSpPr>
          <p:cNvPr id="8" name="Tekstfelt 7">
            <a:extLst>
              <a:ext uri="{FF2B5EF4-FFF2-40B4-BE49-F238E27FC236}">
                <a16:creationId xmlns:a16="http://schemas.microsoft.com/office/drawing/2014/main" id="{920A9AE1-EB9B-1D7D-09D0-432E15617FEB}"/>
              </a:ext>
            </a:extLst>
          </p:cNvPr>
          <p:cNvSpPr txBox="1"/>
          <p:nvPr/>
        </p:nvSpPr>
        <p:spPr>
          <a:xfrm>
            <a:off x="411480" y="5110046"/>
            <a:ext cx="6737040" cy="384705"/>
          </a:xfrm>
          <a:prstGeom prst="rect">
            <a:avLst/>
          </a:prstGeom>
          <a:noFill/>
        </p:spPr>
        <p:txBody>
          <a:bodyPr wrap="square">
            <a:spAutoFit/>
          </a:bodyPr>
          <a:lstStyle/>
          <a:p>
            <a:pPr rtl="0">
              <a:spcBef>
                <a:spcPts val="750"/>
              </a:spcBef>
              <a:buNone/>
            </a:pPr>
            <a:r>
              <a:rPr lang="da-DK" sz="824" b="0" i="0" u="none" strike="noStrike" noProof="0">
                <a:solidFill>
                  <a:schemeClr val="tx2"/>
                </a:solidFill>
                <a:effectLst/>
                <a:latin typeface="Inter"/>
              </a:rPr>
              <a:t xml:space="preserve">Vandudtaget er den mængde vand, der anvendes af virksomheden, hvorunder </a:t>
            </a:r>
            <a:r>
              <a:rPr lang="da-DK" sz="824" noProof="0">
                <a:solidFill>
                  <a:schemeClr val="tx2"/>
                </a:solidFill>
                <a:latin typeface="Inter"/>
              </a:rPr>
              <a:t xml:space="preserve">forbruget angiver vand der </a:t>
            </a:r>
            <a:r>
              <a:rPr lang="da-DK" sz="824" b="0" i="0" u="none" strike="noStrike" noProof="0">
                <a:solidFill>
                  <a:schemeClr val="tx2"/>
                </a:solidFill>
                <a:effectLst/>
                <a:latin typeface="Inter"/>
              </a:rPr>
              <a:t xml:space="preserve">ikke udledes eller planlægges udledt tilbage til vandmiljøet eller til en tredjepart. I dette afsnit oplyses virksomhedens samlede vandudtag. Virksomhedens vandforbrug</a:t>
            </a:r>
            <a:r>
              <a:rPr lang="da-DK" sz="824" noProof="0">
                <a:solidFill>
                  <a:schemeClr val="tx2"/>
                </a:solidFill>
                <a:latin typeface="Inter"/>
              </a:rPr>
              <a:t> </a:t>
            </a:r>
            <a:r>
              <a:rPr lang="da-DK" sz="824" b="0" i="0" u="none" strike="noStrike" noProof="0">
                <a:solidFill>
                  <a:schemeClr val="tx2"/>
                </a:solidFill>
                <a:effectLst/>
                <a:latin typeface="Inter"/>
              </a:rPr>
              <a:t xml:space="preserve">og vandudledning fra områder med høj vandstress er anført nedenfor.</a:t>
            </a:r>
            <a:endParaRPr lang="da-DK" sz="824" b="0" noProof="0" dirty="0">
              <a:solidFill>
                <a:schemeClr val="tx2"/>
              </a:solidFill>
              <a:effectLst/>
              <a:latin typeface="Inter"/>
            </a:endParaRPr>
          </a:p>
        </p:txBody>
      </p:sp>
      <p:sp>
        <p:nvSpPr>
          <p:cNvPr id="9" name="Title 3">
            <a:extLst>
              <a:ext uri="{FF2B5EF4-FFF2-40B4-BE49-F238E27FC236}">
                <a16:creationId xmlns:a16="http://schemas.microsoft.com/office/drawing/2014/main" id="{42E20686-EF75-EDCE-51EC-6D93E8BC9DB0}"/>
              </a:ext>
            </a:extLst>
          </p:cNvPr>
          <p:cNvSpPr txBox="1">
            <a:spLocks/>
          </p:cNvSpPr>
          <p:nvPr/>
        </p:nvSpPr>
        <p:spPr>
          <a:xfrm>
            <a:off x="411480" y="7180614"/>
            <a:ext cx="6737040" cy="207741"/>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1247" b="1" kern="1200" spc="-10" baseline="0">
                <a:solidFill>
                  <a:schemeClr val="tx2"/>
                </a:solidFill>
                <a:latin typeface="+mj-lt"/>
                <a:ea typeface="+mj-ea"/>
                <a:cs typeface="+mj-cs"/>
              </a:defRPr>
            </a:lvl1pPr>
          </a:lstStyle>
          <a:p>
            <a:r>
              <a:rPr lang="da-DK" noProof="0"/>
              <a:t xml:space="preserve">Ressourceforbrug, cirkulær økonomi og affaldshåndtering (B7) </a:t>
            </a:r>
          </a:p>
        </p:txBody>
      </p:sp>
      <p:graphicFrame>
        <p:nvGraphicFramePr>
          <p:cNvPr id="11" name="Table 12">
            <a:extLst>
              <a:ext uri="{FF2B5EF4-FFF2-40B4-BE49-F238E27FC236}">
                <a16:creationId xmlns:a16="http://schemas.microsoft.com/office/drawing/2014/main" id="{65985E2E-2BF9-6FC2-7FED-19CBF40C65E9}"/>
              </a:ext>
            </a:extLst>
          </p:cNvPr>
          <p:cNvGraphicFramePr>
            <a:graphicFrameLocks noGrp="1"/>
          </p:cNvGraphicFramePr>
          <p:nvPr>
            <p:extLst>
              <p:ext uri="{D42A27DB-BD31-4B8C-83A1-F6EECF244321}">
                <p14:modId xmlns:p14="http://schemas.microsoft.com/office/powerpoint/2010/main" val="2602752189"/>
              </p:ext>
            </p:extLst>
          </p:nvPr>
        </p:nvGraphicFramePr>
        <p:xfrm>
          <a:off x="3853152" y="7601126"/>
          <a:ext cx="3295368" cy="910441"/>
        </p:xfrm>
        <a:graphic>
          <a:graphicData uri="http://schemas.openxmlformats.org/drawingml/2006/table">
            <a:tbl>
              <a:tblPr firstRow="1">
                <a:tableStyleId>{2A488322-F2BA-4B5B-9748-0D474271808F}</a:tableStyleId>
              </a:tblPr>
              <a:tblGrid>
                <a:gridCol w="1303671">
                  <a:extLst>
                    <a:ext uri="{9D8B030D-6E8A-4147-A177-3AD203B41FA5}">
                      <a16:colId xmlns:a16="http://schemas.microsoft.com/office/drawing/2014/main" val="2698153288"/>
                    </a:ext>
                  </a:extLst>
                </a:gridCol>
                <a:gridCol w="1013047">
                  <a:extLst>
                    <a:ext uri="{9D8B030D-6E8A-4147-A177-3AD203B41FA5}">
                      <a16:colId xmlns:a16="http://schemas.microsoft.com/office/drawing/2014/main" val="2119413191"/>
                    </a:ext>
                  </a:extLst>
                </a:gridCol>
                <a:gridCol w="978650">
                  <a:extLst>
                    <a:ext uri="{9D8B030D-6E8A-4147-A177-3AD203B41FA5}">
                      <a16:colId xmlns:a16="http://schemas.microsoft.com/office/drawing/2014/main" val="656209149"/>
                    </a:ext>
                  </a:extLst>
                </a:gridCol>
              </a:tblGrid>
              <a:tr h="224582">
                <a:tc grid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a-DK" sz="824" b="1" noProof="0">
                          <a:solidFill>
                            <a:schemeClr val="tx2"/>
                          </a:solidFill>
                        </a:rPr>
                        <a:t xml:space="preserve">Oplysning om anvendelse af principper fra cirkulær økonomi </a:t>
                      </a:r>
                      <a:r>
                        <a:rPr lang="da-DK" sz="824" b="0" noProof="0">
                          <a:solidFill>
                            <a:schemeClr val="tx2"/>
                          </a:solidFill>
                        </a:rPr>
                        <a:t xml:space="preserve">(pkt. 38)</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endParaRPr lang="da-DK" sz="750" b="1">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algn="ctr"/>
                      <a:endParaRPr lang="da-DK" sz="750" b="1">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224335">
                <a:tc rowSpan="2">
                  <a:txBody>
                    <a:bodyPr/>
                    <a:lstStyle/>
                    <a:p>
                      <a:r>
                        <a:rPr lang="da-DK" sz="824" b="0" noProof="0">
                          <a:solidFill>
                            <a:schemeClr val="tx2"/>
                          </a:solidFill>
                        </a:rPr>
                        <a:t xml:space="preserve">Min virksomhed anvender principper fra cirkulær økonomi</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a:r>
                        <a:rPr lang="da-DK" sz="824" b="1" noProof="0">
                          <a:solidFill>
                            <a:schemeClr val="tx2"/>
                          </a:solidFill>
                        </a:rPr>
                        <a:t xml:space="preserve">Ja</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a:r>
                        <a:rPr lang="da-DK" sz="824" b="1" noProof="0">
                          <a:solidFill>
                            <a:schemeClr val="tx2"/>
                          </a:solidFill>
                        </a:rPr>
                        <a:t xml:space="preserve">Nej</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285898">
                <a:tc vMerge="1">
                  <a:txBody>
                    <a:bodyPr/>
                    <a:lstStyle/>
                    <a:p>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r" rtl="0" fontAlgn="ctr">
                        <a:buNone/>
                      </a:pPr>
                      <a:r>
                        <a:rPr lang="da-DK" sz="824" b="0" i="0" u="none" strike="noStrike" noProof="0">
                          <a:solidFill>
                            <a:srgbClr val="1B4528"/>
                          </a:solidFill>
                          <a:effectLst/>
                          <a:latin typeface="Inter"/>
                        </a:rPr>
                        <a:t>{{circular_economy_princples_yes}}</a:t>
                      </a:r>
                      <a:endParaRPr lang="da-DK" sz="824"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r" rtl="0" fontAlgn="ctr">
                        <a:buNone/>
                      </a:pPr>
                      <a:r>
                        <a:rPr lang="da-DK" sz="824" b="0" i="0" u="none" strike="noStrike" noProof="0">
                          <a:solidFill>
                            <a:srgbClr val="1B4528"/>
                          </a:solidFill>
                          <a:effectLst/>
                          <a:latin typeface="Inter"/>
                        </a:rPr>
                        <a:t>{{circular_economy_princples_no?}}</a:t>
                      </a:r>
                      <a:endParaRPr lang="da-DK" sz="824"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bl>
          </a:graphicData>
        </a:graphic>
      </p:graphicFrame>
      <p:sp>
        <p:nvSpPr>
          <p:cNvPr id="14" name="Tekstfelt 13">
            <a:extLst>
              <a:ext uri="{FF2B5EF4-FFF2-40B4-BE49-F238E27FC236}">
                <a16:creationId xmlns:a16="http://schemas.microsoft.com/office/drawing/2014/main" id="{C277F934-C96A-D8A6-5040-970AFDDF7CBA}"/>
              </a:ext>
            </a:extLst>
          </p:cNvPr>
          <p:cNvSpPr txBox="1"/>
          <p:nvPr/>
        </p:nvSpPr>
        <p:spPr>
          <a:xfrm>
            <a:off x="411480" y="7584104"/>
            <a:ext cx="3295368" cy="692470"/>
          </a:xfrm>
          <a:prstGeom prst="rect">
            <a:avLst/>
          </a:prstGeom>
          <a:noFill/>
        </p:spPr>
        <p:txBody>
          <a:bodyPr wrap="square" lIns="76197" tIns="38098" rIns="76197" bIns="38098" anchor="t">
            <a:spAutoFit/>
          </a:bodyPr>
          <a:lstStyle/>
          <a:p>
            <a:pPr rtl="0">
              <a:buNone/>
            </a:pPr>
            <a:r>
              <a:rPr lang="da-DK" sz="824" b="0" i="0" u="none" strike="noStrike" noProof="0">
                <a:solidFill>
                  <a:schemeClr val="tx2"/>
                </a:solidFill>
                <a:effectLst/>
                <a:latin typeface="Inter"/>
              </a:rPr>
              <a:t xml:space="preserve">Dette informationskrav angiver information om hvorvidt virksomheden</a:t>
            </a:r>
            <a:r>
              <a:rPr lang="da-DK" sz="824" noProof="0">
                <a:solidFill>
                  <a:schemeClr val="tx2"/>
                </a:solidFill>
                <a:latin typeface="Inter"/>
              </a:rPr>
              <a:t xml:space="preserve"> anvender principper for cirkulær økonomi. Herunder, om der er principper i anvendelse når det kommer til reduktion af affald og forurening samt fokus på cirkulære produkter og materialer.</a:t>
            </a:r>
          </a:p>
        </p:txBody>
      </p:sp>
      <p:graphicFrame>
        <p:nvGraphicFramePr>
          <p:cNvPr id="19" name="Table 2">
            <a:extLst>
              <a:ext uri="{FF2B5EF4-FFF2-40B4-BE49-F238E27FC236}">
                <a16:creationId xmlns:a16="http://schemas.microsoft.com/office/drawing/2014/main" id="{8505FDBE-A563-0A36-5C55-C4AD815DDDED}"/>
              </a:ext>
            </a:extLst>
          </p:cNvPr>
          <p:cNvGraphicFramePr>
            <a:graphicFrameLocks noGrp="1"/>
          </p:cNvGraphicFramePr>
          <p:nvPr>
            <p:extLst>
              <p:ext uri="{D42A27DB-BD31-4B8C-83A1-F6EECF244321}">
                <p14:modId xmlns:p14="http://schemas.microsoft.com/office/powerpoint/2010/main" val="3948212178"/>
              </p:ext>
            </p:extLst>
          </p:nvPr>
        </p:nvGraphicFramePr>
        <p:xfrm>
          <a:off x="411480" y="8712369"/>
          <a:ext cx="6737040" cy="995218"/>
        </p:xfrm>
        <a:graphic>
          <a:graphicData uri="http://schemas.openxmlformats.org/drawingml/2006/table">
            <a:tbl>
              <a:tblPr firstRow="1">
                <a:tableStyleId>{2A488322-F2BA-4B5B-9748-0D474271808F}</a:tableStyleId>
              </a:tblPr>
              <a:tblGrid>
                <a:gridCol w="6737040">
                  <a:extLst>
                    <a:ext uri="{9D8B030D-6E8A-4147-A177-3AD203B41FA5}">
                      <a16:colId xmlns:a16="http://schemas.microsoft.com/office/drawing/2014/main" val="2698153288"/>
                    </a:ext>
                  </a:extLst>
                </a:gridCol>
              </a:tblGrid>
              <a:tr h="156127">
                <a:tc>
                  <a:txBody>
                    <a:bodyPr/>
                    <a:lstStyle/>
                    <a:p>
                      <a:r>
                        <a:rPr lang="da-DK" sz="824" b="1" noProof="0">
                          <a:solidFill>
                            <a:schemeClr val="tx2"/>
                          </a:solidFill>
                        </a:rPr>
                        <a:t xml:space="preserve">Beskrivelse af, hvordan virksomheden arbejder med principper fra cirkulær økonomi </a:t>
                      </a:r>
                      <a:r>
                        <a:rPr lang="da-DK" sz="824" b="0" noProof="0">
                          <a:solidFill>
                            <a:schemeClr val="tx2"/>
                          </a:solidFill>
                        </a:rPr>
                        <a:t xml:space="preserve">(pkt. 38 fortsat)</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786630">
                <a:tc>
                  <a:txBody>
                    <a:bodyPr/>
                    <a:lstStyle/>
                    <a:p>
                      <a:pPr algn="l"/>
                      <a:r>
                        <a:rPr lang="da-DK" sz="824" b="0" kern="1200" noProof="0">
                          <a:solidFill>
                            <a:srgbClr val="1B4528"/>
                          </a:solidFill>
                          <a:latin typeface="+mn-lt"/>
                          <a:ea typeface="+mn-ea"/>
                          <a:cs typeface="+mn-cs"/>
                        </a:rPr>
                        <a:t>{{</a:t>
                      </a:r>
                      <a:r>
                        <a:rPr lang="da-DK" sz="824" b="0" kern="1200" noProof="0">
                          <a:solidFill>
                            <a:srgbClr val="1B4528"/>
                          </a:solidFill>
                          <a:latin typeface="+mn-lt"/>
                          <a:ea typeface="+mn-ea"/>
                          <a:cs typeface="+mn-cs"/>
                        </a:rPr>
                        <a:t>description_of_circular_economies</a:t>
                      </a:r>
                      <a:r>
                        <a:rPr lang="da-DK" sz="824" b="0" kern="1200" noProof="0">
                          <a:solidFill>
                            <a:srgbClr val="1B4528"/>
                          </a:solidFill>
                          <a:latin typeface="+mn-lt"/>
                          <a:ea typeface="+mn-ea"/>
                          <a:cs typeface="+mn-cs"/>
                        </a:rPr>
                        <a:t>}}</a:t>
                      </a:r>
                    </a:p>
                    <a:p>
                      <a:pPr algn="l"/>
                      <a:endParaRPr lang="da-DK" sz="824" b="0" kern="1200" noProof="0" dirty="0">
                        <a:solidFill>
                          <a:srgbClr val="1B4528"/>
                        </a:solidFill>
                        <a:latin typeface="+mn-lt"/>
                        <a:ea typeface="+mn-ea"/>
                        <a:cs typeface="+mn-cs"/>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noFill/>
                  </a:tcPr>
                </a:tc>
                <a:extLst>
                  <a:ext uri="{0D108BD9-81ED-4DB2-BD59-A6C34878D82A}">
                    <a16:rowId xmlns:a16="http://schemas.microsoft.com/office/drawing/2014/main" val="513257532"/>
                  </a:ext>
                </a:extLst>
              </a:tr>
            </a:tbl>
          </a:graphicData>
        </a:graphic>
      </p:graphicFrame>
      <p:sp>
        <p:nvSpPr>
          <p:cNvPr id="20" name="Slide Number Placeholder 5">
            <a:extLst>
              <a:ext uri="{FF2B5EF4-FFF2-40B4-BE49-F238E27FC236}">
                <a16:creationId xmlns:a16="http://schemas.microsoft.com/office/drawing/2014/main" id="{807FF15E-F555-86DB-24C3-D51ED88AD423}"/>
              </a:ext>
              <a:ext uri="{C183D7F6-B498-43B3-948B-1728B52AA6E4}">
                <adec:decorative xmlns:adec="http://schemas.microsoft.com/office/drawing/2017/decorative" val="1"/>
              </a:ext>
            </a:extLst>
          </p:cNvPr>
          <p:cNvSpPr>
            <a:spLocks noGrp="1"/>
          </p:cNvSpPr>
          <p:nvPr>
            <p:ph type="sldNum" sz="quarter" idx="12"/>
          </p:nvPr>
        </p:nvSpPr>
        <p:spPr>
          <a:xfrm>
            <a:off x="5531035" y="10152285"/>
            <a:ext cx="1617485" cy="128235"/>
          </a:xfrm>
        </p:spPr>
        <p:txBody>
          <a:bodyPr/>
          <a:lstStyle/>
          <a:p>
            <a:fld id="{5A0D23CF-C5A3-5445-819D-C647D180BB4B}" type="slidenum">
              <a:rPr lang="da-DK" noProof="0" smtClean="0"/>
              <a:pPr/>
              <a:t>6</a:t>
            </a:fld>
            <a:endParaRPr lang="da-DK" noProof="0"/>
          </a:p>
        </p:txBody>
      </p:sp>
    </p:spTree>
    <p:extLst>
      <p:ext uri="{BB962C8B-B14F-4D97-AF65-F5344CB8AC3E}">
        <p14:creationId xmlns:p14="http://schemas.microsoft.com/office/powerpoint/2010/main" val="270564637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F150DD1-68D5-731F-A718-D62C3CF30A65}"/>
              </a:ext>
            </a:extLst>
          </p:cNvPr>
          <p:cNvSpPr>
            <a:spLocks noGrp="1"/>
          </p:cNvSpPr>
          <p:nvPr>
            <p:ph type="title"/>
          </p:nvPr>
        </p:nvSpPr>
        <p:spPr/>
        <p:txBody>
          <a:bodyPr/>
          <a:lstStyle/>
          <a:p>
            <a:r>
              <a:rPr lang="da-DK" noProof="0"/>
              <a:t xml:space="preserve">Ressourceforbrug, cirkulær økonomi og affaldshåndtering (B7) – fortsat</a:t>
            </a:r>
          </a:p>
        </p:txBody>
      </p:sp>
      <p:graphicFrame>
        <p:nvGraphicFramePr>
          <p:cNvPr id="13" name="Table 12">
            <a:extLst>
              <a:ext uri="{FF2B5EF4-FFF2-40B4-BE49-F238E27FC236}">
                <a16:creationId xmlns:a16="http://schemas.microsoft.com/office/drawing/2014/main" id="{AE932BB9-32D4-19FC-5E73-EB89688D4CBF}"/>
              </a:ext>
            </a:extLst>
          </p:cNvPr>
          <p:cNvGraphicFramePr>
            <a:graphicFrameLocks noGrp="1"/>
          </p:cNvGraphicFramePr>
          <p:nvPr>
            <p:extLst>
              <p:ext uri="{D42A27DB-BD31-4B8C-83A1-F6EECF244321}">
                <p14:modId xmlns:p14="http://schemas.microsoft.com/office/powerpoint/2010/main" val="706275317"/>
              </p:ext>
            </p:extLst>
          </p:nvPr>
        </p:nvGraphicFramePr>
        <p:xfrm>
          <a:off x="411480" y="2279479"/>
          <a:ext cx="6596000" cy="1466696"/>
        </p:xfrm>
        <a:graphic>
          <a:graphicData uri="http://schemas.openxmlformats.org/drawingml/2006/table">
            <a:tbl>
              <a:tblPr firstRow="1">
                <a:tableStyleId>{2A488322-F2BA-4B5B-9748-0D474271808F}</a:tableStyleId>
              </a:tblPr>
              <a:tblGrid>
                <a:gridCol w="2044249">
                  <a:extLst>
                    <a:ext uri="{9D8B030D-6E8A-4147-A177-3AD203B41FA5}">
                      <a16:colId xmlns:a16="http://schemas.microsoft.com/office/drawing/2014/main" val="2698153288"/>
                    </a:ext>
                  </a:extLst>
                </a:gridCol>
                <a:gridCol w="2284259">
                  <a:extLst>
                    <a:ext uri="{9D8B030D-6E8A-4147-A177-3AD203B41FA5}">
                      <a16:colId xmlns:a16="http://schemas.microsoft.com/office/drawing/2014/main" val="2119413191"/>
                    </a:ext>
                  </a:extLst>
                </a:gridCol>
                <a:gridCol w="2267492">
                  <a:extLst>
                    <a:ext uri="{9D8B030D-6E8A-4147-A177-3AD203B41FA5}">
                      <a16:colId xmlns:a16="http://schemas.microsoft.com/office/drawing/2014/main" val="4075157689"/>
                    </a:ext>
                  </a:extLst>
                </a:gridCol>
              </a:tblGrid>
              <a:tr h="273819">
                <a:tc gridSpan="3">
                  <a:txBody>
                    <a:bodyPr/>
                    <a:lstStyle/>
                    <a:p>
                      <a:pPr algn="ctr"/>
                      <a:r>
                        <a:rPr lang="da-DK" sz="975" b="1" noProof="0">
                          <a:solidFill>
                            <a:schemeClr val="tx2"/>
                          </a:solidFill>
                        </a:rPr>
                        <a:t xml:space="preserve">Samlet mængde affald årligt</a:t>
                      </a:r>
                      <a:endParaRPr lang="da-DK" sz="975" b="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endParaRPr lang="da-DK" sz="650" b="1">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endParaRPr lang="da-DK"/>
                    </a:p>
                  </a:txBody>
                  <a:tcPr/>
                </a:tc>
                <a:extLst>
                  <a:ext uri="{0D108BD9-81ED-4DB2-BD59-A6C34878D82A}">
                    <a16:rowId xmlns:a16="http://schemas.microsoft.com/office/drawing/2014/main" val="625231048"/>
                  </a:ext>
                </a:extLst>
              </a:tr>
              <a:tr h="286343">
                <a:tc>
                  <a:txBody>
                    <a:bodyPr/>
                    <a:lstStyle/>
                    <a:p>
                      <a:endParaRPr lang="da-DK" sz="975" b="1"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r>
                        <a:rPr lang="da-DK" sz="975" b="1" noProof="0">
                          <a:solidFill>
                            <a:schemeClr val="tx2"/>
                          </a:solidFill>
                        </a:rPr>
                        <a:t xml:space="preserve">Samlet mængde affald </a:t>
                      </a:r>
                      <a:r>
                        <a:rPr lang="da-DK" sz="975" b="0" noProof="0">
                          <a:solidFill>
                            <a:schemeClr val="tx2"/>
                          </a:solidFill>
                        </a:rPr>
                        <a:t xml:space="preserve">(pkt. 39a)</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r>
                        <a:rPr lang="da-DK" sz="975" b="1" noProof="0">
                          <a:solidFill>
                            <a:schemeClr val="tx2"/>
                          </a:solidFill>
                        </a:rPr>
                        <a:t xml:space="preserve">Affald der omdirigeres til genanvendelse eller forberedelse mhp. genbrug </a:t>
                      </a:r>
                      <a:r>
                        <a:rPr lang="da-DK" sz="975" b="0" noProof="0">
                          <a:solidFill>
                            <a:schemeClr val="tx2"/>
                          </a:solidFill>
                        </a:rPr>
                        <a:t xml:space="preserve">(pkt. 39b)</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23404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a-DK" sz="975" b="1" noProof="0">
                          <a:solidFill>
                            <a:schemeClr val="tx2"/>
                          </a:solidFill>
                        </a:rPr>
                        <a:t xml:space="preserve">Ikke-farligt affald </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endParaRPr lang="da-DK" sz="975" b="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endParaRPr lang="da-DK" sz="975" b="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3316940764"/>
                  </a:ext>
                </a:extLst>
              </a:tr>
              <a:tr h="194713">
                <a:tc>
                  <a:txBody>
                    <a:bodyPr/>
                    <a:lstStyle/>
                    <a:p>
                      <a:pPr rtl="0" fontAlgn="ctr" algn="l">
                        <a:buNone/>
                      </a:pPr>
                      <a:r>
                        <a:rPr lang="da-DK" sz="975" b="0" i="0" u="none" strike="noStrike" noProof="0">
                          <a:solidFill>
                            <a:srgbClr val="1B4528"/>
                          </a:solidFill>
                          <a:effectLst/>
                          <a:latin typeface="Inter"/>
                        </a:rPr>
                        <a:t>{{Type_af_affald}}</a:t>
                      </a:r>
                      <a:endParaRPr lang="da-DK"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da-DK" sz="975" b="0" i="0" u="none" strike="noStrike" noProof="0">
                          <a:solidFill>
                            <a:srgbClr val="1B4528"/>
                          </a:solidFill>
                          <a:effectLst/>
                          <a:latin typeface="Inter"/>
                        </a:rPr>
                        <a:t>{{kg_tons_total}}</a:t>
                      </a:r>
                      <a:endParaRPr lang="da-DK"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lgn="r">
                        <a:buNone/>
                      </a:pPr>
                      <a:r>
                        <a:rPr lang="da-DK" sz="975" b="0" i="0" u="none" strike="noStrike" noProof="0">
                          <a:solidFill>
                            <a:srgbClr val="1B4528"/>
                          </a:solidFill>
                          <a:effectLst/>
                          <a:latin typeface="Inter"/>
                        </a:rPr>
                        <a:t>{{genbrug_kg_tons}}</a:t>
                      </a:r>
                      <a:endParaRPr lang="da-DK"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r h="212229">
                <a:tc>
                  <a:txBody>
                    <a:bodyPr/>
                    <a:lstStyle/>
                    <a:p>
                      <a:r>
                        <a:rPr lang="da-DK" sz="975" b="1" noProof="0">
                          <a:solidFill>
                            <a:schemeClr val="tx2"/>
                          </a:solidFill>
                        </a:rPr>
                        <a:t xml:space="preserve">Farligt affald</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endParaRPr lang="da-DK" sz="975" b="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endParaRPr lang="da-DK" sz="975" b="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269942695"/>
                  </a:ext>
                </a:extLst>
              </a:tr>
              <a:tr h="194713">
                <a:tc>
                  <a:txBody>
                    <a:bodyPr/>
                    <a:lstStyle/>
                    <a:p>
                      <a:pPr rtl="0" fontAlgn="ctr" algn="l">
                        <a:buNone/>
                      </a:pPr>
                      <a:r>
                        <a:rPr lang="da-DK" sz="975" b="0" i="0" u="none" strike="noStrike" noProof="0">
                          <a:solidFill>
                            <a:srgbClr val="1B4528"/>
                          </a:solidFill>
                          <a:effectLst/>
                          <a:latin typeface="Inter"/>
                        </a:rPr>
                        <a:t>{{Type_af_affald_farlig}}</a:t>
                      </a:r>
                      <a:endParaRPr lang="da-DK"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da-DK" sz="975" b="0" i="0" u="none" strike="noStrike" noProof="0">
                          <a:solidFill>
                            <a:srgbClr val="1B4528"/>
                          </a:solidFill>
                          <a:effectLst/>
                          <a:latin typeface="Inter"/>
                        </a:rPr>
                        <a:t>{{farlig_kg_tons}}</a:t>
                      </a:r>
                      <a:endParaRPr lang="da-DK"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lgn="r">
                        <a:buNone/>
                      </a:pPr>
                      <a:r>
                        <a:rPr lang="da-DK" sz="975" b="0" i="0" u="none" strike="noStrike" noProof="0">
                          <a:solidFill>
                            <a:srgbClr val="1B4528"/>
                          </a:solidFill>
                          <a:effectLst/>
                          <a:latin typeface="Inter"/>
                        </a:rPr>
                        <a:t>{{</a:t>
                      </a:r>
                      <a:r>
                        <a:rPr lang="da-DK" sz="975" b="0" i="0" u="none" strike="noStrike" noProof="0">
                          <a:solidFill>
                            <a:srgbClr val="1B4528"/>
                          </a:solidFill>
                          <a:effectLst/>
                          <a:latin typeface="Inter"/>
                        </a:rPr>
                        <a:t>farlig_genbrug_kg_tons</a:t>
                      </a:r>
                      <a:r>
                        <a:rPr lang="da-DK" sz="975" b="0" i="0" u="none" strike="noStrike" noProof="0">
                          <a:solidFill>
                            <a:srgbClr val="1B4528"/>
                          </a:solidFill>
                          <a:effectLst/>
                          <a:latin typeface="Inter"/>
                        </a:rPr>
                        <a:t>}}</a:t>
                      </a:r>
                      <a:endParaRPr lang="da-DK" sz="975" b="0" noProof="0" dirty="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4022327091"/>
                  </a:ext>
                </a:extLst>
              </a:tr>
            </a:tbl>
          </a:graphicData>
        </a:graphic>
      </p:graphicFrame>
      <p:sp>
        <p:nvSpPr>
          <p:cNvPr id="6" name="Slide Number Placeholder 5">
            <a:extLst>
              <a:ext uri="{FF2B5EF4-FFF2-40B4-BE49-F238E27FC236}">
                <a16:creationId xmlns:a16="http://schemas.microsoft.com/office/drawing/2014/main" id="{4477F7BF-85D3-AAB2-E437-08AF193582A9}"/>
              </a:ext>
              <a:ext uri="{C183D7F6-B498-43B3-948B-1728B52AA6E4}">
                <adec:decorative xmlns:adec="http://schemas.microsoft.com/office/drawing/2017/decorative" val="1"/>
              </a:ext>
            </a:extLst>
          </p:cNvPr>
          <p:cNvSpPr>
            <a:spLocks noGrp="1"/>
          </p:cNvSpPr>
          <p:nvPr>
            <p:ph type="sldNum" sz="quarter" idx="12"/>
          </p:nvPr>
        </p:nvSpPr>
        <p:spPr/>
        <p:txBody>
          <a:bodyPr/>
          <a:lstStyle/>
          <a:p>
            <a:fld id="{5A0D23CF-C5A3-5445-819D-C647D180BB4B}" type="slidenum">
              <a:rPr lang="da-DK" noProof="0" smtClean="0"/>
              <a:pPr/>
              <a:t>7</a:t>
            </a:fld>
            <a:endParaRPr lang="da-DK" noProof="0"/>
          </a:p>
        </p:txBody>
      </p:sp>
      <p:sp>
        <p:nvSpPr>
          <p:cNvPr id="5" name="Footer Placeholder 4">
            <a:extLst>
              <a:ext uri="{FF2B5EF4-FFF2-40B4-BE49-F238E27FC236}">
                <a16:creationId xmlns:a16="http://schemas.microsoft.com/office/drawing/2014/main" id="{DBAF5DBA-985E-0DEE-3635-AA29433685C0}"/>
              </a:ext>
              <a:ext uri="{C183D7F6-B498-43B3-948B-1728B52AA6E4}">
                <adec:decorative xmlns:adec="http://schemas.microsoft.com/office/drawing/2017/decorative" val="1"/>
              </a:ext>
            </a:extLst>
          </p:cNvPr>
          <p:cNvSpPr>
            <a:spLocks noGrp="1"/>
          </p:cNvSpPr>
          <p:nvPr>
            <p:ph type="ftr" sz="quarter" idx="11"/>
          </p:nvPr>
        </p:nvSpPr>
        <p:spPr/>
        <p:txBody>
          <a:bodyPr/>
          <a:lstStyle/>
          <a:p>
            <a:r>
              <a:rPr lang="da-DK" noProof="0"/>
              <a:t>{{company_name}}</a:t>
            </a:r>
            <a:endParaRPr lang="da-DK" b="0" noProof="0"/>
          </a:p>
          <a:p>
            <a:br>
              <a:rPr lang="da-DK" noProof="0"/>
            </a:br>
            <a:endParaRPr lang="da-DK" noProof="0"/>
          </a:p>
        </p:txBody>
      </p:sp>
      <p:sp>
        <p:nvSpPr>
          <p:cNvPr id="12" name="Tekstfelt 11">
            <a:extLst>
              <a:ext uri="{FF2B5EF4-FFF2-40B4-BE49-F238E27FC236}">
                <a16:creationId xmlns:a16="http://schemas.microsoft.com/office/drawing/2014/main" id="{482E45A0-0E1E-550D-794B-89296A5D4E7E}"/>
              </a:ext>
            </a:extLst>
          </p:cNvPr>
          <p:cNvSpPr txBox="1"/>
          <p:nvPr/>
        </p:nvSpPr>
        <p:spPr>
          <a:xfrm>
            <a:off x="411480" y="1436370"/>
            <a:ext cx="6737040" cy="384705"/>
          </a:xfrm>
          <a:prstGeom prst="rect">
            <a:avLst/>
          </a:prstGeom>
          <a:noFill/>
        </p:spPr>
        <p:txBody>
          <a:bodyPr wrap="square">
            <a:spAutoFit/>
          </a:bodyPr>
          <a:lstStyle/>
          <a:p>
            <a:pPr rtl="0">
              <a:buNone/>
            </a:pPr>
            <a:r>
              <a:rPr lang="da-DK" sz="975" b="0" i="0" u="none" strike="noStrike" noProof="0">
                <a:solidFill>
                  <a:schemeClr val="tx2"/>
                </a:solidFill>
                <a:effectLst/>
                <a:latin typeface="Inter"/>
              </a:rPr>
              <a:t xml:space="preserve">Følgende afsnit angiver oplysninger om materialeforbrug og affaldshåndtering. Oplysningerne er relateret til cirkulær økonomi og angiver virksomhedens samlede årlige affaldsproduktion (farligt/ikke-farligt) er fordelt og ligeledes anføres mængderne af væsentlige materialer. </a:t>
            </a:r>
            <a:endParaRPr lang="da-DK" sz="975" noProof="0">
              <a:solidFill>
                <a:schemeClr val="tx2"/>
              </a:solidFill>
              <a:latin typeface="Inter"/>
            </a:endParaRPr>
          </a:p>
        </p:txBody>
      </p:sp>
      <p:graphicFrame>
        <p:nvGraphicFramePr>
          <p:cNvPr id="15" name="Table 12">
            <a:extLst>
              <a:ext uri="{FF2B5EF4-FFF2-40B4-BE49-F238E27FC236}">
                <a16:creationId xmlns:a16="http://schemas.microsoft.com/office/drawing/2014/main" id="{D0A6EC25-74E1-FBFB-6875-6CDF69A95318}"/>
              </a:ext>
            </a:extLst>
          </p:cNvPr>
          <p:cNvGraphicFramePr>
            <a:graphicFrameLocks noGrp="1"/>
          </p:cNvGraphicFramePr>
          <p:nvPr>
            <p:extLst>
              <p:ext uri="{D42A27DB-BD31-4B8C-83A1-F6EECF244321}">
                <p14:modId xmlns:p14="http://schemas.microsoft.com/office/powerpoint/2010/main" val="3083849396"/>
              </p:ext>
            </p:extLst>
          </p:nvPr>
        </p:nvGraphicFramePr>
        <p:xfrm>
          <a:off x="423976" y="3974380"/>
          <a:ext cx="6583504" cy="741928"/>
        </p:xfrm>
        <a:graphic>
          <a:graphicData uri="http://schemas.openxmlformats.org/drawingml/2006/table">
            <a:tbl>
              <a:tblPr firstRow="1">
                <a:tableStyleId>{2A488322-F2BA-4B5B-9748-0D474271808F}</a:tableStyleId>
              </a:tblPr>
              <a:tblGrid>
                <a:gridCol w="4223962">
                  <a:extLst>
                    <a:ext uri="{9D8B030D-6E8A-4147-A177-3AD203B41FA5}">
                      <a16:colId xmlns:a16="http://schemas.microsoft.com/office/drawing/2014/main" val="2698153288"/>
                    </a:ext>
                  </a:extLst>
                </a:gridCol>
                <a:gridCol w="2359542">
                  <a:extLst>
                    <a:ext uri="{9D8B030D-6E8A-4147-A177-3AD203B41FA5}">
                      <a16:colId xmlns:a16="http://schemas.microsoft.com/office/drawing/2014/main" val="2119413191"/>
                    </a:ext>
                  </a:extLst>
                </a:gridCol>
              </a:tblGrid>
              <a:tr h="360553">
                <a:tc>
                  <a:txBody>
                    <a:bodyPr/>
                    <a:lstStyle/>
                    <a:p>
                      <a:r>
                        <a:rPr lang="da-DK" sz="975" b="1" noProof="0">
                          <a:solidFill>
                            <a:schemeClr val="tx2"/>
                          </a:solidFill>
                        </a:rPr>
                        <a:t xml:space="preserve">Væsentlige materialer </a:t>
                      </a:r>
                      <a:r>
                        <a:rPr lang="da-DK" sz="975" b="0" noProof="0">
                          <a:solidFill>
                            <a:schemeClr val="tx2"/>
                          </a:solidFill>
                        </a:rPr>
                        <a:t xml:space="preserve">(pkt. 39c)</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r>
                        <a:rPr lang="da-DK" sz="975" b="1" noProof="0">
                          <a:solidFill>
                            <a:schemeClr val="tx2"/>
                          </a:solidFill>
                        </a:rPr>
                        <a:t xml:space="preserve">Årligt masse-flow </a:t>
                      </a:r>
                      <a:r>
                        <a:rPr lang="da-DK" sz="975" b="1" noProof="0">
                          <a:solidFill>
                            <a:srgbClr val="1B4528"/>
                          </a:solidFill>
                        </a:rPr>
                        <a:t>{{insert_year}}</a:t>
                      </a:r>
                      <a:endParaRPr lang="da-DK" sz="975" b="0" noProof="0">
                        <a:solidFill>
                          <a:srgbClr val="1B4528"/>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381375">
                <a:tc>
                  <a:txBody>
                    <a:bodyPr/>
                    <a:lstStyle/>
                    <a:p>
                      <a:pPr algn="l"/>
                      <a:r>
                        <a:rPr lang="da-DK" sz="975" b="0" i="0" u="none" strike="noStrike" noProof="0">
                          <a:solidFill>
                            <a:srgbClr val="1B4528"/>
                          </a:solidFill>
                          <a:latin typeface="Inter"/>
                        </a:rPr>
                        <a:t>{{significant_material}}</a:t>
                      </a:r>
                      <a:endParaRPr lang="da-DK" sz="975" b="0" noProof="0">
                        <a:solidFill>
                          <a:srgbClr val="1B4528"/>
                        </a:solidFill>
                        <a:latin typeface="Inter"/>
                        <a:cs typeface="Calibri"/>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noFill/>
                  </a:tcPr>
                </a:tc>
                <a:tc>
                  <a:txBody>
                    <a:bodyPr/>
                    <a:lstStyle/>
                    <a:p>
                      <a:pPr lvl="0" algn="l">
                        <a:lnSpc>
                          <a:spcPct val="100000"/>
                        </a:lnSpc>
                        <a:spcBef>
                          <a:spcPts val="0"/>
                        </a:spcBef>
                        <a:spcAft>
                          <a:spcPts val="0"/>
                        </a:spcAft>
                        <a:buNone/>
                      </a:pPr>
                      <a:r>
                        <a:rPr lang="da-DK" sz="975" b="0" i="0" u="none" strike="noStrike" noProof="0">
                          <a:solidFill>
                            <a:srgbClr val="1B4528"/>
                          </a:solidFill>
                          <a:latin typeface="Inter"/>
                        </a:rPr>
                        <a:t>{{</a:t>
                      </a:r>
                      <a:r>
                        <a:rPr lang="da-DK" sz="975" b="0" i="0" u="none" strike="noStrike" noProof="0">
                          <a:solidFill>
                            <a:srgbClr val="1B4528"/>
                          </a:solidFill>
                          <a:latin typeface="Inter"/>
                        </a:rPr>
                        <a:t>significant_material_unit</a:t>
                      </a:r>
                      <a:r>
                        <a:rPr lang="da-DK" sz="975" b="0" i="0" u="none" strike="noStrike" noProof="0">
                          <a:solidFill>
                            <a:srgbClr val="1B4528"/>
                          </a:solidFill>
                          <a:latin typeface="Inter"/>
                        </a:rPr>
                        <a:t>}}</a:t>
                      </a:r>
                      <a:endParaRPr lang="da-DK" sz="975" b="0" i="0" u="none" strike="noStrike" noProof="0" dirty="0">
                        <a:solidFill>
                          <a:srgbClr val="000000"/>
                        </a:solidFill>
                        <a:latin typeface="Inter"/>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bl>
          </a:graphicData>
        </a:graphic>
      </p:graphicFrame>
    </p:spTree>
    <p:extLst>
      <p:ext uri="{BB962C8B-B14F-4D97-AF65-F5344CB8AC3E}">
        <p14:creationId xmlns:p14="http://schemas.microsoft.com/office/powerpoint/2010/main" val="209650895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F150DD1-68D5-731F-A718-D62C3CF30A65}"/>
              </a:ext>
            </a:extLst>
          </p:cNvPr>
          <p:cNvSpPr>
            <a:spLocks noGrp="1"/>
          </p:cNvSpPr>
          <p:nvPr>
            <p:ph type="title"/>
          </p:nvPr>
        </p:nvSpPr>
        <p:spPr/>
        <p:txBody>
          <a:bodyPr/>
          <a:lstStyle/>
          <a:p>
            <a:r>
              <a:rPr lang="da-DK" noProof="0"/>
              <a:t xml:space="preserve">Egen arbejdsstyrke: Generelle karakteristika (B8) </a:t>
            </a:r>
          </a:p>
        </p:txBody>
      </p:sp>
      <p:graphicFrame>
        <p:nvGraphicFramePr>
          <p:cNvPr id="8" name="Table 7">
            <a:extLst>
              <a:ext uri="{FF2B5EF4-FFF2-40B4-BE49-F238E27FC236}">
                <a16:creationId xmlns:a16="http://schemas.microsoft.com/office/drawing/2014/main" id="{CE6D2864-50B1-0967-9DFF-408DD8B377E5}"/>
              </a:ext>
            </a:extLst>
          </p:cNvPr>
          <p:cNvGraphicFramePr>
            <a:graphicFrameLocks noGrp="1"/>
          </p:cNvGraphicFramePr>
          <p:nvPr>
            <p:extLst>
              <p:ext uri="{D42A27DB-BD31-4B8C-83A1-F6EECF244321}">
                <p14:modId xmlns:p14="http://schemas.microsoft.com/office/powerpoint/2010/main" val="3894231013"/>
              </p:ext>
            </p:extLst>
          </p:nvPr>
        </p:nvGraphicFramePr>
        <p:xfrm>
          <a:off x="411480" y="2164682"/>
          <a:ext cx="3295368" cy="1655128"/>
        </p:xfrm>
        <a:graphic>
          <a:graphicData uri="http://schemas.openxmlformats.org/drawingml/2006/table">
            <a:tbl>
              <a:tblPr firstRow="1">
                <a:tableStyleId>{2A488322-F2BA-4B5B-9748-0D474271808F}</a:tableStyleId>
              </a:tblPr>
              <a:tblGrid>
                <a:gridCol w="1647684">
                  <a:extLst>
                    <a:ext uri="{9D8B030D-6E8A-4147-A177-3AD203B41FA5}">
                      <a16:colId xmlns:a16="http://schemas.microsoft.com/office/drawing/2014/main" val="2698153288"/>
                    </a:ext>
                  </a:extLst>
                </a:gridCol>
                <a:gridCol w="1647684">
                  <a:extLst>
                    <a:ext uri="{9D8B030D-6E8A-4147-A177-3AD203B41FA5}">
                      <a16:colId xmlns:a16="http://schemas.microsoft.com/office/drawing/2014/main" val="2119413191"/>
                    </a:ext>
                  </a:extLst>
                </a:gridCol>
              </a:tblGrid>
              <a:tr h="475192">
                <a:tc>
                  <a:txBody>
                    <a:bodyPr/>
                    <a:lstStyle/>
                    <a:p>
                      <a:r>
                        <a:rPr lang="da-DK" sz="975" b="1" noProof="0">
                          <a:solidFill>
                            <a:schemeClr val="tx2"/>
                          </a:solidFill>
                        </a:rPr>
                        <a:t xml:space="preserve">Kontrakttype </a:t>
                      </a:r>
                      <a:r>
                        <a:rPr lang="da-DK" sz="975" b="0" noProof="0">
                          <a:solidFill>
                            <a:schemeClr val="tx2"/>
                          </a:solidFill>
                        </a:rPr>
                        <a:t xml:space="preserve">(pkt. 40a)</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r>
                        <a:rPr lang="da-DK" sz="975" b="1" noProof="0">
                          <a:solidFill>
                            <a:schemeClr val="tx2"/>
                          </a:solidFill>
                        </a:rPr>
                        <a:t xml:space="preserve">Antal ansatte (antal personer eller fuldtidsækvivalenter)</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392947">
                <a:tc>
                  <a:txBody>
                    <a:bodyPr/>
                    <a:lstStyle/>
                    <a:p>
                      <a:r>
                        <a:rPr lang="da-DK" sz="975" b="0" noProof="0">
                          <a:solidFill>
                            <a:schemeClr val="tx2"/>
                          </a:solidFill>
                        </a:rPr>
                        <a:t xml:space="preserve">Midlertidig ansættelse</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da-DK" sz="975" b="0" i="0" u="none" strike="noStrike" noProof="0">
                          <a:solidFill>
                            <a:srgbClr val="1B4528"/>
                          </a:solidFill>
                          <a:effectLst/>
                          <a:latin typeface="Inter"/>
                        </a:rPr>
                        <a:t>{{temporary}}</a:t>
                      </a:r>
                      <a:endParaRPr lang="da-DK" sz="975" b="0" noProof="0">
                        <a:effectLst/>
                      </a:endParaRPr>
                    </a:p>
                  </a:txBody>
                  <a:tcPr marL="21166" marR="21166" marT="10583" marB="1058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977038530"/>
                  </a:ext>
                </a:extLst>
              </a:tr>
              <a:tr h="392947">
                <a:tc>
                  <a:txBody>
                    <a:bodyPr/>
                    <a:lstStyle/>
                    <a:p>
                      <a:r>
                        <a:rPr lang="da-DK" sz="975" b="0" noProof="0">
                          <a:solidFill>
                            <a:schemeClr val="tx2"/>
                          </a:solidFill>
                        </a:rPr>
                        <a:t xml:space="preserve">Fastansættelse</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da-DK" sz="975" b="0" i="0" u="none" strike="noStrike" noProof="0">
                          <a:solidFill>
                            <a:srgbClr val="1B4528"/>
                          </a:solidFill>
                          <a:effectLst/>
                          <a:latin typeface="Inter"/>
                        </a:rPr>
                        <a:t>{{fulltime}}</a:t>
                      </a:r>
                      <a:endParaRPr lang="da-DK" sz="975" b="0" noProof="0">
                        <a:effectLst/>
                      </a:endParaRPr>
                    </a:p>
                  </a:txBody>
                  <a:tcPr marL="21166" marR="21166" marT="10583" marB="1058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r h="402085">
                <a:tc>
                  <a:txBody>
                    <a:bodyPr/>
                    <a:lstStyle/>
                    <a:p>
                      <a:r>
                        <a:rPr lang="da-DK" sz="975" b="0" noProof="0">
                          <a:solidFill>
                            <a:schemeClr val="tx2"/>
                          </a:solidFill>
                        </a:rPr>
                        <a:t xml:space="preserve">Totalt antal ansatte</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da-DK" sz="975" b="0" i="0" u="none" strike="noStrike" noProof="0">
                          <a:solidFill>
                            <a:srgbClr val="1B4528"/>
                          </a:solidFill>
                          <a:effectLst/>
                          <a:latin typeface="Inter"/>
                        </a:rPr>
                        <a:t>{{total_employees}}</a:t>
                      </a:r>
                      <a:endParaRPr lang="da-DK" sz="975" b="0" noProof="0">
                        <a:effectLst/>
                      </a:endParaRPr>
                    </a:p>
                  </a:txBody>
                  <a:tcPr marL="21166" marR="21166" marT="10583" marB="1058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191813939"/>
                  </a:ext>
                </a:extLst>
              </a:tr>
            </a:tbl>
          </a:graphicData>
        </a:graphic>
      </p:graphicFrame>
      <p:graphicFrame>
        <p:nvGraphicFramePr>
          <p:cNvPr id="9" name="Table 8">
            <a:extLst>
              <a:ext uri="{FF2B5EF4-FFF2-40B4-BE49-F238E27FC236}">
                <a16:creationId xmlns:a16="http://schemas.microsoft.com/office/drawing/2014/main" id="{746843BE-938A-9316-3C8E-320134DF837C}"/>
              </a:ext>
            </a:extLst>
          </p:cNvPr>
          <p:cNvGraphicFramePr>
            <a:graphicFrameLocks noGrp="1"/>
          </p:cNvGraphicFramePr>
          <p:nvPr>
            <p:extLst>
              <p:ext uri="{D42A27DB-BD31-4B8C-83A1-F6EECF244321}">
                <p14:modId xmlns:p14="http://schemas.microsoft.com/office/powerpoint/2010/main" val="3482765489"/>
              </p:ext>
            </p:extLst>
          </p:nvPr>
        </p:nvGraphicFramePr>
        <p:xfrm>
          <a:off x="3853152" y="2164686"/>
          <a:ext cx="3295368" cy="1681718"/>
        </p:xfrm>
        <a:graphic>
          <a:graphicData uri="http://schemas.openxmlformats.org/drawingml/2006/table">
            <a:tbl>
              <a:tblPr firstRow="1">
                <a:tableStyleId>{2A488322-F2BA-4B5B-9748-0D474271808F}</a:tableStyleId>
              </a:tblPr>
              <a:tblGrid>
                <a:gridCol w="1647684">
                  <a:extLst>
                    <a:ext uri="{9D8B030D-6E8A-4147-A177-3AD203B41FA5}">
                      <a16:colId xmlns:a16="http://schemas.microsoft.com/office/drawing/2014/main" val="2698153288"/>
                    </a:ext>
                  </a:extLst>
                </a:gridCol>
                <a:gridCol w="1647684">
                  <a:extLst>
                    <a:ext uri="{9D8B030D-6E8A-4147-A177-3AD203B41FA5}">
                      <a16:colId xmlns:a16="http://schemas.microsoft.com/office/drawing/2014/main" val="2119413191"/>
                    </a:ext>
                  </a:extLst>
                </a:gridCol>
              </a:tblGrid>
              <a:tr h="239990">
                <a:tc>
                  <a:txBody>
                    <a:bodyPr/>
                    <a:lstStyle/>
                    <a:p>
                      <a:r>
                        <a:rPr lang="da-DK" sz="975" b="1" noProof="0">
                          <a:solidFill>
                            <a:schemeClr val="tx2"/>
                          </a:solidFill>
                          <a:latin typeface="+mn-lt"/>
                        </a:rPr>
                        <a:t xml:space="preserve">Køn</a:t>
                      </a:r>
                      <a:r>
                        <a:rPr lang="da-DK" sz="975" b="0" noProof="0">
                          <a:solidFill>
                            <a:schemeClr val="tx2"/>
                          </a:solidFill>
                          <a:latin typeface="+mn-lt"/>
                        </a:rPr>
                        <a:t xml:space="preserve"> (pkt. 40b)</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r>
                        <a:rPr lang="da-DK" sz="975" b="1" noProof="0">
                          <a:solidFill>
                            <a:schemeClr val="tx2"/>
                          </a:solidFill>
                          <a:latin typeface="+mn-lt"/>
                        </a:rPr>
                        <a:t xml:space="preserve">Antal ansatte (antal personer eller fuldtidsækvivalenter)</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239990">
                <a:tc>
                  <a:txBody>
                    <a:bodyPr/>
                    <a:lstStyle/>
                    <a:p>
                      <a:r>
                        <a:rPr lang="da-DK" sz="975" b="0" noProof="0">
                          <a:solidFill>
                            <a:schemeClr val="tx2"/>
                          </a:solidFill>
                          <a:latin typeface="+mn-lt"/>
                        </a:rPr>
                        <a:t xml:space="preserve">Mand</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da-DK" sz="975" b="0" i="0" u="none" strike="noStrike" noProof="0">
                          <a:solidFill>
                            <a:srgbClr val="1B4528"/>
                          </a:solidFill>
                          <a:effectLst/>
                          <a:latin typeface="Inter"/>
                        </a:rPr>
                        <a:t>{{men}}</a:t>
                      </a:r>
                      <a:endParaRPr lang="da-DK" sz="975" b="0" noProof="0">
                        <a:effectLst/>
                      </a:endParaRPr>
                    </a:p>
                  </a:txBody>
                  <a:tcPr marL="21166" marR="21166" marT="10583" marB="1058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r h="239990">
                <a:tc>
                  <a:txBody>
                    <a:bodyPr/>
                    <a:lstStyle/>
                    <a:p>
                      <a:r>
                        <a:rPr lang="da-DK" sz="975" b="0" noProof="0">
                          <a:solidFill>
                            <a:schemeClr val="tx2"/>
                          </a:solidFill>
                          <a:latin typeface="+mn-lt"/>
                        </a:rPr>
                        <a:t xml:space="preserve">Kvinde</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da-DK" sz="975" b="0" i="0" u="none" strike="noStrike" noProof="0">
                          <a:solidFill>
                            <a:srgbClr val="1B4528"/>
                          </a:solidFill>
                          <a:effectLst/>
                          <a:latin typeface="Inter"/>
                        </a:rPr>
                        <a:t>{{women}}</a:t>
                      </a:r>
                      <a:endParaRPr lang="da-DK" sz="975" b="0" noProof="0">
                        <a:effectLst/>
                      </a:endParaRPr>
                    </a:p>
                  </a:txBody>
                  <a:tcPr marL="21166" marR="21166" marT="10583" marB="1058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191813939"/>
                  </a:ext>
                </a:extLst>
              </a:tr>
              <a:tr h="239990">
                <a:tc>
                  <a:txBody>
                    <a:bodyPr/>
                    <a:lstStyle/>
                    <a:p>
                      <a:r>
                        <a:rPr lang="da-DK" sz="975" b="0" noProof="0">
                          <a:solidFill>
                            <a:schemeClr val="tx2"/>
                          </a:solidFill>
                          <a:latin typeface="+mn-lt"/>
                        </a:rPr>
                        <a:t xml:space="preserve">Andet</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da-DK" sz="975" b="0" i="0" u="none" strike="noStrike" noProof="0">
                          <a:solidFill>
                            <a:srgbClr val="1B4528"/>
                          </a:solidFill>
                          <a:effectLst/>
                          <a:latin typeface="Inter"/>
                        </a:rPr>
                        <a:t>{{others}}</a:t>
                      </a:r>
                      <a:endParaRPr lang="da-DK" sz="975" b="0" noProof="0">
                        <a:effectLst/>
                      </a:endParaRPr>
                    </a:p>
                  </a:txBody>
                  <a:tcPr marL="21166" marR="21166" marT="10583" marB="1058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495992891"/>
                  </a:ext>
                </a:extLst>
              </a:tr>
              <a:tr h="239990">
                <a:tc>
                  <a:txBody>
                    <a:bodyPr/>
                    <a:lstStyle/>
                    <a:p>
                      <a:r>
                        <a:rPr lang="da-DK" sz="975" b="0" noProof="0">
                          <a:solidFill>
                            <a:schemeClr val="tx2"/>
                          </a:solidFill>
                          <a:latin typeface="+mn-lt"/>
                        </a:rPr>
                        <a:t xml:space="preserve">Ikke registreret</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da-DK" sz="975" b="0" i="0" u="none" strike="noStrike" noProof="0">
                          <a:solidFill>
                            <a:srgbClr val="1B4528"/>
                          </a:solidFill>
                          <a:effectLst/>
                          <a:latin typeface="Inter"/>
                        </a:rPr>
                        <a:t>{{not_registeret}}</a:t>
                      </a:r>
                      <a:endParaRPr lang="da-DK" sz="975" b="0" noProof="0">
                        <a:effectLst/>
                      </a:endParaRPr>
                    </a:p>
                  </a:txBody>
                  <a:tcPr marL="21166" marR="21166" marT="10583" marB="1058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151098499"/>
                  </a:ext>
                </a:extLst>
              </a:tr>
              <a:tr h="239990">
                <a:tc>
                  <a:txBody>
                    <a:bodyPr/>
                    <a:lstStyle/>
                    <a:p>
                      <a:r>
                        <a:rPr lang="da-DK" sz="975" b="0" noProof="0">
                          <a:solidFill>
                            <a:schemeClr val="tx2"/>
                          </a:solidFill>
                          <a:latin typeface="+mn-lt"/>
                        </a:rPr>
                        <a:t xml:space="preserve">Totalt antal ansatte</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da-DK" sz="975" b="0" i="0" u="none" strike="noStrike" noProof="0">
                          <a:solidFill>
                            <a:srgbClr val="1B4528"/>
                          </a:solidFill>
                          <a:effectLst/>
                          <a:latin typeface="Inter"/>
                        </a:rPr>
                        <a:t>{{total_employees}}</a:t>
                      </a:r>
                      <a:endParaRPr lang="da-DK" sz="975" b="0" noProof="0">
                        <a:effectLst/>
                      </a:endParaRPr>
                    </a:p>
                  </a:txBody>
                  <a:tcPr marL="21166" marR="21166" marT="10583" marB="1058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341900251"/>
                  </a:ext>
                </a:extLst>
              </a:tr>
            </a:tbl>
          </a:graphicData>
        </a:graphic>
      </p:graphicFrame>
      <p:sp>
        <p:nvSpPr>
          <p:cNvPr id="6" name="Slide Number Placeholder 5">
            <a:extLst>
              <a:ext uri="{FF2B5EF4-FFF2-40B4-BE49-F238E27FC236}">
                <a16:creationId xmlns:a16="http://schemas.microsoft.com/office/drawing/2014/main" id="{4477F7BF-85D3-AAB2-E437-08AF193582A9}"/>
              </a:ext>
              <a:ext uri="{C183D7F6-B498-43B3-948B-1728B52AA6E4}">
                <adec:decorative xmlns:adec="http://schemas.microsoft.com/office/drawing/2017/decorative" val="1"/>
              </a:ext>
            </a:extLst>
          </p:cNvPr>
          <p:cNvSpPr>
            <a:spLocks noGrp="1"/>
          </p:cNvSpPr>
          <p:nvPr>
            <p:ph type="sldNum" sz="quarter" idx="12"/>
          </p:nvPr>
        </p:nvSpPr>
        <p:spPr/>
        <p:txBody>
          <a:bodyPr/>
          <a:lstStyle/>
          <a:p>
            <a:fld id="{5A0D23CF-C5A3-5445-819D-C647D180BB4B}" type="slidenum">
              <a:rPr lang="da-DK" noProof="0" smtClean="0"/>
              <a:pPr/>
              <a:t>8</a:t>
            </a:fld>
            <a:endParaRPr lang="da-DK" noProof="0"/>
          </a:p>
        </p:txBody>
      </p:sp>
      <p:sp>
        <p:nvSpPr>
          <p:cNvPr id="5" name="Footer Placeholder 4">
            <a:extLst>
              <a:ext uri="{FF2B5EF4-FFF2-40B4-BE49-F238E27FC236}">
                <a16:creationId xmlns:a16="http://schemas.microsoft.com/office/drawing/2014/main" id="{DBAF5DBA-985E-0DEE-3635-AA29433685C0}"/>
              </a:ext>
              <a:ext uri="{C183D7F6-B498-43B3-948B-1728B52AA6E4}">
                <adec:decorative xmlns:adec="http://schemas.microsoft.com/office/drawing/2017/decorative" val="1"/>
              </a:ext>
            </a:extLst>
          </p:cNvPr>
          <p:cNvSpPr>
            <a:spLocks noGrp="1"/>
          </p:cNvSpPr>
          <p:nvPr>
            <p:ph type="ftr" sz="quarter" idx="11"/>
          </p:nvPr>
        </p:nvSpPr>
        <p:spPr/>
        <p:txBody>
          <a:bodyPr/>
          <a:lstStyle/>
          <a:p>
            <a:r>
              <a:rPr lang="da-DK" noProof="0"/>
              <a:t>{{company_name}}</a:t>
            </a:r>
            <a:endParaRPr lang="da-DK" b="0" noProof="0"/>
          </a:p>
          <a:p>
            <a:br>
              <a:rPr lang="da-DK" noProof="0"/>
            </a:br>
            <a:endParaRPr lang="da-DK" noProof="0"/>
          </a:p>
        </p:txBody>
      </p:sp>
      <p:sp>
        <p:nvSpPr>
          <p:cNvPr id="3" name="Tekstfelt 2">
            <a:extLst>
              <a:ext uri="{FF2B5EF4-FFF2-40B4-BE49-F238E27FC236}">
                <a16:creationId xmlns:a16="http://schemas.microsoft.com/office/drawing/2014/main" id="{B45D574B-3D14-8531-DB71-2FD2A411CD63}"/>
              </a:ext>
            </a:extLst>
          </p:cNvPr>
          <p:cNvSpPr txBox="1"/>
          <p:nvPr/>
        </p:nvSpPr>
        <p:spPr>
          <a:xfrm>
            <a:off x="411480" y="1189771"/>
            <a:ext cx="6737040" cy="692470"/>
          </a:xfrm>
          <a:prstGeom prst="rect">
            <a:avLst/>
          </a:prstGeom>
          <a:noFill/>
        </p:spPr>
        <p:txBody>
          <a:bodyPr wrap="square">
            <a:spAutoFit/>
          </a:bodyPr>
          <a:lstStyle/>
          <a:p>
            <a:pPr rtl="0">
              <a:buNone/>
            </a:pPr>
            <a:r>
              <a:rPr lang="da-DK" sz="975" b="0" i="0" u="none" strike="noStrike" noProof="0">
                <a:solidFill>
                  <a:srgbClr val="25595D"/>
                </a:solidFill>
                <a:effectLst/>
                <a:latin typeface="Inter"/>
              </a:rPr>
              <a:t xml:space="preserve">Virksomheden har oplyst antallet af medarbejdere for følgende specifikationer: Type ansættelseskontrakt, hvor medarbejderne er opdelt i midlertidige og faste kontrakter; Køn, som giver indsigt i kønsfordelingen blandt medarbejderne; og ansættelseskontraktens land, hvilket er relevant, hvis virksomheden opererer i flere lande.</a:t>
            </a:r>
            <a:endParaRPr lang="da-DK" sz="975" b="0" noProof="0">
              <a:effectLst/>
              <a:latin typeface="Inter"/>
            </a:endParaRPr>
          </a:p>
          <a:p>
            <a:pPr>
              <a:buNone/>
            </a:pPr>
            <a:br>
              <a:rPr lang="da-DK" sz="975" noProof="0">
                <a:latin typeface="Inter"/>
              </a:rPr>
            </a:br>
            <a:endParaRPr lang="da-DK" sz="975" noProof="0">
              <a:latin typeface="Inter"/>
            </a:endParaRPr>
          </a:p>
        </p:txBody>
      </p:sp>
      <p:graphicFrame>
        <p:nvGraphicFramePr>
          <p:cNvPr id="13" name="Table 13">
            <a:extLst>
              <a:ext uri="{FF2B5EF4-FFF2-40B4-BE49-F238E27FC236}">
                <a16:creationId xmlns:a16="http://schemas.microsoft.com/office/drawing/2014/main" id="{42F1F305-B426-7DDF-1FC3-46007564CD01}"/>
              </a:ext>
            </a:extLst>
          </p:cNvPr>
          <p:cNvGraphicFramePr>
            <a:graphicFrameLocks noGrp="1"/>
          </p:cNvGraphicFramePr>
          <p:nvPr>
            <p:extLst>
              <p:ext uri="{D42A27DB-BD31-4B8C-83A1-F6EECF244321}">
                <p14:modId xmlns:p14="http://schemas.microsoft.com/office/powerpoint/2010/main" val="2261046685"/>
              </p:ext>
            </p:extLst>
          </p:nvPr>
        </p:nvGraphicFramePr>
        <p:xfrm>
          <a:off x="411480" y="4271445"/>
          <a:ext cx="6737040" cy="1053148"/>
        </p:xfrm>
        <a:graphic>
          <a:graphicData uri="http://schemas.openxmlformats.org/drawingml/2006/table">
            <a:tbl>
              <a:tblPr firstRow="1">
                <a:tableStyleId>{2A488322-F2BA-4B5B-9748-0D474271808F}</a:tableStyleId>
              </a:tblPr>
              <a:tblGrid>
                <a:gridCol w="3601465">
                  <a:extLst>
                    <a:ext uri="{9D8B030D-6E8A-4147-A177-3AD203B41FA5}">
                      <a16:colId xmlns:a16="http://schemas.microsoft.com/office/drawing/2014/main" val="2698153288"/>
                    </a:ext>
                  </a:extLst>
                </a:gridCol>
                <a:gridCol w="3135575">
                  <a:extLst>
                    <a:ext uri="{9D8B030D-6E8A-4147-A177-3AD203B41FA5}">
                      <a16:colId xmlns:a16="http://schemas.microsoft.com/office/drawing/2014/main" val="2119413191"/>
                    </a:ext>
                  </a:extLst>
                </a:gridCol>
              </a:tblGrid>
              <a:tr h="239990">
                <a:tc>
                  <a:txBody>
                    <a:bodyPr/>
                    <a:lstStyle/>
                    <a:p>
                      <a:r>
                        <a:rPr lang="da-DK" sz="975" b="1" noProof="0">
                          <a:solidFill>
                            <a:schemeClr val="tx2"/>
                          </a:solidFill>
                        </a:rPr>
                        <a:t xml:space="preserve">Land (hvor ansættelseskontrakten er indgået) </a:t>
                      </a:r>
                      <a:r>
                        <a:rPr lang="da-DK" sz="975" b="0" noProof="0">
                          <a:solidFill>
                            <a:schemeClr val="tx2"/>
                          </a:solidFill>
                        </a:rPr>
                        <a:t xml:space="preserve">(pkt. 40c)</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r>
                        <a:rPr lang="da-DK" sz="975" b="1" noProof="0">
                          <a:solidFill>
                            <a:schemeClr val="tx2"/>
                          </a:solidFill>
                        </a:rPr>
                        <a:t xml:space="preserve">Antal ansatte (antal personer eller fuldtidsækvivalenter)</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239990">
                <a:tc>
                  <a:txBody>
                    <a:bodyPr/>
                    <a:lstStyle/>
                    <a:p>
                      <a:r>
                        <a:rPr lang="da-DK" sz="975" b="0" noProof="0">
                          <a:solidFill>
                            <a:schemeClr val="tx2"/>
                          </a:solidFill>
                        </a:rPr>
                        <a:t xml:space="preserve">Danmark</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noFill/>
                  </a:tcPr>
                </a:tc>
                <a:tc>
                  <a:txBody>
                    <a:bodyPr/>
                    <a:lstStyle/>
                    <a:p>
                      <a:pPr rtl="0" fontAlgn="ctr" algn="r">
                        <a:buNone/>
                      </a:pPr>
                      <a:r>
                        <a:rPr lang="da-DK" sz="975" b="0" i="0" u="none" strike="noStrike" noProof="0">
                          <a:solidFill>
                            <a:srgbClr val="1B4528"/>
                          </a:solidFill>
                          <a:effectLst/>
                          <a:latin typeface="Inter"/>
                        </a:rPr>
                        <a:t>{{Denmark}}</a:t>
                      </a:r>
                      <a:endParaRPr lang="da-DK" sz="975" b="0" noProof="0">
                        <a:effectLst/>
                      </a:endParaRPr>
                    </a:p>
                  </a:txBody>
                  <a:tcPr marL="21166" marR="21166" marT="10583" marB="1058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977038530"/>
                  </a:ext>
                </a:extLst>
              </a:tr>
              <a:tr h="239990">
                <a:tc>
                  <a:txBody>
                    <a:bodyPr/>
                    <a:lstStyle/>
                    <a:p>
                      <a:pPr rtl="0" fontAlgn="ctr" algn="l">
                        <a:buNone/>
                      </a:pPr>
                      <a:r>
                        <a:rPr lang="da-DK" sz="975" b="0" i="0" u="none" strike="noStrike" noProof="0">
                          <a:solidFill>
                            <a:srgbClr val="1B4528"/>
                          </a:solidFill>
                          <a:effectLst/>
                          <a:latin typeface="Inter"/>
                        </a:rPr>
                        <a:t>{{Land_b}}</a:t>
                      </a:r>
                      <a:endParaRPr lang="da-DK" sz="975" b="0" noProof="0">
                        <a:effectLst/>
                      </a:endParaRPr>
                    </a:p>
                  </a:txBody>
                  <a:tcPr marL="21166" marR="21166" marT="10583" marB="1058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noFill/>
                  </a:tcPr>
                </a:tc>
                <a:tc>
                  <a:txBody>
                    <a:bodyPr/>
                    <a:lstStyle/>
                    <a:p>
                      <a:pPr rtl="0" fontAlgn="ctr" algn="r">
                        <a:buNone/>
                      </a:pPr>
                      <a:r>
                        <a:rPr lang="da-DK" sz="975" b="0" i="0" u="none" strike="noStrike" noProof="0">
                          <a:solidFill>
                            <a:srgbClr val="1B4528"/>
                          </a:solidFill>
                          <a:effectLst/>
                          <a:latin typeface="Inter"/>
                        </a:rPr>
                        <a:t>{{</a:t>
                      </a:r>
                      <a:r>
                        <a:rPr lang="da-DK" sz="975" b="0" i="0" u="none" strike="noStrike" noProof="0">
                          <a:solidFill>
                            <a:srgbClr val="1B4528"/>
                          </a:solidFill>
                          <a:effectLst/>
                        </a:rPr>
                        <a:t>FTE_eller_antal_personer_land_b</a:t>
                      </a:r>
                      <a:r>
                        <a:rPr lang="da-DK" sz="975" b="0" i="0" u="none" strike="noStrike" noProof="0">
                          <a:solidFill>
                            <a:srgbClr val="1B4528"/>
                          </a:solidFill>
                          <a:effectLst/>
                          <a:latin typeface="Inter"/>
                        </a:rPr>
                        <a:t>}}</a:t>
                      </a:r>
                      <a:endParaRPr lang="da-DK" sz="975" b="0" noProof="0">
                        <a:effectLst/>
                      </a:endParaRPr>
                    </a:p>
                  </a:txBody>
                  <a:tcPr marL="21166" marR="21166" marT="10583" marB="1058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r h="239990">
                <a:tc>
                  <a:txBody>
                    <a:bodyPr/>
                    <a:lstStyle/>
                    <a:p>
                      <a:r>
                        <a:rPr lang="da-DK" sz="975" b="0" noProof="0">
                          <a:solidFill>
                            <a:schemeClr val="tx2"/>
                          </a:solidFill>
                        </a:rPr>
                        <a:t xml:space="preserve">Totalt antal ansatte</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da-DK" sz="975" b="0" i="0" u="none" strike="noStrike" noProof="0">
                          <a:solidFill>
                            <a:srgbClr val="1B4528"/>
                          </a:solidFill>
                          <a:effectLst/>
                          <a:latin typeface="Inter"/>
                        </a:rPr>
                        <a:t>{{Total_out_of_countries}}</a:t>
                      </a:r>
                      <a:endParaRPr lang="da-DK" sz="975" b="0" noProof="0">
                        <a:effectLst/>
                      </a:endParaRPr>
                    </a:p>
                  </a:txBody>
                  <a:tcPr marL="21166" marR="21166" marT="10583" marB="1058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495992891"/>
                  </a:ext>
                </a:extLst>
              </a:tr>
            </a:tbl>
          </a:graphicData>
        </a:graphic>
      </p:graphicFrame>
      <p:sp>
        <p:nvSpPr>
          <p:cNvPr id="2" name="Title 3">
            <a:extLst>
              <a:ext uri="{FF2B5EF4-FFF2-40B4-BE49-F238E27FC236}">
                <a16:creationId xmlns:a16="http://schemas.microsoft.com/office/drawing/2014/main" id="{24772E10-4DDD-1F7B-7401-B85CC016A6A5}"/>
              </a:ext>
            </a:extLst>
          </p:cNvPr>
          <p:cNvSpPr txBox="1">
            <a:spLocks/>
          </p:cNvSpPr>
          <p:nvPr/>
        </p:nvSpPr>
        <p:spPr>
          <a:xfrm>
            <a:off x="423976" y="5693490"/>
            <a:ext cx="6583504" cy="207741"/>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1475" b="1" kern="1200" spc="-10" baseline="0">
                <a:solidFill>
                  <a:schemeClr val="tx2"/>
                </a:solidFill>
                <a:latin typeface="+mj-lt"/>
                <a:ea typeface="+mj-ea"/>
                <a:cs typeface="+mj-cs"/>
              </a:defRPr>
            </a:lvl1pPr>
          </a:lstStyle>
          <a:p>
            <a:r>
              <a:rPr lang="da-DK"/>
              <a:t xml:space="preserve">Egen arbejdsstyrke: Vederlag, overenskomster og uddannelse (B10)</a:t>
            </a:r>
            <a:endParaRPr lang="da-DK" dirty="0"/>
          </a:p>
        </p:txBody>
      </p:sp>
      <p:graphicFrame>
        <p:nvGraphicFramePr>
          <p:cNvPr id="7" name="Table 14">
            <a:extLst>
              <a:ext uri="{FF2B5EF4-FFF2-40B4-BE49-F238E27FC236}">
                <a16:creationId xmlns:a16="http://schemas.microsoft.com/office/drawing/2014/main" id="{0C7C0513-162A-A2C4-1F7F-C0CD906CAB1F}"/>
              </a:ext>
            </a:extLst>
          </p:cNvPr>
          <p:cNvGraphicFramePr>
            <a:graphicFrameLocks noGrp="1"/>
          </p:cNvGraphicFramePr>
          <p:nvPr>
            <p:extLst>
              <p:ext uri="{D42A27DB-BD31-4B8C-83A1-F6EECF244321}">
                <p14:modId xmlns:p14="http://schemas.microsoft.com/office/powerpoint/2010/main" val="4145423573"/>
              </p:ext>
            </p:extLst>
          </p:nvPr>
        </p:nvGraphicFramePr>
        <p:xfrm>
          <a:off x="3853152" y="6867207"/>
          <a:ext cx="3295368" cy="1011536"/>
        </p:xfrm>
        <a:graphic>
          <a:graphicData uri="http://schemas.openxmlformats.org/drawingml/2006/table">
            <a:tbl>
              <a:tblPr firstRow="1">
                <a:tableStyleId>{2A488322-F2BA-4B5B-9748-0D474271808F}</a:tableStyleId>
              </a:tblPr>
              <a:tblGrid>
                <a:gridCol w="2292985">
                  <a:extLst>
                    <a:ext uri="{9D8B030D-6E8A-4147-A177-3AD203B41FA5}">
                      <a16:colId xmlns:a16="http://schemas.microsoft.com/office/drawing/2014/main" val="2698153288"/>
                    </a:ext>
                  </a:extLst>
                </a:gridCol>
                <a:gridCol w="1002383">
                  <a:extLst>
                    <a:ext uri="{9D8B030D-6E8A-4147-A177-3AD203B41FA5}">
                      <a16:colId xmlns:a16="http://schemas.microsoft.com/office/drawing/2014/main" val="2119413191"/>
                    </a:ext>
                  </a:extLst>
                </a:gridCol>
              </a:tblGrid>
              <a:tr h="447459">
                <a:tc row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a-DK" sz="975" b="1" noProof="0">
                          <a:solidFill>
                            <a:schemeClr val="tx2"/>
                          </a:solidFill>
                        </a:rPr>
                        <a:t xml:space="preserve">Lønforskel mellem mandlige og kvindelige ansatte </a:t>
                      </a:r>
                      <a:r>
                        <a:rPr lang="da-DK" sz="975" b="0" noProof="0">
                          <a:solidFill>
                            <a:schemeClr val="tx2"/>
                          </a:solidFill>
                        </a:rPr>
                        <a:t xml:space="preserve">(pkt. 42b)</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da-DK" sz="975" b="1" noProof="0">
                          <a:solidFill>
                            <a:schemeClr val="tx2"/>
                          </a:solidFill>
                        </a:rPr>
                        <a:t>Year</a:t>
                      </a:r>
                      <a:r>
                        <a:rPr lang="da-DK" sz="975" b="1" noProof="0">
                          <a:solidFill>
                            <a:srgbClr val="1B4528"/>
                          </a:solidFill>
                          <a:latin typeface="Calibri" panose="020F0502020204030204" pitchFamily="34" charset="0"/>
                          <a:cs typeface="Calibri" panose="020F0502020204030204" pitchFamily="34" charset="0"/>
                        </a:rPr>
                        <a:t> </a:t>
                      </a:r>
                      <a:r>
                        <a:rPr lang="da-DK" sz="975" b="1" noProof="0">
                          <a:solidFill>
                            <a:srgbClr val="1B4528"/>
                          </a:solidFill>
                        </a:rPr>
                        <a:t>{{insert_year}}</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564077">
                <a:tc vMerge="1">
                  <a:txBody>
                    <a:bodyPr/>
                    <a:lstStyle/>
                    <a:p>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r"/>
                      <a:r>
                        <a:rPr lang="da-DK" sz="975" b="0" noProof="0">
                          <a:solidFill>
                            <a:srgbClr val="1B4528"/>
                          </a:solidFill>
                        </a:rPr>
                        <a:t>{{</a:t>
                      </a:r>
                      <a:r>
                        <a:rPr lang="da-DK" sz="975" b="0" noProof="0">
                          <a:solidFill>
                            <a:srgbClr val="1B4528"/>
                          </a:solidFill>
                        </a:rPr>
                        <a:t>indsat_procentvise_lonforskel</a:t>
                      </a:r>
                      <a:r>
                        <a:rPr lang="da-DK" sz="975" b="0" noProof="0">
                          <a:solidFill>
                            <a:srgbClr val="1B4528"/>
                          </a:solidFill>
                        </a:rPr>
                        <a:t>}}</a:t>
                      </a:r>
                    </a:p>
                  </a:txBody>
                  <a:tcPr marL="29999" marR="29999"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bl>
          </a:graphicData>
        </a:graphic>
      </p:graphicFrame>
      <p:graphicFrame>
        <p:nvGraphicFramePr>
          <p:cNvPr id="10" name="Tabel 9">
            <a:extLst>
              <a:ext uri="{FF2B5EF4-FFF2-40B4-BE49-F238E27FC236}">
                <a16:creationId xmlns:a16="http://schemas.microsoft.com/office/drawing/2014/main" id="{84CAF6AE-5821-23BB-F517-5C5C31B0641F}"/>
              </a:ext>
            </a:extLst>
          </p:cNvPr>
          <p:cNvGraphicFramePr>
            <a:graphicFrameLocks noGrp="1"/>
          </p:cNvGraphicFramePr>
          <p:nvPr>
            <p:extLst>
              <p:ext uri="{D42A27DB-BD31-4B8C-83A1-F6EECF244321}">
                <p14:modId xmlns:p14="http://schemas.microsoft.com/office/powerpoint/2010/main" val="3609318665"/>
              </p:ext>
            </p:extLst>
          </p:nvPr>
        </p:nvGraphicFramePr>
        <p:xfrm>
          <a:off x="411480" y="6867210"/>
          <a:ext cx="3295368" cy="1073974"/>
        </p:xfrm>
        <a:graphic>
          <a:graphicData uri="http://schemas.openxmlformats.org/drawingml/2006/table">
            <a:tbl>
              <a:tblPr firstRow="1">
                <a:tableStyleId>{2A488322-F2BA-4B5B-9748-0D474271808F}</a:tableStyleId>
              </a:tblPr>
              <a:tblGrid>
                <a:gridCol w="1807924">
                  <a:extLst>
                    <a:ext uri="{9D8B030D-6E8A-4147-A177-3AD203B41FA5}">
                      <a16:colId xmlns:a16="http://schemas.microsoft.com/office/drawing/2014/main" val="160727125"/>
                    </a:ext>
                  </a:extLst>
                </a:gridCol>
                <a:gridCol w="762792">
                  <a:extLst>
                    <a:ext uri="{9D8B030D-6E8A-4147-A177-3AD203B41FA5}">
                      <a16:colId xmlns:a16="http://schemas.microsoft.com/office/drawing/2014/main" val="1767985329"/>
                    </a:ext>
                  </a:extLst>
                </a:gridCol>
                <a:gridCol w="724652">
                  <a:extLst>
                    <a:ext uri="{9D8B030D-6E8A-4147-A177-3AD203B41FA5}">
                      <a16:colId xmlns:a16="http://schemas.microsoft.com/office/drawing/2014/main" val="1397164534"/>
                    </a:ext>
                  </a:extLst>
                </a:gridCol>
              </a:tblGrid>
              <a:tr h="392947">
                <a:tc>
                  <a:txBody>
                    <a:bodyPr/>
                    <a:lstStyle/>
                    <a:p>
                      <a:r>
                        <a:rPr lang="da-DK" sz="975" b="1" noProof="0">
                          <a:solidFill>
                            <a:schemeClr val="tx2"/>
                          </a:solidFill>
                        </a:rPr>
                        <a:t xml:space="preserve">Oplysninger om minimumsløn </a:t>
                      </a:r>
                      <a:r>
                        <a:rPr lang="da-DK" sz="975" b="0" noProof="0">
                          <a:solidFill>
                            <a:schemeClr val="tx2"/>
                          </a:solidFill>
                        </a:rPr>
                        <a:t>(42a)</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a:r>
                        <a:rPr lang="da-DK" sz="975" b="1" noProof="0">
                          <a:solidFill>
                            <a:schemeClr val="tx2"/>
                          </a:solidFill>
                        </a:rPr>
                        <a:t xml:space="preserve">Ja</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a:r>
                        <a:rPr lang="da-DK" sz="975" b="1" noProof="0">
                          <a:solidFill>
                            <a:schemeClr val="tx2"/>
                          </a:solidFill>
                        </a:rPr>
                        <a:t xml:space="preserve">Nej</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4203607533"/>
                  </a:ext>
                </a:extLst>
              </a:tr>
              <a:tr h="685373">
                <a:tc>
                  <a:txBody>
                    <a:bodyPr/>
                    <a:lstStyle/>
                    <a:p>
                      <a:r>
                        <a:rPr lang="da-DK" sz="975" b="0" noProof="0">
                          <a:solidFill>
                            <a:schemeClr val="tx2"/>
                          </a:solidFill>
                        </a:rPr>
                        <a:t xml:space="preserve">I virksomheden modtager alle ansatte en løn, der som minimum er på niveau med minimumslønnen </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r" rtl="0" fontAlgn="ctr">
                        <a:buNone/>
                      </a:pPr>
                      <a:r>
                        <a:rPr lang="da-DK" sz="975" b="0" i="0" u="none" strike="noStrike" noProof="0">
                          <a:solidFill>
                            <a:srgbClr val="1B4528"/>
                          </a:solidFill>
                          <a:effectLst/>
                          <a:latin typeface="Inter"/>
                        </a:rPr>
                        <a:t>{{minumum_wage_yes?}}</a:t>
                      </a:r>
                      <a:endParaRPr lang="da-DK"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r" rtl="0" fontAlgn="ctr">
                        <a:buNone/>
                      </a:pPr>
                      <a:r>
                        <a:rPr lang="da-DK" sz="975" b="0" i="0" u="none" strike="noStrike" noProof="0">
                          <a:solidFill>
                            <a:srgbClr val="1B4528"/>
                          </a:solidFill>
                          <a:effectLst/>
                          <a:latin typeface="Inter"/>
                        </a:rPr>
                        <a:t>{{minimum_wage_no?}}</a:t>
                      </a:r>
                      <a:endParaRPr lang="da-DK"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393907362"/>
                  </a:ext>
                </a:extLst>
              </a:tr>
            </a:tbl>
          </a:graphicData>
        </a:graphic>
      </p:graphicFrame>
      <p:graphicFrame>
        <p:nvGraphicFramePr>
          <p:cNvPr id="11" name="Table 16">
            <a:extLst>
              <a:ext uri="{FF2B5EF4-FFF2-40B4-BE49-F238E27FC236}">
                <a16:creationId xmlns:a16="http://schemas.microsoft.com/office/drawing/2014/main" id="{38A9DB6D-6A2A-85D4-0695-C590EC6B32FF}"/>
              </a:ext>
            </a:extLst>
          </p:cNvPr>
          <p:cNvGraphicFramePr>
            <a:graphicFrameLocks noGrp="1"/>
          </p:cNvGraphicFramePr>
          <p:nvPr>
            <p:extLst>
              <p:ext uri="{D42A27DB-BD31-4B8C-83A1-F6EECF244321}">
                <p14:modId xmlns:p14="http://schemas.microsoft.com/office/powerpoint/2010/main" val="1361838199"/>
              </p:ext>
            </p:extLst>
          </p:nvPr>
        </p:nvGraphicFramePr>
        <p:xfrm>
          <a:off x="411480" y="8226419"/>
          <a:ext cx="3295368" cy="959989"/>
        </p:xfrm>
        <a:graphic>
          <a:graphicData uri="http://schemas.openxmlformats.org/drawingml/2006/table">
            <a:tbl>
              <a:tblPr firstRow="1">
                <a:tableStyleId>{2A488322-F2BA-4B5B-9748-0D474271808F}</a:tableStyleId>
              </a:tblPr>
              <a:tblGrid>
                <a:gridCol w="1821125">
                  <a:extLst>
                    <a:ext uri="{9D8B030D-6E8A-4147-A177-3AD203B41FA5}">
                      <a16:colId xmlns:a16="http://schemas.microsoft.com/office/drawing/2014/main" val="81046444"/>
                    </a:ext>
                  </a:extLst>
                </a:gridCol>
                <a:gridCol w="1474243">
                  <a:extLst>
                    <a:ext uri="{9D8B030D-6E8A-4147-A177-3AD203B41FA5}">
                      <a16:colId xmlns:a16="http://schemas.microsoft.com/office/drawing/2014/main" val="2119413191"/>
                    </a:ext>
                  </a:extLst>
                </a:gridCol>
              </a:tblGrid>
              <a:tr h="45422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a-DK" sz="975" b="1" noProof="0">
                          <a:solidFill>
                            <a:schemeClr val="tx2"/>
                          </a:solidFill>
                        </a:rPr>
                        <a:t xml:space="preserve">Kollektiv overenskomst </a:t>
                      </a:r>
                      <a:r>
                        <a:rPr lang="da-DK" sz="975" b="0" noProof="0">
                          <a:solidFill>
                            <a:schemeClr val="tx2"/>
                          </a:solidFill>
                        </a:rPr>
                        <a:t xml:space="preserve">(pkt. 42c)</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da-DK" sz="975" b="1" noProof="0">
                          <a:solidFill>
                            <a:schemeClr val="tx2"/>
                          </a:solidFill>
                        </a:rPr>
                        <a:t>Year</a:t>
                      </a:r>
                      <a:r>
                        <a:rPr lang="da-DK" sz="975" b="1" noProof="0">
                          <a:solidFill>
                            <a:srgbClr val="1B4528"/>
                          </a:solidFill>
                          <a:latin typeface="Calibri" panose="020F0502020204030204" pitchFamily="34" charset="0"/>
                          <a:cs typeface="Calibri" panose="020F0502020204030204" pitchFamily="34" charset="0"/>
                        </a:rPr>
                        <a:t> {{insert_year}}</a:t>
                      </a:r>
                      <a:endParaRPr lang="da-DK" sz="975" b="1" noProof="0">
                        <a:solidFill>
                          <a:srgbClr val="1B4528"/>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41788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a-DK" sz="975" b="0" noProof="0">
                          <a:solidFill>
                            <a:schemeClr val="tx2"/>
                          </a:solidFill>
                        </a:rPr>
                        <a:t xml:space="preserve">Procentvis ansatte, der er dækket af en kollektiv overenskomst</a:t>
                      </a:r>
                      <a:endParaRPr kumimoji="0" lang="da-DK" sz="975" b="0" i="0" u="none" strike="noStrike" kern="1200" cap="none" spc="0" normalizeH="0" baseline="0" noProof="0">
                        <a:ln>
                          <a:noFill/>
                        </a:ln>
                        <a:solidFill>
                          <a:srgbClr val="1B4528"/>
                        </a:solidFill>
                        <a:effectLst/>
                        <a:uLnTx/>
                        <a:uFillTx/>
                        <a:latin typeface="IBM Plex Sans"/>
                        <a:ea typeface="+mn-ea"/>
                        <a:cs typeface="+mn-cs"/>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a-DK" sz="975" b="0" i="0" u="none" strike="noStrike" kern="1200" cap="none" spc="0" normalizeH="0" baseline="0" noProof="0">
                          <a:ln>
                            <a:noFill/>
                          </a:ln>
                          <a:solidFill>
                            <a:srgbClr val="1B4528"/>
                          </a:solidFill>
                          <a:effectLst/>
                          <a:uLnTx/>
                          <a:uFillTx/>
                          <a:latin typeface="+mn-lt"/>
                          <a:ea typeface="+mn-ea"/>
                          <a:cs typeface="+mn-cs"/>
                        </a:rPr>
                        <a:t>{{indsat_procentvis_ansatte}}</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bl>
          </a:graphicData>
        </a:graphic>
      </p:graphicFrame>
      <p:graphicFrame>
        <p:nvGraphicFramePr>
          <p:cNvPr id="12" name="Table 19">
            <a:extLst>
              <a:ext uri="{FF2B5EF4-FFF2-40B4-BE49-F238E27FC236}">
                <a16:creationId xmlns:a16="http://schemas.microsoft.com/office/drawing/2014/main" id="{2EC4274B-57F6-8036-8EA2-C2FF27F03BD7}"/>
              </a:ext>
            </a:extLst>
          </p:cNvPr>
          <p:cNvGraphicFramePr>
            <a:graphicFrameLocks noGrp="1"/>
          </p:cNvGraphicFramePr>
          <p:nvPr>
            <p:extLst>
              <p:ext uri="{D42A27DB-BD31-4B8C-83A1-F6EECF244321}">
                <p14:modId xmlns:p14="http://schemas.microsoft.com/office/powerpoint/2010/main" val="325568891"/>
              </p:ext>
            </p:extLst>
          </p:nvPr>
        </p:nvGraphicFramePr>
        <p:xfrm>
          <a:off x="3853152" y="8226417"/>
          <a:ext cx="3295368" cy="959989"/>
        </p:xfrm>
        <a:graphic>
          <a:graphicData uri="http://schemas.openxmlformats.org/drawingml/2006/table">
            <a:tbl>
              <a:tblPr firstRow="1">
                <a:tableStyleId>{2A488322-F2BA-4B5B-9748-0D474271808F}</a:tableStyleId>
              </a:tblPr>
              <a:tblGrid>
                <a:gridCol w="2294254">
                  <a:extLst>
                    <a:ext uri="{9D8B030D-6E8A-4147-A177-3AD203B41FA5}">
                      <a16:colId xmlns:a16="http://schemas.microsoft.com/office/drawing/2014/main" val="2698153288"/>
                    </a:ext>
                  </a:extLst>
                </a:gridCol>
                <a:gridCol w="1001114">
                  <a:extLst>
                    <a:ext uri="{9D8B030D-6E8A-4147-A177-3AD203B41FA5}">
                      <a16:colId xmlns:a16="http://schemas.microsoft.com/office/drawing/2014/main" val="2119413191"/>
                    </a:ext>
                  </a:extLst>
                </a:gridCol>
              </a:tblGrid>
              <a:tr h="395290">
                <a:tc>
                  <a:txBody>
                    <a:bodyPr/>
                    <a:lstStyle/>
                    <a:p>
                      <a:r>
                        <a:rPr lang="da-DK" sz="975" b="1" noProof="0">
                          <a:solidFill>
                            <a:schemeClr val="tx2"/>
                          </a:solidFill>
                        </a:rPr>
                        <a:t xml:space="preserve">Uddannelsestimer i gennemsnit pr. ansat </a:t>
                      </a:r>
                      <a:r>
                        <a:rPr lang="da-DK" sz="975" b="0" noProof="0">
                          <a:solidFill>
                            <a:schemeClr val="tx2"/>
                          </a:solidFill>
                        </a:rPr>
                        <a:t xml:space="preserve">(pkt. 42d)</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da-DK" sz="975" b="1" noProof="0">
                          <a:solidFill>
                            <a:schemeClr val="tx2"/>
                          </a:solidFill>
                        </a:rPr>
                        <a:t>Year</a:t>
                      </a:r>
                      <a:r>
                        <a:rPr lang="da-DK" sz="975" b="1" noProof="0">
                          <a:solidFill>
                            <a:srgbClr val="1B4528"/>
                          </a:solidFill>
                          <a:latin typeface="Calibri"/>
                          <a:cs typeface="Calibri"/>
                        </a:rPr>
                        <a:t> {{insert_year}}</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564699">
                <a:tc>
                  <a:txBody>
                    <a:bodyPr/>
                    <a:lstStyle/>
                    <a:p>
                      <a:r>
                        <a:rPr lang="da-DK" sz="975" b="0" noProof="0">
                          <a:solidFill>
                            <a:schemeClr val="tx2"/>
                          </a:solidFill>
                        </a:rPr>
                        <a:t xml:space="preserve">Time(r) pr. ansat</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r" rtl="0" fontAlgn="ctr">
                        <a:buNone/>
                      </a:pPr>
                      <a:r>
                        <a:rPr lang="da-DK" sz="975" b="0" i="0" u="none" strike="noStrike" noProof="0">
                          <a:solidFill>
                            <a:srgbClr val="1B4528"/>
                          </a:solidFill>
                          <a:effectLst/>
                          <a:latin typeface="Inter"/>
                        </a:rPr>
                        <a:t>{{</a:t>
                      </a:r>
                      <a:r>
                        <a:rPr lang="da-DK" sz="975" b="0" i="0" u="none" strike="noStrike" noProof="0">
                          <a:solidFill>
                            <a:srgbClr val="1B4528"/>
                          </a:solidFill>
                          <a:effectLst/>
                          <a:latin typeface="Inter"/>
                        </a:rPr>
                        <a:t>gennemsnitstimer</a:t>
                      </a:r>
                      <a:r>
                        <a:rPr lang="da-DK" sz="975" b="0" i="0" u="none" strike="noStrike" noProof="0">
                          <a:solidFill>
                            <a:srgbClr val="1B4528"/>
                          </a:solidFill>
                          <a:effectLst/>
                          <a:latin typeface="Inter"/>
                        </a:rPr>
                        <a:t>}}</a:t>
                      </a:r>
                      <a:endParaRPr lang="da-DK" sz="975" b="0" noProof="0" dirty="0">
                        <a:effectLst/>
                      </a:endParaRPr>
                    </a:p>
                  </a:txBody>
                  <a:tcPr marL="15874" marR="15874"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4100585068"/>
                  </a:ext>
                </a:extLst>
              </a:tr>
            </a:tbl>
          </a:graphicData>
        </a:graphic>
      </p:graphicFrame>
      <p:sp>
        <p:nvSpPr>
          <p:cNvPr id="14" name="Tekstfelt 13">
            <a:extLst>
              <a:ext uri="{FF2B5EF4-FFF2-40B4-BE49-F238E27FC236}">
                <a16:creationId xmlns:a16="http://schemas.microsoft.com/office/drawing/2014/main" id="{91C95227-E2BB-1C05-1C40-EB20A1C1BCA2}"/>
              </a:ext>
            </a:extLst>
          </p:cNvPr>
          <p:cNvSpPr txBox="1"/>
          <p:nvPr/>
        </p:nvSpPr>
        <p:spPr>
          <a:xfrm>
            <a:off x="411480" y="6050028"/>
            <a:ext cx="6737040" cy="846352"/>
          </a:xfrm>
          <a:prstGeom prst="rect">
            <a:avLst/>
          </a:prstGeom>
          <a:noFill/>
        </p:spPr>
        <p:txBody>
          <a:bodyPr wrap="square">
            <a:spAutoFit/>
          </a:bodyPr>
          <a:lstStyle/>
          <a:p>
            <a:pPr rtl="0">
              <a:buNone/>
            </a:pPr>
            <a:r>
              <a:rPr lang="da-DK" sz="975" b="0" i="0" u="none" strike="noStrike" noProof="0">
                <a:solidFill>
                  <a:schemeClr val="tx2"/>
                </a:solidFill>
                <a:effectLst/>
                <a:latin typeface="Inter"/>
              </a:rPr>
              <a:t xml:space="preserve">Virksomheden har angivet oplysninger om minimumsløn samt oplyst procentdelen af medarbejdere, der er omfattet af kollektive overenskomster, og det gennemsnitlige antal uddannelsestimer pr. medarbejder pr. år, opdelt efter køn. Hvis virksomheden allerede i henhold til EU-lovgivningen 8 eller andre nationale bestemmelser er forpligtet til at indberette den procentvise lønforskel mellem sine kvindelige og mandlige medarbejdere, skal den oplyse dette.</a:t>
            </a:r>
          </a:p>
          <a:p>
            <a:pPr>
              <a:buNone/>
            </a:pPr>
            <a:br>
              <a:rPr lang="da-DK" sz="975" noProof="0">
                <a:solidFill>
                  <a:schemeClr val="tx2"/>
                </a:solidFill>
                <a:latin typeface="Inter"/>
              </a:rPr>
            </a:br>
            <a:endParaRPr lang="da-DK" sz="975" noProof="0">
              <a:solidFill>
                <a:schemeClr val="tx2"/>
              </a:solidFill>
              <a:latin typeface="Inter"/>
            </a:endParaRPr>
          </a:p>
        </p:txBody>
      </p:sp>
    </p:spTree>
    <p:extLst>
      <p:ext uri="{BB962C8B-B14F-4D97-AF65-F5344CB8AC3E}">
        <p14:creationId xmlns:p14="http://schemas.microsoft.com/office/powerpoint/2010/main" val="229897180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F150DD1-68D5-731F-A718-D62C3CF30A65}"/>
              </a:ext>
            </a:extLst>
          </p:cNvPr>
          <p:cNvSpPr>
            <a:spLocks noGrp="1"/>
          </p:cNvSpPr>
          <p:nvPr>
            <p:ph type="title"/>
          </p:nvPr>
        </p:nvSpPr>
        <p:spPr/>
        <p:txBody>
          <a:bodyPr/>
          <a:lstStyle/>
          <a:p>
            <a:r>
              <a:rPr lang="da-DK" noProof="0"/>
              <a:t xml:space="preserve">Virksomhedsadfærd: Antal domme og bøder i relation til korruption &amp; bestikkelse (B11) </a:t>
            </a:r>
          </a:p>
        </p:txBody>
      </p:sp>
      <p:graphicFrame>
        <p:nvGraphicFramePr>
          <p:cNvPr id="22" name="Table 21">
            <a:extLst>
              <a:ext uri="{FF2B5EF4-FFF2-40B4-BE49-F238E27FC236}">
                <a16:creationId xmlns:a16="http://schemas.microsoft.com/office/drawing/2014/main" id="{AF65586E-0EF1-899A-1FCC-C083408ADE09}"/>
              </a:ext>
            </a:extLst>
          </p:cNvPr>
          <p:cNvGraphicFramePr>
            <a:graphicFrameLocks noGrp="1"/>
          </p:cNvGraphicFramePr>
          <p:nvPr>
            <p:extLst>
              <p:ext uri="{D42A27DB-BD31-4B8C-83A1-F6EECF244321}">
                <p14:modId xmlns:p14="http://schemas.microsoft.com/office/powerpoint/2010/main" val="2655272026"/>
              </p:ext>
            </p:extLst>
          </p:nvPr>
        </p:nvGraphicFramePr>
        <p:xfrm>
          <a:off x="411480" y="2556047"/>
          <a:ext cx="6737040" cy="509980"/>
        </p:xfrm>
        <a:graphic>
          <a:graphicData uri="http://schemas.openxmlformats.org/drawingml/2006/table">
            <a:tbl>
              <a:tblPr firstRow="1">
                <a:tableStyleId>{2A488322-F2BA-4B5B-9748-0D474271808F}</a:tableStyleId>
              </a:tblPr>
              <a:tblGrid>
                <a:gridCol w="2245680">
                  <a:extLst>
                    <a:ext uri="{9D8B030D-6E8A-4147-A177-3AD203B41FA5}">
                      <a16:colId xmlns:a16="http://schemas.microsoft.com/office/drawing/2014/main" val="2698153288"/>
                    </a:ext>
                  </a:extLst>
                </a:gridCol>
                <a:gridCol w="2245680">
                  <a:extLst>
                    <a:ext uri="{9D8B030D-6E8A-4147-A177-3AD203B41FA5}">
                      <a16:colId xmlns:a16="http://schemas.microsoft.com/office/drawing/2014/main" val="2119413191"/>
                    </a:ext>
                  </a:extLst>
                </a:gridCol>
                <a:gridCol w="2245680">
                  <a:extLst>
                    <a:ext uri="{9D8B030D-6E8A-4147-A177-3AD203B41FA5}">
                      <a16:colId xmlns:a16="http://schemas.microsoft.com/office/drawing/2014/main" val="1502960985"/>
                    </a:ext>
                  </a:extLst>
                </a:gridCol>
              </a:tblGrid>
              <a:tr h="254990">
                <a:tc rowSpan="2">
                  <a:txBody>
                    <a:bodyPr/>
                    <a:lstStyle/>
                    <a:p>
                      <a:r>
                        <a:rPr lang="da-DK" sz="975" b="1" noProof="0">
                          <a:solidFill>
                            <a:schemeClr val="tx2"/>
                          </a:solidFill>
                        </a:rPr>
                        <a:t xml:space="preserve">Korruption og bestikkelse </a:t>
                      </a:r>
                      <a:r>
                        <a:rPr lang="da-DK" sz="975" b="0" noProof="0">
                          <a:solidFill>
                            <a:schemeClr val="tx2"/>
                          </a:solidFill>
                        </a:rPr>
                        <a:t xml:space="preserve">(pkt. 43)</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ctr"/>
                      <a:r>
                        <a:rPr lang="da-DK" sz="975" b="1" noProof="0">
                          <a:solidFill>
                            <a:schemeClr val="tx2"/>
                          </a:solidFill>
                        </a:rPr>
                        <a:t xml:space="preserve">Antal domme</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a:r>
                        <a:rPr lang="da-DK" sz="975" b="1" noProof="0">
                          <a:solidFill>
                            <a:schemeClr val="tx2"/>
                          </a:solidFill>
                        </a:rPr>
                        <a:t xml:space="preserve">Samlede bødestørrelse</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254990">
                <a:tc vMerge="1">
                  <a:txBody>
                    <a:bodyPr/>
                    <a:lstStyle/>
                    <a:p>
                      <a:endParaRPr lang="da-DK" sz="725" b="0">
                        <a:solidFill>
                          <a:srgbClr val="1B4528"/>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r" rtl="0" fontAlgn="ctr">
                        <a:buNone/>
                      </a:pPr>
                      <a:r>
                        <a:rPr lang="da-DK" sz="975" b="0" i="0" u="none" strike="noStrike" noProof="0">
                          <a:solidFill>
                            <a:srgbClr val="1B4528"/>
                          </a:solidFill>
                          <a:effectLst/>
                          <a:latin typeface="Inter"/>
                        </a:rPr>
                        <a:t>{{domme}}</a:t>
                      </a:r>
                      <a:endParaRPr lang="da-DK"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r" rtl="0" fontAlgn="ctr">
                        <a:buNone/>
                      </a:pPr>
                      <a:r>
                        <a:rPr lang="da-DK" sz="975" b="0" i="0" u="none" strike="noStrike" noProof="0">
                          <a:solidFill>
                            <a:srgbClr val="1B4528"/>
                          </a:solidFill>
                          <a:effectLst/>
                          <a:latin typeface="Inter"/>
                        </a:rPr>
                        <a:t>{{samlet_bodestorrelse}}</a:t>
                      </a:r>
                      <a:endParaRPr lang="da-DK"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bl>
          </a:graphicData>
        </a:graphic>
      </p:graphicFrame>
      <p:sp>
        <p:nvSpPr>
          <p:cNvPr id="6" name="Slide Number Placeholder 5">
            <a:extLst>
              <a:ext uri="{FF2B5EF4-FFF2-40B4-BE49-F238E27FC236}">
                <a16:creationId xmlns:a16="http://schemas.microsoft.com/office/drawing/2014/main" id="{4477F7BF-85D3-AAB2-E437-08AF193582A9}"/>
              </a:ext>
              <a:ext uri="{C183D7F6-B498-43B3-948B-1728B52AA6E4}">
                <adec:decorative xmlns:adec="http://schemas.microsoft.com/office/drawing/2017/decorative" val="1"/>
              </a:ext>
            </a:extLst>
          </p:cNvPr>
          <p:cNvSpPr>
            <a:spLocks noGrp="1"/>
          </p:cNvSpPr>
          <p:nvPr>
            <p:ph type="sldNum" sz="quarter" idx="12"/>
          </p:nvPr>
        </p:nvSpPr>
        <p:spPr/>
        <p:txBody>
          <a:bodyPr/>
          <a:lstStyle/>
          <a:p>
            <a:fld id="{5A0D23CF-C5A3-5445-819D-C647D180BB4B}" type="slidenum">
              <a:rPr lang="da-DK" noProof="0" smtClean="0"/>
              <a:pPr/>
              <a:t>9</a:t>
            </a:fld>
            <a:endParaRPr lang="da-DK" noProof="0"/>
          </a:p>
        </p:txBody>
      </p:sp>
      <p:sp>
        <p:nvSpPr>
          <p:cNvPr id="5" name="Footer Placeholder 4">
            <a:extLst>
              <a:ext uri="{FF2B5EF4-FFF2-40B4-BE49-F238E27FC236}">
                <a16:creationId xmlns:a16="http://schemas.microsoft.com/office/drawing/2014/main" id="{DBAF5DBA-985E-0DEE-3635-AA29433685C0}"/>
              </a:ext>
              <a:ext uri="{C183D7F6-B498-43B3-948B-1728B52AA6E4}">
                <adec:decorative xmlns:adec="http://schemas.microsoft.com/office/drawing/2017/decorative" val="1"/>
              </a:ext>
            </a:extLst>
          </p:cNvPr>
          <p:cNvSpPr>
            <a:spLocks noGrp="1"/>
          </p:cNvSpPr>
          <p:nvPr>
            <p:ph type="ftr" sz="quarter" idx="11"/>
          </p:nvPr>
        </p:nvSpPr>
        <p:spPr/>
        <p:txBody>
          <a:bodyPr/>
          <a:lstStyle/>
          <a:p>
            <a:r>
              <a:rPr lang="da-DK" noProof="0"/>
              <a:t>{{company_name}}</a:t>
            </a:r>
            <a:endParaRPr lang="da-DK" b="0" noProof="0"/>
          </a:p>
          <a:p>
            <a:endParaRPr lang="da-DK" noProof="0"/>
          </a:p>
        </p:txBody>
      </p:sp>
      <p:sp>
        <p:nvSpPr>
          <p:cNvPr id="9" name="Tekstfelt 8">
            <a:extLst>
              <a:ext uri="{FF2B5EF4-FFF2-40B4-BE49-F238E27FC236}">
                <a16:creationId xmlns:a16="http://schemas.microsoft.com/office/drawing/2014/main" id="{18D9DD8E-27FC-601F-5895-E2455B4CB3B0}"/>
              </a:ext>
            </a:extLst>
          </p:cNvPr>
          <p:cNvSpPr txBox="1"/>
          <p:nvPr/>
        </p:nvSpPr>
        <p:spPr>
          <a:xfrm>
            <a:off x="411480" y="1445509"/>
            <a:ext cx="6737040" cy="846352"/>
          </a:xfrm>
          <a:prstGeom prst="rect">
            <a:avLst/>
          </a:prstGeom>
          <a:noFill/>
        </p:spPr>
        <p:txBody>
          <a:bodyPr wrap="square">
            <a:spAutoFit/>
          </a:bodyPr>
          <a:lstStyle/>
          <a:p>
            <a:pPr rtl="0">
              <a:buNone/>
            </a:pPr>
            <a:r>
              <a:rPr lang="da-DK" sz="975" b="0" i="0" u="none" strike="noStrike" noProof="0">
                <a:solidFill>
                  <a:schemeClr val="tx2"/>
                </a:solidFill>
                <a:effectLst/>
                <a:latin typeface="Inter"/>
              </a:rPr>
              <a:t xml:space="preserve">Virksomheden har angivet overtrædelser af anti-korruptions- og anti-bestikkelseslove i den rapporterede periode. Hvis virksomheden har været involveret i domme eller bøder for overtrædelse af disse love, er følgende oplysninger blevet offentliggjort: Antallet af domme og det samlede bødebeløb, der er pålagt som følge af overtrædelserne. Disse oplysninger vedrører virksomhedens forretningsetik og bæredygtighed, især i forhold til håndtering af korruption og bestikkelse og er anført nedenfor.</a:t>
            </a:r>
            <a:endParaRPr lang="da-DK" sz="975" b="0" noProof="0">
              <a:solidFill>
                <a:schemeClr val="tx2"/>
              </a:solidFill>
              <a:effectLst/>
              <a:latin typeface="Inter"/>
            </a:endParaRPr>
          </a:p>
          <a:p>
            <a:pPr>
              <a:buNone/>
            </a:pPr>
            <a:br>
              <a:rPr lang="da-DK" sz="975" noProof="0">
                <a:solidFill>
                  <a:schemeClr val="tx2"/>
                </a:solidFill>
                <a:latin typeface="Inter"/>
              </a:rPr>
            </a:br>
            <a:endParaRPr lang="da-DK" sz="975" noProof="0">
              <a:solidFill>
                <a:schemeClr val="tx2"/>
              </a:solidFill>
              <a:latin typeface="Inter"/>
            </a:endParaRPr>
          </a:p>
        </p:txBody>
      </p:sp>
    </p:spTree>
    <p:extLst>
      <p:ext uri="{BB962C8B-B14F-4D97-AF65-F5344CB8AC3E}">
        <p14:creationId xmlns:p14="http://schemas.microsoft.com/office/powerpoint/2010/main" val="268211861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indhold 1">
            <a:extLst>
              <a:ext uri="{FF2B5EF4-FFF2-40B4-BE49-F238E27FC236}">
                <a16:creationId xmlns:a16="http://schemas.microsoft.com/office/drawing/2014/main" id="{8929CC52-5059-1012-5A40-D359AA36AE2B}"/>
              </a:ext>
            </a:extLst>
          </p:cNvPr>
          <p:cNvSpPr>
            <a:spLocks noGrp="1"/>
          </p:cNvSpPr>
          <p:nvPr>
            <p:ph idx="1"/>
          </p:nvPr>
        </p:nvSpPr>
        <p:spPr>
          <a:xfrm>
            <a:off x="411480" y="3671027"/>
            <a:ext cx="6737040" cy="1217034"/>
          </a:xfrm>
        </p:spPr>
        <p:txBody>
          <a:bodyPr>
            <a:normAutofit/>
          </a:bodyPr>
          <a:lstStyle/>
          <a:p>
            <a:r>
              <a:rPr lang="da-DK" sz="3325" b="1" noProof="0"/>
              <a:t xml:space="preserve">Oplysningspunkter i Udvidet Modul</a:t>
            </a:r>
          </a:p>
        </p:txBody>
      </p:sp>
      <p:sp>
        <p:nvSpPr>
          <p:cNvPr id="5" name="Pladsholder til slidenummer 4">
            <a:extLst>
              <a:ext uri="{FF2B5EF4-FFF2-40B4-BE49-F238E27FC236}">
                <a16:creationId xmlns:a16="http://schemas.microsoft.com/office/drawing/2014/main" id="{8A923573-02E7-36F8-863E-7A551AE1CD30}"/>
              </a:ext>
            </a:extLst>
          </p:cNvPr>
          <p:cNvSpPr>
            <a:spLocks noGrp="1"/>
          </p:cNvSpPr>
          <p:nvPr>
            <p:ph type="sldNum" sz="quarter" idx="16"/>
          </p:nvPr>
        </p:nvSpPr>
        <p:spPr/>
        <p:txBody>
          <a:bodyPr/>
          <a:lstStyle/>
          <a:p>
            <a:fld id="{5A0D23CF-C5A3-5445-819D-C647D180BB4B}" type="slidenum">
              <a:rPr lang="da-DK" noProof="0" smtClean="0"/>
              <a:pPr/>
              <a:t>10</a:t>
            </a:fld>
            <a:endParaRPr lang="da-DK" noProof="0"/>
          </a:p>
        </p:txBody>
      </p:sp>
    </p:spTree>
    <p:extLst>
      <p:ext uri="{BB962C8B-B14F-4D97-AF65-F5344CB8AC3E}">
        <p14:creationId xmlns:p14="http://schemas.microsoft.com/office/powerpoint/2010/main" val="95963976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F150DD1-68D5-731F-A718-D62C3CF30A65}"/>
              </a:ext>
            </a:extLst>
          </p:cNvPr>
          <p:cNvSpPr>
            <a:spLocks noGrp="1"/>
          </p:cNvSpPr>
          <p:nvPr>
            <p:ph type="title"/>
          </p:nvPr>
        </p:nvSpPr>
        <p:spPr>
          <a:xfrm>
            <a:off x="411480" y="776625"/>
            <a:ext cx="6737040" cy="213511"/>
          </a:xfrm>
        </p:spPr>
        <p:txBody>
          <a:bodyPr/>
          <a:lstStyle/>
          <a:p>
            <a:pPr marL="0" algn="l" rtl="0" eaLnBrk="1" fontAlgn="t" latinLnBrk="0" hangingPunct="1">
              <a:spcBef>
                <a:spcPts val="0"/>
              </a:spcBef>
              <a:spcAft>
                <a:spcPts val="0"/>
              </a:spcAft>
            </a:pPr>
            <a:r>
              <a:rPr lang="da-DK" sz="1475" b="1" i="0" u="none" strike="noStrike" kern="1200" spc="-10" noProof="0">
                <a:solidFill>
                  <a:srgbClr val="1B4528"/>
                </a:solidFill>
                <a:effectLst/>
                <a:latin typeface="IBM Plex Sans" panose="020B0503050203000203" pitchFamily="34" charset="0"/>
              </a:rPr>
              <a:t xml:space="preserve">Strategi: Forretningsmodel og bæredygtighedsrelaterede initiativer (C1)</a:t>
            </a:r>
            <a:endParaRPr lang="da-DK" noProof="0"/>
          </a:p>
        </p:txBody>
      </p:sp>
      <p:pic>
        <p:nvPicPr>
          <p:cNvPr id="24" name="Graphic 23">
            <a:extLst>
              <a:ext uri="{FF2B5EF4-FFF2-40B4-BE49-F238E27FC236}">
                <a16:creationId xmlns:a16="http://schemas.microsoft.com/office/drawing/2014/main" id="{C1CB6473-45A0-323E-9329-E3AEC5C2FC34}"/>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11480" y="5097918"/>
            <a:ext cx="6737040" cy="193826"/>
          </a:xfrm>
          <a:prstGeom prst="rect">
            <a:avLst/>
          </a:prstGeom>
        </p:spPr>
      </p:pic>
      <p:sp>
        <p:nvSpPr>
          <p:cNvPr id="6" name="Slide Number Placeholder 5">
            <a:extLst>
              <a:ext uri="{FF2B5EF4-FFF2-40B4-BE49-F238E27FC236}">
                <a16:creationId xmlns:a16="http://schemas.microsoft.com/office/drawing/2014/main" id="{4477F7BF-85D3-AAB2-E437-08AF193582A9}"/>
              </a:ext>
              <a:ext uri="{C183D7F6-B498-43B3-948B-1728B52AA6E4}">
                <adec:decorative xmlns:adec="http://schemas.microsoft.com/office/drawing/2017/decorative" val="1"/>
              </a:ext>
            </a:extLst>
          </p:cNvPr>
          <p:cNvSpPr>
            <a:spLocks noGrp="1"/>
          </p:cNvSpPr>
          <p:nvPr>
            <p:ph type="sldNum" sz="quarter" idx="12"/>
          </p:nvPr>
        </p:nvSpPr>
        <p:spPr/>
        <p:txBody>
          <a:bodyPr/>
          <a:lstStyle/>
          <a:p>
            <a:fld id="{5A0D23CF-C5A3-5445-819D-C647D180BB4B}" type="slidenum">
              <a:rPr lang="da-DK" noProof="0" smtClean="0"/>
              <a:pPr/>
              <a:t>11</a:t>
            </a:fld>
            <a:endParaRPr lang="da-DK" noProof="0"/>
          </a:p>
        </p:txBody>
      </p:sp>
      <p:sp>
        <p:nvSpPr>
          <p:cNvPr id="5" name="Footer Placeholder 4">
            <a:extLst>
              <a:ext uri="{FF2B5EF4-FFF2-40B4-BE49-F238E27FC236}">
                <a16:creationId xmlns:a16="http://schemas.microsoft.com/office/drawing/2014/main" id="{DBAF5DBA-985E-0DEE-3635-AA29433685C0}"/>
              </a:ext>
              <a:ext uri="{C183D7F6-B498-43B3-948B-1728B52AA6E4}">
                <adec:decorative xmlns:adec="http://schemas.microsoft.com/office/drawing/2017/decorative" val="1"/>
              </a:ext>
            </a:extLst>
          </p:cNvPr>
          <p:cNvSpPr>
            <a:spLocks noGrp="1"/>
          </p:cNvSpPr>
          <p:nvPr>
            <p:ph type="ftr" sz="quarter" idx="11"/>
          </p:nvPr>
        </p:nvSpPr>
        <p:spPr/>
        <p:txBody>
          <a:bodyPr/>
          <a:lstStyle/>
          <a:p>
            <a:r>
              <a:rPr lang="da-DK" noProof="0"/>
              <a:t>{{company_name}}</a:t>
            </a:r>
            <a:endParaRPr lang="da-DK" b="0" noProof="0"/>
          </a:p>
          <a:p>
            <a:br>
              <a:rPr lang="da-DK" noProof="0"/>
            </a:br>
            <a:endParaRPr lang="da-DK" noProof="0"/>
          </a:p>
        </p:txBody>
      </p:sp>
      <p:graphicFrame>
        <p:nvGraphicFramePr>
          <p:cNvPr id="2" name="Table 2">
            <a:extLst>
              <a:ext uri="{FF2B5EF4-FFF2-40B4-BE49-F238E27FC236}">
                <a16:creationId xmlns:a16="http://schemas.microsoft.com/office/drawing/2014/main" id="{73C59346-F692-8EEE-6728-75E283DC6C9B}"/>
              </a:ext>
            </a:extLst>
          </p:cNvPr>
          <p:cNvGraphicFramePr>
            <a:graphicFrameLocks noGrp="1"/>
          </p:cNvGraphicFramePr>
          <p:nvPr>
            <p:extLst>
              <p:ext uri="{D42A27DB-BD31-4B8C-83A1-F6EECF244321}">
                <p14:modId xmlns:p14="http://schemas.microsoft.com/office/powerpoint/2010/main" val="1996372857"/>
              </p:ext>
            </p:extLst>
          </p:nvPr>
        </p:nvGraphicFramePr>
        <p:xfrm>
          <a:off x="411480" y="2946305"/>
          <a:ext cx="6737040" cy="653339"/>
        </p:xfrm>
        <a:graphic>
          <a:graphicData uri="http://schemas.openxmlformats.org/drawingml/2006/table">
            <a:tbl>
              <a:tblPr firstRow="1">
                <a:tableStyleId>{2A488322-F2BA-4B5B-9748-0D474271808F}</a:tableStyleId>
              </a:tblPr>
              <a:tblGrid>
                <a:gridCol w="6737040">
                  <a:extLst>
                    <a:ext uri="{9D8B030D-6E8A-4147-A177-3AD203B41FA5}">
                      <a16:colId xmlns:a16="http://schemas.microsoft.com/office/drawing/2014/main" val="2698153288"/>
                    </a:ext>
                  </a:extLst>
                </a:gridCol>
              </a:tblGrid>
              <a:tr h="149985">
                <a:tc>
                  <a:txBody>
                    <a:bodyPr/>
                    <a:lstStyle/>
                    <a:p>
                      <a:r>
                        <a:rPr lang="da-DK" sz="975" b="1" noProof="0">
                          <a:solidFill>
                            <a:schemeClr val="tx2"/>
                          </a:solidFill>
                        </a:rPr>
                        <a:t xml:space="preserve">Beskrivelse af væsentlige grupper af produkter og/eller tjenesteydelser, som </a:t>
                      </a:r>
                      <a:r>
                        <a:rPr lang="da-DK" sz="975" b="1" kern="1200" noProof="0">
                          <a:solidFill>
                            <a:srgbClr val="1B4528"/>
                          </a:solidFill>
                          <a:latin typeface="+mn-lt"/>
                          <a:ea typeface="+mn-ea"/>
                          <a:cs typeface="+mn-cs"/>
                        </a:rPr>
                        <a:t>{{company_name}} </a:t>
                      </a:r>
                      <a:r>
                        <a:rPr lang="da-DK" sz="975" b="1" kern="1200" noProof="0">
                          <a:solidFill>
                            <a:schemeClr val="tx2"/>
                          </a:solidFill>
                          <a:latin typeface="+mn-lt"/>
                          <a:ea typeface="+mn-ea"/>
                          <a:cs typeface="+mn-cs"/>
                        </a:rPr>
                        <a:t xml:space="preserve">tilbyder</a:t>
                      </a:r>
                      <a:r>
                        <a:rPr lang="da-DK" sz="975" b="1" noProof="0">
                          <a:solidFill>
                            <a:schemeClr val="tx2"/>
                          </a:solidFill>
                        </a:rPr>
                        <a:t> </a:t>
                      </a:r>
                      <a:r>
                        <a:rPr lang="da-DK" sz="975" b="0" noProof="0">
                          <a:solidFill>
                            <a:schemeClr val="tx2"/>
                          </a:solidFill>
                        </a:rPr>
                        <a:t xml:space="preserve">(pkt. 46a)</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444751">
                <a:tc>
                  <a:txBody>
                    <a:bodyPr/>
                    <a:lstStyle/>
                    <a:p>
                      <a:pPr algn="l"/>
                      <a:r>
                        <a:rPr lang="da-DK" sz="975" b="0" noProof="0">
                          <a:solidFill>
                            <a:srgbClr val="1B4528"/>
                          </a:solidFill>
                        </a:rPr>
                        <a:t>{{markets_description}}</a:t>
                      </a:r>
                      <a:endParaRPr lang="da-DK" sz="975" b="0" kern="1200" noProof="0">
                        <a:solidFill>
                          <a:srgbClr val="1B4528"/>
                        </a:solidFill>
                        <a:latin typeface="+mn-lt"/>
                        <a:ea typeface="+mn-ea"/>
                        <a:cs typeface="+mn-cs"/>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noFill/>
                  </a:tcPr>
                </a:tc>
                <a:extLst>
                  <a:ext uri="{0D108BD9-81ED-4DB2-BD59-A6C34878D82A}">
                    <a16:rowId xmlns:a16="http://schemas.microsoft.com/office/drawing/2014/main" val="513257532"/>
                  </a:ext>
                </a:extLst>
              </a:tr>
            </a:tbl>
          </a:graphicData>
        </a:graphic>
      </p:graphicFrame>
      <p:graphicFrame>
        <p:nvGraphicFramePr>
          <p:cNvPr id="12" name="Table 2">
            <a:extLst>
              <a:ext uri="{FF2B5EF4-FFF2-40B4-BE49-F238E27FC236}">
                <a16:creationId xmlns:a16="http://schemas.microsoft.com/office/drawing/2014/main" id="{BF7B7D4C-4B08-C9C0-EA8D-D975600D4842}"/>
              </a:ext>
            </a:extLst>
          </p:cNvPr>
          <p:cNvGraphicFramePr>
            <a:graphicFrameLocks noGrp="1"/>
          </p:cNvGraphicFramePr>
          <p:nvPr>
            <p:extLst>
              <p:ext uri="{D42A27DB-BD31-4B8C-83A1-F6EECF244321}">
                <p14:modId xmlns:p14="http://schemas.microsoft.com/office/powerpoint/2010/main" val="425849860"/>
              </p:ext>
            </p:extLst>
          </p:nvPr>
        </p:nvGraphicFramePr>
        <p:xfrm>
          <a:off x="411480" y="3785752"/>
          <a:ext cx="6737040" cy="852817"/>
        </p:xfrm>
        <a:graphic>
          <a:graphicData uri="http://schemas.openxmlformats.org/drawingml/2006/table">
            <a:tbl>
              <a:tblPr firstRow="1">
                <a:tableStyleId>{2A488322-F2BA-4B5B-9748-0D474271808F}</a:tableStyleId>
              </a:tblPr>
              <a:tblGrid>
                <a:gridCol w="6737040">
                  <a:extLst>
                    <a:ext uri="{9D8B030D-6E8A-4147-A177-3AD203B41FA5}">
                      <a16:colId xmlns:a16="http://schemas.microsoft.com/office/drawing/2014/main" val="2698153288"/>
                    </a:ext>
                  </a:extLst>
                </a:gridCol>
              </a:tblGrid>
              <a:tr h="162320">
                <a:tc>
                  <a:txBody>
                    <a:bodyPr/>
                    <a:lstStyle/>
                    <a:p>
                      <a:r>
                        <a:rPr lang="da-DK" sz="975" b="1" noProof="0">
                          <a:solidFill>
                            <a:schemeClr val="tx2"/>
                          </a:solidFill>
                        </a:rPr>
                        <a:t xml:space="preserve">Beskrivelse af de væsentlige markeder, som </a:t>
                      </a:r>
                      <a:r>
                        <a:rPr lang="da-DK" sz="975" b="1" kern="1200" noProof="0">
                          <a:solidFill>
                            <a:srgbClr val="1B4528"/>
                          </a:solidFill>
                          <a:latin typeface="+mn-lt"/>
                          <a:ea typeface="+mn-ea"/>
                          <a:cs typeface="+mn-cs"/>
                        </a:rPr>
                        <a:t>{{company_name}} </a:t>
                      </a:r>
                      <a:r>
                        <a:rPr lang="da-DK" sz="975" b="1" noProof="0">
                          <a:solidFill>
                            <a:schemeClr val="tx2"/>
                          </a:solidFill>
                        </a:rPr>
                        <a:t xml:space="preserve">arbejder med </a:t>
                      </a:r>
                      <a:r>
                        <a:rPr lang="da-DK" sz="975" b="0" noProof="0">
                          <a:solidFill>
                            <a:schemeClr val="tx2"/>
                          </a:solidFill>
                        </a:rPr>
                        <a:t xml:space="preserve">(pkt. 46b)</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644229">
                <a:tc>
                  <a:txBody>
                    <a:bodyPr/>
                    <a:lstStyle/>
                    <a:p>
                      <a:pPr algn="l"/>
                      <a:r>
                        <a:rPr lang="da-DK" sz="975" b="0" noProof="0">
                          <a:solidFill>
                            <a:srgbClr val="1B4528"/>
                          </a:solidFill>
                        </a:rPr>
                        <a:t>{{business_relationships}}</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noFill/>
                  </a:tcPr>
                </a:tc>
                <a:extLst>
                  <a:ext uri="{0D108BD9-81ED-4DB2-BD59-A6C34878D82A}">
                    <a16:rowId xmlns:a16="http://schemas.microsoft.com/office/drawing/2014/main" val="513257532"/>
                  </a:ext>
                </a:extLst>
              </a:tr>
            </a:tbl>
          </a:graphicData>
        </a:graphic>
      </p:graphicFrame>
      <p:graphicFrame>
        <p:nvGraphicFramePr>
          <p:cNvPr id="14" name="Table 2">
            <a:extLst>
              <a:ext uri="{FF2B5EF4-FFF2-40B4-BE49-F238E27FC236}">
                <a16:creationId xmlns:a16="http://schemas.microsoft.com/office/drawing/2014/main" id="{9A35FA09-5062-B526-C260-BC3A7A5ED36B}"/>
              </a:ext>
            </a:extLst>
          </p:cNvPr>
          <p:cNvGraphicFramePr>
            <a:graphicFrameLocks noGrp="1"/>
          </p:cNvGraphicFramePr>
          <p:nvPr>
            <p:extLst>
              <p:ext uri="{D42A27DB-BD31-4B8C-83A1-F6EECF244321}">
                <p14:modId xmlns:p14="http://schemas.microsoft.com/office/powerpoint/2010/main" val="1582199989"/>
              </p:ext>
            </p:extLst>
          </p:nvPr>
        </p:nvGraphicFramePr>
        <p:xfrm>
          <a:off x="411480" y="4837656"/>
          <a:ext cx="6737040" cy="831730"/>
        </p:xfrm>
        <a:graphic>
          <a:graphicData uri="http://schemas.openxmlformats.org/drawingml/2006/table">
            <a:tbl>
              <a:tblPr firstRow="1">
                <a:tableStyleId>{2A488322-F2BA-4B5B-9748-0D474271808F}</a:tableStyleId>
              </a:tblPr>
              <a:tblGrid>
                <a:gridCol w="6737040">
                  <a:extLst>
                    <a:ext uri="{9D8B030D-6E8A-4147-A177-3AD203B41FA5}">
                      <a16:colId xmlns:a16="http://schemas.microsoft.com/office/drawing/2014/main" val="2698153288"/>
                    </a:ext>
                  </a:extLst>
                </a:gridCol>
              </a:tblGrid>
              <a:tr h="148215">
                <a:tc>
                  <a:txBody>
                    <a:bodyPr/>
                    <a:lstStyle/>
                    <a:p>
                      <a:r>
                        <a:rPr lang="da-DK" sz="975" b="1" noProof="0">
                          <a:solidFill>
                            <a:schemeClr val="tx2"/>
                          </a:solidFill>
                        </a:rPr>
                        <a:t xml:space="preserve">Beskrivelse af </a:t>
                      </a:r>
                      <a:r>
                        <a:rPr lang="da-DK" sz="975" b="1" kern="1200" noProof="0">
                          <a:solidFill>
                            <a:srgbClr val="1B4528"/>
                          </a:solidFill>
                          <a:latin typeface="+mn-lt"/>
                          <a:ea typeface="+mn-ea"/>
                          <a:cs typeface="+mn-cs"/>
                        </a:rPr>
                        <a:t>{{company_name}}</a:t>
                      </a:r>
                      <a:r>
                        <a:rPr lang="da-DK" sz="975" b="1" kern="1200" noProof="0">
                          <a:solidFill>
                            <a:schemeClr val="accent1"/>
                          </a:solidFill>
                          <a:latin typeface="+mn-lt"/>
                          <a:ea typeface="+mn-ea"/>
                          <a:cs typeface="+mn-cs"/>
                        </a:rPr>
                        <a:t>’s</a:t>
                      </a:r>
                      <a:r>
                        <a:rPr lang="da-DK" sz="975" b="1" kern="1200" noProof="0">
                          <a:solidFill>
                            <a:srgbClr val="1B4528"/>
                          </a:solidFill>
                          <a:latin typeface="+mn-lt"/>
                          <a:ea typeface="+mn-ea"/>
                          <a:cs typeface="+mn-cs"/>
                        </a:rPr>
                        <a:t> </a:t>
                      </a:r>
                      <a:r>
                        <a:rPr lang="da-DK" sz="975" b="1" noProof="0">
                          <a:solidFill>
                            <a:schemeClr val="tx2"/>
                          </a:solidFill>
                        </a:rPr>
                        <a:t xml:space="preserve">primære forretningsforbindelser </a:t>
                      </a:r>
                      <a:r>
                        <a:rPr lang="da-DK" sz="975" b="0" noProof="0">
                          <a:solidFill>
                            <a:schemeClr val="tx2"/>
                          </a:solidFill>
                        </a:rPr>
                        <a:t xml:space="preserve">(pkt. 46c)</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623142">
                <a:tc>
                  <a:txBody>
                    <a:bodyPr/>
                    <a:lstStyle/>
                    <a:p>
                      <a:pPr algn="l"/>
                      <a:r>
                        <a:rPr lang="da-DK" sz="975" b="0" noProof="0">
                          <a:solidFill>
                            <a:srgbClr val="1B4528"/>
                          </a:solidFill>
                        </a:rPr>
                        <a:t>{{strategy}}</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noFill/>
                  </a:tcPr>
                </a:tc>
                <a:extLst>
                  <a:ext uri="{0D108BD9-81ED-4DB2-BD59-A6C34878D82A}">
                    <a16:rowId xmlns:a16="http://schemas.microsoft.com/office/drawing/2014/main" val="513257532"/>
                  </a:ext>
                </a:extLst>
              </a:tr>
            </a:tbl>
          </a:graphicData>
        </a:graphic>
      </p:graphicFrame>
      <p:graphicFrame>
        <p:nvGraphicFramePr>
          <p:cNvPr id="3" name="Table 2">
            <a:extLst>
              <a:ext uri="{FF2B5EF4-FFF2-40B4-BE49-F238E27FC236}">
                <a16:creationId xmlns:a16="http://schemas.microsoft.com/office/drawing/2014/main" id="{7F017BC3-E5E3-8830-A914-2C6CAB704D65}"/>
              </a:ext>
            </a:extLst>
          </p:cNvPr>
          <p:cNvGraphicFramePr>
            <a:graphicFrameLocks noGrp="1"/>
          </p:cNvGraphicFramePr>
          <p:nvPr>
            <p:extLst>
              <p:ext uri="{D42A27DB-BD31-4B8C-83A1-F6EECF244321}">
                <p14:modId xmlns:p14="http://schemas.microsoft.com/office/powerpoint/2010/main" val="3842437383"/>
              </p:ext>
            </p:extLst>
          </p:nvPr>
        </p:nvGraphicFramePr>
        <p:xfrm>
          <a:off x="411480" y="2222174"/>
          <a:ext cx="6737040" cy="568614"/>
        </p:xfrm>
        <a:graphic>
          <a:graphicData uri="http://schemas.openxmlformats.org/drawingml/2006/table">
            <a:tbl>
              <a:tblPr firstRow="1">
                <a:tableStyleId>{2A488322-F2BA-4B5B-9748-0D474271808F}</a:tableStyleId>
              </a:tblPr>
              <a:tblGrid>
                <a:gridCol w="6737040">
                  <a:extLst>
                    <a:ext uri="{9D8B030D-6E8A-4147-A177-3AD203B41FA5}">
                      <a16:colId xmlns:a16="http://schemas.microsoft.com/office/drawing/2014/main" val="2698153288"/>
                    </a:ext>
                  </a:extLst>
                </a:gridCol>
              </a:tblGrid>
              <a:tr h="155752">
                <a:tc>
                  <a:txBody>
                    <a:bodyPr/>
                    <a:lstStyle/>
                    <a:p>
                      <a:r>
                        <a:rPr lang="da-DK" sz="975" b="1" noProof="0">
                          <a:solidFill>
                            <a:schemeClr val="tx2"/>
                          </a:solidFill>
                        </a:rPr>
                        <a:t xml:space="preserve">Beskrivelse af overordnet forretningsmodel og strategi </a:t>
                      </a:r>
                      <a:r>
                        <a:rPr lang="da-DK" sz="975" b="0" noProof="0">
                          <a:solidFill>
                            <a:schemeClr val="tx2"/>
                          </a:solidFill>
                        </a:rPr>
                        <a:t xml:space="preserve">(pkt. 46)</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360026">
                <a:tc>
                  <a:txBody>
                    <a:bodyPr/>
                    <a:lstStyle/>
                    <a:p>
                      <a:pPr algn="l"/>
                      <a:r>
                        <a:rPr lang="da-DK" sz="975" b="0" noProof="0">
                          <a:solidFill>
                            <a:srgbClr val="1B4528"/>
                          </a:solidFill>
                        </a:rPr>
                        <a:t>{{products_description}}</a:t>
                      </a:r>
                    </a:p>
                    <a:p>
                      <a:pPr algn="l"/>
                      <a:endParaRPr lang="da-DK" sz="975" b="0" kern="1200" noProof="0">
                        <a:solidFill>
                          <a:srgbClr val="1B4528"/>
                        </a:solidFill>
                        <a:latin typeface="+mn-lt"/>
                        <a:ea typeface="+mn-ea"/>
                        <a:cs typeface="+mn-cs"/>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noFill/>
                  </a:tcPr>
                </a:tc>
                <a:extLst>
                  <a:ext uri="{0D108BD9-81ED-4DB2-BD59-A6C34878D82A}">
                    <a16:rowId xmlns:a16="http://schemas.microsoft.com/office/drawing/2014/main" val="513257532"/>
                  </a:ext>
                </a:extLst>
              </a:tr>
            </a:tbl>
          </a:graphicData>
        </a:graphic>
      </p:graphicFrame>
      <p:graphicFrame>
        <p:nvGraphicFramePr>
          <p:cNvPr id="13" name="Table 2">
            <a:extLst>
              <a:ext uri="{FF2B5EF4-FFF2-40B4-BE49-F238E27FC236}">
                <a16:creationId xmlns:a16="http://schemas.microsoft.com/office/drawing/2014/main" id="{82F97D4B-910A-955C-8249-17FCA8C2C83B}"/>
              </a:ext>
            </a:extLst>
          </p:cNvPr>
          <p:cNvGraphicFramePr>
            <a:graphicFrameLocks noGrp="1"/>
          </p:cNvGraphicFramePr>
          <p:nvPr>
            <p:extLst>
              <p:ext uri="{D42A27DB-BD31-4B8C-83A1-F6EECF244321}">
                <p14:modId xmlns:p14="http://schemas.microsoft.com/office/powerpoint/2010/main" val="1922068697"/>
              </p:ext>
            </p:extLst>
          </p:nvPr>
        </p:nvGraphicFramePr>
        <p:xfrm>
          <a:off x="411480" y="5866371"/>
          <a:ext cx="6737040" cy="808203"/>
        </p:xfrm>
        <a:graphic>
          <a:graphicData uri="http://schemas.openxmlformats.org/drawingml/2006/table">
            <a:tbl>
              <a:tblPr firstRow="1">
                <a:tableStyleId>{2A488322-F2BA-4B5B-9748-0D474271808F}</a:tableStyleId>
              </a:tblPr>
              <a:tblGrid>
                <a:gridCol w="6737040">
                  <a:extLst>
                    <a:ext uri="{9D8B030D-6E8A-4147-A177-3AD203B41FA5}">
                      <a16:colId xmlns:a16="http://schemas.microsoft.com/office/drawing/2014/main" val="2698153288"/>
                    </a:ext>
                  </a:extLst>
                </a:gridCol>
              </a:tblGrid>
              <a:tr h="126152">
                <a:tc>
                  <a:txBody>
                    <a:bodyPr/>
                    <a:lstStyle/>
                    <a:p>
                      <a:r>
                        <a:rPr lang="da-DK" sz="975" b="1" noProof="0">
                          <a:solidFill>
                            <a:schemeClr val="tx2"/>
                          </a:solidFill>
                        </a:rPr>
                        <a:t xml:space="preserve">Beskrivelse af, hvor </a:t>
                      </a:r>
                      <a:r>
                        <a:rPr lang="da-DK" sz="975" b="1" kern="1200" noProof="0">
                          <a:solidFill>
                            <a:srgbClr val="1B4528"/>
                          </a:solidFill>
                          <a:latin typeface="+mn-lt"/>
                          <a:ea typeface="+mn-ea"/>
                          <a:cs typeface="+mn-cs"/>
                        </a:rPr>
                        <a:t>{{company_name}}</a:t>
                      </a:r>
                      <a:r>
                        <a:rPr lang="da-DK" sz="975" b="1" kern="1200" noProof="0">
                          <a:solidFill>
                            <a:schemeClr val="accent1"/>
                          </a:solidFill>
                          <a:latin typeface="+mn-lt"/>
                          <a:ea typeface="+mn-ea"/>
                          <a:cs typeface="+mn-cs"/>
                        </a:rPr>
                        <a:t xml:space="preserve">´s strategi og forretningsmodel har bæredygtighedsrelaterede elementer</a:t>
                      </a:r>
                      <a:r>
                        <a:rPr lang="da-DK" sz="975" b="0" noProof="0">
                          <a:solidFill>
                            <a:schemeClr val="tx2"/>
                          </a:solidFill>
                        </a:rPr>
                        <a:t xml:space="preserve">(pkt. 46d)</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451025">
                <a:tc>
                  <a:txBody>
                    <a:bodyPr/>
                    <a:lstStyle/>
                    <a:p>
                      <a:pPr lvl="0" algn="l">
                        <a:buNone/>
                      </a:pPr>
                      <a:r>
                        <a:rPr lang="da-DK" sz="975" b="0" noProof="0">
                          <a:solidFill>
                            <a:srgbClr val="1B4528"/>
                          </a:solidFill>
                        </a:rPr>
                        <a:t>{{business_model}}</a:t>
                      </a:r>
                      <a:endParaRPr lang="da-DK"/>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noFill/>
                  </a:tcPr>
                </a:tc>
                <a:extLst>
                  <a:ext uri="{0D108BD9-81ED-4DB2-BD59-A6C34878D82A}">
                    <a16:rowId xmlns:a16="http://schemas.microsoft.com/office/drawing/2014/main" val="513257532"/>
                  </a:ext>
                </a:extLst>
              </a:tr>
            </a:tbl>
          </a:graphicData>
        </a:graphic>
      </p:graphicFrame>
      <p:sp>
        <p:nvSpPr>
          <p:cNvPr id="19" name="Tekstfelt 18">
            <a:extLst>
              <a:ext uri="{FF2B5EF4-FFF2-40B4-BE49-F238E27FC236}">
                <a16:creationId xmlns:a16="http://schemas.microsoft.com/office/drawing/2014/main" id="{6B666E4C-70AB-0C7E-E428-3654C2D744C6}"/>
              </a:ext>
            </a:extLst>
          </p:cNvPr>
          <p:cNvSpPr txBox="1"/>
          <p:nvPr/>
        </p:nvSpPr>
        <p:spPr>
          <a:xfrm>
            <a:off x="411480" y="1426739"/>
            <a:ext cx="6737040" cy="384705"/>
          </a:xfrm>
          <a:prstGeom prst="rect">
            <a:avLst/>
          </a:prstGeom>
          <a:noFill/>
        </p:spPr>
        <p:txBody>
          <a:bodyPr wrap="square">
            <a:spAutoFit/>
          </a:bodyPr>
          <a:lstStyle/>
          <a:p>
            <a:pPr rtl="0">
              <a:buNone/>
            </a:pPr>
            <a:r>
              <a:rPr lang="da-DK" sz="975" b="0" i="0" u="none" strike="noStrike" noProof="0">
                <a:solidFill>
                  <a:schemeClr val="tx2"/>
                </a:solidFill>
                <a:effectLst/>
                <a:latin typeface="Inter"/>
              </a:rPr>
              <a:t xml:space="preserve">Virksomheden har angivet beskrivelse af overordnet forretningsmodel og strategi; produkter og/eller tjenesteydelser; markeder; forretningsforbindelser samt om virksomhedens forretningsmodel har bæredygtighedsrelaterede elementer. </a:t>
            </a:r>
            <a:endParaRPr lang="da-DK" sz="975" noProof="0">
              <a:solidFill>
                <a:schemeClr val="tx2"/>
              </a:solidFill>
              <a:latin typeface="Inter"/>
            </a:endParaRPr>
          </a:p>
        </p:txBody>
      </p:sp>
    </p:spTree>
    <p:extLst>
      <p:ext uri="{BB962C8B-B14F-4D97-AF65-F5344CB8AC3E}">
        <p14:creationId xmlns:p14="http://schemas.microsoft.com/office/powerpoint/2010/main" val="350893704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C62860-972E-E884-9828-460A25BDCE9F}"/>
              </a:ext>
            </a:extLst>
          </p:cNvPr>
          <p:cNvSpPr>
            <a:spLocks noGrp="1"/>
          </p:cNvSpPr>
          <p:nvPr>
            <p:ph type="title"/>
          </p:nvPr>
        </p:nvSpPr>
        <p:spPr>
          <a:xfrm>
            <a:off x="411480" y="828089"/>
            <a:ext cx="6737040" cy="207741"/>
          </a:xfrm>
        </p:spPr>
        <p:txBody>
          <a:bodyPr/>
          <a:lstStyle/>
          <a:p>
            <a:r>
              <a:rPr lang="da-DK" noProof="0">
                <a:latin typeface="+mn-lt"/>
                <a:ea typeface="+mn-ea"/>
                <a:cs typeface="+mn-cs"/>
              </a:rPr>
              <a:t xml:space="preserve">I</a:t>
            </a:r>
            <a:r>
              <a:rPr lang="da-DK" sz="1475" b="1" kern="1200" spc="-10" noProof="0">
                <a:solidFill>
                  <a:schemeClr val="tx2"/>
                </a:solidFill>
                <a:latin typeface="+mn-lt"/>
                <a:ea typeface="+mn-ea"/>
                <a:cs typeface="+mn-cs"/>
              </a:rPr>
              <a:t xml:space="preserve">ndsatser, politikker og fremtidige initiativer for omstilling til en mere bæredygtig økonomi (C2)</a:t>
            </a:r>
            <a:endParaRPr lang="da-DK" noProof="0"/>
          </a:p>
        </p:txBody>
      </p:sp>
      <p:sp>
        <p:nvSpPr>
          <p:cNvPr id="2" name="Slide Number Placeholder 1">
            <a:extLst>
              <a:ext uri="{FF2B5EF4-FFF2-40B4-BE49-F238E27FC236}">
                <a16:creationId xmlns:a16="http://schemas.microsoft.com/office/drawing/2014/main" id="{F72C860F-3613-E98B-42C7-204BDA28A1F2}"/>
              </a:ext>
              <a:ext uri="{C183D7F6-B498-43B3-948B-1728B52AA6E4}">
                <adec:decorative xmlns:adec="http://schemas.microsoft.com/office/drawing/2017/decorative" val="1"/>
              </a:ext>
            </a:extLst>
          </p:cNvPr>
          <p:cNvSpPr>
            <a:spLocks noGrp="1"/>
          </p:cNvSpPr>
          <p:nvPr>
            <p:ph type="sldNum" sz="quarter" idx="12"/>
          </p:nvPr>
        </p:nvSpPr>
        <p:spPr/>
        <p:txBody>
          <a:bodyPr/>
          <a:lstStyle/>
          <a:p>
            <a:fld id="{5A0D23CF-C5A3-5445-819D-C647D180BB4B}" type="slidenum">
              <a:rPr lang="da-DK" noProof="0" smtClean="0"/>
              <a:pPr/>
              <a:t>12</a:t>
            </a:fld>
            <a:endParaRPr lang="da-DK" noProof="0"/>
          </a:p>
        </p:txBody>
      </p:sp>
      <p:sp>
        <p:nvSpPr>
          <p:cNvPr id="5" name="Footer Placeholder 4">
            <a:extLst>
              <a:ext uri="{FF2B5EF4-FFF2-40B4-BE49-F238E27FC236}">
                <a16:creationId xmlns:a16="http://schemas.microsoft.com/office/drawing/2014/main" id="{340F24C5-33C0-4C2D-8193-33A504950FC4}"/>
              </a:ext>
              <a:ext uri="{C183D7F6-B498-43B3-948B-1728B52AA6E4}">
                <adec:decorative xmlns:adec="http://schemas.microsoft.com/office/drawing/2017/decorative" val="1"/>
              </a:ext>
            </a:extLst>
          </p:cNvPr>
          <p:cNvSpPr>
            <a:spLocks noGrp="1"/>
          </p:cNvSpPr>
          <p:nvPr>
            <p:ph type="ftr" sz="quarter" idx="11"/>
          </p:nvPr>
        </p:nvSpPr>
        <p:spPr/>
        <p:txBody>
          <a:bodyPr/>
          <a:lstStyle/>
          <a:p>
            <a:r>
              <a:rPr lang="da-DK" noProof="0"/>
              <a:t>{{company_name}}</a:t>
            </a:r>
            <a:endParaRPr lang="da-DK" b="0" noProof="0"/>
          </a:p>
          <a:p>
            <a:br>
              <a:rPr lang="da-DK" noProof="0"/>
            </a:br>
            <a:endParaRPr lang="da-DK" noProof="0"/>
          </a:p>
        </p:txBody>
      </p:sp>
      <p:graphicFrame>
        <p:nvGraphicFramePr>
          <p:cNvPr id="11" name="Table 2">
            <a:extLst>
              <a:ext uri="{FF2B5EF4-FFF2-40B4-BE49-F238E27FC236}">
                <a16:creationId xmlns:a16="http://schemas.microsoft.com/office/drawing/2014/main" id="{A420AFF6-414E-4EC8-A668-F0BFECC8260A}"/>
              </a:ext>
            </a:extLst>
          </p:cNvPr>
          <p:cNvGraphicFramePr>
            <a:graphicFrameLocks noGrp="1"/>
          </p:cNvGraphicFramePr>
          <p:nvPr>
            <p:extLst>
              <p:ext uri="{D42A27DB-BD31-4B8C-83A1-F6EECF244321}">
                <p14:modId xmlns:p14="http://schemas.microsoft.com/office/powerpoint/2010/main" val="924185767"/>
              </p:ext>
            </p:extLst>
          </p:nvPr>
        </p:nvGraphicFramePr>
        <p:xfrm>
          <a:off x="411480" y="2664954"/>
          <a:ext cx="6737040" cy="4496570"/>
        </p:xfrm>
        <a:graphic>
          <a:graphicData uri="http://schemas.openxmlformats.org/drawingml/2006/table">
            <a:tbl>
              <a:tblPr firstRow="1">
                <a:tableStyleId>{2A488322-F2BA-4B5B-9748-0D474271808F}</a:tableStyleId>
              </a:tblPr>
              <a:tblGrid>
                <a:gridCol w="1156593">
                  <a:extLst>
                    <a:ext uri="{9D8B030D-6E8A-4147-A177-3AD203B41FA5}">
                      <a16:colId xmlns:a16="http://schemas.microsoft.com/office/drawing/2014/main" val="1902117154"/>
                    </a:ext>
                  </a:extLst>
                </a:gridCol>
                <a:gridCol w="1860149">
                  <a:extLst>
                    <a:ext uri="{9D8B030D-6E8A-4147-A177-3AD203B41FA5}">
                      <a16:colId xmlns:a16="http://schemas.microsoft.com/office/drawing/2014/main" val="1904521774"/>
                    </a:ext>
                  </a:extLst>
                </a:gridCol>
                <a:gridCol w="1860149">
                  <a:extLst>
                    <a:ext uri="{9D8B030D-6E8A-4147-A177-3AD203B41FA5}">
                      <a16:colId xmlns:a16="http://schemas.microsoft.com/office/drawing/2014/main" val="3164053669"/>
                    </a:ext>
                  </a:extLst>
                </a:gridCol>
                <a:gridCol w="1860149">
                  <a:extLst>
                    <a:ext uri="{9D8B030D-6E8A-4147-A177-3AD203B41FA5}">
                      <a16:colId xmlns:a16="http://schemas.microsoft.com/office/drawing/2014/main" val="1484983729"/>
                    </a:ext>
                  </a:extLst>
                </a:gridCol>
              </a:tblGrid>
              <a:tr h="291342">
                <a:tc rowSpan="2">
                  <a:txBody>
                    <a:bodyPr/>
                    <a:lstStyle/>
                    <a:p>
                      <a:pPr algn="l"/>
                      <a:r>
                        <a:rPr lang="da-DK" sz="975" b="1" kern="1200" spc="-10" noProof="0">
                          <a:solidFill>
                            <a:schemeClr val="tx2"/>
                          </a:solidFill>
                          <a:latin typeface="+mn-lt"/>
                          <a:ea typeface="+mn-ea"/>
                          <a:cs typeface="+mn-cs"/>
                        </a:rPr>
                        <a:t xml:space="preserve">Område</a:t>
                      </a:r>
                    </a:p>
                    <a:p>
                      <a:pPr algn="l"/>
                      <a:r>
                        <a:rPr lang="da-DK" sz="975" b="0" kern="1200" spc="-10" noProof="0">
                          <a:solidFill>
                            <a:schemeClr val="tx2"/>
                          </a:solidFill>
                          <a:latin typeface="+mn-lt"/>
                          <a:ea typeface="+mn-ea"/>
                          <a:cs typeface="+mn-cs"/>
                        </a:rPr>
                        <a:t xml:space="preserve">(pkt. 47)</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rowSpan="2">
                  <a:txBody>
                    <a:bodyPr/>
                    <a:lstStyle/>
                    <a:p>
                      <a:pPr algn="l"/>
                      <a:r>
                        <a:rPr lang="da-DK" sz="975" b="1" kern="1200" spc="-10" noProof="0">
                          <a:solidFill>
                            <a:schemeClr val="tx2"/>
                          </a:solidFill>
                          <a:latin typeface="+mn-lt"/>
                          <a:ea typeface="+mn-ea"/>
                          <a:cs typeface="+mn-cs"/>
                        </a:rPr>
                        <a:t xml:space="preserve">Kort beskrivelse </a:t>
                      </a:r>
                      <a:r>
                        <a:rPr lang="da-DK" sz="975" b="1" u="none" kern="1200" spc="-10" noProof="0">
                          <a:solidFill>
                            <a:schemeClr val="tx2"/>
                          </a:solidFill>
                          <a:latin typeface="+mn-lt"/>
                          <a:ea typeface="+mn-ea"/>
                          <a:cs typeface="+mn-cs"/>
                        </a:rPr>
                        <a:t xml:space="preserve">af eksisterende </a:t>
                      </a:r>
                      <a:r>
                        <a:rPr lang="da-DK" sz="975" b="1" kern="1200" spc="-10" noProof="0">
                          <a:solidFill>
                            <a:schemeClr val="tx2"/>
                          </a:solidFill>
                          <a:latin typeface="+mn-lt"/>
                          <a:ea typeface="+mn-ea"/>
                          <a:cs typeface="+mn-cs"/>
                        </a:rPr>
                        <a:t xml:space="preserve">indsatser/politikker/handlinger (jf. oplysningspunkt B2)</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rowSpan="2">
                  <a:txBody>
                    <a:bodyPr/>
                    <a:lstStyle/>
                    <a:p>
                      <a:pPr algn="l"/>
                      <a:r>
                        <a:rPr lang="da-DK" sz="975" b="1" kern="1200" spc="-10" noProof="0">
                          <a:solidFill>
                            <a:schemeClr val="tx2"/>
                          </a:solidFill>
                          <a:latin typeface="+mn-lt"/>
                          <a:ea typeface="+mn-ea"/>
                          <a:cs typeface="+mn-cs"/>
                        </a:rPr>
                        <a:t xml:space="preserve">Kort beskrivelse af eventuelle </a:t>
                      </a:r>
                      <a:r>
                        <a:rPr lang="da-DK" sz="975" b="1" u="none" kern="1200" spc="-10" noProof="0">
                          <a:solidFill>
                            <a:schemeClr val="tx2"/>
                          </a:solidFill>
                          <a:latin typeface="+mn-lt"/>
                          <a:ea typeface="+mn-ea"/>
                          <a:cs typeface="+mn-cs"/>
                        </a:rPr>
                        <a:t xml:space="preserve">fremtidige</a:t>
                      </a:r>
                      <a:r>
                        <a:rPr lang="da-DK" sz="975" b="1" kern="1200" spc="-10" noProof="0">
                          <a:solidFill>
                            <a:schemeClr val="tx2"/>
                          </a:solidFill>
                          <a:latin typeface="+mn-lt"/>
                          <a:ea typeface="+mn-ea"/>
                          <a:cs typeface="+mn-cs"/>
                        </a:rPr>
                        <a:t xml:space="preserve"> målsætninger (jf. oplysningspunkt B2)</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a-DK" sz="975" spc="-10" noProof="0">
                          <a:solidFill>
                            <a:schemeClr val="bg1"/>
                          </a:solidFill>
                        </a:rPr>
                        <a:t xml:space="preserve">Oplysningspunktet </a:t>
                      </a:r>
                      <a:r>
                        <a:rPr lang="da-DK" sz="975" b="1" spc="-10" noProof="0">
                          <a:solidFill>
                            <a:schemeClr val="bg1"/>
                          </a:solidFill>
                        </a:rPr>
                        <a:t xml:space="preserve">er frivilligt</a:t>
                      </a:r>
                      <a:endParaRPr lang="da-DK" sz="975" spc="-10" noProof="0">
                        <a:solidFill>
                          <a:schemeClr val="bg1"/>
                        </a:solidFill>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1B4529"/>
                    </a:solidFill>
                  </a:tcPr>
                </a:tc>
                <a:extLst>
                  <a:ext uri="{0D108BD9-81ED-4DB2-BD59-A6C34878D82A}">
                    <a16:rowId xmlns:a16="http://schemas.microsoft.com/office/drawing/2014/main" val="3642311251"/>
                  </a:ext>
                </a:extLst>
              </a:tr>
              <a:tr h="477218">
                <a:tc vMerge="1">
                  <a:txBody>
                    <a:bodyPr/>
                    <a:lstStyle/>
                    <a:p>
                      <a:endParaRPr lang="da-DK"/>
                    </a:p>
                  </a:txBody>
                  <a:tcPr/>
                </a:tc>
                <a:tc vMerge="1">
                  <a:txBody>
                    <a:bodyPr/>
                    <a:lstStyle/>
                    <a:p>
                      <a:endParaRPr lang="da-DK"/>
                    </a:p>
                  </a:txBody>
                  <a:tcPr/>
                </a:tc>
                <a:tc vMerge="1">
                  <a:txBody>
                    <a:bodyPr/>
                    <a:lstStyle/>
                    <a:p>
                      <a:endParaRPr lang="da-DK"/>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a-DK" sz="975" b="1" kern="1200" spc="-10" noProof="0">
                          <a:solidFill>
                            <a:schemeClr val="tx2"/>
                          </a:solidFill>
                          <a:latin typeface="+mn-lt"/>
                          <a:ea typeface="+mn-ea"/>
                          <a:cs typeface="+mn-cs"/>
                        </a:rPr>
                        <a:t xml:space="preserve">Angivelse af det højeste ledelsesniveau i virksomheden, der er ansvarlig for implementeringen </a:t>
                      </a:r>
                      <a:r>
                        <a:rPr lang="da-DK" sz="975" b="0" kern="1200" spc="-10" noProof="0">
                          <a:solidFill>
                            <a:schemeClr val="tx2"/>
                          </a:solidFill>
                          <a:latin typeface="+mn-lt"/>
                          <a:ea typeface="+mn-ea"/>
                          <a:cs typeface="+mn-cs"/>
                        </a:rPr>
                        <a:t xml:space="preserve">(pkt. 48)</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extLst>
                  <a:ext uri="{0D108BD9-81ED-4DB2-BD59-A6C34878D82A}">
                    <a16:rowId xmlns:a16="http://schemas.microsoft.com/office/drawing/2014/main" val="168422229"/>
                  </a:ext>
                </a:extLst>
              </a:tr>
              <a:tr h="291263">
                <a:tc>
                  <a:txBody>
                    <a:bodyPr/>
                    <a:lstStyle/>
                    <a:p>
                      <a:pPr algn="l"/>
                      <a:r>
                        <a:rPr lang="da-DK" sz="975" b="1" kern="1200" spc="-10" noProof="0">
                          <a:solidFill>
                            <a:schemeClr val="tx2"/>
                          </a:solidFill>
                          <a:latin typeface="+mn-lt"/>
                          <a:ea typeface="+mn-ea"/>
                          <a:cs typeface="+mn-cs"/>
                        </a:rPr>
                        <a:t xml:space="preserve">Klimaforandringer</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ctr">
                        <a:buNone/>
                      </a:pPr>
                      <a:r>
                        <a:rPr lang="da-DK" sz="975" b="0" i="0" u="none" strike="noStrike" noProof="0">
                          <a:solidFill>
                            <a:srgbClr val="1B4528"/>
                          </a:solidFill>
                          <a:effectLst/>
                          <a:latin typeface="Inter"/>
                        </a:rPr>
                        <a:t>{{</a:t>
                      </a:r>
                      <a:r>
                        <a:rPr lang="da-DK" sz="975" b="0" i="0" u="none" strike="noStrike" noProof="0">
                          <a:solidFill>
                            <a:srgbClr val="1B4528"/>
                          </a:solidFill>
                          <a:effectLst/>
                        </a:rPr>
                        <a:t>Climate_C2_Description_Existing_Practices</a:t>
                      </a:r>
                      <a:r>
                        <a:rPr lang="da-DK" sz="975" b="0" i="0" u="none" strike="noStrike" noProof="0">
                          <a:solidFill>
                            <a:srgbClr val="1B4528"/>
                          </a:solidFill>
                          <a:effectLst/>
                          <a:latin typeface="Inter"/>
                        </a:rPr>
                        <a:t>}}</a:t>
                      </a:r>
                      <a:endParaRPr lang="da-DK"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da-DK" sz="975" b="0" i="0" u="none" strike="noStrike" noProof="0">
                          <a:solidFill>
                            <a:srgbClr val="1B4528"/>
                          </a:solidFill>
                          <a:effectLst/>
                          <a:latin typeface="Inter"/>
                        </a:rPr>
                        <a:t>{{</a:t>
                      </a:r>
                      <a:r>
                        <a:rPr lang="da-DK" sz="975" b="0" i="0" u="none" strike="noStrike" noProof="0">
                          <a:solidFill>
                            <a:srgbClr val="1B4528"/>
                          </a:solidFill>
                          <a:effectLst/>
                        </a:rPr>
                        <a:t>Climate_C2_Future_Practices</a:t>
                      </a:r>
                      <a:r>
                        <a:rPr lang="da-DK" sz="975" b="0" i="0" u="none" strike="noStrike" noProof="0">
                          <a:solidFill>
                            <a:srgbClr val="1B4528"/>
                          </a:solidFill>
                          <a:effectLst/>
                          <a:latin typeface="Inter"/>
                        </a:rPr>
                        <a:t>}}</a:t>
                      </a:r>
                      <a:endParaRPr lang="da-DK"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da-DK" sz="975" b="0" i="0" u="none" strike="noStrike" noProof="0">
                          <a:solidFill>
                            <a:srgbClr val="1B4528"/>
                          </a:solidFill>
                          <a:effectLst/>
                          <a:latin typeface="Inter"/>
                        </a:rPr>
                        <a:t>{{</a:t>
                      </a:r>
                      <a:r>
                        <a:rPr lang="da-DK" sz="975" b="0" i="0" u="none" strike="noStrike" noProof="0">
                          <a:solidFill>
                            <a:srgbClr val="1B4528"/>
                          </a:solidFill>
                          <a:effectLst/>
                        </a:rPr>
                        <a:t>Climate_C2_Management_Level</a:t>
                      </a:r>
                      <a:r>
                        <a:rPr lang="da-DK" sz="975" b="0" i="0" u="none" strike="noStrike" noProof="0">
                          <a:solidFill>
                            <a:srgbClr val="1B4528"/>
                          </a:solidFill>
                          <a:effectLst/>
                          <a:latin typeface="Inter"/>
                        </a:rPr>
                        <a:t>}}</a:t>
                      </a:r>
                      <a:endParaRPr lang="da-DK"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80349995"/>
                  </a:ext>
                </a:extLst>
              </a:tr>
              <a:tr h="276403">
                <a:tc>
                  <a:txBody>
                    <a:bodyPr/>
                    <a:lstStyle/>
                    <a:p>
                      <a:pPr algn="l"/>
                      <a:r>
                        <a:rPr lang="da-DK" sz="975" b="1" kern="1200" spc="-10" noProof="0">
                          <a:solidFill>
                            <a:schemeClr val="tx2"/>
                          </a:solidFill>
                          <a:latin typeface="+mn-lt"/>
                          <a:ea typeface="+mn-ea"/>
                          <a:cs typeface="+mn-cs"/>
                        </a:rPr>
                        <a:t xml:space="preserve">Forurening</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ctr">
                        <a:buNone/>
                      </a:pPr>
                      <a:r>
                        <a:rPr lang="da-DK" sz="975" b="0" i="0" u="none" strike="noStrike" noProof="0">
                          <a:solidFill>
                            <a:srgbClr val="1B4528"/>
                          </a:solidFill>
                          <a:effectLst/>
                          <a:latin typeface="Inter"/>
                        </a:rPr>
                        <a:t>{{</a:t>
                      </a:r>
                      <a:r>
                        <a:rPr lang="da-DK" sz="975" b="0" i="0" u="none" strike="noStrike" noProof="0">
                          <a:solidFill>
                            <a:srgbClr val="1B4528"/>
                          </a:solidFill>
                          <a:effectLst/>
                        </a:rPr>
                        <a:t>Pollution_C2_Description_Existing_Practices</a:t>
                      </a:r>
                      <a:r>
                        <a:rPr lang="da-DK" sz="975" b="0" i="0" u="none" strike="noStrike" noProof="0">
                          <a:solidFill>
                            <a:srgbClr val="1B4528"/>
                          </a:solidFill>
                          <a:effectLst/>
                          <a:latin typeface="Inter"/>
                        </a:rPr>
                        <a:t>}}</a:t>
                      </a:r>
                      <a:endParaRPr lang="da-DK" sz="975"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da-DK" sz="975" b="0" i="0" u="none" strike="noStrike" noProof="0">
                          <a:solidFill>
                            <a:srgbClr val="1B4528"/>
                          </a:solidFill>
                          <a:effectLst/>
                          <a:latin typeface="Inter"/>
                        </a:rPr>
                        <a:t>{{</a:t>
                      </a:r>
                      <a:r>
                        <a:rPr lang="da-DK" sz="975" b="0" i="0" u="none" strike="noStrike" noProof="0">
                          <a:solidFill>
                            <a:srgbClr val="1B4528"/>
                          </a:solidFill>
                          <a:effectLst/>
                        </a:rPr>
                        <a:t>Pollution_C2_Future_Practices</a:t>
                      </a:r>
                      <a:r>
                        <a:rPr lang="da-DK" sz="975" b="0" i="0" u="none" strike="noStrike" noProof="0">
                          <a:solidFill>
                            <a:srgbClr val="1B4528"/>
                          </a:solidFill>
                          <a:effectLst/>
                          <a:latin typeface="Inter"/>
                        </a:rPr>
                        <a:t>}}</a:t>
                      </a:r>
                      <a:endParaRPr lang="da-DK" sz="975"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da-DK" sz="975" b="0" i="0" u="none" strike="noStrike" noProof="0">
                          <a:solidFill>
                            <a:srgbClr val="1B4528"/>
                          </a:solidFill>
                          <a:effectLst/>
                          <a:latin typeface="Inter"/>
                        </a:rPr>
                        <a:t>{{</a:t>
                      </a:r>
                      <a:r>
                        <a:rPr lang="da-DK" sz="975" b="0" i="0" u="none" strike="noStrike" noProof="0">
                          <a:solidFill>
                            <a:srgbClr val="1B4528"/>
                          </a:solidFill>
                          <a:effectLst/>
                        </a:rPr>
                        <a:t>Pollution_C2_Management_Level</a:t>
                      </a:r>
                      <a:r>
                        <a:rPr lang="da-DK" sz="975" b="0" i="0" u="none" strike="noStrike" noProof="0">
                          <a:solidFill>
                            <a:srgbClr val="1B4528"/>
                          </a:solidFill>
                          <a:effectLst/>
                          <a:latin typeface="Inter"/>
                        </a:rPr>
                        <a:t>}}</a:t>
                      </a:r>
                      <a:endParaRPr lang="da-DK" sz="975"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940256071"/>
                  </a:ext>
                </a:extLst>
              </a:tr>
              <a:tr h="284254">
                <a:tc>
                  <a:txBody>
                    <a:bodyPr/>
                    <a:lstStyle/>
                    <a:p>
                      <a:pPr algn="l"/>
                      <a:r>
                        <a:rPr lang="da-DK" sz="975" b="1" kern="1200" spc="-10" noProof="0">
                          <a:solidFill>
                            <a:schemeClr val="tx2"/>
                          </a:solidFill>
                          <a:latin typeface="+mn-lt"/>
                          <a:ea typeface="+mn-ea"/>
                          <a:cs typeface="+mn-cs"/>
                        </a:rPr>
                        <a:t xml:space="preserve">Vand -og Havressourcer</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ctr">
                        <a:buNone/>
                      </a:pPr>
                      <a:r>
                        <a:rPr lang="da-DK" sz="975" b="0" i="0" u="none" strike="noStrike" noProof="0">
                          <a:solidFill>
                            <a:srgbClr val="1B4528"/>
                          </a:solidFill>
                          <a:effectLst/>
                          <a:latin typeface="Inter"/>
                        </a:rPr>
                        <a:t>{{</a:t>
                      </a:r>
                      <a:r>
                        <a:rPr lang="da-DK" sz="975" b="0" i="0" u="none" strike="noStrike" noProof="0">
                          <a:solidFill>
                            <a:srgbClr val="1B4528"/>
                          </a:solidFill>
                          <a:effectLst/>
                        </a:rPr>
                        <a:t>Water_C2_Description_Existing_Practices</a:t>
                      </a:r>
                      <a:r>
                        <a:rPr lang="da-DK" sz="975" b="0" i="0" u="none" strike="noStrike" noProof="0">
                          <a:solidFill>
                            <a:srgbClr val="1B4528"/>
                          </a:solidFill>
                          <a:effectLst/>
                          <a:latin typeface="Inter"/>
                        </a:rPr>
                        <a:t>}}</a:t>
                      </a:r>
                      <a:endParaRPr lang="da-DK" sz="975"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da-DK" sz="975" b="0" i="0" u="none" strike="noStrike" noProof="0">
                          <a:solidFill>
                            <a:srgbClr val="1B4528"/>
                          </a:solidFill>
                          <a:effectLst/>
                          <a:latin typeface="Inter"/>
                        </a:rPr>
                        <a:t>{{</a:t>
                      </a:r>
                      <a:r>
                        <a:rPr lang="da-DK" sz="975" b="0" i="0" u="none" strike="noStrike" noProof="0">
                          <a:solidFill>
                            <a:srgbClr val="1B4528"/>
                          </a:solidFill>
                          <a:effectLst/>
                        </a:rPr>
                        <a:t>Water_C2_Future_Practices</a:t>
                      </a:r>
                      <a:r>
                        <a:rPr lang="da-DK" sz="975" b="0" i="0" u="none" strike="noStrike" noProof="0">
                          <a:solidFill>
                            <a:srgbClr val="1B4528"/>
                          </a:solidFill>
                          <a:effectLst/>
                          <a:latin typeface="Inter"/>
                        </a:rPr>
                        <a:t>}}</a:t>
                      </a:r>
                      <a:endParaRPr lang="da-DK" sz="975"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ctr">
                        <a:lnSpc>
                          <a:spcPct val="100000"/>
                        </a:lnSpc>
                        <a:spcBef>
                          <a:spcPts val="0"/>
                        </a:spcBef>
                        <a:spcAft>
                          <a:spcPts val="0"/>
                        </a:spcAft>
                        <a:buNone/>
                      </a:pPr>
                      <a:r>
                        <a:rPr lang="da-DK" sz="975" b="0" i="0" u="none" strike="noStrike" noProof="0">
                          <a:solidFill>
                            <a:srgbClr val="1B4528"/>
                          </a:solidFill>
                          <a:effectLst/>
                          <a:latin typeface="Inter"/>
                        </a:rPr>
                        <a:t>{{</a:t>
                      </a:r>
                      <a:r>
                        <a:rPr lang="da-DK" sz="975" b="0" i="0" u="none" strike="noStrike" noProof="0">
                          <a:solidFill>
                            <a:srgbClr val="1B4528"/>
                          </a:solidFill>
                          <a:effectLst/>
                          <a:latin typeface="IBM Plex Sans"/>
                        </a:rPr>
                        <a:t>Water_C2_Management_Level</a:t>
                      </a:r>
                      <a:r>
                        <a:rPr lang="da-DK" sz="975" b="0" i="0" u="none" strike="noStrike" noProof="0">
                          <a:solidFill>
                            <a:srgbClr val="1B4528"/>
                          </a:solidFill>
                          <a:effectLst/>
                          <a:latin typeface="Inter"/>
                        </a:rPr>
                        <a:t>}}</a:t>
                      </a:r>
                      <a:endParaRPr lang="da-DK" sz="975" b="0" i="0" u="none" strike="noStrike" noProof="0">
                        <a:solidFill>
                          <a:srgbClr val="000000"/>
                        </a:solidFill>
                        <a:effectLst/>
                        <a:latin typeface="Inter"/>
                      </a:endParaRPr>
                    </a:p>
                    <a:p>
                      <a:pPr lvl="0">
                        <a:buNone/>
                      </a:pPr>
                      <a:endParaRPr lang="da-DK" sz="975" b="0" i="0" u="none" strike="noStrike" noProof="0">
                        <a:solidFill>
                          <a:srgbClr val="1B4528"/>
                        </a:solidFill>
                        <a:effectLst/>
                        <a:latin typeface="Inter"/>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2442156864"/>
                  </a:ext>
                </a:extLst>
              </a:tr>
              <a:tr h="336600">
                <a:tc>
                  <a:txBody>
                    <a:bodyPr/>
                    <a:lstStyle/>
                    <a:p>
                      <a:pPr algn="l"/>
                      <a:r>
                        <a:rPr lang="da-DK" sz="975" b="1" kern="1200" spc="-10" noProof="0">
                          <a:solidFill>
                            <a:schemeClr val="tx2"/>
                          </a:solidFill>
                          <a:latin typeface="+mn-lt"/>
                          <a:ea typeface="+mn-ea"/>
                          <a:cs typeface="+mn-cs"/>
                        </a:rPr>
                        <a:t xml:space="preserve">Biodiversitet og Økosystemer</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ctr">
                        <a:buNone/>
                      </a:pPr>
                      <a:r>
                        <a:rPr lang="da-DK" sz="975" b="0" i="0" u="none" strike="noStrike" noProof="0">
                          <a:solidFill>
                            <a:srgbClr val="1B4528"/>
                          </a:solidFill>
                          <a:effectLst/>
                          <a:latin typeface="Inter"/>
                        </a:rPr>
                        <a:t>{{</a:t>
                      </a:r>
                      <a:r>
                        <a:rPr lang="da-DK" sz="975" b="0" i="0" u="none" strike="noStrike" noProof="0">
                          <a:solidFill>
                            <a:srgbClr val="1B4528"/>
                          </a:solidFill>
                          <a:effectLst/>
                        </a:rPr>
                        <a:t>Bio_C2_Description_Existing_Practices</a:t>
                      </a:r>
                      <a:r>
                        <a:rPr lang="da-DK" sz="975" b="0" i="0" u="none" strike="noStrike" noProof="0">
                          <a:solidFill>
                            <a:srgbClr val="1B4528"/>
                          </a:solidFill>
                          <a:effectLst/>
                          <a:latin typeface="Inter"/>
                        </a:rPr>
                        <a:t>}}</a:t>
                      </a:r>
                      <a:endParaRPr lang="da-DK" sz="975"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da-DK" sz="975" b="0" i="0" u="none" strike="noStrike" noProof="0">
                          <a:solidFill>
                            <a:srgbClr val="1B4528"/>
                          </a:solidFill>
                          <a:effectLst/>
                          <a:latin typeface="Inter"/>
                        </a:rPr>
                        <a:t>{{</a:t>
                      </a:r>
                      <a:r>
                        <a:rPr lang="da-DK" sz="975" b="0" i="0" u="none" strike="noStrike" noProof="0">
                          <a:solidFill>
                            <a:srgbClr val="1B4528"/>
                          </a:solidFill>
                          <a:effectLst/>
                        </a:rPr>
                        <a:t>Bio_C2_Future_Practices</a:t>
                      </a:r>
                      <a:r>
                        <a:rPr lang="da-DK" sz="975" b="0" i="0" u="none" strike="noStrike" noProof="0">
                          <a:solidFill>
                            <a:srgbClr val="1B4528"/>
                          </a:solidFill>
                          <a:effectLst/>
                          <a:latin typeface="Inter"/>
                        </a:rPr>
                        <a:t>}}</a:t>
                      </a:r>
                      <a:endParaRPr lang="da-DK" sz="975"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da-DK" sz="975" b="0" i="0" u="none" strike="noStrike" noProof="0">
                          <a:solidFill>
                            <a:srgbClr val="1B4528"/>
                          </a:solidFill>
                          <a:effectLst/>
                          <a:latin typeface="Inter"/>
                        </a:rPr>
                        <a:t>{{</a:t>
                      </a:r>
                      <a:r>
                        <a:rPr lang="da-DK" sz="975" b="0" i="0" u="none" strike="noStrike" noProof="0">
                          <a:solidFill>
                            <a:srgbClr val="1B4528"/>
                          </a:solidFill>
                          <a:effectLst/>
                        </a:rPr>
                        <a:t>Bio_C2_Management_Level</a:t>
                      </a:r>
                      <a:r>
                        <a:rPr lang="da-DK" sz="975" b="0" i="0" u="none" strike="noStrike" noProof="0">
                          <a:solidFill>
                            <a:srgbClr val="1B4528"/>
                          </a:solidFill>
                          <a:effectLst/>
                          <a:latin typeface="Inter"/>
                        </a:rPr>
                        <a:t>}}</a:t>
                      </a:r>
                      <a:endParaRPr lang="da-DK" sz="975"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2197746340"/>
                  </a:ext>
                </a:extLst>
              </a:tr>
              <a:tr h="284254">
                <a:tc>
                  <a:txBody>
                    <a:bodyPr/>
                    <a:lstStyle/>
                    <a:p>
                      <a:pPr algn="l"/>
                      <a:r>
                        <a:rPr lang="da-DK" sz="975" b="1" kern="1200" spc="-10" noProof="0">
                          <a:solidFill>
                            <a:schemeClr val="tx2"/>
                          </a:solidFill>
                          <a:latin typeface="+mn-lt"/>
                          <a:ea typeface="+mn-ea"/>
                          <a:cs typeface="+mn-cs"/>
                        </a:rPr>
                        <a:t xml:space="preserve">Cirkulær økonomi</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ctr">
                        <a:buNone/>
                      </a:pPr>
                      <a:r>
                        <a:rPr lang="da-DK" sz="975" b="0" i="0" u="none" strike="noStrike" noProof="0">
                          <a:solidFill>
                            <a:srgbClr val="1B4528"/>
                          </a:solidFill>
                          <a:effectLst/>
                          <a:latin typeface="Inter"/>
                        </a:rPr>
                        <a:t>{{</a:t>
                      </a:r>
                      <a:r>
                        <a:rPr lang="da-DK" sz="975" b="0" i="0" u="none" strike="noStrike" noProof="0">
                          <a:solidFill>
                            <a:srgbClr val="1B4528"/>
                          </a:solidFill>
                          <a:effectLst/>
                        </a:rPr>
                        <a:t>Circular_C2_Description_Existing_Practices</a:t>
                      </a:r>
                      <a:r>
                        <a:rPr lang="da-DK" sz="975" b="0" i="0" u="none" strike="noStrike" noProof="0">
                          <a:solidFill>
                            <a:srgbClr val="1B4528"/>
                          </a:solidFill>
                          <a:effectLst/>
                          <a:latin typeface="Inter"/>
                        </a:rPr>
                        <a:t>}}</a:t>
                      </a:r>
                      <a:endParaRPr lang="da-DK" sz="975"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da-DK" sz="975" b="0" i="0" u="none" strike="noStrike" noProof="0">
                          <a:solidFill>
                            <a:srgbClr val="1B4528"/>
                          </a:solidFill>
                          <a:effectLst/>
                          <a:latin typeface="Inter"/>
                        </a:rPr>
                        <a:t>{{</a:t>
                      </a:r>
                      <a:r>
                        <a:rPr lang="da-DK" sz="975" b="0" i="0" u="none" strike="noStrike" noProof="0">
                          <a:solidFill>
                            <a:srgbClr val="1B4528"/>
                          </a:solidFill>
                          <a:effectLst/>
                        </a:rPr>
                        <a:t>Circular_C2_Future_Practices</a:t>
                      </a:r>
                      <a:r>
                        <a:rPr lang="da-DK" sz="975" b="0" i="0" u="none" strike="noStrike" noProof="0">
                          <a:solidFill>
                            <a:srgbClr val="1B4528"/>
                          </a:solidFill>
                          <a:effectLst/>
                          <a:latin typeface="Inter"/>
                        </a:rPr>
                        <a:t>}}</a:t>
                      </a:r>
                      <a:endParaRPr lang="da-DK" sz="975"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da-DK" sz="975" b="0" i="0" u="none" strike="noStrike" noProof="0">
                          <a:solidFill>
                            <a:srgbClr val="1B4528"/>
                          </a:solidFill>
                          <a:effectLst/>
                          <a:latin typeface="Inter"/>
                        </a:rPr>
                        <a:t>{{</a:t>
                      </a:r>
                      <a:r>
                        <a:rPr lang="da-DK" sz="975" b="0" i="0" u="none" strike="noStrike" noProof="0">
                          <a:solidFill>
                            <a:srgbClr val="1B4528"/>
                          </a:solidFill>
                          <a:effectLst/>
                        </a:rPr>
                        <a:t>Circular_C2_Management_Level</a:t>
                      </a:r>
                      <a:r>
                        <a:rPr lang="da-DK" sz="975" b="0" i="0" u="none" strike="noStrike" noProof="0">
                          <a:solidFill>
                            <a:srgbClr val="1B4528"/>
                          </a:solidFill>
                          <a:effectLst/>
                          <a:latin typeface="Inter"/>
                        </a:rPr>
                        <a:t>}}</a:t>
                      </a:r>
                      <a:endParaRPr lang="da-DK" sz="975"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942359221"/>
                  </a:ext>
                </a:extLst>
              </a:tr>
              <a:tr h="284254">
                <a:tc>
                  <a:txBody>
                    <a:bodyPr/>
                    <a:lstStyle/>
                    <a:p>
                      <a:pPr algn="l"/>
                      <a:r>
                        <a:rPr lang="da-DK" sz="975" b="1" kern="1200" spc="-10" noProof="0">
                          <a:solidFill>
                            <a:schemeClr val="tx2"/>
                          </a:solidFill>
                          <a:latin typeface="+mn-lt"/>
                          <a:ea typeface="+mn-ea"/>
                          <a:cs typeface="+mn-cs"/>
                        </a:rPr>
                        <a:t xml:space="preserve">Egen arbejdsstyrke</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ctr">
                        <a:buNone/>
                      </a:pPr>
                      <a:r>
                        <a:rPr lang="da-DK" sz="975" b="0" i="0" u="none" strike="noStrike" noProof="0">
                          <a:solidFill>
                            <a:srgbClr val="1B4528"/>
                          </a:solidFill>
                          <a:effectLst/>
                          <a:latin typeface="Inter"/>
                        </a:rPr>
                        <a:t>{{</a:t>
                      </a:r>
                      <a:r>
                        <a:rPr lang="da-DK" sz="975" b="0" i="0" u="none" strike="noStrike" noProof="0">
                          <a:solidFill>
                            <a:srgbClr val="1B4528"/>
                          </a:solidFill>
                          <a:effectLst/>
                        </a:rPr>
                        <a:t>Own_Workforce_C2_Description_Existing_Practices</a:t>
                      </a:r>
                      <a:r>
                        <a:rPr lang="da-DK" sz="975" b="0" i="0" u="none" strike="noStrike" noProof="0">
                          <a:solidFill>
                            <a:srgbClr val="1B4528"/>
                          </a:solidFill>
                          <a:effectLst/>
                          <a:latin typeface="Inter"/>
                        </a:rPr>
                        <a:t>}}</a:t>
                      </a:r>
                      <a:endParaRPr lang="da-DK" sz="975"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da-DK" sz="975" b="0" i="0" u="none" strike="noStrike" noProof="0">
                          <a:solidFill>
                            <a:srgbClr val="1B4528"/>
                          </a:solidFill>
                          <a:effectLst/>
                          <a:latin typeface="Inter"/>
                        </a:rPr>
                        <a:t>{{</a:t>
                      </a:r>
                      <a:r>
                        <a:rPr lang="da-DK" sz="975" b="0" i="0" u="none" strike="noStrike" noProof="0">
                          <a:solidFill>
                            <a:srgbClr val="1B4528"/>
                          </a:solidFill>
                          <a:effectLst/>
                        </a:rPr>
                        <a:t>Own_Workforce_C2_Future_Practices</a:t>
                      </a:r>
                      <a:r>
                        <a:rPr lang="da-DK" sz="975" b="0" i="0" u="none" strike="noStrike" noProof="0">
                          <a:solidFill>
                            <a:srgbClr val="1B4528"/>
                          </a:solidFill>
                          <a:effectLst/>
                          <a:latin typeface="Inter"/>
                        </a:rPr>
                        <a:t>}}</a:t>
                      </a:r>
                      <a:endParaRPr lang="da-DK" sz="975"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da-DK" sz="975" b="0" i="0" u="none" strike="noStrike" noProof="0">
                          <a:solidFill>
                            <a:srgbClr val="1B4528"/>
                          </a:solidFill>
                          <a:effectLst/>
                          <a:latin typeface="Inter"/>
                        </a:rPr>
                        <a:t>{{</a:t>
                      </a:r>
                      <a:r>
                        <a:rPr lang="da-DK" sz="975" b="0" i="0" u="none" strike="noStrike" noProof="0">
                          <a:solidFill>
                            <a:srgbClr val="1B4528"/>
                          </a:solidFill>
                          <a:effectLst/>
                        </a:rPr>
                        <a:t>Own_Workforce_C2_Management_Level</a:t>
                      </a:r>
                      <a:r>
                        <a:rPr lang="da-DK" sz="975" b="0" i="0" u="none" strike="noStrike" noProof="0">
                          <a:solidFill>
                            <a:srgbClr val="1B4528"/>
                          </a:solidFill>
                          <a:effectLst/>
                          <a:latin typeface="Inter"/>
                        </a:rPr>
                        <a:t>}}</a:t>
                      </a:r>
                      <a:endParaRPr lang="da-DK" sz="975"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107384999"/>
                  </a:ext>
                </a:extLst>
              </a:tr>
              <a:tr h="284254">
                <a:tc>
                  <a:txBody>
                    <a:bodyPr/>
                    <a:lstStyle/>
                    <a:p>
                      <a:pPr algn="l"/>
                      <a:r>
                        <a:rPr lang="da-DK" sz="975" b="1" kern="1200" spc="-10" noProof="0">
                          <a:solidFill>
                            <a:schemeClr val="tx2"/>
                          </a:solidFill>
                          <a:latin typeface="+mn-lt"/>
                          <a:ea typeface="+mn-ea"/>
                          <a:cs typeface="+mn-cs"/>
                        </a:rPr>
                        <a:t xml:space="preserve">Arbejdere i værdikæden</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ctr">
                        <a:buNone/>
                      </a:pPr>
                      <a:r>
                        <a:rPr lang="da-DK" sz="975" b="0" i="0" u="none" strike="noStrike" noProof="0">
                          <a:solidFill>
                            <a:srgbClr val="1B4528"/>
                          </a:solidFill>
                          <a:effectLst/>
                          <a:latin typeface="Inter"/>
                        </a:rPr>
                        <a:t>{{</a:t>
                      </a:r>
                      <a:r>
                        <a:rPr lang="da-DK" sz="975" b="0" i="0" u="none" strike="noStrike" noProof="0">
                          <a:solidFill>
                            <a:srgbClr val="1B4528"/>
                          </a:solidFill>
                          <a:effectLst/>
                        </a:rPr>
                        <a:t>Workers_Value_Chain_C2_Description_Existing_Practices</a:t>
                      </a:r>
                      <a:r>
                        <a:rPr lang="da-DK" sz="975" b="0" i="0" u="none" strike="noStrike" noProof="0">
                          <a:solidFill>
                            <a:srgbClr val="1B4528"/>
                          </a:solidFill>
                          <a:effectLst/>
                          <a:latin typeface="Inter"/>
                        </a:rPr>
                        <a:t>}}</a:t>
                      </a:r>
                      <a:endParaRPr lang="da-DK" sz="975"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da-DK" sz="975" b="0" i="0" u="none" strike="noStrike" noProof="0">
                          <a:solidFill>
                            <a:srgbClr val="1B4528"/>
                          </a:solidFill>
                          <a:effectLst/>
                          <a:latin typeface="Inter"/>
                        </a:rPr>
                        <a:t>{{</a:t>
                      </a:r>
                      <a:r>
                        <a:rPr lang="da-DK" sz="975" b="0" i="0" u="none" strike="noStrike" noProof="0">
                          <a:solidFill>
                            <a:srgbClr val="1B4528"/>
                          </a:solidFill>
                          <a:effectLst/>
                        </a:rPr>
                        <a:t>Workers_Value_Chain_C2_Future_Practices</a:t>
                      </a:r>
                      <a:r>
                        <a:rPr lang="da-DK" sz="975" b="0" i="0" u="none" strike="noStrike" noProof="0">
                          <a:solidFill>
                            <a:srgbClr val="1B4528"/>
                          </a:solidFill>
                          <a:effectLst/>
                          <a:latin typeface="Inter"/>
                        </a:rPr>
                        <a:t>}}</a:t>
                      </a:r>
                      <a:endParaRPr lang="da-DK" sz="975"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da-DK" sz="975" b="0" i="0" u="none" strike="noStrike" noProof="0">
                          <a:solidFill>
                            <a:srgbClr val="1B4528"/>
                          </a:solidFill>
                          <a:effectLst/>
                          <a:latin typeface="Inter"/>
                        </a:rPr>
                        <a:t>{{</a:t>
                      </a:r>
                      <a:r>
                        <a:rPr lang="da-DK" sz="975" b="0" i="0" u="none" strike="noStrike" noProof="0">
                          <a:solidFill>
                            <a:srgbClr val="1B4528"/>
                          </a:solidFill>
                          <a:effectLst/>
                        </a:rPr>
                        <a:t>Workers_Value_Chain_C2_Management_Level</a:t>
                      </a:r>
                      <a:r>
                        <a:rPr lang="da-DK" sz="975" b="0" i="0" u="none" strike="noStrike" noProof="0">
                          <a:solidFill>
                            <a:srgbClr val="1B4528"/>
                          </a:solidFill>
                          <a:effectLst/>
                          <a:latin typeface="Inter"/>
                        </a:rPr>
                        <a:t>}}</a:t>
                      </a:r>
                      <a:endParaRPr lang="da-DK" sz="975"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101919361"/>
                  </a:ext>
                </a:extLst>
              </a:tr>
              <a:tr h="284254">
                <a:tc>
                  <a:txBody>
                    <a:bodyPr/>
                    <a:lstStyle/>
                    <a:p>
                      <a:pPr algn="l"/>
                      <a:r>
                        <a:rPr lang="da-DK" sz="975" b="1" kern="1200" spc="-10" noProof="0">
                          <a:solidFill>
                            <a:schemeClr val="tx2"/>
                          </a:solidFill>
                          <a:latin typeface="+mn-lt"/>
                          <a:ea typeface="+mn-ea"/>
                          <a:cs typeface="+mn-cs"/>
                        </a:rPr>
                        <a:t xml:space="preserve">Berørte samfund</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ctr">
                        <a:buNone/>
                      </a:pPr>
                      <a:r>
                        <a:rPr lang="da-DK" sz="975" b="0" i="0" u="none" strike="noStrike" noProof="0">
                          <a:solidFill>
                            <a:srgbClr val="1B4528"/>
                          </a:solidFill>
                          <a:effectLst/>
                          <a:latin typeface="Inter"/>
                        </a:rPr>
                        <a:t>{{</a:t>
                      </a:r>
                      <a:r>
                        <a:rPr lang="da-DK" sz="975" b="0" i="0" u="none" strike="noStrike" noProof="0">
                          <a:solidFill>
                            <a:srgbClr val="1B4528"/>
                          </a:solidFill>
                          <a:effectLst/>
                        </a:rPr>
                        <a:t>Affected_C2_Description_Existing_Practices</a:t>
                      </a:r>
                      <a:r>
                        <a:rPr lang="da-DK" sz="975" b="0" i="0" u="none" strike="noStrike" noProof="0">
                          <a:solidFill>
                            <a:srgbClr val="1B4528"/>
                          </a:solidFill>
                          <a:effectLst/>
                          <a:latin typeface="Inter"/>
                        </a:rPr>
                        <a:t>}}</a:t>
                      </a:r>
                      <a:endParaRPr lang="da-DK" sz="975"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da-DK" sz="975" b="0" i="0" u="none" strike="noStrike" noProof="0">
                          <a:solidFill>
                            <a:srgbClr val="1B4528"/>
                          </a:solidFill>
                          <a:effectLst/>
                          <a:latin typeface="Inter"/>
                        </a:rPr>
                        <a:t>{{</a:t>
                      </a:r>
                      <a:r>
                        <a:rPr lang="da-DK" sz="975" b="0" i="0" u="none" strike="noStrike" noProof="0">
                          <a:solidFill>
                            <a:srgbClr val="1B4528"/>
                          </a:solidFill>
                          <a:effectLst/>
                        </a:rPr>
                        <a:t>Affected_C2_Future_Practices</a:t>
                      </a:r>
                      <a:r>
                        <a:rPr lang="da-DK" sz="975" b="0" i="0" u="none" strike="noStrike" noProof="0">
                          <a:solidFill>
                            <a:srgbClr val="1B4528"/>
                          </a:solidFill>
                          <a:effectLst/>
                          <a:latin typeface="Inter"/>
                        </a:rPr>
                        <a:t>}}</a:t>
                      </a:r>
                      <a:endParaRPr lang="da-DK" sz="975"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da-DK" sz="975" b="0" i="0" u="none" strike="noStrike" noProof="0">
                          <a:solidFill>
                            <a:srgbClr val="1B4528"/>
                          </a:solidFill>
                          <a:effectLst/>
                          <a:latin typeface="Inter"/>
                        </a:rPr>
                        <a:t>{{</a:t>
                      </a:r>
                      <a:r>
                        <a:rPr lang="da-DK" sz="975" b="0" i="0" u="none" strike="noStrike" noProof="0">
                          <a:solidFill>
                            <a:srgbClr val="1B4528"/>
                          </a:solidFill>
                          <a:effectLst/>
                        </a:rPr>
                        <a:t>Affected_C2_Management_Level</a:t>
                      </a:r>
                      <a:r>
                        <a:rPr lang="da-DK" sz="975" b="0" i="0" u="none" strike="noStrike" noProof="0">
                          <a:solidFill>
                            <a:srgbClr val="1B4528"/>
                          </a:solidFill>
                          <a:effectLst/>
                          <a:latin typeface="Inter"/>
                        </a:rPr>
                        <a:t>}}</a:t>
                      </a:r>
                      <a:endParaRPr lang="da-DK" sz="975"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3336877917"/>
                  </a:ext>
                </a:extLst>
              </a:tr>
              <a:tr h="336600">
                <a:tc>
                  <a:txBody>
                    <a:bodyPr/>
                    <a:lstStyle/>
                    <a:p>
                      <a:pPr algn="l"/>
                      <a:r>
                        <a:rPr lang="da-DK" sz="975" b="1" kern="1200" spc="-10" noProof="0">
                          <a:solidFill>
                            <a:schemeClr val="tx2"/>
                          </a:solidFill>
                          <a:latin typeface="+mn-lt"/>
                          <a:ea typeface="+mn-ea"/>
                          <a:cs typeface="+mn-cs"/>
                        </a:rPr>
                        <a:t xml:space="preserve">Forbrugere og slutbrugere</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ctr">
                        <a:buNone/>
                      </a:pPr>
                      <a:r>
                        <a:rPr lang="da-DK" sz="975" b="0" i="0" u="none" strike="noStrike" noProof="0">
                          <a:solidFill>
                            <a:srgbClr val="1B4528"/>
                          </a:solidFill>
                          <a:effectLst/>
                          <a:latin typeface="Inter"/>
                        </a:rPr>
                        <a:t>{{</a:t>
                      </a:r>
                      <a:r>
                        <a:rPr lang="da-DK" sz="975" b="0" i="0" u="none" strike="noStrike" noProof="0">
                          <a:solidFill>
                            <a:srgbClr val="1B4528"/>
                          </a:solidFill>
                          <a:effectLst/>
                        </a:rPr>
                        <a:t>Consumers_C2_Description_Existing_Practices</a:t>
                      </a:r>
                      <a:r>
                        <a:rPr lang="da-DK" sz="975" b="0" i="0" u="none" strike="noStrike" noProof="0">
                          <a:solidFill>
                            <a:srgbClr val="1B4528"/>
                          </a:solidFill>
                          <a:effectLst/>
                          <a:latin typeface="Inter"/>
                        </a:rPr>
                        <a:t>}}</a:t>
                      </a:r>
                      <a:endParaRPr lang="da-DK" sz="975"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da-DK" sz="975" b="0" i="0" u="none" strike="noStrike" noProof="0">
                          <a:solidFill>
                            <a:srgbClr val="1B4528"/>
                          </a:solidFill>
                          <a:effectLst/>
                          <a:latin typeface="Inter"/>
                        </a:rPr>
                        <a:t>{{</a:t>
                      </a:r>
                      <a:r>
                        <a:rPr lang="da-DK" sz="975" b="0" i="0" u="none" strike="noStrike" noProof="0">
                          <a:solidFill>
                            <a:srgbClr val="1B4528"/>
                          </a:solidFill>
                          <a:effectLst/>
                        </a:rPr>
                        <a:t>Consumers_C2_Future_Practices</a:t>
                      </a:r>
                      <a:r>
                        <a:rPr lang="da-DK" sz="975" b="0" i="0" u="none" strike="noStrike" noProof="0">
                          <a:solidFill>
                            <a:srgbClr val="1B4528"/>
                          </a:solidFill>
                          <a:effectLst/>
                          <a:latin typeface="Inter"/>
                        </a:rPr>
                        <a:t>}}</a:t>
                      </a:r>
                      <a:endParaRPr lang="da-DK" sz="975"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da-DK" sz="975" b="0" i="0" u="none" strike="noStrike" noProof="0">
                          <a:solidFill>
                            <a:srgbClr val="1B4528"/>
                          </a:solidFill>
                          <a:effectLst/>
                          <a:latin typeface="Inter"/>
                        </a:rPr>
                        <a:t>{{</a:t>
                      </a:r>
                      <a:r>
                        <a:rPr lang="da-DK" sz="975" b="0" i="0" u="none" strike="noStrike" noProof="0">
                          <a:solidFill>
                            <a:srgbClr val="1B4528"/>
                          </a:solidFill>
                          <a:effectLst/>
                        </a:rPr>
                        <a:t>Consumers_C2_Management_Level</a:t>
                      </a:r>
                      <a:r>
                        <a:rPr lang="da-DK" sz="975" b="0" i="0" u="none" strike="noStrike" noProof="0">
                          <a:solidFill>
                            <a:srgbClr val="1B4528"/>
                          </a:solidFill>
                          <a:effectLst/>
                          <a:latin typeface="Inter"/>
                        </a:rPr>
                        <a:t>}}</a:t>
                      </a:r>
                      <a:endParaRPr lang="da-DK" sz="975"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2815053185"/>
                  </a:ext>
                </a:extLst>
              </a:tr>
              <a:tr h="284254">
                <a:tc>
                  <a:txBody>
                    <a:bodyPr/>
                    <a:lstStyle/>
                    <a:p>
                      <a:pPr algn="l"/>
                      <a:r>
                        <a:rPr lang="da-DK" sz="975" b="1" kern="1200" spc="-10" noProof="0">
                          <a:solidFill>
                            <a:schemeClr val="tx2"/>
                          </a:solidFill>
                          <a:latin typeface="+mn-lt"/>
                          <a:ea typeface="+mn-ea"/>
                          <a:cs typeface="+mn-cs"/>
                        </a:rPr>
                        <a:t xml:space="preserve">Virksomhedsledelse</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ctr">
                        <a:buNone/>
                      </a:pPr>
                      <a:r>
                        <a:rPr lang="da-DK" sz="975" b="0" i="0" u="none" strike="noStrike" noProof="0">
                          <a:solidFill>
                            <a:srgbClr val="1B4528"/>
                          </a:solidFill>
                          <a:effectLst/>
                          <a:latin typeface="Inter"/>
                        </a:rPr>
                        <a:t>{{</a:t>
                      </a:r>
                      <a:r>
                        <a:rPr lang="da-DK" sz="975" b="0" i="0" u="none" strike="noStrike" noProof="0">
                          <a:solidFill>
                            <a:srgbClr val="1B4528"/>
                          </a:solidFill>
                          <a:effectLst/>
                        </a:rPr>
                        <a:t>Governance_C2_Description_Existing_Practices</a:t>
                      </a:r>
                      <a:r>
                        <a:rPr lang="da-DK" sz="975" b="0" i="0" u="none" strike="noStrike" noProof="0">
                          <a:solidFill>
                            <a:srgbClr val="1B4528"/>
                          </a:solidFill>
                          <a:effectLst/>
                          <a:latin typeface="Inter"/>
                        </a:rPr>
                        <a:t>}}</a:t>
                      </a:r>
                      <a:endParaRPr lang="da-DK" sz="975"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da-DK" sz="975" b="0" i="0" u="none" strike="noStrike" noProof="0">
                          <a:solidFill>
                            <a:srgbClr val="1B4528"/>
                          </a:solidFill>
                          <a:effectLst/>
                          <a:latin typeface="Inter"/>
                        </a:rPr>
                        <a:t>{{</a:t>
                      </a:r>
                      <a:r>
                        <a:rPr lang="da-DK" sz="975" b="0" i="0" u="none" strike="noStrike" noProof="0">
                          <a:solidFill>
                            <a:srgbClr val="1B4528"/>
                          </a:solidFill>
                          <a:effectLst/>
                        </a:rPr>
                        <a:t>Governance_C2_Future_Practices</a:t>
                      </a:r>
                      <a:r>
                        <a:rPr lang="da-DK" sz="975" b="0" i="0" u="none" strike="noStrike" noProof="0">
                          <a:solidFill>
                            <a:srgbClr val="1B4528"/>
                          </a:solidFill>
                          <a:effectLst/>
                          <a:latin typeface="Inter"/>
                        </a:rPr>
                        <a:t>}}</a:t>
                      </a:r>
                      <a:endParaRPr lang="da-DK" sz="975"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da-DK" sz="975" b="0" i="0" u="none" strike="noStrike" noProof="0">
                          <a:solidFill>
                            <a:srgbClr val="1B4528"/>
                          </a:solidFill>
                          <a:effectLst/>
                          <a:latin typeface="Inter"/>
                        </a:rPr>
                        <a:t>{{</a:t>
                      </a:r>
                      <a:r>
                        <a:rPr lang="da-DK" sz="975" b="0" i="0" u="none" strike="noStrike" noProof="0">
                          <a:solidFill>
                            <a:srgbClr val="1B4528"/>
                          </a:solidFill>
                          <a:effectLst/>
                        </a:rPr>
                        <a:t>Governance_C2_Management_Level</a:t>
                      </a:r>
                      <a:r>
                        <a:rPr lang="da-DK" sz="975" b="0" i="0" u="none" strike="noStrike" noProof="0">
                          <a:solidFill>
                            <a:srgbClr val="1B4528"/>
                          </a:solidFill>
                          <a:effectLst/>
                          <a:latin typeface="Inter"/>
                        </a:rPr>
                        <a:t>}}</a:t>
                      </a:r>
                      <a:endParaRPr lang="da-DK" sz="975"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904057792"/>
                  </a:ext>
                </a:extLst>
              </a:tr>
            </a:tbl>
          </a:graphicData>
        </a:graphic>
      </p:graphicFrame>
      <p:sp>
        <p:nvSpPr>
          <p:cNvPr id="17" name="Tekstfelt 16">
            <a:extLst>
              <a:ext uri="{FF2B5EF4-FFF2-40B4-BE49-F238E27FC236}">
                <a16:creationId xmlns:a16="http://schemas.microsoft.com/office/drawing/2014/main" id="{2A776A89-A1FF-B14E-F93A-876E75156091}"/>
              </a:ext>
            </a:extLst>
          </p:cNvPr>
          <p:cNvSpPr txBox="1"/>
          <p:nvPr/>
        </p:nvSpPr>
        <p:spPr>
          <a:xfrm>
            <a:off x="411480" y="1525700"/>
            <a:ext cx="6737040" cy="538588"/>
          </a:xfrm>
          <a:prstGeom prst="rect">
            <a:avLst/>
          </a:prstGeom>
          <a:noFill/>
        </p:spPr>
        <p:txBody>
          <a:bodyPr wrap="square">
            <a:spAutoFit/>
          </a:bodyPr>
          <a:lstStyle/>
          <a:p>
            <a:r>
              <a:rPr lang="da-DK" sz="975" noProof="0">
                <a:solidFill>
                  <a:schemeClr val="tx2"/>
                </a:solidFill>
              </a:rPr>
              <a:t xml:space="preserve">Nedenstående tabel er udfyldt, da virksomheden allerede har iværksat konkrete indsatser, politikker eller initiativer, der bidrager til omstillingen mod en mere bæredygtig økonomi. Virksomheden har svaret ”JA” til et eller flere oplysningspunkter under B2 i Basismodulet. Nedenstående angiver et mere fyldestgørende svar på politikker, initiativer og indsatser som er igangsat for omstilling til en mere bæredygtig økonomi i virksomheden</a:t>
            </a:r>
          </a:p>
        </p:txBody>
      </p:sp>
    </p:spTree>
    <p:extLst>
      <p:ext uri="{BB962C8B-B14F-4D97-AF65-F5344CB8AC3E}">
        <p14:creationId xmlns:p14="http://schemas.microsoft.com/office/powerpoint/2010/main" val="97247090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C62860-972E-E884-9828-460A25BDCE9F}"/>
              </a:ext>
            </a:extLst>
          </p:cNvPr>
          <p:cNvSpPr>
            <a:spLocks noGrp="1"/>
          </p:cNvSpPr>
          <p:nvPr>
            <p:ph type="title"/>
          </p:nvPr>
        </p:nvSpPr>
        <p:spPr>
          <a:xfrm>
            <a:off x="411480" y="775467"/>
            <a:ext cx="6737040" cy="207741"/>
          </a:xfrm>
        </p:spPr>
        <p:txBody>
          <a:bodyPr/>
          <a:lstStyle/>
          <a:p>
            <a:r>
              <a:rPr lang="da-DK" noProof="0">
                <a:solidFill>
                  <a:srgbClr val="1B4528"/>
                </a:solidFill>
                <a:latin typeface="IBM Plex Sans" panose="020B0503050203000203" pitchFamily="34" charset="0"/>
              </a:rPr>
              <a:t xml:space="preserve">CO₂e-udledning under B3 i Basismodulet</a:t>
            </a:r>
            <a:endParaRPr lang="da-DK" b="0" noProof="0"/>
          </a:p>
        </p:txBody>
      </p:sp>
      <p:sp>
        <p:nvSpPr>
          <p:cNvPr id="2" name="Slide Number Placeholder 1">
            <a:extLst>
              <a:ext uri="{FF2B5EF4-FFF2-40B4-BE49-F238E27FC236}">
                <a16:creationId xmlns:a16="http://schemas.microsoft.com/office/drawing/2014/main" id="{F72C860F-3613-E98B-42C7-204BDA28A1F2}"/>
              </a:ext>
              <a:ext uri="{C183D7F6-B498-43B3-948B-1728B52AA6E4}">
                <adec:decorative xmlns:adec="http://schemas.microsoft.com/office/drawing/2017/decorative" val="1"/>
              </a:ext>
            </a:extLst>
          </p:cNvPr>
          <p:cNvSpPr>
            <a:spLocks noGrp="1"/>
          </p:cNvSpPr>
          <p:nvPr>
            <p:ph type="sldNum" sz="quarter" idx="12"/>
          </p:nvPr>
        </p:nvSpPr>
        <p:spPr/>
        <p:txBody>
          <a:bodyPr/>
          <a:lstStyle/>
          <a:p>
            <a:fld id="{5A0D23CF-C5A3-5445-819D-C647D180BB4B}" type="slidenum">
              <a:rPr lang="da-DK" noProof="0" smtClean="0"/>
              <a:pPr/>
              <a:t>13</a:t>
            </a:fld>
            <a:endParaRPr lang="da-DK" noProof="0"/>
          </a:p>
        </p:txBody>
      </p:sp>
      <p:sp>
        <p:nvSpPr>
          <p:cNvPr id="5" name="Footer Placeholder 4">
            <a:extLst>
              <a:ext uri="{FF2B5EF4-FFF2-40B4-BE49-F238E27FC236}">
                <a16:creationId xmlns:a16="http://schemas.microsoft.com/office/drawing/2014/main" id="{340F24C5-33C0-4C2D-8193-33A504950FC4}"/>
              </a:ext>
              <a:ext uri="{C183D7F6-B498-43B3-948B-1728B52AA6E4}">
                <adec:decorative xmlns:adec="http://schemas.microsoft.com/office/drawing/2017/decorative" val="1"/>
              </a:ext>
            </a:extLst>
          </p:cNvPr>
          <p:cNvSpPr>
            <a:spLocks noGrp="1"/>
          </p:cNvSpPr>
          <p:nvPr>
            <p:ph type="ftr" sz="quarter" idx="11"/>
          </p:nvPr>
        </p:nvSpPr>
        <p:spPr/>
        <p:txBody>
          <a:bodyPr/>
          <a:lstStyle/>
          <a:p>
            <a:r>
              <a:rPr lang="da-DK" noProof="0"/>
              <a:t>{{company_name}}</a:t>
            </a:r>
            <a:endParaRPr lang="da-DK" b="0" noProof="0"/>
          </a:p>
          <a:p>
            <a:endParaRPr lang="da-DK" noProof="0"/>
          </a:p>
        </p:txBody>
      </p:sp>
      <p:graphicFrame>
        <p:nvGraphicFramePr>
          <p:cNvPr id="11" name="Table 2">
            <a:extLst>
              <a:ext uri="{FF2B5EF4-FFF2-40B4-BE49-F238E27FC236}">
                <a16:creationId xmlns:a16="http://schemas.microsoft.com/office/drawing/2014/main" id="{A420AFF6-414E-4EC8-A668-F0BFECC8260A}"/>
              </a:ext>
            </a:extLst>
          </p:cNvPr>
          <p:cNvGraphicFramePr>
            <a:graphicFrameLocks noGrp="1"/>
          </p:cNvGraphicFramePr>
          <p:nvPr>
            <p:extLst>
              <p:ext uri="{D42A27DB-BD31-4B8C-83A1-F6EECF244321}">
                <p14:modId xmlns:p14="http://schemas.microsoft.com/office/powerpoint/2010/main" val="3547307555"/>
              </p:ext>
            </p:extLst>
          </p:nvPr>
        </p:nvGraphicFramePr>
        <p:xfrm>
          <a:off x="411480" y="3688800"/>
          <a:ext cx="6737040" cy="1456344"/>
        </p:xfrm>
        <a:graphic>
          <a:graphicData uri="http://schemas.openxmlformats.org/drawingml/2006/table">
            <a:tbl>
              <a:tblPr firstRow="1">
                <a:tableStyleId>{2A488322-F2BA-4B5B-9748-0D474271808F}</a:tableStyleId>
              </a:tblPr>
              <a:tblGrid>
                <a:gridCol w="2245680">
                  <a:extLst>
                    <a:ext uri="{9D8B030D-6E8A-4147-A177-3AD203B41FA5}">
                      <a16:colId xmlns:a16="http://schemas.microsoft.com/office/drawing/2014/main" val="1902117154"/>
                    </a:ext>
                  </a:extLst>
                </a:gridCol>
                <a:gridCol w="2245680">
                  <a:extLst>
                    <a:ext uri="{9D8B030D-6E8A-4147-A177-3AD203B41FA5}">
                      <a16:colId xmlns:a16="http://schemas.microsoft.com/office/drawing/2014/main" val="1904521774"/>
                    </a:ext>
                  </a:extLst>
                </a:gridCol>
                <a:gridCol w="2245680">
                  <a:extLst>
                    <a:ext uri="{9D8B030D-6E8A-4147-A177-3AD203B41FA5}">
                      <a16:colId xmlns:a16="http://schemas.microsoft.com/office/drawing/2014/main" val="2605332690"/>
                    </a:ext>
                  </a:extLst>
                </a:gridCol>
              </a:tblGrid>
              <a:tr h="233402">
                <a:tc gridSpan="3">
                  <a:txBody>
                    <a:bodyPr/>
                    <a:lstStyle/>
                    <a:p>
                      <a:r>
                        <a:rPr lang="da-DK" sz="975" b="1" kern="1200" spc="-10" noProof="0">
                          <a:solidFill>
                            <a:schemeClr val="tx2"/>
                          </a:solidFill>
                          <a:latin typeface="+mn-lt"/>
                          <a:ea typeface="+mn-ea"/>
                          <a:cs typeface="+mn-cs"/>
                        </a:rPr>
                        <a:t xml:space="preserve">CO₂e-reduktionsmål </a:t>
                      </a:r>
                      <a:r>
                        <a:rPr lang="da-DK" sz="975" b="0" kern="1200" spc="-10" noProof="0">
                          <a:solidFill>
                            <a:schemeClr val="tx2"/>
                          </a:solidFill>
                          <a:latin typeface="+mn-lt"/>
                          <a:ea typeface="+mn-ea"/>
                          <a:cs typeface="+mn-cs"/>
                        </a:rPr>
                        <a:t xml:space="preserve">(pkt. 53 a–d)</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da-DK" sz="725" b="0" kern="1200" spc="-10" noProof="0">
                        <a:solidFill>
                          <a:schemeClr val="tx2"/>
                        </a:solidFill>
                        <a:latin typeface="+mn-lt"/>
                        <a:ea typeface="+mn-ea"/>
                        <a:cs typeface="+mn-cs"/>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extLst>
                  <a:ext uri="{0D108BD9-81ED-4DB2-BD59-A6C34878D82A}">
                    <a16:rowId xmlns:a16="http://schemas.microsoft.com/office/drawing/2014/main" val="909213315"/>
                  </a:ext>
                </a:extLst>
              </a:tr>
              <a:tr h="288588">
                <a:tc>
                  <a:txBody>
                    <a:bodyPr/>
                    <a:lstStyle/>
                    <a:p>
                      <a:pPr algn="l"/>
                      <a:endParaRPr lang="da-DK" sz="975" b="0" kern="1200" spc="-10" noProof="0">
                        <a:solidFill>
                          <a:schemeClr val="tx2"/>
                        </a:solidFill>
                        <a:latin typeface="+mn-lt"/>
                        <a:ea typeface="+mn-ea"/>
                        <a:cs typeface="+mn-cs"/>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da-DK" sz="975" b="1" kern="1200" spc="-10" noProof="0">
                          <a:solidFill>
                            <a:schemeClr val="tx2"/>
                          </a:solidFill>
                          <a:latin typeface="+mn-lt"/>
                          <a:ea typeface="+mn-ea"/>
                          <a:cs typeface="+mn-cs"/>
                        </a:rPr>
                        <a:t xml:space="preserve">Reduktionsmål i år </a:t>
                      </a:r>
                      <a:r>
                        <a:rPr lang="da-DK" sz="975" b="1" kern="1200" spc="-10" noProof="0">
                          <a:solidFill>
                            <a:srgbClr val="1B4528"/>
                          </a:solidFill>
                          <a:latin typeface="+mn-lt"/>
                          <a:ea typeface="+mn-ea"/>
                          <a:cs typeface="+mn-cs"/>
                        </a:rPr>
                        <a:t>{{baseline_year-1}}</a:t>
                      </a:r>
                      <a:endParaRPr lang="da-DK" sz="975" b="0" kern="1200" spc="-10" noProof="0">
                        <a:solidFill>
                          <a:srgbClr val="1B4528"/>
                        </a:solidFill>
                        <a:latin typeface="+mn-lt"/>
                        <a:ea typeface="+mn-ea"/>
                        <a:cs typeface="+mn-cs"/>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a-DK" sz="975" b="1" kern="1200" spc="-10" noProof="0">
                          <a:solidFill>
                            <a:schemeClr val="tx2"/>
                          </a:solidFill>
                          <a:latin typeface="+mn-lt"/>
                          <a:ea typeface="+mn-ea"/>
                          <a:cs typeface="+mn-cs"/>
                        </a:rPr>
                        <a:t xml:space="preserve">CO₂e-udledning i baselineår:</a:t>
                      </a:r>
                      <a:r>
                        <a:rPr lang="da-DK" sz="975" b="0" kern="1200" spc="-10" noProof="0">
                          <a:solidFill>
                            <a:schemeClr val="tx2"/>
                          </a:solidFill>
                          <a:latin typeface="+mn-lt"/>
                          <a:ea typeface="+mn-ea"/>
                          <a:cs typeface="+mn-cs"/>
                        </a:rPr>
                        <a:t> </a:t>
                      </a:r>
                      <a:r>
                        <a:rPr lang="da-DK" sz="975" b="1" kern="1200" spc="-10" noProof="0">
                          <a:solidFill>
                            <a:srgbClr val="1B4528"/>
                          </a:solidFill>
                          <a:latin typeface="+mn-lt"/>
                          <a:ea typeface="+mn-ea"/>
                          <a:cs typeface="+mn-cs"/>
                        </a:rPr>
                        <a:t>{{Insert baseline year}}</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extLst>
                  <a:ext uri="{0D108BD9-81ED-4DB2-BD59-A6C34878D82A}">
                    <a16:rowId xmlns:a16="http://schemas.microsoft.com/office/drawing/2014/main" val="3642311251"/>
                  </a:ext>
                </a:extLst>
              </a:tr>
              <a:tr h="28858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a-DK" sz="975" b="1" kern="1200" spc="-10" noProof="0">
                          <a:solidFill>
                            <a:schemeClr val="tx2"/>
                          </a:solidFill>
                          <a:latin typeface="+mn-lt"/>
                          <a:ea typeface="+mn-ea"/>
                          <a:cs typeface="+mn-cs"/>
                        </a:rPr>
                        <a:t>Scope 1 </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ctr" algn="r">
                        <a:buNone/>
                      </a:pPr>
                      <a:r>
                        <a:rPr lang="da-DK" sz="975" b="0" i="0" u="none" strike="noStrike" noProof="0">
                          <a:solidFill>
                            <a:srgbClr val="1B4528"/>
                          </a:solidFill>
                          <a:effectLst/>
                          <a:latin typeface="Inter"/>
                        </a:rPr>
                        <a:t>{{scope1-2_target}}</a:t>
                      </a:r>
                      <a:endParaRPr lang="da-DK"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ctr" algn="r">
                        <a:buNone/>
                      </a:pPr>
                      <a:r>
                        <a:rPr lang="da-DK" sz="975" b="0" i="0" u="none" strike="noStrike" noProof="0">
                          <a:solidFill>
                            <a:srgbClr val="1B4528"/>
                          </a:solidFill>
                          <a:effectLst/>
                          <a:latin typeface="Inter"/>
                        </a:rPr>
                        <a:t>{{scope1-2_baseline}}</a:t>
                      </a:r>
                      <a:endParaRPr lang="da-DK"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80349995"/>
                  </a:ext>
                </a:extLst>
              </a:tr>
              <a:tr h="28858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a-DK" sz="975" b="1" kern="1200" spc="-10" noProof="0">
                          <a:solidFill>
                            <a:schemeClr val="tx2"/>
                          </a:solidFill>
                          <a:latin typeface="+mn-lt"/>
                          <a:ea typeface="+mn-ea"/>
                          <a:cs typeface="+mn-cs"/>
                        </a:rPr>
                        <a:t>Scope 2</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ctr" algn="r">
                        <a:buNone/>
                      </a:pPr>
                      <a:r>
                        <a:rPr lang="da-DK" sz="975" b="0" i="0" u="none" strike="noStrike" noProof="0">
                          <a:solidFill>
                            <a:srgbClr val="1B4528"/>
                          </a:solidFill>
                          <a:effectLst/>
                          <a:latin typeface="Inter"/>
                        </a:rPr>
                        <a:t>{{scope1-2_target}}</a:t>
                      </a:r>
                      <a:endParaRPr lang="da-DK"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ctr" algn="r">
                        <a:buNone/>
                      </a:pPr>
                      <a:r>
                        <a:rPr lang="da-DK" sz="975" b="0" i="0" u="none" strike="noStrike" noProof="0">
                          <a:solidFill>
                            <a:srgbClr val="1B4528"/>
                          </a:solidFill>
                          <a:effectLst/>
                          <a:latin typeface="Inter"/>
                        </a:rPr>
                        <a:t>{{scope1-2_baseline}}</a:t>
                      </a:r>
                      <a:endParaRPr lang="da-DK"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286173805"/>
                  </a:ext>
                </a:extLst>
              </a:tr>
              <a:tr h="288588">
                <a:tc>
                  <a:txBody>
                    <a:bodyPr/>
                    <a:lstStyle/>
                    <a:p>
                      <a:pPr algn="l"/>
                      <a:r>
                        <a:rPr lang="da-DK" sz="975" b="1" kern="1200" spc="-10" noProof="0">
                          <a:solidFill>
                            <a:schemeClr val="tx2"/>
                          </a:solidFill>
                          <a:latin typeface="+mn-lt"/>
                          <a:ea typeface="+mn-ea"/>
                          <a:cs typeface="+mn-cs"/>
                        </a:rPr>
                        <a:t>Scope 3</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ctr" algn="r">
                        <a:buNone/>
                      </a:pPr>
                      <a:r>
                        <a:rPr lang="da-DK" sz="975" b="0" i="0" u="none" strike="noStrike" noProof="0">
                          <a:solidFill>
                            <a:srgbClr val="1B4528"/>
                          </a:solidFill>
                          <a:effectLst/>
                          <a:latin typeface="Inter"/>
                        </a:rPr>
                        <a:t>{{scope3_target}}</a:t>
                      </a:r>
                      <a:endParaRPr lang="da-DK"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ctr" algn="r">
                        <a:buNone/>
                      </a:pPr>
                      <a:r>
                        <a:rPr lang="da-DK" sz="975" b="0" i="0" u="none" strike="noStrike" noProof="0">
                          <a:solidFill>
                            <a:srgbClr val="1B4528"/>
                          </a:solidFill>
                          <a:effectLst/>
                          <a:latin typeface="Inter"/>
                        </a:rPr>
                        <a:t>{{scope3_baseline}}</a:t>
                      </a:r>
                      <a:endParaRPr lang="da-DK"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940256071"/>
                  </a:ext>
                </a:extLst>
              </a:tr>
            </a:tbl>
          </a:graphicData>
        </a:graphic>
      </p:graphicFrame>
      <p:graphicFrame>
        <p:nvGraphicFramePr>
          <p:cNvPr id="7" name="Table 21">
            <a:extLst>
              <a:ext uri="{FF2B5EF4-FFF2-40B4-BE49-F238E27FC236}">
                <a16:creationId xmlns:a16="http://schemas.microsoft.com/office/drawing/2014/main" id="{C5FA6A58-54C9-F06A-6108-64DA6FC7E9AC}"/>
              </a:ext>
            </a:extLst>
          </p:cNvPr>
          <p:cNvGraphicFramePr>
            <a:graphicFrameLocks noGrp="1"/>
          </p:cNvGraphicFramePr>
          <p:nvPr>
            <p:extLst>
              <p:ext uri="{D42A27DB-BD31-4B8C-83A1-F6EECF244321}">
                <p14:modId xmlns:p14="http://schemas.microsoft.com/office/powerpoint/2010/main" val="2496809021"/>
              </p:ext>
            </p:extLst>
          </p:nvPr>
        </p:nvGraphicFramePr>
        <p:xfrm>
          <a:off x="411480" y="5261327"/>
          <a:ext cx="6737040" cy="633415"/>
        </p:xfrm>
        <a:graphic>
          <a:graphicData uri="http://schemas.openxmlformats.org/drawingml/2006/table">
            <a:tbl>
              <a:tblPr firstRow="1">
                <a:tableStyleId>{2A488322-F2BA-4B5B-9748-0D474271808F}</a:tableStyleId>
              </a:tblPr>
              <a:tblGrid>
                <a:gridCol w="6737040">
                  <a:extLst>
                    <a:ext uri="{9D8B030D-6E8A-4147-A177-3AD203B41FA5}">
                      <a16:colId xmlns:a16="http://schemas.microsoft.com/office/drawing/2014/main" val="2119413191"/>
                    </a:ext>
                  </a:extLst>
                </a:gridCol>
              </a:tblGrid>
              <a:tr h="275299">
                <a:tc>
                  <a:txBody>
                    <a:bodyPr/>
                    <a:lstStyle/>
                    <a:p>
                      <a:pPr marL="0" algn="l" defTabSz="914400" rtl="0" eaLnBrk="1" latinLnBrk="0" hangingPunct="1"/>
                      <a:r>
                        <a:rPr lang="da-DK" sz="975" b="1" kern="1200" spc="-10" noProof="0">
                          <a:solidFill>
                            <a:schemeClr val="tx2"/>
                          </a:solidFill>
                          <a:latin typeface="+mn-lt"/>
                          <a:ea typeface="+mn-ea"/>
                          <a:cs typeface="+mn-cs"/>
                        </a:rPr>
                        <a:t xml:space="preserve">Liste over de vigtigste handlinger </a:t>
                      </a:r>
                      <a:r>
                        <a:rPr lang="da-DK" sz="975" b="1" kern="1200" noProof="0">
                          <a:solidFill>
                            <a:srgbClr val="1B4528"/>
                          </a:solidFill>
                          <a:latin typeface="+mn-lt"/>
                          <a:ea typeface="+mn-ea"/>
                          <a:cs typeface="+mn-cs"/>
                        </a:rPr>
                        <a:t>{{Company name}} </a:t>
                      </a:r>
                      <a:r>
                        <a:rPr lang="da-DK" sz="975" b="0" kern="1200" noProof="0">
                          <a:solidFill>
                            <a:srgbClr val="1B4528"/>
                          </a:solidFill>
                          <a:latin typeface="+mn-lt"/>
                          <a:ea typeface="+mn-ea"/>
                          <a:cs typeface="+mn-cs"/>
                        </a:rPr>
                        <a:t> </a:t>
                      </a:r>
                      <a:r>
                        <a:rPr lang="da-DK" sz="975" b="1" kern="1200" spc="-10" noProof="0">
                          <a:solidFill>
                            <a:schemeClr val="tx2"/>
                          </a:solidFill>
                          <a:latin typeface="+mn-lt"/>
                          <a:ea typeface="+mn-ea"/>
                          <a:cs typeface="+mn-cs"/>
                        </a:rPr>
                        <a:t xml:space="preserve">implementerer for at nå CO₂e-reduktionsmålene </a:t>
                      </a:r>
                      <a:r>
                        <a:rPr lang="da-DK" sz="975" b="0" kern="1200" spc="-10" noProof="0">
                          <a:solidFill>
                            <a:schemeClr val="tx2"/>
                          </a:solidFill>
                          <a:latin typeface="+mn-lt"/>
                          <a:ea typeface="+mn-ea"/>
                          <a:cs typeface="+mn-cs"/>
                        </a:rPr>
                        <a:t xml:space="preserve">(pkt. 53e)</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358116">
                <a:tc>
                  <a:txBody>
                    <a:bodyPr/>
                    <a:lstStyle/>
                    <a:p>
                      <a:pPr algn="l"/>
                      <a:r>
                        <a:rPr lang="da-DK" sz="975" b="0" noProof="0">
                          <a:solidFill>
                            <a:srgbClr val="1B4528"/>
                          </a:solidFill>
                        </a:rPr>
                        <a:t>{{</a:t>
                      </a:r>
                      <a:r>
                        <a:rPr lang="da-DK" sz="975" b="0" noProof="0">
                          <a:solidFill>
                            <a:srgbClr val="1B4528"/>
                          </a:solidFill>
                        </a:rPr>
                        <a:t>mainaction</a:t>
                      </a:r>
                      <a:r>
                        <a:rPr lang="da-DK" sz="975" b="0" noProof="0">
                          <a:solidFill>
                            <a:srgbClr val="1B4528"/>
                          </a:solidFill>
                        </a:rPr>
                        <a:t>}}</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bl>
          </a:graphicData>
        </a:graphic>
      </p:graphicFrame>
      <p:sp>
        <p:nvSpPr>
          <p:cNvPr id="19" name="Title 2">
            <a:extLst>
              <a:ext uri="{FF2B5EF4-FFF2-40B4-BE49-F238E27FC236}">
                <a16:creationId xmlns:a16="http://schemas.microsoft.com/office/drawing/2014/main" id="{4A504496-2FBB-B5B8-A62A-D1611D632D81}"/>
              </a:ext>
            </a:extLst>
          </p:cNvPr>
          <p:cNvSpPr txBox="1">
            <a:spLocks/>
          </p:cNvSpPr>
          <p:nvPr/>
        </p:nvSpPr>
        <p:spPr>
          <a:xfrm>
            <a:off x="411480" y="3281582"/>
            <a:ext cx="6737040" cy="207741"/>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1475" b="1" kern="1200" spc="-10" baseline="0">
                <a:solidFill>
                  <a:schemeClr val="tx2"/>
                </a:solidFill>
                <a:latin typeface="+mj-lt"/>
                <a:ea typeface="+mj-ea"/>
                <a:cs typeface="+mj-cs"/>
              </a:defRPr>
            </a:lvl1pPr>
          </a:lstStyle>
          <a:p>
            <a:r>
              <a:rPr lang="da-DK" noProof="0"/>
              <a:t xml:space="preserve">CO₂e-reduktionsmål (C3)</a:t>
            </a:r>
          </a:p>
        </p:txBody>
      </p:sp>
      <p:graphicFrame>
        <p:nvGraphicFramePr>
          <p:cNvPr id="21" name="Table 18">
            <a:extLst>
              <a:ext uri="{FF2B5EF4-FFF2-40B4-BE49-F238E27FC236}">
                <a16:creationId xmlns:a16="http://schemas.microsoft.com/office/drawing/2014/main" id="{7441C3F1-F61D-6925-5ACB-A4A2D6F92D40}"/>
              </a:ext>
            </a:extLst>
          </p:cNvPr>
          <p:cNvGraphicFramePr>
            <a:graphicFrameLocks noGrp="1"/>
          </p:cNvGraphicFramePr>
          <p:nvPr>
            <p:extLst>
              <p:ext uri="{D42A27DB-BD31-4B8C-83A1-F6EECF244321}">
                <p14:modId xmlns:p14="http://schemas.microsoft.com/office/powerpoint/2010/main" val="3697670750"/>
              </p:ext>
            </p:extLst>
          </p:nvPr>
        </p:nvGraphicFramePr>
        <p:xfrm>
          <a:off x="411480" y="1974320"/>
          <a:ext cx="6737040" cy="1067237"/>
        </p:xfrm>
        <a:graphic>
          <a:graphicData uri="http://schemas.openxmlformats.org/drawingml/2006/table">
            <a:tbl>
              <a:tblPr firstRow="1">
                <a:tableStyleId>{2A488322-F2BA-4B5B-9748-0D474271808F}</a:tableStyleId>
              </a:tblPr>
              <a:tblGrid>
                <a:gridCol w="5333961">
                  <a:extLst>
                    <a:ext uri="{9D8B030D-6E8A-4147-A177-3AD203B41FA5}">
                      <a16:colId xmlns:a16="http://schemas.microsoft.com/office/drawing/2014/main" val="2698153288"/>
                    </a:ext>
                  </a:extLst>
                </a:gridCol>
                <a:gridCol w="1403079">
                  <a:extLst>
                    <a:ext uri="{9D8B030D-6E8A-4147-A177-3AD203B41FA5}">
                      <a16:colId xmlns:a16="http://schemas.microsoft.com/office/drawing/2014/main" val="656209149"/>
                    </a:ext>
                  </a:extLst>
                </a:gridCol>
              </a:tblGrid>
              <a:tr h="239271">
                <a:tc>
                  <a:txBody>
                    <a:bodyPr/>
                    <a:lstStyle/>
                    <a:p>
                      <a:pPr>
                        <a:lnSpc>
                          <a:spcPct val="106000"/>
                        </a:lnSpc>
                      </a:pPr>
                      <a:r>
                        <a:rPr lang="da-DK" sz="975" b="1" noProof="0">
                          <a:solidFill>
                            <a:schemeClr val="tx2"/>
                          </a:solidFill>
                        </a:rPr>
                        <a:t xml:space="preserve">Udledning af drivhusgasser –</a:t>
                      </a:r>
                      <a:r>
                        <a:rPr lang="da-DK" sz="975" b="0" noProof="0">
                          <a:solidFill>
                            <a:schemeClr val="tx2"/>
                          </a:solidFill>
                        </a:rPr>
                        <a:t xml:space="preserve"> (tilføjes pkt. 33)</a:t>
                      </a:r>
                      <a:endParaRPr lang="da-DK" sz="975" b="1"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6000"/>
                        </a:lnSpc>
                        <a:spcBef>
                          <a:spcPts val="0"/>
                        </a:spcBef>
                        <a:spcAft>
                          <a:spcPts val="0"/>
                        </a:spcAft>
                        <a:buClrTx/>
                        <a:buSzTx/>
                        <a:buFontTx/>
                        <a:buNone/>
                        <a:tabLst/>
                        <a:defRPr/>
                      </a:pPr>
                      <a:r>
                        <a:rPr lang="da-DK" sz="975" b="1" noProof="0">
                          <a:solidFill>
                            <a:schemeClr val="tx2"/>
                          </a:solidFill>
                        </a:rPr>
                        <a:t xml:space="preserve">År </a:t>
                      </a:r>
                      <a:r>
                        <a:rPr lang="da-DK" sz="975" b="1" noProof="0">
                          <a:solidFill>
                            <a:srgbClr val="1B4528"/>
                          </a:solidFill>
                          <a:latin typeface="Calibri"/>
                          <a:cs typeface="Calibri"/>
                        </a:rPr>
                        <a:t>{{Insert year}}</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334791">
                <a:tc>
                  <a:txBody>
                    <a:bodyPr/>
                    <a:lstStyle/>
                    <a:p>
                      <a:pPr lvl="0" algn="r">
                        <a:lnSpc>
                          <a:spcPct val="100000"/>
                        </a:lnSpc>
                        <a:spcBef>
                          <a:spcPts val="0"/>
                        </a:spcBef>
                        <a:spcAft>
                          <a:spcPts val="0"/>
                        </a:spcAft>
                        <a:buNone/>
                      </a:pPr>
                      <a:r>
                        <a:rPr lang="da-DK" sz="975" b="0" i="0" u="none" strike="noStrike" kern="1200" noProof="0">
                          <a:solidFill>
                            <a:srgbClr val="1B4528"/>
                          </a:solidFill>
                          <a:latin typeface="IBM Plex Sans"/>
                          <a:ea typeface="+mn-ea"/>
                          <a:cs typeface="+mn-cs"/>
                        </a:rPr>
                        <a:t>{{scope3_description_table}}</a:t>
                      </a:r>
                      <a:endParaRPr lang="da-DK" dirty="0"/>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noFill/>
                  </a:tcPr>
                </a:tc>
                <a:tc>
                  <a:txBody>
                    <a:bodyPr/>
                    <a:lstStyle/>
                    <a:p>
                      <a:pPr lvl="0" algn="r">
                        <a:lnSpc>
                          <a:spcPct val="100000"/>
                        </a:lnSpc>
                        <a:spcBef>
                          <a:spcPts val="0"/>
                        </a:spcBef>
                        <a:spcAft>
                          <a:spcPts val="0"/>
                        </a:spcAft>
                        <a:buNone/>
                      </a:pPr>
                      <a:r>
                        <a:rPr lang="da-DK" sz="975" b="0" i="0" u="none" strike="noStrike" kern="1200" cap="none" spc="0" normalizeH="0" baseline="0" noProof="0">
                          <a:ln>
                            <a:noFill/>
                          </a:ln>
                          <a:solidFill>
                            <a:srgbClr val="1B4528"/>
                          </a:solidFill>
                          <a:effectLst/>
                          <a:uLnTx/>
                          <a:uFillTx/>
                          <a:latin typeface="IBM Plex Sans"/>
                          <a:ea typeface="+mn-ea"/>
                          <a:cs typeface="+mn-cs"/>
                        </a:rPr>
                        <a:t>{{scope3_emissions_table}}</a:t>
                      </a:r>
                      <a:endParaRPr lang="da-DK" sz="975" b="0" i="0" u="none" strike="noStrike" kern="1200" cap="none" spc="0" normalizeH="0" baseline="0" noProof="0">
                        <a:ln>
                          <a:noFill/>
                        </a:ln>
                        <a:solidFill>
                          <a:srgbClr val="000000"/>
                        </a:solidFill>
                        <a:effectLst/>
                        <a:uLnTx/>
                        <a:uFillTx/>
                        <a:latin typeface="IBM Plex Sans"/>
                        <a:ea typeface="+mn-ea"/>
                        <a:cs typeface="+mn-cs"/>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noFill/>
                  </a:tcPr>
                </a:tc>
                <a:extLst>
                  <a:ext uri="{0D108BD9-81ED-4DB2-BD59-A6C34878D82A}">
                    <a16:rowId xmlns:a16="http://schemas.microsoft.com/office/drawing/2014/main" val="1775587356"/>
                  </a:ext>
                </a:extLst>
              </a:tr>
              <a:tr h="235394">
                <a:tc>
                  <a:txBody>
                    <a:bodyPr/>
                    <a:lstStyle/>
                    <a:p>
                      <a:pPr>
                        <a:lnSpc>
                          <a:spcPct val="106000"/>
                        </a:lnSpc>
                      </a:pPr>
                      <a:r>
                        <a:rPr lang="da-DK" sz="975" b="1" noProof="0">
                          <a:solidFill>
                            <a:schemeClr val="tx2"/>
                          </a:solidFill>
                        </a:rPr>
                        <a:t xml:space="preserve">CO₂e-udledninger i scope 3 total (lokationsbaseret) </a:t>
                      </a:r>
                      <a:endParaRPr lang="da-DK" sz="975" b="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lvl="0" algn="r">
                        <a:lnSpc>
                          <a:spcPct val="100000"/>
                        </a:lnSpc>
                        <a:spcBef>
                          <a:spcPts val="0"/>
                        </a:spcBef>
                        <a:spcAft>
                          <a:spcPts val="0"/>
                        </a:spcAft>
                        <a:buNone/>
                      </a:pPr>
                      <a:r>
                        <a:rPr lang="da-DK" sz="975" b="0" i="0" u="none" strike="noStrike" kern="1200" cap="none" spc="0" normalizeH="0" baseline="0" noProof="0">
                          <a:ln>
                            <a:noFill/>
                          </a:ln>
                          <a:solidFill>
                            <a:srgbClr val="1B4528"/>
                          </a:solidFill>
                          <a:effectLst/>
                          <a:uLnTx/>
                          <a:uFillTx/>
                          <a:latin typeface="IBM Plex Sans"/>
                          <a:ea typeface="+mn-ea"/>
                          <a:cs typeface="+mn-cs"/>
                        </a:rPr>
                        <a:t>{{scope3}}</a:t>
                      </a:r>
                      <a:endParaRPr lang="da-DK" sz="975" b="0" i="0" u="none" strike="noStrike" kern="1200" cap="none" spc="0" normalizeH="0" baseline="0" noProof="0">
                        <a:ln>
                          <a:noFill/>
                        </a:ln>
                        <a:solidFill>
                          <a:srgbClr val="000000"/>
                        </a:solidFill>
                        <a:effectLst/>
                        <a:uLnTx/>
                        <a:uFillTx/>
                        <a:latin typeface="IBM Plex Sans"/>
                        <a:ea typeface="+mn-ea"/>
                        <a:cs typeface="+mn-cs"/>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339040515"/>
                  </a:ext>
                </a:extLst>
              </a:tr>
              <a:tr h="235394">
                <a:tc>
                  <a:txBody>
                    <a:bodyPr/>
                    <a:lstStyle/>
                    <a:p>
                      <a:pPr>
                        <a:lnSpc>
                          <a:spcPct val="106000"/>
                        </a:lnSpc>
                      </a:pPr>
                      <a:r>
                        <a:rPr lang="da-DK" sz="975" b="1" noProof="0">
                          <a:solidFill>
                            <a:schemeClr val="tx2"/>
                          </a:solidFill>
                        </a:rPr>
                        <a:t xml:space="preserve">Total CO₂e-udledning for scope 1, 2 og 3   </a:t>
                      </a:r>
                      <a:endParaRPr lang="da-DK" sz="975" b="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r" defTabSz="914400" rtl="0" eaLnBrk="1" fontAlgn="auto" latinLnBrk="0" hangingPunct="1">
                        <a:lnSpc>
                          <a:spcPct val="106000"/>
                        </a:lnSpc>
                        <a:spcBef>
                          <a:spcPts val="0"/>
                        </a:spcBef>
                        <a:spcAft>
                          <a:spcPts val="0"/>
                        </a:spcAft>
                        <a:buClrTx/>
                        <a:buSzTx/>
                        <a:buFontTx/>
                        <a:buNone/>
                        <a:tabLst/>
                        <a:defRPr/>
                      </a:pPr>
                      <a:r>
                        <a:rPr kumimoji="0" lang="da-DK" sz="975" b="0" i="0" u="none" strike="noStrike" kern="1200" cap="none" spc="0" normalizeH="0" baseline="0" noProof="0">
                          <a:ln>
                            <a:noFill/>
                          </a:ln>
                          <a:solidFill>
                            <a:srgbClr val="1B4528"/>
                          </a:solidFill>
                          <a:effectLst/>
                          <a:uLnTx/>
                          <a:uFillTx/>
                          <a:latin typeface="+mn-lt"/>
                          <a:ea typeface="+mn-ea"/>
                          <a:cs typeface="+mn-cs"/>
                        </a:rPr>
                        <a:t>{{</a:t>
                      </a:r>
                      <a:r>
                        <a:rPr kumimoji="0" lang="da-DK" sz="975" b="0" i="0" u="none" strike="noStrike" kern="1200" cap="none" spc="0" normalizeH="0" baseline="0" noProof="0">
                          <a:ln>
                            <a:noFill/>
                          </a:ln>
                          <a:solidFill>
                            <a:srgbClr val="1B4528"/>
                          </a:solidFill>
                          <a:effectLst/>
                          <a:uLnTx/>
                          <a:uFillTx/>
                          <a:latin typeface="+mn-lt"/>
                          <a:ea typeface="+mn-ea"/>
                          <a:cs typeface="+mn-cs"/>
                        </a:rPr>
                        <a:t>total_all_scopes</a:t>
                      </a:r>
                      <a:r>
                        <a:rPr kumimoji="0" lang="da-DK" sz="975" b="0" i="0" u="none" strike="noStrike" kern="1200" cap="none" spc="0" normalizeH="0" baseline="0" noProof="0">
                          <a:ln>
                            <a:noFill/>
                          </a:ln>
                          <a:solidFill>
                            <a:srgbClr val="1B4528"/>
                          </a:solidFill>
                          <a:effectLst/>
                          <a:uLnTx/>
                          <a:uFillTx/>
                          <a:latin typeface="+mn-lt"/>
                          <a:ea typeface="+mn-ea"/>
                          <a:cs typeface="+mn-cs"/>
                        </a:rPr>
                        <a:t>}}</a:t>
                      </a:r>
                      <a:endParaRPr kumimoji="0" lang="da-DK" sz="975" b="0" i="0" u="none" strike="noStrike" kern="1200" cap="none" spc="0" normalizeH="0" baseline="0" noProof="0" dirty="0">
                        <a:ln>
                          <a:noFill/>
                        </a:ln>
                        <a:solidFill>
                          <a:srgbClr val="1B4528"/>
                        </a:solidFill>
                        <a:effectLst/>
                        <a:uLnTx/>
                        <a:uFillTx/>
                        <a:latin typeface="IBM Plex Sans"/>
                        <a:ea typeface="+mn-ea"/>
                        <a:cs typeface="+mn-cs"/>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3423150282"/>
                  </a:ext>
                </a:extLst>
              </a:tr>
            </a:tbl>
          </a:graphicData>
        </a:graphic>
      </p:graphicFrame>
      <p:sp>
        <p:nvSpPr>
          <p:cNvPr id="23" name="Tekstfelt 22">
            <a:extLst>
              <a:ext uri="{FF2B5EF4-FFF2-40B4-BE49-F238E27FC236}">
                <a16:creationId xmlns:a16="http://schemas.microsoft.com/office/drawing/2014/main" id="{2E9E5E59-EFEC-9D92-05CF-169227F7ABCF}"/>
              </a:ext>
            </a:extLst>
          </p:cNvPr>
          <p:cNvSpPr txBox="1"/>
          <p:nvPr/>
        </p:nvSpPr>
        <p:spPr>
          <a:xfrm>
            <a:off x="411480" y="1204244"/>
            <a:ext cx="6737040" cy="384705"/>
          </a:xfrm>
          <a:prstGeom prst="rect">
            <a:avLst/>
          </a:prstGeom>
          <a:noFill/>
        </p:spPr>
        <p:txBody>
          <a:bodyPr wrap="square">
            <a:spAutoFit/>
          </a:bodyPr>
          <a:lstStyle/>
          <a:p>
            <a:pPr rtl="0">
              <a:buNone/>
            </a:pPr>
            <a:r>
              <a:rPr lang="da-DK" sz="975" b="0" i="0" u="none" strike="noStrike" noProof="0">
                <a:solidFill>
                  <a:schemeClr val="tx2"/>
                </a:solidFill>
                <a:effectLst/>
                <a:latin typeface="Inter"/>
              </a:rPr>
              <a:t xml:space="preserve">Virksomheden har angivet en oversigt over udledning af drivhusgasserne i Scope 3 som følger GHG-protokollen. Virksomheden angiver den samlede udledning og den lokationsbaserede udledning fra Scope 3. Virksomhedens CO₂e-reduktionsmål er anført, herunder virksomhedens vigtigste handlinger for at møde reduktionsmål</a:t>
            </a:r>
            <a:r>
              <a:rPr lang="da-DK" sz="975" noProof="0">
                <a:solidFill>
                  <a:schemeClr val="tx2"/>
                </a:solidFill>
                <a:latin typeface="Inter"/>
              </a:rPr>
              <a:t xml:space="preserve">ene.</a:t>
            </a:r>
          </a:p>
        </p:txBody>
      </p:sp>
      <p:sp>
        <p:nvSpPr>
          <p:cNvPr id="4" name="Title 2">
            <a:extLst>
              <a:ext uri="{FF2B5EF4-FFF2-40B4-BE49-F238E27FC236}">
                <a16:creationId xmlns:a16="http://schemas.microsoft.com/office/drawing/2014/main" id="{FBB97B4D-08D8-D90C-1409-BA753C4F4AD8}"/>
              </a:ext>
            </a:extLst>
          </p:cNvPr>
          <p:cNvSpPr txBox="1">
            <a:spLocks/>
          </p:cNvSpPr>
          <p:nvPr/>
        </p:nvSpPr>
        <p:spPr>
          <a:xfrm>
            <a:off x="411480" y="6141552"/>
            <a:ext cx="6737040" cy="207741"/>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1475" b="1" kern="1200" spc="-10" baseline="0">
                <a:solidFill>
                  <a:schemeClr val="tx2"/>
                </a:solidFill>
                <a:latin typeface="+mj-lt"/>
                <a:ea typeface="+mj-ea"/>
                <a:cs typeface="+mj-cs"/>
              </a:defRPr>
            </a:lvl1pPr>
          </a:lstStyle>
          <a:p>
            <a:r>
              <a:rPr lang="da-DK"/>
              <a:t xml:space="preserve">Klimaomstilling (C3)</a:t>
            </a:r>
          </a:p>
        </p:txBody>
      </p:sp>
      <p:graphicFrame>
        <p:nvGraphicFramePr>
          <p:cNvPr id="6" name="Table 21">
            <a:extLst>
              <a:ext uri="{FF2B5EF4-FFF2-40B4-BE49-F238E27FC236}">
                <a16:creationId xmlns:a16="http://schemas.microsoft.com/office/drawing/2014/main" id="{2DE6B17C-F4B0-464A-05E7-A58062EF922E}"/>
              </a:ext>
            </a:extLst>
          </p:cNvPr>
          <p:cNvGraphicFramePr>
            <a:graphicFrameLocks noGrp="1"/>
          </p:cNvGraphicFramePr>
          <p:nvPr>
            <p:extLst>
              <p:ext uri="{D42A27DB-BD31-4B8C-83A1-F6EECF244321}">
                <p14:modId xmlns:p14="http://schemas.microsoft.com/office/powerpoint/2010/main" val="572220017"/>
              </p:ext>
            </p:extLst>
          </p:nvPr>
        </p:nvGraphicFramePr>
        <p:xfrm>
          <a:off x="411480" y="8896659"/>
          <a:ext cx="6737040" cy="1020741"/>
        </p:xfrm>
        <a:graphic>
          <a:graphicData uri="http://schemas.openxmlformats.org/drawingml/2006/table">
            <a:tbl>
              <a:tblPr firstRow="1">
                <a:tableStyleId>{2A488322-F2BA-4B5B-9748-0D474271808F}</a:tableStyleId>
              </a:tblPr>
              <a:tblGrid>
                <a:gridCol w="3368520">
                  <a:extLst>
                    <a:ext uri="{9D8B030D-6E8A-4147-A177-3AD203B41FA5}">
                      <a16:colId xmlns:a16="http://schemas.microsoft.com/office/drawing/2014/main" val="2119413191"/>
                    </a:ext>
                  </a:extLst>
                </a:gridCol>
                <a:gridCol w="3368520">
                  <a:extLst>
                    <a:ext uri="{9D8B030D-6E8A-4147-A177-3AD203B41FA5}">
                      <a16:colId xmlns:a16="http://schemas.microsoft.com/office/drawing/2014/main" val="970155923"/>
                    </a:ext>
                  </a:extLst>
                </a:gridCol>
              </a:tblGrid>
              <a:tr h="272971">
                <a:tc gridSpan="2">
                  <a:txBody>
                    <a:bodyPr/>
                    <a:lstStyle/>
                    <a:p>
                      <a:r>
                        <a:rPr lang="da-DK" sz="975" b="1" kern="1200" spc="-10" noProof="0">
                          <a:solidFill>
                            <a:schemeClr val="tx2"/>
                          </a:solidFill>
                          <a:latin typeface="+mn-lt"/>
                          <a:ea typeface="+mn-ea"/>
                          <a:cs typeface="+mn-cs"/>
                        </a:rPr>
                        <a:t xml:space="preserve">Kommende omstillingsplan </a:t>
                      </a:r>
                      <a:r>
                        <a:rPr lang="da-DK" sz="975" b="0" kern="1200" spc="-10" noProof="0">
                          <a:solidFill>
                            <a:schemeClr val="tx2"/>
                          </a:solidFill>
                          <a:latin typeface="+mn-lt"/>
                          <a:ea typeface="+mn-ea"/>
                          <a:cs typeface="+mn-cs"/>
                        </a:rPr>
                        <a:t xml:space="preserve">(pkt. 55)</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algn="l"/>
                      <a:endParaRPr lang="da-DK" sz="725" b="1"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373885">
                <a:tc>
                  <a:txBody>
                    <a:bodyPr/>
                    <a:lstStyle/>
                    <a:p>
                      <a:pPr algn="l"/>
                      <a:r>
                        <a:rPr lang="da-DK" sz="975" b="1" kern="1200" noProof="0">
                          <a:solidFill>
                            <a:srgbClr val="1B4528"/>
                          </a:solidFill>
                          <a:latin typeface="+mn-lt"/>
                          <a:ea typeface="+mn-ea"/>
                          <a:cs typeface="+mn-cs"/>
                        </a:rPr>
                        <a:t>{{company_name}} </a:t>
                      </a:r>
                      <a:r>
                        <a:rPr lang="da-DK" sz="975" b="1" kern="1200" noProof="0">
                          <a:solidFill>
                            <a:schemeClr val="tx2"/>
                          </a:solidFill>
                          <a:latin typeface="+mn-lt"/>
                          <a:ea typeface="+mn-ea"/>
                          <a:cs typeface="+mn-cs"/>
                        </a:rPr>
                        <a:t xml:space="preserve">vil igangsætte en konkret omstillingsplan </a:t>
                      </a:r>
                      <a:r>
                        <a:rPr lang="da-DK" sz="975" b="1" noProof="0">
                          <a:solidFill>
                            <a:schemeClr val="tx2"/>
                          </a:solidFill>
                        </a:rPr>
                        <a:t xml:space="preserve">for at modvirke klimaforandringer</a:t>
                      </a:r>
                      <a:endParaRPr lang="da-DK" sz="975" b="1" kern="1200" noProof="0">
                        <a:solidFill>
                          <a:schemeClr val="tx2"/>
                        </a:solidFill>
                        <a:latin typeface="+mn-lt"/>
                        <a:ea typeface="+mn-ea"/>
                        <a:cs typeface="+mn-cs"/>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ctr" algn="r">
                        <a:buNone/>
                      </a:pPr>
                      <a:r>
                        <a:rPr lang="da-DK" sz="975" b="0" i="0" u="none" strike="noStrike" noProof="0">
                          <a:solidFill>
                            <a:srgbClr val="1B4528"/>
                          </a:solidFill>
                          <a:effectLst/>
                          <a:latin typeface="Inter"/>
                        </a:rPr>
                        <a:t>{{transition_plan?}}</a:t>
                      </a:r>
                      <a:endParaRPr lang="da-DK"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r h="373885">
                <a:tc>
                  <a:txBody>
                    <a:bodyPr/>
                    <a:lstStyle/>
                    <a:p>
                      <a:pPr algn="l"/>
                      <a:r>
                        <a:rPr lang="da-DK" sz="975" b="1" kern="1200" noProof="0">
                          <a:solidFill>
                            <a:schemeClr val="tx2"/>
                          </a:solidFill>
                          <a:latin typeface="+mn-lt"/>
                          <a:ea typeface="+mn-ea"/>
                          <a:cs typeface="+mn-cs"/>
                        </a:rPr>
                        <a:t xml:space="preserve">Tidspunkt for vedtagelse af omstillingsplan</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ctr" algn="r">
                        <a:buNone/>
                      </a:pPr>
                      <a:r>
                        <a:rPr lang="da-DK" sz="975" b="0" i="0" u="none" strike="noStrike" noProof="0">
                          <a:solidFill>
                            <a:srgbClr val="1B4528"/>
                          </a:solidFill>
                          <a:effectLst/>
                          <a:latin typeface="Inter"/>
                        </a:rPr>
                        <a:t>{{</a:t>
                      </a:r>
                      <a:r>
                        <a:rPr lang="da-DK" sz="975" b="0" i="0" u="none" strike="noStrike" noProof="0">
                          <a:solidFill>
                            <a:srgbClr val="1B4528"/>
                          </a:solidFill>
                          <a:effectLst/>
                          <a:latin typeface="Inter"/>
                        </a:rPr>
                        <a:t>transition_plan_date</a:t>
                      </a:r>
                      <a:r>
                        <a:rPr lang="da-DK" sz="975" b="0" i="0" u="none" strike="noStrike" noProof="0">
                          <a:solidFill>
                            <a:srgbClr val="1B4528"/>
                          </a:solidFill>
                          <a:effectLst/>
                          <a:latin typeface="Inter"/>
                        </a:rPr>
                        <a:t>}}</a:t>
                      </a:r>
                      <a:endParaRPr lang="da-DK" sz="975" b="0" noProof="0" dirty="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68096352"/>
                  </a:ext>
                </a:extLst>
              </a:tr>
            </a:tbl>
          </a:graphicData>
        </a:graphic>
      </p:graphicFrame>
      <p:graphicFrame>
        <p:nvGraphicFramePr>
          <p:cNvPr id="8" name="Table 21">
            <a:extLst>
              <a:ext uri="{FF2B5EF4-FFF2-40B4-BE49-F238E27FC236}">
                <a16:creationId xmlns:a16="http://schemas.microsoft.com/office/drawing/2014/main" id="{E6BB71D4-7167-ADE5-0F8F-5DCD2A18B1DD}"/>
              </a:ext>
            </a:extLst>
          </p:cNvPr>
          <p:cNvGraphicFramePr>
            <a:graphicFrameLocks noGrp="1"/>
          </p:cNvGraphicFramePr>
          <p:nvPr>
            <p:extLst>
              <p:ext uri="{D42A27DB-BD31-4B8C-83A1-F6EECF244321}">
                <p14:modId xmlns:p14="http://schemas.microsoft.com/office/powerpoint/2010/main" val="480748797"/>
              </p:ext>
            </p:extLst>
          </p:nvPr>
        </p:nvGraphicFramePr>
        <p:xfrm>
          <a:off x="411480" y="7128927"/>
          <a:ext cx="6737040" cy="1169467"/>
        </p:xfrm>
        <a:graphic>
          <a:graphicData uri="http://schemas.openxmlformats.org/drawingml/2006/table">
            <a:tbl>
              <a:tblPr firstRow="1">
                <a:tableStyleId>{2A488322-F2BA-4B5B-9748-0D474271808F}</a:tableStyleId>
              </a:tblPr>
              <a:tblGrid>
                <a:gridCol w="6737040">
                  <a:extLst>
                    <a:ext uri="{9D8B030D-6E8A-4147-A177-3AD203B41FA5}">
                      <a16:colId xmlns:a16="http://schemas.microsoft.com/office/drawing/2014/main" val="2119413191"/>
                    </a:ext>
                  </a:extLst>
                </a:gridCol>
              </a:tblGrid>
              <a:tr h="221082">
                <a:tc>
                  <a:txBody>
                    <a:bodyPr/>
                    <a:lstStyle/>
                    <a:p>
                      <a:r>
                        <a:rPr lang="da-DK" sz="975" b="1" kern="1200" spc="-10" noProof="0">
                          <a:solidFill>
                            <a:schemeClr val="tx2"/>
                          </a:solidFill>
                          <a:latin typeface="+mn-lt"/>
                          <a:ea typeface="+mn-ea"/>
                          <a:cs typeface="+mn-cs"/>
                        </a:rPr>
                        <a:t xml:space="preserve">Omstillingsplan for modvirkning af klimaforandringer </a:t>
                      </a:r>
                      <a:r>
                        <a:rPr lang="da-DK" sz="975" b="0" kern="1200" spc="-10" noProof="0">
                          <a:solidFill>
                            <a:schemeClr val="tx2"/>
                          </a:solidFill>
                          <a:latin typeface="+mn-lt"/>
                          <a:ea typeface="+mn-ea"/>
                          <a:cs typeface="+mn-cs"/>
                        </a:rPr>
                        <a:t xml:space="preserve">(pkt. 54)</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948385">
                <a:tc>
                  <a:txBody>
                    <a:bodyPr/>
                    <a:lstStyle/>
                    <a:p>
                      <a:pPr algn="l"/>
                      <a:r>
                        <a:rPr lang="da-DK" sz="975" b="0" noProof="0">
                          <a:solidFill>
                            <a:srgbClr val="1B4528"/>
                          </a:solidFill>
                        </a:rPr>
                        <a:t>{{</a:t>
                      </a:r>
                      <a:r>
                        <a:rPr lang="da-DK" sz="975" b="0" noProof="0">
                          <a:solidFill>
                            <a:srgbClr val="1B4528"/>
                          </a:solidFill>
                        </a:rPr>
                        <a:t>transition_plan</a:t>
                      </a:r>
                      <a:r>
                        <a:rPr lang="da-DK" sz="975" b="0" noProof="0">
                          <a:solidFill>
                            <a:srgbClr val="1B4528"/>
                          </a:solidFill>
                        </a:rPr>
                        <a:t>}}</a:t>
                      </a:r>
                    </a:p>
                    <a:p>
                      <a:pPr algn="l"/>
                      <a:endParaRPr lang="da-DK" sz="975" b="0" noProof="0" dirty="0">
                        <a:solidFill>
                          <a:srgbClr val="1B4528"/>
                        </a:solidFill>
                      </a:endParaRPr>
                    </a:p>
                    <a:p>
                      <a:pPr algn="l"/>
                      <a:endParaRPr lang="da-DK" sz="975" b="0" noProof="0" dirty="0">
                        <a:solidFill>
                          <a:srgbClr val="1B4528"/>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bl>
          </a:graphicData>
        </a:graphic>
      </p:graphicFrame>
      <p:sp>
        <p:nvSpPr>
          <p:cNvPr id="9" name="Tekstfelt 8">
            <a:extLst>
              <a:ext uri="{FF2B5EF4-FFF2-40B4-BE49-F238E27FC236}">
                <a16:creationId xmlns:a16="http://schemas.microsoft.com/office/drawing/2014/main" id="{D30F6DC8-D978-CF00-7945-B9B1AF621669}"/>
              </a:ext>
            </a:extLst>
          </p:cNvPr>
          <p:cNvSpPr txBox="1"/>
          <p:nvPr/>
        </p:nvSpPr>
        <p:spPr>
          <a:xfrm>
            <a:off x="411480" y="6594415"/>
            <a:ext cx="6737040" cy="384705"/>
          </a:xfrm>
          <a:prstGeom prst="rect">
            <a:avLst/>
          </a:prstGeom>
          <a:noFill/>
        </p:spPr>
        <p:txBody>
          <a:bodyPr wrap="square">
            <a:spAutoFit/>
          </a:bodyPr>
          <a:lstStyle/>
          <a:p>
            <a:pPr rtl="0">
              <a:buNone/>
            </a:pPr>
            <a:r>
              <a:rPr lang="da-DK" sz="975" b="0" i="0" u="none" strike="noStrike" noProof="0">
                <a:solidFill>
                  <a:schemeClr val="tx2"/>
                </a:solidFill>
                <a:effectLst/>
                <a:latin typeface="Inter"/>
              </a:rPr>
              <a:t xml:space="preserve">De nedenstående oplysninger relaterer sig til virksomhedens omstillingsplan for modvirkning af klimaforandringer. Omstillingen er relateret til virksomhedens CO₂e-reduktionsmål.</a:t>
            </a:r>
          </a:p>
        </p:txBody>
      </p:sp>
      <p:sp>
        <p:nvSpPr>
          <p:cNvPr id="10" name="Tekstfelt 9">
            <a:extLst>
              <a:ext uri="{FF2B5EF4-FFF2-40B4-BE49-F238E27FC236}">
                <a16:creationId xmlns:a16="http://schemas.microsoft.com/office/drawing/2014/main" id="{24B5A55D-2C44-16CE-514E-9715833483A7}"/>
              </a:ext>
            </a:extLst>
          </p:cNvPr>
          <p:cNvSpPr txBox="1"/>
          <p:nvPr/>
        </p:nvSpPr>
        <p:spPr>
          <a:xfrm>
            <a:off x="411480" y="8386928"/>
            <a:ext cx="6737040" cy="230823"/>
          </a:xfrm>
          <a:prstGeom prst="rect">
            <a:avLst/>
          </a:prstGeom>
          <a:noFill/>
        </p:spPr>
        <p:txBody>
          <a:bodyPr wrap="square">
            <a:spAutoFit/>
          </a:bodyPr>
          <a:lstStyle/>
          <a:p>
            <a:pPr rtl="0">
              <a:buNone/>
            </a:pPr>
            <a:r>
              <a:rPr lang="da-DK" sz="975" b="0" i="0" u="none" strike="noStrike" noProof="0">
                <a:solidFill>
                  <a:schemeClr val="tx2"/>
                </a:solidFill>
                <a:effectLst/>
                <a:latin typeface="Inter"/>
              </a:rPr>
              <a:t xml:space="preserve">Dette oplysningspunkt er udfyldt, da virksomheden har angivet at de vil igangsætte en konkret omstillingsplan samt dato for vedtagelse.</a:t>
            </a:r>
            <a:endParaRPr lang="da-DK" noProof="0">
              <a:solidFill>
                <a:schemeClr val="tx2"/>
              </a:solidFill>
            </a:endParaRPr>
          </a:p>
        </p:txBody>
      </p:sp>
    </p:spTree>
    <p:extLst>
      <p:ext uri="{BB962C8B-B14F-4D97-AF65-F5344CB8AC3E}">
        <p14:creationId xmlns:p14="http://schemas.microsoft.com/office/powerpoint/2010/main" val="312394099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C62860-972E-E884-9828-460A25BDCE9F}"/>
              </a:ext>
            </a:extLst>
          </p:cNvPr>
          <p:cNvSpPr>
            <a:spLocks noGrp="1"/>
          </p:cNvSpPr>
          <p:nvPr>
            <p:ph type="title"/>
          </p:nvPr>
        </p:nvSpPr>
        <p:spPr>
          <a:xfrm>
            <a:off x="411480" y="731222"/>
            <a:ext cx="6737040" cy="207741"/>
          </a:xfrm>
        </p:spPr>
        <p:txBody>
          <a:bodyPr/>
          <a:lstStyle/>
          <a:p>
            <a:r>
              <a:rPr lang="da-DK" noProof="0"/>
              <a:t xml:space="preserve">K</a:t>
            </a:r>
            <a:r>
              <a:rPr lang="da-DK" sz="1475" b="1" noProof="0">
                <a:solidFill>
                  <a:schemeClr val="tx2"/>
                </a:solidFill>
              </a:rPr>
              <a:t xml:space="preserve">limarisici (C4)</a:t>
            </a:r>
            <a:endParaRPr lang="da-DK" noProof="0"/>
          </a:p>
        </p:txBody>
      </p:sp>
      <p:sp>
        <p:nvSpPr>
          <p:cNvPr id="5" name="Footer Placeholder 4">
            <a:extLst>
              <a:ext uri="{FF2B5EF4-FFF2-40B4-BE49-F238E27FC236}">
                <a16:creationId xmlns:a16="http://schemas.microsoft.com/office/drawing/2014/main" id="{340F24C5-33C0-4C2D-8193-33A504950FC4}"/>
              </a:ext>
              <a:ext uri="{C183D7F6-B498-43B3-948B-1728B52AA6E4}">
                <adec:decorative xmlns:adec="http://schemas.microsoft.com/office/drawing/2017/decorative" val="1"/>
              </a:ext>
            </a:extLst>
          </p:cNvPr>
          <p:cNvSpPr>
            <a:spLocks noGrp="1"/>
          </p:cNvSpPr>
          <p:nvPr>
            <p:ph type="ftr" sz="quarter" idx="11"/>
          </p:nvPr>
        </p:nvSpPr>
        <p:spPr/>
        <p:txBody>
          <a:bodyPr/>
          <a:lstStyle/>
          <a:p>
            <a:r>
              <a:rPr lang="da-DK" noProof="0"/>
              <a:t>{{company_name}}</a:t>
            </a:r>
            <a:endParaRPr lang="da-DK" b="0" noProof="0"/>
          </a:p>
          <a:p>
            <a:br>
              <a:rPr lang="da-DK" noProof="0"/>
            </a:br>
            <a:endParaRPr lang="da-DK" noProof="0"/>
          </a:p>
        </p:txBody>
      </p:sp>
      <p:pic>
        <p:nvPicPr>
          <p:cNvPr id="16" name="Graphic 9">
            <a:extLst>
              <a:ext uri="{FF2B5EF4-FFF2-40B4-BE49-F238E27FC236}">
                <a16:creationId xmlns:a16="http://schemas.microsoft.com/office/drawing/2014/main" id="{033648F6-FE58-4D8D-89DB-42FC37C87063}"/>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11480" y="4855421"/>
            <a:ext cx="6737040" cy="193826"/>
          </a:xfrm>
          <a:prstGeom prst="rect">
            <a:avLst/>
          </a:prstGeom>
        </p:spPr>
      </p:pic>
      <p:pic>
        <p:nvPicPr>
          <p:cNvPr id="9" name="Graphic 9">
            <a:extLst>
              <a:ext uri="{FF2B5EF4-FFF2-40B4-BE49-F238E27FC236}">
                <a16:creationId xmlns:a16="http://schemas.microsoft.com/office/drawing/2014/main" id="{701FC5B6-C71C-4B3D-30F9-DBF0A8F39E17}"/>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11480" y="5649259"/>
            <a:ext cx="6737040" cy="193826"/>
          </a:xfrm>
          <a:prstGeom prst="rect">
            <a:avLst/>
          </a:prstGeom>
        </p:spPr>
      </p:pic>
      <p:graphicFrame>
        <p:nvGraphicFramePr>
          <p:cNvPr id="13" name="Table 2">
            <a:extLst>
              <a:ext uri="{FF2B5EF4-FFF2-40B4-BE49-F238E27FC236}">
                <a16:creationId xmlns:a16="http://schemas.microsoft.com/office/drawing/2014/main" id="{6B6532BD-8830-D325-3A0A-E3778F929B7C}"/>
              </a:ext>
            </a:extLst>
          </p:cNvPr>
          <p:cNvGraphicFramePr>
            <a:graphicFrameLocks noGrp="1"/>
          </p:cNvGraphicFramePr>
          <p:nvPr>
            <p:extLst>
              <p:ext uri="{D42A27DB-BD31-4B8C-83A1-F6EECF244321}">
                <p14:modId xmlns:p14="http://schemas.microsoft.com/office/powerpoint/2010/main" val="2382858557"/>
              </p:ext>
            </p:extLst>
          </p:nvPr>
        </p:nvGraphicFramePr>
        <p:xfrm>
          <a:off x="411480" y="2041628"/>
          <a:ext cx="6737040" cy="3977161"/>
        </p:xfrm>
        <a:graphic>
          <a:graphicData uri="http://schemas.openxmlformats.org/drawingml/2006/table">
            <a:tbl>
              <a:tblPr firstRow="1">
                <a:tableStyleId>{2A488322-F2BA-4B5B-9748-0D474271808F}</a:tableStyleId>
              </a:tblPr>
              <a:tblGrid>
                <a:gridCol w="914400">
                  <a:extLst>
                    <a:ext uri="{9D8B030D-6E8A-4147-A177-3AD203B41FA5}">
                      <a16:colId xmlns:a16="http://schemas.microsoft.com/office/drawing/2014/main" val="1904521774"/>
                    </a:ext>
                  </a:extLst>
                </a:gridCol>
                <a:gridCol w="914400">
                  <a:extLst>
                    <a:ext uri="{9D8B030D-6E8A-4147-A177-3AD203B41FA5}">
                      <a16:colId xmlns:a16="http://schemas.microsoft.com/office/drawing/2014/main" val="3691300808"/>
                    </a:ext>
                  </a:extLst>
                </a:gridCol>
                <a:gridCol w="1097312">
                  <a:extLst>
                    <a:ext uri="{9D8B030D-6E8A-4147-A177-3AD203B41FA5}">
                      <a16:colId xmlns:a16="http://schemas.microsoft.com/office/drawing/2014/main" val="1169754581"/>
                    </a:ext>
                  </a:extLst>
                </a:gridCol>
                <a:gridCol w="1034845">
                  <a:extLst>
                    <a:ext uri="{9D8B030D-6E8A-4147-A177-3AD203B41FA5}">
                      <a16:colId xmlns:a16="http://schemas.microsoft.com/office/drawing/2014/main" val="519320573"/>
                    </a:ext>
                  </a:extLst>
                </a:gridCol>
                <a:gridCol w="947283">
                  <a:extLst>
                    <a:ext uri="{9D8B030D-6E8A-4147-A177-3AD203B41FA5}">
                      <a16:colId xmlns:a16="http://schemas.microsoft.com/office/drawing/2014/main" val="43798019"/>
                    </a:ext>
                  </a:extLst>
                </a:gridCol>
                <a:gridCol w="914400">
                  <a:extLst>
                    <a:ext uri="{9D8B030D-6E8A-4147-A177-3AD203B41FA5}">
                      <a16:colId xmlns:a16="http://schemas.microsoft.com/office/drawing/2014/main" val="3164053669"/>
                    </a:ext>
                  </a:extLst>
                </a:gridCol>
                <a:gridCol w="914400">
                  <a:extLst>
                    <a:ext uri="{9D8B030D-6E8A-4147-A177-3AD203B41FA5}">
                      <a16:colId xmlns:a16="http://schemas.microsoft.com/office/drawing/2014/main" val="1484983729"/>
                    </a:ext>
                  </a:extLst>
                </a:gridCol>
              </a:tblGrid>
              <a:tr h="186792">
                <a:tc gridSpan="3">
                  <a:txBody>
                    <a:bodyPr/>
                    <a:lstStyle/>
                    <a:p>
                      <a:r>
                        <a:rPr lang="da-DK" sz="825" b="0" kern="1200" noProof="0">
                          <a:solidFill>
                            <a:schemeClr val="tx2"/>
                          </a:solidFill>
                          <a:latin typeface="+mn-lt"/>
                          <a:ea typeface="+mn-ea"/>
                          <a:cs typeface="+mn-cs"/>
                        </a:rPr>
                        <a:t xml:space="preserve">(pkt. 56a)</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da-DK" sz="600" b="1"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gridSpan="2">
                  <a:txBody>
                    <a:bodyPr/>
                    <a:lstStyle/>
                    <a:p>
                      <a:r>
                        <a:rPr lang="da-DK" sz="825" b="0" kern="1200" noProof="0">
                          <a:solidFill>
                            <a:schemeClr val="tx2"/>
                          </a:solidFill>
                          <a:latin typeface="+mn-lt"/>
                          <a:ea typeface="+mn-ea"/>
                          <a:cs typeface="+mn-cs"/>
                        </a:rPr>
                        <a:t xml:space="preserve">(pkt. 56b)</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da-DK" sz="600" b="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r>
                        <a:rPr lang="da-DK" sz="825" b="0" kern="1200" noProof="0">
                          <a:solidFill>
                            <a:schemeClr val="tx2"/>
                          </a:solidFill>
                          <a:latin typeface="+mn-lt"/>
                          <a:ea typeface="+mn-ea"/>
                          <a:cs typeface="+mn-cs"/>
                        </a:rPr>
                        <a:t xml:space="preserve">(pkt. 56c)</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r>
                        <a:rPr lang="da-DK" sz="825" b="0" kern="1200" noProof="0">
                          <a:solidFill>
                            <a:schemeClr val="tx2"/>
                          </a:solidFill>
                          <a:latin typeface="+mn-lt"/>
                          <a:ea typeface="+mn-ea"/>
                          <a:cs typeface="+mn-cs"/>
                        </a:rPr>
                        <a:t xml:space="preserve">(pkt. 56d)</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extLst>
                  <a:ext uri="{0D108BD9-81ED-4DB2-BD59-A6C34878D82A}">
                    <a16:rowId xmlns:a16="http://schemas.microsoft.com/office/drawing/2014/main" val="3642311251"/>
                  </a:ext>
                </a:extLst>
              </a:tr>
              <a:tr h="45484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da-DK" sz="825" b="1" noProof="0">
                          <a:solidFill>
                            <a:schemeClr val="tx2"/>
                          </a:solidFill>
                        </a:rPr>
                        <a:t xml:space="preserve">Klimarelaterede risici</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da-DK" sz="825" b="1" noProof="0">
                          <a:solidFill>
                            <a:schemeClr val="tx2"/>
                          </a:solidFill>
                        </a:rPr>
                        <a:t xml:space="preserve">Hvor</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da-DK" sz="825" b="1" noProof="0">
                          <a:solidFill>
                            <a:schemeClr val="tx2"/>
                          </a:solidFill>
                        </a:rPr>
                        <a:t xml:space="preserve">Kort beskrivelse af risici</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da-DK" sz="825" b="1" noProof="0">
                          <a:solidFill>
                            <a:schemeClr val="tx2"/>
                          </a:solidFill>
                        </a:rPr>
                        <a:t xml:space="preserve">Eksponering </a:t>
                      </a:r>
                    </a:p>
                    <a:p>
                      <a:pPr marL="0" marR="0" lvl="0" indent="0" algn="ctr" defTabSz="914400" rtl="0" eaLnBrk="1" fontAlgn="auto" latinLnBrk="0" hangingPunct="1">
                        <a:lnSpc>
                          <a:spcPct val="100000"/>
                        </a:lnSpc>
                        <a:spcBef>
                          <a:spcPts val="0"/>
                        </a:spcBef>
                        <a:spcAft>
                          <a:spcPts val="0"/>
                        </a:spcAft>
                        <a:buClrTx/>
                        <a:buSzTx/>
                        <a:buFontTx/>
                        <a:buNone/>
                        <a:tabLst/>
                        <a:defRPr/>
                      </a:pPr>
                      <a:r>
                        <a:rPr lang="da-DK" sz="825" b="0" noProof="0">
                          <a:solidFill>
                            <a:schemeClr val="tx2"/>
                          </a:solidFill>
                        </a:rPr>
                        <a:t xml:space="preserve">(lav/mellem/høj)</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da-DK" sz="825" b="1" noProof="0">
                          <a:solidFill>
                            <a:schemeClr val="tx2"/>
                          </a:solidFill>
                        </a:rPr>
                        <a:t xml:space="preserve">Sårbarhed </a:t>
                      </a:r>
                    </a:p>
                    <a:p>
                      <a:pPr marL="0" marR="0" lvl="0" indent="0" algn="ctr" defTabSz="914400" rtl="0" eaLnBrk="1" fontAlgn="auto" latinLnBrk="0" hangingPunct="1">
                        <a:lnSpc>
                          <a:spcPct val="100000"/>
                        </a:lnSpc>
                        <a:spcBef>
                          <a:spcPts val="0"/>
                        </a:spcBef>
                        <a:spcAft>
                          <a:spcPts val="0"/>
                        </a:spcAft>
                        <a:buClrTx/>
                        <a:buSzTx/>
                        <a:buFontTx/>
                        <a:buNone/>
                        <a:tabLst/>
                        <a:defRPr/>
                      </a:pPr>
                      <a:r>
                        <a:rPr lang="da-DK" sz="825" b="0" noProof="0">
                          <a:solidFill>
                            <a:schemeClr val="tx2"/>
                          </a:solidFill>
                        </a:rPr>
                        <a:t xml:space="preserve">(lav/mellem/høj)</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da-DK" sz="825" b="1" noProof="0">
                          <a:solidFill>
                            <a:schemeClr val="tx2"/>
                          </a:solidFill>
                        </a:rPr>
                        <a:t xml:space="preserve">Tidshorisont </a:t>
                      </a:r>
                    </a:p>
                    <a:p>
                      <a:pPr marL="0" marR="0" lvl="0" indent="0" algn="ctr" defTabSz="914400" rtl="0" eaLnBrk="1" fontAlgn="auto" latinLnBrk="0" hangingPunct="1">
                        <a:lnSpc>
                          <a:spcPct val="100000"/>
                        </a:lnSpc>
                        <a:spcBef>
                          <a:spcPts val="0"/>
                        </a:spcBef>
                        <a:spcAft>
                          <a:spcPts val="0"/>
                        </a:spcAft>
                        <a:buClrTx/>
                        <a:buSzTx/>
                        <a:buFontTx/>
                        <a:buNone/>
                        <a:tabLst/>
                        <a:defRPr/>
                      </a:pPr>
                      <a:r>
                        <a:rPr lang="da-DK" sz="825" b="0" i="0" noProof="0">
                          <a:solidFill>
                            <a:schemeClr val="tx2"/>
                          </a:solidFill>
                        </a:rPr>
                        <a:t xml:space="preserve">(0-1 år/2-5 år/ &gt;5 år)</a:t>
                      </a:r>
                      <a:endParaRPr lang="da-DK" sz="825" b="0" i="0" noProof="0"/>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da-DK" sz="825" b="1" noProof="0">
                          <a:solidFill>
                            <a:schemeClr val="tx2"/>
                          </a:solidFill>
                        </a:rPr>
                        <a:t xml:space="preserve">Tilpasning iværksat </a:t>
                      </a:r>
                      <a:r>
                        <a:rPr lang="da-DK" sz="825" b="0" noProof="0">
                          <a:solidFill>
                            <a:schemeClr val="tx2"/>
                          </a:solidFill>
                        </a:rPr>
                        <a:t xml:space="preserve">(JA/NEJ)</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extLst>
                  <a:ext uri="{0D108BD9-81ED-4DB2-BD59-A6C34878D82A}">
                    <a16:rowId xmlns:a16="http://schemas.microsoft.com/office/drawing/2014/main" val="729970087"/>
                  </a:ext>
                </a:extLst>
              </a:tr>
              <a:tr h="320817">
                <a:tc row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da-DK" sz="825" b="1" noProof="0">
                          <a:solidFill>
                            <a:schemeClr val="tx2"/>
                          </a:solidFill>
                        </a:rPr>
                        <a:t xml:space="preserve">Kroniske farer</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19050" cap="flat" cmpd="sng" algn="ctr">
                      <a:solidFill>
                        <a:schemeClr val="tx2"/>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da-DK" sz="825" b="0" kern="1200" noProof="0">
                          <a:solidFill>
                            <a:schemeClr val="tx2"/>
                          </a:solidFill>
                          <a:latin typeface="+mn-lt"/>
                          <a:ea typeface="+mn-ea"/>
                          <a:cs typeface="+mn-cs"/>
                        </a:rPr>
                        <a:t xml:space="preserve">Aktiver</a:t>
                      </a:r>
                      <a:endParaRPr lang="da-DK" sz="825" b="0" noProof="0">
                        <a:solidFill>
                          <a:srgbClr val="1B4528"/>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da-DK" sz="825" b="0" i="0" u="none" strike="noStrike" noProof="0">
                          <a:solidFill>
                            <a:srgbClr val="1B4528"/>
                          </a:solidFill>
                        </a:rPr>
                        <a:t>{{chronic_aktiver_description}}</a:t>
                      </a:r>
                      <a:endParaRPr lang="da-DK"/>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da-DK" sz="825" b="0" i="0" u="none" strike="noStrike" noProof="0">
                          <a:solidFill>
                            <a:srgbClr val="1B4528"/>
                          </a:solidFill>
                          <a:latin typeface="IBM Plex Sans"/>
                        </a:rPr>
                        <a:t>{{chronic_aktiver_eksponerning}}</a:t>
                      </a:r>
                      <a:endParaRPr lang="da-DK"/>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da-DK" sz="825" b="0" i="0" u="none" strike="noStrike" noProof="0">
                          <a:solidFill>
                            <a:srgbClr val="1B4528"/>
                          </a:solidFill>
                          <a:latin typeface="IBM Plex Sans"/>
                        </a:rPr>
                        <a:t>{{chronic_aktiver_sårbarhed}}</a:t>
                      </a:r>
                      <a:endParaRPr lang="da-DK"/>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da-DK" sz="825" b="0" i="0" u="none" strike="noStrike" noProof="0">
                          <a:solidFill>
                            <a:srgbClr val="1B4528"/>
                          </a:solidFill>
                          <a:latin typeface="IBM Plex Sans"/>
                        </a:rPr>
                        <a:t>{{chronic_aktiver_time}}</a:t>
                      </a:r>
                      <a:endParaRPr lang="da-DK"/>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da-DK" sz="825" b="0" i="0" u="none" strike="noStrike" noProof="0">
                          <a:solidFill>
                            <a:srgbClr val="1B4528"/>
                          </a:solidFill>
                          <a:latin typeface="IBM Plex Sans"/>
                        </a:rPr>
                        <a:t>{{chronic_aktiver_tilpasning}}</a:t>
                      </a:r>
                      <a:endParaRPr lang="da-DK"/>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80349995"/>
                  </a:ext>
                </a:extLst>
              </a:tr>
              <a:tr h="320817">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da-DK" sz="600" b="0">
                        <a:solidFill>
                          <a:srgbClr val="1B4528"/>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da-DK" sz="825" b="0" kern="1200" noProof="0">
                          <a:solidFill>
                            <a:schemeClr val="tx2"/>
                          </a:solidFill>
                          <a:latin typeface="+mn-lt"/>
                          <a:ea typeface="+mn-ea"/>
                          <a:cs typeface="+mn-cs"/>
                        </a:rPr>
                        <a:t xml:space="preserve">Aktiviteter</a:t>
                      </a:r>
                      <a:endParaRPr lang="da-DK" sz="825" b="0" noProof="0">
                        <a:solidFill>
                          <a:srgbClr val="1B4528"/>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da-DK" sz="825" b="0" i="0" u="none" strike="noStrike" noProof="0">
                          <a:solidFill>
                            <a:srgbClr val="1B4528"/>
                          </a:solidFill>
                          <a:latin typeface="IBM Plex Sans"/>
                        </a:rPr>
                        <a:t>{{chronic_aktiveter_description}}</a:t>
                      </a:r>
                      <a:endParaRPr lang="da-DK"/>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da-DK" sz="825" b="0" i="0" u="none" strike="noStrike" noProof="0">
                          <a:solidFill>
                            <a:srgbClr val="1B4528"/>
                          </a:solidFill>
                        </a:rPr>
                        <a:t>{{chronic_aktivteter_eksponerning}}</a:t>
                      </a:r>
                      <a:endParaRPr lang="da-DK"/>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da-DK" sz="825" b="0" i="0" u="none" strike="noStrike" noProof="0">
                          <a:solidFill>
                            <a:srgbClr val="1B4528"/>
                          </a:solidFill>
                          <a:latin typeface="IBM Plex Sans"/>
                        </a:rPr>
                        <a:t>{{chronic_aktivteter_sårbarhed}}</a:t>
                      </a:r>
                      <a:endParaRPr lang="da-DK"/>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da-DK" sz="825" b="0" i="0" u="none" strike="noStrike" noProof="0">
                          <a:solidFill>
                            <a:srgbClr val="1B4528"/>
                          </a:solidFill>
                          <a:latin typeface="IBM Plex Sans"/>
                        </a:rPr>
                        <a:t>{{chronic_aktivteter_time}}</a:t>
                      </a:r>
                      <a:endParaRPr lang="da-DK"/>
                    </a:p>
                    <a:p>
                      <a:pPr lvl="0" algn="ctr">
                        <a:lnSpc>
                          <a:spcPct val="100000"/>
                        </a:lnSpc>
                        <a:spcBef>
                          <a:spcPts val="0"/>
                        </a:spcBef>
                        <a:spcAft>
                          <a:spcPts val="0"/>
                        </a:spcAft>
                        <a:buNone/>
                      </a:pPr>
                      <a:endParaRPr lang="da-DK"/>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da-DK" sz="825" b="0" i="0" u="none" strike="noStrike" noProof="0">
                          <a:solidFill>
                            <a:srgbClr val="1B4528"/>
                          </a:solidFill>
                          <a:latin typeface="IBM Plex Sans"/>
                        </a:rPr>
                        <a:t>{{chronic_aktivteter_tilpasning}}</a:t>
                      </a:r>
                      <a:endParaRPr lang="da-DK"/>
                    </a:p>
                    <a:p>
                      <a:pPr marL="0" marR="0" lvl="0" indent="0" algn="ctr">
                        <a:lnSpc>
                          <a:spcPct val="100000"/>
                        </a:lnSpc>
                        <a:spcBef>
                          <a:spcPts val="0"/>
                        </a:spcBef>
                        <a:spcAft>
                          <a:spcPts val="0"/>
                        </a:spcAft>
                        <a:buClrTx/>
                        <a:buSzTx/>
                        <a:buFontTx/>
                        <a:buNone/>
                      </a:pPr>
                      <a:endParaRPr lang="da-DK" sz="825" b="0" noProof="0">
                        <a:solidFill>
                          <a:srgbClr val="1B4528"/>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3394372718"/>
                  </a:ext>
                </a:extLst>
              </a:tr>
              <a:tr h="320817">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da-DK" sz="600" b="0">
                        <a:solidFill>
                          <a:srgbClr val="1B4528"/>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da-DK" sz="825" b="0" kern="1200" noProof="0">
                          <a:solidFill>
                            <a:schemeClr val="tx2"/>
                          </a:solidFill>
                          <a:latin typeface="+mn-lt"/>
                          <a:ea typeface="+mn-ea"/>
                          <a:cs typeface="+mn-cs"/>
                        </a:rPr>
                        <a:t xml:space="preserve">Værdikæde</a:t>
                      </a:r>
                      <a:endParaRPr lang="da-DK" sz="825" b="0" noProof="0">
                        <a:solidFill>
                          <a:srgbClr val="1B4528"/>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190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da-DK" sz="825" b="0" i="0" u="none" strike="noStrike" noProof="0">
                          <a:solidFill>
                            <a:srgbClr val="1B4528"/>
                          </a:solidFill>
                        </a:rPr>
                        <a:t>{{chronic_value_description}}</a:t>
                      </a:r>
                      <a:endParaRPr lang="da-DK"/>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190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da-DK" sz="825" b="0" i="0" u="none" strike="noStrike" noProof="0">
                          <a:solidFill>
                            <a:srgbClr val="1B4528"/>
                          </a:solidFill>
                          <a:latin typeface="IBM Plex Sans"/>
                        </a:rPr>
                        <a:t>{{chronic_value_eksponerning}}</a:t>
                      </a:r>
                      <a:endParaRPr lang="da-DK"/>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190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da-DK" sz="825" b="0" i="0" u="none" strike="noStrike" noProof="0">
                          <a:solidFill>
                            <a:srgbClr val="1B4528"/>
                          </a:solidFill>
                          <a:latin typeface="IBM Plex Sans"/>
                        </a:rPr>
                        <a:t>{{chronic_value_sårbarhed}}</a:t>
                      </a:r>
                      <a:endParaRPr lang="da-DK"/>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190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da-DK" sz="825" b="0" i="0" u="none" strike="noStrike" noProof="0">
                          <a:solidFill>
                            <a:srgbClr val="1B4528"/>
                          </a:solidFill>
                          <a:latin typeface="IBM Plex Sans"/>
                        </a:rPr>
                        <a:t>{{chronic_value_time}}</a:t>
                      </a:r>
                      <a:endParaRPr lang="da-DK"/>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190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da-DK" sz="825" b="0" i="0" u="none" strike="noStrike" noProof="0">
                          <a:solidFill>
                            <a:srgbClr val="1B4528"/>
                          </a:solidFill>
                          <a:latin typeface="IBM Plex Sans"/>
                        </a:rPr>
                        <a:t>{{chronic_value_tilpasning}}</a:t>
                      </a:r>
                      <a:endParaRPr lang="da-DK"/>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190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158144899"/>
                  </a:ext>
                </a:extLst>
              </a:tr>
              <a:tr h="320817">
                <a:tc row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da-DK" sz="825" b="1" kern="1200" noProof="0">
                          <a:solidFill>
                            <a:schemeClr val="tx2"/>
                          </a:solidFill>
                          <a:latin typeface="+mn-lt"/>
                          <a:ea typeface="+mn-ea"/>
                          <a:cs typeface="+mn-cs"/>
                        </a:rPr>
                        <a:t xml:space="preserve">Akutte farer</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19050" cap="flat" cmpd="sng" algn="ctr">
                      <a:solidFill>
                        <a:schemeClr val="tx2"/>
                      </a:solidFill>
                      <a:prstDash val="solid"/>
                      <a:round/>
                      <a:headEnd type="none" w="med" len="med"/>
                      <a:tailEnd type="none" w="med" len="med"/>
                    </a:lnT>
                    <a:lnB w="19050" cap="flat" cmpd="sng" algn="ctr">
                      <a:solidFill>
                        <a:schemeClr val="tx2"/>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da-DK" sz="825" b="0" kern="1200" noProof="0">
                          <a:solidFill>
                            <a:schemeClr val="tx2"/>
                          </a:solidFill>
                          <a:latin typeface="+mn-lt"/>
                          <a:ea typeface="+mn-ea"/>
                          <a:cs typeface="+mn-cs"/>
                        </a:rPr>
                        <a:t xml:space="preserve">Aktiver</a:t>
                      </a:r>
                      <a:endParaRPr lang="da-DK" sz="825" b="0" noProof="0">
                        <a:solidFill>
                          <a:srgbClr val="1B4528"/>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190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da-DK" sz="825" b="0" i="0" u="none" strike="noStrike" noProof="0">
                          <a:solidFill>
                            <a:srgbClr val="1B4528"/>
                          </a:solidFill>
                        </a:rPr>
                        <a:t>{{akut_aktiver_description}}</a:t>
                      </a:r>
                      <a:endParaRPr lang="da-DK"/>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190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da-DK" sz="825" b="0" i="0" u="none" strike="noStrike" noProof="0">
                          <a:solidFill>
                            <a:srgbClr val="1B4528"/>
                          </a:solidFill>
                          <a:latin typeface="IBM Plex Sans"/>
                        </a:rPr>
                        <a:t>{{akut_aktiver_eksponering}}</a:t>
                      </a:r>
                      <a:endParaRPr lang="da-DK"/>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190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da-DK" sz="825" b="0" i="0" u="none" strike="noStrike" noProof="0">
                          <a:solidFill>
                            <a:srgbClr val="1B4528"/>
                          </a:solidFill>
                          <a:latin typeface="IBM Plex Sans"/>
                        </a:rPr>
                        <a:t>{{akut_aktiver_sårbarhed}}</a:t>
                      </a:r>
                      <a:endParaRPr lang="da-DK"/>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190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da-DK" sz="825" b="0" i="0" u="none" strike="noStrike" noProof="0">
                          <a:solidFill>
                            <a:srgbClr val="1B4528"/>
                          </a:solidFill>
                          <a:latin typeface="IBM Plex Sans"/>
                        </a:rPr>
                        <a:t>{{akut_aktiver_tidshorisont}}</a:t>
                      </a:r>
                      <a:endParaRPr lang="da-DK"/>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190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da-DK" sz="825" b="0" i="0" u="none" strike="noStrike" noProof="0">
                          <a:solidFill>
                            <a:srgbClr val="1B4528"/>
                          </a:solidFill>
                          <a:latin typeface="IBM Plex Sans"/>
                        </a:rPr>
                        <a:t>{{akut_aktiver_tilpasning}}</a:t>
                      </a:r>
                      <a:endParaRPr lang="da-DK"/>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190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2800158845"/>
                  </a:ext>
                </a:extLst>
              </a:tr>
              <a:tr h="320817">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da-DK" sz="600" b="0">
                        <a:solidFill>
                          <a:srgbClr val="1B4528"/>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da-DK" sz="825" b="0" kern="1200" noProof="0">
                          <a:solidFill>
                            <a:schemeClr val="tx2"/>
                          </a:solidFill>
                          <a:latin typeface="+mn-lt"/>
                          <a:ea typeface="+mn-ea"/>
                          <a:cs typeface="+mn-cs"/>
                        </a:rPr>
                        <a:t xml:space="preserve">Aktiviteter</a:t>
                      </a:r>
                      <a:endParaRPr lang="da-DK" sz="825" b="0" noProof="0">
                        <a:solidFill>
                          <a:srgbClr val="1B4528"/>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da-DK" sz="825" b="0" i="0" u="none" strike="noStrike" noProof="0">
                          <a:solidFill>
                            <a:srgbClr val="1B4528"/>
                          </a:solidFill>
                        </a:rPr>
                        <a:t>{{akut_aktiviteter_description}}</a:t>
                      </a:r>
                      <a:endParaRPr lang="da-DK"/>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da-DK" sz="825" b="0" i="0" u="none" strike="noStrike" noProof="0">
                          <a:solidFill>
                            <a:srgbClr val="1B4528"/>
                          </a:solidFill>
                          <a:latin typeface="IBM Plex Sans"/>
                        </a:rPr>
                        <a:t>{{akut_aktiviteter_eksponering}}</a:t>
                      </a:r>
                      <a:endParaRPr lang="da-DK"/>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da-DK" sz="825" b="0" i="0" u="none" strike="noStrike" noProof="0">
                          <a:solidFill>
                            <a:srgbClr val="1B4528"/>
                          </a:solidFill>
                          <a:latin typeface="IBM Plex Sans"/>
                        </a:rPr>
                        <a:t>{{akut_aktiviteter_sårbarhed}}</a:t>
                      </a:r>
                      <a:endParaRPr lang="da-DK"/>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da-DK" sz="825" b="0" i="0" u="none" strike="noStrike" noProof="0">
                          <a:solidFill>
                            <a:srgbClr val="1B4528"/>
                          </a:solidFill>
                          <a:latin typeface="IBM Plex Sans"/>
                        </a:rPr>
                        <a:t>{{akut_aktiviteter_tidshorisont}}</a:t>
                      </a:r>
                      <a:endParaRPr lang="da-DK"/>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da-DK" sz="825" b="0" i="0" u="none" strike="noStrike" noProof="0">
                          <a:solidFill>
                            <a:srgbClr val="1B4528"/>
                          </a:solidFill>
                          <a:latin typeface="IBM Plex Sans"/>
                        </a:rPr>
                        <a:t>{{akut_aktiviteter_tilpasning}}</a:t>
                      </a:r>
                      <a:endParaRPr lang="da-DK"/>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4281780729"/>
                  </a:ext>
                </a:extLst>
              </a:tr>
              <a:tr h="320817">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da-DK" sz="600" b="0">
                        <a:solidFill>
                          <a:srgbClr val="1B4528"/>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da-DK" sz="825" b="0" kern="1200" noProof="0">
                          <a:solidFill>
                            <a:schemeClr val="tx2"/>
                          </a:solidFill>
                          <a:latin typeface="+mn-lt"/>
                          <a:ea typeface="+mn-ea"/>
                          <a:cs typeface="+mn-cs"/>
                        </a:rPr>
                        <a:t xml:space="preserve">Værdikæde</a:t>
                      </a:r>
                      <a:endParaRPr lang="da-DK" sz="825" b="0" noProof="0">
                        <a:solidFill>
                          <a:srgbClr val="1B4528"/>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190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da-DK" sz="825" b="0" i="0" u="none" strike="noStrike" noProof="0">
                          <a:solidFill>
                            <a:srgbClr val="1B4528"/>
                          </a:solidFill>
                        </a:rPr>
                        <a:t>{{akut_værdikæde_description}}</a:t>
                      </a:r>
                      <a:endParaRPr lang="da-DK"/>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190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da-DK" sz="825" b="0" i="0" u="none" strike="noStrike" noProof="0">
                          <a:solidFill>
                            <a:srgbClr val="1B4528"/>
                          </a:solidFill>
                          <a:latin typeface="IBM Plex Sans"/>
                        </a:rPr>
                        <a:t>{{akut_værdikæde_eksponering}}</a:t>
                      </a:r>
                      <a:endParaRPr lang="da-DK"/>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190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da-DK" sz="825" b="0" i="0" u="none" strike="noStrike" noProof="0">
                          <a:solidFill>
                            <a:srgbClr val="1B4528"/>
                          </a:solidFill>
                          <a:latin typeface="IBM Plex Sans"/>
                        </a:rPr>
                        <a:t>{{akut_værdikæde_sårbarhed}}</a:t>
                      </a:r>
                      <a:endParaRPr lang="da-DK"/>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190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da-DK" sz="825" b="0" i="0" u="none" strike="noStrike" noProof="0">
                          <a:solidFill>
                            <a:srgbClr val="1B4528"/>
                          </a:solidFill>
                          <a:latin typeface="IBM Plex Sans"/>
                        </a:rPr>
                        <a:t>{{akut_værdikæde_tidshorisont}}</a:t>
                      </a:r>
                      <a:endParaRPr lang="da-DK"/>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190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da-DK" sz="825" b="0" i="0" u="none" strike="noStrike" noProof="0">
                          <a:solidFill>
                            <a:srgbClr val="1B4528"/>
                          </a:solidFill>
                          <a:latin typeface="IBM Plex Sans"/>
                        </a:rPr>
                        <a:t>{{akut_værdikæde_tilpasning}}</a:t>
                      </a:r>
                      <a:endParaRPr lang="da-DK"/>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190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4169359558"/>
                  </a:ext>
                </a:extLst>
              </a:tr>
              <a:tr h="320817">
                <a:tc row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da-DK" sz="825" b="1" kern="1200" noProof="0">
                          <a:solidFill>
                            <a:schemeClr val="tx2"/>
                          </a:solidFill>
                          <a:latin typeface="+mn-lt"/>
                          <a:ea typeface="+mn-ea"/>
                          <a:cs typeface="+mn-cs"/>
                        </a:rPr>
                        <a:t xml:space="preserve">Omstillings-hændelse</a:t>
                      </a:r>
                      <a:endParaRPr lang="da-DK" sz="825" b="0" noProof="0">
                        <a:solidFill>
                          <a:srgbClr val="1B4528"/>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190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da-DK" sz="825" b="0" kern="1200" noProof="0">
                          <a:solidFill>
                            <a:schemeClr val="tx2"/>
                          </a:solidFill>
                          <a:latin typeface="+mn-lt"/>
                          <a:ea typeface="+mn-ea"/>
                          <a:cs typeface="+mn-cs"/>
                        </a:rPr>
                        <a:t xml:space="preserve">Aktiver</a:t>
                      </a:r>
                      <a:endParaRPr lang="da-DK" sz="825" b="0" noProof="0">
                        <a:solidFill>
                          <a:srgbClr val="1B4528"/>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190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da-DK" sz="825" b="0" i="0" u="none" strike="noStrike" noProof="0">
                          <a:solidFill>
                            <a:srgbClr val="1B4528"/>
                          </a:solidFill>
                        </a:rPr>
                        <a:t>{{omstilling_aktiver_description}}</a:t>
                      </a:r>
                      <a:endParaRPr lang="da-DK"/>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190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da-DK" sz="825" b="0" i="0" u="none" strike="noStrike" noProof="0">
                          <a:solidFill>
                            <a:srgbClr val="1B4528"/>
                          </a:solidFill>
                          <a:latin typeface="IBM Plex Sans"/>
                        </a:rPr>
                        <a:t>{{omstilling_aktiver_eksponering}}</a:t>
                      </a:r>
                      <a:endParaRPr lang="da-DK"/>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190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da-DK" sz="825" b="0" i="0" u="none" strike="noStrike" noProof="0">
                          <a:solidFill>
                            <a:srgbClr val="1B4528"/>
                          </a:solidFill>
                          <a:latin typeface="IBM Plex Sans"/>
                        </a:rPr>
                        <a:t>{{omstilling_aktiver_sårbarhed}}</a:t>
                      </a:r>
                      <a:endParaRPr lang="da-DK"/>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190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da-DK" sz="825" b="0" i="0" u="none" strike="noStrike" noProof="0">
                          <a:solidFill>
                            <a:srgbClr val="1B4528"/>
                          </a:solidFill>
                          <a:latin typeface="IBM Plex Sans"/>
                        </a:rPr>
                        <a:t>{{omstilling_aktiver_tidshorisont}}</a:t>
                      </a:r>
                      <a:endParaRPr lang="da-DK"/>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190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da-DK" sz="825" b="0" i="0" u="none" strike="noStrike" noProof="0">
                          <a:solidFill>
                            <a:srgbClr val="1B4528"/>
                          </a:solidFill>
                          <a:latin typeface="IBM Plex Sans"/>
                        </a:rPr>
                        <a:t>{{omstilling_aktiver_tilpasning}}</a:t>
                      </a:r>
                      <a:endParaRPr lang="da-DK"/>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190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147315044"/>
                  </a:ext>
                </a:extLst>
              </a:tr>
              <a:tr h="320817">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da-DK" sz="600" b="0">
                        <a:solidFill>
                          <a:srgbClr val="1B4528"/>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da-DK" sz="825" b="0" kern="1200" noProof="0">
                          <a:solidFill>
                            <a:schemeClr val="tx2"/>
                          </a:solidFill>
                          <a:latin typeface="+mn-lt"/>
                          <a:ea typeface="+mn-ea"/>
                          <a:cs typeface="+mn-cs"/>
                        </a:rPr>
                        <a:t xml:space="preserve">Aktiviteter</a:t>
                      </a:r>
                      <a:endParaRPr lang="da-DK" sz="825" b="0" noProof="0">
                        <a:solidFill>
                          <a:srgbClr val="1B4528"/>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da-DK" sz="825" b="0" i="0" u="none" strike="noStrike" noProof="0">
                          <a:solidFill>
                            <a:srgbClr val="1B4528"/>
                          </a:solidFill>
                        </a:rPr>
                        <a:t>{{omstilling_aktiviteter_description}}</a:t>
                      </a:r>
                      <a:endParaRPr lang="da-DK"/>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da-DK" sz="825" b="0" i="0" u="none" strike="noStrike" noProof="0">
                          <a:solidFill>
                            <a:srgbClr val="1B4528"/>
                          </a:solidFill>
                          <a:latin typeface="IBM Plex Sans"/>
                        </a:rPr>
                        <a:t>{{omstilling_aktiviteter_eksponering}}</a:t>
                      </a:r>
                      <a:endParaRPr lang="da-DK"/>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da-DK" sz="825" b="0" i="0" u="none" strike="noStrike" noProof="0">
                          <a:solidFill>
                            <a:srgbClr val="1B4528"/>
                          </a:solidFill>
                          <a:latin typeface="IBM Plex Sans"/>
                        </a:rPr>
                        <a:t>{{omstilling_aktiviteter_sårbarhed}}</a:t>
                      </a:r>
                      <a:endParaRPr lang="da-DK"/>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da-DK" sz="825" b="0" i="0" u="none" strike="noStrike" noProof="0">
                          <a:solidFill>
                            <a:srgbClr val="1B4528"/>
                          </a:solidFill>
                          <a:latin typeface="IBM Plex Sans"/>
                        </a:rPr>
                        <a:t>{{omstilling_aktiviteter_tidshorisont}}</a:t>
                      </a:r>
                      <a:endParaRPr lang="da-DK"/>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da-DK" sz="825" b="0" i="0" u="none" strike="noStrike" noProof="0">
                          <a:solidFill>
                            <a:srgbClr val="1B4528"/>
                          </a:solidFill>
                          <a:latin typeface="IBM Plex Sans"/>
                        </a:rPr>
                        <a:t>{{omstilling_aktiviteter_tilpasning}}</a:t>
                      </a:r>
                      <a:endParaRPr lang="da-DK"/>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681005516"/>
                  </a:ext>
                </a:extLst>
              </a:tr>
              <a:tr h="320817">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da-DK" sz="600" b="0">
                        <a:solidFill>
                          <a:srgbClr val="1B4528"/>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da-DK" sz="825" b="0" kern="1200" noProof="0">
                          <a:solidFill>
                            <a:schemeClr val="tx2"/>
                          </a:solidFill>
                          <a:latin typeface="+mn-lt"/>
                          <a:ea typeface="+mn-ea"/>
                          <a:cs typeface="+mn-cs"/>
                        </a:rPr>
                        <a:t xml:space="preserve">Værdikæde</a:t>
                      </a:r>
                      <a:endParaRPr lang="da-DK" sz="825" b="0" noProof="0">
                        <a:solidFill>
                          <a:srgbClr val="1B4528"/>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da-DK" sz="825" b="0" i="0" u="none" strike="noStrike" noProof="0">
                          <a:solidFill>
                            <a:srgbClr val="1B4528"/>
                          </a:solidFill>
                        </a:rPr>
                        <a:t>{{omstilling_værdikæde_description}}</a:t>
                      </a:r>
                      <a:endParaRPr lang="da-DK"/>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da-DK" sz="825" b="0" i="0" u="none" strike="noStrike" noProof="0">
                          <a:solidFill>
                            <a:srgbClr val="1B4528"/>
                          </a:solidFill>
                          <a:latin typeface="IBM Plex Sans"/>
                        </a:rPr>
                        <a:t>{{omstilling_værdikæde_eksponering}}</a:t>
                      </a:r>
                      <a:endParaRPr lang="da-DK"/>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da-DK" sz="825" b="0" i="0" u="none" strike="noStrike" noProof="0">
                          <a:solidFill>
                            <a:srgbClr val="1B4528"/>
                          </a:solidFill>
                          <a:latin typeface="IBM Plex Sans"/>
                        </a:rPr>
                        <a:t>{{omstilling_værdikæde_sårbarhed}}</a:t>
                      </a:r>
                      <a:endParaRPr lang="da-DK"/>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da-DK" sz="825" b="0" i="0" u="none" strike="noStrike" noProof="0">
                          <a:solidFill>
                            <a:srgbClr val="1B4528"/>
                          </a:solidFill>
                          <a:latin typeface="IBM Plex Sans"/>
                        </a:rPr>
                        <a:t>{{omstilling_værdikæde_tidshorisont}}</a:t>
                      </a:r>
                      <a:endParaRPr lang="da-DK"/>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da-DK" sz="825" b="0" i="0" u="none" strike="noStrike" noProof="0">
                          <a:solidFill>
                            <a:srgbClr val="1B4528"/>
                          </a:solidFill>
                          <a:latin typeface="IBM Plex Sans"/>
                        </a:rPr>
                        <a:t>{{omstilling_værdikæde_tilpasning}}</a:t>
                      </a:r>
                      <a:endParaRPr lang="da-DK"/>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2065361783"/>
                  </a:ext>
                </a:extLst>
              </a:tr>
            </a:tbl>
          </a:graphicData>
        </a:graphic>
      </p:graphicFrame>
      <p:sp>
        <p:nvSpPr>
          <p:cNvPr id="4" name="Slide Number Placeholder 1">
            <a:extLst>
              <a:ext uri="{FF2B5EF4-FFF2-40B4-BE49-F238E27FC236}">
                <a16:creationId xmlns:a16="http://schemas.microsoft.com/office/drawing/2014/main" id="{1BCA9577-CEBB-E934-0086-6454617DB7C5}"/>
              </a:ext>
              <a:ext uri="{C183D7F6-B498-43B3-948B-1728B52AA6E4}">
                <adec:decorative xmlns:adec="http://schemas.microsoft.com/office/drawing/2017/decorative" val="1"/>
              </a:ext>
            </a:extLst>
          </p:cNvPr>
          <p:cNvSpPr>
            <a:spLocks noGrp="1"/>
          </p:cNvSpPr>
          <p:nvPr>
            <p:ph type="sldNum" sz="quarter" idx="12"/>
          </p:nvPr>
        </p:nvSpPr>
        <p:spPr>
          <a:xfrm>
            <a:off x="411480" y="10152285"/>
            <a:ext cx="6737040" cy="128235"/>
          </a:xfrm>
        </p:spPr>
        <p:txBody>
          <a:bodyPr/>
          <a:lstStyle/>
          <a:p>
            <a:fld id="{4702451B-F4AF-4B05-87B1-F468C54F2952}" type="slidenum">
              <a:rPr lang="da-DK" dirty="0">
                <a:solidFill>
                  <a:srgbClr val="1B4528">
                    <a:alpha val="70000"/>
                  </a:srgbClr>
                </a:solidFill>
              </a:rPr>
              <a:t>14</a:t>
            </a:fld>
            <a:endParaRPr lang="da-DK" noProof="0">
              <a:solidFill>
                <a:srgbClr val="1B4528">
                  <a:alpha val="70000"/>
                </a:srgbClr>
              </a:solidFill>
            </a:endParaRPr>
          </a:p>
        </p:txBody>
      </p:sp>
      <p:sp>
        <p:nvSpPr>
          <p:cNvPr id="14" name="Tekstfelt 13">
            <a:extLst>
              <a:ext uri="{FF2B5EF4-FFF2-40B4-BE49-F238E27FC236}">
                <a16:creationId xmlns:a16="http://schemas.microsoft.com/office/drawing/2014/main" id="{95516DC4-723D-47D3-815C-1521BE5CD573}"/>
              </a:ext>
            </a:extLst>
          </p:cNvPr>
          <p:cNvSpPr txBox="1"/>
          <p:nvPr/>
        </p:nvSpPr>
        <p:spPr>
          <a:xfrm>
            <a:off x="411480" y="1201922"/>
            <a:ext cx="6737040" cy="384705"/>
          </a:xfrm>
          <a:prstGeom prst="rect">
            <a:avLst/>
          </a:prstGeom>
          <a:noFill/>
        </p:spPr>
        <p:txBody>
          <a:bodyPr wrap="square">
            <a:spAutoFit/>
          </a:bodyPr>
          <a:lstStyle/>
          <a:p>
            <a:pPr rtl="0">
              <a:buNone/>
            </a:pPr>
            <a:r>
              <a:rPr lang="da-DK" sz="975" b="0" i="0" u="none" strike="noStrike" noProof="0">
                <a:solidFill>
                  <a:schemeClr val="tx2"/>
                </a:solidFill>
                <a:effectLst/>
                <a:latin typeface="Inter"/>
              </a:rPr>
              <a:t xml:space="preserve">Virksomheden har angivet en oversigt over klimarelaterede risici. Herunder om disse er kroniske, akutte eller omstillingsrelaterede og hvor disse er placeret (aktiver, aktiviteter eller i virksomhedens værdikæde. </a:t>
            </a:r>
            <a:endParaRPr lang="da-DK" sz="975" noProof="0">
              <a:solidFill>
                <a:schemeClr val="tx2"/>
              </a:solidFill>
              <a:latin typeface="Inter"/>
            </a:endParaRPr>
          </a:p>
        </p:txBody>
      </p:sp>
    </p:spTree>
    <p:extLst>
      <p:ext uri="{BB962C8B-B14F-4D97-AF65-F5344CB8AC3E}">
        <p14:creationId xmlns:p14="http://schemas.microsoft.com/office/powerpoint/2010/main" val="116871876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C62860-972E-E884-9828-460A25BDCE9F}"/>
              </a:ext>
            </a:extLst>
          </p:cNvPr>
          <p:cNvSpPr>
            <a:spLocks noGrp="1"/>
          </p:cNvSpPr>
          <p:nvPr>
            <p:ph type="title"/>
          </p:nvPr>
        </p:nvSpPr>
        <p:spPr>
          <a:xfrm>
            <a:off x="411480" y="823182"/>
            <a:ext cx="6737040" cy="207741"/>
          </a:xfrm>
        </p:spPr>
        <p:txBody>
          <a:bodyPr/>
          <a:lstStyle/>
          <a:p>
            <a:r>
              <a:rPr lang="da-DK" noProof="0"/>
              <a:t xml:space="preserve">K</a:t>
            </a:r>
            <a:r>
              <a:rPr lang="da-DK" sz="1475" b="1" noProof="0">
                <a:solidFill>
                  <a:schemeClr val="tx2"/>
                </a:solidFill>
              </a:rPr>
              <a:t xml:space="preserve">limarisici (C4) - fortsat</a:t>
            </a:r>
            <a:endParaRPr lang="da-DK" noProof="0"/>
          </a:p>
        </p:txBody>
      </p:sp>
      <p:sp>
        <p:nvSpPr>
          <p:cNvPr id="2" name="Slide Number Placeholder 1">
            <a:extLst>
              <a:ext uri="{FF2B5EF4-FFF2-40B4-BE49-F238E27FC236}">
                <a16:creationId xmlns:a16="http://schemas.microsoft.com/office/drawing/2014/main" id="{F72C860F-3613-E98B-42C7-204BDA28A1F2}"/>
              </a:ext>
              <a:ext uri="{C183D7F6-B498-43B3-948B-1728B52AA6E4}">
                <adec:decorative xmlns:adec="http://schemas.microsoft.com/office/drawing/2017/decorative" val="1"/>
              </a:ext>
            </a:extLst>
          </p:cNvPr>
          <p:cNvSpPr>
            <a:spLocks noGrp="1"/>
          </p:cNvSpPr>
          <p:nvPr>
            <p:ph type="sldNum" sz="quarter" idx="12"/>
          </p:nvPr>
        </p:nvSpPr>
        <p:spPr/>
        <p:txBody>
          <a:bodyPr/>
          <a:lstStyle/>
          <a:p>
            <a:fld id="{5A0D23CF-C5A3-5445-819D-C647D180BB4B}" type="slidenum">
              <a:rPr lang="da-DK" noProof="0" smtClean="0"/>
              <a:pPr/>
              <a:t>15</a:t>
            </a:fld>
            <a:endParaRPr lang="da-DK" noProof="0"/>
          </a:p>
        </p:txBody>
      </p:sp>
      <p:sp>
        <p:nvSpPr>
          <p:cNvPr id="5" name="Footer Placeholder 4">
            <a:extLst>
              <a:ext uri="{FF2B5EF4-FFF2-40B4-BE49-F238E27FC236}">
                <a16:creationId xmlns:a16="http://schemas.microsoft.com/office/drawing/2014/main" id="{340F24C5-33C0-4C2D-8193-33A504950FC4}"/>
              </a:ext>
              <a:ext uri="{C183D7F6-B498-43B3-948B-1728B52AA6E4}">
                <adec:decorative xmlns:adec="http://schemas.microsoft.com/office/drawing/2017/decorative" val="1"/>
              </a:ext>
            </a:extLst>
          </p:cNvPr>
          <p:cNvSpPr>
            <a:spLocks noGrp="1"/>
          </p:cNvSpPr>
          <p:nvPr>
            <p:ph type="ftr" sz="quarter" idx="11"/>
          </p:nvPr>
        </p:nvSpPr>
        <p:spPr/>
        <p:txBody>
          <a:bodyPr/>
          <a:lstStyle/>
          <a:p>
            <a:r>
              <a:rPr lang="da-DK" noProof="0"/>
              <a:t>{{company_name}}</a:t>
            </a:r>
            <a:endParaRPr lang="da-DK" b="0" noProof="0"/>
          </a:p>
          <a:p>
            <a:br>
              <a:rPr lang="da-DK" noProof="0"/>
            </a:br>
            <a:endParaRPr lang="da-DK" noProof="0"/>
          </a:p>
        </p:txBody>
      </p:sp>
      <p:graphicFrame>
        <p:nvGraphicFramePr>
          <p:cNvPr id="6" name="Table 2">
            <a:extLst>
              <a:ext uri="{FF2B5EF4-FFF2-40B4-BE49-F238E27FC236}">
                <a16:creationId xmlns:a16="http://schemas.microsoft.com/office/drawing/2014/main" id="{EF97A137-22B1-3AE3-C34C-FFADFEC612CC}"/>
              </a:ext>
            </a:extLst>
          </p:cNvPr>
          <p:cNvGraphicFramePr>
            <a:graphicFrameLocks noGrp="1"/>
          </p:cNvGraphicFramePr>
          <p:nvPr>
            <p:extLst>
              <p:ext uri="{D42A27DB-BD31-4B8C-83A1-F6EECF244321}">
                <p14:modId xmlns:p14="http://schemas.microsoft.com/office/powerpoint/2010/main" val="2591302557"/>
              </p:ext>
            </p:extLst>
          </p:nvPr>
        </p:nvGraphicFramePr>
        <p:xfrm>
          <a:off x="411480" y="2093980"/>
          <a:ext cx="6737040" cy="2933624"/>
        </p:xfrm>
        <a:graphic>
          <a:graphicData uri="http://schemas.openxmlformats.org/drawingml/2006/table">
            <a:tbl>
              <a:tblPr firstRow="1">
                <a:tableStyleId>{2A488322-F2BA-4B5B-9748-0D474271808F}</a:tableStyleId>
              </a:tblPr>
              <a:tblGrid>
                <a:gridCol w="1712972">
                  <a:extLst>
                    <a:ext uri="{9D8B030D-6E8A-4147-A177-3AD203B41FA5}">
                      <a16:colId xmlns:a16="http://schemas.microsoft.com/office/drawing/2014/main" val="1904521774"/>
                    </a:ext>
                  </a:extLst>
                </a:gridCol>
                <a:gridCol w="3196433">
                  <a:extLst>
                    <a:ext uri="{9D8B030D-6E8A-4147-A177-3AD203B41FA5}">
                      <a16:colId xmlns:a16="http://schemas.microsoft.com/office/drawing/2014/main" val="3164053669"/>
                    </a:ext>
                  </a:extLst>
                </a:gridCol>
                <a:gridCol w="987084">
                  <a:extLst>
                    <a:ext uri="{9D8B030D-6E8A-4147-A177-3AD203B41FA5}">
                      <a16:colId xmlns:a16="http://schemas.microsoft.com/office/drawing/2014/main" val="1263457420"/>
                    </a:ext>
                  </a:extLst>
                </a:gridCol>
                <a:gridCol w="840551">
                  <a:extLst>
                    <a:ext uri="{9D8B030D-6E8A-4147-A177-3AD203B41FA5}">
                      <a16:colId xmlns:a16="http://schemas.microsoft.com/office/drawing/2014/main" val="1484983729"/>
                    </a:ext>
                  </a:extLst>
                </a:gridCol>
              </a:tblGrid>
              <a:tr h="145927">
                <a:tc gridSpan="4">
                  <a:txBody>
                    <a:bodyPr/>
                    <a:lstStyle/>
                    <a:p>
                      <a:r>
                        <a:rPr lang="da-DK" sz="975" b="0" kern="1200" noProof="0">
                          <a:solidFill>
                            <a:schemeClr val="tx2"/>
                          </a:solidFill>
                          <a:latin typeface="+mn-lt"/>
                          <a:ea typeface="+mn-ea"/>
                          <a:cs typeface="+mn-cs"/>
                        </a:rPr>
                        <a:t xml:space="preserve">(pkt. 57)</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da-DK" sz="725" b="0" kern="1200">
                        <a:solidFill>
                          <a:schemeClr val="tx2"/>
                        </a:solidFill>
                        <a:latin typeface="+mn-lt"/>
                        <a:ea typeface="+mn-ea"/>
                        <a:cs typeface="+mn-cs"/>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da-DK" sz="725" b="0" i="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extLst>
                  <a:ext uri="{0D108BD9-81ED-4DB2-BD59-A6C34878D82A}">
                    <a16:rowId xmlns:a16="http://schemas.microsoft.com/office/drawing/2014/main" val="806123079"/>
                  </a:ext>
                </a:extLst>
              </a:tr>
              <a:tr h="323458">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da-DK" sz="975" b="1"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da-DK" sz="975" b="1" noProof="0">
                          <a:solidFill>
                            <a:schemeClr val="tx2"/>
                          </a:solidFill>
                        </a:rPr>
                        <a:t xml:space="preserve">Potentiel negativ </a:t>
                      </a:r>
                      <a:r>
                        <a:rPr lang="da-DK" sz="975" b="1" kern="1200" noProof="0">
                          <a:solidFill>
                            <a:schemeClr val="tx2"/>
                          </a:solidFill>
                          <a:latin typeface="+mn-lt"/>
                          <a:ea typeface="+mn-ea"/>
                          <a:cs typeface="+mn-cs"/>
                        </a:rPr>
                        <a:t xml:space="preserve">påvirkning på virksomhedens finansielle præstation og forretningsdrift </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da-DK" sz="975" b="1" kern="1200" noProof="0">
                          <a:solidFill>
                            <a:schemeClr val="tx2"/>
                          </a:solidFill>
                          <a:latin typeface="+mn-lt"/>
                          <a:ea typeface="+mn-ea"/>
                          <a:cs typeface="+mn-cs"/>
                        </a:rPr>
                        <a:t xml:space="preserve">Finansiel risiko</a:t>
                      </a:r>
                    </a:p>
                    <a:p>
                      <a:pPr marL="0" marR="0" lvl="0" indent="0" algn="ctr" defTabSz="914400" rtl="0" eaLnBrk="1" fontAlgn="auto" latinLnBrk="0" hangingPunct="1">
                        <a:lnSpc>
                          <a:spcPct val="100000"/>
                        </a:lnSpc>
                        <a:spcBef>
                          <a:spcPts val="0"/>
                        </a:spcBef>
                        <a:spcAft>
                          <a:spcPts val="0"/>
                        </a:spcAft>
                        <a:buClrTx/>
                        <a:buSzTx/>
                        <a:buFontTx/>
                        <a:buNone/>
                        <a:tabLst/>
                        <a:defRPr/>
                      </a:pPr>
                      <a:r>
                        <a:rPr lang="da-DK" sz="975" b="0" kern="1200" noProof="0">
                          <a:solidFill>
                            <a:schemeClr val="tx2"/>
                          </a:solidFill>
                          <a:latin typeface="+mn-lt"/>
                          <a:ea typeface="+mn-ea"/>
                          <a:cs typeface="+mn-cs"/>
                        </a:rPr>
                        <a:t xml:space="preserve">(lav/mellem/høj)</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da-DK" sz="975" b="1" noProof="0">
                          <a:solidFill>
                            <a:schemeClr val="tx2"/>
                          </a:solidFill>
                        </a:rPr>
                        <a:t xml:space="preserve">Tidshorisont</a:t>
                      </a:r>
                    </a:p>
                    <a:p>
                      <a:pPr marL="0" marR="0" lvl="0" indent="0" algn="ctr" defTabSz="914400" rtl="0" eaLnBrk="1" fontAlgn="auto" latinLnBrk="0" hangingPunct="1">
                        <a:lnSpc>
                          <a:spcPct val="100000"/>
                        </a:lnSpc>
                        <a:spcBef>
                          <a:spcPts val="0"/>
                        </a:spcBef>
                        <a:spcAft>
                          <a:spcPts val="0"/>
                        </a:spcAft>
                        <a:buClrTx/>
                        <a:buSzTx/>
                        <a:buFontTx/>
                        <a:buNone/>
                        <a:tabLst/>
                        <a:defRPr/>
                      </a:pPr>
                      <a:r>
                        <a:rPr lang="da-DK" sz="975" b="0" i="0" noProof="0">
                          <a:solidFill>
                            <a:schemeClr val="tx2"/>
                          </a:solidFill>
                        </a:rPr>
                        <a:t xml:space="preserve">(0-1 år/2-5 år/ &gt;5 år)</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extLst>
                  <a:ext uri="{0D108BD9-81ED-4DB2-BD59-A6C34878D82A}">
                    <a16:rowId xmlns:a16="http://schemas.microsoft.com/office/drawing/2014/main" val="3642311251"/>
                  </a:ext>
                </a:extLst>
              </a:tr>
              <a:tr h="1986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a-DK" sz="975" b="1" kern="1200" noProof="0">
                          <a:solidFill>
                            <a:schemeClr val="tx2"/>
                          </a:solidFill>
                          <a:latin typeface="+mn-lt"/>
                          <a:ea typeface="+mn-ea"/>
                          <a:cs typeface="+mn-cs"/>
                        </a:rPr>
                        <a:t xml:space="preserve">Kroniske farer</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accent4">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da-DK" sz="975" b="0" noProof="0">
                        <a:solidFill>
                          <a:srgbClr val="1B4528"/>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da-DK" sz="975" b="0" noProof="0">
                        <a:solidFill>
                          <a:srgbClr val="1B4528"/>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da-DK" sz="975" b="0" noProof="0">
                        <a:solidFill>
                          <a:srgbClr val="1B4528"/>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4074311986"/>
                  </a:ext>
                </a:extLst>
              </a:tr>
              <a:tr h="198656">
                <a:tc>
                  <a:txBody>
                    <a:bodyPr/>
                    <a:lstStyle/>
                    <a:p>
                      <a:pPr lvl="0" algn="l">
                        <a:lnSpc>
                          <a:spcPct val="100000"/>
                        </a:lnSpc>
                        <a:spcBef>
                          <a:spcPts val="0"/>
                        </a:spcBef>
                        <a:spcAft>
                          <a:spcPts val="0"/>
                        </a:spcAft>
                        <a:buNone/>
                      </a:pPr>
                      <a:r>
                        <a:rPr lang="da-DK" sz="975" b="0" i="0" u="none" strike="noStrike" noProof="0">
                          <a:solidFill>
                            <a:srgbClr val="1B4528"/>
                          </a:solidFill>
                        </a:rPr>
                        <a:t>{{chronic_hazards}}</a:t>
                      </a:r>
                      <a:endParaRPr lang="da-DK"/>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da-DK" sz="975" b="0" i="0" u="none" strike="noStrike" noProof="0">
                          <a:solidFill>
                            <a:srgbClr val="1B4528"/>
                          </a:solidFill>
                          <a:latin typeface="IBM Plex Sans"/>
                        </a:rPr>
                        <a:t>{{chronic connection financial </a:t>
                      </a:r>
                      <a:r>
                        <a:rPr lang="da-DK" sz="975" b="0" i="0" u="none" strike="noStrike" noProof="0">
                          <a:solidFill>
                            <a:srgbClr val="1B4528"/>
                          </a:solidFill>
                          <a:latin typeface="IBM Plex Sans"/>
                          <a:ea typeface="+mn-ea"/>
                          <a:cs typeface="+mn-cs"/>
                        </a:rPr>
                        <a:t>and operations}}</a:t>
                      </a:r>
                      <a:endParaRPr lang="da-DK"/>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da-DK" sz="975" b="0" i="0" u="none" strike="noStrike" noProof="0">
                          <a:solidFill>
                            <a:srgbClr val="1B4528"/>
                          </a:solidFill>
                          <a:latin typeface="IBM Plex Sans"/>
                        </a:rPr>
                        <a:t>{{chronic_financial_risk}}</a:t>
                      </a:r>
                      <a:endParaRPr lang="da-DK"/>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da-DK" sz="975" b="0" i="0" u="none" strike="noStrike" noProof="0">
                          <a:solidFill>
                            <a:srgbClr val="1B4528"/>
                          </a:solidFill>
                          <a:latin typeface="IBM Plex Sans"/>
                        </a:rPr>
                        <a:t>{{chronic_time_horizon}}</a:t>
                      </a:r>
                      <a:endParaRPr lang="da-DK"/>
                    </a:p>
                    <a:p>
                      <a:pPr marL="0" marR="0" lvl="0" indent="0" algn="ctr" defTabSz="914400">
                        <a:lnSpc>
                          <a:spcPct val="100000"/>
                        </a:lnSpc>
                        <a:spcBef>
                          <a:spcPts val="0"/>
                        </a:spcBef>
                        <a:spcAft>
                          <a:spcPts val="0"/>
                        </a:spcAft>
                        <a:buClrTx/>
                        <a:buSzTx/>
                        <a:buFontTx/>
                        <a:buNone/>
                        <a:tabLst/>
                        <a:defRPr/>
                      </a:pPr>
                      <a:endParaRPr lang="da-DK" sz="975" b="0" noProof="0">
                        <a:solidFill>
                          <a:srgbClr val="1B4528"/>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737070102"/>
                  </a:ext>
                </a:extLst>
              </a:tr>
              <a:tr h="1986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a-DK" sz="975" b="1" kern="1200" noProof="0">
                          <a:solidFill>
                            <a:schemeClr val="tx2"/>
                          </a:solidFill>
                          <a:latin typeface="+mn-lt"/>
                          <a:ea typeface="+mn-ea"/>
                          <a:cs typeface="+mn-cs"/>
                        </a:rPr>
                        <a:t xml:space="preserve">Akutte farer</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accent4">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da-DK" sz="975" b="0" noProof="0">
                        <a:solidFill>
                          <a:srgbClr val="1B4528"/>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da-DK" sz="975" b="0" noProof="0">
                        <a:solidFill>
                          <a:srgbClr val="1B4528"/>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da-DK" sz="975" b="0" noProof="0">
                        <a:solidFill>
                          <a:srgbClr val="1B4528"/>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248636619"/>
                  </a:ext>
                </a:extLst>
              </a:tr>
              <a:tr h="198656">
                <a:tc>
                  <a:txBody>
                    <a:bodyPr/>
                    <a:lstStyle/>
                    <a:p>
                      <a:pPr lvl="0" algn="l">
                        <a:lnSpc>
                          <a:spcPct val="100000"/>
                        </a:lnSpc>
                        <a:spcBef>
                          <a:spcPts val="0"/>
                        </a:spcBef>
                        <a:spcAft>
                          <a:spcPts val="0"/>
                        </a:spcAft>
                        <a:buNone/>
                      </a:pPr>
                      <a:r>
                        <a:rPr lang="da-DK" sz="975" b="0" i="0" u="none" strike="noStrike" noProof="0">
                          <a:solidFill>
                            <a:srgbClr val="1B4528"/>
                          </a:solidFill>
                        </a:rPr>
                        <a:t>{{acute_hazards}}</a:t>
                      </a:r>
                      <a:endParaRPr lang="da-DK"/>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da-DK" sz="975" b="0" i="0" u="none" strike="noStrike" noProof="0">
                          <a:solidFill>
                            <a:srgbClr val="1B4528"/>
                          </a:solidFill>
                          <a:latin typeface="IBM Plex Sans"/>
                        </a:rPr>
                        <a:t>{{acute connection </a:t>
                      </a:r>
                      <a:r>
                        <a:rPr lang="da-DK" sz="975" b="0" i="0" u="none" strike="noStrike" noProof="0">
                          <a:solidFill>
                            <a:srgbClr val="1B4528"/>
                          </a:solidFill>
                          <a:latin typeface="IBM Plex Sans"/>
                          <a:ea typeface="+mn-ea"/>
                          <a:cs typeface="+mn-cs"/>
                        </a:rPr>
                        <a:t>financial and operations}}</a:t>
                      </a:r>
                      <a:endParaRPr lang="da-DK"/>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da-DK" sz="975" b="0" i="0" u="none" strike="noStrike" noProof="0">
                          <a:solidFill>
                            <a:srgbClr val="1B4528"/>
                          </a:solidFill>
                          <a:latin typeface="IBM Plex Sans"/>
                        </a:rPr>
                        <a:t>{{acute_financial_risk}}</a:t>
                      </a:r>
                      <a:endParaRPr lang="da-DK"/>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da-DK" sz="975" b="0" i="0" u="none" strike="noStrike" noProof="0">
                          <a:solidFill>
                            <a:srgbClr val="1B4528"/>
                          </a:solidFill>
                          <a:latin typeface="IBM Plex Sans"/>
                        </a:rPr>
                        <a:t>{{acute_time_horizon}}</a:t>
                      </a:r>
                      <a:endParaRPr lang="da-DK"/>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323552898"/>
                  </a:ext>
                </a:extLst>
              </a:tr>
              <a:tr h="1986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a-DK" sz="975" b="1" kern="1200" noProof="0">
                          <a:solidFill>
                            <a:schemeClr val="tx2"/>
                          </a:solidFill>
                          <a:latin typeface="+mn-lt"/>
                          <a:ea typeface="+mn-ea"/>
                          <a:cs typeface="+mn-cs"/>
                        </a:rPr>
                        <a:t xml:space="preserve">Omstillingsrisici</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accent4">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da-DK" sz="975" b="0" noProof="0">
                        <a:solidFill>
                          <a:srgbClr val="1B4528"/>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da-DK" sz="975" b="0" noProof="0">
                        <a:solidFill>
                          <a:srgbClr val="1B4528"/>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da-DK" sz="975" b="0" noProof="0">
                        <a:solidFill>
                          <a:srgbClr val="1B4528"/>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1670555600"/>
                  </a:ext>
                </a:extLst>
              </a:tr>
              <a:tr h="198656">
                <a:tc>
                  <a:txBody>
                    <a:bodyPr/>
                    <a:lstStyle/>
                    <a:p>
                      <a:pPr lvl="0" algn="l">
                        <a:lnSpc>
                          <a:spcPct val="100000"/>
                        </a:lnSpc>
                        <a:spcBef>
                          <a:spcPts val="0"/>
                        </a:spcBef>
                        <a:spcAft>
                          <a:spcPts val="0"/>
                        </a:spcAft>
                        <a:buNone/>
                      </a:pPr>
                      <a:r>
                        <a:rPr lang="da-DK" sz="975" b="0" i="0" u="none" strike="noStrike" noProof="0">
                          <a:solidFill>
                            <a:srgbClr val="1B4528"/>
                          </a:solidFill>
                        </a:rPr>
                        <a:t>{{climate_related}}</a:t>
                      </a:r>
                      <a:endParaRPr lang="da-DK"/>
                    </a:p>
                    <a:p>
                      <a:pPr lvl="0" algn="l">
                        <a:lnSpc>
                          <a:spcPct val="100000"/>
                        </a:lnSpc>
                        <a:spcBef>
                          <a:spcPts val="0"/>
                        </a:spcBef>
                        <a:spcAft>
                          <a:spcPts val="0"/>
                        </a:spcAft>
                        <a:buNone/>
                      </a:pPr>
                      <a:endParaRPr lang="da-DK" sz="975" b="0" i="0" u="none" strike="noStrike" noProof="0">
                        <a:solidFill>
                          <a:srgbClr val="1B4528"/>
                        </a:solidFill>
                        <a:latin typeface="IBM Plex Sans"/>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da-DK" sz="975" b="0" i="0" u="none" strike="noStrike" noProof="0">
                          <a:solidFill>
                            <a:srgbClr val="1B4528"/>
                          </a:solidFill>
                          <a:latin typeface="IBM Plex Sans"/>
                        </a:rPr>
                        <a:t>{{climate connection financial </a:t>
                      </a:r>
                      <a:r>
                        <a:rPr lang="da-DK" sz="975" b="0" i="0" u="none" strike="noStrike" noProof="0">
                          <a:solidFill>
                            <a:srgbClr val="1B4528"/>
                          </a:solidFill>
                          <a:latin typeface="IBM Plex Sans"/>
                          <a:ea typeface="+mn-ea"/>
                          <a:cs typeface="+mn-cs"/>
                        </a:rPr>
                        <a:t>and operations}}</a:t>
                      </a:r>
                      <a:endParaRPr lang="da-DK"/>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da-DK" sz="975" b="0" i="0" u="none" strike="noStrike" noProof="0">
                          <a:solidFill>
                            <a:srgbClr val="1B4528"/>
                          </a:solidFill>
                          <a:latin typeface="IBM Plex Sans"/>
                        </a:rPr>
                        <a:t>{{climate_related_risk}}</a:t>
                      </a:r>
                      <a:endParaRPr lang="da-DK"/>
                    </a:p>
                    <a:p>
                      <a:pPr lvl="0" algn="ctr">
                        <a:lnSpc>
                          <a:spcPct val="100000"/>
                        </a:lnSpc>
                        <a:spcBef>
                          <a:spcPts val="0"/>
                        </a:spcBef>
                        <a:spcAft>
                          <a:spcPts val="0"/>
                        </a:spcAft>
                        <a:buNone/>
                      </a:pPr>
                      <a:endParaRPr lang="da-DK"/>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da-DK" sz="975" b="0" i="0" u="none" strike="noStrike" noProof="0">
                          <a:solidFill>
                            <a:srgbClr val="1B4528"/>
                          </a:solidFill>
                          <a:latin typeface="IBM Plex Sans"/>
                        </a:rPr>
                        <a:t>{{climate_time_horizon}}</a:t>
                      </a:r>
                      <a:endParaRPr lang="da-DK"/>
                    </a:p>
                    <a:p>
                      <a:pPr marL="0" marR="0" lvl="0" indent="0" algn="ctr" defTabSz="914400">
                        <a:lnSpc>
                          <a:spcPct val="100000"/>
                        </a:lnSpc>
                        <a:spcBef>
                          <a:spcPts val="0"/>
                        </a:spcBef>
                        <a:spcAft>
                          <a:spcPts val="0"/>
                        </a:spcAft>
                        <a:buClrTx/>
                        <a:buSzTx/>
                        <a:buFontTx/>
                        <a:buNone/>
                        <a:tabLst/>
                        <a:defRPr/>
                      </a:pPr>
                      <a:endParaRPr lang="da-DK" sz="975" b="0" noProof="0">
                        <a:solidFill>
                          <a:srgbClr val="1B4528"/>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96258133"/>
                  </a:ext>
                </a:extLst>
              </a:tr>
            </a:tbl>
          </a:graphicData>
        </a:graphic>
      </p:graphicFrame>
      <p:sp>
        <p:nvSpPr>
          <p:cNvPr id="9" name="Tekstfelt 8">
            <a:extLst>
              <a:ext uri="{FF2B5EF4-FFF2-40B4-BE49-F238E27FC236}">
                <a16:creationId xmlns:a16="http://schemas.microsoft.com/office/drawing/2014/main" id="{9077FE99-B8D2-4CF3-47CF-D201C45554CD}"/>
              </a:ext>
            </a:extLst>
          </p:cNvPr>
          <p:cNvSpPr txBox="1"/>
          <p:nvPr/>
        </p:nvSpPr>
        <p:spPr>
          <a:xfrm>
            <a:off x="411480" y="1290340"/>
            <a:ext cx="6737040" cy="384705"/>
          </a:xfrm>
          <a:prstGeom prst="rect">
            <a:avLst/>
          </a:prstGeom>
          <a:noFill/>
        </p:spPr>
        <p:txBody>
          <a:bodyPr wrap="square">
            <a:spAutoFit/>
          </a:bodyPr>
          <a:lstStyle/>
          <a:p>
            <a:pPr rtl="0">
              <a:buNone/>
            </a:pPr>
            <a:r>
              <a:rPr lang="da-DK" sz="975" b="0" i="0" u="none" strike="noStrike" noProof="0">
                <a:solidFill>
                  <a:schemeClr val="tx2"/>
                </a:solidFill>
                <a:effectLst/>
                <a:latin typeface="Inter"/>
              </a:rPr>
              <a:t xml:space="preserve">Virksomheden har angivet en oversigt over klimarelaterede risici. Herunder om disse er kroniske, akutte eller omstillingsrelaterede og om disse kan have en potentiel negativ påvirkning på virksomhedens finansielle præsentation og forretningsdrift.</a:t>
            </a:r>
            <a:endParaRPr lang="da-DK" sz="975" noProof="0">
              <a:solidFill>
                <a:schemeClr val="tx2"/>
              </a:solidFill>
              <a:latin typeface="Inter"/>
            </a:endParaRPr>
          </a:p>
        </p:txBody>
      </p:sp>
    </p:spTree>
    <p:extLst>
      <p:ext uri="{BB962C8B-B14F-4D97-AF65-F5344CB8AC3E}">
        <p14:creationId xmlns:p14="http://schemas.microsoft.com/office/powerpoint/2010/main" val="400194317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F150DD1-68D5-731F-A718-D62C3CF30A65}"/>
              </a:ext>
            </a:extLst>
          </p:cNvPr>
          <p:cNvSpPr>
            <a:spLocks noGrp="1"/>
          </p:cNvSpPr>
          <p:nvPr>
            <p:ph type="title"/>
          </p:nvPr>
        </p:nvSpPr>
        <p:spPr>
          <a:xfrm>
            <a:off x="411480" y="832321"/>
            <a:ext cx="6737040" cy="207741"/>
          </a:xfrm>
        </p:spPr>
        <p:txBody>
          <a:bodyPr/>
          <a:lstStyle/>
          <a:p>
            <a:r>
              <a:rPr lang="da-DK" sz="1327" b="1" i="0" u="none" strike="noStrike" kern="1200" spc="-10" noProof="0">
                <a:solidFill>
                  <a:srgbClr val="1B4528"/>
                </a:solidFill>
              </a:rPr>
              <a:t xml:space="preserve">Supplerende (generelle) oplysninger om arbejdsstyrken (C5)</a:t>
            </a:r>
            <a:endParaRPr lang="da-DK" noProof="0"/>
          </a:p>
        </p:txBody>
      </p:sp>
      <p:sp>
        <p:nvSpPr>
          <p:cNvPr id="6" name="Slide Number Placeholder 5">
            <a:extLst>
              <a:ext uri="{FF2B5EF4-FFF2-40B4-BE49-F238E27FC236}">
                <a16:creationId xmlns:a16="http://schemas.microsoft.com/office/drawing/2014/main" id="{4477F7BF-85D3-AAB2-E437-08AF193582A9}"/>
              </a:ext>
              <a:ext uri="{C183D7F6-B498-43B3-948B-1728B52AA6E4}">
                <adec:decorative xmlns:adec="http://schemas.microsoft.com/office/drawing/2017/decorative" val="1"/>
              </a:ext>
            </a:extLst>
          </p:cNvPr>
          <p:cNvSpPr>
            <a:spLocks noGrp="1"/>
          </p:cNvSpPr>
          <p:nvPr>
            <p:ph type="sldNum" sz="quarter" idx="12"/>
          </p:nvPr>
        </p:nvSpPr>
        <p:spPr/>
        <p:txBody>
          <a:bodyPr/>
          <a:lstStyle/>
          <a:p>
            <a:fld id="{5A0D23CF-C5A3-5445-819D-C647D180BB4B}" type="slidenum">
              <a:rPr lang="da-DK" noProof="0" smtClean="0"/>
              <a:pPr/>
              <a:t>16</a:t>
            </a:fld>
            <a:endParaRPr lang="da-DK" noProof="0"/>
          </a:p>
        </p:txBody>
      </p:sp>
      <p:sp>
        <p:nvSpPr>
          <p:cNvPr id="5" name="Footer Placeholder 4">
            <a:extLst>
              <a:ext uri="{FF2B5EF4-FFF2-40B4-BE49-F238E27FC236}">
                <a16:creationId xmlns:a16="http://schemas.microsoft.com/office/drawing/2014/main" id="{DBAF5DBA-985E-0DEE-3635-AA29433685C0}"/>
              </a:ext>
              <a:ext uri="{C183D7F6-B498-43B3-948B-1728B52AA6E4}">
                <adec:decorative xmlns:adec="http://schemas.microsoft.com/office/drawing/2017/decorative" val="1"/>
              </a:ext>
            </a:extLst>
          </p:cNvPr>
          <p:cNvSpPr>
            <a:spLocks noGrp="1"/>
          </p:cNvSpPr>
          <p:nvPr>
            <p:ph type="ftr" sz="quarter" idx="11"/>
          </p:nvPr>
        </p:nvSpPr>
        <p:spPr/>
        <p:txBody>
          <a:bodyPr/>
          <a:lstStyle/>
          <a:p>
            <a:r>
              <a:rPr lang="da-DK" noProof="0"/>
              <a:t>{{company_name}}</a:t>
            </a:r>
            <a:endParaRPr lang="da-DK" b="0" noProof="0"/>
          </a:p>
          <a:p>
            <a:br>
              <a:rPr lang="da-DK" noProof="0"/>
            </a:br>
            <a:endParaRPr lang="da-DK" noProof="0"/>
          </a:p>
        </p:txBody>
      </p:sp>
      <p:graphicFrame>
        <p:nvGraphicFramePr>
          <p:cNvPr id="8" name="Table 7">
            <a:extLst>
              <a:ext uri="{FF2B5EF4-FFF2-40B4-BE49-F238E27FC236}">
                <a16:creationId xmlns:a16="http://schemas.microsoft.com/office/drawing/2014/main" id="{93255C96-A783-191D-6874-59444594070E}"/>
              </a:ext>
            </a:extLst>
          </p:cNvPr>
          <p:cNvGraphicFramePr>
            <a:graphicFrameLocks noGrp="1"/>
          </p:cNvGraphicFramePr>
          <p:nvPr>
            <p:extLst>
              <p:ext uri="{D42A27DB-BD31-4B8C-83A1-F6EECF244321}">
                <p14:modId xmlns:p14="http://schemas.microsoft.com/office/powerpoint/2010/main" val="2495306731"/>
              </p:ext>
            </p:extLst>
          </p:nvPr>
        </p:nvGraphicFramePr>
        <p:xfrm>
          <a:off x="3853152" y="2024224"/>
          <a:ext cx="3295368" cy="785282"/>
        </p:xfrm>
        <a:graphic>
          <a:graphicData uri="http://schemas.openxmlformats.org/drawingml/2006/table">
            <a:tbl>
              <a:tblPr firstRow="1">
                <a:tableStyleId>{2A488322-F2BA-4B5B-9748-0D474271808F}</a:tableStyleId>
              </a:tblPr>
              <a:tblGrid>
                <a:gridCol w="2558408">
                  <a:extLst>
                    <a:ext uri="{9D8B030D-6E8A-4147-A177-3AD203B41FA5}">
                      <a16:colId xmlns:a16="http://schemas.microsoft.com/office/drawing/2014/main" val="2698153288"/>
                    </a:ext>
                  </a:extLst>
                </a:gridCol>
                <a:gridCol w="736960">
                  <a:extLst>
                    <a:ext uri="{9D8B030D-6E8A-4147-A177-3AD203B41FA5}">
                      <a16:colId xmlns:a16="http://schemas.microsoft.com/office/drawing/2014/main" val="2119413191"/>
                    </a:ext>
                  </a:extLst>
                </a:gridCol>
              </a:tblGrid>
              <a:tr h="239990">
                <a:tc row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a-DK" sz="877" b="1" i="0" noProof="0">
                          <a:solidFill>
                            <a:schemeClr val="tx2"/>
                          </a:solidFill>
                        </a:rPr>
                        <a:t xml:space="preserve">Forholdet mellem kvinder og mænd på ledelsesniveau </a:t>
                      </a:r>
                      <a:r>
                        <a:rPr lang="da-DK" sz="877" b="0" i="0" noProof="0">
                          <a:solidFill>
                            <a:schemeClr val="tx2"/>
                          </a:solidFill>
                        </a:rPr>
                        <a:t xml:space="preserve">(pkt. 59)</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buNone/>
                      </a:pPr>
                      <a:r>
                        <a:rPr lang="da-DK" sz="877" b="1" i="0" u="none" strike="noStrike" noProof="0">
                          <a:solidFill>
                            <a:srgbClr val="1B4528"/>
                          </a:solidFill>
                          <a:effectLst/>
                          <a:latin typeface="IBM Plex Sans" panose="020B0503050203000203" pitchFamily="34" charset="0"/>
                        </a:rPr>
                        <a:t xml:space="preserve">År </a:t>
                      </a:r>
                      <a:r>
                        <a:rPr lang="da-DK" sz="877" b="1" i="0" u="none" strike="noStrike" noProof="0">
                          <a:solidFill>
                            <a:srgbClr val="1B4528"/>
                          </a:solidFill>
                          <a:effectLst/>
                          <a:latin typeface="IBM Plex Sans" panose="020B0503050203000203" pitchFamily="34" charset="0"/>
                        </a:rPr>
                        <a:t>{{Insert year}}</a:t>
                      </a:r>
                      <a:endParaRPr lang="da-DK" sz="877" noProof="0">
                        <a:effectLst/>
                      </a:endParaRPr>
                    </a:p>
                  </a:txBody>
                  <a:tcPr marL="31749" marR="31749" marT="10583" marB="1058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239990">
                <a:tc vMerge="1">
                  <a:txBody>
                    <a:bodyPr/>
                    <a:lstStyle/>
                    <a:p>
                      <a:endParaRPr lang="da-DK" sz="750" b="0" noProof="0">
                        <a:solidFill>
                          <a:schemeClr val="tx2"/>
                        </a:solidFill>
                      </a:endParaRP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da-DK" sz="877" b="0" i="0" u="none" strike="noStrike" noProof="0">
                          <a:solidFill>
                            <a:srgbClr val="1B4528"/>
                          </a:solidFill>
                          <a:effectLst/>
                          <a:latin typeface="IBM Plex Sans" panose="020B0503050203000203" pitchFamily="34" charset="0"/>
                        </a:rPr>
                        <a:t>{{gender_balance}}</a:t>
                      </a:r>
                      <a:endParaRPr lang="da-DK" sz="877" noProof="0">
                        <a:effectLst/>
                      </a:endParaRPr>
                    </a:p>
                  </a:txBody>
                  <a:tcPr marL="31749" marR="31749" marT="10583" marB="1058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977038530"/>
                  </a:ext>
                </a:extLst>
              </a:tr>
            </a:tbl>
          </a:graphicData>
        </a:graphic>
      </p:graphicFrame>
      <p:graphicFrame>
        <p:nvGraphicFramePr>
          <p:cNvPr id="2" name="Table 7">
            <a:extLst>
              <a:ext uri="{FF2B5EF4-FFF2-40B4-BE49-F238E27FC236}">
                <a16:creationId xmlns:a16="http://schemas.microsoft.com/office/drawing/2014/main" id="{69535A26-01A9-A0FA-67C0-F2DDC3A1A436}"/>
              </a:ext>
            </a:extLst>
          </p:cNvPr>
          <p:cNvGraphicFramePr>
            <a:graphicFrameLocks noGrp="1"/>
          </p:cNvGraphicFramePr>
          <p:nvPr>
            <p:extLst>
              <p:ext uri="{D42A27DB-BD31-4B8C-83A1-F6EECF244321}">
                <p14:modId xmlns:p14="http://schemas.microsoft.com/office/powerpoint/2010/main" val="2131584882"/>
              </p:ext>
            </p:extLst>
          </p:nvPr>
        </p:nvGraphicFramePr>
        <p:xfrm>
          <a:off x="411480" y="2024224"/>
          <a:ext cx="3295368" cy="785282"/>
        </p:xfrm>
        <a:graphic>
          <a:graphicData uri="http://schemas.openxmlformats.org/drawingml/2006/table">
            <a:tbl>
              <a:tblPr firstRow="1">
                <a:tableStyleId>{2A488322-F2BA-4B5B-9748-0D474271808F}</a:tableStyleId>
              </a:tblPr>
              <a:tblGrid>
                <a:gridCol w="2558408">
                  <a:extLst>
                    <a:ext uri="{9D8B030D-6E8A-4147-A177-3AD203B41FA5}">
                      <a16:colId xmlns:a16="http://schemas.microsoft.com/office/drawing/2014/main" val="2698153288"/>
                    </a:ext>
                  </a:extLst>
                </a:gridCol>
                <a:gridCol w="736960">
                  <a:extLst>
                    <a:ext uri="{9D8B030D-6E8A-4147-A177-3AD203B41FA5}">
                      <a16:colId xmlns:a16="http://schemas.microsoft.com/office/drawing/2014/main" val="2119413191"/>
                    </a:ext>
                  </a:extLst>
                </a:gridCol>
              </a:tblGrid>
              <a:tr h="239990">
                <a:tc row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a-DK" sz="877" b="1" i="0" noProof="0">
                          <a:solidFill>
                            <a:schemeClr val="tx2"/>
                          </a:solidFill>
                        </a:rPr>
                        <a:t xml:space="preserve">Medarbejderomsætning i rapporteringsåret </a:t>
                      </a:r>
                      <a:r>
                        <a:rPr lang="da-DK" sz="877" b="0" i="0" noProof="0">
                          <a:solidFill>
                            <a:schemeClr val="tx2"/>
                          </a:solidFill>
                        </a:rPr>
                        <a:t xml:space="preserve">(pkt. 58)</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buNone/>
                      </a:pPr>
                      <a:r>
                        <a:rPr lang="da-DK" sz="877" b="1" i="0" u="none" strike="noStrike" noProof="0">
                          <a:solidFill>
                            <a:srgbClr val="1B4528"/>
                          </a:solidFill>
                          <a:effectLst/>
                          <a:latin typeface="IBM Plex Sans" panose="020B0503050203000203" pitchFamily="34" charset="0"/>
                        </a:rPr>
                        <a:t xml:space="preserve">År </a:t>
                      </a:r>
                      <a:r>
                        <a:rPr lang="da-DK" sz="877" b="1" i="0" u="none" strike="noStrike" noProof="0">
                          <a:solidFill>
                            <a:srgbClr val="1B4528"/>
                          </a:solidFill>
                          <a:effectLst/>
                          <a:latin typeface="IBM Plex Sans" panose="020B0503050203000203" pitchFamily="34" charset="0"/>
                        </a:rPr>
                        <a:t>{{Insert year}}</a:t>
                      </a:r>
                      <a:endParaRPr lang="da-DK" sz="877" noProof="0">
                        <a:effectLst/>
                      </a:endParaRPr>
                    </a:p>
                  </a:txBody>
                  <a:tcPr marL="31749" marR="31749" marT="10583" marB="1058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239990">
                <a:tc vMerge="1">
                  <a:txBody>
                    <a:bodyPr/>
                    <a:lstStyle/>
                    <a:p>
                      <a:endParaRPr lang="da-DK" sz="750" b="0" noProof="0">
                        <a:solidFill>
                          <a:schemeClr val="tx2"/>
                        </a:solidFill>
                      </a:endParaRP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da-DK" sz="877" b="0" i="0" u="none" strike="noStrike" noProof="0">
                          <a:solidFill>
                            <a:srgbClr val="1B4528"/>
                          </a:solidFill>
                          <a:effectLst/>
                          <a:latin typeface="IBM Plex Sans" panose="020B0503050203000203" pitchFamily="34" charset="0"/>
                        </a:rPr>
                        <a:t>{{omsatningsrate}}</a:t>
                      </a:r>
                    </a:p>
                  </a:txBody>
                  <a:tcPr marL="31749" marR="31749" marT="10583" marB="1058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977038530"/>
                  </a:ext>
                </a:extLst>
              </a:tr>
            </a:tbl>
          </a:graphicData>
        </a:graphic>
      </p:graphicFrame>
      <p:sp>
        <p:nvSpPr>
          <p:cNvPr id="13" name="Tekstfelt 12">
            <a:extLst>
              <a:ext uri="{FF2B5EF4-FFF2-40B4-BE49-F238E27FC236}">
                <a16:creationId xmlns:a16="http://schemas.microsoft.com/office/drawing/2014/main" id="{02AD3E18-6260-CBA0-2A83-112A686452CC}"/>
              </a:ext>
            </a:extLst>
          </p:cNvPr>
          <p:cNvSpPr txBox="1"/>
          <p:nvPr/>
        </p:nvSpPr>
        <p:spPr>
          <a:xfrm>
            <a:off x="411480" y="1317755"/>
            <a:ext cx="6737040" cy="692470"/>
          </a:xfrm>
          <a:prstGeom prst="rect">
            <a:avLst/>
          </a:prstGeom>
          <a:noFill/>
        </p:spPr>
        <p:txBody>
          <a:bodyPr wrap="square">
            <a:spAutoFit/>
          </a:bodyPr>
          <a:lstStyle/>
          <a:p>
            <a:pPr rtl="0">
              <a:buNone/>
            </a:pPr>
            <a:r>
              <a:rPr lang="da-DK" sz="877" b="0" i="0" u="none" strike="noStrike" noProof="0">
                <a:solidFill>
                  <a:schemeClr val="tx2"/>
                </a:solidFill>
                <a:effectLst/>
                <a:latin typeface="Inter"/>
              </a:rPr>
              <a:t xml:space="preserve">Den nedenstående information er supplement til anden oplysning om virksomhedens arbejdsstyrke. Herunder, hvordan virksomhedens forhold mellem mænd og kvinder på ledelsesniveau fordeler sig.</a:t>
            </a:r>
            <a:endParaRPr lang="da-DK" sz="877" b="0" noProof="0">
              <a:solidFill>
                <a:schemeClr val="tx2"/>
              </a:solidFill>
              <a:effectLst/>
              <a:latin typeface="Inter"/>
            </a:endParaRPr>
          </a:p>
          <a:p>
            <a:pPr>
              <a:buNone/>
            </a:pPr>
            <a:br>
              <a:rPr lang="da-DK" sz="877" noProof="0">
                <a:solidFill>
                  <a:schemeClr val="tx2"/>
                </a:solidFill>
                <a:latin typeface="Inter"/>
              </a:rPr>
            </a:br>
            <a:endParaRPr lang="da-DK" sz="877" noProof="0">
              <a:solidFill>
                <a:schemeClr val="tx2"/>
              </a:solidFill>
              <a:latin typeface="Inter"/>
            </a:endParaRPr>
          </a:p>
        </p:txBody>
      </p:sp>
      <p:graphicFrame>
        <p:nvGraphicFramePr>
          <p:cNvPr id="17" name="Table 8">
            <a:extLst>
              <a:ext uri="{FF2B5EF4-FFF2-40B4-BE49-F238E27FC236}">
                <a16:creationId xmlns:a16="http://schemas.microsoft.com/office/drawing/2014/main" id="{A0192DD3-B257-9166-AD07-2538AE6407A8}"/>
              </a:ext>
            </a:extLst>
          </p:cNvPr>
          <p:cNvGraphicFramePr>
            <a:graphicFrameLocks noGrp="1"/>
          </p:cNvGraphicFramePr>
          <p:nvPr>
            <p:extLst>
              <p:ext uri="{D42A27DB-BD31-4B8C-83A1-F6EECF244321}">
                <p14:modId xmlns:p14="http://schemas.microsoft.com/office/powerpoint/2010/main" val="1032068852"/>
              </p:ext>
            </p:extLst>
          </p:nvPr>
        </p:nvGraphicFramePr>
        <p:xfrm>
          <a:off x="411480" y="3646198"/>
          <a:ext cx="6737040" cy="959960"/>
        </p:xfrm>
        <a:graphic>
          <a:graphicData uri="http://schemas.openxmlformats.org/drawingml/2006/table">
            <a:tbl>
              <a:tblPr firstRow="1">
                <a:tableStyleId>{2A488322-F2BA-4B5B-9748-0D474271808F}</a:tableStyleId>
              </a:tblPr>
              <a:tblGrid>
                <a:gridCol w="4993574">
                  <a:extLst>
                    <a:ext uri="{9D8B030D-6E8A-4147-A177-3AD203B41FA5}">
                      <a16:colId xmlns:a16="http://schemas.microsoft.com/office/drawing/2014/main" val="2698153288"/>
                    </a:ext>
                  </a:extLst>
                </a:gridCol>
                <a:gridCol w="1743466">
                  <a:extLst>
                    <a:ext uri="{9D8B030D-6E8A-4147-A177-3AD203B41FA5}">
                      <a16:colId xmlns:a16="http://schemas.microsoft.com/office/drawing/2014/main" val="2119413191"/>
                    </a:ext>
                  </a:extLst>
                </a:gridCol>
              </a:tblGrid>
              <a:tr h="239990">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da-DK" sz="877" b="1" kern="1200" noProof="0">
                          <a:solidFill>
                            <a:schemeClr val="tx2"/>
                          </a:solidFill>
                          <a:latin typeface="+mn-lt"/>
                          <a:ea typeface="+mn-ea"/>
                          <a:cs typeface="+mn-cs"/>
                        </a:rPr>
                        <a:t xml:space="preserve">Selvstændige og vikarer </a:t>
                      </a:r>
                      <a:r>
                        <a:rPr lang="da-DK" sz="877" b="0" noProof="0">
                          <a:solidFill>
                            <a:schemeClr val="tx2"/>
                          </a:solidFill>
                        </a:rPr>
                        <a:t xml:space="preserve">(pkt. 60)</a:t>
                      </a:r>
                      <a:endParaRPr lang="da-DK" sz="877" b="1" kern="1200" noProof="0">
                        <a:solidFill>
                          <a:schemeClr val="tx2"/>
                        </a:solidFill>
                        <a:latin typeface="+mn-lt"/>
                        <a:ea typeface="+mn-ea"/>
                        <a:cs typeface="+mn-cs"/>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804764708"/>
                  </a:ext>
                </a:extLst>
              </a:tr>
              <a:tr h="23999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da-DK" sz="877" b="1"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da-DK" sz="877" b="1" kern="1200" noProof="0">
                          <a:solidFill>
                            <a:schemeClr val="tx2"/>
                          </a:solidFill>
                          <a:latin typeface="+mn-lt"/>
                          <a:ea typeface="+mn-ea"/>
                          <a:cs typeface="+mn-cs"/>
                        </a:rPr>
                        <a:t xml:space="preserve">Antal</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239990">
                <a:tc>
                  <a:txBody>
                    <a:bodyPr/>
                    <a:lstStyle/>
                    <a:p>
                      <a:r>
                        <a:rPr lang="da-DK" sz="877" b="1" noProof="0">
                          <a:solidFill>
                            <a:schemeClr val="tx2"/>
                          </a:solidFill>
                        </a:rPr>
                        <a:t xml:space="preserve">Selvstændige (uden egne ansatte)</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r" rtl="0" fontAlgn="ctr">
                        <a:buNone/>
                      </a:pPr>
                      <a:r>
                        <a:rPr lang="da-DK" sz="877" b="0" i="0" u="none" strike="noStrike" noProof="0">
                          <a:solidFill>
                            <a:srgbClr val="1B4528"/>
                          </a:solidFill>
                          <a:effectLst/>
                          <a:latin typeface="Inter"/>
                        </a:rPr>
                        <a:t>{{self-employeed}}</a:t>
                      </a:r>
                      <a:endParaRPr lang="da-DK" sz="877"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r h="239990">
                <a:tc>
                  <a:txBody>
                    <a:bodyPr/>
                    <a:lstStyle/>
                    <a:p>
                      <a:r>
                        <a:rPr lang="da-DK" sz="877" b="1" noProof="0">
                          <a:solidFill>
                            <a:schemeClr val="tx2"/>
                          </a:solidFill>
                        </a:rPr>
                        <a:t xml:space="preserve">Vikarer (rekrutteret via et vikarbureau) </a:t>
                      </a:r>
                      <a:endParaRPr lang="da-DK" sz="877" b="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r" rtl="0" fontAlgn="ctr">
                        <a:buNone/>
                      </a:pPr>
                      <a:r>
                        <a:rPr lang="da-DK" sz="877" b="0" i="0" u="none" strike="noStrike" noProof="0">
                          <a:solidFill>
                            <a:srgbClr val="1B4528"/>
                          </a:solidFill>
                          <a:effectLst/>
                          <a:latin typeface="Inter"/>
                        </a:rPr>
                        <a:t>{{</a:t>
                      </a:r>
                      <a:r>
                        <a:rPr lang="da-DK" sz="877" b="0" i="0" u="none" strike="noStrike" noProof="0">
                          <a:solidFill>
                            <a:srgbClr val="1B4528"/>
                          </a:solidFill>
                          <a:effectLst/>
                          <a:latin typeface="Inter"/>
                        </a:rPr>
                        <a:t>temp_workers</a:t>
                      </a:r>
                      <a:r>
                        <a:rPr lang="da-DK" sz="877" b="0" i="0" u="none" strike="noStrike" noProof="0">
                          <a:solidFill>
                            <a:srgbClr val="1B4528"/>
                          </a:solidFill>
                          <a:effectLst/>
                          <a:latin typeface="Inter"/>
                        </a:rPr>
                        <a:t>}}</a:t>
                      </a:r>
                      <a:endParaRPr lang="da-DK" sz="877" noProof="0" dirty="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339040515"/>
                  </a:ext>
                </a:extLst>
              </a:tr>
            </a:tbl>
          </a:graphicData>
        </a:graphic>
      </p:graphicFrame>
      <p:sp>
        <p:nvSpPr>
          <p:cNvPr id="23" name="Tekstfelt 22">
            <a:extLst>
              <a:ext uri="{FF2B5EF4-FFF2-40B4-BE49-F238E27FC236}">
                <a16:creationId xmlns:a16="http://schemas.microsoft.com/office/drawing/2014/main" id="{D60EF1D1-D1F5-4064-9ED3-DE93382F39C3}"/>
              </a:ext>
            </a:extLst>
          </p:cNvPr>
          <p:cNvSpPr txBox="1"/>
          <p:nvPr/>
        </p:nvSpPr>
        <p:spPr>
          <a:xfrm>
            <a:off x="411480" y="3114838"/>
            <a:ext cx="6737040" cy="230823"/>
          </a:xfrm>
          <a:prstGeom prst="rect">
            <a:avLst/>
          </a:prstGeom>
          <a:noFill/>
        </p:spPr>
        <p:txBody>
          <a:bodyPr wrap="square">
            <a:spAutoFit/>
          </a:bodyPr>
          <a:lstStyle/>
          <a:p>
            <a:pPr rtl="0">
              <a:buNone/>
            </a:pPr>
            <a:r>
              <a:rPr lang="da-DK" sz="877" b="0" i="0" u="none" strike="noStrike" noProof="0">
                <a:solidFill>
                  <a:schemeClr val="tx2"/>
                </a:solidFill>
                <a:effectLst/>
                <a:latin typeface="Inter"/>
              </a:rPr>
              <a:t xml:space="preserve">Den nedenstående information er udfyldt for at informere om antallet af selvstændige og vikarer virksomheden har.</a:t>
            </a:r>
            <a:endParaRPr lang="da-DK" sz="877" b="0" noProof="0">
              <a:solidFill>
                <a:schemeClr val="tx2"/>
              </a:solidFill>
              <a:effectLst/>
              <a:latin typeface="Inter"/>
            </a:endParaRPr>
          </a:p>
        </p:txBody>
      </p:sp>
      <p:sp>
        <p:nvSpPr>
          <p:cNvPr id="3" name="Title 2">
            <a:extLst>
              <a:ext uri="{FF2B5EF4-FFF2-40B4-BE49-F238E27FC236}">
                <a16:creationId xmlns:a16="http://schemas.microsoft.com/office/drawing/2014/main" id="{60DB9D9C-F7AE-1DD2-71CF-81E689C1070F}"/>
              </a:ext>
            </a:extLst>
          </p:cNvPr>
          <p:cNvSpPr txBox="1">
            <a:spLocks/>
          </p:cNvSpPr>
          <p:nvPr/>
        </p:nvSpPr>
        <p:spPr>
          <a:xfrm>
            <a:off x="411480" y="5020235"/>
            <a:ext cx="6737040" cy="207741"/>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1327" b="1" kern="1200" spc="-10" baseline="0">
                <a:solidFill>
                  <a:schemeClr val="tx2"/>
                </a:solidFill>
                <a:latin typeface="+mj-lt"/>
                <a:ea typeface="+mj-ea"/>
                <a:cs typeface="+mj-cs"/>
              </a:defRPr>
            </a:lvl1pPr>
          </a:lstStyle>
          <a:p>
            <a:r>
              <a:rPr lang="da-DK">
                <a:solidFill>
                  <a:srgbClr val="1B4528"/>
                </a:solidFill>
                <a:latin typeface="+mn-lt"/>
                <a:ea typeface="+mn-ea"/>
                <a:cs typeface="+mn-cs"/>
              </a:rPr>
              <a:t xml:space="preserve">Menneskerettighedspolitikker og -processer (C6</a:t>
            </a:r>
            <a:r>
              <a:rPr lang="da-DK"/>
              <a:t xml:space="preserve">) - Egen arbejdsstyrke</a:t>
            </a:r>
          </a:p>
        </p:txBody>
      </p:sp>
      <p:graphicFrame>
        <p:nvGraphicFramePr>
          <p:cNvPr id="7" name="Table 12">
            <a:extLst>
              <a:ext uri="{FF2B5EF4-FFF2-40B4-BE49-F238E27FC236}">
                <a16:creationId xmlns:a16="http://schemas.microsoft.com/office/drawing/2014/main" id="{EFD90793-89B1-1051-40D4-976350EF00EF}"/>
              </a:ext>
            </a:extLst>
          </p:cNvPr>
          <p:cNvGraphicFramePr>
            <a:graphicFrameLocks noGrp="1"/>
          </p:cNvGraphicFramePr>
          <p:nvPr>
            <p:extLst>
              <p:ext uri="{D42A27DB-BD31-4B8C-83A1-F6EECF244321}">
                <p14:modId xmlns:p14="http://schemas.microsoft.com/office/powerpoint/2010/main" val="2276300516"/>
              </p:ext>
            </p:extLst>
          </p:nvPr>
        </p:nvGraphicFramePr>
        <p:xfrm>
          <a:off x="411480" y="5968203"/>
          <a:ext cx="6737040" cy="2876437"/>
        </p:xfrm>
        <a:graphic>
          <a:graphicData uri="http://schemas.openxmlformats.org/drawingml/2006/table">
            <a:tbl>
              <a:tblPr firstRow="1">
                <a:tableStyleId>{2A488322-F2BA-4B5B-9748-0D474271808F}</a:tableStyleId>
              </a:tblPr>
              <a:tblGrid>
                <a:gridCol w="5179030">
                  <a:extLst>
                    <a:ext uri="{9D8B030D-6E8A-4147-A177-3AD203B41FA5}">
                      <a16:colId xmlns:a16="http://schemas.microsoft.com/office/drawing/2014/main" val="2698153288"/>
                    </a:ext>
                  </a:extLst>
                </a:gridCol>
                <a:gridCol w="1558010">
                  <a:extLst>
                    <a:ext uri="{9D8B030D-6E8A-4147-A177-3AD203B41FA5}">
                      <a16:colId xmlns:a16="http://schemas.microsoft.com/office/drawing/2014/main" val="2119413191"/>
                    </a:ext>
                  </a:extLst>
                </a:gridCol>
              </a:tblGrid>
              <a:tr h="42659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a-DK" sz="877" b="1" kern="1200" noProof="0">
                          <a:solidFill>
                            <a:srgbClr val="1B4528"/>
                          </a:solidFill>
                          <a:latin typeface="+mn-lt"/>
                          <a:ea typeface="+mn-ea"/>
                          <a:cs typeface="+mn-cs"/>
                        </a:rPr>
                        <a:t>{{company_name}}</a:t>
                      </a:r>
                      <a:r>
                        <a:rPr lang="da-DK" sz="877" b="1" noProof="0">
                          <a:solidFill>
                            <a:schemeClr val="tx2"/>
                          </a:solidFill>
                        </a:rPr>
                        <a:t xml:space="preserve"> har </a:t>
                      </a:r>
                      <a:r>
                        <a:rPr lang="da-DK" sz="877" b="1" kern="1200" spc="-10" noProof="0">
                          <a:solidFill>
                            <a:schemeClr val="tx2"/>
                          </a:solidFill>
                          <a:latin typeface="+mn-lt"/>
                          <a:ea typeface="+mn-ea"/>
                          <a:cs typeface="+mn-cs"/>
                        </a:rPr>
                        <a:t xml:space="preserve">en ansvarlighedspolitik </a:t>
                      </a:r>
                      <a:r>
                        <a:rPr lang="da-DK" sz="877" b="1" i="1" kern="1200" spc="-10" noProof="0">
                          <a:solidFill>
                            <a:schemeClr val="tx2"/>
                          </a:solidFill>
                          <a:latin typeface="+mn-lt"/>
                          <a:ea typeface="+mn-ea"/>
                          <a:cs typeface="+mn-cs"/>
                        </a:rPr>
                        <a:t xml:space="preserve">og/eller</a:t>
                      </a:r>
                      <a:r>
                        <a:rPr lang="da-DK" sz="877" b="1" kern="1200" spc="-10" noProof="0">
                          <a:solidFill>
                            <a:schemeClr val="tx2"/>
                          </a:solidFill>
                          <a:latin typeface="+mn-lt"/>
                          <a:ea typeface="+mn-ea"/>
                          <a:cs typeface="+mn-cs"/>
                        </a:rPr>
                        <a:t xml:space="preserve"> en menneskerettighedspolitik for vores </a:t>
                      </a:r>
                      <a:r>
                        <a:rPr lang="da-DK" sz="877" b="1" u="sng" kern="1200" spc="-10" noProof="0">
                          <a:solidFill>
                            <a:schemeClr val="tx2"/>
                          </a:solidFill>
                          <a:latin typeface="+mn-lt"/>
                          <a:ea typeface="+mn-ea"/>
                          <a:cs typeface="+mn-cs"/>
                        </a:rPr>
                        <a:t xml:space="preserve">egen arbejdsstyrke</a:t>
                      </a:r>
                      <a:r>
                        <a:rPr lang="da-DK" sz="877" b="0" u="none" kern="1200" spc="-10" noProof="0">
                          <a:solidFill>
                            <a:schemeClr val="tx2"/>
                          </a:solidFill>
                          <a:latin typeface="+mn-lt"/>
                          <a:ea typeface="+mn-ea"/>
                          <a:cs typeface="+mn-cs"/>
                        </a:rPr>
                        <a:t xml:space="preserve"> (pkt. 61a)</a:t>
                      </a:r>
                      <a:endParaRPr lang="da-DK" sz="877" b="0" u="none"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da-DK" sz="877" b="0" noProof="0">
                          <a:solidFill>
                            <a:srgbClr val="1B4528"/>
                          </a:solidFill>
                          <a:latin typeface="+mn-lt"/>
                          <a:cs typeface="Calibri"/>
                        </a:rPr>
                        <a:t>{{human_rights_policy?}}</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391168870"/>
                  </a:ext>
                </a:extLst>
              </a:tr>
              <a:tr h="219389">
                <a:tc gridSpan="2">
                  <a:txBody>
                    <a:bodyPr/>
                    <a:lstStyle/>
                    <a:p>
                      <a:r>
                        <a:rPr lang="da-DK" sz="877" b="1" kern="1200" noProof="0">
                          <a:solidFill>
                            <a:schemeClr val="tx1"/>
                          </a:solidFill>
                          <a:latin typeface="+mn-lt"/>
                          <a:ea typeface="+mn-ea"/>
                          <a:cs typeface="+mn-cs"/>
                        </a:rPr>
                        <a:t xml:space="preserve">Ansvarligheds- eller menneskerettighedspolitikken dækker disse emner: </a:t>
                      </a:r>
                      <a:r>
                        <a:rPr lang="da-DK" sz="877" b="0" u="none" kern="1200" spc="-10" noProof="0">
                          <a:solidFill>
                            <a:schemeClr val="tx2"/>
                          </a:solidFill>
                          <a:latin typeface="+mn-lt"/>
                          <a:ea typeface="+mn-ea"/>
                          <a:cs typeface="+mn-cs"/>
                        </a:rPr>
                        <a:t xml:space="preserve">(pkt. 61b)</a:t>
                      </a:r>
                      <a:endParaRPr lang="da-DK" sz="877" b="0" noProof="0">
                        <a:solidFill>
                          <a:schemeClr val="tx1"/>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da-DK" sz="750" noProof="0">
                        <a:solidFill>
                          <a:srgbClr val="1B4528"/>
                        </a:solidFill>
                        <a:latin typeface="+mn-lt"/>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extLst>
                  <a:ext uri="{0D108BD9-81ED-4DB2-BD59-A6C34878D82A}">
                    <a16:rowId xmlns:a16="http://schemas.microsoft.com/office/drawing/2014/main" val="903441729"/>
                  </a:ext>
                </a:extLst>
              </a:tr>
              <a:tr h="219389">
                <a:tc>
                  <a:txBody>
                    <a:bodyPr/>
                    <a:lstStyle/>
                    <a:p>
                      <a:pPr lvl="1"/>
                      <a:r>
                        <a:rPr lang="da-DK" sz="877" b="0" noProof="0">
                          <a:solidFill>
                            <a:schemeClr val="tx2"/>
                          </a:solidFill>
                        </a:rPr>
                        <a:t xml:space="preserve">Børnearbejde</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r" rtl="0" fontAlgn="ctr">
                        <a:buNone/>
                      </a:pPr>
                      <a:r>
                        <a:rPr lang="da-DK" sz="877" b="0" i="0" u="none" strike="noStrike" noProof="0">
                          <a:solidFill>
                            <a:srgbClr val="1B4528"/>
                          </a:solidFill>
                          <a:effectLst/>
                          <a:latin typeface="Inter"/>
                        </a:rPr>
                        <a:t>{{child_labour_polict?}}</a:t>
                      </a:r>
                      <a:endParaRPr lang="da-DK" sz="877"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109313864"/>
                  </a:ext>
                </a:extLst>
              </a:tr>
              <a:tr h="219389">
                <a:tc>
                  <a:txBody>
                    <a:bodyPr/>
                    <a:lstStyle/>
                    <a:p>
                      <a:pPr lvl="1"/>
                      <a:r>
                        <a:rPr lang="da-DK" sz="877" b="0" noProof="0">
                          <a:solidFill>
                            <a:schemeClr val="tx2"/>
                          </a:solidFill>
                        </a:rPr>
                        <a:t xml:space="preserve">Tvangsarbejde</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r" rtl="0" fontAlgn="ctr">
                        <a:buNone/>
                      </a:pPr>
                      <a:r>
                        <a:rPr lang="da-DK" sz="877" b="0" i="0" u="none" strike="noStrike" noProof="0">
                          <a:solidFill>
                            <a:srgbClr val="1B4528"/>
                          </a:solidFill>
                          <a:effectLst/>
                          <a:latin typeface="Inter"/>
                        </a:rPr>
                        <a:t>{{forced_labour_policy?}}</a:t>
                      </a:r>
                      <a:endParaRPr lang="da-DK" sz="877"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828850338"/>
                  </a:ext>
                </a:extLst>
              </a:tr>
              <a:tr h="219389">
                <a:tc>
                  <a:txBody>
                    <a:bodyPr/>
                    <a:lstStyle/>
                    <a:p>
                      <a:pPr lvl="1"/>
                      <a:r>
                        <a:rPr lang="da-DK" sz="877" b="0" noProof="0">
                          <a:solidFill>
                            <a:schemeClr val="tx2"/>
                          </a:solidFill>
                        </a:rPr>
                        <a:t xml:space="preserve">Menneskehandel</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r" rtl="0" fontAlgn="ctr">
                        <a:buNone/>
                      </a:pPr>
                      <a:r>
                        <a:rPr lang="da-DK" sz="877" b="0" i="0" u="none" strike="noStrike" noProof="0">
                          <a:solidFill>
                            <a:srgbClr val="1B4528"/>
                          </a:solidFill>
                          <a:effectLst/>
                          <a:latin typeface="Inter"/>
                        </a:rPr>
                        <a:t>{{human_policy?}}</a:t>
                      </a:r>
                      <a:endParaRPr lang="da-DK" sz="877"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946288779"/>
                  </a:ext>
                </a:extLst>
              </a:tr>
              <a:tr h="219389">
                <a:tc>
                  <a:txBody>
                    <a:bodyPr/>
                    <a:lstStyle/>
                    <a:p>
                      <a:pPr lvl="1"/>
                      <a:r>
                        <a:rPr lang="da-DK" sz="877" b="0" noProof="0">
                          <a:solidFill>
                            <a:schemeClr val="tx2"/>
                          </a:solidFill>
                        </a:rPr>
                        <a:t xml:space="preserve">Diskrimination</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r" rtl="0" fontAlgn="ctr">
                        <a:buNone/>
                      </a:pPr>
                      <a:r>
                        <a:rPr lang="da-DK" sz="877" b="0" i="0" u="none" strike="noStrike" noProof="0">
                          <a:solidFill>
                            <a:srgbClr val="1B4528"/>
                          </a:solidFill>
                          <a:effectLst/>
                          <a:latin typeface="Inter"/>
                        </a:rPr>
                        <a:t>{{discrimanation_policy?}}</a:t>
                      </a:r>
                      <a:endParaRPr lang="da-DK" sz="877"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269962095"/>
                  </a:ext>
                </a:extLst>
              </a:tr>
              <a:tr h="219389">
                <a:tc>
                  <a:txBody>
                    <a:bodyPr/>
                    <a:lstStyle/>
                    <a:p>
                      <a:pPr lvl="1"/>
                      <a:r>
                        <a:rPr lang="da-DK" sz="877" b="0" noProof="0">
                          <a:solidFill>
                            <a:schemeClr val="tx2"/>
                          </a:solidFill>
                        </a:rPr>
                        <a:t xml:space="preserve">Sikkerhed og forebyggelse af ulykker</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r" rtl="0" fontAlgn="ctr">
                        <a:buNone/>
                      </a:pPr>
                      <a:r>
                        <a:rPr lang="da-DK" sz="877" b="0" i="0" u="none" strike="noStrike" noProof="0">
                          <a:solidFill>
                            <a:srgbClr val="1B4528"/>
                          </a:solidFill>
                          <a:effectLst/>
                          <a:latin typeface="Inter"/>
                        </a:rPr>
                        <a:t>{{safety_policy?}}</a:t>
                      </a:r>
                      <a:endParaRPr lang="da-DK" sz="877"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923512640"/>
                  </a:ext>
                </a:extLst>
              </a:tr>
              <a:tr h="219389">
                <a:tc>
                  <a:txBody>
                    <a:bodyPr/>
                    <a:lstStyle/>
                    <a:p>
                      <a:pPr lvl="1"/>
                      <a:r>
                        <a:rPr lang="da-DK" sz="877" b="0" noProof="0">
                          <a:solidFill>
                            <a:schemeClr val="tx2"/>
                          </a:solidFill>
                        </a:rPr>
                        <a:t xml:space="preserve">Andet</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r" rtl="0" fontAlgn="ctr">
                        <a:buNone/>
                      </a:pPr>
                      <a:r>
                        <a:rPr lang="da-DK" sz="877" b="0" i="0" u="none" strike="noStrike" noProof="0">
                          <a:solidFill>
                            <a:srgbClr val="1B4528"/>
                          </a:solidFill>
                          <a:effectLst/>
                          <a:latin typeface="Inter"/>
                        </a:rPr>
                        <a:t>{{other_policy?}}</a:t>
                      </a:r>
                      <a:endParaRPr lang="da-DK" sz="877"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53969227"/>
                  </a:ext>
                </a:extLst>
              </a:tr>
              <a:tr h="219389">
                <a:tc gridSpan="2">
                  <a:txBody>
                    <a:bodyPr/>
                    <a:lstStyle/>
                    <a:p>
                      <a:r>
                        <a:rPr lang="da-DK" sz="877" b="1" noProof="0">
                          <a:solidFill>
                            <a:schemeClr val="tx2"/>
                          </a:solidFill>
                        </a:rPr>
                        <a:t xml:space="preserve">Hvis ja til ”Andet”, specificer</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da-DK" sz="750" b="0" noProof="0">
                        <a:solidFill>
                          <a:srgbClr val="1B4528"/>
                        </a:solidFill>
                        <a:latin typeface="+mn-lt"/>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240263137"/>
                  </a:ext>
                </a:extLst>
              </a:tr>
              <a:tr h="694735">
                <a:tc gridSpan="2">
                  <a:txBody>
                    <a:bodyPr/>
                    <a:lstStyle/>
                    <a:p>
                      <a:endParaRPr lang="da-DK" sz="877" b="0" noProof="0" dirty="0">
                        <a:solidFill>
                          <a:schemeClr val="tx2"/>
                        </a:solidFill>
                      </a:endParaRPr>
                    </a:p>
                    <a:p>
                      <a:pPr lvl="0" algn="r">
                        <a:lnSpc>
                          <a:spcPct val="100000"/>
                        </a:lnSpc>
                        <a:spcBef>
                          <a:spcPts val="0"/>
                        </a:spcBef>
                        <a:spcAft>
                          <a:spcPts val="0"/>
                        </a:spcAft>
                        <a:buNone/>
                      </a:pPr>
                      <a:r>
                        <a:rPr lang="da-DK" sz="877" b="0" i="0" u="none" strike="noStrike" kern="1200" noProof="0">
                          <a:solidFill>
                            <a:srgbClr val="1B4528"/>
                          </a:solidFill>
                          <a:latin typeface="Inter"/>
                          <a:ea typeface="+mn-ea"/>
                          <a:cs typeface="+mn-cs"/>
                        </a:rPr>
                        <a:t>{{C6_other_description}}</a:t>
                      </a:r>
                      <a:endParaRPr lang="da-DK" sz="877" b="0" i="0" u="none" strike="noStrike" kern="1200" noProof="0" dirty="0">
                        <a:solidFill>
                          <a:srgbClr val="000000"/>
                        </a:solidFill>
                        <a:latin typeface="Inter"/>
                        <a:ea typeface="+mn-ea"/>
                        <a:cs typeface="+mn-cs"/>
                      </a:endParaRPr>
                    </a:p>
                    <a:p>
                      <a:endParaRPr lang="da-DK" sz="877" b="0" noProof="0" dirty="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da-DK" sz="750" b="0" noProof="0">
                        <a:solidFill>
                          <a:srgbClr val="1B4528"/>
                        </a:solidFill>
                        <a:latin typeface="+mn-lt"/>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3253903979"/>
                  </a:ext>
                </a:extLst>
              </a:tr>
            </a:tbl>
          </a:graphicData>
        </a:graphic>
      </p:graphicFrame>
      <p:graphicFrame>
        <p:nvGraphicFramePr>
          <p:cNvPr id="9" name="Table 12">
            <a:extLst>
              <a:ext uri="{FF2B5EF4-FFF2-40B4-BE49-F238E27FC236}">
                <a16:creationId xmlns:a16="http://schemas.microsoft.com/office/drawing/2014/main" id="{EF31CA8D-F773-B7A0-BF4B-230DDB5D05E2}"/>
              </a:ext>
            </a:extLst>
          </p:cNvPr>
          <p:cNvGraphicFramePr>
            <a:graphicFrameLocks noGrp="1"/>
          </p:cNvGraphicFramePr>
          <p:nvPr>
            <p:extLst>
              <p:ext uri="{D42A27DB-BD31-4B8C-83A1-F6EECF244321}">
                <p14:modId xmlns:p14="http://schemas.microsoft.com/office/powerpoint/2010/main" val="4186352873"/>
              </p:ext>
            </p:extLst>
          </p:nvPr>
        </p:nvGraphicFramePr>
        <p:xfrm>
          <a:off x="411480" y="9055675"/>
          <a:ext cx="6737040" cy="721700"/>
        </p:xfrm>
        <a:graphic>
          <a:graphicData uri="http://schemas.openxmlformats.org/drawingml/2006/table">
            <a:tbl>
              <a:tblPr firstRow="1">
                <a:tableStyleId>{2A488322-F2BA-4B5B-9748-0D474271808F}</a:tableStyleId>
              </a:tblPr>
              <a:tblGrid>
                <a:gridCol w="5179031">
                  <a:extLst>
                    <a:ext uri="{9D8B030D-6E8A-4147-A177-3AD203B41FA5}">
                      <a16:colId xmlns:a16="http://schemas.microsoft.com/office/drawing/2014/main" val="2698153288"/>
                    </a:ext>
                  </a:extLst>
                </a:gridCol>
                <a:gridCol w="1558009">
                  <a:extLst>
                    <a:ext uri="{9D8B030D-6E8A-4147-A177-3AD203B41FA5}">
                      <a16:colId xmlns:a16="http://schemas.microsoft.com/office/drawing/2014/main" val="2119413191"/>
                    </a:ext>
                  </a:extLst>
                </a:gridCol>
              </a:tblGrid>
              <a:tr h="721700">
                <a:tc>
                  <a:txBody>
                    <a:bodyPr/>
                    <a:lstStyle/>
                    <a:p>
                      <a:r>
                        <a:rPr lang="da-DK" sz="877" b="1" noProof="0">
                          <a:solidFill>
                            <a:schemeClr val="tx2"/>
                          </a:solidFill>
                        </a:rPr>
                        <a:t xml:space="preserve">Virksomheden har en klagemekanisme for vores </a:t>
                      </a:r>
                      <a:r>
                        <a:rPr lang="da-DK" sz="877" b="1" u="sng" noProof="0">
                          <a:solidFill>
                            <a:schemeClr val="tx2"/>
                          </a:solidFill>
                        </a:rPr>
                        <a:t xml:space="preserve">egen arbejdsstyrke</a:t>
                      </a:r>
                      <a:r>
                        <a:rPr lang="da-DK" sz="877" b="0" u="sng" noProof="0">
                          <a:solidFill>
                            <a:schemeClr val="tx2"/>
                          </a:solidFill>
                        </a:rPr>
                        <a:t> </a:t>
                      </a:r>
                      <a:r>
                        <a:rPr lang="da-DK" sz="877" b="0" noProof="0">
                          <a:solidFill>
                            <a:schemeClr val="tx2"/>
                          </a:solidFill>
                        </a:rPr>
                        <a:t xml:space="preserve">(pkt. 61c)</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da-DK" sz="877" b="0" noProof="0">
                          <a:solidFill>
                            <a:srgbClr val="1B4528"/>
                          </a:solidFill>
                          <a:latin typeface="+mn-lt"/>
                          <a:cs typeface="Calibri"/>
                        </a:rPr>
                        <a:t>{{whistleblower?}}</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903441729"/>
                  </a:ext>
                </a:extLst>
              </a:tr>
            </a:tbl>
          </a:graphicData>
        </a:graphic>
      </p:graphicFrame>
      <p:sp>
        <p:nvSpPr>
          <p:cNvPr id="10" name="Tekstfelt 9">
            <a:extLst>
              <a:ext uri="{FF2B5EF4-FFF2-40B4-BE49-F238E27FC236}">
                <a16:creationId xmlns:a16="http://schemas.microsoft.com/office/drawing/2014/main" id="{DE98A347-CF52-AA6C-DDC5-06292C717A69}"/>
              </a:ext>
            </a:extLst>
          </p:cNvPr>
          <p:cNvSpPr txBox="1"/>
          <p:nvPr/>
        </p:nvSpPr>
        <p:spPr>
          <a:xfrm>
            <a:off x="411480" y="5321206"/>
            <a:ext cx="6737040" cy="384705"/>
          </a:xfrm>
          <a:prstGeom prst="rect">
            <a:avLst/>
          </a:prstGeom>
          <a:noFill/>
        </p:spPr>
        <p:txBody>
          <a:bodyPr wrap="square">
            <a:spAutoFit/>
          </a:bodyPr>
          <a:lstStyle/>
          <a:p>
            <a:pPr>
              <a:spcBef>
                <a:spcPts val="750"/>
              </a:spcBef>
            </a:pPr>
            <a:r>
              <a:rPr lang="da-DK" sz="877" b="0" i="0" u="none" strike="noStrike" noProof="0">
                <a:solidFill>
                  <a:schemeClr val="tx2"/>
                </a:solidFill>
                <a:effectLst/>
                <a:latin typeface="Inter"/>
              </a:rPr>
              <a:t xml:space="preserve">Nedenfor er </a:t>
            </a:r>
            <a:r>
              <a:rPr lang="da-DK" sz="877" noProof="0">
                <a:solidFill>
                  <a:schemeClr val="tx2"/>
                </a:solidFill>
                <a:latin typeface="Inter"/>
              </a:rPr>
              <a:t xml:space="preserve">angivet information om </a:t>
            </a:r>
            <a:r>
              <a:rPr lang="da-DK" sz="877" b="0" i="0" u="none" strike="noStrike" noProof="0">
                <a:solidFill>
                  <a:schemeClr val="tx2"/>
                </a:solidFill>
                <a:effectLst/>
                <a:latin typeface="Inter"/>
              </a:rPr>
              <a:t xml:space="preserve">virksomhedens ansvarlighedspolitik og/eller menneskerettighedspolitik som dækker egen arbejdsstyrk</a:t>
            </a:r>
            <a:r>
              <a:rPr lang="da-DK" sz="877" noProof="0">
                <a:solidFill>
                  <a:schemeClr val="tx2"/>
                </a:solidFill>
                <a:latin typeface="Inter"/>
              </a:rPr>
              <a:t xml:space="preserve">e. Ligeledes om virksomheden har en klagemekanisme, der gør det muligt for medarbejdere at rapportere forhold relateret til menneskerettighedskrænkelser, diskrimination, chikane eller andre kritisable forhold.</a:t>
            </a:r>
          </a:p>
        </p:txBody>
      </p:sp>
    </p:spTree>
    <p:extLst>
      <p:ext uri="{BB962C8B-B14F-4D97-AF65-F5344CB8AC3E}">
        <p14:creationId xmlns:p14="http://schemas.microsoft.com/office/powerpoint/2010/main" val="109591303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C62860-972E-E884-9828-460A25BDCE9F}"/>
              </a:ext>
            </a:extLst>
          </p:cNvPr>
          <p:cNvSpPr>
            <a:spLocks noGrp="1"/>
          </p:cNvSpPr>
          <p:nvPr>
            <p:ph type="title"/>
          </p:nvPr>
        </p:nvSpPr>
        <p:spPr>
          <a:xfrm>
            <a:off x="411480" y="832321"/>
            <a:ext cx="6737040" cy="207741"/>
          </a:xfrm>
        </p:spPr>
        <p:txBody>
          <a:bodyPr/>
          <a:lstStyle/>
          <a:p>
            <a:r>
              <a:rPr lang="da-DK" sz="1475" b="1" i="0" u="none" strike="noStrike" kern="1200" spc="-10" noProof="0">
                <a:solidFill>
                  <a:srgbClr val="1B4528"/>
                </a:solidFill>
                <a:latin typeface="+mn-lt"/>
                <a:ea typeface="+mn-ea"/>
                <a:cs typeface="+mn-cs"/>
              </a:rPr>
              <a:t xml:space="preserve">Alvorlige negative menneskerettighedshændelser (C7</a:t>
            </a:r>
            <a:r>
              <a:rPr lang="da-DK" noProof="0"/>
              <a:t xml:space="preserve">) – Egen arbejdsstyrke</a:t>
            </a:r>
          </a:p>
        </p:txBody>
      </p:sp>
      <p:sp>
        <p:nvSpPr>
          <p:cNvPr id="2" name="Slide Number Placeholder 1">
            <a:extLst>
              <a:ext uri="{FF2B5EF4-FFF2-40B4-BE49-F238E27FC236}">
                <a16:creationId xmlns:a16="http://schemas.microsoft.com/office/drawing/2014/main" id="{F72C860F-3613-E98B-42C7-204BDA28A1F2}"/>
              </a:ext>
              <a:ext uri="{C183D7F6-B498-43B3-948B-1728B52AA6E4}">
                <adec:decorative xmlns:adec="http://schemas.microsoft.com/office/drawing/2017/decorative" val="1"/>
              </a:ext>
            </a:extLst>
          </p:cNvPr>
          <p:cNvSpPr>
            <a:spLocks noGrp="1"/>
          </p:cNvSpPr>
          <p:nvPr>
            <p:ph type="sldNum" sz="quarter" idx="12"/>
          </p:nvPr>
        </p:nvSpPr>
        <p:spPr/>
        <p:txBody>
          <a:bodyPr/>
          <a:lstStyle/>
          <a:p>
            <a:fld id="{5A0D23CF-C5A3-5445-819D-C647D180BB4B}" type="slidenum">
              <a:rPr lang="da-DK" noProof="0" smtClean="0"/>
              <a:pPr/>
              <a:t>17</a:t>
            </a:fld>
            <a:endParaRPr lang="da-DK" noProof="0"/>
          </a:p>
        </p:txBody>
      </p:sp>
      <p:sp>
        <p:nvSpPr>
          <p:cNvPr id="5" name="Footer Placeholder 4">
            <a:extLst>
              <a:ext uri="{FF2B5EF4-FFF2-40B4-BE49-F238E27FC236}">
                <a16:creationId xmlns:a16="http://schemas.microsoft.com/office/drawing/2014/main" id="{340F24C5-33C0-4C2D-8193-33A504950FC4}"/>
              </a:ext>
              <a:ext uri="{C183D7F6-B498-43B3-948B-1728B52AA6E4}">
                <adec:decorative xmlns:adec="http://schemas.microsoft.com/office/drawing/2017/decorative" val="1"/>
              </a:ext>
            </a:extLst>
          </p:cNvPr>
          <p:cNvSpPr>
            <a:spLocks noGrp="1"/>
          </p:cNvSpPr>
          <p:nvPr>
            <p:ph type="ftr" sz="quarter" idx="11"/>
          </p:nvPr>
        </p:nvSpPr>
        <p:spPr/>
        <p:txBody>
          <a:bodyPr/>
          <a:lstStyle/>
          <a:p>
            <a:r>
              <a:rPr lang="da-DK" noProof="0"/>
              <a:t>{{company_name}}</a:t>
            </a:r>
            <a:endParaRPr lang="da-DK" b="0" noProof="0"/>
          </a:p>
          <a:p>
            <a:endParaRPr lang="da-DK" noProof="0"/>
          </a:p>
        </p:txBody>
      </p:sp>
      <p:graphicFrame>
        <p:nvGraphicFramePr>
          <p:cNvPr id="11" name="Table 2">
            <a:extLst>
              <a:ext uri="{FF2B5EF4-FFF2-40B4-BE49-F238E27FC236}">
                <a16:creationId xmlns:a16="http://schemas.microsoft.com/office/drawing/2014/main" id="{A420AFF6-414E-4EC8-A668-F0BFECC8260A}"/>
              </a:ext>
            </a:extLst>
          </p:cNvPr>
          <p:cNvGraphicFramePr>
            <a:graphicFrameLocks noGrp="1"/>
          </p:cNvGraphicFramePr>
          <p:nvPr>
            <p:extLst>
              <p:ext uri="{D42A27DB-BD31-4B8C-83A1-F6EECF244321}">
                <p14:modId xmlns:p14="http://schemas.microsoft.com/office/powerpoint/2010/main" val="1257119581"/>
              </p:ext>
            </p:extLst>
          </p:nvPr>
        </p:nvGraphicFramePr>
        <p:xfrm>
          <a:off x="411480" y="2153762"/>
          <a:ext cx="6737040" cy="2579984"/>
        </p:xfrm>
        <a:graphic>
          <a:graphicData uri="http://schemas.openxmlformats.org/drawingml/2006/table">
            <a:tbl>
              <a:tblPr firstRow="1">
                <a:tableStyleId>{2A488322-F2BA-4B5B-9748-0D474271808F}</a:tableStyleId>
              </a:tblPr>
              <a:tblGrid>
                <a:gridCol w="2364547">
                  <a:extLst>
                    <a:ext uri="{9D8B030D-6E8A-4147-A177-3AD203B41FA5}">
                      <a16:colId xmlns:a16="http://schemas.microsoft.com/office/drawing/2014/main" val="1902117154"/>
                    </a:ext>
                  </a:extLst>
                </a:gridCol>
                <a:gridCol w="4372493">
                  <a:extLst>
                    <a:ext uri="{9D8B030D-6E8A-4147-A177-3AD203B41FA5}">
                      <a16:colId xmlns:a16="http://schemas.microsoft.com/office/drawing/2014/main" val="1904521774"/>
                    </a:ext>
                  </a:extLst>
                </a:gridCol>
              </a:tblGrid>
              <a:tr h="272122">
                <a:tc gridSpan="2">
                  <a:txBody>
                    <a:bodyPr/>
                    <a:lstStyle/>
                    <a:p>
                      <a:pPr algn="l"/>
                      <a:r>
                        <a:rPr lang="da-DK" sz="975" b="1" kern="1200" spc="-10" noProof="0">
                          <a:solidFill>
                            <a:schemeClr val="tx2"/>
                          </a:solidFill>
                          <a:latin typeface="+mn-lt"/>
                          <a:ea typeface="+mn-ea"/>
                          <a:cs typeface="+mn-cs"/>
                        </a:rPr>
                        <a:t xml:space="preserve">Er der for virksomhedens </a:t>
                      </a:r>
                      <a:r>
                        <a:rPr lang="da-DK" sz="975" b="1" u="sng" kern="1200" spc="-10" noProof="0">
                          <a:solidFill>
                            <a:schemeClr val="tx2"/>
                          </a:solidFill>
                          <a:latin typeface="+mn-lt"/>
                          <a:ea typeface="+mn-ea"/>
                          <a:cs typeface="+mn-cs"/>
                        </a:rPr>
                        <a:t xml:space="preserve">egen arbejdsstyrke</a:t>
                      </a:r>
                      <a:r>
                        <a:rPr lang="da-DK" sz="975" b="1" u="none" kern="1200" spc="-10" noProof="0">
                          <a:solidFill>
                            <a:schemeClr val="tx2"/>
                          </a:solidFill>
                          <a:latin typeface="+mn-lt"/>
                          <a:ea typeface="+mn-ea"/>
                          <a:cs typeface="+mn-cs"/>
                        </a:rPr>
                        <a:t xml:space="preserve"> </a:t>
                      </a:r>
                      <a:r>
                        <a:rPr lang="da-DK" sz="975" b="1" kern="1200" spc="-10" noProof="0">
                          <a:solidFill>
                            <a:schemeClr val="tx2"/>
                          </a:solidFill>
                          <a:latin typeface="+mn-lt"/>
                          <a:ea typeface="+mn-ea"/>
                          <a:cs typeface="+mn-cs"/>
                        </a:rPr>
                        <a:t xml:space="preserve">bekræftede negative hændelser, der relaterer sig til nedenstående </a:t>
                      </a:r>
                      <a:r>
                        <a:rPr lang="da-DK" sz="975" b="0" kern="1200" spc="-10" noProof="0">
                          <a:solidFill>
                            <a:schemeClr val="tx2"/>
                          </a:solidFill>
                          <a:latin typeface="+mn-lt"/>
                          <a:ea typeface="+mn-ea"/>
                          <a:cs typeface="+mn-cs"/>
                        </a:rPr>
                        <a:t xml:space="preserve">(pkt. 62a-b)</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pPr algn="l"/>
                      <a:endParaRPr lang="da-DK" sz="725" b="1" kern="1200" spc="-10" noProof="0">
                        <a:solidFill>
                          <a:schemeClr val="tx2"/>
                        </a:solidFill>
                        <a:latin typeface="+mn-lt"/>
                        <a:ea typeface="+mn-ea"/>
                        <a:cs typeface="+mn-cs"/>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extLst>
                  <a:ext uri="{0D108BD9-81ED-4DB2-BD59-A6C34878D82A}">
                    <a16:rowId xmlns:a16="http://schemas.microsoft.com/office/drawing/2014/main" val="3642311251"/>
                  </a:ext>
                </a:extLst>
              </a:tr>
              <a:tr h="487671">
                <a:tc>
                  <a:txBody>
                    <a:bodyPr/>
                    <a:lstStyle/>
                    <a:p>
                      <a:pPr algn="l"/>
                      <a:r>
                        <a:rPr lang="da-DK" sz="975" b="1" kern="1200" spc="-10" noProof="0">
                          <a:solidFill>
                            <a:schemeClr val="tx2"/>
                          </a:solidFill>
                          <a:latin typeface="+mn-lt"/>
                          <a:ea typeface="+mn-ea"/>
                          <a:cs typeface="+mn-cs"/>
                        </a:rPr>
                        <a:t xml:space="preserve">Børnearbejde</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lvl="0" algn="l">
                        <a:lnSpc>
                          <a:spcPct val="100000"/>
                        </a:lnSpc>
                        <a:spcBef>
                          <a:spcPts val="0"/>
                        </a:spcBef>
                        <a:spcAft>
                          <a:spcPts val="0"/>
                        </a:spcAft>
                        <a:buNone/>
                      </a:pPr>
                      <a:r>
                        <a:rPr lang="da-DK" sz="975" b="0" i="0" u="none" strike="noStrike" noProof="0">
                          <a:solidFill>
                            <a:srgbClr val="1B4528"/>
                          </a:solidFill>
                        </a:rPr>
                        <a:t>{{child_labour_yes?}}</a:t>
                      </a:r>
                      <a:endParaRPr lang="da-DK"/>
                    </a:p>
                    <a:p>
                      <a:pPr lvl="0" algn="l">
                        <a:lnSpc>
                          <a:spcPct val="100000"/>
                        </a:lnSpc>
                        <a:spcBef>
                          <a:spcPts val="0"/>
                        </a:spcBef>
                        <a:spcAft>
                          <a:spcPts val="0"/>
                        </a:spcAft>
                        <a:buNone/>
                      </a:pPr>
                      <a:r>
                        <a:rPr lang="da-DK" sz="975" b="0" i="0" u="none" strike="noStrike" noProof="0">
                          <a:solidFill>
                            <a:srgbClr val="1B4528"/>
                          </a:solidFill>
                        </a:rPr>
                        <a:t>{{child_labour_desc}}</a:t>
                      </a:r>
                      <a:endParaRPr lang="da-DK"/>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80349995"/>
                  </a:ext>
                </a:extLst>
              </a:tr>
              <a:tr h="487671">
                <a:tc>
                  <a:txBody>
                    <a:bodyPr/>
                    <a:lstStyle/>
                    <a:p>
                      <a:pPr algn="l"/>
                      <a:r>
                        <a:rPr lang="da-DK" sz="975" b="1" kern="1200" spc="-10" noProof="0">
                          <a:solidFill>
                            <a:schemeClr val="tx2"/>
                          </a:solidFill>
                          <a:latin typeface="+mn-lt"/>
                          <a:ea typeface="+mn-ea"/>
                          <a:cs typeface="+mn-cs"/>
                        </a:rPr>
                        <a:t xml:space="preserve">Tvangsarbejde</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lvl="0" algn="l">
                        <a:lnSpc>
                          <a:spcPct val="100000"/>
                        </a:lnSpc>
                        <a:spcBef>
                          <a:spcPts val="0"/>
                        </a:spcBef>
                        <a:spcAft>
                          <a:spcPts val="0"/>
                        </a:spcAft>
                        <a:buNone/>
                      </a:pPr>
                      <a:r>
                        <a:rPr lang="da-DK" sz="975" b="0" i="0" u="none" strike="noStrike" noProof="0">
                          <a:solidFill>
                            <a:srgbClr val="1B4528"/>
                          </a:solidFill>
                        </a:rPr>
                        <a:t>{{forced_labour_yes?}}</a:t>
                      </a:r>
                      <a:endParaRPr lang="da-DK"/>
                    </a:p>
                    <a:p>
                      <a:pPr lvl="0" algn="l" defTabSz="914400">
                        <a:lnSpc>
                          <a:spcPct val="100000"/>
                        </a:lnSpc>
                        <a:spcBef>
                          <a:spcPts val="0"/>
                        </a:spcBef>
                        <a:spcAft>
                          <a:spcPts val="0"/>
                        </a:spcAft>
                        <a:buNone/>
                        <a:tabLst/>
                        <a:defRPr/>
                      </a:pPr>
                      <a:r>
                        <a:rPr lang="da-DK" sz="975" b="0" i="0" u="none" strike="noStrike" noProof="0">
                          <a:solidFill>
                            <a:srgbClr val="1B4528"/>
                          </a:solidFill>
                        </a:rPr>
                        <a:t>{{forced_labour_desc}}</a:t>
                      </a:r>
                      <a:endParaRPr lang="da-DK"/>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940256071"/>
                  </a:ext>
                </a:extLst>
              </a:tr>
              <a:tr h="487671">
                <a:tc>
                  <a:txBody>
                    <a:bodyPr/>
                    <a:lstStyle/>
                    <a:p>
                      <a:pPr algn="l"/>
                      <a:r>
                        <a:rPr lang="da-DK" sz="975" b="1" kern="1200" spc="-10" noProof="0">
                          <a:solidFill>
                            <a:schemeClr val="tx2"/>
                          </a:solidFill>
                          <a:latin typeface="+mn-lt"/>
                          <a:ea typeface="+mn-ea"/>
                          <a:cs typeface="+mn-cs"/>
                        </a:rPr>
                        <a:t xml:space="preserve">Menneskehandel</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lvl="0" algn="l">
                        <a:lnSpc>
                          <a:spcPct val="100000"/>
                        </a:lnSpc>
                        <a:spcBef>
                          <a:spcPts val="0"/>
                        </a:spcBef>
                        <a:spcAft>
                          <a:spcPts val="0"/>
                        </a:spcAft>
                        <a:buNone/>
                      </a:pPr>
                      <a:r>
                        <a:rPr lang="da-DK" sz="975" b="0" i="0" u="none" strike="noStrike" noProof="0">
                          <a:solidFill>
                            <a:srgbClr val="1B4528"/>
                          </a:solidFill>
                        </a:rPr>
                        <a:t>{{human_trafficking_yes?}}</a:t>
                      </a:r>
                      <a:endParaRPr lang="da-DK"/>
                    </a:p>
                    <a:p>
                      <a:pPr lvl="0" algn="l" defTabSz="914400">
                        <a:lnSpc>
                          <a:spcPct val="100000"/>
                        </a:lnSpc>
                        <a:spcBef>
                          <a:spcPts val="0"/>
                        </a:spcBef>
                        <a:spcAft>
                          <a:spcPts val="0"/>
                        </a:spcAft>
                        <a:buNone/>
                        <a:tabLst/>
                        <a:defRPr/>
                      </a:pPr>
                      <a:r>
                        <a:rPr lang="da-DK" sz="975" b="0" i="0" u="none" strike="noStrike" noProof="0">
                          <a:solidFill>
                            <a:srgbClr val="1B4528"/>
                          </a:solidFill>
                        </a:rPr>
                        <a:t>{{human_trafficking_desc}}</a:t>
                      </a:r>
                      <a:endParaRPr lang="da-DK"/>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2442156864"/>
                  </a:ext>
                </a:extLst>
              </a:tr>
              <a:tr h="487671">
                <a:tc>
                  <a:txBody>
                    <a:bodyPr/>
                    <a:lstStyle/>
                    <a:p>
                      <a:pPr algn="l"/>
                      <a:r>
                        <a:rPr lang="da-DK" sz="975" b="1" kern="1200" spc="-10" noProof="0">
                          <a:solidFill>
                            <a:schemeClr val="tx2"/>
                          </a:solidFill>
                          <a:latin typeface="+mn-lt"/>
                          <a:ea typeface="+mn-ea"/>
                          <a:cs typeface="+mn-cs"/>
                        </a:rPr>
                        <a:t xml:space="preserve">Diskrimination</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lvl="0" algn="l">
                        <a:lnSpc>
                          <a:spcPct val="100000"/>
                        </a:lnSpc>
                        <a:spcBef>
                          <a:spcPts val="0"/>
                        </a:spcBef>
                        <a:spcAft>
                          <a:spcPts val="0"/>
                        </a:spcAft>
                        <a:buNone/>
                      </a:pPr>
                      <a:r>
                        <a:rPr lang="da-DK" sz="975" b="0" i="0" u="none" strike="noStrike" noProof="0">
                          <a:solidFill>
                            <a:srgbClr val="1B4528"/>
                          </a:solidFill>
                        </a:rPr>
                        <a:t>{{discrimination_yes?}}</a:t>
                      </a:r>
                      <a:endParaRPr lang="da-DK"/>
                    </a:p>
                    <a:p>
                      <a:pPr lvl="0" algn="l" defTabSz="914400">
                        <a:lnSpc>
                          <a:spcPct val="100000"/>
                        </a:lnSpc>
                        <a:spcBef>
                          <a:spcPts val="0"/>
                        </a:spcBef>
                        <a:spcAft>
                          <a:spcPts val="0"/>
                        </a:spcAft>
                        <a:buNone/>
                        <a:tabLst/>
                        <a:defRPr/>
                      </a:pPr>
                      <a:r>
                        <a:rPr lang="da-DK" sz="975" b="0" i="0" u="none" strike="noStrike" noProof="0">
                          <a:solidFill>
                            <a:srgbClr val="1B4528"/>
                          </a:solidFill>
                        </a:rPr>
                        <a:t>{{discrimination_desc}}</a:t>
                      </a:r>
                      <a:endParaRPr lang="da-DK"/>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2197746340"/>
                  </a:ext>
                </a:extLst>
              </a:tr>
              <a:tr h="343972">
                <a:tc>
                  <a:txBody>
                    <a:bodyPr/>
                    <a:lstStyle/>
                    <a:p>
                      <a:pPr lvl="0" algn="l">
                        <a:buNone/>
                      </a:pPr>
                      <a:r>
                        <a:rPr lang="da-DK" sz="975" b="1" kern="1200" spc="-10" noProof="0">
                          <a:solidFill>
                            <a:schemeClr val="tx2"/>
                          </a:solidFill>
                          <a:latin typeface="+mn-lt"/>
                          <a:ea typeface="+mn-ea"/>
                          <a:cs typeface="+mn-cs"/>
                        </a:rPr>
                        <a:t xml:space="preserve">Andet </a:t>
                      </a:r>
                      <a:endParaRPr lang="da-DK" b="1">
                        <a:latin typeface="+mn-lt"/>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lvl="0" algn="l">
                        <a:lnSpc>
                          <a:spcPct val="100000"/>
                        </a:lnSpc>
                        <a:spcBef>
                          <a:spcPts val="0"/>
                        </a:spcBef>
                        <a:spcAft>
                          <a:spcPts val="0"/>
                        </a:spcAft>
                        <a:buNone/>
                      </a:pPr>
                      <a:r>
                        <a:rPr lang="da-DK" sz="975" b="0" i="0" u="none" strike="noStrike" noProof="0">
                          <a:solidFill>
                            <a:srgbClr val="1B4528"/>
                          </a:solidFill>
                          <a:latin typeface="IBM Plex Sans"/>
                          <a:cs typeface="Calibri"/>
                        </a:rPr>
                        <a:t>{{other</a:t>
                      </a:r>
                      <a:r>
                        <a:rPr lang="da-DK" sz="975" b="0" i="0" u="none" strike="noStrike" noProof="0">
                          <a:solidFill>
                            <a:srgbClr val="1B4528"/>
                          </a:solidFill>
                          <a:latin typeface="IBM Plex Sans"/>
                        </a:rPr>
                        <a:t>_yes?}}</a:t>
                      </a:r>
                      <a:endParaRPr lang="da-DK" sz="975" b="0" i="0" u="none" strike="noStrike" noProof="0">
                        <a:solidFill>
                          <a:srgbClr val="000000"/>
                        </a:solidFill>
                        <a:latin typeface="IBM Plex Sans"/>
                      </a:endParaRPr>
                    </a:p>
                    <a:p>
                      <a:pPr lvl="0" algn="l" defTabSz="914400">
                        <a:lnSpc>
                          <a:spcPct val="100000"/>
                        </a:lnSpc>
                        <a:spcBef>
                          <a:spcPts val="0"/>
                        </a:spcBef>
                        <a:spcAft>
                          <a:spcPts val="0"/>
                        </a:spcAft>
                        <a:buNone/>
                        <a:tabLst/>
                        <a:defRPr/>
                      </a:pPr>
                      <a:r>
                        <a:rPr lang="da-DK" sz="975" b="0" i="0" u="none" strike="noStrike" noProof="0">
                          <a:solidFill>
                            <a:srgbClr val="1B4528"/>
                          </a:solidFill>
                          <a:latin typeface="IBM Plex Sans"/>
                        </a:rPr>
                        <a:t>{{other_desc}}</a:t>
                      </a:r>
                      <a:endParaRPr lang="da-DK" sz="975" b="0" i="0" u="none" strike="noStrike" noProof="0">
                        <a:solidFill>
                          <a:srgbClr val="000000"/>
                        </a:solidFill>
                        <a:latin typeface="IBM Plex Sans"/>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942359221"/>
                  </a:ext>
                </a:extLst>
              </a:tr>
            </a:tbl>
          </a:graphicData>
        </a:graphic>
      </p:graphicFrame>
      <p:sp>
        <p:nvSpPr>
          <p:cNvPr id="14" name="Tekstfelt 13">
            <a:extLst>
              <a:ext uri="{FF2B5EF4-FFF2-40B4-BE49-F238E27FC236}">
                <a16:creationId xmlns:a16="http://schemas.microsoft.com/office/drawing/2014/main" id="{6621372E-99B2-9153-2F88-5157BF16DADB}"/>
              </a:ext>
            </a:extLst>
          </p:cNvPr>
          <p:cNvSpPr txBox="1"/>
          <p:nvPr/>
        </p:nvSpPr>
        <p:spPr>
          <a:xfrm>
            <a:off x="411480" y="1317755"/>
            <a:ext cx="6737040" cy="692470"/>
          </a:xfrm>
          <a:prstGeom prst="rect">
            <a:avLst/>
          </a:prstGeom>
          <a:noFill/>
        </p:spPr>
        <p:txBody>
          <a:bodyPr wrap="square">
            <a:spAutoFit/>
          </a:bodyPr>
          <a:lstStyle/>
          <a:p>
            <a:pPr rtl="0">
              <a:buNone/>
            </a:pPr>
            <a:r>
              <a:rPr lang="da-DK" sz="975" b="0" i="0" u="none" strike="noStrike" noProof="0">
                <a:solidFill>
                  <a:schemeClr val="tx2"/>
                </a:solidFill>
                <a:effectLst/>
                <a:latin typeface="Inter"/>
              </a:rPr>
              <a:t xml:space="preserve">De følgende oplysningskrav angiver, virksomhedens afrapportering på negative hændelser som relaterer sig til børnearbejde, tvangsarbejde, menneskehandel og diskrimination. Virksomhed angiver i dette afsnit om ovenstående relateret til egen arbejdsstyrke.</a:t>
            </a:r>
            <a:endParaRPr lang="da-DK" sz="975" b="0" noProof="0">
              <a:solidFill>
                <a:schemeClr val="tx2"/>
              </a:solidFill>
              <a:effectLst/>
              <a:latin typeface="Inter"/>
            </a:endParaRPr>
          </a:p>
          <a:p>
            <a:pPr>
              <a:buNone/>
            </a:pPr>
            <a:br>
              <a:rPr lang="da-DK" sz="975" noProof="0">
                <a:solidFill>
                  <a:schemeClr val="tx2"/>
                </a:solidFill>
                <a:latin typeface="Inter"/>
              </a:rPr>
            </a:br>
            <a:endParaRPr lang="da-DK" sz="975" noProof="0">
              <a:solidFill>
                <a:schemeClr val="tx2"/>
              </a:solidFill>
              <a:latin typeface="Inter"/>
            </a:endParaRPr>
          </a:p>
        </p:txBody>
      </p:sp>
      <p:sp>
        <p:nvSpPr>
          <p:cNvPr id="4" name="Title 2">
            <a:extLst>
              <a:ext uri="{FF2B5EF4-FFF2-40B4-BE49-F238E27FC236}">
                <a16:creationId xmlns:a16="http://schemas.microsoft.com/office/drawing/2014/main" id="{41F3A84E-89CC-12F3-053B-7720F7BEBDF4}"/>
              </a:ext>
            </a:extLst>
          </p:cNvPr>
          <p:cNvSpPr txBox="1">
            <a:spLocks/>
          </p:cNvSpPr>
          <p:nvPr/>
        </p:nvSpPr>
        <p:spPr>
          <a:xfrm>
            <a:off x="411480" y="5186632"/>
            <a:ext cx="6737040" cy="207741"/>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1475" b="1" kern="1200" spc="-10" baseline="0">
                <a:solidFill>
                  <a:schemeClr val="tx2"/>
                </a:solidFill>
                <a:latin typeface="+mj-lt"/>
                <a:ea typeface="+mj-ea"/>
                <a:cs typeface="+mj-cs"/>
              </a:defRPr>
            </a:lvl1pPr>
          </a:lstStyle>
          <a:p>
            <a:r>
              <a:rPr lang="da-DK">
                <a:solidFill>
                  <a:srgbClr val="1B4528"/>
                </a:solidFill>
                <a:latin typeface="+mn-lt"/>
                <a:ea typeface="+mn-ea"/>
                <a:cs typeface="+mn-cs"/>
              </a:rPr>
              <a:t xml:space="preserve">Alvorlige negative menneskerettighedshændelser (C7</a:t>
            </a:r>
            <a:r>
              <a:rPr lang="da-DK"/>
              <a:t xml:space="preserve">) – I værdikæden</a:t>
            </a:r>
          </a:p>
        </p:txBody>
      </p:sp>
      <p:graphicFrame>
        <p:nvGraphicFramePr>
          <p:cNvPr id="6" name="Table 2">
            <a:extLst>
              <a:ext uri="{FF2B5EF4-FFF2-40B4-BE49-F238E27FC236}">
                <a16:creationId xmlns:a16="http://schemas.microsoft.com/office/drawing/2014/main" id="{C2849829-EDEC-28FD-0347-B091216B259D}"/>
              </a:ext>
            </a:extLst>
          </p:cNvPr>
          <p:cNvGraphicFramePr>
            <a:graphicFrameLocks noGrp="1"/>
          </p:cNvGraphicFramePr>
          <p:nvPr>
            <p:extLst>
              <p:ext uri="{D42A27DB-BD31-4B8C-83A1-F6EECF244321}">
                <p14:modId xmlns:p14="http://schemas.microsoft.com/office/powerpoint/2010/main" val="445969331"/>
              </p:ext>
            </p:extLst>
          </p:nvPr>
        </p:nvGraphicFramePr>
        <p:xfrm>
          <a:off x="411480" y="6039725"/>
          <a:ext cx="6737040" cy="1658137"/>
        </p:xfrm>
        <a:graphic>
          <a:graphicData uri="http://schemas.openxmlformats.org/drawingml/2006/table">
            <a:tbl>
              <a:tblPr firstRow="1">
                <a:tableStyleId>{2A488322-F2BA-4B5B-9748-0D474271808F}</a:tableStyleId>
              </a:tblPr>
              <a:tblGrid>
                <a:gridCol w="1486246">
                  <a:extLst>
                    <a:ext uri="{9D8B030D-6E8A-4147-A177-3AD203B41FA5}">
                      <a16:colId xmlns:a16="http://schemas.microsoft.com/office/drawing/2014/main" val="1902117154"/>
                    </a:ext>
                  </a:extLst>
                </a:gridCol>
                <a:gridCol w="5250794">
                  <a:extLst>
                    <a:ext uri="{9D8B030D-6E8A-4147-A177-3AD203B41FA5}">
                      <a16:colId xmlns:a16="http://schemas.microsoft.com/office/drawing/2014/main" val="1904521774"/>
                    </a:ext>
                  </a:extLst>
                </a:gridCol>
              </a:tblGrid>
              <a:tr h="251982">
                <a:tc gridSpan="2">
                  <a:txBody>
                    <a:bodyPr/>
                    <a:lstStyle/>
                    <a:p>
                      <a:pPr algn="l"/>
                      <a:r>
                        <a:rPr lang="da-DK" sz="975" b="1" kern="1200" spc="-10" noProof="0">
                          <a:solidFill>
                            <a:schemeClr val="tx2"/>
                          </a:solidFill>
                          <a:latin typeface="+mn-lt"/>
                          <a:ea typeface="+mn-ea"/>
                          <a:cs typeface="+mn-cs"/>
                        </a:rPr>
                        <a:t xml:space="preserve">Er virksomheden bekendt med bekræftede negative menneskerettighedshændelser i </a:t>
                      </a:r>
                      <a:r>
                        <a:rPr lang="da-DK" sz="975" b="1" kern="1200" noProof="0">
                          <a:solidFill>
                            <a:srgbClr val="1B4528"/>
                          </a:solidFill>
                          <a:latin typeface="+mn-lt"/>
                          <a:ea typeface="+mn-ea"/>
                          <a:cs typeface="+mn-cs"/>
                        </a:rPr>
                        <a:t>{{company_name}}’s</a:t>
                      </a:r>
                      <a:r>
                        <a:rPr lang="da-DK" sz="975" b="1" kern="1200" noProof="0">
                          <a:solidFill>
                            <a:schemeClr val="tx2"/>
                          </a:solidFill>
                          <a:latin typeface="+mn-lt"/>
                          <a:ea typeface="+mn-ea"/>
                          <a:cs typeface="+mn-cs"/>
                        </a:rPr>
                        <a:t> </a:t>
                      </a:r>
                      <a:r>
                        <a:rPr lang="da-DK" sz="975" b="1" kern="1200" spc="-10" noProof="0">
                          <a:solidFill>
                            <a:schemeClr val="tx2"/>
                          </a:solidFill>
                          <a:latin typeface="+mn-lt"/>
                          <a:ea typeface="+mn-ea"/>
                          <a:cs typeface="+mn-cs"/>
                        </a:rPr>
                        <a:t xml:space="preserve">værdikæde </a:t>
                      </a:r>
                      <a:r>
                        <a:rPr lang="da-DK" sz="975" b="0" kern="1200" spc="-10" noProof="0">
                          <a:solidFill>
                            <a:schemeClr val="tx2"/>
                          </a:solidFill>
                          <a:latin typeface="+mn-lt"/>
                          <a:ea typeface="+mn-ea"/>
                          <a:cs typeface="+mn-cs"/>
                        </a:rPr>
                        <a:t xml:space="preserve">(pkt. 62c)</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pPr algn="l"/>
                      <a:endParaRPr lang="da-DK" sz="725" b="1" kern="1200" spc="-10" noProof="0">
                        <a:solidFill>
                          <a:schemeClr val="tx2"/>
                        </a:solidFill>
                        <a:latin typeface="+mn-lt"/>
                        <a:ea typeface="+mn-ea"/>
                        <a:cs typeface="+mn-cs"/>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extLst>
                  <a:ext uri="{0D108BD9-81ED-4DB2-BD59-A6C34878D82A}">
                    <a16:rowId xmlns:a16="http://schemas.microsoft.com/office/drawing/2014/main" val="3642311251"/>
                  </a:ext>
                </a:extLst>
              </a:tr>
              <a:tr h="433653">
                <a:tc>
                  <a:txBody>
                    <a:bodyPr/>
                    <a:lstStyle/>
                    <a:p>
                      <a:pPr algn="l"/>
                      <a:r>
                        <a:rPr lang="da-DK" sz="975" b="1" kern="1200" spc="-10" noProof="0">
                          <a:solidFill>
                            <a:schemeClr val="tx2"/>
                          </a:solidFill>
                          <a:latin typeface="+mn-lt"/>
                          <a:ea typeface="+mn-ea"/>
                          <a:cs typeface="+mn-cs"/>
                        </a:rPr>
                        <a:t xml:space="preserve">Arbejdere i værdikæden</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ctr" algn="l">
                        <a:buNone/>
                      </a:pPr>
                      <a:r>
                        <a:rPr lang="da-DK" sz="975" b="0" i="0" u="none" strike="noStrike" noProof="0">
                          <a:solidFill>
                            <a:srgbClr val="1B4528"/>
                          </a:solidFill>
                          <a:effectLst/>
                          <a:latin typeface="Inter"/>
                        </a:rPr>
                        <a:t>{{incidents_workers_value_chain}}</a:t>
                      </a:r>
                      <a:endParaRPr lang="da-DK" sz="975" noProof="0">
                        <a:solidFill>
                          <a:srgbClr val="1B4528"/>
                        </a:solidFill>
                        <a:latin typeface="+mn-lt"/>
                        <a:cs typeface="Calibri"/>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80349995"/>
                  </a:ext>
                </a:extLst>
              </a:tr>
              <a:tr h="433653">
                <a:tc>
                  <a:txBody>
                    <a:bodyPr/>
                    <a:lstStyle/>
                    <a:p>
                      <a:pPr algn="l"/>
                      <a:r>
                        <a:rPr lang="da-DK" sz="975" b="1" kern="1200" spc="-10" noProof="0">
                          <a:solidFill>
                            <a:schemeClr val="tx2"/>
                          </a:solidFill>
                          <a:latin typeface="+mn-lt"/>
                          <a:ea typeface="+mn-ea"/>
                          <a:cs typeface="+mn-cs"/>
                        </a:rPr>
                        <a:t xml:space="preserve">Berørte samfund</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ctr" algn="l">
                        <a:buNone/>
                      </a:pPr>
                      <a:r>
                        <a:rPr lang="da-DK" sz="975" b="0" i="0" u="none" strike="noStrike" noProof="0">
                          <a:solidFill>
                            <a:srgbClr val="1B4528"/>
                          </a:solidFill>
                          <a:effectLst/>
                          <a:latin typeface="Inter"/>
                        </a:rPr>
                        <a:t>{{incidents_affected_communities}}</a:t>
                      </a:r>
                      <a:endParaRPr lang="da-DK" sz="975" kern="1200" noProof="0">
                        <a:solidFill>
                          <a:srgbClr val="1B4528"/>
                        </a:solidFill>
                        <a:latin typeface="+mn-lt"/>
                        <a:ea typeface="+mn-ea"/>
                        <a:cs typeface="Calibri"/>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940256071"/>
                  </a:ext>
                </a:extLst>
              </a:tr>
              <a:tr h="433653">
                <a:tc>
                  <a:txBody>
                    <a:bodyPr/>
                    <a:lstStyle/>
                    <a:p>
                      <a:pPr algn="l"/>
                      <a:r>
                        <a:rPr lang="da-DK" sz="975" b="1" kern="1200" spc="-10" noProof="0">
                          <a:solidFill>
                            <a:schemeClr val="tx2"/>
                          </a:solidFill>
                          <a:latin typeface="+mn-lt"/>
                          <a:ea typeface="+mn-ea"/>
                          <a:cs typeface="+mn-cs"/>
                        </a:rPr>
                        <a:t xml:space="preserve">Forbrugere og slutbrugere</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ctr" algn="l">
                        <a:buNone/>
                      </a:pPr>
                      <a:r>
                        <a:rPr lang="da-DK" sz="975" b="0" i="0" u="none" strike="noStrike" noProof="0">
                          <a:solidFill>
                            <a:srgbClr val="1B4528"/>
                          </a:solidFill>
                          <a:effectLst/>
                          <a:latin typeface="Inter"/>
                        </a:rPr>
                        <a:t>{{</a:t>
                      </a:r>
                      <a:r>
                        <a:rPr lang="da-DK" sz="975" b="0" i="0" u="none" strike="noStrike" noProof="0">
                          <a:solidFill>
                            <a:srgbClr val="1B4528"/>
                          </a:solidFill>
                          <a:effectLst/>
                          <a:latin typeface="Inter"/>
                        </a:rPr>
                        <a:t>incidents_consumers</a:t>
                      </a:r>
                      <a:r>
                        <a:rPr lang="da-DK" sz="975" b="0" i="0" u="none" strike="noStrike" noProof="0">
                          <a:solidFill>
                            <a:srgbClr val="1B4528"/>
                          </a:solidFill>
                          <a:effectLst/>
                          <a:latin typeface="Inter"/>
                        </a:rPr>
                        <a:t>}}</a:t>
                      </a:r>
                      <a:endParaRPr lang="da-DK" sz="975" b="0" noProof="0" dirty="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414495947"/>
                  </a:ext>
                </a:extLst>
              </a:tr>
            </a:tbl>
          </a:graphicData>
        </a:graphic>
      </p:graphicFrame>
      <p:sp>
        <p:nvSpPr>
          <p:cNvPr id="7" name="Tekstfelt 6">
            <a:extLst>
              <a:ext uri="{FF2B5EF4-FFF2-40B4-BE49-F238E27FC236}">
                <a16:creationId xmlns:a16="http://schemas.microsoft.com/office/drawing/2014/main" id="{D86CEC8F-33AD-EB43-97CC-8C565BD2D1E9}"/>
              </a:ext>
            </a:extLst>
          </p:cNvPr>
          <p:cNvSpPr txBox="1"/>
          <p:nvPr/>
        </p:nvSpPr>
        <p:spPr>
          <a:xfrm>
            <a:off x="411480" y="5538666"/>
            <a:ext cx="6737040" cy="230823"/>
          </a:xfrm>
          <a:prstGeom prst="rect">
            <a:avLst/>
          </a:prstGeom>
          <a:noFill/>
        </p:spPr>
        <p:txBody>
          <a:bodyPr wrap="square">
            <a:spAutoFit/>
          </a:bodyPr>
          <a:lstStyle/>
          <a:p>
            <a:pPr>
              <a:spcBef>
                <a:spcPts val="750"/>
              </a:spcBef>
            </a:pPr>
            <a:r>
              <a:rPr lang="da-DK" sz="975" b="0" i="0" u="none" strike="noStrike" noProof="0">
                <a:solidFill>
                  <a:schemeClr val="tx2"/>
                </a:solidFill>
                <a:effectLst/>
                <a:latin typeface="Inter"/>
              </a:rPr>
              <a:t xml:space="preserve">Nedenfor er </a:t>
            </a:r>
            <a:r>
              <a:rPr lang="da-DK" sz="975" noProof="0">
                <a:solidFill>
                  <a:schemeClr val="tx2"/>
                </a:solidFill>
                <a:latin typeface="Inter"/>
              </a:rPr>
              <a:t xml:space="preserve">angivet information om </a:t>
            </a:r>
            <a:r>
              <a:rPr lang="da-DK" sz="975" b="0" i="0" u="none" strike="noStrike" noProof="0">
                <a:solidFill>
                  <a:schemeClr val="tx2"/>
                </a:solidFill>
                <a:effectLst/>
                <a:latin typeface="Inter"/>
              </a:rPr>
              <a:t xml:space="preserve">virksomhedens kendskab til bekræftede negative menneskerettighedshændelser i virksomhedens værdikæde.</a:t>
            </a:r>
          </a:p>
        </p:txBody>
      </p:sp>
    </p:spTree>
    <p:extLst>
      <p:ext uri="{BB962C8B-B14F-4D97-AF65-F5344CB8AC3E}">
        <p14:creationId xmlns:p14="http://schemas.microsoft.com/office/powerpoint/2010/main" val="370506833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C62860-972E-E884-9828-460A25BDCE9F}"/>
              </a:ext>
            </a:extLst>
          </p:cNvPr>
          <p:cNvSpPr>
            <a:spLocks noGrp="1"/>
          </p:cNvSpPr>
          <p:nvPr>
            <p:ph type="title"/>
          </p:nvPr>
        </p:nvSpPr>
        <p:spPr>
          <a:xfrm>
            <a:off x="411480" y="788246"/>
            <a:ext cx="6737040" cy="207741"/>
          </a:xfrm>
        </p:spPr>
        <p:txBody>
          <a:bodyPr/>
          <a:lstStyle/>
          <a:p>
            <a:r>
              <a:rPr lang="da-DK" sz="1475" b="1" i="0" u="none" strike="noStrike" kern="1200" spc="-10" noProof="0">
                <a:solidFill>
                  <a:srgbClr val="1B4528"/>
                </a:solidFill>
              </a:rPr>
              <a:t xml:space="preserve">Indtægter fra bestemte aktiviteter (C8)</a:t>
            </a:r>
            <a:endParaRPr lang="da-DK" noProof="0"/>
          </a:p>
        </p:txBody>
      </p:sp>
      <p:sp>
        <p:nvSpPr>
          <p:cNvPr id="2" name="Slide Number Placeholder 1">
            <a:extLst>
              <a:ext uri="{FF2B5EF4-FFF2-40B4-BE49-F238E27FC236}">
                <a16:creationId xmlns:a16="http://schemas.microsoft.com/office/drawing/2014/main" id="{F72C860F-3613-E98B-42C7-204BDA28A1F2}"/>
              </a:ext>
              <a:ext uri="{C183D7F6-B498-43B3-948B-1728B52AA6E4}">
                <adec:decorative xmlns:adec="http://schemas.microsoft.com/office/drawing/2017/decorative" val="1"/>
              </a:ext>
            </a:extLst>
          </p:cNvPr>
          <p:cNvSpPr>
            <a:spLocks noGrp="1"/>
          </p:cNvSpPr>
          <p:nvPr>
            <p:ph type="sldNum" sz="quarter" idx="12"/>
          </p:nvPr>
        </p:nvSpPr>
        <p:spPr/>
        <p:txBody>
          <a:bodyPr/>
          <a:lstStyle/>
          <a:p>
            <a:fld id="{5A0D23CF-C5A3-5445-819D-C647D180BB4B}" type="slidenum">
              <a:rPr lang="da-DK" noProof="0" smtClean="0"/>
              <a:pPr/>
              <a:t>18</a:t>
            </a:fld>
            <a:endParaRPr lang="da-DK" noProof="0"/>
          </a:p>
        </p:txBody>
      </p:sp>
      <p:sp>
        <p:nvSpPr>
          <p:cNvPr id="5" name="Footer Placeholder 4">
            <a:extLst>
              <a:ext uri="{FF2B5EF4-FFF2-40B4-BE49-F238E27FC236}">
                <a16:creationId xmlns:a16="http://schemas.microsoft.com/office/drawing/2014/main" id="{340F24C5-33C0-4C2D-8193-33A504950FC4}"/>
              </a:ext>
              <a:ext uri="{C183D7F6-B498-43B3-948B-1728B52AA6E4}">
                <adec:decorative xmlns:adec="http://schemas.microsoft.com/office/drawing/2017/decorative" val="1"/>
              </a:ext>
            </a:extLst>
          </p:cNvPr>
          <p:cNvSpPr>
            <a:spLocks noGrp="1"/>
          </p:cNvSpPr>
          <p:nvPr>
            <p:ph type="ftr" sz="quarter" idx="11"/>
          </p:nvPr>
        </p:nvSpPr>
        <p:spPr/>
        <p:txBody>
          <a:bodyPr/>
          <a:lstStyle/>
          <a:p>
            <a:r>
              <a:rPr lang="da-DK" noProof="0"/>
              <a:t>{{company_name}}</a:t>
            </a:r>
            <a:endParaRPr lang="da-DK" b="0" noProof="0"/>
          </a:p>
          <a:p>
            <a:endParaRPr lang="da-DK" noProof="0"/>
          </a:p>
        </p:txBody>
      </p:sp>
      <p:graphicFrame>
        <p:nvGraphicFramePr>
          <p:cNvPr id="11" name="Table 2">
            <a:extLst>
              <a:ext uri="{FF2B5EF4-FFF2-40B4-BE49-F238E27FC236}">
                <a16:creationId xmlns:a16="http://schemas.microsoft.com/office/drawing/2014/main" id="{A420AFF6-414E-4EC8-A668-F0BFECC8260A}"/>
              </a:ext>
            </a:extLst>
          </p:cNvPr>
          <p:cNvGraphicFramePr>
            <a:graphicFrameLocks noGrp="1"/>
          </p:cNvGraphicFramePr>
          <p:nvPr>
            <p:extLst>
              <p:ext uri="{D42A27DB-BD31-4B8C-83A1-F6EECF244321}">
                <p14:modId xmlns:p14="http://schemas.microsoft.com/office/powerpoint/2010/main" val="1075469184"/>
              </p:ext>
            </p:extLst>
          </p:nvPr>
        </p:nvGraphicFramePr>
        <p:xfrm>
          <a:off x="411480" y="1792933"/>
          <a:ext cx="6737040" cy="2504114"/>
        </p:xfrm>
        <a:graphic>
          <a:graphicData uri="http://schemas.openxmlformats.org/drawingml/2006/table">
            <a:tbl>
              <a:tblPr firstRow="1">
                <a:tableStyleId>{2A488322-F2BA-4B5B-9748-0D474271808F}</a:tableStyleId>
              </a:tblPr>
              <a:tblGrid>
                <a:gridCol w="4617489">
                  <a:extLst>
                    <a:ext uri="{9D8B030D-6E8A-4147-A177-3AD203B41FA5}">
                      <a16:colId xmlns:a16="http://schemas.microsoft.com/office/drawing/2014/main" val="1902117154"/>
                    </a:ext>
                  </a:extLst>
                </a:gridCol>
                <a:gridCol w="2119551">
                  <a:extLst>
                    <a:ext uri="{9D8B030D-6E8A-4147-A177-3AD203B41FA5}">
                      <a16:colId xmlns:a16="http://schemas.microsoft.com/office/drawing/2014/main" val="1904521774"/>
                    </a:ext>
                  </a:extLst>
                </a:gridCol>
              </a:tblGrid>
              <a:tr h="286516">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da-DK" sz="975" b="1" kern="1200" spc="-10" noProof="0">
                          <a:solidFill>
                            <a:schemeClr val="tx2"/>
                          </a:solidFill>
                          <a:latin typeface="+mn-lt"/>
                          <a:ea typeface="+mn-ea"/>
                          <a:cs typeface="+mn-cs"/>
                        </a:rPr>
                        <a:t xml:space="preserve">Indtægter fra udvalgte sektorer</a:t>
                      </a:r>
                      <a:r>
                        <a:rPr lang="da-DK" sz="975" b="0" kern="1200" spc="-10" noProof="0">
                          <a:solidFill>
                            <a:schemeClr val="tx2"/>
                          </a:solidFill>
                          <a:latin typeface="+mn-lt"/>
                          <a:ea typeface="+mn-ea"/>
                          <a:cs typeface="+mn-cs"/>
                        </a:rPr>
                        <a:t xml:space="preserve"> (Pkt. 63 a-d)</a:t>
                      </a:r>
                    </a:p>
                    <a:p>
                      <a:pPr algn="l"/>
                      <a:endParaRPr lang="da-DK" sz="975" b="0" kern="1200" spc="-10" noProof="0">
                        <a:solidFill>
                          <a:schemeClr val="tx2"/>
                        </a:solidFill>
                        <a:latin typeface="+mn-lt"/>
                        <a:ea typeface="+mn-ea"/>
                        <a:cs typeface="+mn-cs"/>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da-DK" sz="725" noProof="0">
                        <a:solidFill>
                          <a:srgbClr val="1B4528"/>
                        </a:solidFill>
                        <a:latin typeface="+mn-lt"/>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extLst>
                  <a:ext uri="{0D108BD9-81ED-4DB2-BD59-A6C34878D82A}">
                    <a16:rowId xmlns:a16="http://schemas.microsoft.com/office/drawing/2014/main" val="1853461323"/>
                  </a:ext>
                </a:extLst>
              </a:tr>
              <a:tr h="286516">
                <a:tc>
                  <a:txBody>
                    <a:bodyPr/>
                    <a:lstStyle/>
                    <a:p>
                      <a:pPr algn="l"/>
                      <a:endParaRPr lang="da-DK" sz="975" b="0" kern="1200" spc="-10" noProof="0">
                        <a:solidFill>
                          <a:schemeClr val="tx2"/>
                        </a:solidFill>
                        <a:latin typeface="+mn-lt"/>
                        <a:ea typeface="+mn-ea"/>
                        <a:cs typeface="+mn-cs"/>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ctr">
                        <a:buNone/>
                      </a:pPr>
                      <a:r>
                        <a:rPr lang="da-DK" sz="975" b="1" i="0" u="none" strike="noStrike" noProof="0">
                          <a:solidFill>
                            <a:srgbClr val="1B4528"/>
                          </a:solidFill>
                          <a:effectLst/>
                          <a:latin typeface="IBM Plex Sans" panose="020B0503050203000203" pitchFamily="34" charset="0"/>
                        </a:rPr>
                        <a:t xml:space="preserve">Indtægt i år </a:t>
                      </a:r>
                      <a:r>
                        <a:rPr lang="da-DK" sz="975" b="1" i="0" u="none" strike="noStrike" noProof="0">
                          <a:solidFill>
                            <a:srgbClr val="1B4528"/>
                          </a:solidFill>
                          <a:effectLst/>
                          <a:latin typeface="Inter"/>
                        </a:rPr>
                        <a:t>{{Insert year}}</a:t>
                      </a:r>
                      <a:endParaRPr lang="da-DK" sz="975" noProof="0">
                        <a:effectLst/>
                      </a:endParaRPr>
                    </a:p>
                  </a:txBody>
                  <a:tcPr marL="31749" marR="31749" marT="21166" marB="2116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extLst>
                  <a:ext uri="{0D108BD9-81ED-4DB2-BD59-A6C34878D82A}">
                    <a16:rowId xmlns:a16="http://schemas.microsoft.com/office/drawing/2014/main" val="2680761105"/>
                  </a:ext>
                </a:extLst>
              </a:tr>
              <a:tr h="286516">
                <a:tc>
                  <a:txBody>
                    <a:bodyPr/>
                    <a:lstStyle/>
                    <a:p>
                      <a:pPr algn="l"/>
                      <a:r>
                        <a:rPr lang="da-DK" sz="975" b="1" kern="1200" spc="-10" noProof="0">
                          <a:solidFill>
                            <a:schemeClr val="tx2"/>
                          </a:solidFill>
                          <a:latin typeface="+mn-lt"/>
                          <a:ea typeface="+mn-ea"/>
                          <a:cs typeface="+mn-cs"/>
                        </a:rPr>
                        <a:t xml:space="preserve">Kontroversielle våben (personelminer, klyngebomber, kemiske våben og biologiske våben)</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r" rtl="0" fontAlgn="ctr">
                        <a:buNone/>
                      </a:pPr>
                      <a:r>
                        <a:rPr lang="da-DK" sz="975" b="0" i="0" u="none" strike="noStrike" noProof="0">
                          <a:solidFill>
                            <a:srgbClr val="1B4528"/>
                          </a:solidFill>
                          <a:effectLst/>
                          <a:latin typeface="Inter"/>
                        </a:rPr>
                        <a:t>{{revenue_weapons}}</a:t>
                      </a:r>
                      <a:endParaRPr lang="da-DK" sz="975"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80349995"/>
                  </a:ext>
                </a:extLst>
              </a:tr>
              <a:tr h="286516">
                <a:tc>
                  <a:txBody>
                    <a:bodyPr/>
                    <a:lstStyle/>
                    <a:p>
                      <a:pPr algn="l"/>
                      <a:r>
                        <a:rPr lang="da-DK" sz="975" b="1" kern="1200" spc="-10" noProof="0">
                          <a:solidFill>
                            <a:schemeClr val="tx2"/>
                          </a:solidFill>
                          <a:latin typeface="+mn-lt"/>
                          <a:ea typeface="+mn-ea"/>
                          <a:cs typeface="+mn-cs"/>
                        </a:rPr>
                        <a:t xml:space="preserve">Dyrkning og/eller produktion af tobak</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r" rtl="0" fontAlgn="ctr">
                        <a:buNone/>
                      </a:pPr>
                      <a:r>
                        <a:rPr lang="da-DK" sz="975" b="0" i="0" u="none" strike="noStrike" noProof="0">
                          <a:solidFill>
                            <a:srgbClr val="1B4528"/>
                          </a:solidFill>
                          <a:effectLst/>
                          <a:latin typeface="Inter"/>
                        </a:rPr>
                        <a:t>{{revenue_cultivation}}</a:t>
                      </a:r>
                      <a:endParaRPr lang="da-DK" sz="975"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940256071"/>
                  </a:ext>
                </a:extLst>
              </a:tr>
              <a:tr h="286516">
                <a:tc>
                  <a:txBody>
                    <a:bodyPr/>
                    <a:lstStyle/>
                    <a:p>
                      <a:pPr algn="l"/>
                      <a:r>
                        <a:rPr lang="da-DK" sz="975" b="1" kern="1200" spc="-10" noProof="0">
                          <a:solidFill>
                            <a:schemeClr val="tx2"/>
                          </a:solidFill>
                          <a:latin typeface="+mn-lt"/>
                          <a:ea typeface="+mn-ea"/>
                          <a:cs typeface="+mn-cs"/>
                        </a:rPr>
                        <a:t xml:space="preserve">Fossile brændstoffer: Kul</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r" rtl="0" fontAlgn="ctr">
                        <a:buNone/>
                      </a:pPr>
                      <a:r>
                        <a:rPr lang="da-DK" sz="975" b="0" i="0" u="none" strike="noStrike" noProof="0">
                          <a:solidFill>
                            <a:srgbClr val="1B4528"/>
                          </a:solidFill>
                          <a:effectLst/>
                          <a:latin typeface="Inter"/>
                        </a:rPr>
                        <a:t>{{revenue_coal}}</a:t>
                      </a:r>
                      <a:endParaRPr lang="da-DK" sz="975"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2442156864"/>
                  </a:ext>
                </a:extLst>
              </a:tr>
              <a:tr h="286516">
                <a:tc>
                  <a:txBody>
                    <a:bodyPr/>
                    <a:lstStyle/>
                    <a:p>
                      <a:pPr algn="l"/>
                      <a:r>
                        <a:rPr lang="da-DK" sz="975" b="1" kern="1200" spc="-10" noProof="0">
                          <a:solidFill>
                            <a:schemeClr val="tx2"/>
                          </a:solidFill>
                          <a:latin typeface="+mn-lt"/>
                          <a:ea typeface="+mn-ea"/>
                          <a:cs typeface="+mn-cs"/>
                        </a:rPr>
                        <a:t xml:space="preserve">Fossile brændstoffer: Olie</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r" rtl="0" fontAlgn="ctr">
                        <a:buNone/>
                      </a:pPr>
                      <a:r>
                        <a:rPr lang="da-DK" sz="975" b="0" i="0" u="none" strike="noStrike" noProof="0">
                          <a:solidFill>
                            <a:srgbClr val="1B4528"/>
                          </a:solidFill>
                          <a:effectLst/>
                          <a:latin typeface="Inter"/>
                        </a:rPr>
                        <a:t>{{revenue_oil}}</a:t>
                      </a:r>
                      <a:endParaRPr lang="da-DK" sz="975"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2197746340"/>
                  </a:ext>
                </a:extLst>
              </a:tr>
              <a:tr h="286516">
                <a:tc>
                  <a:txBody>
                    <a:bodyPr/>
                    <a:lstStyle/>
                    <a:p>
                      <a:pPr algn="l"/>
                      <a:r>
                        <a:rPr lang="da-DK" sz="975" b="1" kern="1200" spc="-10" noProof="0">
                          <a:solidFill>
                            <a:schemeClr val="tx2"/>
                          </a:solidFill>
                          <a:latin typeface="+mn-lt"/>
                          <a:ea typeface="+mn-ea"/>
                          <a:cs typeface="+mn-cs"/>
                        </a:rPr>
                        <a:t xml:space="preserve">Fossile brændstoffer: Gas/Naturgas</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r" rtl="0" fontAlgn="ctr">
                        <a:buNone/>
                      </a:pPr>
                      <a:r>
                        <a:rPr lang="da-DK" sz="975" b="0" i="0" u="none" strike="noStrike" noProof="0">
                          <a:solidFill>
                            <a:srgbClr val="1B4528"/>
                          </a:solidFill>
                          <a:effectLst/>
                          <a:latin typeface="Inter"/>
                        </a:rPr>
                        <a:t>{{revenue_gas}}</a:t>
                      </a:r>
                      <a:endParaRPr lang="da-DK" sz="975"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942359221"/>
                  </a:ext>
                </a:extLst>
              </a:tr>
              <a:tr h="286516">
                <a:tc>
                  <a:txBody>
                    <a:bodyPr/>
                    <a:lstStyle/>
                    <a:p>
                      <a:pPr algn="l"/>
                      <a:r>
                        <a:rPr lang="da-DK" sz="975" b="1" kern="1200" spc="-10" noProof="0">
                          <a:solidFill>
                            <a:schemeClr val="tx2"/>
                          </a:solidFill>
                          <a:latin typeface="+mn-lt"/>
                          <a:ea typeface="+mn-ea"/>
                          <a:cs typeface="+mn-cs"/>
                        </a:rPr>
                        <a:t xml:space="preserve">Kemikalieproduktion til produktion af pesticider og andre agrokemiske produkter</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r" rtl="0" fontAlgn="ctr">
                        <a:buNone/>
                      </a:pPr>
                      <a:r>
                        <a:rPr lang="da-DK" sz="975" b="0" i="0" u="none" strike="noStrike" noProof="0">
                          <a:solidFill>
                            <a:srgbClr val="1B4528"/>
                          </a:solidFill>
                          <a:effectLst/>
                          <a:latin typeface="Inter"/>
                        </a:rPr>
                        <a:t>{{revenue_chemichal}}</a:t>
                      </a:r>
                      <a:endParaRPr lang="da-DK" sz="975"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284094391"/>
                  </a:ext>
                </a:extLst>
              </a:tr>
            </a:tbl>
          </a:graphicData>
        </a:graphic>
      </p:graphicFrame>
      <p:sp>
        <p:nvSpPr>
          <p:cNvPr id="9" name="Tekstfelt 8">
            <a:extLst>
              <a:ext uri="{FF2B5EF4-FFF2-40B4-BE49-F238E27FC236}">
                <a16:creationId xmlns:a16="http://schemas.microsoft.com/office/drawing/2014/main" id="{919C8F24-DB64-A6E9-713A-0D402DE90CB8}"/>
              </a:ext>
            </a:extLst>
          </p:cNvPr>
          <p:cNvSpPr txBox="1"/>
          <p:nvPr/>
        </p:nvSpPr>
        <p:spPr>
          <a:xfrm>
            <a:off x="411480" y="1266643"/>
            <a:ext cx="6737040" cy="230823"/>
          </a:xfrm>
          <a:prstGeom prst="rect">
            <a:avLst/>
          </a:prstGeom>
          <a:noFill/>
        </p:spPr>
        <p:txBody>
          <a:bodyPr wrap="square">
            <a:spAutoFit/>
          </a:bodyPr>
          <a:lstStyle/>
          <a:p>
            <a:pPr rtl="0">
              <a:buNone/>
            </a:pPr>
            <a:r>
              <a:rPr lang="da-DK" sz="975" noProof="0">
                <a:solidFill>
                  <a:schemeClr val="tx2"/>
                </a:solidFill>
                <a:latin typeface="Inter"/>
              </a:rPr>
              <a:t xml:space="preserve">V</a:t>
            </a:r>
            <a:r>
              <a:rPr lang="da-DK" sz="975" b="0" i="0" u="none" strike="noStrike" noProof="0">
                <a:solidFill>
                  <a:schemeClr val="tx2"/>
                </a:solidFill>
                <a:effectLst/>
                <a:latin typeface="Inter"/>
              </a:rPr>
              <a:t xml:space="preserve">irksomheden har angivet indtægter fra udvalgte sektorer og angivet beløbsstørrelser fra disse aktiviteter.</a:t>
            </a:r>
            <a:endParaRPr lang="da-DK" noProof="0">
              <a:solidFill>
                <a:schemeClr val="tx2"/>
              </a:solidFill>
            </a:endParaRPr>
          </a:p>
        </p:txBody>
      </p:sp>
      <p:sp>
        <p:nvSpPr>
          <p:cNvPr id="12" name="Title 3">
            <a:extLst>
              <a:ext uri="{FF2B5EF4-FFF2-40B4-BE49-F238E27FC236}">
                <a16:creationId xmlns:a16="http://schemas.microsoft.com/office/drawing/2014/main" id="{36344292-9D49-4ECA-2BB5-0243CF820322}"/>
              </a:ext>
            </a:extLst>
          </p:cNvPr>
          <p:cNvSpPr txBox="1">
            <a:spLocks/>
          </p:cNvSpPr>
          <p:nvPr/>
        </p:nvSpPr>
        <p:spPr>
          <a:xfrm>
            <a:off x="411480" y="4686387"/>
            <a:ext cx="6737040" cy="207741"/>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1475" b="1" kern="1200" spc="-10" baseline="0">
                <a:solidFill>
                  <a:schemeClr val="tx2"/>
                </a:solidFill>
                <a:latin typeface="+mj-lt"/>
                <a:ea typeface="+mj-ea"/>
                <a:cs typeface="+mj-cs"/>
              </a:defRPr>
            </a:lvl1pPr>
          </a:lstStyle>
          <a:p>
            <a:r>
              <a:rPr lang="da-DK" noProof="0">
                <a:solidFill>
                  <a:srgbClr val="1B4528"/>
                </a:solidFill>
              </a:rPr>
              <a:t xml:space="preserve">Kønsfordeling i øverste ledelsesorgan (C9)</a:t>
            </a:r>
            <a:endParaRPr lang="da-DK" noProof="0"/>
          </a:p>
        </p:txBody>
      </p:sp>
      <p:graphicFrame>
        <p:nvGraphicFramePr>
          <p:cNvPr id="13" name="Table 7">
            <a:extLst>
              <a:ext uri="{FF2B5EF4-FFF2-40B4-BE49-F238E27FC236}">
                <a16:creationId xmlns:a16="http://schemas.microsoft.com/office/drawing/2014/main" id="{5010B50D-163D-69DE-999C-3BC9FA39E2D0}"/>
              </a:ext>
            </a:extLst>
          </p:cNvPr>
          <p:cNvGraphicFramePr>
            <a:graphicFrameLocks noGrp="1"/>
          </p:cNvGraphicFramePr>
          <p:nvPr>
            <p:extLst>
              <p:ext uri="{D42A27DB-BD31-4B8C-83A1-F6EECF244321}">
                <p14:modId xmlns:p14="http://schemas.microsoft.com/office/powerpoint/2010/main" val="2206177221"/>
              </p:ext>
            </p:extLst>
          </p:nvPr>
        </p:nvGraphicFramePr>
        <p:xfrm>
          <a:off x="411480" y="5679204"/>
          <a:ext cx="6737040" cy="479980"/>
        </p:xfrm>
        <a:graphic>
          <a:graphicData uri="http://schemas.openxmlformats.org/drawingml/2006/table">
            <a:tbl>
              <a:tblPr firstRow="1">
                <a:tableStyleId>{2A488322-F2BA-4B5B-9748-0D474271808F}</a:tableStyleId>
              </a:tblPr>
              <a:tblGrid>
                <a:gridCol w="4648693">
                  <a:extLst>
                    <a:ext uri="{9D8B030D-6E8A-4147-A177-3AD203B41FA5}">
                      <a16:colId xmlns:a16="http://schemas.microsoft.com/office/drawing/2014/main" val="2698153288"/>
                    </a:ext>
                  </a:extLst>
                </a:gridCol>
                <a:gridCol w="2088347">
                  <a:extLst>
                    <a:ext uri="{9D8B030D-6E8A-4147-A177-3AD203B41FA5}">
                      <a16:colId xmlns:a16="http://schemas.microsoft.com/office/drawing/2014/main" val="2119413191"/>
                    </a:ext>
                  </a:extLst>
                </a:gridCol>
              </a:tblGrid>
              <a:tr h="239990">
                <a:tc rowSpan="2">
                  <a:txBody>
                    <a:bodyPr/>
                    <a:lstStyle/>
                    <a:p>
                      <a:r>
                        <a:rPr lang="da-DK" sz="975" b="1" kern="1200" spc="-10" noProof="0">
                          <a:solidFill>
                            <a:schemeClr val="tx2"/>
                          </a:solidFill>
                          <a:latin typeface="+mj-lt"/>
                          <a:ea typeface="+mn-ea"/>
                          <a:cs typeface="+mn-cs"/>
                        </a:rPr>
                        <a:t xml:space="preserve">Forholdet mellem kvinder og mænd i det øverste ledelsesorgan (</a:t>
                      </a:r>
                      <a:r>
                        <a:rPr lang="da-DK" sz="975" b="0" kern="1200" spc="-10" noProof="0">
                          <a:solidFill>
                            <a:schemeClr val="tx2"/>
                          </a:solidFill>
                          <a:latin typeface="+mj-lt"/>
                          <a:ea typeface="+mn-ea"/>
                          <a:cs typeface="+mn-cs"/>
                        </a:rPr>
                        <a:t xml:space="preserve">pkt. 64</a:t>
                      </a:r>
                      <a:r>
                        <a:rPr lang="da-DK" sz="975" b="1" kern="1200" spc="-10" noProof="0">
                          <a:solidFill>
                            <a:schemeClr val="tx2"/>
                          </a:solidFill>
                          <a:latin typeface="+mj-lt"/>
                          <a:ea typeface="+mn-ea"/>
                          <a:cs typeface="+mn-cs"/>
                        </a:rPr>
                        <a:t>)</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r>
                        <a:rPr lang="da-DK" sz="975" b="1" noProof="0">
                          <a:solidFill>
                            <a:schemeClr val="tx2"/>
                          </a:solidFill>
                        </a:rPr>
                        <a:t xml:space="preserve">År </a:t>
                      </a:r>
                      <a:r>
                        <a:rPr lang="da-DK" sz="975" b="1" i="0" u="none" strike="noStrike" noProof="0">
                          <a:solidFill>
                            <a:srgbClr val="1B4528"/>
                          </a:solidFill>
                          <a:effectLst/>
                          <a:latin typeface="Inter"/>
                        </a:rPr>
                        <a:t>{{Insert year}}</a:t>
                      </a:r>
                      <a:endParaRPr lang="da-DK" sz="975" b="1" noProof="0">
                        <a:solidFill>
                          <a:schemeClr val="tx2"/>
                        </a:solidFill>
                      </a:endParaRP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239990">
                <a:tc vMerge="1">
                  <a:txBody>
                    <a:bodyPr/>
                    <a:lstStyle/>
                    <a:p>
                      <a:endParaRPr lang="da-DK" sz="725" b="0" noProof="0">
                        <a:solidFill>
                          <a:schemeClr val="tx2"/>
                        </a:solidFill>
                      </a:endParaRP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r"/>
                      <a:r>
                        <a:rPr lang="da-DK" sz="975" b="0" noProof="0">
                          <a:solidFill>
                            <a:srgbClr val="1B4528"/>
                          </a:solidFill>
                        </a:rPr>
                        <a:t>{{</a:t>
                      </a:r>
                      <a:r>
                        <a:rPr lang="da-DK" sz="975" b="0" i="0" u="none" strike="noStrike" noProof="0">
                          <a:solidFill>
                            <a:srgbClr val="1B4528"/>
                          </a:solidFill>
                          <a:latin typeface="IBM Plex Sans"/>
                        </a:rPr>
                        <a:t>gender_supreme_body</a:t>
                      </a:r>
                      <a:r>
                        <a:rPr lang="da-DK" sz="975" b="0" noProof="0">
                          <a:solidFill>
                            <a:srgbClr val="1B4528"/>
                          </a:solidFill>
                        </a:rPr>
                        <a:t>}}</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977038530"/>
                  </a:ext>
                </a:extLst>
              </a:tr>
            </a:tbl>
          </a:graphicData>
        </a:graphic>
      </p:graphicFrame>
      <p:sp>
        <p:nvSpPr>
          <p:cNvPr id="19" name="Tekstfelt 18">
            <a:extLst>
              <a:ext uri="{FF2B5EF4-FFF2-40B4-BE49-F238E27FC236}">
                <a16:creationId xmlns:a16="http://schemas.microsoft.com/office/drawing/2014/main" id="{299A6B5A-11F5-BD48-FC7A-B6A967C62C71}"/>
              </a:ext>
            </a:extLst>
          </p:cNvPr>
          <p:cNvSpPr txBox="1"/>
          <p:nvPr/>
        </p:nvSpPr>
        <p:spPr>
          <a:xfrm>
            <a:off x="411480" y="2493514"/>
            <a:ext cx="6737040" cy="307764"/>
          </a:xfrm>
          <a:prstGeom prst="rect">
            <a:avLst/>
          </a:prstGeom>
          <a:noFill/>
        </p:spPr>
        <p:txBody>
          <a:bodyPr wrap="square">
            <a:spAutoFit/>
          </a:bodyPr>
          <a:lstStyle/>
          <a:p>
            <a:r>
              <a:rPr lang="da-DK" b="0" noProof="0">
                <a:effectLst/>
              </a:rPr>
              <a:t> </a:t>
            </a:r>
            <a:endParaRPr lang="da-DK" noProof="0"/>
          </a:p>
        </p:txBody>
      </p:sp>
      <p:sp>
        <p:nvSpPr>
          <p:cNvPr id="22" name="Tekstfelt 21">
            <a:extLst>
              <a:ext uri="{FF2B5EF4-FFF2-40B4-BE49-F238E27FC236}">
                <a16:creationId xmlns:a16="http://schemas.microsoft.com/office/drawing/2014/main" id="{3F21186B-0691-91C9-5FC9-0771DBEFE852}"/>
              </a:ext>
            </a:extLst>
          </p:cNvPr>
          <p:cNvSpPr txBox="1"/>
          <p:nvPr/>
        </p:nvSpPr>
        <p:spPr>
          <a:xfrm>
            <a:off x="411480" y="5139662"/>
            <a:ext cx="6737040" cy="230823"/>
          </a:xfrm>
          <a:prstGeom prst="rect">
            <a:avLst/>
          </a:prstGeom>
          <a:noFill/>
        </p:spPr>
        <p:txBody>
          <a:bodyPr wrap="square">
            <a:spAutoFit/>
          </a:bodyPr>
          <a:lstStyle/>
          <a:p>
            <a:pPr rtl="0">
              <a:buNone/>
            </a:pPr>
            <a:r>
              <a:rPr lang="da-DK" sz="975" noProof="0">
                <a:solidFill>
                  <a:schemeClr val="tx2"/>
                </a:solidFill>
                <a:latin typeface="Inter"/>
              </a:rPr>
              <a:t xml:space="preserve">V</a:t>
            </a:r>
            <a:r>
              <a:rPr lang="da-DK" sz="975" b="0" i="0" u="none" strike="noStrike" noProof="0">
                <a:solidFill>
                  <a:schemeClr val="tx2"/>
                </a:solidFill>
                <a:effectLst/>
                <a:latin typeface="Inter"/>
              </a:rPr>
              <a:t xml:space="preserve">irksomheden har angivet forholdet mellem kvinder og mænd i det øverste ledelsesorgan.</a:t>
            </a:r>
          </a:p>
        </p:txBody>
      </p:sp>
    </p:spTree>
    <p:extLst>
      <p:ext uri="{BB962C8B-B14F-4D97-AF65-F5344CB8AC3E}">
        <p14:creationId xmlns:p14="http://schemas.microsoft.com/office/powerpoint/2010/main" val="37398176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Pladsholder til indhold 2">
            <a:extLst>
              <a:ext uri="{FF2B5EF4-FFF2-40B4-BE49-F238E27FC236}">
                <a16:creationId xmlns:a16="http://schemas.microsoft.com/office/drawing/2014/main" id="{237B3177-8AE4-2BCB-D392-E3B969EBBB7B}"/>
              </a:ext>
            </a:extLst>
          </p:cNvPr>
          <p:cNvSpPr>
            <a:spLocks noGrp="1"/>
          </p:cNvSpPr>
          <p:nvPr>
            <p:ph idx="1"/>
          </p:nvPr>
        </p:nvSpPr>
        <p:spPr>
          <a:xfrm>
            <a:off x="411480" y="6007478"/>
            <a:ext cx="6737040" cy="861898"/>
          </a:xfrm>
          <a:noFill/>
        </p:spPr>
        <p:txBody>
          <a:bodyPr>
            <a:normAutofit/>
          </a:bodyPr>
          <a:lstStyle/>
          <a:p>
            <a:pPr algn="ctr"/>
            <a:r>
              <a:rPr lang="da-DK" sz="1475" b="1" noProof="0">
                <a:solidFill>
                  <a:srgbClr val="FFFFFF"/>
                </a:solidFill>
                <a:latin typeface="IBM Plex Sans" panose="020B0503050203000203" pitchFamily="34" charset="0"/>
              </a:rPr>
              <a:t>{{company_name}}</a:t>
            </a:r>
          </a:p>
          <a:p>
            <a:pPr algn="ctr"/>
            <a:r>
              <a:rPr lang="da-DK" sz="1475" b="1" noProof="0">
                <a:solidFill>
                  <a:srgbClr val="FFFFFF"/>
                </a:solidFill>
                <a:latin typeface="IBM Plex Sans" panose="020B0503050203000203" pitchFamily="34" charset="0"/>
              </a:rPr>
              <a:t>{{insert_year}}</a:t>
            </a:r>
            <a:br>
              <a:rPr lang="da-DK" sz="1475" b="1" noProof="0">
                <a:solidFill>
                  <a:srgbClr val="FFFFFF"/>
                </a:solidFill>
                <a:latin typeface="IBM Plex Sans" panose="020B0503050203000203" pitchFamily="34" charset="0"/>
              </a:rPr>
            </a:br>
            <a:endParaRPr lang="da-DK" sz="1475" noProof="0"/>
          </a:p>
        </p:txBody>
      </p:sp>
      <p:sp>
        <p:nvSpPr>
          <p:cNvPr id="4" name="Pladsholder til slidenummer 3">
            <a:extLst>
              <a:ext uri="{FF2B5EF4-FFF2-40B4-BE49-F238E27FC236}">
                <a16:creationId xmlns:a16="http://schemas.microsoft.com/office/drawing/2014/main" id="{48F46A40-E7BB-3909-2FA6-1A954E10A816}"/>
              </a:ext>
            </a:extLst>
          </p:cNvPr>
          <p:cNvSpPr>
            <a:spLocks noGrp="1"/>
          </p:cNvSpPr>
          <p:nvPr>
            <p:ph type="sldNum" sz="quarter" idx="16"/>
          </p:nvPr>
        </p:nvSpPr>
        <p:spPr>
          <a:xfrm>
            <a:off x="411480" y="10152285"/>
            <a:ext cx="6737040" cy="128235"/>
          </a:xfrm>
        </p:spPr>
        <p:txBody>
          <a:bodyPr/>
          <a:lstStyle/>
          <a:p>
            <a:fld id="{5A0D23CF-C5A3-5445-819D-C647D180BB4B}" type="slidenum">
              <a:rPr lang="da-DK" noProof="0" smtClean="0"/>
              <a:pPr/>
              <a:t>19</a:t>
            </a:fld>
            <a:endParaRPr lang="da-DK" noProof="0"/>
          </a:p>
        </p:txBody>
      </p:sp>
    </p:spTree>
    <p:extLst>
      <p:ext uri="{BB962C8B-B14F-4D97-AF65-F5344CB8AC3E}">
        <p14:creationId xmlns:p14="http://schemas.microsoft.com/office/powerpoint/2010/main" val="3140708205"/>
      </p:ext>
    </p:extLst>
  </p:cSld>
  <p:clrMapOvr>
    <a:masterClrMapping/>
  </p:clrMapOvr>
</p:sld>
</file>

<file path=ppt/theme/theme1.xml><?xml version="1.0" encoding="utf-8"?>
<a:theme xmlns:a="http://schemas.openxmlformats.org/drawingml/2006/main" name="Tema ESG skabelon 2023">
  <a:themeElements>
    <a:clrScheme name="Custom 63">
      <a:dk1>
        <a:srgbClr val="000000"/>
      </a:dk1>
      <a:lt1>
        <a:srgbClr val="FFFFFF"/>
      </a:lt1>
      <a:dk2>
        <a:srgbClr val="1B4528"/>
      </a:dk2>
      <a:lt2>
        <a:srgbClr val="D1DAD4"/>
      </a:lt2>
      <a:accent1>
        <a:srgbClr val="1B4528"/>
      </a:accent1>
      <a:accent2>
        <a:srgbClr val="2D55FF"/>
      </a:accent2>
      <a:accent3>
        <a:srgbClr val="FCFC95"/>
      </a:accent3>
      <a:accent4>
        <a:srgbClr val="5F7D69"/>
      </a:accent4>
      <a:accent5>
        <a:srgbClr val="8DA294"/>
      </a:accent5>
      <a:accent6>
        <a:srgbClr val="BBC7BF"/>
      </a:accent6>
      <a:hlink>
        <a:srgbClr val="00A65A"/>
      </a:hlink>
      <a:folHlink>
        <a:srgbClr val="A6A6A6"/>
      </a:folHlink>
    </a:clrScheme>
    <a:fontScheme name="Custom 19">
      <a:majorFont>
        <a:latin typeface="IBM Plex Sans"/>
        <a:ea typeface=""/>
        <a:cs typeface=""/>
      </a:majorFont>
      <a:minorFont>
        <a:latin typeface="IBM Plex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rgbClr val="5F7D69"/>
        </a:solidFill>
        <a:ln>
          <a:noFill/>
        </a:ln>
      </a:spPr>
      <a:bodyPr lIns="126000" tIns="108000" rIns="108000" bIns="144000" rtlCol="0" anchor="t" anchorCtr="0"/>
      <a:lstStyle>
        <a:defPPr algn="l">
          <a:lnSpc>
            <a:spcPct val="106000"/>
          </a:lnSpc>
          <a:defRPr sz="900" spc="-10" dirty="0"/>
        </a:defPPr>
      </a:lstStyle>
      <a:style>
        <a:lnRef idx="2">
          <a:schemeClr val="accent1">
            <a:shade val="15000"/>
          </a:schemeClr>
        </a:lnRef>
        <a:fillRef idx="1">
          <a:schemeClr val="accent1"/>
        </a:fillRef>
        <a:effectRef idx="0">
          <a:schemeClr val="accent1"/>
        </a:effectRef>
        <a:fontRef idx="minor">
          <a:schemeClr val="lt1"/>
        </a:fontRef>
      </a:style>
    </a:spDef>
    <a:txDef>
      <a:spPr>
        <a:noFill/>
      </a:spPr>
      <a:bodyPr wrap="square" lIns="0" tIns="0" rIns="0" bIns="0" rtlCol="0">
        <a:spAutoFit/>
      </a:bodyPr>
      <a:lstStyle>
        <a:defPPr algn="l">
          <a:lnSpc>
            <a:spcPct val="120000"/>
          </a:lnSpc>
          <a:defRPr sz="900" spc="-10" dirty="0" smtClean="0">
            <a:solidFill>
              <a:schemeClr val="bg1"/>
            </a:solidFill>
          </a:defRPr>
        </a:defPPr>
      </a:lstStyle>
    </a:txDef>
  </a:objectDefaults>
  <a:extraClrSchemeLst/>
  <a:custClrLst>
    <a:custClr name="Grøn 100%">
      <a:srgbClr val="1B4529"/>
    </a:custClr>
    <a:custClr name="Grøn 90%">
      <a:srgbClr val="32583E"/>
    </a:custClr>
    <a:custClr name="Grøn 80%">
      <a:srgbClr val="496A54"/>
    </a:custClr>
    <a:custClr name="Grøn 70%">
      <a:srgbClr val="5F7D69"/>
    </a:custClr>
    <a:custClr name="Grøn 60%">
      <a:srgbClr val="768F7F"/>
    </a:custClr>
    <a:custClr name="Grøn 50%">
      <a:srgbClr val="8DA294"/>
    </a:custClr>
    <a:custClr name="Grøn 40%">
      <a:srgbClr val="A4B5A9"/>
    </a:custClr>
    <a:custClr name="Grøn 30%">
      <a:srgbClr val="BBC7BF"/>
    </a:custClr>
    <a:custClr name="Grøn 20%">
      <a:srgbClr val="D1DAD4"/>
    </a:custClr>
    <a:custClr name="Grøn 10%">
      <a:srgbClr val="E8ECEA"/>
    </a:custClr>
  </a:custClrLst>
  <a:extLst>
    <a:ext uri="{05A4C25C-085E-4340-85A3-A5531E510DB2}">
      <thm15:themeFamily xmlns:thm15="http://schemas.microsoft.com/office/thememl/2012/main" name="Tema ESG skabelon 2023" id="{4F616B44-E23C-9D4B-A414-B698B6CB0592}" vid="{C1CEAE3D-34EF-BE45-B60E-4DC3BCA22C44}"/>
    </a:ext>
  </a:extLst>
</a:theme>
</file>

<file path=ppt/theme/theme2.xml><?xml version="1.0" encoding="utf-8"?>
<a:theme xmlns:a="http://schemas.openxmlformats.org/drawingml/2006/main" name="Office-tem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TaxCatchAll xmlns="43a5b9ff-ef68-4e08-86c8-07b185fdc818" xsi:nil="true"/>
    <indhold xmlns="a1c42b88-5e29-4fe4-8139-416e072a19cb" xsi:nil="true"/>
    <lcf76f155ced4ddcb4097134ff3c332f xmlns="a1c42b88-5e29-4fe4-8139-416e072a19cb">
      <Terms xmlns="http://schemas.microsoft.com/office/infopath/2007/PartnerControls"/>
    </lcf76f155ced4ddcb4097134ff3c332f>
  </documentManagement>
</p:properties>
</file>

<file path=customXml/item2.xml><?xml version="1.0" encoding="utf-8"?>
<ct:contentTypeSchema xmlns:ct="http://schemas.microsoft.com/office/2006/metadata/contentType" xmlns:ma="http://schemas.microsoft.com/office/2006/metadata/properties/metaAttributes" ct:_="" ma:_="" ma:contentTypeName="Dokument" ma:contentTypeID="0x0101004C5C98558ED72C4BBCB756F8247CFA4C" ma:contentTypeVersion="18" ma:contentTypeDescription="Opret et nyt dokument." ma:contentTypeScope="" ma:versionID="05a2f073985d4662672e64bc9a421606">
  <xsd:schema xmlns:xsd="http://www.w3.org/2001/XMLSchema" xmlns:xs="http://www.w3.org/2001/XMLSchema" xmlns:p="http://schemas.microsoft.com/office/2006/metadata/properties" xmlns:ns2="a1c42b88-5e29-4fe4-8139-416e072a19cb" xmlns:ns3="202ccbda-223a-4645-9097-be5f8cdf3aa6" xmlns:ns4="43a5b9ff-ef68-4e08-86c8-07b185fdc818" targetNamespace="http://schemas.microsoft.com/office/2006/metadata/properties" ma:root="true" ma:fieldsID="50f1595d426bd689bc07261444f354ae" ns2:_="" ns3:_="" ns4:_="">
    <xsd:import namespace="a1c42b88-5e29-4fe4-8139-416e072a19cb"/>
    <xsd:import namespace="202ccbda-223a-4645-9097-be5f8cdf3aa6"/>
    <xsd:import namespace="43a5b9ff-ef68-4e08-86c8-07b185fdc818"/>
    <xsd:element name="properties">
      <xsd:complexType>
        <xsd:sequence>
          <xsd:element name="documentManagement">
            <xsd:complexType>
              <xsd:all>
                <xsd:element ref="ns2:MediaServiceMetadata" minOccurs="0"/>
                <xsd:element ref="ns2:MediaServiceFastMetadata" minOccurs="0"/>
                <xsd:element ref="ns2:MediaLengthInSeconds" minOccurs="0"/>
                <xsd:element ref="ns3:SharedWithUsers" minOccurs="0"/>
                <xsd:element ref="ns3:SharedWithDetails" minOccurs="0"/>
                <xsd:element ref="ns2:MediaServiceAutoKeyPoints" minOccurs="0"/>
                <xsd:element ref="ns2:MediaServiceKeyPoints" minOccurs="0"/>
                <xsd:element ref="ns2:MediaServiceDateTaken" minOccurs="0"/>
                <xsd:element ref="ns2:lcf76f155ced4ddcb4097134ff3c332f" minOccurs="0"/>
                <xsd:element ref="ns4:TaxCatchAll" minOccurs="0"/>
                <xsd:element ref="ns2:MediaServiceGenerationTime" minOccurs="0"/>
                <xsd:element ref="ns2:MediaServiceEventHashCode" minOccurs="0"/>
                <xsd:element ref="ns2:MediaServiceOCR" minOccurs="0"/>
                <xsd:element ref="ns2:indhold" minOccurs="0"/>
                <xsd:element ref="ns2:MediaServiceObjectDetectorVersions" minOccurs="0"/>
                <xsd:element ref="ns2:MediaServiceSearchProperties"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a1c42b88-5e29-4fe4-8139-416e072a19cb"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LengthInSeconds" ma:index="10" nillable="true" ma:displayName="Length (seconds)" ma:internalName="MediaLengthInSeconds" ma:readOnly="true">
      <xsd:simpleType>
        <xsd:restriction base="dms:Unknown"/>
      </xsd:simpleType>
    </xsd:element>
    <xsd:element name="MediaServiceAutoKeyPoints" ma:index="13" nillable="true" ma:displayName="MediaServiceAutoKeyPoints" ma:hidden="true" ma:internalName="MediaServiceAutoKeyPoints" ma:readOnly="true">
      <xsd:simpleType>
        <xsd:restriction base="dms:Note"/>
      </xsd:simpleType>
    </xsd:element>
    <xsd:element name="MediaServiceKeyPoints" ma:index="14" nillable="true" ma:displayName="KeyPoints" ma:internalName="MediaServiceKeyPoints" ma:readOnly="true">
      <xsd:simpleType>
        <xsd:restriction base="dms:Note">
          <xsd:maxLength value="255"/>
        </xsd:restriction>
      </xsd:simpleType>
    </xsd:element>
    <xsd:element name="MediaServiceDateTaken" ma:index="15" nillable="true" ma:displayName="MediaServiceDateTaken" ma:hidden="true" ma:internalName="MediaServiceDateTaken" ma:readOnly="true">
      <xsd:simpleType>
        <xsd:restriction base="dms:Text"/>
      </xsd:simpleType>
    </xsd:element>
    <xsd:element name="lcf76f155ced4ddcb4097134ff3c332f" ma:index="17" nillable="true" ma:taxonomy="true" ma:internalName="lcf76f155ced4ddcb4097134ff3c332f" ma:taxonomyFieldName="MediaServiceImageTags" ma:displayName="Billedmærker" ma:readOnly="false" ma:fieldId="{5cf76f15-5ced-4ddc-b409-7134ff3c332f}" ma:taxonomyMulti="true" ma:sspId="5bc8fd69-a729-4468-93ff-8d64956d1ba4" ma:termSetId="09814cd3-568e-fe90-9814-8d621ff8fb84" ma:anchorId="fba54fb3-c3e1-fe81-a776-ca4b69148c4d" ma:open="true" ma:isKeyword="false">
      <xsd:complexType>
        <xsd:sequence>
          <xsd:element ref="pc:Terms" minOccurs="0" maxOccurs="1"/>
        </xsd:sequence>
      </xsd:complexType>
    </xsd:element>
    <xsd:element name="MediaServiceGenerationTime" ma:index="19" nillable="true" ma:displayName="MediaServiceGenerationTime" ma:hidden="true" ma:internalName="MediaServiceGenerationTime" ma:readOnly="true">
      <xsd:simpleType>
        <xsd:restriction base="dms:Text"/>
      </xsd:simpleType>
    </xsd:element>
    <xsd:element name="MediaServiceEventHashCode" ma:index="20" nillable="true" ma:displayName="MediaServiceEventHashCode" ma:hidden="true" ma:internalName="MediaServiceEventHashCode" ma:readOnly="true">
      <xsd:simpleType>
        <xsd:restriction base="dms:Text"/>
      </xsd:simpleType>
    </xsd:element>
    <xsd:element name="MediaServiceOCR" ma:index="21" nillable="true" ma:displayName="Extracted Text" ma:internalName="MediaServiceOCR" ma:readOnly="true">
      <xsd:simpleType>
        <xsd:restriction base="dms:Note">
          <xsd:maxLength value="255"/>
        </xsd:restriction>
      </xsd:simpleType>
    </xsd:element>
    <xsd:element name="indhold" ma:index="22" nillable="true" ma:displayName="indhold" ma:format="Dropdown" ma:internalName="indhold">
      <xsd:simpleType>
        <xsd:restriction base="dms:Text">
          <xsd:maxLength value="255"/>
        </xsd:restriction>
      </xsd:simpleType>
    </xsd:element>
    <xsd:element name="MediaServiceObjectDetectorVersions" ma:index="23" nillable="true" ma:displayName="MediaServiceObjectDetectorVersions" ma:hidden="true" ma:indexed="true" ma:internalName="MediaServiceObjectDetectorVersions" ma:readOnly="true">
      <xsd:simpleType>
        <xsd:restriction base="dms:Text"/>
      </xsd:simpleType>
    </xsd:element>
    <xsd:element name="MediaServiceSearchProperties" ma:index="24" nillable="true" ma:displayName="MediaServiceSearchProperties" ma:hidden="true" ma:internalName="MediaServiceSearchProperties" ma:readOnly="true">
      <xsd:simpleType>
        <xsd:restriction base="dms:Note"/>
      </xsd:simpleType>
    </xsd:element>
    <xsd:element name="MediaServiceLocation" ma:index="25" nillable="true" ma:displayName="Location" ma:indexed="true"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202ccbda-223a-4645-9097-be5f8cdf3aa6" elementFormDefault="qualified">
    <xsd:import namespace="http://schemas.microsoft.com/office/2006/documentManagement/types"/>
    <xsd:import namespace="http://schemas.microsoft.com/office/infopath/2007/PartnerControls"/>
    <xsd:element name="SharedWithUsers" ma:index="11" nillable="true" ma:displayName="Delt med"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2" nillable="true" ma:displayName="Delt med detaljer" ma:internalName="SharedWithDetails"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43a5b9ff-ef68-4e08-86c8-07b185fdc818" elementFormDefault="qualified">
    <xsd:import namespace="http://schemas.microsoft.com/office/2006/documentManagement/types"/>
    <xsd:import namespace="http://schemas.microsoft.com/office/infopath/2007/PartnerControls"/>
    <xsd:element name="TaxCatchAll" ma:index="18" nillable="true" ma:displayName="Taxonomy Catch All Column" ma:hidden="true" ma:list="{1a2a80f0-0fad-4372-b264-33bf0361a80c}" ma:internalName="TaxCatchAll" ma:showField="CatchAllData" ma:web="202ccbda-223a-4645-9097-be5f8cdf3aa6">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dhol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B12C55C2-A88D-45C1-99A2-B6C1D18AED07}">
  <ds:schemaRefs>
    <ds:schemaRef ds:uri="43a5b9ff-ef68-4e08-86c8-07b185fdc818"/>
    <ds:schemaRef ds:uri="a1c42b88-5e29-4fe4-8139-416e072a19cb"/>
    <ds:schemaRef ds:uri="http://schemas.microsoft.com/office/2006/metadata/properties"/>
    <ds:schemaRef ds:uri="http://schemas.microsoft.com/office/infopath/2007/PartnerControls"/>
  </ds:schemaRefs>
</ds:datastoreItem>
</file>

<file path=customXml/itemProps2.xml><?xml version="1.0" encoding="utf-8"?>
<ds:datastoreItem xmlns:ds="http://schemas.openxmlformats.org/officeDocument/2006/customXml" ds:itemID="{2C3C50CC-B1F2-4B3E-8326-2BA1B8993967}">
  <ds:schemaRefs>
    <ds:schemaRef ds:uri="202ccbda-223a-4645-9097-be5f8cdf3aa6"/>
    <ds:schemaRef ds:uri="43a5b9ff-ef68-4e08-86c8-07b185fdc818"/>
    <ds:schemaRef ds:uri="a1c42b88-5e29-4fe4-8139-416e072a19cb"/>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C7C2DE4E-10FC-4FD7-BA3A-6232093B7289}">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
  <TotalTime>0</TotalTime>
  <Words>4975</Words>
  <Application>Microsoft Office PowerPoint</Application>
  <PresentationFormat>Brugerdefineret</PresentationFormat>
  <Paragraphs>637</Paragraphs>
  <Slides>19</Slides>
  <Notes>16</Notes>
  <HiddenSlides>0</HiddenSlides>
  <MMClips>0</MMClips>
  <ScaleCrop>false</ScaleCrop>
  <HeadingPairs>
    <vt:vector size="6" baseType="variant">
      <vt:variant>
        <vt:lpstr>Benyttede skrifttyper</vt:lpstr>
      </vt:variant>
      <vt:variant>
        <vt:i4>4</vt:i4>
      </vt:variant>
      <vt:variant>
        <vt:lpstr>Tema</vt:lpstr>
      </vt:variant>
      <vt:variant>
        <vt:i4>1</vt:i4>
      </vt:variant>
      <vt:variant>
        <vt:lpstr>Slidetitler</vt:lpstr>
      </vt:variant>
      <vt:variant>
        <vt:i4>19</vt:i4>
      </vt:variant>
    </vt:vector>
  </HeadingPairs>
  <TitlesOfParts>
    <vt:vector size="24" baseType="lpstr">
      <vt:lpstr>Arial</vt:lpstr>
      <vt:lpstr>Calibri</vt:lpstr>
      <vt:lpstr>IBM Plex Sans</vt:lpstr>
      <vt:lpstr>Inter</vt:lpstr>
      <vt:lpstr>Tema ESG skabelon 2023</vt:lpstr>
      <vt:lpstr>ESG REPORT {{insert_year}}</vt:lpstr>
      <vt:lpstr>ESG report  </vt:lpstr>
      <vt:lpstr>Basis for preparation (B1) </vt:lpstr>
      <vt:lpstr>Practices, policies and future initiatives for transitioning towards a more sustainable economy (B2)</vt:lpstr>
      <vt:lpstr>Energy consumption (B3)</vt:lpstr>
      <vt:lpstr>Pollution of air, water and soil (B4)</vt:lpstr>
      <vt:lpstr>Resource use, circular economy and waste management (B7) – continued</vt:lpstr>
      <vt:lpstr>Own workforce: General characteristics (B8) </vt:lpstr>
      <vt:lpstr>Business conduct: Number of convictions and fines related to corruption &amp; bribery (B11) </vt:lpstr>
      <vt:lpstr>PowerPoint-præsentation</vt:lpstr>
      <vt:lpstr>Strategy: Business model and sustainability-related initiatives (C1)</vt:lpstr>
      <vt:lpstr>Practices, policies and future initiatives for transitioning towards a more sustainable economy (C2)</vt:lpstr>
      <vt:lpstr>CO₂e emissions under B3 in the Basic Module</vt:lpstr>
      <vt:lpstr>Climate risks (C4)</vt:lpstr>
      <vt:lpstr>Climate risks (C4) - continued</vt:lpstr>
      <vt:lpstr>Additional (general) workforce characteristics (C5)</vt:lpstr>
      <vt:lpstr>Severe negative human rights incidents (C7) – Own workforce</vt:lpstr>
      <vt:lpstr>Revenues from certain activities (C8)</vt:lpstr>
      <vt:lpstr>PowerPoint-præsentation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Amanda Simonsen</dc:creator>
  <cp:lastModifiedBy>Amanda Simonsen</cp:lastModifiedBy>
  <cp:revision>28</cp:revision>
  <dcterms:created xsi:type="dcterms:W3CDTF">2025-02-28T18:51:17Z</dcterms:created>
  <dcterms:modified xsi:type="dcterms:W3CDTF">2026-08-12T20:10:01Z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0x0101004C5C98558ED72C4BBCB756F8247CFA4C</vt:lpwstr>
  </property>
  <property fmtid="{D5CDD505-2E9C-101B-9397-08002B2CF9AE}" pid="3" name="MediaServiceImageTags">
    <vt:lpwstr/>
  </property>
</Properties>
</file>