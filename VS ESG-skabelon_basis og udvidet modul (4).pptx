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335" r:id="rId17"/>
    <p:sldId id="334" r:id="rId18"/>
    <p:sldId id="337" r:id="rId19"/>
    <p:sldId id="339" r:id="rId20"/>
    <p:sldId id="340" r:id="rId21"/>
    <p:sldId id="352" r:id="rId22"/>
    <p:sldId id="356" r:id="rId23"/>
    <p:sldId id="345" r:id="rId24"/>
    <p:sldId id="359" r:id="rId25"/>
    <p:sldId id="342" r:id="rId26"/>
    <p:sldId id="343" r:id="rId27"/>
    <p:sldId id="348" r:id="rId28"/>
    <p:sldId id="272" r:id="rId29"/>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pPr/>
              <a:t>06-08-2026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pPr/>
              <a:t>‹nr.›</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a:t>
            </a:fld>
            <a:endParaRPr lang="da-DK"/>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a:t>
            </a:fld>
            <a:endParaRPr lang="da-DK"/>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3</a:t>
            </a:fld>
            <a:endParaRPr lang="da-DK"/>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4</a:t>
            </a:fld>
            <a:endParaRPr lang="da-DK"/>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Tilføjet</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kolonne</a:t>
            </a:r>
            <a:r>
              <a:rPr lang="en-GB" sz="1200" b="0" i="0" u="none" strike="noStrike" kern="1200">
                <a:solidFill>
                  <a:schemeClr val="tx1"/>
                </a:solidFill>
                <a:effectLst/>
                <a:latin typeface="IBM Plex Sans" panose="020B0503050203000203" pitchFamily="34" charset="0"/>
                <a:ea typeface="+mn-ea"/>
                <a:cs typeface="+mn-cs"/>
              </a:rPr>
              <a:t> om </a:t>
            </a:r>
            <a:r>
              <a:rPr lang="en-GB" sz="1200" b="0" i="0" u="none" strike="noStrike" kern="1200" err="1">
                <a:solidFill>
                  <a:schemeClr val="tx1"/>
                </a:solidFill>
                <a:effectLst/>
                <a:latin typeface="IBM Plex Sans" panose="020B0503050203000203" pitchFamily="34" charset="0"/>
                <a:ea typeface="+mn-ea"/>
                <a:cs typeface="+mn-cs"/>
              </a:rPr>
              <a:t>monitorering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5</a:t>
            </a:fld>
            <a:endParaRPr lang="da-DK"/>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6</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7</a:t>
            </a:fld>
            <a:endParaRPr lang="da-DK"/>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waterstress_withdrawal</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8</a:t>
            </a:fld>
            <a:endParaRPr lang="da-DK"/>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9</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10</a:t>
            </a:fld>
            <a:endParaRPr lang="da-DK"/>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eaLnBrk="1" fontAlgn="ctr" latinLnBrk="0" hangingPunct="1"/>
            <a:r>
              <a:rPr lang="da-DK" b="0">
                <a:effectLst/>
              </a:rPr>
              <a:t>Fjernet: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women_gennemsnitstimer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other_gennemsnitstimer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11</a:t>
            </a:fld>
            <a:endParaRPr lang="da-DK"/>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12</a:t>
            </a:fld>
            <a:endParaRPr lang="da-DK"/>
          </a:p>
        </p:txBody>
      </p:sp>
    </p:spTree>
    <p:extLst>
      <p:ext uri="{BB962C8B-B14F-4D97-AF65-F5344CB8AC3E}">
        <p14:creationId xmlns:p14="http://schemas.microsoft.com/office/powerpoint/2010/main" val="306125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13</a:t>
            </a:fld>
            <a:endParaRPr lang="da-DK"/>
          </a:p>
        </p:txBody>
      </p:sp>
    </p:spTree>
    <p:extLst>
      <p:ext uri="{BB962C8B-B14F-4D97-AF65-F5344CB8AC3E}">
        <p14:creationId xmlns:p14="http://schemas.microsoft.com/office/powerpoint/2010/main" val="32229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14</a:t>
            </a:fld>
            <a:endParaRPr lang="da-DK"/>
          </a:p>
        </p:txBody>
      </p:sp>
    </p:spTree>
    <p:extLst>
      <p:ext uri="{BB962C8B-B14F-4D97-AF65-F5344CB8AC3E}">
        <p14:creationId xmlns:p14="http://schemas.microsoft.com/office/powerpoint/2010/main" val="1923064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15</a:t>
            </a:fld>
            <a:endParaRPr lang="da-DK"/>
          </a:p>
        </p:txBody>
      </p:sp>
    </p:spTree>
    <p:extLst>
      <p:ext uri="{BB962C8B-B14F-4D97-AF65-F5344CB8AC3E}">
        <p14:creationId xmlns:p14="http://schemas.microsoft.com/office/powerpoint/2010/main" val="3125204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16</a:t>
            </a:fld>
            <a:endParaRPr lang="da-DK"/>
          </a:p>
        </p:txBody>
      </p:sp>
    </p:spTree>
    <p:extLst>
      <p:ext uri="{BB962C8B-B14F-4D97-AF65-F5344CB8AC3E}">
        <p14:creationId xmlns:p14="http://schemas.microsoft.com/office/powerpoint/2010/main" val="3658062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17</a:t>
            </a:fld>
            <a:endParaRPr lang="da-DK"/>
          </a:p>
        </p:txBody>
      </p:sp>
    </p:spTree>
    <p:extLst>
      <p:ext uri="{BB962C8B-B14F-4D97-AF65-F5344CB8AC3E}">
        <p14:creationId xmlns:p14="http://schemas.microsoft.com/office/powerpoint/2010/main" val="3842645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18</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19</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Tilføjet fra B8: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20</a:t>
            </a:fld>
            <a:endParaRPr lang="da-DK"/>
          </a:p>
        </p:txBody>
      </p:sp>
    </p:spTree>
    <p:extLst>
      <p:ext uri="{BB962C8B-B14F-4D97-AF65-F5344CB8AC3E}">
        <p14:creationId xmlns:p14="http://schemas.microsoft.com/office/powerpoint/2010/main" val="39423708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EU benchmark </a:t>
            </a:r>
            <a:r>
              <a:rPr lang="da-DK" err="1"/>
              <a:t>exclusion</a:t>
            </a:r>
            <a:endParaRPr lang="da-DK"/>
          </a:p>
          <a:p>
            <a:r>
              <a:rPr lang="da-DK"/>
              <a:t>Fjernet: </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23</a:t>
            </a:fld>
            <a:endParaRPr lang="da-DK"/>
          </a:p>
        </p:txBody>
      </p:sp>
    </p:spTree>
    <p:extLst>
      <p:ext uri="{BB962C8B-B14F-4D97-AF65-F5344CB8AC3E}">
        <p14:creationId xmlns:p14="http://schemas.microsoft.com/office/powerpoint/2010/main" val="2905105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508000" y="1015788"/>
            <a:ext cx="3513138" cy="5328285"/>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4338638" y="1015789"/>
            <a:ext cx="3513137" cy="5328284"/>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2854" y="2136228"/>
            <a:ext cx="1394622" cy="2068689"/>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3220" y="2085593"/>
            <a:ext cx="1781124" cy="2156098"/>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03319" y="2085593"/>
            <a:ext cx="1658004" cy="2210671"/>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503727" y="4971382"/>
            <a:ext cx="5176690" cy="281214"/>
          </a:xfrm>
        </p:spPr>
        <p:txBody>
          <a:bodyPr/>
          <a:lstStyle>
            <a:lvl1pPr algn="ctr">
              <a:defRPr sz="1400">
                <a:solidFill>
                  <a:schemeClr val="bg1"/>
                </a:solidFill>
              </a:defRPr>
            </a:lvl1pPr>
          </a:lstStyle>
          <a:p>
            <a:r>
              <a:rPr lang="da-DK"/>
              <a:t>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1079500" y="4619652"/>
            <a:ext cx="10033000" cy="182736"/>
          </a:xfrm>
        </p:spPr>
        <p:txBody>
          <a:bodyPr/>
          <a:lstStyle>
            <a:lvl1pPr algn="ctr">
              <a:defRPr sz="1100" spc="300">
                <a:solidFill>
                  <a:schemeClr val="bg1"/>
                </a:solidFill>
              </a:defRPr>
            </a:lvl1pPr>
          </a:lstStyle>
          <a:p>
            <a:r>
              <a:rPr lang="da-DK"/>
              <a:t>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518599" y="985520"/>
            <a:ext cx="4558013" cy="5364480"/>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6472011" y="979593"/>
            <a:ext cx="4558013" cy="5364479"/>
          </a:xfrm>
        </p:spPr>
        <p:txBody>
          <a:bodyPr/>
          <a:lstStyle>
            <a:lvl1pPr marL="0" indent="0">
              <a:lnSpc>
                <a:spcPct val="129000"/>
              </a:lnSpc>
              <a:spcAft>
                <a:spcPts val="0"/>
              </a:spcAft>
              <a:buNone/>
              <a:tabLst>
                <a:tab pos="288000" algn="l"/>
                <a:tab pos="468000" algn="l"/>
                <a:tab pos="4104000" algn="r"/>
              </a:tabLst>
              <a:defRPr sz="900">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‹nr.›</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1079500" y="1587501"/>
            <a:ext cx="10033000" cy="1460499"/>
          </a:xfrm>
          <a:solidFill>
            <a:srgbClr val="1B4529"/>
          </a:solidFill>
        </p:spPr>
        <p:txBody>
          <a:bodyPr>
            <a:normAutofit/>
          </a:bodyPr>
          <a:lstStyle>
            <a:lvl1pPr marL="0" indent="0">
              <a:lnSpc>
                <a:spcPct val="100000"/>
              </a:lnSpc>
              <a:spcBef>
                <a:spcPts val="200"/>
              </a:spcBef>
              <a:buFontTx/>
              <a:buNone/>
              <a:defRPr sz="1100">
                <a:solidFill>
                  <a:schemeClr val="bg1"/>
                </a:solidFill>
              </a:defRPr>
            </a:lvl1pPr>
            <a:lvl2pPr marL="180000" indent="0">
              <a:buFontTx/>
              <a:buNone/>
              <a:defRPr sz="1100">
                <a:solidFill>
                  <a:schemeClr val="bg1"/>
                </a:solidFill>
              </a:defRPr>
            </a:lvl2pPr>
            <a:lvl3pPr marL="504000" indent="-162000">
              <a:defRPr sz="1100">
                <a:solidFill>
                  <a:schemeClr val="bg1"/>
                </a:solidFill>
              </a:defRPr>
            </a:lvl3pPr>
            <a:lvl4pPr marL="702000" indent="-162000">
              <a:defRPr sz="1100">
                <a:solidFill>
                  <a:schemeClr val="bg1"/>
                </a:solidFill>
              </a:defRPr>
            </a:lvl4pPr>
            <a:lvl5pPr marL="864000" indent="-162000">
              <a:defRPr sz="1100">
                <a:solidFill>
                  <a:schemeClr val="bg1"/>
                </a:solidFill>
              </a:defRPr>
            </a:lvl5pPr>
          </a:lstStyle>
          <a:p>
            <a:pPr lvl="0"/>
            <a:r>
              <a:rPr lang="da-DK" noProof="0"/>
              <a:t>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518599" y="1015999"/>
            <a:ext cx="11165399" cy="5328073"/>
          </a:xfrm>
          <a:prstGeom prst="rect">
            <a:avLst/>
          </a:prstGeom>
        </p:spPr>
        <p:txBody>
          <a:bodyPr vert="horz" lIns="0" tIns="0" rIns="0" bIns="0" rtlCol="0">
            <a:noAutofit/>
          </a:bodyPr>
          <a:lstStyle/>
          <a:p>
            <a:pPr lvl="0"/>
            <a:r>
              <a:rPr lang="da-DK" noProof="0"/>
              <a:t>Klik for at redigere teksttypografierne i masteren</a:t>
            </a:r>
          </a:p>
          <a:p>
            <a:pPr lvl="1"/>
            <a:r>
              <a:rPr lang="da-DK" noProof="0"/>
              <a:t>Andet niveau</a:t>
            </a:r>
          </a:p>
          <a:p>
            <a:pPr lvl="2"/>
            <a:r>
              <a:rPr lang="da-DK" noProof="0"/>
              <a:t>Tredje niveau</a:t>
            </a:r>
          </a:p>
          <a:p>
            <a:pPr lvl="3"/>
            <a:r>
              <a:rPr lang="da-DK" noProof="0"/>
              <a:t>Fjerde niveau</a:t>
            </a:r>
          </a:p>
          <a:p>
            <a:pPr lvl="4"/>
            <a:r>
              <a:rPr lang="da-DK" noProof="0"/>
              <a:t>Femte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68800" y="6450239"/>
            <a:ext cx="2743200" cy="153888"/>
          </a:xfrm>
          <a:prstGeom prst="rect">
            <a:avLst/>
          </a:prstGeom>
        </p:spPr>
        <p:txBody>
          <a:bodyPr vert="horz" lIns="0" tIns="0" rIns="0" bIns="0" rtlCol="0" anchor="t" anchorCtr="0">
            <a:noAutofit/>
          </a:bodyPr>
          <a:lstStyle>
            <a:lvl1pPr algn="l">
              <a:defRPr sz="1000">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8280504" y="224972"/>
            <a:ext cx="3642695" cy="153888"/>
          </a:xfrm>
          <a:prstGeom prst="rect">
            <a:avLst/>
          </a:prstGeom>
        </p:spPr>
        <p:txBody>
          <a:bodyPr vert="horz" lIns="0" tIns="0" rIns="0" bIns="0" rtlCol="0" anchor="t" anchorCtr="0">
            <a:noAutofit/>
          </a:bodyPr>
          <a:lstStyle>
            <a:lvl1pPr algn="r">
              <a:defRPr sz="1000" b="1">
                <a:solidFill>
                  <a:srgbClr val="5F7D69"/>
                </a:solidFill>
                <a:latin typeface="IBM Plex Sans" panose="020B0503050203000203" pitchFamily="34" charset="0"/>
              </a:defRPr>
            </a:lvl1pPr>
          </a:lstStyle>
          <a:p>
            <a:r>
              <a:rPr lang="da-DK"/>
              <a:t>KLIK FOR AT INDSÆTTE FIRMANAVN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9180000" y="6450239"/>
            <a:ext cx="2743200" cy="153888"/>
          </a:xfrm>
          <a:prstGeom prst="rect">
            <a:avLst/>
          </a:prstGeom>
        </p:spPr>
        <p:txBody>
          <a:bodyPr vert="horz" lIns="0" tIns="0" rIns="0" bIns="0" rtlCol="0" anchor="t" anchorCtr="0">
            <a:noAutofit/>
          </a:bodyPr>
          <a:lstStyle>
            <a:lvl1pPr algn="r">
              <a:defRPr sz="1000">
                <a:solidFill>
                  <a:schemeClr val="tx2">
                    <a:alpha val="70000"/>
                  </a:schemeClr>
                </a:solidFill>
                <a:latin typeface="IBM Plex Sans" panose="020B0503050203000203" pitchFamily="34" charset="0"/>
              </a:defRPr>
            </a:lvl1pPr>
          </a:lstStyle>
          <a:p>
            <a:fld id="{5A0D23CF-C5A3-5445-819D-C647D180BB4B}" type="slidenum">
              <a:rPr lang="da-DK" smtClean="0"/>
              <a:pPr/>
              <a:t>‹nr.›</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518600" y="513927"/>
            <a:ext cx="11165400" cy="249299"/>
          </a:xfrm>
          <a:prstGeom prst="rect">
            <a:avLst/>
          </a:prstGeom>
        </p:spPr>
        <p:txBody>
          <a:bodyPr vert="horz" wrap="square" lIns="0" tIns="0" rIns="0" bIns="0" rtlCol="0" anchor="t" anchorCtr="0">
            <a:spAutoFit/>
          </a:bodyPr>
          <a:lstStyle/>
          <a:p>
            <a:r>
              <a:rPr lang="da-DK" noProof="0"/>
              <a:t>Klik for at redigere titeltypografien i masteren</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p:titleStyle>
    <p:body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1079500" y="4619652"/>
            <a:ext cx="10033000" cy="152349"/>
          </a:xfrm>
        </p:spPr>
        <p:txBody>
          <a:bodyPr/>
          <a:lstStyle/>
          <a:p>
            <a:r>
              <a:rPr lang="da-DK" noProof="0"/>
              <a:t>OPGØRELSE {{</a:t>
            </a:r>
            <a:r>
              <a:rPr lang="da-DK" noProof="0" err="1"/>
              <a:t>insert_year</a:t>
            </a:r>
            <a:r>
              <a:rPr lang="da-DK" noProof="0"/>
              <a:t>}}</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503727" y="4971382"/>
            <a:ext cx="5176690" cy="281214"/>
          </a:xfrm>
        </p:spPr>
        <p:txBody>
          <a:bodyPr/>
          <a:lstStyle/>
          <a:p>
            <a:r>
              <a:rPr lang="da-DK" noProof="0"/>
              <a:t>{{</a:t>
            </a:r>
            <a:r>
              <a:rPr lang="da-DK" noProof="0" err="1"/>
              <a:t>company_name</a:t>
            </a:r>
            <a:r>
              <a:rPr lang="da-DK" noProof="0"/>
              <a:t>}}</a:t>
            </a:r>
            <a:endParaRPr lang="da-DK"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518600" y="513927"/>
            <a:ext cx="11165400" cy="498598"/>
          </a:xfrm>
        </p:spPr>
        <p:txBody>
          <a:bodyPr/>
          <a:lstStyle/>
          <a:p>
            <a:r>
              <a:rPr lang="da-DK" noProof="0"/>
              <a:t>ESG opgørelse</a:t>
            </a:r>
            <a:r>
              <a:rPr lang="da-DK" b="0" noProof="0">
                <a:solidFill>
                  <a:schemeClr val="accent2"/>
                </a:solidFill>
                <a:ea typeface="+mn-ea"/>
                <a:cs typeface="+mn-cs"/>
              </a:rPr>
              <a:t> </a:t>
            </a:r>
            <a:br>
              <a:rPr lang="da-DK" b="0" noProof="0">
                <a:solidFill>
                  <a:schemeClr val="accent2"/>
                </a:solidFill>
                <a:ea typeface="+mn-ea"/>
                <a:cs typeface="+mn-cs"/>
              </a:rPr>
            </a:br>
            <a:endParaRPr lang="da-DK"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518597" y="985520"/>
            <a:ext cx="7845473" cy="5364480"/>
          </a:xfrm>
        </p:spPr>
        <p:txBody>
          <a:bodyPr/>
          <a:lstStyle/>
          <a:p>
            <a:pPr>
              <a:lnSpc>
                <a:spcPct val="150000"/>
              </a:lnSpc>
              <a:tabLst>
                <a:tab pos="287338" algn="l"/>
                <a:tab pos="466725" algn="l"/>
                <a:tab pos="4484688" algn="r"/>
              </a:tabLst>
            </a:pPr>
            <a:endParaRPr lang="da-DK" sz="1200" b="1" noProof="0">
              <a:latin typeface="+mj-lt"/>
            </a:endParaRPr>
          </a:p>
          <a:p>
            <a:pPr>
              <a:lnSpc>
                <a:spcPct val="150000"/>
              </a:lnSpc>
              <a:tabLst>
                <a:tab pos="287338" algn="l"/>
                <a:tab pos="466725" algn="l"/>
                <a:tab pos="4484688" algn="r"/>
              </a:tabLst>
            </a:pP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Generelle oplysninger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kern="1200" spc="-10" noProof="0">
                <a:solidFill>
                  <a:schemeClr val="tx2"/>
                </a:solidFill>
                <a:latin typeface="+mn-lt"/>
                <a:ea typeface="+mn-ea"/>
                <a:cs typeface="+mn-cs"/>
              </a:rPr>
              <a:t>Indsatser, politikker og initiativer for omstilling til en mere bæredygtig økonomi	</a:t>
            </a:r>
            <a:endParaRPr lang="da-DK" sz="1200" b="1"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Energiforbrug				</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err="1">
                <a:latin typeface="+mj-lt"/>
              </a:rPr>
              <a:t>CO₂e</a:t>
            </a:r>
            <a:r>
              <a:rPr lang="da-DK" sz="1200" b="1" noProof="0">
                <a:latin typeface="+mj-lt"/>
              </a:rPr>
              <a:t> udledning 				</a:t>
            </a:r>
            <a:endParaRPr lang="da-DK" sz="1200" noProof="0">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Forurening af luft, vand og jord</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Biodiversitet</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Vand	</a:t>
            </a:r>
            <a:r>
              <a:rPr lang="da-DK" sz="1200" noProof="0">
                <a:latin typeface="+mj-lt"/>
              </a:rPr>
              <a:t> 			</a:t>
            </a:r>
          </a:p>
          <a:p>
            <a:pPr marL="228600" indent="-266400">
              <a:lnSpc>
                <a:spcPct val="150000"/>
              </a:lnSpc>
              <a:buFont typeface="+mj-lt"/>
              <a:buAutoNum type="arabicPeriod"/>
              <a:tabLst>
                <a:tab pos="287338" algn="l"/>
                <a:tab pos="466725" algn="l"/>
                <a:tab pos="4484688" algn="r"/>
              </a:tabLst>
            </a:pPr>
            <a:r>
              <a:rPr lang="da-DK" sz="1200" b="1" noProof="0">
                <a:latin typeface="+mj-lt"/>
              </a:rPr>
              <a:t>Ressourceforbrug, cirkulærøkonomi og affaldshåndtering</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Generelle karakteristika</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Sundhed og sikkerhed</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Egen arbejdsstyrke: Vederlag, overenskomster og uddannelse</a:t>
            </a:r>
            <a:r>
              <a:rPr lang="da-DK" sz="1200" noProof="0">
                <a:latin typeface="+mj-lt"/>
              </a:rPr>
              <a:t>		</a:t>
            </a:r>
            <a:endParaRPr lang="da-DK" sz="1200" noProof="0">
              <a:solidFill>
                <a:schemeClr val="accent2"/>
              </a:solidFill>
              <a:latin typeface="+mj-lt"/>
            </a:endParaRPr>
          </a:p>
          <a:p>
            <a:pPr marL="228600" indent="-266400">
              <a:lnSpc>
                <a:spcPct val="150000"/>
              </a:lnSpc>
              <a:buFont typeface="+mj-lt"/>
              <a:buAutoNum type="arabicPeriod"/>
              <a:tabLst>
                <a:tab pos="287338" algn="l"/>
                <a:tab pos="466725" algn="l"/>
                <a:tab pos="4484688" algn="r"/>
              </a:tabLst>
            </a:pPr>
            <a:r>
              <a:rPr lang="da-DK" sz="1200" b="1" noProof="0">
                <a:latin typeface="+mj-lt"/>
              </a:rPr>
              <a:t>Virksomhedsadfærd</a:t>
            </a:r>
            <a:r>
              <a:rPr lang="da-DK" sz="1200" noProof="0">
                <a:latin typeface="+mj-lt"/>
              </a:rPr>
              <a:t>	 			</a:t>
            </a:r>
            <a:endParaRPr lang="da-DK" sz="1200" noProof="0">
              <a:solidFill>
                <a:schemeClr val="accent2"/>
              </a:solidFill>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sz="1200" noProof="0">
              <a:latin typeface="+mj-lt"/>
            </a:endParaRPr>
          </a:p>
          <a:p>
            <a:pPr>
              <a:tabLst>
                <a:tab pos="287338" algn="l"/>
                <a:tab pos="466725" algn="l"/>
                <a:tab pos="4484688" algn="r"/>
              </a:tabLst>
            </a:pPr>
            <a:endParaRPr lang="da-DK" noProof="0">
              <a:latin typeface="+mj-lt"/>
            </a:endParaRPr>
          </a:p>
          <a:p>
            <a:pPr>
              <a:tabLst>
                <a:tab pos="287338" algn="l"/>
                <a:tab pos="466725" algn="l"/>
                <a:tab pos="4484688" algn="r"/>
              </a:tabLst>
            </a:pPr>
            <a:endParaRPr lang="da-DK"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8280504" y="224972"/>
            <a:ext cx="3642695" cy="153888"/>
          </a:xfrm>
        </p:spPr>
        <p:txBody>
          <a:bodyPr/>
          <a:lstStyle/>
          <a:p>
            <a:r>
              <a:rPr lang="da-DK" noProof="0"/>
              <a:t>{{</a:t>
            </a:r>
            <a:r>
              <a:rPr lang="da-DK" noProof="0" err="1"/>
              <a:t>company_name</a:t>
            </a:r>
            <a:r>
              <a:rPr lang="da-DK"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9180000" y="6450239"/>
            <a:ext cx="2743200" cy="153888"/>
          </a:xfrm>
        </p:spPr>
        <p:txBody>
          <a:bodyPr/>
          <a:lstStyle/>
          <a:p>
            <a:fld id="{5A0D23CF-C5A3-5445-819D-C647D180BB4B}" type="slidenum">
              <a:rPr lang="da-DK" noProof="0" smtClean="0"/>
              <a:pPr/>
              <a:t>2</a:t>
            </a:fld>
            <a:endParaRPr lang="da-DK"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Grundlag for udarbejdelse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508000" y="2965249"/>
            <a:ext cx="3513138" cy="171795"/>
          </a:xfrm>
          <a:prstGeom prst="rect">
            <a:avLst/>
          </a:prstGeom>
        </p:spPr>
        <p:txBody>
          <a:bodyPr lIns="0" tIns="0" rIns="0" bIns="0"/>
          <a:lstStyle>
            <a:lvl1pPr marL="72000" indent="-72000" algn="l" defTabSz="914400" rtl="0" eaLnBrk="1" latinLnBrk="0" hangingPunct="1">
              <a:lnSpc>
                <a:spcPct val="106000"/>
              </a:lnSpc>
              <a:spcBef>
                <a:spcPts val="0"/>
              </a:spcBef>
              <a:buFont typeface="Arial" panose="020B0604020202020204" pitchFamily="34" charset="0"/>
              <a:buChar char="•"/>
              <a:defRPr sz="900" b="0" kern="1200" spc="-10" baseline="0">
                <a:solidFill>
                  <a:schemeClr val="tx2"/>
                </a:solidFill>
                <a:latin typeface="+mn-lt"/>
                <a:ea typeface="+mn-ea"/>
                <a:cs typeface="+mn-cs"/>
              </a:defRPr>
            </a:lvl1pPr>
            <a:lvl2pPr marL="144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2pPr>
            <a:lvl3pPr marL="216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3pPr>
            <a:lvl4pPr marL="288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4pPr>
            <a:lvl5pPr marL="360000" indent="-72000" algn="l" defTabSz="914400" rtl="0" eaLnBrk="1" latinLnBrk="0" hangingPunct="1">
              <a:lnSpc>
                <a:spcPct val="106000"/>
              </a:lnSpc>
              <a:spcBef>
                <a:spcPts val="0"/>
              </a:spcBef>
              <a:buFont typeface="Arial" panose="020B0604020202020204" pitchFamily="34" charset="0"/>
              <a:buChar char="•"/>
              <a:defRPr sz="900" kern="1200" spc="-1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a-DK"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518599" y="5090156"/>
          <a:ext cx="7354375" cy="807110"/>
        </p:xfrm>
        <a:graphic>
          <a:graphicData uri="http://schemas.openxmlformats.org/drawingml/2006/table">
            <a:tbl>
              <a:tblPr firstRow="1">
                <a:tableStyleId>{2A488322-F2BA-4B5B-9748-0D474271808F}</a:tableStyleId>
              </a:tblPr>
              <a:tblGrid>
                <a:gridCol w="3400867">
                  <a:extLst>
                    <a:ext uri="{9D8B030D-6E8A-4147-A177-3AD203B41FA5}">
                      <a16:colId xmlns:a16="http://schemas.microsoft.com/office/drawing/2014/main" val="1902117154"/>
                    </a:ext>
                  </a:extLst>
                </a:gridCol>
                <a:gridCol w="3953508">
                  <a:extLst>
                    <a:ext uri="{9D8B030D-6E8A-4147-A177-3AD203B41FA5}">
                      <a16:colId xmlns:a16="http://schemas.microsoft.com/office/drawing/2014/main" val="1904521774"/>
                    </a:ext>
                  </a:extLst>
                </a:gridCol>
              </a:tblGrid>
              <a:tr h="306958">
                <a:tc gridSpan="2">
                  <a:txBody>
                    <a:bodyPr/>
                    <a:lstStyle/>
                    <a:p>
                      <a:pPr marL="0" algn="l" defTabSz="914400" rtl="0" eaLnBrk="1" latinLnBrk="0" hangingPunct="1"/>
                      <a:r>
                        <a:rPr lang="da-DK" sz="1200" b="1" kern="1200" spc="-10" noProof="0">
                          <a:solidFill>
                            <a:schemeClr val="tx2"/>
                          </a:solidFill>
                          <a:latin typeface="+mn-lt"/>
                          <a:ea typeface="+mn-ea"/>
                          <a:cs typeface="+mn-cs"/>
                        </a:rPr>
                        <a:t>Oversigt over datterselskaber, der indgår i denne ESG-opgørelse </a:t>
                      </a:r>
                      <a:r>
                        <a:rPr lang="da-DK" sz="1200" b="0" kern="1200" spc="-10" noProof="0">
                          <a:solidFill>
                            <a:schemeClr val="tx2"/>
                          </a:solidFill>
                          <a:latin typeface="+mn-lt"/>
                          <a:ea typeface="+mn-ea"/>
                          <a:cs typeface="+mn-cs"/>
                        </a:rPr>
                        <a:t>(pkt. 27d)</a:t>
                      </a:r>
                      <a:endParaRPr lang="da-DK" sz="1200" b="0" i="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177074">
                <a:tc>
                  <a:txBody>
                    <a:bodyPr/>
                    <a:lstStyle/>
                    <a:p>
                      <a:pPr algn="l"/>
                      <a:r>
                        <a:rPr lang="da-DK" sz="1200" b="1" kern="1200" spc="-10" noProof="0">
                          <a:solidFill>
                            <a:schemeClr val="tx2"/>
                          </a:solidFill>
                          <a:latin typeface="+mn-lt"/>
                          <a:ea typeface="+mn-ea"/>
                          <a:cs typeface="+mn-cs"/>
                        </a:rPr>
                        <a:t>Navn på datterselskab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Adresse på datterselskab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45272">
                <a:tc>
                  <a:txBody>
                    <a:bodyPr/>
                    <a:lstStyle/>
                    <a:p>
                      <a:pPr rtl="0" fontAlgn="t">
                        <a:buNone/>
                      </a:pPr>
                      <a:r>
                        <a:rPr lang="da-DK" sz="1200" b="0" i="0" u="none" strike="noStrike" noProof="0">
                          <a:solidFill>
                            <a:srgbClr val="2D55FF"/>
                          </a:solidFill>
                          <a:effectLst/>
                          <a:latin typeface="Inter"/>
                        </a:rPr>
                        <a:t>{{subsidiary}}</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{{subsidiary_address}}</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3</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518599" y="3862384"/>
          <a:ext cx="7354375" cy="1130400"/>
        </p:xfrm>
        <a:graphic>
          <a:graphicData uri="http://schemas.openxmlformats.org/drawingml/2006/table">
            <a:tbl>
              <a:tblPr firstRow="1">
                <a:tableStyleId>{2A488322-F2BA-4B5B-9748-0D474271808F}</a:tableStyleId>
              </a:tblPr>
              <a:tblGrid>
                <a:gridCol w="6194435">
                  <a:extLst>
                    <a:ext uri="{9D8B030D-6E8A-4147-A177-3AD203B41FA5}">
                      <a16:colId xmlns:a16="http://schemas.microsoft.com/office/drawing/2014/main" val="2698153288"/>
                    </a:ext>
                  </a:extLst>
                </a:gridCol>
                <a:gridCol w="1159940">
                  <a:extLst>
                    <a:ext uri="{9D8B030D-6E8A-4147-A177-3AD203B41FA5}">
                      <a16:colId xmlns:a16="http://schemas.microsoft.com/office/drawing/2014/main" val="2119413191"/>
                    </a:ext>
                  </a:extLst>
                </a:gridCol>
              </a:tblGrid>
              <a:tr h="205694">
                <a:tc gridSpan="2">
                  <a:txBody>
                    <a:bodyPr/>
                    <a:lstStyle/>
                    <a:p>
                      <a:r>
                        <a:rPr lang="da-DK" sz="1200" b="1" noProof="0">
                          <a:solidFill>
                            <a:schemeClr val="tx2"/>
                          </a:solidFill>
                        </a:rPr>
                        <a:t>Individuel eller konsolideret rapportering</a:t>
                      </a:r>
                      <a:r>
                        <a:rPr lang="da-DK" sz="1200" b="0" noProof="0">
                          <a:solidFill>
                            <a:schemeClr val="tx2"/>
                          </a:solidFill>
                        </a:rPr>
                        <a:t> (pkt. 27c)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udarbejdet på </a:t>
                      </a:r>
                      <a:r>
                        <a:rPr lang="da-DK" sz="1200" b="1" kern="1200" spc="-10" noProof="0">
                          <a:solidFill>
                            <a:schemeClr val="tx2"/>
                          </a:solidFill>
                          <a:latin typeface="+mn-lt"/>
                          <a:ea typeface="+mn-ea"/>
                          <a:cs typeface="+mn-cs"/>
                        </a:rPr>
                        <a:t>individuel basis </a:t>
                      </a:r>
                      <a:r>
                        <a:rPr lang="da-DK" sz="1200" b="0" kern="1200" spc="-10" noProof="0">
                          <a:solidFill>
                            <a:schemeClr val="tx2"/>
                          </a:solidFill>
                          <a:latin typeface="+mn-lt"/>
                          <a:ea typeface="+mn-ea"/>
                          <a:cs typeface="+mn-cs"/>
                        </a:rPr>
                        <a:t>(dvs. opgørelsen dækker ikke eventuelle datterselskaber)</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yes_subsidiary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942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udarbejdet på et </a:t>
                      </a:r>
                      <a:r>
                        <a:rPr lang="da-DK" sz="1200" b="1" kern="1200" spc="-10" noProof="0">
                          <a:solidFill>
                            <a:schemeClr val="tx2"/>
                          </a:solidFill>
                          <a:latin typeface="+mn-lt"/>
                          <a:ea typeface="+mn-ea"/>
                          <a:cs typeface="+mn-cs"/>
                        </a:rPr>
                        <a:t>konsolideret grundlag </a:t>
                      </a:r>
                      <a:r>
                        <a:rPr lang="da-DK" sz="1200" b="0" kern="1200" spc="-10" noProof="0">
                          <a:solidFill>
                            <a:schemeClr val="tx2"/>
                          </a:solidFill>
                          <a:latin typeface="+mn-lt"/>
                          <a:ea typeface="+mn-ea"/>
                          <a:cs typeface="+mn-cs"/>
                        </a:rPr>
                        <a:t>(dvs. opgørelsen omfatter virksomhedens datterselskaber)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no_subsidiary</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518600" y="2284438"/>
          <a:ext cx="7354375" cy="1331331"/>
        </p:xfrm>
        <a:graphic>
          <a:graphicData uri="http://schemas.openxmlformats.org/drawingml/2006/table">
            <a:tbl>
              <a:tblPr firstRow="1">
                <a:tableStyleId>{2A488322-F2BA-4B5B-9748-0D474271808F}</a:tableStyleId>
              </a:tblPr>
              <a:tblGrid>
                <a:gridCol w="6205585">
                  <a:extLst>
                    <a:ext uri="{9D8B030D-6E8A-4147-A177-3AD203B41FA5}">
                      <a16:colId xmlns:a16="http://schemas.microsoft.com/office/drawing/2014/main" val="2698153288"/>
                    </a:ext>
                  </a:extLst>
                </a:gridCol>
                <a:gridCol w="1148790">
                  <a:extLst>
                    <a:ext uri="{9D8B030D-6E8A-4147-A177-3AD203B41FA5}">
                      <a16:colId xmlns:a16="http://schemas.microsoft.com/office/drawing/2014/main" val="2119413191"/>
                    </a:ext>
                  </a:extLst>
                </a:gridCol>
              </a:tblGrid>
              <a:tr h="391190">
                <a:tc gridSpan="2">
                  <a:txBody>
                    <a:bodyPr/>
                    <a:lstStyle/>
                    <a:p>
                      <a:r>
                        <a:rPr lang="da-DK" sz="1200" b="1" kern="1200" spc="-10" noProof="0" err="1">
                          <a:solidFill>
                            <a:schemeClr val="tx2"/>
                          </a:solidFill>
                          <a:latin typeface="+mn-lt"/>
                          <a:ea typeface="+mn-ea"/>
                          <a:cs typeface="+mn-cs"/>
                        </a:rPr>
                        <a:t>Basismodul</a:t>
                      </a:r>
                      <a:r>
                        <a:rPr lang="da-DK" sz="1200" b="1" kern="1200" spc="-10" noProof="0">
                          <a:solidFill>
                            <a:schemeClr val="tx2"/>
                          </a:solidFill>
                          <a:latin typeface="+mn-lt"/>
                          <a:ea typeface="+mn-ea"/>
                          <a:cs typeface="+mn-cs"/>
                        </a:rPr>
                        <a:t>, eller </a:t>
                      </a:r>
                      <a:r>
                        <a:rPr lang="da-DK" sz="1200" b="1" kern="1200" spc="-10" noProof="0" err="1">
                          <a:solidFill>
                            <a:schemeClr val="tx2"/>
                          </a:solidFill>
                          <a:latin typeface="+mn-lt"/>
                          <a:ea typeface="+mn-ea"/>
                          <a:cs typeface="+mn-cs"/>
                        </a:rPr>
                        <a:t>Basismodul</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 </a:t>
                      </a:r>
                      <a:r>
                        <a:rPr lang="da-DK" sz="1200" b="1" kern="1200" spc="-10" noProof="0">
                          <a:solidFill>
                            <a:schemeClr val="tx2"/>
                          </a:solidFill>
                          <a:latin typeface="+mn-lt"/>
                          <a:ea typeface="+mn-ea"/>
                          <a:cs typeface="+mn-cs"/>
                        </a:rPr>
                        <a:t>Udvidet Modul </a:t>
                      </a:r>
                      <a:r>
                        <a:rPr lang="da-DK" sz="1200" b="0" kern="1200" spc="-10" noProof="0">
                          <a:solidFill>
                            <a:schemeClr val="tx2"/>
                          </a:solidFill>
                          <a:latin typeface="+mn-lt"/>
                          <a:ea typeface="+mn-ea"/>
                          <a:cs typeface="+mn-cs"/>
                        </a:rPr>
                        <a:t>(pkt. 27a)</a:t>
                      </a:r>
                      <a:r>
                        <a:rPr lang="da-DK" sz="1200" b="1" kern="1200" spc="-10" noProof="0">
                          <a:solidFill>
                            <a:schemeClr val="tx2"/>
                          </a:solidFill>
                          <a:latin typeface="+mn-lt"/>
                          <a:ea typeface="+mn-ea"/>
                          <a:cs typeface="+mn-cs"/>
                        </a:rPr>
                        <a: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88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baseret på </a:t>
                      </a:r>
                      <a:r>
                        <a:rPr lang="da-DK" sz="1200" b="1" kern="1200" spc="-10" noProof="0">
                          <a:solidFill>
                            <a:schemeClr val="tx2"/>
                          </a:solidFill>
                          <a:latin typeface="+mn-lt"/>
                          <a:ea typeface="+mn-ea"/>
                          <a:cs typeface="+mn-cs"/>
                        </a:rPr>
                        <a:t>Basismodulet</a:t>
                      </a:r>
                      <a:r>
                        <a:rPr lang="da-DK" sz="1200" b="0" kern="1200" spc="-10" noProof="0">
                          <a:solidFill>
                            <a:schemeClr val="tx2"/>
                          </a:solidFill>
                          <a:latin typeface="+mn-lt"/>
                          <a:ea typeface="+mn-ea"/>
                          <a:cs typeface="+mn-cs"/>
                        </a:rPr>
                        <a:t> i den frivillige SMV-standard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basic_module</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12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Opgørelsen er baseret på </a:t>
                      </a:r>
                      <a:r>
                        <a:rPr lang="da-DK" sz="1200" b="1" kern="1200" spc="-10" noProof="0">
                          <a:solidFill>
                            <a:schemeClr val="tx2"/>
                          </a:solidFill>
                          <a:latin typeface="+mn-lt"/>
                          <a:ea typeface="+mn-ea"/>
                          <a:cs typeface="+mn-cs"/>
                        </a:rPr>
                        <a:t>Basismodulet</a:t>
                      </a:r>
                      <a:r>
                        <a:rPr lang="da-DK" sz="1200" b="0" kern="1200" spc="-10" noProof="0">
                          <a:solidFill>
                            <a:schemeClr val="tx2"/>
                          </a:solidFill>
                          <a:latin typeface="+mn-lt"/>
                          <a:ea typeface="+mn-ea"/>
                          <a:cs typeface="+mn-cs"/>
                        </a:rPr>
                        <a:t> og </a:t>
                      </a:r>
                      <a:r>
                        <a:rPr lang="da-DK" sz="1200" b="1" kern="1200" spc="-10" noProof="0">
                          <a:solidFill>
                            <a:schemeClr val="tx2"/>
                          </a:solidFill>
                          <a:latin typeface="+mn-lt"/>
                          <a:ea typeface="+mn-ea"/>
                          <a:cs typeface="+mn-cs"/>
                        </a:rPr>
                        <a:t>Udvidet Modul </a:t>
                      </a:r>
                      <a:r>
                        <a:rPr lang="da-DK" sz="1200" b="0" kern="1200" spc="-10" noProof="0">
                          <a:solidFill>
                            <a:schemeClr val="tx2"/>
                          </a:solidFill>
                          <a:latin typeface="+mn-lt"/>
                          <a:ea typeface="+mn-ea"/>
                          <a:cs typeface="+mn-cs"/>
                        </a:rPr>
                        <a:t>i den frivillige SMV-standard</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comprehensive</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508000" y="1016000"/>
            <a:ext cx="111654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lang="da-DK" sz="120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8169275" y="3862384"/>
          <a:ext cx="3504125" cy="25195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1902117154"/>
                    </a:ext>
                  </a:extLst>
                </a:gridCol>
                <a:gridCol w="1883720">
                  <a:extLst>
                    <a:ext uri="{9D8B030D-6E8A-4147-A177-3AD203B41FA5}">
                      <a16:colId xmlns:a16="http://schemas.microsoft.com/office/drawing/2014/main" val="1904521774"/>
                    </a:ext>
                  </a:extLst>
                </a:gridCol>
              </a:tblGrid>
              <a:tr h="247918">
                <a:tc gridSpan="2">
                  <a:txBody>
                    <a:bodyPr/>
                    <a:lstStyle/>
                    <a:p>
                      <a:pPr algn="l"/>
                      <a:r>
                        <a:rPr lang="da-DK" sz="1200" b="1" kern="1200" spc="-10" noProof="0">
                          <a:solidFill>
                            <a:schemeClr val="tx2"/>
                          </a:solidFill>
                          <a:latin typeface="+mn-lt"/>
                          <a:ea typeface="+mn-ea"/>
                          <a:cs typeface="+mn-cs"/>
                        </a:rPr>
                        <a:t>Grundlæggende informationer om </a:t>
                      </a:r>
                      <a:r>
                        <a:rPr lang="da-DK" sz="1200" b="0" kern="1200" spc="-10" noProof="0">
                          <a:solidFill>
                            <a:schemeClr val="tx2"/>
                          </a:solidFill>
                          <a:latin typeface="+mn-lt"/>
                          <a:ea typeface="+mn-ea"/>
                          <a:cs typeface="+mn-cs"/>
                        </a:rPr>
                        <a:t> (pkt. 27e, i-v)</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702937">
                <a:tc>
                  <a:txBody>
                    <a:bodyPr/>
                    <a:lstStyle/>
                    <a:p>
                      <a:pPr algn="l"/>
                      <a:r>
                        <a:rPr lang="da-DK" sz="1200" b="1" kern="1200" spc="-10" noProof="0">
                          <a:solidFill>
                            <a:schemeClr val="tx2"/>
                          </a:solidFill>
                          <a:latin typeface="+mn-lt"/>
                          <a:ea typeface="+mn-ea"/>
                          <a:cs typeface="+mn-cs"/>
                        </a:rPr>
                        <a:t>Virksomhedsform</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{{branchekode}}</a:t>
                      </a:r>
                      <a:endParaRPr lang="da-DK" sz="1200" b="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1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NACE sektor kode(r)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{{NACE}}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5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Balancesum (i Euro eller dk)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{{balance}}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25802">
                <a:tc>
                  <a:txBody>
                    <a:bodyPr/>
                    <a:lstStyle/>
                    <a:p>
                      <a:pPr algn="l"/>
                      <a:r>
                        <a:rPr lang="da-DK" sz="1200" b="1" kern="1200" spc="-10" noProof="0">
                          <a:solidFill>
                            <a:schemeClr val="tx2"/>
                          </a:solidFill>
                          <a:latin typeface="+mn-lt"/>
                          <a:ea typeface="+mn-ea"/>
                          <a:cs typeface="+mn-cs"/>
                        </a:rPr>
                        <a:t>Omsætning (i Euro eller dk)</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{{revenue}}</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47918">
                <a:tc>
                  <a:txBody>
                    <a:bodyPr/>
                    <a:lstStyle/>
                    <a:p>
                      <a:pPr algn="l"/>
                      <a:r>
                        <a:rPr lang="da-DK" sz="1200" b="1" kern="1200" spc="-10" noProof="0">
                          <a:solidFill>
                            <a:schemeClr val="tx2"/>
                          </a:solidFill>
                          <a:latin typeface="+mn-lt"/>
                          <a:ea typeface="+mn-ea"/>
                          <a:cs typeface="+mn-cs"/>
                        </a:rPr>
                        <a:t>Antal ansatte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{{total_employees}}</a:t>
                      </a:r>
                      <a:endParaRPr lang="da-DK" sz="1200" noProof="0">
                        <a:effectLst/>
                      </a:endParaRPr>
                    </a:p>
                  </a:txBody>
                  <a:tcPr marL="38100" marR="38100" marT="25400" marB="254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8169275" y="2286881"/>
          <a:ext cx="3504125" cy="1331330"/>
        </p:xfrm>
        <a:graphic>
          <a:graphicData uri="http://schemas.openxmlformats.org/drawingml/2006/table">
            <a:tbl>
              <a:tblPr firstRow="1">
                <a:tableStyleId>{2A488322-F2BA-4B5B-9748-0D474271808F}</a:tableStyleId>
              </a:tblPr>
              <a:tblGrid>
                <a:gridCol w="1620405">
                  <a:extLst>
                    <a:ext uri="{9D8B030D-6E8A-4147-A177-3AD203B41FA5}">
                      <a16:colId xmlns:a16="http://schemas.microsoft.com/office/drawing/2014/main" val="613205895"/>
                    </a:ext>
                  </a:extLst>
                </a:gridCol>
                <a:gridCol w="1883720">
                  <a:extLst>
                    <a:ext uri="{9D8B030D-6E8A-4147-A177-3AD203B41FA5}">
                      <a16:colId xmlns:a16="http://schemas.microsoft.com/office/drawing/2014/main" val="2415866723"/>
                    </a:ext>
                  </a:extLst>
                </a:gridCol>
              </a:tblGrid>
              <a:tr h="498649">
                <a:tc gridSpan="2">
                  <a:txBody>
                    <a:bodyPr/>
                    <a:lstStyle/>
                    <a:p>
                      <a:pPr algn="l"/>
                      <a:r>
                        <a:rPr lang="da-DK" sz="1200" b="1" kern="1200" spc="-10" noProof="0">
                          <a:solidFill>
                            <a:schemeClr val="tx2"/>
                          </a:solidFill>
                          <a:latin typeface="+mn-lt"/>
                          <a:ea typeface="+mn-ea"/>
                          <a:cs typeface="+mn-cs"/>
                        </a:rPr>
                        <a:t>ESG-opgørelsen indeholder udeladelser grundet sensitiv forretningsinformation </a:t>
                      </a:r>
                      <a:r>
                        <a:rPr lang="da-DK" sz="1200" b="0" kern="1200" spc="-10" noProof="0">
                          <a:solidFill>
                            <a:schemeClr val="tx2"/>
                          </a:solidFill>
                          <a:latin typeface="+mn-lt"/>
                          <a:ea typeface="+mn-ea"/>
                          <a:cs typeface="+mn-cs"/>
                        </a:rPr>
                        <a:t>(pkt. 27b)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32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kern="1200" spc="-10" noProof="0">
                          <a:solidFill>
                            <a:schemeClr val="tx2"/>
                          </a:solidFill>
                          <a:latin typeface="+mn-lt"/>
                          <a:ea typeface="+mn-ea"/>
                          <a:cs typeface="+mn-cs"/>
                        </a:rPr>
                        <a:t>Følgende oplysnings-punkter er udeladt</a:t>
                      </a:r>
                    </a:p>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noProof="0">
                          <a:solidFill>
                            <a:schemeClr val="accent2"/>
                          </a:solidFill>
                          <a:latin typeface="+mn-lt"/>
                          <a:cs typeface="Calibri" panose="020F0502020204030204" pitchFamily="34" charset="0"/>
                        </a:rPr>
                        <a:t>{{</a:t>
                      </a:r>
                      <a:r>
                        <a:rPr lang="da-DK" sz="1200" noProof="0" err="1">
                          <a:solidFill>
                            <a:schemeClr val="accent2"/>
                          </a:solidFill>
                          <a:latin typeface="+mn-lt"/>
                          <a:cs typeface="Calibri" panose="020F0502020204030204" pitchFamily="34" charset="0"/>
                        </a:rPr>
                        <a:t>confidentiality_info</a:t>
                      </a:r>
                      <a:r>
                        <a:rPr lang="da-DK" sz="1200" noProof="0">
                          <a:solidFill>
                            <a:schemeClr val="accent2"/>
                          </a:solidFill>
                          <a:latin typeface="+mn-lt"/>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noProof="0"/>
              <a:t>Grundlag for udarbejdelse (B1) - fortsat</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979" y="1108695"/>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8280504" y="224972"/>
            <a:ext cx="3642695" cy="153888"/>
          </a:xfrm>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515952" y="5116019"/>
          <a:ext cx="11197672" cy="841620"/>
        </p:xfrm>
        <a:graphic>
          <a:graphicData uri="http://schemas.openxmlformats.org/drawingml/2006/table">
            <a:tbl>
              <a:tblPr firstRow="1">
                <a:tableStyleId>{2A488322-F2BA-4B5B-9748-0D474271808F}</a:tableStyleId>
              </a:tblPr>
              <a:tblGrid>
                <a:gridCol w="3849511">
                  <a:extLst>
                    <a:ext uri="{9D8B030D-6E8A-4147-A177-3AD203B41FA5}">
                      <a16:colId xmlns:a16="http://schemas.microsoft.com/office/drawing/2014/main" val="3746818765"/>
                    </a:ext>
                  </a:extLst>
                </a:gridCol>
                <a:gridCol w="3694653">
                  <a:extLst>
                    <a:ext uri="{9D8B030D-6E8A-4147-A177-3AD203B41FA5}">
                      <a16:colId xmlns:a16="http://schemas.microsoft.com/office/drawing/2014/main" val="465692987"/>
                    </a:ext>
                  </a:extLst>
                </a:gridCol>
                <a:gridCol w="1948869">
                  <a:extLst>
                    <a:ext uri="{9D8B030D-6E8A-4147-A177-3AD203B41FA5}">
                      <a16:colId xmlns:a16="http://schemas.microsoft.com/office/drawing/2014/main" val="857047578"/>
                    </a:ext>
                  </a:extLst>
                </a:gridCol>
                <a:gridCol w="1704639">
                  <a:extLst>
                    <a:ext uri="{9D8B030D-6E8A-4147-A177-3AD203B41FA5}">
                      <a16:colId xmlns:a16="http://schemas.microsoft.com/office/drawing/2014/main" val="1742107540"/>
                    </a:ext>
                  </a:extLst>
                </a:gridCol>
              </a:tblGrid>
              <a:tr h="252000">
                <a:tc>
                  <a:txBody>
                    <a:bodyPr/>
                    <a:lstStyle/>
                    <a:p>
                      <a:r>
                        <a:rPr lang="da-DK" sz="1200" b="1" kern="1200" spc="-10" noProof="0">
                          <a:solidFill>
                            <a:schemeClr val="tx2"/>
                          </a:solidFill>
                          <a:latin typeface="+mn-lt"/>
                          <a:ea typeface="+mn-ea"/>
                          <a:cs typeface="+mn-cs"/>
                        </a:rPr>
                        <a:t>Navn på ESG-certifikat/miljømærke </a:t>
                      </a:r>
                      <a:r>
                        <a:rPr lang="da-DK" sz="1200" b="0" kern="1200" spc="-10" noProof="0">
                          <a:solidFill>
                            <a:schemeClr val="tx2"/>
                          </a:solidFill>
                          <a:latin typeface="+mn-lt"/>
                          <a:ea typeface="+mn-ea"/>
                          <a:cs typeface="+mn-cs"/>
                        </a:rPr>
                        <a:t>(pkt. 28)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Kort beskrivelse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Dato for udstedelse/</a:t>
                      </a:r>
                    </a:p>
                    <a:p>
                      <a:pPr algn="l"/>
                      <a:r>
                        <a:rPr lang="da-DK" sz="1200" b="1" kern="1200" spc="-10" noProof="0">
                          <a:solidFill>
                            <a:schemeClr val="tx2"/>
                          </a:solidFill>
                          <a:latin typeface="+mn-lt"/>
                          <a:ea typeface="+mn-ea"/>
                          <a:cs typeface="+mn-cs"/>
                        </a:rPr>
                        <a:t>gyldighed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200" b="1" kern="1200" spc="-10" noProof="0">
                          <a:solidFill>
                            <a:schemeClr val="tx2"/>
                          </a:solidFill>
                          <a:latin typeface="+mn-lt"/>
                          <a:ea typeface="+mn-ea"/>
                          <a:cs typeface="+mn-cs"/>
                        </a:rPr>
                        <a:t>Evt. rating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52000">
                <a:tc>
                  <a:txBody>
                    <a:bodyPr/>
                    <a:lstStyle/>
                    <a:p>
                      <a:pPr rtl="0" fontAlgn="ctr">
                        <a:buNone/>
                      </a:pPr>
                      <a:r>
                        <a:rPr lang="da-DK" sz="1200" b="0" i="0" u="none" strike="noStrike" noProof="0">
                          <a:solidFill>
                            <a:srgbClr val="2D55FF"/>
                          </a:solidFill>
                          <a:effectLst/>
                          <a:latin typeface="Inter"/>
                        </a:rPr>
                        <a:t>{{certificate_or_ecolabel}}</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{{description_certificate}}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{{date_certicate}}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{{certiciate_possible_rating}}</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534502" y="1788146"/>
          <a:ext cx="11141546" cy="1199520"/>
        </p:xfrm>
        <a:graphic>
          <a:graphicData uri="http://schemas.openxmlformats.org/drawingml/2006/table">
            <a:tbl>
              <a:tblPr firstRow="1">
                <a:tableStyleId>{2A488322-F2BA-4B5B-9748-0D474271808F}</a:tableStyleId>
              </a:tblPr>
              <a:tblGrid>
                <a:gridCol w="2030586">
                  <a:extLst>
                    <a:ext uri="{9D8B030D-6E8A-4147-A177-3AD203B41FA5}">
                      <a16:colId xmlns:a16="http://schemas.microsoft.com/office/drawing/2014/main" val="2041236584"/>
                    </a:ext>
                  </a:extLst>
                </a:gridCol>
                <a:gridCol w="2156287">
                  <a:extLst>
                    <a:ext uri="{9D8B030D-6E8A-4147-A177-3AD203B41FA5}">
                      <a16:colId xmlns:a16="http://schemas.microsoft.com/office/drawing/2014/main" val="2637180759"/>
                    </a:ext>
                  </a:extLst>
                </a:gridCol>
                <a:gridCol w="1647611">
                  <a:extLst>
                    <a:ext uri="{9D8B030D-6E8A-4147-A177-3AD203B41FA5}">
                      <a16:colId xmlns:a16="http://schemas.microsoft.com/office/drawing/2014/main" val="1126871569"/>
                    </a:ext>
                  </a:extLst>
                </a:gridCol>
                <a:gridCol w="1610162">
                  <a:extLst>
                    <a:ext uri="{9D8B030D-6E8A-4147-A177-3AD203B41FA5}">
                      <a16:colId xmlns:a16="http://schemas.microsoft.com/office/drawing/2014/main" val="573454477"/>
                    </a:ext>
                  </a:extLst>
                </a:gridCol>
                <a:gridCol w="1784912">
                  <a:extLst>
                    <a:ext uri="{9D8B030D-6E8A-4147-A177-3AD203B41FA5}">
                      <a16:colId xmlns:a16="http://schemas.microsoft.com/office/drawing/2014/main" val="3277283369"/>
                    </a:ext>
                  </a:extLst>
                </a:gridCol>
                <a:gridCol w="1911988">
                  <a:extLst>
                    <a:ext uri="{9D8B030D-6E8A-4147-A177-3AD203B41FA5}">
                      <a16:colId xmlns:a16="http://schemas.microsoft.com/office/drawing/2014/main" val="3975353283"/>
                    </a:ext>
                  </a:extLst>
                </a:gridCol>
              </a:tblGrid>
              <a:tr h="3240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Adresser og geolokation på </a:t>
                      </a:r>
                      <a:r>
                        <a:rPr lang="da-DK" sz="1200" b="1" u="none" kern="1200" spc="-10" noProof="0">
                          <a:solidFill>
                            <a:schemeClr val="tx2"/>
                          </a:solidFill>
                          <a:latin typeface="+mn-lt"/>
                          <a:ea typeface="+mn-ea"/>
                          <a:cs typeface="+mn-cs"/>
                        </a:rPr>
                        <a:t>væsentlige</a:t>
                      </a:r>
                      <a:r>
                        <a:rPr lang="da-DK" sz="1200" b="1" kern="1200" spc="-10" noProof="0">
                          <a:solidFill>
                            <a:schemeClr val="tx2"/>
                          </a:solidFill>
                          <a:latin typeface="+mn-lt"/>
                          <a:ea typeface="+mn-ea"/>
                          <a:cs typeface="+mn-cs"/>
                        </a:rPr>
                        <a:t> aktiver og anlæg, som virksomheden</a:t>
                      </a:r>
                      <a:r>
                        <a:rPr lang="da-DK" sz="1200" b="0" kern="1200" spc="-10" noProof="0" dirty="0">
                          <a:solidFill>
                            <a:schemeClr val="tx2"/>
                          </a:solidFill>
                          <a:latin typeface="+mn-lt"/>
                          <a:ea typeface="+mn-ea"/>
                          <a:cs typeface="+mn-cs"/>
                        </a:rPr>
                        <a:t> </a:t>
                      </a:r>
                      <a:r>
                        <a:rPr lang="da-DK" sz="1200" b="1" kern="1200" spc="-10" noProof="0">
                          <a:solidFill>
                            <a:schemeClr val="tx2"/>
                          </a:solidFill>
                          <a:latin typeface="+mn-lt"/>
                          <a:ea typeface="+mn-ea"/>
                          <a:cs typeface="+mn-cs"/>
                        </a:rPr>
                        <a:t>ejer, lejer eller forvalter </a:t>
                      </a:r>
                      <a:r>
                        <a:rPr lang="da-DK" sz="1200" b="0" kern="1200" spc="-10" noProof="0">
                          <a:solidFill>
                            <a:schemeClr val="tx2"/>
                          </a:solidFill>
                          <a:latin typeface="+mn-lt"/>
                          <a:ea typeface="+mn-ea"/>
                          <a:cs typeface="+mn-cs"/>
                        </a:rPr>
                        <a:t>(pkt.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324000">
                <a:tc>
                  <a:txBody>
                    <a:bodyPr/>
                    <a:lstStyle/>
                    <a:p>
                      <a:pPr algn="l"/>
                      <a:r>
                        <a:rPr lang="da-DK" sz="1200" b="1" kern="1200" spc="-10" noProof="0">
                          <a:solidFill>
                            <a:schemeClr val="tx2"/>
                          </a:solidFill>
                          <a:latin typeface="+mn-lt"/>
                          <a:ea typeface="+mn-ea"/>
                          <a:cs typeface="+mn-cs"/>
                        </a:rPr>
                        <a:t>Sted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Adresse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Postnummer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By</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Land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Geolokation (koordinater)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324000">
                <a:tc>
                  <a:txBody>
                    <a:bodyPr/>
                    <a:lstStyle/>
                    <a:p>
                      <a:pPr rtl="0" fontAlgn="t">
                        <a:buNone/>
                      </a:pPr>
                      <a:r>
                        <a:rPr lang="da-DK" sz="1200" b="0" i="0" u="none" strike="noStrike" noProof="0">
                          <a:solidFill>
                            <a:srgbClr val="2D55FF"/>
                          </a:solidFill>
                          <a:effectLst/>
                          <a:latin typeface="Inter"/>
                        </a:rPr>
                        <a:t>{{geolocation}}</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{{geolocation_adress}}</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{{geolocation_postcode}}</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{{geolocation_city}}</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{{geolocation_country}}</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{{geolocation_coordinates}}</a:t>
                      </a:r>
                      <a:endParaRPr lang="da-DK" sz="1200" b="0" noProof="0">
                        <a:effectLst/>
                      </a:endParaRPr>
                    </a:p>
                  </a:txBody>
                  <a:tcPr marL="19050" marR="19050" marT="12700" marB="127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515952" y="1016000"/>
            <a:ext cx="11168048" cy="646331"/>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en beskrivelse af virksomhedens geolokationer, samt hvor virksomheden opererer. Disse oplysninger kan anvendes til klimarelaterede risikozoner og giver oplysninger om virksomhedens anlæg, faciliteter og/eller hovedkvarter</a:t>
            </a:r>
            <a:r>
              <a:rPr lang="da-DK" sz="1200" noProof="0">
                <a:solidFill>
                  <a:schemeClr val="tx2"/>
                </a:solidFill>
                <a:latin typeface="Inter"/>
              </a:rPr>
              <a:t>. Relevante bæredygtighedscertificeringer eller -mærker er også angivet, herunder udsteder af certificeringen, dato og eventuel rating.</a:t>
            </a:r>
            <a:endParaRPr lang="da-DK" sz="120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515952" y="4768057"/>
            <a:ext cx="8180576" cy="276999"/>
          </a:xfrm>
          <a:prstGeom prst="rect">
            <a:avLst/>
          </a:prstGeom>
          <a:noFill/>
        </p:spPr>
        <p:txBody>
          <a:bodyPr wrap="square">
            <a:spAutoFit/>
          </a:bodyPr>
          <a:lstStyle/>
          <a:p>
            <a:r>
              <a:rPr lang="da-DK" sz="1200" noProof="0">
                <a:solidFill>
                  <a:srgbClr val="487477"/>
                </a:solidFill>
                <a:latin typeface="Inter"/>
              </a:rPr>
              <a:t>Virksomhedens certifikater og miljømærker er listet nedenfor.</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Indsatser, politikker og fremtidige initiativer for omstilling til en mere bæredygtig økonomi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518600" y="1711777"/>
          <a:ext cx="11165401" cy="3831445"/>
        </p:xfrm>
        <a:graphic>
          <a:graphicData uri="http://schemas.openxmlformats.org/drawingml/2006/table">
            <a:tbl>
              <a:tblPr firstRow="1">
                <a:tableStyleId>{2A488322-F2BA-4B5B-9748-0D474271808F}</a:tableStyleId>
              </a:tblPr>
              <a:tblGrid>
                <a:gridCol w="1996000">
                  <a:extLst>
                    <a:ext uri="{9D8B030D-6E8A-4147-A177-3AD203B41FA5}">
                      <a16:colId xmlns:a16="http://schemas.microsoft.com/office/drawing/2014/main" val="1902117154"/>
                    </a:ext>
                  </a:extLst>
                </a:gridCol>
                <a:gridCol w="2108200">
                  <a:extLst>
                    <a:ext uri="{9D8B030D-6E8A-4147-A177-3AD203B41FA5}">
                      <a16:colId xmlns:a16="http://schemas.microsoft.com/office/drawing/2014/main" val="1904521774"/>
                    </a:ext>
                  </a:extLst>
                </a:gridCol>
                <a:gridCol w="1651000">
                  <a:extLst>
                    <a:ext uri="{9D8B030D-6E8A-4147-A177-3AD203B41FA5}">
                      <a16:colId xmlns:a16="http://schemas.microsoft.com/office/drawing/2014/main" val="3164053669"/>
                    </a:ext>
                  </a:extLst>
                </a:gridCol>
                <a:gridCol w="2311400">
                  <a:extLst>
                    <a:ext uri="{9D8B030D-6E8A-4147-A177-3AD203B41FA5}">
                      <a16:colId xmlns:a16="http://schemas.microsoft.com/office/drawing/2014/main" val="1484983729"/>
                    </a:ext>
                  </a:extLst>
                </a:gridCol>
                <a:gridCol w="3098801">
                  <a:extLst>
                    <a:ext uri="{9D8B030D-6E8A-4147-A177-3AD203B41FA5}">
                      <a16:colId xmlns:a16="http://schemas.microsoft.com/office/drawing/2014/main" val="3920544300"/>
                    </a:ext>
                  </a:extLst>
                </a:gridCol>
              </a:tblGrid>
              <a:tr h="476282">
                <a:tc>
                  <a:txBody>
                    <a:bodyPr/>
                    <a:lstStyle/>
                    <a:p>
                      <a:r>
                        <a:rPr lang="da-DK" sz="1200" b="1" kern="1200" spc="-10" noProof="0">
                          <a:solidFill>
                            <a:schemeClr val="tx2"/>
                          </a:solidFill>
                          <a:latin typeface="+mn-lt"/>
                          <a:ea typeface="+mn-ea"/>
                          <a:cs typeface="+mn-cs"/>
                        </a:rPr>
                        <a:t>Område</a:t>
                      </a:r>
                    </a:p>
                    <a:p>
                      <a:r>
                        <a:rPr lang="da-DK" sz="1200" b="0" kern="1200" spc="-10" noProof="0">
                          <a:solidFill>
                            <a:schemeClr val="tx2"/>
                          </a:solidFill>
                          <a:latin typeface="+mn-lt"/>
                          <a:ea typeface="+mn-ea"/>
                          <a:cs typeface="+mn-cs"/>
                        </a:rPr>
                        <a:t>(pkt. 29a-d)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en konkret indsats eller politik på området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Er politikken offentligt tilgængelig? </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fremtidige initiativer og planer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Virksomheden har konkrete målsætninger til at monitorere implementering af indsatser og politikker?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04503">
                <a:tc>
                  <a:txBody>
                    <a:bodyPr/>
                    <a:lstStyle/>
                    <a:p>
                      <a:pPr algn="l"/>
                      <a:r>
                        <a:rPr lang="da-DK" sz="1200" b="1" kern="1200" spc="-10" noProof="0">
                          <a:solidFill>
                            <a:schemeClr val="tx2"/>
                          </a:solidFill>
                          <a:latin typeface="+mn-lt"/>
                          <a:ea typeface="+mn-ea"/>
                          <a:cs typeface="+mn-cs"/>
                        </a:rPr>
                        <a:t>Klimaforandringer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{{climate_change_concrete}}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{{climate_change_publicly}}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{{climate_change_future}}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{{climate_change_plan}}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967">
                <a:tc>
                  <a:txBody>
                    <a:bodyPr/>
                    <a:lstStyle/>
                    <a:p>
                      <a:pPr algn="l"/>
                      <a:r>
                        <a:rPr lang="da-DK" sz="1200" b="1" kern="1200" spc="-10" noProof="0">
                          <a:solidFill>
                            <a:schemeClr val="tx2"/>
                          </a:solidFill>
                          <a:latin typeface="+mn-lt"/>
                          <a:ea typeface="+mn-ea"/>
                          <a:cs typeface="+mn-cs"/>
                        </a:rPr>
                        <a:t>Forurening</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{{pollution_concrete}}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{{pollution_publicly}}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{{pollution_future}}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{{pollution_plan}}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97174">
                <a:tc>
                  <a:txBody>
                    <a:bodyPr/>
                    <a:lstStyle/>
                    <a:p>
                      <a:pPr algn="l"/>
                      <a:r>
                        <a:rPr lang="da-DK" sz="1200" b="1" kern="1200" spc="-10" noProof="0">
                          <a:solidFill>
                            <a:schemeClr val="tx2"/>
                          </a:solidFill>
                          <a:latin typeface="+mn-lt"/>
                          <a:ea typeface="+mn-ea"/>
                          <a:cs typeface="+mn-cs"/>
                        </a:rPr>
                        <a:t>Vand -og Havressourcer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{{water_concrete}}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{{water_publicly}}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{{water_future}}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{{water_plan}}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97174">
                <a:tc>
                  <a:txBody>
                    <a:bodyPr/>
                    <a:lstStyle/>
                    <a:p>
                      <a:pPr algn="l"/>
                      <a:r>
                        <a:rPr lang="da-DK" sz="1200" b="1" kern="1200" spc="-10" noProof="0">
                          <a:solidFill>
                            <a:schemeClr val="tx2"/>
                          </a:solidFill>
                          <a:latin typeface="+mn-lt"/>
                          <a:ea typeface="+mn-ea"/>
                          <a:cs typeface="+mn-cs"/>
                        </a:rPr>
                        <a:t>Biodiversitet og Økosystemer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{{biodiversity_concrete}}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{{biodiversity_publicly}}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{{biodiversity_future}}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{{biodiversity_plan}}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97174">
                <a:tc>
                  <a:txBody>
                    <a:bodyPr/>
                    <a:lstStyle/>
                    <a:p>
                      <a:pPr algn="l"/>
                      <a:r>
                        <a:rPr lang="da-DK" sz="1200" b="1" kern="1200" spc="-10" noProof="0">
                          <a:solidFill>
                            <a:schemeClr val="tx2"/>
                          </a:solidFill>
                          <a:latin typeface="+mn-lt"/>
                          <a:ea typeface="+mn-ea"/>
                          <a:cs typeface="+mn-cs"/>
                        </a:rPr>
                        <a:t>Cirkulær økonomi</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{{circular_concrete}}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{{circular_publicly}}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{{circular_future}}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{{circular_plan}}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97174">
                <a:tc>
                  <a:txBody>
                    <a:bodyPr/>
                    <a:lstStyle/>
                    <a:p>
                      <a:pPr algn="l"/>
                      <a:r>
                        <a:rPr lang="da-DK" sz="1200" b="1" kern="1200" spc="-10" noProof="0">
                          <a:solidFill>
                            <a:schemeClr val="tx2"/>
                          </a:solidFill>
                          <a:latin typeface="+mn-lt"/>
                          <a:ea typeface="+mn-ea"/>
                          <a:cs typeface="+mn-cs"/>
                        </a:rPr>
                        <a:t>Egen arbejdsstyrke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{{workforce_concrete}}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{{workforce_publicly}}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{{workforce_future}}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{{workforce_plan}}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97174">
                <a:tc>
                  <a:txBody>
                    <a:bodyPr/>
                    <a:lstStyle/>
                    <a:p>
                      <a:pPr algn="l"/>
                      <a:r>
                        <a:rPr lang="da-DK" sz="1200" b="1" kern="1200" spc="-10" noProof="0">
                          <a:solidFill>
                            <a:schemeClr val="tx2"/>
                          </a:solidFill>
                          <a:latin typeface="+mn-lt"/>
                          <a:ea typeface="+mn-ea"/>
                          <a:cs typeface="+mn-cs"/>
                        </a:rPr>
                        <a:t>Arbejdere i værdikæden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{{workers_concrete}}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{{workers_publicly}}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{{workers_future}}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{{workers_plan}}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97174">
                <a:tc>
                  <a:txBody>
                    <a:bodyPr/>
                    <a:lstStyle/>
                    <a:p>
                      <a:pPr algn="l"/>
                      <a:r>
                        <a:rPr lang="da-DK" sz="1200" b="1" kern="1200" spc="-10" noProof="0">
                          <a:solidFill>
                            <a:schemeClr val="tx2"/>
                          </a:solidFill>
                          <a:latin typeface="+mn-lt"/>
                          <a:ea typeface="+mn-ea"/>
                          <a:cs typeface="+mn-cs"/>
                        </a:rPr>
                        <a:t>Berørte samfund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{{communities_concrete}}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{{communities_publicly}}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{{communities_future}}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{{communities_plan}}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97174">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{{consumers_concrete}}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{{consumers_publicly}}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{{consumers_future}}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{{consumers_plan}}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97174">
                <a:tc>
                  <a:txBody>
                    <a:bodyPr/>
                    <a:lstStyle/>
                    <a:p>
                      <a:pPr algn="l"/>
                      <a:r>
                        <a:rPr lang="da-DK" sz="1200" b="1" kern="1200" spc="-10" noProof="0">
                          <a:solidFill>
                            <a:schemeClr val="tx2"/>
                          </a:solidFill>
                          <a:latin typeface="+mn-lt"/>
                          <a:ea typeface="+mn-ea"/>
                          <a:cs typeface="+mn-cs"/>
                        </a:rPr>
                        <a:t>Virksomhedsledelse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{{governance_concrete}}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{{governance_publicly}}</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{{governance_future}}</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nter"/>
                        </a:rPr>
                        <a:t>{{governance_plan}}</a:t>
                      </a:r>
                      <a:endParaRPr lang="da-DK">
                        <a:latin typeface="Inter"/>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518600" y="1016000"/>
            <a:ext cx="11154800" cy="646331"/>
          </a:xfrm>
          <a:prstGeom prst="rect">
            <a:avLst/>
          </a:prstGeom>
          <a:noFill/>
        </p:spPr>
        <p:txBody>
          <a:bodyPr wrap="square">
            <a:spAutoFit/>
          </a:bodyPr>
          <a:lstStyle/>
          <a:p>
            <a:pPr rtl="0">
              <a:spcBef>
                <a:spcPts val="900"/>
              </a:spcBef>
              <a:buNone/>
            </a:pPr>
            <a:r>
              <a:rPr lang="da-DK" sz="1200" b="0" i="0" u="none" strike="noStrike" noProof="0">
                <a:solidFill>
                  <a:schemeClr val="tx2"/>
                </a:solidFill>
                <a:effectLst/>
                <a:latin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1200" noProof="0">
                <a:solidFill>
                  <a:schemeClr val="tx2"/>
                </a:solidFill>
              </a:rPr>
            </a:br>
            <a:endParaRPr lang="da-DK" sz="120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5A0D23CF-C5A3-5445-819D-C647D180BB4B}" type="slidenum">
              <a:rPr lang="da-DK" noProof="0" smtClean="0"/>
              <a:pPr/>
              <a:t>5</a:t>
            </a:fld>
            <a:endParaRPr lang="da-DK"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Energiforbrug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505570" y="1550345"/>
          <a:ext cx="11178430" cy="1924252"/>
        </p:xfrm>
        <a:graphic>
          <a:graphicData uri="http://schemas.openxmlformats.org/drawingml/2006/table">
            <a:tbl>
              <a:tblPr firstRow="1">
                <a:tableStyleId>{2A488322-F2BA-4B5B-9748-0D474271808F}</a:tableStyleId>
              </a:tblPr>
              <a:tblGrid>
                <a:gridCol w="3033798">
                  <a:extLst>
                    <a:ext uri="{9D8B030D-6E8A-4147-A177-3AD203B41FA5}">
                      <a16:colId xmlns:a16="http://schemas.microsoft.com/office/drawing/2014/main" val="2698153288"/>
                    </a:ext>
                  </a:extLst>
                </a:gridCol>
                <a:gridCol w="2816104">
                  <a:extLst>
                    <a:ext uri="{9D8B030D-6E8A-4147-A177-3AD203B41FA5}">
                      <a16:colId xmlns:a16="http://schemas.microsoft.com/office/drawing/2014/main" val="1451447067"/>
                    </a:ext>
                  </a:extLst>
                </a:gridCol>
                <a:gridCol w="2969808">
                  <a:extLst>
                    <a:ext uri="{9D8B030D-6E8A-4147-A177-3AD203B41FA5}">
                      <a16:colId xmlns:a16="http://schemas.microsoft.com/office/drawing/2014/main" val="2943870936"/>
                    </a:ext>
                  </a:extLst>
                </a:gridCol>
                <a:gridCol w="2358720">
                  <a:extLst>
                    <a:ext uri="{9D8B030D-6E8A-4147-A177-3AD203B41FA5}">
                      <a16:colId xmlns:a16="http://schemas.microsoft.com/office/drawing/2014/main" val="656209149"/>
                    </a:ext>
                  </a:extLst>
                </a:gridCol>
              </a:tblGrid>
              <a:tr h="249277">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Energiforbrug i MWh </a:t>
                      </a:r>
                      <a:r>
                        <a:rPr lang="da-DK" sz="1200" b="0" noProof="0">
                          <a:solidFill>
                            <a:schemeClr val="tx2"/>
                          </a:solidFill>
                        </a:rPr>
                        <a:t>(pkt. 32)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9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9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96324">
                <a:tc>
                  <a:txBody>
                    <a:bodyPr/>
                    <a:lstStyle/>
                    <a:p>
                      <a:pPr>
                        <a:lnSpc>
                          <a:spcPct val="106000"/>
                        </a:lnSpc>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200" b="1" noProof="0">
                          <a:solidFill>
                            <a:schemeClr val="tx2"/>
                          </a:solidFill>
                        </a:rPr>
                        <a:t>Vedvarende energiforbrug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200" b="1" noProof="0">
                          <a:solidFill>
                            <a:schemeClr val="tx2"/>
                          </a:solidFill>
                        </a:rPr>
                        <a:t>Ikke-vedvarende energiforbrug</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Total energiforbrug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96324">
                <a:tc>
                  <a:txBody>
                    <a:bodyPr/>
                    <a:lstStyle/>
                    <a:p>
                      <a:pPr>
                        <a:lnSpc>
                          <a:spcPct val="106000"/>
                        </a:lnSpc>
                      </a:pPr>
                      <a:r>
                        <a:rPr lang="da-DK" sz="1200" b="1" noProof="0">
                          <a:solidFill>
                            <a:schemeClr val="tx2"/>
                          </a:solidFill>
                        </a:rPr>
                        <a:t>Elektricitet </a:t>
                      </a:r>
                      <a:r>
                        <a:rPr lang="da-DK" sz="1200" b="0" noProof="0">
                          <a:solidFill>
                            <a:schemeClr val="tx2"/>
                          </a:solidFill>
                        </a:rPr>
                        <a:t>(som det fremgår af virksomhedens forbrugsregninger)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electricity_renewable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electricity_non_rewenable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total_electricity</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49277">
                <a:tc>
                  <a:txBody>
                    <a:bodyPr/>
                    <a:lstStyle/>
                    <a:p>
                      <a:pPr>
                        <a:lnSpc>
                          <a:spcPct val="106000"/>
                        </a:lnSpc>
                      </a:pPr>
                      <a:r>
                        <a:rPr lang="da-DK" sz="1200" b="1" noProof="0">
                          <a:solidFill>
                            <a:schemeClr val="tx2"/>
                          </a:solidFill>
                        </a:rPr>
                        <a:t>Brændstoffer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fuel_renewable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fuel_non_rewenable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total_fuel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49277">
                <a:tc>
                  <a:txBody>
                    <a:bodyPr/>
                    <a:lstStyle/>
                    <a:p>
                      <a:pPr>
                        <a:lnSpc>
                          <a:spcPct val="106000"/>
                        </a:lnSpc>
                      </a:pPr>
                      <a:r>
                        <a:rPr lang="da-DK" sz="1200" b="1" noProof="0">
                          <a:solidFill>
                            <a:schemeClr val="tx2"/>
                          </a:solidFill>
                        </a:rPr>
                        <a:t>Andet (fx fjernvarme)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district_heating_rewenable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district_heating_non_rewenable</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total_district_heating</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49277">
                <a:tc>
                  <a:txBody>
                    <a:bodyPr/>
                    <a:lstStyle/>
                    <a:p>
                      <a:pPr>
                        <a:lnSpc>
                          <a:spcPct val="106000"/>
                        </a:lnSpc>
                      </a:pPr>
                      <a:r>
                        <a:rPr lang="da-DK" sz="1200" b="1" noProof="0">
                          <a:solidFill>
                            <a:schemeClr val="tx2"/>
                          </a:solidFill>
                        </a:rPr>
                        <a:t>Total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renewable_energy_total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non_rewenable_energy_total</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total_energy_consumption</a:t>
                      </a:r>
                      <a:r>
                        <a:rPr lang="da-DK" sz="1200" b="0" i="0" u="none" strike="noStrike" noProof="0">
                          <a:solidFill>
                            <a:srgbClr val="2D55FF"/>
                          </a:solidFill>
                          <a:effectLst/>
                          <a:latin typeface="IBM Plex Sans" panose="020B0503050203000203" pitchFamily="34" charset="0"/>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6</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505570" y="1024229"/>
            <a:ext cx="11178430" cy="4124206"/>
          </a:xfrm>
          <a:prstGeom prst="rect">
            <a:avLst/>
          </a:prstGeom>
          <a:noFill/>
        </p:spPr>
        <p:txBody>
          <a:bodyPr wrap="square" lIns="91440" tIns="45720" rIns="91440" bIns="45720" anchor="t">
            <a:spAutoFit/>
          </a:bodyPr>
          <a:lstStyle/>
          <a:p>
            <a:r>
              <a:rPr lang="da-DK" sz="1200" b="0" i="0" u="none" strike="noStrike" noProof="0">
                <a:solidFill>
                  <a:schemeClr val="tx2"/>
                </a:solidFill>
                <a:effectLst/>
                <a:latin typeface="Inter"/>
              </a:rPr>
              <a:t>Dette afsnit angiver virksomhedens CO2-udledning fra energiforbrug og angiver vedvarende og ikke-vedvarende forbrug. </a:t>
            </a:r>
            <a:r>
              <a:rPr lang="da-DK" sz="1200" noProof="0">
                <a:solidFill>
                  <a:schemeClr val="tx2"/>
                </a:solidFill>
                <a:latin typeface="Inter"/>
              </a:rPr>
              <a:t>Udledningerne er oplyst ud fra </a:t>
            </a:r>
            <a:r>
              <a:rPr lang="da-DK" sz="1200" b="0" i="0" u="none" strike="noStrike" noProof="0">
                <a:solidFill>
                  <a:schemeClr val="tx2"/>
                </a:solidFill>
                <a:effectLst/>
                <a:latin typeface="Inter"/>
              </a:rPr>
              <a:t>GHG-protokollens definitioner afhvad direkte og indirekte emissioner omfatter. </a:t>
            </a:r>
            <a:br>
              <a:rPr lang="da-DK" sz="1200" b="0" i="0" u="none" strike="noStrike" noProof="0" dirty="0">
                <a:effectLst/>
                <a:latin typeface="Inter"/>
              </a:rPr>
            </a:br>
            <a:br>
              <a:rPr lang="da-DK" sz="1200" dirty="0">
                <a:latin typeface="Inter"/>
              </a:rPr>
            </a:br>
            <a:r>
              <a:rPr lang="da-DK" sz="800" b="0" i="0" u="none" strike="noStrike" noProof="0" dirty="0">
                <a:solidFill>
                  <a:schemeClr val="tx2"/>
                </a:solidFill>
                <a:effectLst/>
                <a:latin typeface="Inter"/>
              </a:rPr>
              <a:t> </a:t>
            </a:r>
            <a:endParaRPr lang="da-DK" sz="1200" b="0" i="0" u="none" strike="noStrike" noProof="0" dirty="0">
              <a:solidFill>
                <a:schemeClr val="tx2"/>
              </a:solidFill>
              <a:effectLst/>
              <a:latin typeface="Inter"/>
            </a:endParaRPr>
          </a:p>
          <a:p>
            <a:pPr rtl="0">
              <a:buNone/>
            </a:pPr>
            <a:endParaRPr lang="da-DK" sz="1200" b="0" noProof="0">
              <a:solidFill>
                <a:schemeClr val="tx2"/>
              </a:solidFill>
              <a:effectLst/>
              <a:latin typeface="Inter"/>
            </a:endParaRPr>
          </a:p>
          <a:p>
            <a:pPr>
              <a:buNone/>
            </a:pPr>
            <a:endParaRPr lang="da-DK" b="0" noProof="0">
              <a:solidFill>
                <a:schemeClr val="tx2"/>
              </a:solidFill>
              <a:effectLst/>
              <a:latin typeface="Inter"/>
            </a:endParaRPr>
          </a:p>
          <a:p>
            <a:pPr>
              <a:buNone/>
            </a:pPr>
            <a:endParaRPr lang="da-DK" sz="1600" noProof="0">
              <a:solidFill>
                <a:schemeClr val="tx2"/>
              </a:solidFill>
              <a:latin typeface="Inter"/>
            </a:endParaRPr>
          </a:p>
          <a:p>
            <a:pPr>
              <a:buNone/>
            </a:pPr>
            <a:endParaRPr lang="da-DK" sz="1600" b="0" noProof="0">
              <a:solidFill>
                <a:schemeClr val="tx2"/>
              </a:solidFill>
              <a:effectLst/>
              <a:latin typeface="Inter"/>
            </a:endParaRPr>
          </a:p>
          <a:p>
            <a:pPr>
              <a:buNone/>
            </a:pPr>
            <a:endParaRPr lang="da-DK" sz="1600" noProof="0">
              <a:solidFill>
                <a:schemeClr val="tx2"/>
              </a:solidFill>
              <a:latin typeface="Inter"/>
            </a:endParaRPr>
          </a:p>
          <a:p>
            <a:pPr>
              <a:buNone/>
            </a:pPr>
            <a:endParaRPr lang="da-DK" sz="1600" b="0" noProof="0">
              <a:solidFill>
                <a:schemeClr val="tx2"/>
              </a:solidFill>
              <a:effectLst/>
              <a:latin typeface="Inter"/>
            </a:endParaRPr>
          </a:p>
          <a:p>
            <a:endParaRPr lang="da-DK" sz="1600" b="1">
              <a:latin typeface="+mj-lt"/>
            </a:endParaRPr>
          </a:p>
          <a:p>
            <a:br>
              <a:rPr lang="da-DK" b="1" dirty="0">
                <a:latin typeface="+mj-lt"/>
              </a:rPr>
            </a:br>
            <a:r>
              <a:rPr lang="da-DK" b="1" i="0" u="none" strike="noStrike" noProof="0">
                <a:solidFill>
                  <a:schemeClr val="tx2"/>
                </a:solidFill>
                <a:effectLst/>
                <a:latin typeface="+mj-lt"/>
              </a:rPr>
              <a:t>CO₂e-udledning (B3)</a:t>
            </a:r>
            <a:endParaRPr lang="da-DK" noProof="0">
              <a:solidFill>
                <a:schemeClr val="tx2"/>
              </a:solidFill>
              <a:effectLst/>
              <a:latin typeface="+mj-lt"/>
            </a:endParaRPr>
          </a:p>
          <a:p>
            <a:r>
              <a:rPr lang="da-DK" sz="800" dirty="0">
                <a:latin typeface="Inter"/>
              </a:rPr>
              <a:t> </a:t>
            </a:r>
            <a:br>
              <a:rPr lang="da-DK" sz="1200" dirty="0">
                <a:solidFill>
                  <a:schemeClr val="tx2"/>
                </a:solidFill>
                <a:latin typeface="Inter"/>
              </a:rPr>
            </a:br>
            <a:r>
              <a:rPr lang="da-DK" sz="1200" b="0" i="0" u="none" strike="noStrike" noProof="0">
                <a:solidFill>
                  <a:schemeClr val="tx2"/>
                </a:solidFill>
                <a:effectLst/>
                <a:latin typeface="Inter"/>
              </a:rPr>
              <a:t>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1200" noProof="0">
                <a:solidFill>
                  <a:schemeClr val="tx2"/>
                </a:solidFill>
                <a:latin typeface="Inter"/>
              </a:rPr>
              <a:t> </a:t>
            </a:r>
            <a:r>
              <a:rPr lang="da-DK" sz="1200" b="0" i="0" u="none" strike="noStrike" noProof="0">
                <a:solidFill>
                  <a:schemeClr val="tx2"/>
                </a:solidFill>
                <a:effectLst/>
                <a:latin typeface="Inter"/>
              </a:rPr>
              <a:t>Scope 2</a:t>
            </a:r>
            <a:r>
              <a:rPr lang="da-DK" sz="1200" noProof="0">
                <a:solidFill>
                  <a:schemeClr val="tx2"/>
                </a:solidFill>
                <a:latin typeface="Inter"/>
              </a:rPr>
              <a:t> angiver i</a:t>
            </a:r>
            <a:r>
              <a:rPr lang="da-DK" sz="1200" b="0" i="0" u="none" strike="noStrike" noProof="0">
                <a:solidFill>
                  <a:schemeClr val="tx2"/>
                </a:solidFill>
                <a:effectLst/>
                <a:latin typeface="Inter"/>
              </a:rPr>
              <a:t>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lang="da-DK" sz="120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507990" y="5218755"/>
          <a:ext cx="11176010" cy="1084337"/>
        </p:xfrm>
        <a:graphic>
          <a:graphicData uri="http://schemas.openxmlformats.org/drawingml/2006/table">
            <a:tbl>
              <a:tblPr firstRow="1">
                <a:tableStyleId>{2A488322-F2BA-4B5B-9748-0D474271808F}</a:tableStyleId>
              </a:tblPr>
              <a:tblGrid>
                <a:gridCol w="8848455">
                  <a:extLst>
                    <a:ext uri="{9D8B030D-6E8A-4147-A177-3AD203B41FA5}">
                      <a16:colId xmlns:a16="http://schemas.microsoft.com/office/drawing/2014/main" val="2698153288"/>
                    </a:ext>
                  </a:extLst>
                </a:gridCol>
                <a:gridCol w="2327555">
                  <a:extLst>
                    <a:ext uri="{9D8B030D-6E8A-4147-A177-3AD203B41FA5}">
                      <a16:colId xmlns:a16="http://schemas.microsoft.com/office/drawing/2014/main" val="656209149"/>
                    </a:ext>
                  </a:extLst>
                </a:gridCol>
              </a:tblGrid>
              <a:tr h="271943">
                <a:tc>
                  <a:txBody>
                    <a:bodyPr/>
                    <a:lstStyle/>
                    <a:p>
                      <a:pPr>
                        <a:lnSpc>
                          <a:spcPct val="106000"/>
                        </a:lnSpc>
                      </a:pPr>
                      <a:r>
                        <a:rPr lang="da-DK" sz="1200" b="1" noProof="0">
                          <a:solidFill>
                            <a:schemeClr val="tx2"/>
                          </a:solidFill>
                        </a:rPr>
                        <a:t>Udledning af drivhusgasser </a:t>
                      </a:r>
                      <a:r>
                        <a:rPr lang="da-DK" sz="1200" b="0" noProof="0">
                          <a:solidFill>
                            <a:schemeClr val="tx2"/>
                          </a:solidFill>
                        </a:rPr>
                        <a:t>(pkt. 33)</a:t>
                      </a: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latin typeface="Calibri" panose="020F0502020204030204" pitchFamily="34" charset="0"/>
                          <a:cs typeface="Calibri" panose="020F0502020204030204" pitchFamily="34" charset="0"/>
                        </a:rPr>
                        <a:t>{{</a:t>
                      </a:r>
                      <a:r>
                        <a:rPr lang="da-DK" sz="1200" b="1" noProof="0" err="1">
                          <a:solidFill>
                            <a:schemeClr val="accent2"/>
                          </a:solidFill>
                          <a:latin typeface="Calibri" panose="020F0502020204030204" pitchFamily="34" charset="0"/>
                          <a:cs typeface="Calibri" panose="020F0502020204030204" pitchFamily="34" charset="0"/>
                        </a:rPr>
                        <a:t>insert_year</a:t>
                      </a:r>
                      <a:r>
                        <a:rPr lang="da-DK" sz="1200" b="1" noProof="0">
                          <a:solidFill>
                            <a:schemeClr val="accent2"/>
                          </a:solidFill>
                          <a:latin typeface="Calibri" panose="020F0502020204030204" pitchFamily="34" charset="0"/>
                          <a:cs typeface="Calibri" panose="020F0502020204030204" pitchFamily="34" charset="0"/>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70798">
                <a:tc>
                  <a:txBody>
                    <a:bodyPr/>
                    <a:lstStyle/>
                    <a:p>
                      <a:pPr>
                        <a:lnSpc>
                          <a:spcPct val="106000"/>
                        </a:lnSpc>
                      </a:pPr>
                      <a:r>
                        <a:rPr lang="da-DK" sz="1200" b="1" noProof="0" err="1">
                          <a:solidFill>
                            <a:schemeClr val="tx2"/>
                          </a:solidFill>
                        </a:rPr>
                        <a:t>Scope</a:t>
                      </a:r>
                      <a:r>
                        <a:rPr lang="da-DK" sz="1200" b="1" noProof="0">
                          <a:solidFill>
                            <a:schemeClr val="tx2"/>
                          </a:solidFill>
                        </a:rPr>
                        <a:t> 1 </a:t>
                      </a:r>
                      <a:r>
                        <a:rPr lang="da-DK" sz="1200" b="1" noProof="0" err="1">
                          <a:solidFill>
                            <a:schemeClr val="tx2"/>
                          </a:solidFill>
                        </a:rPr>
                        <a:t>CO₂e-udledninger</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{{scope1}}</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70798">
                <a:tc>
                  <a:txBody>
                    <a:bodyPr/>
                    <a:lstStyle/>
                    <a:p>
                      <a:pPr>
                        <a:lnSpc>
                          <a:spcPct val="106000"/>
                        </a:lnSpc>
                      </a:pPr>
                      <a:r>
                        <a:rPr lang="da-DK" sz="1200" b="1" noProof="0" err="1">
                          <a:solidFill>
                            <a:schemeClr val="tx2"/>
                          </a:solidFill>
                        </a:rPr>
                        <a:t>Scope</a:t>
                      </a:r>
                      <a:r>
                        <a:rPr lang="da-DK" sz="1200" b="1" noProof="0">
                          <a:solidFill>
                            <a:schemeClr val="tx2"/>
                          </a:solidFill>
                        </a:rPr>
                        <a:t> 2 </a:t>
                      </a:r>
                      <a:r>
                        <a:rPr lang="da-DK" sz="1200" b="1" noProof="0" err="1">
                          <a:solidFill>
                            <a:schemeClr val="tx2"/>
                          </a:solidFill>
                        </a:rPr>
                        <a:t>CO₂e-udledninger</a:t>
                      </a:r>
                      <a:r>
                        <a:rPr lang="da-DK" sz="1200" b="1" noProof="0">
                          <a:solidFill>
                            <a:schemeClr val="tx2"/>
                          </a:solidFill>
                        </a:rPr>
                        <a:t> (lokationsbaseret)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{{scope2}}</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70798">
                <a:tc>
                  <a:txBody>
                    <a:bodyPr/>
                    <a:lstStyle/>
                    <a:p>
                      <a:pPr>
                        <a:lnSpc>
                          <a:spcPct val="106000"/>
                        </a:lnSpc>
                      </a:pPr>
                      <a:r>
                        <a:rPr lang="da-DK" sz="1200" b="1" noProof="0">
                          <a:solidFill>
                            <a:schemeClr val="tx2"/>
                          </a:solidFill>
                        </a:rPr>
                        <a:t>Total </a:t>
                      </a:r>
                      <a:r>
                        <a:rPr lang="da-DK" sz="1200" b="1" noProof="0" err="1">
                          <a:solidFill>
                            <a:schemeClr val="tx2"/>
                          </a:solidFill>
                        </a:rPr>
                        <a:t>CO₂e-udledning</a:t>
                      </a:r>
                      <a:r>
                        <a:rPr lang="da-DK" sz="1200" b="1" noProof="0">
                          <a:solidFill>
                            <a:schemeClr val="tx2"/>
                          </a:solidFill>
                        </a:rPr>
                        <a:t> fra </a:t>
                      </a:r>
                      <a:r>
                        <a:rPr lang="da-DK" sz="1200" b="1" noProof="0" err="1">
                          <a:solidFill>
                            <a:schemeClr val="tx2"/>
                          </a:solidFill>
                        </a:rPr>
                        <a:t>scope</a:t>
                      </a:r>
                      <a:r>
                        <a:rPr lang="da-DK" sz="1200" b="1" noProof="0">
                          <a:solidFill>
                            <a:schemeClr val="tx2"/>
                          </a:solidFill>
                        </a:rPr>
                        <a:t> 1 og </a:t>
                      </a:r>
                      <a:r>
                        <a:rPr lang="da-DK" sz="1200" b="1" noProof="0" err="1">
                          <a:solidFill>
                            <a:schemeClr val="tx2"/>
                          </a:solidFill>
                        </a:rPr>
                        <a:t>scope</a:t>
                      </a:r>
                      <a:r>
                        <a:rPr lang="da-DK" sz="1200" b="1" noProof="0">
                          <a:solidFill>
                            <a:schemeClr val="tx2"/>
                          </a:solidFill>
                        </a:rPr>
                        <a:t> 2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total_scope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Forurening af luft, vand og jord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507998" y="1663288"/>
          <a:ext cx="11157221" cy="799975"/>
        </p:xfrm>
        <a:graphic>
          <a:graphicData uri="http://schemas.openxmlformats.org/drawingml/2006/table">
            <a:tbl>
              <a:tblPr firstRow="1">
                <a:tableStyleId>{2A488322-F2BA-4B5B-9748-0D474271808F}</a:tableStyleId>
              </a:tblPr>
              <a:tblGrid>
                <a:gridCol w="3534713">
                  <a:extLst>
                    <a:ext uri="{9D8B030D-6E8A-4147-A177-3AD203B41FA5}">
                      <a16:colId xmlns:a16="http://schemas.microsoft.com/office/drawing/2014/main" val="2698153288"/>
                    </a:ext>
                  </a:extLst>
                </a:gridCol>
                <a:gridCol w="3408090">
                  <a:extLst>
                    <a:ext uri="{9D8B030D-6E8A-4147-A177-3AD203B41FA5}">
                      <a16:colId xmlns:a16="http://schemas.microsoft.com/office/drawing/2014/main" val="2119413191"/>
                    </a:ext>
                  </a:extLst>
                </a:gridCol>
                <a:gridCol w="4214418">
                  <a:extLst>
                    <a:ext uri="{9D8B030D-6E8A-4147-A177-3AD203B41FA5}">
                      <a16:colId xmlns:a16="http://schemas.microsoft.com/office/drawing/2014/main" val="683090399"/>
                    </a:ext>
                  </a:extLst>
                </a:gridCol>
              </a:tblGrid>
              <a:tr h="279427">
                <a:tc gridSpan="3">
                  <a:txBody>
                    <a:bodyPr/>
                    <a:lstStyle/>
                    <a:p>
                      <a:pPr>
                        <a:lnSpc>
                          <a:spcPct val="106000"/>
                        </a:lnSpc>
                      </a:pPr>
                      <a:r>
                        <a:rPr lang="da-DK" sz="1200" b="1" noProof="0">
                          <a:solidFill>
                            <a:schemeClr val="tx2"/>
                          </a:solidFill>
                        </a:rPr>
                        <a:t>Forurening af luft, vand og jord </a:t>
                      </a:r>
                      <a:r>
                        <a:rPr lang="da-DK" sz="1200" b="0" noProof="0">
                          <a:solidFill>
                            <a:schemeClr val="tx2"/>
                          </a:solidFill>
                        </a:rPr>
                        <a:t>(pkt. 34)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7942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Type af forurening </a:t>
                      </a:r>
                      <a:r>
                        <a:rPr lang="da-DK" sz="1200" b="0" noProof="0">
                          <a:solidFill>
                            <a:schemeClr val="tx2"/>
                          </a:solidFill>
                        </a:rPr>
                        <a:t>(fx stof)</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200" b="1" noProof="0">
                          <a:solidFill>
                            <a:schemeClr val="tx2"/>
                          </a:solidFill>
                        </a:rPr>
                        <a:t>Hvor? </a:t>
                      </a:r>
                      <a:r>
                        <a:rPr lang="da-DK" sz="1200" b="0" noProof="0">
                          <a:solidFill>
                            <a:schemeClr val="tx2"/>
                          </a:solidFill>
                        </a:rPr>
                        <a:t>(luft, vand, jord)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200" b="1" noProof="0">
                          <a:solidFill>
                            <a:schemeClr val="tx2"/>
                          </a:solidFill>
                        </a:rPr>
                        <a:t>Omfang</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1121">
                <a:tc>
                  <a:txBody>
                    <a:bodyPr/>
                    <a:lstStyle/>
                    <a:p>
                      <a:pPr rtl="0" fontAlgn="ctr">
                        <a:buNone/>
                      </a:pPr>
                      <a:r>
                        <a:rPr lang="da-DK" sz="1200" b="0" i="0" u="none" strike="noStrike" noProof="0">
                          <a:solidFill>
                            <a:srgbClr val="2D55FF"/>
                          </a:solidFill>
                          <a:effectLst/>
                          <a:latin typeface="Inter"/>
                        </a:rPr>
                        <a:t>{{type_of_pollution}}</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a-DK" sz="1200" b="0" i="0" u="none" strike="noStrike" noProof="0">
                          <a:solidFill>
                            <a:srgbClr val="2D55FF"/>
                          </a:solidFill>
                          <a:effectLst/>
                          <a:latin typeface="Inter"/>
                        </a:rPr>
                        <a:t>{{scope_pollution}}</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{{pollution_medium}}</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7</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526778" y="1016000"/>
            <a:ext cx="11157222"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rapporterer den samlede mængde af forurenende stoffer, der udledes fra deres anlæg. Rapportering om specifikke forurenende stoffer og deres mængder, der udledes til luft, vand og jord</a:t>
            </a:r>
            <a:r>
              <a:rPr lang="da-DK" sz="1200" noProof="0">
                <a:solidFill>
                  <a:schemeClr val="tx2"/>
                </a:solidFill>
                <a:latin typeface="Inter"/>
              </a:rPr>
              <a:t> er anført nedenfor.</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518600" y="335914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Biodiversitet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518599" y="4675630"/>
          <a:ext cx="11165399" cy="964259"/>
        </p:xfrm>
        <a:graphic>
          <a:graphicData uri="http://schemas.openxmlformats.org/drawingml/2006/table">
            <a:tbl>
              <a:tblPr firstRow="1">
                <a:tableStyleId>{2A488322-F2BA-4B5B-9748-0D474271808F}</a:tableStyleId>
              </a:tblPr>
              <a:tblGrid>
                <a:gridCol w="2027933">
                  <a:extLst>
                    <a:ext uri="{9D8B030D-6E8A-4147-A177-3AD203B41FA5}">
                      <a16:colId xmlns:a16="http://schemas.microsoft.com/office/drawing/2014/main" val="2698153288"/>
                    </a:ext>
                  </a:extLst>
                </a:gridCol>
                <a:gridCol w="3045822">
                  <a:extLst>
                    <a:ext uri="{9D8B030D-6E8A-4147-A177-3AD203B41FA5}">
                      <a16:colId xmlns:a16="http://schemas.microsoft.com/office/drawing/2014/main" val="2119413191"/>
                    </a:ext>
                  </a:extLst>
                </a:gridCol>
                <a:gridCol w="3045822">
                  <a:extLst>
                    <a:ext uri="{9D8B030D-6E8A-4147-A177-3AD203B41FA5}">
                      <a16:colId xmlns:a16="http://schemas.microsoft.com/office/drawing/2014/main" val="656209149"/>
                    </a:ext>
                  </a:extLst>
                </a:gridCol>
                <a:gridCol w="3045822">
                  <a:extLst>
                    <a:ext uri="{9D8B030D-6E8A-4147-A177-3AD203B41FA5}">
                      <a16:colId xmlns:a16="http://schemas.microsoft.com/office/drawing/2014/main" val="1502960985"/>
                    </a:ext>
                  </a:extLst>
                </a:gridCol>
              </a:tblGrid>
              <a:tr h="230876">
                <a:tc gridSpan="4">
                  <a:txBody>
                    <a:bodyPr/>
                    <a:lstStyle/>
                    <a:p>
                      <a:r>
                        <a:rPr lang="da-DK" sz="1200" b="1" noProof="0">
                          <a:solidFill>
                            <a:schemeClr val="tx2"/>
                          </a:solidFill>
                        </a:rPr>
                        <a:t>Områder i nærheden af eller i 'biodiversitetsfølsomme områder’, som virksomheden ejer, lejer eller forvalter </a:t>
                      </a:r>
                      <a:r>
                        <a:rPr lang="da-DK" sz="1200" b="0" noProof="0">
                          <a:solidFill>
                            <a:schemeClr val="tx2"/>
                          </a:solidFill>
                        </a:rPr>
                        <a:t>(pkt. 35)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5215">
                <a:tc>
                  <a:txBody>
                    <a:bodyPr/>
                    <a:lstStyle/>
                    <a:p>
                      <a:r>
                        <a:rPr lang="da-DK" sz="1200" b="1" noProof="0">
                          <a:solidFill>
                            <a:schemeClr val="tx2"/>
                          </a:solidFill>
                        </a:rPr>
                        <a:t>Lokation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Areal opgjort i hektar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Biodiversitetsfølsomt område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Specifikation: I nærheden af eller i et biodiversitetsfølsomt område</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1619">
                <a:tc>
                  <a:txBody>
                    <a:bodyPr/>
                    <a:lstStyle/>
                    <a:p>
                      <a:pPr rtl="0" fontAlgn="ctr">
                        <a:buNone/>
                      </a:pPr>
                      <a:r>
                        <a:rPr lang="da-DK" sz="1200" b="0" i="0" u="none" strike="noStrike" noProof="0">
                          <a:solidFill>
                            <a:srgbClr val="2D55FF"/>
                          </a:solidFill>
                          <a:effectLst/>
                          <a:latin typeface="Inter"/>
                        </a:rPr>
                        <a:t>{{country_location}}</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 {{area_hect}}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{{area_name}}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{{biosensitive_area}}</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507999" y="3753340"/>
            <a:ext cx="11165399" cy="646331"/>
          </a:xfrm>
          <a:prstGeom prst="rect">
            <a:avLst/>
          </a:prstGeom>
          <a:noFill/>
        </p:spPr>
        <p:txBody>
          <a:bodyPr wrap="square">
            <a:spAutoFit/>
          </a:bodyPr>
          <a:lstStyle/>
          <a:p>
            <a:pPr rtl="0">
              <a:spcBef>
                <a:spcPts val="900"/>
              </a:spcBef>
              <a:spcAft>
                <a:spcPts val="900"/>
              </a:spcAft>
              <a:buNone/>
            </a:pPr>
            <a:r>
              <a:rPr lang="da-DK" sz="1200" b="0" i="0" u="none" strike="noStrike" noProof="0">
                <a:solidFill>
                  <a:schemeClr val="tx2"/>
                </a:solidFill>
                <a:effectLst/>
                <a:latin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a:t>
            </a:r>
            <a:r>
              <a:rPr lang="da-DK" sz="1200" b="0" i="0" u="none" strike="noStrike" noProof="0" err="1">
                <a:solidFill>
                  <a:schemeClr val="tx2"/>
                </a:solidFill>
                <a:effectLst/>
                <a:latin typeface="Inter"/>
              </a:rPr>
              <a:t>KBA'er</a:t>
            </a:r>
            <a:r>
              <a:rPr lang="da-DK" sz="1200" b="0" i="0" u="none" strike="noStrike" noProof="0">
                <a:solidFill>
                  <a:schemeClr val="tx2"/>
                </a:solidFill>
                <a:effectLst/>
                <a:latin typeface="Inter"/>
              </a:rPr>
              <a:t>) samt andre beskyttede områder.</a:t>
            </a:r>
            <a:endParaRPr lang="da-DK" sz="120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Vand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518600" y="1716227"/>
          <a:ext cx="4812525" cy="979860"/>
        </p:xfrm>
        <a:graphic>
          <a:graphicData uri="http://schemas.openxmlformats.org/drawingml/2006/table">
            <a:tbl>
              <a:tblPr firstRow="1">
                <a:tableStyleId>{2A488322-F2BA-4B5B-9748-0D474271808F}</a:tableStyleId>
              </a:tblPr>
              <a:tblGrid>
                <a:gridCol w="3087242">
                  <a:extLst>
                    <a:ext uri="{9D8B030D-6E8A-4147-A177-3AD203B41FA5}">
                      <a16:colId xmlns:a16="http://schemas.microsoft.com/office/drawing/2014/main" val="2698153288"/>
                    </a:ext>
                  </a:extLst>
                </a:gridCol>
                <a:gridCol w="1725283">
                  <a:extLst>
                    <a:ext uri="{9D8B030D-6E8A-4147-A177-3AD203B41FA5}">
                      <a16:colId xmlns:a16="http://schemas.microsoft.com/office/drawing/2014/main" val="2119413191"/>
                    </a:ext>
                  </a:extLst>
                </a:gridCol>
              </a:tblGrid>
              <a:tr h="4966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Vandudtag </a:t>
                      </a:r>
                      <a:r>
                        <a:rPr lang="da-DK" sz="1200" b="0" noProof="0">
                          <a:solidFill>
                            <a:schemeClr val="tx2"/>
                          </a:solidFill>
                        </a:rPr>
                        <a:t>(pkt. 36)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3201">
                <a:tc>
                  <a:txBody>
                    <a:bodyPr/>
                    <a:lstStyle/>
                    <a:p>
                      <a:r>
                        <a:rPr lang="da-DK" sz="1200" b="0" noProof="0">
                          <a:solidFill>
                            <a:schemeClr val="tx2"/>
                          </a:solidFill>
                        </a:rPr>
                        <a:t>Samlet for alle lokationer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a:t>
                      </a:r>
                      <a:r>
                        <a:rPr kumimoji="0" lang="da-DK" sz="1200" b="0" i="0" u="none" strike="noStrike" kern="1200" cap="none" spc="0" normalizeH="0" baseline="0" noProof="0" err="1">
                          <a:ln>
                            <a:noFill/>
                          </a:ln>
                          <a:solidFill>
                            <a:srgbClr val="2D55FF"/>
                          </a:solidFill>
                          <a:effectLst/>
                          <a:uLnTx/>
                          <a:uFillTx/>
                          <a:latin typeface="+mn-lt"/>
                          <a:ea typeface="+mn-ea"/>
                          <a:cs typeface="+mn-cs"/>
                        </a:rPr>
                        <a:t>total_withdrawal</a:t>
                      </a:r>
                      <a:r>
                        <a:rPr kumimoji="0" lang="da-DK"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5538158" y="1716227"/>
          <a:ext cx="6145842" cy="979860"/>
        </p:xfrm>
        <a:graphic>
          <a:graphicData uri="http://schemas.openxmlformats.org/drawingml/2006/table">
            <a:tbl>
              <a:tblPr firstRow="1">
                <a:tableStyleId>{2A488322-F2BA-4B5B-9748-0D474271808F}</a:tableStyleId>
              </a:tblPr>
              <a:tblGrid>
                <a:gridCol w="4631743">
                  <a:extLst>
                    <a:ext uri="{9D8B030D-6E8A-4147-A177-3AD203B41FA5}">
                      <a16:colId xmlns:a16="http://schemas.microsoft.com/office/drawing/2014/main" val="2698153288"/>
                    </a:ext>
                  </a:extLst>
                </a:gridCol>
                <a:gridCol w="1514099">
                  <a:extLst>
                    <a:ext uri="{9D8B030D-6E8A-4147-A177-3AD203B41FA5}">
                      <a16:colId xmlns:a16="http://schemas.microsoft.com/office/drawing/2014/main" val="2119413191"/>
                    </a:ext>
                  </a:extLst>
                </a:gridCol>
              </a:tblGrid>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Vandforbrug </a:t>
                      </a:r>
                      <a:r>
                        <a:rPr lang="da-DK" sz="1200" b="0" noProof="0">
                          <a:solidFill>
                            <a:schemeClr val="tx2"/>
                          </a:solidFill>
                        </a:rPr>
                        <a:t>(pkt. 37)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1200" b="0" noProof="0">
                          <a:solidFill>
                            <a:schemeClr val="tx2"/>
                          </a:solidFill>
                        </a:rPr>
                        <a:t>Samlet for alle lokationer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consumption_total</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Fra lokationer i områder med mangel på vand (højt vandstress)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consumption_waterstress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8</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508000" y="1028466"/>
            <a:ext cx="11175999" cy="461665"/>
          </a:xfrm>
          <a:prstGeom prst="rect">
            <a:avLst/>
          </a:prstGeom>
          <a:noFill/>
        </p:spPr>
        <p:txBody>
          <a:bodyPr wrap="square">
            <a:spAutoFit/>
          </a:bodyPr>
          <a:lstStyle/>
          <a:p>
            <a:pPr rtl="0">
              <a:spcBef>
                <a:spcPts val="900"/>
              </a:spcBef>
              <a:buNone/>
            </a:pPr>
            <a:r>
              <a:rPr lang="da-DK" sz="1200" b="0" i="0" u="none" strike="noStrike" noProof="0">
                <a:solidFill>
                  <a:schemeClr val="tx2"/>
                </a:solidFill>
                <a:effectLst/>
                <a:latin typeface="Inter"/>
              </a:rPr>
              <a:t>Vandudtaget er den mængde vand, der anvendes af virksomheden, hvorunder </a:t>
            </a:r>
            <a:r>
              <a:rPr lang="da-DK" sz="1200" noProof="0">
                <a:solidFill>
                  <a:schemeClr val="tx2"/>
                </a:solidFill>
                <a:latin typeface="Inter"/>
              </a:rPr>
              <a:t>forbruget angiver vand der </a:t>
            </a:r>
            <a:r>
              <a:rPr lang="da-DK" sz="1200" b="0" i="0" u="none" strike="noStrike" noProof="0">
                <a:solidFill>
                  <a:schemeClr val="tx2"/>
                </a:solidFill>
                <a:effectLst/>
                <a:latin typeface="Inter"/>
              </a:rPr>
              <a:t>ikke udledes eller planlægges udledt tilbage til vandmiljøet eller til en tredjepart. I dette afsnit oplyses virksomhedens samlede vandudtag. Virksomhedens vandforbrug</a:t>
            </a:r>
            <a:r>
              <a:rPr lang="da-DK" sz="1200" noProof="0">
                <a:solidFill>
                  <a:schemeClr val="tx2"/>
                </a:solidFill>
                <a:latin typeface="Inter"/>
              </a:rPr>
              <a:t> </a:t>
            </a:r>
            <a:r>
              <a:rPr lang="da-DK" sz="1200" b="0" i="0" u="none" strike="noStrike" noProof="0">
                <a:solidFill>
                  <a:schemeClr val="tx2"/>
                </a:solidFill>
                <a:effectLst/>
                <a:latin typeface="Inter"/>
              </a:rPr>
              <a:t>og vandudledning fra områder med høj vandstress er anført nedenfor.</a:t>
            </a:r>
            <a:endParaRPr lang="da-DK" sz="120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518600" y="3093502"/>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Ressourceforbrug, cirkulær økonomi og affaldshåndtering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5538158" y="3566941"/>
          <a:ext cx="6135235" cy="942582"/>
        </p:xfrm>
        <a:graphic>
          <a:graphicData uri="http://schemas.openxmlformats.org/drawingml/2006/table">
            <a:tbl>
              <a:tblPr firstRow="1">
                <a:tableStyleId>{2A488322-F2BA-4B5B-9748-0D474271808F}</a:tableStyleId>
              </a:tblPr>
              <a:tblGrid>
                <a:gridCol w="2427143">
                  <a:extLst>
                    <a:ext uri="{9D8B030D-6E8A-4147-A177-3AD203B41FA5}">
                      <a16:colId xmlns:a16="http://schemas.microsoft.com/office/drawing/2014/main" val="2698153288"/>
                    </a:ext>
                  </a:extLst>
                </a:gridCol>
                <a:gridCol w="1886065">
                  <a:extLst>
                    <a:ext uri="{9D8B030D-6E8A-4147-A177-3AD203B41FA5}">
                      <a16:colId xmlns:a16="http://schemas.microsoft.com/office/drawing/2014/main" val="2119413191"/>
                    </a:ext>
                  </a:extLst>
                </a:gridCol>
                <a:gridCol w="1822027">
                  <a:extLst>
                    <a:ext uri="{9D8B030D-6E8A-4147-A177-3AD203B41FA5}">
                      <a16:colId xmlns:a16="http://schemas.microsoft.com/office/drawing/2014/main" val="656209149"/>
                    </a:ext>
                  </a:extLst>
                </a:gridCol>
              </a:tblGrid>
              <a:tr h="26950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Oplysning om anvendelse af principper fra cirkulær økonomi </a:t>
                      </a:r>
                      <a:r>
                        <a:rPr lang="da-DK" sz="1200" b="0" noProof="0">
                          <a:solidFill>
                            <a:schemeClr val="tx2"/>
                          </a:solidFill>
                        </a:rPr>
                        <a:t>(pkt. 38)</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69213">
                <a:tc rowSpan="2">
                  <a:txBody>
                    <a:bodyPr/>
                    <a:lstStyle/>
                    <a:p>
                      <a:r>
                        <a:rPr lang="da-DK" sz="1200" b="0" noProof="0">
                          <a:solidFill>
                            <a:schemeClr val="tx2"/>
                          </a:solidFill>
                        </a:rPr>
                        <a:t>Min virksomhed anvender principper fra cirkulær økonomi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Ja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09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circular_economy_princples_yes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circular_economy_princples_no</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507998" y="4612469"/>
          <a:ext cx="11165396" cy="1767344"/>
        </p:xfrm>
        <a:graphic>
          <a:graphicData uri="http://schemas.openxmlformats.org/drawingml/2006/table">
            <a:tbl>
              <a:tblPr firstRow="1">
                <a:tableStyleId>{2A488322-F2BA-4B5B-9748-0D474271808F}</a:tableStyleId>
              </a:tblPr>
              <a:tblGrid>
                <a:gridCol w="11165396">
                  <a:extLst>
                    <a:ext uri="{9D8B030D-6E8A-4147-A177-3AD203B41FA5}">
                      <a16:colId xmlns:a16="http://schemas.microsoft.com/office/drawing/2014/main" val="2698153288"/>
                    </a:ext>
                  </a:extLst>
                </a:gridCol>
              </a:tblGrid>
              <a:tr h="292685">
                <a:tc>
                  <a:txBody>
                    <a:bodyPr/>
                    <a:lstStyle/>
                    <a:p>
                      <a:r>
                        <a:rPr lang="da-DK" sz="1200" b="1" noProof="0">
                          <a:solidFill>
                            <a:schemeClr val="tx2"/>
                          </a:solidFill>
                        </a:rPr>
                        <a:t>Beskrivelse af, hvordan virksomheden arbejder med principper fra cirkulær økonomi </a:t>
                      </a:r>
                      <a:r>
                        <a:rPr lang="da-DK" sz="1200" b="0" noProof="0">
                          <a:solidFill>
                            <a:schemeClr val="tx2"/>
                          </a:solidFill>
                        </a:rPr>
                        <a:t>(pkt. 38 fortsat)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474659">
                <a:tc>
                  <a:txBody>
                    <a:bodyPr/>
                    <a:lstStyle/>
                    <a:p>
                      <a:pPr algn="l"/>
                      <a:r>
                        <a:rPr lang="da-DK" sz="1200" b="0" kern="1200" noProof="0">
                          <a:solidFill>
                            <a:schemeClr val="accent2"/>
                          </a:solidFill>
                          <a:latin typeface="+mn-lt"/>
                          <a:ea typeface="+mn-ea"/>
                          <a:cs typeface="+mn-cs"/>
                        </a:rPr>
                        <a:t>{{</a:t>
                      </a:r>
                      <a:r>
                        <a:rPr lang="da-DK" sz="1200" b="0" kern="1200" noProof="0" err="1">
                          <a:solidFill>
                            <a:schemeClr val="accent2"/>
                          </a:solidFill>
                          <a:latin typeface="+mn-lt"/>
                          <a:ea typeface="+mn-ea"/>
                          <a:cs typeface="+mn-cs"/>
                        </a:rPr>
                        <a:t>description_of_circular_economies</a:t>
                      </a:r>
                      <a:r>
                        <a:rPr lang="da-DK" sz="1200" b="0" kern="1200" noProof="0">
                          <a:solidFill>
                            <a:schemeClr val="accent2"/>
                          </a:solidFill>
                          <a:latin typeface="+mn-lt"/>
                          <a:ea typeface="+mn-ea"/>
                          <a:cs typeface="+mn-cs"/>
                        </a:rPr>
                        <a:t>}}</a:t>
                      </a:r>
                    </a:p>
                    <a:p>
                      <a:pPr algn="l"/>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508302" y="3555852"/>
            <a:ext cx="4843417" cy="830997"/>
          </a:xfrm>
          <a:prstGeom prst="rect">
            <a:avLst/>
          </a:prstGeom>
          <a:noFill/>
        </p:spPr>
        <p:txBody>
          <a:bodyPr wrap="square" lIns="91440" tIns="45720" rIns="91440" bIns="45720" anchor="t">
            <a:spAutoFit/>
          </a:bodyPr>
          <a:lstStyle/>
          <a:p>
            <a:pPr rtl="0">
              <a:buNone/>
            </a:pPr>
            <a:r>
              <a:rPr lang="da-DK" sz="1200" b="0" i="0" u="none" strike="noStrike" noProof="0">
                <a:solidFill>
                  <a:schemeClr val="tx2"/>
                </a:solidFill>
                <a:effectLst/>
                <a:latin typeface="Inter"/>
              </a:rPr>
              <a:t>Dette informationskrav angiver information om hvorvidt virksomheden</a:t>
            </a:r>
            <a:r>
              <a:rPr lang="da-DK" sz="1200" noProof="0">
                <a:solidFill>
                  <a:schemeClr val="tx2"/>
                </a:solidFill>
                <a:latin typeface="Inter"/>
              </a:rPr>
              <a:t> anvender principper for cirkulær økonomi. Herunder, om der er principper i anvendelse når det kommer til reduktion af affald og forurening samt fokus på cirkulære produkter og materialer.</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Ressourceforbrug, cirkulær økonomi og affaldshåndtering (B7) – fortsat</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507999" y="1645437"/>
          <a:ext cx="7343771" cy="2103816"/>
        </p:xfrm>
        <a:graphic>
          <a:graphicData uri="http://schemas.openxmlformats.org/drawingml/2006/table">
            <a:tbl>
              <a:tblPr firstRow="1">
                <a:tableStyleId>{2A488322-F2BA-4B5B-9748-0D474271808F}</a:tableStyleId>
              </a:tblPr>
              <a:tblGrid>
                <a:gridCol w="2276000">
                  <a:extLst>
                    <a:ext uri="{9D8B030D-6E8A-4147-A177-3AD203B41FA5}">
                      <a16:colId xmlns:a16="http://schemas.microsoft.com/office/drawing/2014/main" val="2698153288"/>
                    </a:ext>
                  </a:extLst>
                </a:gridCol>
                <a:gridCol w="2543219">
                  <a:extLst>
                    <a:ext uri="{9D8B030D-6E8A-4147-A177-3AD203B41FA5}">
                      <a16:colId xmlns:a16="http://schemas.microsoft.com/office/drawing/2014/main" val="2119413191"/>
                    </a:ext>
                  </a:extLst>
                </a:gridCol>
                <a:gridCol w="2524552">
                  <a:extLst>
                    <a:ext uri="{9D8B030D-6E8A-4147-A177-3AD203B41FA5}">
                      <a16:colId xmlns:a16="http://schemas.microsoft.com/office/drawing/2014/main" val="4075157689"/>
                    </a:ext>
                  </a:extLst>
                </a:gridCol>
              </a:tblGrid>
              <a:tr h="328596">
                <a:tc gridSpan="3">
                  <a:txBody>
                    <a:bodyPr/>
                    <a:lstStyle/>
                    <a:p>
                      <a:pPr algn="ctr"/>
                      <a:r>
                        <a:rPr lang="da-DK" sz="1200" b="1" noProof="0">
                          <a:solidFill>
                            <a:schemeClr val="tx2"/>
                          </a:solidFill>
                        </a:rPr>
                        <a:t>Samlet mængde affald årligt</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800" b="1">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43625">
                <a:tc>
                  <a:txBody>
                    <a:bodyPr/>
                    <a:lstStyle/>
                    <a:p>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Samlet mængde affald </a:t>
                      </a:r>
                      <a:r>
                        <a:rPr lang="da-DK" sz="1200" b="0" noProof="0">
                          <a:solidFill>
                            <a:schemeClr val="tx2"/>
                          </a:solidFill>
                        </a:rPr>
                        <a:t>(pkt. 39a)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Affald der omdirigeres til genanvendelse eller forberedelse mhp. genbrug </a:t>
                      </a:r>
                      <a:r>
                        <a:rPr lang="da-DK" sz="1200" b="0" noProof="0">
                          <a:solidFill>
                            <a:schemeClr val="tx2"/>
                          </a:solidFill>
                        </a:rPr>
                        <a:t>(pkt. 39b)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3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Ikke-farligt affald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33665">
                <a:tc>
                  <a:txBody>
                    <a:bodyPr/>
                    <a:lstStyle/>
                    <a:p>
                      <a:pPr rtl="0" fontAlgn="ctr">
                        <a:buNone/>
                      </a:pPr>
                      <a:r>
                        <a:rPr lang="da-DK" sz="1200" b="0" i="0" u="none" strike="noStrike" noProof="0">
                          <a:solidFill>
                            <a:srgbClr val="2D55FF"/>
                          </a:solidFill>
                          <a:effectLst/>
                          <a:latin typeface="Inter"/>
                        </a:rPr>
                        <a:t>{{Type_af_affald}}</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{{kg_tons_total}}</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{{genbrug_kg_tons}}</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3625">
                <a:tc>
                  <a:txBody>
                    <a:bodyPr/>
                    <a:lstStyle/>
                    <a:p>
                      <a:r>
                        <a:rPr lang="da-DK" sz="1200" b="1" noProof="0">
                          <a:solidFill>
                            <a:schemeClr val="tx2"/>
                          </a:solidFill>
                        </a:rPr>
                        <a:t>Farligt affald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33665">
                <a:tc>
                  <a:txBody>
                    <a:bodyPr/>
                    <a:lstStyle/>
                    <a:p>
                      <a:pPr rtl="0" fontAlgn="ctr">
                        <a:buNone/>
                      </a:pPr>
                      <a:r>
                        <a:rPr lang="da-DK" sz="1200" b="0" i="0" u="none" strike="noStrike" noProof="0">
                          <a:solidFill>
                            <a:srgbClr val="2D55FF"/>
                          </a:solidFill>
                          <a:effectLst/>
                          <a:latin typeface="Inter"/>
                        </a:rPr>
                        <a:t>{{Type_af_affald_farlig}}</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{{farlig_kg_tons}}</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1200" b="0" i="0" u="none" strike="noStrike" noProof="0">
                          <a:solidFill>
                            <a:srgbClr val="2D55FF"/>
                          </a:solidFill>
                          <a:effectLst/>
                          <a:latin typeface="Inter"/>
                        </a:rPr>
                        <a:t>{{farlig_genbrug_kg_tons}}</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9</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518600" y="1016000"/>
            <a:ext cx="111654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lang="da-DK" sz="120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8160963" y="1680195"/>
          <a:ext cx="3512437" cy="1609903"/>
        </p:xfrm>
        <a:graphic>
          <a:graphicData uri="http://schemas.openxmlformats.org/drawingml/2006/table">
            <a:tbl>
              <a:tblPr firstRow="1">
                <a:tableStyleId>{2A488322-F2BA-4B5B-9748-0D474271808F}</a:tableStyleId>
              </a:tblPr>
              <a:tblGrid>
                <a:gridCol w="2253572">
                  <a:extLst>
                    <a:ext uri="{9D8B030D-6E8A-4147-A177-3AD203B41FA5}">
                      <a16:colId xmlns:a16="http://schemas.microsoft.com/office/drawing/2014/main" val="2698153288"/>
                    </a:ext>
                  </a:extLst>
                </a:gridCol>
                <a:gridCol w="1258865">
                  <a:extLst>
                    <a:ext uri="{9D8B030D-6E8A-4147-A177-3AD203B41FA5}">
                      <a16:colId xmlns:a16="http://schemas.microsoft.com/office/drawing/2014/main" val="2119413191"/>
                    </a:ext>
                  </a:extLst>
                </a:gridCol>
              </a:tblGrid>
              <a:tr h="901844">
                <a:tc>
                  <a:txBody>
                    <a:bodyPr/>
                    <a:lstStyle/>
                    <a:p>
                      <a:r>
                        <a:rPr lang="da-DK" sz="1200" b="1" noProof="0">
                          <a:solidFill>
                            <a:schemeClr val="tx2"/>
                          </a:solidFill>
                        </a:rPr>
                        <a:t>Væsentlige materialer </a:t>
                      </a:r>
                      <a:r>
                        <a:rPr lang="da-DK" sz="1200" b="0" noProof="0">
                          <a:solidFill>
                            <a:schemeClr val="tx2"/>
                          </a:solidFill>
                        </a:rPr>
                        <a:t>(pkt. 39c)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200" b="1" noProof="0">
                          <a:solidFill>
                            <a:schemeClr val="tx2"/>
                          </a:solidFill>
                        </a:rPr>
                        <a:t>Årligt masse-flow </a:t>
                      </a:r>
                      <a:r>
                        <a:rPr lang="da-DK" sz="1200" b="1" noProof="0">
                          <a:solidFill>
                            <a:schemeClr val="accent2"/>
                          </a:solidFill>
                        </a:rPr>
                        <a:t>{{insert_year}}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708059">
                <a:tc>
                  <a:txBody>
                    <a:bodyPr/>
                    <a:lstStyle/>
                    <a:p>
                      <a:r>
                        <a:rPr lang="da-DK" sz="1200" b="0" i="0" u="none" strike="noStrike" noProof="0">
                          <a:solidFill>
                            <a:srgbClr val="2D55FF"/>
                          </a:solidFill>
                          <a:latin typeface="Inter"/>
                        </a:rPr>
                        <a:t>{{significant_material}}</a:t>
                      </a:r>
                      <a:endParaRPr lang="da-DK" sz="1200" b="0" noProof="0">
                        <a:solidFill>
                          <a:schemeClr val="accent2"/>
                        </a:solidFill>
                        <a:latin typeface="Inter"/>
                        <a:cs typeface="Calibri"/>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noProof="0">
                          <a:solidFill>
                            <a:srgbClr val="2D55FF"/>
                          </a:solidFill>
                          <a:latin typeface="Inter"/>
                        </a:rPr>
                        <a:t>{{significant_material_unit}}</a:t>
                      </a:r>
                      <a:endParaRPr lang="da-DK" sz="1200" b="0" i="0" u="none" strike="noStrike" noProof="0">
                        <a:solidFill>
                          <a:srgbClr val="000000"/>
                        </a:solidFill>
                        <a:latin typeface="Inter"/>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Generelle karakteristika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507992" y="1733785"/>
          <a:ext cx="4978406" cy="1848960"/>
        </p:xfrm>
        <a:graphic>
          <a:graphicData uri="http://schemas.openxmlformats.org/drawingml/2006/table">
            <a:tbl>
              <a:tblPr firstRow="1">
                <a:tableStyleId>{2A488322-F2BA-4B5B-9748-0D474271808F}</a:tableStyleId>
              </a:tblPr>
              <a:tblGrid>
                <a:gridCol w="2489203">
                  <a:extLst>
                    <a:ext uri="{9D8B030D-6E8A-4147-A177-3AD203B41FA5}">
                      <a16:colId xmlns:a16="http://schemas.microsoft.com/office/drawing/2014/main" val="2698153288"/>
                    </a:ext>
                  </a:extLst>
                </a:gridCol>
                <a:gridCol w="2489203">
                  <a:extLst>
                    <a:ext uri="{9D8B030D-6E8A-4147-A177-3AD203B41FA5}">
                      <a16:colId xmlns:a16="http://schemas.microsoft.com/office/drawing/2014/main" val="2119413191"/>
                    </a:ext>
                  </a:extLst>
                </a:gridCol>
              </a:tblGrid>
              <a:tr h="462240">
                <a:tc>
                  <a:txBody>
                    <a:bodyPr/>
                    <a:lstStyle/>
                    <a:p>
                      <a:r>
                        <a:rPr lang="da-DK" sz="1200" b="1" noProof="0">
                          <a:solidFill>
                            <a:schemeClr val="tx2"/>
                          </a:solidFill>
                        </a:rPr>
                        <a:t>Kontrakttype </a:t>
                      </a:r>
                      <a:r>
                        <a:rPr lang="da-DK" sz="1200" b="0" noProof="0">
                          <a:solidFill>
                            <a:schemeClr val="tx2"/>
                          </a:solidFill>
                        </a:rPr>
                        <a:t>(pkt. 40a)</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Antal ansatte (antal personer eller fuldtidsækvivalenter)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62240">
                <a:tc>
                  <a:txBody>
                    <a:bodyPr/>
                    <a:lstStyle/>
                    <a:p>
                      <a:r>
                        <a:rPr lang="da-DK" sz="1200" b="0" noProof="0">
                          <a:solidFill>
                            <a:schemeClr val="tx2"/>
                          </a:solidFill>
                        </a:rPr>
                        <a:t>Midlertidig ansættelse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temporary</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462240">
                <a:tc>
                  <a:txBody>
                    <a:bodyPr/>
                    <a:lstStyle/>
                    <a:p>
                      <a:r>
                        <a:rPr lang="da-DK" sz="1200" b="0" noProof="0">
                          <a:solidFill>
                            <a:schemeClr val="tx2"/>
                          </a:solidFill>
                        </a:rPr>
                        <a:t>Fastansættelse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fulltime</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62240">
                <a:tc>
                  <a:txBody>
                    <a:bodyPr/>
                    <a:lstStyle/>
                    <a:p>
                      <a:r>
                        <a:rPr lang="da-DK" sz="1200" b="0" noProof="0">
                          <a:solidFill>
                            <a:schemeClr val="tx2"/>
                          </a:solidFill>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total_employees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710687" y="1733787"/>
          <a:ext cx="5973314" cy="1848960"/>
        </p:xfrm>
        <a:graphic>
          <a:graphicData uri="http://schemas.openxmlformats.org/drawingml/2006/table">
            <a:tbl>
              <a:tblPr firstRow="1">
                <a:tableStyleId>{2A488322-F2BA-4B5B-9748-0D474271808F}</a:tableStyleId>
              </a:tblPr>
              <a:tblGrid>
                <a:gridCol w="2986657">
                  <a:extLst>
                    <a:ext uri="{9D8B030D-6E8A-4147-A177-3AD203B41FA5}">
                      <a16:colId xmlns:a16="http://schemas.microsoft.com/office/drawing/2014/main" val="2698153288"/>
                    </a:ext>
                  </a:extLst>
                </a:gridCol>
                <a:gridCol w="2986657">
                  <a:extLst>
                    <a:ext uri="{9D8B030D-6E8A-4147-A177-3AD203B41FA5}">
                      <a16:colId xmlns:a16="http://schemas.microsoft.com/office/drawing/2014/main" val="2119413191"/>
                    </a:ext>
                  </a:extLst>
                </a:gridCol>
              </a:tblGrid>
              <a:tr h="288000">
                <a:tc>
                  <a:txBody>
                    <a:bodyPr/>
                    <a:lstStyle/>
                    <a:p>
                      <a:r>
                        <a:rPr lang="da-DK" sz="1200" b="1" noProof="0">
                          <a:solidFill>
                            <a:schemeClr val="tx2"/>
                          </a:solidFill>
                          <a:latin typeface="+mn-lt"/>
                        </a:rPr>
                        <a:t>Køn</a:t>
                      </a:r>
                      <a:r>
                        <a:rPr lang="da-DK" sz="1200" b="0" noProof="0">
                          <a:solidFill>
                            <a:schemeClr val="tx2"/>
                          </a:solidFill>
                          <a:latin typeface="+mn-lt"/>
                        </a:rPr>
                        <a:t> </a:t>
                      </a:r>
                      <a:r>
                        <a:rPr lang="da-DK" sz="1200" b="0" noProof="0">
                          <a:solidFill>
                            <a:schemeClr val="tx2"/>
                          </a:solidFill>
                        </a:rPr>
                        <a:t>(pkt. 40b)</a:t>
                      </a:r>
                      <a:endParaRPr lang="da-DK" sz="1200" b="0"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latin typeface="+mn-lt"/>
                        </a:rPr>
                        <a:t>Antal ansatte </a:t>
                      </a:r>
                      <a:r>
                        <a:rPr lang="da-DK" sz="1200" b="1" noProof="0">
                          <a:solidFill>
                            <a:schemeClr val="tx2"/>
                          </a:solidFill>
                        </a:rPr>
                        <a:t>(antal personer eller fuldtidsækvivalenter)</a:t>
                      </a:r>
                      <a:endParaRPr lang="da-DK" sz="1200" b="1" noProof="0">
                        <a:solidFill>
                          <a:schemeClr val="tx2"/>
                        </a:solidFill>
                        <a:latin typeface="+mn-lt"/>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1200" b="0" noProof="0">
                          <a:solidFill>
                            <a:schemeClr val="tx2"/>
                          </a:solidFill>
                          <a:latin typeface="+mn-lt"/>
                        </a:rPr>
                        <a:t>Mand</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{{men}}</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0" noProof="0">
                          <a:solidFill>
                            <a:schemeClr val="tx2"/>
                          </a:solidFill>
                          <a:latin typeface="+mn-lt"/>
                        </a:rPr>
                        <a:t>Kvinde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women</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88000">
                <a:tc>
                  <a:txBody>
                    <a:bodyPr/>
                    <a:lstStyle/>
                    <a:p>
                      <a:r>
                        <a:rPr lang="da-DK" sz="1200" b="0" noProof="0">
                          <a:solidFill>
                            <a:schemeClr val="tx2"/>
                          </a:solidFill>
                          <a:latin typeface="+mn-lt"/>
                        </a:rPr>
                        <a:t>Andet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others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88000">
                <a:tc>
                  <a:txBody>
                    <a:bodyPr/>
                    <a:lstStyle/>
                    <a:p>
                      <a:r>
                        <a:rPr lang="da-DK" sz="1200" b="0" noProof="0">
                          <a:solidFill>
                            <a:schemeClr val="tx2"/>
                          </a:solidFill>
                          <a:latin typeface="+mn-lt"/>
                        </a:rPr>
                        <a:t>Ikke registreret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not_registeret</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88000">
                <a:tc>
                  <a:txBody>
                    <a:bodyPr/>
                    <a:lstStyle/>
                    <a:p>
                      <a:r>
                        <a:rPr lang="da-DK" sz="1200" b="0" noProof="0">
                          <a:solidFill>
                            <a:schemeClr val="tx2"/>
                          </a:solidFill>
                          <a:latin typeface="+mn-lt"/>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total_employees</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518600" y="1041410"/>
            <a:ext cx="11165400" cy="830997"/>
          </a:xfrm>
          <a:prstGeom prst="rect">
            <a:avLst/>
          </a:prstGeom>
          <a:noFill/>
        </p:spPr>
        <p:txBody>
          <a:bodyPr wrap="square">
            <a:spAutoFit/>
          </a:bodyPr>
          <a:lstStyle/>
          <a:p>
            <a:pPr rtl="0">
              <a:buNone/>
            </a:pPr>
            <a:r>
              <a:rPr lang="da-DK" sz="1200" b="0" i="0" u="none" strike="noStrike" noProof="0">
                <a:solidFill>
                  <a:srgbClr val="25595D"/>
                </a:solidFill>
                <a:effectLst/>
                <a:latin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lang="da-DK" sz="1200" b="0" noProof="0">
              <a:effectLst/>
              <a:latin typeface="Inter"/>
            </a:endParaRPr>
          </a:p>
          <a:p>
            <a:pPr>
              <a:buNone/>
            </a:pPr>
            <a:br>
              <a:rPr lang="da-DK" sz="1200" noProof="0">
                <a:latin typeface="Inter"/>
              </a:rPr>
            </a:br>
            <a:endParaRPr lang="da-DK" sz="120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509736" y="3930137"/>
          <a:ext cx="11163663" cy="1152000"/>
        </p:xfrm>
        <a:graphic>
          <a:graphicData uri="http://schemas.openxmlformats.org/drawingml/2006/table">
            <a:tbl>
              <a:tblPr firstRow="1">
                <a:tableStyleId>{2A488322-F2BA-4B5B-9748-0D474271808F}</a:tableStyleId>
              </a:tblPr>
              <a:tblGrid>
                <a:gridCol w="5967835">
                  <a:extLst>
                    <a:ext uri="{9D8B030D-6E8A-4147-A177-3AD203B41FA5}">
                      <a16:colId xmlns:a16="http://schemas.microsoft.com/office/drawing/2014/main" val="2698153288"/>
                    </a:ext>
                  </a:extLst>
                </a:gridCol>
                <a:gridCol w="5195828">
                  <a:extLst>
                    <a:ext uri="{9D8B030D-6E8A-4147-A177-3AD203B41FA5}">
                      <a16:colId xmlns:a16="http://schemas.microsoft.com/office/drawing/2014/main" val="2119413191"/>
                    </a:ext>
                  </a:extLst>
                </a:gridCol>
              </a:tblGrid>
              <a:tr h="288000">
                <a:tc>
                  <a:txBody>
                    <a:bodyPr/>
                    <a:lstStyle/>
                    <a:p>
                      <a:r>
                        <a:rPr lang="da-DK" sz="1200" b="1" noProof="0">
                          <a:solidFill>
                            <a:schemeClr val="tx2"/>
                          </a:solidFill>
                        </a:rPr>
                        <a:t>Land (hvor ansættelseskontrakten er indgået) </a:t>
                      </a:r>
                      <a:r>
                        <a:rPr lang="da-DK" sz="1200" b="0" noProof="0">
                          <a:solidFill>
                            <a:schemeClr val="tx2"/>
                          </a:solidFill>
                        </a:rPr>
                        <a:t>(pkt. 40c)</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Antal ansatte (antal personer eller fuldtidsækvivalenter)</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a:txBody>
                    <a:bodyPr/>
                    <a:lstStyle/>
                    <a:p>
                      <a:r>
                        <a:rPr lang="da-DK" sz="1200" b="0" noProof="0">
                          <a:solidFill>
                            <a:schemeClr val="tx2"/>
                          </a:solidFill>
                        </a:rPr>
                        <a:t>Danmark</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{{Denmark}}</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88000">
                <a:tc>
                  <a:txBody>
                    <a:bodyPr/>
                    <a:lstStyle/>
                    <a:p>
                      <a:pPr rtl="0" fontAlgn="ctr">
                        <a:buNone/>
                      </a:pPr>
                      <a:r>
                        <a:rPr lang="da-DK" sz="1200" b="0" i="0" u="none" strike="noStrike" noProof="0">
                          <a:solidFill>
                            <a:srgbClr val="2D55FF"/>
                          </a:solidFill>
                          <a:effectLst/>
                          <a:latin typeface="Inter"/>
                        </a:rPr>
                        <a:t>{{Land_b}}</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a:solidFill>
                            <a:srgbClr val="2D55FF"/>
                          </a:solidFill>
                          <a:effectLst/>
                        </a:rPr>
                        <a:t>FTE_eller_antal_personer_land_b</a:t>
                      </a:r>
                      <a:r>
                        <a:rPr lang="da-DK" sz="1200" b="0" i="0" u="none" strike="noStrike" noProof="0">
                          <a:solidFill>
                            <a:srgbClr val="2D55FF"/>
                          </a:solidFill>
                          <a:effectLst/>
                          <a:latin typeface="Inter"/>
                        </a:rPr>
                        <a:t>}}</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0" noProof="0">
                          <a:solidFill>
                            <a:schemeClr val="tx2"/>
                          </a:solidFill>
                        </a:rPr>
                        <a:t>Totalt antal ansatte</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nter"/>
                        </a:rPr>
                        <a:t>{{Total_out_of_countries}}</a:t>
                      </a:r>
                      <a:endParaRPr lang="da-DK" sz="1200" b="0" noProof="0">
                        <a:effectLst/>
                      </a:endParaRPr>
                    </a:p>
                  </a:txBody>
                  <a:tcPr marL="25400" marR="254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Sundhed og sikkerhed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508000" y="1720951"/>
          <a:ext cx="5469468" cy="1013760"/>
        </p:xfrm>
        <a:graphic>
          <a:graphicData uri="http://schemas.openxmlformats.org/drawingml/2006/table">
            <a:tbl>
              <a:tblPr firstRow="1">
                <a:tableStyleId>{2A488322-F2BA-4B5B-9748-0D474271808F}</a:tableStyleId>
              </a:tblPr>
              <a:tblGrid>
                <a:gridCol w="3028830">
                  <a:extLst>
                    <a:ext uri="{9D8B030D-6E8A-4147-A177-3AD203B41FA5}">
                      <a16:colId xmlns:a16="http://schemas.microsoft.com/office/drawing/2014/main" val="2698153288"/>
                    </a:ext>
                  </a:extLst>
                </a:gridCol>
                <a:gridCol w="2440638">
                  <a:extLst>
                    <a:ext uri="{9D8B030D-6E8A-4147-A177-3AD203B41FA5}">
                      <a16:colId xmlns:a16="http://schemas.microsoft.com/office/drawing/2014/main" val="2119413191"/>
                    </a:ext>
                  </a:extLst>
                </a:gridCol>
              </a:tblGrid>
              <a:tr h="3379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Registrerede arbejdsulykker </a:t>
                      </a:r>
                      <a:r>
                        <a:rPr lang="da-DK" sz="1200" b="0" noProof="0">
                          <a:solidFill>
                            <a:schemeClr val="tx2"/>
                          </a:solidFill>
                        </a:rPr>
                        <a:t>(pkt. 41a)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7920">
                <a:tc>
                  <a:txBody>
                    <a:bodyPr/>
                    <a:lstStyle/>
                    <a:p>
                      <a:r>
                        <a:rPr lang="da-DK" sz="1200" b="0" noProof="0">
                          <a:solidFill>
                            <a:schemeClr val="tx2"/>
                          </a:solidFill>
                        </a:rPr>
                        <a:t>Antal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indsat_antal_accidents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7920">
                <a:tc>
                  <a:txBody>
                    <a:bodyPr/>
                    <a:lstStyle/>
                    <a:p>
                      <a:r>
                        <a:rPr lang="da-DK" sz="1200" b="0" noProof="0">
                          <a:solidFill>
                            <a:schemeClr val="tx2"/>
                          </a:solidFill>
                        </a:rPr>
                        <a:t>Frekvens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indsat_accidents_frequents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6203932" y="1720952"/>
          <a:ext cx="5469468" cy="996435"/>
        </p:xfrm>
        <a:graphic>
          <a:graphicData uri="http://schemas.openxmlformats.org/drawingml/2006/table">
            <a:tbl>
              <a:tblPr firstRow="1">
                <a:tableStyleId>{2A488322-F2BA-4B5B-9748-0D474271808F}</a:tableStyleId>
              </a:tblPr>
              <a:tblGrid>
                <a:gridCol w="3778268">
                  <a:extLst>
                    <a:ext uri="{9D8B030D-6E8A-4147-A177-3AD203B41FA5}">
                      <a16:colId xmlns:a16="http://schemas.microsoft.com/office/drawing/2014/main" val="2698153288"/>
                    </a:ext>
                  </a:extLst>
                </a:gridCol>
                <a:gridCol w="1691200">
                  <a:extLst>
                    <a:ext uri="{9D8B030D-6E8A-4147-A177-3AD203B41FA5}">
                      <a16:colId xmlns:a16="http://schemas.microsoft.com/office/drawing/2014/main" val="2119413191"/>
                    </a:ext>
                  </a:extLst>
                </a:gridCol>
              </a:tblGrid>
              <a:tr h="3321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Arbejdsrelaterede dødsfald </a:t>
                      </a:r>
                      <a:r>
                        <a:rPr lang="da-DK" sz="1200" b="0" noProof="0">
                          <a:solidFill>
                            <a:schemeClr val="tx2"/>
                          </a:solidFill>
                        </a:rPr>
                        <a:t>(pkt. 41b)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32145">
                <a:tc>
                  <a:txBody>
                    <a:bodyPr/>
                    <a:lstStyle/>
                    <a:p>
                      <a:r>
                        <a:rPr lang="da-DK" sz="1200" b="0" noProof="0">
                          <a:solidFill>
                            <a:schemeClr val="tx2"/>
                          </a:solidFill>
                        </a:rPr>
                        <a:t>Som følge af arbejdsskade/-ulykke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a:lnSpc>
                          <a:spcPct val="100000"/>
                        </a:lnSpc>
                        <a:spcBef>
                          <a:spcPts val="0"/>
                        </a:spcBef>
                        <a:spcAft>
                          <a:spcPts val="0"/>
                        </a:spcAft>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deaths_by_accidents</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32145">
                <a:tc>
                  <a:txBody>
                    <a:bodyPr/>
                    <a:lstStyle/>
                    <a:p>
                      <a:r>
                        <a:rPr lang="da-DK" sz="1200" b="0" noProof="0">
                          <a:solidFill>
                            <a:schemeClr val="tx2"/>
                          </a:solidFill>
                        </a:rPr>
                        <a:t>Som følge af arbejdsrelateret dårligt helbred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u="none" strike="noStrike" kern="1200" cap="none" spc="0" normalizeH="0" baseline="0" noProof="0">
                          <a:ln>
                            <a:noFill/>
                          </a:ln>
                          <a:solidFill>
                            <a:srgbClr val="2D55FF"/>
                          </a:solidFill>
                          <a:effectLst/>
                          <a:uLnTx/>
                          <a:uFillTx/>
                          <a:latin typeface="Inter"/>
                          <a:ea typeface="+mn-ea"/>
                          <a:cs typeface="+mn-cs"/>
                        </a:rPr>
                        <a:t>{{</a:t>
                      </a:r>
                      <a:r>
                        <a:rPr lang="da-DK" sz="1200" b="0" i="0" u="none" strike="noStrike" kern="1200" cap="none" spc="0" normalizeH="0" baseline="0" noProof="0">
                          <a:ln>
                            <a:noFill/>
                          </a:ln>
                          <a:solidFill>
                            <a:srgbClr val="2D55FF"/>
                          </a:solidFill>
                          <a:effectLst/>
                          <a:uLnTx/>
                          <a:uFillTx/>
                          <a:latin typeface="Inter"/>
                        </a:rPr>
                        <a:t>deaths_by_health</a:t>
                      </a:r>
                      <a:r>
                        <a:rPr lang="da-DK" sz="1200" b="0" i="0" u="none" strike="noStrike" kern="1200" cap="none" spc="0" normalizeH="0" baseline="0" noProof="0">
                          <a:ln>
                            <a:noFill/>
                          </a:ln>
                          <a:solidFill>
                            <a:srgbClr val="2D55FF"/>
                          </a:solidFill>
                          <a:effectLst/>
                          <a:uLnTx/>
                          <a:uFillTx/>
                          <a:latin typeface="Inter"/>
                          <a:ea typeface="+mn-ea"/>
                          <a:cs typeface="+mn-cs"/>
                        </a:rPr>
                        <a:t>}}</a:t>
                      </a:r>
                      <a:endParaRPr kumimoji="0" lang="da-DK" sz="1200" b="0" i="0" u="none" strike="noStrike" kern="1200" cap="none" spc="0" normalizeH="0" baseline="0" noProof="0">
                        <a:ln>
                          <a:noFill/>
                        </a:ln>
                        <a:solidFill>
                          <a:srgbClr val="2D55FF"/>
                        </a:solidFill>
                        <a:effectLst/>
                        <a:uLnTx/>
                        <a:uFillTx/>
                        <a:latin typeface="Inter"/>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11</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518600" y="995767"/>
            <a:ext cx="11165400"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518600" y="3051599"/>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t>Egen arbejdsstyrke: Vederlag, overenskomster og uddannelse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6214532" y="4181125"/>
          <a:ext cx="5469467" cy="875519"/>
        </p:xfrm>
        <a:graphic>
          <a:graphicData uri="http://schemas.openxmlformats.org/drawingml/2006/table">
            <a:tbl>
              <a:tblPr firstRow="1">
                <a:tableStyleId>{2A488322-F2BA-4B5B-9748-0D474271808F}</a:tableStyleId>
              </a:tblPr>
              <a:tblGrid>
                <a:gridCol w="3805768">
                  <a:extLst>
                    <a:ext uri="{9D8B030D-6E8A-4147-A177-3AD203B41FA5}">
                      <a16:colId xmlns:a16="http://schemas.microsoft.com/office/drawing/2014/main" val="2698153288"/>
                    </a:ext>
                  </a:extLst>
                </a:gridCol>
                <a:gridCol w="1663699">
                  <a:extLst>
                    <a:ext uri="{9D8B030D-6E8A-4147-A177-3AD203B41FA5}">
                      <a16:colId xmlns:a16="http://schemas.microsoft.com/office/drawing/2014/main" val="2119413191"/>
                    </a:ext>
                  </a:extLst>
                </a:gridCol>
              </a:tblGrid>
              <a:tr h="33517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Lønforskel mellem mandlige og kvindelige ansatte </a:t>
                      </a:r>
                      <a:r>
                        <a:rPr lang="da-DK" sz="1200" b="0" noProof="0">
                          <a:solidFill>
                            <a:schemeClr val="tx2"/>
                          </a:solidFill>
                        </a:rPr>
                        <a:t>(pkt. 42b)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panose="020F0502020204030204" pitchFamily="34" charset="0"/>
                          <a:cs typeface="Calibri" panose="020F0502020204030204" pitchFamily="34" charset="0"/>
                        </a:rPr>
                        <a:t> </a:t>
                      </a:r>
                      <a:r>
                        <a:rPr lang="da-DK" sz="1200" b="1" noProof="0">
                          <a:solidFill>
                            <a:schemeClr val="accent2"/>
                          </a:solidFill>
                        </a:rPr>
                        <a:t>{{</a:t>
                      </a:r>
                      <a:r>
                        <a:rPr lang="da-DK" sz="1200" b="1" noProof="0" err="1">
                          <a:solidFill>
                            <a:schemeClr val="accent2"/>
                          </a:solidFill>
                        </a:rPr>
                        <a:t>insert_year</a:t>
                      </a:r>
                      <a:r>
                        <a:rPr lang="da-DK" sz="1200" b="1"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0341">
                <a:tc v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200" b="0" noProof="0">
                          <a:solidFill>
                            <a:schemeClr val="accent2"/>
                          </a:solidFill>
                        </a:rPr>
                        <a:t>{{</a:t>
                      </a:r>
                      <a:r>
                        <a:rPr lang="da-DK" sz="1200" b="0" noProof="0" err="1">
                          <a:solidFill>
                            <a:schemeClr val="accent2"/>
                          </a:solidFill>
                        </a:rPr>
                        <a:t>indsat_procentvise_lonforskel</a:t>
                      </a:r>
                      <a:r>
                        <a:rPr lang="da-DK" sz="1200" b="0" noProof="0">
                          <a:solidFill>
                            <a:schemeClr val="accent2"/>
                          </a:solidFill>
                        </a:rPr>
                        <a:t>}}</a:t>
                      </a:r>
                    </a:p>
                  </a:txBody>
                  <a:tcPr marL="36000" marR="36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507995" y="4181127"/>
          <a:ext cx="5473705" cy="875520"/>
        </p:xfrm>
        <a:graphic>
          <a:graphicData uri="http://schemas.openxmlformats.org/drawingml/2006/table">
            <a:tbl>
              <a:tblPr firstRow="1">
                <a:tableStyleId>{2A488322-F2BA-4B5B-9748-0D474271808F}</a:tableStyleId>
              </a:tblPr>
              <a:tblGrid>
                <a:gridCol w="3003016">
                  <a:extLst>
                    <a:ext uri="{9D8B030D-6E8A-4147-A177-3AD203B41FA5}">
                      <a16:colId xmlns:a16="http://schemas.microsoft.com/office/drawing/2014/main" val="160727125"/>
                    </a:ext>
                  </a:extLst>
                </a:gridCol>
                <a:gridCol w="1267020">
                  <a:extLst>
                    <a:ext uri="{9D8B030D-6E8A-4147-A177-3AD203B41FA5}">
                      <a16:colId xmlns:a16="http://schemas.microsoft.com/office/drawing/2014/main" val="1767985329"/>
                    </a:ext>
                  </a:extLst>
                </a:gridCol>
                <a:gridCol w="1203669">
                  <a:extLst>
                    <a:ext uri="{9D8B030D-6E8A-4147-A177-3AD203B41FA5}">
                      <a16:colId xmlns:a16="http://schemas.microsoft.com/office/drawing/2014/main" val="1397164534"/>
                    </a:ext>
                  </a:extLst>
                </a:gridCol>
              </a:tblGrid>
              <a:tr h="206492">
                <a:tc>
                  <a:txBody>
                    <a:bodyPr/>
                    <a:lstStyle/>
                    <a:p>
                      <a:r>
                        <a:rPr lang="da-DK" sz="1200" b="1" noProof="0">
                          <a:solidFill>
                            <a:schemeClr val="tx2"/>
                          </a:solidFill>
                        </a:rPr>
                        <a:t>Oplysninger om minimumsløn </a:t>
                      </a:r>
                      <a:r>
                        <a:rPr lang="da-DK" sz="1200" b="0" noProof="0">
                          <a:solidFill>
                            <a:schemeClr val="tx2"/>
                          </a:solidFill>
                        </a:rPr>
                        <a:t>(42a)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Ja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02813">
                <a:tc>
                  <a:txBody>
                    <a:bodyPr/>
                    <a:lstStyle/>
                    <a:p>
                      <a:r>
                        <a:rPr lang="da-DK" sz="1200" b="0" noProof="0">
                          <a:solidFill>
                            <a:schemeClr val="tx2"/>
                          </a:solidFill>
                        </a:rPr>
                        <a:t>I virksomheden modtager alle ansatte en løn, der som minimum er på niveau med minimumslønnen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minumum_wage_yes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minimum_wage_no</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507998" y="5198328"/>
          <a:ext cx="5469469" cy="1046565"/>
        </p:xfrm>
        <a:graphic>
          <a:graphicData uri="http://schemas.openxmlformats.org/drawingml/2006/table">
            <a:tbl>
              <a:tblPr firstRow="1">
                <a:tableStyleId>{2A488322-F2BA-4B5B-9748-0D474271808F}</a:tableStyleId>
              </a:tblPr>
              <a:tblGrid>
                <a:gridCol w="3022602">
                  <a:extLst>
                    <a:ext uri="{9D8B030D-6E8A-4147-A177-3AD203B41FA5}">
                      <a16:colId xmlns:a16="http://schemas.microsoft.com/office/drawing/2014/main" val="81046444"/>
                    </a:ext>
                  </a:extLst>
                </a:gridCol>
                <a:gridCol w="2446867">
                  <a:extLst>
                    <a:ext uri="{9D8B030D-6E8A-4147-A177-3AD203B41FA5}">
                      <a16:colId xmlns:a16="http://schemas.microsoft.com/office/drawing/2014/main" val="2119413191"/>
                    </a:ext>
                  </a:extLst>
                </a:gridCol>
              </a:tblGrid>
              <a:tr h="5450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Kollektiv overenskomst </a:t>
                      </a:r>
                      <a:r>
                        <a:rPr lang="da-DK" sz="1200" b="0" noProof="0">
                          <a:solidFill>
                            <a:schemeClr val="tx2"/>
                          </a:solidFill>
                        </a:rPr>
                        <a:t>(pkt. 42c)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panose="020F0502020204030204" pitchFamily="34" charset="0"/>
                          <a:cs typeface="Calibri" panose="020F0502020204030204" pitchFamily="34" charset="0"/>
                        </a:rPr>
                        <a:t> {{</a:t>
                      </a:r>
                      <a:r>
                        <a:rPr lang="da-DK" sz="1200" b="1" noProof="0" err="1">
                          <a:solidFill>
                            <a:schemeClr val="accent2"/>
                          </a:solidFill>
                          <a:latin typeface="Calibri" panose="020F0502020204030204" pitchFamily="34" charset="0"/>
                          <a:cs typeface="Calibri" panose="020F0502020204030204" pitchFamily="34" charset="0"/>
                        </a:rPr>
                        <a:t>insert_year</a:t>
                      </a:r>
                      <a:r>
                        <a:rPr lang="da-DK" sz="1200" b="1" noProof="0">
                          <a:solidFill>
                            <a:schemeClr val="accent2"/>
                          </a:solidFill>
                          <a:latin typeface="Calibri" panose="020F0502020204030204" pitchFamily="34" charset="0"/>
                          <a:cs typeface="Calibri" panose="020F0502020204030204" pitchFamily="34" charset="0"/>
                        </a:rPr>
                        <a:t>}}</a:t>
                      </a:r>
                      <a:endParaRPr lang="da-DK" sz="1200" b="1"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1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Procentvis ansatte, der er dækket af en kollektiv overenskomst</a:t>
                      </a:r>
                      <a:endParaRPr kumimoji="0" lang="da-DK"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a:t>
                      </a:r>
                      <a:r>
                        <a:rPr kumimoji="0" lang="da-DK" sz="1200" b="0" i="0" u="none" strike="noStrike" kern="1200" cap="none" spc="0" normalizeH="0" baseline="0" noProof="0" err="1">
                          <a:ln>
                            <a:noFill/>
                          </a:ln>
                          <a:solidFill>
                            <a:srgbClr val="2D55FF"/>
                          </a:solidFill>
                          <a:effectLst/>
                          <a:uLnTx/>
                          <a:uFillTx/>
                          <a:latin typeface="+mn-lt"/>
                          <a:ea typeface="+mn-ea"/>
                          <a:cs typeface="+mn-cs"/>
                        </a:rPr>
                        <a:t>indsat_procentvis_ansatte</a:t>
                      </a:r>
                      <a:r>
                        <a:rPr kumimoji="0" lang="da-DK" sz="1200" b="0" i="0" u="none" strike="noStrike" kern="1200" cap="none" spc="0" normalizeH="0" baseline="0" noProof="0">
                          <a:ln>
                            <a:noFill/>
                          </a:ln>
                          <a:solidFill>
                            <a:srgbClr val="2D55FF"/>
                          </a:solidFill>
                          <a:effectLst/>
                          <a:uLnTx/>
                          <a:uFillTx/>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6212426" y="5198327"/>
          <a:ext cx="5469467" cy="1043871"/>
        </p:xfrm>
        <a:graphic>
          <a:graphicData uri="http://schemas.openxmlformats.org/drawingml/2006/table">
            <a:tbl>
              <a:tblPr firstRow="1">
                <a:tableStyleId>{2A488322-F2BA-4B5B-9748-0D474271808F}</a:tableStyleId>
              </a:tblPr>
              <a:tblGrid>
                <a:gridCol w="3807874">
                  <a:extLst>
                    <a:ext uri="{9D8B030D-6E8A-4147-A177-3AD203B41FA5}">
                      <a16:colId xmlns:a16="http://schemas.microsoft.com/office/drawing/2014/main" val="2698153288"/>
                    </a:ext>
                  </a:extLst>
                </a:gridCol>
                <a:gridCol w="1661593">
                  <a:extLst>
                    <a:ext uri="{9D8B030D-6E8A-4147-A177-3AD203B41FA5}">
                      <a16:colId xmlns:a16="http://schemas.microsoft.com/office/drawing/2014/main" val="2119413191"/>
                    </a:ext>
                  </a:extLst>
                </a:gridCol>
              </a:tblGrid>
              <a:tr h="429829">
                <a:tc>
                  <a:txBody>
                    <a:bodyPr/>
                    <a:lstStyle/>
                    <a:p>
                      <a:r>
                        <a:rPr lang="da-DK" sz="1200" b="1" noProof="0">
                          <a:solidFill>
                            <a:schemeClr val="tx2"/>
                          </a:solidFill>
                        </a:rPr>
                        <a:t>Uddannelsestimer i gennemsnit pr. ansat </a:t>
                      </a:r>
                      <a:r>
                        <a:rPr lang="da-DK" sz="1200" b="0" noProof="0">
                          <a:solidFill>
                            <a:schemeClr val="tx2"/>
                          </a:solidFill>
                        </a:rPr>
                        <a:t>(pkt. 42d)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År</a:t>
                      </a:r>
                      <a:r>
                        <a:rPr lang="da-DK" sz="1200" b="1" noProof="0">
                          <a:solidFill>
                            <a:schemeClr val="accent2"/>
                          </a:solidFill>
                          <a:latin typeface="Calibri"/>
                          <a:cs typeface="Calibri"/>
                        </a:rPr>
                        <a:t> {{insert_year}}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614042">
                <a:tc>
                  <a:txBody>
                    <a:bodyPr/>
                    <a:lstStyle/>
                    <a:p>
                      <a:r>
                        <a:rPr lang="da-DK" sz="1200" b="0" noProof="0">
                          <a:solidFill>
                            <a:schemeClr val="tx2"/>
                          </a:solidFill>
                        </a:rPr>
                        <a:t>Time(r) pr. ansat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{{gennemsnitstimer}}</a:t>
                      </a:r>
                      <a:endParaRPr lang="da-DK" sz="1200" b="0" noProof="0">
                        <a:effectLst/>
                      </a:endParaRPr>
                    </a:p>
                  </a:txBody>
                  <a:tcPr marL="19050" marR="1905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531300" y="3446812"/>
            <a:ext cx="111654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Virksomhedsadfærd: Antal domme og bøder i relation til korruption &amp; bestikkelse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507998" y="1945690"/>
          <a:ext cx="11165400" cy="612000"/>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2698153288"/>
                    </a:ext>
                  </a:extLst>
                </a:gridCol>
                <a:gridCol w="3721800">
                  <a:extLst>
                    <a:ext uri="{9D8B030D-6E8A-4147-A177-3AD203B41FA5}">
                      <a16:colId xmlns:a16="http://schemas.microsoft.com/office/drawing/2014/main" val="2119413191"/>
                    </a:ext>
                  </a:extLst>
                </a:gridCol>
                <a:gridCol w="3721800">
                  <a:extLst>
                    <a:ext uri="{9D8B030D-6E8A-4147-A177-3AD203B41FA5}">
                      <a16:colId xmlns:a16="http://schemas.microsoft.com/office/drawing/2014/main" val="1502960985"/>
                    </a:ext>
                  </a:extLst>
                </a:gridCol>
              </a:tblGrid>
              <a:tr h="306000">
                <a:tc rowSpan="2">
                  <a:txBody>
                    <a:bodyPr/>
                    <a:lstStyle/>
                    <a:p>
                      <a:r>
                        <a:rPr lang="da-DK" sz="1200" b="1" noProof="0">
                          <a:solidFill>
                            <a:schemeClr val="tx2"/>
                          </a:solidFill>
                        </a:rPr>
                        <a:t>Korruption og bestikkelse </a:t>
                      </a:r>
                      <a:r>
                        <a:rPr lang="da-DK" sz="1200" b="0" noProof="0">
                          <a:solidFill>
                            <a:schemeClr val="tx2"/>
                          </a:solidFill>
                        </a:rPr>
                        <a:t>(pkt. 43)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200" b="1" noProof="0">
                          <a:solidFill>
                            <a:schemeClr val="tx2"/>
                          </a:solidFill>
                        </a:rPr>
                        <a:t>Antal domme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1" noProof="0">
                          <a:solidFill>
                            <a:schemeClr val="tx2"/>
                          </a:solidFill>
                        </a:rPr>
                        <a:t>Samlede bødestørrelse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6000">
                <a:tc vMerge="1">
                  <a:txBody>
                    <a:bodyPr/>
                    <a:lstStyle/>
                    <a:p>
                      <a:endParaRPr lang="en-GB"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{{domme}}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samlet_bodestorrelse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12</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518600" y="1016000"/>
            <a:ext cx="11254300" cy="1015663"/>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overtrædelser af anti-korruptions- og </a:t>
            </a:r>
            <a:r>
              <a:rPr lang="da-DK" sz="1200" b="0" i="0" u="none" strike="noStrike" noProof="0" err="1">
                <a:solidFill>
                  <a:schemeClr val="tx2"/>
                </a:solidFill>
                <a:effectLst/>
                <a:latin typeface="Inter"/>
              </a:rPr>
              <a:t>anti</a:t>
            </a:r>
            <a:r>
              <a:rPr lang="da-DK" sz="1200" b="0" i="0" u="none" strike="noStrike" noProof="0">
                <a:solidFill>
                  <a:schemeClr val="tx2"/>
                </a:solidFill>
                <a:effectLst/>
                <a:latin typeface="Inter"/>
              </a:rPr>
              <a:t>-bestikkelseslove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960628" y="2698750"/>
            <a:ext cx="10033000" cy="1460499"/>
          </a:xfrm>
        </p:spPr>
        <p:txBody>
          <a:bodyPr>
            <a:normAutofit/>
          </a:bodyPr>
          <a:lstStyle/>
          <a:p>
            <a:r>
              <a:rPr lang="da-DK" sz="4000" b="1" noProof="0"/>
              <a:t>Oplysningspunkter i Udvidet 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a-DK" noProof="0" smtClean="0"/>
              <a:pPr/>
              <a:t>13</a:t>
            </a:fld>
            <a:endParaRPr lang="da-DK" noProof="0"/>
          </a:p>
        </p:txBody>
      </p:sp>
    </p:spTree>
    <p:extLst>
      <p:ext uri="{BB962C8B-B14F-4D97-AF65-F5344CB8AC3E}">
        <p14:creationId xmlns:p14="http://schemas.microsoft.com/office/powerpoint/2010/main" val="959639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56224"/>
          </a:xfrm>
        </p:spPr>
        <p:txBody>
          <a:bodyPr/>
          <a:lstStyle/>
          <a:p>
            <a:pPr marL="0" algn="l" rtl="0" eaLnBrk="1" fontAlgn="t" latinLnBrk="0" hangingPunct="1">
              <a:spcBef>
                <a:spcPts val="0"/>
              </a:spcBef>
              <a:spcAft>
                <a:spcPts val="0"/>
              </a:spcAft>
            </a:pPr>
            <a:r>
              <a:rPr lang="da-DK" sz="1800" b="1" i="0" u="none" strike="noStrike" kern="1200" spc="-10" noProof="0">
                <a:solidFill>
                  <a:srgbClr val="1B4528"/>
                </a:solidFill>
                <a:effectLst/>
                <a:latin typeface="IBM Plex Sans" panose="020B0503050203000203" pitchFamily="34" charset="0"/>
              </a:rPr>
              <a:t>Strategi: Forretningsmodel og bæredygtighedsrelaterede initiativer (C1)</a:t>
            </a:r>
            <a:endParaRPr lang="da-DK"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2401" y="4709014"/>
            <a:ext cx="207455" cy="232601"/>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8112507"/>
              </p:ext>
            </p:extLst>
          </p:nvPr>
        </p:nvGraphicFramePr>
        <p:xfrm>
          <a:off x="529201" y="2372250"/>
          <a:ext cx="11165400" cy="788603"/>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9989">
                <a:tc>
                  <a:txBody>
                    <a:bodyPr/>
                    <a:lstStyle/>
                    <a:p>
                      <a:r>
                        <a:rPr lang="da-DK" sz="1200" b="1" noProof="0">
                          <a:solidFill>
                            <a:schemeClr val="tx2"/>
                          </a:solidFill>
                        </a:rPr>
                        <a:t>Beskrivelse af væsentlige grupper af produkter og/eller tjenesteydelser, som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kern="1200" noProof="0">
                          <a:solidFill>
                            <a:schemeClr val="tx2"/>
                          </a:solidFill>
                          <a:latin typeface="+mn-lt"/>
                          <a:ea typeface="+mn-ea"/>
                          <a:cs typeface="+mn-cs"/>
                        </a:rPr>
                        <a:t>tilbyder</a:t>
                      </a:r>
                      <a:r>
                        <a:rPr lang="da-DK" sz="1200" b="1" noProof="0">
                          <a:solidFill>
                            <a:schemeClr val="tx2"/>
                          </a:solidFill>
                        </a:rPr>
                        <a:t> </a:t>
                      </a:r>
                      <a:r>
                        <a:rPr lang="da-DK" sz="1200" b="0" noProof="0">
                          <a:solidFill>
                            <a:schemeClr val="tx2"/>
                          </a:solidFill>
                        </a:rPr>
                        <a:t>(pkt. 46a)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33723">
                <a:tc>
                  <a:txBody>
                    <a:bodyPr/>
                    <a:lstStyle/>
                    <a:p>
                      <a:pPr algn="l"/>
                      <a:r>
                        <a:rPr lang="da-DK" sz="1200" b="0" noProof="0">
                          <a:solidFill>
                            <a:schemeClr val="accent2"/>
                          </a:solidFill>
                        </a:rPr>
                        <a:t>{{</a:t>
                      </a:r>
                      <a:r>
                        <a:rPr lang="da-DK" sz="1200" b="0" noProof="0" err="1">
                          <a:solidFill>
                            <a:schemeClr val="accent2"/>
                          </a:solidFill>
                        </a:rPr>
                        <a:t>markets_description</a:t>
                      </a:r>
                      <a:r>
                        <a:rPr lang="da-DK" sz="1200" b="0" noProof="0">
                          <a:solidFill>
                            <a:schemeClr val="accent2"/>
                          </a:solidFill>
                        </a:rPr>
                        <a:t>}}</a:t>
                      </a:r>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1513519141"/>
              </p:ext>
            </p:extLst>
          </p:nvPr>
        </p:nvGraphicFramePr>
        <p:xfrm>
          <a:off x="529201" y="3297015"/>
          <a:ext cx="11165400" cy="1027986"/>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94792">
                <a:tc>
                  <a:txBody>
                    <a:bodyPr/>
                    <a:lstStyle/>
                    <a:p>
                      <a:r>
                        <a:rPr lang="da-DK" sz="1200" b="1" noProof="0">
                          <a:solidFill>
                            <a:schemeClr val="tx2"/>
                          </a:solidFill>
                        </a:rPr>
                        <a:t>Beskrivelse af de væsentlige markeder, som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noProof="0">
                          <a:solidFill>
                            <a:schemeClr val="tx2"/>
                          </a:solidFill>
                        </a:rPr>
                        <a:t>arbejder med </a:t>
                      </a:r>
                      <a:r>
                        <a:rPr lang="da-DK" sz="1200" b="0" noProof="0">
                          <a:solidFill>
                            <a:schemeClr val="tx2"/>
                          </a:solidFill>
                        </a:rPr>
                        <a:t>(pkt. 46b)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73106">
                <a:tc>
                  <a:txBody>
                    <a:bodyPr/>
                    <a:lstStyle/>
                    <a:p>
                      <a:pPr algn="l"/>
                      <a:r>
                        <a:rPr lang="da-DK" sz="1200" b="0" noProof="0">
                          <a:solidFill>
                            <a:schemeClr val="accent2"/>
                          </a:solidFill>
                        </a:rPr>
                        <a:t>{{</a:t>
                      </a:r>
                      <a:r>
                        <a:rPr lang="da-DK" sz="1200" b="0" noProof="0" err="1">
                          <a:solidFill>
                            <a:schemeClr val="accent2"/>
                          </a:solidFill>
                        </a:rPr>
                        <a:t>business_relationships</a:t>
                      </a:r>
                      <a:r>
                        <a:rPr lang="da-DK"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2840991552"/>
              </p:ext>
            </p:extLst>
          </p:nvPr>
        </p:nvGraphicFramePr>
        <p:xfrm>
          <a:off x="529201" y="4436129"/>
          <a:ext cx="11165400" cy="100268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77865">
                <a:tc>
                  <a:txBody>
                    <a:bodyPr/>
                    <a:lstStyle/>
                    <a:p>
                      <a:r>
                        <a:rPr lang="da-DK" sz="1200" b="1" noProof="0">
                          <a:solidFill>
                            <a:schemeClr val="tx2"/>
                          </a:solidFill>
                        </a:rPr>
                        <a:t>Beskrivelse af </a:t>
                      </a:r>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a:t>
                      </a:r>
                      <a:r>
                        <a:rPr lang="da-DK" sz="1200" b="1" kern="1200" noProof="0">
                          <a:solidFill>
                            <a:schemeClr val="accent1"/>
                          </a:solidFill>
                          <a:latin typeface="+mn-lt"/>
                          <a:ea typeface="+mn-ea"/>
                          <a:cs typeface="+mn-cs"/>
                        </a:rPr>
                        <a:t>’s</a:t>
                      </a:r>
                      <a:r>
                        <a:rPr lang="da-DK" sz="1200" b="1" kern="1200" noProof="0">
                          <a:solidFill>
                            <a:schemeClr val="accent2"/>
                          </a:solidFill>
                          <a:latin typeface="+mn-lt"/>
                          <a:ea typeface="+mn-ea"/>
                          <a:cs typeface="+mn-cs"/>
                        </a:rPr>
                        <a:t> </a:t>
                      </a:r>
                      <a:r>
                        <a:rPr lang="da-DK" sz="1200" b="1" noProof="0">
                          <a:solidFill>
                            <a:schemeClr val="tx2"/>
                          </a:solidFill>
                        </a:rPr>
                        <a:t>primære forretningsforbindelser </a:t>
                      </a:r>
                      <a:r>
                        <a:rPr lang="da-DK" sz="1200" b="0" noProof="0">
                          <a:solidFill>
                            <a:schemeClr val="tx2"/>
                          </a:solidFill>
                        </a:rPr>
                        <a:t>(pkt. 46c)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47800">
                <a:tc>
                  <a:txBody>
                    <a:bodyPr/>
                    <a:lstStyle/>
                    <a:p>
                      <a:pPr algn="l"/>
                      <a:r>
                        <a:rPr lang="da-DK" sz="1200" b="0" noProof="0">
                          <a:solidFill>
                            <a:schemeClr val="accent2"/>
                          </a:solidFill>
                        </a:rPr>
                        <a:t>{{</a:t>
                      </a:r>
                      <a:r>
                        <a:rPr lang="da-DK" sz="1200" b="0" noProof="0" err="1">
                          <a:solidFill>
                            <a:schemeClr val="accent2"/>
                          </a:solidFill>
                        </a:rPr>
                        <a:t>strategy</a:t>
                      </a:r>
                      <a:r>
                        <a:rPr lang="da-DK" sz="1200" b="0" noProof="0">
                          <a:solidFill>
                            <a:schemeClr val="accent2"/>
                          </a:solidFill>
                        </a:rPr>
                        <a:t>}}</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518600" y="1581713"/>
          <a:ext cx="11165400" cy="692640"/>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86910">
                <a:tc>
                  <a:txBody>
                    <a:bodyPr/>
                    <a:lstStyle/>
                    <a:p>
                      <a:r>
                        <a:rPr lang="da-DK" sz="1200" b="1" noProof="0">
                          <a:solidFill>
                            <a:schemeClr val="tx2"/>
                          </a:solidFill>
                        </a:rPr>
                        <a:t>Beskrivelse af overordnet forretningsmodel og strategi </a:t>
                      </a:r>
                      <a:r>
                        <a:rPr lang="da-DK" sz="1200" b="0" noProof="0">
                          <a:solidFill>
                            <a:schemeClr val="tx2"/>
                          </a:solidFill>
                        </a:rPr>
                        <a:t>(pkt. 46)</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32049">
                <a:tc>
                  <a:txBody>
                    <a:bodyPr/>
                    <a:lstStyle/>
                    <a:p>
                      <a:pPr algn="l"/>
                      <a:r>
                        <a:rPr lang="da-DK" sz="1200" b="0" noProof="0">
                          <a:solidFill>
                            <a:schemeClr val="accent2"/>
                          </a:solidFill>
                        </a:rPr>
                        <a:t>{{</a:t>
                      </a:r>
                      <a:r>
                        <a:rPr lang="da-DK" sz="1200" b="0" noProof="0" err="1">
                          <a:solidFill>
                            <a:schemeClr val="accent2"/>
                          </a:solidFill>
                        </a:rPr>
                        <a:t>products_description</a:t>
                      </a:r>
                      <a:r>
                        <a:rPr lang="da-DK" sz="1200" b="0" noProof="0">
                          <a:solidFill>
                            <a:schemeClr val="accent2"/>
                          </a:solidFill>
                        </a:rPr>
                        <a:t>}}</a:t>
                      </a:r>
                    </a:p>
                    <a:p>
                      <a:pPr algn="l"/>
                      <a:endParaRPr lang="da-DK" sz="1200" b="0" kern="1200" noProof="0">
                        <a:solidFill>
                          <a:schemeClr val="accent2"/>
                        </a:solidFill>
                        <a:latin typeface="+mn-lt"/>
                        <a:ea typeface="+mn-ea"/>
                        <a:cs typeface="+mn-cs"/>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2119427327"/>
              </p:ext>
            </p:extLst>
          </p:nvPr>
        </p:nvGraphicFramePr>
        <p:xfrm>
          <a:off x="518598" y="5551393"/>
          <a:ext cx="11165400" cy="796132"/>
        </p:xfrm>
        <a:graphic>
          <a:graphicData uri="http://schemas.openxmlformats.org/drawingml/2006/table">
            <a:tbl>
              <a:tblPr firstRow="1">
                <a:tableStyleId>{2A488322-F2BA-4B5B-9748-0D474271808F}</a:tableStyleId>
              </a:tblPr>
              <a:tblGrid>
                <a:gridCol w="11165400">
                  <a:extLst>
                    <a:ext uri="{9D8B030D-6E8A-4147-A177-3AD203B41FA5}">
                      <a16:colId xmlns:a16="http://schemas.microsoft.com/office/drawing/2014/main" val="2698153288"/>
                    </a:ext>
                  </a:extLst>
                </a:gridCol>
              </a:tblGrid>
              <a:tr h="151388">
                <a:tc>
                  <a:txBody>
                    <a:bodyPr/>
                    <a:lstStyle/>
                    <a:p>
                      <a:r>
                        <a:rPr lang="da-DK" sz="1200" b="1" noProof="0">
                          <a:solidFill>
                            <a:schemeClr val="tx2"/>
                          </a:solidFill>
                        </a:rPr>
                        <a:t>Beskrivelse af, hvor </a:t>
                      </a:r>
                      <a:r>
                        <a:rPr lang="da-DK" sz="1200" b="1" kern="1200" noProof="0">
                          <a:solidFill>
                            <a:schemeClr val="accent2"/>
                          </a:solidFill>
                          <a:latin typeface="+mn-lt"/>
                          <a:ea typeface="+mn-ea"/>
                          <a:cs typeface="+mn-cs"/>
                        </a:rPr>
                        <a:t>{{company_name}}</a:t>
                      </a:r>
                      <a:r>
                        <a:rPr lang="da-DK" sz="1200" b="1" kern="1200" noProof="0">
                          <a:solidFill>
                            <a:schemeClr val="accent1"/>
                          </a:solidFill>
                          <a:latin typeface="+mn-lt"/>
                          <a:ea typeface="+mn-ea"/>
                          <a:cs typeface="+mn-cs"/>
                        </a:rPr>
                        <a:t>´s strategi og forretningsmodel har bæredygtighedsrelaterede elementer</a:t>
                      </a:r>
                      <a:r>
                        <a:rPr lang="da-DK" sz="1200" b="0" noProof="0">
                          <a:solidFill>
                            <a:schemeClr val="tx2"/>
                          </a:solidFill>
                        </a:rPr>
                        <a:t>(pkt. 46d)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541252">
                <a:tc>
                  <a:txBody>
                    <a:bodyPr/>
                    <a:lstStyle/>
                    <a:p>
                      <a:pPr lvl="0" algn="l">
                        <a:buNone/>
                      </a:pPr>
                      <a:r>
                        <a:rPr lang="da-DK" sz="1200" b="0" noProof="0">
                          <a:solidFill>
                            <a:schemeClr val="accent2"/>
                          </a:solidFill>
                        </a:rPr>
                        <a:t>{{business_model}}</a:t>
                      </a:r>
                      <a:endParaRPr lang="da-DK"/>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beskrivelse af overordnet forretningsmodel og strategi; produkter og/eller tjenesteydelser; markeder; forretningsforbindelser samt om virksomhedens forretningsmodel har bæredygtighedsrelaterede elementer. </a:t>
            </a:r>
            <a:endParaRPr lang="da-DK" sz="1200"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latin typeface="+mn-lt"/>
                <a:ea typeface="+mn-ea"/>
                <a:cs typeface="+mn-cs"/>
              </a:rPr>
              <a:t>I</a:t>
            </a:r>
            <a:r>
              <a:rPr lang="da-DK" sz="1800" b="1" kern="1200" spc="-10" noProof="0">
                <a:solidFill>
                  <a:schemeClr val="tx2"/>
                </a:solidFill>
                <a:latin typeface="+mn-lt"/>
                <a:ea typeface="+mn-ea"/>
                <a:cs typeface="+mn-cs"/>
              </a:rPr>
              <a:t>ndsatser, politikker og fremtidige initiativer for omstilling til en mere bæredygtig økonomi (C2)</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15</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518601" y="1753116"/>
          <a:ext cx="11165398" cy="5076664"/>
        </p:xfrm>
        <a:graphic>
          <a:graphicData uri="http://schemas.openxmlformats.org/drawingml/2006/table">
            <a:tbl>
              <a:tblPr firstRow="1">
                <a:tableStyleId>{2A488322-F2BA-4B5B-9748-0D474271808F}</a:tableStyleId>
              </a:tblPr>
              <a:tblGrid>
                <a:gridCol w="1916839">
                  <a:extLst>
                    <a:ext uri="{9D8B030D-6E8A-4147-A177-3AD203B41FA5}">
                      <a16:colId xmlns:a16="http://schemas.microsoft.com/office/drawing/2014/main" val="1902117154"/>
                    </a:ext>
                  </a:extLst>
                </a:gridCol>
                <a:gridCol w="3082853">
                  <a:extLst>
                    <a:ext uri="{9D8B030D-6E8A-4147-A177-3AD203B41FA5}">
                      <a16:colId xmlns:a16="http://schemas.microsoft.com/office/drawing/2014/main" val="1904521774"/>
                    </a:ext>
                  </a:extLst>
                </a:gridCol>
                <a:gridCol w="3082853">
                  <a:extLst>
                    <a:ext uri="{9D8B030D-6E8A-4147-A177-3AD203B41FA5}">
                      <a16:colId xmlns:a16="http://schemas.microsoft.com/office/drawing/2014/main" val="3164053669"/>
                    </a:ext>
                  </a:extLst>
                </a:gridCol>
                <a:gridCol w="3082853">
                  <a:extLst>
                    <a:ext uri="{9D8B030D-6E8A-4147-A177-3AD203B41FA5}">
                      <a16:colId xmlns:a16="http://schemas.microsoft.com/office/drawing/2014/main" val="1484983729"/>
                    </a:ext>
                  </a:extLst>
                </a:gridCol>
              </a:tblGrid>
              <a:tr h="349624">
                <a:tc rowSpan="2">
                  <a:txBody>
                    <a:bodyPr/>
                    <a:lstStyle/>
                    <a:p>
                      <a:pPr algn="l"/>
                      <a:r>
                        <a:rPr lang="da-DK" sz="1200" b="1" kern="1200" spc="-10" noProof="0">
                          <a:solidFill>
                            <a:schemeClr val="tx2"/>
                          </a:solidFill>
                          <a:latin typeface="+mn-lt"/>
                          <a:ea typeface="+mn-ea"/>
                          <a:cs typeface="+mn-cs"/>
                        </a:rPr>
                        <a:t>Område</a:t>
                      </a:r>
                    </a:p>
                    <a:p>
                      <a:pPr algn="l"/>
                      <a:r>
                        <a:rPr lang="da-DK" sz="1200" b="0" kern="1200" spc="-10" noProof="0">
                          <a:solidFill>
                            <a:schemeClr val="tx2"/>
                          </a:solidFill>
                          <a:latin typeface="+mn-lt"/>
                          <a:ea typeface="+mn-ea"/>
                          <a:cs typeface="+mn-cs"/>
                        </a:rPr>
                        <a:t>(pkt. 47)</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1200" b="1" kern="1200" spc="-10" noProof="0">
                          <a:solidFill>
                            <a:schemeClr val="tx2"/>
                          </a:solidFill>
                          <a:latin typeface="+mn-lt"/>
                          <a:ea typeface="+mn-ea"/>
                          <a:cs typeface="+mn-cs"/>
                        </a:rPr>
                        <a:t>Kort beskrivelse </a:t>
                      </a:r>
                      <a:r>
                        <a:rPr lang="da-DK" sz="1200" b="1" u="none" kern="1200" spc="-10" noProof="0">
                          <a:solidFill>
                            <a:schemeClr val="tx2"/>
                          </a:solidFill>
                          <a:latin typeface="+mn-lt"/>
                          <a:ea typeface="+mn-ea"/>
                          <a:cs typeface="+mn-cs"/>
                        </a:rPr>
                        <a:t>af eksisterende </a:t>
                      </a:r>
                      <a:r>
                        <a:rPr lang="da-DK" sz="1200" b="1" kern="1200" spc="-10" noProof="0">
                          <a:solidFill>
                            <a:schemeClr val="tx2"/>
                          </a:solidFill>
                          <a:latin typeface="+mn-lt"/>
                          <a:ea typeface="+mn-ea"/>
                          <a:cs typeface="+mn-cs"/>
                        </a:rPr>
                        <a:t>indsatser/politikker/handlinger (jf. oplysningspunkt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1200" b="1" kern="1200" spc="-10" noProof="0">
                          <a:solidFill>
                            <a:schemeClr val="tx2"/>
                          </a:solidFill>
                          <a:latin typeface="+mn-lt"/>
                          <a:ea typeface="+mn-ea"/>
                          <a:cs typeface="+mn-cs"/>
                        </a:rPr>
                        <a:t>Kort beskrivelse af eventuelle </a:t>
                      </a:r>
                      <a:r>
                        <a:rPr lang="da-DK" sz="1200" b="1" u="none" kern="1200" spc="-10" noProof="0">
                          <a:solidFill>
                            <a:schemeClr val="tx2"/>
                          </a:solidFill>
                          <a:latin typeface="+mn-lt"/>
                          <a:ea typeface="+mn-ea"/>
                          <a:cs typeface="+mn-cs"/>
                        </a:rPr>
                        <a:t>fremtidige</a:t>
                      </a:r>
                      <a:r>
                        <a:rPr lang="da-DK" sz="1200" b="1" kern="1200" spc="-10" noProof="0">
                          <a:solidFill>
                            <a:schemeClr val="tx2"/>
                          </a:solidFill>
                          <a:latin typeface="+mn-lt"/>
                          <a:ea typeface="+mn-ea"/>
                          <a:cs typeface="+mn-cs"/>
                        </a:rPr>
                        <a:t> målsætninger (jf. oplysningspunkt B2)</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spc="-10" noProof="0">
                          <a:solidFill>
                            <a:schemeClr val="bg1"/>
                          </a:solidFill>
                        </a:rPr>
                        <a:t>Oplysningspunktet </a:t>
                      </a:r>
                      <a:r>
                        <a:rPr lang="da-DK" sz="1200" b="1" spc="-10" noProof="0">
                          <a:solidFill>
                            <a:schemeClr val="bg1"/>
                          </a:solidFill>
                        </a:rPr>
                        <a:t>er frivilligt</a:t>
                      </a:r>
                      <a:endParaRPr lang="da-DK" sz="1200" spc="-10" noProof="0">
                        <a:solidFill>
                          <a:schemeClr val="bg1"/>
                        </a:solidFill>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572685">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Angivelse af det højeste ledelsesniveau i virksomheden, der er ansvarlig for implementeringen </a:t>
                      </a:r>
                      <a:r>
                        <a:rPr lang="da-DK" sz="1200" b="0" kern="1200" spc="-10" noProof="0">
                          <a:solidFill>
                            <a:schemeClr val="tx2"/>
                          </a:solidFill>
                          <a:latin typeface="+mn-lt"/>
                          <a:ea typeface="+mn-ea"/>
                          <a:cs typeface="+mn-cs"/>
                        </a:rPr>
                        <a:t>(pkt. 48)</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349530">
                <a:tc>
                  <a:txBody>
                    <a:bodyPr/>
                    <a:lstStyle/>
                    <a:p>
                      <a:pPr algn="l"/>
                      <a:r>
                        <a:rPr lang="da-DK" sz="1200" b="1" kern="1200" spc="-10" noProof="0">
                          <a:solidFill>
                            <a:schemeClr val="tx2"/>
                          </a:solidFill>
                          <a:latin typeface="+mn-lt"/>
                          <a:ea typeface="+mn-ea"/>
                          <a:cs typeface="+mn-cs"/>
                        </a:rPr>
                        <a:t>Klimaforandringer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Climate_C2_Description_Existing_Practices</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Climate_C2_Future_Practices</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Climate_C2_Management_Level</a:t>
                      </a:r>
                      <a:r>
                        <a:rPr lang="da-DK" sz="1200" b="0" i="0" u="none" strike="noStrike" noProof="0">
                          <a:solidFill>
                            <a:srgbClr val="2D55FF"/>
                          </a:solidFill>
                          <a:effectLst/>
                          <a:latin typeface="Inter"/>
                        </a:rPr>
                        <a:t>}}</a:t>
                      </a:r>
                      <a:endParaRPr lang="da-DK" sz="1200" b="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31697">
                <a:tc>
                  <a:txBody>
                    <a:bodyPr/>
                    <a:lstStyle/>
                    <a:p>
                      <a:pPr algn="l"/>
                      <a:r>
                        <a:rPr lang="da-DK" sz="1200" b="1" kern="1200" spc="-10" noProof="0">
                          <a:solidFill>
                            <a:schemeClr val="tx2"/>
                          </a:solidFill>
                          <a:latin typeface="+mn-lt"/>
                          <a:ea typeface="+mn-ea"/>
                          <a:cs typeface="+mn-cs"/>
                        </a:rPr>
                        <a:t>Forurening</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Pollution_C2_Management_Level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1118">
                <a:tc>
                  <a:txBody>
                    <a:bodyPr/>
                    <a:lstStyle/>
                    <a:p>
                      <a:pPr algn="l"/>
                      <a:r>
                        <a:rPr lang="da-DK" sz="1200" b="1" kern="1200" spc="-10" noProof="0">
                          <a:solidFill>
                            <a:schemeClr val="tx2"/>
                          </a:solidFill>
                          <a:latin typeface="+mn-lt"/>
                          <a:ea typeface="+mn-ea"/>
                          <a:cs typeface="+mn-cs"/>
                        </a:rPr>
                        <a:t>Vand -og Havressourcer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Water_C2_Description_Existing_Practices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Water_C2_Future_Practices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rgbClr val="2D55FF"/>
                          </a:solidFill>
                          <a:effectLst/>
                          <a:latin typeface="Inter"/>
                        </a:rPr>
                        <a:t>{{</a:t>
                      </a:r>
                      <a:r>
                        <a:rPr lang="da-DK" sz="1200" b="0" i="0" u="none" strike="noStrike" noProof="0">
                          <a:solidFill>
                            <a:srgbClr val="2D55FF"/>
                          </a:solidFill>
                          <a:effectLst/>
                          <a:latin typeface="IBM Plex Sans"/>
                        </a:rPr>
                        <a:t>Water_C2_Management_Level</a:t>
                      </a:r>
                      <a:r>
                        <a:rPr lang="da-DK" sz="1200" b="0" i="0" u="none" strike="noStrike" noProof="0">
                          <a:solidFill>
                            <a:srgbClr val="2D55FF"/>
                          </a:solidFill>
                          <a:effectLst/>
                          <a:latin typeface="Inter"/>
                        </a:rPr>
                        <a:t>}}</a:t>
                      </a:r>
                      <a:endParaRPr lang="da-DK" sz="1200" b="0" i="0" u="none" strike="noStrike" noProof="0">
                        <a:solidFill>
                          <a:srgbClr val="000000"/>
                        </a:solidFill>
                        <a:effectLst/>
                        <a:latin typeface="Inter"/>
                      </a:endParaRPr>
                    </a:p>
                    <a:p>
                      <a:pPr lvl="0">
                        <a:buNone/>
                      </a:pPr>
                      <a:endParaRPr lang="da-DK" sz="1200" b="0" i="0" u="none" strike="noStrike" noProof="0">
                        <a:solidFill>
                          <a:srgbClr val="2D55FF"/>
                        </a:solidFill>
                        <a:effectLst/>
                        <a:latin typeface="Inter"/>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3936">
                <a:tc>
                  <a:txBody>
                    <a:bodyPr/>
                    <a:lstStyle/>
                    <a:p>
                      <a:pPr algn="l"/>
                      <a:r>
                        <a:rPr lang="da-DK" sz="1200" b="1" kern="1200" spc="-10" noProof="0">
                          <a:solidFill>
                            <a:schemeClr val="tx2"/>
                          </a:solidFill>
                          <a:latin typeface="+mn-lt"/>
                          <a:ea typeface="+mn-ea"/>
                          <a:cs typeface="+mn-cs"/>
                        </a:rPr>
                        <a:t>Biodiversitet og Økosystemer</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Bio_C2_Management_Level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1118">
                <a:tc>
                  <a:txBody>
                    <a:bodyPr/>
                    <a:lstStyle/>
                    <a:p>
                      <a:pPr algn="l"/>
                      <a:r>
                        <a:rPr lang="da-DK" sz="1200" b="1" kern="1200" spc="-10" noProof="0">
                          <a:solidFill>
                            <a:schemeClr val="tx2"/>
                          </a:solidFill>
                          <a:latin typeface="+mn-lt"/>
                          <a:ea typeface="+mn-ea"/>
                          <a:cs typeface="+mn-cs"/>
                        </a:rPr>
                        <a:t>Cirkulær økonomi</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Circular_C2_Management_Level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1118">
                <a:tc>
                  <a:txBody>
                    <a:bodyPr/>
                    <a:lstStyle/>
                    <a:p>
                      <a:pPr algn="l"/>
                      <a:r>
                        <a:rPr lang="da-DK" sz="1200" b="1" kern="1200" spc="-10" noProof="0">
                          <a:solidFill>
                            <a:schemeClr val="tx2"/>
                          </a:solidFill>
                          <a:latin typeface="+mn-lt"/>
                          <a:ea typeface="+mn-ea"/>
                          <a:cs typeface="+mn-cs"/>
                        </a:rPr>
                        <a:t>Egen arbejdsstyrke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Own_Workforce_C2_Management_Level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341118">
                <a:tc>
                  <a:txBody>
                    <a:bodyPr/>
                    <a:lstStyle/>
                    <a:p>
                      <a:pPr algn="l"/>
                      <a:r>
                        <a:rPr lang="da-DK" sz="1200" b="1" kern="1200" spc="-10" noProof="0">
                          <a:solidFill>
                            <a:schemeClr val="tx2"/>
                          </a:solidFill>
                          <a:latin typeface="+mn-lt"/>
                          <a:ea typeface="+mn-ea"/>
                          <a:cs typeface="+mn-cs"/>
                        </a:rPr>
                        <a:t>Arbejdere i værdikæden</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Workers_Value_Chain_C2_Management_Level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341118">
                <a:tc>
                  <a:txBody>
                    <a:bodyPr/>
                    <a:lstStyle/>
                    <a:p>
                      <a:pPr algn="l"/>
                      <a:r>
                        <a:rPr lang="da-DK" sz="1200" b="1" kern="1200" spc="-10" noProof="0">
                          <a:solidFill>
                            <a:schemeClr val="tx2"/>
                          </a:solidFill>
                          <a:latin typeface="+mn-lt"/>
                          <a:ea typeface="+mn-ea"/>
                          <a:cs typeface="+mn-cs"/>
                        </a:rPr>
                        <a:t>Berørte samfund</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Affected_C2_Management_Level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403936">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Consumers_C2_Management_Level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341118">
                <a:tc>
                  <a:txBody>
                    <a:bodyPr/>
                    <a:lstStyle/>
                    <a:p>
                      <a:pPr algn="l"/>
                      <a:r>
                        <a:rPr lang="da-DK" sz="1200" b="1" kern="1200" spc="-10" noProof="0">
                          <a:solidFill>
                            <a:schemeClr val="tx2"/>
                          </a:solidFill>
                          <a:latin typeface="+mn-lt"/>
                          <a:ea typeface="+mn-ea"/>
                          <a:cs typeface="+mn-cs"/>
                        </a:rPr>
                        <a:t>Virksomhedsledelse</a:t>
                      </a: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Governance_C2_Description_Existing_Practices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Governance_C2_Future_Practices</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1200" b="0" i="0" u="none" strike="noStrike" noProof="0">
                          <a:solidFill>
                            <a:srgbClr val="2D55FF"/>
                          </a:solidFill>
                          <a:effectLst/>
                          <a:latin typeface="Inter"/>
                        </a:rPr>
                        <a:t>{{</a:t>
                      </a:r>
                      <a:r>
                        <a:rPr lang="da-DK" sz="1200" b="0" i="0" u="none" strike="noStrike" noProof="0">
                          <a:solidFill>
                            <a:srgbClr val="2D55FF"/>
                          </a:solidFill>
                          <a:effectLst/>
                        </a:rPr>
                        <a:t>Governance_C2_Management_Level</a:t>
                      </a:r>
                      <a:r>
                        <a:rPr lang="da-DK" sz="1200" b="0" i="0" u="none" strike="noStrike" noProof="0">
                          <a:solidFill>
                            <a:srgbClr val="2D55FF"/>
                          </a:solidFill>
                          <a:effectLst/>
                          <a:latin typeface="Inter"/>
                        </a:rPr>
                        <a:t>}}</a:t>
                      </a:r>
                      <a:endParaRPr lang="da-DK" sz="1200" noProof="0">
                        <a:effectLst/>
                      </a:endParaRPr>
                    </a:p>
                  </a:txBody>
                  <a:tcPr marL="25400" marR="25400" marT="19050" marB="1905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535853" y="1029778"/>
            <a:ext cx="11148146" cy="646331"/>
          </a:xfrm>
          <a:prstGeom prst="rect">
            <a:avLst/>
          </a:prstGeom>
          <a:noFill/>
        </p:spPr>
        <p:txBody>
          <a:bodyPr wrap="square">
            <a:spAutoFit/>
          </a:bodyPr>
          <a:lstStyle/>
          <a:p>
            <a:r>
              <a:rPr lang="da-DK" sz="1200" noProof="0">
                <a:solidFill>
                  <a:schemeClr val="tx2"/>
                </a:solidFill>
              </a:rPr>
              <a:t>Nedenstående tabel er udfyldt, da virksomheden allerede har iværksat konkrete indsatser, politikker eller initiativer, der bidrager til omstillingen mod en mere bæredygtig økonomi. Virksomheden har svaret ”JA” til et eller flere oplysningspunkter under B2 i Basismodulet. Nedenstående angiver et mere fyldestgørende svar på politikker, initiativer og indsatser som er igangsat for omstilling til en mere bæredygtig økonomi i virksomheden</a:t>
            </a:r>
          </a:p>
        </p:txBody>
      </p:sp>
    </p:spTree>
    <p:extLst>
      <p:ext uri="{BB962C8B-B14F-4D97-AF65-F5344CB8AC3E}">
        <p14:creationId xmlns:p14="http://schemas.microsoft.com/office/powerpoint/2010/main" val="972470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err="1">
                <a:solidFill>
                  <a:srgbClr val="1B4528"/>
                </a:solidFill>
                <a:latin typeface="IBM Plex Sans" panose="020B0503050203000203" pitchFamily="34" charset="0"/>
              </a:rPr>
              <a:t>CO₂e-udledning</a:t>
            </a:r>
            <a:r>
              <a:rPr lang="da-DK" noProof="0">
                <a:solidFill>
                  <a:srgbClr val="1B4528"/>
                </a:solidFill>
                <a:latin typeface="IBM Plex Sans" panose="020B0503050203000203" pitchFamily="34" charset="0"/>
              </a:rPr>
              <a:t> under B3 i Basismodulet</a:t>
            </a:r>
            <a:endParaRPr lang="da-DK"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16</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468745460"/>
              </p:ext>
            </p:extLst>
          </p:nvPr>
        </p:nvGraphicFramePr>
        <p:xfrm>
          <a:off x="518599" y="3711451"/>
          <a:ext cx="11165400" cy="1756814"/>
        </p:xfrm>
        <a:graphic>
          <a:graphicData uri="http://schemas.openxmlformats.org/drawingml/2006/table">
            <a:tbl>
              <a:tblPr firstRow="1">
                <a:tableStyleId>{2A488322-F2BA-4B5B-9748-0D474271808F}</a:tableStyleId>
              </a:tblPr>
              <a:tblGrid>
                <a:gridCol w="3721800">
                  <a:extLst>
                    <a:ext uri="{9D8B030D-6E8A-4147-A177-3AD203B41FA5}">
                      <a16:colId xmlns:a16="http://schemas.microsoft.com/office/drawing/2014/main" val="1902117154"/>
                    </a:ext>
                  </a:extLst>
                </a:gridCol>
                <a:gridCol w="3721800">
                  <a:extLst>
                    <a:ext uri="{9D8B030D-6E8A-4147-A177-3AD203B41FA5}">
                      <a16:colId xmlns:a16="http://schemas.microsoft.com/office/drawing/2014/main" val="1904521774"/>
                    </a:ext>
                  </a:extLst>
                </a:gridCol>
                <a:gridCol w="3721800">
                  <a:extLst>
                    <a:ext uri="{9D8B030D-6E8A-4147-A177-3AD203B41FA5}">
                      <a16:colId xmlns:a16="http://schemas.microsoft.com/office/drawing/2014/main" val="2605332690"/>
                    </a:ext>
                  </a:extLst>
                </a:gridCol>
              </a:tblGrid>
              <a:tr h="280094">
                <a:tc gridSpan="3">
                  <a:txBody>
                    <a:bodyPr/>
                    <a:lstStyle/>
                    <a:p>
                      <a:r>
                        <a:rPr lang="da-DK" sz="1200" b="1" kern="1200" spc="-10" noProof="0" err="1">
                          <a:solidFill>
                            <a:schemeClr val="tx2"/>
                          </a:solidFill>
                          <a:latin typeface="+mn-lt"/>
                          <a:ea typeface="+mn-ea"/>
                          <a:cs typeface="+mn-cs"/>
                        </a:rPr>
                        <a:t>CO₂e-reduktionsmål</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(pkt. 53 a–d)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346320">
                <a:tc>
                  <a:txBody>
                    <a:bodyPr/>
                    <a:lstStyle/>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200" b="1" kern="1200" spc="-10" noProof="0">
                          <a:solidFill>
                            <a:schemeClr val="tx2"/>
                          </a:solidFill>
                          <a:latin typeface="+mn-lt"/>
                          <a:ea typeface="+mn-ea"/>
                          <a:cs typeface="+mn-cs"/>
                        </a:rPr>
                        <a:t>Reduktionsmål i år </a:t>
                      </a:r>
                      <a:r>
                        <a:rPr lang="da-DK" sz="1200" b="1" kern="1200" spc="-10" noProof="0">
                          <a:solidFill>
                            <a:schemeClr val="accent2"/>
                          </a:solidFill>
                          <a:latin typeface="+mn-lt"/>
                          <a:ea typeface="+mn-ea"/>
                          <a:cs typeface="+mn-cs"/>
                        </a:rPr>
                        <a:t>{{baseline_year-1}}</a:t>
                      </a:r>
                      <a:endParaRPr lang="da-DK" sz="1200" b="0" kern="1200" spc="-10" noProof="0">
                        <a:solidFill>
                          <a:schemeClr val="accent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CO₂e-udledning</a:t>
                      </a:r>
                      <a:r>
                        <a:rPr lang="da-DK" sz="1200" b="1" kern="1200" spc="-10" noProof="0">
                          <a:solidFill>
                            <a:schemeClr val="tx2"/>
                          </a:solidFill>
                          <a:latin typeface="+mn-lt"/>
                          <a:ea typeface="+mn-ea"/>
                          <a:cs typeface="+mn-cs"/>
                        </a:rPr>
                        <a:t> i </a:t>
                      </a:r>
                      <a:r>
                        <a:rPr lang="da-DK" sz="1200" b="1" kern="1200" spc="-10" noProof="0" err="1">
                          <a:solidFill>
                            <a:schemeClr val="tx2"/>
                          </a:solidFill>
                          <a:latin typeface="+mn-lt"/>
                          <a:ea typeface="+mn-ea"/>
                          <a:cs typeface="+mn-cs"/>
                        </a:rPr>
                        <a:t>baselineår</a:t>
                      </a:r>
                      <a:r>
                        <a:rPr lang="da-DK" sz="1200" b="1" kern="1200" spc="-10" noProof="0">
                          <a:solidFill>
                            <a:schemeClr val="tx2"/>
                          </a:solidFill>
                          <a:latin typeface="+mn-lt"/>
                          <a:ea typeface="+mn-ea"/>
                          <a:cs typeface="+mn-cs"/>
                        </a:rPr>
                        <a:t>:</a:t>
                      </a:r>
                      <a:r>
                        <a:rPr lang="da-DK" sz="1200" b="0" kern="1200" spc="-10" noProof="0">
                          <a:solidFill>
                            <a:schemeClr val="tx2"/>
                          </a:solidFill>
                          <a:latin typeface="+mn-lt"/>
                          <a:ea typeface="+mn-ea"/>
                          <a:cs typeface="+mn-cs"/>
                        </a:rPr>
                        <a:t> </a:t>
                      </a:r>
                      <a:r>
                        <a:rPr lang="da-DK" sz="1200" b="1" kern="1200" spc="-10" noProof="0">
                          <a:solidFill>
                            <a:schemeClr val="accent2"/>
                          </a:solidFill>
                          <a:latin typeface="+mn-lt"/>
                          <a:ea typeface="+mn-ea"/>
                          <a:cs typeface="+mn-cs"/>
                        </a:rPr>
                        <a:t>{{</a:t>
                      </a:r>
                      <a:r>
                        <a:rPr lang="da-DK" sz="1200" b="1" kern="1200" spc="-10" noProof="0" err="1">
                          <a:solidFill>
                            <a:schemeClr val="accent2"/>
                          </a:solidFill>
                          <a:latin typeface="+mn-lt"/>
                          <a:ea typeface="+mn-ea"/>
                          <a:cs typeface="+mn-cs"/>
                        </a:rPr>
                        <a:t>Insert</a:t>
                      </a:r>
                      <a:r>
                        <a:rPr lang="da-DK" sz="1200" b="1" kern="1200" spc="-10" noProof="0">
                          <a:solidFill>
                            <a:schemeClr val="accent2"/>
                          </a:solidFill>
                          <a:latin typeface="+mn-lt"/>
                          <a:ea typeface="+mn-ea"/>
                          <a:cs typeface="+mn-cs"/>
                        </a:rPr>
                        <a:t> baseline </a:t>
                      </a:r>
                      <a:r>
                        <a:rPr lang="da-DK" sz="1200" b="1" kern="1200" spc="-10" noProof="0" err="1">
                          <a:solidFill>
                            <a:schemeClr val="accent2"/>
                          </a:solidFill>
                          <a:latin typeface="+mn-lt"/>
                          <a:ea typeface="+mn-ea"/>
                          <a:cs typeface="+mn-cs"/>
                        </a:rPr>
                        <a:t>year</a:t>
                      </a:r>
                      <a:r>
                        <a:rPr lang="da-DK" sz="1200" b="1" kern="1200" spc="-10" noProof="0">
                          <a:solidFill>
                            <a:schemeClr val="accent2"/>
                          </a:solidFill>
                          <a:latin typeface="+mn-lt"/>
                          <a:ea typeface="+mn-ea"/>
                          <a:cs typeface="+mn-cs"/>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1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{{scope1-2_target}}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{{scope1-2_baseline}}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6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2</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{{scope1-2_target}}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{{scope1-2_baseline}}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346320">
                <a:tc>
                  <a:txBody>
                    <a:bodyPr/>
                    <a:lstStyle/>
                    <a:p>
                      <a:pPr algn="l"/>
                      <a:r>
                        <a:rPr lang="da-DK" sz="1200" b="1" kern="1200" spc="-10" noProof="0" err="1">
                          <a:solidFill>
                            <a:schemeClr val="tx2"/>
                          </a:solidFill>
                          <a:latin typeface="+mn-lt"/>
                          <a:ea typeface="+mn-ea"/>
                          <a:cs typeface="+mn-cs"/>
                        </a:rPr>
                        <a:t>Scope</a:t>
                      </a:r>
                      <a:r>
                        <a:rPr lang="da-DK" sz="1200" b="1" kern="1200" spc="-10" noProof="0">
                          <a:solidFill>
                            <a:schemeClr val="tx2"/>
                          </a:solidFill>
                          <a:latin typeface="+mn-lt"/>
                          <a:ea typeface="+mn-ea"/>
                          <a:cs typeface="+mn-cs"/>
                        </a:rPr>
                        <a:t> 3</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{{scope3_target}}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1200" b="0" i="0" u="none" strike="noStrike" noProof="0">
                          <a:solidFill>
                            <a:srgbClr val="2D55FF"/>
                          </a:solidFill>
                          <a:effectLst/>
                          <a:latin typeface="Inter"/>
                        </a:rPr>
                        <a:t>{{scope3_baseline}}</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3618635351"/>
              </p:ext>
            </p:extLst>
          </p:nvPr>
        </p:nvGraphicFramePr>
        <p:xfrm>
          <a:off x="518598" y="5613228"/>
          <a:ext cx="11165405" cy="760128"/>
        </p:xfrm>
        <a:graphic>
          <a:graphicData uri="http://schemas.openxmlformats.org/drawingml/2006/table">
            <a:tbl>
              <a:tblPr firstRow="1">
                <a:tableStyleId>{2A488322-F2BA-4B5B-9748-0D474271808F}</a:tableStyleId>
              </a:tblPr>
              <a:tblGrid>
                <a:gridCol w="11165405">
                  <a:extLst>
                    <a:ext uri="{9D8B030D-6E8A-4147-A177-3AD203B41FA5}">
                      <a16:colId xmlns:a16="http://schemas.microsoft.com/office/drawing/2014/main" val="2119413191"/>
                    </a:ext>
                  </a:extLst>
                </a:gridCol>
              </a:tblGrid>
              <a:tr h="330372">
                <a:tc>
                  <a:txBody>
                    <a:bodyPr/>
                    <a:lstStyle/>
                    <a:p>
                      <a:pPr marL="0" algn="l" defTabSz="914400" rtl="0" eaLnBrk="1" latinLnBrk="0" hangingPunct="1"/>
                      <a:r>
                        <a:rPr lang="da-DK" sz="1200" b="1" kern="1200" spc="-10" noProof="0">
                          <a:solidFill>
                            <a:schemeClr val="tx2"/>
                          </a:solidFill>
                          <a:latin typeface="+mn-lt"/>
                          <a:ea typeface="+mn-ea"/>
                          <a:cs typeface="+mn-cs"/>
                        </a:rPr>
                        <a:t>Liste over de vigtigste handlinger </a:t>
                      </a:r>
                      <a:r>
                        <a:rPr lang="da-DK" sz="1200" b="1" kern="1200" noProof="0">
                          <a:solidFill>
                            <a:schemeClr val="accent2"/>
                          </a:solidFill>
                          <a:latin typeface="+mn-lt"/>
                          <a:ea typeface="+mn-ea"/>
                          <a:cs typeface="+mn-cs"/>
                        </a:rPr>
                        <a:t>{{Company </a:t>
                      </a:r>
                      <a:r>
                        <a:rPr lang="da-DK" sz="1200" b="1" kern="1200" noProof="0" err="1">
                          <a:solidFill>
                            <a:schemeClr val="accent2"/>
                          </a:solidFill>
                          <a:latin typeface="+mn-lt"/>
                          <a:ea typeface="+mn-ea"/>
                          <a:cs typeface="+mn-cs"/>
                        </a:rPr>
                        <a:t>name</a:t>
                      </a:r>
                      <a:r>
                        <a:rPr lang="da-DK" sz="1200" b="1" kern="1200" noProof="0">
                          <a:solidFill>
                            <a:schemeClr val="accent2"/>
                          </a:solidFill>
                          <a:latin typeface="+mn-lt"/>
                          <a:ea typeface="+mn-ea"/>
                          <a:cs typeface="+mn-cs"/>
                        </a:rPr>
                        <a:t>}} </a:t>
                      </a:r>
                      <a:r>
                        <a:rPr lang="da-DK" sz="1200" b="0" kern="1200" noProof="0">
                          <a:solidFill>
                            <a:schemeClr val="accent2"/>
                          </a:solidFill>
                          <a:latin typeface="+mn-lt"/>
                          <a:ea typeface="+mn-ea"/>
                          <a:cs typeface="+mn-cs"/>
                        </a:rPr>
                        <a:t> </a:t>
                      </a:r>
                      <a:r>
                        <a:rPr lang="da-DK" sz="1200" b="1" kern="1200" spc="-10" noProof="0">
                          <a:solidFill>
                            <a:schemeClr val="tx2"/>
                          </a:solidFill>
                          <a:latin typeface="+mn-lt"/>
                          <a:ea typeface="+mn-ea"/>
                          <a:cs typeface="+mn-cs"/>
                        </a:rPr>
                        <a:t>implementerer for at nå </a:t>
                      </a:r>
                      <a:r>
                        <a:rPr lang="da-DK" sz="1200" b="1" kern="1200" spc="-10" noProof="0" err="1">
                          <a:solidFill>
                            <a:schemeClr val="tx2"/>
                          </a:solidFill>
                          <a:latin typeface="+mn-lt"/>
                          <a:ea typeface="+mn-ea"/>
                          <a:cs typeface="+mn-cs"/>
                        </a:rPr>
                        <a:t>CO₂e-reduktionsmålene</a:t>
                      </a:r>
                      <a:r>
                        <a:rPr lang="da-DK" sz="1200" b="1" kern="1200" spc="-10" noProof="0">
                          <a:solidFill>
                            <a:schemeClr val="tx2"/>
                          </a:solidFill>
                          <a:latin typeface="+mn-lt"/>
                          <a:ea typeface="+mn-ea"/>
                          <a:cs typeface="+mn-cs"/>
                        </a:rPr>
                        <a:t> </a:t>
                      </a:r>
                      <a:r>
                        <a:rPr lang="da-DK" sz="1200" b="0" kern="1200" spc="-10" noProof="0">
                          <a:solidFill>
                            <a:schemeClr val="tx2"/>
                          </a:solidFill>
                          <a:latin typeface="+mn-lt"/>
                          <a:ea typeface="+mn-ea"/>
                          <a:cs typeface="+mn-cs"/>
                        </a:rPr>
                        <a:t>(pkt. 53e)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29756">
                <a:tc>
                  <a:txBody>
                    <a:bodyPr/>
                    <a:lstStyle/>
                    <a:p>
                      <a:pPr algn="l"/>
                      <a:r>
                        <a:rPr lang="da-DK" sz="1200" b="0" noProof="0">
                          <a:solidFill>
                            <a:schemeClr val="accent2"/>
                          </a:solidFill>
                        </a:rPr>
                        <a:t>{{</a:t>
                      </a:r>
                      <a:r>
                        <a:rPr lang="da-DK" sz="1200" b="0" noProof="0" err="1">
                          <a:solidFill>
                            <a:schemeClr val="accent2"/>
                          </a:solidFill>
                        </a:rPr>
                        <a:t>mainaction</a:t>
                      </a:r>
                      <a:r>
                        <a:rPr lang="da-DK" sz="1200" b="0" noProof="0">
                          <a:solidFill>
                            <a:schemeClr val="accent2"/>
                          </a:solidFill>
                        </a:rPr>
                        <a: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518600" y="3264714"/>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err="1"/>
              <a:t>CO₂e-reduktionsmål</a:t>
            </a:r>
            <a:r>
              <a:rPr lang="da-DK" noProof="0"/>
              <a:t>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936518452"/>
              </p:ext>
            </p:extLst>
          </p:nvPr>
        </p:nvGraphicFramePr>
        <p:xfrm>
          <a:off x="518599" y="1559113"/>
          <a:ext cx="11154799" cy="1210459"/>
        </p:xfrm>
        <a:graphic>
          <a:graphicData uri="http://schemas.openxmlformats.org/drawingml/2006/table">
            <a:tbl>
              <a:tblPr firstRow="1">
                <a:tableStyleId>{2A488322-F2BA-4B5B-9748-0D474271808F}</a:tableStyleId>
              </a:tblPr>
              <a:tblGrid>
                <a:gridCol w="8831663">
                  <a:extLst>
                    <a:ext uri="{9D8B030D-6E8A-4147-A177-3AD203B41FA5}">
                      <a16:colId xmlns:a16="http://schemas.microsoft.com/office/drawing/2014/main" val="2698153288"/>
                    </a:ext>
                  </a:extLst>
                </a:gridCol>
                <a:gridCol w="2323136">
                  <a:extLst>
                    <a:ext uri="{9D8B030D-6E8A-4147-A177-3AD203B41FA5}">
                      <a16:colId xmlns:a16="http://schemas.microsoft.com/office/drawing/2014/main" val="656209149"/>
                    </a:ext>
                  </a:extLst>
                </a:gridCol>
              </a:tblGrid>
              <a:tr h="306337">
                <a:tc>
                  <a:txBody>
                    <a:bodyPr/>
                    <a:lstStyle/>
                    <a:p>
                      <a:pPr>
                        <a:lnSpc>
                          <a:spcPct val="106000"/>
                        </a:lnSpc>
                      </a:pPr>
                      <a:r>
                        <a:rPr lang="da-DK" sz="1200" b="1" noProof="0">
                          <a:solidFill>
                            <a:schemeClr val="tx2"/>
                          </a:solidFill>
                        </a:rPr>
                        <a:t>Udledning af drivhusgasser –</a:t>
                      </a:r>
                      <a:r>
                        <a:rPr lang="da-DK" sz="1200" b="0" noProof="0">
                          <a:solidFill>
                            <a:schemeClr val="tx2"/>
                          </a:solidFill>
                        </a:rPr>
                        <a:t> (tilføjes pkt. 33)</a:t>
                      </a: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200" b="1" noProof="0">
                          <a:solidFill>
                            <a:schemeClr val="tx2"/>
                          </a:solidFill>
                        </a:rPr>
                        <a:t>År </a:t>
                      </a:r>
                      <a:r>
                        <a:rPr lang="da-DK" sz="1200" b="1" noProof="0">
                          <a:solidFill>
                            <a:schemeClr val="accent2"/>
                          </a:solidFill>
                          <a:latin typeface="Calibri"/>
                          <a:cs typeface="Calibri"/>
                        </a:rPr>
                        <a:t>{{Insert year}}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1374">
                <a:tc>
                  <a:txBody>
                    <a:bodyPr/>
                    <a:lstStyle/>
                    <a:p>
                      <a:pPr lvl="0" algn="l">
                        <a:lnSpc>
                          <a:spcPct val="100000"/>
                        </a:lnSpc>
                        <a:spcBef>
                          <a:spcPts val="0"/>
                        </a:spcBef>
                        <a:spcAft>
                          <a:spcPts val="0"/>
                        </a:spcAft>
                        <a:buNone/>
                      </a:pPr>
                      <a:r>
                        <a:rPr lang="da-DK" sz="1200" b="0" i="0" u="none" strike="noStrike" kern="1200" noProof="0">
                          <a:solidFill>
                            <a:srgbClr val="2D55FF"/>
                          </a:solidFill>
                          <a:latin typeface="IBM Plex Sans"/>
                          <a:ea typeface="+mn-ea"/>
                          <a:cs typeface="+mn-cs"/>
                        </a:rPr>
                        <a:t>{{scope3_description_table}}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200" b="0" i="0" u="none" strike="noStrike" kern="1200" cap="none" spc="0" normalizeH="0" baseline="0" noProof="0">
                          <a:ln>
                            <a:noFill/>
                          </a:ln>
                          <a:solidFill>
                            <a:srgbClr val="2D55FF"/>
                          </a:solidFill>
                          <a:effectLst/>
                          <a:uLnTx/>
                          <a:uFillTx/>
                          <a:latin typeface="IBM Plex Sans"/>
                          <a:ea typeface="+mn-ea"/>
                          <a:cs typeface="+mn-cs"/>
                        </a:rPr>
                        <a:t>{{scope3_emissions_table}}</a:t>
                      </a:r>
                      <a:endParaRPr lang="da-DK"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301374">
                <a:tc>
                  <a:txBody>
                    <a:bodyPr/>
                    <a:lstStyle/>
                    <a:p>
                      <a:pPr>
                        <a:lnSpc>
                          <a:spcPct val="106000"/>
                        </a:lnSpc>
                      </a:pPr>
                      <a:r>
                        <a:rPr lang="da-DK" sz="1200" b="1" noProof="0">
                          <a:solidFill>
                            <a:schemeClr val="tx2"/>
                          </a:solidFill>
                        </a:rPr>
                        <a:t>CO₂e-udledninger i scope 3 total (lokationsbaseret)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da-DK" sz="1200" b="0" i="0" u="none" strike="noStrike" kern="1200" cap="none" spc="0" normalizeH="0" baseline="0" noProof="0">
                          <a:ln>
                            <a:noFill/>
                          </a:ln>
                          <a:solidFill>
                            <a:srgbClr val="2D55FF"/>
                          </a:solidFill>
                          <a:effectLst/>
                          <a:uLnTx/>
                          <a:uFillTx/>
                          <a:latin typeface="IBM Plex Sans"/>
                          <a:ea typeface="+mn-ea"/>
                          <a:cs typeface="+mn-cs"/>
                        </a:rPr>
                        <a:t>{{scope3}}</a:t>
                      </a:r>
                      <a:endParaRPr lang="da-DK" sz="1200" b="0" i="0" u="none" strike="noStrike" kern="1200" cap="none" spc="0" normalizeH="0" baseline="0" noProof="0">
                        <a:ln>
                          <a:noFill/>
                        </a:ln>
                        <a:solidFill>
                          <a:srgbClr val="000000"/>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301374">
                <a:tc>
                  <a:txBody>
                    <a:bodyPr/>
                    <a:lstStyle/>
                    <a:p>
                      <a:pPr>
                        <a:lnSpc>
                          <a:spcPct val="106000"/>
                        </a:lnSpc>
                      </a:pPr>
                      <a:r>
                        <a:rPr lang="da-DK" sz="1200" b="1" noProof="0">
                          <a:solidFill>
                            <a:schemeClr val="tx2"/>
                          </a:solidFill>
                        </a:rPr>
                        <a:t>Total CO₂e-udledning for scope 1, 2 og 3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1200" b="0" i="0" u="none" strike="noStrike" kern="1200" cap="none" spc="0" normalizeH="0" baseline="0" noProof="0">
                          <a:ln>
                            <a:noFill/>
                          </a:ln>
                          <a:solidFill>
                            <a:srgbClr val="2D55FF"/>
                          </a:solidFill>
                          <a:effectLst/>
                          <a:uLnTx/>
                          <a:uFillTx/>
                          <a:latin typeface="+mn-lt"/>
                          <a:ea typeface="+mn-ea"/>
                          <a:cs typeface="+mn-cs"/>
                        </a:rPr>
                        <a:t>{{total_all_scopes}}</a:t>
                      </a:r>
                      <a:endParaRPr kumimoji="0" lang="da-DK" sz="1200" b="0" i="0" u="none" strike="noStrike" kern="1200" cap="none" spc="0" normalizeH="0" baseline="0" noProof="0">
                        <a:ln>
                          <a:noFill/>
                        </a:ln>
                        <a:solidFill>
                          <a:srgbClr val="2D55FF"/>
                        </a:solidFill>
                        <a:effectLst/>
                        <a:uLnTx/>
                        <a:uFillTx/>
                        <a:latin typeface="IBM Plex Sans"/>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udledning af drivhusgasserne i </a:t>
            </a:r>
            <a:r>
              <a:rPr lang="da-DK" sz="1200" b="0" i="0" u="none" strike="noStrike" noProof="0" err="1">
                <a:solidFill>
                  <a:schemeClr val="tx2"/>
                </a:solidFill>
                <a:effectLst/>
                <a:latin typeface="Inter"/>
              </a:rPr>
              <a:t>Scope</a:t>
            </a:r>
            <a:r>
              <a:rPr lang="da-DK" sz="1200" b="0" i="0" u="none" strike="noStrike" noProof="0">
                <a:solidFill>
                  <a:schemeClr val="tx2"/>
                </a:solidFill>
                <a:effectLst/>
                <a:latin typeface="Inter"/>
              </a:rPr>
              <a:t> 3 som følger GHG-protokollen. Virksomheden angiver den samlede udledning og den lokationsbaserede udledning fra </a:t>
            </a:r>
            <a:r>
              <a:rPr lang="da-DK" sz="1200" b="0" i="0" u="none" strike="noStrike" noProof="0" err="1">
                <a:solidFill>
                  <a:schemeClr val="tx2"/>
                </a:solidFill>
                <a:effectLst/>
                <a:latin typeface="Inter"/>
              </a:rPr>
              <a:t>Scope</a:t>
            </a:r>
            <a:r>
              <a:rPr lang="da-DK" sz="1200" b="0" i="0" u="none" strike="noStrike" noProof="0">
                <a:solidFill>
                  <a:schemeClr val="tx2"/>
                </a:solidFill>
                <a:effectLst/>
                <a:latin typeface="Inter"/>
              </a:rPr>
              <a:t> 3. Virksomhedens </a:t>
            </a:r>
            <a:r>
              <a:rPr lang="da-DK" sz="1200" b="0" i="0" u="none" strike="noStrike" noProof="0" err="1">
                <a:solidFill>
                  <a:schemeClr val="tx2"/>
                </a:solidFill>
                <a:effectLst/>
                <a:latin typeface="Inter"/>
              </a:rPr>
              <a:t>CO₂e-reduktionsmål</a:t>
            </a:r>
            <a:r>
              <a:rPr lang="da-DK" sz="1200" b="0" i="0" u="none" strike="noStrike" noProof="0">
                <a:solidFill>
                  <a:schemeClr val="tx2"/>
                </a:solidFill>
                <a:effectLst/>
                <a:latin typeface="Inter"/>
              </a:rPr>
              <a:t> er anført, herunder virksomhedens vigtigste handlinger for at møde reduktionsmål</a:t>
            </a:r>
            <a:r>
              <a:rPr lang="da-DK" sz="1200" noProof="0">
                <a:solidFill>
                  <a:schemeClr val="tx2"/>
                </a:solidFill>
                <a:latin typeface="Inter"/>
              </a:rPr>
              <a:t>ene.</a:t>
            </a:r>
          </a:p>
        </p:txBody>
      </p:sp>
    </p:spTree>
    <p:extLst>
      <p:ext uri="{BB962C8B-B14F-4D97-AF65-F5344CB8AC3E}">
        <p14:creationId xmlns:p14="http://schemas.microsoft.com/office/powerpoint/2010/main" val="312394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limaomstilling (C3)</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17</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13" name="Table 21">
            <a:extLst>
              <a:ext uri="{FF2B5EF4-FFF2-40B4-BE49-F238E27FC236}">
                <a16:creationId xmlns:a16="http://schemas.microsoft.com/office/drawing/2014/main" id="{60394E66-F1DF-2C1C-1CDA-17DF2DA7445E}"/>
              </a:ext>
            </a:extLst>
          </p:cNvPr>
          <p:cNvGraphicFramePr>
            <a:graphicFrameLocks noGrp="1"/>
          </p:cNvGraphicFramePr>
          <p:nvPr>
            <p:extLst>
              <p:ext uri="{D42A27DB-BD31-4B8C-83A1-F6EECF244321}">
                <p14:modId xmlns:p14="http://schemas.microsoft.com/office/powerpoint/2010/main" val="401732485"/>
              </p:ext>
            </p:extLst>
          </p:nvPr>
        </p:nvGraphicFramePr>
        <p:xfrm>
          <a:off x="518592" y="4404641"/>
          <a:ext cx="11176000" cy="1224938"/>
        </p:xfrm>
        <a:graphic>
          <a:graphicData uri="http://schemas.openxmlformats.org/drawingml/2006/table">
            <a:tbl>
              <a:tblPr firstRow="1">
                <a:tableStyleId>{2A488322-F2BA-4B5B-9748-0D474271808F}</a:tableStyleId>
              </a:tblPr>
              <a:tblGrid>
                <a:gridCol w="5588000">
                  <a:extLst>
                    <a:ext uri="{9D8B030D-6E8A-4147-A177-3AD203B41FA5}">
                      <a16:colId xmlns:a16="http://schemas.microsoft.com/office/drawing/2014/main" val="2119413191"/>
                    </a:ext>
                  </a:extLst>
                </a:gridCol>
                <a:gridCol w="5588000">
                  <a:extLst>
                    <a:ext uri="{9D8B030D-6E8A-4147-A177-3AD203B41FA5}">
                      <a16:colId xmlns:a16="http://schemas.microsoft.com/office/drawing/2014/main" val="970155923"/>
                    </a:ext>
                  </a:extLst>
                </a:gridCol>
              </a:tblGrid>
              <a:tr h="327578">
                <a:tc gridSpan="2">
                  <a:txBody>
                    <a:bodyPr/>
                    <a:lstStyle/>
                    <a:p>
                      <a:r>
                        <a:rPr lang="da-DK" sz="1200" b="1" kern="1200" spc="-10" noProof="0">
                          <a:solidFill>
                            <a:schemeClr val="tx2"/>
                          </a:solidFill>
                          <a:latin typeface="+mn-lt"/>
                          <a:ea typeface="+mn-ea"/>
                          <a:cs typeface="+mn-cs"/>
                        </a:rPr>
                        <a:t>Kommende omstillingsplan </a:t>
                      </a:r>
                      <a:r>
                        <a:rPr lang="da-DK" sz="1200" b="0" kern="1200" spc="-10" noProof="0">
                          <a:solidFill>
                            <a:schemeClr val="tx2"/>
                          </a:solidFill>
                          <a:latin typeface="+mn-lt"/>
                          <a:ea typeface="+mn-ea"/>
                          <a:cs typeface="+mn-cs"/>
                        </a:rPr>
                        <a:t>(pkt. 55)</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48680">
                <a:tc>
                  <a:txBody>
                    <a:bodyPr/>
                    <a:lstStyle/>
                    <a:p>
                      <a:pPr algn="l"/>
                      <a:r>
                        <a:rPr lang="da-DK" sz="1200" b="1" kern="1200" noProof="0">
                          <a:solidFill>
                            <a:schemeClr val="accent2"/>
                          </a:solidFill>
                          <a:latin typeface="+mn-lt"/>
                          <a:ea typeface="+mn-ea"/>
                          <a:cs typeface="+mn-cs"/>
                        </a:rPr>
                        <a:t>{{</a:t>
                      </a:r>
                      <a:r>
                        <a:rPr lang="da-DK" sz="1200" b="1" kern="1200" noProof="0" err="1">
                          <a:solidFill>
                            <a:schemeClr val="accent2"/>
                          </a:solidFill>
                          <a:latin typeface="+mn-lt"/>
                          <a:ea typeface="+mn-ea"/>
                          <a:cs typeface="+mn-cs"/>
                        </a:rPr>
                        <a:t>company_name</a:t>
                      </a:r>
                      <a:r>
                        <a:rPr lang="da-DK" sz="1200" b="1" kern="1200" noProof="0">
                          <a:solidFill>
                            <a:schemeClr val="accent2"/>
                          </a:solidFill>
                          <a:latin typeface="+mn-lt"/>
                          <a:ea typeface="+mn-ea"/>
                          <a:cs typeface="+mn-cs"/>
                        </a:rPr>
                        <a:t>}} </a:t>
                      </a:r>
                      <a:r>
                        <a:rPr lang="da-DK" sz="1200" b="1" kern="1200" noProof="0">
                          <a:solidFill>
                            <a:schemeClr val="tx2"/>
                          </a:solidFill>
                          <a:latin typeface="+mn-lt"/>
                          <a:ea typeface="+mn-ea"/>
                          <a:cs typeface="+mn-cs"/>
                        </a:rPr>
                        <a:t>vil igangsætte en konkret omstillingsplan </a:t>
                      </a:r>
                      <a:r>
                        <a:rPr lang="da-DK" sz="1200" b="1" noProof="0">
                          <a:solidFill>
                            <a:schemeClr val="tx2"/>
                          </a:solidFill>
                        </a:rPr>
                        <a:t>for at modvirke klimaforandringer</a:t>
                      </a:r>
                      <a:endParaRPr lang="da-DK"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transition_plan</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48680">
                <a:tc>
                  <a:txBody>
                    <a:bodyPr/>
                    <a:lstStyle/>
                    <a:p>
                      <a:pPr algn="l"/>
                      <a:r>
                        <a:rPr lang="da-DK" sz="1200" b="1" kern="1200" noProof="0">
                          <a:solidFill>
                            <a:schemeClr val="tx2"/>
                          </a:solidFill>
                          <a:latin typeface="+mn-lt"/>
                          <a:ea typeface="+mn-ea"/>
                          <a:cs typeface="+mn-cs"/>
                        </a:rPr>
                        <a:t>Tidspunkt for vedtagelse af omstillingsplan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transition_plan_date</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12" name="Table 21">
            <a:extLst>
              <a:ext uri="{FF2B5EF4-FFF2-40B4-BE49-F238E27FC236}">
                <a16:creationId xmlns:a16="http://schemas.microsoft.com/office/drawing/2014/main" id="{EF0A7234-75D3-BD9B-6E3A-4C179BDAF467}"/>
              </a:ext>
            </a:extLst>
          </p:cNvPr>
          <p:cNvGraphicFramePr>
            <a:graphicFrameLocks noGrp="1"/>
          </p:cNvGraphicFramePr>
          <p:nvPr>
            <p:extLst>
              <p:ext uri="{D42A27DB-BD31-4B8C-83A1-F6EECF244321}">
                <p14:modId xmlns:p14="http://schemas.microsoft.com/office/powerpoint/2010/main" val="3129752944"/>
              </p:ext>
            </p:extLst>
          </p:nvPr>
        </p:nvGraphicFramePr>
        <p:xfrm>
          <a:off x="518592" y="1672171"/>
          <a:ext cx="11175999" cy="1948174"/>
        </p:xfrm>
        <a:graphic>
          <a:graphicData uri="http://schemas.openxmlformats.org/drawingml/2006/table">
            <a:tbl>
              <a:tblPr firstRow="1">
                <a:tableStyleId>{2A488322-F2BA-4B5B-9748-0D474271808F}</a:tableStyleId>
              </a:tblPr>
              <a:tblGrid>
                <a:gridCol w="11175999">
                  <a:extLst>
                    <a:ext uri="{9D8B030D-6E8A-4147-A177-3AD203B41FA5}">
                      <a16:colId xmlns:a16="http://schemas.microsoft.com/office/drawing/2014/main" val="2119413191"/>
                    </a:ext>
                  </a:extLst>
                </a:gridCol>
              </a:tblGrid>
              <a:tr h="368293">
                <a:tc>
                  <a:txBody>
                    <a:bodyPr/>
                    <a:lstStyle/>
                    <a:p>
                      <a:r>
                        <a:rPr lang="da-DK" sz="1200" b="1" kern="1200" spc="-10" noProof="0">
                          <a:solidFill>
                            <a:schemeClr val="tx2"/>
                          </a:solidFill>
                          <a:latin typeface="+mn-lt"/>
                          <a:ea typeface="+mn-ea"/>
                          <a:cs typeface="+mn-cs"/>
                        </a:rPr>
                        <a:t>Omstillingsplan for </a:t>
                      </a:r>
                      <a:r>
                        <a:rPr lang="da-DK" sz="1200" b="1" kern="1200" spc="-10" noProof="0" err="1">
                          <a:solidFill>
                            <a:schemeClr val="tx2"/>
                          </a:solidFill>
                          <a:latin typeface="+mn-lt"/>
                          <a:ea typeface="+mn-ea"/>
                          <a:cs typeface="+mn-cs"/>
                        </a:rPr>
                        <a:t>modvirkning</a:t>
                      </a:r>
                      <a:r>
                        <a:rPr lang="da-DK" sz="1200" b="1" kern="1200" spc="-10" noProof="0">
                          <a:solidFill>
                            <a:schemeClr val="tx2"/>
                          </a:solidFill>
                          <a:latin typeface="+mn-lt"/>
                          <a:ea typeface="+mn-ea"/>
                          <a:cs typeface="+mn-cs"/>
                        </a:rPr>
                        <a:t> af klimaforandringer </a:t>
                      </a:r>
                      <a:r>
                        <a:rPr lang="da-DK" sz="1200" b="0" kern="1200" spc="-10" noProof="0">
                          <a:solidFill>
                            <a:schemeClr val="tx2"/>
                          </a:solidFill>
                          <a:latin typeface="+mn-lt"/>
                          <a:ea typeface="+mn-ea"/>
                          <a:cs typeface="+mn-cs"/>
                        </a:rPr>
                        <a:t>(pkt. 54)</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1579881">
                <a:tc>
                  <a:txBody>
                    <a:bodyPr/>
                    <a:lstStyle/>
                    <a:p>
                      <a:pPr algn="l"/>
                      <a:r>
                        <a:rPr lang="da-DK" sz="1200" b="0" noProof="0">
                          <a:solidFill>
                            <a:schemeClr val="accent2"/>
                          </a:solidFill>
                        </a:rPr>
                        <a:t>{{</a:t>
                      </a:r>
                      <a:r>
                        <a:rPr lang="da-DK" sz="1200" b="0" noProof="0" err="1">
                          <a:solidFill>
                            <a:schemeClr val="accent2"/>
                          </a:solidFill>
                        </a:rPr>
                        <a:t>transition_plan</a:t>
                      </a:r>
                      <a:r>
                        <a:rPr lang="da-DK" sz="1200" b="0" noProof="0">
                          <a:solidFill>
                            <a:schemeClr val="accent2"/>
                          </a:solidFill>
                        </a:rPr>
                        <a:t>}}</a:t>
                      </a:r>
                    </a:p>
                    <a:p>
                      <a:pPr algn="l"/>
                      <a:endParaRPr lang="da-DK" sz="1200" b="0" noProof="0">
                        <a:solidFill>
                          <a:schemeClr val="accent2"/>
                        </a:solidFill>
                      </a:endParaRPr>
                    </a:p>
                    <a:p>
                      <a:pPr algn="l"/>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AC9B8171-ABE2-D159-1C91-356C7C492445}"/>
              </a:ext>
            </a:extLst>
          </p:cNvPr>
          <p:cNvSpPr txBox="1"/>
          <p:nvPr/>
        </p:nvSpPr>
        <p:spPr>
          <a:xfrm>
            <a:off x="508000" y="1016000"/>
            <a:ext cx="111760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 nedenstående oplysninger relaterer sig til virksomhedens omstillingsplan for </a:t>
            </a:r>
            <a:r>
              <a:rPr lang="da-DK" sz="1200" b="0" i="0" u="none" strike="noStrike" noProof="0" err="1">
                <a:solidFill>
                  <a:schemeClr val="tx2"/>
                </a:solidFill>
                <a:effectLst/>
                <a:latin typeface="Inter"/>
              </a:rPr>
              <a:t>modvirkning</a:t>
            </a:r>
            <a:r>
              <a:rPr lang="da-DK" sz="1200" b="0" i="0" u="none" strike="noStrike" noProof="0">
                <a:solidFill>
                  <a:schemeClr val="tx2"/>
                </a:solidFill>
                <a:effectLst/>
                <a:latin typeface="Inter"/>
              </a:rPr>
              <a:t> af klimaforandringer. Omstillingen er relateret til virksomhedens </a:t>
            </a:r>
            <a:r>
              <a:rPr lang="da-DK" sz="1200" b="0" i="0" u="none" strike="noStrike" noProof="0" err="1">
                <a:solidFill>
                  <a:schemeClr val="tx2"/>
                </a:solidFill>
                <a:effectLst/>
                <a:latin typeface="Inter"/>
              </a:rPr>
              <a:t>CO₂e-reduktionsmål</a:t>
            </a:r>
            <a:r>
              <a:rPr lang="da-DK" sz="1200" b="0" i="0" u="none" strike="noStrike" noProof="0">
                <a:solidFill>
                  <a:schemeClr val="tx2"/>
                </a:solidFill>
                <a:effectLst/>
                <a:latin typeface="Inter"/>
              </a:rPr>
              <a:t>.</a:t>
            </a:r>
          </a:p>
        </p:txBody>
      </p:sp>
      <p:sp>
        <p:nvSpPr>
          <p:cNvPr id="17" name="Tekstfelt 16">
            <a:extLst>
              <a:ext uri="{FF2B5EF4-FFF2-40B4-BE49-F238E27FC236}">
                <a16:creationId xmlns:a16="http://schemas.microsoft.com/office/drawing/2014/main" id="{E9EB0680-18EB-4050-A7F1-10CA34390DC8}"/>
              </a:ext>
            </a:extLst>
          </p:cNvPr>
          <p:cNvSpPr txBox="1"/>
          <p:nvPr/>
        </p:nvSpPr>
        <p:spPr>
          <a:xfrm>
            <a:off x="497408" y="3854142"/>
            <a:ext cx="11175998" cy="276999"/>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Dette oplysningspunkt er udfyldt, da virksomheden har angivet at de vil igangsætte en konkret omstillingsplan samt dato for vedtagelse.</a:t>
            </a:r>
            <a:endParaRPr lang="da-DK" noProof="0">
              <a:solidFill>
                <a:schemeClr val="tx2"/>
              </a:solidFill>
            </a:endParaRPr>
          </a:p>
        </p:txBody>
      </p:sp>
    </p:spTree>
    <p:extLst>
      <p:ext uri="{BB962C8B-B14F-4D97-AF65-F5344CB8AC3E}">
        <p14:creationId xmlns:p14="http://schemas.microsoft.com/office/powerpoint/2010/main" val="50601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limarisici (C4)</a:t>
            </a:r>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3774751"/>
            <a:ext cx="207455" cy="232601"/>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1" y="4402404"/>
            <a:ext cx="207455" cy="232601"/>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518598" y="1550008"/>
          <a:ext cx="11165392" cy="6095520"/>
        </p:xfrm>
        <a:graphic>
          <a:graphicData uri="http://schemas.openxmlformats.org/drawingml/2006/table">
            <a:tbl>
              <a:tblPr firstRow="1">
                <a:tableStyleId>{2A488322-F2BA-4B5B-9748-0D474271808F}</a:tableStyleId>
              </a:tblPr>
              <a:tblGrid>
                <a:gridCol w="1336728">
                  <a:extLst>
                    <a:ext uri="{9D8B030D-6E8A-4147-A177-3AD203B41FA5}">
                      <a16:colId xmlns:a16="http://schemas.microsoft.com/office/drawing/2014/main" val="1904521774"/>
                    </a:ext>
                  </a:extLst>
                </a:gridCol>
                <a:gridCol w="1007389">
                  <a:extLst>
                    <a:ext uri="{9D8B030D-6E8A-4147-A177-3AD203B41FA5}">
                      <a16:colId xmlns:a16="http://schemas.microsoft.com/office/drawing/2014/main" val="3691300808"/>
                    </a:ext>
                  </a:extLst>
                </a:gridCol>
                <a:gridCol w="3163216">
                  <a:extLst>
                    <a:ext uri="{9D8B030D-6E8A-4147-A177-3AD203B41FA5}">
                      <a16:colId xmlns:a16="http://schemas.microsoft.com/office/drawing/2014/main" val="1169754581"/>
                    </a:ext>
                  </a:extLst>
                </a:gridCol>
                <a:gridCol w="1715063">
                  <a:extLst>
                    <a:ext uri="{9D8B030D-6E8A-4147-A177-3AD203B41FA5}">
                      <a16:colId xmlns:a16="http://schemas.microsoft.com/office/drawing/2014/main" val="519320573"/>
                    </a:ext>
                  </a:extLst>
                </a:gridCol>
                <a:gridCol w="1569945">
                  <a:extLst>
                    <a:ext uri="{9D8B030D-6E8A-4147-A177-3AD203B41FA5}">
                      <a16:colId xmlns:a16="http://schemas.microsoft.com/office/drawing/2014/main" val="43798019"/>
                    </a:ext>
                  </a:extLst>
                </a:gridCol>
                <a:gridCol w="1213738">
                  <a:extLst>
                    <a:ext uri="{9D8B030D-6E8A-4147-A177-3AD203B41FA5}">
                      <a16:colId xmlns:a16="http://schemas.microsoft.com/office/drawing/2014/main" val="3164053669"/>
                    </a:ext>
                  </a:extLst>
                </a:gridCol>
                <a:gridCol w="1159313">
                  <a:extLst>
                    <a:ext uri="{9D8B030D-6E8A-4147-A177-3AD203B41FA5}">
                      <a16:colId xmlns:a16="http://schemas.microsoft.com/office/drawing/2014/main" val="1484983729"/>
                    </a:ext>
                  </a:extLst>
                </a:gridCol>
              </a:tblGrid>
              <a:tr h="224159">
                <a:tc gridSpan="3">
                  <a:txBody>
                    <a:bodyPr/>
                    <a:lstStyle/>
                    <a:p>
                      <a:r>
                        <a:rPr lang="da-DK" sz="1200" b="0" kern="1200" noProof="0">
                          <a:solidFill>
                            <a:schemeClr val="tx2"/>
                          </a:solidFill>
                          <a:latin typeface="+mn-lt"/>
                          <a:ea typeface="+mn-ea"/>
                          <a:cs typeface="+mn-cs"/>
                        </a:rPr>
                        <a:t>(pkt. 56a)</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a-DK" sz="1200" b="0" kern="1200" noProof="0">
                          <a:solidFill>
                            <a:schemeClr val="tx2"/>
                          </a:solidFill>
                          <a:latin typeface="+mn-lt"/>
                          <a:ea typeface="+mn-ea"/>
                          <a:cs typeface="+mn-cs"/>
                        </a:rPr>
                        <a:t>(pkt. 56b)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1200" b="0" kern="1200" noProof="0">
                          <a:solidFill>
                            <a:schemeClr val="tx2"/>
                          </a:solidFill>
                          <a:latin typeface="+mn-lt"/>
                          <a:ea typeface="+mn-ea"/>
                          <a:cs typeface="+mn-cs"/>
                        </a:rPr>
                        <a:t>(pkt. 56c)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1200" b="0" kern="1200" noProof="0">
                          <a:solidFill>
                            <a:schemeClr val="tx2"/>
                          </a:solidFill>
                          <a:latin typeface="+mn-lt"/>
                          <a:ea typeface="+mn-ea"/>
                          <a:cs typeface="+mn-cs"/>
                        </a:rPr>
                        <a:t>(pkt. 56d)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458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Klimarelaterede 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Hvor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Kort beskrivelse af 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Eksponering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Sårbarhed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tx2"/>
                          </a:solidFill>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Tidshorisont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noProof="0">
                          <a:solidFill>
                            <a:schemeClr val="tx2"/>
                          </a:solidFill>
                        </a:rPr>
                        <a:t>(0-1 år/2-5 år/ &gt;5 år)</a:t>
                      </a:r>
                      <a:endParaRPr lang="da-DK" sz="1200" b="0" i="0" noProof="0"/>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Tilpasning iværksat </a:t>
                      </a:r>
                      <a:r>
                        <a:rPr lang="da-DK" sz="1200" b="0" noProof="0">
                          <a:solidFill>
                            <a:schemeClr val="tx2"/>
                          </a:solidFill>
                        </a:rPr>
                        <a:t>(JA/NEJ)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Kroniske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{{chronic_aktiver_time}}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{{chronic_aktivteter_eksponerning}}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{{chronic_aktivteter_time}}</a:t>
                      </a:r>
                      <a:endParaRPr lang="da-DK"/>
                    </a:p>
                    <a:p>
                      <a:pPr lvl="0" algn="ctr">
                        <a:lnSpc>
                          <a:spcPct val="100000"/>
                        </a:lnSpc>
                        <a:spcBef>
                          <a:spcPts val="0"/>
                        </a:spcBef>
                        <a:spcAft>
                          <a:spcPts val="0"/>
                        </a:spcAft>
                        <a:buNone/>
                      </a:pP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{{chronic_aktivteter_tilpasning}}</a:t>
                      </a:r>
                      <a:endParaRPr lang="da-DK"/>
                    </a:p>
                    <a:p>
                      <a:pPr marL="0" marR="0" lvl="0" indent="0" algn="ctr">
                        <a:lnSpc>
                          <a:spcPct val="100000"/>
                        </a:lnSpc>
                        <a:spcBef>
                          <a:spcPts val="0"/>
                        </a:spcBef>
                        <a:spcAft>
                          <a:spcPts val="0"/>
                        </a:spcAft>
                        <a:buClrTx/>
                        <a:buSzTx/>
                        <a:buFontTx/>
                        <a:buNone/>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{{chronic_value_description}}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{{chronic_value_eksponerning}}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{{chronic_value_time}}</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{{chronic_value_tilpasning}}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Akutte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{{akut_aktiviteter_description}}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{{akut_aktiviteter_tilpasning}}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{{akut_værdikæde_description}}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{{akut_værdikæde_tilpasning}}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84996">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Omstillings-hændelse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{{omstilling_aktiver_description}}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Aktiviteter</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{{omstilling_aktiviteter_description}}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{{omstilling_aktiviteter_tilpasning}}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849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b="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Værdikæde</a:t>
                      </a: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rPr>
                        <a:t>{{omstilling_værdikæde_description}}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{{omstilling_værdikæde_eksponering}}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{{omstilling_værdikæde_sårbarhed}}</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{{omstilling_værdikæde_tidshorisont}}</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{{omstilling_værdikæde_tilpasning}}</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9180000" y="6450239"/>
            <a:ext cx="2743200" cy="153888"/>
          </a:xfrm>
        </p:spPr>
        <p:txBody>
          <a:bodyPr/>
          <a:lstStyle/>
          <a:p>
            <a:fld id="{4702451B-F4AF-4B05-87B1-F468C54F2952}" type="slidenum">
              <a:rPr lang="da-DK" dirty="0">
                <a:solidFill>
                  <a:srgbClr val="1B4528">
                    <a:alpha val="70000"/>
                  </a:srgbClr>
                </a:solidFill>
              </a:rPr>
              <a:t>18</a:t>
            </a:fld>
            <a:endParaRPr lang="da-DK"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klimarelaterede risici. Herunder om disse er kroniske, akutte eller omstillingsrelaterede og hvor disse er placeret (aktiver, aktiviteter eller i virksomhedens værdikæde. </a:t>
            </a:r>
            <a:endParaRPr lang="da-DK" sz="1200"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noProof="0"/>
              <a:t>K</a:t>
            </a:r>
            <a:r>
              <a:rPr lang="da-DK" sz="1800" b="1" noProof="0">
                <a:solidFill>
                  <a:schemeClr val="tx2"/>
                </a:solidFill>
              </a:rPr>
              <a:t>limarisici (C4) - fortsat</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19</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98723" y="1527295"/>
          <a:ext cx="11165399" cy="3410640"/>
        </p:xfrm>
        <a:graphic>
          <a:graphicData uri="http://schemas.openxmlformats.org/drawingml/2006/table">
            <a:tbl>
              <a:tblPr firstRow="1">
                <a:tableStyleId>{2A488322-F2BA-4B5B-9748-0D474271808F}</a:tableStyleId>
              </a:tblPr>
              <a:tblGrid>
                <a:gridCol w="2838934">
                  <a:extLst>
                    <a:ext uri="{9D8B030D-6E8A-4147-A177-3AD203B41FA5}">
                      <a16:colId xmlns:a16="http://schemas.microsoft.com/office/drawing/2014/main" val="1904521774"/>
                    </a:ext>
                  </a:extLst>
                </a:gridCol>
                <a:gridCol w="5297496">
                  <a:extLst>
                    <a:ext uri="{9D8B030D-6E8A-4147-A177-3AD203B41FA5}">
                      <a16:colId xmlns:a16="http://schemas.microsoft.com/office/drawing/2014/main" val="3164053669"/>
                    </a:ext>
                  </a:extLst>
                </a:gridCol>
                <a:gridCol w="1635909">
                  <a:extLst>
                    <a:ext uri="{9D8B030D-6E8A-4147-A177-3AD203B41FA5}">
                      <a16:colId xmlns:a16="http://schemas.microsoft.com/office/drawing/2014/main" val="1263457420"/>
                    </a:ext>
                  </a:extLst>
                </a:gridCol>
                <a:gridCol w="1393060">
                  <a:extLst>
                    <a:ext uri="{9D8B030D-6E8A-4147-A177-3AD203B41FA5}">
                      <a16:colId xmlns:a16="http://schemas.microsoft.com/office/drawing/2014/main" val="1484983729"/>
                    </a:ext>
                  </a:extLst>
                </a:gridCol>
              </a:tblGrid>
              <a:tr h="175119">
                <a:tc gridSpan="4">
                  <a:txBody>
                    <a:bodyPr/>
                    <a:lstStyle/>
                    <a:p>
                      <a:r>
                        <a:rPr lang="da-DK" sz="1200" b="0" kern="1200" noProof="0">
                          <a:solidFill>
                            <a:schemeClr val="tx2"/>
                          </a:solidFill>
                          <a:latin typeface="+mn-lt"/>
                          <a:ea typeface="+mn-ea"/>
                          <a:cs typeface="+mn-cs"/>
                        </a:rPr>
                        <a:t>(pkt. 57)</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kern="120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i="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881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Potentiel negativ </a:t>
                      </a:r>
                      <a:r>
                        <a:rPr lang="da-DK" sz="1200" b="1" kern="1200" noProof="0">
                          <a:solidFill>
                            <a:schemeClr val="tx2"/>
                          </a:solidFill>
                          <a:latin typeface="+mn-lt"/>
                          <a:ea typeface="+mn-ea"/>
                          <a:cs typeface="+mn-cs"/>
                        </a:rPr>
                        <a:t>påvirkning på virksomhedens finansielle præstation og forretningsdrift </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Finansiel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kern="1200" noProof="0">
                          <a:solidFill>
                            <a:schemeClr val="tx2"/>
                          </a:solidFill>
                          <a:latin typeface="+mn-lt"/>
                          <a:ea typeface="+mn-ea"/>
                          <a:cs typeface="+mn-cs"/>
                        </a:rPr>
                        <a:t>(lav/mellem/høj)</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noProof="0">
                          <a:solidFill>
                            <a:schemeClr val="tx2"/>
                          </a:solidFill>
                        </a:rPr>
                        <a:t>Tidshorisont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i="0" noProof="0">
                          <a:solidFill>
                            <a:schemeClr val="tx2"/>
                          </a:solidFill>
                        </a:rPr>
                        <a:t>(0-1 år/2-5 år/ &gt;5 år)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Kroniske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{{chronic_hazards}}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{{chronic connection financial </a:t>
                      </a:r>
                      <a:r>
                        <a:rPr lang="da-DK" sz="1200" b="0" i="0" u="none" strike="noStrike" noProof="0">
                          <a:solidFill>
                            <a:schemeClr val="accent2"/>
                          </a:solidFill>
                          <a:latin typeface="IBM Plex Sans"/>
                          <a:ea typeface="+mn-ea"/>
                          <a:cs typeface="+mn-cs"/>
                        </a:rPr>
                        <a:t>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{{chronic_financial_risk}}</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{{chronic_time_horizon}}</a:t>
                      </a:r>
                      <a:endParaRPr lang="da-DK"/>
                    </a:p>
                    <a:p>
                      <a:pPr marL="0" marR="0" lvl="0" indent="0" algn="ctr" defTabSz="914400">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Akutte farer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{{acute_hazards}}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{{acute connection </a:t>
                      </a:r>
                      <a:r>
                        <a:rPr lang="da-DK" sz="1200" b="0" i="0" u="none" strike="noStrike" noProof="0">
                          <a:solidFill>
                            <a:schemeClr val="accent2"/>
                          </a:solidFill>
                          <a:latin typeface="IBM Plex Sans"/>
                          <a:ea typeface="+mn-ea"/>
                          <a:cs typeface="+mn-cs"/>
                        </a:rPr>
                        <a:t>financial 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{{acute_financial_risk}}</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{{acute_time_horizon}}</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238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Omstillingsrisici</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238397">
                <a:tc>
                  <a:txBody>
                    <a:bodyPr/>
                    <a:lstStyle/>
                    <a:p>
                      <a:pPr lvl="0" algn="l">
                        <a:lnSpc>
                          <a:spcPct val="100000"/>
                        </a:lnSpc>
                        <a:spcBef>
                          <a:spcPts val="0"/>
                        </a:spcBef>
                        <a:spcAft>
                          <a:spcPts val="0"/>
                        </a:spcAft>
                        <a:buNone/>
                      </a:pPr>
                      <a:r>
                        <a:rPr lang="da-DK" sz="1200" b="0" i="0" u="none" strike="noStrike" noProof="0">
                          <a:solidFill>
                            <a:schemeClr val="accent2"/>
                          </a:solidFill>
                        </a:rPr>
                        <a:t>{{climate_related}}</a:t>
                      </a:r>
                      <a:endParaRPr lang="da-DK"/>
                    </a:p>
                    <a:p>
                      <a:pPr lvl="0" algn="l">
                        <a:lnSpc>
                          <a:spcPct val="100000"/>
                        </a:lnSpc>
                        <a:spcBef>
                          <a:spcPts val="0"/>
                        </a:spcBef>
                        <a:spcAft>
                          <a:spcPts val="0"/>
                        </a:spcAft>
                        <a:buNone/>
                      </a:pPr>
                      <a:endParaRPr lang="da-DK" sz="1200" b="0" i="0" u="none" strike="noStrike" noProof="0">
                        <a:solidFill>
                          <a:schemeClr val="accent2"/>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rPr>
                        <a:t>{{climate connection financial </a:t>
                      </a:r>
                      <a:r>
                        <a:rPr lang="da-DK" sz="1200" b="0" i="0" u="none" strike="noStrike" noProof="0">
                          <a:solidFill>
                            <a:schemeClr val="accent2"/>
                          </a:solidFill>
                          <a:latin typeface="IBM Plex Sans"/>
                          <a:ea typeface="+mn-ea"/>
                          <a:cs typeface="+mn-cs"/>
                        </a:rPr>
                        <a:t>and operations}}</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{{climate_related_risk}}</a:t>
                      </a:r>
                      <a:endParaRPr lang="da-DK"/>
                    </a:p>
                    <a:p>
                      <a:pPr lvl="0" algn="ctr">
                        <a:lnSpc>
                          <a:spcPct val="100000"/>
                        </a:lnSpc>
                        <a:spcBef>
                          <a:spcPts val="0"/>
                        </a:spcBef>
                        <a:spcAft>
                          <a:spcPts val="0"/>
                        </a:spcAft>
                        <a:buNone/>
                      </a:pP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200" b="0" i="0" u="none" strike="noStrike" noProof="0">
                          <a:solidFill>
                            <a:schemeClr val="accent2"/>
                          </a:solidFill>
                          <a:latin typeface="IBM Plex Sans"/>
                        </a:rPr>
                        <a:t>{{climate_time_horizon}}</a:t>
                      </a:r>
                      <a:endParaRPr lang="da-DK"/>
                    </a:p>
                    <a:p>
                      <a:pPr marL="0" marR="0" lvl="0" indent="0" algn="ctr" defTabSz="914400">
                        <a:lnSpc>
                          <a:spcPct val="100000"/>
                        </a:lnSpc>
                        <a:spcBef>
                          <a:spcPts val="0"/>
                        </a:spcBef>
                        <a:spcAft>
                          <a:spcPts val="0"/>
                        </a:spcAft>
                        <a:buClrTx/>
                        <a:buSzTx/>
                        <a:buFontTx/>
                        <a:buNone/>
                        <a:tabLst/>
                        <a:defRPr/>
                      </a:pPr>
                      <a:endParaRPr lang="da-DK" sz="1200" b="0" noProof="0">
                        <a:solidFill>
                          <a:schemeClr val="accent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518600" y="1016000"/>
            <a:ext cx="11254300" cy="461665"/>
          </a:xfrm>
          <a:prstGeom prst="rect">
            <a:avLst/>
          </a:prstGeom>
          <a:noFill/>
        </p:spPr>
        <p:txBody>
          <a:bodyPr wrap="square">
            <a:spAutoFit/>
          </a:bodyPr>
          <a:lstStyle/>
          <a:p>
            <a:pPr rtl="0">
              <a:buNone/>
            </a:pPr>
            <a:r>
              <a:rPr lang="da-DK" sz="1200" b="0" i="0" u="none" strike="noStrike" noProof="0">
                <a:solidFill>
                  <a:schemeClr val="tx2"/>
                </a:solidFill>
                <a:effectLst/>
                <a:latin typeface="Inter"/>
              </a:rPr>
              <a:t>Virksomheden har angivet en oversigt over klimarelaterede risici. Herunder om disse er kroniske, akutte eller omstillingsrelaterede og om disse kan have en potentiel negativ påvirkning på virksomhedens finansielle præsentation og forretningsdrift.</a:t>
            </a:r>
            <a:endParaRPr lang="da-DK" sz="1200"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Supplerende (generelle) oplysninger om arbejdsstyrken (C5)</a:t>
            </a:r>
            <a:endParaRPr lang="da-DK"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6237155"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i="0" noProof="0">
                          <a:solidFill>
                            <a:schemeClr val="tx2"/>
                          </a:solidFill>
                        </a:rPr>
                        <a:t>Forholdet mellem kvinder og mænd på ledelsesniveau </a:t>
                      </a:r>
                      <a:r>
                        <a:rPr lang="da-DK" sz="1200" b="0" i="0" noProof="0">
                          <a:solidFill>
                            <a:schemeClr val="tx2"/>
                          </a:solidFill>
                        </a:rPr>
                        <a:t>(pkt. 59)</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År </a:t>
                      </a:r>
                      <a:r>
                        <a:rPr lang="da-DK" sz="1200" b="1" i="0" u="none" strike="noStrike" noProof="0">
                          <a:solidFill>
                            <a:srgbClr val="2D55FF"/>
                          </a:solidFill>
                          <a:effectLst/>
                          <a:latin typeface="IBM Plex Sans" panose="020B0503050203000203" pitchFamily="34" charset="0"/>
                        </a:rPr>
                        <a:t>{{</a:t>
                      </a:r>
                      <a:r>
                        <a:rPr lang="da-DK" sz="1200" b="1" i="0" u="none" strike="noStrike" noProof="0" err="1">
                          <a:solidFill>
                            <a:srgbClr val="2D55FF"/>
                          </a:solidFill>
                          <a:effectLst/>
                          <a:latin typeface="IBM Plex Sans" panose="020B0503050203000203" pitchFamily="34" charset="0"/>
                        </a:rPr>
                        <a:t>Insert</a:t>
                      </a:r>
                      <a:r>
                        <a:rPr lang="da-DK" sz="1200" b="1" i="0" u="none" strike="noStrike" noProof="0">
                          <a:solidFill>
                            <a:srgbClr val="2D55FF"/>
                          </a:solidFill>
                          <a:effectLst/>
                          <a:latin typeface="IBM Plex Sans" panose="020B0503050203000203" pitchFamily="34" charset="0"/>
                        </a:rPr>
                        <a:t> </a:t>
                      </a:r>
                      <a:r>
                        <a:rPr lang="da-DK" sz="1200" b="1" i="0" u="none" strike="noStrike" noProof="0" err="1">
                          <a:solidFill>
                            <a:srgbClr val="2D55FF"/>
                          </a:solidFill>
                          <a:effectLst/>
                          <a:latin typeface="IBM Plex Sans" panose="020B0503050203000203" pitchFamily="34" charset="0"/>
                        </a:rPr>
                        <a:t>year</a:t>
                      </a:r>
                      <a:r>
                        <a:rPr lang="da-DK" sz="1200" b="1"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gender_balance</a:t>
                      </a:r>
                      <a:r>
                        <a:rPr lang="da-DK" sz="1200" b="0"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505381" y="1650746"/>
          <a:ext cx="5446845" cy="782320"/>
        </p:xfrm>
        <a:graphic>
          <a:graphicData uri="http://schemas.openxmlformats.org/drawingml/2006/table">
            <a:tbl>
              <a:tblPr firstRow="1">
                <a:tableStyleId>{2A488322-F2BA-4B5B-9748-0D474271808F}</a:tableStyleId>
              </a:tblPr>
              <a:tblGrid>
                <a:gridCol w="4228740">
                  <a:extLst>
                    <a:ext uri="{9D8B030D-6E8A-4147-A177-3AD203B41FA5}">
                      <a16:colId xmlns:a16="http://schemas.microsoft.com/office/drawing/2014/main" val="2698153288"/>
                    </a:ext>
                  </a:extLst>
                </a:gridCol>
                <a:gridCol w="1218105">
                  <a:extLst>
                    <a:ext uri="{9D8B030D-6E8A-4147-A177-3AD203B41FA5}">
                      <a16:colId xmlns:a16="http://schemas.microsoft.com/office/drawing/2014/main" val="2119413191"/>
                    </a:ext>
                  </a:extLst>
                </a:gridCol>
              </a:tblGrid>
              <a:tr h="28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i="0" noProof="0">
                          <a:solidFill>
                            <a:schemeClr val="tx2"/>
                          </a:solidFill>
                        </a:rPr>
                        <a:t>Medarbejderomsætning i rapporteringsåret </a:t>
                      </a:r>
                      <a:r>
                        <a:rPr lang="da-DK" sz="1200" b="0" i="0" noProof="0">
                          <a:solidFill>
                            <a:schemeClr val="tx2"/>
                          </a:solidFill>
                        </a:rPr>
                        <a:t>(pkt. 58)</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År </a:t>
                      </a:r>
                      <a:r>
                        <a:rPr lang="da-DK" sz="1200" b="1" i="0" u="none" strike="noStrike" noProof="0">
                          <a:solidFill>
                            <a:srgbClr val="2D55FF"/>
                          </a:solidFill>
                          <a:effectLst/>
                          <a:latin typeface="IBM Plex Sans" panose="020B0503050203000203" pitchFamily="34" charset="0"/>
                        </a:rPr>
                        <a:t>{{</a:t>
                      </a:r>
                      <a:r>
                        <a:rPr lang="da-DK" sz="1200" b="1" i="0" u="none" strike="noStrike" noProof="0" err="1">
                          <a:solidFill>
                            <a:srgbClr val="2D55FF"/>
                          </a:solidFill>
                          <a:effectLst/>
                          <a:latin typeface="IBM Plex Sans" panose="020B0503050203000203" pitchFamily="34" charset="0"/>
                        </a:rPr>
                        <a:t>Insert</a:t>
                      </a:r>
                      <a:r>
                        <a:rPr lang="da-DK" sz="1200" b="1" i="0" u="none" strike="noStrike" noProof="0">
                          <a:solidFill>
                            <a:srgbClr val="2D55FF"/>
                          </a:solidFill>
                          <a:effectLst/>
                          <a:latin typeface="IBM Plex Sans" panose="020B0503050203000203" pitchFamily="34" charset="0"/>
                        </a:rPr>
                        <a:t> </a:t>
                      </a:r>
                      <a:r>
                        <a:rPr lang="da-DK" sz="1200" b="1" i="0" u="none" strike="noStrike" noProof="0" err="1">
                          <a:solidFill>
                            <a:srgbClr val="2D55FF"/>
                          </a:solidFill>
                          <a:effectLst/>
                          <a:latin typeface="IBM Plex Sans" panose="020B0503050203000203" pitchFamily="34" charset="0"/>
                        </a:rPr>
                        <a:t>year</a:t>
                      </a:r>
                      <a:r>
                        <a:rPr lang="da-DK" sz="1200" b="1" i="0" u="none" strike="noStrike" noProof="0">
                          <a:solidFill>
                            <a:srgbClr val="2D55FF"/>
                          </a:solidFill>
                          <a:effectLst/>
                          <a:latin typeface="IBM Plex Sans" panose="020B0503050203000203" pitchFamily="34" charset="0"/>
                        </a:rPr>
                        <a:t>}}</a:t>
                      </a:r>
                      <a:endParaRPr lang="da-DK" sz="1200" noProof="0">
                        <a:effectLst/>
                      </a:endParaRP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1200" b="0" i="0" u="none" strike="noStrike" noProof="0">
                          <a:solidFill>
                            <a:srgbClr val="2D55FF"/>
                          </a:solidFill>
                          <a:effectLst/>
                          <a:latin typeface="IBM Plex Sans" panose="020B0503050203000203" pitchFamily="34" charset="0"/>
                        </a:rPr>
                        <a:t>{{</a:t>
                      </a:r>
                      <a:r>
                        <a:rPr lang="da-DK" sz="1200" b="0" i="0" u="none" strike="noStrike" noProof="0" err="1">
                          <a:solidFill>
                            <a:srgbClr val="2D55FF"/>
                          </a:solidFill>
                          <a:effectLst/>
                          <a:latin typeface="IBM Plex Sans" panose="020B0503050203000203" pitchFamily="34" charset="0"/>
                        </a:rPr>
                        <a:t>omsatningsrate</a:t>
                      </a:r>
                      <a:r>
                        <a:rPr lang="da-DK" sz="1200" b="0" i="0" u="none" strike="noStrike" noProof="0">
                          <a:solidFill>
                            <a:srgbClr val="2D55FF"/>
                          </a:solidFill>
                          <a:effectLst/>
                          <a:latin typeface="IBM Plex Sans" panose="020B0503050203000203" pitchFamily="34" charset="0"/>
                        </a:rPr>
                        <a:t>}}</a:t>
                      </a:r>
                    </a:p>
                  </a:txBody>
                  <a:tcPr marL="38100" marR="38100" marT="12700" marB="127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508000" y="1016000"/>
            <a:ext cx="11165400"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Den nedenstående information er supplement til anden oplysning om virksomhedens arbejdsstyrke. Herunder, hvordan virksomhedens forhold mellem mænd og kvinder på ledelsesniveau fordeler sig.</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235781758"/>
              </p:ext>
            </p:extLst>
          </p:nvPr>
        </p:nvGraphicFramePr>
        <p:xfrm>
          <a:off x="507999" y="3287188"/>
          <a:ext cx="11165400" cy="1152000"/>
        </p:xfrm>
        <a:graphic>
          <a:graphicData uri="http://schemas.openxmlformats.org/drawingml/2006/table">
            <a:tbl>
              <a:tblPr firstRow="1">
                <a:tableStyleId>{2A488322-F2BA-4B5B-9748-0D474271808F}</a:tableStyleId>
              </a:tblPr>
              <a:tblGrid>
                <a:gridCol w="8275926">
                  <a:extLst>
                    <a:ext uri="{9D8B030D-6E8A-4147-A177-3AD203B41FA5}">
                      <a16:colId xmlns:a16="http://schemas.microsoft.com/office/drawing/2014/main" val="2698153288"/>
                    </a:ext>
                  </a:extLst>
                </a:gridCol>
                <a:gridCol w="2889474">
                  <a:extLst>
                    <a:ext uri="{9D8B030D-6E8A-4147-A177-3AD203B41FA5}">
                      <a16:colId xmlns:a16="http://schemas.microsoft.com/office/drawing/2014/main" val="2119413191"/>
                    </a:ext>
                  </a:extLst>
                </a:gridCol>
              </a:tblGrid>
              <a:tr h="28800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Selvstændige og vikarer </a:t>
                      </a:r>
                      <a:r>
                        <a:rPr lang="da-DK" sz="1200" b="0" noProof="0">
                          <a:solidFill>
                            <a:schemeClr val="tx2"/>
                          </a:solidFill>
                        </a:rPr>
                        <a:t>(pkt. 60)</a:t>
                      </a:r>
                      <a:endParaRPr lang="da-DK" sz="1200" b="1" kern="120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b="1"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tx2"/>
                          </a:solidFill>
                          <a:latin typeface="+mn-lt"/>
                          <a:ea typeface="+mn-ea"/>
                          <a:cs typeface="+mn-cs"/>
                        </a:rPr>
                        <a:t>Antal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8000">
                <a:tc>
                  <a:txBody>
                    <a:bodyPr/>
                    <a:lstStyle/>
                    <a:p>
                      <a:r>
                        <a:rPr lang="da-DK" sz="1200" b="1" noProof="0">
                          <a:solidFill>
                            <a:schemeClr val="tx2"/>
                          </a:solidFill>
                        </a:rPr>
                        <a:t>Selvstændige (uden egne ansatte)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self-employeed</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88000">
                <a:tc>
                  <a:txBody>
                    <a:bodyPr/>
                    <a:lstStyle/>
                    <a:p>
                      <a:r>
                        <a:rPr lang="da-DK" sz="1200" b="1" noProof="0">
                          <a:solidFill>
                            <a:schemeClr val="tx2"/>
                          </a:solidFill>
                        </a:rPr>
                        <a:t>Vikarer (rekrutteret via et vikarbureau) </a:t>
                      </a:r>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temp_workers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518599" y="2772045"/>
            <a:ext cx="11154799" cy="276999"/>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Den nedenstående information er udfyldt for at informere om antallet af selvstændige og vikarer virksomheden har.</a:t>
            </a:r>
            <a:endParaRPr lang="da-DK" sz="1200" b="0" noProof="0">
              <a:solidFill>
                <a:schemeClr val="tx2"/>
              </a:solidFill>
              <a:effectLst/>
              <a:latin typeface="Inter"/>
            </a:endParaRPr>
          </a:p>
        </p:txBody>
      </p:sp>
    </p:spTree>
    <p:extLst>
      <p:ext uri="{BB962C8B-B14F-4D97-AF65-F5344CB8AC3E}">
        <p14:creationId xmlns:p14="http://schemas.microsoft.com/office/powerpoint/2010/main" val="1095913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E5C9-19EA-93EF-10E2-5882DFA2D1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1B3D3-ECCC-E485-0BE0-6FF0F1558D63}"/>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Menneskerettighedspolitikker og -processer (C6</a:t>
            </a:r>
            <a:r>
              <a:rPr lang="da-DK" noProof="0"/>
              <a:t>) - Egen arbejdsstyrke</a:t>
            </a:r>
          </a:p>
        </p:txBody>
      </p:sp>
      <p:sp>
        <p:nvSpPr>
          <p:cNvPr id="2" name="Slide Number Placeholder 1">
            <a:extLst>
              <a:ext uri="{FF2B5EF4-FFF2-40B4-BE49-F238E27FC236}">
                <a16:creationId xmlns:a16="http://schemas.microsoft.com/office/drawing/2014/main" id="{7F4B2DDC-B47C-8EC5-7967-2A58A7546BE1}"/>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21</a:t>
            </a:fld>
            <a:endParaRPr lang="da-DK" noProof="0"/>
          </a:p>
        </p:txBody>
      </p:sp>
      <p:sp>
        <p:nvSpPr>
          <p:cNvPr id="5" name="Footer Placeholder 4">
            <a:extLst>
              <a:ext uri="{FF2B5EF4-FFF2-40B4-BE49-F238E27FC236}">
                <a16:creationId xmlns:a16="http://schemas.microsoft.com/office/drawing/2014/main" id="{12C8F095-7936-9AF5-ED2E-CAF996EA0C77}"/>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7" name="Table 12">
            <a:extLst>
              <a:ext uri="{FF2B5EF4-FFF2-40B4-BE49-F238E27FC236}">
                <a16:creationId xmlns:a16="http://schemas.microsoft.com/office/drawing/2014/main" id="{28CCF2F2-67F8-E6B4-823D-CCF80EE37382}"/>
              </a:ext>
            </a:extLst>
          </p:cNvPr>
          <p:cNvGraphicFramePr>
            <a:graphicFrameLocks noGrp="1"/>
          </p:cNvGraphicFramePr>
          <p:nvPr>
            <p:extLst>
              <p:ext uri="{D42A27DB-BD31-4B8C-83A1-F6EECF244321}">
                <p14:modId xmlns:p14="http://schemas.microsoft.com/office/powerpoint/2010/main" val="2313881061"/>
              </p:ext>
            </p:extLst>
          </p:nvPr>
        </p:nvGraphicFramePr>
        <p:xfrm>
          <a:off x="518600" y="1841711"/>
          <a:ext cx="11165400" cy="3451860"/>
        </p:xfrm>
        <a:graphic>
          <a:graphicData uri="http://schemas.openxmlformats.org/drawingml/2006/table">
            <a:tbl>
              <a:tblPr firstRow="1">
                <a:tableStyleId>{2A488322-F2BA-4B5B-9748-0D474271808F}</a:tableStyleId>
              </a:tblPr>
              <a:tblGrid>
                <a:gridCol w="8583287">
                  <a:extLst>
                    <a:ext uri="{9D8B030D-6E8A-4147-A177-3AD203B41FA5}">
                      <a16:colId xmlns:a16="http://schemas.microsoft.com/office/drawing/2014/main" val="2698153288"/>
                    </a:ext>
                  </a:extLst>
                </a:gridCol>
                <a:gridCol w="2582113">
                  <a:extLst>
                    <a:ext uri="{9D8B030D-6E8A-4147-A177-3AD203B41FA5}">
                      <a16:colId xmlns:a16="http://schemas.microsoft.com/office/drawing/2014/main" val="2119413191"/>
                    </a:ext>
                  </a:extLst>
                </a:gridCol>
              </a:tblGrid>
              <a:tr h="511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200" b="1" kern="1200" noProof="0">
                          <a:solidFill>
                            <a:schemeClr val="accent2"/>
                          </a:solidFill>
                          <a:latin typeface="+mn-lt"/>
                          <a:ea typeface="+mn-ea"/>
                          <a:cs typeface="+mn-cs"/>
                        </a:rPr>
                        <a:t>{{company_name}}</a:t>
                      </a:r>
                      <a:r>
                        <a:rPr lang="da-DK" sz="1200" b="1" noProof="0">
                          <a:solidFill>
                            <a:schemeClr val="tx2"/>
                          </a:solidFill>
                        </a:rPr>
                        <a:t> har </a:t>
                      </a:r>
                      <a:r>
                        <a:rPr lang="da-DK" sz="1200" b="1" kern="1200" spc="-10" noProof="0">
                          <a:solidFill>
                            <a:schemeClr val="tx2"/>
                          </a:solidFill>
                          <a:latin typeface="+mn-lt"/>
                          <a:ea typeface="+mn-ea"/>
                          <a:cs typeface="+mn-cs"/>
                        </a:rPr>
                        <a:t>en ansvarlighedspolitik </a:t>
                      </a:r>
                      <a:r>
                        <a:rPr lang="da-DK" sz="1200" b="1" i="1" kern="1200" spc="-10" noProof="0">
                          <a:solidFill>
                            <a:schemeClr val="tx2"/>
                          </a:solidFill>
                          <a:latin typeface="+mn-lt"/>
                          <a:ea typeface="+mn-ea"/>
                          <a:cs typeface="+mn-cs"/>
                        </a:rPr>
                        <a:t>og/eller</a:t>
                      </a:r>
                      <a:r>
                        <a:rPr lang="da-DK" sz="1200" b="1" kern="1200" spc="-10" noProof="0">
                          <a:solidFill>
                            <a:schemeClr val="tx2"/>
                          </a:solidFill>
                          <a:latin typeface="+mn-lt"/>
                          <a:ea typeface="+mn-ea"/>
                          <a:cs typeface="+mn-cs"/>
                        </a:rPr>
                        <a:t> en menneskerettighedspolitik for vores </a:t>
                      </a:r>
                      <a:r>
                        <a:rPr lang="da-DK" sz="1200" b="1" u="sng" kern="1200" spc="-10" noProof="0">
                          <a:solidFill>
                            <a:schemeClr val="tx2"/>
                          </a:solidFill>
                          <a:latin typeface="+mn-lt"/>
                          <a:ea typeface="+mn-ea"/>
                          <a:cs typeface="+mn-cs"/>
                        </a:rPr>
                        <a:t>egen arbejdsstyrke</a:t>
                      </a:r>
                      <a:r>
                        <a:rPr lang="da-DK" sz="1200" b="0" u="none" kern="1200" spc="-10" noProof="0">
                          <a:solidFill>
                            <a:schemeClr val="tx2"/>
                          </a:solidFill>
                          <a:latin typeface="+mn-lt"/>
                          <a:ea typeface="+mn-ea"/>
                          <a:cs typeface="+mn-cs"/>
                        </a:rPr>
                        <a:t> (pkt. 61a)</a:t>
                      </a:r>
                      <a:endParaRPr lang="da-DK" sz="1200" b="0" u="none"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accent2"/>
                          </a:solidFill>
                          <a:latin typeface="+mn-lt"/>
                          <a:cs typeface="Calibri"/>
                        </a:rPr>
                        <a:t>{{human_rights_policy?}}</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63277">
                <a:tc gridSpan="2">
                  <a:txBody>
                    <a:bodyPr/>
                    <a:lstStyle/>
                    <a:p>
                      <a:r>
                        <a:rPr lang="da-DK" sz="1200" b="1" kern="1200" noProof="0">
                          <a:solidFill>
                            <a:schemeClr val="tx1"/>
                          </a:solidFill>
                          <a:latin typeface="+mn-lt"/>
                          <a:ea typeface="+mn-ea"/>
                          <a:cs typeface="+mn-cs"/>
                        </a:rPr>
                        <a:t>Ansvarligheds- eller menneskerettighedspolitikken dækker disse emner: </a:t>
                      </a:r>
                      <a:r>
                        <a:rPr lang="da-DK" sz="1200" b="0" u="none" kern="1200" spc="-10" noProof="0">
                          <a:solidFill>
                            <a:schemeClr val="tx2"/>
                          </a:solidFill>
                          <a:latin typeface="+mn-lt"/>
                          <a:ea typeface="+mn-ea"/>
                          <a:cs typeface="+mn-cs"/>
                        </a:rPr>
                        <a:t>(pkt. 61b)</a:t>
                      </a:r>
                      <a:endParaRPr lang="da-DK" sz="1200" b="0" noProof="0">
                        <a:solidFill>
                          <a:schemeClr val="tx1"/>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63277">
                <a:tc>
                  <a:txBody>
                    <a:bodyPr/>
                    <a:lstStyle/>
                    <a:p>
                      <a:pPr lvl="1"/>
                      <a:r>
                        <a:rPr lang="da-DK" sz="1200" b="0" noProof="0">
                          <a:solidFill>
                            <a:schemeClr val="tx2"/>
                          </a:solidFill>
                        </a:rPr>
                        <a:t>Børnearbejde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{{child_labour_polict?}}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63277">
                <a:tc>
                  <a:txBody>
                    <a:bodyPr/>
                    <a:lstStyle/>
                    <a:p>
                      <a:pPr lvl="1"/>
                      <a:r>
                        <a:rPr lang="da-DK" sz="1200" b="0" noProof="0">
                          <a:solidFill>
                            <a:schemeClr val="tx2"/>
                          </a:solidFill>
                        </a:rPr>
                        <a:t>Tvangsarbejde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{{forced_labour_policy?}}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63277">
                <a:tc>
                  <a:txBody>
                    <a:bodyPr/>
                    <a:lstStyle/>
                    <a:p>
                      <a:pPr lvl="1"/>
                      <a:r>
                        <a:rPr lang="da-DK" sz="1200" b="0" noProof="0">
                          <a:solidFill>
                            <a:schemeClr val="tx2"/>
                          </a:solidFill>
                        </a:rPr>
                        <a:t>Menneskehandel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{{human_policy?}}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63277">
                <a:tc>
                  <a:txBody>
                    <a:bodyPr/>
                    <a:lstStyle/>
                    <a:p>
                      <a:pPr lvl="1"/>
                      <a:r>
                        <a:rPr lang="da-DK" sz="1200" b="0" noProof="0">
                          <a:solidFill>
                            <a:schemeClr val="tx2"/>
                          </a:solidFill>
                        </a:rPr>
                        <a:t>Diskrimination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{{discrimanation_policy?}}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63277">
                <a:tc>
                  <a:txBody>
                    <a:bodyPr/>
                    <a:lstStyle/>
                    <a:p>
                      <a:pPr lvl="1"/>
                      <a:r>
                        <a:rPr lang="da-DK" sz="1200" b="0" noProof="0">
                          <a:solidFill>
                            <a:schemeClr val="tx2"/>
                          </a:solidFill>
                        </a:rPr>
                        <a:t>Sikkerhed og forebyggelse af ulykker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{{safety_policy?}}</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63277">
                <a:tc>
                  <a:txBody>
                    <a:bodyPr/>
                    <a:lstStyle/>
                    <a:p>
                      <a:pPr lvl="1"/>
                      <a:r>
                        <a:rPr lang="da-DK" sz="1200" b="0" noProof="0">
                          <a:solidFill>
                            <a:schemeClr val="tx2"/>
                          </a:solidFill>
                        </a:rPr>
                        <a:t>Andet</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other_policy</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63277">
                <a:tc gridSpan="2">
                  <a:txBody>
                    <a:bodyPr/>
                    <a:lstStyle/>
                    <a:p>
                      <a:r>
                        <a:rPr lang="da-DK" sz="1200" b="1" noProof="0">
                          <a:solidFill>
                            <a:schemeClr val="tx2"/>
                          </a:solidFill>
                        </a:rPr>
                        <a:t>Hvis ja til ”Andet”, specificer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833715">
                <a:tc gridSpan="2">
                  <a:txBody>
                    <a:bodyPr/>
                    <a:lstStyle/>
                    <a:p>
                      <a:endParaRPr lang="da-DK" sz="1200" b="0" noProof="0">
                        <a:solidFill>
                          <a:schemeClr val="tx2"/>
                        </a:solidFill>
                      </a:endParaRPr>
                    </a:p>
                    <a:p>
                      <a:pPr lvl="0" algn="l">
                        <a:lnSpc>
                          <a:spcPct val="100000"/>
                        </a:lnSpc>
                        <a:spcBef>
                          <a:spcPts val="0"/>
                        </a:spcBef>
                        <a:spcAft>
                          <a:spcPts val="0"/>
                        </a:spcAft>
                        <a:buNone/>
                      </a:pPr>
                      <a:r>
                        <a:rPr lang="da-DK" sz="1200" b="0" i="0" u="none" strike="noStrike" kern="1200" noProof="0">
                          <a:solidFill>
                            <a:srgbClr val="2D55FF"/>
                          </a:solidFill>
                          <a:latin typeface="Inter"/>
                          <a:ea typeface="+mn-ea"/>
                          <a:cs typeface="+mn-cs"/>
                        </a:rPr>
                        <a:t>{{C6_other_description}}</a:t>
                      </a:r>
                      <a:endParaRPr lang="da-DK" sz="1200" b="0" i="0" u="none" strike="noStrike" kern="1200" noProof="0">
                        <a:solidFill>
                          <a:srgbClr val="000000"/>
                        </a:solidFill>
                        <a:latin typeface="Inter"/>
                        <a:ea typeface="+mn-ea"/>
                        <a:cs typeface="+mn-cs"/>
                      </a:endParaRPr>
                    </a:p>
                    <a:p>
                      <a:endParaRPr lang="da-DK" sz="1200" b="0" noProof="0">
                        <a:solidFill>
                          <a:schemeClr val="tx2"/>
                        </a:solidFill>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00" b="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18" name="Table 12">
            <a:extLst>
              <a:ext uri="{FF2B5EF4-FFF2-40B4-BE49-F238E27FC236}">
                <a16:creationId xmlns:a16="http://schemas.microsoft.com/office/drawing/2014/main" id="{DB79A87E-D29B-1775-517F-11F70A44D342}"/>
              </a:ext>
            </a:extLst>
          </p:cNvPr>
          <p:cNvGraphicFramePr>
            <a:graphicFrameLocks noGrp="1"/>
          </p:cNvGraphicFramePr>
          <p:nvPr>
            <p:extLst>
              <p:ext uri="{D42A27DB-BD31-4B8C-83A1-F6EECF244321}">
                <p14:modId xmlns:p14="http://schemas.microsoft.com/office/powerpoint/2010/main" val="3266126802"/>
              </p:ext>
            </p:extLst>
          </p:nvPr>
        </p:nvGraphicFramePr>
        <p:xfrm>
          <a:off x="507999" y="5483925"/>
          <a:ext cx="11181493" cy="866075"/>
        </p:xfrm>
        <a:graphic>
          <a:graphicData uri="http://schemas.openxmlformats.org/drawingml/2006/table">
            <a:tbl>
              <a:tblPr firstRow="1">
                <a:tableStyleId>{2A488322-F2BA-4B5B-9748-0D474271808F}</a:tableStyleId>
              </a:tblPr>
              <a:tblGrid>
                <a:gridCol w="8595658">
                  <a:extLst>
                    <a:ext uri="{9D8B030D-6E8A-4147-A177-3AD203B41FA5}">
                      <a16:colId xmlns:a16="http://schemas.microsoft.com/office/drawing/2014/main" val="2698153288"/>
                    </a:ext>
                  </a:extLst>
                </a:gridCol>
                <a:gridCol w="2585835">
                  <a:extLst>
                    <a:ext uri="{9D8B030D-6E8A-4147-A177-3AD203B41FA5}">
                      <a16:colId xmlns:a16="http://schemas.microsoft.com/office/drawing/2014/main" val="2119413191"/>
                    </a:ext>
                  </a:extLst>
                </a:gridCol>
              </a:tblGrid>
              <a:tr h="866075">
                <a:tc>
                  <a:txBody>
                    <a:bodyPr/>
                    <a:lstStyle/>
                    <a:p>
                      <a:r>
                        <a:rPr lang="da-DK" sz="1200" b="1" noProof="0">
                          <a:solidFill>
                            <a:schemeClr val="tx2"/>
                          </a:solidFill>
                        </a:rPr>
                        <a:t>Virksomheden har en klagemekanisme for vores </a:t>
                      </a:r>
                      <a:r>
                        <a:rPr lang="da-DK" sz="1200" b="1" u="sng" noProof="0">
                          <a:solidFill>
                            <a:schemeClr val="tx2"/>
                          </a:solidFill>
                        </a:rPr>
                        <a:t>egen arbejdsstyrke</a:t>
                      </a:r>
                      <a:r>
                        <a:rPr lang="da-DK" sz="1200" b="0" u="sng" noProof="0" dirty="0">
                          <a:solidFill>
                            <a:schemeClr val="tx2"/>
                          </a:solidFill>
                        </a:rPr>
                        <a:t> </a:t>
                      </a:r>
                      <a:r>
                        <a:rPr lang="da-DK" sz="1200" b="0" noProof="0">
                          <a:solidFill>
                            <a:schemeClr val="tx2"/>
                          </a:solidFill>
                        </a:rPr>
                        <a:t>(pkt. 61c)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0" noProof="0">
                          <a:solidFill>
                            <a:schemeClr val="accent2"/>
                          </a:solidFill>
                          <a:latin typeface="+mn-lt"/>
                          <a:cs typeface="Calibri"/>
                        </a:rPr>
                        <a:t>{{whistleblower?}}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1" name="Tekstfelt 10">
            <a:extLst>
              <a:ext uri="{FF2B5EF4-FFF2-40B4-BE49-F238E27FC236}">
                <a16:creationId xmlns:a16="http://schemas.microsoft.com/office/drawing/2014/main" id="{7C4038A4-75FD-FD52-35A4-14C7ED85BEEF}"/>
              </a:ext>
            </a:extLst>
          </p:cNvPr>
          <p:cNvSpPr txBox="1"/>
          <p:nvPr/>
        </p:nvSpPr>
        <p:spPr>
          <a:xfrm>
            <a:off x="515952" y="1016000"/>
            <a:ext cx="11168048" cy="461665"/>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a:t>
            </a:r>
            <a:r>
              <a:rPr lang="da-DK" sz="1200" noProof="0">
                <a:solidFill>
                  <a:schemeClr val="tx2"/>
                </a:solidFill>
                <a:latin typeface="Inter"/>
              </a:rPr>
              <a:t>angivet information om </a:t>
            </a:r>
            <a:r>
              <a:rPr lang="da-DK" sz="1200" b="0" i="0" u="none" strike="noStrike" noProof="0">
                <a:solidFill>
                  <a:schemeClr val="tx2"/>
                </a:solidFill>
                <a:effectLst/>
                <a:latin typeface="Inter"/>
              </a:rPr>
              <a:t>virksomhedens ansvarlighedspolitik og/eller menneskerettighedspolitik som dækker egen arbejdsstyrk</a:t>
            </a:r>
            <a:r>
              <a:rPr lang="da-DK" sz="1200" noProof="0">
                <a:solidFill>
                  <a:schemeClr val="tx2"/>
                </a:solidFill>
                <a:latin typeface="Inter"/>
              </a:rPr>
              <a:t>e. Ligeledes om virksomheden har en klagemekanisme, der gør det muligt for medarbejdere at rapportere forhold relateret til menneskerettighedskrænkelser, diskrimination, chikane eller andre kritisable forhold.</a:t>
            </a:r>
          </a:p>
        </p:txBody>
      </p:sp>
    </p:spTree>
    <p:extLst>
      <p:ext uri="{BB962C8B-B14F-4D97-AF65-F5344CB8AC3E}">
        <p14:creationId xmlns:p14="http://schemas.microsoft.com/office/powerpoint/2010/main" val="138660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Alvorlige negative menneskerettighedshændelser (C7</a:t>
            </a:r>
            <a:r>
              <a:rPr lang="da-DK" noProof="0"/>
              <a:t>) – Egen arbejdsstyrke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22</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518598" y="1676964"/>
          <a:ext cx="11165399" cy="3105236"/>
        </p:xfrm>
        <a:graphic>
          <a:graphicData uri="http://schemas.openxmlformats.org/drawingml/2006/table">
            <a:tbl>
              <a:tblPr firstRow="1">
                <a:tableStyleId>{2A488322-F2BA-4B5B-9748-0D474271808F}</a:tableStyleId>
              </a:tblPr>
              <a:tblGrid>
                <a:gridCol w="3918800">
                  <a:extLst>
                    <a:ext uri="{9D8B030D-6E8A-4147-A177-3AD203B41FA5}">
                      <a16:colId xmlns:a16="http://schemas.microsoft.com/office/drawing/2014/main" val="1902117154"/>
                    </a:ext>
                  </a:extLst>
                </a:gridCol>
                <a:gridCol w="7246599">
                  <a:extLst>
                    <a:ext uri="{9D8B030D-6E8A-4147-A177-3AD203B41FA5}">
                      <a16:colId xmlns:a16="http://schemas.microsoft.com/office/drawing/2014/main" val="1904521774"/>
                    </a:ext>
                  </a:extLst>
                </a:gridCol>
              </a:tblGrid>
              <a:tr h="326560">
                <a:tc gridSpan="2">
                  <a:txBody>
                    <a:bodyPr/>
                    <a:lstStyle/>
                    <a:p>
                      <a:pPr algn="l"/>
                      <a:r>
                        <a:rPr lang="da-DK" sz="1200" b="1" kern="1200" spc="-10" noProof="0">
                          <a:solidFill>
                            <a:schemeClr val="tx2"/>
                          </a:solidFill>
                          <a:latin typeface="+mn-lt"/>
                          <a:ea typeface="+mn-ea"/>
                          <a:cs typeface="+mn-cs"/>
                        </a:rPr>
                        <a:t>Er der for virksomhedens </a:t>
                      </a:r>
                      <a:r>
                        <a:rPr lang="da-DK" sz="1200" b="1" u="sng" kern="1200" spc="-10" noProof="0">
                          <a:solidFill>
                            <a:schemeClr val="tx2"/>
                          </a:solidFill>
                          <a:latin typeface="+mn-lt"/>
                          <a:ea typeface="+mn-ea"/>
                          <a:cs typeface="+mn-cs"/>
                        </a:rPr>
                        <a:t>egen arbejdsstyrke</a:t>
                      </a:r>
                      <a:r>
                        <a:rPr lang="da-DK" sz="1200" b="1" u="none" kern="1200" spc="-10" noProof="0">
                          <a:solidFill>
                            <a:schemeClr val="tx2"/>
                          </a:solidFill>
                          <a:latin typeface="+mn-lt"/>
                          <a:ea typeface="+mn-ea"/>
                          <a:cs typeface="+mn-cs"/>
                        </a:rPr>
                        <a:t> </a:t>
                      </a:r>
                      <a:r>
                        <a:rPr lang="da-DK" sz="1200" b="1" kern="1200" spc="-10" noProof="0">
                          <a:solidFill>
                            <a:schemeClr val="tx2"/>
                          </a:solidFill>
                          <a:latin typeface="+mn-lt"/>
                          <a:ea typeface="+mn-ea"/>
                          <a:cs typeface="+mn-cs"/>
                        </a:rPr>
                        <a:t>bekræftede negative hændelser, der relaterer sig til nedenstående </a:t>
                      </a:r>
                      <a:r>
                        <a:rPr lang="da-DK" sz="1200" b="0" kern="1200" spc="-10" noProof="0">
                          <a:solidFill>
                            <a:schemeClr val="tx2"/>
                          </a:solidFill>
                          <a:latin typeface="+mn-lt"/>
                          <a:ea typeface="+mn-ea"/>
                          <a:cs typeface="+mn-cs"/>
                        </a:rPr>
                        <a:t>(pkt. 62a-b)</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85229">
                <a:tc>
                  <a:txBody>
                    <a:bodyPr/>
                    <a:lstStyle/>
                    <a:p>
                      <a:pPr algn="l"/>
                      <a:r>
                        <a:rPr lang="da-DK" sz="1200" b="1" kern="1200" spc="-10" noProof="0">
                          <a:solidFill>
                            <a:schemeClr val="tx2"/>
                          </a:solidFill>
                          <a:latin typeface="+mn-lt"/>
                          <a:ea typeface="+mn-ea"/>
                          <a:cs typeface="+mn-cs"/>
                        </a:rPr>
                        <a:t>Børnearbejde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{{child_labour_yes?}}</a:t>
                      </a:r>
                      <a:endParaRPr lang="da-DK"/>
                    </a:p>
                    <a:p>
                      <a:pPr lvl="0" algn="l">
                        <a:lnSpc>
                          <a:spcPct val="100000"/>
                        </a:lnSpc>
                        <a:spcBef>
                          <a:spcPts val="0"/>
                        </a:spcBef>
                        <a:spcAft>
                          <a:spcPts val="0"/>
                        </a:spcAft>
                        <a:buNone/>
                      </a:pPr>
                      <a:r>
                        <a:rPr lang="da-DK" sz="1200" b="0" i="0" u="none" strike="noStrike" noProof="0">
                          <a:solidFill>
                            <a:schemeClr val="accent2"/>
                          </a:solidFill>
                        </a:rPr>
                        <a:t>{{child_labour_desc}}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85229">
                <a:tc>
                  <a:txBody>
                    <a:bodyPr/>
                    <a:lstStyle/>
                    <a:p>
                      <a:pPr algn="l"/>
                      <a:r>
                        <a:rPr lang="da-DK" sz="1200" b="1" kern="1200" spc="-10" noProof="0">
                          <a:solidFill>
                            <a:schemeClr val="tx2"/>
                          </a:solidFill>
                          <a:latin typeface="+mn-lt"/>
                          <a:ea typeface="+mn-ea"/>
                          <a:cs typeface="+mn-cs"/>
                        </a:rPr>
                        <a:t>Tvangsarbejde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{{forced_labour_yes?}}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{{forced_labour_desc}}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85229">
                <a:tc>
                  <a:txBody>
                    <a:bodyPr/>
                    <a:lstStyle/>
                    <a:p>
                      <a:pPr algn="l"/>
                      <a:r>
                        <a:rPr lang="da-DK" sz="1200" b="1" kern="1200" spc="-10" noProof="0">
                          <a:solidFill>
                            <a:schemeClr val="tx2"/>
                          </a:solidFill>
                          <a:latin typeface="+mn-lt"/>
                          <a:ea typeface="+mn-ea"/>
                          <a:cs typeface="+mn-cs"/>
                        </a:rPr>
                        <a:t>Menneskehandel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{{human_trafficking_yes?}}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{{human_trafficking_desc}}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585229">
                <a:tc>
                  <a:txBody>
                    <a:bodyPr/>
                    <a:lstStyle/>
                    <a:p>
                      <a:pPr algn="l"/>
                      <a:r>
                        <a:rPr lang="da-DK" sz="1200" b="1" kern="1200" spc="-10" noProof="0">
                          <a:solidFill>
                            <a:schemeClr val="tx2"/>
                          </a:solidFill>
                          <a:latin typeface="+mn-lt"/>
                          <a:ea typeface="+mn-ea"/>
                          <a:cs typeface="+mn-cs"/>
                        </a:rPr>
                        <a:t>Diskrimination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rPr>
                        <a:t>{{discrimination_yes?}}</a:t>
                      </a:r>
                      <a:endParaRPr lang="da-DK"/>
                    </a:p>
                    <a:p>
                      <a:pPr lvl="0" algn="l" defTabSz="914400">
                        <a:lnSpc>
                          <a:spcPct val="100000"/>
                        </a:lnSpc>
                        <a:spcBef>
                          <a:spcPts val="0"/>
                        </a:spcBef>
                        <a:spcAft>
                          <a:spcPts val="0"/>
                        </a:spcAft>
                        <a:buNone/>
                        <a:tabLst/>
                        <a:defRPr/>
                      </a:pPr>
                      <a:r>
                        <a:rPr lang="da-DK" sz="1200" b="0" i="0" u="none" strike="noStrike" noProof="0">
                          <a:solidFill>
                            <a:schemeClr val="accent2"/>
                          </a:solidFill>
                        </a:rPr>
                        <a:t>{{discrimination_desc}}</a:t>
                      </a:r>
                      <a:endParaRPr lang="da-DK"/>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412783">
                <a:tc>
                  <a:txBody>
                    <a:bodyPr/>
                    <a:lstStyle/>
                    <a:p>
                      <a:pPr lvl="0" algn="l">
                        <a:buNone/>
                      </a:pPr>
                      <a:r>
                        <a:rPr lang="da-DK" sz="1200" b="1" kern="1200" spc="-10" noProof="0">
                          <a:solidFill>
                            <a:schemeClr val="tx2"/>
                          </a:solidFill>
                          <a:latin typeface="+mn-lt"/>
                          <a:ea typeface="+mn-ea"/>
                          <a:cs typeface="+mn-cs"/>
                        </a:rPr>
                        <a:t>Andet </a:t>
                      </a:r>
                      <a:endParaRPr lang="en-US" b="1">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1200" b="0" i="0" u="none" strike="noStrike" noProof="0">
                          <a:solidFill>
                            <a:schemeClr val="accent2"/>
                          </a:solidFill>
                          <a:latin typeface="IBM Plex Sans"/>
                          <a:cs typeface="Calibri"/>
                        </a:rPr>
                        <a:t>{{other</a:t>
                      </a:r>
                      <a:r>
                        <a:rPr lang="da-DK" sz="1200" b="0" i="0" u="none" strike="noStrike" noProof="0">
                          <a:solidFill>
                            <a:schemeClr val="accent2"/>
                          </a:solidFill>
                          <a:latin typeface="IBM Plex Sans"/>
                        </a:rPr>
                        <a:t>_yes?}}</a:t>
                      </a:r>
                      <a:endParaRPr lang="da-DK" sz="1200"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a-DK" sz="1200" b="0" i="0" u="none" strike="noStrike" noProof="0">
                          <a:solidFill>
                            <a:schemeClr val="accent2"/>
                          </a:solidFill>
                          <a:latin typeface="IBM Plex Sans"/>
                        </a:rPr>
                        <a:t>{{other_desc}}</a:t>
                      </a:r>
                      <a:endParaRPr lang="da-DK" sz="1200" b="0" i="0" u="none" strike="noStrike" noProof="0">
                        <a:solidFill>
                          <a:srgbClr val="000000"/>
                        </a:solidFill>
                        <a:latin typeface="IBM Plex San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507999" y="1016000"/>
            <a:ext cx="11165399" cy="830997"/>
          </a:xfrm>
          <a:prstGeom prst="rect">
            <a:avLst/>
          </a:prstGeom>
          <a:noFill/>
        </p:spPr>
        <p:txBody>
          <a:bodyPr wrap="square">
            <a:spAutoFit/>
          </a:bodyPr>
          <a:lstStyle/>
          <a:p>
            <a:pPr rtl="0">
              <a:buNone/>
            </a:pPr>
            <a:r>
              <a:rPr lang="da-DK" sz="1200" b="0" i="0" u="none" strike="noStrike" noProof="0">
                <a:solidFill>
                  <a:schemeClr val="tx2"/>
                </a:solidFill>
                <a:effectLst/>
                <a:latin typeface="Inter"/>
              </a:rPr>
              <a:t>De følgende oplysningskrav angiver, virksomhedens afrapportering på negative hændelser som relaterer sig til børnearbejde, tvangsarbejde, menneskehandel og diskrimination. Virksomhed angiver i dette afsnit om ovenstående relateret til egen arbejdsstyrke.</a:t>
            </a:r>
            <a:endParaRPr lang="da-DK" sz="1200" b="0" noProof="0">
              <a:solidFill>
                <a:schemeClr val="tx2"/>
              </a:solidFill>
              <a:effectLst/>
              <a:latin typeface="Inter"/>
            </a:endParaRPr>
          </a:p>
          <a:p>
            <a:pPr>
              <a:buNone/>
            </a:pPr>
            <a:br>
              <a:rPr lang="da-DK" sz="1200" noProof="0">
                <a:solidFill>
                  <a:schemeClr val="tx2"/>
                </a:solidFill>
                <a:latin typeface="Inter"/>
              </a:rPr>
            </a:br>
            <a:endParaRPr lang="da-DK" sz="1200" noProof="0">
              <a:solidFill>
                <a:schemeClr val="tx2"/>
              </a:solidFill>
              <a:latin typeface="Inter"/>
            </a:endParaRPr>
          </a:p>
        </p:txBody>
      </p:sp>
    </p:spTree>
    <p:extLst>
      <p:ext uri="{BB962C8B-B14F-4D97-AF65-F5344CB8AC3E}">
        <p14:creationId xmlns:p14="http://schemas.microsoft.com/office/powerpoint/2010/main" val="3705068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latin typeface="+mn-lt"/>
                <a:ea typeface="+mn-ea"/>
                <a:cs typeface="+mn-cs"/>
              </a:rPr>
              <a:t>Alvorlige negative menneskerettighedshændelser (C7</a:t>
            </a:r>
            <a:r>
              <a:rPr lang="da-DK" noProof="0"/>
              <a:t>) – I værdikæden</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23</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pic>
        <p:nvPicPr>
          <p:cNvPr id="12" name="Graphic 9">
            <a:extLst>
              <a:ext uri="{FF2B5EF4-FFF2-40B4-BE49-F238E27FC236}">
                <a16:creationId xmlns:a16="http://schemas.microsoft.com/office/drawing/2014/main" id="{4B0E4A81-6D87-9920-AA37-8B4DE23275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1802" y="4594892"/>
            <a:ext cx="207455" cy="232601"/>
          </a:xfrm>
          <a:prstGeom prst="rect">
            <a:avLst/>
          </a:prstGeom>
        </p:spPr>
      </p:pic>
      <p:graphicFrame>
        <p:nvGraphicFramePr>
          <p:cNvPr id="13" name="Table 2">
            <a:extLst>
              <a:ext uri="{FF2B5EF4-FFF2-40B4-BE49-F238E27FC236}">
                <a16:creationId xmlns:a16="http://schemas.microsoft.com/office/drawing/2014/main" id="{8F64AECA-5641-240D-7A32-215621E37E93}"/>
              </a:ext>
            </a:extLst>
          </p:cNvPr>
          <p:cNvGraphicFramePr>
            <a:graphicFrameLocks noGrp="1"/>
          </p:cNvGraphicFramePr>
          <p:nvPr>
            <p:extLst>
              <p:ext uri="{D42A27DB-BD31-4B8C-83A1-F6EECF244321}">
                <p14:modId xmlns:p14="http://schemas.microsoft.com/office/powerpoint/2010/main" val="643922417"/>
              </p:ext>
            </p:extLst>
          </p:nvPr>
        </p:nvGraphicFramePr>
        <p:xfrm>
          <a:off x="518599" y="1638525"/>
          <a:ext cx="11165399" cy="1863602"/>
        </p:xfrm>
        <a:graphic>
          <a:graphicData uri="http://schemas.openxmlformats.org/drawingml/2006/table">
            <a:tbl>
              <a:tblPr firstRow="1">
                <a:tableStyleId>{2A488322-F2BA-4B5B-9748-0D474271808F}</a:tableStyleId>
              </a:tblPr>
              <a:tblGrid>
                <a:gridCol w="2463177">
                  <a:extLst>
                    <a:ext uri="{9D8B030D-6E8A-4147-A177-3AD203B41FA5}">
                      <a16:colId xmlns:a16="http://schemas.microsoft.com/office/drawing/2014/main" val="1902117154"/>
                    </a:ext>
                  </a:extLst>
                </a:gridCol>
                <a:gridCol w="8702222">
                  <a:extLst>
                    <a:ext uri="{9D8B030D-6E8A-4147-A177-3AD203B41FA5}">
                      <a16:colId xmlns:a16="http://schemas.microsoft.com/office/drawing/2014/main" val="1904521774"/>
                    </a:ext>
                  </a:extLst>
                </a:gridCol>
              </a:tblGrid>
              <a:tr h="302390">
                <a:tc gridSpan="2">
                  <a:txBody>
                    <a:bodyPr/>
                    <a:lstStyle/>
                    <a:p>
                      <a:pPr algn="l"/>
                      <a:r>
                        <a:rPr lang="da-DK" sz="1200" b="1" kern="1200" spc="-10" noProof="0">
                          <a:solidFill>
                            <a:schemeClr val="tx2"/>
                          </a:solidFill>
                          <a:latin typeface="+mn-lt"/>
                          <a:ea typeface="+mn-ea"/>
                          <a:cs typeface="+mn-cs"/>
                        </a:rPr>
                        <a:t>Er virksomheden bekendt med bekræftede negative menneskerettighedshændelser i </a:t>
                      </a:r>
                      <a:r>
                        <a:rPr lang="da-DK" sz="1200" b="1" kern="1200" noProof="0">
                          <a:solidFill>
                            <a:schemeClr val="accent2"/>
                          </a:solidFill>
                          <a:latin typeface="+mn-lt"/>
                          <a:ea typeface="+mn-ea"/>
                          <a:cs typeface="+mn-cs"/>
                        </a:rPr>
                        <a:t>{{company_name}}’s</a:t>
                      </a:r>
                      <a:r>
                        <a:rPr lang="da-DK" sz="1200" b="1" kern="1200" noProof="0">
                          <a:solidFill>
                            <a:schemeClr val="tx2"/>
                          </a:solidFill>
                          <a:latin typeface="+mn-lt"/>
                          <a:ea typeface="+mn-ea"/>
                          <a:cs typeface="+mn-cs"/>
                        </a:rPr>
                        <a:t> </a:t>
                      </a:r>
                      <a:r>
                        <a:rPr lang="da-DK" sz="1200" b="1" kern="1200" spc="-10" noProof="0">
                          <a:solidFill>
                            <a:schemeClr val="tx2"/>
                          </a:solidFill>
                          <a:latin typeface="+mn-lt"/>
                          <a:ea typeface="+mn-ea"/>
                          <a:cs typeface="+mn-cs"/>
                        </a:rPr>
                        <a:t>værdikæde </a:t>
                      </a:r>
                      <a:r>
                        <a:rPr lang="da-DK" sz="1200" b="0" kern="1200" spc="-10" noProof="0">
                          <a:solidFill>
                            <a:schemeClr val="tx2"/>
                          </a:solidFill>
                          <a:latin typeface="+mn-lt"/>
                          <a:ea typeface="+mn-ea"/>
                          <a:cs typeface="+mn-cs"/>
                        </a:rPr>
                        <a:t>(pkt. 62c)</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900" b="1"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520404">
                <a:tc>
                  <a:txBody>
                    <a:bodyPr/>
                    <a:lstStyle/>
                    <a:p>
                      <a:pPr algn="l"/>
                      <a:r>
                        <a:rPr lang="da-DK" sz="1200" b="1" kern="1200" spc="-10" noProof="0">
                          <a:solidFill>
                            <a:schemeClr val="tx2"/>
                          </a:solidFill>
                          <a:latin typeface="+mn-lt"/>
                          <a:ea typeface="+mn-ea"/>
                          <a:cs typeface="+mn-cs"/>
                        </a:rPr>
                        <a:t>Arbejdstagere i værdikæden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incidents_workers_value_chain</a:t>
                      </a:r>
                      <a:r>
                        <a:rPr lang="da-DK" sz="1200" b="0" i="0" u="none" strike="noStrike" noProof="0">
                          <a:solidFill>
                            <a:srgbClr val="2D55FF"/>
                          </a:solidFill>
                          <a:effectLst/>
                          <a:latin typeface="Inter"/>
                        </a:rPr>
                        <a:t>}}</a:t>
                      </a:r>
                      <a:endParaRPr lang="da-DK" sz="1200" noProof="0">
                        <a:solidFill>
                          <a:schemeClr val="accent2"/>
                        </a:solidFill>
                        <a:latin typeface="+mn-lt"/>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520404">
                <a:tc>
                  <a:txBody>
                    <a:bodyPr/>
                    <a:lstStyle/>
                    <a:p>
                      <a:pPr algn="l"/>
                      <a:r>
                        <a:rPr lang="da-DK" sz="1200" b="1" kern="1200" spc="-10" noProof="0">
                          <a:solidFill>
                            <a:schemeClr val="tx2"/>
                          </a:solidFill>
                          <a:latin typeface="+mn-lt"/>
                          <a:ea typeface="+mn-ea"/>
                          <a:cs typeface="+mn-cs"/>
                        </a:rPr>
                        <a:t>Berørte samfund</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incidents_affected_communities</a:t>
                      </a:r>
                      <a:r>
                        <a:rPr lang="da-DK" sz="1200" b="0" i="0" u="none" strike="noStrike" noProof="0">
                          <a:solidFill>
                            <a:srgbClr val="2D55FF"/>
                          </a:solidFill>
                          <a:effectLst/>
                          <a:latin typeface="Inter"/>
                        </a:rPr>
                        <a:t>}}</a:t>
                      </a:r>
                      <a:endParaRPr lang="da-DK" sz="1200" kern="1200" noProof="0">
                        <a:solidFill>
                          <a:schemeClr val="accent2"/>
                        </a:solidFill>
                        <a:latin typeface="+mn-lt"/>
                        <a:ea typeface="+mn-ea"/>
                        <a:cs typeface="Calibri"/>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520404">
                <a:tc>
                  <a:txBody>
                    <a:bodyPr/>
                    <a:lstStyle/>
                    <a:p>
                      <a:pPr algn="l"/>
                      <a:r>
                        <a:rPr lang="da-DK" sz="1200" b="1" kern="1200" spc="-10" noProof="0">
                          <a:solidFill>
                            <a:schemeClr val="tx2"/>
                          </a:solidFill>
                          <a:latin typeface="+mn-lt"/>
                          <a:ea typeface="+mn-ea"/>
                          <a:cs typeface="+mn-cs"/>
                        </a:rPr>
                        <a:t>Forbrugere og slutbrugere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incidents_consumers</a:t>
                      </a:r>
                      <a:r>
                        <a:rPr lang="da-DK" sz="1200" b="0" i="0" u="none" strike="noStrike" noProof="0">
                          <a:solidFill>
                            <a:srgbClr val="2D55FF"/>
                          </a:solidFill>
                          <a:effectLst/>
                          <a:latin typeface="Inter"/>
                        </a:rPr>
                        <a:t>}}</a:t>
                      </a:r>
                      <a:endParaRPr lang="da-DK" sz="1200" b="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14" name="Tekstfelt 13">
            <a:extLst>
              <a:ext uri="{FF2B5EF4-FFF2-40B4-BE49-F238E27FC236}">
                <a16:creationId xmlns:a16="http://schemas.microsoft.com/office/drawing/2014/main" id="{242457FC-408B-5451-1EF0-8D381F9C10EE}"/>
              </a:ext>
            </a:extLst>
          </p:cNvPr>
          <p:cNvSpPr txBox="1"/>
          <p:nvPr/>
        </p:nvSpPr>
        <p:spPr>
          <a:xfrm>
            <a:off x="515952" y="1016000"/>
            <a:ext cx="11168048" cy="276999"/>
          </a:xfrm>
          <a:prstGeom prst="rect">
            <a:avLst/>
          </a:prstGeom>
          <a:noFill/>
        </p:spPr>
        <p:txBody>
          <a:bodyPr wrap="square">
            <a:spAutoFit/>
          </a:bodyPr>
          <a:lstStyle/>
          <a:p>
            <a:pPr>
              <a:spcBef>
                <a:spcPts val="900"/>
              </a:spcBef>
            </a:pPr>
            <a:r>
              <a:rPr lang="da-DK" sz="1200" b="0" i="0" u="none" strike="noStrike" noProof="0">
                <a:solidFill>
                  <a:schemeClr val="tx2"/>
                </a:solidFill>
                <a:effectLst/>
                <a:latin typeface="Inter"/>
              </a:rPr>
              <a:t>Nedenfor er </a:t>
            </a:r>
            <a:r>
              <a:rPr lang="da-DK" sz="1200" noProof="0">
                <a:solidFill>
                  <a:schemeClr val="tx2"/>
                </a:solidFill>
                <a:latin typeface="Inter"/>
              </a:rPr>
              <a:t>angivet information om </a:t>
            </a:r>
            <a:r>
              <a:rPr lang="da-DK" sz="1200" b="0" i="0" u="none" strike="noStrike" noProof="0">
                <a:solidFill>
                  <a:schemeClr val="tx2"/>
                </a:solidFill>
                <a:effectLst/>
                <a:latin typeface="Inter"/>
              </a:rPr>
              <a:t>virksomhedens kendskab til bekræftede negative menneskerettighedshændelser i virksomhedens værdikæde.</a:t>
            </a:r>
          </a:p>
        </p:txBody>
      </p:sp>
    </p:spTree>
    <p:extLst>
      <p:ext uri="{BB962C8B-B14F-4D97-AF65-F5344CB8AC3E}">
        <p14:creationId xmlns:p14="http://schemas.microsoft.com/office/powerpoint/2010/main" val="1739792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518600" y="513927"/>
            <a:ext cx="11165400" cy="249299"/>
          </a:xfrm>
        </p:spPr>
        <p:txBody>
          <a:bodyPr/>
          <a:lstStyle/>
          <a:p>
            <a:r>
              <a:rPr lang="da-DK" sz="1800" b="1" i="0" u="none" strike="noStrike" kern="1200" spc="-10" noProof="0">
                <a:solidFill>
                  <a:srgbClr val="1B4528"/>
                </a:solidFill>
              </a:rPr>
              <a:t>Indtægter fra bestemte aktiviteter (C8)</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24</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518598" y="1425825"/>
          <a:ext cx="11165401" cy="2844591"/>
        </p:xfrm>
        <a:graphic>
          <a:graphicData uri="http://schemas.openxmlformats.org/drawingml/2006/table">
            <a:tbl>
              <a:tblPr firstRow="1">
                <a:tableStyleId>{2A488322-F2BA-4B5B-9748-0D474271808F}</a:tableStyleId>
              </a:tblPr>
              <a:tblGrid>
                <a:gridCol w="7652636">
                  <a:extLst>
                    <a:ext uri="{9D8B030D-6E8A-4147-A177-3AD203B41FA5}">
                      <a16:colId xmlns:a16="http://schemas.microsoft.com/office/drawing/2014/main" val="1902117154"/>
                    </a:ext>
                  </a:extLst>
                </a:gridCol>
                <a:gridCol w="3512765">
                  <a:extLst>
                    <a:ext uri="{9D8B030D-6E8A-4147-A177-3AD203B41FA5}">
                      <a16:colId xmlns:a16="http://schemas.microsoft.com/office/drawing/2014/main" val="1904521774"/>
                    </a:ext>
                  </a:extLst>
                </a:gridCol>
              </a:tblGrid>
              <a:tr h="34383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200" b="1" kern="1200" spc="-10" noProof="0">
                          <a:solidFill>
                            <a:schemeClr val="tx2"/>
                          </a:solidFill>
                          <a:latin typeface="+mn-lt"/>
                          <a:ea typeface="+mn-ea"/>
                          <a:cs typeface="+mn-cs"/>
                        </a:rPr>
                        <a:t>Indtægter fra udvalgte sektorer</a:t>
                      </a:r>
                      <a:r>
                        <a:rPr lang="da-DK" sz="1200" b="0" kern="1200" spc="-10" noProof="0">
                          <a:solidFill>
                            <a:schemeClr val="tx2"/>
                          </a:solidFill>
                          <a:latin typeface="+mn-lt"/>
                          <a:ea typeface="+mn-ea"/>
                          <a:cs typeface="+mn-cs"/>
                        </a:rPr>
                        <a:t> (Pkt. 63 </a:t>
                      </a:r>
                      <a:r>
                        <a:rPr lang="da-DK" sz="1200" b="0" kern="1200" spc="-10" noProof="0" err="1">
                          <a:solidFill>
                            <a:schemeClr val="tx2"/>
                          </a:solidFill>
                          <a:latin typeface="+mn-lt"/>
                          <a:ea typeface="+mn-ea"/>
                          <a:cs typeface="+mn-cs"/>
                        </a:rPr>
                        <a:t>a-d</a:t>
                      </a:r>
                      <a:r>
                        <a:rPr lang="da-DK" sz="1200" b="0" kern="1200" spc="-10" noProof="0">
                          <a:solidFill>
                            <a:schemeClr val="tx2"/>
                          </a:solidFill>
                          <a:latin typeface="+mn-lt"/>
                          <a:ea typeface="+mn-ea"/>
                          <a:cs typeface="+mn-cs"/>
                        </a:rPr>
                        <a:t>)</a:t>
                      </a:r>
                    </a:p>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00" noProof="0">
                        <a:solidFill>
                          <a:schemeClr val="accent2"/>
                        </a:solidFill>
                        <a:latin typeface="+mn-lt"/>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343833">
                <a:tc>
                  <a:txBody>
                    <a:bodyPr/>
                    <a:lstStyle/>
                    <a:p>
                      <a:pPr algn="l"/>
                      <a:endParaRPr lang="da-DK" sz="1200" b="0" kern="1200" spc="-10" noProof="0">
                        <a:solidFill>
                          <a:schemeClr val="tx2"/>
                        </a:solidFill>
                        <a:latin typeface="+mn-lt"/>
                        <a:ea typeface="+mn-ea"/>
                        <a:cs typeface="+mn-cs"/>
                      </a:endParaRP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1200" b="1" i="0" u="none" strike="noStrike" noProof="0">
                          <a:solidFill>
                            <a:srgbClr val="1B4528"/>
                          </a:solidFill>
                          <a:effectLst/>
                          <a:latin typeface="IBM Plex Sans" panose="020B0503050203000203" pitchFamily="34" charset="0"/>
                        </a:rPr>
                        <a:t>Indtægt i år </a:t>
                      </a:r>
                      <a:r>
                        <a:rPr lang="da-DK" sz="1200" b="1" i="0" u="none" strike="noStrike" noProof="0">
                          <a:solidFill>
                            <a:srgbClr val="2D55FF"/>
                          </a:solidFill>
                          <a:effectLst/>
                          <a:latin typeface="Inter"/>
                        </a:rPr>
                        <a:t>{{</a:t>
                      </a:r>
                      <a:r>
                        <a:rPr lang="da-DK" sz="1200" b="1" i="0" u="none" strike="noStrike" noProof="0" err="1">
                          <a:solidFill>
                            <a:srgbClr val="2D55FF"/>
                          </a:solidFill>
                          <a:effectLst/>
                          <a:latin typeface="Inter"/>
                        </a:rPr>
                        <a:t>Insert</a:t>
                      </a:r>
                      <a:r>
                        <a:rPr lang="da-DK" sz="1200" b="1" i="0" u="none" strike="noStrike" noProof="0">
                          <a:solidFill>
                            <a:srgbClr val="2D55FF"/>
                          </a:solidFill>
                          <a:effectLst/>
                          <a:latin typeface="Inter"/>
                        </a:rPr>
                        <a:t> </a:t>
                      </a:r>
                      <a:r>
                        <a:rPr lang="da-DK" sz="1200" b="1" i="0" u="none" strike="noStrike" noProof="0" err="1">
                          <a:solidFill>
                            <a:srgbClr val="2D55FF"/>
                          </a:solidFill>
                          <a:effectLst/>
                          <a:latin typeface="Inter"/>
                        </a:rPr>
                        <a:t>year</a:t>
                      </a:r>
                      <a:r>
                        <a:rPr lang="da-DK" sz="1200" b="1" i="0" u="none" strike="noStrike" noProof="0">
                          <a:solidFill>
                            <a:srgbClr val="2D55FF"/>
                          </a:solidFill>
                          <a:effectLst/>
                          <a:latin typeface="Inter"/>
                        </a:rPr>
                        <a:t>}}</a:t>
                      </a:r>
                      <a:endParaRPr lang="da-DK" sz="1200" noProof="0">
                        <a:effectLst/>
                      </a:endParaRPr>
                    </a:p>
                  </a:txBody>
                  <a:tcPr marL="38100" marR="38100" marT="25400" marB="254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343833">
                <a:tc>
                  <a:txBody>
                    <a:bodyPr/>
                    <a:lstStyle/>
                    <a:p>
                      <a:pPr algn="l"/>
                      <a:r>
                        <a:rPr lang="da-DK" sz="1200" b="1" kern="1200" spc="-10" noProof="0">
                          <a:solidFill>
                            <a:schemeClr val="tx2"/>
                          </a:solidFill>
                          <a:latin typeface="+mn-lt"/>
                          <a:ea typeface="+mn-ea"/>
                          <a:cs typeface="+mn-cs"/>
                        </a:rPr>
                        <a:t>Kontroversielle våben (personelminer, klyngebomber, kemiske våben og biologiske våben)</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revenue_weapons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43833">
                <a:tc>
                  <a:txBody>
                    <a:bodyPr/>
                    <a:lstStyle/>
                    <a:p>
                      <a:pPr algn="l"/>
                      <a:r>
                        <a:rPr lang="da-DK" sz="1200" b="1" kern="1200" spc="-10" noProof="0">
                          <a:solidFill>
                            <a:schemeClr val="tx2"/>
                          </a:solidFill>
                          <a:latin typeface="+mn-lt"/>
                          <a:ea typeface="+mn-ea"/>
                          <a:cs typeface="+mn-cs"/>
                        </a:rPr>
                        <a:t>Dyrkning og/eller produktion af tobak</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revenue_cultivation</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43833">
                <a:tc>
                  <a:txBody>
                    <a:bodyPr/>
                    <a:lstStyle/>
                    <a:p>
                      <a:pPr algn="l"/>
                      <a:r>
                        <a:rPr lang="da-DK" sz="1200" b="1" kern="1200" spc="-10" noProof="0">
                          <a:solidFill>
                            <a:schemeClr val="tx2"/>
                          </a:solidFill>
                          <a:latin typeface="+mn-lt"/>
                          <a:ea typeface="+mn-ea"/>
                          <a:cs typeface="+mn-cs"/>
                        </a:rPr>
                        <a:t>Fossile brændstoffer: Kul</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revenue_coal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43833">
                <a:tc>
                  <a:txBody>
                    <a:bodyPr/>
                    <a:lstStyle/>
                    <a:p>
                      <a:pPr algn="l"/>
                      <a:r>
                        <a:rPr lang="da-DK" sz="1200" b="1" kern="1200" spc="-10" noProof="0">
                          <a:solidFill>
                            <a:schemeClr val="tx2"/>
                          </a:solidFill>
                          <a:latin typeface="+mn-lt"/>
                          <a:ea typeface="+mn-ea"/>
                          <a:cs typeface="+mn-cs"/>
                        </a:rPr>
                        <a:t>Fossile brændstoffer: Olie</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revenue_oil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833">
                <a:tc>
                  <a:txBody>
                    <a:bodyPr/>
                    <a:lstStyle/>
                    <a:p>
                      <a:pPr algn="l"/>
                      <a:r>
                        <a:rPr lang="da-DK" sz="1200" b="1" kern="1200" spc="-10" noProof="0">
                          <a:solidFill>
                            <a:schemeClr val="tx2"/>
                          </a:solidFill>
                          <a:latin typeface="+mn-lt"/>
                          <a:ea typeface="+mn-ea"/>
                          <a:cs typeface="+mn-cs"/>
                        </a:rPr>
                        <a:t>Fossile brændstoffer: Gas/Naturgas</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revenue_gas</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343833">
                <a:tc>
                  <a:txBody>
                    <a:bodyPr/>
                    <a:lstStyle/>
                    <a:p>
                      <a:pPr algn="l"/>
                      <a:r>
                        <a:rPr lang="da-DK" sz="1200" b="1" kern="1200" spc="-10" noProof="0">
                          <a:solidFill>
                            <a:schemeClr val="tx2"/>
                          </a:solidFill>
                          <a:latin typeface="+mn-lt"/>
                          <a:ea typeface="+mn-ea"/>
                          <a:cs typeface="+mn-cs"/>
                        </a:rPr>
                        <a:t>Kemikalieproduktion til produktion af pesticider og andre agrokemiske produkter</a:t>
                      </a:r>
                    </a:p>
                  </a:txBody>
                  <a:tcPr marL="54000" marR="54000" marT="36000" marB="360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1200" b="0" i="0" u="none" strike="noStrike" noProof="0">
                          <a:solidFill>
                            <a:srgbClr val="2D55FF"/>
                          </a:solidFill>
                          <a:effectLst/>
                          <a:latin typeface="Inter"/>
                        </a:rPr>
                        <a:t>{{</a:t>
                      </a:r>
                      <a:r>
                        <a:rPr lang="da-DK" sz="1200" b="0" i="0" u="none" strike="noStrike" noProof="0" err="1">
                          <a:solidFill>
                            <a:srgbClr val="2D55FF"/>
                          </a:solidFill>
                          <a:effectLst/>
                          <a:latin typeface="Inter"/>
                        </a:rPr>
                        <a:t>revenue_chemichal</a:t>
                      </a:r>
                      <a:r>
                        <a:rPr lang="da-DK" sz="1200" b="0" i="0" u="none" strike="noStrike" noProof="0">
                          <a:solidFill>
                            <a:srgbClr val="2D55FF"/>
                          </a:solidFill>
                          <a:effectLst/>
                          <a:latin typeface="Inter"/>
                        </a:rPr>
                        <a:t>}}</a:t>
                      </a:r>
                      <a:endParaRPr lang="da-DK" sz="1200" noProof="0">
                        <a:effectLst/>
                      </a:endParaRPr>
                    </a:p>
                  </a:txBody>
                  <a:tcPr marL="25400" marR="25400" marT="19050" marB="1905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518598" y="1016000"/>
            <a:ext cx="11165401" cy="276999"/>
          </a:xfrm>
          <a:prstGeom prst="rect">
            <a:avLst/>
          </a:prstGeom>
          <a:noFill/>
        </p:spPr>
        <p:txBody>
          <a:bodyPr wrap="square">
            <a:spAutoFit/>
          </a:bodyPr>
          <a:lstStyle/>
          <a:p>
            <a:pPr rtl="0">
              <a:buNone/>
            </a:pPr>
            <a:r>
              <a:rPr lang="da-DK" sz="1200" noProof="0">
                <a:solidFill>
                  <a:schemeClr val="tx2"/>
                </a:solidFill>
                <a:latin typeface="Inter"/>
              </a:rPr>
              <a:t>V</a:t>
            </a:r>
            <a:r>
              <a:rPr lang="da-DK" sz="1200" b="0" i="0" u="none" strike="noStrike" noProof="0">
                <a:solidFill>
                  <a:schemeClr val="tx2"/>
                </a:solidFill>
                <a:effectLst/>
                <a:latin typeface="Inter"/>
              </a:rPr>
              <a:t>irksomheden har angivet indtægter fra udvalgte sektorer og angivet beløbsstørrelser fra disse aktiviteter.</a:t>
            </a:r>
            <a:endParaRPr lang="da-DK"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518600" y="4748440"/>
            <a:ext cx="11165400" cy="2492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800" b="1" kern="1200" spc="-10" baseline="0">
                <a:solidFill>
                  <a:schemeClr val="tx2"/>
                </a:solidFill>
                <a:latin typeface="+mj-lt"/>
                <a:ea typeface="+mj-ea"/>
                <a:cs typeface="+mj-cs"/>
              </a:defRPr>
            </a:lvl1pPr>
          </a:lstStyle>
          <a:p>
            <a:r>
              <a:rPr lang="da-DK" noProof="0">
                <a:solidFill>
                  <a:srgbClr val="1B4528"/>
                </a:solidFill>
              </a:rPr>
              <a:t>Kønsfordeling i øverste ledelsesorgan (C9)</a:t>
            </a:r>
            <a:endParaRPr lang="da-DK"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507998" y="5614719"/>
          <a:ext cx="11165399" cy="576000"/>
        </p:xfrm>
        <a:graphic>
          <a:graphicData uri="http://schemas.openxmlformats.org/drawingml/2006/table">
            <a:tbl>
              <a:tblPr firstRow="1">
                <a:tableStyleId>{2A488322-F2BA-4B5B-9748-0D474271808F}</a:tableStyleId>
              </a:tblPr>
              <a:tblGrid>
                <a:gridCol w="7704349">
                  <a:extLst>
                    <a:ext uri="{9D8B030D-6E8A-4147-A177-3AD203B41FA5}">
                      <a16:colId xmlns:a16="http://schemas.microsoft.com/office/drawing/2014/main" val="2698153288"/>
                    </a:ext>
                  </a:extLst>
                </a:gridCol>
                <a:gridCol w="3461050">
                  <a:extLst>
                    <a:ext uri="{9D8B030D-6E8A-4147-A177-3AD203B41FA5}">
                      <a16:colId xmlns:a16="http://schemas.microsoft.com/office/drawing/2014/main" val="2119413191"/>
                    </a:ext>
                  </a:extLst>
                </a:gridCol>
              </a:tblGrid>
              <a:tr h="288000">
                <a:tc rowSpan="2">
                  <a:txBody>
                    <a:bodyPr/>
                    <a:lstStyle/>
                    <a:p>
                      <a:r>
                        <a:rPr lang="da-DK" sz="1200" b="1" kern="1200" spc="-10" noProof="0">
                          <a:solidFill>
                            <a:schemeClr val="tx2"/>
                          </a:solidFill>
                          <a:latin typeface="+mj-lt"/>
                          <a:ea typeface="+mn-ea"/>
                          <a:cs typeface="+mn-cs"/>
                        </a:rPr>
                        <a:t>Forholdet mellem kvinder og mænd i det øverste ledelsesorgan (</a:t>
                      </a:r>
                      <a:r>
                        <a:rPr lang="da-DK" sz="1200" b="0" kern="1200" spc="-10" noProof="0">
                          <a:solidFill>
                            <a:schemeClr val="tx2"/>
                          </a:solidFill>
                          <a:latin typeface="+mj-lt"/>
                          <a:ea typeface="+mn-ea"/>
                          <a:cs typeface="+mn-cs"/>
                        </a:rPr>
                        <a:t>pkt. 64</a:t>
                      </a:r>
                      <a:r>
                        <a:rPr lang="da-DK" sz="1200" b="1" kern="1200" spc="-10" noProof="0">
                          <a:solidFill>
                            <a:schemeClr val="tx2"/>
                          </a:solidFill>
                          <a:latin typeface="+mj-lt"/>
                          <a:ea typeface="+mn-ea"/>
                          <a:cs typeface="+mn-cs"/>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200" b="1" noProof="0">
                          <a:solidFill>
                            <a:schemeClr val="tx2"/>
                          </a:solidFill>
                        </a:rPr>
                        <a:t>År </a:t>
                      </a:r>
                      <a:r>
                        <a:rPr lang="da-DK" sz="1200" b="1" i="0" u="none" strike="noStrike" noProof="0">
                          <a:solidFill>
                            <a:srgbClr val="2D55FF"/>
                          </a:solidFill>
                          <a:effectLst/>
                          <a:latin typeface="Inter"/>
                        </a:rPr>
                        <a:t>{{Insert year}}</a:t>
                      </a:r>
                      <a:endParaRPr lang="da-DK" sz="1200" b="1"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8000">
                <a:tc vMerge="1">
                  <a:txBody>
                    <a:bodyPr/>
                    <a:lstStyle/>
                    <a:p>
                      <a:endParaRPr lang="da-DK" sz="900" b="0" noProof="0">
                        <a:solidFill>
                          <a:schemeClr val="tx2"/>
                        </a:solidFill>
                      </a:endParaRP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200" b="0" noProof="0">
                          <a:solidFill>
                            <a:schemeClr val="accent2"/>
                          </a:solidFill>
                        </a:rPr>
                        <a:t>{{</a:t>
                      </a:r>
                      <a:r>
                        <a:rPr lang="da-DK" sz="1200" b="0" i="0" u="none" strike="noStrike" noProof="0">
                          <a:solidFill>
                            <a:schemeClr val="accent2"/>
                          </a:solidFill>
                          <a:latin typeface="IBM Plex Sans"/>
                        </a:rPr>
                        <a:t>gender_supreme_body</a:t>
                      </a:r>
                      <a:r>
                        <a:rPr lang="da-DK" sz="1200" b="0" noProof="0">
                          <a:solidFill>
                            <a:schemeClr val="accent2"/>
                          </a:solidFill>
                        </a:rPr>
                        <a:t>}}</a:t>
                      </a:r>
                    </a:p>
                  </a:txBody>
                  <a:tcPr marL="54000" marR="54000" marT="21600" marB="2160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3049438" y="3248647"/>
            <a:ext cx="6098874" cy="369332"/>
          </a:xfrm>
          <a:prstGeom prst="rect">
            <a:avLst/>
          </a:prstGeom>
          <a:noFill/>
        </p:spPr>
        <p:txBody>
          <a:bodyPr wrap="square">
            <a:spAutoFit/>
          </a:bodyPr>
          <a:lstStyle/>
          <a:p>
            <a:r>
              <a:rPr lang="da-DK" b="0" noProof="0">
                <a:effectLst/>
              </a:rPr>
              <a:t> </a:t>
            </a:r>
            <a:endParaRPr lang="da-DK"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526035" y="5127078"/>
            <a:ext cx="11165401" cy="276999"/>
          </a:xfrm>
          <a:prstGeom prst="rect">
            <a:avLst/>
          </a:prstGeom>
          <a:noFill/>
        </p:spPr>
        <p:txBody>
          <a:bodyPr wrap="square">
            <a:spAutoFit/>
          </a:bodyPr>
          <a:lstStyle/>
          <a:p>
            <a:pPr rtl="0">
              <a:buNone/>
            </a:pPr>
            <a:r>
              <a:rPr lang="da-DK" sz="1200" noProof="0">
                <a:solidFill>
                  <a:schemeClr val="tx2"/>
                </a:solidFill>
                <a:latin typeface="Inter"/>
              </a:rPr>
              <a:t>V</a:t>
            </a:r>
            <a:r>
              <a:rPr lang="da-DK" sz="1200" b="0" i="0" u="none" strike="noStrike" noProof="0">
                <a:solidFill>
                  <a:schemeClr val="tx2"/>
                </a:solidFill>
                <a:effectLst/>
                <a:latin typeface="Inter"/>
              </a:rPr>
              <a:t>irksomheden har angivet forholdet mellem kvinder og mænd i det øverste ledelsesorgan.</a:t>
            </a:r>
          </a:p>
        </p:txBody>
      </p:sp>
    </p:spTree>
    <p:extLst>
      <p:ext uri="{BB962C8B-B14F-4D97-AF65-F5344CB8AC3E}">
        <p14:creationId xmlns:p14="http://schemas.microsoft.com/office/powerpoint/2010/main" val="373981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402137" y="4447433"/>
            <a:ext cx="3449638" cy="1034319"/>
          </a:xfrm>
          <a:noFill/>
        </p:spPr>
        <p:txBody>
          <a:bodyPr>
            <a:normAutofit/>
          </a:bodyPr>
          <a:lstStyle/>
          <a:p>
            <a:pPr algn="ctr"/>
            <a:r>
              <a:rPr lang="da-DK" sz="1800" b="1" noProof="0">
                <a:solidFill>
                  <a:srgbClr val="FFFFFF"/>
                </a:solidFill>
                <a:latin typeface="IBM Plex Sans" panose="020B0503050203000203" pitchFamily="34" charset="0"/>
              </a:rPr>
              <a:t>{{</a:t>
            </a:r>
            <a:r>
              <a:rPr lang="da-DK" sz="1800" b="1" noProof="0" err="1">
                <a:solidFill>
                  <a:srgbClr val="FFFFFF"/>
                </a:solidFill>
                <a:latin typeface="IBM Plex Sans" panose="020B0503050203000203" pitchFamily="34" charset="0"/>
              </a:rPr>
              <a:t>company_name</a:t>
            </a:r>
            <a:r>
              <a:rPr lang="da-DK" sz="1800" b="1" noProof="0">
                <a:solidFill>
                  <a:srgbClr val="FFFFFF"/>
                </a:solidFill>
                <a:latin typeface="IBM Plex Sans" panose="020B0503050203000203" pitchFamily="34" charset="0"/>
              </a:rPr>
              <a:t>}}</a:t>
            </a:r>
          </a:p>
          <a:p>
            <a:pPr algn="ctr"/>
            <a:r>
              <a:rPr lang="da-DK" sz="1800" b="1" noProof="0">
                <a:solidFill>
                  <a:srgbClr val="FFFFFF"/>
                </a:solidFill>
                <a:latin typeface="IBM Plex Sans" panose="020B0503050203000203" pitchFamily="34" charset="0"/>
              </a:rPr>
              <a:t>{{</a:t>
            </a:r>
            <a:r>
              <a:rPr lang="da-DK" sz="1800" b="1" noProof="0" err="1">
                <a:solidFill>
                  <a:srgbClr val="FFFFFF"/>
                </a:solidFill>
                <a:latin typeface="IBM Plex Sans" panose="020B0503050203000203" pitchFamily="34" charset="0"/>
              </a:rPr>
              <a:t>insert_year</a:t>
            </a:r>
            <a:r>
              <a:rPr lang="da-DK" sz="1800" b="1" noProof="0">
                <a:solidFill>
                  <a:srgbClr val="FFFFFF"/>
                </a:solidFill>
                <a:latin typeface="IBM Plex Sans" panose="020B0503050203000203" pitchFamily="34" charset="0"/>
              </a:rPr>
              <a:t>}}</a:t>
            </a:r>
            <a:br>
              <a:rPr lang="da-DK" sz="1800" b="1" noProof="0">
                <a:solidFill>
                  <a:srgbClr val="FFFFFF"/>
                </a:solidFill>
                <a:latin typeface="IBM Plex Sans" panose="020B0503050203000203" pitchFamily="34" charset="0"/>
              </a:rPr>
            </a:br>
            <a:endParaRPr lang="da-DK" sz="1800"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9180000" y="6450239"/>
            <a:ext cx="2743200" cy="153888"/>
          </a:xfrm>
        </p:spPr>
        <p:txBody>
          <a:bodyPr/>
          <a:lstStyle/>
          <a:p>
            <a:fld id="{5A0D23CF-C5A3-5445-819D-C647D180BB4B}" type="slidenum">
              <a:rPr lang="da-DK" noProof="0" smtClean="0"/>
              <a:pPr/>
              <a:t>25</a:t>
            </a:fld>
            <a:endParaRPr lang="da-DK"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