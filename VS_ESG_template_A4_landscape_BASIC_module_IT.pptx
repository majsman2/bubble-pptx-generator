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</p:sldMasterIdLst>
  <p:notesMasterIdLst>
    <p:notesMasterId r:id="rId30"/>
  </p:notesMasterIdLst>
  <p:sldIdLst>
    <p:sldId id="258" r:id="rId5"/>
    <p:sldId id="331" r:id="rId6"/>
    <p:sldId id="355" r:id="rId7"/>
    <p:sldId id="326" r:id="rId8"/>
    <p:sldId id="314" r:id="rId9"/>
    <p:sldId id="327" r:id="rId10"/>
    <p:sldId id="316" r:id="rId11"/>
    <p:sldId id="297" r:id="rId12"/>
    <p:sldId id="300" r:id="rId13"/>
    <p:sldId id="301" r:id="rId14"/>
    <p:sldId id="302" r:id="rId15"/>
    <p:sldId id="307" r:id="rId16"/>
    <p:sldId id="272" r:id="rId29"/>
  </p:sldIdLst>
  <p:sldSz cx="10692000" cy="7560000" type="A4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Forfatter" initials="A" userId="Author" providerId="AD"/>
  <p188:author id="{5A717729-70A1-A95A-729B-0270D7318E5A}" name="Amanda Simonsen" initials="AS" userId="S::amanda.simonsen@cphchangery.dk::11aad7e9-3369-4d2e-bd33-a826dd209a06" providerId="AD"/>
  <p188:author id="{95582667-6102-27E7-ED8E-01A166EB4B6B}" name="Guest User" initials="GU" userId="Guest User" providerId="Windows Live"/>
  <p188:author id="{D710FB69-54CF-AFDB-ADF5-2ED737B81BDA}" name="Nicolai Petersen" initials="NP" userId="6925884bbfe4e3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7477"/>
    <a:srgbClr val="D1DAD4"/>
    <a:srgbClr val="0000FF"/>
    <a:srgbClr val="1B4529"/>
    <a:srgbClr val="FFFF99"/>
    <a:srgbClr val="1B24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83CF3-0F17-4DA7-AC5F-396DF6463070}" v="36" dt="2026-08-04T20:47:23.299"/>
    <p1510:client id="{9CB8CBE5-AFE3-AE0A-C576-FD9E7262F5DA}" v="153" dt="2026-08-05T15:04:12.209"/>
    <p1510:client id="{9F9C41D0-6860-4C95-9D1A-3405FEFCCBF5}" v="56" dt="2026-08-06T18:34:10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12DFE416-DAD6-D749-857D-2E29C861AEBD}" type="datetimeFigureOut">
              <a:rPr lang="it-IT" smtClean="0"/>
              <a:pPr/>
              <a:t xml:space="preserve">06-08-2026</a:t>
            </a:fld>
            <a:endParaRPr lang="it-IT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 xml:space="preserve">Fare clic per modificare gli stili del testo dello schema</a:t>
            </a:r>
          </a:p>
          <a:p>
            <a:pPr lvl="1"/>
            <a:r>
              <a:rPr lang="it-IT"/>
              <a:t xml:space="preserve">Secondo livello</a:t>
            </a:r>
          </a:p>
          <a:p>
            <a:pPr lvl="2"/>
            <a:r>
              <a:rPr lang="it-IT"/>
              <a:t xml:space="preserve">Terzo livello</a:t>
            </a:r>
          </a:p>
          <a:p>
            <a:pPr lvl="3"/>
            <a:r>
              <a:rPr lang="it-IT"/>
              <a:t xml:space="preserve">Quarto livello</a:t>
            </a:r>
          </a:p>
          <a:p>
            <a:pPr lvl="4"/>
            <a:r>
              <a:rPr lang="it-IT"/>
              <a:t xml:space="preserve">Quinto livello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45BFCFCE-5A78-CB4C-8592-F27D9484E3BD}" type="slidenum">
              <a:rPr lang="it-IT" smtClean="0"/>
              <a:pPr/>
              <a:t xml:space="preserve"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023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952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103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960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5997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 xml:space="preserve">Rimosso: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{{documents_B2}}</a:t>
            </a:r>
          </a:p>
          <a:p>
            <a:r>
              <a:rPr lang="en-GB" sz="1200" b="0" i="0" u="none" strike="noStrike" kern="1200" err="1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Aggiunto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: </a:t>
            </a:r>
            <a:r>
              <a:rPr lang="en-GB" sz="1200" b="0" i="0" u="none" strike="noStrike" kern="1200" err="1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colonna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 sul </a:t>
            </a:r>
            <a:r>
              <a:rPr lang="en-GB" sz="1200" b="0" i="0" u="none" strike="noStrike" kern="1200" err="1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monitoraggio</a:t>
            </a:r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0092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{{Insert_CO2e_intensity}}</a:t>
            </a:r>
            <a:endParaRPr lang="en-GB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348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{{uploaded_documents_B4}}</a:t>
            </a:r>
            <a:endParaRPr lang="en-GB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428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{{</a:t>
            </a:r>
            <a:r>
              <a:rPr lang="en-GB" sz="1200" b="0" i="0" u="none" strike="noStrike" kern="1200" err="1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waterstress_withdrawal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}}</a:t>
            </a:r>
            <a:endParaRPr lang="en-GB" b="0">
              <a:effectLst/>
            </a:endParaRPr>
          </a:p>
          <a:p>
            <a:br>
              <a:rPr lang="en-GB"/>
            </a:br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205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3809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{{</a:t>
            </a:r>
            <a:r>
              <a:rPr lang="en-GB" sz="1200" b="0" i="0" u="none" strike="noStrike" kern="1200" err="1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omsatningsrate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}}</a:t>
            </a:r>
            <a:endParaRPr lang="en-GB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382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0" hangingPunct="1"/>
            <a:r>
              <a:rPr lang="it-IT" b="0">
                <a:effectLst/>
              </a:rPr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{{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men_gennemsnitstimer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}}</a:t>
            </a:r>
            <a:endParaRPr lang="en-GB" sz="1200" b="0" i="0" u="none" strike="noStrike" kern="1200">
              <a:solidFill>
                <a:schemeClr val="tx1"/>
              </a:solidFill>
              <a:effectLst/>
              <a:latin typeface="IBM Plex Sans" panose="020B0503050203000203" pitchFamily="34" charset="0"/>
              <a:ea typeface="+mn-ea"/>
              <a:cs typeface="+mn-cs"/>
            </a:endParaRPr>
          </a:p>
          <a:p>
            <a:pPr rtl="0" eaLnBrk="1" fontAlgn="ctr" latinLnBrk="0" hangingPunct="1"/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{{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women_gennemsnitstimer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}}</a:t>
            </a:r>
            <a:endParaRPr lang="en-GB" sz="1200" b="0" i="0" u="none" strike="noStrike" kern="1200">
              <a:solidFill>
                <a:schemeClr val="tx1"/>
              </a:solidFill>
              <a:effectLst/>
              <a:latin typeface="IBM Plex Sans" panose="020B0503050203000203" pitchFamily="34" charset="0"/>
              <a:ea typeface="+mn-ea"/>
              <a:cs typeface="+mn-cs"/>
            </a:endParaRPr>
          </a:p>
          <a:p>
            <a:pPr rtl="0" eaLnBrk="1" fontAlgn="ctr" latinLnBrk="0" hangingPunct="1"/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{{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other_gennemsnitstimer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}}</a:t>
            </a:r>
            <a:endParaRPr lang="en-GB" sz="1200" b="0" i="0" u="none" strike="noStrike" kern="1200">
              <a:solidFill>
                <a:schemeClr val="tx1"/>
              </a:solidFill>
              <a:effectLst/>
              <a:latin typeface="IBM Plex Sans" panose="020B0503050203000203" pitchFamily="34" charset="0"/>
              <a:ea typeface="+mn-ea"/>
              <a:cs typeface="+mn-cs"/>
            </a:endParaRPr>
          </a:p>
          <a:p>
            <a:endParaRPr lang="en-GB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9874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 xml:space="preserve"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25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E31B1D-D5FA-1144-A6D9-FDFA19DD3A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500" y="890814"/>
            <a:ext cx="3080911" cy="46727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it-IT" noProof="0" err="1"/>
              <a:t xml:space="preserve">Click</a:t>
            </a:r>
            <a:r>
              <a:rPr lang="it-IT" noProof="0"/>
              <a:t xml:space="preserve"> to </a:t>
            </a:r>
            <a:r>
              <a:rPr lang="it-IT" noProof="0" err="1"/>
              <a:t xml:space="preserve">edit</a:t>
            </a:r>
            <a:r>
              <a:rPr lang="it-IT" noProof="0"/>
              <a:t xml:space="preserve"> Master </a:t>
            </a:r>
            <a:r>
              <a:rPr lang="it-IT" noProof="0" err="1"/>
              <a:t xml:space="preserve">text</a:t>
            </a:r>
            <a:r>
              <a:rPr lang="it-IT" noProof="0"/>
              <a:t xml:space="preserve">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1EF6F5B-4C89-A089-DA32-6A1686CD0B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4849" y="890815"/>
            <a:ext cx="3080910" cy="46727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it-IT" noProof="0" err="1"/>
              <a:t xml:space="preserve">Click</a:t>
            </a:r>
            <a:r>
              <a:rPr lang="it-IT" noProof="0"/>
              <a:t xml:space="preserve"> to </a:t>
            </a:r>
            <a:r>
              <a:rPr lang="it-IT" noProof="0" err="1"/>
              <a:t xml:space="preserve">edit</a:t>
            </a:r>
            <a:r>
              <a:rPr lang="it-IT" noProof="0"/>
              <a:t xml:space="preserve"> Master </a:t>
            </a:r>
            <a:r>
              <a:rPr lang="it-IT" noProof="0" err="1"/>
              <a:t xml:space="preserve">text</a:t>
            </a:r>
            <a:r>
              <a:rPr lang="it-IT" noProof="0"/>
              <a:t xml:space="preserve">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9F0AB-3484-3BD8-5F17-C0910484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 xml:space="preserve"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05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baggr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G wordmark"/>
          <p:cNvSpPr txBox="1"/>
          <p:nvPr/>
        </p:nvSpPr>
        <p:spPr>
          <a:xfrm>
            <a:off x="365760" y="1043948"/>
            <a:ext cx="9960480" cy="350879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GB" sz="20400" b="1" spc="-510" dirty="0">
                <a:solidFill>
                  <a:srgbClr val="FFFFFF"/>
                </a:solidFill>
                <a:latin typeface="+mn-lt"/>
              </a:rPr>
              <a:t>ESG</a:t>
            </a:r>
            <a:endParaRPr lang="en-GB" sz="20400" b="1" spc="-51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E44590-AE8B-6098-6E3A-22BBF073CF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72658" y="4359745"/>
            <a:ext cx="4539794" cy="246616"/>
          </a:xfrm>
        </p:spPr>
        <p:txBody>
          <a:bodyPr/>
          <a:lstStyle>
            <a:lvl1pPr algn="ctr">
              <a:defRPr sz="1225">
                <a:solidFill>
                  <a:schemeClr val="bg1"/>
                </a:solidFill>
              </a:defRPr>
            </a:lvl1pPr>
          </a:lstStyle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3676786-DF78-2A13-71BF-8354606B0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6688" y="4051289"/>
            <a:ext cx="8798625" cy="160254"/>
          </a:xfrm>
        </p:spPr>
        <p:txBody>
          <a:bodyPr/>
          <a:lstStyle>
            <a:lvl1pPr algn="ctr">
              <a:defRPr sz="950" spc="300">
                <a:solidFill>
                  <a:schemeClr val="bg1"/>
                </a:solidFill>
              </a:defRPr>
            </a:lvl1pPr>
          </a:lstStyle>
          <a:p>
            <a:r>
              <a:rPr lang="it-IT"/>
              <a:t xml:space="preserve">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229089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G opgørel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58A1A1-81A1-00B9-5F3F-17B9B899E5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4795" y="864270"/>
            <a:ext cx="3997234" cy="4704480"/>
          </a:xfrm>
        </p:spPr>
        <p:txBody>
          <a:bodyPr/>
          <a:lstStyle>
            <a:lvl1pPr marL="0" indent="0">
              <a:lnSpc>
                <a:spcPct val="129000"/>
              </a:lnSpc>
              <a:spcAft>
                <a:spcPts val="0"/>
              </a:spcAft>
              <a:buNone/>
              <a:tabLst>
                <a:tab pos="252567" algn="l"/>
                <a:tab pos="410421" algn="l"/>
                <a:tab pos="3599079" algn="r"/>
              </a:tabLst>
              <a:defRPr sz="775">
                <a:solidFill>
                  <a:schemeClr val="tx2"/>
                </a:solidFill>
              </a:defRPr>
            </a:lvl1pPr>
          </a:lstStyle>
          <a:p>
            <a:pPr lvl="0"/>
            <a:r>
              <a:rPr lang="it-IT" noProof="0" err="1"/>
              <a:t xml:space="preserve">Click</a:t>
            </a:r>
            <a:r>
              <a:rPr lang="it-IT" noProof="0"/>
              <a:t xml:space="preserve"> to </a:t>
            </a:r>
            <a:r>
              <a:rPr lang="it-IT" noProof="0" err="1"/>
              <a:t xml:space="preserve">edit</a:t>
            </a:r>
            <a:r>
              <a:rPr lang="it-IT" noProof="0"/>
              <a:t xml:space="preserve"> Master </a:t>
            </a:r>
            <a:r>
              <a:rPr lang="it-IT" noProof="0" err="1"/>
              <a:t xml:space="preserve">text</a:t>
            </a:r>
            <a:r>
              <a:rPr lang="it-IT" noProof="0"/>
              <a:t xml:space="preserve"> styles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DD3249A-9EA8-2D06-EED5-368B4A0246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75750" y="859072"/>
            <a:ext cx="3997234" cy="4704479"/>
          </a:xfrm>
        </p:spPr>
        <p:txBody>
          <a:bodyPr/>
          <a:lstStyle>
            <a:lvl1pPr marL="0" indent="0">
              <a:lnSpc>
                <a:spcPct val="129000"/>
              </a:lnSpc>
              <a:spcAft>
                <a:spcPts val="0"/>
              </a:spcAft>
              <a:buNone/>
              <a:tabLst>
                <a:tab pos="252567" algn="l"/>
                <a:tab pos="410421" algn="l"/>
                <a:tab pos="3599079" algn="r"/>
              </a:tabLst>
              <a:defRPr sz="775">
                <a:solidFill>
                  <a:schemeClr val="tx2"/>
                </a:solidFill>
              </a:defRPr>
            </a:lvl1pPr>
          </a:lstStyle>
          <a:p>
            <a:pPr lvl="0"/>
            <a:r>
              <a:rPr lang="it-IT" noProof="0" err="1"/>
              <a:t xml:space="preserve">Click</a:t>
            </a:r>
            <a:r>
              <a:rPr lang="it-IT" noProof="0"/>
              <a:t xml:space="preserve"> to </a:t>
            </a:r>
            <a:r>
              <a:rPr lang="it-IT" noProof="0" err="1"/>
              <a:t xml:space="preserve">edit</a:t>
            </a:r>
            <a:r>
              <a:rPr lang="it-IT" noProof="0"/>
              <a:t xml:space="preserve"> Master </a:t>
            </a:r>
            <a:r>
              <a:rPr lang="it-IT" noProof="0" err="1"/>
              <a:t xml:space="preserve">text</a:t>
            </a:r>
            <a:r>
              <a:rPr lang="it-IT" noProof="0"/>
              <a:t xml:space="preserve">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BA12-0C2B-874F-CB3D-A69B54828ED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8E22E3-1CE9-39F0-37B9-6694C2F99A8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A0D23CF-C5A3-5445-819D-C647D180BB4B}" type="slidenum">
              <a:rPr lang="it-IT" smtClean="0"/>
              <a:pPr/>
              <a:t xml:space="preserve">‹#›</a:t>
            </a:fld>
            <a:endParaRPr lang="it-IT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C510F1-C32E-301D-A9BE-CDD982DB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 xml:space="preserve"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208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B499-BDA0-E170-C4FB-7C73F109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err="1"/>
              <a:t xml:space="preserve">Click</a:t>
            </a:r>
            <a:r>
              <a:rPr lang="it-IT" noProof="0"/>
              <a:t xml:space="preserve"> to </a:t>
            </a:r>
            <a:r>
              <a:rPr lang="it-IT" noProof="0" err="1"/>
              <a:t xml:space="preserve">edit</a:t>
            </a:r>
            <a:r>
              <a:rPr lang="it-IT" noProof="0"/>
              <a:t xml:space="preserve"> Master </a:t>
            </a:r>
            <a:r>
              <a:rPr lang="it-IT" noProof="0" err="1"/>
              <a:t xml:space="preserve">title</a:t>
            </a:r>
            <a:r>
              <a:rPr lang="it-IT" noProof="0"/>
              <a:t xml:space="preserve">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23CC7-2A44-6728-81B8-5D1C36C8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8E23B-9CAA-A290-D3B6-2404D06E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 xml:space="preserve">CLICCARE PER INSERIRE IL NOME DELL’IMPRESA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6B95B-509A-04EA-4971-5BB7A30A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 xml:space="preserve"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3285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sslide">
    <p:bg>
      <p:bgPr>
        <a:solidFill>
          <a:srgbClr val="1B4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F3099D-2911-2DC2-30C9-600914A49C9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688" y="1392188"/>
            <a:ext cx="8798625" cy="1280812"/>
          </a:xfrm>
          <a:solidFill>
            <a:srgbClr val="1B4529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75"/>
              </a:spcBef>
              <a:buFontTx/>
              <a:buNone/>
              <a:defRPr sz="950">
                <a:solidFill>
                  <a:schemeClr val="bg1"/>
                </a:solidFill>
              </a:defRPr>
            </a:lvl1pPr>
            <a:lvl2pPr marL="157854" indent="0">
              <a:buFontTx/>
              <a:buNone/>
              <a:defRPr sz="950">
                <a:solidFill>
                  <a:schemeClr val="bg1"/>
                </a:solidFill>
              </a:defRPr>
            </a:lvl2pPr>
            <a:lvl3pPr marL="441992" indent="-142069">
              <a:defRPr sz="950">
                <a:solidFill>
                  <a:schemeClr val="bg1"/>
                </a:solidFill>
              </a:defRPr>
            </a:lvl3pPr>
            <a:lvl4pPr marL="615632" indent="-142069">
              <a:defRPr sz="950">
                <a:solidFill>
                  <a:schemeClr val="bg1"/>
                </a:solidFill>
              </a:defRPr>
            </a:lvl4pPr>
            <a:lvl5pPr marL="757701" indent="-142069">
              <a:defRPr sz="95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noProof="0"/>
              <a:t xml:space="preserve">Inserire le informazioni sull’impresa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F97A03-6A5A-CE52-A825-96466017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 err="1"/>
              <a:t xml:space="preserve">Click</a:t>
            </a:r>
            <a:r>
              <a:rPr lang="it-IT" noProof="0"/>
              <a:t xml:space="preserve"> to </a:t>
            </a:r>
            <a:r>
              <a:rPr lang="it-IT" noProof="0" err="1"/>
              <a:t xml:space="preserve">edit</a:t>
            </a:r>
            <a:r>
              <a:rPr lang="it-IT" noProof="0"/>
              <a:t xml:space="preserve"> Master </a:t>
            </a:r>
            <a:r>
              <a:rPr lang="it-IT" noProof="0" err="1"/>
              <a:t xml:space="preserve">title</a:t>
            </a:r>
            <a:r>
              <a:rPr lang="it-IT" noProof="0"/>
              <a:t xml:space="preserve">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0ED9E13-9DB5-7219-D300-DD32B15B25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/>
              <a:t xml:space="preserve">CLICCARE PER INSERIRE IL NOME DELL’IMPRESA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5AA5A7D-770A-67C5-6EFF-8AD1F28FC2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fld id="{5A0D23CF-C5A3-5445-819D-C647D180BB4B}" type="slidenum">
              <a:rPr lang="it-IT" noProof="0" smtClean="0"/>
              <a:pPr/>
              <a:t xml:space="preserve"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483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B61CC4E-F6A2-4C3F-CE7B-BB195B24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795" y="890999"/>
            <a:ext cx="9791703" cy="46725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 noProof="0"/>
              <a:t xml:space="preserve">Fare clic per modificare gli stili del testo dello schema</a:t>
            </a:r>
          </a:p>
          <a:p>
            <a:pPr lvl="1"/>
            <a:r>
              <a:rPr lang="it-IT" noProof="0"/>
              <a:t xml:space="preserve">Secondo livello</a:t>
            </a:r>
          </a:p>
          <a:p>
            <a:pPr lvl="2"/>
            <a:r>
              <a:rPr lang="it-IT" noProof="0"/>
              <a:t xml:space="preserve">Terzo livello</a:t>
            </a:r>
          </a:p>
          <a:p>
            <a:pPr lvl="3"/>
            <a:r>
              <a:rPr lang="it-IT" noProof="0"/>
              <a:t xml:space="preserve">Quarto livello</a:t>
            </a:r>
          </a:p>
          <a:p>
            <a:pPr lvl="4"/>
            <a:r>
              <a:rPr lang="it-IT" noProof="0"/>
              <a:t xml:space="preserve">Quinto livello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550164C-751B-845B-9F9B-5F2B4F1FB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5729" y="7202406"/>
            <a:ext cx="2405700" cy="1349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75">
                <a:solidFill>
                  <a:srgbClr val="5F7D69"/>
                </a:solidFill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AB68935-0A2D-A618-8989-FB93D3127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75" b="1">
                <a:solidFill>
                  <a:srgbClr val="5F7D69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7E57B8E-CD4B-57B4-607F-20E2BE60D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75">
                <a:solidFill>
                  <a:schemeClr val="tx2">
                    <a:alpha val="70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5A0D23CF-C5A3-5445-819D-C647D180BB4B}" type="slidenum">
              <a:rPr lang="it-IT" smtClean="0"/>
              <a:pPr/>
              <a:t xml:space="preserve">‹#›</a:t>
            </a:fld>
            <a:endParaRPr lang="it-IT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788DFCC-4D37-4C1B-5213-E1D68A37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it-IT" noProof="0"/>
              <a:t xml:space="preserve"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53531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94" r:id="rId3"/>
    <p:sldLayoutId id="2147483696" r:id="rId4"/>
    <p:sldLayoutId id="2147483690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575" b="1" kern="1200" spc="-1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63142" indent="-63142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75" b="0" kern="1200" spc="-10" baseline="0">
          <a:solidFill>
            <a:schemeClr val="tx2"/>
          </a:solidFill>
          <a:latin typeface="+mn-lt"/>
          <a:ea typeface="+mn-ea"/>
          <a:cs typeface="+mn-cs"/>
        </a:defRPr>
      </a:lvl1pPr>
      <a:lvl2pPr marL="126283" indent="-63142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75" kern="1200" spc="-10" baseline="0">
          <a:solidFill>
            <a:schemeClr val="tx2"/>
          </a:solidFill>
          <a:latin typeface="+mn-lt"/>
          <a:ea typeface="+mn-ea"/>
          <a:cs typeface="+mn-cs"/>
        </a:defRPr>
      </a:lvl2pPr>
      <a:lvl3pPr marL="189425" indent="-63142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75" kern="1200" spc="-10" baseline="0">
          <a:solidFill>
            <a:schemeClr val="tx2"/>
          </a:solidFill>
          <a:latin typeface="+mn-lt"/>
          <a:ea typeface="+mn-ea"/>
          <a:cs typeface="+mn-cs"/>
        </a:defRPr>
      </a:lvl3pPr>
      <a:lvl4pPr marL="252567" indent="-63142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75" kern="1200" spc="-10" baseline="0">
          <a:solidFill>
            <a:schemeClr val="tx2"/>
          </a:solidFill>
          <a:latin typeface="+mn-lt"/>
          <a:ea typeface="+mn-ea"/>
          <a:cs typeface="+mn-cs"/>
        </a:defRPr>
      </a:lvl4pPr>
      <a:lvl5pPr marL="315709" indent="-63142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75" kern="1200" spc="-10" baseline="0">
          <a:solidFill>
            <a:schemeClr val="tx2"/>
          </a:solidFill>
          <a:latin typeface="+mn-lt"/>
          <a:ea typeface="+mn-ea"/>
          <a:cs typeface="+mn-cs"/>
        </a:defRPr>
      </a:lvl5pPr>
      <a:lvl6pPr marL="2205225" indent="-200475" algn="l" defTabSz="9144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6175" indent="-200475" algn="l" defTabSz="9144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7125" indent="-200475" algn="l" defTabSz="9144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8075" indent="-200475" algn="l" defTabSz="91440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95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190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285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380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475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570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665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7600" algn="l" defTabSz="9144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20" userDrawn="1">
          <p15:clr>
            <a:srgbClr val="F26B43"/>
          </p15:clr>
        </p15:guide>
        <p15:guide id="4" pos="2533" userDrawn="1">
          <p15:clr>
            <a:srgbClr val="F26B43"/>
          </p15:clr>
        </p15:guide>
        <p15:guide id="5" pos="2733" userDrawn="1">
          <p15:clr>
            <a:srgbClr val="F26B43"/>
          </p15:clr>
        </p15:guide>
        <p15:guide id="6" pos="4946" userDrawn="1">
          <p15:clr>
            <a:srgbClr val="F26B43"/>
          </p15:clr>
        </p15:guide>
        <p15:guide id="7" pos="5146" userDrawn="1">
          <p15:clr>
            <a:srgbClr val="F26B43"/>
          </p15:clr>
        </p15:guide>
        <p15:guide id="8" pos="7360" userDrawn="1">
          <p15:clr>
            <a:srgbClr val="F26B43"/>
          </p15:clr>
        </p15:guide>
        <p15:guide id="9" orient="horz" userDrawn="1">
          <p15:clr>
            <a:srgbClr val="F26B43"/>
          </p15:clr>
        </p15:guide>
        <p15:guide id="10" orient="horz" pos="4320" userDrawn="1">
          <p15:clr>
            <a:srgbClr val="F26B43"/>
          </p15:clr>
        </p15:guide>
        <p15:guide id="11" orient="horz" pos="320" userDrawn="1">
          <p15:clr>
            <a:srgbClr val="F26B43"/>
          </p15:clr>
        </p15:guide>
        <p15:guide id="12" orient="horz" pos="4000" userDrawn="1">
          <p15:clr>
            <a:srgbClr val="F26B43"/>
          </p15:clr>
        </p15:guide>
        <p15:guide id="13" orient="horz" pos="6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2A8525A-459C-C975-663E-23EF33D3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688" y="4051289"/>
            <a:ext cx="8798625" cy="133605"/>
          </a:xfrm>
        </p:spPr>
        <p:txBody>
          <a:bodyPr/>
          <a:lstStyle/>
          <a:p>
            <a:r>
              <a:rPr lang="it-IT" noProof="0"/>
              <a:t xml:space="preserve">RELAZIONE ESG {{insert_year}}</a:t>
            </a:r>
            <a:r>
              <a:rPr lang="it-IT" noProof="0"/>
              <a:t xml:space="preserve"/>
            </a:r>
            <a:r>
              <a:rPr lang="it-IT" noProof="0"/>
              <a:t xml:space="preserve"/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E8629-539E-87AE-7B49-CC26832ADC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72658" y="4359745"/>
            <a:ext cx="4539794" cy="246616"/>
          </a:xfrm>
        </p:spPr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</p:txBody>
      </p:sp>
    </p:spTree>
    <p:extLst>
      <p:ext uri="{BB962C8B-B14F-4D97-AF65-F5344CB8AC3E}">
        <p14:creationId xmlns:p14="http://schemas.microsoft.com/office/powerpoint/2010/main" val="242855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FDDEE7-C270-1824-E7E0-80B15F3F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6" y="450698"/>
            <a:ext cx="9791704" cy="437255"/>
          </a:xfrm>
        </p:spPr>
        <p:txBody>
          <a:bodyPr/>
          <a:lstStyle/>
          <a:p>
            <a:r>
              <a:rPr lang="it-IT" noProof="0"/>
              <a:t xml:space="preserve">Relazione ESG</a:t>
            </a:r>
            <a:r>
              <a:rPr lang="it-IT" b="0" noProof="0">
                <a:solidFill>
                  <a:srgbClr val="1B4528"/>
                </a:solidFill>
                <a:ea typeface="+mn-ea"/>
                <a:cs typeface="+mn-cs"/>
              </a:rPr>
              <a:t> </a:t>
            </a:r>
            <a:br>
              <a:rPr lang="it-IT" b="0" noProof="0">
                <a:solidFill>
                  <a:srgbClr val="1B4528"/>
                </a:solidFill>
                <a:ea typeface="+mn-ea"/>
                <a:cs typeface="+mn-cs"/>
              </a:rPr>
            </a:br>
            <a:endParaRPr lang="it-IT" b="0" noProof="0">
              <a:solidFill>
                <a:srgbClr val="1B4528"/>
              </a:solidFill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4D83B42-66BB-638E-55C1-84FD1F7A83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4793" y="864270"/>
            <a:ext cx="6880233" cy="4704480"/>
          </a:xfrm>
        </p:spPr>
        <p:txBody>
          <a:bodyPr/>
          <a:lstStyle/>
          <a:p>
            <a:pPr>
              <a:lnSpc>
                <a:spcPct val="150000"/>
              </a:lnSpc>
              <a:tabLst>
                <a:tab pos="251986" algn="l"/>
                <a:tab pos="409303" algn="l"/>
                <a:tab pos="3932930" algn="r"/>
              </a:tabLst>
            </a:pPr>
            <a:endParaRPr lang="it-IT" sz="1050" b="1" noProof="0">
              <a:latin typeface="+mj-lt"/>
            </a:endParaRPr>
          </a:p>
          <a:p>
            <a:pPr>
              <a:lnSpc>
                <a:spcPct val="150000"/>
              </a:lnSpc>
              <a:tabLst>
                <a:tab pos="251986" algn="l"/>
                <a:tab pos="409303" algn="l"/>
                <a:tab pos="3932930" algn="r"/>
              </a:tabLst>
            </a:pPr>
            <a:endParaRPr lang="it-IT" sz="1050" b="1" noProof="0"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Informazioni generali				</a:t>
            </a:r>
            <a:endParaRPr lang="it-IT" sz="1050" noProof="0">
              <a:solidFill>
                <a:srgbClr val="1B4528"/>
              </a:solidFill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kern="1200" spc="-1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 xml:space="preserve">Pratiche, politiche e iniziative per un’economia più sostenibile	</a:t>
            </a:r>
            <a:endParaRPr lang="it-IT" sz="1050" b="1" noProof="0"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Consumo di energia				</a:t>
            </a:r>
            <a:endParaRPr lang="it-IT" sz="1050" noProof="0"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Emissioni di CO₂e 				</a:t>
            </a:r>
            <a:r>
              <a:rPr lang="it-IT" sz="1050" b="1" noProof="0">
                <a:latin typeface="+mj-lt"/>
              </a:rPr>
              <a:t xml:space="preserve"/>
            </a:r>
            <a:endParaRPr lang="it-IT" sz="1050" noProof="0"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Inquinamento di aria, acqua e suolo</a:t>
            </a:r>
            <a:r>
              <a:rPr lang="it-IT" sz="1050" noProof="0">
                <a:latin typeface="+mj-lt"/>
              </a:rPr>
              <a:t>				</a:t>
            </a: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Biodiversità</a:t>
            </a:r>
            <a:r>
              <a:rPr lang="it-IT" sz="1050" noProof="0">
                <a:latin typeface="+mj-lt"/>
              </a:rPr>
              <a:t>				</a:t>
            </a: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Acque	</a:t>
            </a:r>
            <a:r>
              <a:rPr lang="it-IT" sz="1050" noProof="0">
                <a:latin typeface="+mj-lt"/>
              </a:rPr>
              <a:t> 			</a:t>
            </a: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Uso delle risorse, economia circolare e gestione dei rifiuti</a:t>
            </a:r>
            <a:r>
              <a:rPr lang="it-IT" sz="1050" noProof="0">
                <a:latin typeface="+mj-lt"/>
              </a:rPr>
              <a:t>				</a:t>
            </a:r>
            <a:endParaRPr lang="it-IT" sz="1050" noProof="0">
              <a:solidFill>
                <a:srgbClr val="1B4528"/>
              </a:solidFill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Forza lavoro propria: caratteristiche generali</a:t>
            </a:r>
            <a:r>
              <a:rPr lang="it-IT" sz="1050" noProof="0">
                <a:latin typeface="+mj-lt"/>
              </a:rPr>
              <a:t>				</a:t>
            </a:r>
            <a:endParaRPr lang="it-IT" sz="1050" noProof="0">
              <a:solidFill>
                <a:srgbClr val="1B4528"/>
              </a:solidFill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Forza lavoro propria: salute e sicurezza</a:t>
            </a:r>
            <a:r>
              <a:rPr lang="it-IT" sz="1050" noProof="0">
                <a:latin typeface="+mj-lt"/>
              </a:rPr>
              <a:t>				</a:t>
            </a:r>
            <a:endParaRPr lang="it-IT" sz="1050" noProof="0">
              <a:solidFill>
                <a:srgbClr val="1B4528"/>
              </a:solidFill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Forza lavoro: retribuzione, contrattazione collettiva e formazione</a:t>
            </a:r>
            <a:r>
              <a:rPr lang="it-IT" sz="1050" noProof="0">
                <a:latin typeface="+mj-lt"/>
              </a:rPr>
              <a:t>		</a:t>
            </a:r>
            <a:endParaRPr lang="it-IT" sz="1050" noProof="0">
              <a:solidFill>
                <a:srgbClr val="1B4528"/>
              </a:solidFill>
              <a:latin typeface="+mj-lt"/>
            </a:endParaRPr>
          </a:p>
          <a:p>
            <a:pPr marL="200475" indent="-233624">
              <a:lnSpc>
                <a:spcPct val="150000"/>
              </a:lnSpc>
              <a:buFont typeface="+mj-lt"/>
              <a:buAutoNum type="arabicPeriod"/>
              <a:tabLst>
                <a:tab pos="251986" algn="l"/>
                <a:tab pos="409303" algn="l"/>
                <a:tab pos="3932930" algn="r"/>
              </a:tabLst>
            </a:pPr>
            <a:r>
              <a:rPr lang="it-IT" sz="1050" b="1" noProof="0">
                <a:latin typeface="+mj-lt"/>
              </a:rPr>
              <a:t xml:space="preserve">Condotta delle imprese</a:t>
            </a:r>
            <a:r>
              <a:rPr lang="it-IT" sz="1050" noProof="0">
                <a:latin typeface="+mj-lt"/>
              </a:rPr>
              <a:t>	 			</a:t>
            </a:r>
            <a:endParaRPr lang="it-IT" sz="1050" noProof="0">
              <a:solidFill>
                <a:srgbClr val="1B4528"/>
              </a:solidFill>
              <a:latin typeface="+mj-lt"/>
            </a:endParaRPr>
          </a:p>
          <a:p>
            <a:pPr>
              <a:tabLst>
                <a:tab pos="251986" algn="l"/>
                <a:tab pos="409303" algn="l"/>
                <a:tab pos="3932930" algn="r"/>
              </a:tabLst>
            </a:pPr>
            <a:endParaRPr lang="it-IT" sz="1050" noProof="0">
              <a:latin typeface="+mj-lt"/>
            </a:endParaRPr>
          </a:p>
          <a:p>
            <a:pPr>
              <a:tabLst>
                <a:tab pos="251986" algn="l"/>
                <a:tab pos="409303" algn="l"/>
                <a:tab pos="3932930" algn="r"/>
              </a:tabLst>
            </a:pPr>
            <a:endParaRPr lang="it-IT" sz="1050" noProof="0">
              <a:latin typeface="+mj-lt"/>
            </a:endParaRPr>
          </a:p>
          <a:p>
            <a:pPr>
              <a:tabLst>
                <a:tab pos="251986" algn="l"/>
                <a:tab pos="409303" algn="l"/>
                <a:tab pos="3932930" algn="r"/>
              </a:tabLst>
            </a:pPr>
            <a:endParaRPr lang="it-IT" noProof="0">
              <a:latin typeface="+mj-lt"/>
            </a:endParaRPr>
          </a:p>
          <a:p>
            <a:pPr>
              <a:tabLst>
                <a:tab pos="251986" algn="l"/>
                <a:tab pos="409303" algn="l"/>
                <a:tab pos="3932930" algn="r"/>
              </a:tabLst>
            </a:pPr>
            <a:endParaRPr lang="it-IT" noProof="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AAC2A-0E1A-03B9-5DD7-E396252E7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261741" y="197293"/>
            <a:ext cx="3194529" cy="134955"/>
          </a:xfrm>
        </p:spPr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F64D3B-AE78-BA15-5D3D-CEE341066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8050571" y="7202406"/>
            <a:ext cx="2405700" cy="13495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2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2057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6" y="450698"/>
            <a:ext cx="9791704" cy="218627"/>
          </a:xfrm>
        </p:spPr>
        <p:txBody>
          <a:bodyPr/>
          <a:lstStyle/>
          <a:p>
            <a:r>
              <a:rPr lang="it-IT" noProof="0"/>
              <a:t xml:space="preserve">Criteri per la redazione (B1)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ACC1DA0-DFDE-C844-7562-0528953EC068}"/>
              </a:ext>
            </a:extLst>
          </p:cNvPr>
          <p:cNvSpPr txBox="1">
            <a:spLocks/>
          </p:cNvSpPr>
          <p:nvPr/>
        </p:nvSpPr>
        <p:spPr>
          <a:xfrm>
            <a:off x="445500" y="2600430"/>
            <a:ext cx="3080911" cy="150659"/>
          </a:xfrm>
          <a:prstGeom prst="rect">
            <a:avLst/>
          </a:prstGeom>
        </p:spPr>
        <p:txBody>
          <a:bodyPr lIns="0" tIns="0" rIns="0" bIns="0"/>
          <a:lstStyle>
            <a:lvl1pPr marL="63142" indent="-63142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75" b="0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26283" indent="-63142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7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9425" indent="-63142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7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52567" indent="-63142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7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15709" indent="-63142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7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05225" indent="-200475" algn="l" defTabSz="914400" rtl="0" eaLnBrk="1" latinLnBrk="0" hangingPunct="1">
              <a:lnSpc>
                <a:spcPct val="90000"/>
              </a:lnSpc>
              <a:spcBef>
                <a:spcPts val="438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6175" indent="-200475" algn="l" defTabSz="914400" rtl="0" eaLnBrk="1" latinLnBrk="0" hangingPunct="1">
              <a:lnSpc>
                <a:spcPct val="90000"/>
              </a:lnSpc>
              <a:spcBef>
                <a:spcPts val="438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7125" indent="-200475" algn="l" defTabSz="914400" rtl="0" eaLnBrk="1" latinLnBrk="0" hangingPunct="1">
              <a:lnSpc>
                <a:spcPct val="90000"/>
              </a:lnSpc>
              <a:spcBef>
                <a:spcPts val="438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8075" indent="-200475" algn="l" defTabSz="914400" rtl="0" eaLnBrk="1" latinLnBrk="0" hangingPunct="1">
              <a:lnSpc>
                <a:spcPct val="90000"/>
              </a:lnSpc>
              <a:spcBef>
                <a:spcPts val="438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noProof="0">
              <a:solidFill>
                <a:srgbClr val="1B4528"/>
              </a:solidFill>
            </a:endParaRPr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693470FC-B633-430A-0791-18B9C81D0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333342"/>
              </p:ext>
            </p:extLst>
          </p:nvPr>
        </p:nvGraphicFramePr>
        <p:xfrm>
          <a:off x="454795" y="4468749"/>
          <a:ext cx="6449555" cy="107880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982453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3467102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374838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Elenco delle filiazioni incluse nella presente relazione ESG 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27d)</a:t>
                      </a:r>
                      <a:endParaRPr lang="it-IT" sz="1050" b="0" i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65697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Denominazione della filiazione 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Sede legale della filiazione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338272"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{{subsidiary}}</a:t>
                      </a:r>
                      <a:endParaRPr lang="it-IT" sz="105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{{subsidiary_address}}</a:t>
                      </a:r>
                      <a:endParaRPr lang="it-IT" sz="105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50571" y="7202406"/>
            <a:ext cx="2405700" cy="13495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3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61741" y="197293"/>
            <a:ext cx="3194529" cy="134955"/>
          </a:xfrm>
        </p:spPr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AA61E98C-E974-CA6B-E7E0-7ED257077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848158"/>
              </p:ext>
            </p:extLst>
          </p:nvPr>
        </p:nvGraphicFramePr>
        <p:xfrm>
          <a:off x="454795" y="3387189"/>
          <a:ext cx="6449555" cy="94157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43232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17231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7678">
                <a:tc gridSpan="2"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Relazione individuale o consolidata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 (punto 27c)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775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56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stata redatta su 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base individuale 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(ossia non copre eventuali filiazioni)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yes_subsidiary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105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45905"/>
                  </a:ext>
                </a:extLst>
              </a:tr>
              <a:tr h="3473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stata redatta su 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base consolidata 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(ossia include le filiazioni dell’impresa) 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no_subsidiary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105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4074"/>
                  </a:ext>
                </a:extLst>
              </a:tr>
            </a:tbl>
          </a:graphicData>
        </a:graphic>
      </p:graphicFrame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C0F79360-A773-09D0-5119-A3FDBC3F6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085072"/>
              </p:ext>
            </p:extLst>
          </p:nvPr>
        </p:nvGraphicFramePr>
        <p:xfrm>
          <a:off x="454796" y="2003380"/>
          <a:ext cx="6449555" cy="121646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442103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0745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59372">
                <a:tc gridSpan="2">
                  <a:txBody>
                    <a:bodyPr/>
                    <a:lstStyle/>
                    <a:p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base, o modulo base +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/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/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/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onnicomprensivo 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27a)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775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74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basata sul 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del principio volontario per le PMI 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basic_module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105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45905"/>
                  </a:ext>
                </a:extLst>
              </a:tr>
              <a:tr h="482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basata sul 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e sul 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onnicomprensivo 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del principio volontario per le PMI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comprehensive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105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4074"/>
                  </a:ext>
                </a:extLst>
              </a:tr>
            </a:tbl>
          </a:graphicData>
        </a:graphic>
      </p:graphicFrame>
      <p:sp>
        <p:nvSpPr>
          <p:cNvPr id="10" name="Tekstfelt 9">
            <a:extLst>
              <a:ext uri="{FF2B5EF4-FFF2-40B4-BE49-F238E27FC236}">
                <a16:creationId xmlns:a16="http://schemas.microsoft.com/office/drawing/2014/main" id="{08CE8BB8-760E-14A7-E273-1C19DEAB1C88}"/>
              </a:ext>
            </a:extLst>
          </p:cNvPr>
          <p:cNvSpPr txBox="1"/>
          <p:nvPr/>
        </p:nvSpPr>
        <p:spPr>
          <a:xfrm>
            <a:off x="445500" y="891000"/>
            <a:ext cx="9791704" cy="89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redatto la propria relazione sulla sostenibilità secondo il principio VSME, che segue un approccio strutturato per garantire che le informazioni necessarie siano comunicate in modo standardizzato e trasparente. La relazione rispecchia i moduli di sostenibilità selezionati e applicati dall’impresa. Si indica inoltre se la relazione sulla sostenibilità è redatta su base individuale (soli dati dell’impresa) o su base consolidata. La presente sezione contiene informazioni di base sull’impresa, ad esempio la forma giuridica, i codici NACE, l’entità dello stato patrimoniale e i ricavi, il numero di dipendenti, nonché il paese delle operazioni primarie e l’ubicazione di altri attivi significativi.</a:t>
            </a:r>
            <a:endParaRPr lang="it-IT" sz="1050" b="0" noProof="0"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34E7B75C-B2E3-1B8A-2080-FEF363E73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86540"/>
              </p:ext>
            </p:extLst>
          </p:nvPr>
        </p:nvGraphicFramePr>
        <p:xfrm>
          <a:off x="7164197" y="3387189"/>
          <a:ext cx="3073007" cy="216036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421044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651963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65574">
                <a:tc gridSpan="2"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Informazioni di base sull’impresa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(punto 27e, i-v)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11876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Forma giuridica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{{branchekode}}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33412" marR="33412" marT="22275" marB="22275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402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Codice/i NACE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{{NACE}}</a:t>
                      </a:r>
                      <a:endParaRPr lang="it-IT" sz="1050" noProof="0">
                        <a:effectLst/>
                      </a:endParaRPr>
                    </a:p>
                  </a:txBody>
                  <a:tcPr marL="33412" marR="33412" marT="22275" marB="22275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4118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Totale attivo (EUR)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{{balance}}</a:t>
                      </a:r>
                      <a:endParaRPr lang="it-IT" sz="1050" noProof="0">
                        <a:effectLst/>
                      </a:endParaRPr>
                    </a:p>
                  </a:txBody>
                  <a:tcPr marL="33412" marR="33412" marT="22275" marB="22275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402734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Ricavi (EUR)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{{revenue}}</a:t>
                      </a:r>
                      <a:endParaRPr lang="it-IT" sz="1050" noProof="0">
                        <a:effectLst/>
                      </a:endParaRPr>
                    </a:p>
                  </a:txBody>
                  <a:tcPr marL="33412" marR="33412" marT="22275" marB="22275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82954"/>
                  </a:ext>
                </a:extLst>
              </a:tr>
              <a:tr h="265574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N. di dipendenti 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1050" noProof="0">
                        <a:effectLst/>
                      </a:endParaRPr>
                    </a:p>
                  </a:txBody>
                  <a:tcPr marL="33412" marR="33412" marT="22275" marB="22275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571433"/>
                  </a:ext>
                </a:extLst>
              </a:tr>
            </a:tbl>
          </a:graphicData>
        </a:graphic>
      </p:graphicFrame>
      <p:graphicFrame>
        <p:nvGraphicFramePr>
          <p:cNvPr id="17" name="Tabel 16">
            <a:extLst>
              <a:ext uri="{FF2B5EF4-FFF2-40B4-BE49-F238E27FC236}">
                <a16:creationId xmlns:a16="http://schemas.microsoft.com/office/drawing/2014/main" id="{13BBF8C9-04F7-33C5-AAA0-F953F0D5D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491624"/>
              </p:ext>
            </p:extLst>
          </p:nvPr>
        </p:nvGraphicFramePr>
        <p:xfrm>
          <a:off x="7164197" y="2005523"/>
          <a:ext cx="3073007" cy="121432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421044">
                  <a:extLst>
                    <a:ext uri="{9D8B030D-6E8A-4147-A177-3AD203B41FA5}">
                      <a16:colId xmlns:a16="http://schemas.microsoft.com/office/drawing/2014/main" val="613205895"/>
                    </a:ext>
                  </a:extLst>
                </a:gridCol>
                <a:gridCol w="1651963">
                  <a:extLst>
                    <a:ext uri="{9D8B030D-6E8A-4147-A177-3AD203B41FA5}">
                      <a16:colId xmlns:a16="http://schemas.microsoft.com/office/drawing/2014/main" val="2415866723"/>
                    </a:ext>
                  </a:extLst>
                </a:gridCol>
              </a:tblGrid>
              <a:tr h="437299">
                <a:tc gridSpan="2"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ESG contiene omissioni dovute a informazioni commerciali sensibili 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27b)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069134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7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Le informative seguenti sono state omesse</a:t>
                      </a:r>
                    </a:p>
                    <a:p>
                      <a:pPr algn="l"/>
                      <a:endParaRPr lang="it-IT" sz="77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{{</a:t>
                      </a:r>
                      <a:r>
                        <a:rPr lang="it-IT" sz="1050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confidentiality_info</a:t>
                      </a:r>
                      <a:r>
                        <a:rPr lang="it-IT" sz="1050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898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98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6" y="450698"/>
            <a:ext cx="9791704" cy="218627"/>
          </a:xfrm>
        </p:spPr>
        <p:txBody>
          <a:bodyPr/>
          <a:lstStyle/>
          <a:p>
            <a:r>
              <a:rPr lang="it-IT" noProof="0"/>
              <a:t xml:space="preserve">Criteri per la redazione (B1) - continua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C0A4FD9-CD66-4681-595B-4557A461B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364" y="972291"/>
            <a:ext cx="181932" cy="20398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50571" y="7202406"/>
            <a:ext cx="2405700" cy="13495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4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61741" y="197293"/>
            <a:ext cx="3194529" cy="134955"/>
          </a:xfrm>
        </p:spPr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2" name="Tabel 1">
            <a:extLst>
              <a:ext uri="{FF2B5EF4-FFF2-40B4-BE49-F238E27FC236}">
                <a16:creationId xmlns:a16="http://schemas.microsoft.com/office/drawing/2014/main" id="{7A907455-9CB7-376B-6B21-2E615B3A3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584387"/>
              </p:ext>
            </p:extLst>
          </p:nvPr>
        </p:nvGraphicFramePr>
        <p:xfrm>
          <a:off x="452474" y="4486588"/>
          <a:ext cx="9820006" cy="73807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375900">
                  <a:extLst>
                    <a:ext uri="{9D8B030D-6E8A-4147-A177-3AD203B41FA5}">
                      <a16:colId xmlns:a16="http://schemas.microsoft.com/office/drawing/2014/main" val="3746818765"/>
                    </a:ext>
                  </a:extLst>
                </a:gridCol>
                <a:gridCol w="3240094">
                  <a:extLst>
                    <a:ext uri="{9D8B030D-6E8A-4147-A177-3AD203B41FA5}">
                      <a16:colId xmlns:a16="http://schemas.microsoft.com/office/drawing/2014/main" val="465692987"/>
                    </a:ext>
                  </a:extLst>
                </a:gridCol>
                <a:gridCol w="1709097">
                  <a:extLst>
                    <a:ext uri="{9D8B030D-6E8A-4147-A177-3AD203B41FA5}">
                      <a16:colId xmlns:a16="http://schemas.microsoft.com/office/drawing/2014/main" val="857047578"/>
                    </a:ext>
                  </a:extLst>
                </a:gridCol>
                <a:gridCol w="1494915">
                  <a:extLst>
                    <a:ext uri="{9D8B030D-6E8A-4147-A177-3AD203B41FA5}">
                      <a16:colId xmlns:a16="http://schemas.microsoft.com/office/drawing/2014/main" val="1742107540"/>
                    </a:ext>
                  </a:extLst>
                </a:gridCol>
              </a:tblGrid>
              <a:tr h="220996">
                <a:tc>
                  <a:txBody>
                    <a:bodyPr/>
                    <a:lstStyle/>
                    <a:p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Denominazione del certificato ESG/marchio ambientale 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28)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Breve descrizione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Data di rilascio/</a:t>
                      </a:r>
                    </a:p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validità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Eventuale punteggio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30332"/>
                  </a:ext>
                </a:extLst>
              </a:tr>
              <a:tr h="220996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{{certificate_or_ecolabel}}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{{description_certificate}}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{{date_certicate}}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{{certiciate_possible_rating}}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06062"/>
                  </a:ext>
                </a:extLst>
              </a:tr>
            </a:tbl>
          </a:graphicData>
        </a:graphic>
      </p:graphicFrame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AA9D6142-7148-BA87-D929-D03B1323A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615557"/>
              </p:ext>
            </p:extLst>
          </p:nvPr>
        </p:nvGraphicFramePr>
        <p:xfrm>
          <a:off x="468741" y="1568148"/>
          <a:ext cx="9770785" cy="105194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780760">
                  <a:extLst>
                    <a:ext uri="{9D8B030D-6E8A-4147-A177-3AD203B41FA5}">
                      <a16:colId xmlns:a16="http://schemas.microsoft.com/office/drawing/2014/main" val="2041236584"/>
                    </a:ext>
                  </a:extLst>
                </a:gridCol>
                <a:gridCol w="1890996">
                  <a:extLst>
                    <a:ext uri="{9D8B030D-6E8A-4147-A177-3AD203B41FA5}">
                      <a16:colId xmlns:a16="http://schemas.microsoft.com/office/drawing/2014/main" val="2637180759"/>
                    </a:ext>
                  </a:extLst>
                </a:gridCol>
                <a:gridCol w="1444903">
                  <a:extLst>
                    <a:ext uri="{9D8B030D-6E8A-4147-A177-3AD203B41FA5}">
                      <a16:colId xmlns:a16="http://schemas.microsoft.com/office/drawing/2014/main" val="1126871569"/>
                    </a:ext>
                  </a:extLst>
                </a:gridCol>
                <a:gridCol w="1412061">
                  <a:extLst>
                    <a:ext uri="{9D8B030D-6E8A-4147-A177-3AD203B41FA5}">
                      <a16:colId xmlns:a16="http://schemas.microsoft.com/office/drawing/2014/main" val="573454477"/>
                    </a:ext>
                  </a:extLst>
                </a:gridCol>
                <a:gridCol w="1565312">
                  <a:extLst>
                    <a:ext uri="{9D8B030D-6E8A-4147-A177-3AD203B41FA5}">
                      <a16:colId xmlns:a16="http://schemas.microsoft.com/office/drawing/2014/main" val="3277283369"/>
                    </a:ext>
                  </a:extLst>
                </a:gridCol>
                <a:gridCol w="1676753">
                  <a:extLst>
                    <a:ext uri="{9D8B030D-6E8A-4147-A177-3AD203B41FA5}">
                      <a16:colId xmlns:a16="http://schemas.microsoft.com/office/drawing/2014/main" val="3975353283"/>
                    </a:ext>
                  </a:extLst>
                </a:gridCol>
              </a:tblGrid>
              <a:tr h="284138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Indirizzi e geolocalizzazione degli </a:t>
                      </a:r>
                      <a:r>
                        <a:rPr lang="it-IT" sz="1050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e dei siti significativi che l’impresa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possiede, ha in locazione o gestisce </a:t>
                      </a:r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27e, vi, vii)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50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7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7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7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7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7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98375"/>
                  </a:ext>
                </a:extLst>
              </a:tr>
              <a:tr h="284138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Sito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Indirizzo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CAP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Città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Paese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Geolocalizzazione (coordinate)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431150"/>
                  </a:ext>
                </a:extLst>
              </a:tr>
              <a:tr h="284138"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16706" marR="16706" marT="11138" marB="11138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{{geolocation_adress}}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16706" marR="16706" marT="11138" marB="11138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{{geolocation_postcode}}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16706" marR="16706" marT="11138" marB="11138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{{geolocation_city}}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16706" marR="16706" marT="11138" marB="11138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{{geolocation_country}}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16706" marR="16706" marT="11138" marB="11138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{{geolocation_coordinates}}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16706" marR="16706" marT="11138" marB="11138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926511"/>
                  </a:ext>
                </a:extLst>
              </a:tr>
            </a:tbl>
          </a:graphicData>
        </a:graphic>
      </p:graphicFrame>
      <p:sp>
        <p:nvSpPr>
          <p:cNvPr id="8" name="Tekstfelt 7">
            <a:extLst>
              <a:ext uri="{FF2B5EF4-FFF2-40B4-BE49-F238E27FC236}">
                <a16:creationId xmlns:a16="http://schemas.microsoft.com/office/drawing/2014/main" id="{8424FC7C-5277-3C04-10E3-491713542923}"/>
              </a:ext>
            </a:extLst>
          </p:cNvPr>
          <p:cNvSpPr txBox="1"/>
          <p:nvPr/>
        </p:nvSpPr>
        <p:spPr>
          <a:xfrm>
            <a:off x="452474" y="891000"/>
            <a:ext cx="9794026" cy="566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89"/>
              </a:spcBef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Di seguito è descritta la geolocalizzazione dell’impresa e i luoghi in cui essa opera. Tali informazioni possono essere utilizzate per le zone di rischio climatico e forniscono indicazioni sugli impianti, sui siti e/o sulla sede dell’impresa</a:t>
            </a:r>
            <a:r>
              <a:rPr lang="it-IT" sz="1050" noProof="0">
                <a:solidFill>
                  <a:schemeClr val="tx2"/>
                </a:solidFill>
                <a:latin typeface="Inter"/>
              </a:rPr>
              <a:t xml:space="preserve">. Sono inoltre indicate le certificazioni o i marchi di sostenibilità pertinenti, compresi il soggetto che li ha rilasciati, la data e l’eventuale punteggio.</a:t>
            </a:r>
            <a:endParaRPr lang="it-IT" sz="1050" b="0" noProof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EE6CA221-E8CE-159D-7634-30A647F356B9}"/>
              </a:ext>
            </a:extLst>
          </p:cNvPr>
          <p:cNvSpPr txBox="1"/>
          <p:nvPr/>
        </p:nvSpPr>
        <p:spPr>
          <a:xfrm>
            <a:off x="452474" y="4181436"/>
            <a:ext cx="7174107" cy="24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noProof="0">
                <a:solidFill>
                  <a:srgbClr val="487477"/>
                </a:solidFill>
                <a:latin typeface="Inter"/>
              </a:rPr>
              <a:t xml:space="preserve">I certificati e i marchi ambientali dell’impresa sono elencati di seguito.</a:t>
            </a:r>
          </a:p>
        </p:txBody>
      </p:sp>
    </p:spTree>
    <p:extLst>
      <p:ext uri="{BB962C8B-B14F-4D97-AF65-F5344CB8AC3E}">
        <p14:creationId xmlns:p14="http://schemas.microsoft.com/office/powerpoint/2010/main" val="343958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6" y="450698"/>
            <a:ext cx="9791704" cy="218627"/>
          </a:xfrm>
        </p:spPr>
        <p:txBody>
          <a:bodyPr/>
          <a:lstStyle/>
          <a:p>
            <a:r>
              <a:rPr lang="it-IT" noProof="0"/>
              <a:t xml:space="preserve">Pratiche, politiche e iniziative future per la transizione verso un’economia più sostenibile (B2)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60368"/>
              </p:ext>
            </p:extLst>
          </p:nvPr>
        </p:nvGraphicFramePr>
        <p:xfrm>
          <a:off x="454796" y="1501175"/>
          <a:ext cx="9791705" cy="336005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750429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848825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1447875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2027025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  <a:gridCol w="2717551">
                  <a:extLst>
                    <a:ext uri="{9D8B030D-6E8A-4147-A177-3AD203B41FA5}">
                      <a16:colId xmlns:a16="http://schemas.microsoft.com/office/drawing/2014/main" val="3920544300"/>
                    </a:ext>
                  </a:extLst>
                </a:gridCol>
              </a:tblGrid>
              <a:tr h="417684">
                <a:tc>
                  <a:txBody>
                    <a:bodyPr/>
                    <a:lstStyle/>
                    <a:p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</a:t>
                      </a:r>
                    </a:p>
                    <a:p>
                      <a:r>
                        <a:rPr lang="it-IT" sz="1050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29a-d)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una pratica o politica concreta in materia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politica è pubblicamente disponibile? 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iniziative e piani futuri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obiettivi concreti per monitorare l’attuazione di pratiche e politiche?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67040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Cambiamenti climatici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{{climate_change_plan}}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53415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Inquinamento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{{pollution_plan}}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260612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Acque e risorse marine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{{water_plan}}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260612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Biodiversità ed ecosistemi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{{biodiversity_plan}}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260612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Economia circolare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{{circular_plan}}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  <a:tr h="260612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 propria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{{workforce_plan}}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384999"/>
                  </a:ext>
                </a:extLst>
              </a:tr>
              <a:tr h="260612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nella catena del valore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{{workers_plan}}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919361"/>
                  </a:ext>
                </a:extLst>
              </a:tr>
              <a:tr h="260612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Comunità interessate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{{communities_plan}}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877917"/>
                  </a:ext>
                </a:extLst>
              </a:tr>
              <a:tr h="260612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Consumatori e utilizzatori finali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{{consumers_plan}}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53185"/>
                  </a:ext>
                </a:extLst>
              </a:tr>
              <a:tr h="260612">
                <a:tc>
                  <a:txBody>
                    <a:bodyPr/>
                    <a:lstStyle/>
                    <a:p>
                      <a:pPr algn="l"/>
                      <a:r>
                        <a:rPr lang="it-IT" sz="1050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Condotta delle imprese</a:t>
                      </a: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{{governance_concrete}}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{{governance_publicly}}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{{governance_future}}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{{governance_plan}}</a:t>
                      </a:r>
                      <a:endParaRPr lang="it-IT">
                        <a:latin typeface="Inter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57792"/>
                  </a:ext>
                </a:extLst>
              </a:tr>
            </a:tbl>
          </a:graphicData>
        </a:graphic>
      </p:graphicFrame>
      <p:sp>
        <p:nvSpPr>
          <p:cNvPr id="16" name="Tekstfelt 15">
            <a:extLst>
              <a:ext uri="{FF2B5EF4-FFF2-40B4-BE49-F238E27FC236}">
                <a16:creationId xmlns:a16="http://schemas.microsoft.com/office/drawing/2014/main" id="{E7AD2C12-E6AC-4ADE-675B-7B86B0E0EA4B}"/>
              </a:ext>
            </a:extLst>
          </p:cNvPr>
          <p:cNvSpPr txBox="1"/>
          <p:nvPr/>
        </p:nvSpPr>
        <p:spPr>
          <a:xfrm>
            <a:off x="454796" y="891000"/>
            <a:ext cx="9782408" cy="566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89"/>
              </a:spcBef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sezione illustra le pratiche, le politiche e le iniziative future che l’impresa ha attuato per sostenere un’economia sostenibile. Vi si indica quali misure concrete l’impresa ha adottato per ridurre gli impatti ambientali negativi e migliorare le condizioni di lavoro e la parità di trattamento (SÌ/NO).</a:t>
            </a:r>
            <a:br>
              <a:rPr lang="it-IT" sz="1050" noProof="0">
                <a:solidFill>
                  <a:schemeClr val="tx2"/>
                </a:solidFill>
              </a:rPr>
            </a:br>
            <a:endParaRPr lang="it-IT" sz="1050" noProof="0">
              <a:solidFill>
                <a:schemeClr val="tx2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D599EAE-DDC4-5624-F234-BCDE014B0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50571" y="7202406"/>
            <a:ext cx="2405700" cy="13495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5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00975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Consumo di energia (B3)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9703"/>
              </p:ext>
            </p:extLst>
          </p:nvPr>
        </p:nvGraphicFramePr>
        <p:xfrm>
          <a:off x="443369" y="1359604"/>
          <a:ext cx="9803131" cy="168750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66054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469635">
                  <a:extLst>
                    <a:ext uri="{9D8B030D-6E8A-4147-A177-3AD203B41FA5}">
                      <a16:colId xmlns:a16="http://schemas.microsoft.com/office/drawing/2014/main" val="1451447067"/>
                    </a:ext>
                  </a:extLst>
                </a:gridCol>
                <a:gridCol w="2604428">
                  <a:extLst>
                    <a:ext uri="{9D8B030D-6E8A-4147-A177-3AD203B41FA5}">
                      <a16:colId xmlns:a16="http://schemas.microsoft.com/office/drawing/2014/main" val="2943870936"/>
                    </a:ext>
                  </a:extLst>
                </a:gridCol>
                <a:gridCol w="2068523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1860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Consumo di energia in MWh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32)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en-GB" sz="775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en-GB" sz="775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75" b="1" noProof="0">
                        <a:solidFill>
                          <a:srgbClr val="1B4528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440226"/>
                  </a:ext>
                </a:extLst>
              </a:tr>
              <a:tr h="347564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1050" b="1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Consumo rinnovabile</a:t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 (MWh)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Consumo non rinnovabile</a:t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 (MWh)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Consumo totale (MWh)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insert_year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47564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Energia elettrica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(secondo quanto risulta dalle bollette)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electricity_renewable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electricity_non_rewenable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total_electricity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18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Combustibili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fuel_renewable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fuel_non_rewenable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total_fuel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766998"/>
                  </a:ext>
                </a:extLst>
              </a:tr>
              <a:tr h="218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Altro (ad es. teleriscaldamento)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district_heating_rewenable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district_heating_non_rewenable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total_district_heating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7485"/>
                  </a:ext>
                </a:extLst>
              </a:tr>
              <a:tr h="218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Totale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renewable_energy_total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non_rewenable_energy_total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total_energy_consumption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206388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6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EDC705C-923B-3F7B-2016-F3C31DC2828B}"/>
              </a:ext>
            </a:extLst>
          </p:cNvPr>
          <p:cNvSpPr txBox="1"/>
          <p:nvPr/>
        </p:nvSpPr>
        <p:spPr>
          <a:xfrm>
            <a:off x="443369" y="898217"/>
            <a:ext cx="9803131" cy="3616799"/>
          </a:xfrm>
          <a:prstGeom prst="rect">
            <a:avLst/>
          </a:prstGeom>
          <a:noFill/>
        </p:spPr>
        <p:txBody>
          <a:bodyPr wrap="square" lIns="80190" tIns="40095" rIns="80190" bIns="40095" anchor="t">
            <a:spAutoFit/>
          </a:bodyPr>
          <a:lstStyle/>
          <a:p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sezione indica le emissioni di CO2 dell’impresa derivanti dal consumo di energia, distinguendo consumo rinnovabile e non rinnovabile. </a:t>
            </a:r>
            <a:r>
              <a:rPr lang="it-IT" sz="1050" noProof="0">
                <a:solidFill>
                  <a:schemeClr val="tx2"/>
                </a:solidFill>
                <a:latin typeface="Inter"/>
              </a:rPr>
              <a:t xml:space="preserve">Le emissioni sono comunicate in base </a:t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alle definizioni del GHG Protocol di emissioni dirette e indirette. </a:t>
            </a:r>
            <a:br>
              <a:rPr lang="it-IT" sz="1050" b="0" i="0" u="none" strike="noStrike" noProof="0" dirty="0">
                <a:effectLst/>
                <a:latin typeface="Inter"/>
              </a:rPr>
            </a:br>
            <a:br>
              <a:rPr lang="it-IT" sz="1050" dirty="0">
                <a:latin typeface="Inter"/>
              </a:rPr>
            </a:br>
            <a:r>
              <a:rPr lang="it-IT" sz="700" b="0" i="0" u="none" strike="noStrike" noProof="0">
                <a:solidFill>
                  <a:schemeClr val="tx2"/>
                </a:solidFill>
                <a:effectLst/>
                <a:latin typeface="Inter"/>
              </a:rPr>
              <a:t> </a:t>
            </a:r>
            <a:endParaRPr lang="it-IT" sz="1050" b="0" i="0" u="none" strike="noStrike" noProof="0" dirty="0">
              <a:solidFill>
                <a:schemeClr val="tx2"/>
              </a:solidFill>
              <a:effectLst/>
              <a:latin typeface="Inter"/>
            </a:endParaRPr>
          </a:p>
          <a:p>
            <a:pPr rtl="0">
              <a:buNone/>
            </a:pPr>
            <a:endParaRPr lang="it-IT" sz="1050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sz="1400" noProof="0">
              <a:solidFill>
                <a:schemeClr val="tx2"/>
              </a:solidFill>
              <a:latin typeface="Inter"/>
            </a:endParaRPr>
          </a:p>
          <a:p>
            <a:pPr>
              <a:buNone/>
            </a:pPr>
            <a:endParaRPr lang="it-IT" sz="1400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sz="1400" noProof="0">
              <a:solidFill>
                <a:schemeClr val="tx2"/>
              </a:solidFill>
              <a:latin typeface="Inter"/>
            </a:endParaRPr>
          </a:p>
          <a:p>
            <a:pPr>
              <a:buNone/>
            </a:pPr>
            <a:endParaRPr lang="it-IT" sz="1400" b="0" noProof="0">
              <a:solidFill>
                <a:schemeClr val="tx2"/>
              </a:solidFill>
              <a:effectLst/>
              <a:latin typeface="Inter"/>
            </a:endParaRPr>
          </a:p>
          <a:p>
            <a:endParaRPr lang="it-IT" sz="1400" b="1">
              <a:latin typeface="+mj-lt"/>
            </a:endParaRPr>
          </a:p>
          <a:p>
            <a:endParaRPr lang="it-IT" sz="1400" b="1">
              <a:latin typeface="+mj-lt"/>
            </a:endParaRPr>
          </a:p>
          <a:p>
            <a:br>
              <a:rPr lang="it-IT" b="1" dirty="0">
                <a:latin typeface="+mj-lt"/>
              </a:rPr>
            </a:br>
            <a:r>
              <a:rPr lang="it-IT" b="1" i="0" u="none" strike="noStrike" noProof="0">
                <a:solidFill>
                  <a:schemeClr val="tx2"/>
                </a:solidFill>
                <a:effectLst/>
                <a:latin typeface="+mj-lt"/>
              </a:rPr>
              <a:t xml:space="preserve">Emissioni di CO₂e (B3)</a:t>
            </a:r>
            <a:endParaRPr lang="it-IT" noProof="0">
              <a:solidFill>
                <a:schemeClr val="tx2"/>
              </a:solidFill>
              <a:effectLst/>
              <a:latin typeface="+mj-lt"/>
            </a:endParaRPr>
          </a:p>
          <a:p>
            <a:r>
              <a:rPr lang="it-IT" sz="700">
                <a:latin typeface="Inter"/>
              </a:rPr>
              <a:t> </a:t>
            </a:r>
            <a:br>
              <a:rPr lang="it-IT" sz="1050" dirty="0">
                <a:solidFill>
                  <a:schemeClr val="tx2"/>
                </a:solidFill>
                <a:latin typeface="Inter"/>
              </a:rPr>
            </a:b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Il punto 33 contiene informazioni sulle emissioni di gas a effetto serra dell’impresa, sulla base delle emissioni di ambito 1 e 2. L’ambito 1 indica le emissioni dirette provenienti da fonti di proprietà o sotto il controllo diretto dell’impresa: ad esempio la combustione di carburante nei veicoli aziendali, il riscaldamento degli edifici a gas naturale, nonché le emissioni dei processi industriali e le perdite in sistemi quali la refrigerazione.</a:t>
            </a:r>
            <a:r>
              <a:rPr lang="it-IT" sz="1050" noProof="0">
                <a:solidFill>
                  <a:schemeClr val="tx2"/>
                </a:solidFill>
                <a:latin typeface="Inter"/>
              </a:rPr>
              <a:t> </a:t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L’ambito 2</a:t>
            </a:r>
            <a:r>
              <a:rPr lang="it-IT" sz="1050" noProof="0">
                <a:solidFill>
                  <a:schemeClr val="tx2"/>
                </a:solidFill>
                <a:latin typeface="Inter"/>
              </a:rPr>
              <a:t xml:space="preserve"> indica le emissioni i</a:t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ndirette derivanti dall’energia elettrica acquistata, ossia le emissioni prodotte dalla generazione dell’energia elettrica, del vapore, del calore o del raffrescamento che l’impresa acquista e utilizza. Pur originando presso i produttori di energia, tali emissioni sono attribuite all’impresa, che consuma l’energia.</a:t>
            </a:r>
            <a:endParaRPr lang="it-IT" sz="1050" b="0" noProof="0">
              <a:solidFill>
                <a:schemeClr val="tx2"/>
              </a:solidFill>
              <a:effectLst/>
              <a:latin typeface="Inter"/>
            </a:endParaRPr>
          </a:p>
        </p:txBody>
      </p:sp>
      <p:graphicFrame>
        <p:nvGraphicFramePr>
          <p:cNvPr id="15" name="Table 18">
            <a:extLst>
              <a:ext uri="{FF2B5EF4-FFF2-40B4-BE49-F238E27FC236}">
                <a16:creationId xmlns:a16="http://schemas.microsoft.com/office/drawing/2014/main" id="{550C2B5F-F365-2A58-DF02-C096E906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24491"/>
              </p:ext>
            </p:extLst>
          </p:nvPr>
        </p:nvGraphicFramePr>
        <p:xfrm>
          <a:off x="445491" y="5125324"/>
          <a:ext cx="9801009" cy="950929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775981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041192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38485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Emissioni di gas a effetto serra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33)</a:t>
                      </a:r>
                      <a:endParaRPr lang="it-IT" sz="1050" b="1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{{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insert_year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7481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Emissioni di CO₂e di ambito 1</a:t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{{scope1}}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7481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Emissioni di CO₂e di ambito 2 (basate sulla posizione) </a:t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{{scope2}}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7481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Emissioni totali di CO₂e di ambito 1 e 2 </a:t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total_scope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graphicFrame>
        <p:nvGraphicFramePr>
          <p:cNvPr id="16" name="B3 market-based (voluntary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24491"/>
              </p:ext>
            </p:extLst>
          </p:nvPr>
        </p:nvGraphicFramePr>
        <p:xfrm>
          <a:off x="445491" y="6252820"/>
          <a:ext cx="9801009" cy="474962"/>
        </p:xfrm>
        <a:graphic>
          <a:graphicData uri="http://schemas.openxmlformats.org/drawingml/2006/table">
            <a:tbl>
              <a:tblPr firstRow="0">
                <a:tableStyleId>{2A488322-F2BA-4B5B-9748-0D474271808F}</a:tableStyleId>
              </a:tblPr>
              <a:tblGrid>
                <a:gridCol w="775981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041192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37481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Emissioni di CO₂e di ambito 2 (basate sul mercato) (facoltativo)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{{scope1_marked}}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7481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Emissioni totali di CO₂e di ambito 1 e 2 (basate sul mercato) (facoltativo)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{{scope2_marked}}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76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Inquinamento di aria, acqua e suolo (B4)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96641"/>
              </p:ext>
            </p:extLst>
          </p:nvPr>
        </p:nvGraphicFramePr>
        <p:xfrm>
          <a:off x="445498" y="1458651"/>
          <a:ext cx="9784531" cy="70155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099832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988788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3695912">
                  <a:extLst>
                    <a:ext uri="{9D8B030D-6E8A-4147-A177-3AD203B41FA5}">
                      <a16:colId xmlns:a16="http://schemas.microsoft.com/office/drawing/2014/main" val="683090399"/>
                    </a:ext>
                  </a:extLst>
                </a:gridCol>
              </a:tblGrid>
              <a:tr h="245049">
                <a:tc gridSpan="3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Inquinamento di aria, acqua e suolo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34) 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700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45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Tipo di inquinamento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(ad es. sostanza)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Dove?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(aria, acqua, suolo)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Quantità</a:t>
                      </a:r>
                      <a:endParaRPr lang="it-IT" sz="1050" b="0" noProof="0">
                        <a:solidFill>
                          <a:srgbClr val="1B4528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11456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{{type_of_pollution}}</a:t>
                      </a:r>
                      <a:endParaRPr lang="it-IT" sz="105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{{scope_pollution}}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{{pollution_medium}}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7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CADEAD42-343C-93CC-A8B0-E63EFFC56411}"/>
              </a:ext>
            </a:extLst>
          </p:cNvPr>
          <p:cNvSpPr txBox="1"/>
          <p:nvPr/>
        </p:nvSpPr>
        <p:spPr>
          <a:xfrm>
            <a:off x="461968" y="891000"/>
            <a:ext cx="9784532" cy="40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comunica la quantità totale di inquinanti emessi dai propri impianti. Gli inquinanti specifici e i relativi quantitativi emessi in aria, acqua e suolo</a:t>
            </a:r>
            <a:r>
              <a:rPr lang="it-IT" sz="1050" noProof="0">
                <a:solidFill>
                  <a:schemeClr val="tx2"/>
                </a:solidFill>
                <a:latin typeface="Inter"/>
              </a:rPr>
              <a:t xml:space="preserve"> sono indicati di seguito.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82FDC1C8-BB82-8F83-2FCB-640700A5A089}"/>
              </a:ext>
            </a:extLst>
          </p:cNvPr>
          <p:cNvSpPr txBox="1">
            <a:spLocks/>
          </p:cNvSpPr>
          <p:nvPr/>
        </p:nvSpPr>
        <p:spPr>
          <a:xfrm>
            <a:off x="454796" y="2945868"/>
            <a:ext cx="9791704" cy="218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Biodiversità (B5) </a:t>
            </a:r>
          </a:p>
        </p:txBody>
      </p:sp>
      <p:graphicFrame>
        <p:nvGraphicFramePr>
          <p:cNvPr id="17" name="Table 12">
            <a:extLst>
              <a:ext uri="{FF2B5EF4-FFF2-40B4-BE49-F238E27FC236}">
                <a16:creationId xmlns:a16="http://schemas.microsoft.com/office/drawing/2014/main" id="{2F8CEDBC-7529-8ACB-98F8-C532E7876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879907"/>
              </p:ext>
            </p:extLst>
          </p:nvPr>
        </p:nvGraphicFramePr>
        <p:xfrm>
          <a:off x="454795" y="4100380"/>
          <a:ext cx="9791703" cy="84562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778433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67109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671090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  <a:gridCol w="2671090">
                  <a:extLst>
                    <a:ext uri="{9D8B030D-6E8A-4147-A177-3AD203B41FA5}">
                      <a16:colId xmlns:a16="http://schemas.microsoft.com/office/drawing/2014/main" val="1502960985"/>
                    </a:ext>
                  </a:extLst>
                </a:gridCol>
              </a:tblGrid>
              <a:tr h="202471">
                <a:tc gridSpan="4"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Siti all’interno o in prossimità di «aree sensibili sotto il profilo della biodiversità» che l’impresa possiede, ha in locazione o gestisce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35)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700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700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700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02743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Ubicazione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Superficie in ettari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Area sensibile per la biodiversità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Specifica: all’interno o in prossimità di un’area sensibile per la biodiversità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8201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{{country_location}}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 {{area_hect}}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{{area_name}}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{{biosensitive_area}}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8" name="Tekstfelt 17">
            <a:extLst>
              <a:ext uri="{FF2B5EF4-FFF2-40B4-BE49-F238E27FC236}">
                <a16:creationId xmlns:a16="http://schemas.microsoft.com/office/drawing/2014/main" id="{6378062B-84AF-684A-9726-0422CE54B0A8}"/>
              </a:ext>
            </a:extLst>
          </p:cNvPr>
          <p:cNvSpPr txBox="1"/>
          <p:nvPr/>
        </p:nvSpPr>
        <p:spPr>
          <a:xfrm>
            <a:off x="445499" y="3291561"/>
            <a:ext cx="9791703" cy="566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89"/>
              </a:spcBef>
              <a:spcAft>
                <a:spcPts val="789"/>
              </a:spcAft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dell’impresa riguardano i siti in cui essa opera che si trovano all’interno o in prossimità di aree sensibili sotto il profilo della biodiversità. Tali aree sono definite come tali da specifiche disposizioni di protezione della natura a livello europeo o internazionale. Vi rientrano le zone Natura 2000, i siti UNESCO e le aree chiave per la biodiversità (KBA), nonché altre aree protette.</a:t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/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/>
            </a:r>
            <a:endParaRPr lang="it-IT" sz="1050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705646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Acque (B6)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295352"/>
              </p:ext>
            </p:extLst>
          </p:nvPr>
        </p:nvGraphicFramePr>
        <p:xfrm>
          <a:off x="454796" y="1505077"/>
          <a:ext cx="4220433" cy="114268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70741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51301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575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Prelievo idrico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36)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insert_year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66771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Totale per tutti i siti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total_withdrawal</a:t>
                      </a:r>
                      <a:r>
                        <a:rPr kumimoji="0"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29EF77F-F7DE-E3A9-5E62-3B0DED7F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75883"/>
              </p:ext>
            </p:extLst>
          </p:nvPr>
        </p:nvGraphicFramePr>
        <p:xfrm>
          <a:off x="4856790" y="1505077"/>
          <a:ext cx="5389710" cy="114268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061893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327817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296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Consumo idrico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37)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insert_year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56518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Totale per tutti i siti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consumption_total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56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Da siti in aree con scarsità d’acqua (elevato stress idrico)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consumption_waterstress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79726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8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ECB95649-80E1-C470-34F3-6ED206EE57AE}"/>
              </a:ext>
            </a:extLst>
          </p:cNvPr>
          <p:cNvSpPr txBox="1"/>
          <p:nvPr/>
        </p:nvSpPr>
        <p:spPr>
          <a:xfrm>
            <a:off x="445500" y="901932"/>
            <a:ext cx="9800999" cy="40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89"/>
              </a:spcBef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Il prelievo idrico è la quantità di acqua utilizzata dall’impresa, di cui </a:t>
            </a:r>
            <a:r>
              <a:rPr lang="it-IT" sz="1050" noProof="0">
                <a:solidFill>
                  <a:schemeClr val="tx2"/>
                </a:solidFill>
                <a:latin typeface="Inter"/>
              </a:rPr>
              <a:t xml:space="preserve">il consumo indica l’acqua che </a:t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non è scaricata, né destinata a esserlo, nell’ambiente idrico o a terzi. La presente sezione indica il prelievo idrico totale dell’impresa. Il consumo idrico</a:t>
            </a:r>
            <a:r>
              <a:rPr lang="it-IT" sz="1050" noProof="0">
                <a:solidFill>
                  <a:schemeClr val="tx2"/>
                </a:solidFill>
                <a:latin typeface="Inter"/>
              </a:rPr>
              <a:t> </a:t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e lo scarico di acque da aree a elevato stress idrico sono indicati di seguito.</a:t>
            </a:r>
            <a:endParaRPr lang="it-IT" sz="1050" b="0" noProof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B30A223B-CD1E-62E4-7BF1-B5AAB10A8410}"/>
              </a:ext>
            </a:extLst>
          </p:cNvPr>
          <p:cNvSpPr txBox="1">
            <a:spLocks/>
          </p:cNvSpPr>
          <p:nvPr/>
        </p:nvSpPr>
        <p:spPr>
          <a:xfrm>
            <a:off x="454796" y="2757489"/>
            <a:ext cx="9791704" cy="218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Uso delle risorse, economia circolare e gestione dei rifiuti (B7) </a:t>
            </a:r>
          </a:p>
        </p:txBody>
      </p:sp>
      <p:graphicFrame>
        <p:nvGraphicFramePr>
          <p:cNvPr id="15" name="Table 12">
            <a:extLst>
              <a:ext uri="{FF2B5EF4-FFF2-40B4-BE49-F238E27FC236}">
                <a16:creationId xmlns:a16="http://schemas.microsoft.com/office/drawing/2014/main" id="{DD005B21-4552-1869-0C74-C03ADA88E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212790"/>
              </p:ext>
            </p:extLst>
          </p:nvPr>
        </p:nvGraphicFramePr>
        <p:xfrm>
          <a:off x="4856790" y="3170531"/>
          <a:ext cx="5380408" cy="82661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12852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5402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1597860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36351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Applicazione dei principi dell’economia circolare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38)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700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700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6091">
                <a:tc rowSpan="2"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La mia impresa applica i principi dell’economia circolare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Sì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No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00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circular_economy_princples_yes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circular_economy_princples_no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2AA2F1F9-7A09-1805-85EA-A61B8CDF0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94059"/>
              </p:ext>
            </p:extLst>
          </p:nvPr>
        </p:nvGraphicFramePr>
        <p:xfrm>
          <a:off x="445498" y="4089575"/>
          <a:ext cx="9791701" cy="154990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979170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256676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Descrizione delle modalità con cui l’impresa applica i principi dell’economia circolare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38 continua)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1293229">
                <a:tc>
                  <a:txBody>
                    <a:bodyPr/>
                    <a:lstStyle/>
                    <a:p>
                      <a:pPr algn="l"/>
                      <a:r>
                        <a:rPr lang="it-IT" sz="1050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1050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description_of_circular_economies</a:t>
                      </a:r>
                      <a:r>
                        <a:rPr lang="it-IT" sz="1050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  <a:p>
                      <a:pPr algn="l"/>
                      <a:endParaRPr lang="it-IT" sz="1050" b="0" kern="1200" noProof="0">
                        <a:solidFill>
                          <a:srgbClr val="1B452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356" marR="47356" marT="31571" marB="31571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25" name="Tekstfelt 24">
            <a:extLst>
              <a:ext uri="{FF2B5EF4-FFF2-40B4-BE49-F238E27FC236}">
                <a16:creationId xmlns:a16="http://schemas.microsoft.com/office/drawing/2014/main" id="{02BB91A8-5ECA-5F09-CF3C-575CB2D07459}"/>
              </a:ext>
            </a:extLst>
          </p:cNvPr>
          <p:cNvSpPr txBox="1"/>
          <p:nvPr/>
        </p:nvSpPr>
        <p:spPr>
          <a:xfrm>
            <a:off x="445765" y="3162955"/>
            <a:ext cx="4247524" cy="728758"/>
          </a:xfrm>
          <a:prstGeom prst="rect">
            <a:avLst/>
          </a:prstGeom>
          <a:noFill/>
        </p:spPr>
        <p:txBody>
          <a:bodyPr wrap="square" lIns="80190" tIns="40095" rIns="80190" bIns="40095" anchor="t">
            <a:spAutoFit/>
          </a:bodyPr>
          <a:lstStyle/>
          <a:p>
            <a:pPr rtl="0"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informativa indica se l’impresa</a:t>
            </a:r>
            <a:r>
              <a:rPr lang="it-IT" sz="1050" noProof="0">
                <a:solidFill>
                  <a:schemeClr val="tx2"/>
                </a:solidFill>
                <a:latin typeface="Inter"/>
              </a:rPr>
              <a:t xml:space="preserve"> applica i principi dell’economia circolare, compresi i principi di riduzione dei rifiuti e dell’inquinamento e l’attenzione a prodotti e materiali circolari.</a:t>
            </a:r>
          </a:p>
        </p:txBody>
      </p:sp>
    </p:spTree>
    <p:extLst>
      <p:ext uri="{BB962C8B-B14F-4D97-AF65-F5344CB8AC3E}">
        <p14:creationId xmlns:p14="http://schemas.microsoft.com/office/powerpoint/2010/main" val="99965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Uso delle risorse, economia circolare e gestione dei rifiuti (B7) – continua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84165"/>
              </p:ext>
            </p:extLst>
          </p:nvPr>
        </p:nvGraphicFramePr>
        <p:xfrm>
          <a:off x="445499" y="1442996"/>
          <a:ext cx="6440256" cy="188575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99598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23032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213953">
                  <a:extLst>
                    <a:ext uri="{9D8B030D-6E8A-4147-A177-3AD203B41FA5}">
                      <a16:colId xmlns:a16="http://schemas.microsoft.com/office/drawing/2014/main" val="4075157689"/>
                    </a:ext>
                  </a:extLst>
                </a:gridCol>
              </a:tblGrid>
              <a:tr h="288168">
                <a:tc gridSpan="3">
                  <a:txBody>
                    <a:bodyPr/>
                    <a:lstStyle/>
                    <a:p>
                      <a:pPr algn="ctr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Produzione annua totale di rifiuti</a:t>
                      </a:r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700" b="1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585054">
                <a:tc>
                  <a:txBody>
                    <a:bodyPr/>
                    <a:lstStyle/>
                    <a:p>
                      <a:endParaRPr lang="it-IT" sz="1050" b="1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Quantità totale di rifiuti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39a)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Rifiuti reindirizzati al riciclaggio o alla preparazione per il riutilizzo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39b)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01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Rifiuti non pericolosi 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40764"/>
                  </a:ext>
                </a:extLst>
              </a:tr>
              <a:tr h="204917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{{Type_af_affald}}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{{kg_tons_total}}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{{genbrug_kg_tons}}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01348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Rifiuti pericolosi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1050" b="0" noProof="0">
                        <a:solidFill>
                          <a:schemeClr val="tx2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42695"/>
                  </a:ext>
                </a:extLst>
              </a:tr>
              <a:tr h="204917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{{Type_af_affald_farlig}}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{{farlig_kg_tons}}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{{farlig_genbrug_kg_tons}}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2709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9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82E45A0-0E1E-550D-794B-89296A5D4E7E}"/>
              </a:ext>
            </a:extLst>
          </p:cNvPr>
          <p:cNvSpPr txBox="1"/>
          <p:nvPr/>
        </p:nvSpPr>
        <p:spPr>
          <a:xfrm>
            <a:off x="454796" y="891000"/>
            <a:ext cx="9791704" cy="40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sezione seguente fornisce informazioni sull’uso dei materiali e sulla gestione dei rifiuti. Le informazioni riguardano l’economia circolare e indicano la ripartizione della produzione annua totale di rifiuti dell’impresa (pericolosi/non pericolosi) nonché i quantitativi dei materiali pertinenti. </a:t>
            </a:r>
            <a:endParaRPr lang="it-IT" sz="1050" noProof="0">
              <a:solidFill>
                <a:schemeClr val="tx2"/>
              </a:solidFill>
              <a:latin typeface="Inter"/>
            </a:endParaRPr>
          </a:p>
        </p:txBody>
      </p:sp>
      <p:graphicFrame>
        <p:nvGraphicFramePr>
          <p:cNvPr id="15" name="Table 12">
            <a:extLst>
              <a:ext uri="{FF2B5EF4-FFF2-40B4-BE49-F238E27FC236}">
                <a16:creationId xmlns:a16="http://schemas.microsoft.com/office/drawing/2014/main" id="{D0A6EC25-74E1-FBFB-6875-6CDF69A95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487528"/>
              </p:ext>
            </p:extLst>
          </p:nvPr>
        </p:nvGraphicFramePr>
        <p:xfrm>
          <a:off x="7156908" y="1442996"/>
          <a:ext cx="3080297" cy="188575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976312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1020579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Materiali pertinenti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39c)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Flusso di massa annuo 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  <a:endParaRPr lang="it-IT" sz="1050" b="0" noProof="0">
                        <a:solidFill>
                          <a:srgbClr val="1B4528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865174">
                <a:tc>
                  <a:txBody>
                    <a:bodyPr/>
                    <a:lstStyle/>
                    <a:p>
                      <a:pPr algn="l"/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{{significant_material}}</a:t>
                      </a:r>
                      <a:endParaRPr lang="it-IT" sz="1050" b="0" noProof="0">
                        <a:solidFill>
                          <a:srgbClr val="1B4528"/>
                        </a:solidFill>
                        <a:latin typeface="Inter"/>
                        <a:cs typeface="Calibri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{{significant_material_unit}}</a:t>
                      </a:r>
                      <a:endParaRPr lang="it-IT" sz="1050" b="0" i="0" u="none" strike="noStrike" noProof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508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Forza lavoro propria: caratteristiche generali (B8)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6D2864-50B1-0967-9DFF-408DD8B37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231013"/>
              </p:ext>
            </p:extLst>
          </p:nvPr>
        </p:nvGraphicFramePr>
        <p:xfrm>
          <a:off x="445493" y="1520475"/>
          <a:ext cx="4365905" cy="173688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182953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18295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77688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Tipo di contratto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40a)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Numero di dipendenti (effettivi o equivalenti a tempo pieno)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419731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Contratto temporaneo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temporary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19731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Contratto permanente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fulltime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419731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Numero totale di dipendenti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total_employees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139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6843BE-938A-9316-3C8E-320134DF8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65489"/>
              </p:ext>
            </p:extLst>
          </p:nvPr>
        </p:nvGraphicFramePr>
        <p:xfrm>
          <a:off x="5008093" y="1520477"/>
          <a:ext cx="5238408" cy="173688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61920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61920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83942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Genere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 (punto 40b)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endParaRPr lang="it-IT" sz="1050" b="0" noProof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Numero di dipendenti (effettivi o equivalenti a tempo pieno)</a:t>
                      </a: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endParaRPr lang="it-IT" sz="1050" b="1" noProof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74244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Uomo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{{men}}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65103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Donna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women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13939"/>
                  </a:ext>
                </a:extLst>
              </a:tr>
              <a:tr h="274244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Altro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others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92891"/>
                  </a:ext>
                </a:extLst>
              </a:tr>
              <a:tr h="274244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Non registrato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not_registeret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098499"/>
                  </a:ext>
                </a:extLst>
              </a:tr>
              <a:tr h="265103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Numero totale di dipendenti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total_employees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0025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10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B45D574B-3D14-8531-DB71-2FD2A411CD63}"/>
              </a:ext>
            </a:extLst>
          </p:cNvPr>
          <p:cNvSpPr txBox="1"/>
          <p:nvPr/>
        </p:nvSpPr>
        <p:spPr>
          <a:xfrm>
            <a:off x="454796" y="913284"/>
            <a:ext cx="9791704" cy="728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050" b="0" i="0" u="none" strike="noStrike" noProof="0">
                <a:solidFill>
                  <a:srgbClr val="25595D"/>
                </a:solidFill>
                <a:effectLst/>
                <a:latin typeface="Inter"/>
              </a:rPr>
              <a:t xml:space="preserve">L’impresa ha indicato il numero di dipendenti per le ripartizioni seguenti: tipo di contratto di lavoro, con dipendenti suddivisi tra contratti temporanei e permanenti; genere, che dà conto della distribuzione di genere tra i dipendenti; e paese del contratto di lavoro, rilevante se l’impresa opera in più paesi.</a:t>
            </a:r>
            <a:endParaRPr lang="it-IT" sz="1050" b="0" noProof="0">
              <a:effectLst/>
              <a:latin typeface="Inter"/>
            </a:endParaRPr>
          </a:p>
          <a:p>
            <a:pPr>
              <a:buNone/>
            </a:pPr>
            <a:br>
              <a:rPr lang="it-IT" sz="1050" noProof="0">
                <a:latin typeface="Inter"/>
              </a:rPr>
            </a:br>
            <a:endParaRPr lang="it-IT" sz="1050" noProof="0">
              <a:latin typeface="Inter"/>
            </a:endParaRP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42F1F305-B426-7DDF-1FC3-46007564C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46685"/>
              </p:ext>
            </p:extLst>
          </p:nvPr>
        </p:nvGraphicFramePr>
        <p:xfrm>
          <a:off x="447022" y="3446606"/>
          <a:ext cx="9790181" cy="101026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233603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4556578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52567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Paese (in cui è stato stipulato il contratto)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40c)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Numero di dipendenti (effettivi o equivalenti a tempo pieno)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52567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Danimarca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{{Denmark}}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52567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{{Land_b}}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FTE_eller_antal_personer_land_b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52567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Numero totale di dipendenti</a:t>
                      </a:r>
                    </a:p>
                  </a:txBody>
                  <a:tcPr marL="47356" marR="47356" marT="18943" marB="1894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{{Total_out_of_countries}}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1138" marB="11138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92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971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Forza lavoro propria: salute e sicurezza (B9)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616830"/>
              </p:ext>
            </p:extLst>
          </p:nvPr>
        </p:nvGraphicFramePr>
        <p:xfrm>
          <a:off x="445500" y="1509220"/>
          <a:ext cx="4796551" cy="99491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656189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14036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02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Infortuni registrabili connessi al lavoro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41a)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/>
                          <a:cs typeface="Calibri"/>
                        </a:rPr>
                        <a:t> {{insert_year}}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96345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Numero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</a:rPr>
                        <a:t>indsat_antal_accidents</a:t>
                      </a: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}}</a:t>
                      </a:r>
                      <a:endParaRPr kumimoji="0" lang="it-IT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96345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Tasso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</a:rPr>
                        <a:t>indsat_accidents_frequents</a:t>
                      </a: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}}</a:t>
                      </a:r>
                      <a:endParaRPr kumimoji="0" lang="it-IT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4D7173-AC05-2CA2-966F-6F3A8736B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670097"/>
              </p:ext>
            </p:extLst>
          </p:nvPr>
        </p:nvGraphicFramePr>
        <p:xfrm>
          <a:off x="5440653" y="1509221"/>
          <a:ext cx="4796551" cy="99491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313422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8312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00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Decessi connessi al lavoro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41b)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/>
                          <a:cs typeface="Calibri"/>
                        </a:rPr>
                        <a:t> {{insert_year}}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93412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Dovuti a lesioni/infortuni sul lavoro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</a:rPr>
                        <a:t>deaths_by_accidents</a:t>
                      </a: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}}</a:t>
                      </a:r>
                      <a:endParaRPr kumimoji="0" lang="it-IT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00751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Dovuti a malattie connesse al lavoro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</a:rPr>
                        <a:t>deaths_by_health</a:t>
                      </a:r>
                      <a:r>
                        <a:rPr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}}</a:t>
                      </a:r>
                      <a:endParaRPr kumimoji="0" lang="it-IT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11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5D01A9BD-1028-6124-EDFA-F7528B760856}"/>
              </a:ext>
            </a:extLst>
          </p:cNvPr>
          <p:cNvSpPr txBox="1"/>
          <p:nvPr/>
        </p:nvSpPr>
        <p:spPr>
          <a:xfrm>
            <a:off x="454796" y="873256"/>
            <a:ext cx="9791704" cy="728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comunicato informazioni sul numero di infortuni registrabili connessi al lavoro e di decessi connessi al lavoro per le ripartizioni seguenti: numero e tasso. Indica inoltre se i decessi connessi al lavoro sono dovuti a lesioni/infortuni o a malattie.</a:t>
            </a:r>
            <a:endParaRPr lang="it-IT" sz="1050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1050" noProof="0">
                <a:solidFill>
                  <a:schemeClr val="tx2"/>
                </a:solidFill>
                <a:latin typeface="Inter"/>
              </a:rPr>
            </a:br>
            <a:endParaRPr lang="it-IT" sz="1050" noProof="0">
              <a:solidFill>
                <a:schemeClr val="tx2"/>
              </a:solidFill>
              <a:latin typeface="Inter"/>
            </a:endParaRPr>
          </a:p>
        </p:txBody>
      </p:sp>
      <p:sp>
        <p:nvSpPr>
          <p:cNvPr id="24" name="Title 3">
            <a:extLst>
              <a:ext uri="{FF2B5EF4-FFF2-40B4-BE49-F238E27FC236}">
                <a16:creationId xmlns:a16="http://schemas.microsoft.com/office/drawing/2014/main" id="{9671F0E7-ADFB-1E9D-A747-4277AC9D48F4}"/>
              </a:ext>
            </a:extLst>
          </p:cNvPr>
          <p:cNvSpPr txBox="1">
            <a:spLocks/>
          </p:cNvSpPr>
          <p:nvPr/>
        </p:nvSpPr>
        <p:spPr>
          <a:xfrm>
            <a:off x="454796" y="2676156"/>
            <a:ext cx="9791704" cy="218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Forza lavoro: retribuzione, contrattazione collettiva e formazione (B10)</a:t>
            </a:r>
          </a:p>
        </p:txBody>
      </p:sp>
      <p:graphicFrame>
        <p:nvGraphicFramePr>
          <p:cNvPr id="26" name="Table 14">
            <a:extLst>
              <a:ext uri="{FF2B5EF4-FFF2-40B4-BE49-F238E27FC236}">
                <a16:creationId xmlns:a16="http://schemas.microsoft.com/office/drawing/2014/main" id="{B9DC9ED6-A05A-D3CE-334F-D39DB9606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925802"/>
              </p:ext>
            </p:extLst>
          </p:nvPr>
        </p:nvGraphicFramePr>
        <p:xfrm>
          <a:off x="5449949" y="3922747"/>
          <a:ext cx="4796550" cy="76780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337539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59012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9394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Divario retributivo tra dipendenti di sesso maschile e femminile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42b)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insert_year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7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b="0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1050" b="0" noProof="0">
                          <a:solidFill>
                            <a:srgbClr val="1B4528"/>
                          </a:solidFill>
                        </a:rPr>
                        <a:t>indsat_procentvise_lonforskel</a:t>
                      </a:r>
                      <a:r>
                        <a:rPr lang="it-IT" sz="1050" b="0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31571" marR="31571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27" name="Tabel 26">
            <a:extLst>
              <a:ext uri="{FF2B5EF4-FFF2-40B4-BE49-F238E27FC236}">
                <a16:creationId xmlns:a16="http://schemas.microsoft.com/office/drawing/2014/main" id="{6746C932-5E3F-E60C-3154-F9D424D47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95807"/>
              </p:ext>
            </p:extLst>
          </p:nvPr>
        </p:nvGraphicFramePr>
        <p:xfrm>
          <a:off x="445496" y="3922749"/>
          <a:ext cx="4800267" cy="75874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633550">
                  <a:extLst>
                    <a:ext uri="{9D8B030D-6E8A-4147-A177-3AD203B41FA5}">
                      <a16:colId xmlns:a16="http://schemas.microsoft.com/office/drawing/2014/main" val="160727125"/>
                    </a:ext>
                  </a:extLst>
                </a:gridCol>
                <a:gridCol w="1111137">
                  <a:extLst>
                    <a:ext uri="{9D8B030D-6E8A-4147-A177-3AD203B41FA5}">
                      <a16:colId xmlns:a16="http://schemas.microsoft.com/office/drawing/2014/main" val="1767985329"/>
                    </a:ext>
                  </a:extLst>
                </a:gridCol>
                <a:gridCol w="1055580">
                  <a:extLst>
                    <a:ext uri="{9D8B030D-6E8A-4147-A177-3AD203B41FA5}">
                      <a16:colId xmlns:a16="http://schemas.microsoft.com/office/drawing/2014/main" val="1397164534"/>
                    </a:ext>
                  </a:extLst>
                </a:gridCol>
              </a:tblGrid>
              <a:tr h="219395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Informazioni sul salario minimo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>(42a)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Sì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No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07533"/>
                  </a:ext>
                </a:extLst>
              </a:tr>
              <a:tr h="539347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Nell’impresa tutti i dipendenti percepiscono una retribuzione almeno pari al salario minimo 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minumum_wage_yes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minimum_wage_no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907362"/>
                  </a:ext>
                </a:extLst>
              </a:tr>
            </a:tbl>
          </a:graphicData>
        </a:graphic>
      </p:graphicFrame>
      <p:graphicFrame>
        <p:nvGraphicFramePr>
          <p:cNvPr id="29" name="Table 16">
            <a:extLst>
              <a:ext uri="{FF2B5EF4-FFF2-40B4-BE49-F238E27FC236}">
                <a16:creationId xmlns:a16="http://schemas.microsoft.com/office/drawing/2014/main" id="{9493B198-6182-0768-EF14-0EF37F9E9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789346"/>
              </p:ext>
            </p:extLst>
          </p:nvPr>
        </p:nvGraphicFramePr>
        <p:xfrm>
          <a:off x="445498" y="4815858"/>
          <a:ext cx="4796552" cy="80547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650727">
                  <a:extLst>
                    <a:ext uri="{9D8B030D-6E8A-4147-A177-3AD203B41FA5}">
                      <a16:colId xmlns:a16="http://schemas.microsoft.com/office/drawing/2014/main" val="81046444"/>
                    </a:ext>
                  </a:extLst>
                </a:gridCol>
                <a:gridCol w="214582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656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Contratto collettivo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42c)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{{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insert_year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}}</a:t>
                      </a:r>
                      <a:endParaRPr lang="it-IT" sz="1050" b="1" noProof="0">
                        <a:solidFill>
                          <a:srgbClr val="1B4528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39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Percentuale di dipendenti coperti da un contratto collettivo</a:t>
                      </a:r>
                      <a:endParaRPr kumimoji="0" lang="it-IT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indsat_procentvis_ansatte</a:t>
                      </a:r>
                      <a:r>
                        <a:rPr kumimoji="0" lang="it-I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31" name="Table 19">
            <a:extLst>
              <a:ext uri="{FF2B5EF4-FFF2-40B4-BE49-F238E27FC236}">
                <a16:creationId xmlns:a16="http://schemas.microsoft.com/office/drawing/2014/main" id="{12B3A72C-4031-E6CE-E541-98C8068B1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99691"/>
              </p:ext>
            </p:extLst>
          </p:nvPr>
        </p:nvGraphicFramePr>
        <p:xfrm>
          <a:off x="5448102" y="4806633"/>
          <a:ext cx="4796550" cy="81470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33938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5716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11922">
                <a:tc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Ore medie di formazione per dipendente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42d)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1050" b="1" noProof="0">
                          <a:solidFill>
                            <a:srgbClr val="1B4528"/>
                          </a:solidFill>
                          <a:latin typeface="Calibri"/>
                          <a:cs typeface="Calibri"/>
                        </a:rPr>
                        <a:t> {{insert_year}}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02780">
                <a:tc>
                  <a:txBody>
                    <a:bodyPr/>
                    <a:lstStyle/>
                    <a:p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Ora/e per dipendente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{{gennemsnitstimer}}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16706" marR="16706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85068"/>
                  </a:ext>
                </a:extLst>
              </a:tr>
            </a:tbl>
          </a:graphicData>
        </a:graphic>
      </p:graphicFrame>
      <p:sp>
        <p:nvSpPr>
          <p:cNvPr id="32" name="Tekstfelt 31">
            <a:extLst>
              <a:ext uri="{FF2B5EF4-FFF2-40B4-BE49-F238E27FC236}">
                <a16:creationId xmlns:a16="http://schemas.microsoft.com/office/drawing/2014/main" id="{067FE542-2FEF-EE03-D854-E2D5CB1E1DB8}"/>
              </a:ext>
            </a:extLst>
          </p:cNvPr>
          <p:cNvSpPr txBox="1"/>
          <p:nvPr/>
        </p:nvSpPr>
        <p:spPr>
          <a:xfrm>
            <a:off x="465933" y="3022746"/>
            <a:ext cx="9791704" cy="89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comunicato informazioni sul salario minimo, la percentuale di dipendenti coperti da contratti collettivi e il numero medio annuo di ore di formazione per dipendente, ripartito per genere. Se l’impresa è già tenuta, in forza della normativa UE 8 o di altre disposizioni nazionali, a comunicare la percentuale del divario retributivo tra dipendenti di sesso femminile e maschile, deve indicarla.</a:t>
            </a:r>
          </a:p>
          <a:p>
            <a:pPr>
              <a:buNone/>
            </a:pPr>
            <a:br>
              <a:rPr lang="it-IT" sz="1050" noProof="0">
                <a:solidFill>
                  <a:schemeClr val="tx2"/>
                </a:solidFill>
                <a:latin typeface="Inter"/>
              </a:rPr>
            </a:br>
            <a:endParaRPr lang="it-IT" sz="1050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34862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Condotta delle imprese: condanne e ammende per corruzione attiva &amp; passiva (B11)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F65586E-0EF1-899A-1FCC-C083408AD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72026"/>
              </p:ext>
            </p:extLst>
          </p:nvPr>
        </p:nvGraphicFramePr>
        <p:xfrm>
          <a:off x="445498" y="1706309"/>
          <a:ext cx="9791704" cy="53670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26390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3263901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3263901">
                  <a:extLst>
                    <a:ext uri="{9D8B030D-6E8A-4147-A177-3AD203B41FA5}">
                      <a16:colId xmlns:a16="http://schemas.microsoft.com/office/drawing/2014/main" val="1502960985"/>
                    </a:ext>
                  </a:extLst>
                </a:gridCol>
              </a:tblGrid>
              <a:tr h="268352">
                <a:tc rowSpan="2">
                  <a:txBody>
                    <a:bodyPr/>
                    <a:lstStyle/>
                    <a:p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Corruzione attiva e passiva </a:t>
                      </a:r>
                      <a:r>
                        <a:rPr lang="it-IT" sz="1050" b="0" noProof="0">
                          <a:solidFill>
                            <a:schemeClr val="tx2"/>
                          </a:solidFill>
                        </a:rPr>
                        <a:t xml:space="preserve">(punto 43)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Numero di condanne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b="1" noProof="0">
                          <a:solidFill>
                            <a:schemeClr val="tx2"/>
                          </a:solidFill>
                        </a:rPr>
                        <a:t xml:space="preserve">Importo complessivo delle ammende</a:t>
                      </a: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68352">
                <a:tc vMerge="1">
                  <a:txBody>
                    <a:bodyPr/>
                    <a:lstStyle/>
                    <a:p>
                      <a:endParaRPr lang="en-GB" sz="775" b="0">
                        <a:solidFill>
                          <a:srgbClr val="1B4528"/>
                        </a:solidFill>
                      </a:endParaRPr>
                    </a:p>
                  </a:txBody>
                  <a:tcPr marL="47356" marR="47356" marT="31571" marB="31571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{{domme}}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samlet_bodestorrelse</a:t>
                      </a:r>
                      <a:r>
                        <a:rPr lang="it-IT" sz="1050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1050" b="0" noProof="0">
                        <a:effectLst/>
                      </a:endParaRPr>
                    </a:p>
                  </a:txBody>
                  <a:tcPr marL="22275" marR="22275" marT="16706" marB="1670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12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endParaRPr lang="it-IT" noProof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18D9DD8E-27FC-601F-5895-E2455B4CB3B0}"/>
              </a:ext>
            </a:extLst>
          </p:cNvPr>
          <p:cNvSpPr txBox="1"/>
          <p:nvPr/>
        </p:nvSpPr>
        <p:spPr>
          <a:xfrm>
            <a:off x="454796" y="891000"/>
            <a:ext cx="9869667" cy="89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indicato le violazioni delle leggi in materia di lotta alla corruzione nel periodo di riferimento. Se l’impresa è stata oggetto di condanne o ammende per tali violazioni, sono state comunicate le informazioni seguenti: il numero di condanne e l’importo complessivo delle ammende irrogate. Tali informazioni riguardano l’etica aziendale e la sostenibilità dell’impresa, in particolare la gestione della corruzione, e sono indicate di seguito.</a:t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/>
            </a:r>
            <a:r>
              <a:rPr lang="it-IT" sz="1050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/>
            </a:r>
            <a:endParaRPr lang="it-IT" sz="1050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1050" noProof="0">
                <a:solidFill>
                  <a:schemeClr val="tx2"/>
                </a:solidFill>
                <a:latin typeface="Inter"/>
              </a:rPr>
            </a:br>
            <a:endParaRPr lang="it-IT" sz="1050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82118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7B3177-8AE4-2BCB-D392-E3B969EB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535" y="3900259"/>
            <a:ext cx="3025224" cy="907065"/>
          </a:xfrm>
          <a:noFill/>
        </p:spPr>
        <p:txBody>
          <a:bodyPr>
            <a:normAutofit/>
          </a:bodyPr>
          <a:lstStyle/>
          <a:p>
            <a:pPr algn="ctr"/>
            <a:r>
              <a:rPr lang="it-IT" sz="15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{{</a:t>
            </a:r>
            <a:r>
              <a:rPr lang="it-IT" sz="15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company_name</a:t>
            </a:r>
            <a:r>
              <a:rPr lang="it-IT" sz="15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}}</a:t>
            </a:r>
          </a:p>
          <a:p>
            <a:pPr algn="ctr"/>
            <a:r>
              <a:rPr lang="it-IT" sz="15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{{</a:t>
            </a:r>
            <a:r>
              <a:rPr lang="it-IT" sz="15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insert_year</a:t>
            </a:r>
            <a:r>
              <a:rPr lang="it-IT" sz="15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}}</a:t>
            </a:r>
            <a:br>
              <a:rPr lang="it-IT" sz="1575" b="1" noProof="0">
                <a:solidFill>
                  <a:srgbClr val="FFFFFF"/>
                </a:solidFill>
                <a:latin typeface="IBM Plex Sans" panose="020B0503050203000203" pitchFamily="34" charset="0"/>
              </a:rPr>
            </a:br>
            <a:endParaRPr lang="it-IT" sz="1575" noProof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8F46A40-E7BB-3909-2FA6-1A954E10A8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50571" y="7202406"/>
            <a:ext cx="2405700" cy="13495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25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1407082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ESG skabelon 2023">
  <a:themeElements>
    <a:clrScheme name="Custom 63">
      <a:dk1>
        <a:srgbClr val="000000"/>
      </a:dk1>
      <a:lt1>
        <a:srgbClr val="FFFFFF"/>
      </a:lt1>
      <a:dk2>
        <a:srgbClr val="1B4528"/>
      </a:dk2>
      <a:lt2>
        <a:srgbClr val="D1DAD4"/>
      </a:lt2>
      <a:accent1>
        <a:srgbClr val="1B4528"/>
      </a:accent1>
      <a:accent2>
        <a:srgbClr val="2D55FF"/>
      </a:accent2>
      <a:accent3>
        <a:srgbClr val="FCFC95"/>
      </a:accent3>
      <a:accent4>
        <a:srgbClr val="5F7D69"/>
      </a:accent4>
      <a:accent5>
        <a:srgbClr val="8DA294"/>
      </a:accent5>
      <a:accent6>
        <a:srgbClr val="BBC7BF"/>
      </a:accent6>
      <a:hlink>
        <a:srgbClr val="00A65A"/>
      </a:hlink>
      <a:folHlink>
        <a:srgbClr val="A6A6A6"/>
      </a:folHlink>
    </a:clrScheme>
    <a:fontScheme name="Custom 19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F7D69"/>
        </a:solidFill>
        <a:ln>
          <a:noFill/>
        </a:ln>
      </a:spPr>
      <a:bodyPr lIns="126000" tIns="108000" rIns="108000" bIns="144000" rtlCol="0" anchor="t" anchorCtr="0"/>
      <a:lstStyle>
        <a:defPPr algn="l">
          <a:lnSpc>
            <a:spcPct val="106000"/>
          </a:lnSpc>
          <a:defRPr sz="900" spc="-10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sz="900" spc="-1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Grøn 100%">
      <a:srgbClr val="1B4529"/>
    </a:custClr>
    <a:custClr name="Grøn 90%">
      <a:srgbClr val="32583E"/>
    </a:custClr>
    <a:custClr name="Grøn 80%">
      <a:srgbClr val="496A54"/>
    </a:custClr>
    <a:custClr name="Grøn 70%">
      <a:srgbClr val="5F7D69"/>
    </a:custClr>
    <a:custClr name="Grøn 60%">
      <a:srgbClr val="768F7F"/>
    </a:custClr>
    <a:custClr name="Grøn 50%">
      <a:srgbClr val="8DA294"/>
    </a:custClr>
    <a:custClr name="Grøn 40%">
      <a:srgbClr val="A4B5A9"/>
    </a:custClr>
    <a:custClr name="Grøn 30%">
      <a:srgbClr val="BBC7BF"/>
    </a:custClr>
    <a:custClr name="Grøn 20%">
      <a:srgbClr val="D1DAD4"/>
    </a:custClr>
    <a:custClr name="Grøn 10%">
      <a:srgbClr val="E8ECEA"/>
    </a:custClr>
  </a:custClrLst>
  <a:extLst>
    <a:ext uri="{05A4C25C-085E-4340-85A3-A5531E510DB2}">
      <thm15:themeFamily xmlns:thm15="http://schemas.microsoft.com/office/thememl/2012/main" name="Tema ESG skabelon 2023" id="{4F616B44-E23C-9D4B-A414-B698B6CB0592}" vid="{C1CEAE3D-34EF-BE45-B60E-4DC3BCA22C4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C5C98558ED72C4BBCB756F8247CFA4C" ma:contentTypeVersion="18" ma:contentTypeDescription="Opret et nyt dokument." ma:contentTypeScope="" ma:versionID="05a2f073985d4662672e64bc9a421606">
  <xsd:schema xmlns:xsd="http://www.w3.org/2001/XMLSchema" xmlns:xs="http://www.w3.org/2001/XMLSchema" xmlns:p="http://schemas.microsoft.com/office/2006/metadata/properties" xmlns:ns2="a1c42b88-5e29-4fe4-8139-416e072a19cb" xmlns:ns3="202ccbda-223a-4645-9097-be5f8cdf3aa6" xmlns:ns4="43a5b9ff-ef68-4e08-86c8-07b185fdc818" targetNamespace="http://schemas.microsoft.com/office/2006/metadata/properties" ma:root="true" ma:fieldsID="50f1595d426bd689bc07261444f354ae" ns2:_="" ns3:_="" ns4:_="">
    <xsd:import namespace="a1c42b88-5e29-4fe4-8139-416e072a19cb"/>
    <xsd:import namespace="202ccbda-223a-4645-9097-be5f8cdf3aa6"/>
    <xsd:import namespace="43a5b9ff-ef68-4e08-86c8-07b185fdc8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indhold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c42b88-5e29-4fe4-8139-416e072a19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ledmærker" ma:readOnly="false" ma:fieldId="{5cf76f15-5ced-4ddc-b409-7134ff3c332f}" ma:taxonomyMulti="true" ma:sspId="5bc8fd69-a729-4468-93ff-8d64956d1b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ndhold" ma:index="22" nillable="true" ma:displayName="indhold" ma:format="Dropdown" ma:internalName="indhold">
      <xsd:simpleType>
        <xsd:restriction base="dms:Text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ccbda-223a-4645-9097-be5f8cdf3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a5b9ff-ef68-4e08-86c8-07b185fdc81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2a80f0-0fad-4372-b264-33bf0361a80c}" ma:internalName="TaxCatchAll" ma:showField="CatchAllData" ma:web="202ccbda-223a-4645-9097-be5f8cdf3a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3a5b9ff-ef68-4e08-86c8-07b185fdc818" xsi:nil="true"/>
    <indhold xmlns="a1c42b88-5e29-4fe4-8139-416e072a19cb" xsi:nil="true"/>
    <lcf76f155ced4ddcb4097134ff3c332f xmlns="a1c42b88-5e29-4fe4-8139-416e072a19c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3C50CC-B1F2-4B3E-8326-2BA1B8993967}">
  <ds:schemaRefs>
    <ds:schemaRef ds:uri="202ccbda-223a-4645-9097-be5f8cdf3aa6"/>
    <ds:schemaRef ds:uri="43a5b9ff-ef68-4e08-86c8-07b185fdc818"/>
    <ds:schemaRef ds:uri="a1c42b88-5e29-4fe4-8139-416e072a19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12C55C2-A88D-45C1-99A2-B6C1D18AED07}">
  <ds:schemaRefs>
    <ds:schemaRef ds:uri="43a5b9ff-ef68-4e08-86c8-07b185fdc818"/>
    <ds:schemaRef ds:uri="a1c42b88-5e29-4fe4-8139-416e072a19cb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C2DE4E-10FC-4FD7-BA3A-6232093B72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25</Slides>
  <Notes>21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25</vt:i4>
      </vt:variant>
    </vt:vector>
  </HeadingPairs>
  <TitlesOfParts>
    <vt:vector size="26" baseType="lpstr">
      <vt:lpstr>Tema ESG skabelon 2023</vt:lpstr>
      <vt:lpstr>OPGØRELSE {{insert_year}}</vt:lpstr>
      <vt:lpstr>ESG opgørelse  </vt:lpstr>
      <vt:lpstr>Grundlag for udarbejdelse (B1) </vt:lpstr>
      <vt:lpstr>Grundlag for udarbejdelse (B1) - fortsat</vt:lpstr>
      <vt:lpstr>Indsatser, politikker og fremtidige initiativer for omstilling til en mere bæredygtig økonomi (B2)</vt:lpstr>
      <vt:lpstr>Energiforbrug (B3)</vt:lpstr>
      <vt:lpstr>Forurening af luft, vand og jord (B4)</vt:lpstr>
      <vt:lpstr>Vand (B6)</vt:lpstr>
      <vt:lpstr>Ressourceforbrug, cirkulær økonomi og affaldshåndtering (B7) – fortsat</vt:lpstr>
      <vt:lpstr>Egen arbejdsstyrke: Generelle karakteristika (B8) </vt:lpstr>
      <vt:lpstr>Egen arbejdsstyrke: Sundhed og sikkerhed (B9)</vt:lpstr>
      <vt:lpstr>Virksomhedsadfærd: Antal domme og bøder i relation til korruption &amp; bestikkelse (B11) </vt:lpstr>
      <vt:lpstr>PowerPoint-præsentation</vt:lpstr>
      <vt:lpstr>Strategi: Forretningsmodel og bæredygtighedsrelaterede initiativer (C1)</vt:lpstr>
      <vt:lpstr>Indsatser, politikker og fremtidige initiativer for omstilling til en mere bæredygtig økonomi (C2)</vt:lpstr>
      <vt:lpstr>CO₂e-udledning under B3 i Basismodulet</vt:lpstr>
      <vt:lpstr>Klimaomstilling (C3)</vt:lpstr>
      <vt:lpstr>Klimarisici (C4)</vt:lpstr>
      <vt:lpstr>Klimarisici (C4) - fortsat</vt:lpstr>
      <vt:lpstr>Supplerende (generelle) oplysninger om arbejdsstyrken (C5)</vt:lpstr>
      <vt:lpstr>Menneskerettighedspolitikker og -processer (C6) - Egen arbejdsstyrke</vt:lpstr>
      <vt:lpstr>Alvorlige negative menneskerettighedshændelser (C7) – Egen arbejdsstyrke</vt:lpstr>
      <vt:lpstr>Alvorlige negative menneskerettighedshændelser (C7) – I værdikæden</vt:lpstr>
      <vt:lpstr>Indtægter fra bestemte aktiviteter (C8)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27</cp:revision>
  <dcterms:created xsi:type="dcterms:W3CDTF">2025-02-28T18:51:17Z</dcterms:created>
  <dcterms:modified xsi:type="dcterms:W3CDTF">2026-08-06T18:34:12Z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0x0101004C5C98558ED72C4BBCB756F8247CFA4C</vt:lpwstr>
  </property>
  <property fmtid="{D5CDD505-2E9C-101B-9397-08002B2CF9AE}" pid="3" name="MediaServiceImageTags">
    <vt:lpwstr/>
  </property>
</Properties>
</file>