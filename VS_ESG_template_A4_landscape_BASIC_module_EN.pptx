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30"/>
  </p:notesMasterIdLst>
  <p:sldIdLst>
    <p:sldId id="258" r:id="rId5"/>
    <p:sldId id="331" r:id="rId6"/>
    <p:sldId id="355" r:id="rId7"/>
    <p:sldId id="326" r:id="rId8"/>
    <p:sldId id="314" r:id="rId9"/>
    <p:sldId id="327" r:id="rId10"/>
    <p:sldId id="316" r:id="rId11"/>
    <p:sldId id="297" r:id="rId12"/>
    <p:sldId id="300" r:id="rId13"/>
    <p:sldId id="301" r:id="rId14"/>
    <p:sldId id="302" r:id="rId15"/>
    <p:sldId id="307" r:id="rId16"/>
    <p:sldId id="272" r:id="rId29"/>
  </p:sldIdLst>
  <p:sldSz cx="10692000" cy="7560000" type="A4"/>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383CF3-0F17-4DA7-AC5F-396DF6463070}" v="36" dt="2026-08-04T20:47:23.299"/>
    <p1510:client id="{9CB8CBE5-AFE3-AE0A-C576-FD9E7262F5DA}" v="153" dt="2026-08-05T15:04:12.209"/>
    <p1510:client id="{9F9C41D0-6860-4C95-9D1A-3405FEFCCBF5}" v="56" dt="2026-08-06T18:34:10.3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9.xml"/><Relationship Id="rId3" Type="http://schemas.openxmlformats.org/officeDocument/2006/relationships/customXml" Target="../customXml/item3.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36" Type="http://schemas.microsoft.com/office/2018/10/relationships/authors" Target="authors.xml"/><Relationship Id="rId10" Type="http://schemas.openxmlformats.org/officeDocument/2006/relationships/slide" Target="slides/slide6.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en-GB"/>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en-GB" smtClean="0"/>
              <a:pPr/>
              <a:t xml:space="preserve">06-08-2026</a:t>
            </a:fld>
            <a:endParaRPr lang="en-GB"/>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 xml:space="preserve">Click to edit Master text styles</a:t>
            </a:r>
          </a:p>
          <a:p>
            <a:pPr lvl="1"/>
            <a:r>
              <a:rPr lang="en-GB"/>
              <a:t xml:space="preserve">Second level</a:t>
            </a:r>
          </a:p>
          <a:p>
            <a:pPr lvl="2"/>
            <a:r>
              <a:rPr lang="en-GB"/>
              <a:t xml:space="preserve">Third level</a:t>
            </a:r>
          </a:p>
          <a:p>
            <a:pPr lvl="3"/>
            <a:r>
              <a:rPr lang="en-GB"/>
              <a:t xml:space="preserve">Fourth level</a:t>
            </a:r>
          </a:p>
          <a:p>
            <a:pPr lvl="4"/>
            <a:r>
              <a:rPr lang="en-GB"/>
              <a:t xml:space="preserve">Fifth level</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en-GB"/>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en-GB" smtClean="0"/>
              <a:pPr/>
              <a:t xml:space="preserve">‹#›</a:t>
            </a:fld>
            <a:endParaRPr lang="en-GB"/>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 xml:space="preserve">1</a:t>
            </a:fld>
            <a:endParaRPr lang="en-GB"/>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 xml:space="preserve">2</a:t>
            </a:fld>
            <a:endParaRPr lang="en-GB"/>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 xml:space="preserve">3</a:t>
            </a:fld>
            <a:endParaRPr lang="en-GB"/>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 xml:space="preserve">4</a:t>
            </a:fld>
            <a:endParaRPr lang="en-GB"/>
          </a:p>
        </p:txBody>
      </p:sp>
    </p:spTree>
    <p:extLst>
      <p:ext uri="{BB962C8B-B14F-4D97-AF65-F5344CB8AC3E}">
        <p14:creationId xmlns:p14="http://schemas.microsoft.com/office/powerpoint/2010/main" val="3385997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n-GB"/>
              <a:t xml:space="preserve">Removed: </a:t>
            </a:r>
            <a:r>
              <a:rPr lang="en-GB" sz="1200" b="0" i="0" u="none" strike="noStrike" kern="1200">
                <a:solidFill>
                  <a:schemeClr val="tx1"/>
                </a:solidFill>
                <a:effectLst/>
                <a:latin typeface="IBM Plex Sans" panose="020B0503050203000203" pitchFamily="34" charset="0"/>
                <a:ea typeface="+mn-ea"/>
                <a:cs typeface="+mn-cs"/>
              </a:rPr>
              <a:t xml:space="preserve">{{documents_B2}}</a:t>
            </a:r>
          </a:p>
          <a:p>
            <a:r>
              <a:rPr lang="en-GB" sz="1200" b="0" i="0" u="none" strike="noStrike" kern="1200" err="1">
                <a:solidFill>
                  <a:schemeClr val="tx1"/>
                </a:solidFill>
                <a:effectLst/>
                <a:latin typeface="IBM Plex Sans" panose="020B0503050203000203" pitchFamily="34" charset="0"/>
                <a:ea typeface="+mn-ea"/>
                <a:cs typeface="+mn-cs"/>
              </a:rPr>
              <a:t xml:space="preserve">Added</a:t>
            </a:r>
            <a:r>
              <a:rPr lang="en-GB" sz="1200" b="0" i="0" u="none" strike="noStrike" kern="1200">
                <a:solidFill>
                  <a:schemeClr val="tx1"/>
                </a:solidFill>
                <a:effectLst/>
                <a:latin typeface="IBM Plex Sans" panose="020B0503050203000203" pitchFamily="34" charset="0"/>
                <a:ea typeface="+mn-ea"/>
                <a:cs typeface="+mn-cs"/>
              </a:rPr>
              <a:t xml:space="preserve">: </a:t>
            </a:r>
            <a:r>
              <a:rPr lang="en-GB" sz="1200" b="0" i="0" u="none" strike="noStrike" kern="1200" err="1">
                <a:solidFill>
                  <a:schemeClr val="tx1"/>
                </a:solidFill>
                <a:effectLst/>
                <a:latin typeface="IBM Plex Sans" panose="020B0503050203000203" pitchFamily="34" charset="0"/>
                <a:ea typeface="+mn-ea"/>
                <a:cs typeface="+mn-cs"/>
              </a:rPr>
              <a:t xml:space="preserve">column</a:t>
            </a:r>
            <a:r>
              <a:rPr lang="en-GB" sz="1200" b="0" i="0" u="none" strike="noStrike" kern="1200">
                <a:solidFill>
                  <a:schemeClr val="tx1"/>
                </a:solidFill>
                <a:effectLst/>
                <a:latin typeface="IBM Plex Sans" panose="020B0503050203000203" pitchFamily="34" charset="0"/>
                <a:ea typeface="+mn-ea"/>
                <a:cs typeface="+mn-cs"/>
              </a:rPr>
              <a:t xml:space="preserve"> on </a:t>
            </a:r>
            <a:r>
              <a:rPr lang="en-GB" sz="1200" b="0" i="0" u="none" strike="noStrike" kern="1200" err="1">
                <a:solidFill>
                  <a:schemeClr val="tx1"/>
                </a:solidFill>
                <a:effectLst/>
                <a:latin typeface="IBM Plex Sans" panose="020B0503050203000203" pitchFamily="34" charset="0"/>
                <a:ea typeface="+mn-ea"/>
                <a:cs typeface="+mn-cs"/>
              </a:rPr>
              <a:t xml:space="preserve">monitoring</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 xml:space="preserve">5</a:t>
            </a:fld>
            <a:endParaRPr lang="en-GB"/>
          </a:p>
        </p:txBody>
      </p:sp>
    </p:spTree>
    <p:extLst>
      <p:ext uri="{BB962C8B-B14F-4D97-AF65-F5344CB8AC3E}">
        <p14:creationId xmlns:p14="http://schemas.microsoft.com/office/powerpoint/2010/main" val="3400092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en-GB"/>
          </a:p>
        </p:txBody>
      </p:sp>
      <p:sp>
        <p:nvSpPr>
          <p:cNvPr id="3" name="Pladsholder til noter 2"/>
          <p:cNvSpPr>
            <a:spLocks noGrp="1"/>
          </p:cNvSpPr>
          <p:nvPr>
            <p:ph type="body" idx="1"/>
          </p:nvPr>
        </p:nvSpPr>
        <p:spPr/>
        <p:txBody>
          <a:bodyPr/>
          <a:lstStyle/>
          <a:p>
            <a:pPr rtl="0"/>
            <a:r>
              <a:rPr lang="en-GB"/>
              <a:t xml:space="preserve">Removed: </a:t>
            </a:r>
            <a:r>
              <a:rPr lang="en-GB" sz="1200" b="0" i="0" u="none" strike="noStrike" kern="1200">
                <a:solidFill>
                  <a:schemeClr val="tx1"/>
                </a:solidFill>
                <a:effectLst/>
                <a:latin typeface="IBM Plex Sans" panose="020B0503050203000203" pitchFamily="34" charset="0"/>
                <a:ea typeface="+mn-ea"/>
                <a:cs typeface="+mn-cs"/>
              </a:rPr>
              <a:t xml:space="preserve">{{Insert_CO2e_intensity}}</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n-GB" smtClean="0"/>
              <a:pPr/>
              <a:t xml:space="preserve">6</a:t>
            </a:fld>
            <a:endParaRPr lang="en-GB"/>
          </a:p>
        </p:txBody>
      </p:sp>
    </p:spTree>
    <p:extLst>
      <p:ext uri="{BB962C8B-B14F-4D97-AF65-F5344CB8AC3E}">
        <p14:creationId xmlns:p14="http://schemas.microsoft.com/office/powerpoint/2010/main" val="3098348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en-GB"/>
              <a:t xml:space="preserve">Removed: </a:t>
            </a:r>
            <a:r>
              <a:rPr lang="en-GB" sz="1200" b="0" i="0" u="none" strike="noStrike" kern="1200">
                <a:solidFill>
                  <a:schemeClr val="tx1"/>
                </a:solidFill>
                <a:effectLst/>
                <a:latin typeface="IBM Plex Sans" panose="020B0503050203000203" pitchFamily="34" charset="0"/>
                <a:ea typeface="+mn-ea"/>
                <a:cs typeface="+mn-cs"/>
              </a:rPr>
              <a:t xml:space="preserve">{{uploaded_documents_B4}}</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n-GB" smtClean="0"/>
              <a:pPr/>
              <a:t xml:space="preserve">7</a:t>
            </a:fld>
            <a:endParaRPr lang="en-GB"/>
          </a:p>
        </p:txBody>
      </p:sp>
    </p:spTree>
    <p:extLst>
      <p:ext uri="{BB962C8B-B14F-4D97-AF65-F5344CB8AC3E}">
        <p14:creationId xmlns:p14="http://schemas.microsoft.com/office/powerpoint/2010/main" val="247428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en-GB"/>
              <a:t xml:space="preserve">Removed: </a:t>
            </a:r>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waterstress_withdrawal</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b="0">
              <a:effectLst/>
            </a:endParaRPr>
          </a:p>
          <a:p>
            <a:br>
              <a:rPr lang="en-GB"/>
            </a:br>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 xml:space="preserve">8</a:t>
            </a:fld>
            <a:endParaRPr lang="en-GB"/>
          </a:p>
        </p:txBody>
      </p:sp>
    </p:spTree>
    <p:extLst>
      <p:ext uri="{BB962C8B-B14F-4D97-AF65-F5344CB8AC3E}">
        <p14:creationId xmlns:p14="http://schemas.microsoft.com/office/powerpoint/2010/main" val="311205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en-GB"/>
          </a:p>
        </p:txBody>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 xml:space="preserve">9</a:t>
            </a:fld>
            <a:endParaRPr lang="en-GB"/>
          </a:p>
        </p:txBody>
      </p:sp>
    </p:spTree>
    <p:extLst>
      <p:ext uri="{BB962C8B-B14F-4D97-AF65-F5344CB8AC3E}">
        <p14:creationId xmlns:p14="http://schemas.microsoft.com/office/powerpoint/2010/main" val="2243809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en-GB"/>
              <a:t xml:space="preserve">Removed: </a:t>
            </a:r>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omsatningsrate</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n-GB" smtClean="0"/>
              <a:pPr/>
              <a:t xml:space="preserve">10</a:t>
            </a:fld>
            <a:endParaRPr lang="en-GB"/>
          </a:p>
        </p:txBody>
      </p:sp>
    </p:spTree>
    <p:extLst>
      <p:ext uri="{BB962C8B-B14F-4D97-AF65-F5344CB8AC3E}">
        <p14:creationId xmlns:p14="http://schemas.microsoft.com/office/powerpoint/2010/main" val="4064382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en-GB"/>
          </a:p>
        </p:txBody>
      </p:sp>
      <p:sp>
        <p:nvSpPr>
          <p:cNvPr id="3" name="Pladsholder til noter 2"/>
          <p:cNvSpPr>
            <a:spLocks noGrp="1"/>
          </p:cNvSpPr>
          <p:nvPr>
            <p:ph type="body" idx="1"/>
          </p:nvPr>
        </p:nvSpPr>
        <p:spPr/>
        <p:txBody>
          <a:bodyPr/>
          <a:lstStyle/>
          <a:p>
            <a:pPr rtl="0" eaLnBrk="1" fontAlgn="ctr" latinLnBrk="0" hangingPunct="1"/>
            <a:r>
              <a:rPr lang="en-GB" b="0">
                <a:effectLst/>
              </a:rPr>
              <a:t xml:space="preserve">Removed: </a:t>
            </a:r>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men_gennemsnitstimer</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women_gennemsnitstimer</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other_gennemsnitstimer</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n-GB" smtClean="0"/>
              <a:pPr/>
              <a:t xml:space="preserve">11</a:t>
            </a:fld>
            <a:endParaRPr lang="en-GB"/>
          </a:p>
        </p:txBody>
      </p:sp>
    </p:spTree>
    <p:extLst>
      <p:ext uri="{BB962C8B-B14F-4D97-AF65-F5344CB8AC3E}">
        <p14:creationId xmlns:p14="http://schemas.microsoft.com/office/powerpoint/2010/main" val="3599874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 xml:space="preserve">12</a:t>
            </a:fld>
            <a:endParaRPr lang="en-GB"/>
          </a:p>
        </p:txBody>
      </p:sp>
    </p:spTree>
    <p:extLst>
      <p:ext uri="{BB962C8B-B14F-4D97-AF65-F5344CB8AC3E}">
        <p14:creationId xmlns:p14="http://schemas.microsoft.com/office/powerpoint/2010/main" val="306125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45500" y="890814"/>
            <a:ext cx="3080911" cy="4672738"/>
          </a:xfrm>
        </p:spPr>
        <p:txBody>
          <a:bodyPr/>
          <a:lstStyle>
            <a:lvl1pPr marL="0" indent="0">
              <a:buNone/>
              <a:defRPr/>
            </a:lvl1pPr>
          </a:lstStyle>
          <a:p>
            <a:pPr lvl="0"/>
            <a:r>
              <a:rPr lang="en-GB" noProof="0" err="1"/>
              <a:t xml:space="preserve">Click</a:t>
            </a:r>
            <a:r>
              <a:rPr lang="en-GB" noProof="0"/>
              <a:t xml:space="preserve"> to </a:t>
            </a:r>
            <a:r>
              <a:rPr lang="en-GB" noProof="0" err="1"/>
              <a:t xml:space="preserve">edit</a:t>
            </a:r>
            <a:r>
              <a:rPr lang="en-GB" noProof="0"/>
              <a:t xml:space="preserve"> Master </a:t>
            </a:r>
            <a:r>
              <a:rPr lang="en-GB" noProof="0" err="1"/>
              <a:t xml:space="preserve">text</a:t>
            </a:r>
            <a:r>
              <a:rPr lang="en-GB" noProof="0"/>
              <a:t xml:space="preserve">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3804849" y="890815"/>
            <a:ext cx="3080910" cy="4672737"/>
          </a:xfrm>
        </p:spPr>
        <p:txBody>
          <a:bodyPr/>
          <a:lstStyle>
            <a:lvl1pPr marL="0" indent="0">
              <a:buNone/>
              <a:defRPr/>
            </a:lvl1pPr>
          </a:lstStyle>
          <a:p>
            <a:pPr lvl="0"/>
            <a:r>
              <a:rPr lang="en-GB" noProof="0" err="1"/>
              <a:t xml:space="preserve">Click</a:t>
            </a:r>
            <a:r>
              <a:rPr lang="en-GB" noProof="0"/>
              <a:t xml:space="preserve"> to </a:t>
            </a:r>
            <a:r>
              <a:rPr lang="en-GB" noProof="0" err="1"/>
              <a:t xml:space="preserve">edit</a:t>
            </a:r>
            <a:r>
              <a:rPr lang="en-GB" noProof="0"/>
              <a:t xml:space="preserve"> Master </a:t>
            </a:r>
            <a:r>
              <a:rPr lang="en-GB" noProof="0" err="1"/>
              <a:t xml:space="preserve">text</a:t>
            </a:r>
            <a:r>
              <a:rPr lang="en-GB" noProof="0"/>
              <a:t xml:space="preserve">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n-GB"/>
              <a:t xml:space="preserve">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ESG wordmark"/>
          <p:cNvSpPr txBox="1"/>
          <p:nvPr/>
        </p:nvSpPr>
        <p:spPr>
          <a:xfrm>
            <a:off x="365760" y="1043948"/>
            <a:ext cx="9960480" cy="3508791"/>
          </a:xfrm>
          <a:prstGeom prst="rect">
            <a:avLst/>
          </a:prstGeom>
          <a:noFill/>
        </p:spPr>
        <p:txBody>
          <a:bodyPr wrap="square" lIns="0" tIns="0" rIns="0" bIns="0" anchor="ctr">
            <a:noAutofit/>
          </a:bodyPr>
          <a:lstStyle/>
          <a:p>
            <a:pPr algn="ctr"/>
            <a:r>
              <a:rPr lang="en-GB" sz="20400" b="1" spc="-510" dirty="0">
                <a:solidFill>
                  <a:srgbClr val="FFFFFF"/>
                </a:solidFill>
                <a:latin typeface="+mn-lt"/>
              </a:rPr>
              <a:t>ESG</a:t>
            </a:r>
            <a:endParaRPr lang="en-GB" sz="20400" b="1" spc="-510"/>
          </a:p>
        </p:txBody>
      </p:sp>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3072658" y="4359745"/>
            <a:ext cx="4539794" cy="246616"/>
          </a:xfrm>
        </p:spPr>
        <p:txBody>
          <a:bodyPr/>
          <a:lstStyle>
            <a:lvl1pPr algn="ctr">
              <a:defRPr sz="1225">
                <a:solidFill>
                  <a:schemeClr val="bg1"/>
                </a:solidFill>
              </a:defRPr>
            </a:lvl1pPr>
          </a:lstStyle>
          <a:p>
            <a:r>
              <a:rPr lang="en-GB"/>
              <a:t xml:space="preserve">CLICK TO INSERT COMPANY NAME</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946688" y="4051289"/>
            <a:ext cx="8798625" cy="160254"/>
          </a:xfrm>
        </p:spPr>
        <p:txBody>
          <a:bodyPr/>
          <a:lstStyle>
            <a:lvl1pPr algn="ctr">
              <a:defRPr sz="950" spc="300">
                <a:solidFill>
                  <a:schemeClr val="bg1"/>
                </a:solidFill>
              </a:defRPr>
            </a:lvl1pPr>
          </a:lstStyle>
          <a:p>
            <a:r>
              <a:rPr lang="en-GB"/>
              <a:t xml:space="preserve">INSERT TITLE</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54795" y="864270"/>
            <a:ext cx="3997234" cy="4704480"/>
          </a:xfrm>
        </p:spPr>
        <p:txBody>
          <a:bodyPr/>
          <a:lstStyle>
            <a:lvl1pPr marL="0" indent="0">
              <a:lnSpc>
                <a:spcPct val="129000"/>
              </a:lnSpc>
              <a:spcAft>
                <a:spcPts val="0"/>
              </a:spcAft>
              <a:buNone/>
              <a:tabLst>
                <a:tab pos="252567" algn="l"/>
                <a:tab pos="410421" algn="l"/>
                <a:tab pos="3599079" algn="r"/>
              </a:tabLst>
              <a:defRPr sz="775">
                <a:solidFill>
                  <a:schemeClr val="tx2"/>
                </a:solidFill>
              </a:defRPr>
            </a:lvl1pPr>
          </a:lstStyle>
          <a:p>
            <a:pPr lvl="0"/>
            <a:r>
              <a:rPr lang="en-GB" noProof="0" err="1"/>
              <a:t xml:space="preserve">Click</a:t>
            </a:r>
            <a:r>
              <a:rPr lang="en-GB" noProof="0"/>
              <a:t xml:space="preserve"> to </a:t>
            </a:r>
            <a:r>
              <a:rPr lang="en-GB" noProof="0" err="1"/>
              <a:t xml:space="preserve">edit</a:t>
            </a:r>
            <a:r>
              <a:rPr lang="en-GB" noProof="0"/>
              <a:t xml:space="preserve"> Master </a:t>
            </a:r>
            <a:r>
              <a:rPr lang="en-GB" noProof="0" err="1"/>
              <a:t xml:space="preserve">text</a:t>
            </a:r>
            <a:r>
              <a:rPr lang="en-GB" noProof="0"/>
              <a:t xml:space="preserve">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5675750" y="859072"/>
            <a:ext cx="3997234" cy="4704479"/>
          </a:xfrm>
        </p:spPr>
        <p:txBody>
          <a:bodyPr/>
          <a:lstStyle>
            <a:lvl1pPr marL="0" indent="0">
              <a:lnSpc>
                <a:spcPct val="129000"/>
              </a:lnSpc>
              <a:spcAft>
                <a:spcPts val="0"/>
              </a:spcAft>
              <a:buNone/>
              <a:tabLst>
                <a:tab pos="252567" algn="l"/>
                <a:tab pos="410421" algn="l"/>
                <a:tab pos="3599079" algn="r"/>
              </a:tabLst>
              <a:defRPr sz="775">
                <a:solidFill>
                  <a:schemeClr val="tx2"/>
                </a:solidFill>
              </a:defRPr>
            </a:lvl1pPr>
          </a:lstStyle>
          <a:p>
            <a:pPr lvl="0"/>
            <a:r>
              <a:rPr lang="en-GB" noProof="0" err="1"/>
              <a:t xml:space="preserve">Click</a:t>
            </a:r>
            <a:r>
              <a:rPr lang="en-GB" noProof="0"/>
              <a:t xml:space="preserve"> to </a:t>
            </a:r>
            <a:r>
              <a:rPr lang="en-GB" noProof="0" err="1"/>
              <a:t xml:space="preserve">edit</a:t>
            </a:r>
            <a:r>
              <a:rPr lang="en-GB" noProof="0"/>
              <a:t xml:space="preserve"> Master </a:t>
            </a:r>
            <a:r>
              <a:rPr lang="en-GB" noProof="0" err="1"/>
              <a:t xml:space="preserve">text</a:t>
            </a:r>
            <a:r>
              <a:rPr lang="en-GB" noProof="0"/>
              <a:t xml:space="preserve">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en-GB"/>
              <a:t xml:space="preserve">CLICK TO INSERT COMPANY NAME</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en-GB" smtClean="0"/>
              <a:pPr/>
              <a:t xml:space="preserve">‹#›</a:t>
            </a:fld>
            <a:endParaRPr lang="en-GB"/>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n-GB"/>
              <a:t xml:space="preserve">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en-GB" noProof="0" err="1"/>
              <a:t xml:space="preserve">Click</a:t>
            </a:r>
            <a:r>
              <a:rPr lang="en-GB" noProof="0"/>
              <a:t xml:space="preserve"> to </a:t>
            </a:r>
            <a:r>
              <a:rPr lang="en-GB" noProof="0" err="1"/>
              <a:t xml:space="preserve">edit</a:t>
            </a:r>
            <a:r>
              <a:rPr lang="en-GB" noProof="0"/>
              <a:t xml:space="preserve"> Master </a:t>
            </a:r>
            <a:r>
              <a:rPr lang="en-GB" noProof="0" err="1"/>
              <a:t xml:space="preserve">title</a:t>
            </a:r>
            <a:r>
              <a:rPr lang="en-GB" noProof="0"/>
              <a:t xml:space="preserve">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en-GB"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en-GB" noProof="0"/>
              <a:t xml:space="preserve">CLICK TO INSERT COMPANY NAME</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en-GB" noProof="0" smtClean="0"/>
              <a:pPr/>
              <a:t xml:space="preserve">‹#›</a:t>
            </a:fld>
            <a:endParaRPr lang="en-GB"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946688" y="1392188"/>
            <a:ext cx="8798625" cy="1280812"/>
          </a:xfrm>
          <a:solidFill>
            <a:srgbClr val="1B4529"/>
          </a:solidFill>
        </p:spPr>
        <p:txBody>
          <a:bodyPr>
            <a:normAutofit/>
          </a:bodyPr>
          <a:lstStyle>
            <a:lvl1pPr marL="0" indent="0">
              <a:lnSpc>
                <a:spcPct val="100000"/>
              </a:lnSpc>
              <a:spcBef>
                <a:spcPts val="175"/>
              </a:spcBef>
              <a:buFontTx/>
              <a:buNone/>
              <a:defRPr sz="950">
                <a:solidFill>
                  <a:schemeClr val="bg1"/>
                </a:solidFill>
              </a:defRPr>
            </a:lvl1pPr>
            <a:lvl2pPr marL="157854" indent="0">
              <a:buFontTx/>
              <a:buNone/>
              <a:defRPr sz="950">
                <a:solidFill>
                  <a:schemeClr val="bg1"/>
                </a:solidFill>
              </a:defRPr>
            </a:lvl2pPr>
            <a:lvl3pPr marL="441992" indent="-142069">
              <a:defRPr sz="950">
                <a:solidFill>
                  <a:schemeClr val="bg1"/>
                </a:solidFill>
              </a:defRPr>
            </a:lvl3pPr>
            <a:lvl4pPr marL="615632" indent="-142069">
              <a:defRPr sz="950">
                <a:solidFill>
                  <a:schemeClr val="bg1"/>
                </a:solidFill>
              </a:defRPr>
            </a:lvl4pPr>
            <a:lvl5pPr marL="757701" indent="-142069">
              <a:defRPr sz="950">
                <a:solidFill>
                  <a:schemeClr val="bg1"/>
                </a:solidFill>
              </a:defRPr>
            </a:lvl5pPr>
          </a:lstStyle>
          <a:p>
            <a:pPr lvl="0"/>
            <a:r>
              <a:rPr lang="en-GB" noProof="0"/>
              <a:t xml:space="preserve">Insert company information</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en-GB" noProof="0" err="1"/>
              <a:t xml:space="preserve">Click</a:t>
            </a:r>
            <a:r>
              <a:rPr lang="en-GB" noProof="0"/>
              <a:t xml:space="preserve"> to </a:t>
            </a:r>
            <a:r>
              <a:rPr lang="en-GB" noProof="0" err="1"/>
              <a:t xml:space="preserve">edit</a:t>
            </a:r>
            <a:r>
              <a:rPr lang="en-GB" noProof="0"/>
              <a:t xml:space="preserve"> Master </a:t>
            </a:r>
            <a:r>
              <a:rPr lang="en-GB" noProof="0" err="1"/>
              <a:t xml:space="preserve">title</a:t>
            </a:r>
            <a:r>
              <a:rPr lang="en-GB" noProof="0"/>
              <a:t xml:space="preserve">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en-GB" noProof="0"/>
              <a:t xml:space="preserve">CLICK TO INSERT COMPANY NAME</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en-GB" noProof="0" smtClean="0"/>
              <a:pPr/>
              <a:t xml:space="preserve">‹#›</a:t>
            </a:fld>
            <a:endParaRPr lang="en-GB"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54795" y="890999"/>
            <a:ext cx="9791703" cy="4672552"/>
          </a:xfrm>
          <a:prstGeom prst="rect">
            <a:avLst/>
          </a:prstGeom>
        </p:spPr>
        <p:txBody>
          <a:bodyPr vert="horz" lIns="0" tIns="0" rIns="0" bIns="0" rtlCol="0">
            <a:noAutofit/>
          </a:bodyPr>
          <a:lstStyle/>
          <a:p>
            <a:pPr lvl="0"/>
            <a:r>
              <a:rPr lang="en-GB" noProof="0"/>
              <a:t xml:space="preserve">Click to edit Master text styles</a:t>
            </a:r>
          </a:p>
          <a:p>
            <a:pPr lvl="1"/>
            <a:r>
              <a:rPr lang="en-GB" noProof="0"/>
              <a:t xml:space="preserve">Second level</a:t>
            </a:r>
          </a:p>
          <a:p>
            <a:pPr lvl="2"/>
            <a:r>
              <a:rPr lang="en-GB" noProof="0"/>
              <a:t xml:space="preserve">Third level</a:t>
            </a:r>
          </a:p>
          <a:p>
            <a:pPr lvl="3"/>
            <a:r>
              <a:rPr lang="en-GB" noProof="0"/>
              <a:t xml:space="preserve">Fourth level</a:t>
            </a:r>
          </a:p>
          <a:p>
            <a:pPr lvl="4"/>
            <a:r>
              <a:rPr lang="en-GB" noProof="0"/>
              <a:t xml:space="preserve">Fifth level</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35729" y="7202406"/>
            <a:ext cx="2405700" cy="134955"/>
          </a:xfrm>
          <a:prstGeom prst="rect">
            <a:avLst/>
          </a:prstGeom>
        </p:spPr>
        <p:txBody>
          <a:bodyPr vert="horz" lIns="0" tIns="0" rIns="0" bIns="0" rtlCol="0" anchor="t" anchorCtr="0">
            <a:noAutofit/>
          </a:bodyPr>
          <a:lstStyle>
            <a:lvl1pPr algn="l">
              <a:defRPr sz="875">
                <a:solidFill>
                  <a:srgbClr val="5F7D69"/>
                </a:solidFill>
                <a:latin typeface="IBM Plex Sans" panose="020B0503050203000203" pitchFamily="34" charset="0"/>
              </a:defRPr>
            </a:lvl1pPr>
          </a:lstStyle>
          <a:p>
            <a:endParaRPr lang="en-GB"/>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7261741" y="197293"/>
            <a:ext cx="3194529" cy="134955"/>
          </a:xfrm>
          <a:prstGeom prst="rect">
            <a:avLst/>
          </a:prstGeom>
        </p:spPr>
        <p:txBody>
          <a:bodyPr vert="horz" lIns="0" tIns="0" rIns="0" bIns="0" rtlCol="0" anchor="t" anchorCtr="0">
            <a:noAutofit/>
          </a:bodyPr>
          <a:lstStyle>
            <a:lvl1pPr algn="r">
              <a:defRPr sz="875" b="1">
                <a:solidFill>
                  <a:srgbClr val="5F7D69"/>
                </a:solidFill>
                <a:latin typeface="IBM Plex Sans" panose="020B0503050203000203" pitchFamily="34" charset="0"/>
              </a:defRPr>
            </a:lvl1pPr>
          </a:lstStyle>
          <a:p>
            <a:r>
              <a:rPr lang="en-GB"/>
              <a:t xml:space="preserve">CLICK TO INSERT COMPANY NAME</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8050571" y="7202406"/>
            <a:ext cx="2405700" cy="134955"/>
          </a:xfrm>
          <a:prstGeom prst="rect">
            <a:avLst/>
          </a:prstGeom>
        </p:spPr>
        <p:txBody>
          <a:bodyPr vert="horz" lIns="0" tIns="0" rIns="0" bIns="0" rtlCol="0" anchor="t" anchorCtr="0">
            <a:noAutofit/>
          </a:bodyPr>
          <a:lstStyle>
            <a:lvl1pPr algn="r">
              <a:defRPr sz="875">
                <a:solidFill>
                  <a:schemeClr val="tx2">
                    <a:alpha val="70000"/>
                  </a:schemeClr>
                </a:solidFill>
                <a:latin typeface="IBM Plex Sans" panose="020B0503050203000203" pitchFamily="34" charset="0"/>
              </a:defRPr>
            </a:lvl1pPr>
          </a:lstStyle>
          <a:p>
            <a:fld id="{5A0D23CF-C5A3-5445-819D-C647D180BB4B}" type="slidenum">
              <a:rPr lang="en-GB" smtClean="0"/>
              <a:pPr/>
              <a:t xml:space="preserve">‹#›</a:t>
            </a:fld>
            <a:endParaRPr lang="en-GB"/>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54796" y="450698"/>
            <a:ext cx="9791704" cy="218627"/>
          </a:xfrm>
          <a:prstGeom prst="rect">
            <a:avLst/>
          </a:prstGeom>
        </p:spPr>
        <p:txBody>
          <a:bodyPr vert="horz" wrap="square" lIns="0" tIns="0" rIns="0" bIns="0" rtlCol="0" anchor="t" anchorCtr="0">
            <a:spAutoFit/>
          </a:bodyPr>
          <a:lstStyle/>
          <a:p>
            <a:r>
              <a:rPr lang="en-GB" noProof="0"/>
              <a:t xml:space="preserve">Click to edit Master title style</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p:titleStyle>
    <p:bodyStyle>
      <a:lvl1pPr marL="63142" indent="-63142" algn="l" defTabSz="914400" rtl="0" eaLnBrk="1" latinLnBrk="0" hangingPunct="1">
        <a:lnSpc>
          <a:spcPct val="106000"/>
        </a:lnSpc>
        <a:spcBef>
          <a:spcPts val="0"/>
        </a:spcBef>
        <a:buFont typeface="Arial" panose="020B0604020202020204" pitchFamily="34" charset="0"/>
        <a:buChar char="•"/>
        <a:defRPr sz="775" b="0" kern="1200" spc="-10" baseline="0">
          <a:solidFill>
            <a:schemeClr val="tx2"/>
          </a:solidFill>
          <a:latin typeface="+mn-lt"/>
          <a:ea typeface="+mn-ea"/>
          <a:cs typeface="+mn-cs"/>
        </a:defRPr>
      </a:lvl1pPr>
      <a:lvl2pPr marL="126283"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2pPr>
      <a:lvl3pPr marL="189425"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3pPr>
      <a:lvl4pPr marL="252567"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4pPr>
      <a:lvl5pPr marL="315709"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5pPr>
      <a:lvl6pPr marL="22052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6pPr>
      <a:lvl7pPr marL="26061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7pPr>
      <a:lvl8pPr marL="30071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8pPr>
      <a:lvl9pPr marL="34080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9pPr>
    </p:bodyStyle>
    <p:otherStyle>
      <a:defPPr>
        <a:defRPr lang="en-GB"/>
      </a:defPPr>
      <a:lvl1pPr marL="0" algn="l" defTabSz="914400" rtl="0" eaLnBrk="1" latinLnBrk="0" hangingPunct="1">
        <a:defRPr sz="1575" kern="1200">
          <a:solidFill>
            <a:schemeClr val="tx1"/>
          </a:solidFill>
          <a:latin typeface="+mn-lt"/>
          <a:ea typeface="+mn-ea"/>
          <a:cs typeface="+mn-cs"/>
        </a:defRPr>
      </a:lvl1pPr>
      <a:lvl2pPr marL="400950" algn="l" defTabSz="914400" rtl="0" eaLnBrk="1" latinLnBrk="0" hangingPunct="1">
        <a:defRPr sz="1575" kern="1200">
          <a:solidFill>
            <a:schemeClr val="tx1"/>
          </a:solidFill>
          <a:latin typeface="+mn-lt"/>
          <a:ea typeface="+mn-ea"/>
          <a:cs typeface="+mn-cs"/>
        </a:defRPr>
      </a:lvl2pPr>
      <a:lvl3pPr marL="801900" algn="l" defTabSz="914400" rtl="0" eaLnBrk="1" latinLnBrk="0" hangingPunct="1">
        <a:defRPr sz="1575" kern="1200">
          <a:solidFill>
            <a:schemeClr val="tx1"/>
          </a:solidFill>
          <a:latin typeface="+mn-lt"/>
          <a:ea typeface="+mn-ea"/>
          <a:cs typeface="+mn-cs"/>
        </a:defRPr>
      </a:lvl3pPr>
      <a:lvl4pPr marL="1202850" algn="l" defTabSz="914400" rtl="0" eaLnBrk="1" latinLnBrk="0" hangingPunct="1">
        <a:defRPr sz="1575" kern="1200">
          <a:solidFill>
            <a:schemeClr val="tx1"/>
          </a:solidFill>
          <a:latin typeface="+mn-lt"/>
          <a:ea typeface="+mn-ea"/>
          <a:cs typeface="+mn-cs"/>
        </a:defRPr>
      </a:lvl4pPr>
      <a:lvl5pPr marL="1603800" algn="l" defTabSz="914400" rtl="0" eaLnBrk="1" latinLnBrk="0" hangingPunct="1">
        <a:defRPr sz="1575" kern="1200">
          <a:solidFill>
            <a:schemeClr val="tx1"/>
          </a:solidFill>
          <a:latin typeface="+mn-lt"/>
          <a:ea typeface="+mn-ea"/>
          <a:cs typeface="+mn-cs"/>
        </a:defRPr>
      </a:lvl5pPr>
      <a:lvl6pPr marL="2004750" algn="l" defTabSz="914400" rtl="0" eaLnBrk="1" latinLnBrk="0" hangingPunct="1">
        <a:defRPr sz="1575" kern="1200">
          <a:solidFill>
            <a:schemeClr val="tx1"/>
          </a:solidFill>
          <a:latin typeface="+mn-lt"/>
          <a:ea typeface="+mn-ea"/>
          <a:cs typeface="+mn-cs"/>
        </a:defRPr>
      </a:lvl6pPr>
      <a:lvl7pPr marL="2405700" algn="l" defTabSz="914400" rtl="0" eaLnBrk="1" latinLnBrk="0" hangingPunct="1">
        <a:defRPr sz="1575" kern="1200">
          <a:solidFill>
            <a:schemeClr val="tx1"/>
          </a:solidFill>
          <a:latin typeface="+mn-lt"/>
          <a:ea typeface="+mn-ea"/>
          <a:cs typeface="+mn-cs"/>
        </a:defRPr>
      </a:lvl7pPr>
      <a:lvl8pPr marL="2806650" algn="l" defTabSz="914400" rtl="0" eaLnBrk="1" latinLnBrk="0" hangingPunct="1">
        <a:defRPr sz="1575" kern="1200">
          <a:solidFill>
            <a:schemeClr val="tx1"/>
          </a:solidFill>
          <a:latin typeface="+mn-lt"/>
          <a:ea typeface="+mn-ea"/>
          <a:cs typeface="+mn-cs"/>
        </a:defRPr>
      </a:lvl8pPr>
      <a:lvl9pPr marL="3207600" algn="l" defTabSz="914400" rtl="0" eaLnBrk="1" latinLnBrk="0" hangingPunct="1">
        <a:defRPr sz="15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946688" y="4051289"/>
            <a:ext cx="8798625" cy="133605"/>
          </a:xfrm>
        </p:spPr>
        <p:txBody>
          <a:bodyPr/>
          <a:lstStyle/>
          <a:p>
            <a:r>
              <a:rPr lang="en-GB" noProof="0"/>
              <a:t xml:space="preserve">ESG REPORT {{insert_year}}</a:t>
            </a:r>
            <a:r>
              <a:rPr lang="en-GB" noProof="0"/>
              <a:t xml:space="preserve"/>
            </a:r>
            <a:r>
              <a:rPr lang="en-GB" noProof="0"/>
              <a:t xml:space="preserve"/>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3072658" y="4359745"/>
            <a:ext cx="4539794" cy="246616"/>
          </a:xfrm>
        </p:spPr>
        <p:txBody>
          <a:bodyPr/>
          <a:lstStyle/>
          <a:p>
            <a:r>
              <a:rPr lang="en-GB" noProof="0"/>
              <a:t>{{</a:t>
            </a:r>
            <a:r>
              <a:rPr lang="en-GB" noProof="0"/>
              <a:t>company_name</a:t>
            </a:r>
            <a:r>
              <a:rPr lang="en-GB" noProof="0"/>
              <a:t>}}</a:t>
            </a:r>
            <a:endParaRPr lang="en-GB"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54796" y="450698"/>
            <a:ext cx="9791704" cy="437255"/>
          </a:xfrm>
        </p:spPr>
        <p:txBody>
          <a:bodyPr/>
          <a:lstStyle/>
          <a:p>
            <a:r>
              <a:rPr lang="en-GB" noProof="0"/>
              <a:t xml:space="preserve">ESG report</a:t>
            </a:r>
            <a:r>
              <a:rPr lang="en-GB" b="0" noProof="0">
                <a:solidFill>
                  <a:srgbClr val="1B4528"/>
                </a:solidFill>
                <a:ea typeface="+mn-ea"/>
                <a:cs typeface="+mn-cs"/>
              </a:rPr>
              <a:t> </a:t>
            </a:r>
            <a:br>
              <a:rPr lang="en-GB" b="0" noProof="0">
                <a:solidFill>
                  <a:srgbClr val="1B4528"/>
                </a:solidFill>
                <a:ea typeface="+mn-ea"/>
                <a:cs typeface="+mn-cs"/>
              </a:rPr>
            </a:br>
            <a:endParaRPr lang="en-GB" b="0" noProof="0">
              <a:solidFill>
                <a:srgbClr val="1B4528"/>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54793" y="864270"/>
            <a:ext cx="6880233" cy="4704480"/>
          </a:xfrm>
        </p:spPr>
        <p:txBody>
          <a:bodyPr/>
          <a:lstStyle/>
          <a:p>
            <a:pPr>
              <a:lnSpc>
                <a:spcPct val="150000"/>
              </a:lnSpc>
              <a:tabLst>
                <a:tab pos="251986" algn="l"/>
                <a:tab pos="409303" algn="l"/>
                <a:tab pos="3932930" algn="r"/>
              </a:tabLst>
            </a:pPr>
            <a:endParaRPr lang="en-GB" sz="1050" b="1" noProof="0">
              <a:latin typeface="+mj-lt"/>
            </a:endParaRPr>
          </a:p>
          <a:p>
            <a:pPr>
              <a:lnSpc>
                <a:spcPct val="150000"/>
              </a:lnSpc>
              <a:tabLst>
                <a:tab pos="251986" algn="l"/>
                <a:tab pos="409303" algn="l"/>
                <a:tab pos="3932930" algn="r"/>
              </a:tabLst>
            </a:pPr>
            <a:endParaRPr lang="en-GB" sz="1050" b="1" noProof="0">
              <a:latin typeface="+mj-lt"/>
            </a:endParaRPr>
          </a:p>
          <a:p>
            <a:pPr marL="200475" indent="-233624">
              <a:lnSpc>
                <a:spcPct val="150000"/>
              </a:lnSpc>
              <a:buFont typeface="+mj-lt"/>
              <a:buAutoNum type="arabicPeriod"/>
              <a:tabLst>
                <a:tab pos="251986" algn="l"/>
                <a:tab pos="409303" algn="l"/>
                <a:tab pos="3932930" algn="r"/>
              </a:tabLst>
            </a:pPr>
            <a:r>
              <a:rPr lang="en-GB" sz="1050" b="1" noProof="0">
                <a:latin typeface="+mj-lt"/>
              </a:rPr>
              <a:t xml:space="preserve">General information				</a:t>
            </a:r>
            <a:endParaRPr lang="en-GB"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n-GB" sz="1050" b="1" kern="1200" spc="-10" noProof="0">
                <a:solidFill>
                  <a:schemeClr val="tx2"/>
                </a:solidFill>
                <a:latin typeface="+mn-lt"/>
                <a:ea typeface="+mn-ea"/>
                <a:cs typeface="+mn-cs"/>
              </a:rPr>
              <a:t xml:space="preserve">Practices, policies and initiatives for transitioning to a more sustainable economy	</a:t>
            </a:r>
            <a:endParaRPr lang="en-GB" sz="1050" b="1" noProof="0">
              <a:latin typeface="+mj-lt"/>
            </a:endParaRPr>
          </a:p>
          <a:p>
            <a:pPr marL="200475" indent="-233624">
              <a:lnSpc>
                <a:spcPct val="150000"/>
              </a:lnSpc>
              <a:buFont typeface="+mj-lt"/>
              <a:buAutoNum type="arabicPeriod"/>
              <a:tabLst>
                <a:tab pos="251986" algn="l"/>
                <a:tab pos="409303" algn="l"/>
                <a:tab pos="3932930" algn="r"/>
              </a:tabLst>
            </a:pPr>
            <a:r>
              <a:rPr lang="en-GB" sz="1050" b="1" noProof="0">
                <a:latin typeface="+mj-lt"/>
              </a:rPr>
              <a:t xml:space="preserve">Energy consumption				</a:t>
            </a:r>
            <a:endParaRPr lang="en-GB" sz="1050" noProof="0">
              <a:latin typeface="+mj-lt"/>
            </a:endParaRPr>
          </a:p>
          <a:p>
            <a:pPr marL="200475" indent="-233624">
              <a:lnSpc>
                <a:spcPct val="150000"/>
              </a:lnSpc>
              <a:buFont typeface="+mj-lt"/>
              <a:buAutoNum type="arabicPeriod"/>
              <a:tabLst>
                <a:tab pos="251986" algn="l"/>
                <a:tab pos="409303" algn="l"/>
                <a:tab pos="3932930" algn="r"/>
              </a:tabLst>
            </a:pPr>
            <a:r>
              <a:rPr lang="en-GB" sz="1050" b="1" noProof="0">
                <a:latin typeface="+mj-lt"/>
              </a:rPr>
              <a:t xml:space="preserve">CO₂e emissions 				</a:t>
            </a:r>
            <a:r>
              <a:rPr lang="en-GB" sz="1050" b="1" noProof="0">
                <a:latin typeface="+mj-lt"/>
              </a:rPr>
              <a:t xml:space="preserve"/>
            </a:r>
            <a:endParaRPr lang="en-GB" sz="1050" noProof="0">
              <a:latin typeface="+mj-lt"/>
            </a:endParaRPr>
          </a:p>
          <a:p>
            <a:pPr marL="200475" indent="-233624">
              <a:lnSpc>
                <a:spcPct val="150000"/>
              </a:lnSpc>
              <a:buFont typeface="+mj-lt"/>
              <a:buAutoNum type="arabicPeriod"/>
              <a:tabLst>
                <a:tab pos="251986" algn="l"/>
                <a:tab pos="409303" algn="l"/>
                <a:tab pos="3932930" algn="r"/>
              </a:tabLst>
            </a:pPr>
            <a:r>
              <a:rPr lang="en-GB" sz="1050" b="1" noProof="0">
                <a:latin typeface="+mj-lt"/>
              </a:rPr>
              <a:t xml:space="preserve">Pollution of air, water and soil</a:t>
            </a:r>
            <a:r>
              <a:rPr lang="en-GB" sz="1050" noProof="0">
                <a:latin typeface="+mj-lt"/>
              </a:rPr>
              <a:t>				</a:t>
            </a:r>
          </a:p>
          <a:p>
            <a:pPr marL="200475" indent="-233624">
              <a:lnSpc>
                <a:spcPct val="150000"/>
              </a:lnSpc>
              <a:buFont typeface="+mj-lt"/>
              <a:buAutoNum type="arabicPeriod"/>
              <a:tabLst>
                <a:tab pos="251986" algn="l"/>
                <a:tab pos="409303" algn="l"/>
                <a:tab pos="3932930" algn="r"/>
              </a:tabLst>
            </a:pPr>
            <a:r>
              <a:rPr lang="en-GB" sz="1050" b="1" noProof="0">
                <a:latin typeface="+mj-lt"/>
              </a:rPr>
              <a:t xml:space="preserve">Biodiversity</a:t>
            </a:r>
            <a:r>
              <a:rPr lang="en-GB" sz="1050" noProof="0">
                <a:latin typeface="+mj-lt"/>
              </a:rPr>
              <a:t>				</a:t>
            </a:r>
          </a:p>
          <a:p>
            <a:pPr marL="200475" indent="-233624">
              <a:lnSpc>
                <a:spcPct val="150000"/>
              </a:lnSpc>
              <a:buFont typeface="+mj-lt"/>
              <a:buAutoNum type="arabicPeriod"/>
              <a:tabLst>
                <a:tab pos="251986" algn="l"/>
                <a:tab pos="409303" algn="l"/>
                <a:tab pos="3932930" algn="r"/>
              </a:tabLst>
            </a:pPr>
            <a:r>
              <a:rPr lang="en-GB" sz="1050" b="1" noProof="0">
                <a:latin typeface="+mj-lt"/>
              </a:rPr>
              <a:t xml:space="preserve">Water	</a:t>
            </a:r>
            <a:r>
              <a:rPr lang="en-GB" sz="1050" noProof="0">
                <a:latin typeface="+mj-lt"/>
              </a:rPr>
              <a:t> 			</a:t>
            </a:r>
          </a:p>
          <a:p>
            <a:pPr marL="200475" indent="-233624">
              <a:lnSpc>
                <a:spcPct val="150000"/>
              </a:lnSpc>
              <a:buFont typeface="+mj-lt"/>
              <a:buAutoNum type="arabicPeriod"/>
              <a:tabLst>
                <a:tab pos="251986" algn="l"/>
                <a:tab pos="409303" algn="l"/>
                <a:tab pos="3932930" algn="r"/>
              </a:tabLst>
            </a:pPr>
            <a:r>
              <a:rPr lang="en-GB" sz="1050" b="1" noProof="0">
                <a:latin typeface="+mj-lt"/>
              </a:rPr>
              <a:t xml:space="preserve">Resource use, circular economy and waste management</a:t>
            </a:r>
            <a:r>
              <a:rPr lang="en-GB" sz="1050" noProof="0">
                <a:latin typeface="+mj-lt"/>
              </a:rPr>
              <a:t>				</a:t>
            </a:r>
            <a:endParaRPr lang="en-GB"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n-GB" sz="1050" b="1" noProof="0">
                <a:latin typeface="+mj-lt"/>
              </a:rPr>
              <a:t xml:space="preserve">Own workforce: General characteristics</a:t>
            </a:r>
            <a:r>
              <a:rPr lang="en-GB" sz="1050" noProof="0">
                <a:latin typeface="+mj-lt"/>
              </a:rPr>
              <a:t>				</a:t>
            </a:r>
            <a:endParaRPr lang="en-GB"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n-GB" sz="1050" b="1" noProof="0">
                <a:latin typeface="+mj-lt"/>
              </a:rPr>
              <a:t xml:space="preserve">Own workforce: Health and safety</a:t>
            </a:r>
            <a:r>
              <a:rPr lang="en-GB" sz="1050" noProof="0">
                <a:latin typeface="+mj-lt"/>
              </a:rPr>
              <a:t>				</a:t>
            </a:r>
            <a:endParaRPr lang="en-GB"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n-GB" sz="1050" b="1" noProof="0">
                <a:latin typeface="+mj-lt"/>
              </a:rPr>
              <a:t xml:space="preserve">Own workforce: Remuneration, collective bargaining and training</a:t>
            </a:r>
            <a:r>
              <a:rPr lang="en-GB" sz="1050" noProof="0">
                <a:latin typeface="+mj-lt"/>
              </a:rPr>
              <a:t>		</a:t>
            </a:r>
            <a:endParaRPr lang="en-GB"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en-GB" sz="1050" b="1" noProof="0">
                <a:latin typeface="+mj-lt"/>
              </a:rPr>
              <a:t xml:space="preserve">Business conduct</a:t>
            </a:r>
            <a:r>
              <a:rPr lang="en-GB" sz="1050" noProof="0">
                <a:latin typeface="+mj-lt"/>
              </a:rPr>
              <a:t>	 			</a:t>
            </a:r>
            <a:endParaRPr lang="en-GB" sz="1050" noProof="0">
              <a:solidFill>
                <a:srgbClr val="1B4528"/>
              </a:solidFill>
              <a:latin typeface="+mj-lt"/>
            </a:endParaRPr>
          </a:p>
          <a:p>
            <a:pPr>
              <a:tabLst>
                <a:tab pos="251986" algn="l"/>
                <a:tab pos="409303" algn="l"/>
                <a:tab pos="3932930" algn="r"/>
              </a:tabLst>
            </a:pPr>
            <a:endParaRPr lang="en-GB" sz="1050" noProof="0">
              <a:latin typeface="+mj-lt"/>
            </a:endParaRPr>
          </a:p>
          <a:p>
            <a:pPr>
              <a:tabLst>
                <a:tab pos="251986" algn="l"/>
                <a:tab pos="409303" algn="l"/>
                <a:tab pos="3932930" algn="r"/>
              </a:tabLst>
            </a:pPr>
            <a:endParaRPr lang="en-GB" sz="1050" noProof="0">
              <a:latin typeface="+mj-lt"/>
            </a:endParaRPr>
          </a:p>
          <a:p>
            <a:pPr>
              <a:tabLst>
                <a:tab pos="251986" algn="l"/>
                <a:tab pos="409303" algn="l"/>
                <a:tab pos="3932930" algn="r"/>
              </a:tabLst>
            </a:pPr>
            <a:endParaRPr lang="en-GB" noProof="0">
              <a:latin typeface="+mj-lt"/>
            </a:endParaRPr>
          </a:p>
          <a:p>
            <a:pPr>
              <a:tabLst>
                <a:tab pos="251986" algn="l"/>
                <a:tab pos="409303" algn="l"/>
                <a:tab pos="3932930" algn="r"/>
              </a:tabLst>
            </a:pPr>
            <a:endParaRPr lang="en-GB" noProof="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7261741" y="197293"/>
            <a:ext cx="3194529" cy="134955"/>
          </a:xfrm>
        </p:spPr>
        <p:txBody>
          <a:bodyPr/>
          <a:lstStyle/>
          <a:p>
            <a:r>
              <a:rPr lang="en-GB" noProof="0"/>
              <a:t>{{</a:t>
            </a:r>
            <a:r>
              <a:rPr lang="en-GB" noProof="0"/>
              <a:t>company_name</a:t>
            </a:r>
            <a:r>
              <a:rPr lang="en-GB" noProof="0"/>
              <a:t>}}</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8050571" y="7202406"/>
            <a:ext cx="2405700" cy="134955"/>
          </a:xfrm>
        </p:spPr>
        <p:txBody>
          <a:bodyPr/>
          <a:lstStyle/>
          <a:p>
            <a:fld id="{5A0D23CF-C5A3-5445-819D-C647D180BB4B}" type="slidenum">
              <a:rPr lang="en-GB" noProof="0" smtClean="0"/>
              <a:pPr/>
              <a:t>2</a:t>
            </a:fld>
            <a:endParaRPr lang="en-GB"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54796" y="450698"/>
            <a:ext cx="9791704" cy="218627"/>
          </a:xfrm>
        </p:spPr>
        <p:txBody>
          <a:bodyPr/>
          <a:lstStyle/>
          <a:p>
            <a:r>
              <a:rPr lang="en-GB" noProof="0"/>
              <a:t xml:space="preserve">Basis for preparation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45500" y="2600430"/>
            <a:ext cx="3080911" cy="150659"/>
          </a:xfrm>
          <a:prstGeom prst="rect">
            <a:avLst/>
          </a:prstGeom>
        </p:spPr>
        <p:txBody>
          <a:bodyPr lIns="0" tIns="0" rIns="0" bIns="0"/>
          <a:lstStyle>
            <a:lvl1pPr marL="63142" indent="-63142" algn="l" defTabSz="914400" rtl="0" eaLnBrk="1" latinLnBrk="0" hangingPunct="1">
              <a:lnSpc>
                <a:spcPct val="106000"/>
              </a:lnSpc>
              <a:spcBef>
                <a:spcPts val="0"/>
              </a:spcBef>
              <a:buFont typeface="Arial" panose="020B0604020202020204" pitchFamily="34" charset="0"/>
              <a:buChar char="•"/>
              <a:defRPr sz="775" b="0" kern="1200" spc="-10" baseline="0">
                <a:solidFill>
                  <a:schemeClr val="tx2"/>
                </a:solidFill>
                <a:latin typeface="+mn-lt"/>
                <a:ea typeface="+mn-ea"/>
                <a:cs typeface="+mn-cs"/>
              </a:defRPr>
            </a:lvl1pPr>
            <a:lvl2pPr marL="126283"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2pPr>
            <a:lvl3pPr marL="189425"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3pPr>
            <a:lvl4pPr marL="252567"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4pPr>
            <a:lvl5pPr marL="315709"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5pPr>
            <a:lvl6pPr marL="22052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6pPr>
            <a:lvl7pPr marL="26061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7pPr>
            <a:lvl8pPr marL="30071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8pPr>
            <a:lvl9pPr marL="34080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9pPr>
          </a:lstStyle>
          <a:p>
            <a:pPr marL="0" indent="0">
              <a:buNone/>
            </a:pPr>
            <a:endParaRPr lang="en-GB" noProof="0">
              <a:solidFill>
                <a:srgbClr val="1B4528"/>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3677333342"/>
              </p:ext>
            </p:extLst>
          </p:nvPr>
        </p:nvGraphicFramePr>
        <p:xfrm>
          <a:off x="454795" y="4468749"/>
          <a:ext cx="6449555" cy="1092520"/>
        </p:xfrm>
        <a:graphic>
          <a:graphicData uri="http://schemas.openxmlformats.org/drawingml/2006/table">
            <a:tbl>
              <a:tblPr firstRow="1">
                <a:tableStyleId>{2A488322-F2BA-4B5B-9748-0D474271808F}</a:tableStyleId>
              </a:tblPr>
              <a:tblGrid>
                <a:gridCol w="2982453">
                  <a:extLst>
                    <a:ext uri="{9D8B030D-6E8A-4147-A177-3AD203B41FA5}">
                      <a16:colId xmlns:a16="http://schemas.microsoft.com/office/drawing/2014/main" val="1902117154"/>
                    </a:ext>
                  </a:extLst>
                </a:gridCol>
                <a:gridCol w="3467102">
                  <a:extLst>
                    <a:ext uri="{9D8B030D-6E8A-4147-A177-3AD203B41FA5}">
                      <a16:colId xmlns:a16="http://schemas.microsoft.com/office/drawing/2014/main" val="1904521774"/>
                    </a:ext>
                  </a:extLst>
                </a:gridCol>
              </a:tblGrid>
              <a:tr h="388551">
                <a:tc gridSpan="2">
                  <a:txBody>
                    <a:bodyPr/>
                    <a:lstStyle/>
                    <a:p>
                      <a:pPr marL="0" algn="l" defTabSz="914400" rtl="0" eaLnBrk="1" latinLnBrk="0" hangingPunct="1"/>
                      <a:r>
                        <a:rPr lang="en-GB" sz="1050" b="1" kern="1200" spc="-10" noProof="0">
                          <a:solidFill>
                            <a:schemeClr val="tx2"/>
                          </a:solidFill>
                          <a:latin typeface="+mn-lt"/>
                          <a:ea typeface="+mn-ea"/>
                          <a:cs typeface="+mn-cs"/>
                        </a:rPr>
                        <a:t xml:space="preserve">List of subsidiaries included in this ESG report </a:t>
                      </a:r>
                      <a:r>
                        <a:rPr lang="en-GB" sz="1050" b="0" kern="1200" spc="-10" noProof="0">
                          <a:solidFill>
                            <a:schemeClr val="tx2"/>
                          </a:solidFill>
                          <a:latin typeface="+mn-lt"/>
                          <a:ea typeface="+mn-ea"/>
                          <a:cs typeface="+mn-cs"/>
                        </a:rPr>
                        <a:t xml:space="preserve">(para. 27d)</a:t>
                      </a:r>
                      <a:endParaRPr lang="en-GB" sz="1050" b="0" i="1"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365697">
                <a:tc>
                  <a:txBody>
                    <a:bodyPr/>
                    <a:lstStyle/>
                    <a:p>
                      <a:pPr algn="l"/>
                      <a:r>
                        <a:rPr lang="en-GB" sz="1050" b="1" kern="1200" spc="-10" noProof="0">
                          <a:solidFill>
                            <a:schemeClr val="tx2"/>
                          </a:solidFill>
                          <a:latin typeface="+mn-lt"/>
                          <a:ea typeface="+mn-ea"/>
                          <a:cs typeface="+mn-cs"/>
                        </a:rPr>
                        <a:t xml:space="preserve">Name of subsidiary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GB" sz="1050" b="1" kern="1200" spc="-10" noProof="0">
                          <a:solidFill>
                            <a:schemeClr val="tx2"/>
                          </a:solidFill>
                          <a:latin typeface="+mn-lt"/>
                          <a:ea typeface="+mn-ea"/>
                          <a:cs typeface="+mn-cs"/>
                        </a:rPr>
                        <a:t xml:space="preserve">Address of subsidiary</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38272">
                <a:tc>
                  <a:txBody>
                    <a:bodyPr/>
                    <a:lstStyle/>
                    <a:p>
                      <a:pPr rtl="0" fontAlgn="t" algn="l">
                        <a:buNone/>
                      </a:pPr>
                      <a:r>
                        <a:rPr lang="en-GB" sz="1050" b="0" i="0" u="none" strike="noStrike" noProof="0">
                          <a:solidFill>
                            <a:srgbClr val="1B4528"/>
                          </a:solidFill>
                          <a:effectLst/>
                          <a:latin typeface="Inter"/>
                        </a:rPr>
                        <a:t>{{subsidiary}}</a:t>
                      </a:r>
                      <a:endParaRPr lang="en-GB"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r">
                        <a:buNone/>
                      </a:pPr>
                      <a:r>
                        <a:rPr lang="en-GB" sz="1050" b="0" i="0" u="none" strike="noStrike" noProof="0">
                          <a:solidFill>
                            <a:srgbClr val="1B4528"/>
                          </a:solidFill>
                          <a:effectLst/>
                          <a:latin typeface="Inter"/>
                        </a:rPr>
                        <a:t>{{subsidiary_address}}</a:t>
                      </a:r>
                      <a:endParaRPr lang="en-GB"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en-GB" noProof="0" smtClean="0"/>
              <a:pPr/>
              <a:t>3</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7261741" y="197293"/>
            <a:ext cx="3194529" cy="134955"/>
          </a:xfrm>
        </p:spPr>
        <p:txBody>
          <a:bodyPr/>
          <a:lstStyle/>
          <a:p>
            <a:r>
              <a:rPr lang="en-GB" noProof="0"/>
              <a:t>{{</a:t>
            </a:r>
            <a:r>
              <a:rPr lang="en-GB" noProof="0"/>
              <a:t>company_name</a:t>
            </a:r>
            <a:r>
              <a:rPr lang="en-GB" noProof="0"/>
              <a:t>}}</a:t>
            </a:r>
            <a:endParaRPr lang="en-GB" b="0" noProof="0"/>
          </a:p>
          <a:p>
            <a:br>
              <a:rPr lang="en-GB" noProof="0"/>
            </a:br>
            <a:endParaRPr lang="en-GB"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3344848158"/>
              </p:ext>
            </p:extLst>
          </p:nvPr>
        </p:nvGraphicFramePr>
        <p:xfrm>
          <a:off x="454795" y="3387189"/>
          <a:ext cx="6449555" cy="1064982"/>
        </p:xfrm>
        <a:graphic>
          <a:graphicData uri="http://schemas.openxmlformats.org/drawingml/2006/table">
            <a:tbl>
              <a:tblPr firstRow="1">
                <a:tableStyleId>{2A488322-F2BA-4B5B-9748-0D474271808F}</a:tableStyleId>
              </a:tblPr>
              <a:tblGrid>
                <a:gridCol w="5432324">
                  <a:extLst>
                    <a:ext uri="{9D8B030D-6E8A-4147-A177-3AD203B41FA5}">
                      <a16:colId xmlns:a16="http://schemas.microsoft.com/office/drawing/2014/main" val="2698153288"/>
                    </a:ext>
                  </a:extLst>
                </a:gridCol>
                <a:gridCol w="1017231">
                  <a:extLst>
                    <a:ext uri="{9D8B030D-6E8A-4147-A177-3AD203B41FA5}">
                      <a16:colId xmlns:a16="http://schemas.microsoft.com/office/drawing/2014/main" val="2119413191"/>
                    </a:ext>
                  </a:extLst>
                </a:gridCol>
              </a:tblGrid>
              <a:tr h="237678">
                <a:tc gridSpan="2">
                  <a:txBody>
                    <a:bodyPr/>
                    <a:lstStyle/>
                    <a:p>
                      <a:r>
                        <a:rPr lang="en-GB" sz="1050" b="1" noProof="0">
                          <a:solidFill>
                            <a:schemeClr val="tx2"/>
                          </a:solidFill>
                        </a:rPr>
                        <a:t xml:space="preserve">Individual or consolidated reporting</a:t>
                      </a:r>
                      <a:r>
                        <a:rPr lang="en-GB" sz="1050" b="0" noProof="0">
                          <a:solidFill>
                            <a:schemeClr val="tx2"/>
                          </a:solidFill>
                        </a:rPr>
                        <a:t xml:space="preserve"> (para. 27c)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02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0" kern="1200" spc="-10" noProof="0">
                          <a:solidFill>
                            <a:schemeClr val="tx2"/>
                          </a:solidFill>
                          <a:latin typeface="+mn-lt"/>
                          <a:ea typeface="+mn-ea"/>
                          <a:cs typeface="+mn-cs"/>
                        </a:rPr>
                        <a:t xml:space="preserve">The report has been prepared on an </a:t>
                      </a:r>
                      <a:r>
                        <a:rPr lang="en-GB" sz="1050" b="1" kern="1200" spc="-10" noProof="0">
                          <a:solidFill>
                            <a:schemeClr val="tx2"/>
                          </a:solidFill>
                          <a:latin typeface="+mn-lt"/>
                          <a:ea typeface="+mn-ea"/>
                          <a:cs typeface="+mn-cs"/>
                        </a:rPr>
                        <a:t xml:space="preserve">individual basis </a:t>
                      </a:r>
                      <a:r>
                        <a:rPr lang="en-GB" sz="1050" b="0" kern="1200" spc="-10" noProof="0">
                          <a:solidFill>
                            <a:schemeClr val="tx2"/>
                          </a:solidFill>
                          <a:latin typeface="+mn-lt"/>
                          <a:ea typeface="+mn-ea"/>
                          <a:cs typeface="+mn-cs"/>
                        </a:rPr>
                        <a:t xml:space="preserve">(i.e. the report does not cover any subsidiaries)</a:t>
                      </a:r>
                      <a:endParaRPr lang="en-GB"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yes_subsidiary</a:t>
                      </a:r>
                      <a:r>
                        <a:rPr lang="en-GB" sz="1050" b="0" i="0" u="none" strike="noStrike" noProof="0">
                          <a:solidFill>
                            <a:srgbClr val="1B4528"/>
                          </a:solidFill>
                          <a:effectLst/>
                          <a:latin typeface="Inter"/>
                        </a:rPr>
                        <a:t>?}}</a:t>
                      </a:r>
                      <a:endParaRPr lang="en-GB"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250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0" kern="1200" spc="-10" noProof="0">
                          <a:solidFill>
                            <a:schemeClr val="tx2"/>
                          </a:solidFill>
                          <a:latin typeface="+mn-lt"/>
                          <a:ea typeface="+mn-ea"/>
                          <a:cs typeface="+mn-cs"/>
                        </a:rPr>
                        <a:t xml:space="preserve">The report has been prepared on a </a:t>
                      </a:r>
                      <a:r>
                        <a:rPr lang="en-GB" sz="1050" b="1" kern="1200" spc="-10" noProof="0">
                          <a:solidFill>
                            <a:schemeClr val="tx2"/>
                          </a:solidFill>
                          <a:latin typeface="+mn-lt"/>
                          <a:ea typeface="+mn-ea"/>
                          <a:cs typeface="+mn-cs"/>
                        </a:rPr>
                        <a:t xml:space="preserve">consolidated basis </a:t>
                      </a:r>
                      <a:r>
                        <a:rPr lang="en-GB" sz="1050" b="0" kern="1200" spc="-10" noProof="0">
                          <a:solidFill>
                            <a:schemeClr val="tx2"/>
                          </a:solidFill>
                          <a:latin typeface="+mn-lt"/>
                          <a:ea typeface="+mn-ea"/>
                          <a:cs typeface="+mn-cs"/>
                        </a:rPr>
                        <a:t xml:space="preserve">(i.e. the report includes the undertaking’s subsidiaries) </a:t>
                      </a:r>
                      <a:endParaRPr lang="en-GB"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no_subsidiary</a:t>
                      </a:r>
                      <a:r>
                        <a:rPr lang="en-GB" sz="1050" b="0" i="0" u="none" strike="noStrike" noProof="0">
                          <a:solidFill>
                            <a:srgbClr val="1B4528"/>
                          </a:solidFill>
                          <a:effectLst/>
                          <a:latin typeface="Inter"/>
                        </a:rPr>
                        <a:t>?}}</a:t>
                      </a:r>
                      <a:endParaRPr lang="en-GB"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1534085072"/>
              </p:ext>
            </p:extLst>
          </p:nvPr>
        </p:nvGraphicFramePr>
        <p:xfrm>
          <a:off x="454796" y="2003380"/>
          <a:ext cx="6449555" cy="1216467"/>
        </p:xfrm>
        <a:graphic>
          <a:graphicData uri="http://schemas.openxmlformats.org/drawingml/2006/table">
            <a:tbl>
              <a:tblPr firstRow="1">
                <a:tableStyleId>{2A488322-F2BA-4B5B-9748-0D474271808F}</a:tableStyleId>
              </a:tblPr>
              <a:tblGrid>
                <a:gridCol w="5442103">
                  <a:extLst>
                    <a:ext uri="{9D8B030D-6E8A-4147-A177-3AD203B41FA5}">
                      <a16:colId xmlns:a16="http://schemas.microsoft.com/office/drawing/2014/main" val="2698153288"/>
                    </a:ext>
                  </a:extLst>
                </a:gridCol>
                <a:gridCol w="1007453">
                  <a:extLst>
                    <a:ext uri="{9D8B030D-6E8A-4147-A177-3AD203B41FA5}">
                      <a16:colId xmlns:a16="http://schemas.microsoft.com/office/drawing/2014/main" val="2119413191"/>
                    </a:ext>
                  </a:extLst>
                </a:gridCol>
              </a:tblGrid>
              <a:tr h="359372">
                <a:tc gridSpan="2">
                  <a:txBody>
                    <a:bodyPr/>
                    <a:lstStyle/>
                    <a:p>
                      <a:r>
                        <a:rPr lang="en-GB" sz="1050" b="1" kern="1200" spc="-10" noProof="0">
                          <a:solidFill>
                            <a:schemeClr val="tx2"/>
                          </a:solidFill>
                          <a:latin typeface="+mn-lt"/>
                          <a:ea typeface="+mn-ea"/>
                          <a:cs typeface="+mn-cs"/>
                        </a:rPr>
                        <a:t xml:space="preserve">Basic Module, or Basic Module +</a:t>
                      </a:r>
                      <a:r>
                        <a:rPr lang="en-GB" sz="1050" b="1" kern="1200" spc="-10" noProof="0">
                          <a:solidFill>
                            <a:schemeClr val="tx2"/>
                          </a:solidFill>
                          <a:latin typeface="+mn-lt"/>
                          <a:ea typeface="+mn-ea"/>
                          <a:cs typeface="+mn-cs"/>
                        </a:rPr>
                        <a:t xml:space="preserve"/>
                      </a:r>
                      <a:r>
                        <a:rPr lang="en-GB" sz="1050" b="1" kern="1200" spc="-10" noProof="0">
                          <a:solidFill>
                            <a:schemeClr val="tx2"/>
                          </a:solidFill>
                          <a:latin typeface="+mn-lt"/>
                          <a:ea typeface="+mn-ea"/>
                          <a:cs typeface="+mn-cs"/>
                        </a:rPr>
                        <a:t xml:space="preserve"/>
                      </a:r>
                      <a:r>
                        <a:rPr lang="en-GB" sz="1050" b="1" kern="1200" spc="-10" noProof="0">
                          <a:solidFill>
                            <a:schemeClr val="tx2"/>
                          </a:solidFill>
                          <a:latin typeface="+mn-lt"/>
                          <a:ea typeface="+mn-ea"/>
                          <a:cs typeface="+mn-cs"/>
                        </a:rPr>
                        <a:t xml:space="preserve"/>
                      </a:r>
                      <a:r>
                        <a:rPr lang="en-GB" sz="1050" b="0" kern="1200" spc="-10" noProof="0">
                          <a:solidFill>
                            <a:schemeClr val="tx2"/>
                          </a:solidFill>
                          <a:latin typeface="+mn-lt"/>
                          <a:ea typeface="+mn-ea"/>
                          <a:cs typeface="+mn-cs"/>
                        </a:rPr>
                        <a:t> </a:t>
                      </a:r>
                      <a:r>
                        <a:rPr lang="en-GB" sz="1050" b="1" kern="1200" spc="-10" noProof="0">
                          <a:solidFill>
                            <a:schemeClr val="tx2"/>
                          </a:solidFill>
                          <a:latin typeface="+mn-lt"/>
                          <a:ea typeface="+mn-ea"/>
                          <a:cs typeface="+mn-cs"/>
                        </a:rPr>
                        <a:t xml:space="preserve">Comprehensive Module </a:t>
                      </a:r>
                      <a:r>
                        <a:rPr lang="en-GB" sz="1050" b="0" kern="1200" spc="-10" noProof="0">
                          <a:solidFill>
                            <a:schemeClr val="tx2"/>
                          </a:solidFill>
                          <a:latin typeface="+mn-lt"/>
                          <a:ea typeface="+mn-ea"/>
                          <a:cs typeface="+mn-cs"/>
                        </a:rPr>
                        <a:t xml:space="preserve">(para. 27a)</a:t>
                      </a:r>
                      <a:r>
                        <a:rPr lang="en-GB" sz="1050" b="1" kern="1200" spc="-10" noProof="0">
                          <a:solidFill>
                            <a:schemeClr val="tx2"/>
                          </a:solidFill>
                          <a:latin typeface="+mn-lt"/>
                          <a:ea typeface="+mn-ea"/>
                          <a:cs typeface="+mn-cs"/>
                        </a:rPr>
                        <a:t> </a:t>
                      </a:r>
                      <a:endParaRPr lang="en-GB"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748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0" kern="1200" spc="-10" noProof="0">
                          <a:solidFill>
                            <a:schemeClr val="tx2"/>
                          </a:solidFill>
                          <a:latin typeface="+mn-lt"/>
                          <a:ea typeface="+mn-ea"/>
                          <a:cs typeface="+mn-cs"/>
                        </a:rPr>
                        <a:t xml:space="preserve">The report is based on the </a:t>
                      </a:r>
                      <a:r>
                        <a:rPr lang="en-GB" sz="1050" b="1" kern="1200" spc="-10" noProof="0">
                          <a:solidFill>
                            <a:schemeClr val="tx2"/>
                          </a:solidFill>
                          <a:latin typeface="+mn-lt"/>
                          <a:ea typeface="+mn-ea"/>
                          <a:cs typeface="+mn-cs"/>
                        </a:rPr>
                        <a:t xml:space="preserve">Basic Module</a:t>
                      </a:r>
                      <a:r>
                        <a:rPr lang="en-GB" sz="1050" b="0" kern="1200" spc="-10" noProof="0">
                          <a:solidFill>
                            <a:schemeClr val="tx2"/>
                          </a:solidFill>
                          <a:latin typeface="+mn-lt"/>
                          <a:ea typeface="+mn-ea"/>
                          <a:cs typeface="+mn-cs"/>
                        </a:rPr>
                        <a:t xml:space="preserve"> of the voluntary SME standard </a:t>
                      </a:r>
                      <a:endParaRPr lang="en-GB"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basic_module</a:t>
                      </a:r>
                      <a:r>
                        <a:rPr lang="en-GB" sz="1050" b="0" i="0" u="none" strike="noStrike" noProof="0">
                          <a:solidFill>
                            <a:srgbClr val="1B4528"/>
                          </a:solidFill>
                          <a:effectLst/>
                          <a:latin typeface="Inter"/>
                        </a:rPr>
                        <a:t>?}}</a:t>
                      </a:r>
                      <a:endParaRPr lang="en-GB"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82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0" kern="1200" spc="-10" noProof="0">
                          <a:solidFill>
                            <a:schemeClr val="tx2"/>
                          </a:solidFill>
                          <a:latin typeface="+mn-lt"/>
                          <a:ea typeface="+mn-ea"/>
                          <a:cs typeface="+mn-cs"/>
                        </a:rPr>
                        <a:t xml:space="preserve">The report is based on the </a:t>
                      </a:r>
                      <a:r>
                        <a:rPr lang="en-GB" sz="1050" b="1" kern="1200" spc="-10" noProof="0">
                          <a:solidFill>
                            <a:schemeClr val="tx2"/>
                          </a:solidFill>
                          <a:latin typeface="+mn-lt"/>
                          <a:ea typeface="+mn-ea"/>
                          <a:cs typeface="+mn-cs"/>
                        </a:rPr>
                        <a:t xml:space="preserve">Basic Module</a:t>
                      </a:r>
                      <a:r>
                        <a:rPr lang="en-GB" sz="1050" b="0" kern="1200" spc="-10" noProof="0">
                          <a:solidFill>
                            <a:schemeClr val="tx2"/>
                          </a:solidFill>
                          <a:latin typeface="+mn-lt"/>
                          <a:ea typeface="+mn-ea"/>
                          <a:cs typeface="+mn-cs"/>
                        </a:rPr>
                        <a:t xml:space="preserve"> and </a:t>
                      </a:r>
                      <a:r>
                        <a:rPr lang="en-GB" sz="1050" b="1" kern="1200" spc="-10" noProof="0">
                          <a:solidFill>
                            <a:schemeClr val="tx2"/>
                          </a:solidFill>
                          <a:latin typeface="+mn-lt"/>
                          <a:ea typeface="+mn-ea"/>
                          <a:cs typeface="+mn-cs"/>
                        </a:rPr>
                        <a:t xml:space="preserve">Comprehensive Module </a:t>
                      </a:r>
                      <a:r>
                        <a:rPr lang="en-GB" sz="1050" b="0" kern="1200" spc="-10" noProof="0">
                          <a:solidFill>
                            <a:schemeClr val="tx2"/>
                          </a:solidFill>
                          <a:latin typeface="+mn-lt"/>
                          <a:ea typeface="+mn-ea"/>
                          <a:cs typeface="+mn-cs"/>
                        </a:rPr>
                        <a:t xml:space="preserve">of the voluntary SME standard</a:t>
                      </a:r>
                      <a:endParaRPr lang="en-GB"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comprehensive</a:t>
                      </a:r>
                      <a:r>
                        <a:rPr lang="en-GB" sz="1050" b="0" i="0" u="none" strike="noStrike" noProof="0">
                          <a:solidFill>
                            <a:srgbClr val="1B4528"/>
                          </a:solidFill>
                          <a:effectLst/>
                          <a:latin typeface="Inter"/>
                        </a:rPr>
                        <a:t>?}}</a:t>
                      </a:r>
                      <a:endParaRPr lang="en-GB"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45500" y="891000"/>
            <a:ext cx="9791704" cy="890704"/>
          </a:xfrm>
          <a:prstGeom prst="rect">
            <a:avLst/>
          </a:prstGeom>
          <a:noFill/>
        </p:spPr>
        <p:txBody>
          <a:bodyPr wrap="square">
            <a:spAutoFit/>
          </a:bodyPr>
          <a:lstStyle/>
          <a:p>
            <a:pPr rtl="0">
              <a:buNone/>
            </a:pPr>
            <a:r>
              <a:rPr lang="en-GB" sz="1050" b="0" i="0" u="none" strike="noStrike" noProof="0">
                <a:solidFill>
                  <a:schemeClr val="tx2"/>
                </a:solidFill>
                <a:effectLst/>
                <a:latin typeface="Inter"/>
              </a:rPr>
              <a:t xml:space="preserve">The undertaking has prepared its sustainability report in accordance with the VSME Standard, which follows a structured approach to ensure that the required information is reported in a standardised and transparent manner. The report reflects the sustainability modules selected and covered by the undertaking. In addition, it is stated whether the sustainability report is prepared on an individual basis (the undertaking’s own data only) or on a consolidated basis. This section contains basic information about the undertaking, such as its legal form, NACE sector code(s), size of the balance sheet and turnover, number of employees, as well as information on the undertaking’s country of primary operations and the location of other significant assets.</a:t>
            </a:r>
            <a:endParaRPr lang="en-GB" sz="1050"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1997386540"/>
              </p:ext>
            </p:extLst>
          </p:nvPr>
        </p:nvGraphicFramePr>
        <p:xfrm>
          <a:off x="7164197" y="3387189"/>
          <a:ext cx="3073007" cy="2174080"/>
        </p:xfrm>
        <a:graphic>
          <a:graphicData uri="http://schemas.openxmlformats.org/drawingml/2006/table">
            <a:tbl>
              <a:tblPr firstRow="1">
                <a:tableStyleId>{2A488322-F2BA-4B5B-9748-0D474271808F}</a:tableStyleId>
              </a:tblPr>
              <a:tblGrid>
                <a:gridCol w="1421044">
                  <a:extLst>
                    <a:ext uri="{9D8B030D-6E8A-4147-A177-3AD203B41FA5}">
                      <a16:colId xmlns:a16="http://schemas.microsoft.com/office/drawing/2014/main" val="1902117154"/>
                    </a:ext>
                  </a:extLst>
                </a:gridCol>
                <a:gridCol w="1651963">
                  <a:extLst>
                    <a:ext uri="{9D8B030D-6E8A-4147-A177-3AD203B41FA5}">
                      <a16:colId xmlns:a16="http://schemas.microsoft.com/office/drawing/2014/main" val="1904521774"/>
                    </a:ext>
                  </a:extLst>
                </a:gridCol>
              </a:tblGrid>
              <a:tr h="401941">
                <a:tc gridSpan="2">
                  <a:txBody>
                    <a:bodyPr/>
                    <a:lstStyle/>
                    <a:p>
                      <a:pPr algn="l"/>
                      <a:r>
                        <a:rPr lang="en-GB" sz="1050" b="1" kern="1200" spc="-10" noProof="0">
                          <a:solidFill>
                            <a:schemeClr val="tx2"/>
                          </a:solidFill>
                          <a:latin typeface="+mn-lt"/>
                          <a:ea typeface="+mn-ea"/>
                          <a:cs typeface="+mn-cs"/>
                        </a:rPr>
                        <a:t xml:space="preserve">Basic information about the undertaking</a:t>
                      </a:r>
                      <a:r>
                        <a:rPr lang="en-GB" sz="1050" b="0" kern="1200" spc="-10" noProof="0">
                          <a:solidFill>
                            <a:schemeClr val="tx2"/>
                          </a:solidFill>
                          <a:latin typeface="+mn-lt"/>
                          <a:ea typeface="+mn-ea"/>
                          <a:cs typeface="+mn-cs"/>
                        </a:rPr>
                        <a:t xml:space="preserve"> (para. 27e, i-v)</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74554">
                <a:tc>
                  <a:txBody>
                    <a:bodyPr/>
                    <a:lstStyle/>
                    <a:p>
                      <a:pPr algn="l"/>
                      <a:r>
                        <a:rPr lang="en-GB" sz="1050" b="1" kern="1200" spc="-10" noProof="0">
                          <a:solidFill>
                            <a:schemeClr val="tx2"/>
                          </a:solidFill>
                          <a:latin typeface="+mn-lt"/>
                          <a:ea typeface="+mn-ea"/>
                          <a:cs typeface="+mn-cs"/>
                        </a:rPr>
                        <a:t xml:space="preserve">Legal form</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n-GB" sz="1050" b="0" i="0" u="none" strike="noStrike" noProof="0">
                          <a:solidFill>
                            <a:srgbClr val="1B4528"/>
                          </a:solidFill>
                          <a:effectLst/>
                          <a:latin typeface="Inter"/>
                        </a:rPr>
                        <a:t>{{branchekode}}</a:t>
                      </a:r>
                      <a:endParaRPr lang="en-GB" sz="1050" b="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836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1" kern="1200" spc="-10" noProof="0">
                          <a:solidFill>
                            <a:schemeClr val="tx2"/>
                          </a:solidFill>
                          <a:latin typeface="+mn-lt"/>
                          <a:ea typeface="+mn-ea"/>
                          <a:cs typeface="+mn-cs"/>
                        </a:rPr>
                        <a:t xml:space="preserve">NACE sector code(s)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n-GB" sz="1050" b="0" i="0" u="none" strike="noStrike" noProof="0">
                          <a:solidFill>
                            <a:srgbClr val="1B4528"/>
                          </a:solidFill>
                          <a:effectLst/>
                          <a:latin typeface="Inter"/>
                        </a:rPr>
                        <a:t>{{NACE}}</a:t>
                      </a:r>
                      <a:endParaRPr lang="en-GB"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019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1" kern="1200" spc="-10" noProof="0">
                          <a:solidFill>
                            <a:schemeClr val="tx2"/>
                          </a:solidFill>
                          <a:latin typeface="+mn-lt"/>
                          <a:ea typeface="+mn-ea"/>
                          <a:cs typeface="+mn-cs"/>
                        </a:rPr>
                        <a:t xml:space="preserve">Balance sheet total (EUR)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n-GB" sz="1050" b="0" i="0" u="none" strike="noStrike" noProof="0">
                          <a:solidFill>
                            <a:srgbClr val="1B4528"/>
                          </a:solidFill>
                          <a:effectLst/>
                          <a:latin typeface="Inter"/>
                        </a:rPr>
                        <a:t>{{balance}}</a:t>
                      </a:r>
                      <a:endParaRPr lang="en-GB"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74554">
                <a:tc>
                  <a:txBody>
                    <a:bodyPr/>
                    <a:lstStyle/>
                    <a:p>
                      <a:pPr algn="l"/>
                      <a:r>
                        <a:rPr lang="en-GB" sz="1050" b="1" kern="1200" spc="-10" noProof="0">
                          <a:solidFill>
                            <a:schemeClr val="tx2"/>
                          </a:solidFill>
                          <a:latin typeface="+mn-lt"/>
                          <a:ea typeface="+mn-ea"/>
                          <a:cs typeface="+mn-cs"/>
                        </a:rPr>
                        <a:t xml:space="preserve">Turnover (EUR)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n-GB" sz="1050" b="0" i="0" u="none" strike="noStrike" noProof="0">
                          <a:solidFill>
                            <a:srgbClr val="1B4528"/>
                          </a:solidFill>
                          <a:effectLst/>
                          <a:latin typeface="Inter"/>
                        </a:rPr>
                        <a:t>{{revenue}}</a:t>
                      </a:r>
                      <a:endParaRPr lang="en-GB"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37394">
                <a:tc>
                  <a:txBody>
                    <a:bodyPr/>
                    <a:lstStyle/>
                    <a:p>
                      <a:pPr algn="l"/>
                      <a:r>
                        <a:rPr lang="en-GB" sz="1050" b="1" kern="1200" spc="-10" noProof="0">
                          <a:solidFill>
                            <a:schemeClr val="tx2"/>
                          </a:solidFill>
                          <a:latin typeface="+mn-lt"/>
                          <a:ea typeface="+mn-ea"/>
                          <a:cs typeface="+mn-cs"/>
                        </a:rPr>
                        <a:t xml:space="preserve">No. of employees </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n-GB" sz="1050" b="0" i="0" u="none" strike="noStrike" noProof="0">
                          <a:solidFill>
                            <a:srgbClr val="1B4528"/>
                          </a:solidFill>
                          <a:effectLst/>
                          <a:latin typeface="Inter"/>
                        </a:rPr>
                        <a:t>{{total_employees}}</a:t>
                      </a:r>
                      <a:endParaRPr lang="en-GB"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169491624"/>
              </p:ext>
            </p:extLst>
          </p:nvPr>
        </p:nvGraphicFramePr>
        <p:xfrm>
          <a:off x="7164197" y="2005523"/>
          <a:ext cx="3073007" cy="1214324"/>
        </p:xfrm>
        <a:graphic>
          <a:graphicData uri="http://schemas.openxmlformats.org/drawingml/2006/table">
            <a:tbl>
              <a:tblPr firstRow="1">
                <a:tableStyleId>{2A488322-F2BA-4B5B-9748-0D474271808F}</a:tableStyleId>
              </a:tblPr>
              <a:tblGrid>
                <a:gridCol w="1421044">
                  <a:extLst>
                    <a:ext uri="{9D8B030D-6E8A-4147-A177-3AD203B41FA5}">
                      <a16:colId xmlns:a16="http://schemas.microsoft.com/office/drawing/2014/main" val="613205895"/>
                    </a:ext>
                  </a:extLst>
                </a:gridCol>
                <a:gridCol w="1651963">
                  <a:extLst>
                    <a:ext uri="{9D8B030D-6E8A-4147-A177-3AD203B41FA5}">
                      <a16:colId xmlns:a16="http://schemas.microsoft.com/office/drawing/2014/main" val="2415866723"/>
                    </a:ext>
                  </a:extLst>
                </a:gridCol>
              </a:tblGrid>
              <a:tr h="437299">
                <a:tc gridSpan="2">
                  <a:txBody>
                    <a:bodyPr/>
                    <a:lstStyle/>
                    <a:p>
                      <a:pPr algn="l"/>
                      <a:r>
                        <a:rPr lang="en-GB" sz="1050" b="1" kern="1200" spc="-10" noProof="0">
                          <a:solidFill>
                            <a:schemeClr val="tx2"/>
                          </a:solidFill>
                          <a:latin typeface="+mn-lt"/>
                          <a:ea typeface="+mn-ea"/>
                          <a:cs typeface="+mn-cs"/>
                        </a:rPr>
                        <a:t xml:space="preserve">The ESG report contains omissions due to sensitive business information </a:t>
                      </a:r>
                      <a:r>
                        <a:rPr lang="en-GB" sz="1050" b="0" kern="1200" spc="-10" noProof="0">
                          <a:solidFill>
                            <a:schemeClr val="tx2"/>
                          </a:solidFill>
                          <a:latin typeface="+mn-lt"/>
                          <a:ea typeface="+mn-ea"/>
                          <a:cs typeface="+mn-cs"/>
                        </a:rPr>
                        <a:t xml:space="preserve">(para. 27b)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777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775"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050" b="0" kern="1200" spc="-10" noProof="0">
                          <a:solidFill>
                            <a:schemeClr val="tx2"/>
                          </a:solidFill>
                          <a:latin typeface="+mn-lt"/>
                          <a:ea typeface="+mn-ea"/>
                          <a:cs typeface="+mn-cs"/>
                        </a:rPr>
                        <a:t xml:space="preserve">The following disclosures have been omitted</a:t>
                      </a:r>
                    </a:p>
                    <a:p>
                      <a:pPr algn="l"/>
                      <a:endParaRPr lang="en-GB" sz="775" b="1"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en-GB" sz="1050" noProof="0">
                          <a:solidFill>
                            <a:srgbClr val="1B4528"/>
                          </a:solidFill>
                          <a:latin typeface="+mn-lt"/>
                          <a:cs typeface="Calibri" panose="020F0502020204030204" pitchFamily="34" charset="0"/>
                        </a:rPr>
                        <a:t>{{</a:t>
                      </a:r>
                      <a:r>
                        <a:rPr lang="en-GB" sz="1050" noProof="0">
                          <a:solidFill>
                            <a:srgbClr val="1B4528"/>
                          </a:solidFill>
                          <a:latin typeface="+mn-lt"/>
                          <a:cs typeface="Calibri" panose="020F0502020204030204" pitchFamily="34" charset="0"/>
                        </a:rPr>
                        <a:t>confidentiality_info</a:t>
                      </a:r>
                      <a:r>
                        <a:rPr lang="en-GB" sz="1050" noProof="0">
                          <a:solidFill>
                            <a:srgbClr val="1B4528"/>
                          </a:solidFill>
                          <a:latin typeface="+mn-lt"/>
                          <a:cs typeface="Calibri" panose="020F0502020204030204" pitchFamily="34" charset="0"/>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54796" y="450698"/>
            <a:ext cx="9791704" cy="218627"/>
          </a:xfrm>
        </p:spPr>
        <p:txBody>
          <a:bodyPr/>
          <a:lstStyle/>
          <a:p>
            <a:r>
              <a:rPr lang="en-GB" noProof="0"/>
              <a:t xml:space="preserve">Basis for preparation (B1) - continued</a:t>
            </a:r>
          </a:p>
        </p:txBody>
      </p:sp>
      <p:pic>
        <p:nvPicPr>
          <p:cNvPr id="11" name="Graphic 10">
            <a:extLst>
              <a:ext uri="{FF2B5EF4-FFF2-40B4-BE49-F238E27FC236}">
                <a16:creationId xmlns:a16="http://schemas.microsoft.com/office/drawing/2014/main" id="{EC0A4FD9-CD66-4681-595B-4557A461B42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364" y="972291"/>
            <a:ext cx="181932" cy="203984"/>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en-GB" noProof="0" smtClean="0"/>
              <a:pPr/>
              <a:t>4</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7261741" y="197293"/>
            <a:ext cx="3194529" cy="134955"/>
          </a:xfrm>
        </p:spPr>
        <p:txBody>
          <a:bodyPr/>
          <a:lstStyle/>
          <a:p>
            <a:r>
              <a:rPr lang="en-GB" noProof="0"/>
              <a:t>{{</a:t>
            </a:r>
            <a:r>
              <a:rPr lang="en-GB" noProof="0"/>
              <a:t>company_name</a:t>
            </a:r>
            <a:r>
              <a:rPr lang="en-GB" noProof="0"/>
              <a:t>}}</a:t>
            </a:r>
            <a:endParaRPr lang="en-GB" b="0" noProof="0"/>
          </a:p>
          <a:p>
            <a:endParaRPr lang="en-GB" noProof="0"/>
          </a:p>
        </p:txBody>
      </p:sp>
      <p:graphicFrame>
        <p:nvGraphicFramePr>
          <p:cNvPr id="2" name="Tabel 1">
            <a:extLst>
              <a:ext uri="{FF2B5EF4-FFF2-40B4-BE49-F238E27FC236}">
                <a16:creationId xmlns:a16="http://schemas.microsoft.com/office/drawing/2014/main" id="{7A907455-9CB7-376B-6B21-2E615B3A35EE}"/>
              </a:ext>
            </a:extLst>
          </p:cNvPr>
          <p:cNvGraphicFramePr>
            <a:graphicFrameLocks noGrp="1"/>
          </p:cNvGraphicFramePr>
          <p:nvPr>
            <p:extLst>
              <p:ext uri="{D42A27DB-BD31-4B8C-83A1-F6EECF244321}">
                <p14:modId xmlns:p14="http://schemas.microsoft.com/office/powerpoint/2010/main" val="748584387"/>
              </p:ext>
            </p:extLst>
          </p:nvPr>
        </p:nvGraphicFramePr>
        <p:xfrm>
          <a:off x="452474" y="4486588"/>
          <a:ext cx="9820006" cy="738074"/>
        </p:xfrm>
        <a:graphic>
          <a:graphicData uri="http://schemas.openxmlformats.org/drawingml/2006/table">
            <a:tbl>
              <a:tblPr firstRow="1">
                <a:tableStyleId>{2A488322-F2BA-4B5B-9748-0D474271808F}</a:tableStyleId>
              </a:tblPr>
              <a:tblGrid>
                <a:gridCol w="3375900">
                  <a:extLst>
                    <a:ext uri="{9D8B030D-6E8A-4147-A177-3AD203B41FA5}">
                      <a16:colId xmlns:a16="http://schemas.microsoft.com/office/drawing/2014/main" val="3746818765"/>
                    </a:ext>
                  </a:extLst>
                </a:gridCol>
                <a:gridCol w="3240094">
                  <a:extLst>
                    <a:ext uri="{9D8B030D-6E8A-4147-A177-3AD203B41FA5}">
                      <a16:colId xmlns:a16="http://schemas.microsoft.com/office/drawing/2014/main" val="465692987"/>
                    </a:ext>
                  </a:extLst>
                </a:gridCol>
                <a:gridCol w="1709097">
                  <a:extLst>
                    <a:ext uri="{9D8B030D-6E8A-4147-A177-3AD203B41FA5}">
                      <a16:colId xmlns:a16="http://schemas.microsoft.com/office/drawing/2014/main" val="857047578"/>
                    </a:ext>
                  </a:extLst>
                </a:gridCol>
                <a:gridCol w="1494915">
                  <a:extLst>
                    <a:ext uri="{9D8B030D-6E8A-4147-A177-3AD203B41FA5}">
                      <a16:colId xmlns:a16="http://schemas.microsoft.com/office/drawing/2014/main" val="1742107540"/>
                    </a:ext>
                  </a:extLst>
                </a:gridCol>
              </a:tblGrid>
              <a:tr h="220996">
                <a:tc>
                  <a:txBody>
                    <a:bodyPr/>
                    <a:lstStyle/>
                    <a:p>
                      <a:r>
                        <a:rPr lang="en-GB" sz="1050" b="1" kern="1200" spc="-10" noProof="0">
                          <a:solidFill>
                            <a:schemeClr val="tx2"/>
                          </a:solidFill>
                          <a:latin typeface="+mn-lt"/>
                          <a:ea typeface="+mn-ea"/>
                          <a:cs typeface="+mn-cs"/>
                        </a:rPr>
                        <a:t xml:space="preserve">Name of ESG certificate/ecolabel </a:t>
                      </a:r>
                      <a:r>
                        <a:rPr lang="en-GB" sz="1050" b="0" kern="1200" spc="-10" noProof="0">
                          <a:solidFill>
                            <a:schemeClr val="tx2"/>
                          </a:solidFill>
                          <a:latin typeface="+mn-lt"/>
                          <a:ea typeface="+mn-ea"/>
                          <a:cs typeface="+mn-cs"/>
                        </a:rPr>
                        <a:t xml:space="preserve">(para. 28)</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GB" sz="1050" b="1" kern="1200" spc="-10" noProof="0">
                          <a:solidFill>
                            <a:schemeClr val="tx2"/>
                          </a:solidFill>
                          <a:latin typeface="+mn-lt"/>
                          <a:ea typeface="+mn-ea"/>
                          <a:cs typeface="+mn-cs"/>
                        </a:rPr>
                        <a:t xml:space="preserve">Brief description</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GB" sz="1050" b="1" kern="1200" spc="-10" noProof="0">
                          <a:solidFill>
                            <a:schemeClr val="tx2"/>
                          </a:solidFill>
                          <a:latin typeface="+mn-lt"/>
                          <a:ea typeface="+mn-ea"/>
                          <a:cs typeface="+mn-cs"/>
                        </a:rPr>
                        <a:t xml:space="preserve">Date of issue/</a:t>
                      </a:r>
                    </a:p>
                    <a:p>
                      <a:pPr algn="l"/>
                      <a:r>
                        <a:rPr lang="en-GB" sz="1050" b="1" kern="1200" spc="-10" noProof="0">
                          <a:solidFill>
                            <a:schemeClr val="tx2"/>
                          </a:solidFill>
                          <a:latin typeface="+mn-lt"/>
                          <a:ea typeface="+mn-ea"/>
                          <a:cs typeface="+mn-cs"/>
                        </a:rPr>
                        <a:t xml:space="preserve">validity</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GB" sz="1050" b="1" kern="1200" spc="-10" noProof="0">
                          <a:solidFill>
                            <a:schemeClr val="tx2"/>
                          </a:solidFill>
                          <a:latin typeface="+mn-lt"/>
                          <a:ea typeface="+mn-ea"/>
                          <a:cs typeface="+mn-cs"/>
                        </a:rPr>
                        <a:t xml:space="preserve">Rating, if any</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20996">
                <a:tc>
                  <a:txBody>
                    <a:bodyPr/>
                    <a:lstStyle/>
                    <a:p>
                      <a:pPr rtl="0" fontAlgn="ctr" algn="l">
                        <a:buNone/>
                      </a:pPr>
                      <a:r>
                        <a:rPr lang="en-GB" sz="1050" b="0" i="0" u="none" strike="noStrike" noProof="0">
                          <a:solidFill>
                            <a:srgbClr val="1B4528"/>
                          </a:solidFill>
                          <a:effectLst/>
                          <a:latin typeface="Inter"/>
                        </a:rPr>
                        <a:t>{{certificate_or_ecolabel}}</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n-GB" sz="1050" b="0" i="0" u="none" strike="noStrike" noProof="0">
                          <a:solidFill>
                            <a:srgbClr val="1B4528"/>
                          </a:solidFill>
                          <a:effectLst/>
                          <a:latin typeface="Inter"/>
                        </a:rPr>
                        <a:t>{{description_certificate}}</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n-GB" sz="1050" b="0" i="0" u="none" strike="noStrike" noProof="0">
                          <a:solidFill>
                            <a:srgbClr val="1B4528"/>
                          </a:solidFill>
                          <a:effectLst/>
                          <a:latin typeface="Inter"/>
                        </a:rPr>
                        <a:t>{{date_certicate}}</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n-GB" sz="1050" b="0" i="0" u="none" strike="noStrike" noProof="0">
                          <a:solidFill>
                            <a:srgbClr val="1B4528"/>
                          </a:solidFill>
                          <a:effectLst/>
                          <a:latin typeface="Inter"/>
                        </a:rPr>
                        <a:t>{{certiciate_possible_rating}}</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0" name="Tabel 9">
            <a:extLst>
              <a:ext uri="{FF2B5EF4-FFF2-40B4-BE49-F238E27FC236}">
                <a16:creationId xmlns:a16="http://schemas.microsoft.com/office/drawing/2014/main" id="{AA9D6142-7148-BA87-D929-D03B1323ACFD}"/>
              </a:ext>
            </a:extLst>
          </p:cNvPr>
          <p:cNvGraphicFramePr>
            <a:graphicFrameLocks noGrp="1"/>
          </p:cNvGraphicFramePr>
          <p:nvPr>
            <p:extLst>
              <p:ext uri="{D42A27DB-BD31-4B8C-83A1-F6EECF244321}">
                <p14:modId xmlns:p14="http://schemas.microsoft.com/office/powerpoint/2010/main" val="2461615557"/>
              </p:ext>
            </p:extLst>
          </p:nvPr>
        </p:nvGraphicFramePr>
        <p:xfrm>
          <a:off x="468741" y="1568148"/>
          <a:ext cx="9770785" cy="1051941"/>
        </p:xfrm>
        <a:graphic>
          <a:graphicData uri="http://schemas.openxmlformats.org/drawingml/2006/table">
            <a:tbl>
              <a:tblPr firstRow="1">
                <a:tableStyleId>{2A488322-F2BA-4B5B-9748-0D474271808F}</a:tableStyleId>
              </a:tblPr>
              <a:tblGrid>
                <a:gridCol w="1780760">
                  <a:extLst>
                    <a:ext uri="{9D8B030D-6E8A-4147-A177-3AD203B41FA5}">
                      <a16:colId xmlns:a16="http://schemas.microsoft.com/office/drawing/2014/main" val="2041236584"/>
                    </a:ext>
                  </a:extLst>
                </a:gridCol>
                <a:gridCol w="1890996">
                  <a:extLst>
                    <a:ext uri="{9D8B030D-6E8A-4147-A177-3AD203B41FA5}">
                      <a16:colId xmlns:a16="http://schemas.microsoft.com/office/drawing/2014/main" val="2637180759"/>
                    </a:ext>
                  </a:extLst>
                </a:gridCol>
                <a:gridCol w="1444903">
                  <a:extLst>
                    <a:ext uri="{9D8B030D-6E8A-4147-A177-3AD203B41FA5}">
                      <a16:colId xmlns:a16="http://schemas.microsoft.com/office/drawing/2014/main" val="1126871569"/>
                    </a:ext>
                  </a:extLst>
                </a:gridCol>
                <a:gridCol w="1412061">
                  <a:extLst>
                    <a:ext uri="{9D8B030D-6E8A-4147-A177-3AD203B41FA5}">
                      <a16:colId xmlns:a16="http://schemas.microsoft.com/office/drawing/2014/main" val="573454477"/>
                    </a:ext>
                  </a:extLst>
                </a:gridCol>
                <a:gridCol w="1565312">
                  <a:extLst>
                    <a:ext uri="{9D8B030D-6E8A-4147-A177-3AD203B41FA5}">
                      <a16:colId xmlns:a16="http://schemas.microsoft.com/office/drawing/2014/main" val="3277283369"/>
                    </a:ext>
                  </a:extLst>
                </a:gridCol>
                <a:gridCol w="1676753">
                  <a:extLst>
                    <a:ext uri="{9D8B030D-6E8A-4147-A177-3AD203B41FA5}">
                      <a16:colId xmlns:a16="http://schemas.microsoft.com/office/drawing/2014/main" val="3975353283"/>
                    </a:ext>
                  </a:extLst>
                </a:gridCol>
              </a:tblGrid>
              <a:tr h="284138">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1" kern="1200" spc="-10" noProof="0">
                          <a:solidFill>
                            <a:schemeClr val="tx2"/>
                          </a:solidFill>
                          <a:latin typeface="+mn-lt"/>
                          <a:ea typeface="+mn-ea"/>
                          <a:cs typeface="+mn-cs"/>
                        </a:rPr>
                        <a:t xml:space="preserve">Addresses and geolocation of </a:t>
                      </a:r>
                      <a:r>
                        <a:rPr lang="en-GB" sz="1050" b="1" u="none" kern="1200" spc="-10" noProof="0">
                          <a:solidFill>
                            <a:schemeClr val="tx2"/>
                          </a:solidFill>
                          <a:latin typeface="+mn-lt"/>
                          <a:ea typeface="+mn-ea"/>
                          <a:cs typeface="+mn-cs"/>
                        </a:rPr>
                        <a:t xml:space="preserve">significant</a:t>
                      </a:r>
                      <a:r>
                        <a:rPr lang="en-GB" sz="1050" b="1" kern="1200" spc="-10" noProof="0">
                          <a:solidFill>
                            <a:schemeClr val="tx2"/>
                          </a:solidFill>
                          <a:latin typeface="+mn-lt"/>
                          <a:ea typeface="+mn-ea"/>
                          <a:cs typeface="+mn-cs"/>
                        </a:rPr>
                        <a:t xml:space="preserve"> assets and sites that the undertaking</a:t>
                      </a:r>
                      <a:r>
                        <a:rPr lang="en-GB" sz="1050" b="0" kern="1200" spc="-10" noProof="0">
                          <a:solidFill>
                            <a:schemeClr val="tx2"/>
                          </a:solidFill>
                          <a:latin typeface="+mn-lt"/>
                          <a:ea typeface="+mn-ea"/>
                          <a:cs typeface="+mn-cs"/>
                        </a:rPr>
                        <a:t> </a:t>
                      </a:r>
                      <a:r>
                        <a:rPr lang="en-GB" sz="1050" b="1" kern="1200" spc="-10" noProof="0">
                          <a:solidFill>
                            <a:schemeClr val="tx2"/>
                          </a:solidFill>
                          <a:latin typeface="+mn-lt"/>
                          <a:ea typeface="+mn-ea"/>
                          <a:cs typeface="+mn-cs"/>
                        </a:rPr>
                        <a:t xml:space="preserve">owns, leases or manages </a:t>
                      </a:r>
                      <a:r>
                        <a:rPr lang="en-GB" sz="1050" b="0" kern="1200" spc="-10" noProof="0">
                          <a:solidFill>
                            <a:schemeClr val="tx2"/>
                          </a:solidFill>
                          <a:latin typeface="+mn-lt"/>
                          <a:ea typeface="+mn-ea"/>
                          <a:cs typeface="+mn-cs"/>
                        </a:rPr>
                        <a:t xml:space="preserve">(para.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050"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84138">
                <a:tc>
                  <a:txBody>
                    <a:bodyPr/>
                    <a:lstStyle/>
                    <a:p>
                      <a:pPr algn="l"/>
                      <a:r>
                        <a:rPr lang="en-GB" sz="1050" b="1" kern="1200" spc="-10" noProof="0">
                          <a:solidFill>
                            <a:schemeClr val="tx2"/>
                          </a:solidFill>
                          <a:latin typeface="+mn-lt"/>
                          <a:ea typeface="+mn-ea"/>
                          <a:cs typeface="+mn-cs"/>
                        </a:rPr>
                        <a:t xml:space="preserve">Site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1050" b="1" kern="1200" spc="-10" noProof="0">
                          <a:solidFill>
                            <a:schemeClr val="tx2"/>
                          </a:solidFill>
                          <a:latin typeface="+mn-lt"/>
                          <a:ea typeface="+mn-ea"/>
                          <a:cs typeface="+mn-cs"/>
                        </a:rPr>
                        <a:t xml:space="preserve">Address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1050" b="1" kern="1200" spc="-10" noProof="0">
                          <a:solidFill>
                            <a:schemeClr val="tx2"/>
                          </a:solidFill>
                          <a:latin typeface="+mn-lt"/>
                          <a:ea typeface="+mn-ea"/>
                          <a:cs typeface="+mn-cs"/>
                        </a:rPr>
                        <a:t xml:space="preserve">Postcode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1050" b="1" kern="1200" spc="-10" noProof="0">
                          <a:solidFill>
                            <a:schemeClr val="tx2"/>
                          </a:solidFill>
                          <a:latin typeface="+mn-lt"/>
                          <a:ea typeface="+mn-ea"/>
                          <a:cs typeface="+mn-cs"/>
                        </a:rPr>
                        <a:t xml:space="preserve">City</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1050" b="1" kern="1200" spc="-10" noProof="0">
                          <a:solidFill>
                            <a:schemeClr val="tx2"/>
                          </a:solidFill>
                          <a:latin typeface="+mn-lt"/>
                          <a:ea typeface="+mn-ea"/>
                          <a:cs typeface="+mn-cs"/>
                        </a:rPr>
                        <a:t xml:space="preserve">Country</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1050" b="1" kern="1200" spc="-10" noProof="0">
                          <a:solidFill>
                            <a:schemeClr val="tx2"/>
                          </a:solidFill>
                          <a:latin typeface="+mn-lt"/>
                          <a:ea typeface="+mn-ea"/>
                          <a:cs typeface="+mn-cs"/>
                        </a:rPr>
                        <a:t xml:space="preserve">Geolocation (coordinates)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84138">
                <a:tc>
                  <a:txBody>
                    <a:bodyPr/>
                    <a:lstStyle/>
                    <a:p>
                      <a:pPr rtl="0" fontAlgn="t" algn="l">
                        <a:buNone/>
                      </a:pPr>
                      <a:r>
                        <a:rPr lang="en-GB" sz="1050" b="0" i="0" u="none" strike="noStrike" noProof="0">
                          <a:solidFill>
                            <a:srgbClr val="1B4528"/>
                          </a:solidFill>
                          <a:effectLst/>
                          <a:latin typeface="Inter"/>
                        </a:rPr>
                        <a:t>{{geolocation}}</a:t>
                      </a:r>
                      <a:endParaRPr lang="en-GB"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n-GB" sz="1050" b="0" i="0" u="none" strike="noStrike" noProof="0">
                          <a:solidFill>
                            <a:srgbClr val="1B4528"/>
                          </a:solidFill>
                          <a:effectLst/>
                          <a:latin typeface="Inter"/>
                        </a:rPr>
                        <a:t>{{geolocation_adress}}</a:t>
                      </a:r>
                      <a:endParaRPr lang="en-GB"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n-GB" sz="1050" b="0" i="0" u="none" strike="noStrike" noProof="0">
                          <a:solidFill>
                            <a:srgbClr val="1B4528"/>
                          </a:solidFill>
                          <a:effectLst/>
                          <a:latin typeface="Inter"/>
                        </a:rPr>
                        <a:t>{{geolocation_postcode}}</a:t>
                      </a:r>
                      <a:endParaRPr lang="en-GB"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n-GB" sz="1050" b="0" i="0" u="none" strike="noStrike" noProof="0">
                          <a:solidFill>
                            <a:srgbClr val="1B4528"/>
                          </a:solidFill>
                          <a:effectLst/>
                          <a:latin typeface="Inter"/>
                        </a:rPr>
                        <a:t>{{geolocation_city}}</a:t>
                      </a:r>
                      <a:endParaRPr lang="en-GB"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n-GB" sz="1050" b="0" i="0" u="none" strike="noStrike" noProof="0">
                          <a:solidFill>
                            <a:srgbClr val="1B4528"/>
                          </a:solidFill>
                          <a:effectLst/>
                          <a:latin typeface="Inter"/>
                        </a:rPr>
                        <a:t>{{geolocation_country}}</a:t>
                      </a:r>
                      <a:endParaRPr lang="en-GB"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n-GB" sz="1050" b="0" i="0" u="none" strike="noStrike" noProof="0">
                          <a:solidFill>
                            <a:srgbClr val="1B4528"/>
                          </a:solidFill>
                          <a:effectLst/>
                          <a:latin typeface="Inter"/>
                        </a:rPr>
                        <a:t>{{geolocation_coordinates}}</a:t>
                      </a:r>
                      <a:endParaRPr lang="en-GB"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8" name="Tekstfelt 7">
            <a:extLst>
              <a:ext uri="{FF2B5EF4-FFF2-40B4-BE49-F238E27FC236}">
                <a16:creationId xmlns:a16="http://schemas.microsoft.com/office/drawing/2014/main" id="{8424FC7C-5277-3C04-10E3-491713542923}"/>
              </a:ext>
            </a:extLst>
          </p:cNvPr>
          <p:cNvSpPr txBox="1"/>
          <p:nvPr/>
        </p:nvSpPr>
        <p:spPr>
          <a:xfrm>
            <a:off x="452474" y="891000"/>
            <a:ext cx="9794026" cy="566812"/>
          </a:xfrm>
          <a:prstGeom prst="rect">
            <a:avLst/>
          </a:prstGeom>
          <a:noFill/>
        </p:spPr>
        <p:txBody>
          <a:bodyPr wrap="square">
            <a:spAutoFit/>
          </a:bodyPr>
          <a:lstStyle/>
          <a:p>
            <a:pPr>
              <a:spcBef>
                <a:spcPts val="789"/>
              </a:spcBef>
            </a:pPr>
            <a:r>
              <a:rPr lang="en-GB" sz="1050" b="0" i="0" u="none" strike="noStrike" noProof="0">
                <a:solidFill>
                  <a:schemeClr val="tx2"/>
                </a:solidFill>
                <a:effectLst/>
                <a:latin typeface="Inter"/>
              </a:rPr>
              <a:t xml:space="preserve">Below is a description of the undertaking’s geolocations and of where the undertaking operates. This information can be used for climate-related risk zones and provides information on the undertaking’s sites, facilities and/or headquarters</a:t>
            </a:r>
            <a:r>
              <a:rPr lang="en-GB" sz="1050" noProof="0">
                <a:solidFill>
                  <a:schemeClr val="tx2"/>
                </a:solidFill>
                <a:latin typeface="Inter"/>
              </a:rPr>
              <a:t xml:space="preserve">. Relevant sustainability-related certifications or labels are also stated, including the issuer of the certification, the date and any rating.</a:t>
            </a:r>
            <a:endParaRPr lang="en-GB" sz="1050" b="0" noProof="0">
              <a:solidFill>
                <a:schemeClr val="tx2"/>
              </a:solidFill>
              <a:effectLst/>
              <a:latin typeface="Inter"/>
            </a:endParaRPr>
          </a:p>
        </p:txBody>
      </p:sp>
      <p:sp>
        <p:nvSpPr>
          <p:cNvPr id="20" name="Tekstfelt 19">
            <a:extLst>
              <a:ext uri="{FF2B5EF4-FFF2-40B4-BE49-F238E27FC236}">
                <a16:creationId xmlns:a16="http://schemas.microsoft.com/office/drawing/2014/main" id="{EE6CA221-E8CE-159D-7634-30A647F356B9}"/>
              </a:ext>
            </a:extLst>
          </p:cNvPr>
          <p:cNvSpPr txBox="1"/>
          <p:nvPr/>
        </p:nvSpPr>
        <p:spPr>
          <a:xfrm>
            <a:off x="452474" y="4181436"/>
            <a:ext cx="7174107" cy="242919"/>
          </a:xfrm>
          <a:prstGeom prst="rect">
            <a:avLst/>
          </a:prstGeom>
          <a:noFill/>
        </p:spPr>
        <p:txBody>
          <a:bodyPr wrap="square">
            <a:spAutoFit/>
          </a:bodyPr>
          <a:lstStyle/>
          <a:p>
            <a:r>
              <a:rPr lang="en-GB" sz="1050" noProof="0">
                <a:solidFill>
                  <a:srgbClr val="487477"/>
                </a:solidFill>
                <a:latin typeface="Inter"/>
              </a:rPr>
              <a:t xml:space="preserve">The undertaking’s certificates and ecolabels are listed below.</a:t>
            </a:r>
          </a:p>
        </p:txBody>
      </p:sp>
    </p:spTree>
    <p:extLst>
      <p:ext uri="{BB962C8B-B14F-4D97-AF65-F5344CB8AC3E}">
        <p14:creationId xmlns:p14="http://schemas.microsoft.com/office/powerpoint/2010/main" val="3439582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54796" y="450698"/>
            <a:ext cx="9791704" cy="218627"/>
          </a:xfrm>
        </p:spPr>
        <p:txBody>
          <a:bodyPr/>
          <a:lstStyle/>
          <a:p>
            <a:r>
              <a:rPr lang="en-GB" noProof="0"/>
              <a:t xml:space="preserve">Practices, policies and future initiatives for transitioning towards a more sustainable economy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a:t>
            </a:r>
            <a:r>
              <a:rPr lang="en-GB" noProof="0"/>
              <a:t>company_name</a:t>
            </a:r>
            <a:r>
              <a:rPr lang="en-GB" noProof="0"/>
              <a:t>}}</a:t>
            </a:r>
            <a:endParaRPr lang="en-GB" b="0" noProof="0"/>
          </a:p>
          <a:p>
            <a:endParaRPr lang="en-GB"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54796" y="1501175"/>
          <a:ext cx="9791705" cy="3360057"/>
        </p:xfrm>
        <a:graphic>
          <a:graphicData uri="http://schemas.openxmlformats.org/drawingml/2006/table">
            <a:tbl>
              <a:tblPr firstRow="1">
                <a:tableStyleId>{2A488322-F2BA-4B5B-9748-0D474271808F}</a:tableStyleId>
              </a:tblPr>
              <a:tblGrid>
                <a:gridCol w="1750429">
                  <a:extLst>
                    <a:ext uri="{9D8B030D-6E8A-4147-A177-3AD203B41FA5}">
                      <a16:colId xmlns:a16="http://schemas.microsoft.com/office/drawing/2014/main" val="1902117154"/>
                    </a:ext>
                  </a:extLst>
                </a:gridCol>
                <a:gridCol w="1848825">
                  <a:extLst>
                    <a:ext uri="{9D8B030D-6E8A-4147-A177-3AD203B41FA5}">
                      <a16:colId xmlns:a16="http://schemas.microsoft.com/office/drawing/2014/main" val="1904521774"/>
                    </a:ext>
                  </a:extLst>
                </a:gridCol>
                <a:gridCol w="1447875">
                  <a:extLst>
                    <a:ext uri="{9D8B030D-6E8A-4147-A177-3AD203B41FA5}">
                      <a16:colId xmlns:a16="http://schemas.microsoft.com/office/drawing/2014/main" val="3164053669"/>
                    </a:ext>
                  </a:extLst>
                </a:gridCol>
                <a:gridCol w="2027025">
                  <a:extLst>
                    <a:ext uri="{9D8B030D-6E8A-4147-A177-3AD203B41FA5}">
                      <a16:colId xmlns:a16="http://schemas.microsoft.com/office/drawing/2014/main" val="1484983729"/>
                    </a:ext>
                  </a:extLst>
                </a:gridCol>
                <a:gridCol w="2717551">
                  <a:extLst>
                    <a:ext uri="{9D8B030D-6E8A-4147-A177-3AD203B41FA5}">
                      <a16:colId xmlns:a16="http://schemas.microsoft.com/office/drawing/2014/main" val="3920544300"/>
                    </a:ext>
                  </a:extLst>
                </a:gridCol>
              </a:tblGrid>
              <a:tr h="417684">
                <a:tc>
                  <a:txBody>
                    <a:bodyPr/>
                    <a:lstStyle/>
                    <a:p>
                      <a:r>
                        <a:rPr lang="en-GB" sz="1050" b="1" kern="1200" spc="-10" noProof="0">
                          <a:solidFill>
                            <a:schemeClr val="tx2"/>
                          </a:solidFill>
                          <a:latin typeface="+mn-lt"/>
                          <a:ea typeface="+mn-ea"/>
                          <a:cs typeface="+mn-cs"/>
                        </a:rPr>
                        <a:t xml:space="preserve">Area</a:t>
                      </a:r>
                    </a:p>
                    <a:p>
                      <a:r>
                        <a:rPr lang="en-GB" sz="1050" b="0" kern="1200" spc="-10" noProof="0">
                          <a:solidFill>
                            <a:schemeClr val="tx2"/>
                          </a:solidFill>
                          <a:latin typeface="+mn-lt"/>
                          <a:ea typeface="+mn-ea"/>
                          <a:cs typeface="+mn-cs"/>
                        </a:rPr>
                        <a:t xml:space="preserve">(para. 29a-d)</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1050" b="1" kern="1200" spc="-10" noProof="0">
                          <a:solidFill>
                            <a:schemeClr val="tx2"/>
                          </a:solidFill>
                          <a:latin typeface="+mn-lt"/>
                          <a:ea typeface="+mn-ea"/>
                          <a:cs typeface="+mn-cs"/>
                        </a:rPr>
                        <a:t xml:space="preserve">The undertaking has a specific practice or policy in this area</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1050" b="1" kern="1200" spc="-10" noProof="0">
                          <a:solidFill>
                            <a:schemeClr val="tx2"/>
                          </a:solidFill>
                          <a:latin typeface="+mn-lt"/>
                          <a:ea typeface="+mn-ea"/>
                          <a:cs typeface="+mn-cs"/>
                        </a:rPr>
                        <a:t xml:space="preserve">Is the policy publicly available? </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1050" b="1" kern="1200" spc="-10" noProof="0">
                          <a:solidFill>
                            <a:schemeClr val="tx2"/>
                          </a:solidFill>
                          <a:latin typeface="+mn-lt"/>
                          <a:ea typeface="+mn-ea"/>
                          <a:cs typeface="+mn-cs"/>
                        </a:rPr>
                        <a:t xml:space="preserve">The undertaking has future initiatives and plans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1050" b="1" kern="1200" spc="-10" noProof="0">
                          <a:solidFill>
                            <a:schemeClr val="tx2"/>
                          </a:solidFill>
                          <a:latin typeface="+mn-lt"/>
                          <a:ea typeface="+mn-ea"/>
                          <a:cs typeface="+mn-cs"/>
                        </a:rPr>
                        <a:t xml:space="preserve">The undertaking has specific targets to monitor the implementation of practices and policies?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67040">
                <a:tc>
                  <a:txBody>
                    <a:bodyPr/>
                    <a:lstStyle/>
                    <a:p>
                      <a:pPr algn="l"/>
                      <a:r>
                        <a:rPr lang="en-GB" sz="1050" b="1" kern="1200" spc="-10" noProof="0">
                          <a:solidFill>
                            <a:schemeClr val="tx2"/>
                          </a:solidFill>
                          <a:latin typeface="+mn-lt"/>
                          <a:ea typeface="+mn-ea"/>
                          <a:cs typeface="+mn-cs"/>
                        </a:rPr>
                        <a:t xml:space="preserve">Climate change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1050" b="0" i="0" u="none" strike="noStrike" noProof="0">
                          <a:solidFill>
                            <a:srgbClr val="1B4528"/>
                          </a:solidFill>
                          <a:effectLst/>
                          <a:latin typeface="Inter"/>
                        </a:rPr>
                        <a:t>{{climate_change_concrete}}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{{climate_change_publicly}}</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{{climate_change_future}}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1050" b="0" i="0" u="none" strike="noStrike" noProof="0">
                          <a:solidFill>
                            <a:srgbClr val="1B4528"/>
                          </a:solidFill>
                          <a:latin typeface="Inter"/>
                        </a:rPr>
                        <a:t>{{climate_change_plan}}</a:t>
                      </a:r>
                      <a:endParaRPr lang="en-GB">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53415">
                <a:tc>
                  <a:txBody>
                    <a:bodyPr/>
                    <a:lstStyle/>
                    <a:p>
                      <a:pPr algn="l"/>
                      <a:r>
                        <a:rPr lang="en-GB" sz="1050" b="1" kern="1200" spc="-10" noProof="0">
                          <a:solidFill>
                            <a:schemeClr val="tx2"/>
                          </a:solidFill>
                          <a:latin typeface="+mn-lt"/>
                          <a:ea typeface="+mn-ea"/>
                          <a:cs typeface="+mn-cs"/>
                        </a:rPr>
                        <a:t xml:space="preserve">Pollution</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1050" b="0" i="0" u="none" strike="noStrike" noProof="0">
                          <a:solidFill>
                            <a:srgbClr val="1B4528"/>
                          </a:solidFill>
                          <a:effectLst/>
                          <a:latin typeface="Inter"/>
                        </a:rPr>
                        <a:t>{{pollution_concrete}}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{{pollution_publicly}}</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{{pollution_future}}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1050" b="0" i="0" u="none" strike="noStrike" noProof="0">
                          <a:solidFill>
                            <a:srgbClr val="1B4528"/>
                          </a:solidFill>
                          <a:latin typeface="Inter"/>
                        </a:rPr>
                        <a:t>{{pollution_plan}}</a:t>
                      </a:r>
                      <a:endParaRPr lang="en-GB">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60612">
                <a:tc>
                  <a:txBody>
                    <a:bodyPr/>
                    <a:lstStyle/>
                    <a:p>
                      <a:pPr algn="l"/>
                      <a:r>
                        <a:rPr lang="en-GB" sz="1050" b="1" kern="1200" spc="-10" noProof="0">
                          <a:solidFill>
                            <a:schemeClr val="tx2"/>
                          </a:solidFill>
                          <a:latin typeface="+mn-lt"/>
                          <a:ea typeface="+mn-ea"/>
                          <a:cs typeface="+mn-cs"/>
                        </a:rPr>
                        <a:t xml:space="preserve">Water and marine resources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1050" b="0" i="0" u="none" strike="noStrike" noProof="0">
                          <a:solidFill>
                            <a:srgbClr val="1B4528"/>
                          </a:solidFill>
                          <a:effectLst/>
                          <a:latin typeface="Inter"/>
                        </a:rPr>
                        <a:t>{{water_concrete}}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{{water_publicly}}</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{{water_future}}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1050" b="0" i="0" u="none" strike="noStrike" noProof="0">
                          <a:solidFill>
                            <a:srgbClr val="1B4528"/>
                          </a:solidFill>
                          <a:latin typeface="Inter"/>
                        </a:rPr>
                        <a:t>{{water_plan}}</a:t>
                      </a:r>
                      <a:endParaRPr lang="en-GB">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60612">
                <a:tc>
                  <a:txBody>
                    <a:bodyPr/>
                    <a:lstStyle/>
                    <a:p>
                      <a:pPr algn="l"/>
                      <a:r>
                        <a:rPr lang="en-GB" sz="1050" b="1" kern="1200" spc="-10" noProof="0">
                          <a:solidFill>
                            <a:schemeClr val="tx2"/>
                          </a:solidFill>
                          <a:latin typeface="+mn-lt"/>
                          <a:ea typeface="+mn-ea"/>
                          <a:cs typeface="+mn-cs"/>
                        </a:rPr>
                        <a:t xml:space="preserve">Biodiversity and ecosystems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1050" b="0" i="0" u="none" strike="noStrike" noProof="0">
                          <a:solidFill>
                            <a:srgbClr val="1B4528"/>
                          </a:solidFill>
                          <a:effectLst/>
                          <a:latin typeface="Inter"/>
                        </a:rPr>
                        <a:t>{{biodiversity_concrete}}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{{biodiversity_publicly}}</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{{biodiversity_future}}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1050" b="0" i="0" u="none" strike="noStrike" noProof="0">
                          <a:solidFill>
                            <a:srgbClr val="1B4528"/>
                          </a:solidFill>
                          <a:latin typeface="Inter"/>
                        </a:rPr>
                        <a:t>{{biodiversity_plan}}</a:t>
                      </a:r>
                      <a:endParaRPr lang="en-GB">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60612">
                <a:tc>
                  <a:txBody>
                    <a:bodyPr/>
                    <a:lstStyle/>
                    <a:p>
                      <a:pPr algn="l"/>
                      <a:r>
                        <a:rPr lang="en-GB" sz="1050" b="1" kern="1200" spc="-10" noProof="0">
                          <a:solidFill>
                            <a:schemeClr val="tx2"/>
                          </a:solidFill>
                          <a:latin typeface="+mn-lt"/>
                          <a:ea typeface="+mn-ea"/>
                          <a:cs typeface="+mn-cs"/>
                        </a:rPr>
                        <a:t xml:space="preserve">Circular economy</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1050" b="0" i="0" u="none" strike="noStrike" noProof="0">
                          <a:solidFill>
                            <a:srgbClr val="1B4528"/>
                          </a:solidFill>
                          <a:effectLst/>
                          <a:latin typeface="Inter"/>
                        </a:rPr>
                        <a:t>{{circular_concrete}}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{{circular_publicly}}</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{{circular_future}}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1050" b="0" i="0" u="none" strike="noStrike" noProof="0">
                          <a:solidFill>
                            <a:srgbClr val="1B4528"/>
                          </a:solidFill>
                          <a:latin typeface="Inter"/>
                        </a:rPr>
                        <a:t>{{circular_plan}}</a:t>
                      </a:r>
                      <a:endParaRPr lang="en-GB">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60612">
                <a:tc>
                  <a:txBody>
                    <a:bodyPr/>
                    <a:lstStyle/>
                    <a:p>
                      <a:pPr algn="l"/>
                      <a:r>
                        <a:rPr lang="en-GB" sz="1050" b="1" kern="1200" spc="-10" noProof="0">
                          <a:solidFill>
                            <a:schemeClr val="tx2"/>
                          </a:solidFill>
                          <a:latin typeface="+mn-lt"/>
                          <a:ea typeface="+mn-ea"/>
                          <a:cs typeface="+mn-cs"/>
                        </a:rPr>
                        <a:t xml:space="preserve">Own workforce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1050" b="0" i="0" u="none" strike="noStrike" noProof="0">
                          <a:solidFill>
                            <a:srgbClr val="1B4528"/>
                          </a:solidFill>
                          <a:effectLst/>
                          <a:latin typeface="Inter"/>
                        </a:rPr>
                        <a:t>{{workforce_concrete}}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{{workforce_publicly}}</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{{workforce_future}}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1050" b="0" i="0" u="none" strike="noStrike" noProof="0">
                          <a:solidFill>
                            <a:srgbClr val="1B4528"/>
                          </a:solidFill>
                          <a:latin typeface="Inter"/>
                        </a:rPr>
                        <a:t>{{workforce_plan}}</a:t>
                      </a:r>
                      <a:endParaRPr lang="en-GB">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60612">
                <a:tc>
                  <a:txBody>
                    <a:bodyPr/>
                    <a:lstStyle/>
                    <a:p>
                      <a:pPr algn="l"/>
                      <a:r>
                        <a:rPr lang="en-GB" sz="1050" b="1" kern="1200" spc="-10" noProof="0">
                          <a:solidFill>
                            <a:schemeClr val="tx2"/>
                          </a:solidFill>
                          <a:latin typeface="+mn-lt"/>
                          <a:ea typeface="+mn-ea"/>
                          <a:cs typeface="+mn-cs"/>
                        </a:rPr>
                        <a:t xml:space="preserve">Workers in the value chain</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1050" b="0" i="0" u="none" strike="noStrike" noProof="0">
                          <a:solidFill>
                            <a:srgbClr val="1B4528"/>
                          </a:solidFill>
                          <a:effectLst/>
                          <a:latin typeface="Inter"/>
                        </a:rPr>
                        <a:t>{{workers_concrete}}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{{workers_publicly}}</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{{workers_future}}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1050" b="0" i="0" u="none" strike="noStrike" noProof="0">
                          <a:solidFill>
                            <a:srgbClr val="1B4528"/>
                          </a:solidFill>
                          <a:latin typeface="Inter"/>
                        </a:rPr>
                        <a:t>{{workers_plan}}</a:t>
                      </a:r>
                      <a:endParaRPr lang="en-GB">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60612">
                <a:tc>
                  <a:txBody>
                    <a:bodyPr/>
                    <a:lstStyle/>
                    <a:p>
                      <a:pPr algn="l"/>
                      <a:r>
                        <a:rPr lang="en-GB" sz="1050" b="1" kern="1200" spc="-10" noProof="0">
                          <a:solidFill>
                            <a:schemeClr val="tx2"/>
                          </a:solidFill>
                          <a:latin typeface="+mn-lt"/>
                          <a:ea typeface="+mn-ea"/>
                          <a:cs typeface="+mn-cs"/>
                        </a:rPr>
                        <a:t xml:space="preserve">Affected communities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1050" b="0" i="0" u="none" strike="noStrike" noProof="0">
                          <a:solidFill>
                            <a:srgbClr val="1B4528"/>
                          </a:solidFill>
                          <a:effectLst/>
                          <a:latin typeface="Inter"/>
                        </a:rPr>
                        <a:t>{{communities_concrete}}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{{communities_publicly}}</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{{communities_future}}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1050" b="0" i="0" u="none" strike="noStrike" noProof="0">
                          <a:solidFill>
                            <a:srgbClr val="1B4528"/>
                          </a:solidFill>
                          <a:latin typeface="Inter"/>
                        </a:rPr>
                        <a:t>{{communities_plan}}</a:t>
                      </a:r>
                      <a:endParaRPr lang="en-GB">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60612">
                <a:tc>
                  <a:txBody>
                    <a:bodyPr/>
                    <a:lstStyle/>
                    <a:p>
                      <a:pPr algn="l"/>
                      <a:r>
                        <a:rPr lang="en-GB" sz="1050" b="1" kern="1200" spc="-10" noProof="0">
                          <a:solidFill>
                            <a:schemeClr val="tx2"/>
                          </a:solidFill>
                          <a:latin typeface="+mn-lt"/>
                          <a:ea typeface="+mn-ea"/>
                          <a:cs typeface="+mn-cs"/>
                        </a:rPr>
                        <a:t xml:space="preserve">Consumers and end-users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1050" b="0" i="0" u="none" strike="noStrike" noProof="0">
                          <a:solidFill>
                            <a:srgbClr val="1B4528"/>
                          </a:solidFill>
                          <a:effectLst/>
                          <a:latin typeface="Inter"/>
                        </a:rPr>
                        <a:t>{{consumers_concrete}}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{{consumers_publicly}}</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{{consumers_future}}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1050" b="0" i="0" u="none" strike="noStrike" noProof="0">
                          <a:solidFill>
                            <a:srgbClr val="1B4528"/>
                          </a:solidFill>
                          <a:latin typeface="Inter"/>
                        </a:rPr>
                        <a:t>{{consumers_plan}}</a:t>
                      </a:r>
                      <a:endParaRPr lang="en-GB">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60612">
                <a:tc>
                  <a:txBody>
                    <a:bodyPr/>
                    <a:lstStyle/>
                    <a:p>
                      <a:pPr algn="l"/>
                      <a:r>
                        <a:rPr lang="en-GB" sz="1050" b="1" kern="1200" spc="-10" noProof="0">
                          <a:solidFill>
                            <a:schemeClr val="tx2"/>
                          </a:solidFill>
                          <a:latin typeface="+mn-lt"/>
                          <a:ea typeface="+mn-ea"/>
                          <a:cs typeface="+mn-cs"/>
                        </a:rPr>
                        <a:t xml:space="preserve">Business conduct</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1050" b="0" i="0" u="none" strike="noStrike" noProof="0">
                          <a:solidFill>
                            <a:srgbClr val="1B4528"/>
                          </a:solidFill>
                          <a:effectLst/>
                          <a:latin typeface="Inter"/>
                        </a:rPr>
                        <a:t>{{governance_concrete}}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{{governance_publicly}}</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1050" b="0" i="0" u="none" strike="noStrike" noProof="0">
                          <a:solidFill>
                            <a:srgbClr val="1B4528"/>
                          </a:solidFill>
                          <a:effectLst/>
                          <a:latin typeface="Inter"/>
                        </a:rPr>
                        <a:t>{{governance_future}}</a:t>
                      </a:r>
                      <a:endParaRPr lang="en-GB"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1050" b="0" i="0" u="none" strike="noStrike" noProof="0">
                          <a:solidFill>
                            <a:srgbClr val="1B4528"/>
                          </a:solidFill>
                          <a:latin typeface="Inter"/>
                        </a:rPr>
                        <a:t>{{governance_plan}}</a:t>
                      </a:r>
                      <a:endParaRPr lang="en-GB">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54796" y="891000"/>
            <a:ext cx="9782408" cy="566812"/>
          </a:xfrm>
          <a:prstGeom prst="rect">
            <a:avLst/>
          </a:prstGeom>
          <a:noFill/>
        </p:spPr>
        <p:txBody>
          <a:bodyPr wrap="square">
            <a:spAutoFit/>
          </a:bodyPr>
          <a:lstStyle/>
          <a:p>
            <a:pPr rtl="0">
              <a:spcBef>
                <a:spcPts val="789"/>
              </a:spcBef>
              <a:buNone/>
            </a:pPr>
            <a:r>
              <a:rPr lang="en-GB" sz="1050" b="0" i="0" u="none" strike="noStrike" noProof="0">
                <a:solidFill>
                  <a:schemeClr val="tx2"/>
                </a:solidFill>
                <a:effectLst/>
                <a:latin typeface="Inter"/>
              </a:rPr>
              <a:t xml:space="preserve">This section outlines the practices, policies and future initiatives that the undertaking has implemented to support a sustainable economy. This includes stating which specific measures the undertaking has taken to reduce negative environmental impacts and to improve working conditions and equal treatment (YES/NO).</a:t>
            </a:r>
            <a:br>
              <a:rPr lang="en-GB" sz="1050" noProof="0">
                <a:solidFill>
                  <a:schemeClr val="tx2"/>
                </a:solidFill>
              </a:rPr>
            </a:br>
            <a:endParaRPr lang="en-GB" sz="1050"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en-GB" noProof="0" smtClean="0"/>
              <a:pPr/>
              <a:t>5</a:t>
            </a:fld>
            <a:endParaRPr lang="en-GB" noProof="0"/>
          </a:p>
        </p:txBody>
      </p:sp>
    </p:spTree>
    <p:extLst>
      <p:ext uri="{BB962C8B-B14F-4D97-AF65-F5344CB8AC3E}">
        <p14:creationId xmlns:p14="http://schemas.microsoft.com/office/powerpoint/2010/main" val="2000975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 xml:space="preserve">Energy consumption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43369" y="1359604"/>
          <a:ext cx="9803131" cy="1687508"/>
        </p:xfrm>
        <a:graphic>
          <a:graphicData uri="http://schemas.openxmlformats.org/drawingml/2006/table">
            <a:tbl>
              <a:tblPr firstRow="1">
                <a:tableStyleId>{2A488322-F2BA-4B5B-9748-0D474271808F}</a:tableStyleId>
              </a:tblPr>
              <a:tblGrid>
                <a:gridCol w="2660545">
                  <a:extLst>
                    <a:ext uri="{9D8B030D-6E8A-4147-A177-3AD203B41FA5}">
                      <a16:colId xmlns:a16="http://schemas.microsoft.com/office/drawing/2014/main" val="2698153288"/>
                    </a:ext>
                  </a:extLst>
                </a:gridCol>
                <a:gridCol w="2469635">
                  <a:extLst>
                    <a:ext uri="{9D8B030D-6E8A-4147-A177-3AD203B41FA5}">
                      <a16:colId xmlns:a16="http://schemas.microsoft.com/office/drawing/2014/main" val="1451447067"/>
                    </a:ext>
                  </a:extLst>
                </a:gridCol>
                <a:gridCol w="2604428">
                  <a:extLst>
                    <a:ext uri="{9D8B030D-6E8A-4147-A177-3AD203B41FA5}">
                      <a16:colId xmlns:a16="http://schemas.microsoft.com/office/drawing/2014/main" val="2943870936"/>
                    </a:ext>
                  </a:extLst>
                </a:gridCol>
                <a:gridCol w="2068523">
                  <a:extLst>
                    <a:ext uri="{9D8B030D-6E8A-4147-A177-3AD203B41FA5}">
                      <a16:colId xmlns:a16="http://schemas.microsoft.com/office/drawing/2014/main" val="656209149"/>
                    </a:ext>
                  </a:extLst>
                </a:gridCol>
              </a:tblGrid>
              <a:tr h="218608">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1050" b="1" noProof="0">
                          <a:solidFill>
                            <a:schemeClr val="tx2"/>
                          </a:solidFill>
                        </a:rPr>
                        <a:t xml:space="preserve">Energy consumption in MWh </a:t>
                      </a:r>
                      <a:r>
                        <a:rPr lang="en-GB" sz="1050" b="0" noProof="0">
                          <a:solidFill>
                            <a:schemeClr val="tx2"/>
                          </a:solidFill>
                        </a:rPr>
                        <a:t xml:space="preserve">(para. 32)</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en-GB" sz="775" b="1"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47564">
                <a:tc>
                  <a:txBody>
                    <a:bodyPr/>
                    <a:lstStyle/>
                    <a:p>
                      <a:pPr>
                        <a:lnSpc>
                          <a:spcPct val="106000"/>
                        </a:lnSpc>
                      </a:pPr>
                      <a:endParaRPr lang="en-GB"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n-GB" sz="1050" b="1" noProof="0">
                          <a:solidFill>
                            <a:schemeClr val="tx2"/>
                          </a:solidFill>
                        </a:rPr>
                        <a:t xml:space="preserve">Renewable energy consumption</a:t>
                      </a:r>
                      <a:r>
                        <a:rPr lang="en-GB" sz="1050" b="1" noProof="0">
                          <a:solidFill>
                            <a:schemeClr val="tx2"/>
                          </a:solidFill>
                        </a:rPr>
                        <a:t xml:space="preserve"> (MWh)</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n-GB" sz="1050" b="1" noProof="0">
                          <a:solidFill>
                            <a:schemeClr val="tx2"/>
                          </a:solidFill>
                        </a:rPr>
                        <a:t xml:space="preserve">Non-renewable energy consumption</a:t>
                      </a:r>
                      <a:r>
                        <a:rPr lang="en-GB" sz="1050" b="1" noProof="0">
                          <a:solidFill>
                            <a:schemeClr val="tx2"/>
                          </a:solidFill>
                        </a:rPr>
                        <a:t xml:space="preserve"> (MWh)</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1050" b="1" noProof="0">
                          <a:solidFill>
                            <a:schemeClr val="tx2"/>
                          </a:solidFill>
                        </a:rPr>
                        <a:t xml:space="preserve">Total energy consumption (MWh)</a:t>
                      </a:r>
                    </a:p>
                    <a:p>
                      <a:pPr marL="0" marR="0" lvl="0" indent="0" algn="r" defTabSz="914400" rtl="0" eaLnBrk="1" fontAlgn="auto" latinLnBrk="0" hangingPunct="1">
                        <a:lnSpc>
                          <a:spcPct val="106000"/>
                        </a:lnSpc>
                        <a:spcBef>
                          <a:spcPts val="0"/>
                        </a:spcBef>
                        <a:spcAft>
                          <a:spcPts val="0"/>
                        </a:spcAft>
                        <a:buClrTx/>
                        <a:buSzTx/>
                        <a:buFontTx/>
                        <a:buNone/>
                        <a:tabLst/>
                        <a:defRPr/>
                      </a:pPr>
                      <a:r>
                        <a:rPr lang="en-GB" sz="1050" b="1" noProof="0">
                          <a:solidFill>
                            <a:srgbClr val="1B4528"/>
                          </a:solidFill>
                        </a:rPr>
                        <a:t>{{</a:t>
                      </a:r>
                      <a:r>
                        <a:rPr lang="en-GB" sz="1050" b="1" noProof="0">
                          <a:solidFill>
                            <a:srgbClr val="1B4528"/>
                          </a:solidFill>
                        </a:rPr>
                        <a:t>insert_year</a:t>
                      </a:r>
                      <a:r>
                        <a:rPr lang="en-GB"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47564">
                <a:tc>
                  <a:txBody>
                    <a:bodyPr/>
                    <a:lstStyle/>
                    <a:p>
                      <a:pPr>
                        <a:lnSpc>
                          <a:spcPct val="106000"/>
                        </a:lnSpc>
                      </a:pPr>
                      <a:r>
                        <a:rPr lang="en-GB" sz="1050" b="1" noProof="0">
                          <a:solidFill>
                            <a:schemeClr val="tx2"/>
                          </a:solidFill>
                        </a:rPr>
                        <a:t xml:space="preserve">Electricity </a:t>
                      </a:r>
                      <a:r>
                        <a:rPr lang="en-GB" sz="1050" b="0" noProof="0">
                          <a:solidFill>
                            <a:schemeClr val="tx2"/>
                          </a:solidFill>
                        </a:rPr>
                        <a:t xml:space="preserve">(as reflected in the undertaking’s utility bills)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BM Plex Sans" panose="020B0503050203000203" pitchFamily="34" charset="0"/>
                        </a:rPr>
                        <a:t>{{</a:t>
                      </a:r>
                      <a:r>
                        <a:rPr lang="en-GB" sz="1050" b="0" i="0" u="none" strike="noStrike" noProof="0">
                          <a:solidFill>
                            <a:srgbClr val="1B4528"/>
                          </a:solidFill>
                          <a:effectLst/>
                          <a:latin typeface="IBM Plex Sans" panose="020B0503050203000203" pitchFamily="34" charset="0"/>
                        </a:rPr>
                        <a:t>electricity_renewable</a:t>
                      </a:r>
                      <a:r>
                        <a:rPr lang="en-GB" sz="1050" b="0" i="0" u="none" strike="noStrike" noProof="0">
                          <a:solidFill>
                            <a:srgbClr val="1B4528"/>
                          </a:solidFill>
                          <a:effectLst/>
                          <a:latin typeface="IBM Plex Sans" panose="020B0503050203000203" pitchFamily="34" charset="0"/>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1050" b="0" i="0" u="none" strike="noStrike" noProof="0">
                          <a:solidFill>
                            <a:srgbClr val="1B4528"/>
                          </a:solidFill>
                          <a:effectLst/>
                          <a:latin typeface="IBM Plex Sans" panose="020B0503050203000203" pitchFamily="34" charset="0"/>
                        </a:rPr>
                        <a:t>{{</a:t>
                      </a:r>
                      <a:r>
                        <a:rPr lang="en-GB" sz="1050" b="0" i="0" u="none" strike="noStrike" noProof="0">
                          <a:solidFill>
                            <a:srgbClr val="1B4528"/>
                          </a:solidFill>
                          <a:effectLst/>
                          <a:latin typeface="IBM Plex Sans" panose="020B0503050203000203" pitchFamily="34" charset="0"/>
                        </a:rPr>
                        <a:t>electricity_non_rewenable</a:t>
                      </a:r>
                      <a:r>
                        <a:rPr lang="en-GB" sz="1050" b="0" i="0" u="none" strike="noStrike" noProof="0">
                          <a:solidFill>
                            <a:srgbClr val="1B4528"/>
                          </a:solidFill>
                          <a:effectLst/>
                          <a:latin typeface="IBM Plex Sans" panose="020B0503050203000203" pitchFamily="34" charset="0"/>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1050" b="0" i="0" u="none" strike="noStrike" noProof="0">
                          <a:solidFill>
                            <a:srgbClr val="1B4528"/>
                          </a:solidFill>
                          <a:effectLst/>
                          <a:latin typeface="IBM Plex Sans" panose="020B0503050203000203" pitchFamily="34" charset="0"/>
                        </a:rPr>
                        <a:t>{{</a:t>
                      </a:r>
                      <a:r>
                        <a:rPr lang="en-GB" sz="1050" b="0" i="0" u="none" strike="noStrike" noProof="0">
                          <a:solidFill>
                            <a:srgbClr val="1B4528"/>
                          </a:solidFill>
                          <a:effectLst/>
                          <a:latin typeface="IBM Plex Sans" panose="020B0503050203000203" pitchFamily="34" charset="0"/>
                        </a:rPr>
                        <a:t>total_electricity</a:t>
                      </a:r>
                      <a:r>
                        <a:rPr lang="en-GB" sz="1050" b="0" i="0" u="none" strike="noStrike" noProof="0">
                          <a:solidFill>
                            <a:srgbClr val="1B4528"/>
                          </a:solidFill>
                          <a:effectLst/>
                          <a:latin typeface="IBM Plex Sans" panose="020B0503050203000203" pitchFamily="34" charset="0"/>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18608">
                <a:tc>
                  <a:txBody>
                    <a:bodyPr/>
                    <a:lstStyle/>
                    <a:p>
                      <a:pPr>
                        <a:lnSpc>
                          <a:spcPct val="106000"/>
                        </a:lnSpc>
                      </a:pPr>
                      <a:r>
                        <a:rPr lang="en-GB" sz="1050" b="1" noProof="0">
                          <a:solidFill>
                            <a:schemeClr val="tx2"/>
                          </a:solidFill>
                        </a:rPr>
                        <a:t xml:space="preserve">Fuels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BM Plex Sans" panose="020B0503050203000203" pitchFamily="34" charset="0"/>
                        </a:rPr>
                        <a:t>{{</a:t>
                      </a:r>
                      <a:r>
                        <a:rPr lang="en-GB" sz="1050" b="0" i="0" u="none" strike="noStrike" noProof="0">
                          <a:solidFill>
                            <a:srgbClr val="1B4528"/>
                          </a:solidFill>
                          <a:effectLst/>
                          <a:latin typeface="IBM Plex Sans" panose="020B0503050203000203" pitchFamily="34" charset="0"/>
                        </a:rPr>
                        <a:t>fuel_renewable</a:t>
                      </a:r>
                      <a:r>
                        <a:rPr lang="en-GB" sz="1050" b="0" i="0" u="none" strike="noStrike" noProof="0">
                          <a:solidFill>
                            <a:srgbClr val="1B4528"/>
                          </a:solidFill>
                          <a:effectLst/>
                          <a:latin typeface="IBM Plex Sans" panose="020B0503050203000203" pitchFamily="34" charset="0"/>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1050" b="0" i="0" u="none" strike="noStrike" noProof="0">
                          <a:solidFill>
                            <a:srgbClr val="1B4528"/>
                          </a:solidFill>
                          <a:effectLst/>
                          <a:latin typeface="IBM Plex Sans" panose="020B0503050203000203" pitchFamily="34" charset="0"/>
                        </a:rPr>
                        <a:t>{{</a:t>
                      </a:r>
                      <a:r>
                        <a:rPr lang="en-GB" sz="1050" b="0" i="0" u="none" strike="noStrike" noProof="0">
                          <a:solidFill>
                            <a:srgbClr val="1B4528"/>
                          </a:solidFill>
                          <a:effectLst/>
                          <a:latin typeface="IBM Plex Sans" panose="020B0503050203000203" pitchFamily="34" charset="0"/>
                        </a:rPr>
                        <a:t>fuel_non_rewenable</a:t>
                      </a:r>
                      <a:r>
                        <a:rPr lang="en-GB" sz="1050" b="0" i="0" u="none" strike="noStrike" noProof="0">
                          <a:solidFill>
                            <a:srgbClr val="1B4528"/>
                          </a:solidFill>
                          <a:effectLst/>
                          <a:latin typeface="IBM Plex Sans" panose="020B0503050203000203" pitchFamily="34" charset="0"/>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1050" b="0" i="0" u="none" strike="noStrike" noProof="0">
                          <a:solidFill>
                            <a:srgbClr val="1B4528"/>
                          </a:solidFill>
                          <a:effectLst/>
                          <a:latin typeface="IBM Plex Sans" panose="020B0503050203000203" pitchFamily="34" charset="0"/>
                        </a:rPr>
                        <a:t>{{</a:t>
                      </a:r>
                      <a:r>
                        <a:rPr lang="en-GB" sz="1050" b="0" i="0" u="none" strike="noStrike" noProof="0">
                          <a:solidFill>
                            <a:srgbClr val="1B4528"/>
                          </a:solidFill>
                          <a:effectLst/>
                          <a:latin typeface="IBM Plex Sans" panose="020B0503050203000203" pitchFamily="34" charset="0"/>
                        </a:rPr>
                        <a:t>total_fuel</a:t>
                      </a:r>
                      <a:r>
                        <a:rPr lang="en-GB" sz="1050" b="0" i="0" u="none" strike="noStrike" noProof="0">
                          <a:solidFill>
                            <a:srgbClr val="1B4528"/>
                          </a:solidFill>
                          <a:effectLst/>
                          <a:latin typeface="IBM Plex Sans" panose="020B0503050203000203" pitchFamily="34" charset="0"/>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18608">
                <a:tc>
                  <a:txBody>
                    <a:bodyPr/>
                    <a:lstStyle/>
                    <a:p>
                      <a:pPr>
                        <a:lnSpc>
                          <a:spcPct val="106000"/>
                        </a:lnSpc>
                      </a:pPr>
                      <a:r>
                        <a:rPr lang="en-GB" sz="1050" b="1" noProof="0">
                          <a:solidFill>
                            <a:schemeClr val="tx2"/>
                          </a:solidFill>
                        </a:rPr>
                        <a:t xml:space="preserve">Other (e.g. district heating)</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BM Plex Sans" panose="020B0503050203000203" pitchFamily="34" charset="0"/>
                        </a:rPr>
                        <a:t>{{</a:t>
                      </a:r>
                      <a:r>
                        <a:rPr lang="en-GB" sz="1050" b="0" i="0" u="none" strike="noStrike" noProof="0">
                          <a:solidFill>
                            <a:srgbClr val="1B4528"/>
                          </a:solidFill>
                          <a:effectLst/>
                          <a:latin typeface="IBM Plex Sans" panose="020B0503050203000203" pitchFamily="34" charset="0"/>
                        </a:rPr>
                        <a:t>district_heating_rewenable</a:t>
                      </a:r>
                      <a:r>
                        <a:rPr lang="en-GB" sz="1050" b="0" i="0" u="none" strike="noStrike" noProof="0">
                          <a:solidFill>
                            <a:srgbClr val="1B4528"/>
                          </a:solidFill>
                          <a:effectLst/>
                          <a:latin typeface="IBM Plex Sans" panose="020B0503050203000203" pitchFamily="34" charset="0"/>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1050" b="0" i="0" u="none" strike="noStrike" noProof="0">
                          <a:solidFill>
                            <a:srgbClr val="1B4528"/>
                          </a:solidFill>
                          <a:effectLst/>
                          <a:latin typeface="IBM Plex Sans" panose="020B0503050203000203" pitchFamily="34" charset="0"/>
                        </a:rPr>
                        <a:t>{{</a:t>
                      </a:r>
                      <a:r>
                        <a:rPr lang="en-GB" sz="1050" b="0" i="0" u="none" strike="noStrike" noProof="0">
                          <a:solidFill>
                            <a:srgbClr val="1B4528"/>
                          </a:solidFill>
                          <a:effectLst/>
                          <a:latin typeface="IBM Plex Sans" panose="020B0503050203000203" pitchFamily="34" charset="0"/>
                        </a:rPr>
                        <a:t>district_heating_non_rewenable</a:t>
                      </a:r>
                      <a:r>
                        <a:rPr lang="en-GB" sz="1050" b="0" i="0" u="none" strike="noStrike" noProof="0">
                          <a:solidFill>
                            <a:srgbClr val="1B4528"/>
                          </a:solidFill>
                          <a:effectLst/>
                          <a:latin typeface="IBM Plex Sans" panose="020B0503050203000203" pitchFamily="34" charset="0"/>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1050" b="0" i="0" u="none" strike="noStrike" noProof="0">
                          <a:solidFill>
                            <a:srgbClr val="1B4528"/>
                          </a:solidFill>
                          <a:effectLst/>
                          <a:latin typeface="IBM Plex Sans" panose="020B0503050203000203" pitchFamily="34" charset="0"/>
                        </a:rPr>
                        <a:t>{{</a:t>
                      </a:r>
                      <a:r>
                        <a:rPr lang="en-GB" sz="1050" b="0" i="0" u="none" strike="noStrike" noProof="0">
                          <a:solidFill>
                            <a:srgbClr val="1B4528"/>
                          </a:solidFill>
                          <a:effectLst/>
                          <a:latin typeface="IBM Plex Sans" panose="020B0503050203000203" pitchFamily="34" charset="0"/>
                        </a:rPr>
                        <a:t>total_district_heating</a:t>
                      </a:r>
                      <a:r>
                        <a:rPr lang="en-GB" sz="1050" b="0" i="0" u="none" strike="noStrike" noProof="0">
                          <a:solidFill>
                            <a:srgbClr val="1B4528"/>
                          </a:solidFill>
                          <a:effectLst/>
                          <a:latin typeface="IBM Plex Sans" panose="020B0503050203000203" pitchFamily="34" charset="0"/>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18608">
                <a:tc>
                  <a:txBody>
                    <a:bodyPr/>
                    <a:lstStyle/>
                    <a:p>
                      <a:pPr>
                        <a:lnSpc>
                          <a:spcPct val="106000"/>
                        </a:lnSpc>
                      </a:pPr>
                      <a:r>
                        <a:rPr lang="en-GB" sz="1050" b="1" noProof="0">
                          <a:solidFill>
                            <a:schemeClr val="tx2"/>
                          </a:solidFill>
                        </a:rPr>
                        <a:t>Total</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BM Plex Sans" panose="020B0503050203000203" pitchFamily="34" charset="0"/>
                        </a:rPr>
                        <a:t>{{</a:t>
                      </a:r>
                      <a:r>
                        <a:rPr lang="en-GB" sz="1050" b="0" i="0" u="none" strike="noStrike" noProof="0">
                          <a:solidFill>
                            <a:srgbClr val="1B4528"/>
                          </a:solidFill>
                          <a:effectLst/>
                          <a:latin typeface="IBM Plex Sans" panose="020B0503050203000203" pitchFamily="34" charset="0"/>
                        </a:rPr>
                        <a:t>renewable_energy_total</a:t>
                      </a:r>
                      <a:r>
                        <a:rPr lang="en-GB" sz="1050" b="0" i="0" u="none" strike="noStrike" noProof="0">
                          <a:solidFill>
                            <a:srgbClr val="1B4528"/>
                          </a:solidFill>
                          <a:effectLst/>
                          <a:latin typeface="IBM Plex Sans" panose="020B0503050203000203" pitchFamily="34" charset="0"/>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1050" b="0" i="0" u="none" strike="noStrike" noProof="0">
                          <a:solidFill>
                            <a:srgbClr val="1B4528"/>
                          </a:solidFill>
                          <a:effectLst/>
                          <a:latin typeface="IBM Plex Sans" panose="020B0503050203000203" pitchFamily="34" charset="0"/>
                        </a:rPr>
                        <a:t>{{</a:t>
                      </a:r>
                      <a:r>
                        <a:rPr lang="en-GB" sz="1050" b="0" i="0" u="none" strike="noStrike" noProof="0">
                          <a:solidFill>
                            <a:srgbClr val="1B4528"/>
                          </a:solidFill>
                          <a:effectLst/>
                          <a:latin typeface="IBM Plex Sans" panose="020B0503050203000203" pitchFamily="34" charset="0"/>
                        </a:rPr>
                        <a:t>non_rewenable_energy_total</a:t>
                      </a:r>
                      <a:r>
                        <a:rPr lang="en-GB" sz="1050" b="0" i="0" u="none" strike="noStrike" noProof="0">
                          <a:solidFill>
                            <a:srgbClr val="1B4528"/>
                          </a:solidFill>
                          <a:effectLst/>
                          <a:latin typeface="IBM Plex Sans" panose="020B0503050203000203" pitchFamily="34" charset="0"/>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1050" b="0" i="0" u="none" strike="noStrike" noProof="0">
                          <a:solidFill>
                            <a:srgbClr val="1B4528"/>
                          </a:solidFill>
                          <a:effectLst/>
                          <a:latin typeface="IBM Plex Sans" panose="020B0503050203000203" pitchFamily="34" charset="0"/>
                        </a:rPr>
                        <a:t>{{</a:t>
                      </a:r>
                      <a:r>
                        <a:rPr lang="en-GB" sz="1050" b="0" i="0" u="none" strike="noStrike" noProof="0">
                          <a:solidFill>
                            <a:srgbClr val="1B4528"/>
                          </a:solidFill>
                          <a:effectLst/>
                          <a:latin typeface="IBM Plex Sans" panose="020B0503050203000203" pitchFamily="34" charset="0"/>
                        </a:rPr>
                        <a:t>total_energy_consumption</a:t>
                      </a:r>
                      <a:r>
                        <a:rPr lang="en-GB" sz="1050" b="0" i="0" u="none" strike="noStrike" noProof="0">
                          <a:solidFill>
                            <a:srgbClr val="1B4528"/>
                          </a:solidFill>
                          <a:effectLst/>
                          <a:latin typeface="IBM Plex Sans" panose="020B0503050203000203" pitchFamily="34" charset="0"/>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6</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a:t>
            </a:r>
            <a:r>
              <a:rPr lang="en-GB" noProof="0"/>
              <a:t>company_name</a:t>
            </a:r>
            <a:r>
              <a:rPr lang="en-GB" noProof="0"/>
              <a:t>}}</a:t>
            </a:r>
            <a:endParaRPr lang="en-GB" b="0" noProof="0"/>
          </a:p>
          <a:p>
            <a:br>
              <a:rPr lang="en-GB" noProof="0"/>
            </a:br>
            <a:endParaRPr lang="en-GB"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43369" y="898217"/>
            <a:ext cx="9803131" cy="3616799"/>
          </a:xfrm>
          <a:prstGeom prst="rect">
            <a:avLst/>
          </a:prstGeom>
          <a:noFill/>
        </p:spPr>
        <p:txBody>
          <a:bodyPr wrap="square" lIns="80190" tIns="40095" rIns="80190" bIns="40095" anchor="t">
            <a:spAutoFit/>
          </a:bodyPr>
          <a:lstStyle/>
          <a:p>
            <a:r>
              <a:rPr lang="en-GB" sz="1050" b="0" i="0" u="none" strike="noStrike" noProof="0">
                <a:solidFill>
                  <a:schemeClr val="tx2"/>
                </a:solidFill>
                <a:effectLst/>
                <a:latin typeface="Inter"/>
              </a:rPr>
              <a:t xml:space="preserve">This section presents the undertaking’s CO2 emissions from energy consumption and states renewable and non-renewable consumption. </a:t>
            </a:r>
            <a:r>
              <a:rPr lang="en-GB" sz="1050" noProof="0">
                <a:solidFill>
                  <a:schemeClr val="tx2"/>
                </a:solidFill>
                <a:latin typeface="Inter"/>
              </a:rPr>
              <a:t xml:space="preserve">The emissions are disclosed on the basis of </a:t>
            </a:r>
            <a:r>
              <a:rPr lang="en-GB" sz="1050" b="0" i="0" u="none" strike="noStrike" noProof="0">
                <a:solidFill>
                  <a:schemeClr val="tx2"/>
                </a:solidFill>
                <a:effectLst/>
                <a:latin typeface="Inter"/>
              </a:rPr>
              <a:t xml:space="preserve">the GHG Protocol’s definitions of what direct and indirect emissions comprise. </a:t>
            </a:r>
            <a:br>
              <a:rPr lang="en-GB" sz="1050" b="0" i="0" u="none" strike="noStrike" noProof="0" dirty="0">
                <a:effectLst/>
                <a:latin typeface="Inter"/>
              </a:rPr>
            </a:br>
            <a:br>
              <a:rPr lang="en-GB" sz="1050" dirty="0">
                <a:latin typeface="Inter"/>
              </a:rPr>
            </a:br>
            <a:r>
              <a:rPr lang="en-GB" sz="700" b="0" i="0" u="none" strike="noStrike" noProof="0">
                <a:solidFill>
                  <a:schemeClr val="tx2"/>
                </a:solidFill>
                <a:effectLst/>
                <a:latin typeface="Inter"/>
              </a:rPr>
              <a:t> </a:t>
            </a:r>
            <a:endParaRPr lang="en-GB" sz="1050" b="0" i="0" u="none" strike="noStrike" noProof="0" dirty="0">
              <a:solidFill>
                <a:schemeClr val="tx2"/>
              </a:solidFill>
              <a:effectLst/>
              <a:latin typeface="Inter"/>
            </a:endParaRPr>
          </a:p>
          <a:p>
            <a:pPr rtl="0">
              <a:buNone/>
            </a:pPr>
            <a:endParaRPr lang="en-GB" sz="1050" b="0" noProof="0">
              <a:solidFill>
                <a:schemeClr val="tx2"/>
              </a:solidFill>
              <a:effectLst/>
              <a:latin typeface="Inter"/>
            </a:endParaRPr>
          </a:p>
          <a:p>
            <a:pPr>
              <a:buNone/>
            </a:pPr>
            <a:endParaRPr lang="en-GB" b="0" noProof="0">
              <a:solidFill>
                <a:schemeClr val="tx2"/>
              </a:solidFill>
              <a:effectLst/>
              <a:latin typeface="Inter"/>
            </a:endParaRPr>
          </a:p>
          <a:p>
            <a:pPr>
              <a:buNone/>
            </a:pPr>
            <a:endParaRPr lang="en-GB" sz="1400" noProof="0">
              <a:solidFill>
                <a:schemeClr val="tx2"/>
              </a:solidFill>
              <a:latin typeface="Inter"/>
            </a:endParaRPr>
          </a:p>
          <a:p>
            <a:pPr>
              <a:buNone/>
            </a:pPr>
            <a:endParaRPr lang="en-GB" sz="1400" b="0" noProof="0">
              <a:solidFill>
                <a:schemeClr val="tx2"/>
              </a:solidFill>
              <a:effectLst/>
              <a:latin typeface="Inter"/>
            </a:endParaRPr>
          </a:p>
          <a:p>
            <a:pPr>
              <a:buNone/>
            </a:pPr>
            <a:endParaRPr lang="en-GB" sz="1400" noProof="0">
              <a:solidFill>
                <a:schemeClr val="tx2"/>
              </a:solidFill>
              <a:latin typeface="Inter"/>
            </a:endParaRPr>
          </a:p>
          <a:p>
            <a:pPr>
              <a:buNone/>
            </a:pPr>
            <a:endParaRPr lang="en-GB" sz="1400" b="0" noProof="0">
              <a:solidFill>
                <a:schemeClr val="tx2"/>
              </a:solidFill>
              <a:effectLst/>
              <a:latin typeface="Inter"/>
            </a:endParaRPr>
          </a:p>
          <a:p>
            <a:endParaRPr lang="en-GB" sz="1400" b="1">
              <a:latin typeface="+mj-lt"/>
            </a:endParaRPr>
          </a:p>
          <a:p>
            <a:endParaRPr lang="en-GB" sz="1400" b="1">
              <a:latin typeface="+mj-lt"/>
            </a:endParaRPr>
          </a:p>
          <a:p>
            <a:br>
              <a:rPr lang="en-GB" b="1" dirty="0">
                <a:latin typeface="+mj-lt"/>
              </a:rPr>
            </a:br>
            <a:r>
              <a:rPr lang="en-GB" b="1" i="0" u="none" strike="noStrike" noProof="0">
                <a:solidFill>
                  <a:schemeClr val="tx2"/>
                </a:solidFill>
                <a:effectLst/>
                <a:latin typeface="+mj-lt"/>
              </a:rPr>
              <a:t xml:space="preserve">CO₂e emissions (B3)</a:t>
            </a:r>
            <a:endParaRPr lang="en-GB" noProof="0">
              <a:solidFill>
                <a:schemeClr val="tx2"/>
              </a:solidFill>
              <a:effectLst/>
              <a:latin typeface="+mj-lt"/>
            </a:endParaRPr>
          </a:p>
          <a:p>
            <a:r>
              <a:rPr lang="en-GB" sz="700">
                <a:latin typeface="Inter"/>
              </a:rPr>
              <a:t> </a:t>
            </a:r>
            <a:br>
              <a:rPr lang="en-GB" sz="1050" dirty="0">
                <a:solidFill>
                  <a:schemeClr val="tx2"/>
                </a:solidFill>
                <a:latin typeface="Inter"/>
              </a:rPr>
            </a:br>
            <a:r>
              <a:rPr lang="en-GB" sz="1050" b="0" i="0" u="none" strike="noStrike" noProof="0">
                <a:solidFill>
                  <a:schemeClr val="tx2"/>
                </a:solidFill>
                <a:effectLst/>
                <a:latin typeface="Inter"/>
              </a:rPr>
              <a:t xml:space="preserve">Para. 33 contains information on the undertaking’s greenhouse gas emissions based on Scope 1 and Scope 2 emissions. Scope 1 covers direct greenhouse gas emissions and includes emissions from sources that the undertaking owns or directly controls. This comprises, for example, the combustion of fuel in company vehicles or the heating of buildings with natural gas, as well as emissions from industrial processes and leakages in systems such as refrigeration.</a:t>
            </a:r>
            <a:r>
              <a:rPr lang="en-GB" sz="1050" noProof="0">
                <a:solidFill>
                  <a:schemeClr val="tx2"/>
                </a:solidFill>
                <a:latin typeface="Inter"/>
              </a:rPr>
              <a:t> </a:t>
            </a:r>
            <a:r>
              <a:rPr lang="en-GB" sz="1050" b="0" i="0" u="none" strike="noStrike" noProof="0">
                <a:solidFill>
                  <a:schemeClr val="tx2"/>
                </a:solidFill>
                <a:effectLst/>
                <a:latin typeface="Inter"/>
              </a:rPr>
              <a:t>Scope 2</a:t>
            </a:r>
            <a:r>
              <a:rPr lang="en-GB" sz="1050" noProof="0">
                <a:solidFill>
                  <a:schemeClr val="tx2"/>
                </a:solidFill>
                <a:latin typeface="Inter"/>
              </a:rPr>
              <a:t xml:space="preserve"> covers i</a:t>
            </a:r>
            <a:r>
              <a:rPr lang="en-GB" sz="1050" b="0" i="0" u="none" strike="noStrike" noProof="0">
                <a:solidFill>
                  <a:schemeClr val="tx2"/>
                </a:solidFill>
                <a:effectLst/>
                <a:latin typeface="Inter"/>
              </a:rPr>
              <a:t xml:space="preserve">ndirect emissions from purchased electricity, referring to emissions from the generation of the electricity, steam, heat or cooling that the undertaking purchases and uses. Although these emissions originate from the energy producers, they are attributed to the undertaking because it consumes the energy.</a:t>
            </a:r>
            <a:endParaRPr lang="en-GB" sz="1050" b="0" noProof="0">
              <a:solidFill>
                <a:schemeClr val="tx2"/>
              </a:solidFill>
              <a:effectLst/>
              <a:latin typeface="Inter"/>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45491" y="5125324"/>
          <a:ext cx="9801009" cy="950929"/>
        </p:xfrm>
        <a:graphic>
          <a:graphicData uri="http://schemas.openxmlformats.org/drawingml/2006/table">
            <a:tbl>
              <a:tblPr firstRow="1">
                <a:tableStyleId>{2A488322-F2BA-4B5B-9748-0D474271808F}</a:tableStyleId>
              </a:tblPr>
              <a:tblGrid>
                <a:gridCol w="7759816">
                  <a:extLst>
                    <a:ext uri="{9D8B030D-6E8A-4147-A177-3AD203B41FA5}">
                      <a16:colId xmlns:a16="http://schemas.microsoft.com/office/drawing/2014/main" val="2698153288"/>
                    </a:ext>
                  </a:extLst>
                </a:gridCol>
                <a:gridCol w="2041192">
                  <a:extLst>
                    <a:ext uri="{9D8B030D-6E8A-4147-A177-3AD203B41FA5}">
                      <a16:colId xmlns:a16="http://schemas.microsoft.com/office/drawing/2014/main" val="656209149"/>
                    </a:ext>
                  </a:extLst>
                </a:gridCol>
              </a:tblGrid>
              <a:tr h="238485">
                <a:tc>
                  <a:txBody>
                    <a:bodyPr/>
                    <a:lstStyle/>
                    <a:p>
                      <a:pPr>
                        <a:lnSpc>
                          <a:spcPct val="106000"/>
                        </a:lnSpc>
                      </a:pPr>
                      <a:r>
                        <a:rPr lang="en-GB" sz="1050" b="1" noProof="0">
                          <a:solidFill>
                            <a:schemeClr val="tx2"/>
                          </a:solidFill>
                        </a:rPr>
                        <a:t xml:space="preserve">Greenhouse gas emissions </a:t>
                      </a:r>
                      <a:r>
                        <a:rPr lang="en-GB" sz="1050" b="0" noProof="0">
                          <a:solidFill>
                            <a:schemeClr val="tx2"/>
                          </a:solidFill>
                        </a:rPr>
                        <a:t xml:space="preserve">(para. 33)</a:t>
                      </a:r>
                      <a:endParaRPr lang="en-GB"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1050" b="1" noProof="0">
                          <a:solidFill>
                            <a:schemeClr val="tx2"/>
                          </a:solidFill>
                        </a:rPr>
                        <a:t xml:space="preserve">Year </a:t>
                      </a:r>
                      <a:r>
                        <a:rPr lang="en-GB" sz="1050" b="1" noProof="0">
                          <a:solidFill>
                            <a:srgbClr val="1B4528"/>
                          </a:solidFill>
                          <a:latin typeface="Calibri" panose="020F0502020204030204" pitchFamily="34" charset="0"/>
                          <a:cs typeface="Calibri" panose="020F0502020204030204" pitchFamily="34" charset="0"/>
                        </a:rPr>
                        <a:t>{{</a:t>
                      </a:r>
                      <a:r>
                        <a:rPr lang="en-GB" sz="1050" b="1" noProof="0">
                          <a:solidFill>
                            <a:srgbClr val="1B4528"/>
                          </a:solidFill>
                          <a:latin typeface="Calibri" panose="020F0502020204030204" pitchFamily="34" charset="0"/>
                          <a:cs typeface="Calibri" panose="020F0502020204030204" pitchFamily="34" charset="0"/>
                        </a:rPr>
                        <a:t>insert_year</a:t>
                      </a:r>
                      <a:r>
                        <a:rPr lang="en-GB" sz="1050" b="1" noProof="0">
                          <a:solidFill>
                            <a:srgbClr val="1B4528"/>
                          </a:solidFill>
                          <a:latin typeface="Calibri" panose="020F0502020204030204" pitchFamily="34" charset="0"/>
                          <a:cs typeface="Calibri" panose="020F0502020204030204" pitchFamily="34" charset="0"/>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7481">
                <a:tc>
                  <a:txBody>
                    <a:bodyPr/>
                    <a:lstStyle/>
                    <a:p>
                      <a:pPr>
                        <a:lnSpc>
                          <a:spcPct val="106000"/>
                        </a:lnSpc>
                      </a:pPr>
                      <a:r>
                        <a:rPr lang="en-GB" sz="1050" b="1" noProof="0">
                          <a:solidFill>
                            <a:schemeClr val="tx2"/>
                          </a:solidFill>
                        </a:rPr>
                        <a:t xml:space="preserve">Scope 1 CO₂e emissions</a:t>
                      </a:r>
                      <a:r>
                        <a:rPr lang="en-GB" sz="1050" b="1" noProof="0">
                          <a:solidFill>
                            <a:schemeClr val="tx2"/>
                          </a:solidFill>
                        </a:rPr>
                        <a:t xml:space="preserve"/>
                      </a:r>
                      <a:r>
                        <a:rPr lang="en-GB" sz="1050" b="1" noProof="0">
                          <a:solidFill>
                            <a:schemeClr val="tx2"/>
                          </a:solidFill>
                        </a:rPr>
                        <a:t xml:space="preserve"/>
                      </a:r>
                      <a:endParaRPr lang="en-GB"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nter"/>
                        </a:rPr>
                        <a:t>{{scope1}}</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7481">
                <a:tc>
                  <a:txBody>
                    <a:bodyPr/>
                    <a:lstStyle/>
                    <a:p>
                      <a:pPr>
                        <a:lnSpc>
                          <a:spcPct val="106000"/>
                        </a:lnSpc>
                      </a:pPr>
                      <a:r>
                        <a:rPr lang="en-GB" sz="1050" b="1" noProof="0">
                          <a:solidFill>
                            <a:schemeClr val="tx2"/>
                          </a:solidFill>
                        </a:rPr>
                        <a:t xml:space="preserve">Scope 2 CO₂e emissions (location-based) </a:t>
                      </a:r>
                      <a:r>
                        <a:rPr lang="en-GB" sz="1050" b="1" noProof="0">
                          <a:solidFill>
                            <a:schemeClr val="tx2"/>
                          </a:solidFill>
                        </a:rPr>
                        <a:t xml:space="preserve"/>
                      </a:r>
                      <a:r>
                        <a:rPr lang="en-GB" sz="1050" b="1" noProof="0">
                          <a:solidFill>
                            <a:schemeClr val="tx2"/>
                          </a:solidFill>
                        </a:rPr>
                        <a:t xml:space="preserve"/>
                      </a:r>
                      <a:r>
                        <a:rPr lang="en-GB" sz="1050" b="1" noProof="0">
                          <a:solidFill>
                            <a:schemeClr val="tx2"/>
                          </a:solidFill>
                        </a:rPr>
                        <a:t xml:space="preserve"/>
                      </a:r>
                      <a:endParaRPr lang="en-GB"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nter"/>
                        </a:rPr>
                        <a:t>{{scope2}}</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7481">
                <a:tc>
                  <a:txBody>
                    <a:bodyPr/>
                    <a:lstStyle/>
                    <a:p>
                      <a:pPr>
                        <a:lnSpc>
                          <a:spcPct val="106000"/>
                        </a:lnSpc>
                      </a:pPr>
                      <a:r>
                        <a:rPr lang="en-GB" sz="1050" b="1" noProof="0">
                          <a:solidFill>
                            <a:schemeClr val="tx2"/>
                          </a:solidFill>
                        </a:rPr>
                        <a:t xml:space="preserve">Total CO₂e emissions from Scope 1 and Scope 2 </a:t>
                      </a:r>
                      <a:r>
                        <a:rPr lang="en-GB" sz="1050" b="1" noProof="0">
                          <a:solidFill>
                            <a:schemeClr val="tx2"/>
                          </a:solidFill>
                        </a:rPr>
                        <a:t xml:space="preserve"/>
                      </a:r>
                      <a:r>
                        <a:rPr lang="en-GB" sz="1050" b="1" noProof="0">
                          <a:solidFill>
                            <a:schemeClr val="tx2"/>
                          </a:solidFill>
                        </a:rPr>
                        <a:t xml:space="preserve"/>
                      </a:r>
                      <a:r>
                        <a:rPr lang="en-GB" sz="1050" b="1" noProof="0">
                          <a:solidFill>
                            <a:schemeClr val="tx2"/>
                          </a:solidFill>
                        </a:rPr>
                        <a:t xml:space="preserve"/>
                      </a:r>
                      <a:r>
                        <a:rPr lang="en-GB" sz="1050" b="1" noProof="0">
                          <a:solidFill>
                            <a:schemeClr val="tx2"/>
                          </a:solidFill>
                        </a:rPr>
                        <a:t xml:space="preserve"/>
                      </a:r>
                      <a:r>
                        <a:rPr lang="en-GB" sz="1050" b="1" noProof="0">
                          <a:solidFill>
                            <a:schemeClr val="tx2"/>
                          </a:solidFill>
                        </a:rPr>
                        <a:t xml:space="preserve"/>
                      </a:r>
                      <a:r>
                        <a:rPr lang="en-GB" sz="1050" b="1" noProof="0">
                          <a:solidFill>
                            <a:schemeClr val="tx2"/>
                          </a:solidFill>
                        </a:rPr>
                        <a:t xml:space="preserve"/>
                      </a:r>
                      <a:endParaRPr lang="en-GB"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total_scope</a:t>
                      </a:r>
                      <a:r>
                        <a:rPr lang="en-GB" sz="1050" b="0" i="0" u="none" strike="noStrike" noProof="0">
                          <a:solidFill>
                            <a:srgbClr val="1B4528"/>
                          </a:solidFill>
                          <a:effectLst/>
                          <a:latin typeface="Inter"/>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16" name="B3 market-based (voluntary)"/>
          <p:cNvGraphicFramePr>
            <a:graphicFrameLocks noGrp="1"/>
          </p:cNvGraphicFramePr>
          <p:nvPr>
            <p:extLst>
              <p:ext uri="{D42A27DB-BD31-4B8C-83A1-F6EECF244321}">
                <p14:modId xmlns:p14="http://schemas.microsoft.com/office/powerpoint/2010/main" val="4106924491"/>
              </p:ext>
            </p:extLst>
          </p:nvPr>
        </p:nvGraphicFramePr>
        <p:xfrm>
          <a:off x="445491" y="6252820"/>
          <a:ext cx="9801009" cy="474962"/>
        </p:xfrm>
        <a:graphic>
          <a:graphicData uri="http://schemas.openxmlformats.org/drawingml/2006/table">
            <a:tbl>
              <a:tblPr firstRow="0">
                <a:tableStyleId>{2A488322-F2BA-4B5B-9748-0D474271808F}</a:tableStyleId>
              </a:tblPr>
              <a:tblGrid>
                <a:gridCol w="7759816">
                  <a:extLst>
                    <a:ext uri="{9D8B030D-6E8A-4147-A177-3AD203B41FA5}">
                      <a16:colId xmlns:a16="http://schemas.microsoft.com/office/drawing/2014/main" val="2698153288"/>
                    </a:ext>
                  </a:extLst>
                </a:gridCol>
                <a:gridCol w="2041192">
                  <a:extLst>
                    <a:ext uri="{9D8B030D-6E8A-4147-A177-3AD203B41FA5}">
                      <a16:colId xmlns:a16="http://schemas.microsoft.com/office/drawing/2014/main" val="656209149"/>
                    </a:ext>
                  </a:extLst>
                </a:gridCol>
              </a:tblGrid>
              <a:tr h="237481">
                <a:tc>
                  <a:txBody>
                    <a:bodyPr/>
                    <a:lstStyle/>
                    <a:p>
                      <a:pPr>
                        <a:lnSpc>
                          <a:spcPct val="106000"/>
                        </a:lnSpc>
                      </a:pPr>
                      <a:r>
                        <a:rPr lang="en-GB" sz="1050" b="1" noProof="0">
                          <a:solidFill>
                            <a:schemeClr val="tx2"/>
                          </a:solidFill>
                        </a:rPr>
                        <a:t xml:space="preserve">Scope 2 CO₂e emissions (market-based) (voluntary)</a:t>
                      </a:r>
                      <a:endParaRPr lang="en-GB"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nter"/>
                        </a:rPr>
                        <a:t>{{scope1_marked}}</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7481">
                <a:tc>
                  <a:txBody>
                    <a:bodyPr/>
                    <a:lstStyle/>
                    <a:p>
                      <a:pPr>
                        <a:lnSpc>
                          <a:spcPct val="106000"/>
                        </a:lnSpc>
                      </a:pPr>
                      <a:r>
                        <a:rPr lang="en-GB" sz="1050" b="1" noProof="0">
                          <a:solidFill>
                            <a:schemeClr val="tx2"/>
                          </a:solidFill>
                        </a:rPr>
                        <a:t xml:space="preserve">Total CO₂e emissions from Scope 1 and Scope 2 (market-based) (voluntary)</a:t>
                      </a:r>
                      <a:endParaRPr lang="en-GB"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nter"/>
                        </a:rPr>
                        <a:t>{{scope2_marked}}</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Tree>
    <p:extLst>
      <p:ext uri="{BB962C8B-B14F-4D97-AF65-F5344CB8AC3E}">
        <p14:creationId xmlns:p14="http://schemas.microsoft.com/office/powerpoint/2010/main" val="2910765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 xml:space="preserve">Pollution of air, water and soil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86996641"/>
              </p:ext>
            </p:extLst>
          </p:nvPr>
        </p:nvGraphicFramePr>
        <p:xfrm>
          <a:off x="445498" y="1458651"/>
          <a:ext cx="9784531" cy="701553"/>
        </p:xfrm>
        <a:graphic>
          <a:graphicData uri="http://schemas.openxmlformats.org/drawingml/2006/table">
            <a:tbl>
              <a:tblPr firstRow="1">
                <a:tableStyleId>{2A488322-F2BA-4B5B-9748-0D474271808F}</a:tableStyleId>
              </a:tblPr>
              <a:tblGrid>
                <a:gridCol w="3099832">
                  <a:extLst>
                    <a:ext uri="{9D8B030D-6E8A-4147-A177-3AD203B41FA5}">
                      <a16:colId xmlns:a16="http://schemas.microsoft.com/office/drawing/2014/main" val="2698153288"/>
                    </a:ext>
                  </a:extLst>
                </a:gridCol>
                <a:gridCol w="2988788">
                  <a:extLst>
                    <a:ext uri="{9D8B030D-6E8A-4147-A177-3AD203B41FA5}">
                      <a16:colId xmlns:a16="http://schemas.microsoft.com/office/drawing/2014/main" val="2119413191"/>
                    </a:ext>
                  </a:extLst>
                </a:gridCol>
                <a:gridCol w="3695912">
                  <a:extLst>
                    <a:ext uri="{9D8B030D-6E8A-4147-A177-3AD203B41FA5}">
                      <a16:colId xmlns:a16="http://schemas.microsoft.com/office/drawing/2014/main" val="683090399"/>
                    </a:ext>
                  </a:extLst>
                </a:gridCol>
              </a:tblGrid>
              <a:tr h="245049">
                <a:tc gridSpan="3">
                  <a:txBody>
                    <a:bodyPr/>
                    <a:lstStyle/>
                    <a:p>
                      <a:pPr>
                        <a:lnSpc>
                          <a:spcPct val="106000"/>
                        </a:lnSpc>
                      </a:pPr>
                      <a:r>
                        <a:rPr lang="en-GB" sz="1050" b="1" noProof="0">
                          <a:solidFill>
                            <a:schemeClr val="tx2"/>
                          </a:solidFill>
                        </a:rPr>
                        <a:t xml:space="preserve">Pollution of air, water and soil </a:t>
                      </a:r>
                      <a:r>
                        <a:rPr lang="en-GB" sz="1050" b="0" noProof="0">
                          <a:solidFill>
                            <a:schemeClr val="tx2"/>
                          </a:solidFill>
                        </a:rPr>
                        <a:t xml:space="preserve">(para. 34)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245049">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en-GB" sz="1050" b="1" noProof="0">
                          <a:solidFill>
                            <a:schemeClr val="tx2"/>
                          </a:solidFill>
                        </a:rPr>
                        <a:t xml:space="preserve">Type of pollution </a:t>
                      </a:r>
                      <a:r>
                        <a:rPr lang="en-GB" sz="1050" b="0" noProof="0">
                          <a:solidFill>
                            <a:schemeClr val="tx2"/>
                          </a:solidFill>
                        </a:rPr>
                        <a:t xml:space="preserve">(e.g. substance)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n-GB" sz="1050" b="1" noProof="0">
                          <a:solidFill>
                            <a:schemeClr val="tx2"/>
                          </a:solidFill>
                        </a:rPr>
                        <a:t xml:space="preserve">Where? </a:t>
                      </a:r>
                      <a:r>
                        <a:rPr lang="en-GB" sz="1050" b="0" noProof="0">
                          <a:solidFill>
                            <a:schemeClr val="tx2"/>
                          </a:solidFill>
                        </a:rPr>
                        <a:t xml:space="preserve">(air, water, soil)</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n-GB" sz="1050" b="1" noProof="0">
                          <a:solidFill>
                            <a:schemeClr val="tx2"/>
                          </a:solidFill>
                        </a:rPr>
                        <a:t xml:space="preserve">Amount</a:t>
                      </a:r>
                      <a:endParaRPr lang="en-GB"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11456">
                <a:tc>
                  <a:txBody>
                    <a:bodyPr/>
                    <a:lstStyle/>
                    <a:p>
                      <a:pPr rtl="0" fontAlgn="ctr" algn="l">
                        <a:buNone/>
                      </a:pPr>
                      <a:r>
                        <a:rPr lang="en-GB" sz="1050" b="0" i="0" u="none" strike="noStrike" noProof="0">
                          <a:solidFill>
                            <a:srgbClr val="1B4528"/>
                          </a:solidFill>
                          <a:effectLst/>
                          <a:latin typeface="Inter"/>
                        </a:rPr>
                        <a:t>{{type_of_pollution}}</a:t>
                      </a:r>
                      <a:endParaRPr lang="en-GB"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buNone/>
                      </a:pPr>
                      <a:r>
                        <a:rPr lang="en-GB" sz="1050" b="0" i="0" u="none" strike="noStrike" noProof="0">
                          <a:solidFill>
                            <a:srgbClr val="1B4528"/>
                          </a:solidFill>
                          <a:effectLst/>
                          <a:latin typeface="Inter"/>
                        </a:rPr>
                        <a:t>{{scope_pollution}}</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n-GB" sz="1050" b="0" i="0" u="none" strike="noStrike" noProof="0">
                          <a:solidFill>
                            <a:srgbClr val="1B4528"/>
                          </a:solidFill>
                          <a:effectLst/>
                          <a:latin typeface="Inter"/>
                        </a:rPr>
                        <a:t>{{pollution_medium}}</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7</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a:t>
            </a:r>
            <a:r>
              <a:rPr lang="en-GB" noProof="0"/>
              <a:t>company_name</a:t>
            </a:r>
            <a:r>
              <a:rPr lang="en-GB" noProof="0"/>
              <a:t>}}</a:t>
            </a:r>
            <a:endParaRPr lang="en-GB" b="0" noProof="0"/>
          </a:p>
          <a:p>
            <a:br>
              <a:rPr lang="en-GB" noProof="0"/>
            </a:br>
            <a:endParaRPr lang="en-GB"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61968" y="891000"/>
            <a:ext cx="9784532" cy="404866"/>
          </a:xfrm>
          <a:prstGeom prst="rect">
            <a:avLst/>
          </a:prstGeom>
          <a:noFill/>
        </p:spPr>
        <p:txBody>
          <a:bodyPr wrap="square">
            <a:spAutoFit/>
          </a:bodyPr>
          <a:lstStyle/>
          <a:p>
            <a:pPr rtl="0">
              <a:buNone/>
            </a:pPr>
            <a:r>
              <a:rPr lang="en-GB" sz="1050" b="0" i="0" u="none" strike="noStrike" noProof="0">
                <a:solidFill>
                  <a:schemeClr val="tx2"/>
                </a:solidFill>
                <a:effectLst/>
                <a:latin typeface="Inter"/>
              </a:rPr>
              <a:t xml:space="preserve">The undertaking reports the total amount of pollutants emitted from its own operations. Reporting on specific pollutants and their amounts emitted to air, water and soil</a:t>
            </a:r>
            <a:r>
              <a:rPr lang="en-GB" sz="1050" noProof="0">
                <a:solidFill>
                  <a:schemeClr val="tx2"/>
                </a:solidFill>
                <a:latin typeface="Inter"/>
              </a:rPr>
              <a:t xml:space="preserve"> is set out below.</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54796" y="2945868"/>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en-GB" noProof="0"/>
              <a:t xml:space="preserve">Biodiversity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3123879907"/>
              </p:ext>
            </p:extLst>
          </p:nvPr>
        </p:nvGraphicFramePr>
        <p:xfrm>
          <a:off x="454795" y="4100380"/>
          <a:ext cx="9791703" cy="845625"/>
        </p:xfrm>
        <a:graphic>
          <a:graphicData uri="http://schemas.openxmlformats.org/drawingml/2006/table">
            <a:tbl>
              <a:tblPr firstRow="1">
                <a:tableStyleId>{2A488322-F2BA-4B5B-9748-0D474271808F}</a:tableStyleId>
              </a:tblPr>
              <a:tblGrid>
                <a:gridCol w="1778433">
                  <a:extLst>
                    <a:ext uri="{9D8B030D-6E8A-4147-A177-3AD203B41FA5}">
                      <a16:colId xmlns:a16="http://schemas.microsoft.com/office/drawing/2014/main" val="2698153288"/>
                    </a:ext>
                  </a:extLst>
                </a:gridCol>
                <a:gridCol w="2671090">
                  <a:extLst>
                    <a:ext uri="{9D8B030D-6E8A-4147-A177-3AD203B41FA5}">
                      <a16:colId xmlns:a16="http://schemas.microsoft.com/office/drawing/2014/main" val="2119413191"/>
                    </a:ext>
                  </a:extLst>
                </a:gridCol>
                <a:gridCol w="2671090">
                  <a:extLst>
                    <a:ext uri="{9D8B030D-6E8A-4147-A177-3AD203B41FA5}">
                      <a16:colId xmlns:a16="http://schemas.microsoft.com/office/drawing/2014/main" val="656209149"/>
                    </a:ext>
                  </a:extLst>
                </a:gridCol>
                <a:gridCol w="2671090">
                  <a:extLst>
                    <a:ext uri="{9D8B030D-6E8A-4147-A177-3AD203B41FA5}">
                      <a16:colId xmlns:a16="http://schemas.microsoft.com/office/drawing/2014/main" val="1502960985"/>
                    </a:ext>
                  </a:extLst>
                </a:gridCol>
              </a:tblGrid>
              <a:tr h="202471">
                <a:tc gridSpan="4">
                  <a:txBody>
                    <a:bodyPr/>
                    <a:lstStyle/>
                    <a:p>
                      <a:r>
                        <a:rPr lang="en-GB" sz="1050" b="1" noProof="0">
                          <a:solidFill>
                            <a:schemeClr val="tx2"/>
                          </a:solidFill>
                        </a:rPr>
                        <a:t xml:space="preserve">Sites in or near ‘biodiversity sensitive areas’ that the undertaking owns, leases or manages </a:t>
                      </a:r>
                      <a:r>
                        <a:rPr lang="en-GB" sz="1050" b="0" noProof="0">
                          <a:solidFill>
                            <a:schemeClr val="tx2"/>
                          </a:solidFill>
                        </a:rPr>
                        <a:t xml:space="preserve">(para. 35)</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2743">
                <a:tc>
                  <a:txBody>
                    <a:bodyPr/>
                    <a:lstStyle/>
                    <a:p>
                      <a:r>
                        <a:rPr lang="en-GB" sz="1050" b="1" noProof="0">
                          <a:solidFill>
                            <a:schemeClr val="tx2"/>
                          </a:solidFill>
                        </a:rPr>
                        <a:t xml:space="preserve">Location</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1050" b="1" noProof="0">
                          <a:solidFill>
                            <a:schemeClr val="tx2"/>
                          </a:solidFill>
                        </a:rPr>
                        <a:t xml:space="preserve">Area in hectares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1050" b="1" noProof="0">
                          <a:solidFill>
                            <a:schemeClr val="tx2"/>
                          </a:solidFill>
                        </a:rPr>
                        <a:t xml:space="preserve">Biodiversity sensitive area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1050" b="1" noProof="0">
                          <a:solidFill>
                            <a:schemeClr val="tx2"/>
                          </a:solidFill>
                        </a:rPr>
                        <a:t xml:space="preserve">Specification: in or near a biodiversity sensitive area</a:t>
                      </a:r>
                      <a:endParaRPr lang="en-GB"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8201">
                <a:tc>
                  <a:txBody>
                    <a:bodyPr/>
                    <a:lstStyle/>
                    <a:p>
                      <a:pPr rtl="0" fontAlgn="ctr" algn="l">
                        <a:buNone/>
                      </a:pPr>
                      <a:r>
                        <a:rPr lang="en-GB" sz="1050" b="0" i="0" u="none" strike="noStrike" noProof="0">
                          <a:solidFill>
                            <a:srgbClr val="1B4528"/>
                          </a:solidFill>
                          <a:effectLst/>
                          <a:latin typeface="Inter"/>
                        </a:rPr>
                        <a:t>{{country_location}}</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n-GB" sz="1050" b="0" i="0" u="none" strike="noStrike" noProof="0">
                          <a:solidFill>
                            <a:srgbClr val="1B4528"/>
                          </a:solidFill>
                          <a:effectLst/>
                          <a:latin typeface="Inter"/>
                        </a:rPr>
                        <a:t> {{area_hect}}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1050" b="0" i="0" u="none" strike="noStrike" noProof="0">
                          <a:solidFill>
                            <a:srgbClr val="1B4528"/>
                          </a:solidFill>
                          <a:effectLst/>
                          <a:latin typeface="Inter"/>
                        </a:rPr>
                        <a:t>{{area_name}}</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1050" b="0" i="0" u="none" strike="noStrike" noProof="0">
                          <a:solidFill>
                            <a:srgbClr val="1B4528"/>
                          </a:solidFill>
                          <a:effectLst/>
                          <a:latin typeface="Inter"/>
                        </a:rPr>
                        <a:t>{{biosensitive_area}}</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45499" y="3291561"/>
            <a:ext cx="9791703" cy="566812"/>
          </a:xfrm>
          <a:prstGeom prst="rect">
            <a:avLst/>
          </a:prstGeom>
          <a:noFill/>
        </p:spPr>
        <p:txBody>
          <a:bodyPr wrap="square">
            <a:spAutoFit/>
          </a:bodyPr>
          <a:lstStyle/>
          <a:p>
            <a:pPr rtl="0">
              <a:spcBef>
                <a:spcPts val="789"/>
              </a:spcBef>
              <a:spcAft>
                <a:spcPts val="789"/>
              </a:spcAft>
              <a:buNone/>
            </a:pPr>
            <a:r>
              <a:rPr lang="en-GB" sz="1050" b="0" i="0" u="none" strike="noStrike" noProof="0">
                <a:solidFill>
                  <a:schemeClr val="tx2"/>
                </a:solidFill>
                <a:effectLst/>
                <a:latin typeface="Inter"/>
              </a:rPr>
              <a:t xml:space="preserve">The undertaking’s disclosure concerns the sites where it operates that are located in or near biodiversity sensitive areas. Biodiversity sensitive areas are defined as such under specific nature conservation provisions at European or international level. This includes areas belonging to Natura 2000, UNESCO and Key Biodiversity Areas (KBAs), as well as other protected areas.</a:t>
            </a:r>
            <a:r>
              <a:rPr lang="en-GB" sz="1050" b="0" i="0" u="none" strike="noStrike" noProof="0">
                <a:solidFill>
                  <a:schemeClr val="tx2"/>
                </a:solidFill>
                <a:effectLst/>
                <a:latin typeface="Inter"/>
              </a:rPr>
              <a:t xml:space="preserve"/>
            </a:r>
            <a:r>
              <a:rPr lang="en-GB" sz="1050" b="0" i="0" u="none" strike="noStrike" noProof="0">
                <a:solidFill>
                  <a:schemeClr val="tx2"/>
                </a:solidFill>
                <a:effectLst/>
                <a:latin typeface="Inter"/>
              </a:rPr>
              <a:t xml:space="preserve"/>
            </a:r>
            <a:endParaRPr lang="en-GB" sz="1050" noProof="0">
              <a:solidFill>
                <a:schemeClr val="tx2"/>
              </a:solidFill>
              <a:latin typeface="Inter"/>
            </a:endParaRPr>
          </a:p>
        </p:txBody>
      </p:sp>
    </p:spTree>
    <p:extLst>
      <p:ext uri="{BB962C8B-B14F-4D97-AF65-F5344CB8AC3E}">
        <p14:creationId xmlns:p14="http://schemas.microsoft.com/office/powerpoint/2010/main" val="2705646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 xml:space="preserve">Water (B6)</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405295352"/>
              </p:ext>
            </p:extLst>
          </p:nvPr>
        </p:nvGraphicFramePr>
        <p:xfrm>
          <a:off x="454796" y="1505077"/>
          <a:ext cx="4220433" cy="965602"/>
        </p:xfrm>
        <a:graphic>
          <a:graphicData uri="http://schemas.openxmlformats.org/drawingml/2006/table">
            <a:tbl>
              <a:tblPr firstRow="1">
                <a:tableStyleId>{2A488322-F2BA-4B5B-9748-0D474271808F}</a:tableStyleId>
              </a:tblPr>
              <a:tblGrid>
                <a:gridCol w="2707414">
                  <a:extLst>
                    <a:ext uri="{9D8B030D-6E8A-4147-A177-3AD203B41FA5}">
                      <a16:colId xmlns:a16="http://schemas.microsoft.com/office/drawing/2014/main" val="2698153288"/>
                    </a:ext>
                  </a:extLst>
                </a:gridCol>
                <a:gridCol w="1513019">
                  <a:extLst>
                    <a:ext uri="{9D8B030D-6E8A-4147-A177-3AD203B41FA5}">
                      <a16:colId xmlns:a16="http://schemas.microsoft.com/office/drawing/2014/main" val="2119413191"/>
                    </a:ext>
                  </a:extLst>
                </a:gridCol>
              </a:tblGrid>
              <a:tr h="487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1" noProof="0">
                          <a:solidFill>
                            <a:schemeClr val="tx2"/>
                          </a:solidFill>
                        </a:rPr>
                        <a:t xml:space="preserve">Water withdrawal </a:t>
                      </a:r>
                      <a:r>
                        <a:rPr lang="en-GB" sz="1050" b="0" noProof="0">
                          <a:solidFill>
                            <a:schemeClr val="tx2"/>
                          </a:solidFill>
                        </a:rPr>
                        <a:t xml:space="preserve">(para. 36)</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1050" b="1" noProof="0">
                          <a:solidFill>
                            <a:schemeClr val="tx2"/>
                          </a:solidFill>
                        </a:rPr>
                        <a:t xml:space="preserve">Year </a:t>
                      </a:r>
                      <a:r>
                        <a:rPr lang="en-GB" sz="1050" b="1" noProof="0">
                          <a:solidFill>
                            <a:srgbClr val="1B4528"/>
                          </a:solidFill>
                        </a:rPr>
                        <a:t>{{</a:t>
                      </a:r>
                      <a:r>
                        <a:rPr lang="en-GB" sz="1050" b="1" noProof="0">
                          <a:solidFill>
                            <a:srgbClr val="1B4528"/>
                          </a:solidFill>
                        </a:rPr>
                        <a:t>insert_year</a:t>
                      </a:r>
                      <a:r>
                        <a:rPr lang="en-GB"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78230">
                <a:tc>
                  <a:txBody>
                    <a:bodyPr/>
                    <a:lstStyle/>
                    <a:p>
                      <a:r>
                        <a:rPr lang="en-GB" sz="1050" b="0" noProof="0">
                          <a:solidFill>
                            <a:schemeClr val="tx2"/>
                          </a:solidFill>
                        </a:rPr>
                        <a:t xml:space="preserve">Total for all sites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1B4528"/>
                          </a:solidFill>
                          <a:effectLst/>
                          <a:uLnTx/>
                          <a:uFillTx/>
                          <a:latin typeface="+mn-lt"/>
                          <a:ea typeface="+mn-ea"/>
                          <a:cs typeface="+mn-cs"/>
                        </a:rPr>
                        <a:t>{{</a:t>
                      </a:r>
                      <a:r>
                        <a:rPr kumimoji="0" lang="en-GB" sz="1050" b="0" i="0" u="none" strike="noStrike" kern="1200" cap="none" spc="0" normalizeH="0" baseline="0" noProof="0">
                          <a:ln>
                            <a:noFill/>
                          </a:ln>
                          <a:solidFill>
                            <a:srgbClr val="1B4528"/>
                          </a:solidFill>
                          <a:effectLst/>
                          <a:uLnTx/>
                          <a:uFillTx/>
                          <a:latin typeface="+mn-lt"/>
                          <a:ea typeface="+mn-ea"/>
                          <a:cs typeface="+mn-cs"/>
                        </a:rPr>
                        <a:t>total_withdrawal</a:t>
                      </a:r>
                      <a:r>
                        <a:rPr kumimoji="0" lang="en-GB" sz="1050" b="0" i="0" u="none" strike="noStrike" kern="1200" cap="none" spc="0" normalizeH="0" baseline="0" noProof="0">
                          <a:ln>
                            <a:noFill/>
                          </a:ln>
                          <a:solidFill>
                            <a:srgbClr val="1B4528"/>
                          </a:solidFill>
                          <a:effectLst/>
                          <a:uLnTx/>
                          <a:uFillTx/>
                          <a:latin typeface="+mn-lt"/>
                          <a:ea typeface="+mn-ea"/>
                          <a:cs typeface="+mn-cs"/>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7" name="Table 16">
            <a:extLst>
              <a:ext uri="{FF2B5EF4-FFF2-40B4-BE49-F238E27FC236}">
                <a16:creationId xmlns:a16="http://schemas.microsoft.com/office/drawing/2014/main" id="{129EF77F-F7DE-E3A9-5E62-3B0DED7F1A69}"/>
              </a:ext>
            </a:extLst>
          </p:cNvPr>
          <p:cNvGraphicFramePr>
            <a:graphicFrameLocks noGrp="1"/>
          </p:cNvGraphicFramePr>
          <p:nvPr>
            <p:extLst>
              <p:ext uri="{D42A27DB-BD31-4B8C-83A1-F6EECF244321}">
                <p14:modId xmlns:p14="http://schemas.microsoft.com/office/powerpoint/2010/main" val="44075883"/>
              </p:ext>
            </p:extLst>
          </p:nvPr>
        </p:nvGraphicFramePr>
        <p:xfrm>
          <a:off x="4856790" y="1505077"/>
          <a:ext cx="5389710" cy="965602"/>
        </p:xfrm>
        <a:graphic>
          <a:graphicData uri="http://schemas.openxmlformats.org/drawingml/2006/table">
            <a:tbl>
              <a:tblPr firstRow="1">
                <a:tableStyleId>{2A488322-F2BA-4B5B-9748-0D474271808F}</a:tableStyleId>
              </a:tblPr>
              <a:tblGrid>
                <a:gridCol w="4061893">
                  <a:extLst>
                    <a:ext uri="{9D8B030D-6E8A-4147-A177-3AD203B41FA5}">
                      <a16:colId xmlns:a16="http://schemas.microsoft.com/office/drawing/2014/main" val="2698153288"/>
                    </a:ext>
                  </a:extLst>
                </a:gridCol>
                <a:gridCol w="1327817">
                  <a:extLst>
                    <a:ext uri="{9D8B030D-6E8A-4147-A177-3AD203B41FA5}">
                      <a16:colId xmlns:a16="http://schemas.microsoft.com/office/drawing/2014/main" val="2119413191"/>
                    </a:ext>
                  </a:extLst>
                </a:gridCol>
              </a:tblGrid>
              <a:tr h="2525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1" noProof="0">
                          <a:solidFill>
                            <a:schemeClr val="tx2"/>
                          </a:solidFill>
                        </a:rPr>
                        <a:t xml:space="preserve">Water consumption </a:t>
                      </a:r>
                      <a:r>
                        <a:rPr lang="en-GB" sz="1050" b="0" noProof="0">
                          <a:solidFill>
                            <a:schemeClr val="tx2"/>
                          </a:solidFill>
                        </a:rPr>
                        <a:t xml:space="preserve">(para. 37)</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1050" b="1" noProof="0">
                          <a:solidFill>
                            <a:schemeClr val="tx2"/>
                          </a:solidFill>
                        </a:rPr>
                        <a:t xml:space="preserve">Year </a:t>
                      </a:r>
                      <a:r>
                        <a:rPr lang="en-GB" sz="1050" b="1" noProof="0">
                          <a:solidFill>
                            <a:srgbClr val="1B4528"/>
                          </a:solidFill>
                        </a:rPr>
                        <a:t>{{</a:t>
                      </a:r>
                      <a:r>
                        <a:rPr lang="en-GB" sz="1050" b="1" noProof="0">
                          <a:solidFill>
                            <a:srgbClr val="1B4528"/>
                          </a:solidFill>
                        </a:rPr>
                        <a:t>insert_year</a:t>
                      </a:r>
                      <a:r>
                        <a:rPr lang="en-GB"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6518">
                <a:tc>
                  <a:txBody>
                    <a:bodyPr/>
                    <a:lstStyle/>
                    <a:p>
                      <a:r>
                        <a:rPr lang="en-GB" sz="1050" b="0" noProof="0">
                          <a:solidFill>
                            <a:schemeClr val="tx2"/>
                          </a:solidFill>
                        </a:rPr>
                        <a:t xml:space="preserve">Total for all sites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consumption_total</a:t>
                      </a:r>
                      <a:r>
                        <a:rPr lang="en-GB" sz="1050" b="0" i="0" u="none" strike="noStrike" noProof="0">
                          <a:solidFill>
                            <a:srgbClr val="1B4528"/>
                          </a:solidFill>
                          <a:effectLst/>
                          <a:latin typeface="Inter"/>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565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0" noProof="0">
                          <a:solidFill>
                            <a:schemeClr val="tx2"/>
                          </a:solidFill>
                        </a:rPr>
                        <a:t xml:space="preserve">From sites in areas of water scarcity (high water-stress)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consumption_waterstress</a:t>
                      </a:r>
                      <a:r>
                        <a:rPr lang="en-GB" sz="1050" b="0" i="0" u="none" strike="noStrike" noProof="0">
                          <a:solidFill>
                            <a:srgbClr val="1B4528"/>
                          </a:solidFill>
                          <a:effectLst/>
                          <a:latin typeface="Inter"/>
                        </a:rPr>
                        <a:t>}}</a:t>
                      </a:r>
                      <a:endParaRPr lang="en-GB"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8</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a:t>
            </a:r>
            <a:r>
              <a:rPr lang="en-GB" noProof="0"/>
              <a:t>company_name</a:t>
            </a:r>
            <a:r>
              <a:rPr lang="en-GB" noProof="0"/>
              <a:t>}}</a:t>
            </a:r>
            <a:endParaRPr lang="en-GB" b="0" noProof="0"/>
          </a:p>
          <a:p>
            <a:br>
              <a:rPr lang="en-GB" noProof="0"/>
            </a:br>
            <a:endParaRPr lang="en-GB" noProof="0"/>
          </a:p>
        </p:txBody>
      </p:sp>
      <p:sp>
        <p:nvSpPr>
          <p:cNvPr id="11" name="Tekstfelt 10">
            <a:extLst>
              <a:ext uri="{FF2B5EF4-FFF2-40B4-BE49-F238E27FC236}">
                <a16:creationId xmlns:a16="http://schemas.microsoft.com/office/drawing/2014/main" id="{ECB95649-80E1-C470-34F3-6ED206EE57AE}"/>
              </a:ext>
            </a:extLst>
          </p:cNvPr>
          <p:cNvSpPr txBox="1"/>
          <p:nvPr/>
        </p:nvSpPr>
        <p:spPr>
          <a:xfrm>
            <a:off x="445500" y="901932"/>
            <a:ext cx="9800999" cy="404866"/>
          </a:xfrm>
          <a:prstGeom prst="rect">
            <a:avLst/>
          </a:prstGeom>
          <a:noFill/>
        </p:spPr>
        <p:txBody>
          <a:bodyPr wrap="square">
            <a:spAutoFit/>
          </a:bodyPr>
          <a:lstStyle/>
          <a:p>
            <a:pPr rtl="0">
              <a:spcBef>
                <a:spcPts val="789"/>
              </a:spcBef>
              <a:buNone/>
            </a:pPr>
            <a:r>
              <a:rPr lang="en-GB" sz="1050" b="0" i="0" u="none" strike="noStrike" noProof="0">
                <a:solidFill>
                  <a:schemeClr val="tx2"/>
                </a:solidFill>
                <a:effectLst/>
                <a:latin typeface="Inter"/>
              </a:rPr>
              <a:t xml:space="preserve">Water withdrawal is the amount of water used by the undertaking, of which </a:t>
            </a:r>
            <a:r>
              <a:rPr lang="en-GB" sz="1050" noProof="0">
                <a:solidFill>
                  <a:schemeClr val="tx2"/>
                </a:solidFill>
                <a:latin typeface="Inter"/>
              </a:rPr>
              <a:t xml:space="preserve">consumption denotes water that </a:t>
            </a:r>
            <a:r>
              <a:rPr lang="en-GB" sz="1050" b="0" i="0" u="none" strike="noStrike" noProof="0">
                <a:solidFill>
                  <a:schemeClr val="tx2"/>
                </a:solidFill>
                <a:effectLst/>
                <a:latin typeface="Inter"/>
              </a:rPr>
              <a:t xml:space="preserve">is not discharged, or planned to be discharged, back to the water environment or to a third party. This section discloses the undertaking’s total water withdrawal. The undertaking’s water consumption</a:t>
            </a:r>
            <a:r>
              <a:rPr lang="en-GB" sz="1050" noProof="0">
                <a:solidFill>
                  <a:schemeClr val="tx2"/>
                </a:solidFill>
                <a:latin typeface="Inter"/>
              </a:rPr>
              <a:t> </a:t>
            </a:r>
            <a:r>
              <a:rPr lang="en-GB" sz="1050" b="0" i="0" u="none" strike="noStrike" noProof="0">
                <a:solidFill>
                  <a:schemeClr val="tx2"/>
                </a:solidFill>
                <a:effectLst/>
                <a:latin typeface="Inter"/>
              </a:rPr>
              <a:t xml:space="preserve">and water discharge from areas of high water-stress are set out below.</a:t>
            </a:r>
            <a:endParaRPr lang="en-GB" sz="1050" b="0" noProof="0">
              <a:solidFill>
                <a:schemeClr val="tx2"/>
              </a:solidFill>
              <a:effectLst/>
              <a:latin typeface="Inter"/>
            </a:endParaRPr>
          </a:p>
        </p:txBody>
      </p:sp>
      <p:sp>
        <p:nvSpPr>
          <p:cNvPr id="14" name="Title 3">
            <a:extLst>
              <a:ext uri="{FF2B5EF4-FFF2-40B4-BE49-F238E27FC236}">
                <a16:creationId xmlns:a16="http://schemas.microsoft.com/office/drawing/2014/main" id="{B30A223B-CD1E-62E4-7BF1-B5AAB10A8410}"/>
              </a:ext>
            </a:extLst>
          </p:cNvPr>
          <p:cNvSpPr txBox="1">
            <a:spLocks/>
          </p:cNvSpPr>
          <p:nvPr/>
        </p:nvSpPr>
        <p:spPr>
          <a:xfrm>
            <a:off x="454796" y="2715053"/>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en-GB" noProof="0"/>
              <a:t xml:space="preserve">Resource use, circular economy and waste management (B7) </a:t>
            </a:r>
          </a:p>
        </p:txBody>
      </p:sp>
      <p:graphicFrame>
        <p:nvGraphicFramePr>
          <p:cNvPr id="15" name="Table 12">
            <a:extLst>
              <a:ext uri="{FF2B5EF4-FFF2-40B4-BE49-F238E27FC236}">
                <a16:creationId xmlns:a16="http://schemas.microsoft.com/office/drawing/2014/main" id="{DD005B21-4552-1869-0C74-C03ADA88E810}"/>
              </a:ext>
            </a:extLst>
          </p:cNvPr>
          <p:cNvGraphicFramePr>
            <a:graphicFrameLocks noGrp="1"/>
          </p:cNvGraphicFramePr>
          <p:nvPr>
            <p:extLst>
              <p:ext uri="{D42A27DB-BD31-4B8C-83A1-F6EECF244321}">
                <p14:modId xmlns:p14="http://schemas.microsoft.com/office/powerpoint/2010/main" val="1002212790"/>
              </p:ext>
            </p:extLst>
          </p:nvPr>
        </p:nvGraphicFramePr>
        <p:xfrm>
          <a:off x="4856790" y="3128095"/>
          <a:ext cx="5380408" cy="826615"/>
        </p:xfrm>
        <a:graphic>
          <a:graphicData uri="http://schemas.openxmlformats.org/drawingml/2006/table">
            <a:tbl>
              <a:tblPr firstRow="1">
                <a:tableStyleId>{2A488322-F2BA-4B5B-9748-0D474271808F}</a:tableStyleId>
              </a:tblPr>
              <a:tblGrid>
                <a:gridCol w="2128528">
                  <a:extLst>
                    <a:ext uri="{9D8B030D-6E8A-4147-A177-3AD203B41FA5}">
                      <a16:colId xmlns:a16="http://schemas.microsoft.com/office/drawing/2014/main" val="2698153288"/>
                    </a:ext>
                  </a:extLst>
                </a:gridCol>
                <a:gridCol w="1654020">
                  <a:extLst>
                    <a:ext uri="{9D8B030D-6E8A-4147-A177-3AD203B41FA5}">
                      <a16:colId xmlns:a16="http://schemas.microsoft.com/office/drawing/2014/main" val="2119413191"/>
                    </a:ext>
                  </a:extLst>
                </a:gridCol>
                <a:gridCol w="1597860">
                  <a:extLst>
                    <a:ext uri="{9D8B030D-6E8A-4147-A177-3AD203B41FA5}">
                      <a16:colId xmlns:a16="http://schemas.microsoft.com/office/drawing/2014/main" val="656209149"/>
                    </a:ext>
                  </a:extLst>
                </a:gridCol>
              </a:tblGrid>
              <a:tr h="236351">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1" noProof="0">
                          <a:solidFill>
                            <a:schemeClr val="tx2"/>
                          </a:solidFill>
                        </a:rPr>
                        <a:t xml:space="preserve">Disclosure on the application of circular economy principles </a:t>
                      </a:r>
                      <a:r>
                        <a:rPr lang="en-GB" sz="1050" b="0" noProof="0">
                          <a:solidFill>
                            <a:schemeClr val="tx2"/>
                          </a:solidFill>
                        </a:rPr>
                        <a:t xml:space="preserve">(para. 38)</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6091">
                <a:tc rowSpan="2">
                  <a:txBody>
                    <a:bodyPr/>
                    <a:lstStyle/>
                    <a:p>
                      <a:r>
                        <a:rPr lang="en-GB" sz="1050" b="0" noProof="0">
                          <a:solidFill>
                            <a:schemeClr val="tx2"/>
                          </a:solidFill>
                        </a:rPr>
                        <a:t xml:space="preserve">My company applies circular economy principles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1050" b="1" noProof="0">
                          <a:solidFill>
                            <a:schemeClr val="tx2"/>
                          </a:solidFill>
                        </a:rPr>
                        <a:t xml:space="preserve">Yes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1050" b="1" noProof="0">
                          <a:solidFill>
                            <a:schemeClr val="tx2"/>
                          </a:solidFill>
                        </a:rPr>
                        <a:t xml:space="preserve">No</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0880">
                <a:tc v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circular_economy_princples_yes</a:t>
                      </a:r>
                      <a:r>
                        <a:rPr lang="en-GB" sz="1050" b="0" i="0" u="none" strike="noStrike" noProof="0">
                          <a:solidFill>
                            <a:srgbClr val="1B4528"/>
                          </a:solidFill>
                          <a:effectLst/>
                          <a:latin typeface="Inter"/>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circular_economy_princples_no</a:t>
                      </a:r>
                      <a:r>
                        <a:rPr lang="en-GB" sz="1050" b="0" i="0" u="none" strike="noStrike" noProof="0">
                          <a:solidFill>
                            <a:srgbClr val="1B4528"/>
                          </a:solidFill>
                          <a:effectLst/>
                          <a:latin typeface="Inter"/>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6" name="Table 2">
            <a:extLst>
              <a:ext uri="{FF2B5EF4-FFF2-40B4-BE49-F238E27FC236}">
                <a16:creationId xmlns:a16="http://schemas.microsoft.com/office/drawing/2014/main" id="{2AA2F1F9-7A09-1805-85EA-A61B8CDF034E}"/>
              </a:ext>
            </a:extLst>
          </p:cNvPr>
          <p:cNvGraphicFramePr>
            <a:graphicFrameLocks noGrp="1"/>
          </p:cNvGraphicFramePr>
          <p:nvPr>
            <p:extLst>
              <p:ext uri="{D42A27DB-BD31-4B8C-83A1-F6EECF244321}">
                <p14:modId xmlns:p14="http://schemas.microsoft.com/office/powerpoint/2010/main" val="3358194059"/>
              </p:ext>
            </p:extLst>
          </p:nvPr>
        </p:nvGraphicFramePr>
        <p:xfrm>
          <a:off x="445498" y="4047139"/>
          <a:ext cx="9791701" cy="1549905"/>
        </p:xfrm>
        <a:graphic>
          <a:graphicData uri="http://schemas.openxmlformats.org/drawingml/2006/table">
            <a:tbl>
              <a:tblPr firstRow="1">
                <a:tableStyleId>{2A488322-F2BA-4B5B-9748-0D474271808F}</a:tableStyleId>
              </a:tblPr>
              <a:tblGrid>
                <a:gridCol w="9791701">
                  <a:extLst>
                    <a:ext uri="{9D8B030D-6E8A-4147-A177-3AD203B41FA5}">
                      <a16:colId xmlns:a16="http://schemas.microsoft.com/office/drawing/2014/main" val="2698153288"/>
                    </a:ext>
                  </a:extLst>
                </a:gridCol>
              </a:tblGrid>
              <a:tr h="256676">
                <a:tc>
                  <a:txBody>
                    <a:bodyPr/>
                    <a:lstStyle/>
                    <a:p>
                      <a:r>
                        <a:rPr lang="en-GB" sz="1050" b="1" noProof="0">
                          <a:solidFill>
                            <a:schemeClr val="tx2"/>
                          </a:solidFill>
                        </a:rPr>
                        <a:t xml:space="preserve">Description of how the undertaking applies circular economy principles </a:t>
                      </a:r>
                      <a:r>
                        <a:rPr lang="en-GB" sz="1050" b="0" noProof="0">
                          <a:solidFill>
                            <a:schemeClr val="tx2"/>
                          </a:solidFill>
                        </a:rPr>
                        <a:t xml:space="preserve">(para. 38 continued)</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1293229">
                <a:tc>
                  <a:txBody>
                    <a:bodyPr/>
                    <a:lstStyle/>
                    <a:p>
                      <a:pPr algn="l"/>
                      <a:r>
                        <a:rPr lang="en-GB" sz="1050" b="0" kern="1200" noProof="0">
                          <a:solidFill>
                            <a:srgbClr val="1B4528"/>
                          </a:solidFill>
                          <a:latin typeface="+mn-lt"/>
                          <a:ea typeface="+mn-ea"/>
                          <a:cs typeface="+mn-cs"/>
                        </a:rPr>
                        <a:t>{{</a:t>
                      </a:r>
                      <a:r>
                        <a:rPr lang="en-GB" sz="1050" b="0" kern="1200" noProof="0">
                          <a:solidFill>
                            <a:srgbClr val="1B4528"/>
                          </a:solidFill>
                          <a:latin typeface="+mn-lt"/>
                          <a:ea typeface="+mn-ea"/>
                          <a:cs typeface="+mn-cs"/>
                        </a:rPr>
                        <a:t>description_of_circular_economies</a:t>
                      </a:r>
                      <a:r>
                        <a:rPr lang="en-GB" sz="1050" b="0" kern="1200" noProof="0">
                          <a:solidFill>
                            <a:srgbClr val="1B4528"/>
                          </a:solidFill>
                          <a:latin typeface="+mn-lt"/>
                          <a:ea typeface="+mn-ea"/>
                          <a:cs typeface="+mn-cs"/>
                        </a:rPr>
                        <a:t>}}</a:t>
                      </a:r>
                    </a:p>
                    <a:p>
                      <a:pPr algn="l"/>
                      <a:endParaRPr lang="en-GB" sz="1050" b="0" kern="1200" noProof="0">
                        <a:solidFill>
                          <a:srgbClr val="1B4528"/>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5" name="Tekstfelt 24">
            <a:extLst>
              <a:ext uri="{FF2B5EF4-FFF2-40B4-BE49-F238E27FC236}">
                <a16:creationId xmlns:a16="http://schemas.microsoft.com/office/drawing/2014/main" id="{02BB91A8-5ECA-5F09-CF3C-575CB2D07459}"/>
              </a:ext>
            </a:extLst>
          </p:cNvPr>
          <p:cNvSpPr txBox="1"/>
          <p:nvPr/>
        </p:nvSpPr>
        <p:spPr>
          <a:xfrm>
            <a:off x="445765" y="3120519"/>
            <a:ext cx="4247524" cy="728758"/>
          </a:xfrm>
          <a:prstGeom prst="rect">
            <a:avLst/>
          </a:prstGeom>
          <a:noFill/>
        </p:spPr>
        <p:txBody>
          <a:bodyPr wrap="square" lIns="80190" tIns="40095" rIns="80190" bIns="40095" anchor="t">
            <a:spAutoFit/>
          </a:bodyPr>
          <a:lstStyle/>
          <a:p>
            <a:pPr rtl="0">
              <a:buNone/>
            </a:pPr>
            <a:r>
              <a:rPr lang="en-GB" sz="1050" b="0" i="0" u="none" strike="noStrike" noProof="0">
                <a:solidFill>
                  <a:schemeClr val="tx2"/>
                </a:solidFill>
                <a:effectLst/>
                <a:latin typeface="Inter"/>
              </a:rPr>
              <a:t xml:space="preserve">This disclosure requirement provides information on whether the undertaking</a:t>
            </a:r>
            <a:r>
              <a:rPr lang="en-GB" sz="1050" noProof="0">
                <a:solidFill>
                  <a:schemeClr val="tx2"/>
                </a:solidFill>
                <a:latin typeface="Inter"/>
              </a:rPr>
              <a:t xml:space="preserve"> applies circular economy principles, including whether principles are applied with regard to reducing waste and pollution and to a focus on circular products and materials.</a:t>
            </a:r>
          </a:p>
        </p:txBody>
      </p:sp>
    </p:spTree>
    <p:extLst>
      <p:ext uri="{BB962C8B-B14F-4D97-AF65-F5344CB8AC3E}">
        <p14:creationId xmlns:p14="http://schemas.microsoft.com/office/powerpoint/2010/main" val="999658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 xml:space="preserve">Resource use, circular economy and waste management (B7) – continued</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829584165"/>
              </p:ext>
            </p:extLst>
          </p:nvPr>
        </p:nvGraphicFramePr>
        <p:xfrm>
          <a:off x="445499" y="1442996"/>
          <a:ext cx="6440256" cy="1712064"/>
        </p:xfrm>
        <a:graphic>
          <a:graphicData uri="http://schemas.openxmlformats.org/drawingml/2006/table">
            <a:tbl>
              <a:tblPr firstRow="1">
                <a:tableStyleId>{2A488322-F2BA-4B5B-9748-0D474271808F}</a:tableStyleId>
              </a:tblPr>
              <a:tblGrid>
                <a:gridCol w="1995980">
                  <a:extLst>
                    <a:ext uri="{9D8B030D-6E8A-4147-A177-3AD203B41FA5}">
                      <a16:colId xmlns:a16="http://schemas.microsoft.com/office/drawing/2014/main" val="2698153288"/>
                    </a:ext>
                  </a:extLst>
                </a:gridCol>
                <a:gridCol w="2230323">
                  <a:extLst>
                    <a:ext uri="{9D8B030D-6E8A-4147-A177-3AD203B41FA5}">
                      <a16:colId xmlns:a16="http://schemas.microsoft.com/office/drawing/2014/main" val="2119413191"/>
                    </a:ext>
                  </a:extLst>
                </a:gridCol>
                <a:gridCol w="2213953">
                  <a:extLst>
                    <a:ext uri="{9D8B030D-6E8A-4147-A177-3AD203B41FA5}">
                      <a16:colId xmlns:a16="http://schemas.microsoft.com/office/drawing/2014/main" val="4075157689"/>
                    </a:ext>
                  </a:extLst>
                </a:gridCol>
              </a:tblGrid>
              <a:tr h="288168">
                <a:tc gridSpan="3">
                  <a:txBody>
                    <a:bodyPr/>
                    <a:lstStyle/>
                    <a:p>
                      <a:pPr algn="ctr"/>
                      <a:r>
                        <a:rPr lang="en-GB" sz="1050" b="1" noProof="0">
                          <a:solidFill>
                            <a:schemeClr val="tx2"/>
                          </a:solidFill>
                        </a:rPr>
                        <a:t xml:space="preserve">Total annual waste generation</a:t>
                      </a:r>
                      <a:endParaRPr lang="en-GB"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411366">
                <a:tc>
                  <a:txBody>
                    <a:bodyPr/>
                    <a:lstStyle/>
                    <a:p>
                      <a:endParaRPr lang="en-GB"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1050" b="1" noProof="0">
                          <a:solidFill>
                            <a:schemeClr val="tx2"/>
                          </a:solidFill>
                        </a:rPr>
                        <a:t xml:space="preserve">Total waste generated </a:t>
                      </a:r>
                      <a:r>
                        <a:rPr lang="en-GB" sz="1050" b="0" noProof="0">
                          <a:solidFill>
                            <a:schemeClr val="tx2"/>
                          </a:solidFill>
                        </a:rPr>
                        <a:t xml:space="preserve">(para. 39a)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1050" b="1" noProof="0">
                          <a:solidFill>
                            <a:schemeClr val="tx2"/>
                          </a:solidFill>
                        </a:rPr>
                        <a:t xml:space="preserve">Waste diverted to recycling or preparation for reuse </a:t>
                      </a:r>
                      <a:r>
                        <a:rPr lang="en-GB" sz="1050" b="0" noProof="0">
                          <a:solidFill>
                            <a:schemeClr val="tx2"/>
                          </a:solidFill>
                        </a:rPr>
                        <a:t xml:space="preserve">(para. 39b)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13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1" noProof="0">
                          <a:solidFill>
                            <a:schemeClr val="tx2"/>
                          </a:solidFill>
                        </a:rPr>
                        <a:t xml:space="preserve">Non-hazardous waste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204917">
                <a:tc>
                  <a:txBody>
                    <a:bodyPr/>
                    <a:lstStyle/>
                    <a:p>
                      <a:pPr rtl="0" fontAlgn="ctr" algn="l">
                        <a:buNone/>
                      </a:pPr>
                      <a:r>
                        <a:rPr lang="en-GB" sz="1050" b="0" i="0" u="none" strike="noStrike" noProof="0">
                          <a:solidFill>
                            <a:srgbClr val="1B4528"/>
                          </a:solidFill>
                          <a:effectLst/>
                          <a:latin typeface="Inter"/>
                        </a:rPr>
                        <a:t>{{Type_af_affald}}</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nter"/>
                        </a:rPr>
                        <a:t>{{kg_tons_total}}</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1050" b="0" i="0" u="none" strike="noStrike" noProof="0">
                          <a:solidFill>
                            <a:srgbClr val="1B4528"/>
                          </a:solidFill>
                          <a:effectLst/>
                          <a:latin typeface="Inter"/>
                        </a:rPr>
                        <a:t>{{genbrug_kg_tons}}</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01348">
                <a:tc>
                  <a:txBody>
                    <a:bodyPr/>
                    <a:lstStyle/>
                    <a:p>
                      <a:r>
                        <a:rPr lang="en-GB" sz="1050" b="1" noProof="0">
                          <a:solidFill>
                            <a:schemeClr val="tx2"/>
                          </a:solidFill>
                        </a:rPr>
                        <a:t xml:space="preserve">Hazardous waste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204917">
                <a:tc>
                  <a:txBody>
                    <a:bodyPr/>
                    <a:lstStyle/>
                    <a:p>
                      <a:pPr rtl="0" fontAlgn="ctr" algn="l">
                        <a:buNone/>
                      </a:pPr>
                      <a:r>
                        <a:rPr lang="en-GB" sz="1050" b="0" i="0" u="none" strike="noStrike" noProof="0">
                          <a:solidFill>
                            <a:srgbClr val="1B4528"/>
                          </a:solidFill>
                          <a:effectLst/>
                          <a:latin typeface="Inter"/>
                        </a:rPr>
                        <a:t>{{Type_af_affald_farlig}}</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nter"/>
                        </a:rPr>
                        <a:t>{{farlig_kg_tons}}</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1050" b="0" i="0" u="none" strike="noStrike" noProof="0">
                          <a:solidFill>
                            <a:srgbClr val="1B4528"/>
                          </a:solidFill>
                          <a:effectLst/>
                          <a:latin typeface="Inter"/>
                        </a:rPr>
                        <a:t>{{farlig_genbrug_kg_tons}}</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9</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a:t>
            </a:r>
            <a:r>
              <a:rPr lang="en-GB" noProof="0"/>
              <a:t>company_name</a:t>
            </a:r>
            <a:r>
              <a:rPr lang="en-GB" noProof="0"/>
              <a:t>}}</a:t>
            </a:r>
            <a:endParaRPr lang="en-GB" b="0" noProof="0"/>
          </a:p>
          <a:p>
            <a:br>
              <a:rPr lang="en-GB" noProof="0"/>
            </a:br>
            <a:endParaRPr lang="en-GB"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54796" y="891000"/>
            <a:ext cx="9791704" cy="404866"/>
          </a:xfrm>
          <a:prstGeom prst="rect">
            <a:avLst/>
          </a:prstGeom>
          <a:noFill/>
        </p:spPr>
        <p:txBody>
          <a:bodyPr wrap="square">
            <a:spAutoFit/>
          </a:bodyPr>
          <a:lstStyle/>
          <a:p>
            <a:pPr rtl="0">
              <a:buNone/>
            </a:pPr>
            <a:r>
              <a:rPr lang="en-GB" sz="1050" b="0" i="0" u="none" strike="noStrike" noProof="0">
                <a:solidFill>
                  <a:schemeClr val="tx2"/>
                </a:solidFill>
                <a:effectLst/>
                <a:latin typeface="Inter"/>
              </a:rPr>
              <a:t xml:space="preserve">The following section provides information on material use and waste management. The information relates to the circular economy and shows how the undertaking’s total annual waste generation (hazardous/non-hazardous) is broken down, and the amounts of significant materials are also stated. </a:t>
            </a:r>
            <a:endParaRPr lang="en-GB" sz="1050"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4113487528"/>
              </p:ext>
            </p:extLst>
          </p:nvPr>
        </p:nvGraphicFramePr>
        <p:xfrm>
          <a:off x="7156908" y="1442996"/>
          <a:ext cx="3080297" cy="1712064"/>
        </p:xfrm>
        <a:graphic>
          <a:graphicData uri="http://schemas.openxmlformats.org/drawingml/2006/table">
            <a:tbl>
              <a:tblPr firstRow="1">
                <a:tableStyleId>{2A488322-F2BA-4B5B-9748-0D474271808F}</a:tableStyleId>
              </a:tblPr>
              <a:tblGrid>
                <a:gridCol w="1976312">
                  <a:extLst>
                    <a:ext uri="{9D8B030D-6E8A-4147-A177-3AD203B41FA5}">
                      <a16:colId xmlns:a16="http://schemas.microsoft.com/office/drawing/2014/main" val="2698153288"/>
                    </a:ext>
                  </a:extLst>
                </a:gridCol>
                <a:gridCol w="1103985">
                  <a:extLst>
                    <a:ext uri="{9D8B030D-6E8A-4147-A177-3AD203B41FA5}">
                      <a16:colId xmlns:a16="http://schemas.microsoft.com/office/drawing/2014/main" val="2119413191"/>
                    </a:ext>
                  </a:extLst>
                </a:gridCol>
              </a:tblGrid>
              <a:tr h="933735">
                <a:tc>
                  <a:txBody>
                    <a:bodyPr/>
                    <a:lstStyle/>
                    <a:p>
                      <a:r>
                        <a:rPr lang="en-GB" sz="1050" b="1" noProof="0">
                          <a:solidFill>
                            <a:schemeClr val="tx2"/>
                          </a:solidFill>
                        </a:rPr>
                        <a:t xml:space="preserve">Significant materials </a:t>
                      </a:r>
                      <a:r>
                        <a:rPr lang="en-GB" sz="1050" b="0" noProof="0">
                          <a:solidFill>
                            <a:schemeClr val="tx2"/>
                          </a:solidFill>
                        </a:rPr>
                        <a:t xml:space="preserve">(para. 39c)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1050" b="1" noProof="0">
                          <a:solidFill>
                            <a:schemeClr val="tx2"/>
                          </a:solidFill>
                        </a:rPr>
                        <a:t xml:space="preserve">Annual mass-flow </a:t>
                      </a:r>
                      <a:r>
                        <a:rPr lang="en-GB" sz="1050" b="1" noProof="0">
                          <a:solidFill>
                            <a:srgbClr val="1B4528"/>
                          </a:solidFill>
                        </a:rPr>
                        <a:t>{{insert_year}}</a:t>
                      </a:r>
                      <a:endParaRPr lang="en-GB"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778330">
                <a:tc>
                  <a:txBody>
                    <a:bodyPr/>
                    <a:lstStyle/>
                    <a:p>
                      <a:pPr algn="l"/>
                      <a:r>
                        <a:rPr lang="en-GB" sz="1050" b="0" i="0" u="none" strike="noStrike" noProof="0">
                          <a:solidFill>
                            <a:srgbClr val="1B4528"/>
                          </a:solidFill>
                          <a:latin typeface="Inter"/>
                        </a:rPr>
                        <a:t>{{significant_material}}</a:t>
                      </a:r>
                      <a:endParaRPr lang="en-GB" sz="1050" b="0" noProof="0">
                        <a:solidFill>
                          <a:srgbClr val="1B4528"/>
                        </a:solidFill>
                        <a:latin typeface="Inter"/>
                        <a:cs typeface="Calibri"/>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GB" sz="1050" b="0" i="0" u="none" strike="noStrike" noProof="0">
                          <a:solidFill>
                            <a:srgbClr val="1B4528"/>
                          </a:solidFill>
                          <a:latin typeface="Inter"/>
                        </a:rPr>
                        <a:t>{{significant_material_unit}}</a:t>
                      </a:r>
                      <a:endParaRPr lang="en-GB" sz="1050" b="0" i="0" u="none" strike="noStrike" noProof="0">
                        <a:solidFill>
                          <a:srgbClr val="000000"/>
                        </a:solidFill>
                        <a:latin typeface="Inter"/>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 xml:space="preserve">Own workforce: General characteristics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45493" y="1520475"/>
          <a:ext cx="4365905" cy="1646779"/>
        </p:xfrm>
        <a:graphic>
          <a:graphicData uri="http://schemas.openxmlformats.org/drawingml/2006/table">
            <a:tbl>
              <a:tblPr firstRow="1">
                <a:tableStyleId>{2A488322-F2BA-4B5B-9748-0D474271808F}</a:tableStyleId>
              </a:tblPr>
              <a:tblGrid>
                <a:gridCol w="2182953">
                  <a:extLst>
                    <a:ext uri="{9D8B030D-6E8A-4147-A177-3AD203B41FA5}">
                      <a16:colId xmlns:a16="http://schemas.microsoft.com/office/drawing/2014/main" val="2698153288"/>
                    </a:ext>
                  </a:extLst>
                </a:gridCol>
                <a:gridCol w="2182953">
                  <a:extLst>
                    <a:ext uri="{9D8B030D-6E8A-4147-A177-3AD203B41FA5}">
                      <a16:colId xmlns:a16="http://schemas.microsoft.com/office/drawing/2014/main" val="2119413191"/>
                    </a:ext>
                  </a:extLst>
                </a:gridCol>
              </a:tblGrid>
              <a:tr h="569357">
                <a:tc>
                  <a:txBody>
                    <a:bodyPr/>
                    <a:lstStyle/>
                    <a:p>
                      <a:r>
                        <a:rPr lang="en-GB" sz="1050" b="1" noProof="0">
                          <a:solidFill>
                            <a:schemeClr val="tx2"/>
                          </a:solidFill>
                        </a:rPr>
                        <a:t xml:space="preserve">Type of contract </a:t>
                      </a:r>
                      <a:r>
                        <a:rPr lang="en-GB" sz="1050" b="0" noProof="0">
                          <a:solidFill>
                            <a:schemeClr val="tx2"/>
                          </a:solidFill>
                        </a:rPr>
                        <a:t xml:space="preserve">(para. 40a)</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n-GB" sz="1050" b="1" noProof="0">
                          <a:solidFill>
                            <a:schemeClr val="tx2"/>
                          </a:solidFill>
                        </a:rPr>
                        <a:t xml:space="preserve">Number of employees (headcount or full-time equivalents)</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59141">
                <a:tc>
                  <a:txBody>
                    <a:bodyPr/>
                    <a:lstStyle/>
                    <a:p>
                      <a:r>
                        <a:rPr lang="en-GB" sz="1050" b="0" noProof="0">
                          <a:solidFill>
                            <a:schemeClr val="tx2"/>
                          </a:solidFill>
                        </a:rPr>
                        <a:t xml:space="preserve">Temporary employment</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temporary</a:t>
                      </a:r>
                      <a:r>
                        <a:rPr lang="en-GB" sz="1050" b="0" i="0" u="none" strike="noStrike" noProof="0">
                          <a:solidFill>
                            <a:srgbClr val="1B4528"/>
                          </a:solidFill>
                          <a:effectLst/>
                          <a:latin typeface="Inter"/>
                        </a:rPr>
                        <a:t>}}</a:t>
                      </a:r>
                      <a:endParaRPr lang="en-GB"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59141">
                <a:tc>
                  <a:txBody>
                    <a:bodyPr/>
                    <a:lstStyle/>
                    <a:p>
                      <a:r>
                        <a:rPr lang="en-GB" sz="1050" b="0" noProof="0">
                          <a:solidFill>
                            <a:schemeClr val="tx2"/>
                          </a:solidFill>
                        </a:rPr>
                        <a:t xml:space="preserve">Permanent employment</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fulltime</a:t>
                      </a:r>
                      <a:r>
                        <a:rPr lang="en-GB" sz="1050" b="0" i="0" u="none" strike="noStrike" noProof="0">
                          <a:solidFill>
                            <a:srgbClr val="1B4528"/>
                          </a:solidFill>
                          <a:effectLst/>
                          <a:latin typeface="Inter"/>
                        </a:rPr>
                        <a:t>}}</a:t>
                      </a:r>
                      <a:endParaRPr lang="en-GB"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59141">
                <a:tc>
                  <a:txBody>
                    <a:bodyPr/>
                    <a:lstStyle/>
                    <a:p>
                      <a:r>
                        <a:rPr lang="en-GB" sz="1050" b="0" noProof="0">
                          <a:solidFill>
                            <a:schemeClr val="tx2"/>
                          </a:solidFill>
                        </a:rPr>
                        <a:t xml:space="preserve">Total number of employees</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total_employees</a:t>
                      </a:r>
                      <a:r>
                        <a:rPr lang="en-GB" sz="1050" b="0" i="0" u="none" strike="noStrike" noProof="0">
                          <a:solidFill>
                            <a:srgbClr val="1B4528"/>
                          </a:solidFill>
                          <a:effectLst/>
                          <a:latin typeface="Inter"/>
                        </a:rPr>
                        <a:t>}}</a:t>
                      </a:r>
                      <a:endParaRPr lang="en-GB"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5008093" y="1520477"/>
          <a:ext cx="5238408" cy="1646777"/>
        </p:xfrm>
        <a:graphic>
          <a:graphicData uri="http://schemas.openxmlformats.org/drawingml/2006/table">
            <a:tbl>
              <a:tblPr firstRow="1">
                <a:tableStyleId>{2A488322-F2BA-4B5B-9748-0D474271808F}</a:tableStyleId>
              </a:tblPr>
              <a:tblGrid>
                <a:gridCol w="2619204">
                  <a:extLst>
                    <a:ext uri="{9D8B030D-6E8A-4147-A177-3AD203B41FA5}">
                      <a16:colId xmlns:a16="http://schemas.microsoft.com/office/drawing/2014/main" val="2698153288"/>
                    </a:ext>
                  </a:extLst>
                </a:gridCol>
                <a:gridCol w="2619204">
                  <a:extLst>
                    <a:ext uri="{9D8B030D-6E8A-4147-A177-3AD203B41FA5}">
                      <a16:colId xmlns:a16="http://schemas.microsoft.com/office/drawing/2014/main" val="2119413191"/>
                    </a:ext>
                  </a:extLst>
                </a:gridCol>
              </a:tblGrid>
              <a:tr h="383942">
                <a:tc>
                  <a:txBody>
                    <a:bodyPr/>
                    <a:lstStyle/>
                    <a:p>
                      <a:r>
                        <a:rPr lang="en-GB" sz="1050" b="1" noProof="0">
                          <a:solidFill>
                            <a:schemeClr val="tx2"/>
                          </a:solidFill>
                          <a:latin typeface="+mn-lt"/>
                        </a:rPr>
                        <a:t xml:space="preserve">Gender</a:t>
                      </a:r>
                      <a:r>
                        <a:rPr lang="en-GB" sz="1050" b="0" noProof="0">
                          <a:solidFill>
                            <a:schemeClr val="tx2"/>
                          </a:solidFill>
                          <a:latin typeface="+mn-lt"/>
                        </a:rPr>
                        <a:t xml:space="preserve"> (para. 40b)</a:t>
                      </a:r>
                      <a:r>
                        <a:rPr lang="en-GB" sz="1050" b="0" noProof="0">
                          <a:solidFill>
                            <a:schemeClr val="tx2"/>
                          </a:solidFill>
                        </a:rPr>
                        <a:t xml:space="preserve"/>
                      </a:r>
                      <a:endParaRPr lang="en-GB" sz="1050" b="0" noProof="0">
                        <a:solidFill>
                          <a:schemeClr val="tx2"/>
                        </a:solidFill>
                        <a:latin typeface="+mn-lt"/>
                      </a:endParaRP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n-GB" sz="1050" b="1" noProof="0">
                          <a:solidFill>
                            <a:schemeClr val="tx2"/>
                          </a:solidFill>
                          <a:latin typeface="+mn-lt"/>
                        </a:rPr>
                        <a:t xml:space="preserve">Number of employees (headcount or full-time equivalents)</a:t>
                      </a:r>
                      <a:r>
                        <a:rPr lang="en-GB" sz="1050" b="1" noProof="0">
                          <a:solidFill>
                            <a:schemeClr val="tx2"/>
                          </a:solidFill>
                        </a:rPr>
                        <a:t xml:space="preserve"/>
                      </a:r>
                      <a:endParaRPr lang="en-GB" sz="1050" b="1" noProof="0">
                        <a:solidFill>
                          <a:schemeClr val="tx2"/>
                        </a:solidFill>
                        <a:latin typeface="+mn-lt"/>
                      </a:endParaRP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52567">
                <a:tc>
                  <a:txBody>
                    <a:bodyPr/>
                    <a:lstStyle/>
                    <a:p>
                      <a:r>
                        <a:rPr lang="en-GB" sz="1050" b="0" noProof="0">
                          <a:solidFill>
                            <a:schemeClr val="tx2"/>
                          </a:solidFill>
                          <a:latin typeface="+mn-lt"/>
                        </a:rPr>
                        <a:t xml:space="preserve">Male</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nter"/>
                        </a:rPr>
                        <a:t>{{men}}</a:t>
                      </a:r>
                      <a:endParaRPr lang="en-GB"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52567">
                <a:tc>
                  <a:txBody>
                    <a:bodyPr/>
                    <a:lstStyle/>
                    <a:p>
                      <a:r>
                        <a:rPr lang="en-GB" sz="1050" b="0" noProof="0">
                          <a:solidFill>
                            <a:schemeClr val="tx2"/>
                          </a:solidFill>
                          <a:latin typeface="+mn-lt"/>
                        </a:rPr>
                        <a:t xml:space="preserve">Female</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women</a:t>
                      </a:r>
                      <a:r>
                        <a:rPr lang="en-GB" sz="1050" b="0" i="0" u="none" strike="noStrike" noProof="0">
                          <a:solidFill>
                            <a:srgbClr val="1B4528"/>
                          </a:solidFill>
                          <a:effectLst/>
                          <a:latin typeface="Inter"/>
                        </a:rPr>
                        <a:t>}}</a:t>
                      </a:r>
                      <a:endParaRPr lang="en-GB"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52567">
                <a:tc>
                  <a:txBody>
                    <a:bodyPr/>
                    <a:lstStyle/>
                    <a:p>
                      <a:r>
                        <a:rPr lang="en-GB" sz="1050" b="0" noProof="0">
                          <a:solidFill>
                            <a:schemeClr val="tx2"/>
                          </a:solidFill>
                          <a:latin typeface="+mn-lt"/>
                        </a:rPr>
                        <a:t xml:space="preserve">Other</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others</a:t>
                      </a:r>
                      <a:r>
                        <a:rPr lang="en-GB" sz="1050" b="0" i="0" u="none" strike="noStrike" noProof="0">
                          <a:solidFill>
                            <a:srgbClr val="1B4528"/>
                          </a:solidFill>
                          <a:effectLst/>
                          <a:latin typeface="Inter"/>
                        </a:rPr>
                        <a:t>}}</a:t>
                      </a:r>
                      <a:endParaRPr lang="en-GB"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52567">
                <a:tc>
                  <a:txBody>
                    <a:bodyPr/>
                    <a:lstStyle/>
                    <a:p>
                      <a:r>
                        <a:rPr lang="en-GB" sz="1050" b="0" noProof="0">
                          <a:solidFill>
                            <a:schemeClr val="tx2"/>
                          </a:solidFill>
                          <a:latin typeface="+mn-lt"/>
                        </a:rPr>
                        <a:t xml:space="preserve">Not recorded</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not_registeret</a:t>
                      </a:r>
                      <a:r>
                        <a:rPr lang="en-GB" sz="1050" b="0" i="0" u="none" strike="noStrike" noProof="0">
                          <a:solidFill>
                            <a:srgbClr val="1B4528"/>
                          </a:solidFill>
                          <a:effectLst/>
                          <a:latin typeface="Inter"/>
                        </a:rPr>
                        <a:t>}}</a:t>
                      </a:r>
                      <a:endParaRPr lang="en-GB"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52567">
                <a:tc>
                  <a:txBody>
                    <a:bodyPr/>
                    <a:lstStyle/>
                    <a:p>
                      <a:r>
                        <a:rPr lang="en-GB" sz="1050" b="0" noProof="0">
                          <a:solidFill>
                            <a:schemeClr val="tx2"/>
                          </a:solidFill>
                          <a:latin typeface="+mn-lt"/>
                        </a:rPr>
                        <a:t xml:space="preserve">Total number of employees</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total_employees</a:t>
                      </a:r>
                      <a:r>
                        <a:rPr lang="en-GB" sz="1050" b="0" i="0" u="none" strike="noStrike" noProof="0">
                          <a:solidFill>
                            <a:srgbClr val="1B4528"/>
                          </a:solidFill>
                          <a:effectLst/>
                          <a:latin typeface="Inter"/>
                        </a:rPr>
                        <a:t>}}</a:t>
                      </a:r>
                      <a:endParaRPr lang="en-GB"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10</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a:t>
            </a:r>
            <a:r>
              <a:rPr lang="en-GB" noProof="0"/>
              <a:t>company_name</a:t>
            </a:r>
            <a:r>
              <a:rPr lang="en-GB" noProof="0"/>
              <a:t>}}</a:t>
            </a:r>
            <a:endParaRPr lang="en-GB" b="0" noProof="0"/>
          </a:p>
          <a:p>
            <a:br>
              <a:rPr lang="en-GB" noProof="0"/>
            </a:br>
            <a:endParaRPr lang="en-GB"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54796" y="913284"/>
            <a:ext cx="9791704" cy="728758"/>
          </a:xfrm>
          <a:prstGeom prst="rect">
            <a:avLst/>
          </a:prstGeom>
          <a:noFill/>
        </p:spPr>
        <p:txBody>
          <a:bodyPr wrap="square">
            <a:spAutoFit/>
          </a:bodyPr>
          <a:lstStyle/>
          <a:p>
            <a:pPr rtl="0">
              <a:buNone/>
            </a:pPr>
            <a:r>
              <a:rPr lang="en-GB" sz="1050" b="0" i="0" u="none" strike="noStrike" noProof="0">
                <a:solidFill>
                  <a:srgbClr val="25595D"/>
                </a:solidFill>
                <a:effectLst/>
                <a:latin typeface="Inter"/>
              </a:rPr>
              <a:t xml:space="preserve">The undertaking has disclosed the number of employees for the following breakdowns: type of employment contract, where employees are divided into temporary and permanent contracts; gender, which provides insight into the gender distribution among employees; and country of the employment contract, which is relevant if the undertaking operates in more than one country.</a:t>
            </a:r>
            <a:endParaRPr lang="en-GB" sz="1050" b="0" noProof="0">
              <a:effectLst/>
              <a:latin typeface="Inter"/>
            </a:endParaRPr>
          </a:p>
          <a:p>
            <a:pPr>
              <a:buNone/>
            </a:pPr>
            <a:br>
              <a:rPr lang="en-GB" sz="1050" noProof="0">
                <a:latin typeface="Inter"/>
              </a:rPr>
            </a:br>
            <a:endParaRPr lang="en-GB" sz="1050"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47022" y="3446606"/>
          <a:ext cx="9790181" cy="1010268"/>
        </p:xfrm>
        <a:graphic>
          <a:graphicData uri="http://schemas.openxmlformats.org/drawingml/2006/table">
            <a:tbl>
              <a:tblPr firstRow="1">
                <a:tableStyleId>{2A488322-F2BA-4B5B-9748-0D474271808F}</a:tableStyleId>
              </a:tblPr>
              <a:tblGrid>
                <a:gridCol w="5233603">
                  <a:extLst>
                    <a:ext uri="{9D8B030D-6E8A-4147-A177-3AD203B41FA5}">
                      <a16:colId xmlns:a16="http://schemas.microsoft.com/office/drawing/2014/main" val="2698153288"/>
                    </a:ext>
                  </a:extLst>
                </a:gridCol>
                <a:gridCol w="4556578">
                  <a:extLst>
                    <a:ext uri="{9D8B030D-6E8A-4147-A177-3AD203B41FA5}">
                      <a16:colId xmlns:a16="http://schemas.microsoft.com/office/drawing/2014/main" val="2119413191"/>
                    </a:ext>
                  </a:extLst>
                </a:gridCol>
              </a:tblGrid>
              <a:tr h="252567">
                <a:tc>
                  <a:txBody>
                    <a:bodyPr/>
                    <a:lstStyle/>
                    <a:p>
                      <a:r>
                        <a:rPr lang="en-GB" sz="1050" b="1" noProof="0">
                          <a:solidFill>
                            <a:schemeClr val="tx2"/>
                          </a:solidFill>
                        </a:rPr>
                        <a:t xml:space="preserve">Country (where the employment contract was concluded) </a:t>
                      </a:r>
                      <a:r>
                        <a:rPr lang="en-GB" sz="1050" b="0" noProof="0">
                          <a:solidFill>
                            <a:schemeClr val="tx2"/>
                          </a:solidFill>
                        </a:rPr>
                        <a:t xml:space="preserve">(para. 40c)</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n-GB" sz="1050" b="1" noProof="0">
                          <a:solidFill>
                            <a:schemeClr val="tx2"/>
                          </a:solidFill>
                        </a:rPr>
                        <a:t xml:space="preserve">Number of employees (headcount or full-time equivalents)</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52567">
                <a:tc>
                  <a:txBody>
                    <a:bodyPr/>
                    <a:lstStyle/>
                    <a:p>
                      <a:r>
                        <a:rPr lang="en-GB" sz="1050" b="0" noProof="0">
                          <a:solidFill>
                            <a:schemeClr val="tx2"/>
                          </a:solidFill>
                        </a:rPr>
                        <a:t xml:space="preserve">Denmark</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n-GB" sz="1050" b="0" i="0" u="none" strike="noStrike" noProof="0">
                          <a:solidFill>
                            <a:srgbClr val="1B4528"/>
                          </a:solidFill>
                          <a:effectLst/>
                          <a:latin typeface="Inter"/>
                        </a:rPr>
                        <a:t>{{Denmark}}</a:t>
                      </a:r>
                      <a:endParaRPr lang="en-GB"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52567">
                <a:tc>
                  <a:txBody>
                    <a:bodyPr/>
                    <a:lstStyle/>
                    <a:p>
                      <a:pPr rtl="0" fontAlgn="ctr" algn="l">
                        <a:buNone/>
                      </a:pPr>
                      <a:r>
                        <a:rPr lang="en-GB" sz="1050" b="0" i="0" u="none" strike="noStrike" noProof="0">
                          <a:solidFill>
                            <a:srgbClr val="1B4528"/>
                          </a:solidFill>
                          <a:effectLst/>
                          <a:latin typeface="Inter"/>
                        </a:rPr>
                        <a:t>{{Land_b}}</a:t>
                      </a:r>
                      <a:endParaRPr lang="en-GB"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n-GB" sz="1050" b="0" i="0" u="none" strike="noStrike" noProof="0">
                          <a:solidFill>
                            <a:srgbClr val="1B4528"/>
                          </a:solidFill>
                          <a:effectLst/>
                          <a:latin typeface="Inter"/>
                        </a:rPr>
                        <a:t>{{</a:t>
                      </a:r>
                      <a:r>
                        <a:rPr lang="en-GB" sz="1050" b="0" i="0" u="none" strike="noStrike" noProof="0">
                          <a:solidFill>
                            <a:srgbClr val="1B4528"/>
                          </a:solidFill>
                          <a:effectLst/>
                        </a:rPr>
                        <a:t>FTE_eller_antal_personer_land_b</a:t>
                      </a:r>
                      <a:r>
                        <a:rPr lang="en-GB" sz="1050" b="0" i="0" u="none" strike="noStrike" noProof="0">
                          <a:solidFill>
                            <a:srgbClr val="1B4528"/>
                          </a:solidFill>
                          <a:effectLst/>
                          <a:latin typeface="Inter"/>
                        </a:rPr>
                        <a:t>}}</a:t>
                      </a:r>
                      <a:endParaRPr lang="en-GB"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52567">
                <a:tc>
                  <a:txBody>
                    <a:bodyPr/>
                    <a:lstStyle/>
                    <a:p>
                      <a:r>
                        <a:rPr lang="en-GB" sz="1050" b="0" noProof="0">
                          <a:solidFill>
                            <a:schemeClr val="tx2"/>
                          </a:solidFill>
                        </a:rPr>
                        <a:t xml:space="preserve">Total number of employees</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1050" b="0" i="0" u="none" strike="noStrike" noProof="0">
                          <a:solidFill>
                            <a:srgbClr val="1B4528"/>
                          </a:solidFill>
                          <a:effectLst/>
                          <a:latin typeface="Inter"/>
                        </a:rPr>
                        <a:t>{{Total_out_of_countries}}</a:t>
                      </a:r>
                      <a:endParaRPr lang="en-GB"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Tree>
    <p:extLst>
      <p:ext uri="{BB962C8B-B14F-4D97-AF65-F5344CB8AC3E}">
        <p14:creationId xmlns:p14="http://schemas.microsoft.com/office/powerpoint/2010/main" val="2298971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 xml:space="preserve">Own workforce: Health and safety (B9)</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735616830"/>
              </p:ext>
            </p:extLst>
          </p:nvPr>
        </p:nvGraphicFramePr>
        <p:xfrm>
          <a:off x="445500" y="1509220"/>
          <a:ext cx="4796551" cy="994915"/>
        </p:xfrm>
        <a:graphic>
          <a:graphicData uri="http://schemas.openxmlformats.org/drawingml/2006/table">
            <a:tbl>
              <a:tblPr firstRow="1">
                <a:tableStyleId>{2A488322-F2BA-4B5B-9748-0D474271808F}</a:tableStyleId>
              </a:tblPr>
              <a:tblGrid>
                <a:gridCol w="2656189">
                  <a:extLst>
                    <a:ext uri="{9D8B030D-6E8A-4147-A177-3AD203B41FA5}">
                      <a16:colId xmlns:a16="http://schemas.microsoft.com/office/drawing/2014/main" val="2698153288"/>
                    </a:ext>
                  </a:extLst>
                </a:gridCol>
                <a:gridCol w="2140363">
                  <a:extLst>
                    <a:ext uri="{9D8B030D-6E8A-4147-A177-3AD203B41FA5}">
                      <a16:colId xmlns:a16="http://schemas.microsoft.com/office/drawing/2014/main" val="2119413191"/>
                    </a:ext>
                  </a:extLst>
                </a:gridCol>
              </a:tblGrid>
              <a:tr h="402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1" noProof="0">
                          <a:solidFill>
                            <a:schemeClr val="tx2"/>
                          </a:solidFill>
                        </a:rPr>
                        <a:t xml:space="preserve">Recordable work-related accidents </a:t>
                      </a:r>
                      <a:r>
                        <a:rPr lang="en-GB" sz="1050" b="0" noProof="0">
                          <a:solidFill>
                            <a:schemeClr val="tx2"/>
                          </a:solidFill>
                        </a:rPr>
                        <a:t xml:space="preserve">(para. 41a)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b="1" noProof="0">
                          <a:solidFill>
                            <a:schemeClr val="tx2"/>
                          </a:solidFill>
                        </a:rPr>
                        <a:t xml:space="preserve">Year</a:t>
                      </a:r>
                      <a:r>
                        <a:rPr lang="en-GB"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96345">
                <a:tc>
                  <a:txBody>
                    <a:bodyPr/>
                    <a:lstStyle/>
                    <a:p>
                      <a:r>
                        <a:rPr lang="en-GB" sz="1050" b="0" noProof="0">
                          <a:solidFill>
                            <a:schemeClr val="tx2"/>
                          </a:solidFill>
                        </a:rPr>
                        <a:t xml:space="preserve">Number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1050" b="0" i="0" u="none" strike="noStrike" kern="1200" cap="none" spc="0" normalizeH="0" baseline="0" noProof="0">
                          <a:ln>
                            <a:noFill/>
                          </a:ln>
                          <a:solidFill>
                            <a:srgbClr val="1B4528"/>
                          </a:solidFill>
                          <a:effectLst/>
                          <a:uLnTx/>
                          <a:uFillTx/>
                          <a:latin typeface="Inter"/>
                          <a:ea typeface="+mn-ea"/>
                          <a:cs typeface="+mn-cs"/>
                        </a:rPr>
                        <a:t>{{</a:t>
                      </a:r>
                      <a:r>
                        <a:rPr lang="en-GB" sz="1050" b="0" i="0" u="none" strike="noStrike" kern="1200" cap="none" spc="0" normalizeH="0" baseline="0" noProof="0">
                          <a:ln>
                            <a:noFill/>
                          </a:ln>
                          <a:solidFill>
                            <a:srgbClr val="1B4528"/>
                          </a:solidFill>
                          <a:effectLst/>
                          <a:uLnTx/>
                          <a:uFillTx/>
                          <a:latin typeface="Inter"/>
                        </a:rPr>
                        <a:t>indsat_antal_accidents</a:t>
                      </a:r>
                      <a:r>
                        <a:rPr lang="en-GB" sz="1050" b="0" i="0" u="none" strike="noStrike" kern="1200" cap="none" spc="0" normalizeH="0" baseline="0" noProof="0">
                          <a:ln>
                            <a:noFill/>
                          </a:ln>
                          <a:solidFill>
                            <a:srgbClr val="1B4528"/>
                          </a:solidFill>
                          <a:effectLst/>
                          <a:uLnTx/>
                          <a:uFillTx/>
                          <a:latin typeface="Inter"/>
                          <a:ea typeface="+mn-ea"/>
                          <a:cs typeface="+mn-cs"/>
                        </a:rPr>
                        <a:t>}}</a:t>
                      </a:r>
                      <a:endParaRPr kumimoji="0" lang="en-GB"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96345">
                <a:tc>
                  <a:txBody>
                    <a:bodyPr/>
                    <a:lstStyle/>
                    <a:p>
                      <a:r>
                        <a:rPr lang="en-GB" sz="1050" b="0" noProof="0">
                          <a:solidFill>
                            <a:schemeClr val="tx2"/>
                          </a:solidFill>
                        </a:rPr>
                        <a:t xml:space="preserve">Rate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1050" b="0" i="0" u="none" strike="noStrike" kern="1200" cap="none" spc="0" normalizeH="0" baseline="0" noProof="0">
                          <a:ln>
                            <a:noFill/>
                          </a:ln>
                          <a:solidFill>
                            <a:srgbClr val="1B4528"/>
                          </a:solidFill>
                          <a:effectLst/>
                          <a:uLnTx/>
                          <a:uFillTx/>
                          <a:latin typeface="Inter"/>
                          <a:ea typeface="+mn-ea"/>
                          <a:cs typeface="+mn-cs"/>
                        </a:rPr>
                        <a:t>{{</a:t>
                      </a:r>
                      <a:r>
                        <a:rPr lang="en-GB" sz="1050" b="0" i="0" u="none" strike="noStrike" kern="1200" cap="none" spc="0" normalizeH="0" baseline="0" noProof="0">
                          <a:ln>
                            <a:noFill/>
                          </a:ln>
                          <a:solidFill>
                            <a:srgbClr val="1B4528"/>
                          </a:solidFill>
                          <a:effectLst/>
                          <a:uLnTx/>
                          <a:uFillTx/>
                          <a:latin typeface="Inter"/>
                        </a:rPr>
                        <a:t>indsat_accidents_frequents</a:t>
                      </a:r>
                      <a:r>
                        <a:rPr lang="en-GB" sz="1050" b="0" i="0" u="none" strike="noStrike" kern="1200" cap="none" spc="0" normalizeH="0" baseline="0" noProof="0">
                          <a:ln>
                            <a:noFill/>
                          </a:ln>
                          <a:solidFill>
                            <a:srgbClr val="1B4528"/>
                          </a:solidFill>
                          <a:effectLst/>
                          <a:uLnTx/>
                          <a:uFillTx/>
                          <a:latin typeface="Inter"/>
                          <a:ea typeface="+mn-ea"/>
                          <a:cs typeface="+mn-cs"/>
                        </a:rPr>
                        <a:t>}}</a:t>
                      </a:r>
                      <a:endParaRPr kumimoji="0" lang="en-GB"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 name="Table 8">
            <a:extLst>
              <a:ext uri="{FF2B5EF4-FFF2-40B4-BE49-F238E27FC236}">
                <a16:creationId xmlns:a16="http://schemas.microsoft.com/office/drawing/2014/main" id="{F34D7173-AC05-2CA2-966F-6F3A8736B5C6}"/>
              </a:ext>
            </a:extLst>
          </p:cNvPr>
          <p:cNvGraphicFramePr>
            <a:graphicFrameLocks noGrp="1"/>
          </p:cNvGraphicFramePr>
          <p:nvPr>
            <p:extLst>
              <p:ext uri="{D42A27DB-BD31-4B8C-83A1-F6EECF244321}">
                <p14:modId xmlns:p14="http://schemas.microsoft.com/office/powerpoint/2010/main" val="3388670097"/>
              </p:ext>
            </p:extLst>
          </p:nvPr>
        </p:nvGraphicFramePr>
        <p:xfrm>
          <a:off x="5440653" y="1509221"/>
          <a:ext cx="4796551" cy="994914"/>
        </p:xfrm>
        <a:graphic>
          <a:graphicData uri="http://schemas.openxmlformats.org/drawingml/2006/table">
            <a:tbl>
              <a:tblPr firstRow="1">
                <a:tableStyleId>{2A488322-F2BA-4B5B-9748-0D474271808F}</a:tableStyleId>
              </a:tblPr>
              <a:tblGrid>
                <a:gridCol w="3313422">
                  <a:extLst>
                    <a:ext uri="{9D8B030D-6E8A-4147-A177-3AD203B41FA5}">
                      <a16:colId xmlns:a16="http://schemas.microsoft.com/office/drawing/2014/main" val="2698153288"/>
                    </a:ext>
                  </a:extLst>
                </a:gridCol>
                <a:gridCol w="1483129">
                  <a:extLst>
                    <a:ext uri="{9D8B030D-6E8A-4147-A177-3AD203B41FA5}">
                      <a16:colId xmlns:a16="http://schemas.microsoft.com/office/drawing/2014/main" val="2119413191"/>
                    </a:ext>
                  </a:extLst>
                </a:gridCol>
              </a:tblGrid>
              <a:tr h="3007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1" noProof="0">
                          <a:solidFill>
                            <a:schemeClr val="tx2"/>
                          </a:solidFill>
                        </a:rPr>
                        <a:t xml:space="preserve">Work-related fatalities </a:t>
                      </a:r>
                      <a:r>
                        <a:rPr lang="en-GB" sz="1050" b="0" noProof="0">
                          <a:solidFill>
                            <a:schemeClr val="tx2"/>
                          </a:solidFill>
                        </a:rPr>
                        <a:t xml:space="preserve">(para. 41b)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b="1" noProof="0">
                          <a:solidFill>
                            <a:schemeClr val="tx2"/>
                          </a:solidFill>
                        </a:rPr>
                        <a:t xml:space="preserve">Year</a:t>
                      </a:r>
                      <a:r>
                        <a:rPr lang="en-GB"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93412">
                <a:tc>
                  <a:txBody>
                    <a:bodyPr/>
                    <a:lstStyle/>
                    <a:p>
                      <a:r>
                        <a:rPr lang="en-GB" sz="1050" b="0" noProof="0">
                          <a:solidFill>
                            <a:schemeClr val="tx2"/>
                          </a:solidFill>
                        </a:rPr>
                        <a:t xml:space="preserve">As a result of work-related injury/accident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a:lnSpc>
                          <a:spcPct val="100000"/>
                        </a:lnSpc>
                        <a:spcBef>
                          <a:spcPts val="0"/>
                        </a:spcBef>
                        <a:spcAft>
                          <a:spcPts val="0"/>
                        </a:spcAft>
                        <a:buNone/>
                        <a:tabLst/>
                        <a:defRPr/>
                      </a:pPr>
                      <a:r>
                        <a:rPr lang="en-GB" sz="1050" b="0" i="0" u="none" strike="noStrike" kern="1200" cap="none" spc="0" normalizeH="0" baseline="0" noProof="0">
                          <a:ln>
                            <a:noFill/>
                          </a:ln>
                          <a:solidFill>
                            <a:srgbClr val="1B4528"/>
                          </a:solidFill>
                          <a:effectLst/>
                          <a:uLnTx/>
                          <a:uFillTx/>
                          <a:latin typeface="Inter"/>
                          <a:ea typeface="+mn-ea"/>
                          <a:cs typeface="+mn-cs"/>
                        </a:rPr>
                        <a:t>{{</a:t>
                      </a:r>
                      <a:r>
                        <a:rPr lang="en-GB" sz="1050" b="0" i="0" u="none" strike="noStrike" kern="1200" cap="none" spc="0" normalizeH="0" baseline="0" noProof="0">
                          <a:ln>
                            <a:noFill/>
                          </a:ln>
                          <a:solidFill>
                            <a:srgbClr val="1B4528"/>
                          </a:solidFill>
                          <a:effectLst/>
                          <a:uLnTx/>
                          <a:uFillTx/>
                          <a:latin typeface="Inter"/>
                        </a:rPr>
                        <a:t>deaths_by_accidents</a:t>
                      </a:r>
                      <a:r>
                        <a:rPr lang="en-GB" sz="1050" b="0" i="0" u="none" strike="noStrike" kern="1200" cap="none" spc="0" normalizeH="0" baseline="0" noProof="0">
                          <a:ln>
                            <a:noFill/>
                          </a:ln>
                          <a:solidFill>
                            <a:srgbClr val="1B4528"/>
                          </a:solidFill>
                          <a:effectLst/>
                          <a:uLnTx/>
                          <a:uFillTx/>
                          <a:latin typeface="Inter"/>
                          <a:ea typeface="+mn-ea"/>
                          <a:cs typeface="+mn-cs"/>
                        </a:rPr>
                        <a:t>}}</a:t>
                      </a:r>
                      <a:endParaRPr kumimoji="0" lang="en-GB"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00751">
                <a:tc>
                  <a:txBody>
                    <a:bodyPr/>
                    <a:lstStyle/>
                    <a:p>
                      <a:r>
                        <a:rPr lang="en-GB" sz="1050" b="0" noProof="0">
                          <a:solidFill>
                            <a:schemeClr val="tx2"/>
                          </a:solidFill>
                        </a:rPr>
                        <a:t xml:space="preserve">As a result of work-related ill health</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1050" b="0" i="0" u="none" strike="noStrike" kern="1200" cap="none" spc="0" normalizeH="0" baseline="0" noProof="0">
                          <a:ln>
                            <a:noFill/>
                          </a:ln>
                          <a:solidFill>
                            <a:srgbClr val="1B4528"/>
                          </a:solidFill>
                          <a:effectLst/>
                          <a:uLnTx/>
                          <a:uFillTx/>
                          <a:latin typeface="Inter"/>
                          <a:ea typeface="+mn-ea"/>
                          <a:cs typeface="+mn-cs"/>
                        </a:rPr>
                        <a:t>{{</a:t>
                      </a:r>
                      <a:r>
                        <a:rPr lang="en-GB" sz="1050" b="0" i="0" u="none" strike="noStrike" kern="1200" cap="none" spc="0" normalizeH="0" baseline="0" noProof="0">
                          <a:ln>
                            <a:noFill/>
                          </a:ln>
                          <a:solidFill>
                            <a:srgbClr val="1B4528"/>
                          </a:solidFill>
                          <a:effectLst/>
                          <a:uLnTx/>
                          <a:uFillTx/>
                          <a:latin typeface="Inter"/>
                        </a:rPr>
                        <a:t>deaths_by_health</a:t>
                      </a:r>
                      <a:r>
                        <a:rPr lang="en-GB" sz="1050" b="0" i="0" u="none" strike="noStrike" kern="1200" cap="none" spc="0" normalizeH="0" baseline="0" noProof="0">
                          <a:ln>
                            <a:noFill/>
                          </a:ln>
                          <a:solidFill>
                            <a:srgbClr val="1B4528"/>
                          </a:solidFill>
                          <a:effectLst/>
                          <a:uLnTx/>
                          <a:uFillTx/>
                          <a:latin typeface="Inter"/>
                          <a:ea typeface="+mn-ea"/>
                          <a:cs typeface="+mn-cs"/>
                        </a:rPr>
                        <a:t>}}</a:t>
                      </a:r>
                      <a:endParaRPr kumimoji="0" lang="en-GB"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11</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a:t>
            </a:r>
            <a:r>
              <a:rPr lang="en-GB" noProof="0"/>
              <a:t>company_name</a:t>
            </a:r>
            <a:r>
              <a:rPr lang="en-GB" noProof="0"/>
              <a:t>}}</a:t>
            </a:r>
            <a:endParaRPr lang="en-GB" b="0" noProof="0"/>
          </a:p>
          <a:p>
            <a:br>
              <a:rPr lang="en-GB" noProof="0"/>
            </a:br>
            <a:endParaRPr lang="en-GB" noProof="0"/>
          </a:p>
        </p:txBody>
      </p:sp>
      <p:sp>
        <p:nvSpPr>
          <p:cNvPr id="23" name="Tekstfelt 22">
            <a:extLst>
              <a:ext uri="{FF2B5EF4-FFF2-40B4-BE49-F238E27FC236}">
                <a16:creationId xmlns:a16="http://schemas.microsoft.com/office/drawing/2014/main" id="{5D01A9BD-1028-6124-EDFA-F7528B760856}"/>
              </a:ext>
            </a:extLst>
          </p:cNvPr>
          <p:cNvSpPr txBox="1"/>
          <p:nvPr/>
        </p:nvSpPr>
        <p:spPr>
          <a:xfrm>
            <a:off x="454796" y="873256"/>
            <a:ext cx="9791704" cy="728758"/>
          </a:xfrm>
          <a:prstGeom prst="rect">
            <a:avLst/>
          </a:prstGeom>
          <a:noFill/>
        </p:spPr>
        <p:txBody>
          <a:bodyPr wrap="square">
            <a:spAutoFit/>
          </a:bodyPr>
          <a:lstStyle/>
          <a:p>
            <a:pPr rtl="0">
              <a:buNone/>
            </a:pPr>
            <a:r>
              <a:rPr lang="en-GB" sz="1050" b="0" i="0" u="none" strike="noStrike" noProof="0">
                <a:solidFill>
                  <a:schemeClr val="tx2"/>
                </a:solidFill>
                <a:effectLst/>
                <a:latin typeface="Inter"/>
              </a:rPr>
              <a:t xml:space="preserve">The undertaking has disclosed information on the number of recordable work-related accidents and work-related fatalities for the following breakdowns: number and rate. In addition, whether work-related fatalities are due to work-related injuries/accidents or ill health.</a:t>
            </a:r>
            <a:endParaRPr lang="en-GB" sz="1050" b="0" noProof="0">
              <a:solidFill>
                <a:schemeClr val="tx2"/>
              </a:solidFill>
              <a:effectLst/>
              <a:latin typeface="Inter"/>
            </a:endParaRPr>
          </a:p>
          <a:p>
            <a:pPr>
              <a:buNone/>
            </a:pPr>
            <a:br>
              <a:rPr lang="en-GB" sz="1050" noProof="0">
                <a:solidFill>
                  <a:schemeClr val="tx2"/>
                </a:solidFill>
                <a:latin typeface="Inter"/>
              </a:rPr>
            </a:br>
            <a:endParaRPr lang="en-GB" sz="1050" noProof="0">
              <a:solidFill>
                <a:schemeClr val="tx2"/>
              </a:solidFill>
              <a:latin typeface="Inter"/>
            </a:endParaRPr>
          </a:p>
        </p:txBody>
      </p:sp>
      <p:sp>
        <p:nvSpPr>
          <p:cNvPr id="24" name="Title 3">
            <a:extLst>
              <a:ext uri="{FF2B5EF4-FFF2-40B4-BE49-F238E27FC236}">
                <a16:creationId xmlns:a16="http://schemas.microsoft.com/office/drawing/2014/main" id="{9671F0E7-ADFB-1E9D-A747-4277AC9D48F4}"/>
              </a:ext>
            </a:extLst>
          </p:cNvPr>
          <p:cNvSpPr txBox="1">
            <a:spLocks/>
          </p:cNvSpPr>
          <p:nvPr/>
        </p:nvSpPr>
        <p:spPr>
          <a:xfrm>
            <a:off x="454796" y="2676156"/>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en-GB" noProof="0"/>
              <a:t xml:space="preserve">Own workforce: Remuneration, collective bargaining and training (B10)</a:t>
            </a:r>
          </a:p>
        </p:txBody>
      </p:sp>
      <p:graphicFrame>
        <p:nvGraphicFramePr>
          <p:cNvPr id="26" name="Table 14">
            <a:extLst>
              <a:ext uri="{FF2B5EF4-FFF2-40B4-BE49-F238E27FC236}">
                <a16:creationId xmlns:a16="http://schemas.microsoft.com/office/drawing/2014/main" id="{B9DC9ED6-A05A-D3CE-334F-D39DB9606395}"/>
              </a:ext>
            </a:extLst>
          </p:cNvPr>
          <p:cNvGraphicFramePr>
            <a:graphicFrameLocks noGrp="1"/>
          </p:cNvGraphicFramePr>
          <p:nvPr>
            <p:extLst>
              <p:ext uri="{D42A27DB-BD31-4B8C-83A1-F6EECF244321}">
                <p14:modId xmlns:p14="http://schemas.microsoft.com/office/powerpoint/2010/main" val="2949925802"/>
              </p:ext>
            </p:extLst>
          </p:nvPr>
        </p:nvGraphicFramePr>
        <p:xfrm>
          <a:off x="5449949" y="3922747"/>
          <a:ext cx="4796550" cy="767803"/>
        </p:xfrm>
        <a:graphic>
          <a:graphicData uri="http://schemas.openxmlformats.org/drawingml/2006/table">
            <a:tbl>
              <a:tblPr firstRow="1">
                <a:tableStyleId>{2A488322-F2BA-4B5B-9748-0D474271808F}</a:tableStyleId>
              </a:tblPr>
              <a:tblGrid>
                <a:gridCol w="3337539">
                  <a:extLst>
                    <a:ext uri="{9D8B030D-6E8A-4147-A177-3AD203B41FA5}">
                      <a16:colId xmlns:a16="http://schemas.microsoft.com/office/drawing/2014/main" val="2698153288"/>
                    </a:ext>
                  </a:extLst>
                </a:gridCol>
                <a:gridCol w="1459012">
                  <a:extLst>
                    <a:ext uri="{9D8B030D-6E8A-4147-A177-3AD203B41FA5}">
                      <a16:colId xmlns:a16="http://schemas.microsoft.com/office/drawing/2014/main" val="2119413191"/>
                    </a:ext>
                  </a:extLst>
                </a:gridCol>
              </a:tblGrid>
              <a:tr h="293941">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1" noProof="0">
                          <a:solidFill>
                            <a:schemeClr val="tx2"/>
                          </a:solidFill>
                        </a:rPr>
                        <a:t xml:space="preserve">Pay gap between male and female employees </a:t>
                      </a:r>
                      <a:r>
                        <a:rPr lang="en-GB" sz="1050" b="0" noProof="0">
                          <a:solidFill>
                            <a:schemeClr val="tx2"/>
                          </a:solidFill>
                        </a:rPr>
                        <a:t xml:space="preserve">(para. 42b)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b="1" noProof="0">
                          <a:solidFill>
                            <a:schemeClr val="tx2"/>
                          </a:solidFill>
                        </a:rPr>
                        <a:t xml:space="preserve">Year</a:t>
                      </a:r>
                      <a:r>
                        <a:rPr lang="en-GB" sz="1050" b="1" noProof="0">
                          <a:solidFill>
                            <a:srgbClr val="1B4528"/>
                          </a:solidFill>
                          <a:latin typeface="Calibri" panose="020F0502020204030204" pitchFamily="34" charset="0"/>
                          <a:cs typeface="Calibri" panose="020F0502020204030204" pitchFamily="34" charset="0"/>
                        </a:rPr>
                        <a:t> </a:t>
                      </a:r>
                      <a:r>
                        <a:rPr lang="en-GB" sz="1050" b="1" noProof="0">
                          <a:solidFill>
                            <a:srgbClr val="1B4528"/>
                          </a:solidFill>
                        </a:rPr>
                        <a:t>{{</a:t>
                      </a:r>
                      <a:r>
                        <a:rPr lang="en-GB" sz="1050" b="1" noProof="0">
                          <a:solidFill>
                            <a:srgbClr val="1B4528"/>
                          </a:solidFill>
                        </a:rPr>
                        <a:t>insert_year</a:t>
                      </a:r>
                      <a:r>
                        <a:rPr lang="en-GB"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73862">
                <a:tc v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en-GB" sz="1050" b="0" noProof="0">
                          <a:solidFill>
                            <a:srgbClr val="1B4528"/>
                          </a:solidFill>
                        </a:rPr>
                        <a:t>{{</a:t>
                      </a:r>
                      <a:r>
                        <a:rPr lang="en-GB" sz="1050" b="0" noProof="0">
                          <a:solidFill>
                            <a:srgbClr val="1B4528"/>
                          </a:solidFill>
                        </a:rPr>
                        <a:t>indsat_procentvise_lonforskel</a:t>
                      </a:r>
                      <a:r>
                        <a:rPr lang="en-GB" sz="1050" b="0" noProof="0">
                          <a:solidFill>
                            <a:srgbClr val="1B4528"/>
                          </a:solidFill>
                        </a:rPr>
                        <a:t>}}</a:t>
                      </a:r>
                    </a:p>
                  </a:txBody>
                  <a:tcPr marL="31571" marR="31571"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27" name="Tabel 26">
            <a:extLst>
              <a:ext uri="{FF2B5EF4-FFF2-40B4-BE49-F238E27FC236}">
                <a16:creationId xmlns:a16="http://schemas.microsoft.com/office/drawing/2014/main" id="{6746C932-5E3F-E60C-3154-F9D424D47444}"/>
              </a:ext>
            </a:extLst>
          </p:cNvPr>
          <p:cNvGraphicFramePr>
            <a:graphicFrameLocks noGrp="1"/>
          </p:cNvGraphicFramePr>
          <p:nvPr>
            <p:extLst>
              <p:ext uri="{D42A27DB-BD31-4B8C-83A1-F6EECF244321}">
                <p14:modId xmlns:p14="http://schemas.microsoft.com/office/powerpoint/2010/main" val="1071495807"/>
              </p:ext>
            </p:extLst>
          </p:nvPr>
        </p:nvGraphicFramePr>
        <p:xfrm>
          <a:off x="445496" y="3922749"/>
          <a:ext cx="4800267" cy="758742"/>
        </p:xfrm>
        <a:graphic>
          <a:graphicData uri="http://schemas.openxmlformats.org/drawingml/2006/table">
            <a:tbl>
              <a:tblPr firstRow="1">
                <a:tableStyleId>{2A488322-F2BA-4B5B-9748-0D474271808F}</a:tableStyleId>
              </a:tblPr>
              <a:tblGrid>
                <a:gridCol w="2633550">
                  <a:extLst>
                    <a:ext uri="{9D8B030D-6E8A-4147-A177-3AD203B41FA5}">
                      <a16:colId xmlns:a16="http://schemas.microsoft.com/office/drawing/2014/main" val="160727125"/>
                    </a:ext>
                  </a:extLst>
                </a:gridCol>
                <a:gridCol w="1111137">
                  <a:extLst>
                    <a:ext uri="{9D8B030D-6E8A-4147-A177-3AD203B41FA5}">
                      <a16:colId xmlns:a16="http://schemas.microsoft.com/office/drawing/2014/main" val="1767985329"/>
                    </a:ext>
                  </a:extLst>
                </a:gridCol>
                <a:gridCol w="1055580">
                  <a:extLst>
                    <a:ext uri="{9D8B030D-6E8A-4147-A177-3AD203B41FA5}">
                      <a16:colId xmlns:a16="http://schemas.microsoft.com/office/drawing/2014/main" val="1397164534"/>
                    </a:ext>
                  </a:extLst>
                </a:gridCol>
              </a:tblGrid>
              <a:tr h="219395">
                <a:tc>
                  <a:txBody>
                    <a:bodyPr/>
                    <a:lstStyle/>
                    <a:p>
                      <a:r>
                        <a:rPr lang="en-GB" sz="1050" b="1" noProof="0">
                          <a:solidFill>
                            <a:schemeClr val="tx2"/>
                          </a:solidFill>
                        </a:rPr>
                        <a:t xml:space="preserve">Information on minimum wage </a:t>
                      </a:r>
                      <a:r>
                        <a:rPr lang="en-GB" sz="1050" b="0" noProof="0">
                          <a:solidFill>
                            <a:schemeClr val="tx2"/>
                          </a:solidFill>
                        </a:rPr>
                        <a:t>(42a)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1050" b="1" noProof="0">
                          <a:solidFill>
                            <a:schemeClr val="tx2"/>
                          </a:solidFill>
                        </a:rPr>
                        <a:t xml:space="preserve">Yes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1050" b="1" noProof="0">
                          <a:solidFill>
                            <a:schemeClr val="tx2"/>
                          </a:solidFill>
                        </a:rPr>
                        <a:t xml:space="preserve">No</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539347">
                <a:tc>
                  <a:txBody>
                    <a:bodyPr/>
                    <a:lstStyle/>
                    <a:p>
                      <a:r>
                        <a:rPr lang="en-GB" sz="1050" b="0" noProof="0">
                          <a:solidFill>
                            <a:schemeClr val="tx2"/>
                          </a:solidFill>
                        </a:rPr>
                        <a:t xml:space="preserve">In the undertaking, all employees receive pay that is at least equal to the minimum wage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minumum_wage_yes</a:t>
                      </a:r>
                      <a:r>
                        <a:rPr lang="en-GB" sz="1050" b="0" i="0" u="none" strike="noStrike" noProof="0">
                          <a:solidFill>
                            <a:srgbClr val="1B4528"/>
                          </a:solidFill>
                          <a:effectLst/>
                          <a:latin typeface="Inter"/>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minimum_wage_no</a:t>
                      </a:r>
                      <a:r>
                        <a:rPr lang="en-GB" sz="1050" b="0" i="0" u="none" strike="noStrike" noProof="0">
                          <a:solidFill>
                            <a:srgbClr val="1B4528"/>
                          </a:solidFill>
                          <a:effectLst/>
                          <a:latin typeface="Inter"/>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29" name="Table 16">
            <a:extLst>
              <a:ext uri="{FF2B5EF4-FFF2-40B4-BE49-F238E27FC236}">
                <a16:creationId xmlns:a16="http://schemas.microsoft.com/office/drawing/2014/main" id="{9493B198-6182-0768-EF14-0EF37F9E9F4F}"/>
              </a:ext>
            </a:extLst>
          </p:cNvPr>
          <p:cNvGraphicFramePr>
            <a:graphicFrameLocks noGrp="1"/>
          </p:cNvGraphicFramePr>
          <p:nvPr>
            <p:extLst>
              <p:ext uri="{D42A27DB-BD31-4B8C-83A1-F6EECF244321}">
                <p14:modId xmlns:p14="http://schemas.microsoft.com/office/powerpoint/2010/main" val="654789346"/>
              </p:ext>
            </p:extLst>
          </p:nvPr>
        </p:nvGraphicFramePr>
        <p:xfrm>
          <a:off x="445498" y="4815858"/>
          <a:ext cx="4796552" cy="917804"/>
        </p:xfrm>
        <a:graphic>
          <a:graphicData uri="http://schemas.openxmlformats.org/drawingml/2006/table">
            <a:tbl>
              <a:tblPr firstRow="1">
                <a:tableStyleId>{2A488322-F2BA-4B5B-9748-0D474271808F}</a:tableStyleId>
              </a:tblPr>
              <a:tblGrid>
                <a:gridCol w="2650727">
                  <a:extLst>
                    <a:ext uri="{9D8B030D-6E8A-4147-A177-3AD203B41FA5}">
                      <a16:colId xmlns:a16="http://schemas.microsoft.com/office/drawing/2014/main" val="81046444"/>
                    </a:ext>
                  </a:extLst>
                </a:gridCol>
                <a:gridCol w="2145825">
                  <a:extLst>
                    <a:ext uri="{9D8B030D-6E8A-4147-A177-3AD203B41FA5}">
                      <a16:colId xmlns:a16="http://schemas.microsoft.com/office/drawing/2014/main" val="2119413191"/>
                    </a:ext>
                  </a:extLst>
                </a:gridCol>
              </a:tblGrid>
              <a:tr h="4780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1" noProof="0">
                          <a:solidFill>
                            <a:schemeClr val="tx2"/>
                          </a:solidFill>
                        </a:rPr>
                        <a:t xml:space="preserve">Collective bargaining agreement </a:t>
                      </a:r>
                      <a:r>
                        <a:rPr lang="en-GB" sz="1050" b="0" noProof="0">
                          <a:solidFill>
                            <a:schemeClr val="tx2"/>
                          </a:solidFill>
                        </a:rPr>
                        <a:t xml:space="preserve">(para. 42c)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b="1" noProof="0">
                          <a:solidFill>
                            <a:schemeClr val="tx2"/>
                          </a:solidFill>
                        </a:rPr>
                        <a:t xml:space="preserve">Year</a:t>
                      </a:r>
                      <a:r>
                        <a:rPr lang="en-GB" sz="1050" b="1" noProof="0">
                          <a:solidFill>
                            <a:srgbClr val="1B4528"/>
                          </a:solidFill>
                          <a:latin typeface="Calibri" panose="020F0502020204030204" pitchFamily="34" charset="0"/>
                          <a:cs typeface="Calibri" panose="020F0502020204030204" pitchFamily="34" charset="0"/>
                        </a:rPr>
                        <a:t> {{</a:t>
                      </a:r>
                      <a:r>
                        <a:rPr lang="en-GB" sz="1050" b="1" noProof="0">
                          <a:solidFill>
                            <a:srgbClr val="1B4528"/>
                          </a:solidFill>
                          <a:latin typeface="Calibri" panose="020F0502020204030204" pitchFamily="34" charset="0"/>
                          <a:cs typeface="Calibri" panose="020F0502020204030204" pitchFamily="34" charset="0"/>
                        </a:rPr>
                        <a:t>insert_year</a:t>
                      </a:r>
                      <a:r>
                        <a:rPr lang="en-GB" sz="1050" b="1" noProof="0">
                          <a:solidFill>
                            <a:srgbClr val="1B4528"/>
                          </a:solidFill>
                          <a:latin typeface="Calibri" panose="020F0502020204030204" pitchFamily="34" charset="0"/>
                          <a:cs typeface="Calibri" panose="020F0502020204030204" pitchFamily="34" charset="0"/>
                        </a:rPr>
                        <a:t>}}</a:t>
                      </a:r>
                      <a:endParaRPr lang="en-GB" sz="1050" b="1"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397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0" noProof="0">
                          <a:solidFill>
                            <a:schemeClr val="tx2"/>
                          </a:solidFill>
                        </a:rPr>
                        <a:t xml:space="preserve">Percentage of employees covered by a collective bargaining agreement</a:t>
                      </a:r>
                      <a:endParaRPr kumimoji="0" lang="en-GB" sz="1050" b="0" i="0" u="none" strike="noStrike" kern="1200" cap="none" spc="0" normalizeH="0" baseline="0" noProof="0">
                        <a:ln>
                          <a:noFill/>
                        </a:ln>
                        <a:solidFill>
                          <a:srgbClr val="1B4528"/>
                        </a:solidFill>
                        <a:effectLst/>
                        <a:uLnTx/>
                        <a:uFillTx/>
                        <a:latin typeface="IBM Plex Sans"/>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1B4528"/>
                          </a:solidFill>
                          <a:effectLst/>
                          <a:uLnTx/>
                          <a:uFillTx/>
                          <a:latin typeface="+mn-lt"/>
                          <a:ea typeface="+mn-ea"/>
                          <a:cs typeface="+mn-cs"/>
                        </a:rPr>
                        <a:t>{{</a:t>
                      </a:r>
                      <a:r>
                        <a:rPr kumimoji="0" lang="en-GB" sz="1050" b="0" i="0" u="none" strike="noStrike" kern="1200" cap="none" spc="0" normalizeH="0" baseline="0" noProof="0">
                          <a:ln>
                            <a:noFill/>
                          </a:ln>
                          <a:solidFill>
                            <a:srgbClr val="1B4528"/>
                          </a:solidFill>
                          <a:effectLst/>
                          <a:uLnTx/>
                          <a:uFillTx/>
                          <a:latin typeface="+mn-lt"/>
                          <a:ea typeface="+mn-ea"/>
                          <a:cs typeface="+mn-cs"/>
                        </a:rPr>
                        <a:t>indsat_procentvis_ansatte</a:t>
                      </a:r>
                      <a:r>
                        <a:rPr kumimoji="0" lang="en-GB" sz="1050" b="0" i="0" u="none" strike="noStrike" kern="1200" cap="none" spc="0" normalizeH="0" baseline="0" noProof="0">
                          <a:ln>
                            <a:noFill/>
                          </a:ln>
                          <a:solidFill>
                            <a:srgbClr val="1B4528"/>
                          </a:solidFill>
                          <a:effectLst/>
                          <a:uLnTx/>
                          <a:uFillTx/>
                          <a:latin typeface="+mn-lt"/>
                          <a:ea typeface="+mn-ea"/>
                          <a:cs typeface="+mn-cs"/>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31" name="Table 19">
            <a:extLst>
              <a:ext uri="{FF2B5EF4-FFF2-40B4-BE49-F238E27FC236}">
                <a16:creationId xmlns:a16="http://schemas.microsoft.com/office/drawing/2014/main" id="{12B3A72C-4031-E6CE-E541-98C8068B1C36}"/>
              </a:ext>
            </a:extLst>
          </p:cNvPr>
          <p:cNvGraphicFramePr>
            <a:graphicFrameLocks noGrp="1"/>
          </p:cNvGraphicFramePr>
          <p:nvPr>
            <p:extLst>
              <p:ext uri="{D42A27DB-BD31-4B8C-83A1-F6EECF244321}">
                <p14:modId xmlns:p14="http://schemas.microsoft.com/office/powerpoint/2010/main" val="469699691"/>
              </p:ext>
            </p:extLst>
          </p:nvPr>
        </p:nvGraphicFramePr>
        <p:xfrm>
          <a:off x="5448102" y="4806633"/>
          <a:ext cx="4796550" cy="927029"/>
        </p:xfrm>
        <a:graphic>
          <a:graphicData uri="http://schemas.openxmlformats.org/drawingml/2006/table">
            <a:tbl>
              <a:tblPr firstRow="1">
                <a:tableStyleId>{2A488322-F2BA-4B5B-9748-0D474271808F}</a:tableStyleId>
              </a:tblPr>
              <a:tblGrid>
                <a:gridCol w="3339386">
                  <a:extLst>
                    <a:ext uri="{9D8B030D-6E8A-4147-A177-3AD203B41FA5}">
                      <a16:colId xmlns:a16="http://schemas.microsoft.com/office/drawing/2014/main" val="2698153288"/>
                    </a:ext>
                  </a:extLst>
                </a:gridCol>
                <a:gridCol w="1457165">
                  <a:extLst>
                    <a:ext uri="{9D8B030D-6E8A-4147-A177-3AD203B41FA5}">
                      <a16:colId xmlns:a16="http://schemas.microsoft.com/office/drawing/2014/main" val="2119413191"/>
                    </a:ext>
                  </a:extLst>
                </a:gridCol>
              </a:tblGrid>
              <a:tr h="468085">
                <a:tc>
                  <a:txBody>
                    <a:bodyPr/>
                    <a:lstStyle/>
                    <a:p>
                      <a:r>
                        <a:rPr lang="en-GB" sz="1050" b="1" noProof="0">
                          <a:solidFill>
                            <a:schemeClr val="tx2"/>
                          </a:solidFill>
                        </a:rPr>
                        <a:t xml:space="preserve">Average training hours per employee </a:t>
                      </a:r>
                      <a:r>
                        <a:rPr lang="en-GB" sz="1050" b="0" noProof="0">
                          <a:solidFill>
                            <a:schemeClr val="tx2"/>
                          </a:solidFill>
                        </a:rPr>
                        <a:t xml:space="preserve">(para. 42d)</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b="1" noProof="0">
                          <a:solidFill>
                            <a:schemeClr val="tx2"/>
                          </a:solidFill>
                        </a:rPr>
                        <a:t xml:space="preserve">Year</a:t>
                      </a:r>
                      <a:r>
                        <a:rPr lang="en-GB"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58944">
                <a:tc>
                  <a:txBody>
                    <a:bodyPr/>
                    <a:lstStyle/>
                    <a:p>
                      <a:r>
                        <a:rPr lang="en-GB" sz="1050" b="0" noProof="0">
                          <a:solidFill>
                            <a:schemeClr val="tx2"/>
                          </a:solidFill>
                        </a:rPr>
                        <a:t xml:space="preserve">Hour(s) per employee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1050" b="0" i="0" u="none" strike="noStrike" noProof="0">
                          <a:solidFill>
                            <a:srgbClr val="1B4528"/>
                          </a:solidFill>
                          <a:effectLst/>
                          <a:latin typeface="Inter"/>
                        </a:rPr>
                        <a:t>{{gennemsnitstimer}}</a:t>
                      </a:r>
                      <a:endParaRPr lang="en-GB" sz="1050" b="0" noProof="0">
                        <a:effectLst/>
                      </a:endParaRPr>
                    </a:p>
                  </a:txBody>
                  <a:tcPr marL="16706" marR="16706"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32" name="Tekstfelt 31">
            <a:extLst>
              <a:ext uri="{FF2B5EF4-FFF2-40B4-BE49-F238E27FC236}">
                <a16:creationId xmlns:a16="http://schemas.microsoft.com/office/drawing/2014/main" id="{067FE542-2FEF-EE03-D854-E2D5CB1E1DB8}"/>
              </a:ext>
            </a:extLst>
          </p:cNvPr>
          <p:cNvSpPr txBox="1"/>
          <p:nvPr/>
        </p:nvSpPr>
        <p:spPr>
          <a:xfrm>
            <a:off x="465933" y="3022746"/>
            <a:ext cx="9791704" cy="890704"/>
          </a:xfrm>
          <a:prstGeom prst="rect">
            <a:avLst/>
          </a:prstGeom>
          <a:noFill/>
        </p:spPr>
        <p:txBody>
          <a:bodyPr wrap="square">
            <a:spAutoFit/>
          </a:bodyPr>
          <a:lstStyle/>
          <a:p>
            <a:pPr rtl="0">
              <a:buNone/>
            </a:pPr>
            <a:r>
              <a:rPr lang="en-GB" sz="1050" b="0" i="0" u="none" strike="noStrike" noProof="0">
                <a:solidFill>
                  <a:schemeClr val="tx2"/>
                </a:solidFill>
                <a:effectLst/>
                <a:latin typeface="Inter"/>
              </a:rPr>
              <a:t xml:space="preserve">The undertaking has disclosed information on the minimum wage and has stated the percentage of employees covered by collective bargaining agreements and the average number of annual training hours per employee, broken down by gender. If the undertaking is already required under EU legislation 8 or other national provisions to report the percentage pay gap between its female and male employees, it shall disclose this.</a:t>
            </a:r>
          </a:p>
          <a:p>
            <a:pPr>
              <a:buNone/>
            </a:pPr>
            <a:br>
              <a:rPr lang="en-GB" sz="1050" noProof="0">
                <a:solidFill>
                  <a:schemeClr val="tx2"/>
                </a:solidFill>
                <a:latin typeface="Inter"/>
              </a:rPr>
            </a:br>
            <a:endParaRPr lang="en-GB" sz="1050" noProof="0">
              <a:solidFill>
                <a:schemeClr val="tx2"/>
              </a:solidFill>
              <a:latin typeface="Inter"/>
            </a:endParaRPr>
          </a:p>
        </p:txBody>
      </p:sp>
    </p:spTree>
    <p:extLst>
      <p:ext uri="{BB962C8B-B14F-4D97-AF65-F5344CB8AC3E}">
        <p14:creationId xmlns:p14="http://schemas.microsoft.com/office/powerpoint/2010/main" val="1034862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 xml:space="preserve">Business conduct: Number of convictions and fines related to corruption &amp; bribery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45498" y="1706309"/>
          <a:ext cx="9791704" cy="536705"/>
        </p:xfrm>
        <a:graphic>
          <a:graphicData uri="http://schemas.openxmlformats.org/drawingml/2006/table">
            <a:tbl>
              <a:tblPr firstRow="1">
                <a:tableStyleId>{2A488322-F2BA-4B5B-9748-0D474271808F}</a:tableStyleId>
              </a:tblPr>
              <a:tblGrid>
                <a:gridCol w="3263901">
                  <a:extLst>
                    <a:ext uri="{9D8B030D-6E8A-4147-A177-3AD203B41FA5}">
                      <a16:colId xmlns:a16="http://schemas.microsoft.com/office/drawing/2014/main" val="2698153288"/>
                    </a:ext>
                  </a:extLst>
                </a:gridCol>
                <a:gridCol w="3263901">
                  <a:extLst>
                    <a:ext uri="{9D8B030D-6E8A-4147-A177-3AD203B41FA5}">
                      <a16:colId xmlns:a16="http://schemas.microsoft.com/office/drawing/2014/main" val="2119413191"/>
                    </a:ext>
                  </a:extLst>
                </a:gridCol>
                <a:gridCol w="3263901">
                  <a:extLst>
                    <a:ext uri="{9D8B030D-6E8A-4147-A177-3AD203B41FA5}">
                      <a16:colId xmlns:a16="http://schemas.microsoft.com/office/drawing/2014/main" val="1502960985"/>
                    </a:ext>
                  </a:extLst>
                </a:gridCol>
              </a:tblGrid>
              <a:tr h="268352">
                <a:tc rowSpan="2">
                  <a:txBody>
                    <a:bodyPr/>
                    <a:lstStyle/>
                    <a:p>
                      <a:r>
                        <a:rPr lang="en-GB" sz="1050" b="1" noProof="0">
                          <a:solidFill>
                            <a:schemeClr val="tx2"/>
                          </a:solidFill>
                        </a:rPr>
                        <a:t xml:space="preserve">Corruption and bribery </a:t>
                      </a:r>
                      <a:r>
                        <a:rPr lang="en-GB" sz="1050" b="0" noProof="0">
                          <a:solidFill>
                            <a:schemeClr val="tx2"/>
                          </a:solidFill>
                        </a:rPr>
                        <a:t xml:space="preserve">(para. 43)</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en-GB" sz="1050" b="1" noProof="0">
                          <a:solidFill>
                            <a:schemeClr val="tx2"/>
                          </a:solidFill>
                        </a:rPr>
                        <a:t xml:space="preserve">Number of convictions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1050" b="1" noProof="0">
                          <a:solidFill>
                            <a:schemeClr val="tx2"/>
                          </a:solidFill>
                        </a:rPr>
                        <a:t xml:space="preserve">Total amount of fines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68352">
                <a:tc vMerge="1">
                  <a:txBody>
                    <a:bodyPr/>
                    <a:lstStyle/>
                    <a:p>
                      <a:endParaRPr lang="en-GB" sz="775" b="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n-GB" sz="1050" b="0" i="0" u="none" strike="noStrike" noProof="0">
                          <a:solidFill>
                            <a:srgbClr val="1B4528"/>
                          </a:solidFill>
                          <a:effectLst/>
                          <a:latin typeface="Inter"/>
                        </a:rPr>
                        <a:t>{{domme}}</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n-GB" sz="1050" b="0" i="0" u="none" strike="noStrike" noProof="0">
                          <a:solidFill>
                            <a:srgbClr val="1B4528"/>
                          </a:solidFill>
                          <a:effectLst/>
                          <a:latin typeface="Inter"/>
                        </a:rPr>
                        <a:t>{{</a:t>
                      </a:r>
                      <a:r>
                        <a:rPr lang="en-GB" sz="1050" b="0" i="0" u="none" strike="noStrike" noProof="0">
                          <a:solidFill>
                            <a:srgbClr val="1B4528"/>
                          </a:solidFill>
                          <a:effectLst/>
                          <a:latin typeface="Inter"/>
                        </a:rPr>
                        <a:t>samlet_bodestorrelse</a:t>
                      </a:r>
                      <a:r>
                        <a:rPr lang="en-GB" sz="1050" b="0" i="0" u="none" strike="noStrike" noProof="0">
                          <a:solidFill>
                            <a:srgbClr val="1B4528"/>
                          </a:solidFill>
                          <a:effectLst/>
                          <a:latin typeface="Inter"/>
                        </a:rPr>
                        <a:t>}}</a:t>
                      </a:r>
                      <a:endParaRPr lang="en-GB"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12</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a:t>
            </a:r>
            <a:r>
              <a:rPr lang="en-GB" noProof="0"/>
              <a:t>company_name</a:t>
            </a:r>
            <a:r>
              <a:rPr lang="en-GB" noProof="0"/>
              <a:t>}}</a:t>
            </a:r>
            <a:endParaRPr lang="en-GB" b="0" noProof="0"/>
          </a:p>
          <a:p>
            <a:endParaRPr lang="en-GB"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54796" y="891000"/>
            <a:ext cx="9869667" cy="890704"/>
          </a:xfrm>
          <a:prstGeom prst="rect">
            <a:avLst/>
          </a:prstGeom>
          <a:noFill/>
        </p:spPr>
        <p:txBody>
          <a:bodyPr wrap="square">
            <a:spAutoFit/>
          </a:bodyPr>
          <a:lstStyle/>
          <a:p>
            <a:pPr rtl="0">
              <a:buNone/>
            </a:pPr>
            <a:r>
              <a:rPr lang="en-GB" sz="1050" b="0" i="0" u="none" strike="noStrike" noProof="0">
                <a:solidFill>
                  <a:schemeClr val="tx2"/>
                </a:solidFill>
                <a:effectLst/>
                <a:latin typeface="Inter"/>
              </a:rPr>
              <a:t xml:space="preserve">The undertaking has stated violations of anti-corruption and anti-bribery laws in the reporting period. If the undertaking has been involved in convictions or fines for violations of these laws, the following information has been disclosed: the number of convictions and the total amount of fines incurred as a result of the violations. This information concerns the undertaking’s business ethics and sustainability, in particular as regards addressing corruption and bribery, and is set out below.</a:t>
            </a:r>
            <a:r>
              <a:rPr lang="en-GB" sz="1050" b="0" i="0" u="none" strike="noStrike" noProof="0">
                <a:solidFill>
                  <a:schemeClr val="tx2"/>
                </a:solidFill>
                <a:effectLst/>
                <a:latin typeface="Inter"/>
              </a:rPr>
              <a:t xml:space="preserve"/>
            </a:r>
            <a:r>
              <a:rPr lang="en-GB" sz="1050" b="0" i="0" u="none" strike="noStrike" noProof="0">
                <a:solidFill>
                  <a:schemeClr val="tx2"/>
                </a:solidFill>
                <a:effectLst/>
                <a:latin typeface="Inter"/>
              </a:rPr>
              <a:t xml:space="preserve"/>
            </a:r>
            <a:endParaRPr lang="en-GB" sz="1050" b="0" noProof="0">
              <a:solidFill>
                <a:schemeClr val="tx2"/>
              </a:solidFill>
              <a:effectLst/>
              <a:latin typeface="Inter"/>
            </a:endParaRPr>
          </a:p>
          <a:p>
            <a:pPr>
              <a:buNone/>
            </a:pPr>
            <a:br>
              <a:rPr lang="en-GB" sz="1050" noProof="0">
                <a:solidFill>
                  <a:schemeClr val="tx2"/>
                </a:solidFill>
                <a:latin typeface="Inter"/>
              </a:rPr>
            </a:br>
            <a:endParaRPr lang="en-GB" sz="1050"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3860535" y="3900259"/>
            <a:ext cx="3025224" cy="907065"/>
          </a:xfrm>
          <a:noFill/>
        </p:spPr>
        <p:txBody>
          <a:bodyPr>
            <a:normAutofit/>
          </a:bodyPr>
          <a:lstStyle/>
          <a:p>
            <a:pPr algn="ctr"/>
            <a:r>
              <a:rPr lang="en-GB" sz="1575" b="1" noProof="0">
                <a:solidFill>
                  <a:srgbClr val="FFFFFF"/>
                </a:solidFill>
                <a:latin typeface="IBM Plex Sans" panose="020B0503050203000203" pitchFamily="34" charset="0"/>
              </a:rPr>
              <a:t>{{</a:t>
            </a:r>
            <a:r>
              <a:rPr lang="en-GB" sz="1575" b="1" noProof="0">
                <a:solidFill>
                  <a:srgbClr val="FFFFFF"/>
                </a:solidFill>
                <a:latin typeface="IBM Plex Sans" panose="020B0503050203000203" pitchFamily="34" charset="0"/>
              </a:rPr>
              <a:t>company_name</a:t>
            </a:r>
            <a:r>
              <a:rPr lang="en-GB" sz="1575" b="1" noProof="0">
                <a:solidFill>
                  <a:srgbClr val="FFFFFF"/>
                </a:solidFill>
                <a:latin typeface="IBM Plex Sans" panose="020B0503050203000203" pitchFamily="34" charset="0"/>
              </a:rPr>
              <a:t>}}</a:t>
            </a:r>
          </a:p>
          <a:p>
            <a:pPr algn="ctr"/>
            <a:r>
              <a:rPr lang="en-GB" sz="1575" b="1" noProof="0">
                <a:solidFill>
                  <a:srgbClr val="FFFFFF"/>
                </a:solidFill>
                <a:latin typeface="IBM Plex Sans" panose="020B0503050203000203" pitchFamily="34" charset="0"/>
              </a:rPr>
              <a:t>{{</a:t>
            </a:r>
            <a:r>
              <a:rPr lang="en-GB" sz="1575" b="1" noProof="0">
                <a:solidFill>
                  <a:srgbClr val="FFFFFF"/>
                </a:solidFill>
                <a:latin typeface="IBM Plex Sans" panose="020B0503050203000203" pitchFamily="34" charset="0"/>
              </a:rPr>
              <a:t>insert_year</a:t>
            </a:r>
            <a:r>
              <a:rPr lang="en-GB" sz="1575" b="1" noProof="0">
                <a:solidFill>
                  <a:srgbClr val="FFFFFF"/>
                </a:solidFill>
                <a:latin typeface="IBM Plex Sans" panose="020B0503050203000203" pitchFamily="34" charset="0"/>
              </a:rPr>
              <a:t>}}</a:t>
            </a:r>
            <a:br>
              <a:rPr lang="en-GB" sz="1575" b="1" noProof="0">
                <a:solidFill>
                  <a:srgbClr val="FFFFFF"/>
                </a:solidFill>
                <a:latin typeface="IBM Plex Sans" panose="020B0503050203000203" pitchFamily="34" charset="0"/>
              </a:rPr>
            </a:br>
            <a:endParaRPr lang="en-GB" sz="15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8050571" y="7202406"/>
            <a:ext cx="2405700" cy="134955"/>
          </a:xfrm>
        </p:spPr>
        <p:txBody>
          <a:bodyPr/>
          <a:lstStyle/>
          <a:p>
            <a:fld id="{5A0D23CF-C5A3-5445-819D-C647D180BB4B}" type="slidenum">
              <a:rPr lang="en-GB" noProof="0" smtClean="0"/>
              <a:pPr/>
              <a:t>25</a:t>
            </a:fld>
            <a:endParaRPr lang="en-GB"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25</Slides>
  <Notes>21</Notes>
  <HiddenSlides>0</HiddenSlides>
  <ScaleCrop>false</ScaleCrop>
  <HeadingPairs>
    <vt:vector size="4" baseType="variant">
      <vt:variant>
        <vt:lpstr>Tema</vt:lpstr>
      </vt:variant>
      <vt:variant>
        <vt:i4>1</vt:i4>
      </vt:variant>
      <vt:variant>
        <vt:lpstr>Slidetitler</vt:lpstr>
      </vt:variant>
      <vt:variant>
        <vt:i4>25</vt:i4>
      </vt:variant>
    </vt:vector>
  </HeadingPairs>
  <TitlesOfParts>
    <vt:vector size="26" baseType="lpstr">
      <vt:lpstr>Tema ESG skabelon 2023</vt:lpstr>
      <vt:lpstr>OPGØRELSE {{insert_year}}</vt:lpstr>
      <vt:lpstr>ESG opgørelse  </vt:lpstr>
      <vt:lpstr>Grundlag for udarbejdelse (B1) </vt:lpstr>
      <vt:lpstr>Grundlag for udarbejdelse (B1) - fortsat</vt:lpstr>
      <vt:lpstr>Indsatser, politikker og fremtidige initiativer for omstilling til en mere bæredygtig økonomi (B2)</vt:lpstr>
      <vt:lpstr>Energiforbrug (B3)</vt:lpstr>
      <vt:lpstr>Forurening af luft, vand og jord (B4)</vt:lpstr>
      <vt:lpstr>Vand (B6)</vt:lpstr>
      <vt:lpstr>Ressourceforbrug, cirkulær økonomi og affaldshåndtering (B7) – fortsat</vt:lpstr>
      <vt:lpstr>Egen arbejdsstyrke: Generelle karakteristika (B8) </vt:lpstr>
      <vt:lpstr>Egen arbejdsstyrke: Sundhed og sikkerhed (B9)</vt:lpstr>
      <vt:lpstr>Virksomhedsadfærd: Antal domme og bøder i relation til korruption &amp; bestikkelse (B11) </vt:lpstr>
      <vt:lpstr>PowerPoint-præsentation</vt:lpstr>
      <vt:lpstr>Strategi: Forretningsmodel og bæredygtighedsrelaterede initiativer (C1)</vt:lpstr>
      <vt:lpstr>Indsatser, politikker og fremtidige initiativer for omstilling til en mere bæredygtig økonomi (C2)</vt:lpstr>
      <vt:lpstr>CO₂e-udledning under B3 i Basismodulet</vt:lpstr>
      <vt:lpstr>Klimaomstilling (C3)</vt:lpstr>
      <vt:lpstr>Klimarisici (C4)</vt:lpstr>
      <vt:lpstr>Klimarisici (C4) - fortsat</vt:lpstr>
      <vt:lpstr>Supplerende (generelle) oplysninger om arbejdsstyrken (C5)</vt:lpstr>
      <vt:lpstr>Menneskerettighedspolitikker og -processer (C6) - Egen arbejdsstyrke</vt:lpstr>
      <vt:lpstr>Alvorlige negative menneskerettighedshændelser (C7) – Egen arbejdsstyrke</vt:lpstr>
      <vt:lpstr>Alvorlige negative menneskerettighedshændelser (C7) – I værdikæden</vt:lpstr>
      <vt:lpstr>Indtægter fra bestemte aktiviteter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27</cp:revision>
  <dcterms:created xsi:type="dcterms:W3CDTF">2025-02-28T18:51:17Z</dcterms:created>
  <dcterms:modified xsi:type="dcterms:W3CDTF">2026-08-06T18:34:12Z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