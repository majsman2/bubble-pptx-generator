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n-GB"/>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n-GB" smtClean="0"/>
              <a:pPr/>
              <a:t xml:space="preserve">06-08-2026</a:t>
            </a:fld>
            <a:endParaRPr lang="en-GB"/>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 xml:space="preserve">Click to edit Master text styles</a:t>
            </a:r>
          </a:p>
          <a:p>
            <a:pPr lvl="1"/>
            <a:r>
              <a:rPr lang="en-GB"/>
              <a:t xml:space="preserve">Second level</a:t>
            </a:r>
          </a:p>
          <a:p>
            <a:pPr lvl="2"/>
            <a:r>
              <a:rPr lang="en-GB"/>
              <a:t xml:space="preserve">Third level</a:t>
            </a:r>
          </a:p>
          <a:p>
            <a:pPr lvl="3"/>
            <a:r>
              <a:rPr lang="en-GB"/>
              <a:t xml:space="preserve">Fourth level</a:t>
            </a:r>
          </a:p>
          <a:p>
            <a:pPr lvl="4"/>
            <a:r>
              <a:rPr lang="en-GB"/>
              <a:t xml:space="preserve">Fifth level</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n-GB"/>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n-GB" smtClean="0"/>
              <a:pPr/>
              <a:t xml:space="preserve">‹#›</a:t>
            </a:fld>
            <a:endParaRPr lang="en-GB"/>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a:t>
            </a:fld>
            <a:endParaRPr lang="en-GB"/>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2</a:t>
            </a:fld>
            <a:endParaRPr lang="en-GB"/>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3</a:t>
            </a:fld>
            <a:endParaRPr lang="en-GB"/>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4</a:t>
            </a:fld>
            <a:endParaRPr lang="en-GB"/>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Added</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column</a:t>
            </a:r>
            <a:r>
              <a:rPr lang="en-GB" sz="1200" b="0" i="0" u="none" strike="noStrike" kern="1200">
                <a:solidFill>
                  <a:schemeClr val="tx1"/>
                </a:solidFill>
                <a:effectLst/>
                <a:latin typeface="IBM Plex Sans" panose="020B0503050203000203" pitchFamily="34" charset="0"/>
                <a:ea typeface="+mn-ea"/>
                <a:cs typeface="+mn-cs"/>
              </a:rPr>
              <a:t xml:space="preserve"> on </a:t>
            </a:r>
            <a:r>
              <a:rPr lang="en-GB" sz="1200" b="0" i="0" u="none" strike="noStrike" kern="1200" err="1">
                <a:solidFill>
                  <a:schemeClr val="tx1"/>
                </a:solidFill>
                <a:effectLst/>
                <a:latin typeface="IBM Plex Sans" panose="020B0503050203000203" pitchFamily="34" charset="0"/>
                <a:ea typeface="+mn-ea"/>
                <a:cs typeface="+mn-cs"/>
              </a:rPr>
              <a:t xml:space="preserve">monitoring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5</a:t>
            </a:fld>
            <a:endParaRPr lang="en-GB"/>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6</a:t>
            </a:fld>
            <a:endParaRPr lang="en-GB"/>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7</a:t>
            </a:fld>
            <a:endParaRPr lang="en-GB"/>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8</a:t>
            </a:fld>
            <a:endParaRPr lang="en-GB"/>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9</a:t>
            </a:fld>
            <a:endParaRPr lang="en-GB"/>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n-GB"/>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10</a:t>
            </a:fld>
            <a:endParaRPr lang="en-GB"/>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n-GB"/>
          </a:p>
        </p:txBody>
      </p:sp>
      <p:sp>
        <p:nvSpPr>
          <p:cNvPr id="3" name="Pladsholder til noter 2"/>
          <p:cNvSpPr>
            <a:spLocks noGrp="1"/>
          </p:cNvSpPr>
          <p:nvPr>
            <p:ph type="body" idx="1"/>
          </p:nvPr>
        </p:nvSpPr>
        <p:spPr/>
        <p:txBody>
          <a:bodyPr/>
          <a:lstStyle/>
          <a:p>
            <a:pPr rtl="0" eaLnBrk="1" fontAlgn="ctr" latinLnBrk="0" hangingPunct="1"/>
            <a:r>
              <a:rPr lang="en-GB" b="0">
                <a:effectLst/>
              </a:rPr>
              <a:t xml:space="preserve">Removed: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men_gennemsnitstimer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women_gennemsnitstimer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other_gennemsnitstimer</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11</a:t>
            </a:fld>
            <a:endParaRPr lang="en-GB"/>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 xml:space="preserve">12</a:t>
            </a:fld>
            <a:endParaRPr lang="en-GB"/>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1735" y="1873405"/>
            <a:ext cx="1223040" cy="181417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0373" y="1828999"/>
            <a:ext cx="1561990" cy="1890830"/>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450" y="1828999"/>
            <a:ext cx="1454017" cy="1938689"/>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en-GB"/>
              <a:t xml:space="preserve">CLICK TO INSERT COMPANY NAME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en-GB"/>
              <a:t xml:space="preserve">INSERT TITLE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text</a:t>
            </a:r>
            <a:r>
              <a:rPr lang="en-GB"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n-GB"/>
              <a:t xml:space="preserve">CLICK TO INSERT COMPANY NAME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n-GB" smtClean="0"/>
              <a:pPr/>
              <a:t xml:space="preserve">‹#›</a:t>
            </a:fld>
            <a:endParaRPr lang="en-GB"/>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title</a:t>
            </a:r>
            <a:r>
              <a:rPr lang="en-GB"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n-GB"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n-GB" noProof="0"/>
              <a:t xml:space="preserve">CLICK TO INSERT COMPANY NAME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n-GB" noProof="0" smtClean="0"/>
              <a:pPr/>
              <a:t xml:space="preserve">‹#›</a:t>
            </a:fld>
            <a:endParaRPr lang="en-GB"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en-GB" noProof="0"/>
              <a:t xml:space="preserve">Insert company 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n-GB" noProof="0" err="1"/>
              <a:t xml:space="preserve">Click</a:t>
            </a:r>
            <a:r>
              <a:rPr lang="en-GB" noProof="0"/>
              <a:t xml:space="preserve"> to </a:t>
            </a:r>
            <a:r>
              <a:rPr lang="en-GB" noProof="0" err="1"/>
              <a:t xml:space="preserve">edit</a:t>
            </a:r>
            <a:r>
              <a:rPr lang="en-GB" noProof="0"/>
              <a:t xml:space="preserve"> Master </a:t>
            </a:r>
            <a:r>
              <a:rPr lang="en-GB" noProof="0" err="1"/>
              <a:t xml:space="preserve">title</a:t>
            </a:r>
            <a:r>
              <a:rPr lang="en-GB"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n-GB" noProof="0"/>
              <a:t xml:space="preserve">CLICK TO INSERT COMPANY NAME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n-GB" noProof="0" smtClean="0"/>
              <a:pPr/>
              <a:t xml:space="preserve">‹#›</a:t>
            </a:fld>
            <a:endParaRPr lang="en-GB"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en-GB" noProof="0"/>
              <a:t xml:space="preserve">Click to edit Master text styles</a:t>
            </a:r>
          </a:p>
          <a:p>
            <a:pPr lvl="1"/>
            <a:r>
              <a:rPr lang="en-GB" noProof="0"/>
              <a:t xml:space="preserve">Second level</a:t>
            </a:r>
          </a:p>
          <a:p>
            <a:pPr lvl="2"/>
            <a:r>
              <a:rPr lang="en-GB" noProof="0"/>
              <a:t xml:space="preserve">Third level</a:t>
            </a:r>
          </a:p>
          <a:p>
            <a:pPr lvl="3"/>
            <a:r>
              <a:rPr lang="en-GB" noProof="0"/>
              <a:t xml:space="preserve">Fourth level</a:t>
            </a:r>
          </a:p>
          <a:p>
            <a:pPr lvl="4"/>
            <a:r>
              <a:rPr lang="en-GB" noProof="0"/>
              <a:t xml:space="preserve">Fifth level</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en-GB"/>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en-GB"/>
              <a:t xml:space="preserve">CLICK TO INSERT COMPANY NAME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en-GB" smtClean="0"/>
              <a:pPr/>
              <a:t xml:space="preserve">‹#›</a:t>
            </a:fld>
            <a:endParaRPr lang="en-GB"/>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en-GB" noProof="0"/>
              <a:t xml:space="preserve">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en-GB"/>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en-GB" noProof="0"/>
              <a:t xml:space="preserve">ESG REPORT {{insert_year}}</a:t>
            </a:r>
            <a:r>
              <a:rPr lang="en-GB" noProof="0"/>
              <a:t xml:space="preserve"/>
            </a:r>
            <a:r>
              <a:rPr lang="en-GB"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en-GB" noProof="0"/>
              <a:t>{{</a:t>
            </a:r>
            <a:r>
              <a:rPr lang="en-GB" noProof="0"/>
              <a:t>company_name</a:t>
            </a:r>
            <a:r>
              <a:rPr lang="en-GB" noProof="0"/>
              <a:t>}}</a:t>
            </a:r>
            <a:endParaRPr lang="en-GB"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en-GB" noProof="0"/>
              <a:t xml:space="preserve">ESG report</a:t>
            </a:r>
            <a:r>
              <a:rPr lang="en-GB" b="0" noProof="0">
                <a:solidFill>
                  <a:schemeClr val="accent2"/>
                </a:solidFill>
                <a:ea typeface="+mn-ea"/>
                <a:cs typeface="+mn-cs"/>
              </a:rPr>
              <a:t> </a:t>
            </a:r>
            <a:br>
              <a:rPr lang="en-GB" b="0" noProof="0">
                <a:solidFill>
                  <a:schemeClr val="accent2"/>
                </a:solidFill>
                <a:ea typeface="+mn-ea"/>
                <a:cs typeface="+mn-cs"/>
              </a:rPr>
            </a:br>
            <a:endParaRPr lang="en-GB"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en-GB" sz="1050" b="1" noProof="0">
              <a:latin typeface="+mj-lt"/>
            </a:endParaRPr>
          </a:p>
          <a:p>
            <a:pPr>
              <a:lnSpc>
                <a:spcPct val="150000"/>
              </a:lnSpc>
              <a:tabLst>
                <a:tab pos="251986" algn="l"/>
                <a:tab pos="409303" algn="l"/>
                <a:tab pos="3932930" algn="r"/>
              </a:tabLst>
            </a:pPr>
            <a:endParaRPr lang="en-GB" sz="1050" b="1"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General information				</a:t>
            </a:r>
            <a:endParaRPr lang="en-GB"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n-GB" sz="1050" b="1" kern="1200" spc="-10" noProof="0">
                <a:solidFill>
                  <a:schemeClr val="tx2"/>
                </a:solidFill>
                <a:latin typeface="+mn-lt"/>
                <a:ea typeface="+mn-ea"/>
                <a:cs typeface="+mn-cs"/>
              </a:rPr>
              <a:t xml:space="preserve">Practices, policies and initiatives for transitioning to a more sustainable economy	</a:t>
            </a:r>
            <a:endParaRPr lang="en-GB" sz="1050" b="1"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Energy consumption				</a:t>
            </a:r>
            <a:endParaRPr lang="en-GB" sz="1050"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CO₂e emissions 				</a:t>
            </a:r>
            <a:r>
              <a:rPr lang="en-GB" sz="1050" b="1" noProof="0">
                <a:latin typeface="+mj-lt"/>
              </a:rPr>
              <a:t xml:space="preserve"/>
            </a:r>
            <a:endParaRPr lang="en-GB" sz="1050" noProof="0">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Pollution of air, water and soil</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Biodiversity</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Water	</a:t>
            </a:r>
            <a:r>
              <a:rPr lang="en-GB" sz="1050" noProof="0">
                <a:latin typeface="+mj-lt"/>
              </a:rPr>
              <a:t> 			</a:t>
            </a: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Resource use, circular economy and waste management</a:t>
            </a:r>
            <a:r>
              <a:rPr lang="en-GB" sz="1050" noProof="0">
                <a:latin typeface="+mj-lt"/>
              </a:rPr>
              <a:t>				</a:t>
            </a:r>
            <a:endParaRPr lang="en-GB"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General characteristics</a:t>
            </a:r>
            <a:r>
              <a:rPr lang="en-GB" sz="1050" noProof="0">
                <a:latin typeface="+mj-lt"/>
              </a:rPr>
              <a:t>				</a:t>
            </a:r>
            <a:endParaRPr lang="en-GB"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Health and safety</a:t>
            </a:r>
            <a:r>
              <a:rPr lang="en-GB" sz="1050" noProof="0">
                <a:latin typeface="+mj-lt"/>
              </a:rPr>
              <a:t>				</a:t>
            </a:r>
            <a:endParaRPr lang="en-GB"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Own workforce: Remuneration, collective bargaining and training</a:t>
            </a:r>
            <a:r>
              <a:rPr lang="en-GB" sz="1050" noProof="0">
                <a:latin typeface="+mj-lt"/>
              </a:rPr>
              <a:t>		</a:t>
            </a:r>
            <a:endParaRPr lang="en-GB"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n-GB" sz="1050" b="1" noProof="0">
                <a:latin typeface="+mj-lt"/>
              </a:rPr>
              <a:t xml:space="preserve">Business conduct</a:t>
            </a:r>
            <a:r>
              <a:rPr lang="en-GB" sz="1050" noProof="0">
                <a:latin typeface="+mj-lt"/>
              </a:rPr>
              <a:t>	 			</a:t>
            </a:r>
            <a:endParaRPr lang="en-GB" sz="1050" noProof="0">
              <a:solidFill>
                <a:schemeClr val="accent2"/>
              </a:solidFill>
              <a:latin typeface="+mj-lt"/>
            </a:endParaRPr>
          </a:p>
          <a:p>
            <a:pPr>
              <a:tabLst>
                <a:tab pos="251986" algn="l"/>
                <a:tab pos="409303" algn="l"/>
                <a:tab pos="3932930" algn="r"/>
              </a:tabLst>
            </a:pPr>
            <a:endParaRPr lang="en-GB" sz="1050" noProof="0">
              <a:latin typeface="+mj-lt"/>
            </a:endParaRPr>
          </a:p>
          <a:p>
            <a:pPr>
              <a:tabLst>
                <a:tab pos="251986" algn="l"/>
                <a:tab pos="409303" algn="l"/>
                <a:tab pos="3932930" algn="r"/>
              </a:tabLst>
            </a:pPr>
            <a:endParaRPr lang="en-GB" sz="1050" noProof="0">
              <a:latin typeface="+mj-lt"/>
            </a:endParaRPr>
          </a:p>
          <a:p>
            <a:pPr>
              <a:tabLst>
                <a:tab pos="251986" algn="l"/>
                <a:tab pos="409303" algn="l"/>
                <a:tab pos="3932930" algn="r"/>
              </a:tabLst>
            </a:pPr>
            <a:endParaRPr lang="en-GB" noProof="0">
              <a:latin typeface="+mj-lt"/>
            </a:endParaRPr>
          </a:p>
          <a:p>
            <a:pPr>
              <a:tabLst>
                <a:tab pos="251986" algn="l"/>
                <a:tab pos="409303" algn="l"/>
                <a:tab pos="3932930" algn="r"/>
              </a:tabLst>
            </a:pPr>
            <a:endParaRPr lang="en-GB"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en-GB" noProof="0"/>
              <a:t>{{</a:t>
            </a:r>
            <a:r>
              <a:rPr lang="en-GB" noProof="0"/>
              <a:t>company_name</a:t>
            </a:r>
            <a:r>
              <a:rPr lang="en-GB"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en-GB" noProof="0" smtClean="0"/>
              <a:pPr/>
              <a:t>2</a:t>
            </a:fld>
            <a:endParaRPr lang="en-GB"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n-GB" noProof="0"/>
              <a:t xml:space="preserve">Basis for preparation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en-GB"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86082"/>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0121">
                <a:tc gridSpan="2">
                  <a:txBody>
                    <a:bodyPr/>
                    <a:lstStyle/>
                    <a:p>
                      <a:pPr marL="0" algn="l" defTabSz="914400" rtl="0" eaLnBrk="1" latinLnBrk="0" hangingPunct="1"/>
                      <a:r>
                        <a:rPr lang="en-GB" sz="1050" b="1" kern="1200" spc="-10" noProof="0">
                          <a:solidFill>
                            <a:schemeClr val="tx2"/>
                          </a:solidFill>
                          <a:latin typeface="+mn-lt"/>
                          <a:ea typeface="+mn-ea"/>
                          <a:cs typeface="+mn-cs"/>
                        </a:rPr>
                        <a:t xml:space="preserve">List of subsidiaries included in this ESG report </a:t>
                      </a:r>
                      <a:r>
                        <a:rPr lang="en-GB" sz="1050" b="0" kern="1200" spc="-10" noProof="0">
                          <a:solidFill>
                            <a:schemeClr val="tx2"/>
                          </a:solidFill>
                          <a:latin typeface="+mn-lt"/>
                          <a:ea typeface="+mn-ea"/>
                          <a:cs typeface="+mn-cs"/>
                        </a:rPr>
                        <a:t xml:space="preserve">(para. 27d)</a:t>
                      </a:r>
                      <a:endParaRPr lang="en-GB"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4414">
                <a:tc>
                  <a:txBody>
                    <a:bodyPr/>
                    <a:lstStyle/>
                    <a:p>
                      <a:pPr algn="l"/>
                      <a:r>
                        <a:rPr lang="en-GB" sz="1050" b="1" kern="1200" spc="-10" noProof="0">
                          <a:solidFill>
                            <a:schemeClr val="tx2"/>
                          </a:solidFill>
                          <a:latin typeface="+mn-lt"/>
                          <a:ea typeface="+mn-ea"/>
                          <a:cs typeface="+mn-cs"/>
                        </a:rPr>
                        <a:t xml:space="preserve">Name of subsidiary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Address of subsidiary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4414">
                <a:tc>
                  <a:txBody>
                    <a:bodyPr/>
                    <a:lstStyle/>
                    <a:p>
                      <a:pPr rtl="0" fontAlgn="t">
                        <a:buNone/>
                      </a:pPr>
                      <a:r>
                        <a:rPr lang="en-GB" sz="1050" b="0" i="0" u="none" strike="noStrike" noProof="0">
                          <a:solidFill>
                            <a:srgbClr val="2D55FF"/>
                          </a:solidFill>
                          <a:effectLst/>
                          <a:latin typeface="Inter"/>
                        </a:rPr>
                        <a:t>{{subsidiary}}</a:t>
                      </a:r>
                      <a:endParaRPr lang="en-GB"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{{subsidiary_address}}</a:t>
                      </a:r>
                      <a:endParaRPr lang="en-GB"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3</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n-GB" noProof="0"/>
              <a:t>{{</a:t>
            </a:r>
            <a:r>
              <a:rPr lang="en-GB" noProof="0"/>
              <a:t>company_name</a:t>
            </a:r>
            <a:r>
              <a:rPr lang="en-GB" noProof="0"/>
              <a:t>}}</a:t>
            </a:r>
            <a:endParaRPr lang="en-GB" b="0" noProof="0"/>
          </a:p>
          <a:p>
            <a:br>
              <a:rPr lang="en-GB" noProof="0"/>
            </a:br>
            <a:endParaRPr lang="en-GB"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en-GB" sz="1050" b="1" noProof="0">
                          <a:solidFill>
                            <a:schemeClr val="tx2"/>
                          </a:solidFill>
                        </a:rPr>
                        <a:t xml:space="preserve">Individual or consolidated reporting</a:t>
                      </a:r>
                      <a:r>
                        <a:rPr lang="en-GB" sz="1050" b="0" noProof="0">
                          <a:solidFill>
                            <a:schemeClr val="tx2"/>
                          </a:solidFill>
                        </a:rPr>
                        <a:t xml:space="preserve"> (para.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has been prepared on an </a:t>
                      </a:r>
                      <a:r>
                        <a:rPr lang="en-GB" sz="1050" b="1" kern="1200" spc="-10" noProof="0">
                          <a:solidFill>
                            <a:schemeClr val="tx2"/>
                          </a:solidFill>
                          <a:latin typeface="+mn-lt"/>
                          <a:ea typeface="+mn-ea"/>
                          <a:cs typeface="+mn-cs"/>
                        </a:rPr>
                        <a:t xml:space="preserve">individual basis </a:t>
                      </a:r>
                      <a:r>
                        <a:rPr lang="en-GB" sz="1050" b="0" kern="1200" spc="-10" noProof="0">
                          <a:solidFill>
                            <a:schemeClr val="tx2"/>
                          </a:solidFill>
                          <a:latin typeface="+mn-lt"/>
                          <a:ea typeface="+mn-ea"/>
                          <a:cs typeface="+mn-cs"/>
                        </a:rPr>
                        <a:t xml:space="preserve">(i.e. the report does not cover any subsidiaries)</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yes_subsidiary</a:t>
                      </a:r>
                      <a:r>
                        <a:rPr lang="en-GB" sz="1050" b="0" i="0" u="none" strike="noStrike" noProof="0">
                          <a:solidFill>
                            <a:srgbClr val="2D55FF"/>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has been prepared on a </a:t>
                      </a:r>
                      <a:r>
                        <a:rPr lang="en-GB" sz="1050" b="1" kern="1200" spc="-10" noProof="0">
                          <a:solidFill>
                            <a:schemeClr val="tx2"/>
                          </a:solidFill>
                          <a:latin typeface="+mn-lt"/>
                          <a:ea typeface="+mn-ea"/>
                          <a:cs typeface="+mn-cs"/>
                        </a:rPr>
                        <a:t xml:space="preserve">consolidated basis </a:t>
                      </a:r>
                      <a:r>
                        <a:rPr lang="en-GB" sz="1050" b="0" kern="1200" spc="-10" noProof="0">
                          <a:solidFill>
                            <a:schemeClr val="tx2"/>
                          </a:solidFill>
                          <a:latin typeface="+mn-lt"/>
                          <a:ea typeface="+mn-ea"/>
                          <a:cs typeface="+mn-cs"/>
                        </a:rPr>
                        <a:t xml:space="preserve">(i.e. the report includes the undertaking’s subsidiaries)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no_subsidiary</a:t>
                      </a:r>
                      <a:r>
                        <a:rPr lang="en-GB" sz="1050" b="0" i="0" u="none" strike="noStrike" noProof="0">
                          <a:solidFill>
                            <a:srgbClr val="2D55FF"/>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en-GB" sz="1050" b="1" kern="1200" spc="-10" noProof="0">
                          <a:solidFill>
                            <a:schemeClr val="tx2"/>
                          </a:solidFill>
                          <a:latin typeface="+mn-lt"/>
                          <a:ea typeface="+mn-ea"/>
                          <a:cs typeface="+mn-cs"/>
                        </a:rPr>
                        <a:t xml:space="preserve">Basic Module, or Basic Module +</a:t>
                      </a:r>
                      <a:r>
                        <a:rPr lang="en-GB" sz="1050" b="1" kern="1200" spc="-10" noProof="0">
                          <a:solidFill>
                            <a:schemeClr val="tx2"/>
                          </a:solidFill>
                          <a:latin typeface="+mn-lt"/>
                          <a:ea typeface="+mn-ea"/>
                          <a:cs typeface="+mn-cs"/>
                        </a:rPr>
                        <a:t xml:space="preserve"/>
                      </a:r>
                      <a:r>
                        <a:rPr lang="en-GB" sz="1050" b="1" kern="1200" spc="-10" noProof="0">
                          <a:solidFill>
                            <a:schemeClr val="tx2"/>
                          </a:solidFill>
                          <a:latin typeface="+mn-lt"/>
                          <a:ea typeface="+mn-ea"/>
                          <a:cs typeface="+mn-cs"/>
                        </a:rPr>
                        <a:t xml:space="preserve"/>
                      </a:r>
                      <a:r>
                        <a:rPr lang="en-GB" sz="1050" b="1" kern="1200" spc="-10" noProof="0">
                          <a:solidFill>
                            <a:schemeClr val="tx2"/>
                          </a:solidFill>
                          <a:latin typeface="+mn-lt"/>
                          <a:ea typeface="+mn-ea"/>
                          <a:cs typeface="+mn-cs"/>
                        </a:rPr>
                        <a:t xml:space="preserve"/>
                      </a:r>
                      <a:r>
                        <a:rPr lang="en-GB" sz="1050" b="0" kern="1200" spc="-10" noProof="0">
                          <a:solidFill>
                            <a:schemeClr val="tx2"/>
                          </a:solidFill>
                          <a:latin typeface="+mn-lt"/>
                          <a:ea typeface="+mn-ea"/>
                          <a:cs typeface="+mn-cs"/>
                        </a:rPr>
                        <a:t> </a:t>
                      </a:r>
                      <a:r>
                        <a:rPr lang="en-GB" sz="1050" b="1" kern="1200" spc="-10" noProof="0">
                          <a:solidFill>
                            <a:schemeClr val="tx2"/>
                          </a:solidFill>
                          <a:latin typeface="+mn-lt"/>
                          <a:ea typeface="+mn-ea"/>
                          <a:cs typeface="+mn-cs"/>
                        </a:rPr>
                        <a:t xml:space="preserve">Comprehensive Module </a:t>
                      </a:r>
                      <a:r>
                        <a:rPr lang="en-GB" sz="1050" b="0" kern="1200" spc="-10" noProof="0">
                          <a:solidFill>
                            <a:schemeClr val="tx2"/>
                          </a:solidFill>
                          <a:latin typeface="+mn-lt"/>
                          <a:ea typeface="+mn-ea"/>
                          <a:cs typeface="+mn-cs"/>
                        </a:rPr>
                        <a:t xml:space="preserve">(para. 27a)</a:t>
                      </a:r>
                      <a:r>
                        <a:rPr lang="en-GB" sz="1050" b="1" kern="1200" spc="-10" noProof="0">
                          <a:solidFill>
                            <a:schemeClr val="tx2"/>
                          </a:solidFill>
                          <a:latin typeface="+mn-lt"/>
                          <a:ea typeface="+mn-ea"/>
                          <a:cs typeface="+mn-cs"/>
                        </a:rPr>
                        <a:t>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is based on the </a:t>
                      </a:r>
                      <a:r>
                        <a:rPr lang="en-GB" sz="1050" b="1" kern="1200" spc="-10" noProof="0">
                          <a:solidFill>
                            <a:schemeClr val="tx2"/>
                          </a:solidFill>
                          <a:latin typeface="+mn-lt"/>
                          <a:ea typeface="+mn-ea"/>
                          <a:cs typeface="+mn-cs"/>
                        </a:rPr>
                        <a:t xml:space="preserve">Basic Module</a:t>
                      </a:r>
                      <a:r>
                        <a:rPr lang="en-GB" sz="1050" b="0" kern="1200" spc="-10" noProof="0">
                          <a:solidFill>
                            <a:schemeClr val="tx2"/>
                          </a:solidFill>
                          <a:latin typeface="+mn-lt"/>
                          <a:ea typeface="+mn-ea"/>
                          <a:cs typeface="+mn-cs"/>
                        </a:rPr>
                        <a:t xml:space="preserve"> of the voluntary SME standard </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basic_module</a:t>
                      </a:r>
                      <a:r>
                        <a:rPr lang="en-GB" sz="1050" b="0" i="0" u="none" strike="noStrike" noProof="0">
                          <a:solidFill>
                            <a:srgbClr val="2D55FF"/>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report is based on the </a:t>
                      </a:r>
                      <a:r>
                        <a:rPr lang="en-GB" sz="1050" b="1" kern="1200" spc="-10" noProof="0">
                          <a:solidFill>
                            <a:schemeClr val="tx2"/>
                          </a:solidFill>
                          <a:latin typeface="+mn-lt"/>
                          <a:ea typeface="+mn-ea"/>
                          <a:cs typeface="+mn-cs"/>
                        </a:rPr>
                        <a:t xml:space="preserve">Basic Module</a:t>
                      </a:r>
                      <a:r>
                        <a:rPr lang="en-GB" sz="1050" b="0" kern="1200" spc="-10" noProof="0">
                          <a:solidFill>
                            <a:schemeClr val="tx2"/>
                          </a:solidFill>
                          <a:latin typeface="+mn-lt"/>
                          <a:ea typeface="+mn-ea"/>
                          <a:cs typeface="+mn-cs"/>
                        </a:rPr>
                        <a:t xml:space="preserve"> and </a:t>
                      </a:r>
                      <a:r>
                        <a:rPr lang="en-GB" sz="1050" b="1" kern="1200" spc="-10" noProof="0">
                          <a:solidFill>
                            <a:schemeClr val="tx2"/>
                          </a:solidFill>
                          <a:latin typeface="+mn-lt"/>
                          <a:ea typeface="+mn-ea"/>
                          <a:cs typeface="+mn-cs"/>
                        </a:rPr>
                        <a:t xml:space="preserve">Comprehensive Module </a:t>
                      </a:r>
                      <a:r>
                        <a:rPr lang="en-GB" sz="1050" b="0" kern="1200" spc="-10" noProof="0">
                          <a:solidFill>
                            <a:schemeClr val="tx2"/>
                          </a:solidFill>
                          <a:latin typeface="+mn-lt"/>
                          <a:ea typeface="+mn-ea"/>
                          <a:cs typeface="+mn-cs"/>
                        </a:rPr>
                        <a:t xml:space="preserve">of the voluntary SME standard</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comprehensive</a:t>
                      </a:r>
                      <a:r>
                        <a:rPr lang="en-GB" sz="1050" b="0" i="0" u="none" strike="noStrike" noProof="0">
                          <a:solidFill>
                            <a:srgbClr val="2D55FF"/>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lang="en-GB"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en-GB" sz="1050" b="1" kern="1200" spc="-10" noProof="0">
                          <a:solidFill>
                            <a:schemeClr val="tx2"/>
                          </a:solidFill>
                          <a:latin typeface="+mn-lt"/>
                          <a:ea typeface="+mn-ea"/>
                          <a:cs typeface="+mn-cs"/>
                        </a:rPr>
                        <a:t xml:space="preserve">Basic information about the undertaking</a:t>
                      </a:r>
                      <a:r>
                        <a:rPr lang="en-GB" sz="1050" b="0" kern="1200" spc="-10" noProof="0">
                          <a:solidFill>
                            <a:schemeClr val="tx2"/>
                          </a:solidFill>
                          <a:latin typeface="+mn-lt"/>
                          <a:ea typeface="+mn-ea"/>
                          <a:cs typeface="+mn-cs"/>
                        </a:rPr>
                        <a:t xml:space="preserve"> (para.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en-GB" sz="1050" b="1" kern="1200" spc="-10" noProof="0">
                          <a:solidFill>
                            <a:schemeClr val="tx2"/>
                          </a:solidFill>
                          <a:latin typeface="+mn-lt"/>
                          <a:ea typeface="+mn-ea"/>
                          <a:cs typeface="+mn-cs"/>
                        </a:rPr>
                        <a:t xml:space="preserve">Legal 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{{branchekode}}</a:t>
                      </a:r>
                      <a:endParaRPr lang="en-GB"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NACE sector code(s)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{{NACE}}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Balance sheet total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{{balance}}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en-GB" sz="1050" b="1" kern="1200" spc="-10" noProof="0">
                          <a:solidFill>
                            <a:schemeClr val="tx2"/>
                          </a:solidFill>
                          <a:latin typeface="+mn-lt"/>
                          <a:ea typeface="+mn-ea"/>
                          <a:cs typeface="+mn-cs"/>
                        </a:rPr>
                        <a:t xml:space="preserve">Turnover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{{revenue}}</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en-GB" sz="1050" b="1" kern="1200" spc="-10" noProof="0">
                          <a:solidFill>
                            <a:schemeClr val="tx2"/>
                          </a:solidFill>
                          <a:latin typeface="+mn-lt"/>
                          <a:ea typeface="+mn-ea"/>
                          <a:cs typeface="+mn-cs"/>
                        </a:rPr>
                        <a:t xml:space="preserve">No. of employees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{{total_employees}}</a:t>
                      </a:r>
                      <a:endParaRPr lang="en-GB"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en-GB" sz="1050" b="1" kern="1200" spc="-10" noProof="0">
                          <a:solidFill>
                            <a:schemeClr val="tx2"/>
                          </a:solidFill>
                          <a:latin typeface="+mn-lt"/>
                          <a:ea typeface="+mn-ea"/>
                          <a:cs typeface="+mn-cs"/>
                        </a:rPr>
                        <a:t xml:space="preserve">The ESG report contains omissions due to sensitive business information </a:t>
                      </a:r>
                      <a:r>
                        <a:rPr lang="en-GB" sz="1050" b="0" kern="1200" spc="-10" noProof="0">
                          <a:solidFill>
                            <a:schemeClr val="tx2"/>
                          </a:solidFill>
                          <a:latin typeface="+mn-lt"/>
                          <a:ea typeface="+mn-ea"/>
                          <a:cs typeface="+mn-cs"/>
                        </a:rPr>
                        <a:t xml:space="preserve">(para.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kern="1200" spc="-10" noProof="0">
                          <a:solidFill>
                            <a:schemeClr val="tx2"/>
                          </a:solidFill>
                          <a:latin typeface="+mn-lt"/>
                          <a:ea typeface="+mn-ea"/>
                          <a:cs typeface="+mn-cs"/>
                        </a:rPr>
                        <a:t xml:space="preserve">The following disclosures have been omitted</a:t>
                      </a:r>
                    </a:p>
                    <a:p>
                      <a:pPr algn="l"/>
                      <a:endParaRPr lang="en-GB"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noProof="0">
                          <a:solidFill>
                            <a:schemeClr val="accent2"/>
                          </a:solidFill>
                          <a:latin typeface="+mn-lt"/>
                          <a:cs typeface="Calibri" panose="020F0502020204030204" pitchFamily="34" charset="0"/>
                        </a:rPr>
                        <a:t>{{</a:t>
                      </a:r>
                      <a:r>
                        <a:rPr lang="en-GB" sz="1050" noProof="0">
                          <a:solidFill>
                            <a:schemeClr val="accent2"/>
                          </a:solidFill>
                          <a:latin typeface="+mn-lt"/>
                          <a:cs typeface="Calibri" panose="020F0502020204030204" pitchFamily="34" charset="0"/>
                        </a:rPr>
                        <a:t>confidentiality_info</a:t>
                      </a:r>
                      <a:r>
                        <a:rPr lang="en-GB" sz="1050" noProof="0">
                          <a:solidFill>
                            <a:schemeClr val="accent2"/>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n-GB" noProof="0"/>
              <a:t xml:space="preserve">Basis for preparation (B1) - continued</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4</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n-GB" noProof="0"/>
              <a:t>{{</a:t>
            </a:r>
            <a:r>
              <a:rPr lang="en-GB" noProof="0"/>
              <a:t>company_name</a:t>
            </a:r>
            <a:r>
              <a:rPr lang="en-GB" noProof="0"/>
              <a:t>}}</a:t>
            </a:r>
            <a:endParaRPr lang="en-GB" b="0" noProof="0"/>
          </a:p>
          <a:p>
            <a:endParaRPr lang="en-GB"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en-GB" sz="1050" b="1" kern="1200" spc="-10" noProof="0">
                          <a:solidFill>
                            <a:schemeClr val="tx2"/>
                          </a:solidFill>
                          <a:latin typeface="+mn-lt"/>
                          <a:ea typeface="+mn-ea"/>
                          <a:cs typeface="+mn-cs"/>
                        </a:rPr>
                        <a:t xml:space="preserve">Name of ESG certificate/ecolabel </a:t>
                      </a:r>
                      <a:r>
                        <a:rPr lang="en-GB" sz="1050" b="0" kern="1200" spc="-10" noProof="0">
                          <a:solidFill>
                            <a:schemeClr val="tx2"/>
                          </a:solidFill>
                          <a:latin typeface="+mn-lt"/>
                          <a:ea typeface="+mn-ea"/>
                          <a:cs typeface="+mn-cs"/>
                        </a:rPr>
                        <a:t xml:space="preserve">(para.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Brief description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Date of issue/</a:t>
                      </a:r>
                    </a:p>
                    <a:p>
                      <a:pPr algn="l"/>
                      <a:r>
                        <a:rPr lang="en-GB" sz="1050" b="1" kern="1200" spc="-10" noProof="0">
                          <a:solidFill>
                            <a:schemeClr val="tx2"/>
                          </a:solidFill>
                          <a:latin typeface="+mn-lt"/>
                          <a:ea typeface="+mn-ea"/>
                          <a:cs typeface="+mn-cs"/>
                        </a:rPr>
                        <a:t xml:space="preserve">validity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1050" b="1" kern="1200" spc="-10" noProof="0">
                          <a:solidFill>
                            <a:schemeClr val="tx2"/>
                          </a:solidFill>
                          <a:latin typeface="+mn-lt"/>
                          <a:ea typeface="+mn-ea"/>
                          <a:cs typeface="+mn-cs"/>
                        </a:rPr>
                        <a:t xml:space="preserve">Rating, if any</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buNone/>
                      </a:pPr>
                      <a:r>
                        <a:rPr lang="en-GB" sz="1050" b="0" i="0" u="none" strike="noStrike" noProof="0">
                          <a:solidFill>
                            <a:srgbClr val="2D55FF"/>
                          </a:solidFill>
                          <a:effectLst/>
                          <a:latin typeface="Inter"/>
                        </a:rPr>
                        <a:t>{{certificate_or_ecolabel}}</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1050" b="0" i="0" u="none" strike="noStrike" noProof="0">
                          <a:solidFill>
                            <a:srgbClr val="2D55FF"/>
                          </a:solidFill>
                          <a:effectLst/>
                          <a:latin typeface="Inter"/>
                        </a:rPr>
                        <a:t>{{description_certificate}}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1050" b="0" i="0" u="none" strike="noStrike" noProof="0">
                          <a:solidFill>
                            <a:srgbClr val="2D55FF"/>
                          </a:solidFill>
                          <a:effectLst/>
                          <a:latin typeface="Inter"/>
                        </a:rPr>
                        <a:t>{{date_certicate}}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1050" b="0" i="0" u="none" strike="noStrike" noProof="0">
                          <a:solidFill>
                            <a:srgbClr val="2D55FF"/>
                          </a:solidFill>
                          <a:effectLst/>
                          <a:latin typeface="Inter"/>
                        </a:rPr>
                        <a:t>{{certiciate_possible_rating}}</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kern="1200" spc="-10" noProof="0">
                          <a:solidFill>
                            <a:schemeClr val="tx2"/>
                          </a:solidFill>
                          <a:latin typeface="+mn-lt"/>
                          <a:ea typeface="+mn-ea"/>
                          <a:cs typeface="+mn-cs"/>
                        </a:rPr>
                        <a:t xml:space="preserve">Addresses and geolocation of </a:t>
                      </a:r>
                      <a:r>
                        <a:rPr lang="en-GB" sz="1050" b="1" u="none" kern="1200" spc="-10" noProof="0">
                          <a:solidFill>
                            <a:schemeClr val="tx2"/>
                          </a:solidFill>
                          <a:latin typeface="+mn-lt"/>
                          <a:ea typeface="+mn-ea"/>
                          <a:cs typeface="+mn-cs"/>
                        </a:rPr>
                        <a:t xml:space="preserve">significant</a:t>
                      </a:r>
                      <a:r>
                        <a:rPr lang="en-GB" sz="1050" b="1" kern="1200" spc="-10" noProof="0">
                          <a:solidFill>
                            <a:schemeClr val="tx2"/>
                          </a:solidFill>
                          <a:latin typeface="+mn-lt"/>
                          <a:ea typeface="+mn-ea"/>
                          <a:cs typeface="+mn-cs"/>
                        </a:rPr>
                        <a:t xml:space="preserve"> assets and sites that the undertaking</a:t>
                      </a:r>
                      <a:r>
                        <a:rPr lang="en-GB" sz="1050" b="0" kern="1200" spc="-10" noProof="0">
                          <a:solidFill>
                            <a:schemeClr val="tx2"/>
                          </a:solidFill>
                          <a:latin typeface="+mn-lt"/>
                          <a:ea typeface="+mn-ea"/>
                          <a:cs typeface="+mn-cs"/>
                        </a:rPr>
                        <a:t> </a:t>
                      </a:r>
                      <a:r>
                        <a:rPr lang="en-GB" sz="1050" b="1" kern="1200" spc="-10" noProof="0">
                          <a:solidFill>
                            <a:schemeClr val="tx2"/>
                          </a:solidFill>
                          <a:latin typeface="+mn-lt"/>
                          <a:ea typeface="+mn-ea"/>
                          <a:cs typeface="+mn-cs"/>
                        </a:rPr>
                        <a:t xml:space="preserve">owns, leases or manages </a:t>
                      </a:r>
                      <a:r>
                        <a:rPr lang="en-GB" sz="1050" b="0" kern="1200" spc="-10" noProof="0">
                          <a:solidFill>
                            <a:schemeClr val="tx2"/>
                          </a:solidFill>
                          <a:latin typeface="+mn-lt"/>
                          <a:ea typeface="+mn-ea"/>
                          <a:cs typeface="+mn-cs"/>
                        </a:rPr>
                        <a:t xml:space="preserve">(para.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en-GB" sz="1050" b="1" kern="1200" spc="-10" noProof="0">
                          <a:solidFill>
                            <a:schemeClr val="tx2"/>
                          </a:solidFill>
                          <a:latin typeface="+mn-lt"/>
                          <a:ea typeface="+mn-ea"/>
                          <a:cs typeface="+mn-cs"/>
                        </a:rPr>
                        <a:t xml:space="preserve">Site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Address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Postcode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City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Country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Geolocation (coordinates)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buNone/>
                      </a:pPr>
                      <a:r>
                        <a:rPr lang="en-GB" sz="1050" b="0" i="0" u="none" strike="noStrike" noProof="0">
                          <a:solidFill>
                            <a:srgbClr val="2D55FF"/>
                          </a:solidFill>
                          <a:effectLst/>
                          <a:latin typeface="Inter"/>
                        </a:rPr>
                        <a:t>{{geolocation}}</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{{geolocation_adress}}</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{{geolocation_postcode}}</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{{geolocation_city}}</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{{geolocation_country}}</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{{geolocation_coordinates}}</a:t>
                      </a:r>
                      <a:endParaRPr lang="en-GB"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en-GB" sz="1050" b="0" i="0" u="none" strike="noStrike" noProof="0">
                <a:solidFill>
                  <a:schemeClr val="tx2"/>
                </a:solidFill>
                <a:effectLst/>
                <a:latin typeface="Inter"/>
              </a:rPr>
              <a:t xml:space="preserve">Below is a description of the undertaking’s geolocations and of where the undertaking operates. This information can be used for climate-related risk zones and provides information on the undertaking’s sites, facilities and/or headquarters</a:t>
            </a:r>
            <a:r>
              <a:rPr lang="en-GB" sz="1050" noProof="0">
                <a:solidFill>
                  <a:schemeClr val="tx2"/>
                </a:solidFill>
                <a:latin typeface="Inter"/>
              </a:rPr>
              <a:t xml:space="preserve">. Relevant sustainability-related certifications or labels are also stated, including the issuer of the certification, the date and any rating.</a:t>
            </a:r>
            <a:endParaRPr lang="en-GB"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en-GB" sz="1050" noProof="0">
                <a:solidFill>
                  <a:srgbClr val="487477"/>
                </a:solidFill>
                <a:latin typeface="Inter"/>
              </a:rPr>
              <a:t xml:space="preserve">The undertaking’s certificates and ecolabels are listed below.</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n-GB" noProof="0"/>
              <a:t xml:space="preserve">Practices, policies and future initiatives for transitioning towards a more sustainable economy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en-GB" sz="1050" b="1" kern="1200" spc="-10" noProof="0">
                          <a:solidFill>
                            <a:schemeClr val="tx2"/>
                          </a:solidFill>
                          <a:latin typeface="+mn-lt"/>
                          <a:ea typeface="+mn-ea"/>
                          <a:cs typeface="+mn-cs"/>
                        </a:rPr>
                        <a:t xml:space="preserve">Area</a:t>
                      </a:r>
                    </a:p>
                    <a:p>
                      <a:r>
                        <a:rPr lang="en-GB" sz="1050" b="0" kern="1200" spc="-10" noProof="0">
                          <a:solidFill>
                            <a:schemeClr val="tx2"/>
                          </a:solidFill>
                          <a:latin typeface="+mn-lt"/>
                          <a:ea typeface="+mn-ea"/>
                          <a:cs typeface="+mn-cs"/>
                        </a:rPr>
                        <a:t xml:space="preserve">(para.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a specific practice or policy in this area</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Is the policy publicly available?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future initiatives and plans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1050" b="1" kern="1200" spc="-10" noProof="0">
                          <a:solidFill>
                            <a:schemeClr val="tx2"/>
                          </a:solidFill>
                          <a:latin typeface="+mn-lt"/>
                          <a:ea typeface="+mn-ea"/>
                          <a:cs typeface="+mn-cs"/>
                        </a:rPr>
                        <a:t xml:space="preserve">The undertaking has specific targets to monitor the implementation of practices and policies?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en-GB" sz="1050" b="1" kern="1200" spc="-10" noProof="0">
                          <a:solidFill>
                            <a:schemeClr val="tx2"/>
                          </a:solidFill>
                          <a:latin typeface="+mn-lt"/>
                          <a:ea typeface="+mn-ea"/>
                          <a:cs typeface="+mn-cs"/>
                        </a:rPr>
                        <a:t xml:space="preserve">Climate change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{{climate_change_concrete}}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{{climate_change_publicly}}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{{climate_change_future}}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{{climate_change_plan}}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en-GB" sz="1050" b="1" kern="1200" spc="-10" noProof="0">
                          <a:solidFill>
                            <a:schemeClr val="tx2"/>
                          </a:solidFill>
                          <a:latin typeface="+mn-lt"/>
                          <a:ea typeface="+mn-ea"/>
                          <a:cs typeface="+mn-cs"/>
                        </a:rPr>
                        <a:t xml:space="preserve">Pollution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{{pollution_concrete}}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{{pollution_publicly}}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{{pollution_future}}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{{pollution_plan}}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en-GB" sz="1050" b="1" kern="1200" spc="-10" noProof="0">
                          <a:solidFill>
                            <a:schemeClr val="tx2"/>
                          </a:solidFill>
                          <a:latin typeface="+mn-lt"/>
                          <a:ea typeface="+mn-ea"/>
                          <a:cs typeface="+mn-cs"/>
                        </a:rPr>
                        <a:t xml:space="preserve">Water and marine resources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{{water_concrete}}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{{water_publicly}}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{{water_future}}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{{water_plan}}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en-GB" sz="1050" b="1" kern="1200" spc="-10" noProof="0">
                          <a:solidFill>
                            <a:schemeClr val="tx2"/>
                          </a:solidFill>
                          <a:latin typeface="+mn-lt"/>
                          <a:ea typeface="+mn-ea"/>
                          <a:cs typeface="+mn-cs"/>
                        </a:rPr>
                        <a:t xml:space="preserve">Biodiversity and ecosystems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{{biodiversity_concrete}}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{{biodiversity_publicly}}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{{biodiversity_future}}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{{biodiversity_plan}}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en-GB" sz="1050" b="1" kern="1200" spc="-10" noProof="0">
                          <a:solidFill>
                            <a:schemeClr val="tx2"/>
                          </a:solidFill>
                          <a:latin typeface="+mn-lt"/>
                          <a:ea typeface="+mn-ea"/>
                          <a:cs typeface="+mn-cs"/>
                        </a:rPr>
                        <a:t xml:space="preserve">Circular economy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{{circular_concrete}}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{{circular_publicly}}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{{circular_future}}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{{circular_plan}}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en-GB" sz="1050" b="1" kern="1200" spc="-10" noProof="0">
                          <a:solidFill>
                            <a:schemeClr val="tx2"/>
                          </a:solidFill>
                          <a:latin typeface="+mn-lt"/>
                          <a:ea typeface="+mn-ea"/>
                          <a:cs typeface="+mn-cs"/>
                        </a:rPr>
                        <a:t xml:space="preserve">Own workforce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{{workforce_concrete}}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{{workforce_publicly}}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{{workforce_future}}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{{workforce_plan}}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en-GB" sz="1050" b="1" kern="1200" spc="-10" noProof="0">
                          <a:solidFill>
                            <a:schemeClr val="tx2"/>
                          </a:solidFill>
                          <a:latin typeface="+mn-lt"/>
                          <a:ea typeface="+mn-ea"/>
                          <a:cs typeface="+mn-cs"/>
                        </a:rPr>
                        <a:t xml:space="preserve">Workers in the value chain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{{workers_concrete}}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{{workers_publicly}}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{{workers_future}}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{{workers_plan}}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en-GB" sz="1050" b="1" kern="1200" spc="-10" noProof="0">
                          <a:solidFill>
                            <a:schemeClr val="tx2"/>
                          </a:solidFill>
                          <a:latin typeface="+mn-lt"/>
                          <a:ea typeface="+mn-ea"/>
                          <a:cs typeface="+mn-cs"/>
                        </a:rPr>
                        <a:t xml:space="preserve">Affected communities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{{communities_concrete}}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{{communities_publicly}}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{{communities_future}}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{{communities_plan}}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en-GB" sz="1050" b="1" kern="1200" spc="-10" noProof="0">
                          <a:solidFill>
                            <a:schemeClr val="tx2"/>
                          </a:solidFill>
                          <a:latin typeface="+mn-lt"/>
                          <a:ea typeface="+mn-ea"/>
                          <a:cs typeface="+mn-cs"/>
                        </a:rPr>
                        <a:t xml:space="preserve">Consumers and end-users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{{consumers_concrete}}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{{consumers_publicly}}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{{consumers_future}}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{{consumers_plan}}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en-GB" sz="1050" b="1" kern="1200" spc="-10" noProof="0">
                          <a:solidFill>
                            <a:schemeClr val="tx2"/>
                          </a:solidFill>
                          <a:latin typeface="+mn-lt"/>
                          <a:ea typeface="+mn-ea"/>
                          <a:cs typeface="+mn-cs"/>
                        </a:rPr>
                        <a:t xml:space="preserve">Business conduct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1050" b="0" i="0" u="none" strike="noStrike" noProof="0">
                          <a:solidFill>
                            <a:srgbClr val="2D55FF"/>
                          </a:solidFill>
                          <a:effectLst/>
                          <a:latin typeface="Inter"/>
                        </a:rPr>
                        <a:t>{{governance_concrete}}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{{governance_publicly}}</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1050" b="0" i="0" u="none" strike="noStrike" noProof="0">
                          <a:solidFill>
                            <a:srgbClr val="2D55FF"/>
                          </a:solidFill>
                          <a:effectLst/>
                          <a:latin typeface="Inter"/>
                        </a:rPr>
                        <a:t>{{governance_future}}</a:t>
                      </a:r>
                      <a:endParaRPr lang="en-GB"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1050" b="0" i="0" u="none" strike="noStrike" noProof="0">
                          <a:solidFill>
                            <a:schemeClr val="accent2"/>
                          </a:solidFill>
                          <a:latin typeface="Inter"/>
                        </a:rPr>
                        <a:t>{{governance_plan}}</a:t>
                      </a:r>
                      <a:endParaRPr lang="en-GB">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en-GB" sz="1050" b="0" i="0" u="none" strike="noStrike" noProof="0">
                <a:solidFill>
                  <a:schemeClr val="tx2"/>
                </a:solidFill>
                <a:effectLst/>
                <a:latin typeface="Inter"/>
              </a:rPr>
              <a:t xml:space="preserve">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1050" noProof="0">
                <a:solidFill>
                  <a:schemeClr val="tx2"/>
                </a:solidFill>
              </a:rPr>
            </a:br>
            <a:endParaRPr lang="en-GB"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n-GB" noProof="0" smtClean="0"/>
              <a:pPr/>
              <a:t>5</a:t>
            </a:fld>
            <a:endParaRPr lang="en-GB"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Energy consumption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Energy consumption in MWh </a:t>
                      </a:r>
                      <a:r>
                        <a:rPr lang="en-GB" sz="1050" b="0" noProof="0">
                          <a:solidFill>
                            <a:schemeClr val="tx2"/>
                          </a:solidFill>
                        </a:rPr>
                        <a:t xml:space="preserve">(para.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n-GB" sz="775"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1050" b="1" noProof="0">
                          <a:solidFill>
                            <a:schemeClr val="tx2"/>
                          </a:solidFill>
                        </a:rPr>
                        <a:t xml:space="preserve">Renewable energy consumption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1050" b="1" noProof="0">
                          <a:solidFill>
                            <a:schemeClr val="tx2"/>
                          </a:solidFill>
                        </a:rPr>
                        <a:t xml:space="preserve">Non-renewable energy consumption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Total energy consumption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accent2"/>
                          </a:solidFill>
                        </a:rPr>
                        <a:t>{{</a:t>
                      </a:r>
                      <a:r>
                        <a:rPr lang="en-GB" sz="1050" b="1" noProof="0">
                          <a:solidFill>
                            <a:schemeClr val="accent2"/>
                          </a:solidFill>
                        </a:rPr>
                        <a:t>insert_year</a:t>
                      </a:r>
                      <a:r>
                        <a:rPr lang="en-GB"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en-GB" sz="1050" b="1" noProof="0">
                          <a:solidFill>
                            <a:schemeClr val="tx2"/>
                          </a:solidFill>
                        </a:rPr>
                        <a:t xml:space="preserve">Electricity </a:t>
                      </a:r>
                      <a:r>
                        <a:rPr lang="en-GB" sz="1050" b="0" noProof="0">
                          <a:solidFill>
                            <a:schemeClr val="tx2"/>
                          </a:solidFill>
                        </a:rPr>
                        <a:t xml:space="preserve">(as reflected in the undertaking’s utility bills)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electricity_renewable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electricity_non_rewenable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total_electricity</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en-GB" sz="1050" b="1" noProof="0">
                          <a:solidFill>
                            <a:schemeClr val="tx2"/>
                          </a:solidFill>
                        </a:rPr>
                        <a:t xml:space="preserve">Fuels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fuel_renewable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fuel_non_rewenable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total_fuel</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en-GB" sz="1050" b="1" noProof="0">
                          <a:solidFill>
                            <a:schemeClr val="tx2"/>
                          </a:solidFill>
                        </a:rPr>
                        <a:t xml:space="preserve">Other (e.g. district heating)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district_heating_rewenable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district_heating_non_rewenable</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total_district_heating</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en-GB"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renewable_energy_total</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non_rewenable_energy_total</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BM Plex Sans" panose="020B0503050203000203" pitchFamily="34" charset="0"/>
                        </a:rPr>
                        <a:t>{{</a:t>
                      </a:r>
                      <a:r>
                        <a:rPr lang="en-GB" sz="1050" b="0" i="0" u="none" strike="noStrike" noProof="0">
                          <a:solidFill>
                            <a:srgbClr val="2D55FF"/>
                          </a:solidFill>
                          <a:effectLst/>
                          <a:latin typeface="IBM Plex Sans" panose="020B0503050203000203" pitchFamily="34" charset="0"/>
                        </a:rPr>
                        <a:t>total_energy_consumption</a:t>
                      </a:r>
                      <a:r>
                        <a:rPr lang="en-GB" sz="1050" b="0" i="0" u="none" strike="noStrike" noProof="0">
                          <a:solidFill>
                            <a:srgbClr val="2D55FF"/>
                          </a:solidFill>
                          <a:effectLst/>
                          <a:latin typeface="IBM Plex Sans" panose="020B0503050203000203" pitchFamily="34" charset="0"/>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6</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en-GB" sz="1050" b="0" i="0" u="none" strike="noStrike" noProof="0">
                <a:solidFill>
                  <a:schemeClr val="tx2"/>
                </a:solidFill>
                <a:effectLst/>
                <a:latin typeface="Inter"/>
              </a:rPr>
              <a:t xml:space="preserve">This section presents the undertaking’s CO2 emissions from energy consumption and states renewable and non-renewable consumption. </a:t>
            </a:r>
            <a:r>
              <a:rPr lang="en-GB" sz="1050" noProof="0">
                <a:solidFill>
                  <a:schemeClr val="tx2"/>
                </a:solidFill>
                <a:latin typeface="Inter"/>
              </a:rPr>
              <a:t xml:space="preserve">The emissions are disclosed on the basis of </a:t>
            </a:r>
            <a:r>
              <a:rPr lang="en-GB" sz="1050" b="0" i="0" u="none" strike="noStrike" noProof="0">
                <a:solidFill>
                  <a:schemeClr val="tx2"/>
                </a:solidFill>
                <a:effectLst/>
                <a:latin typeface="Inter"/>
              </a:rPr>
              <a:t xml:space="preserve">the GHG Protocol’s definitions of what direct and indirect emissions comprise. </a:t>
            </a:r>
            <a:br>
              <a:rPr lang="en-GB" sz="1050" b="0" i="0" u="none" strike="noStrike" noProof="0" dirty="0">
                <a:effectLst/>
                <a:latin typeface="Inter"/>
              </a:rPr>
            </a:br>
            <a:br>
              <a:rPr lang="en-GB" sz="1050" dirty="0">
                <a:latin typeface="Inter"/>
              </a:rPr>
            </a:br>
            <a:r>
              <a:rPr lang="en-GB" sz="700" b="0" i="0" u="none" strike="noStrike" noProof="0">
                <a:solidFill>
                  <a:schemeClr val="tx2"/>
                </a:solidFill>
                <a:effectLst/>
                <a:latin typeface="Inter"/>
              </a:rPr>
              <a:t> </a:t>
            </a:r>
            <a:endParaRPr lang="en-GB" sz="1050" b="0" i="0" u="none" strike="noStrike" noProof="0" dirty="0">
              <a:solidFill>
                <a:schemeClr val="tx2"/>
              </a:solidFill>
              <a:effectLst/>
              <a:latin typeface="Inter"/>
            </a:endParaRPr>
          </a:p>
          <a:p>
            <a:pPr rtl="0">
              <a:buNone/>
            </a:pPr>
            <a:endParaRPr lang="en-GB" sz="1050" b="0" noProof="0">
              <a:solidFill>
                <a:schemeClr val="tx2"/>
              </a:solidFill>
              <a:effectLst/>
              <a:latin typeface="Inter"/>
            </a:endParaRPr>
          </a:p>
          <a:p>
            <a:pPr>
              <a:buNone/>
            </a:pPr>
            <a:endParaRPr lang="en-GB" b="0" noProof="0">
              <a:solidFill>
                <a:schemeClr val="tx2"/>
              </a:solidFill>
              <a:effectLst/>
              <a:latin typeface="Inter"/>
            </a:endParaRPr>
          </a:p>
          <a:p>
            <a:pPr>
              <a:buNone/>
            </a:pPr>
            <a:endParaRPr lang="en-GB" sz="1400" noProof="0">
              <a:solidFill>
                <a:schemeClr val="tx2"/>
              </a:solidFill>
              <a:latin typeface="Inter"/>
            </a:endParaRPr>
          </a:p>
          <a:p>
            <a:pPr>
              <a:buNone/>
            </a:pPr>
            <a:endParaRPr lang="en-GB" sz="1400" b="0" noProof="0">
              <a:solidFill>
                <a:schemeClr val="tx2"/>
              </a:solidFill>
              <a:effectLst/>
              <a:latin typeface="Inter"/>
            </a:endParaRPr>
          </a:p>
          <a:p>
            <a:pPr>
              <a:buNone/>
            </a:pPr>
            <a:endParaRPr lang="en-GB" sz="1400" noProof="0">
              <a:solidFill>
                <a:schemeClr val="tx2"/>
              </a:solidFill>
              <a:latin typeface="Inter"/>
            </a:endParaRPr>
          </a:p>
          <a:p>
            <a:pPr>
              <a:buNone/>
            </a:pPr>
            <a:endParaRPr lang="en-GB" sz="1400" b="0" noProof="0">
              <a:solidFill>
                <a:schemeClr val="tx2"/>
              </a:solidFill>
              <a:effectLst/>
              <a:latin typeface="Inter"/>
            </a:endParaRPr>
          </a:p>
          <a:p>
            <a:endParaRPr lang="en-GB" sz="1400" b="1">
              <a:latin typeface="+mj-lt"/>
            </a:endParaRPr>
          </a:p>
          <a:p>
            <a:endParaRPr lang="en-GB" sz="1400" b="1">
              <a:latin typeface="+mj-lt"/>
            </a:endParaRPr>
          </a:p>
          <a:p>
            <a:br>
              <a:rPr lang="en-GB" b="1" dirty="0">
                <a:latin typeface="+mj-lt"/>
              </a:rPr>
            </a:br>
            <a:r>
              <a:rPr lang="en-GB" b="1" i="0" u="none" strike="noStrike" noProof="0">
                <a:solidFill>
                  <a:schemeClr val="tx2"/>
                </a:solidFill>
                <a:effectLst/>
                <a:latin typeface="+mj-lt"/>
              </a:rPr>
              <a:t xml:space="preserve">CO₂e emissions (B3)</a:t>
            </a:r>
            <a:endParaRPr lang="en-GB" noProof="0">
              <a:solidFill>
                <a:schemeClr val="tx2"/>
              </a:solidFill>
              <a:effectLst/>
              <a:latin typeface="+mj-lt"/>
            </a:endParaRPr>
          </a:p>
          <a:p>
            <a:r>
              <a:rPr lang="en-GB" sz="700">
                <a:latin typeface="Inter"/>
              </a:rPr>
              <a:t> </a:t>
            </a:r>
            <a:br>
              <a:rPr lang="en-GB" sz="1050" dirty="0">
                <a:solidFill>
                  <a:schemeClr val="tx2"/>
                </a:solidFill>
                <a:latin typeface="Inter"/>
              </a:rPr>
            </a:br>
            <a:r>
              <a:rPr lang="en-GB" sz="1050" b="0" i="0" u="none" strike="noStrike" noProof="0">
                <a:solidFill>
                  <a:schemeClr val="tx2"/>
                </a:solidFill>
                <a:effectLst/>
                <a:latin typeface="Inter"/>
              </a:rPr>
              <a:t xml:space="preserve">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1050" noProof="0">
                <a:solidFill>
                  <a:schemeClr val="tx2"/>
                </a:solidFill>
                <a:latin typeface="Inter"/>
              </a:rPr>
              <a:t> </a:t>
            </a:r>
            <a:r>
              <a:rPr lang="en-GB" sz="1050" b="0" i="0" u="none" strike="noStrike" noProof="0">
                <a:solidFill>
                  <a:schemeClr val="tx2"/>
                </a:solidFill>
                <a:effectLst/>
                <a:latin typeface="Inter"/>
              </a:rPr>
              <a:t>Scope 2</a:t>
            </a:r>
            <a:r>
              <a:rPr lang="en-GB" sz="1050" noProof="0">
                <a:solidFill>
                  <a:schemeClr val="tx2"/>
                </a:solidFill>
                <a:latin typeface="Inter"/>
              </a:rPr>
              <a:t xml:space="preserve"> covers i</a:t>
            </a:r>
            <a:r>
              <a:rPr lang="en-GB" sz="1050" b="0" i="0" u="none" strike="noStrike" noProof="0">
                <a:solidFill>
                  <a:schemeClr val="tx2"/>
                </a:solidFill>
                <a:effectLst/>
                <a:latin typeface="Inter"/>
              </a:rPr>
              <a:t xml:space="preserve">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lang="en-GB"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en-GB" sz="1050" b="1" noProof="0">
                          <a:solidFill>
                            <a:schemeClr val="tx2"/>
                          </a:solidFill>
                        </a:rPr>
                        <a:t xml:space="preserve">Greenhouse gas emissions </a:t>
                      </a:r>
                      <a:r>
                        <a:rPr lang="en-GB" sz="1050" b="0" noProof="0">
                          <a:solidFill>
                            <a:schemeClr val="tx2"/>
                          </a:solidFill>
                        </a:rPr>
                        <a:t xml:space="preserve">(para. 33)</a:t>
                      </a:r>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chemeClr val="accent2"/>
                          </a:solidFill>
                          <a:latin typeface="Calibri" panose="020F0502020204030204" pitchFamily="34" charset="0"/>
                          <a:cs typeface="Calibri" panose="020F0502020204030204" pitchFamily="34" charset="0"/>
                        </a:rPr>
                        <a:t>{{</a:t>
                      </a:r>
                      <a:r>
                        <a:rPr lang="en-GB" sz="1050" b="1" noProof="0">
                          <a:solidFill>
                            <a:schemeClr val="accent2"/>
                          </a:solidFill>
                          <a:latin typeface="Calibri" panose="020F0502020204030204" pitchFamily="34" charset="0"/>
                          <a:cs typeface="Calibri" panose="020F0502020204030204" pitchFamily="34" charset="0"/>
                        </a:rPr>
                        <a:t>insert_year</a:t>
                      </a:r>
                      <a:r>
                        <a:rPr lang="en-GB" sz="1050" b="1" noProof="0">
                          <a:solidFill>
                            <a:schemeClr val="accent2"/>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en-GB" sz="1050" b="1" noProof="0">
                          <a:solidFill>
                            <a:schemeClr val="tx2"/>
                          </a:solidFill>
                        </a:rPr>
                        <a:t xml:space="preserve">Scope 1 CO₂e emissions</a:t>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{{scope1}}</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en-GB" sz="1050" b="1" noProof="0">
                          <a:solidFill>
                            <a:schemeClr val="tx2"/>
                          </a:solidFill>
                        </a:rPr>
                        <a:t xml:space="preserve">Scope 2 CO₂e emissions (location-based) </a:t>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{{scope2}}</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en-GB" sz="1050" b="1" noProof="0">
                          <a:solidFill>
                            <a:schemeClr val="tx2"/>
                          </a:solidFill>
                        </a:rPr>
                        <a:t xml:space="preserve">Total CO₂e emissions from Scope 1 and Scope 2 </a:t>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r>
                        <a:rPr lang="en-GB" sz="1050" b="1" noProof="0">
                          <a:solidFill>
                            <a:schemeClr val="tx2"/>
                          </a:solidFill>
                        </a:rPr>
                        <a:t xml:space="preserve"/>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total_scope</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Pollution of air, water and soil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en-GB" sz="1050" b="1" noProof="0">
                          <a:solidFill>
                            <a:schemeClr val="tx2"/>
                          </a:solidFill>
                        </a:rPr>
                        <a:t xml:space="preserve">Pollution of air, water and soil </a:t>
                      </a:r>
                      <a:r>
                        <a:rPr lang="en-GB" sz="1050" b="0" noProof="0">
                          <a:solidFill>
                            <a:schemeClr val="tx2"/>
                          </a:solidFill>
                        </a:rPr>
                        <a:t xml:space="preserve">(para.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Type of pollution </a:t>
                      </a:r>
                      <a:r>
                        <a:rPr lang="en-GB" sz="1050" b="0" noProof="0">
                          <a:solidFill>
                            <a:schemeClr val="tx2"/>
                          </a:solidFill>
                        </a:rPr>
                        <a:t xml:space="preserve">(e.g. substance)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1050" b="1" noProof="0">
                          <a:solidFill>
                            <a:schemeClr val="tx2"/>
                          </a:solidFill>
                        </a:rPr>
                        <a:t xml:space="preserve">Where? </a:t>
                      </a:r>
                      <a:r>
                        <a:rPr lang="en-GB" sz="1050" b="0" noProof="0">
                          <a:solidFill>
                            <a:schemeClr val="tx2"/>
                          </a:solidFill>
                        </a:rPr>
                        <a:t xml:space="preserve">(air, water, soil)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1050" b="1" noProof="0">
                          <a:solidFill>
                            <a:schemeClr val="tx2"/>
                          </a:solidFill>
                        </a:rPr>
                        <a:t xml:space="preserve">Amount</a:t>
                      </a:r>
                      <a:endParaRPr lang="en-GB"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buNone/>
                      </a:pPr>
                      <a:r>
                        <a:rPr lang="en-GB" sz="1050" b="0" i="0" u="none" strike="noStrike" noProof="0">
                          <a:solidFill>
                            <a:srgbClr val="2D55FF"/>
                          </a:solidFill>
                          <a:effectLst/>
                          <a:latin typeface="Inter"/>
                        </a:rPr>
                        <a:t>{{type_of_pollution}}</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en-GB" sz="1050" b="0" i="0" u="none" strike="noStrike" noProof="0">
                          <a:solidFill>
                            <a:srgbClr val="2D55FF"/>
                          </a:solidFill>
                          <a:effectLst/>
                          <a:latin typeface="Inter"/>
                        </a:rPr>
                        <a:t>{{scope_pollution}}</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1050" b="0" i="0" u="none" strike="noStrike" noProof="0">
                          <a:solidFill>
                            <a:srgbClr val="2D55FF"/>
                          </a:solidFill>
                          <a:effectLst/>
                          <a:latin typeface="Inter"/>
                        </a:rPr>
                        <a:t>{{pollution_medium}}</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7</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reports the total amount of pollutants emitted from its own operations. Reporting on specific pollutants and their amounts emitted to air, water and soil</a:t>
            </a:r>
            <a:r>
              <a:rPr lang="en-GB" sz="1050" noProof="0">
                <a:solidFill>
                  <a:schemeClr val="tx2"/>
                </a:solidFill>
                <a:latin typeface="Inter"/>
              </a:rPr>
              <a:t xml:space="preserve"> is set out below.</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Biodiversity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en-GB" sz="1050" b="1" noProof="0">
                          <a:solidFill>
                            <a:schemeClr val="tx2"/>
                          </a:solidFill>
                        </a:rPr>
                        <a:t xml:space="preserve">Sites in or near ‘biodiversity sensitive areas’ that the undertaking owns, leases or manages </a:t>
                      </a:r>
                      <a:r>
                        <a:rPr lang="en-GB" sz="1050" b="0" noProof="0">
                          <a:solidFill>
                            <a:schemeClr val="tx2"/>
                          </a:solidFill>
                        </a:rPr>
                        <a:t xml:space="preserve">(para.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en-GB" sz="1050" b="1" noProof="0">
                          <a:solidFill>
                            <a:schemeClr val="tx2"/>
                          </a:solidFill>
                        </a:rPr>
                        <a:t xml:space="preserve">Location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Area in hectares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Biodiversity sensitive area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Specification: in or near a biodiversity sensitive area</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buNone/>
                      </a:pPr>
                      <a:r>
                        <a:rPr lang="en-GB" sz="1050" b="0" i="0" u="none" strike="noStrike" noProof="0">
                          <a:solidFill>
                            <a:srgbClr val="2D55FF"/>
                          </a:solidFill>
                          <a:effectLst/>
                          <a:latin typeface="Inter"/>
                        </a:rPr>
                        <a:t>{{country_location}}</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1050" b="0" i="0" u="none" strike="noStrike" noProof="0">
                          <a:solidFill>
                            <a:srgbClr val="2D55FF"/>
                          </a:solidFill>
                          <a:effectLst/>
                          <a:latin typeface="Inter"/>
                        </a:rPr>
                        <a:t> {{area_hect}}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nter"/>
                        </a:rPr>
                        <a:t>{{area_name}}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nter"/>
                        </a:rPr>
                        <a:t>{{biosensitive_area}}</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en-GB" sz="1050" b="0" i="0" u="none" strike="noStrike" noProof="0">
                <a:solidFill>
                  <a:schemeClr val="tx2"/>
                </a:solidFill>
                <a:effectLst/>
                <a:latin typeface="Inter"/>
              </a:rPr>
              <a:t xml:space="preserve">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r>
              <a:rPr lang="en-GB" sz="1050" b="0" i="0" u="none" strike="noStrike" noProof="0">
                <a:solidFill>
                  <a:schemeClr val="tx2"/>
                </a:solidFill>
                <a:effectLst/>
                <a:latin typeface="Inter"/>
              </a:rPr>
              <a:t xml:space="preserve"/>
            </a:r>
            <a:r>
              <a:rPr lang="en-GB" sz="1050" b="0" i="0" u="none" strike="noStrike" noProof="0">
                <a:solidFill>
                  <a:schemeClr val="tx2"/>
                </a:solidFill>
                <a:effectLst/>
                <a:latin typeface="Inter"/>
              </a:rPr>
              <a:t xml:space="preserve"/>
            </a:r>
            <a:endParaRPr lang="en-GB"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Water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081960"/>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53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Water withdrawal </a:t>
                      </a:r>
                      <a:r>
                        <a:rPr lang="en-GB" sz="1050" b="0" noProof="0">
                          <a:solidFill>
                            <a:schemeClr val="tx2"/>
                          </a:solidFill>
                        </a:rPr>
                        <a:t xml:space="preserve">(para.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chemeClr val="accent2"/>
                          </a:solidFill>
                        </a:rPr>
                        <a:t>{{</a:t>
                      </a:r>
                      <a:r>
                        <a:rPr lang="en-GB" sz="1050" b="1" noProof="0">
                          <a:solidFill>
                            <a:schemeClr val="accent2"/>
                          </a:solidFill>
                        </a:rPr>
                        <a:t>insert_year</a:t>
                      </a:r>
                      <a:r>
                        <a:rPr lang="en-GB"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4776">
                <a:tc>
                  <a:txBody>
                    <a:bodyPr/>
                    <a:lstStyle/>
                    <a:p>
                      <a:r>
                        <a:rPr lang="en-GB" sz="1050" b="0" noProof="0">
                          <a:solidFill>
                            <a:schemeClr val="tx2"/>
                          </a:solidFill>
                        </a:rPr>
                        <a:t xml:space="preserve">Total for all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2D55FF"/>
                          </a:solidFill>
                          <a:effectLst/>
                          <a:uLnTx/>
                          <a:uFillTx/>
                          <a:latin typeface="+mn-lt"/>
                          <a:ea typeface="+mn-ea"/>
                          <a:cs typeface="+mn-cs"/>
                        </a:rPr>
                        <a:t>{{</a:t>
                      </a:r>
                      <a:r>
                        <a:rPr kumimoji="0" lang="en-GB" sz="1050" b="0" i="0" u="none" strike="noStrike" kern="1200" cap="none" spc="0" normalizeH="0" baseline="0" noProof="0">
                          <a:ln>
                            <a:noFill/>
                          </a:ln>
                          <a:solidFill>
                            <a:srgbClr val="2D55FF"/>
                          </a:solidFill>
                          <a:effectLst/>
                          <a:uLnTx/>
                          <a:uFillTx/>
                          <a:latin typeface="+mn-lt"/>
                          <a:ea typeface="+mn-ea"/>
                          <a:cs typeface="+mn-cs"/>
                        </a:rPr>
                        <a:t>total_withdrawal</a:t>
                      </a:r>
                      <a:r>
                        <a:rPr kumimoji="0" lang="en-GB"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Water consumption </a:t>
                      </a:r>
                      <a:r>
                        <a:rPr lang="en-GB" sz="1050" b="0" noProof="0">
                          <a:solidFill>
                            <a:schemeClr val="tx2"/>
                          </a:solidFill>
                        </a:rPr>
                        <a:t xml:space="preserve">(para.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1050" b="1" noProof="0">
                          <a:solidFill>
                            <a:schemeClr val="tx2"/>
                          </a:solidFill>
                        </a:rPr>
                        <a:t xml:space="preserve">Year </a:t>
                      </a:r>
                      <a:r>
                        <a:rPr lang="en-GB" sz="1050" b="1" noProof="0">
                          <a:solidFill>
                            <a:schemeClr val="accent2"/>
                          </a:solidFill>
                        </a:rPr>
                        <a:t>{{</a:t>
                      </a:r>
                      <a:r>
                        <a:rPr lang="en-GB" sz="1050" b="1" noProof="0">
                          <a:solidFill>
                            <a:schemeClr val="accent2"/>
                          </a:solidFill>
                        </a:rPr>
                        <a:t>insert_year</a:t>
                      </a:r>
                      <a:r>
                        <a:rPr lang="en-GB"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n-GB" sz="1050" b="0" noProof="0">
                          <a:solidFill>
                            <a:schemeClr val="tx2"/>
                          </a:solidFill>
                        </a:rPr>
                        <a:t xml:space="preserve">Total for all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consumption_total</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noProof="0">
                          <a:solidFill>
                            <a:schemeClr val="tx2"/>
                          </a:solidFill>
                        </a:rPr>
                        <a:t xml:space="preserve">From sites in areas of water scarcity (high water-stress)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consumption_waterstress</a:t>
                      </a:r>
                      <a:r>
                        <a:rPr lang="en-GB" sz="1050" b="0" i="0" u="none" strike="noStrike" noProof="0">
                          <a:solidFill>
                            <a:srgbClr val="2D55FF"/>
                          </a:solidFill>
                          <a:effectLst/>
                          <a:latin typeface="Inter"/>
                        </a:rPr>
                        <a:t>}}</a:t>
                      </a:r>
                      <a:endParaRPr lang="en-GB"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8</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en-GB" sz="1050" b="0" i="0" u="none" strike="noStrike" noProof="0">
                <a:solidFill>
                  <a:schemeClr val="tx2"/>
                </a:solidFill>
                <a:effectLst/>
                <a:latin typeface="Inter"/>
              </a:rPr>
              <a:t xml:space="preserve">Water withdrawal is the amount of water used by the undertaking, of which </a:t>
            </a:r>
            <a:r>
              <a:rPr lang="en-GB" sz="1050" noProof="0">
                <a:solidFill>
                  <a:schemeClr val="tx2"/>
                </a:solidFill>
                <a:latin typeface="Inter"/>
              </a:rPr>
              <a:t xml:space="preserve">consumption denotes water that </a:t>
            </a:r>
            <a:r>
              <a:rPr lang="en-GB" sz="1050" b="0" i="0" u="none" strike="noStrike" noProof="0">
                <a:solidFill>
                  <a:schemeClr val="tx2"/>
                </a:solidFill>
                <a:effectLst/>
                <a:latin typeface="Inter"/>
              </a:rPr>
              <a:t xml:space="preserve">is not discharged, or planned to be discharged, back to the water environment or to a third party. This section discloses the undertaking’s total water withdrawal. The undertaking’s water consumption</a:t>
            </a:r>
            <a:r>
              <a:rPr lang="en-GB" sz="1050" noProof="0">
                <a:solidFill>
                  <a:schemeClr val="tx2"/>
                </a:solidFill>
                <a:latin typeface="Inter"/>
              </a:rPr>
              <a:t> </a:t>
            </a:r>
            <a:r>
              <a:rPr lang="en-GB" sz="1050" b="0" i="0" u="none" strike="noStrike" noProof="0">
                <a:solidFill>
                  <a:schemeClr val="tx2"/>
                </a:solidFill>
                <a:effectLst/>
                <a:latin typeface="Inter"/>
              </a:rPr>
              <a:t xml:space="preserve">and water discharge from areas of high water-stress are set out below.</a:t>
            </a:r>
            <a:endParaRPr lang="en-GB"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15053"/>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Resource use, circular economy and waste management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Disclosure on the application of circular economy principles </a:t>
                      </a:r>
                      <a:r>
                        <a:rPr lang="en-GB" sz="1050" b="0" noProof="0">
                          <a:solidFill>
                            <a:schemeClr val="tx2"/>
                          </a:solidFill>
                        </a:rPr>
                        <a:t xml:space="preserve">(para.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en-GB" sz="1050" b="0" noProof="0">
                          <a:solidFill>
                            <a:schemeClr val="tx2"/>
                          </a:solidFill>
                        </a:rPr>
                        <a:t xml:space="preserve">My company applies circular economy principles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Yes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No</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circular_economy_princples_yes</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circular_economy_princples_no</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47139"/>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en-GB" sz="1050" b="1" noProof="0">
                          <a:solidFill>
                            <a:schemeClr val="tx2"/>
                          </a:solidFill>
                        </a:rPr>
                        <a:t xml:space="preserve">Description of how the undertaking applies circular economy principles </a:t>
                      </a:r>
                      <a:r>
                        <a:rPr lang="en-GB" sz="1050" b="0" noProof="0">
                          <a:solidFill>
                            <a:schemeClr val="tx2"/>
                          </a:solidFill>
                        </a:rPr>
                        <a:t xml:space="preserve">(para. 38 continued)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en-GB" sz="1050" b="0" kern="1200" noProof="0">
                          <a:solidFill>
                            <a:schemeClr val="accent2"/>
                          </a:solidFill>
                          <a:latin typeface="+mn-lt"/>
                          <a:ea typeface="+mn-ea"/>
                          <a:cs typeface="+mn-cs"/>
                        </a:rPr>
                        <a:t>{{</a:t>
                      </a:r>
                      <a:r>
                        <a:rPr lang="en-GB" sz="1050" b="0" kern="1200" noProof="0">
                          <a:solidFill>
                            <a:schemeClr val="accent2"/>
                          </a:solidFill>
                          <a:latin typeface="+mn-lt"/>
                          <a:ea typeface="+mn-ea"/>
                          <a:cs typeface="+mn-cs"/>
                        </a:rPr>
                        <a:t>description_of_circular_economies</a:t>
                      </a:r>
                      <a:r>
                        <a:rPr lang="en-GB" sz="1050" b="0" kern="1200" noProof="0">
                          <a:solidFill>
                            <a:schemeClr val="accent2"/>
                          </a:solidFill>
                          <a:latin typeface="+mn-lt"/>
                          <a:ea typeface="+mn-ea"/>
                          <a:cs typeface="+mn-cs"/>
                        </a:rPr>
                        <a:t>}}</a:t>
                      </a:r>
                    </a:p>
                    <a:p>
                      <a:pPr algn="l"/>
                      <a:endParaRPr lang="en-GB" sz="1050" b="0" kern="1200" noProof="0">
                        <a:solidFill>
                          <a:schemeClr val="accent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20519"/>
            <a:ext cx="4247524" cy="728758"/>
          </a:xfrm>
          <a:prstGeom prst="rect">
            <a:avLst/>
          </a:prstGeom>
          <a:noFill/>
        </p:spPr>
        <p:txBody>
          <a:bodyPr wrap="square" lIns="80190" tIns="40095" rIns="80190" bIns="40095" anchor="t">
            <a:spAutoFit/>
          </a:bodyPr>
          <a:lstStyle/>
          <a:p>
            <a:pPr rtl="0">
              <a:buNone/>
            </a:pPr>
            <a:r>
              <a:rPr lang="en-GB" sz="1050" b="0" i="0" u="none" strike="noStrike" noProof="0">
                <a:solidFill>
                  <a:schemeClr val="tx2"/>
                </a:solidFill>
                <a:effectLst/>
                <a:latin typeface="Inter"/>
              </a:rPr>
              <a:t xml:space="preserve">This disclosure requirement provides information on whether the undertaking</a:t>
            </a:r>
            <a:r>
              <a:rPr lang="en-GB" sz="1050" noProof="0">
                <a:solidFill>
                  <a:schemeClr val="tx2"/>
                </a:solidFill>
                <a:latin typeface="Inter"/>
              </a:rPr>
              <a:t xml:space="preserve"> applies circular economy principles, including whether principles are applied with regard to reducing waste and pollution and to a focus on circular products and materials.</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Resource use, circular economy and waste management (B7) – continued</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en-GB" sz="1050" b="1" noProof="0">
                          <a:solidFill>
                            <a:schemeClr val="tx2"/>
                          </a:solidFill>
                        </a:rPr>
                        <a:t xml:space="preserve">Total annual waste generation</a:t>
                      </a:r>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en-GB"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Total waste generated </a:t>
                      </a:r>
                      <a:r>
                        <a:rPr lang="en-GB" sz="1050" b="0" noProof="0">
                          <a:solidFill>
                            <a:schemeClr val="tx2"/>
                          </a:solidFill>
                        </a:rPr>
                        <a:t xml:space="preserve">(para.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Waste diverted to recycling or preparation for reuse </a:t>
                      </a:r>
                      <a:r>
                        <a:rPr lang="en-GB" sz="1050" b="0" noProof="0">
                          <a:solidFill>
                            <a:schemeClr val="tx2"/>
                          </a:solidFill>
                        </a:rPr>
                        <a:t xml:space="preserve">(para.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Non-hazardous waste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buNone/>
                      </a:pPr>
                      <a:r>
                        <a:rPr lang="en-GB" sz="1050" b="0" i="0" u="none" strike="noStrike" noProof="0">
                          <a:solidFill>
                            <a:srgbClr val="2D55FF"/>
                          </a:solidFill>
                          <a:effectLst/>
                          <a:latin typeface="Inter"/>
                        </a:rPr>
                        <a:t>{{Type_af_affald}}</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{{kg_tons_total}}</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nter"/>
                        </a:rPr>
                        <a:t>{{genbrug_kg_tons}}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en-GB" sz="1050" b="1" noProof="0">
                          <a:solidFill>
                            <a:schemeClr val="tx2"/>
                          </a:solidFill>
                        </a:rPr>
                        <a:t xml:space="preserve">Hazardous waste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buNone/>
                      </a:pPr>
                      <a:r>
                        <a:rPr lang="en-GB" sz="1050" b="0" i="0" u="none" strike="noStrike" noProof="0">
                          <a:solidFill>
                            <a:srgbClr val="2D55FF"/>
                          </a:solidFill>
                          <a:effectLst/>
                          <a:latin typeface="Inter"/>
                        </a:rPr>
                        <a:t>{{Type_af_affald_farlig}}</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{{farlig_kg_tons}}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1050" b="0" i="0" u="none" strike="noStrike" noProof="0">
                          <a:solidFill>
                            <a:srgbClr val="2D55FF"/>
                          </a:solidFill>
                          <a:effectLst/>
                          <a:latin typeface="Inter"/>
                        </a:rPr>
                        <a:t>{{farlig_genbrug_kg_tons}}</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9</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lang="en-GB"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799170"/>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982709">
                <a:tc>
                  <a:txBody>
                    <a:bodyPr/>
                    <a:lstStyle/>
                    <a:p>
                      <a:r>
                        <a:rPr lang="en-GB" sz="1050" b="1" noProof="0">
                          <a:solidFill>
                            <a:schemeClr val="tx2"/>
                          </a:solidFill>
                        </a:rPr>
                        <a:t xml:space="preserve">Significant materials </a:t>
                      </a:r>
                      <a:r>
                        <a:rPr lang="en-GB" sz="1050" b="0" noProof="0">
                          <a:solidFill>
                            <a:schemeClr val="tx2"/>
                          </a:solidFill>
                        </a:rPr>
                        <a:t xml:space="preserve">(para.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1050" b="1" noProof="0">
                          <a:solidFill>
                            <a:schemeClr val="tx2"/>
                          </a:solidFill>
                        </a:rPr>
                        <a:t xml:space="preserve">Annual mass-flow </a:t>
                      </a:r>
                      <a:r>
                        <a:rPr lang="en-GB" sz="1050" b="1" noProof="0">
                          <a:solidFill>
                            <a:schemeClr val="accent2"/>
                          </a:solidFill>
                        </a:rPr>
                        <a:t>{{insert_year}}</a:t>
                      </a:r>
                      <a:endParaRPr lang="en-GB"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18162">
                <a:tc>
                  <a:txBody>
                    <a:bodyPr/>
                    <a:lstStyle/>
                    <a:p>
                      <a:r>
                        <a:rPr lang="en-GB" sz="1050" b="0" i="0" u="none" strike="noStrike" noProof="0">
                          <a:solidFill>
                            <a:srgbClr val="2D55FF"/>
                          </a:solidFill>
                          <a:latin typeface="Inter"/>
                        </a:rPr>
                        <a:t>{{significant_material}}</a:t>
                      </a:r>
                      <a:endParaRPr lang="en-GB" sz="1050" b="0" noProof="0">
                        <a:solidFill>
                          <a:schemeClr val="accent2"/>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n-GB" sz="1050" b="0" i="0" u="none" strike="noStrike" noProof="0">
                          <a:solidFill>
                            <a:srgbClr val="2D55FF"/>
                          </a:solidFill>
                          <a:latin typeface="Inter"/>
                        </a:rPr>
                        <a:t>{{significant_material_unit}}</a:t>
                      </a:r>
                      <a:endParaRPr lang="en-GB"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General characteristics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en-GB" sz="1050" b="1" noProof="0">
                          <a:solidFill>
                            <a:schemeClr val="tx2"/>
                          </a:solidFill>
                        </a:rPr>
                        <a:t xml:space="preserve">Type of contract </a:t>
                      </a:r>
                      <a:r>
                        <a:rPr lang="en-GB" sz="1050" b="0" noProof="0">
                          <a:solidFill>
                            <a:schemeClr val="tx2"/>
                          </a:solidFill>
                        </a:rPr>
                        <a:t xml:space="preserve">(para.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rPr>
                        <a:t xml:space="preserve">Number of employees (headcount or full-time equivalents)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en-GB" sz="1050" b="0" noProof="0">
                          <a:solidFill>
                            <a:schemeClr val="tx2"/>
                          </a:solidFill>
                        </a:rPr>
                        <a:t xml:space="preserve">Temporary employment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temporary</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en-GB" sz="1050" b="0" noProof="0">
                          <a:solidFill>
                            <a:schemeClr val="tx2"/>
                          </a:solidFill>
                        </a:rPr>
                        <a:t xml:space="preserve">Permanent employment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fulltime</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en-GB" sz="1050" b="0" noProof="0">
                          <a:solidFill>
                            <a:schemeClr val="tx2"/>
                          </a:solidFill>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total_employees</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en-GB" sz="1050" b="1" noProof="0">
                          <a:solidFill>
                            <a:schemeClr val="tx2"/>
                          </a:solidFill>
                          <a:latin typeface="+mn-lt"/>
                        </a:rPr>
                        <a:t xml:space="preserve">Gender</a:t>
                      </a:r>
                      <a:r>
                        <a:rPr lang="en-GB" sz="1050" b="0" noProof="0">
                          <a:solidFill>
                            <a:schemeClr val="tx2"/>
                          </a:solidFill>
                          <a:latin typeface="+mn-lt"/>
                        </a:rPr>
                        <a:t xml:space="preserve"> (para. 40b)</a:t>
                      </a:r>
                      <a:r>
                        <a:rPr lang="en-GB" sz="1050" b="0" noProof="0">
                          <a:solidFill>
                            <a:schemeClr val="tx2"/>
                          </a:solidFill>
                        </a:rPr>
                        <a:t xml:space="preserve"/>
                      </a:r>
                      <a:endParaRPr lang="en-GB"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latin typeface="+mn-lt"/>
                        </a:rPr>
                        <a:t xml:space="preserve">Number of employees (headcount or full-time equivalents)</a:t>
                      </a:r>
                      <a:r>
                        <a:rPr lang="en-GB" sz="1050" b="1" noProof="0">
                          <a:solidFill>
                            <a:schemeClr val="tx2"/>
                          </a:solidFill>
                        </a:rPr>
                        <a:t xml:space="preserve"/>
                      </a:r>
                      <a:endParaRPr lang="en-GB"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n-GB" sz="1050" b="0" noProof="0">
                          <a:solidFill>
                            <a:schemeClr val="tx2"/>
                          </a:solidFill>
                          <a:latin typeface="+mn-lt"/>
                        </a:rPr>
                        <a:t xml:space="preserve">Male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{{men}}</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n-GB" sz="1050" b="0" noProof="0">
                          <a:solidFill>
                            <a:schemeClr val="tx2"/>
                          </a:solidFill>
                          <a:latin typeface="+mn-lt"/>
                        </a:rPr>
                        <a:t xml:space="preserve">Female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women</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en-GB" sz="1050" b="0" noProof="0">
                          <a:solidFill>
                            <a:schemeClr val="tx2"/>
                          </a:solidFill>
                          <a:latin typeface="+mn-lt"/>
                        </a:rPr>
                        <a:t xml:space="preserve">Other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others</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en-GB" sz="1050" b="0" noProof="0">
                          <a:solidFill>
                            <a:schemeClr val="tx2"/>
                          </a:solidFill>
                          <a:latin typeface="+mn-lt"/>
                        </a:rPr>
                        <a:t xml:space="preserve">Not recorded</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not_registeret</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en-GB" sz="1050" b="0" noProof="0">
                          <a:solidFill>
                            <a:schemeClr val="tx2"/>
                          </a:solidFill>
                          <a:latin typeface="+mn-lt"/>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total_employees</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10</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en-GB" sz="1050" b="0" i="0" u="none" strike="noStrike" noProof="0">
                <a:solidFill>
                  <a:srgbClr val="25595D"/>
                </a:solidFill>
                <a:effectLst/>
                <a:latin typeface="Inter"/>
              </a:rPr>
              <a:t xml:space="preserve">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lang="en-GB" sz="1050" b="0" noProof="0">
              <a:effectLst/>
              <a:latin typeface="Inter"/>
            </a:endParaRPr>
          </a:p>
          <a:p>
            <a:pPr>
              <a:buNone/>
            </a:pPr>
            <a:br>
              <a:rPr lang="en-GB" sz="1050" noProof="0">
                <a:latin typeface="Inter"/>
              </a:rPr>
            </a:br>
            <a:endParaRPr lang="en-GB"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en-GB" sz="1050" b="1" noProof="0">
                          <a:solidFill>
                            <a:schemeClr val="tx2"/>
                          </a:solidFill>
                        </a:rPr>
                        <a:t xml:space="preserve">Country (where the employment contract was concluded) </a:t>
                      </a:r>
                      <a:r>
                        <a:rPr lang="en-GB" sz="1050" b="0" noProof="0">
                          <a:solidFill>
                            <a:schemeClr val="tx2"/>
                          </a:solidFill>
                        </a:rPr>
                        <a:t xml:space="preserve">(para.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1050" b="1" noProof="0">
                          <a:solidFill>
                            <a:schemeClr val="tx2"/>
                          </a:solidFill>
                        </a:rPr>
                        <a:t xml:space="preserve">Number of employees (headcount or full-time equivalents)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n-GB" sz="1050" b="0" noProof="0">
                          <a:solidFill>
                            <a:schemeClr val="tx2"/>
                          </a:solidFill>
                        </a:rPr>
                        <a:t xml:space="preserve">Denmark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1050" b="0" i="0" u="none" strike="noStrike" noProof="0">
                          <a:solidFill>
                            <a:srgbClr val="2D55FF"/>
                          </a:solidFill>
                          <a:effectLst/>
                          <a:latin typeface="Inter"/>
                        </a:rPr>
                        <a:t>{{Denmark}}</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buNone/>
                      </a:pPr>
                      <a:r>
                        <a:rPr lang="en-GB" sz="1050" b="0" i="0" u="none" strike="noStrike" noProof="0">
                          <a:solidFill>
                            <a:srgbClr val="2D55FF"/>
                          </a:solidFill>
                          <a:effectLst/>
                          <a:latin typeface="Inter"/>
                        </a:rPr>
                        <a:t>{{Land_b}}</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rPr>
                        <a:t>FTE_eller_antal_personer_land_b</a:t>
                      </a:r>
                      <a:r>
                        <a:rPr lang="en-GB" sz="1050" b="0" i="0" u="none" strike="noStrike" noProof="0">
                          <a:solidFill>
                            <a:srgbClr val="2D55FF"/>
                          </a:solidFill>
                          <a:effectLst/>
                          <a:latin typeface="Inter"/>
                        </a:rPr>
                        <a:t>}}</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n-GB" sz="1050" b="0" noProof="0">
                          <a:solidFill>
                            <a:schemeClr val="tx2"/>
                          </a:solidFill>
                        </a:rPr>
                        <a:t xml:space="preserve">Total number of employees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1050" b="0" i="0" u="none" strike="noStrike" noProof="0">
                          <a:solidFill>
                            <a:srgbClr val="2D55FF"/>
                          </a:solidFill>
                          <a:effectLst/>
                          <a:latin typeface="Inter"/>
                        </a:rPr>
                        <a:t>{{Total_out_of_countries}}</a:t>
                      </a:r>
                      <a:endParaRPr lang="en-GB"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Health and safety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Recordable work-related accidents </a:t>
                      </a:r>
                      <a:r>
                        <a:rPr lang="en-GB" sz="1050" b="0" noProof="0">
                          <a:solidFill>
                            <a:schemeClr val="tx2"/>
                          </a:solidFill>
                        </a:rPr>
                        <a:t xml:space="preserve">(para.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en-GB" sz="1050" b="0" noProof="0">
                          <a:solidFill>
                            <a:schemeClr val="tx2"/>
                          </a:solidFill>
                        </a:rPr>
                        <a:t xml:space="preserve">Number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2D55FF"/>
                          </a:solidFill>
                          <a:effectLst/>
                          <a:uLnTx/>
                          <a:uFillTx/>
                          <a:latin typeface="Inter"/>
                          <a:ea typeface="+mn-ea"/>
                          <a:cs typeface="+mn-cs"/>
                        </a:rPr>
                        <a:t>{{</a:t>
                      </a:r>
                      <a:r>
                        <a:rPr lang="en-GB" sz="1050" b="0" i="0" u="none" strike="noStrike" kern="1200" cap="none" spc="0" normalizeH="0" baseline="0" noProof="0">
                          <a:ln>
                            <a:noFill/>
                          </a:ln>
                          <a:solidFill>
                            <a:srgbClr val="2D55FF"/>
                          </a:solidFill>
                          <a:effectLst/>
                          <a:uLnTx/>
                          <a:uFillTx/>
                          <a:latin typeface="Inter"/>
                        </a:rPr>
                        <a:t>indsat_antal_accidents</a:t>
                      </a:r>
                      <a:r>
                        <a:rPr lang="en-GB" sz="1050" b="0" i="0" u="none" strike="noStrike" kern="1200" cap="none" spc="0" normalizeH="0" baseline="0" noProof="0">
                          <a:ln>
                            <a:noFill/>
                          </a:ln>
                          <a:solidFill>
                            <a:srgbClr val="2D55FF"/>
                          </a:solidFill>
                          <a:effectLst/>
                          <a:uLnTx/>
                          <a:uFillTx/>
                          <a:latin typeface="Inter"/>
                          <a:ea typeface="+mn-ea"/>
                          <a:cs typeface="+mn-cs"/>
                        </a:rPr>
                        <a:t>}}</a:t>
                      </a:r>
                      <a:endParaRPr kumimoji="0" lang="en-GB"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en-GB" sz="1050" b="0" noProof="0">
                          <a:solidFill>
                            <a:schemeClr val="tx2"/>
                          </a:solidFill>
                        </a:rPr>
                        <a:t xml:space="preserve">Rate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2D55FF"/>
                          </a:solidFill>
                          <a:effectLst/>
                          <a:uLnTx/>
                          <a:uFillTx/>
                          <a:latin typeface="Inter"/>
                          <a:ea typeface="+mn-ea"/>
                          <a:cs typeface="+mn-cs"/>
                        </a:rPr>
                        <a:t>{{</a:t>
                      </a:r>
                      <a:r>
                        <a:rPr lang="en-GB" sz="1050" b="0" i="0" u="none" strike="noStrike" kern="1200" cap="none" spc="0" normalizeH="0" baseline="0" noProof="0">
                          <a:ln>
                            <a:noFill/>
                          </a:ln>
                          <a:solidFill>
                            <a:srgbClr val="2D55FF"/>
                          </a:solidFill>
                          <a:effectLst/>
                          <a:uLnTx/>
                          <a:uFillTx/>
                          <a:latin typeface="Inter"/>
                        </a:rPr>
                        <a:t>indsat_accidents_frequents</a:t>
                      </a:r>
                      <a:r>
                        <a:rPr lang="en-GB" sz="1050" b="0" i="0" u="none" strike="noStrike" kern="1200" cap="none" spc="0" normalizeH="0" baseline="0" noProof="0">
                          <a:ln>
                            <a:noFill/>
                          </a:ln>
                          <a:solidFill>
                            <a:srgbClr val="2D55FF"/>
                          </a:solidFill>
                          <a:effectLst/>
                          <a:uLnTx/>
                          <a:uFillTx/>
                          <a:latin typeface="Inter"/>
                          <a:ea typeface="+mn-ea"/>
                          <a:cs typeface="+mn-cs"/>
                        </a:rPr>
                        <a:t>}}</a:t>
                      </a:r>
                      <a:endParaRPr kumimoji="0" lang="en-GB"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Work-related fatalities </a:t>
                      </a:r>
                      <a:r>
                        <a:rPr lang="en-GB" sz="1050" b="0" noProof="0">
                          <a:solidFill>
                            <a:schemeClr val="tx2"/>
                          </a:solidFill>
                        </a:rPr>
                        <a:t xml:space="preserve">(para.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en-GB" sz="1050" b="0" noProof="0">
                          <a:solidFill>
                            <a:schemeClr val="tx2"/>
                          </a:solidFill>
                        </a:rPr>
                        <a:t xml:space="preserve">As a result of work-related injury/accident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en-GB" sz="1050" b="0" i="0" u="none" strike="noStrike" kern="1200" cap="none" spc="0" normalizeH="0" baseline="0" noProof="0">
                          <a:ln>
                            <a:noFill/>
                          </a:ln>
                          <a:solidFill>
                            <a:srgbClr val="2D55FF"/>
                          </a:solidFill>
                          <a:effectLst/>
                          <a:uLnTx/>
                          <a:uFillTx/>
                          <a:latin typeface="Inter"/>
                          <a:ea typeface="+mn-ea"/>
                          <a:cs typeface="+mn-cs"/>
                        </a:rPr>
                        <a:t>{{</a:t>
                      </a:r>
                      <a:r>
                        <a:rPr lang="en-GB" sz="1050" b="0" i="0" u="none" strike="noStrike" kern="1200" cap="none" spc="0" normalizeH="0" baseline="0" noProof="0">
                          <a:ln>
                            <a:noFill/>
                          </a:ln>
                          <a:solidFill>
                            <a:srgbClr val="2D55FF"/>
                          </a:solidFill>
                          <a:effectLst/>
                          <a:uLnTx/>
                          <a:uFillTx/>
                          <a:latin typeface="Inter"/>
                        </a:rPr>
                        <a:t>deaths_by_accidents</a:t>
                      </a:r>
                      <a:r>
                        <a:rPr lang="en-GB" sz="1050" b="0" i="0" u="none" strike="noStrike" kern="1200" cap="none" spc="0" normalizeH="0" baseline="0" noProof="0">
                          <a:ln>
                            <a:noFill/>
                          </a:ln>
                          <a:solidFill>
                            <a:srgbClr val="2D55FF"/>
                          </a:solidFill>
                          <a:effectLst/>
                          <a:uLnTx/>
                          <a:uFillTx/>
                          <a:latin typeface="Inter"/>
                          <a:ea typeface="+mn-ea"/>
                          <a:cs typeface="+mn-cs"/>
                        </a:rPr>
                        <a:t>}}</a:t>
                      </a:r>
                      <a:endParaRPr kumimoji="0" lang="en-GB"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en-GB" sz="1050" b="0" noProof="0">
                          <a:solidFill>
                            <a:schemeClr val="tx2"/>
                          </a:solidFill>
                        </a:rPr>
                        <a:t xml:space="preserve">As a result of work-related ill health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0" i="0" u="none" strike="noStrike" kern="1200" cap="none" spc="0" normalizeH="0" baseline="0" noProof="0">
                          <a:ln>
                            <a:noFill/>
                          </a:ln>
                          <a:solidFill>
                            <a:srgbClr val="2D55FF"/>
                          </a:solidFill>
                          <a:effectLst/>
                          <a:uLnTx/>
                          <a:uFillTx/>
                          <a:latin typeface="Inter"/>
                          <a:ea typeface="+mn-ea"/>
                          <a:cs typeface="+mn-cs"/>
                        </a:rPr>
                        <a:t>{{</a:t>
                      </a:r>
                      <a:r>
                        <a:rPr lang="en-GB" sz="1050" b="0" i="0" u="none" strike="noStrike" kern="1200" cap="none" spc="0" normalizeH="0" baseline="0" noProof="0">
                          <a:ln>
                            <a:noFill/>
                          </a:ln>
                          <a:solidFill>
                            <a:srgbClr val="2D55FF"/>
                          </a:solidFill>
                          <a:effectLst/>
                          <a:uLnTx/>
                          <a:uFillTx/>
                          <a:latin typeface="Inter"/>
                        </a:rPr>
                        <a:t>deaths_by_health</a:t>
                      </a:r>
                      <a:r>
                        <a:rPr lang="en-GB" sz="1050" b="0" i="0" u="none" strike="noStrike" kern="1200" cap="none" spc="0" normalizeH="0" baseline="0" noProof="0">
                          <a:ln>
                            <a:noFill/>
                          </a:ln>
                          <a:solidFill>
                            <a:srgbClr val="2D55FF"/>
                          </a:solidFill>
                          <a:effectLst/>
                          <a:uLnTx/>
                          <a:uFillTx/>
                          <a:latin typeface="Inter"/>
                          <a:ea typeface="+mn-ea"/>
                          <a:cs typeface="+mn-cs"/>
                        </a:rPr>
                        <a:t>}}</a:t>
                      </a:r>
                      <a:endParaRPr kumimoji="0" lang="en-GB"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11</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disclosed information on the number of recordable work-related accidents and work-related fatalities for the following breakdowns: number and rate. In addition, whether work-related fatalities are due to work-related injuries/accidents or ill health.</a:t>
            </a:r>
            <a:endParaRPr lang="en-GB" sz="1050" b="0" noProof="0">
              <a:solidFill>
                <a:schemeClr val="tx2"/>
              </a:solidFill>
              <a:effectLst/>
              <a:latin typeface="Inter"/>
            </a:endParaRPr>
          </a:p>
          <a:p>
            <a:pPr>
              <a:buNone/>
            </a:pPr>
            <a:br>
              <a:rPr lang="en-GB" sz="1050" noProof="0">
                <a:solidFill>
                  <a:schemeClr val="tx2"/>
                </a:solidFill>
                <a:latin typeface="Inter"/>
              </a:rPr>
            </a:br>
            <a:endParaRPr lang="en-GB"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n-GB" noProof="0"/>
              <a:t xml:space="preserve">Own workforce: Remuneration, collective bargaining and training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Pay gap between male and female employees </a:t>
                      </a:r>
                      <a:r>
                        <a:rPr lang="en-GB" sz="1050" b="0" noProof="0">
                          <a:solidFill>
                            <a:schemeClr val="tx2"/>
                          </a:solidFill>
                        </a:rPr>
                        <a:t xml:space="preserve">(para.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chemeClr val="accent2"/>
                          </a:solidFill>
                          <a:latin typeface="Calibri" panose="020F0502020204030204" pitchFamily="34" charset="0"/>
                          <a:cs typeface="Calibri" panose="020F0502020204030204" pitchFamily="34" charset="0"/>
                        </a:rPr>
                        <a:t> </a:t>
                      </a:r>
                      <a:r>
                        <a:rPr lang="en-GB" sz="1050" b="1" noProof="0">
                          <a:solidFill>
                            <a:schemeClr val="accent2"/>
                          </a:solidFill>
                        </a:rPr>
                        <a:t>{{</a:t>
                      </a:r>
                      <a:r>
                        <a:rPr lang="en-GB" sz="1050" b="1" noProof="0">
                          <a:solidFill>
                            <a:schemeClr val="accent2"/>
                          </a:solidFill>
                        </a:rPr>
                        <a:t>insert_year</a:t>
                      </a:r>
                      <a:r>
                        <a:rPr lang="en-GB"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1050" b="0" noProof="0">
                          <a:solidFill>
                            <a:schemeClr val="accent2"/>
                          </a:solidFill>
                        </a:rPr>
                        <a:t>{{</a:t>
                      </a:r>
                      <a:r>
                        <a:rPr lang="en-GB" sz="1050" b="0" noProof="0">
                          <a:solidFill>
                            <a:schemeClr val="accent2"/>
                          </a:solidFill>
                        </a:rPr>
                        <a:t>indsat_procentvise_lonforskel</a:t>
                      </a:r>
                      <a:r>
                        <a:rPr lang="en-GB" sz="1050" b="0" noProof="0">
                          <a:solidFill>
                            <a:schemeClr val="accent2"/>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en-GB" sz="1050" b="1" noProof="0">
                          <a:solidFill>
                            <a:schemeClr val="tx2"/>
                          </a:solidFill>
                        </a:rPr>
                        <a:t xml:space="preserve">Information on minimum wage </a:t>
                      </a:r>
                      <a:r>
                        <a:rPr lang="en-GB"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Yes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No</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en-GB" sz="1050" b="0" noProof="0">
                          <a:solidFill>
                            <a:schemeClr val="tx2"/>
                          </a:solidFill>
                        </a:rPr>
                        <a:t xml:space="preserve">In the undertaking, all employees receive pay that is at least equal to the minimum wage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minumum_wage_yes</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minimum_wage_no</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Collective bargaining agreement </a:t>
                      </a:r>
                      <a:r>
                        <a:rPr lang="en-GB" sz="1050" b="0" noProof="0">
                          <a:solidFill>
                            <a:schemeClr val="tx2"/>
                          </a:solidFill>
                        </a:rPr>
                        <a:t xml:space="preserve">(para.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chemeClr val="accent2"/>
                          </a:solidFill>
                          <a:latin typeface="Calibri" panose="020F0502020204030204" pitchFamily="34" charset="0"/>
                          <a:cs typeface="Calibri" panose="020F0502020204030204" pitchFamily="34" charset="0"/>
                        </a:rPr>
                        <a:t> {{</a:t>
                      </a:r>
                      <a:r>
                        <a:rPr lang="en-GB" sz="1050" b="1" noProof="0">
                          <a:solidFill>
                            <a:schemeClr val="accent2"/>
                          </a:solidFill>
                          <a:latin typeface="Calibri" panose="020F0502020204030204" pitchFamily="34" charset="0"/>
                          <a:cs typeface="Calibri" panose="020F0502020204030204" pitchFamily="34" charset="0"/>
                        </a:rPr>
                        <a:t>insert_year</a:t>
                      </a:r>
                      <a:r>
                        <a:rPr lang="en-GB" sz="1050" b="1" noProof="0">
                          <a:solidFill>
                            <a:schemeClr val="accent2"/>
                          </a:solidFill>
                          <a:latin typeface="Calibri" panose="020F0502020204030204" pitchFamily="34" charset="0"/>
                          <a:cs typeface="Calibri" panose="020F0502020204030204" pitchFamily="34" charset="0"/>
                        </a:rPr>
                        <a:t>}}</a:t>
                      </a:r>
                      <a:endParaRPr lang="en-GB" sz="1050"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b="0" noProof="0">
                          <a:solidFill>
                            <a:schemeClr val="tx2"/>
                          </a:solidFill>
                        </a:rPr>
                        <a:t xml:space="preserve">Percentage of employees covered by a collective bargaining agreement</a:t>
                      </a:r>
                      <a:endParaRPr kumimoji="0" lang="en-GB" sz="1050" b="0" i="0" u="none" strike="noStrike" kern="1200" cap="none" spc="0" normalizeH="0" baseline="0" noProof="0">
                        <a:ln>
                          <a:noFill/>
                        </a:ln>
                        <a:solidFill>
                          <a:srgbClr val="2D55FF"/>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2D55FF"/>
                          </a:solidFill>
                          <a:effectLst/>
                          <a:uLnTx/>
                          <a:uFillTx/>
                          <a:latin typeface="+mn-lt"/>
                          <a:ea typeface="+mn-ea"/>
                          <a:cs typeface="+mn-cs"/>
                        </a:rPr>
                        <a:t>{{</a:t>
                      </a:r>
                      <a:r>
                        <a:rPr kumimoji="0" lang="en-GB" sz="1050" b="0" i="0" u="none" strike="noStrike" kern="1200" cap="none" spc="0" normalizeH="0" baseline="0" noProof="0">
                          <a:ln>
                            <a:noFill/>
                          </a:ln>
                          <a:solidFill>
                            <a:srgbClr val="2D55FF"/>
                          </a:solidFill>
                          <a:effectLst/>
                          <a:uLnTx/>
                          <a:uFillTx/>
                          <a:latin typeface="+mn-lt"/>
                          <a:ea typeface="+mn-ea"/>
                          <a:cs typeface="+mn-cs"/>
                        </a:rPr>
                        <a:t>indsat_procentvis_ansatte</a:t>
                      </a:r>
                      <a:r>
                        <a:rPr kumimoji="0" lang="en-GB"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en-GB" sz="1050" b="1" noProof="0">
                          <a:solidFill>
                            <a:schemeClr val="tx2"/>
                          </a:solidFill>
                        </a:rPr>
                        <a:t xml:space="preserve">Average training hours per employee </a:t>
                      </a:r>
                      <a:r>
                        <a:rPr lang="en-GB" sz="1050" b="0" noProof="0">
                          <a:solidFill>
                            <a:schemeClr val="tx2"/>
                          </a:solidFill>
                        </a:rPr>
                        <a:t xml:space="preserve">(para.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050" b="1" noProof="0">
                          <a:solidFill>
                            <a:schemeClr val="tx2"/>
                          </a:solidFill>
                        </a:rPr>
                        <a:t xml:space="preserve">Year</a:t>
                      </a:r>
                      <a:r>
                        <a:rPr lang="en-GB"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en-GB" sz="1050" b="0" noProof="0">
                          <a:solidFill>
                            <a:schemeClr val="tx2"/>
                          </a:solidFill>
                        </a:rPr>
                        <a:t xml:space="preserve">Hour(s) per employee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1050" b="0" i="0" u="none" strike="noStrike" noProof="0">
                          <a:solidFill>
                            <a:srgbClr val="2D55FF"/>
                          </a:solidFill>
                          <a:effectLst/>
                          <a:latin typeface="Inter"/>
                        </a:rPr>
                        <a:t>{{gennemsnitstimer}}</a:t>
                      </a:r>
                      <a:endParaRPr lang="en-GB"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p>
          <a:p>
            <a:pPr>
              <a:buNone/>
            </a:pPr>
            <a:br>
              <a:rPr lang="en-GB" sz="1050" noProof="0">
                <a:solidFill>
                  <a:schemeClr val="tx2"/>
                </a:solidFill>
                <a:latin typeface="Inter"/>
              </a:rPr>
            </a:br>
            <a:endParaRPr lang="en-GB"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Business conduct: Number of convictions and fines related to corruption &amp; bribery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en-GB" sz="1050" b="1" noProof="0">
                          <a:solidFill>
                            <a:schemeClr val="tx2"/>
                          </a:solidFill>
                        </a:rPr>
                        <a:t xml:space="preserve">Corruption and bribery </a:t>
                      </a:r>
                      <a:r>
                        <a:rPr lang="en-GB" sz="1050" b="0" noProof="0">
                          <a:solidFill>
                            <a:schemeClr val="tx2"/>
                          </a:solidFill>
                        </a:rPr>
                        <a:t xml:space="preserve">(para.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1050" b="1" noProof="0">
                          <a:solidFill>
                            <a:schemeClr val="tx2"/>
                          </a:solidFill>
                        </a:rPr>
                        <a:t xml:space="preserve">Number of convictions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1050" b="1" noProof="0">
                          <a:solidFill>
                            <a:schemeClr val="tx2"/>
                          </a:solidFill>
                        </a:rPr>
                        <a:t xml:space="preserve">Total amount of fines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en-GB" sz="1050" b="0" i="0" u="none" strike="noStrike" noProof="0">
                          <a:solidFill>
                            <a:srgbClr val="2D55FF"/>
                          </a:solidFill>
                          <a:effectLst/>
                          <a:latin typeface="Inter"/>
                        </a:rPr>
                        <a:t>{{domme}}</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1050" b="0" i="0" u="none" strike="noStrike" noProof="0">
                          <a:solidFill>
                            <a:srgbClr val="2D55FF"/>
                          </a:solidFill>
                          <a:effectLst/>
                          <a:latin typeface="Inter"/>
                        </a:rPr>
                        <a:t>{{</a:t>
                      </a:r>
                      <a:r>
                        <a:rPr lang="en-GB" sz="1050" b="0" i="0" u="none" strike="noStrike" noProof="0">
                          <a:solidFill>
                            <a:srgbClr val="2D55FF"/>
                          </a:solidFill>
                          <a:effectLst/>
                          <a:latin typeface="Inter"/>
                        </a:rPr>
                        <a:t>samlet_bodestorrelse</a:t>
                      </a:r>
                      <a:r>
                        <a:rPr lang="en-GB" sz="1050" b="0" i="0" u="none" strike="noStrike" noProof="0">
                          <a:solidFill>
                            <a:srgbClr val="2D55FF"/>
                          </a:solidFill>
                          <a:effectLst/>
                          <a:latin typeface="Inter"/>
                        </a:rPr>
                        <a:t>}}</a:t>
                      </a:r>
                      <a:endParaRPr lang="en-GB"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12</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endParaRPr lang="en-GB"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en-GB" sz="1050" b="0" i="0" u="none" strike="noStrike" noProof="0">
                <a:solidFill>
                  <a:schemeClr val="tx2"/>
                </a:solidFill>
                <a:effectLst/>
                <a:latin typeface="Inter"/>
              </a:rPr>
              <a:t xml:space="preserve">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r>
              <a:rPr lang="en-GB" sz="1050" b="0" i="0" u="none" strike="noStrike" noProof="0">
                <a:solidFill>
                  <a:schemeClr val="tx2"/>
                </a:solidFill>
                <a:effectLst/>
                <a:latin typeface="Inter"/>
              </a:rPr>
              <a:t xml:space="preserve"/>
            </a:r>
            <a:r>
              <a:rPr lang="en-GB" sz="1050" b="0" i="0" u="none" strike="noStrike" noProof="0">
                <a:solidFill>
                  <a:schemeClr val="tx2"/>
                </a:solidFill>
                <a:effectLst/>
                <a:latin typeface="Inter"/>
              </a:rPr>
              <a:t xml:space="preserve"/>
            </a:r>
            <a:endParaRPr lang="en-GB" sz="1050" b="0" noProof="0">
              <a:solidFill>
                <a:schemeClr val="tx2"/>
              </a:solidFill>
              <a:effectLst/>
              <a:latin typeface="Inter"/>
            </a:endParaRPr>
          </a:p>
          <a:p>
            <a:pPr>
              <a:buNone/>
            </a:pPr>
            <a:br>
              <a:rPr lang="en-GB" sz="1050" noProof="0">
                <a:solidFill>
                  <a:schemeClr val="tx2"/>
                </a:solidFill>
                <a:latin typeface="Inter"/>
              </a:rPr>
            </a:br>
            <a:endParaRPr lang="en-GB"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en-GB" sz="1575" b="1" noProof="0">
                <a:solidFill>
                  <a:srgbClr val="FFFFFF"/>
                </a:solidFill>
                <a:latin typeface="IBM Plex Sans" panose="020B0503050203000203" pitchFamily="34" charset="0"/>
              </a:rPr>
              <a:t>{{</a:t>
            </a:r>
            <a:r>
              <a:rPr lang="en-GB" sz="1575" b="1" noProof="0">
                <a:solidFill>
                  <a:srgbClr val="FFFFFF"/>
                </a:solidFill>
                <a:latin typeface="IBM Plex Sans" panose="020B0503050203000203" pitchFamily="34" charset="0"/>
              </a:rPr>
              <a:t>company_name</a:t>
            </a:r>
            <a:r>
              <a:rPr lang="en-GB" sz="1575" b="1" noProof="0">
                <a:solidFill>
                  <a:srgbClr val="FFFFFF"/>
                </a:solidFill>
                <a:latin typeface="IBM Plex Sans" panose="020B0503050203000203" pitchFamily="34" charset="0"/>
              </a:rPr>
              <a:t>}}</a:t>
            </a:r>
          </a:p>
          <a:p>
            <a:pPr algn="ctr"/>
            <a:r>
              <a:rPr lang="en-GB" sz="1575" b="1" noProof="0">
                <a:solidFill>
                  <a:srgbClr val="FFFFFF"/>
                </a:solidFill>
                <a:latin typeface="IBM Plex Sans" panose="020B0503050203000203" pitchFamily="34" charset="0"/>
              </a:rPr>
              <a:t>{{</a:t>
            </a:r>
            <a:r>
              <a:rPr lang="en-GB" sz="1575" b="1" noProof="0">
                <a:solidFill>
                  <a:srgbClr val="FFFFFF"/>
                </a:solidFill>
                <a:latin typeface="IBM Plex Sans" panose="020B0503050203000203" pitchFamily="34" charset="0"/>
              </a:rPr>
              <a:t>insert_year</a:t>
            </a:r>
            <a:r>
              <a:rPr lang="en-GB" sz="1575" b="1" noProof="0">
                <a:solidFill>
                  <a:srgbClr val="FFFFFF"/>
                </a:solidFill>
                <a:latin typeface="IBM Plex Sans" panose="020B0503050203000203" pitchFamily="34" charset="0"/>
              </a:rPr>
              <a:t>}}</a:t>
            </a:r>
            <a:br>
              <a:rPr lang="en-GB" sz="1575" b="1" noProof="0">
                <a:solidFill>
                  <a:srgbClr val="FFFFFF"/>
                </a:solidFill>
                <a:latin typeface="IBM Plex Sans" panose="020B0503050203000203" pitchFamily="34" charset="0"/>
              </a:rPr>
            </a:br>
            <a:endParaRPr lang="en-GB"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en-GB" noProof="0" smtClean="0"/>
              <a:pPr/>
              <a:t>25</a:t>
            </a:fld>
            <a:endParaRPr lang="en-GB"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