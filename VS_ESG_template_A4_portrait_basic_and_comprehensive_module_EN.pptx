
<file path=[Content_Types].xml><?xml version="1.0" encoding="utf-8"?>
<Types xmlns="http://schemas.openxmlformats.org/package/2006/content-types">
  <Default Extension="jpeg" ContentType="image/jpe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5" r:id="rId4"/>
  </p:sldMasterIdLst>
  <p:notesMasterIdLst>
    <p:notesMasterId r:id="rId24"/>
  </p:notesMasterIdLst>
  <p:sldIdLst>
    <p:sldId id="258" r:id="rId5"/>
    <p:sldId id="331" r:id="rId6"/>
    <p:sldId id="355" r:id="rId7"/>
    <p:sldId id="314" r:id="rId8"/>
    <p:sldId id="327" r:id="rId9"/>
    <p:sldId id="316" r:id="rId10"/>
    <p:sldId id="300" r:id="rId11"/>
    <p:sldId id="301" r:id="rId12"/>
    <p:sldId id="307" r:id="rId13"/>
    <p:sldId id="335" r:id="rId14"/>
    <p:sldId id="334" r:id="rId15"/>
    <p:sldId id="337" r:id="rId16"/>
    <p:sldId id="339" r:id="rId17"/>
    <p:sldId id="352" r:id="rId18"/>
    <p:sldId id="356" r:id="rId19"/>
    <p:sldId id="345" r:id="rId20"/>
    <p:sldId id="342" r:id="rId21"/>
    <p:sldId id="348" r:id="rId22"/>
    <p:sldId id="272" r:id="rId23"/>
  </p:sldIdLst>
  <p:sldSz cx="7559675" cy="10691813"/>
  <p:notesSz cx="6858000" cy="9144000"/>
  <p:defaultTextStyle>
    <a:defPPr>
      <a:defRPr lang="en-GB"/>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2D200454-40CA-4A62-9FC3-DE9A4176ACB9}">
      <p15:notesGuideLst xmlns:p15="http://schemas.microsoft.com/office/powerpoint/2012/main">
        <p15:guide id="1" orient="horz" pos="2880" userDrawn="1">
          <p15:clr>
            <a:srgbClr val="A4A3A4"/>
          </p15:clr>
        </p15:guide>
        <p15:guide id="2" pos="2160" userDrawn="1">
          <p15:clr>
            <a:srgbClr val="A4A3A4"/>
          </p15:clr>
        </p15:guide>
      </p15:notes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00000000-0000-0000-0000-000000000000}" name="Forfatter" initials="A" userId="Author" providerId="AD"/>
  <p188:author id="{5A717729-70A1-A95A-729B-0270D7318E5A}" name="Amanda Simonsen" initials="AS" userId="S::amanda.simonsen@cphchangery.dk::11aad7e9-3369-4d2e-bd33-a826dd209a06" providerId="AD"/>
  <p188:author id="{95582667-6102-27E7-ED8E-01A166EB4B6B}" name="Guest User" initials="GU" userId="Guest User" providerId="Windows Live"/>
  <p188:author id="{D710FB69-54CF-AFDB-ADF5-2ED737B81BDA}" name="Nicolai Petersen" initials="NP" userId="6925884bbfe4e3a6"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487477"/>
    <a:srgbClr val="D1DAD4"/>
    <a:srgbClr val="0000FF"/>
    <a:srgbClr val="1B4529"/>
    <a:srgbClr val="FFFF99"/>
    <a:srgbClr val="1B2427"/>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A488322-F2BA-4B5B-9748-0D474271808F}" styleName="Medium Style 3 – Accent 6">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6"/>
          </a:solidFill>
        </a:fill>
      </a:tcStyle>
    </a:lastCol>
    <a:firstCol>
      <a:tcTxStyle b="on">
        <a:fontRef idx="minor">
          <a:scrgbClr r="0" g="0" b="0"/>
        </a:fontRef>
        <a:schemeClr val="lt1"/>
      </a:tcTxStyle>
      <a:tcStyle>
        <a:tcBdr/>
        <a:fill>
          <a:solidFill>
            <a:schemeClr val="accent6"/>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6"/>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howGuides="1">
      <p:cViewPr varScale="1">
        <p:scale>
          <a:sx n="39" d="100"/>
          <a:sy n="39" d="100"/>
        </p:scale>
        <p:origin x="2144" y="44"/>
      </p:cViewPr>
      <p:guideLst/>
    </p:cSldViewPr>
  </p:slideViewPr>
  <p:notesTextViewPr>
    <p:cViewPr>
      <p:scale>
        <a:sx n="1" d="1"/>
        <a:sy n="1" d="1"/>
      </p:scale>
      <p:origin x="0" y="0"/>
    </p:cViewPr>
  </p:notesTextViewPr>
  <p:notesViewPr>
    <p:cSldViewPr snapToGrid="0">
      <p:cViewPr>
        <p:scale>
          <a:sx n="1" d="2"/>
          <a:sy n="1" d="2"/>
        </p:scale>
        <p:origin x="0" y="0"/>
      </p:cViewPr>
      <p:guideLst>
        <p:guide orient="horz" pos="2880"/>
        <p:guide pos="2160"/>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microsoft.com/office/2018/10/relationships/authors" Target="authors.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notesMaster" Target="notesMasters/notes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slide" Target="slides/slide19.xml"/><Relationship Id="rId28" Type="http://schemas.openxmlformats.org/officeDocument/2006/relationships/tableStyles" Target="tableStyle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Pladsholder til sidehoved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atin typeface="IBM Plex Sans" panose="020B0503050203000203" pitchFamily="34" charset="0"/>
              </a:defRPr>
            </a:lvl1pPr>
          </a:lstStyle>
          <a:p>
            <a:endParaRPr lang="en-GB"/>
          </a:p>
        </p:txBody>
      </p:sp>
      <p:sp>
        <p:nvSpPr>
          <p:cNvPr id="3" name="Pladsholder til dato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atin typeface="IBM Plex Sans" panose="020B0503050203000203" pitchFamily="34" charset="0"/>
              </a:defRPr>
            </a:lvl1pPr>
          </a:lstStyle>
          <a:p>
            <a:fld id="{12DFE416-DAD6-D749-857D-2E29C861AEBD}" type="datetimeFigureOut">
              <a:rPr lang="en-GB" smtClean="0"/>
              <a:pPr/>
              <a:t>12/08/2026</a:t>
            </a:fld>
            <a:endParaRPr lang="en-GB"/>
          </a:p>
        </p:txBody>
      </p:sp>
      <p:sp>
        <p:nvSpPr>
          <p:cNvPr id="4" name="Pladsholder til slidebillede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Pladsholder til not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GB"/>
              <a:t>Click to edit Master text styles</a:t>
            </a:r>
          </a:p>
          <a:p>
            <a:pPr lvl="1"/>
            <a:r>
              <a:rPr lang="en-GB"/>
              <a:t>Second level</a:t>
            </a:r>
          </a:p>
          <a:p>
            <a:pPr lvl="2"/>
            <a:r>
              <a:rPr lang="en-GB"/>
              <a:t>Third level</a:t>
            </a:r>
          </a:p>
          <a:p>
            <a:pPr lvl="3"/>
            <a:r>
              <a:rPr lang="en-GB"/>
              <a:t>Fourth level</a:t>
            </a:r>
          </a:p>
          <a:p>
            <a:pPr lvl="4"/>
            <a:r>
              <a:rPr lang="en-GB"/>
              <a:t>Fifth level</a:t>
            </a:r>
          </a:p>
        </p:txBody>
      </p:sp>
      <p:sp>
        <p:nvSpPr>
          <p:cNvPr id="6" name="Pladsholder til sidefod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atin typeface="IBM Plex Sans" panose="020B0503050203000203" pitchFamily="34" charset="0"/>
              </a:defRPr>
            </a:lvl1pPr>
          </a:lstStyle>
          <a:p>
            <a:endParaRPr lang="en-GB"/>
          </a:p>
        </p:txBody>
      </p:sp>
      <p:sp>
        <p:nvSpPr>
          <p:cNvPr id="7" name="Pladsholder til slidenumm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atin typeface="IBM Plex Sans" panose="020B0503050203000203" pitchFamily="34" charset="0"/>
              </a:defRPr>
            </a:lvl1pPr>
          </a:lstStyle>
          <a:p>
            <a:fld id="{45BFCFCE-5A78-CB4C-8592-F27D9484E3BD}" type="slidenum">
              <a:rPr lang="en-GB" smtClean="0"/>
              <a:pPr/>
              <a:t>‹nr.›</a:t>
            </a:fld>
            <a:endParaRPr lang="en-GB"/>
          </a:p>
        </p:txBody>
      </p:sp>
    </p:spTree>
    <p:extLst>
      <p:ext uri="{BB962C8B-B14F-4D97-AF65-F5344CB8AC3E}">
        <p14:creationId xmlns:p14="http://schemas.microsoft.com/office/powerpoint/2010/main" val="29602378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IBM Plex Sans" panose="020B0503050203000203" pitchFamily="34" charset="0"/>
        <a:ea typeface="+mn-ea"/>
        <a:cs typeface="+mn-cs"/>
      </a:defRPr>
    </a:lvl1pPr>
    <a:lvl2pPr marL="457200" algn="l" defTabSz="914400" rtl="0" eaLnBrk="1" latinLnBrk="0" hangingPunct="1">
      <a:defRPr sz="1200" kern="1200">
        <a:solidFill>
          <a:schemeClr val="tx1"/>
        </a:solidFill>
        <a:latin typeface="IBM Plex Sans" panose="020B0503050203000203" pitchFamily="34" charset="0"/>
        <a:ea typeface="+mn-ea"/>
        <a:cs typeface="+mn-cs"/>
      </a:defRPr>
    </a:lvl2pPr>
    <a:lvl3pPr marL="914400" algn="l" defTabSz="914400" rtl="0" eaLnBrk="1" latinLnBrk="0" hangingPunct="1">
      <a:defRPr sz="1200" kern="1200">
        <a:solidFill>
          <a:schemeClr val="tx1"/>
        </a:solidFill>
        <a:latin typeface="IBM Plex Sans" panose="020B0503050203000203" pitchFamily="34" charset="0"/>
        <a:ea typeface="+mn-ea"/>
        <a:cs typeface="+mn-cs"/>
      </a:defRPr>
    </a:lvl3pPr>
    <a:lvl4pPr marL="1371600" algn="l" defTabSz="914400" rtl="0" eaLnBrk="1" latinLnBrk="0" hangingPunct="1">
      <a:defRPr sz="1200" kern="1200">
        <a:solidFill>
          <a:schemeClr val="tx1"/>
        </a:solidFill>
        <a:latin typeface="IBM Plex Sans" panose="020B0503050203000203" pitchFamily="34" charset="0"/>
        <a:ea typeface="+mn-ea"/>
        <a:cs typeface="+mn-cs"/>
      </a:defRPr>
    </a:lvl4pPr>
    <a:lvl5pPr marL="1828800" algn="l" defTabSz="914400" rtl="0" eaLnBrk="1" latinLnBrk="0" hangingPunct="1">
      <a:defRPr sz="1200" kern="1200">
        <a:solidFill>
          <a:schemeClr val="tx1"/>
        </a:solidFill>
        <a:latin typeface="IBM Plex Sans" panose="020B0503050203000203" pitchFamily="34"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a:t>
            </a:fld>
            <a:endParaRPr lang="en-GB"/>
          </a:p>
        </p:txBody>
      </p:sp>
    </p:spTree>
    <p:extLst>
      <p:ext uri="{BB962C8B-B14F-4D97-AF65-F5344CB8AC3E}">
        <p14:creationId xmlns:p14="http://schemas.microsoft.com/office/powerpoint/2010/main" val="80495282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2</a:t>
            </a:fld>
            <a:endParaRPr lang="en-GB"/>
          </a:p>
        </p:txBody>
      </p:sp>
    </p:spTree>
    <p:extLst>
      <p:ext uri="{BB962C8B-B14F-4D97-AF65-F5344CB8AC3E}">
        <p14:creationId xmlns:p14="http://schemas.microsoft.com/office/powerpoint/2010/main" val="36310397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3</a:t>
            </a:fld>
            <a:endParaRPr lang="en-GB"/>
          </a:p>
        </p:txBody>
      </p:sp>
    </p:spTree>
    <p:extLst>
      <p:ext uri="{BB962C8B-B14F-4D97-AF65-F5344CB8AC3E}">
        <p14:creationId xmlns:p14="http://schemas.microsoft.com/office/powerpoint/2010/main" val="3059604417"/>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r>
              <a:rPr lang="en-GB"/>
              <a:t>Removed: </a:t>
            </a:r>
            <a:r>
              <a:rPr lang="en-GB" sz="1200" b="0" i="0" u="none" strike="noStrike" kern="1200">
                <a:solidFill>
                  <a:schemeClr val="tx1"/>
                </a:solidFill>
                <a:effectLst/>
                <a:latin typeface="IBM Plex Sans" panose="020B0503050203000203" pitchFamily="34" charset="0"/>
                <a:ea typeface="+mn-ea"/>
                <a:cs typeface="+mn-cs"/>
              </a:rPr>
              <a:t>{{documents_B2}}</a:t>
            </a:r>
          </a:p>
          <a:p>
            <a:r>
              <a:rPr lang="en-GB" sz="1200" b="0" i="0" u="none" strike="noStrike" kern="1200" err="1">
                <a:solidFill>
                  <a:schemeClr val="tx1"/>
                </a:solidFill>
                <a:effectLst/>
                <a:latin typeface="IBM Plex Sans" panose="020B0503050203000203" pitchFamily="34" charset="0"/>
                <a:ea typeface="+mn-ea"/>
                <a:cs typeface="+mn-cs"/>
              </a:rPr>
              <a:t>Added</a:t>
            </a:r>
            <a:r>
              <a:rPr lang="en-GB" sz="1200" b="0" i="0" u="none" strike="noStrike" kern="1200">
                <a:solidFill>
                  <a:schemeClr val="tx1"/>
                </a:solidFill>
                <a:effectLst/>
                <a:latin typeface="IBM Plex Sans" panose="020B0503050203000203" pitchFamily="34" charset="0"/>
                <a:ea typeface="+mn-ea"/>
                <a:cs typeface="+mn-cs"/>
              </a:rPr>
              <a:t>: </a:t>
            </a:r>
            <a:r>
              <a:rPr lang="en-GB" sz="1200" b="0" i="0" u="none" strike="noStrike" kern="1200" err="1">
                <a:solidFill>
                  <a:schemeClr val="tx1"/>
                </a:solidFill>
                <a:effectLst/>
                <a:latin typeface="IBM Plex Sans" panose="020B0503050203000203" pitchFamily="34" charset="0"/>
                <a:ea typeface="+mn-ea"/>
                <a:cs typeface="+mn-cs"/>
              </a:rPr>
              <a:t>column</a:t>
            </a:r>
            <a:r>
              <a:rPr lang="en-GB" sz="1200" b="0" i="0" u="none" strike="noStrike" kern="1200">
                <a:solidFill>
                  <a:schemeClr val="tx1"/>
                </a:solidFill>
                <a:effectLst/>
                <a:latin typeface="IBM Plex Sans" panose="020B0503050203000203" pitchFamily="34" charset="0"/>
                <a:ea typeface="+mn-ea"/>
                <a:cs typeface="+mn-cs"/>
              </a:rPr>
              <a:t> on </a:t>
            </a:r>
            <a:r>
              <a:rPr lang="en-GB" sz="1200" b="0" i="0" u="none" strike="noStrike" kern="1200" err="1">
                <a:solidFill>
                  <a:schemeClr val="tx1"/>
                </a:solidFill>
                <a:effectLst/>
                <a:latin typeface="IBM Plex Sans" panose="020B0503050203000203" pitchFamily="34" charset="0"/>
                <a:ea typeface="+mn-ea"/>
                <a:cs typeface="+mn-cs"/>
              </a:rPr>
              <a:t>monitoring</a:t>
            </a:r>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4</a:t>
            </a:fld>
            <a:endParaRPr lang="en-GB"/>
          </a:p>
        </p:txBody>
      </p:sp>
    </p:spTree>
    <p:extLst>
      <p:ext uri="{BB962C8B-B14F-4D97-AF65-F5344CB8AC3E}">
        <p14:creationId xmlns:p14="http://schemas.microsoft.com/office/powerpoint/2010/main" val="340009200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{{Insert_CO2e_intensity}}</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5</a:t>
            </a:fld>
            <a:endParaRPr lang="en-GB"/>
          </a:p>
        </p:txBody>
      </p:sp>
    </p:spTree>
    <p:extLst>
      <p:ext uri="{BB962C8B-B14F-4D97-AF65-F5344CB8AC3E}">
        <p14:creationId xmlns:p14="http://schemas.microsoft.com/office/powerpoint/2010/main" val="309834824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{{uploaded_documents_B4}}</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6</a:t>
            </a:fld>
            <a:endParaRPr lang="en-GB"/>
          </a:p>
        </p:txBody>
      </p:sp>
    </p:spTree>
    <p:extLst>
      <p:ext uri="{BB962C8B-B14F-4D97-AF65-F5344CB8AC3E}">
        <p14:creationId xmlns:p14="http://schemas.microsoft.com/office/powerpoint/2010/main" val="24742816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7</a:t>
            </a:fld>
            <a:endParaRPr lang="en-GB"/>
          </a:p>
        </p:txBody>
      </p:sp>
    </p:spTree>
    <p:extLst>
      <p:ext uri="{BB962C8B-B14F-4D97-AF65-F5344CB8AC3E}">
        <p14:creationId xmlns:p14="http://schemas.microsoft.com/office/powerpoint/2010/main" val="2243809549"/>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n-GB"/>
              <a:t>Removed: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8</a:t>
            </a:fld>
            <a:endParaRPr lang="en-GB"/>
          </a:p>
        </p:txBody>
      </p:sp>
    </p:spTree>
    <p:extLst>
      <p:ext uri="{BB962C8B-B14F-4D97-AF65-F5344CB8AC3E}">
        <p14:creationId xmlns:p14="http://schemas.microsoft.com/office/powerpoint/2010/main" val="406438260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9</a:t>
            </a:fld>
            <a:endParaRPr lang="en-GB"/>
          </a:p>
        </p:txBody>
      </p:sp>
    </p:spTree>
    <p:extLst>
      <p:ext uri="{BB962C8B-B14F-4D97-AF65-F5344CB8AC3E}">
        <p14:creationId xmlns:p14="http://schemas.microsoft.com/office/powerpoint/2010/main" val="30612534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10</a:t>
            </a:fld>
            <a:endParaRPr lang="en-GB"/>
          </a:p>
        </p:txBody>
      </p:sp>
    </p:spTree>
    <p:extLst>
      <p:ext uri="{BB962C8B-B14F-4D97-AF65-F5344CB8AC3E}">
        <p14:creationId xmlns:p14="http://schemas.microsoft.com/office/powerpoint/2010/main" val="32229163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11</a:t>
            </a:fld>
            <a:endParaRPr lang="en-GB"/>
          </a:p>
        </p:txBody>
      </p:sp>
    </p:spTree>
    <p:extLst>
      <p:ext uri="{BB962C8B-B14F-4D97-AF65-F5344CB8AC3E}">
        <p14:creationId xmlns:p14="http://schemas.microsoft.com/office/powerpoint/2010/main" val="1923064505"/>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12</a:t>
            </a:fld>
            <a:endParaRPr lang="en-GB"/>
          </a:p>
        </p:txBody>
      </p:sp>
    </p:spTree>
    <p:extLst>
      <p:ext uri="{BB962C8B-B14F-4D97-AF65-F5344CB8AC3E}">
        <p14:creationId xmlns:p14="http://schemas.microsoft.com/office/powerpoint/2010/main" val="3125204693"/>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13</a:t>
            </a:fld>
            <a:endParaRPr lang="en-GB"/>
          </a:p>
        </p:txBody>
      </p:sp>
    </p:spTree>
    <p:extLst>
      <p:ext uri="{BB962C8B-B14F-4D97-AF65-F5344CB8AC3E}">
        <p14:creationId xmlns:p14="http://schemas.microsoft.com/office/powerpoint/2010/main" val="3658062162"/>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14</a:t>
            </a:fld>
            <a:endParaRPr lang="en-GB"/>
          </a:p>
        </p:txBody>
      </p:sp>
    </p:spTree>
    <p:extLst>
      <p:ext uri="{BB962C8B-B14F-4D97-AF65-F5344CB8AC3E}">
        <p14:creationId xmlns:p14="http://schemas.microsoft.com/office/powerpoint/2010/main" val="297654794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txBody>
          <a:bodyPr/>
          <a:lstStyle/>
          <a:p>
            <a:endParaRPr lang="en-GB"/>
          </a:p>
        </p:txBody>
      </p:sp>
      <p:sp>
        <p:nvSpPr>
          <p:cNvPr id="3" name="Pladsholder til noter 2"/>
          <p:cNvSpPr>
            <a:spLocks noGrp="1"/>
          </p:cNvSpPr>
          <p:nvPr>
            <p:ph type="body" idx="1"/>
          </p:nvPr>
        </p:nvSpPr>
        <p:spPr/>
        <p:txBody>
          <a:bodyPr/>
          <a:lstStyle/>
          <a:p>
            <a:endParaRPr lang="en-GB"/>
          </a:p>
        </p:txBody>
      </p:sp>
      <p:sp>
        <p:nvSpPr>
          <p:cNvPr id="4" name="Pladsholder til slidenummer 3"/>
          <p:cNvSpPr>
            <a:spLocks noGrp="1"/>
          </p:cNvSpPr>
          <p:nvPr>
            <p:ph type="sldNum" sz="quarter" idx="5"/>
          </p:nvPr>
        </p:nvSpPr>
        <p:spPr/>
        <p:txBody>
          <a:bodyPr/>
          <a:lstStyle/>
          <a:p>
            <a:fld id="{45BFCFCE-5A78-CB4C-8592-F27D9484E3BD}" type="slidenum">
              <a:rPr lang="en-GB" smtClean="0"/>
              <a:pPr/>
              <a:t>15</a:t>
            </a:fld>
            <a:endParaRPr lang="en-GB"/>
          </a:p>
        </p:txBody>
      </p:sp>
    </p:spTree>
    <p:extLst>
      <p:ext uri="{BB962C8B-B14F-4D97-AF65-F5344CB8AC3E}">
        <p14:creationId xmlns:p14="http://schemas.microsoft.com/office/powerpoint/2010/main" val="2976547946"/>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slidebillede 1"/>
          <p:cNvSpPr>
            <a:spLocks noGrp="1" noRot="1" noChangeAspect="1"/>
          </p:cNvSpPr>
          <p:nvPr>
            <p:ph type="sldImg"/>
          </p:nvPr>
        </p:nvSpPr>
        <p:spPr>
          <a:xfrm>
            <a:off x="2338388" y="1143000"/>
            <a:ext cx="2181225" cy="3086100"/>
          </a:xfrm>
        </p:spPr>
      </p:sp>
      <p:sp>
        <p:nvSpPr>
          <p:cNvPr id="3" name="Pladsholder til noter 2"/>
          <p:cNvSpPr>
            <a:spLocks noGrp="1"/>
          </p:cNvSpPr>
          <p:nvPr>
            <p:ph type="body" idx="1"/>
          </p:nvPr>
        </p:nvSpPr>
        <p:spPr/>
        <p:txBody>
          <a:bodyPr/>
          <a:lstStyle/>
          <a:p>
            <a:pPr rtl="0"/>
            <a:r>
              <a:rPr lang="en-GB"/>
              <a:t>Added from B8: </a:t>
            </a:r>
            <a:r>
              <a:rPr lang="en-GB" sz="1200" b="0" i="0" u="none" strike="noStrike" kern="1200">
                <a:solidFill>
                  <a:schemeClr val="tx1"/>
                </a:solidFill>
                <a:effectLst/>
                <a:latin typeface="IBM Plex Sans" panose="020B0503050203000203" pitchFamily="34" charset="0"/>
                <a:ea typeface="+mn-ea"/>
                <a:cs typeface="+mn-cs"/>
              </a:rPr>
              <a:t>{{</a:t>
            </a:r>
            <a:r>
              <a:rPr lang="en-GB" sz="1200" b="0" i="0" u="none" strike="noStrike" kern="1200" err="1">
                <a:solidFill>
                  <a:schemeClr val="tx1"/>
                </a:solidFill>
                <a:effectLst/>
                <a:latin typeface="IBM Plex Sans" panose="020B0503050203000203" pitchFamily="34" charset="0"/>
                <a:ea typeface="+mn-ea"/>
                <a:cs typeface="+mn-cs"/>
              </a:rPr>
              <a:t>omsatningsrate</a:t>
            </a:r>
            <a:r>
              <a:rPr lang="en-GB" sz="1200" b="0" i="0" u="none" strike="noStrike" kern="1200">
                <a:solidFill>
                  <a:schemeClr val="tx1"/>
                </a:solidFill>
                <a:effectLst/>
                <a:latin typeface="IBM Plex Sans" panose="020B0503050203000203" pitchFamily="34" charset="0"/>
                <a:ea typeface="+mn-ea"/>
                <a:cs typeface="+mn-cs"/>
              </a:rPr>
              <a:t>}}</a:t>
            </a:r>
            <a:endParaRPr lang="en-GB" b="0">
              <a:effectLst/>
            </a:endParaRPr>
          </a:p>
        </p:txBody>
      </p:sp>
      <p:sp>
        <p:nvSpPr>
          <p:cNvPr id="4" name="Pladsholder til slidenummer 3"/>
          <p:cNvSpPr>
            <a:spLocks noGrp="1"/>
          </p:cNvSpPr>
          <p:nvPr>
            <p:ph type="sldNum" sz="quarter" idx="5"/>
          </p:nvPr>
        </p:nvSpPr>
        <p:spPr/>
        <p:txBody>
          <a:bodyPr/>
          <a:lstStyle/>
          <a:p>
            <a:fld id="{45BFCFCE-5A78-CB4C-8592-F27D9484E3BD}" type="slidenum">
              <a:rPr lang="en-GB" smtClean="0"/>
              <a:pPr/>
              <a:t>16</a:t>
            </a:fld>
            <a:endParaRPr lang="en-GB"/>
          </a:p>
        </p:txBody>
      </p:sp>
    </p:spTree>
    <p:extLst>
      <p:ext uri="{BB962C8B-B14F-4D97-AF65-F5344CB8AC3E}">
        <p14:creationId xmlns:p14="http://schemas.microsoft.com/office/powerpoint/2010/main" val="394237085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Intro templat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52E31B1D-D5FA-1144-A6D9-FDFA19DD3A3B}"/>
              </a:ext>
            </a:extLst>
          </p:cNvPr>
          <p:cNvSpPr>
            <a:spLocks noGrp="1"/>
          </p:cNvSpPr>
          <p:nvPr>
            <p:ph type="body" sz="quarter" idx="14"/>
          </p:nvPr>
        </p:nvSpPr>
        <p:spPr>
          <a:xfrm>
            <a:off x="417725" y="1422386"/>
            <a:ext cx="2071467" cy="4440060"/>
          </a:xfrm>
        </p:spPr>
        <p:txBody>
          <a:bodyPr/>
          <a:lstStyle>
            <a:lvl1pPr marL="0" indent="0">
              <a:buNone/>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11" name="Text Placeholder 9">
            <a:extLst>
              <a:ext uri="{FF2B5EF4-FFF2-40B4-BE49-F238E27FC236}">
                <a16:creationId xmlns:a16="http://schemas.microsoft.com/office/drawing/2014/main" id="{F1EF6F5B-4C89-A089-DA32-6A1686CD0B74}"/>
              </a:ext>
            </a:extLst>
          </p:cNvPr>
          <p:cNvSpPr>
            <a:spLocks noGrp="1"/>
          </p:cNvSpPr>
          <p:nvPr>
            <p:ph type="body" sz="quarter" idx="15"/>
          </p:nvPr>
        </p:nvSpPr>
        <p:spPr>
          <a:xfrm>
            <a:off x="2676401" y="1422387"/>
            <a:ext cx="2071466" cy="4440059"/>
          </a:xfrm>
        </p:spPr>
        <p:txBody>
          <a:bodyPr/>
          <a:lstStyle>
            <a:lvl1pPr marL="0" indent="0">
              <a:buNone/>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2" name="Title 1">
            <a:extLst>
              <a:ext uri="{FF2B5EF4-FFF2-40B4-BE49-F238E27FC236}">
                <a16:creationId xmlns:a16="http://schemas.microsoft.com/office/drawing/2014/main" id="{4149F0AB-3484-3BD8-5F17-C0910484351A}"/>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346905747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Forside med billedebaggrun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8" name="ESG wordmark"/>
          <p:cNvSpPr txBox="1"/>
          <p:nvPr/>
        </p:nvSpPr>
        <p:spPr>
          <a:xfrm>
            <a:off x="365760" y="2537424"/>
            <a:ext cx="6828155" cy="2228341"/>
          </a:xfrm>
          <a:prstGeom prst="rect">
            <a:avLst/>
          </a:prstGeom>
          <a:noFill/>
        </p:spPr>
        <p:txBody>
          <a:bodyPr wrap="square" lIns="0" tIns="0" rIns="0" bIns="0" anchor="ctr">
            <a:noAutofit/>
          </a:bodyPr>
          <a:lstStyle/>
          <a:p>
            <a:pPr algn="ctr"/>
            <a:r>
              <a:rPr lang="en-GB" sz="12900" b="1" spc="-322" dirty="0">
                <a:solidFill>
                  <a:srgbClr val="FFFFFF"/>
                </a:solidFill>
                <a:latin typeface="+mn-lt"/>
              </a:rPr>
              <a:t>ESG</a:t>
            </a:r>
            <a:endParaRPr lang="en-GB" sz="12900" b="1" spc="-322"/>
          </a:p>
        </p:txBody>
      </p:sp>
      <p:sp>
        <p:nvSpPr>
          <p:cNvPr id="7" name="Footer Placeholder 6">
            <a:extLst>
              <a:ext uri="{FF2B5EF4-FFF2-40B4-BE49-F238E27FC236}">
                <a16:creationId xmlns:a16="http://schemas.microsoft.com/office/drawing/2014/main" id="{85E44590-AE8B-6098-6E3A-22BBF073CF8E}"/>
              </a:ext>
            </a:extLst>
          </p:cNvPr>
          <p:cNvSpPr>
            <a:spLocks noGrp="1"/>
          </p:cNvSpPr>
          <p:nvPr>
            <p:ph type="ftr" sz="quarter" idx="15"/>
          </p:nvPr>
        </p:nvSpPr>
        <p:spPr>
          <a:xfrm>
            <a:off x="2184109" y="6707538"/>
            <a:ext cx="3052354" cy="234336"/>
          </a:xfrm>
        </p:spPr>
        <p:txBody>
          <a:bodyPr/>
          <a:lstStyle>
            <a:lvl1pPr algn="ctr">
              <a:defRPr sz="1150">
                <a:solidFill>
                  <a:schemeClr val="bg1"/>
                </a:solidFill>
              </a:defRPr>
            </a:lvl1pPr>
          </a:lstStyle>
          <a:p>
            <a:r>
              <a:rPr lang="en-GB"/>
              <a:t>CLICK TO INSERT COMPANY NAME</a:t>
            </a:r>
          </a:p>
        </p:txBody>
      </p:sp>
      <p:sp>
        <p:nvSpPr>
          <p:cNvPr id="5" name="Titel 4">
            <a:extLst>
              <a:ext uri="{FF2B5EF4-FFF2-40B4-BE49-F238E27FC236}">
                <a16:creationId xmlns:a16="http://schemas.microsoft.com/office/drawing/2014/main" id="{A3676786-DF78-2A13-71BF-8354606B0D04}"/>
              </a:ext>
            </a:extLst>
          </p:cNvPr>
          <p:cNvSpPr>
            <a:spLocks noGrp="1"/>
          </p:cNvSpPr>
          <p:nvPr>
            <p:ph type="title" hasCustomPrompt="1"/>
          </p:nvPr>
        </p:nvSpPr>
        <p:spPr>
          <a:xfrm>
            <a:off x="754701" y="6237584"/>
            <a:ext cx="5915802" cy="152274"/>
          </a:xfrm>
        </p:spPr>
        <p:txBody>
          <a:bodyPr/>
          <a:lstStyle>
            <a:lvl1pPr algn="ctr">
              <a:defRPr sz="900" spc="300">
                <a:solidFill>
                  <a:schemeClr val="bg1"/>
                </a:solidFill>
              </a:defRPr>
            </a:lvl1pPr>
          </a:lstStyle>
          <a:p>
            <a:r>
              <a:rPr lang="en-GB"/>
              <a:t>INSERT TITLE</a:t>
            </a:r>
          </a:p>
        </p:txBody>
      </p:sp>
    </p:spTree>
    <p:extLst>
      <p:ext uri="{BB962C8B-B14F-4D97-AF65-F5344CB8AC3E}">
        <p14:creationId xmlns:p14="http://schemas.microsoft.com/office/powerpoint/2010/main" val="229089133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ESG opgørelse">
    <p:bg>
      <p:bgPr>
        <a:solidFill>
          <a:schemeClr val="bg1"/>
        </a:solidFill>
        <a:effectLst/>
      </p:bgPr>
    </p:bg>
    <p:spTree>
      <p:nvGrpSpPr>
        <p:cNvPr id="1" name=""/>
        <p:cNvGrpSpPr/>
        <p:nvPr/>
      </p:nvGrpSpPr>
      <p:grpSpPr>
        <a:xfrm>
          <a:off x="0" y="0"/>
          <a:ext cx="0" cy="0"/>
          <a:chOff x="0" y="0"/>
          <a:chExt cx="0" cy="0"/>
        </a:xfrm>
      </p:grpSpPr>
      <p:sp>
        <p:nvSpPr>
          <p:cNvPr id="10" name="Text Placeholder 9">
            <a:extLst>
              <a:ext uri="{FF2B5EF4-FFF2-40B4-BE49-F238E27FC236}">
                <a16:creationId xmlns:a16="http://schemas.microsoft.com/office/drawing/2014/main" id="{9358A1A1-81A1-00B9-5F3F-17B9B899E502}"/>
              </a:ext>
            </a:extLst>
          </p:cNvPr>
          <p:cNvSpPr>
            <a:spLocks noGrp="1"/>
          </p:cNvSpPr>
          <p:nvPr>
            <p:ph type="body" sz="quarter" idx="17"/>
          </p:nvPr>
        </p:nvSpPr>
        <p:spPr>
          <a:xfrm>
            <a:off x="423975" y="1381944"/>
            <a:ext cx="2687561" cy="4470221"/>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2" name="Text Placeholder 9">
            <a:extLst>
              <a:ext uri="{FF2B5EF4-FFF2-40B4-BE49-F238E27FC236}">
                <a16:creationId xmlns:a16="http://schemas.microsoft.com/office/drawing/2014/main" id="{DDD3249A-9EA8-2D06-EED5-368B4A02469F}"/>
              </a:ext>
            </a:extLst>
          </p:cNvPr>
          <p:cNvSpPr>
            <a:spLocks noGrp="1"/>
          </p:cNvSpPr>
          <p:nvPr>
            <p:ph type="body" sz="quarter" idx="20"/>
          </p:nvPr>
        </p:nvSpPr>
        <p:spPr>
          <a:xfrm>
            <a:off x="3934311" y="1374025"/>
            <a:ext cx="2687561" cy="4470220"/>
          </a:xfrm>
        </p:spPr>
        <p:txBody>
          <a:bodyPr/>
          <a:lstStyle>
            <a:lvl1pPr marL="0" indent="0">
              <a:lnSpc>
                <a:spcPct val="129000"/>
              </a:lnSpc>
              <a:spcAft>
                <a:spcPts val="0"/>
              </a:spcAft>
              <a:buNone/>
              <a:tabLst>
                <a:tab pos="239990" algn="l"/>
                <a:tab pos="389984" algn="l"/>
                <a:tab pos="3419863" algn="r"/>
              </a:tabLst>
              <a:defRPr sz="725">
                <a:solidFill>
                  <a:schemeClr val="tx2"/>
                </a:solidFill>
              </a:defRPr>
            </a:lvl1pPr>
          </a:lstStyle>
          <a:p>
            <a:pPr lvl="0"/>
            <a:r>
              <a:rPr lang="en-GB" noProof="0" err="1"/>
              <a:t>Click</a:t>
            </a:r>
            <a:r>
              <a:rPr lang="en-GB" noProof="0"/>
              <a:t> to </a:t>
            </a:r>
            <a:r>
              <a:rPr lang="en-GB" noProof="0" err="1"/>
              <a:t>edit</a:t>
            </a:r>
            <a:r>
              <a:rPr lang="en-GB" noProof="0"/>
              <a:t> Master </a:t>
            </a:r>
            <a:r>
              <a:rPr lang="en-GB" noProof="0" err="1"/>
              <a:t>text</a:t>
            </a:r>
            <a:r>
              <a:rPr lang="en-GB" noProof="0"/>
              <a:t> styles</a:t>
            </a:r>
          </a:p>
        </p:txBody>
      </p:sp>
      <p:sp>
        <p:nvSpPr>
          <p:cNvPr id="6" name="Footer Placeholder 5">
            <a:extLst>
              <a:ext uri="{FF2B5EF4-FFF2-40B4-BE49-F238E27FC236}">
                <a16:creationId xmlns:a16="http://schemas.microsoft.com/office/drawing/2014/main" id="{CB27BA12-0C2B-874F-CB3D-A69B54828ED2}"/>
              </a:ext>
            </a:extLst>
          </p:cNvPr>
          <p:cNvSpPr>
            <a:spLocks noGrp="1"/>
          </p:cNvSpPr>
          <p:nvPr>
            <p:ph type="ftr" sz="quarter" idx="22"/>
          </p:nvPr>
        </p:nvSpPr>
        <p:spPr/>
        <p:txBody>
          <a:bodyPr/>
          <a:lstStyle/>
          <a:p>
            <a:r>
              <a:rPr lang="en-GB"/>
              <a:t>CLICK TO INSERT COMPANY NAME</a:t>
            </a:r>
          </a:p>
        </p:txBody>
      </p:sp>
      <p:sp>
        <p:nvSpPr>
          <p:cNvPr id="8" name="Slide Number Placeholder 7">
            <a:extLst>
              <a:ext uri="{FF2B5EF4-FFF2-40B4-BE49-F238E27FC236}">
                <a16:creationId xmlns:a16="http://schemas.microsoft.com/office/drawing/2014/main" id="{A28E22E3-1CE9-39F0-37B9-6694C2F99A83}"/>
              </a:ext>
            </a:extLst>
          </p:cNvPr>
          <p:cNvSpPr>
            <a:spLocks noGrp="1"/>
          </p:cNvSpPr>
          <p:nvPr>
            <p:ph type="sldNum" sz="quarter" idx="23"/>
          </p:nvPr>
        </p:nvSpPr>
        <p:spPr/>
        <p:txBody>
          <a:bodyPr/>
          <a:lstStyle/>
          <a:p>
            <a:fld id="{5A0D23CF-C5A3-5445-819D-C647D180BB4B}" type="slidenum">
              <a:rPr lang="en-GB" smtClean="0"/>
              <a:pPr/>
              <a:t>‹nr.›</a:t>
            </a:fld>
            <a:endParaRPr lang="en-GB"/>
          </a:p>
        </p:txBody>
      </p:sp>
      <p:sp>
        <p:nvSpPr>
          <p:cNvPr id="9" name="Title 8">
            <a:extLst>
              <a:ext uri="{FF2B5EF4-FFF2-40B4-BE49-F238E27FC236}">
                <a16:creationId xmlns:a16="http://schemas.microsoft.com/office/drawing/2014/main" id="{9EC510F1-C32E-301D-A9BE-CDD982DBFB2C}"/>
              </a:ext>
            </a:extLst>
          </p:cNvPr>
          <p:cNvSpPr>
            <a:spLocks noGrp="1"/>
          </p:cNvSpPr>
          <p:nvPr>
            <p:ph type="title"/>
          </p:nvPr>
        </p:nvSpPr>
        <p:spPr/>
        <p:txBody>
          <a:bodyPr/>
          <a:lstStyle/>
          <a:p>
            <a:r>
              <a:rPr lang="en-GB"/>
              <a:t>Click to edit Master title style</a:t>
            </a:r>
          </a:p>
        </p:txBody>
      </p:sp>
    </p:spTree>
    <p:extLst>
      <p:ext uri="{BB962C8B-B14F-4D97-AF65-F5344CB8AC3E}">
        <p14:creationId xmlns:p14="http://schemas.microsoft.com/office/powerpoint/2010/main" val="29920857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36AB499-BDA0-E170-C4FB-7C73F109F59F}"/>
              </a:ext>
            </a:extLst>
          </p:cNvPr>
          <p:cNvSpPr>
            <a:spLocks noGrp="1"/>
          </p:cNvSpPr>
          <p:nvPr>
            <p:ph type="title"/>
          </p:nvPr>
        </p:nvSpPr>
        <p:spPr/>
        <p:txBody>
          <a:bodyPr/>
          <a:lstStyle/>
          <a:p>
            <a:r>
              <a:rPr lang="en-GB" noProof="0" err="1"/>
              <a:t>Click</a:t>
            </a:r>
            <a:r>
              <a:rPr lang="en-GB" noProof="0"/>
              <a:t> to </a:t>
            </a:r>
            <a:r>
              <a:rPr lang="en-GB" noProof="0" err="1"/>
              <a:t>edit</a:t>
            </a:r>
            <a:r>
              <a:rPr lang="en-GB" noProof="0"/>
              <a:t> Master </a:t>
            </a:r>
            <a:r>
              <a:rPr lang="en-GB" noProof="0" err="1"/>
              <a:t>title</a:t>
            </a:r>
            <a:r>
              <a:rPr lang="en-GB" noProof="0"/>
              <a:t> style</a:t>
            </a:r>
          </a:p>
        </p:txBody>
      </p:sp>
      <p:sp>
        <p:nvSpPr>
          <p:cNvPr id="3" name="Date Placeholder 2">
            <a:extLst>
              <a:ext uri="{FF2B5EF4-FFF2-40B4-BE49-F238E27FC236}">
                <a16:creationId xmlns:a16="http://schemas.microsoft.com/office/drawing/2014/main" id="{85623CC7-2A44-6728-81B8-5D1C36C8A523}"/>
              </a:ext>
            </a:extLst>
          </p:cNvPr>
          <p:cNvSpPr>
            <a:spLocks noGrp="1"/>
          </p:cNvSpPr>
          <p:nvPr>
            <p:ph type="dt" sz="half" idx="10"/>
          </p:nvPr>
        </p:nvSpPr>
        <p:spPr/>
        <p:txBody>
          <a:bodyPr/>
          <a:lstStyle/>
          <a:p>
            <a:endParaRPr lang="en-GB" noProof="0"/>
          </a:p>
        </p:txBody>
      </p:sp>
      <p:sp>
        <p:nvSpPr>
          <p:cNvPr id="4" name="Footer Placeholder 3">
            <a:extLst>
              <a:ext uri="{FF2B5EF4-FFF2-40B4-BE49-F238E27FC236}">
                <a16:creationId xmlns:a16="http://schemas.microsoft.com/office/drawing/2014/main" id="{2B78E23B-9CAA-A290-D3B6-2404D06EC1A2}"/>
              </a:ext>
            </a:extLst>
          </p:cNvPr>
          <p:cNvSpPr>
            <a:spLocks noGrp="1"/>
          </p:cNvSpPr>
          <p:nvPr>
            <p:ph type="ftr" sz="quarter" idx="11"/>
          </p:nvPr>
        </p:nvSpPr>
        <p:spPr/>
        <p:txBody>
          <a:bodyPr/>
          <a:lstStyle/>
          <a:p>
            <a:r>
              <a:rPr lang="en-GB" noProof="0"/>
              <a:t>CLICK TO INSERT COMPANY NAME</a:t>
            </a:r>
          </a:p>
        </p:txBody>
      </p:sp>
      <p:sp>
        <p:nvSpPr>
          <p:cNvPr id="5" name="Slide Number Placeholder 4">
            <a:extLst>
              <a:ext uri="{FF2B5EF4-FFF2-40B4-BE49-F238E27FC236}">
                <a16:creationId xmlns:a16="http://schemas.microsoft.com/office/drawing/2014/main" id="{A316B95B-509A-04EA-4971-5BB7A30A29F3}"/>
              </a:ext>
            </a:extLst>
          </p:cNvPr>
          <p:cNvSpPr>
            <a:spLocks noGrp="1"/>
          </p:cNvSpPr>
          <p:nvPr>
            <p:ph type="sldNum" sz="quarter" idx="12"/>
          </p:nvPr>
        </p:nvSpPr>
        <p:spPr/>
        <p:txBody>
          <a:bodyPr/>
          <a:lstStyle/>
          <a:p>
            <a:fld id="{5A0D23CF-C5A3-5445-819D-C647D180BB4B}" type="slidenum">
              <a:rPr lang="en-GB" noProof="0" smtClean="0"/>
              <a:pPr/>
              <a:t>‹nr.›</a:t>
            </a:fld>
            <a:endParaRPr lang="en-GB" noProof="0"/>
          </a:p>
        </p:txBody>
      </p:sp>
    </p:spTree>
    <p:extLst>
      <p:ext uri="{BB962C8B-B14F-4D97-AF65-F5344CB8AC3E}">
        <p14:creationId xmlns:p14="http://schemas.microsoft.com/office/powerpoint/2010/main" val="1832852938"/>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Afslutningsslide">
    <p:bg>
      <p:bgPr>
        <a:solidFill>
          <a:srgbClr val="1B4529"/>
        </a:solidFill>
        <a:effectLst/>
      </p:bgPr>
    </p:bg>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5FF3099D-2911-2DC2-30C9-600914A49C92}"/>
              </a:ext>
            </a:extLst>
          </p:cNvPr>
          <p:cNvSpPr>
            <a:spLocks noGrp="1"/>
          </p:cNvSpPr>
          <p:nvPr>
            <p:ph idx="1" hasCustomPrompt="1"/>
          </p:nvPr>
        </p:nvSpPr>
        <p:spPr>
          <a:xfrm>
            <a:off x="754701" y="2186263"/>
            <a:ext cx="5915802" cy="1217034"/>
          </a:xfrm>
          <a:solidFill>
            <a:srgbClr val="1B4529"/>
          </a:solidFill>
        </p:spPr>
        <p:txBody>
          <a:bodyPr>
            <a:normAutofit/>
          </a:bodyPr>
          <a:lstStyle>
            <a:lvl1pPr marL="0" indent="0">
              <a:lnSpc>
                <a:spcPct val="100000"/>
              </a:lnSpc>
              <a:spcBef>
                <a:spcPts val="167"/>
              </a:spcBef>
              <a:buFontTx/>
              <a:buNone/>
              <a:defRPr sz="900">
                <a:solidFill>
                  <a:schemeClr val="bg1"/>
                </a:solidFill>
              </a:defRPr>
            </a:lvl1pPr>
            <a:lvl2pPr marL="149994" indent="0">
              <a:buFontTx/>
              <a:buNone/>
              <a:defRPr sz="900">
                <a:solidFill>
                  <a:schemeClr val="bg1"/>
                </a:solidFill>
              </a:defRPr>
            </a:lvl2pPr>
            <a:lvl3pPr marL="419983" indent="-134995">
              <a:defRPr sz="900">
                <a:solidFill>
                  <a:schemeClr val="bg1"/>
                </a:solidFill>
              </a:defRPr>
            </a:lvl3pPr>
            <a:lvl4pPr marL="584977" indent="-134995">
              <a:defRPr sz="900">
                <a:solidFill>
                  <a:schemeClr val="bg1"/>
                </a:solidFill>
              </a:defRPr>
            </a:lvl4pPr>
            <a:lvl5pPr marL="719971" indent="-134995">
              <a:defRPr sz="900">
                <a:solidFill>
                  <a:schemeClr val="bg1"/>
                </a:solidFill>
              </a:defRPr>
            </a:lvl5pPr>
          </a:lstStyle>
          <a:p>
            <a:pPr lvl="0"/>
            <a:r>
              <a:rPr lang="en-GB" noProof="0"/>
              <a:t>Insert company information</a:t>
            </a:r>
          </a:p>
        </p:txBody>
      </p:sp>
      <p:sp>
        <p:nvSpPr>
          <p:cNvPr id="4" name="Title 3">
            <a:extLst>
              <a:ext uri="{FF2B5EF4-FFF2-40B4-BE49-F238E27FC236}">
                <a16:creationId xmlns:a16="http://schemas.microsoft.com/office/drawing/2014/main" id="{6DF97A03-6A5A-CE52-A825-964660171C82}"/>
              </a:ext>
            </a:extLst>
          </p:cNvPr>
          <p:cNvSpPr>
            <a:spLocks noGrp="1"/>
          </p:cNvSpPr>
          <p:nvPr>
            <p:ph type="title"/>
          </p:nvPr>
        </p:nvSpPr>
        <p:spPr/>
        <p:txBody>
          <a:bodyPr/>
          <a:lstStyle>
            <a:lvl1pPr>
              <a:defRPr>
                <a:solidFill>
                  <a:schemeClr val="bg1"/>
                </a:solidFill>
              </a:defRPr>
            </a:lvl1pPr>
          </a:lstStyle>
          <a:p>
            <a:r>
              <a:rPr lang="en-GB" noProof="0" err="1"/>
              <a:t>Click</a:t>
            </a:r>
            <a:r>
              <a:rPr lang="en-GB" noProof="0"/>
              <a:t> to </a:t>
            </a:r>
            <a:r>
              <a:rPr lang="en-GB" noProof="0" err="1"/>
              <a:t>edit</a:t>
            </a:r>
            <a:r>
              <a:rPr lang="en-GB" noProof="0"/>
              <a:t> Master </a:t>
            </a:r>
            <a:r>
              <a:rPr lang="en-GB" noProof="0" err="1"/>
              <a:t>title</a:t>
            </a:r>
            <a:r>
              <a:rPr lang="en-GB" noProof="0"/>
              <a:t> style</a:t>
            </a:r>
          </a:p>
        </p:txBody>
      </p:sp>
      <p:sp>
        <p:nvSpPr>
          <p:cNvPr id="10" name="Footer Placeholder 9">
            <a:extLst>
              <a:ext uri="{FF2B5EF4-FFF2-40B4-BE49-F238E27FC236}">
                <a16:creationId xmlns:a16="http://schemas.microsoft.com/office/drawing/2014/main" id="{C0ED9E13-9DB5-7219-D300-DD32B15B25DA}"/>
              </a:ext>
            </a:extLst>
          </p:cNvPr>
          <p:cNvSpPr>
            <a:spLocks noGrp="1"/>
          </p:cNvSpPr>
          <p:nvPr>
            <p:ph type="ftr" sz="quarter" idx="15"/>
          </p:nvPr>
        </p:nvSpPr>
        <p:spPr/>
        <p:txBody>
          <a:bodyPr/>
          <a:lstStyle>
            <a:lvl1pPr>
              <a:defRPr>
                <a:solidFill>
                  <a:schemeClr val="bg1"/>
                </a:solidFill>
              </a:defRPr>
            </a:lvl1pPr>
          </a:lstStyle>
          <a:p>
            <a:r>
              <a:rPr lang="en-GB" noProof="0"/>
              <a:t>CLICK TO INSERT COMPANY NAME</a:t>
            </a:r>
          </a:p>
        </p:txBody>
      </p:sp>
      <p:sp>
        <p:nvSpPr>
          <p:cNvPr id="11" name="Slide Number Placeholder 10">
            <a:extLst>
              <a:ext uri="{FF2B5EF4-FFF2-40B4-BE49-F238E27FC236}">
                <a16:creationId xmlns:a16="http://schemas.microsoft.com/office/drawing/2014/main" id="{85AA5A7D-770A-67C5-6EFF-8AD1F28FC232}"/>
              </a:ext>
            </a:extLst>
          </p:cNvPr>
          <p:cNvSpPr>
            <a:spLocks noGrp="1"/>
          </p:cNvSpPr>
          <p:nvPr>
            <p:ph type="sldNum" sz="quarter" idx="16"/>
          </p:nvPr>
        </p:nvSpPr>
        <p:spPr/>
        <p:txBody>
          <a:bodyPr/>
          <a:lstStyle>
            <a:lvl1pPr>
              <a:defRPr>
                <a:solidFill>
                  <a:schemeClr val="bg1">
                    <a:alpha val="70000"/>
                  </a:schemeClr>
                </a:solidFill>
              </a:defRPr>
            </a:lvl1pPr>
          </a:lstStyle>
          <a:p>
            <a:fld id="{5A0D23CF-C5A3-5445-819D-C647D180BB4B}" type="slidenum">
              <a:rPr lang="en-GB" noProof="0" smtClean="0"/>
              <a:pPr/>
              <a:t>‹nr.›</a:t>
            </a:fld>
            <a:endParaRPr lang="en-GB" noProof="0"/>
          </a:p>
        </p:txBody>
      </p:sp>
    </p:spTree>
    <p:extLst>
      <p:ext uri="{BB962C8B-B14F-4D97-AF65-F5344CB8AC3E}">
        <p14:creationId xmlns:p14="http://schemas.microsoft.com/office/powerpoint/2010/main" val="234834086"/>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theme" Target="../theme/theme1.xml"/><Relationship Id="rId5" Type="http://schemas.openxmlformats.org/officeDocument/2006/relationships/slideLayout" Target="../slideLayouts/slideLayout5.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Pladsholder til tekst 2">
            <a:extLst>
              <a:ext uri="{FF2B5EF4-FFF2-40B4-BE49-F238E27FC236}">
                <a16:creationId xmlns:a16="http://schemas.microsoft.com/office/drawing/2014/main" id="{3B61CC4E-F6A2-4C3F-CE7B-BB195B240393}"/>
              </a:ext>
            </a:extLst>
          </p:cNvPr>
          <p:cNvSpPr>
            <a:spLocks noGrp="1"/>
          </p:cNvSpPr>
          <p:nvPr>
            <p:ph type="body" idx="1"/>
          </p:nvPr>
        </p:nvSpPr>
        <p:spPr>
          <a:xfrm>
            <a:off x="423975" y="1422668"/>
            <a:ext cx="6583503" cy="4439883"/>
          </a:xfrm>
          <a:prstGeom prst="rect">
            <a:avLst/>
          </a:prstGeom>
        </p:spPr>
        <p:txBody>
          <a:bodyPr vert="horz" lIns="0" tIns="0" rIns="0" bIns="0" rtlCol="0">
            <a:noAutofit/>
          </a:bodyPr>
          <a:lstStyle/>
          <a:p>
            <a:pPr lvl="0"/>
            <a:r>
              <a:rPr lang="en-GB" noProof="0"/>
              <a:t>Click to edit Master text styles</a:t>
            </a:r>
          </a:p>
          <a:p>
            <a:pPr lvl="1"/>
            <a:r>
              <a:rPr lang="en-GB" noProof="0"/>
              <a:t>Second level</a:t>
            </a:r>
          </a:p>
          <a:p>
            <a:pPr lvl="2"/>
            <a:r>
              <a:rPr lang="en-GB" noProof="0"/>
              <a:t>Third level</a:t>
            </a:r>
          </a:p>
          <a:p>
            <a:pPr lvl="3"/>
            <a:r>
              <a:rPr lang="en-GB" noProof="0"/>
              <a:t>Fourth level</a:t>
            </a:r>
          </a:p>
          <a:p>
            <a:pPr lvl="4"/>
            <a:r>
              <a:rPr lang="en-GB" noProof="0"/>
              <a:t>Fifth level</a:t>
            </a:r>
          </a:p>
        </p:txBody>
      </p:sp>
      <p:sp>
        <p:nvSpPr>
          <p:cNvPr id="4" name="Pladsholder til dato 3">
            <a:extLst>
              <a:ext uri="{FF2B5EF4-FFF2-40B4-BE49-F238E27FC236}">
                <a16:creationId xmlns:a16="http://schemas.microsoft.com/office/drawing/2014/main" id="{8550164C-751B-845B-9F9B-5F2B4F1FB4E6}"/>
              </a:ext>
            </a:extLst>
          </p:cNvPr>
          <p:cNvSpPr>
            <a:spLocks noGrp="1"/>
          </p:cNvSpPr>
          <p:nvPr>
            <p:ph type="dt" sz="half" idx="2"/>
          </p:nvPr>
        </p:nvSpPr>
        <p:spPr>
          <a:xfrm>
            <a:off x="276685" y="10152285"/>
            <a:ext cx="1617485" cy="128235"/>
          </a:xfrm>
          <a:prstGeom prst="rect">
            <a:avLst/>
          </a:prstGeom>
        </p:spPr>
        <p:txBody>
          <a:bodyPr vert="horz" lIns="0" tIns="0" rIns="0" bIns="0" rtlCol="0" anchor="t" anchorCtr="0">
            <a:noAutofit/>
          </a:bodyPr>
          <a:lstStyle>
            <a:lvl1pPr algn="l">
              <a:defRPr sz="825">
                <a:solidFill>
                  <a:srgbClr val="5F7D69"/>
                </a:solidFill>
                <a:latin typeface="IBM Plex Sans" panose="020B0503050203000203" pitchFamily="34" charset="0"/>
              </a:defRPr>
            </a:lvl1pPr>
          </a:lstStyle>
          <a:p>
            <a:endParaRPr lang="en-GB"/>
          </a:p>
        </p:txBody>
      </p:sp>
      <p:sp>
        <p:nvSpPr>
          <p:cNvPr id="5" name="Pladsholder til sidefod 4">
            <a:extLst>
              <a:ext uri="{FF2B5EF4-FFF2-40B4-BE49-F238E27FC236}">
                <a16:creationId xmlns:a16="http://schemas.microsoft.com/office/drawing/2014/main" id="{7AB68935-0A2D-A618-8989-FB93D31273FE}"/>
              </a:ext>
            </a:extLst>
          </p:cNvPr>
          <p:cNvSpPr>
            <a:spLocks noGrp="1"/>
          </p:cNvSpPr>
          <p:nvPr>
            <p:ph type="ftr" sz="quarter" idx="3"/>
          </p:nvPr>
        </p:nvSpPr>
        <p:spPr>
          <a:xfrm>
            <a:off x="5000661" y="365760"/>
            <a:ext cx="2147858" cy="128235"/>
          </a:xfrm>
          <a:prstGeom prst="rect">
            <a:avLst/>
          </a:prstGeom>
        </p:spPr>
        <p:txBody>
          <a:bodyPr vert="horz" lIns="0" tIns="0" rIns="0" bIns="0" rtlCol="0" anchor="t" anchorCtr="0">
            <a:noAutofit/>
          </a:bodyPr>
          <a:lstStyle>
            <a:lvl1pPr algn="r">
              <a:defRPr sz="825" b="1">
                <a:solidFill>
                  <a:srgbClr val="5F7D69"/>
                </a:solidFill>
                <a:latin typeface="IBM Plex Sans" panose="020B0503050203000203" pitchFamily="34" charset="0"/>
              </a:defRPr>
            </a:lvl1pPr>
          </a:lstStyle>
          <a:p>
            <a:r>
              <a:rPr lang="en-GB"/>
              <a:t>CLICK TO INSERT COMPANY NAME</a:t>
            </a:r>
          </a:p>
        </p:txBody>
      </p:sp>
      <p:sp>
        <p:nvSpPr>
          <p:cNvPr id="6" name="Pladsholder til slidenummer 5">
            <a:extLst>
              <a:ext uri="{FF2B5EF4-FFF2-40B4-BE49-F238E27FC236}">
                <a16:creationId xmlns:a16="http://schemas.microsoft.com/office/drawing/2014/main" id="{77E57B8E-CD4B-57B4-607F-20E2BE60DB5F}"/>
              </a:ext>
            </a:extLst>
          </p:cNvPr>
          <p:cNvSpPr>
            <a:spLocks noGrp="1"/>
          </p:cNvSpPr>
          <p:nvPr>
            <p:ph type="sldNum" sz="quarter" idx="4"/>
          </p:nvPr>
        </p:nvSpPr>
        <p:spPr>
          <a:xfrm>
            <a:off x="5531035" y="10152285"/>
            <a:ext cx="1617485" cy="128235"/>
          </a:xfrm>
          <a:prstGeom prst="rect">
            <a:avLst/>
          </a:prstGeom>
        </p:spPr>
        <p:txBody>
          <a:bodyPr vert="horz" lIns="0" tIns="0" rIns="0" bIns="0" rtlCol="0" anchor="t" anchorCtr="0">
            <a:noAutofit/>
          </a:bodyPr>
          <a:lstStyle>
            <a:lvl1pPr algn="r">
              <a:defRPr sz="825">
                <a:solidFill>
                  <a:schemeClr val="tx2">
                    <a:alpha val="70000"/>
                  </a:schemeClr>
                </a:solidFill>
                <a:latin typeface="IBM Plex Sans" panose="020B0503050203000203" pitchFamily="34" charset="0"/>
              </a:defRPr>
            </a:lvl1pPr>
          </a:lstStyle>
          <a:p>
            <a:fld id="{5A0D23CF-C5A3-5445-819D-C647D180BB4B}" type="slidenum">
              <a:rPr lang="en-GB" smtClean="0"/>
              <a:pPr/>
              <a:t>‹nr.›</a:t>
            </a:fld>
            <a:endParaRPr lang="en-GB"/>
          </a:p>
        </p:txBody>
      </p:sp>
      <p:sp>
        <p:nvSpPr>
          <p:cNvPr id="7" name="Title Placeholder 6">
            <a:extLst>
              <a:ext uri="{FF2B5EF4-FFF2-40B4-BE49-F238E27FC236}">
                <a16:creationId xmlns:a16="http://schemas.microsoft.com/office/drawing/2014/main" id="{8788DFCC-4D37-4C1B-5213-E1D68A373009}"/>
              </a:ext>
            </a:extLst>
          </p:cNvPr>
          <p:cNvSpPr>
            <a:spLocks noGrp="1"/>
          </p:cNvSpPr>
          <p:nvPr>
            <p:ph type="title"/>
          </p:nvPr>
        </p:nvSpPr>
        <p:spPr>
          <a:xfrm>
            <a:off x="423976" y="751839"/>
            <a:ext cx="6583504" cy="207741"/>
          </a:xfrm>
          <a:prstGeom prst="rect">
            <a:avLst/>
          </a:prstGeom>
        </p:spPr>
        <p:txBody>
          <a:bodyPr vert="horz" wrap="square" lIns="0" tIns="0" rIns="0" bIns="0" rtlCol="0" anchor="t" anchorCtr="0">
            <a:spAutoFit/>
          </a:bodyPr>
          <a:lstStyle/>
          <a:p>
            <a:r>
              <a:rPr lang="en-GB" noProof="0"/>
              <a:t>Click to edit Master title style</a:t>
            </a:r>
          </a:p>
        </p:txBody>
      </p:sp>
    </p:spTree>
    <p:extLst>
      <p:ext uri="{BB962C8B-B14F-4D97-AF65-F5344CB8AC3E}">
        <p14:creationId xmlns:p14="http://schemas.microsoft.com/office/powerpoint/2010/main" val="3535313756"/>
      </p:ext>
    </p:extLst>
  </p:cSld>
  <p:clrMap bg1="lt1" tx1="dk1" bg2="lt2" tx2="dk2" accent1="accent1" accent2="accent2" accent3="accent3" accent4="accent4" accent5="accent5" accent6="accent6" hlink="hlink" folHlink="folHlink"/>
  <p:sldLayoutIdLst>
    <p:sldLayoutId id="2147483678" r:id="rId1"/>
    <p:sldLayoutId id="2147483681" r:id="rId2"/>
    <p:sldLayoutId id="2147483694" r:id="rId3"/>
    <p:sldLayoutId id="2147483696" r:id="rId4"/>
    <p:sldLayoutId id="2147483690" r:id="rId5"/>
  </p:sldLayoutIdLst>
  <p:hf hdr="0" dt="0"/>
  <p:txStyles>
    <p:title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p:titleStyle>
    <p:body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p:bodyStyle>
    <p:otherStyle>
      <a:defPPr>
        <a:defRPr lang="en-GB"/>
      </a:defPPr>
      <a:lvl1pPr marL="0" algn="l" defTabSz="914400" rtl="0" eaLnBrk="1" latinLnBrk="0" hangingPunct="1">
        <a:defRPr sz="1475" kern="1200">
          <a:solidFill>
            <a:schemeClr val="tx1"/>
          </a:solidFill>
          <a:latin typeface="+mn-lt"/>
          <a:ea typeface="+mn-ea"/>
          <a:cs typeface="+mn-cs"/>
        </a:defRPr>
      </a:lvl1pPr>
      <a:lvl2pPr marL="380985" algn="l" defTabSz="914400" rtl="0" eaLnBrk="1" latinLnBrk="0" hangingPunct="1">
        <a:defRPr sz="1475" kern="1200">
          <a:solidFill>
            <a:schemeClr val="tx1"/>
          </a:solidFill>
          <a:latin typeface="+mn-lt"/>
          <a:ea typeface="+mn-ea"/>
          <a:cs typeface="+mn-cs"/>
        </a:defRPr>
      </a:lvl2pPr>
      <a:lvl3pPr marL="761970" algn="l" defTabSz="914400" rtl="0" eaLnBrk="1" latinLnBrk="0" hangingPunct="1">
        <a:defRPr sz="1475" kern="1200">
          <a:solidFill>
            <a:schemeClr val="tx1"/>
          </a:solidFill>
          <a:latin typeface="+mn-lt"/>
          <a:ea typeface="+mn-ea"/>
          <a:cs typeface="+mn-cs"/>
        </a:defRPr>
      </a:lvl3pPr>
      <a:lvl4pPr marL="1142954" algn="l" defTabSz="914400" rtl="0" eaLnBrk="1" latinLnBrk="0" hangingPunct="1">
        <a:defRPr sz="1475" kern="1200">
          <a:solidFill>
            <a:schemeClr val="tx1"/>
          </a:solidFill>
          <a:latin typeface="+mn-lt"/>
          <a:ea typeface="+mn-ea"/>
          <a:cs typeface="+mn-cs"/>
        </a:defRPr>
      </a:lvl4pPr>
      <a:lvl5pPr marL="1523939" algn="l" defTabSz="914400" rtl="0" eaLnBrk="1" latinLnBrk="0" hangingPunct="1">
        <a:defRPr sz="1475" kern="1200">
          <a:solidFill>
            <a:schemeClr val="tx1"/>
          </a:solidFill>
          <a:latin typeface="+mn-lt"/>
          <a:ea typeface="+mn-ea"/>
          <a:cs typeface="+mn-cs"/>
        </a:defRPr>
      </a:lvl5pPr>
      <a:lvl6pPr marL="1904924" algn="l" defTabSz="914400" rtl="0" eaLnBrk="1" latinLnBrk="0" hangingPunct="1">
        <a:defRPr sz="1475" kern="1200">
          <a:solidFill>
            <a:schemeClr val="tx1"/>
          </a:solidFill>
          <a:latin typeface="+mn-lt"/>
          <a:ea typeface="+mn-ea"/>
          <a:cs typeface="+mn-cs"/>
        </a:defRPr>
      </a:lvl6pPr>
      <a:lvl7pPr marL="2285909" algn="l" defTabSz="914400" rtl="0" eaLnBrk="1" latinLnBrk="0" hangingPunct="1">
        <a:defRPr sz="1475" kern="1200">
          <a:solidFill>
            <a:schemeClr val="tx1"/>
          </a:solidFill>
          <a:latin typeface="+mn-lt"/>
          <a:ea typeface="+mn-ea"/>
          <a:cs typeface="+mn-cs"/>
        </a:defRPr>
      </a:lvl7pPr>
      <a:lvl8pPr marL="2666893" algn="l" defTabSz="914400" rtl="0" eaLnBrk="1" latinLnBrk="0" hangingPunct="1">
        <a:defRPr sz="1475" kern="1200">
          <a:solidFill>
            <a:schemeClr val="tx1"/>
          </a:solidFill>
          <a:latin typeface="+mn-lt"/>
          <a:ea typeface="+mn-ea"/>
          <a:cs typeface="+mn-cs"/>
        </a:defRPr>
      </a:lvl8pPr>
      <a:lvl9pPr marL="3047878" algn="l" defTabSz="914400" rtl="0" eaLnBrk="1" latinLnBrk="0" hangingPunct="1">
        <a:defRPr sz="1475" kern="1200">
          <a:solidFill>
            <a:schemeClr val="tx1"/>
          </a:solidFill>
          <a:latin typeface="+mn-lt"/>
          <a:ea typeface="+mn-ea"/>
          <a:cs typeface="+mn-cs"/>
        </a:defRPr>
      </a:lvl9pPr>
    </p:otherStyle>
  </p:txStyles>
  <p:extLst>
    <p:ext uri="{27BBF7A9-308A-43DC-89C8-2F10F3537804}">
      <p15:sldGuideLst xmlns:p15="http://schemas.microsoft.com/office/powerpoint/2012/main">
        <p15:guide id="1" userDrawn="1">
          <p15:clr>
            <a:srgbClr val="F26B43"/>
          </p15:clr>
        </p15:guide>
        <p15:guide id="2" pos="7680" userDrawn="1">
          <p15:clr>
            <a:srgbClr val="F26B43"/>
          </p15:clr>
        </p15:guide>
        <p15:guide id="3" pos="320" userDrawn="1">
          <p15:clr>
            <a:srgbClr val="F26B43"/>
          </p15:clr>
        </p15:guide>
        <p15:guide id="4" pos="2533" userDrawn="1">
          <p15:clr>
            <a:srgbClr val="F26B43"/>
          </p15:clr>
        </p15:guide>
        <p15:guide id="5" pos="2733" userDrawn="1">
          <p15:clr>
            <a:srgbClr val="F26B43"/>
          </p15:clr>
        </p15:guide>
        <p15:guide id="6" pos="4946" userDrawn="1">
          <p15:clr>
            <a:srgbClr val="F26B43"/>
          </p15:clr>
        </p15:guide>
        <p15:guide id="7" pos="5146" userDrawn="1">
          <p15:clr>
            <a:srgbClr val="F26B43"/>
          </p15:clr>
        </p15:guide>
        <p15:guide id="8" pos="7360" userDrawn="1">
          <p15:clr>
            <a:srgbClr val="F26B43"/>
          </p15:clr>
        </p15:guide>
        <p15:guide id="9" orient="horz" userDrawn="1">
          <p15:clr>
            <a:srgbClr val="F26B43"/>
          </p15:clr>
        </p15:guide>
        <p15:guide id="10" orient="horz" pos="4320" userDrawn="1">
          <p15:clr>
            <a:srgbClr val="F26B43"/>
          </p15:clr>
        </p15:guide>
        <p15:guide id="11" orient="horz" pos="320" userDrawn="1">
          <p15:clr>
            <a:srgbClr val="F26B43"/>
          </p15:clr>
        </p15:guide>
        <p15:guide id="12" orient="horz" pos="4000" userDrawn="1">
          <p15:clr>
            <a:srgbClr val="F26B43"/>
          </p15:clr>
        </p15:guide>
        <p15:guide id="13" orient="horz" pos="640" userDrawn="1">
          <p15:clr>
            <a:srgbClr val="F26B43"/>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3.xml"/><Relationship Id="rId1" Type="http://schemas.openxmlformats.org/officeDocument/2006/relationships/slideLayout" Target="../slideLayouts/slideLayout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5.xml"/></Relationships>
</file>

<file path=ppt/slides/_rels/slide11.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1.xml"/><Relationship Id="rId1" Type="http://schemas.openxmlformats.org/officeDocument/2006/relationships/slideLayout" Target="../slideLayouts/slideLayout4.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image" Target="../media/image5.svg"/><Relationship Id="rId2" Type="http://schemas.openxmlformats.org/officeDocument/2006/relationships/notesSlide" Target="../notesSlides/notesSlide14.xml"/><Relationship Id="rId1" Type="http://schemas.openxmlformats.org/officeDocument/2006/relationships/slideLayout" Target="../slideLayouts/slideLayout4.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4.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5.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el 4">
            <a:extLst>
              <a:ext uri="{FF2B5EF4-FFF2-40B4-BE49-F238E27FC236}">
                <a16:creationId xmlns:a16="http://schemas.microsoft.com/office/drawing/2014/main" id="{92A8525A-459C-C975-663E-23EF33D3BFBC}"/>
              </a:ext>
            </a:extLst>
          </p:cNvPr>
          <p:cNvSpPr>
            <a:spLocks noGrp="1"/>
          </p:cNvSpPr>
          <p:nvPr>
            <p:ph type="title"/>
          </p:nvPr>
        </p:nvSpPr>
        <p:spPr>
          <a:xfrm>
            <a:off x="411480" y="6237584"/>
            <a:ext cx="6737040" cy="126952"/>
          </a:xfrm>
        </p:spPr>
        <p:txBody>
          <a:bodyPr/>
          <a:lstStyle/>
          <a:p>
            <a:r>
              <a:rPr lang="en-GB" noProof="0"/>
              <a:t>ESG REPORT {{insert_year}}</a:t>
            </a:r>
          </a:p>
        </p:txBody>
      </p:sp>
      <p:sp>
        <p:nvSpPr>
          <p:cNvPr id="4" name="Footer Placeholder 3">
            <a:extLst>
              <a:ext uri="{FF2B5EF4-FFF2-40B4-BE49-F238E27FC236}">
                <a16:creationId xmlns:a16="http://schemas.microsoft.com/office/drawing/2014/main" id="{734E8629-539E-87AE-7B49-CC26832ADCE2}"/>
              </a:ext>
            </a:extLst>
          </p:cNvPr>
          <p:cNvSpPr>
            <a:spLocks noGrp="1"/>
          </p:cNvSpPr>
          <p:nvPr>
            <p:ph type="ftr" sz="quarter" idx="15"/>
          </p:nvPr>
        </p:nvSpPr>
        <p:spPr>
          <a:xfrm>
            <a:off x="411480" y="6707538"/>
            <a:ext cx="6737040" cy="234336"/>
          </a:xfrm>
        </p:spPr>
        <p:txBody>
          <a:bodyPr/>
          <a:lstStyle/>
          <a:p>
            <a:r>
              <a:rPr lang="en-GB" noProof="0"/>
              <a:t>{{company_name}}</a:t>
            </a:r>
            <a:endParaRPr lang="en-GB" b="0" noProof="0"/>
          </a:p>
        </p:txBody>
      </p:sp>
    </p:spTree>
    <p:extLst>
      <p:ext uri="{BB962C8B-B14F-4D97-AF65-F5344CB8AC3E}">
        <p14:creationId xmlns:p14="http://schemas.microsoft.com/office/powerpoint/2010/main" val="242855778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41FDDEE7-C270-1824-E7E0-80B15F3FDDC2}"/>
              </a:ext>
            </a:extLst>
          </p:cNvPr>
          <p:cNvSpPr>
            <a:spLocks noGrp="1"/>
          </p:cNvSpPr>
          <p:nvPr>
            <p:ph type="title"/>
          </p:nvPr>
        </p:nvSpPr>
        <p:spPr>
          <a:xfrm>
            <a:off x="411480" y="834189"/>
            <a:ext cx="6737040" cy="415482"/>
          </a:xfrm>
        </p:spPr>
        <p:txBody>
          <a:bodyPr/>
          <a:lstStyle/>
          <a:p>
            <a:r>
              <a:rPr lang="en-GB" noProof="0"/>
              <a:t>ESG report</a:t>
            </a:r>
            <a:r>
              <a:rPr lang="en-GB" b="0" noProof="0">
                <a:solidFill>
                  <a:srgbClr val="1B4528"/>
                </a:solidFill>
                <a:ea typeface="+mn-ea"/>
                <a:cs typeface="+mn-cs"/>
              </a:rPr>
              <a:t> </a:t>
            </a:r>
            <a:br>
              <a:rPr lang="en-GB" b="0" noProof="0">
                <a:solidFill>
                  <a:srgbClr val="1B4528"/>
                </a:solidFill>
                <a:ea typeface="+mn-ea"/>
                <a:cs typeface="+mn-cs"/>
              </a:rPr>
            </a:br>
            <a:endParaRPr lang="en-GB" b="0" noProof="0">
              <a:solidFill>
                <a:srgbClr val="1B4528"/>
              </a:solidFill>
              <a:ea typeface="+mn-ea"/>
              <a:cs typeface="+mn-cs"/>
            </a:endParaRPr>
          </a:p>
        </p:txBody>
      </p:sp>
      <p:sp>
        <p:nvSpPr>
          <p:cNvPr id="4" name="Text Placeholder 2">
            <a:extLst>
              <a:ext uri="{FF2B5EF4-FFF2-40B4-BE49-F238E27FC236}">
                <a16:creationId xmlns:a16="http://schemas.microsoft.com/office/drawing/2014/main" id="{34D83B42-66BB-638E-55C1-84FD1F7A8354}"/>
              </a:ext>
            </a:extLst>
          </p:cNvPr>
          <p:cNvSpPr>
            <a:spLocks noGrp="1"/>
          </p:cNvSpPr>
          <p:nvPr>
            <p:ph type="body" sz="quarter" idx="17"/>
          </p:nvPr>
        </p:nvSpPr>
        <p:spPr>
          <a:xfrm>
            <a:off x="411480" y="877124"/>
            <a:ext cx="6598920" cy="4470221"/>
          </a:xfrm>
        </p:spPr>
        <p:txBody>
          <a:bodyPr/>
          <a:lstStyle/>
          <a:p>
            <a:pPr>
              <a:lnSpc>
                <a:spcPct val="150000"/>
              </a:lnSpc>
              <a:tabLst>
                <a:tab pos="239439" algn="l"/>
                <a:tab pos="388922" algn="l"/>
                <a:tab pos="3737091" algn="r"/>
              </a:tabLst>
            </a:pPr>
            <a:endParaRPr lang="en-GB" sz="975" b="1" noProof="0" dirty="0">
              <a:latin typeface="+mj-lt"/>
            </a:endParaRPr>
          </a:p>
          <a:p>
            <a:pPr>
              <a:lnSpc>
                <a:spcPct val="150000"/>
              </a:lnSpc>
              <a:tabLst>
                <a:tab pos="239439" algn="l"/>
                <a:tab pos="388922" algn="l"/>
                <a:tab pos="3737091" algn="r"/>
              </a:tabLst>
            </a:pPr>
            <a:endParaRPr lang="en-GB" sz="975" b="1"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General information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kern="1200" spc="-10" noProof="0" dirty="0">
                <a:solidFill>
                  <a:schemeClr val="tx2"/>
                </a:solidFill>
                <a:latin typeface="+mn-lt"/>
                <a:ea typeface="+mn-ea"/>
                <a:cs typeface="+mn-cs"/>
              </a:rPr>
              <a:t>Practices, policies and initiatives for transitioning to a more sustainable economy	</a:t>
            </a:r>
            <a:endParaRPr lang="en-GB" sz="975" b="1"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Energy consumption				</a:t>
            </a:r>
            <a:endParaRPr lang="en-GB" sz="975"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CO₂e emissions 				</a:t>
            </a:r>
            <a:endParaRPr lang="en-GB" sz="975" noProof="0" dirty="0">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Pollution of air, water and soil</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Biodiversity</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Water	</a:t>
            </a:r>
            <a:r>
              <a:rPr lang="en-GB" sz="975" noProof="0" dirty="0">
                <a:latin typeface="+mj-lt"/>
              </a:rPr>
              <a:t> 			</a:t>
            </a:r>
          </a:p>
          <a:p>
            <a:pPr marL="190492" indent="-221991">
              <a:lnSpc>
                <a:spcPct val="150000"/>
              </a:lnSpc>
              <a:buFont typeface="+mj-lt"/>
              <a:buAutoNum type="arabicPeriod"/>
              <a:tabLst>
                <a:tab pos="239439" algn="l"/>
                <a:tab pos="388922" algn="l"/>
                <a:tab pos="3737091" algn="r"/>
              </a:tabLst>
            </a:pPr>
            <a:r>
              <a:rPr lang="en-GB" sz="975" b="1" noProof="0" dirty="0">
                <a:latin typeface="+mj-lt"/>
              </a:rPr>
              <a:t>Resource use, circular economy and waste management</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General characteristics</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Health and safety</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Own workforce: Remuneration, collective bargaining and training</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Business conduct</a:t>
            </a:r>
            <a:r>
              <a:rPr lang="en-GB" sz="975" noProof="0" dirty="0">
                <a:latin typeface="+mj-lt"/>
              </a:rPr>
              <a:t>	 			</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Strategy: Business model and sustainability-related initiatives</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Practices, policies and future initiatives for transitioning towards a more sustainable economy</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CO₂e reduction targets</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Climate transition</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Climate risks</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Additional (general) workforce characteristics</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Human rights policies and processes</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Severe negative human rights incidents</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Revenues from certain activities</a:t>
            </a:r>
            <a:endParaRPr lang="en-GB" sz="975" noProof="0" dirty="0">
              <a:solidFill>
                <a:srgbClr val="1B4528"/>
              </a:solidFill>
              <a:latin typeface="+mj-lt"/>
            </a:endParaRPr>
          </a:p>
          <a:p>
            <a:pPr marL="190492" indent="-221991">
              <a:lnSpc>
                <a:spcPct val="150000"/>
              </a:lnSpc>
              <a:buFont typeface="+mj-lt"/>
              <a:buAutoNum type="arabicPeriod"/>
              <a:tabLst>
                <a:tab pos="239439" algn="l"/>
                <a:tab pos="388922" algn="l"/>
                <a:tab pos="3737091" algn="r"/>
              </a:tabLst>
            </a:pPr>
            <a:r>
              <a:rPr lang="en-GB" sz="975" b="1" noProof="0" dirty="0">
                <a:latin typeface="+mj-lt"/>
              </a:rPr>
              <a:t>Gender diversity ratio in the governance body</a:t>
            </a:r>
            <a:endParaRPr lang="en-GB" sz="975" noProof="0" dirty="0">
              <a:solidFill>
                <a:srgbClr val="1B4528"/>
              </a:solidFill>
              <a:latin typeface="+mj-lt"/>
            </a:endParaRPr>
          </a:p>
          <a:p>
            <a:pPr>
              <a:tabLst>
                <a:tab pos="239439" algn="l"/>
                <a:tab pos="388922" algn="l"/>
                <a:tab pos="3737091" algn="r"/>
              </a:tabLst>
            </a:pPr>
            <a:endParaRPr lang="en-GB" sz="975" noProof="0" dirty="0">
              <a:latin typeface="+mj-lt"/>
            </a:endParaRPr>
          </a:p>
        </p:txBody>
      </p:sp>
      <p:sp>
        <p:nvSpPr>
          <p:cNvPr id="5" name="Footer Placeholder 4">
            <a:extLst>
              <a:ext uri="{FF2B5EF4-FFF2-40B4-BE49-F238E27FC236}">
                <a16:creationId xmlns:a16="http://schemas.microsoft.com/office/drawing/2014/main" id="{663AAC2A-0E1A-03B9-5DD7-E396252E7CF3}"/>
              </a:ext>
              <a:ext uri="{C183D7F6-B498-43B3-948B-1728B52AA6E4}">
                <adec:decorative xmlns:adec="http://schemas.microsoft.com/office/drawing/2017/decorative" val="1"/>
              </a:ext>
            </a:extLst>
          </p:cNvPr>
          <p:cNvSpPr>
            <a:spLocks noGrp="1"/>
          </p:cNvSpPr>
          <p:nvPr>
            <p:ph type="ftr" sz="quarter" idx="22"/>
          </p:nvPr>
        </p:nvSpPr>
        <p:spPr>
          <a:xfrm>
            <a:off x="411480" y="365760"/>
            <a:ext cx="6737040" cy="128235"/>
          </a:xfrm>
        </p:spPr>
        <p:txBody>
          <a:bodyPr/>
          <a:lstStyle/>
          <a:p>
            <a:r>
              <a:rPr lang="en-GB" noProof="0"/>
              <a:t>{{company_name}}</a:t>
            </a:r>
          </a:p>
        </p:txBody>
      </p:sp>
      <p:sp>
        <p:nvSpPr>
          <p:cNvPr id="2" name="Slide Number Placeholder 5">
            <a:extLst>
              <a:ext uri="{FF2B5EF4-FFF2-40B4-BE49-F238E27FC236}">
                <a16:creationId xmlns:a16="http://schemas.microsoft.com/office/drawing/2014/main" id="{EAF64D3B-AE78-BA15-5D3D-CEE3410664A0}"/>
              </a:ext>
              <a:ext uri="{C183D7F6-B498-43B3-948B-1728B52AA6E4}">
                <adec:decorative xmlns:adec="http://schemas.microsoft.com/office/drawing/2017/decorative" val="1"/>
              </a:ext>
            </a:extLst>
          </p:cNvPr>
          <p:cNvSpPr>
            <a:spLocks noGrp="1"/>
          </p:cNvSpPr>
          <p:nvPr>
            <p:ph type="sldNum" sz="quarter" idx="23"/>
          </p:nvPr>
        </p:nvSpPr>
        <p:spPr>
          <a:xfrm>
            <a:off x="3853152" y="10152285"/>
            <a:ext cx="3295368" cy="128235"/>
          </a:xfrm>
        </p:spPr>
        <p:txBody>
          <a:bodyPr/>
          <a:lstStyle/>
          <a:p>
            <a:fld id="{5A0D23CF-C5A3-5445-819D-C647D180BB4B}" type="slidenum">
              <a:rPr lang="en-GB" noProof="0" smtClean="0"/>
              <a:pPr/>
              <a:t>2</a:t>
            </a:fld>
            <a:endParaRPr lang="en-GB" noProof="0"/>
          </a:p>
        </p:txBody>
      </p:sp>
    </p:spTree>
    <p:extLst>
      <p:ext uri="{BB962C8B-B14F-4D97-AF65-F5344CB8AC3E}">
        <p14:creationId xmlns:p14="http://schemas.microsoft.com/office/powerpoint/2010/main" val="172057084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05890"/>
            <a:ext cx="6737040" cy="207741"/>
          </a:xfrm>
        </p:spPr>
        <p:txBody>
          <a:bodyPr/>
          <a:lstStyle/>
          <a:p>
            <a:r>
              <a:rPr lang="en-GB" noProof="0"/>
              <a:t>Basis for preparation (B1) </a:t>
            </a:r>
          </a:p>
        </p:txBody>
      </p:sp>
      <p:sp>
        <p:nvSpPr>
          <p:cNvPr id="15" name="Text Placeholder 2">
            <a:extLst>
              <a:ext uri="{FF2B5EF4-FFF2-40B4-BE49-F238E27FC236}">
                <a16:creationId xmlns:a16="http://schemas.microsoft.com/office/drawing/2014/main" id="{BACC1DA0-DFDE-C844-7562-0528953EC068}"/>
              </a:ext>
            </a:extLst>
          </p:cNvPr>
          <p:cNvSpPr txBox="1">
            <a:spLocks/>
          </p:cNvSpPr>
          <p:nvPr/>
        </p:nvSpPr>
        <p:spPr>
          <a:xfrm>
            <a:off x="411480" y="3496881"/>
            <a:ext cx="3295368" cy="143157"/>
          </a:xfrm>
          <a:prstGeom prst="rect">
            <a:avLst/>
          </a:prstGeom>
        </p:spPr>
        <p:txBody>
          <a:bodyPr lIns="0" tIns="0" rIns="0" bIns="0"/>
          <a:lstStyle>
            <a:lvl1pPr marL="59998" indent="-59998" algn="l" defTabSz="914400" rtl="0" eaLnBrk="1" latinLnBrk="0" hangingPunct="1">
              <a:lnSpc>
                <a:spcPct val="106000"/>
              </a:lnSpc>
              <a:spcBef>
                <a:spcPts val="0"/>
              </a:spcBef>
              <a:buFont typeface="Arial" panose="020B0604020202020204" pitchFamily="34" charset="0"/>
              <a:buChar char="•"/>
              <a:defRPr sz="725" b="0" kern="1200" spc="-10" baseline="0">
                <a:solidFill>
                  <a:schemeClr val="tx2"/>
                </a:solidFill>
                <a:latin typeface="+mn-lt"/>
                <a:ea typeface="+mn-ea"/>
                <a:cs typeface="+mn-cs"/>
              </a:defRPr>
            </a:lvl1pPr>
            <a:lvl2pPr marL="119995"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2pPr>
            <a:lvl3pPr marL="179993"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3pPr>
            <a:lvl4pPr marL="239990"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4pPr>
            <a:lvl5pPr marL="299988" indent="-59998" algn="l" defTabSz="914400" rtl="0" eaLnBrk="1" latinLnBrk="0" hangingPunct="1">
              <a:lnSpc>
                <a:spcPct val="106000"/>
              </a:lnSpc>
              <a:spcBef>
                <a:spcPts val="0"/>
              </a:spcBef>
              <a:buFont typeface="Arial" panose="020B0604020202020204" pitchFamily="34" charset="0"/>
              <a:buChar char="•"/>
              <a:defRPr sz="725" kern="1200" spc="-10" baseline="0">
                <a:solidFill>
                  <a:schemeClr val="tx2"/>
                </a:solidFill>
                <a:latin typeface="+mn-lt"/>
                <a:ea typeface="+mn-ea"/>
                <a:cs typeface="+mn-cs"/>
              </a:defRPr>
            </a:lvl5pPr>
            <a:lvl6pPr marL="209541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6pPr>
            <a:lvl7pPr marL="2476401"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7pPr>
            <a:lvl8pPr marL="2857386"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8pPr>
            <a:lvl9pPr marL="3238370" indent="-190492" algn="l" defTabSz="914400" rtl="0" eaLnBrk="1" latinLnBrk="0" hangingPunct="1">
              <a:lnSpc>
                <a:spcPct val="90000"/>
              </a:lnSpc>
              <a:spcBef>
                <a:spcPts val="417"/>
              </a:spcBef>
              <a:buFont typeface="Arial" panose="020B0604020202020204" pitchFamily="34" charset="0"/>
              <a:buChar char="•"/>
              <a:defRPr sz="1475" kern="1200">
                <a:solidFill>
                  <a:schemeClr val="tx1"/>
                </a:solidFill>
                <a:latin typeface="+mn-lt"/>
                <a:ea typeface="+mn-ea"/>
                <a:cs typeface="+mn-cs"/>
              </a:defRPr>
            </a:lvl9pPr>
          </a:lstStyle>
          <a:p>
            <a:pPr marL="0" indent="0">
              <a:buNone/>
            </a:pPr>
            <a:endParaRPr lang="en-GB" noProof="0">
              <a:solidFill>
                <a:srgbClr val="1B4528"/>
              </a:solidFill>
            </a:endParaRPr>
          </a:p>
        </p:txBody>
      </p:sp>
      <p:graphicFrame>
        <p:nvGraphicFramePr>
          <p:cNvPr id="16" name="Table 2">
            <a:extLst>
              <a:ext uri="{FF2B5EF4-FFF2-40B4-BE49-F238E27FC236}">
                <a16:creationId xmlns:a16="http://schemas.microsoft.com/office/drawing/2014/main" id="{693470FC-B633-430A-0791-18B9C81D050C}"/>
              </a:ext>
            </a:extLst>
          </p:cNvPr>
          <p:cNvGraphicFramePr>
            <a:graphicFrameLocks noGrp="1"/>
          </p:cNvGraphicFramePr>
          <p:nvPr>
            <p:extLst>
              <p:ext uri="{D42A27DB-BD31-4B8C-83A1-F6EECF244321}">
                <p14:modId xmlns:p14="http://schemas.microsoft.com/office/powerpoint/2010/main" val="400147983"/>
              </p:ext>
            </p:extLst>
          </p:nvPr>
        </p:nvGraphicFramePr>
        <p:xfrm>
          <a:off x="411480" y="5409544"/>
          <a:ext cx="3295368" cy="886415"/>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386855">
                <a:tc gridSpan="2">
                  <a:txBody>
                    <a:bodyPr/>
                    <a:lstStyle/>
                    <a:p>
                      <a:pPr marL="0" algn="l" defTabSz="914400" rtl="0" eaLnBrk="1" latinLnBrk="0" hangingPunct="1"/>
                      <a:r>
                        <a:rPr lang="en-GB" sz="975" b="1" kern="1200" spc="-10" noProof="0">
                          <a:solidFill>
                            <a:schemeClr val="tx2"/>
                          </a:solidFill>
                          <a:latin typeface="+mn-lt"/>
                          <a:ea typeface="+mn-ea"/>
                          <a:cs typeface="+mn-cs"/>
                        </a:rPr>
                        <a:t>List of subsidiaries included in this ESG report </a:t>
                      </a:r>
                      <a:r>
                        <a:rPr lang="en-GB" sz="975" b="0" kern="1200" spc="-10" noProof="0">
                          <a:solidFill>
                            <a:schemeClr val="tx2"/>
                          </a:solidFill>
                          <a:latin typeface="+mn-lt"/>
                          <a:ea typeface="+mn-ea"/>
                          <a:cs typeface="+mn-cs"/>
                        </a:rPr>
                        <a:t>(para. 27d)</a:t>
                      </a:r>
                      <a:endParaRPr lang="en-GB" sz="975" b="0" i="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49780">
                <a:tc>
                  <a:txBody>
                    <a:bodyPr/>
                    <a:lstStyle/>
                    <a:p>
                      <a:pPr algn="l"/>
                      <a:r>
                        <a:rPr lang="en-GB" sz="975" b="1" kern="1200" spc="-10" noProof="0">
                          <a:solidFill>
                            <a:schemeClr val="tx2"/>
                          </a:solidFill>
                          <a:latin typeface="+mn-lt"/>
                          <a:ea typeface="+mn-ea"/>
                          <a:cs typeface="+mn-cs"/>
                        </a:rPr>
                        <a:t>Name of subsidiary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Address of subsidiary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249780">
                <a:tc>
                  <a:txBody>
                    <a:bodyPr/>
                    <a:lstStyle/>
                    <a:p>
                      <a:pPr rtl="0" fontAlgn="t" algn="l">
                        <a:buNone/>
                      </a:pPr>
                      <a:r>
                        <a:rPr lang="en-GB" sz="975" b="0" i="0" u="none" strike="noStrike" noProof="0">
                          <a:solidFill>
                            <a:srgbClr val="1B4528"/>
                          </a:solidFill>
                          <a:effectLst/>
                          <a:latin typeface="Inter"/>
                        </a:rPr>
                        <a:t>{{subsidiary}}</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subsidiary_address</a:t>
                      </a:r>
                      <a:r>
                        <a:rPr lang="en-GB" sz="975" b="0" i="0" u="none" strike="noStrike" noProof="0" dirty="0">
                          <a:solidFill>
                            <a:srgbClr val="1B4528"/>
                          </a:solidFill>
                          <a:effectLst/>
                          <a:latin typeface="Inter"/>
                        </a:rPr>
                        <a:t>}}</a:t>
                      </a:r>
                      <a:endParaRPr lang="en-GB" sz="975" noProof="0" dirty="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n-GB" noProof="0" smtClean="0"/>
              <a:pPr/>
              <a:t>3</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a:xfrm>
            <a:off x="411480" y="365760"/>
            <a:ext cx="6737040" cy="128235"/>
          </a:xfrm>
        </p:spPr>
        <p:txBody>
          <a:bodyPr/>
          <a:lstStyle/>
          <a:p>
            <a:r>
              <a:rPr lang="en-GB" noProof="0"/>
              <a:t>{{company_name}}</a:t>
            </a:r>
            <a:endParaRPr lang="en-GB" b="0" noProof="0"/>
          </a:p>
          <a:p>
            <a:br>
              <a:rPr lang="en-GB" noProof="0"/>
            </a:br>
            <a:endParaRPr lang="en-GB" noProof="0"/>
          </a:p>
        </p:txBody>
      </p:sp>
      <p:graphicFrame>
        <p:nvGraphicFramePr>
          <p:cNvPr id="2" name="Table 12">
            <a:extLst>
              <a:ext uri="{FF2B5EF4-FFF2-40B4-BE49-F238E27FC236}">
                <a16:creationId xmlns:a16="http://schemas.microsoft.com/office/drawing/2014/main" id="{AA61E98C-E974-CA6B-E7E0-7ED257077648}"/>
              </a:ext>
            </a:extLst>
          </p:cNvPr>
          <p:cNvGraphicFramePr>
            <a:graphicFrameLocks noGrp="1"/>
          </p:cNvGraphicFramePr>
          <p:nvPr>
            <p:extLst>
              <p:ext uri="{D42A27DB-BD31-4B8C-83A1-F6EECF244321}">
                <p14:modId xmlns:p14="http://schemas.microsoft.com/office/powerpoint/2010/main" val="4248128672"/>
              </p:ext>
            </p:extLst>
          </p:nvPr>
        </p:nvGraphicFramePr>
        <p:xfrm>
          <a:off x="411480" y="4091258"/>
          <a:ext cx="3295368" cy="1306777"/>
        </p:xfrm>
        <a:graphic>
          <a:graphicData uri="http://schemas.openxmlformats.org/drawingml/2006/table">
            <a:tbl>
              <a:tblPr firstRow="1">
                <a:tableStyleId>{2A488322-F2BA-4B5B-9748-0D474271808F}</a:tableStyleId>
              </a:tblPr>
              <a:tblGrid>
                <a:gridCol w="2775619">
                  <a:extLst>
                    <a:ext uri="{9D8B030D-6E8A-4147-A177-3AD203B41FA5}">
                      <a16:colId xmlns:a16="http://schemas.microsoft.com/office/drawing/2014/main" val="2698153288"/>
                    </a:ext>
                  </a:extLst>
                </a:gridCol>
                <a:gridCol w="519749">
                  <a:extLst>
                    <a:ext uri="{9D8B030D-6E8A-4147-A177-3AD203B41FA5}">
                      <a16:colId xmlns:a16="http://schemas.microsoft.com/office/drawing/2014/main" val="2119413191"/>
                    </a:ext>
                  </a:extLst>
                </a:gridCol>
              </a:tblGrid>
              <a:tr h="219319">
                <a:tc gridSpan="2">
                  <a:txBody>
                    <a:bodyPr/>
                    <a:lstStyle/>
                    <a:p>
                      <a:r>
                        <a:rPr lang="en-GB" sz="975" b="1" noProof="0">
                          <a:solidFill>
                            <a:schemeClr val="tx2"/>
                          </a:solidFill>
                        </a:rPr>
                        <a:t>Individual or consolidated reporting</a:t>
                      </a:r>
                      <a:r>
                        <a:rPr lang="en-GB" sz="975" b="0" noProof="0">
                          <a:solidFill>
                            <a:schemeClr val="tx2"/>
                          </a:solidFill>
                        </a:rPr>
                        <a:t> (para. 27c)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has been prepared on an </a:t>
                      </a:r>
                      <a:r>
                        <a:rPr lang="en-GB" sz="975" b="1" kern="1200" spc="-10" noProof="0">
                          <a:solidFill>
                            <a:schemeClr val="tx2"/>
                          </a:solidFill>
                          <a:latin typeface="+mn-lt"/>
                          <a:ea typeface="+mn-ea"/>
                          <a:cs typeface="+mn-cs"/>
                        </a:rPr>
                        <a:t>individual basis </a:t>
                      </a:r>
                      <a:r>
                        <a:rPr lang="en-GB" sz="975" b="0" kern="1200" spc="-10" noProof="0">
                          <a:solidFill>
                            <a:schemeClr val="tx2"/>
                          </a:solidFill>
                          <a:latin typeface="+mn-lt"/>
                          <a:ea typeface="+mn-ea"/>
                          <a:cs typeface="+mn-cs"/>
                        </a:rPr>
                        <a:t>(i.e. the report does not cover any subsidiaries)</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{{yes_subsidiary?}}</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4829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has been prepared on a </a:t>
                      </a:r>
                      <a:r>
                        <a:rPr lang="en-GB" sz="975" b="1" kern="1200" spc="-10" noProof="0">
                          <a:solidFill>
                            <a:schemeClr val="tx2"/>
                          </a:solidFill>
                          <a:latin typeface="+mn-lt"/>
                          <a:ea typeface="+mn-ea"/>
                          <a:cs typeface="+mn-cs"/>
                        </a:rPr>
                        <a:t>consolidated basis </a:t>
                      </a:r>
                      <a:r>
                        <a:rPr lang="en-GB" sz="975" b="0" kern="1200" spc="-10" noProof="0">
                          <a:solidFill>
                            <a:schemeClr val="tx2"/>
                          </a:solidFill>
                          <a:latin typeface="+mn-lt"/>
                          <a:ea typeface="+mn-ea"/>
                          <a:cs typeface="+mn-cs"/>
                        </a:rPr>
                        <a:t>(i.e. the report includes the undertaking’s subsidiaries)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{{no_subsidiary?}}</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graphicFrame>
        <p:nvGraphicFramePr>
          <p:cNvPr id="8" name="Table 12">
            <a:extLst>
              <a:ext uri="{FF2B5EF4-FFF2-40B4-BE49-F238E27FC236}">
                <a16:creationId xmlns:a16="http://schemas.microsoft.com/office/drawing/2014/main" id="{C0F79360-A773-09D0-5119-A3FDBC3F6D97}"/>
              </a:ext>
            </a:extLst>
          </p:cNvPr>
          <p:cNvGraphicFramePr>
            <a:graphicFrameLocks noGrp="1"/>
          </p:cNvGraphicFramePr>
          <p:nvPr>
            <p:extLst>
              <p:ext uri="{D42A27DB-BD31-4B8C-83A1-F6EECF244321}">
                <p14:modId xmlns:p14="http://schemas.microsoft.com/office/powerpoint/2010/main" val="29321190"/>
              </p:ext>
            </p:extLst>
          </p:nvPr>
        </p:nvGraphicFramePr>
        <p:xfrm>
          <a:off x="411480" y="2459885"/>
          <a:ext cx="3295368" cy="1398160"/>
        </p:xfrm>
        <a:graphic>
          <a:graphicData uri="http://schemas.openxmlformats.org/drawingml/2006/table">
            <a:tbl>
              <a:tblPr firstRow="1">
                <a:tableStyleId>{2A488322-F2BA-4B5B-9748-0D474271808F}</a:tableStyleId>
              </a:tblPr>
              <a:tblGrid>
                <a:gridCol w="2780615">
                  <a:extLst>
                    <a:ext uri="{9D8B030D-6E8A-4147-A177-3AD203B41FA5}">
                      <a16:colId xmlns:a16="http://schemas.microsoft.com/office/drawing/2014/main" val="2698153288"/>
                    </a:ext>
                  </a:extLst>
                </a:gridCol>
                <a:gridCol w="514753">
                  <a:extLst>
                    <a:ext uri="{9D8B030D-6E8A-4147-A177-3AD203B41FA5}">
                      <a16:colId xmlns:a16="http://schemas.microsoft.com/office/drawing/2014/main" val="2119413191"/>
                    </a:ext>
                  </a:extLst>
                </a:gridCol>
              </a:tblGrid>
              <a:tr h="374670">
                <a:tc gridSpan="2">
                  <a:txBody>
                    <a:bodyPr/>
                    <a:lstStyle/>
                    <a:p>
                      <a:r>
                        <a:rPr lang="en-GB" sz="975" b="1" kern="1200" spc="-10" noProof="0">
                          <a:solidFill>
                            <a:schemeClr val="tx2"/>
                          </a:solidFill>
                          <a:latin typeface="+mn-lt"/>
                          <a:ea typeface="+mn-ea"/>
                          <a:cs typeface="+mn-cs"/>
                        </a:rPr>
                        <a:t>Basic Module, or Basic Module +</a:t>
                      </a:r>
                      <a:r>
                        <a:rPr lang="en-GB" sz="975" b="0" kern="1200" spc="-10" noProof="0">
                          <a:solidFill>
                            <a:schemeClr val="tx2"/>
                          </a:solidFill>
                          <a:latin typeface="+mn-lt"/>
                          <a:ea typeface="+mn-ea"/>
                          <a:cs typeface="+mn-cs"/>
                        </a:rPr>
                        <a:t> </a:t>
                      </a:r>
                      <a:r>
                        <a:rPr lang="en-GB" sz="975" b="1" kern="1200" spc="-10" noProof="0">
                          <a:solidFill>
                            <a:schemeClr val="tx2"/>
                          </a:solidFill>
                          <a:latin typeface="+mn-lt"/>
                          <a:ea typeface="+mn-ea"/>
                          <a:cs typeface="+mn-cs"/>
                        </a:rPr>
                        <a:t>Comprehensive Module </a:t>
                      </a:r>
                      <a:r>
                        <a:rPr lang="en-GB" sz="975" b="0" kern="1200" spc="-10" noProof="0">
                          <a:solidFill>
                            <a:schemeClr val="tx2"/>
                          </a:solidFill>
                          <a:latin typeface="+mn-lt"/>
                          <a:ea typeface="+mn-ea"/>
                          <a:cs typeface="+mn-cs"/>
                        </a:rPr>
                        <a:t>(para. 27a)</a:t>
                      </a:r>
                      <a:r>
                        <a:rPr lang="en-GB" sz="975" b="1" kern="1200" spc="-10" noProof="0">
                          <a:solidFill>
                            <a:schemeClr val="tx2"/>
                          </a:solidFill>
                          <a:latin typeface="+mn-lt"/>
                          <a:ea typeface="+mn-ea"/>
                          <a:cs typeface="+mn-cs"/>
                        </a:rPr>
                        <a:t>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4843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is based on the </a:t>
                      </a:r>
                      <a:r>
                        <a:rPr lang="en-GB" sz="975" b="1" kern="1200" spc="-10" noProof="0">
                          <a:solidFill>
                            <a:schemeClr val="tx2"/>
                          </a:solidFill>
                          <a:latin typeface="+mn-lt"/>
                          <a:ea typeface="+mn-ea"/>
                          <a:cs typeface="+mn-cs"/>
                        </a:rPr>
                        <a:t>Basic Module</a:t>
                      </a:r>
                      <a:r>
                        <a:rPr lang="en-GB" sz="975" b="0" kern="1200" spc="-10" noProof="0">
                          <a:solidFill>
                            <a:schemeClr val="tx2"/>
                          </a:solidFill>
                          <a:latin typeface="+mn-lt"/>
                          <a:ea typeface="+mn-ea"/>
                          <a:cs typeface="+mn-cs"/>
                        </a:rPr>
                        <a:t> of the voluntary SME standard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{{basic_module?}}</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240345905"/>
                  </a:ext>
                </a:extLst>
              </a:tr>
              <a:tr h="5391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a:solidFill>
                            <a:schemeClr val="tx2"/>
                          </a:solidFill>
                          <a:latin typeface="+mn-lt"/>
                          <a:ea typeface="+mn-ea"/>
                          <a:cs typeface="+mn-cs"/>
                        </a:rPr>
                        <a:t>The report is based on the </a:t>
                      </a:r>
                      <a:r>
                        <a:rPr lang="en-GB" sz="975" b="1" kern="1200" spc="-10" noProof="0">
                          <a:solidFill>
                            <a:schemeClr val="tx2"/>
                          </a:solidFill>
                          <a:latin typeface="+mn-lt"/>
                          <a:ea typeface="+mn-ea"/>
                          <a:cs typeface="+mn-cs"/>
                        </a:rPr>
                        <a:t>Basic Module</a:t>
                      </a:r>
                      <a:r>
                        <a:rPr lang="en-GB" sz="975" b="0" kern="1200" spc="-10" noProof="0">
                          <a:solidFill>
                            <a:schemeClr val="tx2"/>
                          </a:solidFill>
                          <a:latin typeface="+mn-lt"/>
                          <a:ea typeface="+mn-ea"/>
                          <a:cs typeface="+mn-cs"/>
                        </a:rPr>
                        <a:t> and </a:t>
                      </a:r>
                      <a:r>
                        <a:rPr lang="en-GB" sz="975" b="1" kern="1200" spc="-10" noProof="0">
                          <a:solidFill>
                            <a:schemeClr val="tx2"/>
                          </a:solidFill>
                          <a:latin typeface="+mn-lt"/>
                          <a:ea typeface="+mn-ea"/>
                          <a:cs typeface="+mn-cs"/>
                        </a:rPr>
                        <a:t>Comprehensive Module </a:t>
                      </a:r>
                      <a:r>
                        <a:rPr lang="en-GB" sz="975" b="0" kern="1200" spc="-10" noProof="0">
                          <a:solidFill>
                            <a:schemeClr val="tx2"/>
                          </a:solidFill>
                          <a:latin typeface="+mn-lt"/>
                          <a:ea typeface="+mn-ea"/>
                          <a:cs typeface="+mn-cs"/>
                        </a:rPr>
                        <a:t>of the voluntary SME standard</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{{comprehensive?}}</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69514074"/>
                  </a:ext>
                </a:extLst>
              </a:tr>
            </a:tbl>
          </a:graphicData>
        </a:graphic>
      </p:graphicFrame>
      <p:sp>
        <p:nvSpPr>
          <p:cNvPr id="10" name="Tekstfelt 9">
            <a:extLst>
              <a:ext uri="{FF2B5EF4-FFF2-40B4-BE49-F238E27FC236}">
                <a16:creationId xmlns:a16="http://schemas.microsoft.com/office/drawing/2014/main" id="{08CE8BB8-760E-14A7-E273-1C19DEAB1C88}"/>
              </a:ext>
            </a:extLst>
          </p:cNvPr>
          <p:cNvSpPr txBox="1"/>
          <p:nvPr/>
        </p:nvSpPr>
        <p:spPr>
          <a:xfrm>
            <a:off x="411480" y="1287528"/>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prepared its sustainability report in accordance with the VSME Standard, which follows a structured approach to ensure that the required information is reported in a standardised and transparent manner. The report reflects the sustainability modules selected and covered by the undertaking. In addition, it is stated whether the sustainability report is prepared on an individual basis (the undertaking’s own data only) or on a consolidated basis. This section contains basic information about the undertaking, such as its legal form, NACE sector code(s), size of the balance sheet and turnover, number of employees, as well as information on the undertaking’s country of primary operations and the location of other significant assets.</a:t>
            </a:r>
            <a:endParaRPr lang="en-GB" sz="975" b="0" noProof="0">
              <a:solidFill>
                <a:schemeClr val="tx2"/>
              </a:solidFill>
              <a:effectLst/>
            </a:endParaRPr>
          </a:p>
        </p:txBody>
      </p:sp>
      <p:graphicFrame>
        <p:nvGraphicFramePr>
          <p:cNvPr id="13" name="Table 2">
            <a:extLst>
              <a:ext uri="{FF2B5EF4-FFF2-40B4-BE49-F238E27FC236}">
                <a16:creationId xmlns:a16="http://schemas.microsoft.com/office/drawing/2014/main" id="{34E7B75C-B2E3-1B8A-2080-FEF363E738AC}"/>
              </a:ext>
            </a:extLst>
          </p:cNvPr>
          <p:cNvGraphicFramePr>
            <a:graphicFrameLocks noGrp="1"/>
          </p:cNvGraphicFramePr>
          <p:nvPr>
            <p:extLst>
              <p:ext uri="{D42A27DB-BD31-4B8C-83A1-F6EECF244321}">
                <p14:modId xmlns:p14="http://schemas.microsoft.com/office/powerpoint/2010/main" val="3921828815"/>
              </p:ext>
            </p:extLst>
          </p:nvPr>
        </p:nvGraphicFramePr>
        <p:xfrm>
          <a:off x="3853152" y="4091258"/>
          <a:ext cx="3295368" cy="2204701"/>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1902117154"/>
                    </a:ext>
                  </a:extLst>
                </a:gridCol>
                <a:gridCol w="1771498">
                  <a:extLst>
                    <a:ext uri="{9D8B030D-6E8A-4147-A177-3AD203B41FA5}">
                      <a16:colId xmlns:a16="http://schemas.microsoft.com/office/drawing/2014/main" val="1904521774"/>
                    </a:ext>
                  </a:extLst>
                </a:gridCol>
              </a:tblGrid>
              <a:tr h="275100">
                <a:tc gridSpan="2">
                  <a:txBody>
                    <a:bodyPr/>
                    <a:lstStyle/>
                    <a:p>
                      <a:pPr algn="l"/>
                      <a:r>
                        <a:rPr lang="en-GB" sz="975" b="1" kern="1200" spc="-10" noProof="0">
                          <a:solidFill>
                            <a:schemeClr val="tx2"/>
                          </a:solidFill>
                          <a:latin typeface="+mn-lt"/>
                          <a:ea typeface="+mn-ea"/>
                          <a:cs typeface="+mn-cs"/>
                        </a:rPr>
                        <a:t>Basic information about the undertaking</a:t>
                      </a:r>
                      <a:r>
                        <a:rPr lang="en-GB" sz="975" b="0" kern="1200" spc="-10" noProof="0">
                          <a:solidFill>
                            <a:schemeClr val="tx2"/>
                          </a:solidFill>
                          <a:latin typeface="+mn-lt"/>
                          <a:ea typeface="+mn-ea"/>
                          <a:cs typeface="+mn-cs"/>
                        </a:rPr>
                        <a:t> (para. 27e, i-v)</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42311251"/>
                  </a:ext>
                </a:extLst>
              </a:tr>
              <a:tr h="412260">
                <a:tc>
                  <a:txBody>
                    <a:bodyPr/>
                    <a:lstStyle/>
                    <a:p>
                      <a:pPr algn="l"/>
                      <a:r>
                        <a:rPr lang="en-GB" sz="975" b="1" kern="1200" spc="-10" noProof="0">
                          <a:solidFill>
                            <a:schemeClr val="tx2"/>
                          </a:solidFill>
                          <a:latin typeface="+mn-lt"/>
                          <a:ea typeface="+mn-ea"/>
                          <a:cs typeface="+mn-cs"/>
                        </a:rPr>
                        <a:t>Legal form</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{{branchekode}}</a:t>
                      </a:r>
                      <a:endParaRPr lang="en-GB" sz="975" b="0"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1226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NACE sector code(s)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{{NACE}}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21313">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Balance sheet total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{{balance}}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12260">
                <a:tc>
                  <a:txBody>
                    <a:bodyPr/>
                    <a:lstStyle/>
                    <a:p>
                      <a:pPr algn="l"/>
                      <a:r>
                        <a:rPr lang="en-GB" sz="975" b="1" kern="1200" spc="-10" noProof="0">
                          <a:solidFill>
                            <a:schemeClr val="tx2"/>
                          </a:solidFill>
                          <a:latin typeface="+mn-lt"/>
                          <a:ea typeface="+mn-ea"/>
                          <a:cs typeface="+mn-cs"/>
                        </a:rPr>
                        <a:t>Turnover (EUR)</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{{revenue}}</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75682954"/>
                  </a:ext>
                </a:extLst>
              </a:tr>
              <a:tr h="271509">
                <a:tc>
                  <a:txBody>
                    <a:bodyPr/>
                    <a:lstStyle/>
                    <a:p>
                      <a:pPr algn="l"/>
                      <a:r>
                        <a:rPr lang="en-GB" sz="975" b="1" kern="1200" spc="-10" noProof="0">
                          <a:solidFill>
                            <a:schemeClr val="tx2"/>
                          </a:solidFill>
                          <a:latin typeface="+mn-lt"/>
                          <a:ea typeface="+mn-ea"/>
                          <a:cs typeface="+mn-cs"/>
                        </a:rPr>
                        <a:t>No. of employees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r">
                        <a:buNone/>
                      </a:pPr>
                      <a:r>
                        <a:rPr lang="en-GB" sz="975" b="0" i="0" u="none" strike="noStrike" noProof="0">
                          <a:solidFill>
                            <a:srgbClr val="1B4528"/>
                          </a:solidFill>
                          <a:effectLst/>
                          <a:latin typeface="Inter"/>
                        </a:rPr>
                        <a:t>{{total_employees}}</a:t>
                      </a:r>
                      <a:endParaRPr lang="en-GB" sz="975" noProof="0">
                        <a:effectLst/>
                      </a:endParaRPr>
                    </a:p>
                  </a:txBody>
                  <a:tcPr marL="31749" marR="31749" marT="21166" marB="21166">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78571433"/>
                  </a:ext>
                </a:extLst>
              </a:tr>
            </a:tbl>
          </a:graphicData>
        </a:graphic>
      </p:graphicFrame>
      <p:graphicFrame>
        <p:nvGraphicFramePr>
          <p:cNvPr id="17" name="Tabel 16">
            <a:extLst>
              <a:ext uri="{FF2B5EF4-FFF2-40B4-BE49-F238E27FC236}">
                <a16:creationId xmlns:a16="http://schemas.microsoft.com/office/drawing/2014/main" id="{13BBF8C9-04F7-33C5-AAA0-F953F0D5DFD7}"/>
              </a:ext>
            </a:extLst>
          </p:cNvPr>
          <p:cNvGraphicFramePr>
            <a:graphicFrameLocks noGrp="1"/>
          </p:cNvGraphicFramePr>
          <p:nvPr>
            <p:extLst>
              <p:ext uri="{D42A27DB-BD31-4B8C-83A1-F6EECF244321}">
                <p14:modId xmlns:p14="http://schemas.microsoft.com/office/powerpoint/2010/main" val="1366799974"/>
              </p:ext>
            </p:extLst>
          </p:nvPr>
        </p:nvGraphicFramePr>
        <p:xfrm>
          <a:off x="3853152" y="2463605"/>
          <a:ext cx="3295368" cy="1394440"/>
        </p:xfrm>
        <a:graphic>
          <a:graphicData uri="http://schemas.openxmlformats.org/drawingml/2006/table">
            <a:tbl>
              <a:tblPr firstRow="1">
                <a:tableStyleId>{2A488322-F2BA-4B5B-9748-0D474271808F}</a:tableStyleId>
              </a:tblPr>
              <a:tblGrid>
                <a:gridCol w="1523870">
                  <a:extLst>
                    <a:ext uri="{9D8B030D-6E8A-4147-A177-3AD203B41FA5}">
                      <a16:colId xmlns:a16="http://schemas.microsoft.com/office/drawing/2014/main" val="613205895"/>
                    </a:ext>
                  </a:extLst>
                </a:gridCol>
                <a:gridCol w="1771498">
                  <a:extLst>
                    <a:ext uri="{9D8B030D-6E8A-4147-A177-3AD203B41FA5}">
                      <a16:colId xmlns:a16="http://schemas.microsoft.com/office/drawing/2014/main" val="2415866723"/>
                    </a:ext>
                  </a:extLst>
                </a:gridCol>
              </a:tblGrid>
              <a:tr h="545610">
                <a:tc gridSpan="2">
                  <a:txBody>
                    <a:bodyPr/>
                    <a:lstStyle/>
                    <a:p>
                      <a:pPr algn="l"/>
                      <a:r>
                        <a:rPr lang="en-GB" sz="975" b="1" kern="1200" spc="-10" noProof="0" dirty="0">
                          <a:solidFill>
                            <a:schemeClr val="tx2"/>
                          </a:solidFill>
                          <a:latin typeface="+mn-lt"/>
                          <a:ea typeface="+mn-ea"/>
                          <a:cs typeface="+mn-cs"/>
                        </a:rPr>
                        <a:t>The ESG report contains omissions due to sensitive business information </a:t>
                      </a:r>
                      <a:r>
                        <a:rPr lang="en-GB" sz="975" b="0" kern="1200" spc="-10" noProof="0" dirty="0">
                          <a:solidFill>
                            <a:schemeClr val="tx2"/>
                          </a:solidFill>
                          <a:latin typeface="+mn-lt"/>
                          <a:ea typeface="+mn-ea"/>
                          <a:cs typeface="+mn-cs"/>
                        </a:rPr>
                        <a:t>(para. 27b)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76069134"/>
                  </a:ext>
                </a:extLst>
              </a:tr>
              <a:tr h="84883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725" b="0" kern="1200" spc="-10" noProof="0" dirty="0">
                        <a:solidFill>
                          <a:schemeClr val="tx2"/>
                        </a:solidFill>
                        <a:latin typeface="+mn-lt"/>
                        <a:ea typeface="+mn-ea"/>
                        <a:cs typeface="+mn-cs"/>
                      </a:endParaRPr>
                    </a:p>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kern="1200" spc="-10" noProof="0" dirty="0">
                          <a:solidFill>
                            <a:schemeClr val="tx2"/>
                          </a:solidFill>
                          <a:latin typeface="+mn-lt"/>
                          <a:ea typeface="+mn-ea"/>
                          <a:cs typeface="+mn-cs"/>
                        </a:rPr>
                        <a:t>The following disclosures have been omitted</a:t>
                      </a:r>
                    </a:p>
                    <a:p>
                      <a:pPr algn="l"/>
                      <a:endParaRPr lang="en-GB" sz="725" b="1" kern="1200" spc="-10" noProof="0" dirty="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n-GB" sz="975" noProof="0" dirty="0">
                          <a:solidFill>
                            <a:srgbClr val="1B4528"/>
                          </a:solidFill>
                          <a:latin typeface="+mn-lt"/>
                          <a:cs typeface="Calibri" panose="020F0502020204030204" pitchFamily="34" charset="0"/>
                        </a:rPr>
                        <a:t>{{</a:t>
                      </a:r>
                      <a:r>
                        <a:rPr lang="en-GB" sz="975" noProof="0" dirty="0" err="1">
                          <a:solidFill>
                            <a:srgbClr val="1B4528"/>
                          </a:solidFill>
                          <a:latin typeface="+mn-lt"/>
                          <a:cs typeface="Calibri" panose="020F0502020204030204" pitchFamily="34" charset="0"/>
                        </a:rPr>
                        <a:t>confidentiality_info</a:t>
                      </a:r>
                      <a:r>
                        <a:rPr lang="en-GB" sz="975" noProof="0" dirty="0">
                          <a:solidFill>
                            <a:srgbClr val="1B4528"/>
                          </a:solidFill>
                          <a:latin typeface="+mn-lt"/>
                          <a:cs typeface="Calibri" panose="020F0502020204030204" pitchFamily="34" charset="0"/>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674898051"/>
                  </a:ext>
                </a:extLst>
              </a:tr>
            </a:tbl>
          </a:graphicData>
        </a:graphic>
      </p:graphicFrame>
      <p:pic>
        <p:nvPicPr>
          <p:cNvPr id="7" name="Graphic 10">
            <a:extLst>
              <a:ext uri="{FF2B5EF4-FFF2-40B4-BE49-F238E27FC236}">
                <a16:creationId xmlns:a16="http://schemas.microsoft.com/office/drawing/2014/main" id="{B7787C85-A727-F625-AB96-75DC598E568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6507074"/>
            <a:ext cx="6737040" cy="193826"/>
          </a:xfrm>
          <a:prstGeom prst="rect">
            <a:avLst/>
          </a:prstGeom>
        </p:spPr>
      </p:pic>
      <p:graphicFrame>
        <p:nvGraphicFramePr>
          <p:cNvPr id="11" name="Tabel 10">
            <a:extLst>
              <a:ext uri="{FF2B5EF4-FFF2-40B4-BE49-F238E27FC236}">
                <a16:creationId xmlns:a16="http://schemas.microsoft.com/office/drawing/2014/main" id="{B9D30E23-F89B-8050-32F5-223B5B3C1DCD}"/>
              </a:ext>
            </a:extLst>
          </p:cNvPr>
          <p:cNvGraphicFramePr>
            <a:graphicFrameLocks noGrp="1"/>
          </p:cNvGraphicFramePr>
          <p:nvPr>
            <p:extLst>
              <p:ext uri="{D42A27DB-BD31-4B8C-83A1-F6EECF244321}">
                <p14:modId xmlns:p14="http://schemas.microsoft.com/office/powerpoint/2010/main" val="3088782911"/>
              </p:ext>
            </p:extLst>
          </p:nvPr>
        </p:nvGraphicFramePr>
        <p:xfrm>
          <a:off x="411480" y="9144051"/>
          <a:ext cx="6737040" cy="686106"/>
        </p:xfrm>
        <a:graphic>
          <a:graphicData uri="http://schemas.openxmlformats.org/drawingml/2006/table">
            <a:tbl>
              <a:tblPr firstRow="1">
                <a:tableStyleId>{2A488322-F2BA-4B5B-9748-0D474271808F}</a:tableStyleId>
              </a:tblPr>
              <a:tblGrid>
                <a:gridCol w="2316045">
                  <a:extLst>
                    <a:ext uri="{9D8B030D-6E8A-4147-A177-3AD203B41FA5}">
                      <a16:colId xmlns:a16="http://schemas.microsoft.com/office/drawing/2014/main" val="3746818765"/>
                    </a:ext>
                  </a:extLst>
                </a:gridCol>
                <a:gridCol w="2222875">
                  <a:extLst>
                    <a:ext uri="{9D8B030D-6E8A-4147-A177-3AD203B41FA5}">
                      <a16:colId xmlns:a16="http://schemas.microsoft.com/office/drawing/2014/main" val="465692987"/>
                    </a:ext>
                  </a:extLst>
                </a:gridCol>
                <a:gridCol w="1172530">
                  <a:extLst>
                    <a:ext uri="{9D8B030D-6E8A-4147-A177-3AD203B41FA5}">
                      <a16:colId xmlns:a16="http://schemas.microsoft.com/office/drawing/2014/main" val="857047578"/>
                    </a:ext>
                  </a:extLst>
                </a:gridCol>
                <a:gridCol w="1025590">
                  <a:extLst>
                    <a:ext uri="{9D8B030D-6E8A-4147-A177-3AD203B41FA5}">
                      <a16:colId xmlns:a16="http://schemas.microsoft.com/office/drawing/2014/main" val="1742107540"/>
                    </a:ext>
                  </a:extLst>
                </a:gridCol>
              </a:tblGrid>
              <a:tr h="209992">
                <a:tc>
                  <a:txBody>
                    <a:bodyPr/>
                    <a:lstStyle/>
                    <a:p>
                      <a:r>
                        <a:rPr lang="en-GB" sz="975" b="1" kern="1200" spc="-10" noProof="0">
                          <a:solidFill>
                            <a:schemeClr val="tx2"/>
                          </a:solidFill>
                          <a:latin typeface="+mn-lt"/>
                          <a:ea typeface="+mn-ea"/>
                          <a:cs typeface="+mn-cs"/>
                        </a:rPr>
                        <a:t>Name of ESG certificate/ecolabel </a:t>
                      </a:r>
                      <a:r>
                        <a:rPr lang="en-GB" sz="975" b="0" kern="1200" spc="-10" noProof="0">
                          <a:solidFill>
                            <a:schemeClr val="tx2"/>
                          </a:solidFill>
                          <a:latin typeface="+mn-lt"/>
                          <a:ea typeface="+mn-ea"/>
                          <a:cs typeface="+mn-cs"/>
                        </a:rPr>
                        <a:t>(para. 28)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Brief description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Date of issue/</a:t>
                      </a:r>
                    </a:p>
                    <a:p>
                      <a:pPr algn="l"/>
                      <a:r>
                        <a:rPr lang="en-GB" sz="975" b="1" kern="1200" spc="-10" noProof="0">
                          <a:solidFill>
                            <a:schemeClr val="tx2"/>
                          </a:solidFill>
                          <a:latin typeface="+mn-lt"/>
                          <a:ea typeface="+mn-ea"/>
                          <a:cs typeface="+mn-cs"/>
                        </a:rPr>
                        <a:t>validity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algn="l"/>
                      <a:r>
                        <a:rPr lang="en-GB" sz="975" b="1" kern="1200" spc="-10" noProof="0">
                          <a:solidFill>
                            <a:schemeClr val="tx2"/>
                          </a:solidFill>
                          <a:latin typeface="+mn-lt"/>
                          <a:ea typeface="+mn-ea"/>
                          <a:cs typeface="+mn-cs"/>
                        </a:rPr>
                        <a:t>Rating, if any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613430332"/>
                  </a:ext>
                </a:extLst>
              </a:tr>
              <a:tr h="209992">
                <a:tc>
                  <a:txBody>
                    <a:bodyPr/>
                    <a:lstStyle/>
                    <a:p>
                      <a:pPr rtl="0" fontAlgn="ctr" algn="l">
                        <a:buNone/>
                      </a:pPr>
                      <a:r>
                        <a:rPr lang="en-GB" sz="975" b="0" i="0" u="none" strike="noStrike" noProof="0">
                          <a:solidFill>
                            <a:srgbClr val="1B4528"/>
                          </a:solidFill>
                          <a:effectLst/>
                          <a:latin typeface="Inter"/>
                        </a:rPr>
                        <a:t>{{certificate_or_ecolabel}}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975" b="0" i="0" u="none" strike="noStrike" noProof="0">
                          <a:solidFill>
                            <a:srgbClr val="1B4528"/>
                          </a:solidFill>
                          <a:effectLst/>
                          <a:latin typeface="Inter"/>
                        </a:rPr>
                        <a:t>{{description_certificate}}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date_certicate</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certiciate_possible_rating</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5006062"/>
                  </a:ext>
                </a:extLst>
              </a:tr>
            </a:tbl>
          </a:graphicData>
        </a:graphic>
      </p:graphicFrame>
      <p:graphicFrame>
        <p:nvGraphicFramePr>
          <p:cNvPr id="14" name="Tabel 13">
            <a:extLst>
              <a:ext uri="{FF2B5EF4-FFF2-40B4-BE49-F238E27FC236}">
                <a16:creationId xmlns:a16="http://schemas.microsoft.com/office/drawing/2014/main" id="{6CA17681-1928-380D-D58C-D782D51253FF}"/>
              </a:ext>
            </a:extLst>
          </p:cNvPr>
          <p:cNvGraphicFramePr>
            <a:graphicFrameLocks noGrp="1"/>
          </p:cNvGraphicFramePr>
          <p:nvPr>
            <p:extLst>
              <p:ext uri="{D42A27DB-BD31-4B8C-83A1-F6EECF244321}">
                <p14:modId xmlns:p14="http://schemas.microsoft.com/office/powerpoint/2010/main" val="4040236016"/>
              </p:ext>
            </p:extLst>
          </p:nvPr>
        </p:nvGraphicFramePr>
        <p:xfrm>
          <a:off x="411480" y="7251210"/>
          <a:ext cx="6737040" cy="1181292"/>
        </p:xfrm>
        <a:graphic>
          <a:graphicData uri="http://schemas.openxmlformats.org/drawingml/2006/table">
            <a:tbl>
              <a:tblPr firstRow="1">
                <a:tableStyleId>{2A488322-F2BA-4B5B-9748-0D474271808F}</a:tableStyleId>
              </a:tblPr>
              <a:tblGrid>
                <a:gridCol w="1227849">
                  <a:extLst>
                    <a:ext uri="{9D8B030D-6E8A-4147-A177-3AD203B41FA5}">
                      <a16:colId xmlns:a16="http://schemas.microsoft.com/office/drawing/2014/main" val="2041236584"/>
                    </a:ext>
                  </a:extLst>
                </a:gridCol>
                <a:gridCol w="1303858">
                  <a:extLst>
                    <a:ext uri="{9D8B030D-6E8A-4147-A177-3AD203B41FA5}">
                      <a16:colId xmlns:a16="http://schemas.microsoft.com/office/drawing/2014/main" val="2637180759"/>
                    </a:ext>
                  </a:extLst>
                </a:gridCol>
                <a:gridCol w="996273">
                  <a:extLst>
                    <a:ext uri="{9D8B030D-6E8A-4147-A177-3AD203B41FA5}">
                      <a16:colId xmlns:a16="http://schemas.microsoft.com/office/drawing/2014/main" val="1126871569"/>
                    </a:ext>
                  </a:extLst>
                </a:gridCol>
                <a:gridCol w="973628">
                  <a:extLst>
                    <a:ext uri="{9D8B030D-6E8A-4147-A177-3AD203B41FA5}">
                      <a16:colId xmlns:a16="http://schemas.microsoft.com/office/drawing/2014/main" val="573454477"/>
                    </a:ext>
                  </a:extLst>
                </a:gridCol>
                <a:gridCol w="1079296">
                  <a:extLst>
                    <a:ext uri="{9D8B030D-6E8A-4147-A177-3AD203B41FA5}">
                      <a16:colId xmlns:a16="http://schemas.microsoft.com/office/drawing/2014/main" val="3277283369"/>
                    </a:ext>
                  </a:extLst>
                </a:gridCol>
                <a:gridCol w="1156136">
                  <a:extLst>
                    <a:ext uri="{9D8B030D-6E8A-4147-A177-3AD203B41FA5}">
                      <a16:colId xmlns:a16="http://schemas.microsoft.com/office/drawing/2014/main" val="3975353283"/>
                    </a:ext>
                  </a:extLst>
                </a:gridCol>
              </a:tblGrid>
              <a:tr h="269989">
                <a:tc gridSpan="6">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dirty="0">
                          <a:solidFill>
                            <a:schemeClr val="tx2"/>
                          </a:solidFill>
                          <a:latin typeface="+mn-lt"/>
                          <a:ea typeface="+mn-ea"/>
                          <a:cs typeface="+mn-cs"/>
                        </a:rPr>
                        <a:t>Addresses and geolocation of </a:t>
                      </a:r>
                      <a:r>
                        <a:rPr lang="en-GB" sz="975" b="1" u="none" kern="1200" spc="-10" noProof="0" dirty="0">
                          <a:solidFill>
                            <a:schemeClr val="tx2"/>
                          </a:solidFill>
                          <a:latin typeface="+mn-lt"/>
                          <a:ea typeface="+mn-ea"/>
                          <a:cs typeface="+mn-cs"/>
                        </a:rPr>
                        <a:t>significant</a:t>
                      </a:r>
                      <a:r>
                        <a:rPr lang="en-GB" sz="975" b="1" kern="1200" spc="-10" noProof="0" dirty="0">
                          <a:solidFill>
                            <a:schemeClr val="tx2"/>
                          </a:solidFill>
                          <a:latin typeface="+mn-lt"/>
                          <a:ea typeface="+mn-ea"/>
                          <a:cs typeface="+mn-cs"/>
                        </a:rPr>
                        <a:t> assets and sites that the undertaking</a:t>
                      </a:r>
                      <a:r>
                        <a:rPr lang="en-GB" sz="975" b="0" kern="1200" spc="-10" noProof="0" dirty="0">
                          <a:solidFill>
                            <a:schemeClr val="tx2"/>
                          </a:solidFill>
                          <a:latin typeface="+mn-lt"/>
                          <a:ea typeface="+mn-ea"/>
                          <a:cs typeface="+mn-cs"/>
                        </a:rPr>
                        <a:t> </a:t>
                      </a:r>
                      <a:r>
                        <a:rPr lang="en-GB" sz="975" b="1" kern="1200" spc="-10" noProof="0" dirty="0">
                          <a:solidFill>
                            <a:schemeClr val="tx2"/>
                          </a:solidFill>
                          <a:latin typeface="+mn-lt"/>
                          <a:ea typeface="+mn-ea"/>
                          <a:cs typeface="+mn-cs"/>
                        </a:rPr>
                        <a:t>owns, leases or manages </a:t>
                      </a:r>
                      <a:r>
                        <a:rPr lang="en-GB" sz="975" b="0" kern="1200" spc="-10" noProof="0" dirty="0">
                          <a:solidFill>
                            <a:schemeClr val="tx2"/>
                          </a:solidFill>
                          <a:latin typeface="+mn-lt"/>
                          <a:ea typeface="+mn-ea"/>
                          <a:cs typeface="+mn-cs"/>
                        </a:rPr>
                        <a:t>(para. 27e, vi, vii)</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1" kern="1200" spc="-10" noProof="0" dirty="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108498375"/>
                  </a:ext>
                </a:extLst>
              </a:tr>
              <a:tr h="269989">
                <a:tc>
                  <a:txBody>
                    <a:bodyPr/>
                    <a:lstStyle/>
                    <a:p>
                      <a:pPr algn="l"/>
                      <a:r>
                        <a:rPr lang="en-GB" sz="975" b="1" kern="1200" spc="-10" noProof="0">
                          <a:solidFill>
                            <a:schemeClr val="tx2"/>
                          </a:solidFill>
                          <a:latin typeface="+mn-lt"/>
                          <a:ea typeface="+mn-ea"/>
                          <a:cs typeface="+mn-cs"/>
                        </a:rPr>
                        <a:t>Site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dirty="0">
                          <a:solidFill>
                            <a:schemeClr val="tx2"/>
                          </a:solidFill>
                          <a:latin typeface="+mn-lt"/>
                          <a:ea typeface="+mn-ea"/>
                          <a:cs typeface="+mn-cs"/>
                        </a:rPr>
                        <a:t>Address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Postcode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City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Country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Geolocation (coordinates)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282431150"/>
                  </a:ext>
                </a:extLst>
              </a:tr>
              <a:tr h="269989">
                <a:tc>
                  <a:txBody>
                    <a:bodyPr/>
                    <a:lstStyle/>
                    <a:p>
                      <a:pPr rtl="0" fontAlgn="t" algn="l">
                        <a:buNone/>
                      </a:pPr>
                      <a:r>
                        <a:rPr lang="en-GB" sz="975" b="0" i="0" u="none" strike="noStrike" noProof="0">
                          <a:solidFill>
                            <a:srgbClr val="1B4528"/>
                          </a:solidFill>
                          <a:effectLst/>
                          <a:latin typeface="Inter"/>
                        </a:rPr>
                        <a:t>{{geolocation}}</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geolocation_adress</a:t>
                      </a:r>
                      <a:r>
                        <a:rPr lang="en-GB" sz="975" b="0" i="0" u="none" strike="noStrike" noProof="0" dirty="0">
                          <a:solidFill>
                            <a:srgbClr val="1B4528"/>
                          </a:solidFill>
                          <a:effectLst/>
                          <a:latin typeface="Inter"/>
                        </a:rPr>
                        <a:t>}}</a:t>
                      </a:r>
                      <a:endParaRPr lang="en-GB"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a:solidFill>
                            <a:srgbClr val="1B4528"/>
                          </a:solidFill>
                          <a:effectLst/>
                          <a:latin typeface="Inter"/>
                        </a:rPr>
                        <a:t>{{geolocation_postcode}}</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a:solidFill>
                            <a:srgbClr val="1B4528"/>
                          </a:solidFill>
                          <a:effectLst/>
                          <a:latin typeface="Inter"/>
                        </a:rPr>
                        <a:t>{{geolocation_city}}</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a:solidFill>
                            <a:srgbClr val="1B4528"/>
                          </a:solidFill>
                          <a:effectLst/>
                          <a:latin typeface="Inter"/>
                        </a:rPr>
                        <a:t>{{geolocation_country}}</a:t>
                      </a:r>
                      <a:endParaRPr lang="en-GB" sz="975" b="0" noProof="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geolocation_coordinates</a:t>
                      </a:r>
                      <a:r>
                        <a:rPr lang="en-GB" sz="975" b="0" i="0" u="none" strike="noStrike" noProof="0" dirty="0">
                          <a:solidFill>
                            <a:srgbClr val="1B4528"/>
                          </a:solidFill>
                          <a:effectLst/>
                          <a:latin typeface="Inter"/>
                        </a:rPr>
                        <a:t>}}</a:t>
                      </a:r>
                      <a:endParaRPr lang="en-GB" sz="975" b="0" noProof="0" dirty="0">
                        <a:effectLst/>
                      </a:endParaRPr>
                    </a:p>
                  </a:txBody>
                  <a:tcPr marL="15874" marR="15874" marT="10583" marB="10583">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669926511"/>
                  </a:ext>
                </a:extLst>
              </a:tr>
            </a:tbl>
          </a:graphicData>
        </a:graphic>
      </p:graphicFrame>
      <p:sp>
        <p:nvSpPr>
          <p:cNvPr id="19" name="Tekstfelt 18">
            <a:extLst>
              <a:ext uri="{FF2B5EF4-FFF2-40B4-BE49-F238E27FC236}">
                <a16:creationId xmlns:a16="http://schemas.microsoft.com/office/drawing/2014/main" id="{E833CCA7-4D9A-7EEC-4359-1F0F50503027}"/>
              </a:ext>
            </a:extLst>
          </p:cNvPr>
          <p:cNvSpPr txBox="1"/>
          <p:nvPr/>
        </p:nvSpPr>
        <p:spPr>
          <a:xfrm>
            <a:off x="411480" y="6538989"/>
            <a:ext cx="6737040" cy="538588"/>
          </a:xfrm>
          <a:prstGeom prst="rect">
            <a:avLst/>
          </a:prstGeom>
          <a:noFill/>
        </p:spPr>
        <p:txBody>
          <a:bodyPr wrap="square">
            <a:spAutoFit/>
          </a:bodyPr>
          <a:lstStyle/>
          <a:p>
            <a:pPr>
              <a:spcBef>
                <a:spcPts val="750"/>
              </a:spcBef>
            </a:pPr>
            <a:r>
              <a:rPr lang="en-GB" sz="975" b="0" i="0" u="none" strike="noStrike" noProof="0" dirty="0">
                <a:solidFill>
                  <a:schemeClr val="tx2"/>
                </a:solidFill>
                <a:effectLst/>
                <a:latin typeface="Inter"/>
              </a:rPr>
              <a:t>Below is a description of the undertaking’s geolocations and of where the undertaking operates. This information can be used for climate-related risk zones and provides information on the undertaking’s sites, facilities and/or headquarters</a:t>
            </a:r>
            <a:r>
              <a:rPr lang="en-GB" sz="975" noProof="0" dirty="0">
                <a:solidFill>
                  <a:schemeClr val="tx2"/>
                </a:solidFill>
                <a:latin typeface="Inter"/>
              </a:rPr>
              <a:t>. Relevant sustainability-related certifications or labels are also stated, including the issuer of the certification, the date and any rating.</a:t>
            </a:r>
            <a:endParaRPr lang="en-GB" sz="975" b="0" noProof="0" dirty="0">
              <a:solidFill>
                <a:schemeClr val="tx2"/>
              </a:solidFill>
              <a:effectLst/>
              <a:latin typeface="Inter"/>
            </a:endParaRPr>
          </a:p>
        </p:txBody>
      </p:sp>
      <p:sp>
        <p:nvSpPr>
          <p:cNvPr id="21" name="Tekstfelt 20">
            <a:extLst>
              <a:ext uri="{FF2B5EF4-FFF2-40B4-BE49-F238E27FC236}">
                <a16:creationId xmlns:a16="http://schemas.microsoft.com/office/drawing/2014/main" id="{491B3392-69C7-8B39-2F36-18D17714B1CA}"/>
              </a:ext>
            </a:extLst>
          </p:cNvPr>
          <p:cNvSpPr txBox="1"/>
          <p:nvPr/>
        </p:nvSpPr>
        <p:spPr>
          <a:xfrm>
            <a:off x="411480" y="8706648"/>
            <a:ext cx="6737040" cy="230823"/>
          </a:xfrm>
          <a:prstGeom prst="rect">
            <a:avLst/>
          </a:prstGeom>
          <a:noFill/>
        </p:spPr>
        <p:txBody>
          <a:bodyPr wrap="square">
            <a:spAutoFit/>
          </a:bodyPr>
          <a:lstStyle/>
          <a:p>
            <a:r>
              <a:rPr lang="en-GB" sz="975" noProof="0" dirty="0">
                <a:solidFill>
                  <a:srgbClr val="487477"/>
                </a:solidFill>
                <a:latin typeface="Inter"/>
              </a:rPr>
              <a:t>The undertaking’s certificates and ecolabels are listed below.</a:t>
            </a:r>
          </a:p>
        </p:txBody>
      </p:sp>
    </p:spTree>
    <p:extLst>
      <p:ext uri="{BB962C8B-B14F-4D97-AF65-F5344CB8AC3E}">
        <p14:creationId xmlns:p14="http://schemas.microsoft.com/office/powerpoint/2010/main" val="416998842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17033"/>
            <a:ext cx="6737040" cy="207741"/>
          </a:xfrm>
        </p:spPr>
        <p:txBody>
          <a:bodyPr/>
          <a:lstStyle/>
          <a:p>
            <a:r>
              <a:rPr lang="en-GB" noProof="0"/>
              <a:t>Practices, policies and future initiatives for transitioning towards a more sustainable economy (B2)</a:t>
            </a:r>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877360368"/>
              </p:ext>
            </p:extLst>
          </p:nvPr>
        </p:nvGraphicFramePr>
        <p:xfrm>
          <a:off x="411480" y="2494291"/>
          <a:ext cx="6737040" cy="4084888"/>
        </p:xfrm>
        <a:graphic>
          <a:graphicData uri="http://schemas.openxmlformats.org/drawingml/2006/table">
            <a:tbl>
              <a:tblPr firstRow="1">
                <a:tableStyleId>{2A488322-F2BA-4B5B-9748-0D474271808F}</a:tableStyleId>
              </a:tblPr>
              <a:tblGrid>
                <a:gridCol w="1204357">
                  <a:extLst>
                    <a:ext uri="{9D8B030D-6E8A-4147-A177-3AD203B41FA5}">
                      <a16:colId xmlns:a16="http://schemas.microsoft.com/office/drawing/2014/main" val="1902117154"/>
                    </a:ext>
                  </a:extLst>
                </a:gridCol>
                <a:gridCol w="1272057">
                  <a:extLst>
                    <a:ext uri="{9D8B030D-6E8A-4147-A177-3AD203B41FA5}">
                      <a16:colId xmlns:a16="http://schemas.microsoft.com/office/drawing/2014/main" val="1904521774"/>
                    </a:ext>
                  </a:extLst>
                </a:gridCol>
                <a:gridCol w="996189">
                  <a:extLst>
                    <a:ext uri="{9D8B030D-6E8A-4147-A177-3AD203B41FA5}">
                      <a16:colId xmlns:a16="http://schemas.microsoft.com/office/drawing/2014/main" val="3164053669"/>
                    </a:ext>
                  </a:extLst>
                </a:gridCol>
                <a:gridCol w="1394665">
                  <a:extLst>
                    <a:ext uri="{9D8B030D-6E8A-4147-A177-3AD203B41FA5}">
                      <a16:colId xmlns:a16="http://schemas.microsoft.com/office/drawing/2014/main" val="1484983729"/>
                    </a:ext>
                  </a:extLst>
                </a:gridCol>
                <a:gridCol w="1869772">
                  <a:extLst>
                    <a:ext uri="{9D8B030D-6E8A-4147-A177-3AD203B41FA5}">
                      <a16:colId xmlns:a16="http://schemas.microsoft.com/office/drawing/2014/main" val="3920544300"/>
                    </a:ext>
                  </a:extLst>
                </a:gridCol>
              </a:tblGrid>
              <a:tr h="396886">
                <a:tc>
                  <a:txBody>
                    <a:bodyPr/>
                    <a:lstStyle/>
                    <a:p>
                      <a:r>
                        <a:rPr lang="en-GB" sz="975" b="1" kern="1200" spc="-10" noProof="0">
                          <a:solidFill>
                            <a:schemeClr val="tx2"/>
                          </a:solidFill>
                          <a:latin typeface="+mn-lt"/>
                          <a:ea typeface="+mn-ea"/>
                          <a:cs typeface="+mn-cs"/>
                        </a:rPr>
                        <a:t>Area</a:t>
                      </a:r>
                    </a:p>
                    <a:p>
                      <a:r>
                        <a:rPr lang="en-GB" sz="975" b="0" kern="1200" spc="-10" noProof="0">
                          <a:solidFill>
                            <a:schemeClr val="tx2"/>
                          </a:solidFill>
                          <a:latin typeface="+mn-lt"/>
                          <a:ea typeface="+mn-ea"/>
                          <a:cs typeface="+mn-cs"/>
                        </a:rPr>
                        <a:t>(para. 29a-d)</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a specific practice or policy in this area</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Is the policy publicly available? </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future initiatives and plans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The undertaking has specific targets to monitor the implementation of practices and policies?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53742">
                <a:tc>
                  <a:txBody>
                    <a:bodyPr/>
                    <a:lstStyle/>
                    <a:p>
                      <a:pPr algn="l"/>
                      <a:r>
                        <a:rPr lang="en-GB" sz="975" b="1" kern="1200" spc="-10" noProof="0">
                          <a:solidFill>
                            <a:schemeClr val="tx2"/>
                          </a:solidFill>
                          <a:latin typeface="+mn-lt"/>
                          <a:ea typeface="+mn-ea"/>
                          <a:cs typeface="+mn-cs"/>
                        </a:rPr>
                        <a:t>Climate change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{{climate_change_concrete}}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{{climate_change_publicly}}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{{climate_change_future}}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{{climate_change_plan}}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40796">
                <a:tc>
                  <a:txBody>
                    <a:bodyPr/>
                    <a:lstStyle/>
                    <a:p>
                      <a:pPr algn="l"/>
                      <a:r>
                        <a:rPr lang="en-GB"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{{pollution_concrete}}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{{pollution_publicly}}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{{pollution_future}}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{{pollution_plan}}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47635">
                <a:tc>
                  <a:txBody>
                    <a:bodyPr/>
                    <a:lstStyle/>
                    <a:p>
                      <a:pPr algn="l"/>
                      <a:r>
                        <a:rPr lang="en-GB" sz="975" b="1" kern="1200" spc="-10" noProof="0">
                          <a:solidFill>
                            <a:schemeClr val="tx2"/>
                          </a:solidFill>
                          <a:latin typeface="+mn-lt"/>
                          <a:ea typeface="+mn-ea"/>
                          <a:cs typeface="+mn-cs"/>
                        </a:rPr>
                        <a:t>Water and marine resources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{{water_concrete}}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{{water_publicly}}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{{water_future}}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{{water_plan}}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47635">
                <a:tc>
                  <a:txBody>
                    <a:bodyPr/>
                    <a:lstStyle/>
                    <a:p>
                      <a:pPr algn="l"/>
                      <a:r>
                        <a:rPr lang="en-GB" sz="975" b="1" kern="1200" spc="-10" noProof="0">
                          <a:solidFill>
                            <a:schemeClr val="tx2"/>
                          </a:solidFill>
                          <a:latin typeface="+mn-lt"/>
                          <a:ea typeface="+mn-ea"/>
                          <a:cs typeface="+mn-cs"/>
                        </a:rPr>
                        <a:t>Biodiversity and ecosystems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{{biodiversity_concrete}}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{{biodiversity_publicly}}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{{biodiversity_future}}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{{biodiversity_plan}}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47635">
                <a:tc>
                  <a:txBody>
                    <a:bodyPr/>
                    <a:lstStyle/>
                    <a:p>
                      <a:pPr algn="l"/>
                      <a:r>
                        <a:rPr lang="en-GB" sz="975" b="1" kern="1200" spc="-10" noProof="0">
                          <a:solidFill>
                            <a:schemeClr val="tx2"/>
                          </a:solidFill>
                          <a:latin typeface="+mn-lt"/>
                          <a:ea typeface="+mn-ea"/>
                          <a:cs typeface="+mn-cs"/>
                        </a:rPr>
                        <a:t>Circular economy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{{circular_concrete}}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{{circular_publicly}}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{{circular_future}}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{{circular_plan}}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47635">
                <a:tc>
                  <a:txBody>
                    <a:bodyPr/>
                    <a:lstStyle/>
                    <a:p>
                      <a:pPr algn="l"/>
                      <a:r>
                        <a:rPr lang="en-GB" sz="975" b="1" kern="1200" spc="-10" noProof="0">
                          <a:solidFill>
                            <a:schemeClr val="tx2"/>
                          </a:solidFill>
                          <a:latin typeface="+mn-lt"/>
                          <a:ea typeface="+mn-ea"/>
                          <a:cs typeface="+mn-cs"/>
                        </a:rPr>
                        <a:t>Own workforce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{{workforce_concrete}}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{{workforce_publicly}}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{{workforce_future}}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{{workforce_plan}}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47635">
                <a:tc>
                  <a:txBody>
                    <a:bodyPr/>
                    <a:lstStyle/>
                    <a:p>
                      <a:pPr algn="l"/>
                      <a:r>
                        <a:rPr lang="en-GB" sz="975" b="1" kern="1200" spc="-10" noProof="0">
                          <a:solidFill>
                            <a:schemeClr val="tx2"/>
                          </a:solidFill>
                          <a:latin typeface="+mn-lt"/>
                          <a:ea typeface="+mn-ea"/>
                          <a:cs typeface="+mn-cs"/>
                        </a:rPr>
                        <a:t>Workers in the value chain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{{workers_concrete}}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{{workers_publicly}}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{{workers_future}}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{{workers_plan}}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47635">
                <a:tc>
                  <a:txBody>
                    <a:bodyPr/>
                    <a:lstStyle/>
                    <a:p>
                      <a:pPr algn="l"/>
                      <a:r>
                        <a:rPr lang="en-GB" sz="975" b="1" kern="1200" spc="-10" noProof="0">
                          <a:solidFill>
                            <a:schemeClr val="tx2"/>
                          </a:solidFill>
                          <a:latin typeface="+mn-lt"/>
                          <a:ea typeface="+mn-ea"/>
                          <a:cs typeface="+mn-cs"/>
                        </a:rPr>
                        <a:t>Affected communities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{{communities_concrete}}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{{communities_publicly}}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{{communities_future}}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{{communities_plan}}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247635">
                <a:tc>
                  <a:txBody>
                    <a:bodyPr/>
                    <a:lstStyle/>
                    <a:p>
                      <a:pPr algn="l"/>
                      <a:r>
                        <a:rPr lang="en-GB" sz="975" b="1" kern="1200" spc="-10" noProof="0">
                          <a:solidFill>
                            <a:schemeClr val="tx2"/>
                          </a:solidFill>
                          <a:latin typeface="+mn-lt"/>
                          <a:ea typeface="+mn-ea"/>
                          <a:cs typeface="+mn-cs"/>
                        </a:rPr>
                        <a:t>Consumers and end-users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{{consumers_concrete}}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{{consumers_publicly}}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{{consumers_future}}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{{consumers_plan}}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47635">
                <a:tc>
                  <a:txBody>
                    <a:bodyPr/>
                    <a:lstStyle/>
                    <a:p>
                      <a:pPr algn="l"/>
                      <a:r>
                        <a:rPr lang="en-GB" sz="975" b="1" kern="1200" spc="-10" noProof="0">
                          <a:solidFill>
                            <a:schemeClr val="tx2"/>
                          </a:solidFill>
                          <a:latin typeface="+mn-lt"/>
                          <a:ea typeface="+mn-ea"/>
                          <a:cs typeface="+mn-cs"/>
                        </a:rPr>
                        <a:t>Business conduct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{{governance_concrete}}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{{governance_publicly}}</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{{governance_future}}</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latin typeface="Inter"/>
                        </a:rPr>
                        <a:t>{{governance_plan}}</a:t>
                      </a:r>
                      <a:endParaRPr lang="en-GB">
                        <a:latin typeface="Inter"/>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6" name="Tekstfelt 15">
            <a:extLst>
              <a:ext uri="{FF2B5EF4-FFF2-40B4-BE49-F238E27FC236}">
                <a16:creationId xmlns:a16="http://schemas.microsoft.com/office/drawing/2014/main" id="{E7AD2C12-E6AC-4ADE-675B-7B86B0E0EA4B}"/>
              </a:ext>
            </a:extLst>
          </p:cNvPr>
          <p:cNvSpPr txBox="1"/>
          <p:nvPr/>
        </p:nvSpPr>
        <p:spPr>
          <a:xfrm>
            <a:off x="411480" y="1513504"/>
            <a:ext cx="6737040" cy="538588"/>
          </a:xfrm>
          <a:prstGeom prst="rect">
            <a:avLst/>
          </a:prstGeom>
          <a:noFill/>
        </p:spPr>
        <p:txBody>
          <a:bodyPr wrap="square">
            <a:spAutoFit/>
          </a:bodyPr>
          <a:lstStyle/>
          <a:p>
            <a:pPr rtl="0">
              <a:spcBef>
                <a:spcPts val="750"/>
              </a:spcBef>
              <a:buNone/>
            </a:pPr>
            <a:r>
              <a:rPr lang="en-GB" sz="975" b="0" i="0" u="none" strike="noStrike" noProof="0">
                <a:solidFill>
                  <a:schemeClr val="tx2"/>
                </a:solidFill>
                <a:effectLst/>
                <a:latin typeface="Inter"/>
              </a:rPr>
              <a:t>This section outlines the practices, policies and future initiatives that the undertaking has implemented to support a sustainable economy. This includes stating which specific measures the undertaking has taken to reduce negative environmental impacts and to improve working conditions and equal treatment (YES/NO).</a:t>
            </a:r>
            <a:br>
              <a:rPr lang="en-GB" sz="975" noProof="0">
                <a:solidFill>
                  <a:schemeClr val="tx2"/>
                </a:solidFill>
              </a:rPr>
            </a:br>
            <a:endParaRPr lang="en-GB" sz="975" noProof="0">
              <a:solidFill>
                <a:schemeClr val="tx2"/>
              </a:solidFill>
            </a:endParaRPr>
          </a:p>
        </p:txBody>
      </p:sp>
      <p:sp>
        <p:nvSpPr>
          <p:cNvPr id="17" name="Slide Number Placeholder 5">
            <a:extLst>
              <a:ext uri="{FF2B5EF4-FFF2-40B4-BE49-F238E27FC236}">
                <a16:creationId xmlns:a16="http://schemas.microsoft.com/office/drawing/2014/main" id="{9D599EAE-DDC4-5624-F234-BCDE014B0531}"/>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5A0D23CF-C5A3-5445-819D-C647D180BB4B}" type="slidenum">
              <a:rPr lang="en-GB" noProof="0" smtClean="0"/>
              <a:pPr/>
              <a:t>4</a:t>
            </a:fld>
            <a:endParaRPr lang="en-GB" noProof="0"/>
          </a:p>
        </p:txBody>
      </p:sp>
    </p:spTree>
    <p:extLst>
      <p:ext uri="{BB962C8B-B14F-4D97-AF65-F5344CB8AC3E}">
        <p14:creationId xmlns:p14="http://schemas.microsoft.com/office/powerpoint/2010/main" val="200097550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Energy consumption (B3)</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121529703"/>
              </p:ext>
            </p:extLst>
          </p:nvPr>
        </p:nvGraphicFramePr>
        <p:xfrm>
          <a:off x="411480" y="2059046"/>
          <a:ext cx="6737040" cy="1968460"/>
        </p:xfrm>
        <a:graphic>
          <a:graphicData uri="http://schemas.openxmlformats.org/drawingml/2006/table">
            <a:tbl>
              <a:tblPr firstRow="1">
                <a:tableStyleId>{2A488322-F2BA-4B5B-9748-0D474271808F}</a:tableStyleId>
              </a:tblPr>
              <a:tblGrid>
                <a:gridCol w="1828416">
                  <a:extLst>
                    <a:ext uri="{9D8B030D-6E8A-4147-A177-3AD203B41FA5}">
                      <a16:colId xmlns:a16="http://schemas.microsoft.com/office/drawing/2014/main" val="2698153288"/>
                    </a:ext>
                  </a:extLst>
                </a:gridCol>
                <a:gridCol w="1697216">
                  <a:extLst>
                    <a:ext uri="{9D8B030D-6E8A-4147-A177-3AD203B41FA5}">
                      <a16:colId xmlns:a16="http://schemas.microsoft.com/office/drawing/2014/main" val="1451447067"/>
                    </a:ext>
                  </a:extLst>
                </a:gridCol>
                <a:gridCol w="1789850">
                  <a:extLst>
                    <a:ext uri="{9D8B030D-6E8A-4147-A177-3AD203B41FA5}">
                      <a16:colId xmlns:a16="http://schemas.microsoft.com/office/drawing/2014/main" val="2943870936"/>
                    </a:ext>
                  </a:extLst>
                </a:gridCol>
                <a:gridCol w="1421558">
                  <a:extLst>
                    <a:ext uri="{9D8B030D-6E8A-4147-A177-3AD203B41FA5}">
                      <a16:colId xmlns:a16="http://schemas.microsoft.com/office/drawing/2014/main" val="656209149"/>
                    </a:ext>
                  </a:extLst>
                </a:gridCol>
              </a:tblGrid>
              <a:tr h="207723">
                <a:tc gridSpan="4">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Energy consumption in MWh </a:t>
                      </a:r>
                      <a:r>
                        <a:rPr lang="en-GB" sz="975" b="0" noProof="0">
                          <a:solidFill>
                            <a:schemeClr val="tx2"/>
                          </a:solidFill>
                        </a:rPr>
                        <a:t>(para. 32)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nSpc>
                          <a:spcPct val="106000"/>
                        </a:lnSpc>
                      </a:pPr>
                      <a:endParaRPr lang="en-GB" sz="725"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endParaRPr lang="en-GB" sz="72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38440226"/>
                  </a:ext>
                </a:extLst>
              </a:tr>
              <a:tr h="330257">
                <a:tc>
                  <a:txBody>
                    <a:bodyPr/>
                    <a:lstStyle/>
                    <a:p>
                      <a:pPr>
                        <a:lnSpc>
                          <a:spcPct val="106000"/>
                        </a:lnSpc>
                      </a:pP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n-GB" sz="975" b="1" noProof="0">
                          <a:solidFill>
                            <a:schemeClr val="tx2"/>
                          </a:solidFill>
                        </a:rPr>
                        <a:t>Renewable energy consumption</a:t>
                      </a:r>
                      <a:r>
                        <a:rPr lang="en-GB" sz="975" b="1" noProof="0">
                          <a:solidFill>
                            <a:schemeClr val="tx2"/>
                          </a:solidFill>
                        </a:rPr>
                        <a:t>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nSpc>
                          <a:spcPct val="106000"/>
                        </a:lnSpc>
                      </a:pPr>
                      <a:r>
                        <a:rPr lang="en-GB" sz="975" b="1" noProof="0">
                          <a:solidFill>
                            <a:schemeClr val="tx2"/>
                          </a:solidFill>
                        </a:rPr>
                        <a:t>Non-renewable energy consumption</a:t>
                      </a:r>
                      <a:r>
                        <a:rPr lang="en-GB" sz="975" b="1" noProof="0">
                          <a:solidFill>
                            <a:schemeClr val="tx2"/>
                          </a:solidFill>
                        </a:rPr>
                        <a:t> (MWh)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Total energy consumption (MWh)</a:t>
                      </a:r>
                    </a:p>
                    <a:p>
                      <a:pPr marL="0" marR="0" lvl="0" indent="0" algn="r" defTabSz="914400" rtl="0" eaLnBrk="1" fontAlgn="auto" latinLnBrk="0" hangingPunct="1">
                        <a:lnSpc>
                          <a:spcPct val="106000"/>
                        </a:lnSpc>
                        <a:spcBef>
                          <a:spcPts val="0"/>
                        </a:spcBef>
                        <a:spcAft>
                          <a:spcPts val="0"/>
                        </a:spcAft>
                        <a:buClrTx/>
                        <a:buSzTx/>
                        <a:buFontTx/>
                        <a:buNone/>
                        <a:tabLst/>
                        <a:defRPr/>
                      </a:pPr>
                      <a:r>
                        <a:rPr lang="en-GB"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0257">
                <a:tc>
                  <a:txBody>
                    <a:bodyPr/>
                    <a:lstStyle/>
                    <a:p>
                      <a:pPr>
                        <a:lnSpc>
                          <a:spcPct val="106000"/>
                        </a:lnSpc>
                      </a:pPr>
                      <a:r>
                        <a:rPr lang="en-GB" sz="975" b="1" noProof="0">
                          <a:solidFill>
                            <a:schemeClr val="tx2"/>
                          </a:solidFill>
                        </a:rPr>
                        <a:t>Electricity </a:t>
                      </a:r>
                      <a:r>
                        <a:rPr lang="en-GB" sz="975" b="0" noProof="0">
                          <a:solidFill>
                            <a:schemeClr val="tx2"/>
                          </a:solidFill>
                        </a:rPr>
                        <a:t>(as reflected in the undertaking’s utility bills)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{{electricity_renewable}}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{{electricity_non_rewenable}}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{{total_electricity}}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07723">
                <a:tc>
                  <a:txBody>
                    <a:bodyPr/>
                    <a:lstStyle/>
                    <a:p>
                      <a:pPr>
                        <a:lnSpc>
                          <a:spcPct val="106000"/>
                        </a:lnSpc>
                      </a:pPr>
                      <a:r>
                        <a:rPr lang="en-GB" sz="975" b="1" noProof="0">
                          <a:solidFill>
                            <a:schemeClr val="tx2"/>
                          </a:solidFill>
                        </a:rPr>
                        <a:t>Fuels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{{fuel_renewable}}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{{fuel_non_rewenable}}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{{total_fuel}}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28766998"/>
                  </a:ext>
                </a:extLst>
              </a:tr>
              <a:tr h="207723">
                <a:tc>
                  <a:txBody>
                    <a:bodyPr/>
                    <a:lstStyle/>
                    <a:p>
                      <a:pPr>
                        <a:lnSpc>
                          <a:spcPct val="106000"/>
                        </a:lnSpc>
                      </a:pPr>
                      <a:r>
                        <a:rPr lang="en-GB" sz="975" b="1" noProof="0">
                          <a:solidFill>
                            <a:schemeClr val="tx2"/>
                          </a:solidFill>
                        </a:rPr>
                        <a:t>Other (e.g. district heating)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{{district_heating_rewenable}}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{{district_heating_non_rewenable}}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{{total_district_heating}}</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62237485"/>
                  </a:ext>
                </a:extLst>
              </a:tr>
              <a:tr h="207723">
                <a:tc>
                  <a:txBody>
                    <a:bodyPr/>
                    <a:lstStyle/>
                    <a:p>
                      <a:pPr>
                        <a:lnSpc>
                          <a:spcPct val="106000"/>
                        </a:lnSpc>
                      </a:pPr>
                      <a:r>
                        <a:rPr lang="en-GB" sz="975" b="1" noProof="0">
                          <a:solidFill>
                            <a:schemeClr val="tx2"/>
                          </a:solidFill>
                        </a:rPr>
                        <a:t>Total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{{renewable_energy_total}}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{{non_rewenable_energy_total}}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{{total_energy_consumption}}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55206388"/>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5</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2" name="Tekstfelt 11">
            <a:extLst>
              <a:ext uri="{FF2B5EF4-FFF2-40B4-BE49-F238E27FC236}">
                <a16:creationId xmlns:a16="http://schemas.microsoft.com/office/drawing/2014/main" id="{4EDC705C-923B-3F7B-2016-F3C31DC2828B}"/>
              </a:ext>
            </a:extLst>
          </p:cNvPr>
          <p:cNvSpPr txBox="1"/>
          <p:nvPr/>
        </p:nvSpPr>
        <p:spPr>
          <a:xfrm>
            <a:off x="411480" y="1204910"/>
            <a:ext cx="6737040" cy="689402"/>
          </a:xfrm>
          <a:prstGeom prst="rect">
            <a:avLst/>
          </a:prstGeom>
          <a:noFill/>
        </p:spPr>
        <p:txBody>
          <a:bodyPr wrap="square" lIns="76197" tIns="38098" rIns="76197" bIns="38098" anchor="t">
            <a:spAutoFit/>
          </a:bodyPr>
          <a:lstStyle/>
          <a:p>
            <a:r>
              <a:rPr lang="en-GB" sz="975" b="0" i="0" u="none" strike="noStrike" noProof="0">
                <a:solidFill>
                  <a:schemeClr val="tx2"/>
                </a:solidFill>
                <a:effectLst/>
                <a:latin typeface="Inter"/>
              </a:rPr>
              <a:t>This section presents the undertaking’s CO2 emissions from energy consumption and states renewable and non-renewable consumption. </a:t>
            </a:r>
            <a:r>
              <a:rPr lang="en-GB" sz="975" noProof="0">
                <a:solidFill>
                  <a:schemeClr val="tx2"/>
                </a:solidFill>
                <a:latin typeface="Inter"/>
              </a:rPr>
              <a:t>The emissions are disclosed on the basis of </a:t>
            </a:r>
            <a:r>
              <a:rPr lang="en-GB" sz="975" b="0" i="0" u="none" strike="noStrike" noProof="0">
                <a:solidFill>
                  <a:schemeClr val="tx2"/>
                </a:solidFill>
                <a:effectLst/>
                <a:latin typeface="Inter"/>
              </a:rPr>
              <a:t>the GHG Protocol’s definitions of what direct and indirect emissions comprise. </a:t>
            </a:r>
            <a:br>
              <a:rPr lang="en-GB" sz="975" b="0" i="0" u="none" strike="noStrike" noProof="0" dirty="0">
                <a:effectLst/>
                <a:latin typeface="Inter"/>
              </a:rPr>
            </a:br>
            <a:br>
              <a:rPr lang="en-GB" sz="975" dirty="0">
                <a:latin typeface="Inter"/>
              </a:rPr>
            </a:br>
            <a:r>
              <a:rPr lang="en-GB" sz="650" b="0" i="0" u="none" strike="noStrike" noProof="0">
                <a:solidFill>
                  <a:schemeClr val="tx2"/>
                </a:solidFill>
                <a:effectLst/>
                <a:latin typeface="Inter"/>
              </a:rPr>
              <a:t> </a:t>
            </a:r>
            <a:endParaRPr lang="en-GB" sz="975" b="0" i="0" u="none" strike="noStrike" noProof="0" dirty="0">
              <a:solidFill>
                <a:schemeClr val="tx2"/>
              </a:solidFill>
              <a:effectLst/>
              <a:latin typeface="Inter"/>
            </a:endParaRPr>
          </a:p>
          <a:p>
            <a:pPr rtl="0">
              <a:buNone/>
            </a:pPr>
            <a:endParaRPr lang="en-GB" sz="975" b="0" noProof="0">
              <a:solidFill>
                <a:schemeClr val="tx2"/>
              </a:solidFill>
              <a:effectLst/>
              <a:latin typeface="Inter"/>
            </a:endParaRPr>
          </a:p>
          <a:p>
            <a:pPr>
              <a:buNone/>
            </a:pPr>
            <a:endParaRPr lang="en-GB" b="0" noProof="0">
              <a:solidFill>
                <a:schemeClr val="tx2"/>
              </a:solidFill>
              <a:effectLst/>
              <a:latin typeface="Inter"/>
            </a:endParaRPr>
          </a:p>
          <a:p>
            <a:pPr>
              <a:buNone/>
            </a:pPr>
            <a:endParaRPr lang="en-GB" sz="1325" noProof="0">
              <a:solidFill>
                <a:schemeClr val="tx2"/>
              </a:solidFill>
              <a:latin typeface="Inter"/>
            </a:endParaRPr>
          </a:p>
          <a:p>
            <a:pPr>
              <a:buNone/>
            </a:pPr>
            <a:endParaRPr lang="en-GB" sz="1325" b="0" noProof="0">
              <a:solidFill>
                <a:schemeClr val="tx2"/>
              </a:solidFill>
              <a:effectLst/>
              <a:latin typeface="Inter"/>
            </a:endParaRPr>
          </a:p>
          <a:p>
            <a:pPr>
              <a:buNone/>
            </a:pPr>
            <a:endParaRPr lang="en-GB" sz="1325" noProof="0">
              <a:solidFill>
                <a:schemeClr val="tx2"/>
              </a:solidFill>
              <a:latin typeface="Inter"/>
            </a:endParaRPr>
          </a:p>
          <a:p>
            <a:pPr>
              <a:buNone/>
            </a:pPr>
            <a:endParaRPr lang="en-GB" sz="1325" b="0" noProof="0">
              <a:solidFill>
                <a:schemeClr val="tx2"/>
              </a:solidFill>
              <a:effectLst/>
              <a:latin typeface="Inter"/>
            </a:endParaRPr>
          </a:p>
          <a:p>
            <a:endParaRPr lang="en-GB" sz="1325" b="1">
              <a:latin typeface="+mj-lt"/>
            </a:endParaRPr>
          </a:p>
        </p:txBody>
      </p:sp>
      <p:graphicFrame>
        <p:nvGraphicFramePr>
          <p:cNvPr id="15" name="Table 18">
            <a:extLst>
              <a:ext uri="{FF2B5EF4-FFF2-40B4-BE49-F238E27FC236}">
                <a16:creationId xmlns:a16="http://schemas.microsoft.com/office/drawing/2014/main" id="{550C2B5F-F365-2A58-DF02-C096E906DD7B}"/>
              </a:ext>
            </a:extLst>
          </p:cNvPr>
          <p:cNvGraphicFramePr>
            <a:graphicFrameLocks noGrp="1"/>
          </p:cNvGraphicFramePr>
          <p:nvPr>
            <p:extLst>
              <p:ext uri="{D42A27DB-BD31-4B8C-83A1-F6EECF244321}">
                <p14:modId xmlns:p14="http://schemas.microsoft.com/office/powerpoint/2010/main" val="4106924491"/>
              </p:ext>
            </p:extLst>
          </p:nvPr>
        </p:nvGraphicFramePr>
        <p:xfrm>
          <a:off x="411480" y="6553529"/>
          <a:ext cx="6737040" cy="903578"/>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6610">
                <a:tc>
                  <a:txBody>
                    <a:bodyPr/>
                    <a:lstStyle/>
                    <a:p>
                      <a:pPr>
                        <a:lnSpc>
                          <a:spcPct val="106000"/>
                        </a:lnSpc>
                      </a:pPr>
                      <a:r>
                        <a:rPr lang="en-GB" sz="975" b="1" noProof="0">
                          <a:solidFill>
                            <a:schemeClr val="tx2"/>
                          </a:solidFill>
                        </a:rPr>
                        <a:t>Greenhouse gas emissions </a:t>
                      </a:r>
                      <a:r>
                        <a:rPr lang="en-GB" sz="975" b="0" noProof="0">
                          <a:solidFill>
                            <a:schemeClr val="tx2"/>
                          </a:solidFill>
                        </a:rPr>
                        <a:t>(para. 33)</a:t>
                      </a: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rgbClr val="1B4528"/>
                          </a:solidFill>
                          <a:latin typeface="Calibri" panose="020F0502020204030204" pitchFamily="34" charset="0"/>
                          <a:cs typeface="Calibri" panose="020F0502020204030204" pitchFamily="34" charset="0"/>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5656">
                <a:tc>
                  <a:txBody>
                    <a:bodyPr/>
                    <a:lstStyle/>
                    <a:p>
                      <a:pPr>
                        <a:lnSpc>
                          <a:spcPct val="106000"/>
                        </a:lnSpc>
                      </a:pPr>
                      <a:r>
                        <a:rPr lang="en-GB" sz="975" b="1" noProof="0">
                          <a:solidFill>
                            <a:schemeClr val="tx2"/>
                          </a:solidFill>
                        </a:rPr>
                        <a:t>Scope 1 CO₂e emissions</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{{scope1}}</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25656">
                <a:tc>
                  <a:txBody>
                    <a:bodyPr/>
                    <a:lstStyle/>
                    <a:p>
                      <a:pPr>
                        <a:lnSpc>
                          <a:spcPct val="106000"/>
                        </a:lnSpc>
                      </a:pPr>
                      <a:r>
                        <a:rPr lang="en-GB" sz="975" b="1" noProof="0">
                          <a:solidFill>
                            <a:schemeClr val="tx2"/>
                          </a:solidFill>
                        </a:rPr>
                        <a:t>Scope 2 CO₂e emissions (location-based)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{{scope2}}</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n-GB" sz="975" b="1" noProof="0">
                          <a:solidFill>
                            <a:schemeClr val="tx2"/>
                          </a:solidFill>
                        </a:rPr>
                        <a:t>Total CO₂e emissions from Scope 1 and Scope 2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{{total_scope}}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graphicFrame>
        <p:nvGraphicFramePr>
          <p:cNvPr id="913" name="B3 market-based (voluntary)"/>
          <p:cNvGraphicFramePr>
            <a:graphicFrameLocks noGrp="1"/>
          </p:cNvGraphicFramePr>
          <p:nvPr>
            <p:extLst>
              <p:ext uri="{D42A27DB-BD31-4B8C-83A1-F6EECF244321}">
                <p14:modId xmlns:p14="http://schemas.microsoft.com/office/powerpoint/2010/main" val="4106924491"/>
              </p:ext>
            </p:extLst>
          </p:nvPr>
        </p:nvGraphicFramePr>
        <p:xfrm>
          <a:off x="411480" y="7630596"/>
          <a:ext cx="6737040" cy="451312"/>
        </p:xfrm>
        <a:graphic>
          <a:graphicData uri="http://schemas.openxmlformats.org/drawingml/2006/table">
            <a:tbl>
              <a:tblPr firstRow="0">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25656">
                <a:tc>
                  <a:txBody>
                    <a:bodyPr/>
                    <a:lstStyle/>
                    <a:p>
                      <a:pPr>
                        <a:lnSpc>
                          <a:spcPct val="106000"/>
                        </a:lnSpc>
                      </a:pPr>
                      <a:r>
                        <a:rPr lang="en-GB" sz="975" b="1" noProof="0">
                          <a:solidFill>
                            <a:schemeClr val="tx2"/>
                          </a:solidFill>
                        </a:rPr>
                        <a:t>Scope 2 CO₂e emissions (market-based) (voluntary)</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{{scope1_marked}}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25656">
                <a:tc>
                  <a:txBody>
                    <a:bodyPr/>
                    <a:lstStyle/>
                    <a:p>
                      <a:pPr>
                        <a:lnSpc>
                          <a:spcPct val="106000"/>
                        </a:lnSpc>
                      </a:pPr>
                      <a:r>
                        <a:rPr lang="en-GB" sz="975" b="1" noProof="0">
                          <a:solidFill>
                            <a:schemeClr val="tx2"/>
                          </a:solidFill>
                        </a:rPr>
                        <a:t>Total CO₂e emissions from Scope 1 and Scope 2 (market-based) (voluntary)</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{{scope2_marked}}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912" name="Tekstfelt 11 (cont.)">
            <a:extLst>
              <a:ext uri="{FF2B5EF4-FFF2-40B4-BE49-F238E27FC236}">
                <a16:creationId xmlns:a16="http://schemas.microsoft.com/office/drawing/2014/main" id="{4EDC705C-923B-3F7B-2016-F3C31DC2828B}"/>
              </a:ext>
            </a:extLst>
          </p:cNvPr>
          <p:cNvSpPr txBox="1"/>
          <p:nvPr/>
        </p:nvSpPr>
        <p:spPr>
          <a:xfrm>
            <a:off x="411480" y="4333689"/>
            <a:ext cx="6737040" cy="2194560"/>
          </a:xfrm>
          <a:prstGeom prst="rect">
            <a:avLst/>
          </a:prstGeom>
          <a:noFill/>
        </p:spPr>
        <p:txBody>
          <a:bodyPr wrap="square" lIns="76197" tIns="38098" rIns="76197" bIns="38098" anchor="t">
            <a:spAutoFit/>
          </a:bodyPr>
          <a:lstStyle/>
          <a:p>
            <a:br>
              <a:rPr lang="en-GB" b="1" dirty="0">
                <a:latin typeface="+mj-lt"/>
              </a:rPr>
            </a:br>
            <a:r>
              <a:rPr lang="en-GB" b="1" i="0" u="none" strike="noStrike" noProof="0">
                <a:solidFill>
                  <a:schemeClr val="tx2"/>
                </a:solidFill>
                <a:effectLst/>
                <a:latin typeface="+mj-lt"/>
              </a:rPr>
              <a:t>CO₂e emissions (B3)</a:t>
            </a:r>
            <a:endParaRPr lang="en-GB" noProof="0">
              <a:solidFill>
                <a:schemeClr val="tx2"/>
              </a:solidFill>
              <a:effectLst/>
              <a:latin typeface="+mj-lt"/>
            </a:endParaRPr>
          </a:p>
          <a:p>
            <a:r>
              <a:rPr lang="en-GB" sz="650">
                <a:latin typeface="Inter"/>
              </a:rPr>
              <a:t> </a:t>
            </a:r>
            <a:br>
              <a:rPr lang="en-GB" sz="975" dirty="0">
                <a:solidFill>
                  <a:schemeClr val="tx2"/>
                </a:solidFill>
                <a:latin typeface="Inter"/>
              </a:rPr>
            </a:br>
            <a:r>
              <a:rPr lang="en-GB" sz="975" b="0" i="0" u="none" strike="noStrike" noProof="0">
                <a:solidFill>
                  <a:schemeClr val="tx2"/>
                </a:solidFill>
                <a:effectLst/>
                <a:latin typeface="Inter"/>
              </a:rPr>
              <a:t>Para. 33 contains information on the undertaking’s greenhouse gas emissions based on Scope 1 and Scope 2 emissions. Scope 1 covers direct greenhouse gas emissions and includes emissions from sources that the undertaking owns or directly controls. This comprises, for example, the combustion of fuel in company vehicles or the heating of buildings with natural gas, as well as emissions from industrial processes and leakages in systems such as refrigeration.</a:t>
            </a:r>
            <a:r>
              <a:rPr lang="en-GB" sz="975" noProof="0">
                <a:solidFill>
                  <a:schemeClr val="tx2"/>
                </a:solidFill>
                <a:latin typeface="Inter"/>
              </a:rPr>
              <a:t> </a:t>
            </a:r>
            <a:r>
              <a:rPr lang="en-GB" sz="975" b="0" i="0" u="none" strike="noStrike" noProof="0">
                <a:solidFill>
                  <a:schemeClr val="tx2"/>
                </a:solidFill>
                <a:effectLst/>
                <a:latin typeface="Inter"/>
              </a:rPr>
              <a:t>Scope 2</a:t>
            </a:r>
            <a:r>
              <a:rPr lang="en-GB" sz="975" noProof="0">
                <a:solidFill>
                  <a:schemeClr val="tx2"/>
                </a:solidFill>
                <a:latin typeface="Inter"/>
              </a:rPr>
              <a:t> covers i</a:t>
            </a:r>
            <a:r>
              <a:rPr lang="en-GB" sz="975" b="0" i="0" u="none" strike="noStrike" noProof="0">
                <a:solidFill>
                  <a:schemeClr val="tx2"/>
                </a:solidFill>
                <a:effectLst/>
                <a:latin typeface="Inter"/>
              </a:rPr>
              <a:t>ndirect emissions from purchased electricity, referring to emissions from the generation of the electricity, steam, heat or cooling that the undertaking purchases and uses. Although these emissions originate from the energy producers, they are attributed to the undertaking because it consumes the energy.</a:t>
            </a:r>
            <a:endParaRPr lang="en-GB" sz="975" b="0" noProof="0">
              <a:solidFill>
                <a:schemeClr val="tx2"/>
              </a:solidFill>
              <a:effectLst/>
              <a:latin typeface="Inter"/>
            </a:endParaRPr>
          </a:p>
        </p:txBody>
      </p:sp>
    </p:spTree>
    <p:extLst>
      <p:ext uri="{BB962C8B-B14F-4D97-AF65-F5344CB8AC3E}">
        <p14:creationId xmlns:p14="http://schemas.microsoft.com/office/powerpoint/2010/main" val="291076555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Pollution of air, water and soil (B4)</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455973087"/>
              </p:ext>
            </p:extLst>
          </p:nvPr>
        </p:nvGraphicFramePr>
        <p:xfrm>
          <a:off x="411480" y="1625932"/>
          <a:ext cx="6737040" cy="666620"/>
        </p:xfrm>
        <a:graphic>
          <a:graphicData uri="http://schemas.openxmlformats.org/drawingml/2006/table">
            <a:tbl>
              <a:tblPr firstRow="1">
                <a:tableStyleId>{2A488322-F2BA-4B5B-9748-0D474271808F}</a:tableStyleId>
              </a:tblPr>
              <a:tblGrid>
                <a:gridCol w="2134358">
                  <a:extLst>
                    <a:ext uri="{9D8B030D-6E8A-4147-A177-3AD203B41FA5}">
                      <a16:colId xmlns:a16="http://schemas.microsoft.com/office/drawing/2014/main" val="2698153288"/>
                    </a:ext>
                  </a:extLst>
                </a:gridCol>
                <a:gridCol w="2057899">
                  <a:extLst>
                    <a:ext uri="{9D8B030D-6E8A-4147-A177-3AD203B41FA5}">
                      <a16:colId xmlns:a16="http://schemas.microsoft.com/office/drawing/2014/main" val="2119413191"/>
                    </a:ext>
                  </a:extLst>
                </a:gridCol>
                <a:gridCol w="2544783">
                  <a:extLst>
                    <a:ext uri="{9D8B030D-6E8A-4147-A177-3AD203B41FA5}">
                      <a16:colId xmlns:a16="http://schemas.microsoft.com/office/drawing/2014/main" val="683090399"/>
                    </a:ext>
                  </a:extLst>
                </a:gridCol>
              </a:tblGrid>
              <a:tr h="232847">
                <a:tc gridSpan="3">
                  <a:txBody>
                    <a:bodyPr/>
                    <a:lstStyle/>
                    <a:p>
                      <a:pPr>
                        <a:lnSpc>
                          <a:spcPct val="106000"/>
                        </a:lnSpc>
                      </a:pPr>
                      <a:r>
                        <a:rPr lang="en-GB" sz="975" b="1" noProof="0">
                          <a:solidFill>
                            <a:schemeClr val="tx2"/>
                          </a:solidFill>
                        </a:rPr>
                        <a:t>Pollution of air, water and soil </a:t>
                      </a:r>
                      <a:r>
                        <a:rPr lang="en-GB" sz="975" b="0" noProof="0">
                          <a:solidFill>
                            <a:schemeClr val="tx2"/>
                          </a:solidFill>
                        </a:rPr>
                        <a:t>(para. 34)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32847">
                <a:tc>
                  <a:txBody>
                    <a:bodyPr/>
                    <a:lstStyle/>
                    <a:p>
                      <a:pPr marL="0" marR="0" lvl="0" indent="0" algn="l"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Type of pollution </a:t>
                      </a:r>
                      <a:r>
                        <a:rPr lang="en-GB" sz="975" b="0" noProof="0">
                          <a:solidFill>
                            <a:schemeClr val="tx2"/>
                          </a:solidFill>
                        </a:rPr>
                        <a:t>(e.g. substance)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n-GB" sz="975" b="1" noProof="0">
                          <a:solidFill>
                            <a:schemeClr val="tx2"/>
                          </a:solidFill>
                        </a:rPr>
                        <a:t>Where? </a:t>
                      </a:r>
                      <a:r>
                        <a:rPr lang="en-GB" sz="975" b="0" noProof="0">
                          <a:solidFill>
                            <a:schemeClr val="tx2"/>
                          </a:solidFill>
                        </a:rPr>
                        <a:t>(air, water, soil)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lnSpc>
                          <a:spcPct val="106000"/>
                        </a:lnSpc>
                      </a:pPr>
                      <a:r>
                        <a:rPr lang="en-GB" sz="975" b="1" noProof="0">
                          <a:solidFill>
                            <a:schemeClr val="tx2"/>
                          </a:solidFill>
                        </a:rPr>
                        <a:t>Amount</a:t>
                      </a: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00926">
                <a:tc>
                  <a:txBody>
                    <a:bodyPr/>
                    <a:lstStyle/>
                    <a:p>
                      <a:pPr rtl="0" fontAlgn="ctr" algn="l">
                        <a:buNone/>
                      </a:pPr>
                      <a:r>
                        <a:rPr lang="en-GB" sz="975" b="0" i="0" u="none" strike="noStrike" noProof="0">
                          <a:solidFill>
                            <a:srgbClr val="1B4528"/>
                          </a:solidFill>
                          <a:effectLst/>
                          <a:latin typeface="Inter"/>
                        </a:rPr>
                        <a:t>{{type_of_pollution}}</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algn="r" rtl="0" fontAlgn="ctr">
                        <a:buNone/>
                      </a:pPr>
                      <a:r>
                        <a:rPr lang="en-GB" sz="975" b="0" i="0" u="none" strike="noStrike" noProof="0">
                          <a:solidFill>
                            <a:srgbClr val="1B4528"/>
                          </a:solidFill>
                          <a:effectLst/>
                          <a:latin typeface="Inter"/>
                        </a:rPr>
                        <a:t>{{scope_pollution}}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pollution_medium</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0" name="Tekstfelt 9">
            <a:extLst>
              <a:ext uri="{FF2B5EF4-FFF2-40B4-BE49-F238E27FC236}">
                <a16:creationId xmlns:a16="http://schemas.microsoft.com/office/drawing/2014/main" id="{CADEAD42-343C-93CC-A8B0-E63EFFC56411}"/>
              </a:ext>
            </a:extLst>
          </p:cNvPr>
          <p:cNvSpPr txBox="1"/>
          <p:nvPr/>
        </p:nvSpPr>
        <p:spPr>
          <a:xfrm>
            <a:off x="411480" y="1192938"/>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reports the total amount of pollutants emitted from its own operations. Reporting on specific pollutants and their amounts emitted to air, water and soil</a:t>
            </a:r>
            <a:r>
              <a:rPr lang="en-GB" sz="975" noProof="0">
                <a:solidFill>
                  <a:schemeClr val="tx2"/>
                </a:solidFill>
                <a:latin typeface="Inter"/>
              </a:rPr>
              <a:t> is set out below.</a:t>
            </a:r>
          </a:p>
        </p:txBody>
      </p:sp>
      <p:sp>
        <p:nvSpPr>
          <p:cNvPr id="16" name="Title 3">
            <a:extLst>
              <a:ext uri="{FF2B5EF4-FFF2-40B4-BE49-F238E27FC236}">
                <a16:creationId xmlns:a16="http://schemas.microsoft.com/office/drawing/2014/main" id="{82FDC1C8-BB82-8F83-2FCB-640700A5A089}"/>
              </a:ext>
            </a:extLst>
          </p:cNvPr>
          <p:cNvSpPr txBox="1">
            <a:spLocks/>
          </p:cNvSpPr>
          <p:nvPr/>
        </p:nvSpPr>
        <p:spPr>
          <a:xfrm>
            <a:off x="411480" y="267344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Biodiversity (B5) </a:t>
            </a:r>
          </a:p>
        </p:txBody>
      </p:sp>
      <p:graphicFrame>
        <p:nvGraphicFramePr>
          <p:cNvPr id="17" name="Table 12">
            <a:extLst>
              <a:ext uri="{FF2B5EF4-FFF2-40B4-BE49-F238E27FC236}">
                <a16:creationId xmlns:a16="http://schemas.microsoft.com/office/drawing/2014/main" id="{2F8CEDBC-7529-8ACB-98F8-C532E7876A9C}"/>
              </a:ext>
            </a:extLst>
          </p:cNvPr>
          <p:cNvGraphicFramePr>
            <a:graphicFrameLocks noGrp="1"/>
          </p:cNvGraphicFramePr>
          <p:nvPr>
            <p:extLst>
              <p:ext uri="{D42A27DB-BD31-4B8C-83A1-F6EECF244321}">
                <p14:modId xmlns:p14="http://schemas.microsoft.com/office/powerpoint/2010/main" val="1488959812"/>
              </p:ext>
            </p:extLst>
          </p:nvPr>
        </p:nvGraphicFramePr>
        <p:xfrm>
          <a:off x="411480" y="3665551"/>
          <a:ext cx="6737040" cy="792106"/>
        </p:xfrm>
        <a:graphic>
          <a:graphicData uri="http://schemas.openxmlformats.org/drawingml/2006/table">
            <a:tbl>
              <a:tblPr firstRow="1">
                <a:tableStyleId>{2A488322-F2BA-4B5B-9748-0D474271808F}</a:tableStyleId>
              </a:tblPr>
              <a:tblGrid>
                <a:gridCol w="1223626">
                  <a:extLst>
                    <a:ext uri="{9D8B030D-6E8A-4147-A177-3AD203B41FA5}">
                      <a16:colId xmlns:a16="http://schemas.microsoft.com/office/drawing/2014/main" val="2698153288"/>
                    </a:ext>
                  </a:extLst>
                </a:gridCol>
                <a:gridCol w="1837805">
                  <a:extLst>
                    <a:ext uri="{9D8B030D-6E8A-4147-A177-3AD203B41FA5}">
                      <a16:colId xmlns:a16="http://schemas.microsoft.com/office/drawing/2014/main" val="2119413191"/>
                    </a:ext>
                  </a:extLst>
                </a:gridCol>
                <a:gridCol w="1837805">
                  <a:extLst>
                    <a:ext uri="{9D8B030D-6E8A-4147-A177-3AD203B41FA5}">
                      <a16:colId xmlns:a16="http://schemas.microsoft.com/office/drawing/2014/main" val="656209149"/>
                    </a:ext>
                  </a:extLst>
                </a:gridCol>
                <a:gridCol w="1837804">
                  <a:extLst>
                    <a:ext uri="{9D8B030D-6E8A-4147-A177-3AD203B41FA5}">
                      <a16:colId xmlns:a16="http://schemas.microsoft.com/office/drawing/2014/main" val="1502960985"/>
                    </a:ext>
                  </a:extLst>
                </a:gridCol>
              </a:tblGrid>
              <a:tr h="192389">
                <a:tc gridSpan="4">
                  <a:txBody>
                    <a:bodyPr/>
                    <a:lstStyle/>
                    <a:p>
                      <a:r>
                        <a:rPr lang="en-GB" sz="975" b="1" noProof="0">
                          <a:solidFill>
                            <a:schemeClr val="tx2"/>
                          </a:solidFill>
                        </a:rPr>
                        <a:t>Sites in or near ‘biodiversity sensitive areas’ that the undertaking owns, leases or manages </a:t>
                      </a:r>
                      <a:r>
                        <a:rPr lang="en-GB" sz="975" b="0" noProof="0">
                          <a:solidFill>
                            <a:schemeClr val="tx2"/>
                          </a:solidFill>
                        </a:rPr>
                        <a:t>(para. 35)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87668">
                <a:tc>
                  <a:txBody>
                    <a:bodyPr/>
                    <a:lstStyle/>
                    <a:p>
                      <a:r>
                        <a:rPr lang="en-GB" sz="975" b="1" noProof="0">
                          <a:solidFill>
                            <a:schemeClr val="tx2"/>
                          </a:solidFill>
                        </a:rPr>
                        <a:t>Location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Area in hectares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Biodiversity sensitive area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Specification: in or near a biodiversity sensitive area</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26340">
                <a:tc>
                  <a:txBody>
                    <a:bodyPr/>
                    <a:lstStyle/>
                    <a:p>
                      <a:pPr rtl="0" fontAlgn="ctr" algn="l">
                        <a:buNone/>
                      </a:pPr>
                      <a:r>
                        <a:rPr lang="en-GB" sz="975" b="0" i="0" u="none" strike="noStrike" noProof="0">
                          <a:solidFill>
                            <a:srgbClr val="1B4528"/>
                          </a:solidFill>
                          <a:effectLst/>
                          <a:latin typeface="Inter"/>
                        </a:rPr>
                        <a:t>{{country_location}}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975" b="0" i="0" u="none" strike="noStrike" noProof="0">
                          <a:solidFill>
                            <a:srgbClr val="1B4528"/>
                          </a:solidFill>
                          <a:effectLst/>
                          <a:latin typeface="Inter"/>
                        </a:rPr>
                        <a:t> {{area_hect}}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nter"/>
                        </a:rPr>
                        <a:t>{{area_name}}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biosensitive_area</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8" name="Tekstfelt 17">
            <a:extLst>
              <a:ext uri="{FF2B5EF4-FFF2-40B4-BE49-F238E27FC236}">
                <a16:creationId xmlns:a16="http://schemas.microsoft.com/office/drawing/2014/main" id="{6378062B-84AF-684A-9726-0422CE54B0A8}"/>
              </a:ext>
            </a:extLst>
          </p:cNvPr>
          <p:cNvSpPr txBox="1"/>
          <p:nvPr/>
        </p:nvSpPr>
        <p:spPr>
          <a:xfrm>
            <a:off x="411480" y="2954463"/>
            <a:ext cx="6737040" cy="538588"/>
          </a:xfrm>
          <a:prstGeom prst="rect">
            <a:avLst/>
          </a:prstGeom>
          <a:noFill/>
        </p:spPr>
        <p:txBody>
          <a:bodyPr wrap="square">
            <a:spAutoFit/>
          </a:bodyPr>
          <a:lstStyle/>
          <a:p>
            <a:pPr rtl="0">
              <a:spcBef>
                <a:spcPts val="750"/>
              </a:spcBef>
              <a:spcAft>
                <a:spcPts val="750"/>
              </a:spcAft>
              <a:buNone/>
            </a:pPr>
            <a:r>
              <a:rPr lang="en-GB" sz="975" b="0" i="0" u="none" strike="noStrike" noProof="0">
                <a:solidFill>
                  <a:schemeClr val="tx2"/>
                </a:solidFill>
                <a:effectLst/>
                <a:latin typeface="Inter"/>
              </a:rPr>
              <a:t>The undertaking’s disclosure concerns the sites where it operates that are located in or near biodiversity sensitive areas. Biodiversity sensitive areas are defined as such under specific nature conservation provisions at European or international level. This includes areas belonging to Natura 2000, UNESCO and Key Biodiversity Areas (KBAs), as well as other protected areas.</a:t>
            </a:r>
            <a:endParaRPr lang="en-GB" sz="975" noProof="0">
              <a:solidFill>
                <a:schemeClr val="tx2"/>
              </a:solidFill>
              <a:latin typeface="Inter"/>
            </a:endParaRPr>
          </a:p>
        </p:txBody>
      </p:sp>
      <p:sp>
        <p:nvSpPr>
          <p:cNvPr id="2" name="Title 3">
            <a:extLst>
              <a:ext uri="{FF2B5EF4-FFF2-40B4-BE49-F238E27FC236}">
                <a16:creationId xmlns:a16="http://schemas.microsoft.com/office/drawing/2014/main" id="{9FF30C2A-99E4-0235-442A-B520E2E3D75D}"/>
              </a:ext>
            </a:extLst>
          </p:cNvPr>
          <p:cNvSpPr txBox="1">
            <a:spLocks/>
          </p:cNvSpPr>
          <p:nvPr/>
        </p:nvSpPr>
        <p:spPr>
          <a:xfrm>
            <a:off x="423976" y="4870726"/>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t>Water (B6)</a:t>
            </a:r>
          </a:p>
        </p:txBody>
      </p:sp>
      <p:graphicFrame>
        <p:nvGraphicFramePr>
          <p:cNvPr id="3" name="Table 12">
            <a:extLst>
              <a:ext uri="{FF2B5EF4-FFF2-40B4-BE49-F238E27FC236}">
                <a16:creationId xmlns:a16="http://schemas.microsoft.com/office/drawing/2014/main" id="{EDF86973-DC05-3ECC-6067-2F53E4BE429D}"/>
              </a:ext>
            </a:extLst>
          </p:cNvPr>
          <p:cNvGraphicFramePr>
            <a:graphicFrameLocks noGrp="1"/>
          </p:cNvGraphicFramePr>
          <p:nvPr>
            <p:extLst>
              <p:ext uri="{D42A27DB-BD31-4B8C-83A1-F6EECF244321}">
                <p14:modId xmlns:p14="http://schemas.microsoft.com/office/powerpoint/2010/main" val="2484575700"/>
              </p:ext>
            </p:extLst>
          </p:nvPr>
        </p:nvGraphicFramePr>
        <p:xfrm>
          <a:off x="411480" y="5879470"/>
          <a:ext cx="3295368" cy="1117352"/>
        </p:xfrm>
        <a:graphic>
          <a:graphicData uri="http://schemas.openxmlformats.org/drawingml/2006/table">
            <a:tbl>
              <a:tblPr firstRow="1">
                <a:tableStyleId>{2A488322-F2BA-4B5B-9748-0D474271808F}</a:tableStyleId>
              </a:tblPr>
              <a:tblGrid>
                <a:gridCol w="2113984">
                  <a:extLst>
                    <a:ext uri="{9D8B030D-6E8A-4147-A177-3AD203B41FA5}">
                      <a16:colId xmlns:a16="http://schemas.microsoft.com/office/drawing/2014/main" val="2698153288"/>
                    </a:ext>
                  </a:extLst>
                </a:gridCol>
                <a:gridCol w="1181384">
                  <a:extLst>
                    <a:ext uri="{9D8B030D-6E8A-4147-A177-3AD203B41FA5}">
                      <a16:colId xmlns:a16="http://schemas.microsoft.com/office/drawing/2014/main" val="2119413191"/>
                    </a:ext>
                  </a:extLst>
                </a:gridCol>
              </a:tblGrid>
              <a:tr h="56781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dirty="0">
                          <a:solidFill>
                            <a:schemeClr val="tx2"/>
                          </a:solidFill>
                        </a:rPr>
                        <a:t>Water withdrawal </a:t>
                      </a:r>
                      <a:r>
                        <a:rPr lang="en-GB" sz="975" b="0" noProof="0" dirty="0">
                          <a:solidFill>
                            <a:schemeClr val="tx2"/>
                          </a:solidFill>
                        </a:rPr>
                        <a:t>(para. 36)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49538">
                <a:tc>
                  <a:txBody>
                    <a:bodyPr/>
                    <a:lstStyle/>
                    <a:p>
                      <a:r>
                        <a:rPr lang="en-GB" sz="975" b="0" noProof="0">
                          <a:solidFill>
                            <a:schemeClr val="tx2"/>
                          </a:solidFill>
                        </a:rPr>
                        <a:t>Total for all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975" b="0" i="0" u="none" strike="noStrike" kern="1200" cap="none" spc="0" normalizeH="0" baseline="0" noProof="0" dirty="0">
                          <a:ln>
                            <a:noFill/>
                          </a:ln>
                          <a:solidFill>
                            <a:srgbClr val="1B4528"/>
                          </a:solidFill>
                          <a:effectLst/>
                          <a:uLnTx/>
                          <a:uFillTx/>
                          <a:latin typeface="+mn-lt"/>
                          <a:ea typeface="+mn-ea"/>
                          <a:cs typeface="+mn-cs"/>
                        </a:rPr>
                        <a:t>{{</a:t>
                      </a:r>
                      <a:r>
                        <a:rPr kumimoji="0" lang="en-GB" sz="975" b="0" i="0" u="none" strike="noStrike" kern="1200" cap="none" spc="0" normalizeH="0" baseline="0" noProof="0" dirty="0" err="1">
                          <a:ln>
                            <a:noFill/>
                          </a:ln>
                          <a:solidFill>
                            <a:srgbClr val="1B4528"/>
                          </a:solidFill>
                          <a:effectLst/>
                          <a:uLnTx/>
                          <a:uFillTx/>
                          <a:latin typeface="+mn-lt"/>
                          <a:ea typeface="+mn-ea"/>
                          <a:cs typeface="+mn-cs"/>
                        </a:rPr>
                        <a:t>total_withdrawal</a:t>
                      </a:r>
                      <a:r>
                        <a:rPr kumimoji="0" lang="en-GB" sz="975" b="0" i="0" u="none" strike="noStrike" kern="1200" cap="none" spc="0" normalizeH="0" baseline="0" noProof="0" dirty="0">
                          <a:ln>
                            <a:noFill/>
                          </a:ln>
                          <a:solidFill>
                            <a:srgbClr val="1B4528"/>
                          </a:solidFill>
                          <a:effectLst/>
                          <a:uLnTx/>
                          <a:uFillTx/>
                          <a:latin typeface="+mn-lt"/>
                          <a:ea typeface="+mn-ea"/>
                          <a:cs typeface="+mn-cs"/>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7" name="Table 16">
            <a:extLst>
              <a:ext uri="{FF2B5EF4-FFF2-40B4-BE49-F238E27FC236}">
                <a16:creationId xmlns:a16="http://schemas.microsoft.com/office/drawing/2014/main" id="{CC1DA924-567E-0F60-A4EA-4D7C2A7DFBCC}"/>
              </a:ext>
            </a:extLst>
          </p:cNvPr>
          <p:cNvGraphicFramePr>
            <a:graphicFrameLocks noGrp="1"/>
          </p:cNvGraphicFramePr>
          <p:nvPr>
            <p:extLst>
              <p:ext uri="{D42A27DB-BD31-4B8C-83A1-F6EECF244321}">
                <p14:modId xmlns:p14="http://schemas.microsoft.com/office/powerpoint/2010/main" val="1841516023"/>
              </p:ext>
            </p:extLst>
          </p:nvPr>
        </p:nvGraphicFramePr>
        <p:xfrm>
          <a:off x="3853152" y="5879470"/>
          <a:ext cx="3295368" cy="1117352"/>
        </p:xfrm>
        <a:graphic>
          <a:graphicData uri="http://schemas.openxmlformats.org/drawingml/2006/table">
            <a:tbl>
              <a:tblPr firstRow="1">
                <a:tableStyleId>{2A488322-F2BA-4B5B-9748-0D474271808F}</a:tableStyleId>
              </a:tblPr>
              <a:tblGrid>
                <a:gridCol w="2217448">
                  <a:extLst>
                    <a:ext uri="{9D8B030D-6E8A-4147-A177-3AD203B41FA5}">
                      <a16:colId xmlns:a16="http://schemas.microsoft.com/office/drawing/2014/main" val="2698153288"/>
                    </a:ext>
                  </a:extLst>
                </a:gridCol>
                <a:gridCol w="1077920">
                  <a:extLst>
                    <a:ext uri="{9D8B030D-6E8A-4147-A177-3AD203B41FA5}">
                      <a16:colId xmlns:a16="http://schemas.microsoft.com/office/drawing/2014/main" val="2119413191"/>
                    </a:ext>
                  </a:extLst>
                </a:gridCol>
              </a:tblGrid>
              <a:tr h="431979">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Water consumption </a:t>
                      </a:r>
                      <a:r>
                        <a:rPr lang="en-GB" sz="975" b="0" noProof="0">
                          <a:solidFill>
                            <a:schemeClr val="tx2"/>
                          </a:solidFill>
                        </a:rPr>
                        <a:t>(para. 37)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28979">
                <a:tc>
                  <a:txBody>
                    <a:bodyPr/>
                    <a:lstStyle/>
                    <a:p>
                      <a:r>
                        <a:rPr lang="en-GB" sz="975" b="0" noProof="0">
                          <a:solidFill>
                            <a:schemeClr val="tx2"/>
                          </a:solidFill>
                        </a:rPr>
                        <a:t>Total for all sites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{{consumption_total}}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5639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noProof="0" dirty="0">
                          <a:solidFill>
                            <a:schemeClr val="tx2"/>
                          </a:solidFill>
                        </a:rPr>
                        <a:t>From sites in areas of water scarcity (high water-stress)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consumption_waterstress</a:t>
                      </a:r>
                      <a:r>
                        <a:rPr lang="en-GB" sz="975" b="0" i="0" u="none" strike="noStrike" noProof="0" dirty="0">
                          <a:solidFill>
                            <a:srgbClr val="1B4528"/>
                          </a:solidFill>
                          <a:effectLst/>
                          <a:latin typeface="Inter"/>
                        </a:rPr>
                        <a:t>}}</a:t>
                      </a:r>
                      <a:endParaRPr lang="en-GB" sz="975"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75797269"/>
                  </a:ext>
                </a:extLst>
              </a:tr>
            </a:tbl>
          </a:graphicData>
        </a:graphic>
      </p:graphicFrame>
      <p:sp>
        <p:nvSpPr>
          <p:cNvPr id="8" name="Tekstfelt 7">
            <a:extLst>
              <a:ext uri="{FF2B5EF4-FFF2-40B4-BE49-F238E27FC236}">
                <a16:creationId xmlns:a16="http://schemas.microsoft.com/office/drawing/2014/main" id="{920A9AE1-EB9B-1D7D-09D0-432E15617FEB}"/>
              </a:ext>
            </a:extLst>
          </p:cNvPr>
          <p:cNvSpPr txBox="1"/>
          <p:nvPr/>
        </p:nvSpPr>
        <p:spPr>
          <a:xfrm>
            <a:off x="411480" y="5201429"/>
            <a:ext cx="6737040" cy="384705"/>
          </a:xfrm>
          <a:prstGeom prst="rect">
            <a:avLst/>
          </a:prstGeom>
          <a:noFill/>
        </p:spPr>
        <p:txBody>
          <a:bodyPr wrap="square">
            <a:spAutoFit/>
          </a:bodyPr>
          <a:lstStyle/>
          <a:p>
            <a:pPr rtl="0">
              <a:spcBef>
                <a:spcPts val="750"/>
              </a:spcBef>
              <a:buNone/>
            </a:pPr>
            <a:r>
              <a:rPr lang="en-GB" sz="975" b="0" i="0" u="none" strike="noStrike" noProof="0" dirty="0">
                <a:solidFill>
                  <a:schemeClr val="tx2"/>
                </a:solidFill>
                <a:effectLst/>
                <a:latin typeface="Inter"/>
              </a:rPr>
              <a:t>Water withdrawal is the amount of water used by the undertaking, of which </a:t>
            </a:r>
            <a:r>
              <a:rPr lang="en-GB" sz="975" noProof="0" dirty="0">
                <a:solidFill>
                  <a:schemeClr val="tx2"/>
                </a:solidFill>
                <a:latin typeface="Inter"/>
              </a:rPr>
              <a:t>consumption denotes water that </a:t>
            </a:r>
            <a:r>
              <a:rPr lang="en-GB" sz="975" b="0" i="0" u="none" strike="noStrike" noProof="0" dirty="0">
                <a:solidFill>
                  <a:schemeClr val="tx2"/>
                </a:solidFill>
                <a:effectLst/>
                <a:latin typeface="Inter"/>
              </a:rPr>
              <a:t>is not discharged, or planned to be discharged, back to the water environment or to a third party. This section discloses the undertaking’s total water withdrawal. The undertaking’s water consumption</a:t>
            </a:r>
            <a:r>
              <a:rPr lang="en-GB" sz="975" noProof="0" dirty="0">
                <a:solidFill>
                  <a:schemeClr val="tx2"/>
                </a:solidFill>
                <a:latin typeface="Inter"/>
              </a:rPr>
              <a:t> </a:t>
            </a:r>
            <a:r>
              <a:rPr lang="en-GB" sz="975" b="0" i="0" u="none" strike="noStrike" noProof="0" dirty="0">
                <a:solidFill>
                  <a:schemeClr val="tx2"/>
                </a:solidFill>
                <a:effectLst/>
                <a:latin typeface="Inter"/>
              </a:rPr>
              <a:t>and water discharge from areas of high water-stress are set out below.</a:t>
            </a:r>
            <a:endParaRPr lang="en-GB" sz="975" b="0" noProof="0" dirty="0">
              <a:solidFill>
                <a:schemeClr val="tx2"/>
              </a:solidFill>
              <a:effectLst/>
              <a:latin typeface="Inter"/>
            </a:endParaRPr>
          </a:p>
        </p:txBody>
      </p:sp>
      <p:sp>
        <p:nvSpPr>
          <p:cNvPr id="9" name="Title 3">
            <a:extLst>
              <a:ext uri="{FF2B5EF4-FFF2-40B4-BE49-F238E27FC236}">
                <a16:creationId xmlns:a16="http://schemas.microsoft.com/office/drawing/2014/main" id="{42E20686-EF75-EDCE-51EC-6D93E8BC9DB0}"/>
              </a:ext>
            </a:extLst>
          </p:cNvPr>
          <p:cNvSpPr txBox="1">
            <a:spLocks/>
          </p:cNvSpPr>
          <p:nvPr/>
        </p:nvSpPr>
        <p:spPr>
          <a:xfrm>
            <a:off x="411480" y="727199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Resource use, circular economy and waste management (B7) </a:t>
            </a:r>
          </a:p>
        </p:txBody>
      </p:sp>
      <p:graphicFrame>
        <p:nvGraphicFramePr>
          <p:cNvPr id="11" name="Table 12">
            <a:extLst>
              <a:ext uri="{FF2B5EF4-FFF2-40B4-BE49-F238E27FC236}">
                <a16:creationId xmlns:a16="http://schemas.microsoft.com/office/drawing/2014/main" id="{65985E2E-2BF9-6FC2-7FED-19CBF40C65E9}"/>
              </a:ext>
            </a:extLst>
          </p:cNvPr>
          <p:cNvGraphicFramePr>
            <a:graphicFrameLocks noGrp="1"/>
          </p:cNvGraphicFramePr>
          <p:nvPr>
            <p:extLst>
              <p:ext uri="{D42A27DB-BD31-4B8C-83A1-F6EECF244321}">
                <p14:modId xmlns:p14="http://schemas.microsoft.com/office/powerpoint/2010/main" val="2602752189"/>
              </p:ext>
            </p:extLst>
          </p:nvPr>
        </p:nvGraphicFramePr>
        <p:xfrm>
          <a:off x="3853152" y="7692509"/>
          <a:ext cx="3295368" cy="910441"/>
        </p:xfrm>
        <a:graphic>
          <a:graphicData uri="http://schemas.openxmlformats.org/drawingml/2006/table">
            <a:tbl>
              <a:tblPr firstRow="1">
                <a:tableStyleId>{2A488322-F2BA-4B5B-9748-0D474271808F}</a:tableStyleId>
              </a:tblPr>
              <a:tblGrid>
                <a:gridCol w="1303671">
                  <a:extLst>
                    <a:ext uri="{9D8B030D-6E8A-4147-A177-3AD203B41FA5}">
                      <a16:colId xmlns:a16="http://schemas.microsoft.com/office/drawing/2014/main" val="2698153288"/>
                    </a:ext>
                  </a:extLst>
                </a:gridCol>
                <a:gridCol w="1013047">
                  <a:extLst>
                    <a:ext uri="{9D8B030D-6E8A-4147-A177-3AD203B41FA5}">
                      <a16:colId xmlns:a16="http://schemas.microsoft.com/office/drawing/2014/main" val="2119413191"/>
                    </a:ext>
                  </a:extLst>
                </a:gridCol>
                <a:gridCol w="978650">
                  <a:extLst>
                    <a:ext uri="{9D8B030D-6E8A-4147-A177-3AD203B41FA5}">
                      <a16:colId xmlns:a16="http://schemas.microsoft.com/office/drawing/2014/main" val="656209149"/>
                    </a:ext>
                  </a:extLst>
                </a:gridCol>
              </a:tblGrid>
              <a:tr h="224582">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Disclosure on the application of circular economy principles </a:t>
                      </a:r>
                      <a:r>
                        <a:rPr lang="en-GB" sz="975" b="0" noProof="0">
                          <a:solidFill>
                            <a:schemeClr val="tx2"/>
                          </a:solidFill>
                        </a:rPr>
                        <a:t>(para. 38)</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ctr"/>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24335">
                <a:tc rowSpan="2">
                  <a:txBody>
                    <a:bodyPr/>
                    <a:lstStyle/>
                    <a:p>
                      <a:r>
                        <a:rPr lang="en-GB" sz="975" b="0" noProof="0">
                          <a:solidFill>
                            <a:schemeClr val="tx2"/>
                          </a:solidFill>
                        </a:rPr>
                        <a:t>My company applies circular economy principles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Yes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No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85898">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{{circular_economy_princples_yes}}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975" b="0" i="0" u="none" strike="noStrike" noProof="0">
                          <a:solidFill>
                            <a:srgbClr val="1B4528"/>
                          </a:solidFill>
                          <a:effectLst/>
                          <a:latin typeface="Inter"/>
                        </a:rPr>
                        <a:t>{{circular_economy_princples_no?}}</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4" name="Tekstfelt 13">
            <a:extLst>
              <a:ext uri="{FF2B5EF4-FFF2-40B4-BE49-F238E27FC236}">
                <a16:creationId xmlns:a16="http://schemas.microsoft.com/office/drawing/2014/main" id="{C277F934-C96A-D8A6-5040-970AFDDF7CBA}"/>
              </a:ext>
            </a:extLst>
          </p:cNvPr>
          <p:cNvSpPr txBox="1"/>
          <p:nvPr/>
        </p:nvSpPr>
        <p:spPr>
          <a:xfrm>
            <a:off x="411480" y="7675487"/>
            <a:ext cx="3295368" cy="692470"/>
          </a:xfrm>
          <a:prstGeom prst="rect">
            <a:avLst/>
          </a:prstGeom>
          <a:noFill/>
        </p:spPr>
        <p:txBody>
          <a:bodyPr wrap="square" lIns="76197" tIns="38098" rIns="76197" bIns="38098" anchor="t">
            <a:spAutoFit/>
          </a:bodyPr>
          <a:lstStyle/>
          <a:p>
            <a:pPr rtl="0">
              <a:buNone/>
            </a:pPr>
            <a:r>
              <a:rPr lang="en-GB" sz="975" b="0" i="0" u="none" strike="noStrike" noProof="0" dirty="0">
                <a:solidFill>
                  <a:schemeClr val="tx2"/>
                </a:solidFill>
                <a:effectLst/>
                <a:latin typeface="Inter"/>
              </a:rPr>
              <a:t>This disclosure requirement provides information on whether the undertaking</a:t>
            </a:r>
            <a:r>
              <a:rPr lang="en-GB" sz="975" noProof="0" dirty="0">
                <a:solidFill>
                  <a:schemeClr val="tx2"/>
                </a:solidFill>
                <a:latin typeface="Inter"/>
              </a:rPr>
              <a:t> applies circular economy principles, including whether principles are applied regarding reducing waste and pollution and to a focus on circular products and materials.</a:t>
            </a:r>
          </a:p>
        </p:txBody>
      </p:sp>
      <p:graphicFrame>
        <p:nvGraphicFramePr>
          <p:cNvPr id="19" name="Table 2">
            <a:extLst>
              <a:ext uri="{FF2B5EF4-FFF2-40B4-BE49-F238E27FC236}">
                <a16:creationId xmlns:a16="http://schemas.microsoft.com/office/drawing/2014/main" id="{8505FDBE-A563-0A36-5C55-C4AD815DDDED}"/>
              </a:ext>
            </a:extLst>
          </p:cNvPr>
          <p:cNvGraphicFramePr>
            <a:graphicFrameLocks noGrp="1"/>
          </p:cNvGraphicFramePr>
          <p:nvPr>
            <p:extLst>
              <p:ext uri="{D42A27DB-BD31-4B8C-83A1-F6EECF244321}">
                <p14:modId xmlns:p14="http://schemas.microsoft.com/office/powerpoint/2010/main" val="3948212178"/>
              </p:ext>
            </p:extLst>
          </p:nvPr>
        </p:nvGraphicFramePr>
        <p:xfrm>
          <a:off x="411480" y="9023763"/>
          <a:ext cx="6737040" cy="995218"/>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6127">
                <a:tc>
                  <a:txBody>
                    <a:bodyPr/>
                    <a:lstStyle/>
                    <a:p>
                      <a:r>
                        <a:rPr lang="en-GB" sz="975" b="1" noProof="0" dirty="0">
                          <a:solidFill>
                            <a:schemeClr val="tx2"/>
                          </a:solidFill>
                        </a:rPr>
                        <a:t>Description of how the undertaking applies circular economy principles </a:t>
                      </a:r>
                      <a:r>
                        <a:rPr lang="en-GB" sz="975" b="0" noProof="0" dirty="0">
                          <a:solidFill>
                            <a:schemeClr val="tx2"/>
                          </a:solidFill>
                        </a:rPr>
                        <a:t>(para. 38 continued)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786630">
                <a:tc>
                  <a:txBody>
                    <a:bodyPr/>
                    <a:lstStyle/>
                    <a:p>
                      <a:pPr algn="l"/>
                      <a:r>
                        <a:rPr lang="en-GB" sz="975" b="0" kern="1200" noProof="0" dirty="0">
                          <a:solidFill>
                            <a:srgbClr val="1B4528"/>
                          </a:solidFill>
                          <a:latin typeface="+mn-lt"/>
                          <a:ea typeface="+mn-ea"/>
                          <a:cs typeface="+mn-cs"/>
                        </a:rPr>
                        <a:t>{{</a:t>
                      </a:r>
                      <a:r>
                        <a:rPr lang="en-GB" sz="975" b="0" kern="1200" noProof="0" dirty="0" err="1">
                          <a:solidFill>
                            <a:srgbClr val="1B4528"/>
                          </a:solidFill>
                          <a:latin typeface="+mn-lt"/>
                          <a:ea typeface="+mn-ea"/>
                          <a:cs typeface="+mn-cs"/>
                        </a:rPr>
                        <a:t>description_of_circular_economies</a:t>
                      </a:r>
                      <a:r>
                        <a:rPr lang="en-GB" sz="975" b="0" kern="1200" noProof="0" dirty="0">
                          <a:solidFill>
                            <a:srgbClr val="1B4528"/>
                          </a:solidFill>
                          <a:latin typeface="+mn-lt"/>
                          <a:ea typeface="+mn-ea"/>
                          <a:cs typeface="+mn-cs"/>
                        </a:rPr>
                        <a:t>}}</a:t>
                      </a:r>
                    </a:p>
                    <a:p>
                      <a:pPr algn="l"/>
                      <a:endParaRPr lang="en-GB" sz="975" b="0" kern="1200" noProof="0" dirty="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20" name="Slide Number Placeholder 5">
            <a:extLst>
              <a:ext uri="{FF2B5EF4-FFF2-40B4-BE49-F238E27FC236}">
                <a16:creationId xmlns:a16="http://schemas.microsoft.com/office/drawing/2014/main" id="{807FF15E-F555-86DB-24C3-D51ED88AD423}"/>
              </a:ext>
              <a:ext uri="{C183D7F6-B498-43B3-948B-1728B52AA6E4}">
                <adec:decorative xmlns:adec="http://schemas.microsoft.com/office/drawing/2017/decorative" val="1"/>
              </a:ext>
            </a:extLst>
          </p:cNvPr>
          <p:cNvSpPr>
            <a:spLocks noGrp="1"/>
          </p:cNvSpPr>
          <p:nvPr>
            <p:ph type="sldNum" sz="quarter" idx="12"/>
          </p:nvPr>
        </p:nvSpPr>
        <p:spPr>
          <a:xfrm>
            <a:off x="5531035" y="10152285"/>
            <a:ext cx="1617485" cy="128235"/>
          </a:xfrm>
        </p:spPr>
        <p:txBody>
          <a:bodyPr/>
          <a:lstStyle/>
          <a:p>
            <a:fld id="{5A0D23CF-C5A3-5445-819D-C647D180BB4B}" type="slidenum">
              <a:rPr lang="en-GB" noProof="0" smtClean="0"/>
              <a:pPr/>
              <a:t>6</a:t>
            </a:fld>
            <a:endParaRPr lang="en-GB" noProof="0"/>
          </a:p>
        </p:txBody>
      </p:sp>
    </p:spTree>
    <p:extLst>
      <p:ext uri="{BB962C8B-B14F-4D97-AF65-F5344CB8AC3E}">
        <p14:creationId xmlns:p14="http://schemas.microsoft.com/office/powerpoint/2010/main" val="270564637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Resource use, circular economy and waste management (B7) – continued</a:t>
            </a:r>
          </a:p>
        </p:txBody>
      </p:sp>
      <p:graphicFrame>
        <p:nvGraphicFramePr>
          <p:cNvPr id="13" name="Table 12">
            <a:extLst>
              <a:ext uri="{FF2B5EF4-FFF2-40B4-BE49-F238E27FC236}">
                <a16:creationId xmlns:a16="http://schemas.microsoft.com/office/drawing/2014/main" id="{AE932BB9-32D4-19FC-5E73-EB89688D4CBF}"/>
              </a:ext>
            </a:extLst>
          </p:cNvPr>
          <p:cNvGraphicFramePr>
            <a:graphicFrameLocks noGrp="1"/>
          </p:cNvGraphicFramePr>
          <p:nvPr>
            <p:extLst>
              <p:ext uri="{D42A27DB-BD31-4B8C-83A1-F6EECF244321}">
                <p14:modId xmlns:p14="http://schemas.microsoft.com/office/powerpoint/2010/main" val="706275317"/>
              </p:ext>
            </p:extLst>
          </p:nvPr>
        </p:nvGraphicFramePr>
        <p:xfrm>
          <a:off x="411480" y="2279479"/>
          <a:ext cx="6596000" cy="1466696"/>
        </p:xfrm>
        <a:graphic>
          <a:graphicData uri="http://schemas.openxmlformats.org/drawingml/2006/table">
            <a:tbl>
              <a:tblPr firstRow="1">
                <a:tableStyleId>{2A488322-F2BA-4B5B-9748-0D474271808F}</a:tableStyleId>
              </a:tblPr>
              <a:tblGrid>
                <a:gridCol w="2044249">
                  <a:extLst>
                    <a:ext uri="{9D8B030D-6E8A-4147-A177-3AD203B41FA5}">
                      <a16:colId xmlns:a16="http://schemas.microsoft.com/office/drawing/2014/main" val="2698153288"/>
                    </a:ext>
                  </a:extLst>
                </a:gridCol>
                <a:gridCol w="2284259">
                  <a:extLst>
                    <a:ext uri="{9D8B030D-6E8A-4147-A177-3AD203B41FA5}">
                      <a16:colId xmlns:a16="http://schemas.microsoft.com/office/drawing/2014/main" val="2119413191"/>
                    </a:ext>
                  </a:extLst>
                </a:gridCol>
                <a:gridCol w="2267492">
                  <a:extLst>
                    <a:ext uri="{9D8B030D-6E8A-4147-A177-3AD203B41FA5}">
                      <a16:colId xmlns:a16="http://schemas.microsoft.com/office/drawing/2014/main" val="4075157689"/>
                    </a:ext>
                  </a:extLst>
                </a:gridCol>
              </a:tblGrid>
              <a:tr h="273819">
                <a:tc gridSpan="3">
                  <a:txBody>
                    <a:bodyPr/>
                    <a:lstStyle/>
                    <a:p>
                      <a:pPr algn="ctr"/>
                      <a:r>
                        <a:rPr lang="en-GB" sz="975" b="1" noProof="0">
                          <a:solidFill>
                            <a:schemeClr val="tx2"/>
                          </a:solidFill>
                        </a:rPr>
                        <a:t>Total annual waste generation</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sz="650" b="1">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lang="en-GB"/>
                    </a:p>
                  </a:txBody>
                  <a:tcPr/>
                </a:tc>
                <a:extLst>
                  <a:ext uri="{0D108BD9-81ED-4DB2-BD59-A6C34878D82A}">
                    <a16:rowId xmlns:a16="http://schemas.microsoft.com/office/drawing/2014/main" val="625231048"/>
                  </a:ext>
                </a:extLst>
              </a:tr>
              <a:tr h="286343">
                <a:tc>
                  <a:txBody>
                    <a:bodyPr/>
                    <a:lstStyle/>
                    <a:p>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Total waste generated </a:t>
                      </a:r>
                      <a:r>
                        <a:rPr lang="en-GB" sz="975" b="0" noProof="0">
                          <a:solidFill>
                            <a:schemeClr val="tx2"/>
                          </a:solidFill>
                        </a:rPr>
                        <a:t>(para. 39a)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Waste diverted to recycling or preparation for reuse </a:t>
                      </a:r>
                      <a:r>
                        <a:rPr lang="en-GB" sz="975" b="0" noProof="0">
                          <a:solidFill>
                            <a:schemeClr val="tx2"/>
                          </a:solidFill>
                        </a:rPr>
                        <a:t>(para. 39b)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4044">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Non-hazardous waste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3316940764"/>
                  </a:ext>
                </a:extLst>
              </a:tr>
              <a:tr h="194713">
                <a:tc>
                  <a:txBody>
                    <a:bodyPr/>
                    <a:lstStyle/>
                    <a:p>
                      <a:pPr rtl="0" fontAlgn="ctr" algn="l">
                        <a:buNone/>
                      </a:pPr>
                      <a:r>
                        <a:rPr lang="en-GB" sz="975" b="0" i="0" u="none" strike="noStrike" noProof="0">
                          <a:solidFill>
                            <a:srgbClr val="1B4528"/>
                          </a:solidFill>
                          <a:effectLst/>
                          <a:latin typeface="Inter"/>
                        </a:rPr>
                        <a:t>{{Type_af_affald}}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{{kg_tons_total}}</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a:solidFill>
                            <a:srgbClr val="1B4528"/>
                          </a:solidFill>
                          <a:effectLst/>
                          <a:latin typeface="Inter"/>
                        </a:rPr>
                        <a:t>{{genbrug_kg_tons}}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12229">
                <a:tc>
                  <a:txBody>
                    <a:bodyPr/>
                    <a:lstStyle/>
                    <a:p>
                      <a:r>
                        <a:rPr lang="en-GB" sz="975" b="1" noProof="0">
                          <a:solidFill>
                            <a:schemeClr val="tx2"/>
                          </a:solidFill>
                        </a:rPr>
                        <a:t>Hazardous waste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269942695"/>
                  </a:ext>
                </a:extLst>
              </a:tr>
              <a:tr h="194713">
                <a:tc>
                  <a:txBody>
                    <a:bodyPr/>
                    <a:lstStyle/>
                    <a:p>
                      <a:pPr rtl="0" fontAlgn="ctr" algn="l">
                        <a:buNone/>
                      </a:pPr>
                      <a:r>
                        <a:rPr lang="en-GB" sz="975" b="0" i="0" u="none" strike="noStrike" noProof="0">
                          <a:solidFill>
                            <a:srgbClr val="1B4528"/>
                          </a:solidFill>
                          <a:effectLst/>
                          <a:latin typeface="Inter"/>
                        </a:rPr>
                        <a:t>{{Type_af_affald_farlig}}</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{{farlig_kg_tons}}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rtl="0" fontAlgn="ctr" algn="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farlig_genbrug_kg_tons</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02232709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7</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12" name="Tekstfelt 11">
            <a:extLst>
              <a:ext uri="{FF2B5EF4-FFF2-40B4-BE49-F238E27FC236}">
                <a16:creationId xmlns:a16="http://schemas.microsoft.com/office/drawing/2014/main" id="{482E45A0-0E1E-550D-794B-89296A5D4E7E}"/>
              </a:ext>
            </a:extLst>
          </p:cNvPr>
          <p:cNvSpPr txBox="1"/>
          <p:nvPr/>
        </p:nvSpPr>
        <p:spPr>
          <a:xfrm>
            <a:off x="411480" y="1436370"/>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following section provides information on material use and waste management. The information relates to the circular economy and shows how the undertaking’s total annual waste generation (hazardous/non-hazardous) is broken down, and the amounts of significant materials are also stated. </a:t>
            </a:r>
            <a:endParaRPr lang="en-GB" sz="975" noProof="0">
              <a:solidFill>
                <a:schemeClr val="tx2"/>
              </a:solidFill>
              <a:latin typeface="Inter"/>
            </a:endParaRPr>
          </a:p>
        </p:txBody>
      </p:sp>
      <p:graphicFrame>
        <p:nvGraphicFramePr>
          <p:cNvPr id="15" name="Table 12">
            <a:extLst>
              <a:ext uri="{FF2B5EF4-FFF2-40B4-BE49-F238E27FC236}">
                <a16:creationId xmlns:a16="http://schemas.microsoft.com/office/drawing/2014/main" id="{D0A6EC25-74E1-FBFB-6875-6CDF69A95318}"/>
              </a:ext>
            </a:extLst>
          </p:cNvPr>
          <p:cNvGraphicFramePr>
            <a:graphicFrameLocks noGrp="1"/>
          </p:cNvGraphicFramePr>
          <p:nvPr>
            <p:extLst>
              <p:ext uri="{D42A27DB-BD31-4B8C-83A1-F6EECF244321}">
                <p14:modId xmlns:p14="http://schemas.microsoft.com/office/powerpoint/2010/main" val="3083849396"/>
              </p:ext>
            </p:extLst>
          </p:nvPr>
        </p:nvGraphicFramePr>
        <p:xfrm>
          <a:off x="423976" y="3974380"/>
          <a:ext cx="6583504" cy="741928"/>
        </p:xfrm>
        <a:graphic>
          <a:graphicData uri="http://schemas.openxmlformats.org/drawingml/2006/table">
            <a:tbl>
              <a:tblPr firstRow="1">
                <a:tableStyleId>{2A488322-F2BA-4B5B-9748-0D474271808F}</a:tableStyleId>
              </a:tblPr>
              <a:tblGrid>
                <a:gridCol w="4223962">
                  <a:extLst>
                    <a:ext uri="{9D8B030D-6E8A-4147-A177-3AD203B41FA5}">
                      <a16:colId xmlns:a16="http://schemas.microsoft.com/office/drawing/2014/main" val="2698153288"/>
                    </a:ext>
                  </a:extLst>
                </a:gridCol>
                <a:gridCol w="2359542">
                  <a:extLst>
                    <a:ext uri="{9D8B030D-6E8A-4147-A177-3AD203B41FA5}">
                      <a16:colId xmlns:a16="http://schemas.microsoft.com/office/drawing/2014/main" val="2119413191"/>
                    </a:ext>
                  </a:extLst>
                </a:gridCol>
              </a:tblGrid>
              <a:tr h="360553">
                <a:tc>
                  <a:txBody>
                    <a:bodyPr/>
                    <a:lstStyle/>
                    <a:p>
                      <a:r>
                        <a:rPr lang="en-GB" sz="975" b="1" noProof="0">
                          <a:solidFill>
                            <a:schemeClr val="tx2"/>
                          </a:solidFill>
                        </a:rPr>
                        <a:t>Significant materials </a:t>
                      </a:r>
                      <a:r>
                        <a:rPr lang="en-GB" sz="975" b="0" noProof="0">
                          <a:solidFill>
                            <a:schemeClr val="tx2"/>
                          </a:solidFill>
                        </a:rPr>
                        <a:t>(para. 39c)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l"/>
                      <a:r>
                        <a:rPr lang="en-GB" sz="975" b="1" noProof="0">
                          <a:solidFill>
                            <a:schemeClr val="tx2"/>
                          </a:solidFill>
                        </a:rPr>
                        <a:t>Annual mass-flow </a:t>
                      </a:r>
                      <a:r>
                        <a:rPr lang="en-GB" sz="975" b="1" noProof="0">
                          <a:solidFill>
                            <a:srgbClr val="1B4528"/>
                          </a:solidFill>
                        </a:rPr>
                        <a:t>{{insert_year}}</a:t>
                      </a: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81375">
                <a:tc>
                  <a:txBody>
                    <a:bodyPr/>
                    <a:lstStyle/>
                    <a:p>
                      <a:pPr algn="l"/>
                      <a:r>
                        <a:rPr lang="en-GB" sz="975" b="0" i="0" u="none" strike="noStrike" noProof="0">
                          <a:solidFill>
                            <a:srgbClr val="1B4528"/>
                          </a:solidFill>
                          <a:latin typeface="Inter"/>
                        </a:rPr>
                        <a:t>{{significant_material}}</a:t>
                      </a:r>
                      <a:endParaRPr lang="en-GB" sz="975" b="0" noProof="0">
                        <a:solidFill>
                          <a:srgbClr val="1B4528"/>
                        </a:solidFill>
                        <a:latin typeface="Inter"/>
                        <a:cs typeface="Calibri"/>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l">
                        <a:lnSpc>
                          <a:spcPct val="100000"/>
                        </a:lnSpc>
                        <a:spcBef>
                          <a:spcPts val="0"/>
                        </a:spcBef>
                        <a:spcAft>
                          <a:spcPts val="0"/>
                        </a:spcAft>
                        <a:buNone/>
                      </a:pPr>
                      <a:r>
                        <a:rPr lang="en-GB" sz="975" b="0" i="0" u="none" strike="noStrike" noProof="0" dirty="0">
                          <a:solidFill>
                            <a:srgbClr val="1B4528"/>
                          </a:solidFill>
                          <a:latin typeface="Inter"/>
                        </a:rPr>
                        <a:t>{{</a:t>
                      </a:r>
                      <a:r>
                        <a:rPr lang="en-GB" sz="975" b="0" i="0" u="none" strike="noStrike" noProof="0" dirty="0" err="1">
                          <a:solidFill>
                            <a:srgbClr val="1B4528"/>
                          </a:solidFill>
                          <a:latin typeface="Inter"/>
                        </a:rPr>
                        <a:t>significant_material_unit</a:t>
                      </a:r>
                      <a:r>
                        <a:rPr lang="en-GB" sz="975" b="0" i="0" u="none" strike="noStrike" noProof="0" dirty="0">
                          <a:solidFill>
                            <a:srgbClr val="1B4528"/>
                          </a:solidFill>
                          <a:latin typeface="Inter"/>
                        </a:rPr>
                        <a:t>}}</a:t>
                      </a:r>
                      <a:endParaRPr lang="en-GB" sz="975" b="0" i="0" u="none" strike="noStrike" noProof="0" dirty="0">
                        <a:solidFill>
                          <a:srgbClr val="000000"/>
                        </a:solidFill>
                        <a:latin typeface="Inter"/>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Tree>
    <p:extLst>
      <p:ext uri="{BB962C8B-B14F-4D97-AF65-F5344CB8AC3E}">
        <p14:creationId xmlns:p14="http://schemas.microsoft.com/office/powerpoint/2010/main" val="209650895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Own workforce: General characteristics (B8) </a:t>
            </a:r>
          </a:p>
        </p:txBody>
      </p:sp>
      <p:graphicFrame>
        <p:nvGraphicFramePr>
          <p:cNvPr id="8" name="Table 7">
            <a:extLst>
              <a:ext uri="{FF2B5EF4-FFF2-40B4-BE49-F238E27FC236}">
                <a16:creationId xmlns:a16="http://schemas.microsoft.com/office/drawing/2014/main" id="{CE6D2864-50B1-0967-9DFF-408DD8B377E5}"/>
              </a:ext>
            </a:extLst>
          </p:cNvPr>
          <p:cNvGraphicFramePr>
            <a:graphicFrameLocks noGrp="1"/>
          </p:cNvGraphicFramePr>
          <p:nvPr>
            <p:extLst>
              <p:ext uri="{D42A27DB-BD31-4B8C-83A1-F6EECF244321}">
                <p14:modId xmlns:p14="http://schemas.microsoft.com/office/powerpoint/2010/main" val="3894231013"/>
              </p:ext>
            </p:extLst>
          </p:nvPr>
        </p:nvGraphicFramePr>
        <p:xfrm>
          <a:off x="411480" y="2164682"/>
          <a:ext cx="3295368" cy="1720837"/>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71789">
                <a:tc>
                  <a:txBody>
                    <a:bodyPr/>
                    <a:lstStyle/>
                    <a:p>
                      <a:r>
                        <a:rPr lang="en-GB" sz="975" b="1" noProof="0">
                          <a:solidFill>
                            <a:schemeClr val="tx2"/>
                          </a:solidFill>
                        </a:rPr>
                        <a:t>Type of contract </a:t>
                      </a:r>
                      <a:r>
                        <a:rPr lang="en-GB" sz="975" b="0" noProof="0">
                          <a:solidFill>
                            <a:schemeClr val="tx2"/>
                          </a:solidFill>
                        </a:rPr>
                        <a:t>(para. 40a)</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79970">
                <a:tc>
                  <a:txBody>
                    <a:bodyPr/>
                    <a:lstStyle/>
                    <a:p>
                      <a:r>
                        <a:rPr lang="en-GB" sz="975" b="0" noProof="0">
                          <a:solidFill>
                            <a:schemeClr val="tx2"/>
                          </a:solidFill>
                        </a:rPr>
                        <a:t>Temporary employment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{{temporary}}</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389108">
                <a:tc>
                  <a:txBody>
                    <a:bodyPr/>
                    <a:lstStyle/>
                    <a:p>
                      <a:r>
                        <a:rPr lang="en-GB" sz="975" b="0" noProof="0">
                          <a:solidFill>
                            <a:schemeClr val="tx2"/>
                          </a:solidFill>
                        </a:rPr>
                        <a:t>Permanent employment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{{fulltime}}</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9970">
                <a:tc>
                  <a:txBody>
                    <a:bodyPr/>
                    <a:lstStyle/>
                    <a:p>
                      <a:r>
                        <a:rPr lang="en-GB" sz="975" b="0" noProof="0">
                          <a:solidFill>
                            <a:schemeClr val="tx2"/>
                          </a:solidFill>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{{total_employees}}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bl>
          </a:graphicData>
        </a:graphic>
      </p:graphicFrame>
      <p:graphicFrame>
        <p:nvGraphicFramePr>
          <p:cNvPr id="9" name="Table 8">
            <a:extLst>
              <a:ext uri="{FF2B5EF4-FFF2-40B4-BE49-F238E27FC236}">
                <a16:creationId xmlns:a16="http://schemas.microsoft.com/office/drawing/2014/main" id="{746843BE-938A-9316-3C8E-320134DF837C}"/>
              </a:ext>
            </a:extLst>
          </p:cNvPr>
          <p:cNvGraphicFramePr>
            <a:graphicFrameLocks noGrp="1"/>
          </p:cNvGraphicFramePr>
          <p:nvPr>
            <p:extLst>
              <p:ext uri="{D42A27DB-BD31-4B8C-83A1-F6EECF244321}">
                <p14:modId xmlns:p14="http://schemas.microsoft.com/office/powerpoint/2010/main" val="3482765489"/>
              </p:ext>
            </p:extLst>
          </p:nvPr>
        </p:nvGraphicFramePr>
        <p:xfrm>
          <a:off x="3853152" y="2164686"/>
          <a:ext cx="3295368" cy="1720833"/>
        </p:xfrm>
        <a:graphic>
          <a:graphicData uri="http://schemas.openxmlformats.org/drawingml/2006/table">
            <a:tbl>
              <a:tblPr firstRow="1">
                <a:tableStyleId>{2A488322-F2BA-4B5B-9748-0D474271808F}</a:tableStyleId>
              </a:tblPr>
              <a:tblGrid>
                <a:gridCol w="1647684">
                  <a:extLst>
                    <a:ext uri="{9D8B030D-6E8A-4147-A177-3AD203B41FA5}">
                      <a16:colId xmlns:a16="http://schemas.microsoft.com/office/drawing/2014/main" val="2698153288"/>
                    </a:ext>
                  </a:extLst>
                </a:gridCol>
                <a:gridCol w="1647684">
                  <a:extLst>
                    <a:ext uri="{9D8B030D-6E8A-4147-A177-3AD203B41FA5}">
                      <a16:colId xmlns:a16="http://schemas.microsoft.com/office/drawing/2014/main" val="2119413191"/>
                    </a:ext>
                  </a:extLst>
                </a:gridCol>
              </a:tblGrid>
              <a:tr h="520883">
                <a:tc>
                  <a:txBody>
                    <a:bodyPr/>
                    <a:lstStyle/>
                    <a:p>
                      <a:r>
                        <a:rPr lang="en-GB" sz="975" b="1" noProof="0">
                          <a:solidFill>
                            <a:schemeClr val="tx2"/>
                          </a:solidFill>
                          <a:latin typeface="+mn-lt"/>
                        </a:rPr>
                        <a:t>Gender</a:t>
                      </a:r>
                      <a:r>
                        <a:rPr lang="en-GB" sz="975" b="0" noProof="0">
                          <a:solidFill>
                            <a:schemeClr val="tx2"/>
                          </a:solidFill>
                          <a:latin typeface="+mn-lt"/>
                        </a:rPr>
                        <a:t> (para. 40b)</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latin typeface="+mn-lt"/>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n-GB" sz="975" b="0" noProof="0">
                          <a:solidFill>
                            <a:schemeClr val="tx2"/>
                          </a:solidFill>
                          <a:latin typeface="+mn-lt"/>
                        </a:rPr>
                        <a:t>Male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{{men}}</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n-GB" sz="975" b="0" noProof="0">
                          <a:solidFill>
                            <a:schemeClr val="tx2"/>
                          </a:solidFill>
                          <a:latin typeface="+mn-lt"/>
                        </a:rPr>
                        <a:t>Female</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{{women}}</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91813939"/>
                  </a:ext>
                </a:extLst>
              </a:tr>
              <a:tr h="239990">
                <a:tc>
                  <a:txBody>
                    <a:bodyPr/>
                    <a:lstStyle/>
                    <a:p>
                      <a:r>
                        <a:rPr lang="en-GB" sz="975" b="0" noProof="0">
                          <a:solidFill>
                            <a:schemeClr val="tx2"/>
                          </a:solidFill>
                          <a:latin typeface="+mn-lt"/>
                        </a:rPr>
                        <a:t>Other</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{{others}}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r h="239990">
                <a:tc>
                  <a:txBody>
                    <a:bodyPr/>
                    <a:lstStyle/>
                    <a:p>
                      <a:r>
                        <a:rPr lang="en-GB" sz="975" b="0" noProof="0">
                          <a:solidFill>
                            <a:schemeClr val="tx2"/>
                          </a:solidFill>
                          <a:latin typeface="+mn-lt"/>
                        </a:rPr>
                        <a:t>Not recorded</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{{not_registeret}}</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151098499"/>
                  </a:ext>
                </a:extLst>
              </a:tr>
              <a:tr h="239990">
                <a:tc>
                  <a:txBody>
                    <a:bodyPr/>
                    <a:lstStyle/>
                    <a:p>
                      <a:r>
                        <a:rPr lang="en-GB" sz="975" b="0" noProof="0">
                          <a:solidFill>
                            <a:schemeClr val="tx2"/>
                          </a:solidFill>
                          <a:latin typeface="+mn-lt"/>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{{total_employees}}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41900251"/>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8</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sp>
        <p:nvSpPr>
          <p:cNvPr id="3" name="Tekstfelt 2">
            <a:extLst>
              <a:ext uri="{FF2B5EF4-FFF2-40B4-BE49-F238E27FC236}">
                <a16:creationId xmlns:a16="http://schemas.microsoft.com/office/drawing/2014/main" id="{B45D574B-3D14-8531-DB71-2FD2A411CD63}"/>
              </a:ext>
            </a:extLst>
          </p:cNvPr>
          <p:cNvSpPr txBox="1"/>
          <p:nvPr/>
        </p:nvSpPr>
        <p:spPr>
          <a:xfrm>
            <a:off x="411480" y="1189771"/>
            <a:ext cx="6737040" cy="692470"/>
          </a:xfrm>
          <a:prstGeom prst="rect">
            <a:avLst/>
          </a:prstGeom>
          <a:noFill/>
        </p:spPr>
        <p:txBody>
          <a:bodyPr wrap="square">
            <a:spAutoFit/>
          </a:bodyPr>
          <a:lstStyle/>
          <a:p>
            <a:pPr rtl="0">
              <a:buNone/>
            </a:pPr>
            <a:r>
              <a:rPr lang="en-GB" sz="975" b="0" i="0" u="none" strike="noStrike" noProof="0">
                <a:solidFill>
                  <a:srgbClr val="25595D"/>
                </a:solidFill>
                <a:effectLst/>
                <a:latin typeface="Inter"/>
              </a:rPr>
              <a:t>The undertaking has disclosed the number of employees for the following breakdowns: type of employment contract, where employees are divided into temporary and permanent contracts; gender, which provides insight into the gender distribution among employees; and country of the employment contract, which is relevant if the undertaking operates in more than one country.</a:t>
            </a:r>
            <a:endParaRPr lang="en-GB" sz="975" b="0" noProof="0">
              <a:effectLst/>
              <a:latin typeface="Inter"/>
            </a:endParaRPr>
          </a:p>
          <a:p>
            <a:pPr>
              <a:buNone/>
            </a:pPr>
            <a:br>
              <a:rPr lang="en-GB" sz="975" noProof="0">
                <a:latin typeface="Inter"/>
              </a:rPr>
            </a:br>
            <a:endParaRPr lang="en-GB" sz="975" noProof="0">
              <a:latin typeface="Inter"/>
            </a:endParaRPr>
          </a:p>
        </p:txBody>
      </p:sp>
      <p:graphicFrame>
        <p:nvGraphicFramePr>
          <p:cNvPr id="13" name="Table 13">
            <a:extLst>
              <a:ext uri="{FF2B5EF4-FFF2-40B4-BE49-F238E27FC236}">
                <a16:creationId xmlns:a16="http://schemas.microsoft.com/office/drawing/2014/main" id="{42F1F305-B426-7DDF-1FC3-46007564CD01}"/>
              </a:ext>
            </a:extLst>
          </p:cNvPr>
          <p:cNvGraphicFramePr>
            <a:graphicFrameLocks noGrp="1"/>
          </p:cNvGraphicFramePr>
          <p:nvPr>
            <p:extLst>
              <p:ext uri="{D42A27DB-BD31-4B8C-83A1-F6EECF244321}">
                <p14:modId xmlns:p14="http://schemas.microsoft.com/office/powerpoint/2010/main" val="2261046685"/>
              </p:ext>
            </p:extLst>
          </p:nvPr>
        </p:nvGraphicFramePr>
        <p:xfrm>
          <a:off x="411480" y="4271445"/>
          <a:ext cx="6737040" cy="1053148"/>
        </p:xfrm>
        <a:graphic>
          <a:graphicData uri="http://schemas.openxmlformats.org/drawingml/2006/table">
            <a:tbl>
              <a:tblPr firstRow="1">
                <a:tableStyleId>{2A488322-F2BA-4B5B-9748-0D474271808F}</a:tableStyleId>
              </a:tblPr>
              <a:tblGrid>
                <a:gridCol w="3601465">
                  <a:extLst>
                    <a:ext uri="{9D8B030D-6E8A-4147-A177-3AD203B41FA5}">
                      <a16:colId xmlns:a16="http://schemas.microsoft.com/office/drawing/2014/main" val="2698153288"/>
                    </a:ext>
                  </a:extLst>
                </a:gridCol>
                <a:gridCol w="3135575">
                  <a:extLst>
                    <a:ext uri="{9D8B030D-6E8A-4147-A177-3AD203B41FA5}">
                      <a16:colId xmlns:a16="http://schemas.microsoft.com/office/drawing/2014/main" val="2119413191"/>
                    </a:ext>
                  </a:extLst>
                </a:gridCol>
              </a:tblGrid>
              <a:tr h="239990">
                <a:tc>
                  <a:txBody>
                    <a:bodyPr/>
                    <a:lstStyle/>
                    <a:p>
                      <a:r>
                        <a:rPr lang="en-GB" sz="975" b="1" noProof="0">
                          <a:solidFill>
                            <a:schemeClr val="tx2"/>
                          </a:solidFill>
                        </a:rPr>
                        <a:t>Country (where the employment contract was concluded) </a:t>
                      </a:r>
                      <a:r>
                        <a:rPr lang="en-GB" sz="975" b="0" noProof="0">
                          <a:solidFill>
                            <a:schemeClr val="tx2"/>
                          </a:solidFill>
                        </a:rPr>
                        <a:t>(para. 40c)</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rPr>
                        <a:t>Number of employees (headcount or full-time equivalents)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a:txBody>
                    <a:bodyPr/>
                    <a:lstStyle/>
                    <a:p>
                      <a:r>
                        <a:rPr lang="en-GB" sz="975" b="0" noProof="0">
                          <a:solidFill>
                            <a:schemeClr val="tx2"/>
                          </a:solidFill>
                        </a:rPr>
                        <a:t>Denmark</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975" b="0" i="0" u="none" strike="noStrike" noProof="0">
                          <a:solidFill>
                            <a:srgbClr val="1B4528"/>
                          </a:solidFill>
                          <a:effectLst/>
                          <a:latin typeface="Inter"/>
                        </a:rPr>
                        <a:t>{{Denmark}}</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r h="239990">
                <a:tc>
                  <a:txBody>
                    <a:bodyPr/>
                    <a:lstStyle/>
                    <a:p>
                      <a:pPr rtl="0" fontAlgn="ctr" algn="l">
                        <a:buNone/>
                      </a:pPr>
                      <a:r>
                        <a:rPr lang="en-GB" sz="975" b="0" i="0" u="none" strike="noStrike" noProof="0">
                          <a:solidFill>
                            <a:srgbClr val="1B4528"/>
                          </a:solidFill>
                          <a:effectLst/>
                          <a:latin typeface="Inter"/>
                        </a:rPr>
                        <a:t>{{Land_b}}</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rtl="0" fontAlgn="ctr" algn="r">
                        <a:buNone/>
                      </a:pPr>
                      <a:r>
                        <a:rPr lang="en-GB" sz="975" b="0" i="0" u="none" strike="noStrike" noProof="0">
                          <a:solidFill>
                            <a:srgbClr val="1B4528"/>
                          </a:solidFill>
                          <a:effectLst/>
                          <a:latin typeface="Inter"/>
                        </a:rPr>
                        <a:t>{{</a:t>
                      </a:r>
                      <a:r>
                        <a:rPr lang="en-GB" sz="975" b="0" i="0" u="none" strike="noStrike" noProof="0">
                          <a:solidFill>
                            <a:srgbClr val="1B4528"/>
                          </a:solidFill>
                          <a:effectLst/>
                        </a:rPr>
                        <a:t>FTE_eller_antal_personer_land_b</a:t>
                      </a:r>
                      <a:r>
                        <a:rPr lang="en-GB" sz="975" b="0" i="0" u="none" strike="noStrike" noProof="0">
                          <a:solidFill>
                            <a:srgbClr val="1B4528"/>
                          </a:solidFill>
                          <a:effectLst/>
                          <a:latin typeface="Inter"/>
                        </a:rPr>
                        <a:t>}}</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n-GB" sz="975" b="0" noProof="0">
                          <a:solidFill>
                            <a:schemeClr val="tx2"/>
                          </a:solidFill>
                        </a:rPr>
                        <a:t>Total number of employees</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nter"/>
                        </a:rPr>
                        <a:t>{{Total_out_of_countries}}</a:t>
                      </a:r>
                      <a:endParaRPr lang="en-GB" sz="975" b="0" noProof="0">
                        <a:effectLst/>
                      </a:endParaRPr>
                    </a:p>
                  </a:txBody>
                  <a:tcPr marL="21166" marR="21166"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495992891"/>
                  </a:ext>
                </a:extLst>
              </a:tr>
            </a:tbl>
          </a:graphicData>
        </a:graphic>
      </p:graphicFrame>
      <p:sp>
        <p:nvSpPr>
          <p:cNvPr id="2" name="Title 3">
            <a:extLst>
              <a:ext uri="{FF2B5EF4-FFF2-40B4-BE49-F238E27FC236}">
                <a16:creationId xmlns:a16="http://schemas.microsoft.com/office/drawing/2014/main" id="{24772E10-4DDD-1F7B-7401-B85CC016A6A5}"/>
              </a:ext>
            </a:extLst>
          </p:cNvPr>
          <p:cNvSpPr txBox="1">
            <a:spLocks/>
          </p:cNvSpPr>
          <p:nvPr/>
        </p:nvSpPr>
        <p:spPr>
          <a:xfrm>
            <a:off x="423976" y="5693490"/>
            <a:ext cx="6583504"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t>Own workforce: Remuneration, collective bargaining and training (B10)</a:t>
            </a:r>
            <a:endParaRPr lang="en-GB" dirty="0"/>
          </a:p>
        </p:txBody>
      </p:sp>
      <p:graphicFrame>
        <p:nvGraphicFramePr>
          <p:cNvPr id="7" name="Table 14">
            <a:extLst>
              <a:ext uri="{FF2B5EF4-FFF2-40B4-BE49-F238E27FC236}">
                <a16:creationId xmlns:a16="http://schemas.microsoft.com/office/drawing/2014/main" id="{0C7C0513-162A-A2C4-1F7F-C0CD906CAB1F}"/>
              </a:ext>
            </a:extLst>
          </p:cNvPr>
          <p:cNvGraphicFramePr>
            <a:graphicFrameLocks noGrp="1"/>
          </p:cNvGraphicFramePr>
          <p:nvPr>
            <p:extLst>
              <p:ext uri="{D42A27DB-BD31-4B8C-83A1-F6EECF244321}">
                <p14:modId xmlns:p14="http://schemas.microsoft.com/office/powerpoint/2010/main" val="4145423573"/>
              </p:ext>
            </p:extLst>
          </p:nvPr>
        </p:nvGraphicFramePr>
        <p:xfrm>
          <a:off x="3853152" y="6867207"/>
          <a:ext cx="3295368" cy="1078323"/>
        </p:xfrm>
        <a:graphic>
          <a:graphicData uri="http://schemas.openxmlformats.org/drawingml/2006/table">
            <a:tbl>
              <a:tblPr firstRow="1">
                <a:tableStyleId>{2A488322-F2BA-4B5B-9748-0D474271808F}</a:tableStyleId>
              </a:tblPr>
              <a:tblGrid>
                <a:gridCol w="2292985">
                  <a:extLst>
                    <a:ext uri="{9D8B030D-6E8A-4147-A177-3AD203B41FA5}">
                      <a16:colId xmlns:a16="http://schemas.microsoft.com/office/drawing/2014/main" val="2698153288"/>
                    </a:ext>
                  </a:extLst>
                </a:gridCol>
                <a:gridCol w="1002383">
                  <a:extLst>
                    <a:ext uri="{9D8B030D-6E8A-4147-A177-3AD203B41FA5}">
                      <a16:colId xmlns:a16="http://schemas.microsoft.com/office/drawing/2014/main" val="2119413191"/>
                    </a:ext>
                  </a:extLst>
                </a:gridCol>
              </a:tblGrid>
              <a:tr h="480852">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dirty="0">
                          <a:solidFill>
                            <a:schemeClr val="tx2"/>
                          </a:solidFill>
                        </a:rPr>
                        <a:t>Pay gap between male and female employees </a:t>
                      </a:r>
                      <a:r>
                        <a:rPr lang="en-GB" sz="975" b="0" noProof="0" dirty="0">
                          <a:solidFill>
                            <a:schemeClr val="tx2"/>
                          </a:solidFill>
                        </a:rPr>
                        <a:t>(para. 42b)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Year</a:t>
                      </a:r>
                      <a:r>
                        <a:rPr lang="en-GB" sz="975" b="1" noProof="0">
                          <a:solidFill>
                            <a:srgbClr val="1B4528"/>
                          </a:solidFill>
                          <a:latin typeface="Calibri" panose="020F0502020204030204" pitchFamily="34" charset="0"/>
                          <a:cs typeface="Calibri" panose="020F0502020204030204" pitchFamily="34" charset="0"/>
                        </a:rPr>
                        <a:t> </a:t>
                      </a:r>
                      <a:r>
                        <a:rPr lang="en-GB" sz="975" b="1" noProof="0">
                          <a:solidFill>
                            <a:srgbClr val="1B4528"/>
                          </a:solidFill>
                        </a:rPr>
                        <a:t>{{insert_year}}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97470">
                <a:tc v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a:r>
                        <a:rPr lang="en-GB" sz="975" b="0" noProof="0" dirty="0">
                          <a:solidFill>
                            <a:srgbClr val="1B4528"/>
                          </a:solidFill>
                        </a:rPr>
                        <a:t>{{</a:t>
                      </a:r>
                      <a:r>
                        <a:rPr lang="en-GB" sz="975" b="0" noProof="0" dirty="0" err="1">
                          <a:solidFill>
                            <a:srgbClr val="1B4528"/>
                          </a:solidFill>
                        </a:rPr>
                        <a:t>indsat_procentvise_lonforskel</a:t>
                      </a:r>
                      <a:r>
                        <a:rPr lang="en-GB" sz="975" b="0" noProof="0" dirty="0">
                          <a:solidFill>
                            <a:srgbClr val="1B4528"/>
                          </a:solidFill>
                        </a:rPr>
                        <a:t>}}</a:t>
                      </a:r>
                    </a:p>
                  </a:txBody>
                  <a:tcPr marL="29999" marR="29999"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0" name="Tabel 9">
            <a:extLst>
              <a:ext uri="{FF2B5EF4-FFF2-40B4-BE49-F238E27FC236}">
                <a16:creationId xmlns:a16="http://schemas.microsoft.com/office/drawing/2014/main" id="{84CAF6AE-5821-23BB-F517-5C5C31B0641F}"/>
              </a:ext>
            </a:extLst>
          </p:cNvPr>
          <p:cNvGraphicFramePr>
            <a:graphicFrameLocks noGrp="1"/>
          </p:cNvGraphicFramePr>
          <p:nvPr>
            <p:extLst>
              <p:ext uri="{D42A27DB-BD31-4B8C-83A1-F6EECF244321}">
                <p14:modId xmlns:p14="http://schemas.microsoft.com/office/powerpoint/2010/main" val="3609318665"/>
              </p:ext>
            </p:extLst>
          </p:nvPr>
        </p:nvGraphicFramePr>
        <p:xfrm>
          <a:off x="411480" y="6867210"/>
          <a:ext cx="3295368" cy="1078320"/>
        </p:xfrm>
        <a:graphic>
          <a:graphicData uri="http://schemas.openxmlformats.org/drawingml/2006/table">
            <a:tbl>
              <a:tblPr firstRow="1">
                <a:tableStyleId>{2A488322-F2BA-4B5B-9748-0D474271808F}</a:tableStyleId>
              </a:tblPr>
              <a:tblGrid>
                <a:gridCol w="1807924">
                  <a:extLst>
                    <a:ext uri="{9D8B030D-6E8A-4147-A177-3AD203B41FA5}">
                      <a16:colId xmlns:a16="http://schemas.microsoft.com/office/drawing/2014/main" val="160727125"/>
                    </a:ext>
                  </a:extLst>
                </a:gridCol>
                <a:gridCol w="762792">
                  <a:extLst>
                    <a:ext uri="{9D8B030D-6E8A-4147-A177-3AD203B41FA5}">
                      <a16:colId xmlns:a16="http://schemas.microsoft.com/office/drawing/2014/main" val="1767985329"/>
                    </a:ext>
                  </a:extLst>
                </a:gridCol>
                <a:gridCol w="724652">
                  <a:extLst>
                    <a:ext uri="{9D8B030D-6E8A-4147-A177-3AD203B41FA5}">
                      <a16:colId xmlns:a16="http://schemas.microsoft.com/office/drawing/2014/main" val="1397164534"/>
                    </a:ext>
                  </a:extLst>
                </a:gridCol>
              </a:tblGrid>
              <a:tr h="392947">
                <a:tc>
                  <a:txBody>
                    <a:bodyPr/>
                    <a:lstStyle/>
                    <a:p>
                      <a:r>
                        <a:rPr lang="en-GB" sz="975" b="1" noProof="0">
                          <a:solidFill>
                            <a:schemeClr val="tx2"/>
                          </a:solidFill>
                        </a:rPr>
                        <a:t>Information on minimum wage </a:t>
                      </a:r>
                      <a:r>
                        <a:rPr lang="en-GB" sz="975" b="0" noProof="0">
                          <a:solidFill>
                            <a:schemeClr val="tx2"/>
                          </a:solidFill>
                        </a:rPr>
                        <a:t>(42a)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Yes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No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4203607533"/>
                  </a:ext>
                </a:extLst>
              </a:tr>
              <a:tr h="685373">
                <a:tc>
                  <a:txBody>
                    <a:bodyPr/>
                    <a:lstStyle/>
                    <a:p>
                      <a:r>
                        <a:rPr lang="en-GB" sz="975" b="0" noProof="0">
                          <a:solidFill>
                            <a:schemeClr val="tx2"/>
                          </a:solidFill>
                        </a:rPr>
                        <a:t>In the undertaking, all employees receive pay that is at least equal to the minimum wage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{{minumum_wage_yes?}}</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975" b="0" i="0" u="none" strike="noStrike" noProof="0">
                          <a:solidFill>
                            <a:srgbClr val="1B4528"/>
                          </a:solidFill>
                          <a:effectLst/>
                          <a:latin typeface="Inter"/>
                        </a:rPr>
                        <a:t>{{minimum_wage_no?}}</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393907362"/>
                  </a:ext>
                </a:extLst>
              </a:tr>
            </a:tbl>
          </a:graphicData>
        </a:graphic>
      </p:graphicFrame>
      <p:graphicFrame>
        <p:nvGraphicFramePr>
          <p:cNvPr id="11" name="Table 16">
            <a:extLst>
              <a:ext uri="{FF2B5EF4-FFF2-40B4-BE49-F238E27FC236}">
                <a16:creationId xmlns:a16="http://schemas.microsoft.com/office/drawing/2014/main" id="{38A9DB6D-6A2A-85D4-0695-C590EC6B32FF}"/>
              </a:ext>
            </a:extLst>
          </p:cNvPr>
          <p:cNvGraphicFramePr>
            <a:graphicFrameLocks noGrp="1"/>
          </p:cNvGraphicFramePr>
          <p:nvPr>
            <p:extLst>
              <p:ext uri="{D42A27DB-BD31-4B8C-83A1-F6EECF244321}">
                <p14:modId xmlns:p14="http://schemas.microsoft.com/office/powerpoint/2010/main" val="1361838199"/>
              </p:ext>
            </p:extLst>
          </p:nvPr>
        </p:nvGraphicFramePr>
        <p:xfrm>
          <a:off x="411480" y="8226419"/>
          <a:ext cx="3295368" cy="965966"/>
        </p:xfrm>
        <a:graphic>
          <a:graphicData uri="http://schemas.openxmlformats.org/drawingml/2006/table">
            <a:tbl>
              <a:tblPr firstRow="1">
                <a:tableStyleId>{2A488322-F2BA-4B5B-9748-0D474271808F}</a:tableStyleId>
              </a:tblPr>
              <a:tblGrid>
                <a:gridCol w="1821125">
                  <a:extLst>
                    <a:ext uri="{9D8B030D-6E8A-4147-A177-3AD203B41FA5}">
                      <a16:colId xmlns:a16="http://schemas.microsoft.com/office/drawing/2014/main" val="81046444"/>
                    </a:ext>
                  </a:extLst>
                </a:gridCol>
                <a:gridCol w="1474243">
                  <a:extLst>
                    <a:ext uri="{9D8B030D-6E8A-4147-A177-3AD203B41FA5}">
                      <a16:colId xmlns:a16="http://schemas.microsoft.com/office/drawing/2014/main" val="2119413191"/>
                    </a:ext>
                  </a:extLst>
                </a:gridCol>
              </a:tblGrid>
              <a:tr h="454221">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Collective bargaining agreement </a:t>
                      </a:r>
                      <a:r>
                        <a:rPr lang="en-GB" sz="975" b="0" noProof="0">
                          <a:solidFill>
                            <a:schemeClr val="tx2"/>
                          </a:solidFill>
                        </a:rPr>
                        <a:t>(para. 42c)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Year</a:t>
                      </a:r>
                      <a:r>
                        <a:rPr lang="en-GB" sz="975" b="1" noProof="0">
                          <a:solidFill>
                            <a:srgbClr val="1B4528"/>
                          </a:solidFill>
                          <a:latin typeface="Calibri" panose="020F0502020204030204" pitchFamily="34" charset="0"/>
                          <a:cs typeface="Calibri" panose="020F0502020204030204" pitchFamily="34" charset="0"/>
                        </a:rPr>
                        <a:t> {{insert_year}}</a:t>
                      </a:r>
                      <a:endParaRPr lang="en-GB" sz="975" b="1"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1745">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0" noProof="0">
                          <a:solidFill>
                            <a:schemeClr val="tx2"/>
                          </a:solidFill>
                        </a:rPr>
                        <a:t>Percentage of employees covered by a collective bargaining agreement</a:t>
                      </a:r>
                      <a:endParaRPr kumimoji="0" lang="en-GB" sz="975" b="0" i="0" u="none" strike="noStrike" kern="1200" cap="none" spc="0" normalizeH="0" baseline="0" noProof="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kumimoji="0" lang="en-GB" sz="975" b="0" i="0" u="none" strike="noStrike" kern="1200" cap="none" spc="0" normalizeH="0" baseline="0" noProof="0">
                          <a:ln>
                            <a:noFill/>
                          </a:ln>
                          <a:solidFill>
                            <a:srgbClr val="1B4528"/>
                          </a:solidFill>
                          <a:effectLst/>
                          <a:uLnTx/>
                          <a:uFillTx/>
                          <a:latin typeface="+mn-lt"/>
                          <a:ea typeface="+mn-ea"/>
                          <a:cs typeface="+mn-cs"/>
                        </a:rPr>
                        <a:t>{{indsat_procentvis_ansatte}}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graphicFrame>
        <p:nvGraphicFramePr>
          <p:cNvPr id="12" name="Table 19">
            <a:extLst>
              <a:ext uri="{FF2B5EF4-FFF2-40B4-BE49-F238E27FC236}">
                <a16:creationId xmlns:a16="http://schemas.microsoft.com/office/drawing/2014/main" id="{2EC4274B-57F6-8036-8EA2-C2FF27F03BD7}"/>
              </a:ext>
            </a:extLst>
          </p:cNvPr>
          <p:cNvGraphicFramePr>
            <a:graphicFrameLocks noGrp="1"/>
          </p:cNvGraphicFramePr>
          <p:nvPr>
            <p:extLst>
              <p:ext uri="{D42A27DB-BD31-4B8C-83A1-F6EECF244321}">
                <p14:modId xmlns:p14="http://schemas.microsoft.com/office/powerpoint/2010/main" val="325568891"/>
              </p:ext>
            </p:extLst>
          </p:nvPr>
        </p:nvGraphicFramePr>
        <p:xfrm>
          <a:off x="3853152" y="8226417"/>
          <a:ext cx="3295368" cy="965968"/>
        </p:xfrm>
        <a:graphic>
          <a:graphicData uri="http://schemas.openxmlformats.org/drawingml/2006/table">
            <a:tbl>
              <a:tblPr firstRow="1">
                <a:tableStyleId>{2A488322-F2BA-4B5B-9748-0D474271808F}</a:tableStyleId>
              </a:tblPr>
              <a:tblGrid>
                <a:gridCol w="2294254">
                  <a:extLst>
                    <a:ext uri="{9D8B030D-6E8A-4147-A177-3AD203B41FA5}">
                      <a16:colId xmlns:a16="http://schemas.microsoft.com/office/drawing/2014/main" val="2698153288"/>
                    </a:ext>
                  </a:extLst>
                </a:gridCol>
                <a:gridCol w="1001114">
                  <a:extLst>
                    <a:ext uri="{9D8B030D-6E8A-4147-A177-3AD203B41FA5}">
                      <a16:colId xmlns:a16="http://schemas.microsoft.com/office/drawing/2014/main" val="2119413191"/>
                    </a:ext>
                  </a:extLst>
                </a:gridCol>
              </a:tblGrid>
              <a:tr h="447560">
                <a:tc>
                  <a:txBody>
                    <a:bodyPr/>
                    <a:lstStyle/>
                    <a:p>
                      <a:r>
                        <a:rPr lang="en-GB" sz="975" b="1" noProof="0">
                          <a:solidFill>
                            <a:schemeClr val="tx2"/>
                          </a:solidFill>
                        </a:rPr>
                        <a:t>Average training hours per employee </a:t>
                      </a:r>
                      <a:r>
                        <a:rPr lang="en-GB" sz="975" b="0" noProof="0">
                          <a:solidFill>
                            <a:schemeClr val="tx2"/>
                          </a:solidFill>
                        </a:rPr>
                        <a:t>(para. 42d)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Year</a:t>
                      </a:r>
                      <a:r>
                        <a:rPr lang="en-GB" sz="975" b="1" noProof="0">
                          <a:solidFill>
                            <a:srgbClr val="1B4528"/>
                          </a:solidFill>
                          <a:latin typeface="Calibri"/>
                          <a:cs typeface="Calibri"/>
                        </a:rPr>
                        <a:t> {{insert_year}}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518408">
                <a:tc>
                  <a:txBody>
                    <a:bodyPr/>
                    <a:lstStyle/>
                    <a:p>
                      <a:r>
                        <a:rPr lang="en-GB" sz="975" b="0" noProof="0" dirty="0">
                          <a:solidFill>
                            <a:schemeClr val="tx2"/>
                          </a:solidFill>
                        </a:rPr>
                        <a:t>Hour(s) per employee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gennemsnitstimer</a:t>
                      </a:r>
                      <a:r>
                        <a:rPr lang="en-GB" sz="975" b="0" i="0" u="none" strike="noStrike" noProof="0" dirty="0">
                          <a:solidFill>
                            <a:srgbClr val="1B4528"/>
                          </a:solidFill>
                          <a:effectLst/>
                          <a:latin typeface="Inter"/>
                        </a:rPr>
                        <a:t>}}</a:t>
                      </a:r>
                      <a:endParaRPr lang="en-GB" sz="975" b="0" noProof="0" dirty="0">
                        <a:effectLst/>
                      </a:endParaRPr>
                    </a:p>
                  </a:txBody>
                  <a:tcPr marL="15874" marR="15874"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4100585068"/>
                  </a:ext>
                </a:extLst>
              </a:tr>
            </a:tbl>
          </a:graphicData>
        </a:graphic>
      </p:graphicFrame>
      <p:sp>
        <p:nvSpPr>
          <p:cNvPr id="14" name="Tekstfelt 13">
            <a:extLst>
              <a:ext uri="{FF2B5EF4-FFF2-40B4-BE49-F238E27FC236}">
                <a16:creationId xmlns:a16="http://schemas.microsoft.com/office/drawing/2014/main" id="{91C95227-E2BB-1C05-1C40-EB20A1C1BCA2}"/>
              </a:ext>
            </a:extLst>
          </p:cNvPr>
          <p:cNvSpPr txBox="1"/>
          <p:nvPr/>
        </p:nvSpPr>
        <p:spPr>
          <a:xfrm>
            <a:off x="411480" y="6050028"/>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disclosed information on the minimum wage and has stated the percentage of employees covered by collective bargaining agreements and the average number of annual training hours per employee, broken down by gender. If the undertaking is already required under EU legislation 8 or other national provisions to report the percentage pay gap between its female and male employees, it shall disclose this.</a:t>
            </a:r>
          </a:p>
          <a:p>
            <a:pPr>
              <a:buNone/>
            </a:pPr>
            <a:br>
              <a:rPr lang="en-GB" sz="975" noProof="0">
                <a:solidFill>
                  <a:schemeClr val="tx2"/>
                </a:solidFill>
                <a:latin typeface="Inter"/>
              </a:rPr>
            </a:br>
            <a:endParaRPr lang="en-GB" sz="975" noProof="0">
              <a:solidFill>
                <a:schemeClr val="tx2"/>
              </a:solidFill>
              <a:latin typeface="Inter"/>
            </a:endParaRPr>
          </a:p>
        </p:txBody>
      </p:sp>
    </p:spTree>
    <p:extLst>
      <p:ext uri="{BB962C8B-B14F-4D97-AF65-F5344CB8AC3E}">
        <p14:creationId xmlns:p14="http://schemas.microsoft.com/office/powerpoint/2010/main" val="22989718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p:txBody>
          <a:bodyPr/>
          <a:lstStyle/>
          <a:p>
            <a:r>
              <a:rPr lang="en-GB" noProof="0"/>
              <a:t>Business conduct: Number of convictions and fines related to corruption &amp; bribery (B11) </a:t>
            </a:r>
          </a:p>
        </p:txBody>
      </p:sp>
      <p:graphicFrame>
        <p:nvGraphicFramePr>
          <p:cNvPr id="22" name="Table 21">
            <a:extLst>
              <a:ext uri="{FF2B5EF4-FFF2-40B4-BE49-F238E27FC236}">
                <a16:creationId xmlns:a16="http://schemas.microsoft.com/office/drawing/2014/main" id="{AF65586E-0EF1-899A-1FCC-C083408ADE09}"/>
              </a:ext>
            </a:extLst>
          </p:cNvPr>
          <p:cNvGraphicFramePr>
            <a:graphicFrameLocks noGrp="1"/>
          </p:cNvGraphicFramePr>
          <p:nvPr>
            <p:extLst>
              <p:ext uri="{D42A27DB-BD31-4B8C-83A1-F6EECF244321}">
                <p14:modId xmlns:p14="http://schemas.microsoft.com/office/powerpoint/2010/main" val="2655272026"/>
              </p:ext>
            </p:extLst>
          </p:nvPr>
        </p:nvGraphicFramePr>
        <p:xfrm>
          <a:off x="411480" y="2556047"/>
          <a:ext cx="6737040" cy="509980"/>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2698153288"/>
                    </a:ext>
                  </a:extLst>
                </a:gridCol>
                <a:gridCol w="2245680">
                  <a:extLst>
                    <a:ext uri="{9D8B030D-6E8A-4147-A177-3AD203B41FA5}">
                      <a16:colId xmlns:a16="http://schemas.microsoft.com/office/drawing/2014/main" val="2119413191"/>
                    </a:ext>
                  </a:extLst>
                </a:gridCol>
                <a:gridCol w="2245680">
                  <a:extLst>
                    <a:ext uri="{9D8B030D-6E8A-4147-A177-3AD203B41FA5}">
                      <a16:colId xmlns:a16="http://schemas.microsoft.com/office/drawing/2014/main" val="1502960985"/>
                    </a:ext>
                  </a:extLst>
                </a:gridCol>
              </a:tblGrid>
              <a:tr h="254990">
                <a:tc rowSpan="2">
                  <a:txBody>
                    <a:bodyPr/>
                    <a:lstStyle/>
                    <a:p>
                      <a:r>
                        <a:rPr lang="en-GB" sz="975" b="1" noProof="0">
                          <a:solidFill>
                            <a:schemeClr val="tx2"/>
                          </a:solidFill>
                        </a:rPr>
                        <a:t>Corruption and bribery </a:t>
                      </a:r>
                      <a:r>
                        <a:rPr lang="en-GB" sz="975" b="0" noProof="0">
                          <a:solidFill>
                            <a:schemeClr val="tx2"/>
                          </a:solidFill>
                        </a:rPr>
                        <a:t>(para. 43)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ctr"/>
                      <a:r>
                        <a:rPr lang="en-GB" sz="975" b="1" noProof="0">
                          <a:solidFill>
                            <a:schemeClr val="tx2"/>
                          </a:solidFill>
                        </a:rPr>
                        <a:t>Number of convictions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ctr"/>
                      <a:r>
                        <a:rPr lang="en-GB" sz="975" b="1" noProof="0">
                          <a:solidFill>
                            <a:schemeClr val="tx2"/>
                          </a:solidFill>
                        </a:rPr>
                        <a:t>Total amount of fines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54990">
                <a:tc vMerge="1">
                  <a:txBody>
                    <a:bodyPr/>
                    <a:lstStyle/>
                    <a:p>
                      <a:endParaRPr lang="en-GB" sz="725"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975" b="0" i="0" u="none" strike="noStrike" noProof="0">
                          <a:solidFill>
                            <a:srgbClr val="1B4528"/>
                          </a:solidFill>
                          <a:effectLst/>
                          <a:latin typeface="Inter"/>
                        </a:rPr>
                        <a:t>{{domme}}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tc>
                  <a:txBody>
                    <a:bodyPr/>
                    <a:lstStyle/>
                    <a:p>
                      <a:pPr algn="r" rtl="0" fontAlgn="ctr">
                        <a:buNone/>
                      </a:pPr>
                      <a:r>
                        <a:rPr lang="en-GB" sz="975" b="0" i="0" u="none" strike="noStrike" noProof="0">
                          <a:solidFill>
                            <a:srgbClr val="1B4528"/>
                          </a:solidFill>
                          <a:effectLst/>
                          <a:latin typeface="Inter"/>
                        </a:rPr>
                        <a:t>{{samlet_bodestorrelse}}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9</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sp>
        <p:nvSpPr>
          <p:cNvPr id="9" name="Tekstfelt 8">
            <a:extLst>
              <a:ext uri="{FF2B5EF4-FFF2-40B4-BE49-F238E27FC236}">
                <a16:creationId xmlns:a16="http://schemas.microsoft.com/office/drawing/2014/main" id="{18D9DD8E-27FC-601F-5895-E2455B4CB3B0}"/>
              </a:ext>
            </a:extLst>
          </p:cNvPr>
          <p:cNvSpPr txBox="1"/>
          <p:nvPr/>
        </p:nvSpPr>
        <p:spPr>
          <a:xfrm>
            <a:off x="411480" y="1445509"/>
            <a:ext cx="6737040" cy="846352"/>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stated violations of anti-corruption and anti-bribery laws in the reporting period. If the undertaking has been involved in convictions or fines for violations of these laws, the following information has been disclosed: the number of convictions and the total amount of fines incurred as a result of the violations. This information concerns the undertaking’s business ethics and sustainability, in particular as regards addressing corruption and bribery, and is set out below.</a:t>
            </a:r>
            <a:endParaRPr lang="en-GB" sz="975" b="0" noProof="0">
              <a:solidFill>
                <a:schemeClr val="tx2"/>
              </a:solidFill>
              <a:effectLst/>
              <a:latin typeface="Inter"/>
            </a:endParaRPr>
          </a:p>
          <a:p>
            <a:pPr>
              <a:buNone/>
            </a:pPr>
            <a:br>
              <a:rPr lang="en-GB" sz="975" noProof="0">
                <a:solidFill>
                  <a:schemeClr val="tx2"/>
                </a:solidFill>
                <a:latin typeface="Inter"/>
              </a:rPr>
            </a:br>
            <a:endParaRPr lang="en-GB" sz="975" noProof="0">
              <a:solidFill>
                <a:schemeClr val="tx2"/>
              </a:solidFill>
              <a:latin typeface="Inter"/>
            </a:endParaRPr>
          </a:p>
        </p:txBody>
      </p:sp>
    </p:spTree>
    <p:extLst>
      <p:ext uri="{BB962C8B-B14F-4D97-AF65-F5344CB8AC3E}">
        <p14:creationId xmlns:p14="http://schemas.microsoft.com/office/powerpoint/2010/main" val="2682118618"/>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Pladsholder til indhold 1">
            <a:extLst>
              <a:ext uri="{FF2B5EF4-FFF2-40B4-BE49-F238E27FC236}">
                <a16:creationId xmlns:a16="http://schemas.microsoft.com/office/drawing/2014/main" id="{8929CC52-5059-1012-5A40-D359AA36AE2B}"/>
              </a:ext>
            </a:extLst>
          </p:cNvPr>
          <p:cNvSpPr>
            <a:spLocks noGrp="1"/>
          </p:cNvSpPr>
          <p:nvPr>
            <p:ph idx="1"/>
          </p:nvPr>
        </p:nvSpPr>
        <p:spPr>
          <a:xfrm>
            <a:off x="411480" y="3671027"/>
            <a:ext cx="6737040" cy="1217034"/>
          </a:xfrm>
        </p:spPr>
        <p:txBody>
          <a:bodyPr>
            <a:normAutofit/>
          </a:bodyPr>
          <a:lstStyle/>
          <a:p>
            <a:r>
              <a:rPr lang="en-GB" sz="3325" b="1" noProof="0"/>
              <a:t>Disclosures in the Comprehensive Module</a:t>
            </a:r>
          </a:p>
        </p:txBody>
      </p:sp>
      <p:sp>
        <p:nvSpPr>
          <p:cNvPr id="5" name="Pladsholder til slidenummer 4">
            <a:extLst>
              <a:ext uri="{FF2B5EF4-FFF2-40B4-BE49-F238E27FC236}">
                <a16:creationId xmlns:a16="http://schemas.microsoft.com/office/drawing/2014/main" id="{8A923573-02E7-36F8-863E-7A551AE1CD30}"/>
              </a:ext>
            </a:extLst>
          </p:cNvPr>
          <p:cNvSpPr>
            <a:spLocks noGrp="1"/>
          </p:cNvSpPr>
          <p:nvPr>
            <p:ph type="sldNum" sz="quarter" idx="16"/>
          </p:nvPr>
        </p:nvSpPr>
        <p:spPr/>
        <p:txBody>
          <a:bodyPr/>
          <a:lstStyle/>
          <a:p>
            <a:fld id="{5A0D23CF-C5A3-5445-819D-C647D180BB4B}" type="slidenum">
              <a:rPr lang="en-GB" noProof="0" smtClean="0"/>
              <a:pPr/>
              <a:t>10</a:t>
            </a:fld>
            <a:endParaRPr lang="en-GB" noProof="0"/>
          </a:p>
        </p:txBody>
      </p:sp>
    </p:spTree>
    <p:extLst>
      <p:ext uri="{BB962C8B-B14F-4D97-AF65-F5344CB8AC3E}">
        <p14:creationId xmlns:p14="http://schemas.microsoft.com/office/powerpoint/2010/main" val="959639764"/>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776625"/>
            <a:ext cx="6737040" cy="213511"/>
          </a:xfrm>
        </p:spPr>
        <p:txBody>
          <a:bodyPr/>
          <a:lstStyle/>
          <a:p>
            <a:pPr marL="0" algn="l" rtl="0" eaLnBrk="1" fontAlgn="t" latinLnBrk="0" hangingPunct="1">
              <a:spcBef>
                <a:spcPts val="0"/>
              </a:spcBef>
              <a:spcAft>
                <a:spcPts val="0"/>
              </a:spcAft>
            </a:pPr>
            <a:r>
              <a:rPr lang="en-GB" sz="1475" b="1" i="0" u="none" strike="noStrike" kern="1200" spc="-10" noProof="0">
                <a:solidFill>
                  <a:srgbClr val="1B4528"/>
                </a:solidFill>
                <a:effectLst/>
                <a:latin typeface="IBM Plex Sans" panose="020B0503050203000203" pitchFamily="34" charset="0"/>
              </a:rPr>
              <a:t>Strategy: Business model and sustainability-related initiatives (C1)</a:t>
            </a:r>
            <a:endParaRPr lang="en-GB" noProof="0"/>
          </a:p>
        </p:txBody>
      </p:sp>
      <p:pic>
        <p:nvPicPr>
          <p:cNvPr id="24" name="Graphic 23">
            <a:extLst>
              <a:ext uri="{FF2B5EF4-FFF2-40B4-BE49-F238E27FC236}">
                <a16:creationId xmlns:a16="http://schemas.microsoft.com/office/drawing/2014/main" id="{C1CB6473-45A0-323E-9329-E3AEC5C2FC34}"/>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097918"/>
            <a:ext cx="6737040" cy="193826"/>
          </a:xfrm>
          <a:prstGeom prst="rect">
            <a:avLst/>
          </a:prstGeom>
        </p:spPr>
      </p:pic>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11</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graphicFrame>
        <p:nvGraphicFramePr>
          <p:cNvPr id="2" name="Table 2">
            <a:extLst>
              <a:ext uri="{FF2B5EF4-FFF2-40B4-BE49-F238E27FC236}">
                <a16:creationId xmlns:a16="http://schemas.microsoft.com/office/drawing/2014/main" id="{73C59346-F692-8EEE-6728-75E283DC6C9B}"/>
              </a:ext>
            </a:extLst>
          </p:cNvPr>
          <p:cNvGraphicFramePr>
            <a:graphicFrameLocks noGrp="1"/>
          </p:cNvGraphicFramePr>
          <p:nvPr>
            <p:extLst>
              <p:ext uri="{D42A27DB-BD31-4B8C-83A1-F6EECF244321}">
                <p14:modId xmlns:p14="http://schemas.microsoft.com/office/powerpoint/2010/main" val="1996372857"/>
              </p:ext>
            </p:extLst>
          </p:nvPr>
        </p:nvGraphicFramePr>
        <p:xfrm>
          <a:off x="411480" y="2946305"/>
          <a:ext cx="6737040" cy="653339"/>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9985">
                <a:tc>
                  <a:txBody>
                    <a:bodyPr/>
                    <a:lstStyle/>
                    <a:p>
                      <a:r>
                        <a:rPr lang="en-GB" sz="975" b="1" noProof="0">
                          <a:solidFill>
                            <a:schemeClr val="tx2"/>
                          </a:solidFill>
                        </a:rPr>
                        <a:t>Description of significant groups of products and/or services that </a:t>
                      </a:r>
                      <a:r>
                        <a:rPr lang="en-GB" sz="975" b="1" kern="1200" noProof="0">
                          <a:solidFill>
                            <a:srgbClr val="1B4528"/>
                          </a:solidFill>
                          <a:latin typeface="+mn-lt"/>
                          <a:ea typeface="+mn-ea"/>
                          <a:cs typeface="+mn-cs"/>
                        </a:rPr>
                        <a:t>{{company_name}} </a:t>
                      </a:r>
                      <a:r>
                        <a:rPr lang="en-GB" sz="975" b="1" kern="1200" noProof="0">
                          <a:solidFill>
                            <a:schemeClr val="tx2"/>
                          </a:solidFill>
                          <a:latin typeface="+mn-lt"/>
                          <a:ea typeface="+mn-ea"/>
                          <a:cs typeface="+mn-cs"/>
                        </a:rPr>
                        <a:t>offers</a:t>
                      </a:r>
                      <a:r>
                        <a:rPr lang="en-GB" sz="975" b="1" noProof="0">
                          <a:solidFill>
                            <a:schemeClr val="tx2"/>
                          </a:solidFill>
                        </a:rPr>
                        <a:t> </a:t>
                      </a:r>
                      <a:r>
                        <a:rPr lang="en-GB" sz="975" b="0" noProof="0">
                          <a:solidFill>
                            <a:schemeClr val="tx2"/>
                          </a:solidFill>
                        </a:rPr>
                        <a:t>(para. 46a)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44751">
                <a:tc>
                  <a:txBody>
                    <a:bodyPr/>
                    <a:lstStyle/>
                    <a:p>
                      <a:pPr algn="l"/>
                      <a:r>
                        <a:rPr lang="en-GB" sz="975" b="0" noProof="0">
                          <a:solidFill>
                            <a:srgbClr val="1B4528"/>
                          </a:solidFill>
                        </a:rPr>
                        <a:t>{{markets_description}}</a:t>
                      </a:r>
                      <a:endParaRPr lang="en-GB"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2" name="Table 2">
            <a:extLst>
              <a:ext uri="{FF2B5EF4-FFF2-40B4-BE49-F238E27FC236}">
                <a16:creationId xmlns:a16="http://schemas.microsoft.com/office/drawing/2014/main" id="{BF7B7D4C-4B08-C9C0-EA8D-D975600D4842}"/>
              </a:ext>
            </a:extLst>
          </p:cNvPr>
          <p:cNvGraphicFramePr>
            <a:graphicFrameLocks noGrp="1"/>
          </p:cNvGraphicFramePr>
          <p:nvPr>
            <p:extLst>
              <p:ext uri="{D42A27DB-BD31-4B8C-83A1-F6EECF244321}">
                <p14:modId xmlns:p14="http://schemas.microsoft.com/office/powerpoint/2010/main" val="425849860"/>
              </p:ext>
            </p:extLst>
          </p:nvPr>
        </p:nvGraphicFramePr>
        <p:xfrm>
          <a:off x="411480" y="3785752"/>
          <a:ext cx="6737040" cy="85281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62320">
                <a:tc>
                  <a:txBody>
                    <a:bodyPr/>
                    <a:lstStyle/>
                    <a:p>
                      <a:r>
                        <a:rPr lang="en-GB" sz="975" b="1" noProof="0">
                          <a:solidFill>
                            <a:schemeClr val="tx2"/>
                          </a:solidFill>
                        </a:rPr>
                        <a:t>Description of the significant markets that </a:t>
                      </a:r>
                      <a:r>
                        <a:rPr lang="en-GB" sz="975" b="1" kern="1200" noProof="0">
                          <a:solidFill>
                            <a:srgbClr val="1B4528"/>
                          </a:solidFill>
                          <a:latin typeface="+mn-lt"/>
                          <a:ea typeface="+mn-ea"/>
                          <a:cs typeface="+mn-cs"/>
                        </a:rPr>
                        <a:t>{{company_name}} </a:t>
                      </a:r>
                      <a:r>
                        <a:rPr lang="en-GB" sz="975" b="1" noProof="0">
                          <a:solidFill>
                            <a:schemeClr val="tx2"/>
                          </a:solidFill>
                        </a:rPr>
                        <a:t>operates in </a:t>
                      </a:r>
                      <a:r>
                        <a:rPr lang="en-GB" sz="975" b="0" noProof="0">
                          <a:solidFill>
                            <a:schemeClr val="tx2"/>
                          </a:solidFill>
                        </a:rPr>
                        <a:t>(para. 46b)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44229">
                <a:tc>
                  <a:txBody>
                    <a:bodyPr/>
                    <a:lstStyle/>
                    <a:p>
                      <a:pPr algn="l"/>
                      <a:r>
                        <a:rPr lang="en-GB" sz="975" b="0" noProof="0">
                          <a:solidFill>
                            <a:srgbClr val="1B4528"/>
                          </a:solidFill>
                        </a:rPr>
                        <a:t>{{business_relationships}}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4" name="Table 2">
            <a:extLst>
              <a:ext uri="{FF2B5EF4-FFF2-40B4-BE49-F238E27FC236}">
                <a16:creationId xmlns:a16="http://schemas.microsoft.com/office/drawing/2014/main" id="{9A35FA09-5062-B526-C260-BC3A7A5ED36B}"/>
              </a:ext>
            </a:extLst>
          </p:cNvPr>
          <p:cNvGraphicFramePr>
            <a:graphicFrameLocks noGrp="1"/>
          </p:cNvGraphicFramePr>
          <p:nvPr>
            <p:extLst>
              <p:ext uri="{D42A27DB-BD31-4B8C-83A1-F6EECF244321}">
                <p14:modId xmlns:p14="http://schemas.microsoft.com/office/powerpoint/2010/main" val="1582199989"/>
              </p:ext>
            </p:extLst>
          </p:nvPr>
        </p:nvGraphicFramePr>
        <p:xfrm>
          <a:off x="411480" y="4837656"/>
          <a:ext cx="6737040" cy="831730"/>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48215">
                <a:tc>
                  <a:txBody>
                    <a:bodyPr/>
                    <a:lstStyle/>
                    <a:p>
                      <a:r>
                        <a:rPr lang="en-GB" sz="975" b="1" noProof="0">
                          <a:solidFill>
                            <a:schemeClr val="tx2"/>
                          </a:solidFill>
                        </a:rPr>
                        <a:t>Description of </a:t>
                      </a:r>
                      <a:r>
                        <a:rPr lang="en-GB" sz="975" b="1" kern="1200" noProof="0">
                          <a:solidFill>
                            <a:srgbClr val="1B4528"/>
                          </a:solidFill>
                          <a:latin typeface="+mn-lt"/>
                          <a:ea typeface="+mn-ea"/>
                          <a:cs typeface="+mn-cs"/>
                        </a:rPr>
                        <a:t>{{company_name}}</a:t>
                      </a:r>
                      <a:r>
                        <a:rPr lang="en-GB" sz="975" b="1" kern="1200" noProof="0">
                          <a:solidFill>
                            <a:schemeClr val="accent1"/>
                          </a:solidFill>
                          <a:latin typeface="+mn-lt"/>
                          <a:ea typeface="+mn-ea"/>
                          <a:cs typeface="+mn-cs"/>
                        </a:rPr>
                        <a:t>’s</a:t>
                      </a:r>
                      <a:r>
                        <a:rPr lang="en-GB" sz="975" b="1" kern="1200" noProof="0">
                          <a:solidFill>
                            <a:srgbClr val="1B4528"/>
                          </a:solidFill>
                          <a:latin typeface="+mn-lt"/>
                          <a:ea typeface="+mn-ea"/>
                          <a:cs typeface="+mn-cs"/>
                        </a:rPr>
                        <a:t> </a:t>
                      </a:r>
                      <a:r>
                        <a:rPr lang="en-GB" sz="975" b="1" noProof="0">
                          <a:solidFill>
                            <a:schemeClr val="tx2"/>
                          </a:solidFill>
                        </a:rPr>
                        <a:t>main business relationships </a:t>
                      </a:r>
                      <a:r>
                        <a:rPr lang="en-GB" sz="975" b="0" noProof="0">
                          <a:solidFill>
                            <a:schemeClr val="tx2"/>
                          </a:solidFill>
                        </a:rPr>
                        <a:t>(para. 46c)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623142">
                <a:tc>
                  <a:txBody>
                    <a:bodyPr/>
                    <a:lstStyle/>
                    <a:p>
                      <a:pPr algn="l"/>
                      <a:r>
                        <a:rPr lang="en-GB" sz="975" b="0" noProof="0">
                          <a:solidFill>
                            <a:srgbClr val="1B4528"/>
                          </a:solidFill>
                        </a:rPr>
                        <a:t>{{strategy}}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3" name="Table 2">
            <a:extLst>
              <a:ext uri="{FF2B5EF4-FFF2-40B4-BE49-F238E27FC236}">
                <a16:creationId xmlns:a16="http://schemas.microsoft.com/office/drawing/2014/main" id="{7F017BC3-E5E3-8830-A914-2C6CAB704D65}"/>
              </a:ext>
            </a:extLst>
          </p:cNvPr>
          <p:cNvGraphicFramePr>
            <a:graphicFrameLocks noGrp="1"/>
          </p:cNvGraphicFramePr>
          <p:nvPr>
            <p:extLst>
              <p:ext uri="{D42A27DB-BD31-4B8C-83A1-F6EECF244321}">
                <p14:modId xmlns:p14="http://schemas.microsoft.com/office/powerpoint/2010/main" val="3842437383"/>
              </p:ext>
            </p:extLst>
          </p:nvPr>
        </p:nvGraphicFramePr>
        <p:xfrm>
          <a:off x="411480" y="2222174"/>
          <a:ext cx="6737040" cy="568614"/>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55752">
                <a:tc>
                  <a:txBody>
                    <a:bodyPr/>
                    <a:lstStyle/>
                    <a:p>
                      <a:r>
                        <a:rPr lang="en-GB" sz="975" b="1" noProof="0">
                          <a:solidFill>
                            <a:schemeClr val="tx2"/>
                          </a:solidFill>
                        </a:rPr>
                        <a:t>Description of the overall business model and strategy </a:t>
                      </a:r>
                      <a:r>
                        <a:rPr lang="en-GB" sz="975" b="0" noProof="0">
                          <a:solidFill>
                            <a:schemeClr val="tx2"/>
                          </a:solidFill>
                        </a:rPr>
                        <a:t>(para. 46)</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60026">
                <a:tc>
                  <a:txBody>
                    <a:bodyPr/>
                    <a:lstStyle/>
                    <a:p>
                      <a:pPr algn="l"/>
                      <a:r>
                        <a:rPr lang="en-GB" sz="975" b="0" noProof="0">
                          <a:solidFill>
                            <a:srgbClr val="1B4528"/>
                          </a:solidFill>
                        </a:rPr>
                        <a:t>{{products_description}}</a:t>
                      </a:r>
                    </a:p>
                    <a:p>
                      <a:pPr algn="l"/>
                      <a:endParaRPr lang="en-GB" sz="975" b="0" kern="1200" noProof="0">
                        <a:solidFill>
                          <a:srgbClr val="1B4528"/>
                        </a:solidFill>
                        <a:latin typeface="+mn-lt"/>
                        <a:ea typeface="+mn-ea"/>
                        <a:cs typeface="+mn-cs"/>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graphicFrame>
        <p:nvGraphicFramePr>
          <p:cNvPr id="13" name="Table 2">
            <a:extLst>
              <a:ext uri="{FF2B5EF4-FFF2-40B4-BE49-F238E27FC236}">
                <a16:creationId xmlns:a16="http://schemas.microsoft.com/office/drawing/2014/main" id="{82F97D4B-910A-955C-8249-17FCA8C2C83B}"/>
              </a:ext>
            </a:extLst>
          </p:cNvPr>
          <p:cNvGraphicFramePr>
            <a:graphicFrameLocks noGrp="1"/>
          </p:cNvGraphicFramePr>
          <p:nvPr>
            <p:extLst>
              <p:ext uri="{D42A27DB-BD31-4B8C-83A1-F6EECF244321}">
                <p14:modId xmlns:p14="http://schemas.microsoft.com/office/powerpoint/2010/main" val="1922068697"/>
              </p:ext>
            </p:extLst>
          </p:nvPr>
        </p:nvGraphicFramePr>
        <p:xfrm>
          <a:off x="411480" y="5866371"/>
          <a:ext cx="6737040" cy="808203"/>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698153288"/>
                    </a:ext>
                  </a:extLst>
                </a:gridCol>
              </a:tblGrid>
              <a:tr h="126152">
                <a:tc>
                  <a:txBody>
                    <a:bodyPr/>
                    <a:lstStyle/>
                    <a:p>
                      <a:r>
                        <a:rPr lang="en-GB" sz="975" b="1" noProof="0">
                          <a:solidFill>
                            <a:schemeClr val="tx2"/>
                          </a:solidFill>
                        </a:rPr>
                        <a:t>Description of where </a:t>
                      </a:r>
                      <a:r>
                        <a:rPr lang="en-GB" sz="975" b="1" kern="1200" noProof="0">
                          <a:solidFill>
                            <a:srgbClr val="1B4528"/>
                          </a:solidFill>
                          <a:latin typeface="+mn-lt"/>
                          <a:ea typeface="+mn-ea"/>
                          <a:cs typeface="+mn-cs"/>
                        </a:rPr>
                        <a:t>{{company_name}}</a:t>
                      </a:r>
                      <a:r>
                        <a:rPr lang="en-GB" sz="975" b="1" kern="1200" noProof="0">
                          <a:solidFill>
                            <a:schemeClr val="accent1"/>
                          </a:solidFill>
                          <a:latin typeface="+mn-lt"/>
                          <a:ea typeface="+mn-ea"/>
                          <a:cs typeface="+mn-cs"/>
                        </a:rPr>
                        <a:t>´s strategy and business model have sustainability-related elements </a:t>
                      </a:r>
                      <a:r>
                        <a:rPr lang="en-GB" sz="975" b="0" noProof="0">
                          <a:solidFill>
                            <a:schemeClr val="tx2"/>
                          </a:solidFill>
                        </a:rPr>
                        <a:t>(para. 46d)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51025">
                <a:tc>
                  <a:txBody>
                    <a:bodyPr/>
                    <a:lstStyle/>
                    <a:p>
                      <a:pPr lvl="0" algn="l">
                        <a:buNone/>
                      </a:pPr>
                      <a:r>
                        <a:rPr lang="en-GB" sz="975" b="0" noProof="0">
                          <a:solidFill>
                            <a:srgbClr val="1B4528"/>
                          </a:solidFill>
                        </a:rPr>
                        <a:t>{{business_model}}</a:t>
                      </a:r>
                      <a:endParaRPr lang="en-GB"/>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513257532"/>
                  </a:ext>
                </a:extLst>
              </a:tr>
            </a:tbl>
          </a:graphicData>
        </a:graphic>
      </p:graphicFrame>
      <p:sp>
        <p:nvSpPr>
          <p:cNvPr id="19" name="Tekstfelt 18">
            <a:extLst>
              <a:ext uri="{FF2B5EF4-FFF2-40B4-BE49-F238E27FC236}">
                <a16:creationId xmlns:a16="http://schemas.microsoft.com/office/drawing/2014/main" id="{6B666E4C-70AB-0C7E-E428-3654C2D744C6}"/>
              </a:ext>
            </a:extLst>
          </p:cNvPr>
          <p:cNvSpPr txBox="1"/>
          <p:nvPr/>
        </p:nvSpPr>
        <p:spPr>
          <a:xfrm>
            <a:off x="411480" y="1426739"/>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provided a description of its overall business model and strategy; products and/or services; markets; business relationships; and whether the undertaking’s business model has sustainability-related elements. </a:t>
            </a:r>
            <a:endParaRPr lang="en-GB" sz="975" noProof="0">
              <a:solidFill>
                <a:schemeClr val="tx2"/>
              </a:solidFill>
              <a:latin typeface="Inter"/>
            </a:endParaRPr>
          </a:p>
        </p:txBody>
      </p:sp>
    </p:spTree>
    <p:extLst>
      <p:ext uri="{BB962C8B-B14F-4D97-AF65-F5344CB8AC3E}">
        <p14:creationId xmlns:p14="http://schemas.microsoft.com/office/powerpoint/2010/main" val="350893704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8089"/>
            <a:ext cx="6737040" cy="207741"/>
          </a:xfrm>
        </p:spPr>
        <p:txBody>
          <a:bodyPr/>
          <a:lstStyle/>
          <a:p>
            <a:r>
              <a:rPr lang="en-GB" noProof="0">
                <a:latin typeface="+mn-lt"/>
                <a:ea typeface="+mn-ea"/>
                <a:cs typeface="+mn-cs"/>
              </a:rPr>
              <a:t>P</a:t>
            </a:r>
            <a:r>
              <a:rPr lang="en-GB" sz="1475" b="1" kern="1200" spc="-10" noProof="0">
                <a:solidFill>
                  <a:schemeClr val="tx2"/>
                </a:solidFill>
                <a:latin typeface="+mn-lt"/>
                <a:ea typeface="+mn-ea"/>
                <a:cs typeface="+mn-cs"/>
              </a:rPr>
              <a:t>ractices, policies and future initiatives for transitioning towards a more sustainable economy (C2)</a:t>
            </a:r>
            <a:endParaRPr lang="en-GB"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12</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924185767"/>
              </p:ext>
            </p:extLst>
          </p:nvPr>
        </p:nvGraphicFramePr>
        <p:xfrm>
          <a:off x="411480" y="2664954"/>
          <a:ext cx="6737040" cy="4496570"/>
        </p:xfrm>
        <a:graphic>
          <a:graphicData uri="http://schemas.openxmlformats.org/drawingml/2006/table">
            <a:tbl>
              <a:tblPr firstRow="1">
                <a:tableStyleId>{2A488322-F2BA-4B5B-9748-0D474271808F}</a:tableStyleId>
              </a:tblPr>
              <a:tblGrid>
                <a:gridCol w="1156593">
                  <a:extLst>
                    <a:ext uri="{9D8B030D-6E8A-4147-A177-3AD203B41FA5}">
                      <a16:colId xmlns:a16="http://schemas.microsoft.com/office/drawing/2014/main" val="1902117154"/>
                    </a:ext>
                  </a:extLst>
                </a:gridCol>
                <a:gridCol w="1860149">
                  <a:extLst>
                    <a:ext uri="{9D8B030D-6E8A-4147-A177-3AD203B41FA5}">
                      <a16:colId xmlns:a16="http://schemas.microsoft.com/office/drawing/2014/main" val="1904521774"/>
                    </a:ext>
                  </a:extLst>
                </a:gridCol>
                <a:gridCol w="1860149">
                  <a:extLst>
                    <a:ext uri="{9D8B030D-6E8A-4147-A177-3AD203B41FA5}">
                      <a16:colId xmlns:a16="http://schemas.microsoft.com/office/drawing/2014/main" val="3164053669"/>
                    </a:ext>
                  </a:extLst>
                </a:gridCol>
                <a:gridCol w="1860149">
                  <a:extLst>
                    <a:ext uri="{9D8B030D-6E8A-4147-A177-3AD203B41FA5}">
                      <a16:colId xmlns:a16="http://schemas.microsoft.com/office/drawing/2014/main" val="1484983729"/>
                    </a:ext>
                  </a:extLst>
                </a:gridCol>
              </a:tblGrid>
              <a:tr h="291342">
                <a:tc rowSpan="2">
                  <a:txBody>
                    <a:bodyPr/>
                    <a:lstStyle/>
                    <a:p>
                      <a:pPr algn="l"/>
                      <a:r>
                        <a:rPr lang="en-GB" sz="975" b="1" kern="1200" spc="-10" noProof="0">
                          <a:solidFill>
                            <a:schemeClr val="tx2"/>
                          </a:solidFill>
                          <a:latin typeface="+mn-lt"/>
                          <a:ea typeface="+mn-ea"/>
                          <a:cs typeface="+mn-cs"/>
                        </a:rPr>
                        <a:t>Area</a:t>
                      </a:r>
                    </a:p>
                    <a:p>
                      <a:pPr algn="l"/>
                      <a:r>
                        <a:rPr lang="en-GB" sz="975" b="0" kern="1200" spc="-10" noProof="0">
                          <a:solidFill>
                            <a:schemeClr val="tx2"/>
                          </a:solidFill>
                          <a:latin typeface="+mn-lt"/>
                          <a:ea typeface="+mn-ea"/>
                          <a:cs typeface="+mn-cs"/>
                        </a:rPr>
                        <a:t>(para. 47)</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n-GB" sz="975" b="1" kern="1200" spc="-10" noProof="0">
                          <a:solidFill>
                            <a:schemeClr val="tx2"/>
                          </a:solidFill>
                          <a:latin typeface="+mn-lt"/>
                          <a:ea typeface="+mn-ea"/>
                          <a:cs typeface="+mn-cs"/>
                        </a:rPr>
                        <a:t>Brief description </a:t>
                      </a:r>
                      <a:r>
                        <a:rPr lang="en-GB" sz="975" b="1" u="none" kern="1200" spc="-10" noProof="0">
                          <a:solidFill>
                            <a:schemeClr val="tx2"/>
                          </a:solidFill>
                          <a:latin typeface="+mn-lt"/>
                          <a:ea typeface="+mn-ea"/>
                          <a:cs typeface="+mn-cs"/>
                        </a:rPr>
                        <a:t>of existing </a:t>
                      </a:r>
                      <a:r>
                        <a:rPr lang="en-GB" sz="975" b="1" kern="1200" spc="-10" noProof="0">
                          <a:solidFill>
                            <a:schemeClr val="tx2"/>
                          </a:solidFill>
                          <a:latin typeface="+mn-lt"/>
                          <a:ea typeface="+mn-ea"/>
                          <a:cs typeface="+mn-cs"/>
                        </a:rPr>
                        <a:t>practices/policies/actions (cf. disclosure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rowSpan="2">
                  <a:txBody>
                    <a:bodyPr/>
                    <a:lstStyle/>
                    <a:p>
                      <a:pPr algn="l"/>
                      <a:r>
                        <a:rPr lang="en-GB" sz="975" b="1" kern="1200" spc="-10" noProof="0">
                          <a:solidFill>
                            <a:schemeClr val="tx2"/>
                          </a:solidFill>
                          <a:latin typeface="+mn-lt"/>
                          <a:ea typeface="+mn-ea"/>
                          <a:cs typeface="+mn-cs"/>
                        </a:rPr>
                        <a:t>Brief description of any </a:t>
                      </a:r>
                      <a:r>
                        <a:rPr lang="en-GB" sz="975" b="1" u="none" kern="1200" spc="-10" noProof="0">
                          <a:solidFill>
                            <a:schemeClr val="tx2"/>
                          </a:solidFill>
                          <a:latin typeface="+mn-lt"/>
                          <a:ea typeface="+mn-ea"/>
                          <a:cs typeface="+mn-cs"/>
                        </a:rPr>
                        <a:t>future</a:t>
                      </a:r>
                      <a:r>
                        <a:rPr lang="en-GB" sz="975" b="1" kern="1200" spc="-10" noProof="0">
                          <a:solidFill>
                            <a:schemeClr val="tx2"/>
                          </a:solidFill>
                          <a:latin typeface="+mn-lt"/>
                          <a:ea typeface="+mn-ea"/>
                          <a:cs typeface="+mn-cs"/>
                        </a:rPr>
                        <a:t> targets (cf. disclosure B2)</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spc="-10" noProof="0">
                          <a:solidFill>
                            <a:schemeClr val="bg1"/>
                          </a:solidFill>
                        </a:rPr>
                        <a:t>This disclosure </a:t>
                      </a:r>
                      <a:r>
                        <a:rPr lang="en-GB" sz="975" b="1" spc="-10" noProof="0">
                          <a:solidFill>
                            <a:schemeClr val="bg1"/>
                          </a:solidFill>
                        </a:rPr>
                        <a:t>is voluntary</a:t>
                      </a:r>
                      <a:endParaRPr lang="en-GB" sz="975" spc="-10" noProof="0">
                        <a:solidFill>
                          <a:schemeClr val="bg1"/>
                        </a:solidFill>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1B4529"/>
                    </a:solidFill>
                  </a:tcPr>
                </a:tc>
                <a:extLst>
                  <a:ext uri="{0D108BD9-81ED-4DB2-BD59-A6C34878D82A}">
                    <a16:rowId xmlns:a16="http://schemas.microsoft.com/office/drawing/2014/main" val="3642311251"/>
                  </a:ext>
                </a:extLst>
              </a:tr>
              <a:tr h="477218">
                <a:tc vMerge="1">
                  <a:txBody>
                    <a:bodyPr/>
                    <a:lstStyle/>
                    <a:p>
                      <a:endParaRPr lang="en-GB"/>
                    </a:p>
                  </a:txBody>
                  <a:tcPr/>
                </a:tc>
                <a:tc vMerge="1">
                  <a:txBody>
                    <a:bodyPr/>
                    <a:lstStyle/>
                    <a:p>
                      <a:endParaRPr lang="en-GB"/>
                    </a:p>
                  </a:txBody>
                  <a:tcPr/>
                </a:tc>
                <a:tc vMerge="1">
                  <a:txBody>
                    <a:bodyPr/>
                    <a:lstStyle/>
                    <a:p>
                      <a:endParaRPr lang="en-GB"/>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Indication of the most senior level within the undertaking accountable for implementation </a:t>
                      </a:r>
                      <a:r>
                        <a:rPr lang="en-GB" sz="975" b="0" kern="1200" spc="-10" noProof="0">
                          <a:solidFill>
                            <a:schemeClr val="tx2"/>
                          </a:solidFill>
                          <a:latin typeface="+mn-lt"/>
                          <a:ea typeface="+mn-ea"/>
                          <a:cs typeface="+mn-cs"/>
                        </a:rPr>
                        <a:t>(para. 48)</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68422229"/>
                  </a:ext>
                </a:extLst>
              </a:tr>
              <a:tr h="291263">
                <a:tc>
                  <a:txBody>
                    <a:bodyPr/>
                    <a:lstStyle/>
                    <a:p>
                      <a:pPr algn="l"/>
                      <a:r>
                        <a:rPr lang="en-GB" sz="975" b="1" kern="1200" spc="-10" noProof="0">
                          <a:solidFill>
                            <a:schemeClr val="tx2"/>
                          </a:solidFill>
                          <a:latin typeface="+mn-lt"/>
                          <a:ea typeface="+mn-ea"/>
                          <a:cs typeface="+mn-cs"/>
                        </a:rPr>
                        <a:t>Climate change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Climate_C2_Description_Existing_Practices</a:t>
                      </a:r>
                      <a:r>
                        <a:rPr lang="en-GB" sz="975" b="0" i="0" u="none" strike="noStrike" noProof="0">
                          <a:solidFill>
                            <a:srgbClr val="1B4528"/>
                          </a:solidFill>
                          <a:effectLst/>
                          <a:latin typeface="Inter"/>
                        </a:rPr>
                        <a:t>}}</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Climate_C2_Future_Practices</a:t>
                      </a:r>
                      <a:r>
                        <a:rPr lang="en-GB" sz="975" b="0" i="0" u="none" strike="noStrike" noProof="0">
                          <a:solidFill>
                            <a:srgbClr val="1B4528"/>
                          </a:solidFill>
                          <a:effectLst/>
                          <a:latin typeface="Inter"/>
                        </a:rPr>
                        <a:t>}}</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Climate_C2_Management_Level</a:t>
                      </a:r>
                      <a:r>
                        <a:rPr lang="en-GB" sz="975" b="0" i="0" u="none" strike="noStrike" noProof="0">
                          <a:solidFill>
                            <a:srgbClr val="1B4528"/>
                          </a:solidFill>
                          <a:effectLst/>
                          <a:latin typeface="Inter"/>
                        </a:rPr>
                        <a:t>}}</a:t>
                      </a:r>
                      <a:endParaRPr lang="en-GB" sz="975" b="0"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76403">
                <a:tc>
                  <a:txBody>
                    <a:bodyPr/>
                    <a:lstStyle/>
                    <a:p>
                      <a:pPr algn="l"/>
                      <a:r>
                        <a:rPr lang="en-GB" sz="975" b="1" kern="1200" spc="-10" noProof="0">
                          <a:solidFill>
                            <a:schemeClr val="tx2"/>
                          </a:solidFill>
                          <a:latin typeface="+mn-lt"/>
                          <a:ea typeface="+mn-ea"/>
                          <a:cs typeface="+mn-cs"/>
                        </a:rPr>
                        <a:t>Pollution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Pollution_C2_Description_Existing_Practices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Pollution_C2_Future_Practices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Pollution_C2_Management_Level</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4254">
                <a:tc>
                  <a:txBody>
                    <a:bodyPr/>
                    <a:lstStyle/>
                    <a:p>
                      <a:pPr algn="l"/>
                      <a:r>
                        <a:rPr lang="en-GB" sz="975" b="1" kern="1200" spc="-10" noProof="0">
                          <a:solidFill>
                            <a:schemeClr val="tx2"/>
                          </a:solidFill>
                          <a:latin typeface="+mn-lt"/>
                          <a:ea typeface="+mn-ea"/>
                          <a:cs typeface="+mn-cs"/>
                        </a:rPr>
                        <a:t>Water and marine resources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Water_C2_Description_Existing_Practices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Water_C2_Future_Practices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ctr">
                        <a:lnSpc>
                          <a:spcPct val="100000"/>
                        </a:lnSpc>
                        <a:spcBef>
                          <a:spcPts val="0"/>
                        </a:spcBef>
                        <a:spcAft>
                          <a:spcPts val="0"/>
                        </a:spcAft>
                        <a:buNone/>
                      </a:pPr>
                      <a:r>
                        <a:rPr lang="en-GB" sz="975" b="0" i="0" u="none" strike="noStrike" noProof="0">
                          <a:solidFill>
                            <a:srgbClr val="1B4528"/>
                          </a:solidFill>
                          <a:effectLst/>
                          <a:latin typeface="Inter"/>
                        </a:rPr>
                        <a:t>{{</a:t>
                      </a:r>
                      <a:r>
                        <a:rPr lang="en-GB" sz="975" b="0" i="0" u="none" strike="noStrike" noProof="0">
                          <a:solidFill>
                            <a:srgbClr val="1B4528"/>
                          </a:solidFill>
                          <a:effectLst/>
                          <a:latin typeface="IBM Plex Sans"/>
                        </a:rPr>
                        <a:t>Water_C2_Management_Level</a:t>
                      </a:r>
                      <a:r>
                        <a:rPr lang="en-GB" sz="975" b="0" i="0" u="none" strike="noStrike" noProof="0">
                          <a:solidFill>
                            <a:srgbClr val="1B4528"/>
                          </a:solidFill>
                          <a:effectLst/>
                          <a:latin typeface="Inter"/>
                        </a:rPr>
                        <a:t>}}</a:t>
                      </a:r>
                      <a:endParaRPr lang="en-GB" sz="975" b="0" i="0" u="none" strike="noStrike" noProof="0">
                        <a:solidFill>
                          <a:srgbClr val="000000"/>
                        </a:solidFill>
                        <a:effectLst/>
                        <a:latin typeface="Inter"/>
                      </a:endParaRPr>
                    </a:p>
                    <a:p>
                      <a:pPr lvl="0">
                        <a:buNone/>
                      </a:pPr>
                      <a:endParaRPr lang="en-GB" sz="975" b="0" i="0" u="none" strike="noStrike" noProof="0">
                        <a:solidFill>
                          <a:srgbClr val="1B4528"/>
                        </a:solidFill>
                        <a:effectLst/>
                        <a:latin typeface="Inter"/>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336600">
                <a:tc>
                  <a:txBody>
                    <a:bodyPr/>
                    <a:lstStyle/>
                    <a:p>
                      <a:pPr algn="l"/>
                      <a:r>
                        <a:rPr lang="en-GB" sz="975" b="1" kern="1200" spc="-10" noProof="0">
                          <a:solidFill>
                            <a:schemeClr val="tx2"/>
                          </a:solidFill>
                          <a:latin typeface="+mn-lt"/>
                          <a:ea typeface="+mn-ea"/>
                          <a:cs typeface="+mn-cs"/>
                        </a:rPr>
                        <a:t>Biodiversity and ecosystems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Bio_C2_Description_Existing_Practices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Bio_C2_Future_Practices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Bio_C2_Management_Level</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4254">
                <a:tc>
                  <a:txBody>
                    <a:bodyPr/>
                    <a:lstStyle/>
                    <a:p>
                      <a:pPr algn="l"/>
                      <a:r>
                        <a:rPr lang="en-GB" sz="975" b="1" kern="1200" spc="-10" noProof="0">
                          <a:solidFill>
                            <a:schemeClr val="tx2"/>
                          </a:solidFill>
                          <a:latin typeface="+mn-lt"/>
                          <a:ea typeface="+mn-ea"/>
                          <a:cs typeface="+mn-cs"/>
                        </a:rPr>
                        <a:t>Circular economy</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Circular_C2_Description_Existing_Practices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Circular_C2_Future_Practices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Circular_C2_Management_Level</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4254">
                <a:tc>
                  <a:txBody>
                    <a:bodyPr/>
                    <a:lstStyle/>
                    <a:p>
                      <a:pPr algn="l"/>
                      <a:r>
                        <a:rPr lang="en-GB" sz="975" b="1" kern="1200" spc="-10" noProof="0">
                          <a:solidFill>
                            <a:schemeClr val="tx2"/>
                          </a:solidFill>
                          <a:latin typeface="+mn-lt"/>
                          <a:ea typeface="+mn-ea"/>
                          <a:cs typeface="+mn-cs"/>
                        </a:rPr>
                        <a:t>Own workforce</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Own_Workforce_C2_Description_Existing_Practices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Own_Workforce_C2_Future_Practices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Own_Workforce_C2_Management_Level</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7384999"/>
                  </a:ext>
                </a:extLst>
              </a:tr>
              <a:tr h="284254">
                <a:tc>
                  <a:txBody>
                    <a:bodyPr/>
                    <a:lstStyle/>
                    <a:p>
                      <a:pPr algn="l"/>
                      <a:r>
                        <a:rPr lang="en-GB" sz="975" b="1" kern="1200" spc="-10" noProof="0">
                          <a:solidFill>
                            <a:schemeClr val="tx2"/>
                          </a:solidFill>
                          <a:latin typeface="+mn-lt"/>
                          <a:ea typeface="+mn-ea"/>
                          <a:cs typeface="+mn-cs"/>
                        </a:rPr>
                        <a:t>Workers in the value chain</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Workers_Value_Chain_C2_Description_Existing_Practices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Workers_Value_Chain_C2_Future_Practices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Workers_Value_Chain_C2_Management_Level</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01919361"/>
                  </a:ext>
                </a:extLst>
              </a:tr>
              <a:tr h="284254">
                <a:tc>
                  <a:txBody>
                    <a:bodyPr/>
                    <a:lstStyle/>
                    <a:p>
                      <a:pPr algn="l"/>
                      <a:r>
                        <a:rPr lang="en-GB" sz="975" b="1" kern="1200" spc="-10" noProof="0">
                          <a:solidFill>
                            <a:schemeClr val="tx2"/>
                          </a:solidFill>
                          <a:latin typeface="+mn-lt"/>
                          <a:ea typeface="+mn-ea"/>
                          <a:cs typeface="+mn-cs"/>
                        </a:rPr>
                        <a:t>Affected communities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Affected_C2_Description_Existing_Practices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Affected_C2_Future_Practices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Affected_C2_Management_Level</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36877917"/>
                  </a:ext>
                </a:extLst>
              </a:tr>
              <a:tr h="336600">
                <a:tc>
                  <a:txBody>
                    <a:bodyPr/>
                    <a:lstStyle/>
                    <a:p>
                      <a:pPr algn="l"/>
                      <a:r>
                        <a:rPr lang="en-GB" sz="975" b="1" kern="1200" spc="-10" noProof="0">
                          <a:solidFill>
                            <a:schemeClr val="tx2"/>
                          </a:solidFill>
                          <a:latin typeface="+mn-lt"/>
                          <a:ea typeface="+mn-ea"/>
                          <a:cs typeface="+mn-cs"/>
                        </a:rPr>
                        <a:t>Consumers and end-users</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Consumers_C2_Description_Existing_Practices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Consumers_C2_Future_Practices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Consumers_C2_Management_Level</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15053185"/>
                  </a:ext>
                </a:extLst>
              </a:tr>
              <a:tr h="284254">
                <a:tc>
                  <a:txBody>
                    <a:bodyPr/>
                    <a:lstStyle/>
                    <a:p>
                      <a:pPr algn="l"/>
                      <a:r>
                        <a:rPr lang="en-GB" sz="975" b="1" kern="1200" spc="-10" noProof="0">
                          <a:solidFill>
                            <a:schemeClr val="tx2"/>
                          </a:solidFill>
                          <a:latin typeface="+mn-lt"/>
                          <a:ea typeface="+mn-ea"/>
                          <a:cs typeface="+mn-cs"/>
                        </a:rPr>
                        <a:t>Business conduct</a:t>
                      </a: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Governance_C2_Description_Existing_Practices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Governance_C2_Future_Practices</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t" algn="ctr">
                        <a:buNone/>
                      </a:pPr>
                      <a:r>
                        <a:rPr lang="en-GB" sz="975" b="0" i="0" u="none" strike="noStrike" noProof="0">
                          <a:solidFill>
                            <a:srgbClr val="1B4528"/>
                          </a:solidFill>
                          <a:effectLst/>
                          <a:latin typeface="Inter"/>
                        </a:rPr>
                        <a:t>{{</a:t>
                      </a:r>
                      <a:r>
                        <a:rPr lang="en-GB" sz="975" b="0" i="0" u="none" strike="noStrike" noProof="0">
                          <a:solidFill>
                            <a:srgbClr val="1B4528"/>
                          </a:solidFill>
                          <a:effectLst/>
                        </a:rPr>
                        <a:t>Governance_C2_Management_Level</a:t>
                      </a:r>
                      <a:r>
                        <a:rPr lang="en-GB" sz="975" b="0" i="0" u="none" strike="noStrike" noProof="0">
                          <a:solidFill>
                            <a:srgbClr val="1B4528"/>
                          </a:solidFill>
                          <a:effectLst/>
                          <a:latin typeface="Inter"/>
                        </a:rPr>
                        <a:t>}}</a:t>
                      </a:r>
                      <a:endParaRPr lang="en-GB" sz="975" noProof="0">
                        <a:effectLst/>
                      </a:endParaRPr>
                    </a:p>
                  </a:txBody>
                  <a:tcPr marL="21166" marR="21166" marT="15874" marB="15874">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04057792"/>
                  </a:ext>
                </a:extLst>
              </a:tr>
            </a:tbl>
          </a:graphicData>
        </a:graphic>
      </p:graphicFrame>
      <p:sp>
        <p:nvSpPr>
          <p:cNvPr id="17" name="Tekstfelt 16">
            <a:extLst>
              <a:ext uri="{FF2B5EF4-FFF2-40B4-BE49-F238E27FC236}">
                <a16:creationId xmlns:a16="http://schemas.microsoft.com/office/drawing/2014/main" id="{2A776A89-A1FF-B14E-F93A-876E75156091}"/>
              </a:ext>
            </a:extLst>
          </p:cNvPr>
          <p:cNvSpPr txBox="1"/>
          <p:nvPr/>
        </p:nvSpPr>
        <p:spPr>
          <a:xfrm>
            <a:off x="411480" y="1525700"/>
            <a:ext cx="6737040" cy="538588"/>
          </a:xfrm>
          <a:prstGeom prst="rect">
            <a:avLst/>
          </a:prstGeom>
          <a:noFill/>
        </p:spPr>
        <p:txBody>
          <a:bodyPr wrap="square">
            <a:spAutoFit/>
          </a:bodyPr>
          <a:lstStyle/>
          <a:p>
            <a:r>
              <a:rPr lang="en-GB" sz="975" noProof="0">
                <a:solidFill>
                  <a:schemeClr val="tx2"/>
                </a:solidFill>
              </a:rPr>
              <a:t>The table below has been completed because the undertaking has already put in place specific practices, policies or initiatives that contribute to the transition towards a more sustainable economy. The undertaking has answered ”YES” to one or more disclosures under B2 in the Basic Module. The following provides a more complete account of the policies, initiatives and practices put in place for the transition towards a more sustainable economy in the undertaking</a:t>
            </a:r>
          </a:p>
        </p:txBody>
      </p:sp>
    </p:spTree>
    <p:extLst>
      <p:ext uri="{BB962C8B-B14F-4D97-AF65-F5344CB8AC3E}">
        <p14:creationId xmlns:p14="http://schemas.microsoft.com/office/powerpoint/2010/main" val="972470905"/>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75467"/>
            <a:ext cx="6737040" cy="207741"/>
          </a:xfrm>
        </p:spPr>
        <p:txBody>
          <a:bodyPr/>
          <a:lstStyle/>
          <a:p>
            <a:r>
              <a:rPr lang="en-GB" noProof="0">
                <a:solidFill>
                  <a:srgbClr val="1B4528"/>
                </a:solidFill>
                <a:latin typeface="IBM Plex Sans" panose="020B0503050203000203" pitchFamily="34" charset="0"/>
              </a:rPr>
              <a:t>CO₂e emissions under B3 in the Basic Module</a:t>
            </a:r>
            <a:endParaRPr lang="en-GB" b="0"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13</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3547307555"/>
              </p:ext>
            </p:extLst>
          </p:nvPr>
        </p:nvGraphicFramePr>
        <p:xfrm>
          <a:off x="411480" y="3688800"/>
          <a:ext cx="6737040" cy="1456344"/>
        </p:xfrm>
        <a:graphic>
          <a:graphicData uri="http://schemas.openxmlformats.org/drawingml/2006/table">
            <a:tbl>
              <a:tblPr firstRow="1">
                <a:tableStyleId>{2A488322-F2BA-4B5B-9748-0D474271808F}</a:tableStyleId>
              </a:tblPr>
              <a:tblGrid>
                <a:gridCol w="2245680">
                  <a:extLst>
                    <a:ext uri="{9D8B030D-6E8A-4147-A177-3AD203B41FA5}">
                      <a16:colId xmlns:a16="http://schemas.microsoft.com/office/drawing/2014/main" val="1902117154"/>
                    </a:ext>
                  </a:extLst>
                </a:gridCol>
                <a:gridCol w="2245680">
                  <a:extLst>
                    <a:ext uri="{9D8B030D-6E8A-4147-A177-3AD203B41FA5}">
                      <a16:colId xmlns:a16="http://schemas.microsoft.com/office/drawing/2014/main" val="1904521774"/>
                    </a:ext>
                  </a:extLst>
                </a:gridCol>
                <a:gridCol w="2245680">
                  <a:extLst>
                    <a:ext uri="{9D8B030D-6E8A-4147-A177-3AD203B41FA5}">
                      <a16:colId xmlns:a16="http://schemas.microsoft.com/office/drawing/2014/main" val="2605332690"/>
                    </a:ext>
                  </a:extLst>
                </a:gridCol>
              </a:tblGrid>
              <a:tr h="233402">
                <a:tc gridSpan="3">
                  <a:txBody>
                    <a:bodyPr/>
                    <a:lstStyle/>
                    <a:p>
                      <a:r>
                        <a:rPr lang="en-GB" sz="975" b="1" kern="1200" spc="-10" noProof="0">
                          <a:solidFill>
                            <a:schemeClr val="tx2"/>
                          </a:solidFill>
                          <a:latin typeface="+mn-lt"/>
                          <a:ea typeface="+mn-ea"/>
                          <a:cs typeface="+mn-cs"/>
                        </a:rPr>
                        <a:t>CO₂e reduction targets </a:t>
                      </a:r>
                      <a:r>
                        <a:rPr lang="en-GB" sz="975" b="0" kern="1200" spc="-10" noProof="0">
                          <a:solidFill>
                            <a:schemeClr val="tx2"/>
                          </a:solidFill>
                          <a:latin typeface="+mn-lt"/>
                          <a:ea typeface="+mn-ea"/>
                          <a:cs typeface="+mn-cs"/>
                        </a:rPr>
                        <a:t>(para. 53 a–d)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9213315"/>
                  </a:ext>
                </a:extLst>
              </a:tr>
              <a:tr h="288588">
                <a:tc>
                  <a:txBody>
                    <a:bodyPr/>
                    <a:lstStyle/>
                    <a:p>
                      <a:pPr algn="l"/>
                      <a:endParaRPr lang="en-GB"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l"/>
                      <a:r>
                        <a:rPr lang="en-GB" sz="975" b="1" kern="1200" spc="-10" noProof="0">
                          <a:solidFill>
                            <a:schemeClr val="tx2"/>
                          </a:solidFill>
                          <a:latin typeface="+mn-lt"/>
                          <a:ea typeface="+mn-ea"/>
                          <a:cs typeface="+mn-cs"/>
                        </a:rPr>
                        <a:t>Target in year </a:t>
                      </a:r>
                      <a:r>
                        <a:rPr lang="en-GB" sz="975" b="1" kern="1200" spc="-10" noProof="0">
                          <a:solidFill>
                            <a:srgbClr val="1B4528"/>
                          </a:solidFill>
                          <a:latin typeface="+mn-lt"/>
                          <a:ea typeface="+mn-ea"/>
                          <a:cs typeface="+mn-cs"/>
                        </a:rPr>
                        <a:t>{{baseline_year-1}}</a:t>
                      </a:r>
                      <a:endParaRPr lang="en-GB" sz="975" b="0" kern="1200" spc="-10" noProof="0">
                        <a:solidFill>
                          <a:srgbClr val="1B4528"/>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CO₂e emissions in base year:</a:t>
                      </a:r>
                      <a:r>
                        <a:rPr lang="en-GB" sz="975" b="0" kern="1200" spc="-10" noProof="0">
                          <a:solidFill>
                            <a:schemeClr val="tx2"/>
                          </a:solidFill>
                          <a:latin typeface="+mn-lt"/>
                          <a:ea typeface="+mn-ea"/>
                          <a:cs typeface="+mn-cs"/>
                        </a:rPr>
                        <a:t> </a:t>
                      </a:r>
                      <a:r>
                        <a:rPr lang="en-GB" sz="975" b="1" kern="1200" spc="-10" noProof="0">
                          <a:solidFill>
                            <a:srgbClr val="1B4528"/>
                          </a:solidFill>
                          <a:latin typeface="+mn-lt"/>
                          <a:ea typeface="+mn-ea"/>
                          <a:cs typeface="+mn-cs"/>
                        </a:rPr>
                        <a:t>{{Insert baseline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Scope 1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n-GB" sz="975" b="0" i="0" u="none" strike="noStrike" noProof="0">
                          <a:solidFill>
                            <a:srgbClr val="1B4528"/>
                          </a:solidFill>
                          <a:effectLst/>
                          <a:latin typeface="Inter"/>
                        </a:rPr>
                        <a:t>{{scope1_target}}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n-GB" sz="975" b="0" i="0" u="none" strike="noStrike" noProof="0">
                          <a:solidFill>
                            <a:srgbClr val="1B4528"/>
                          </a:solidFill>
                          <a:effectLst/>
                          <a:latin typeface="Inter"/>
                        </a:rPr>
                        <a:t>{{scope1_baseline}}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8588">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Scope 2</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n-GB" sz="975" b="0" i="0" u="none" strike="noStrike" noProof="0">
                          <a:solidFill>
                            <a:srgbClr val="1B4528"/>
                          </a:solidFill>
                          <a:effectLst/>
                          <a:latin typeface="Inter"/>
                        </a:rPr>
                        <a:t>{{scope2_target}}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n-GB" sz="975" b="0" i="0" u="none" strike="noStrike" noProof="0">
                          <a:solidFill>
                            <a:srgbClr val="1B4528"/>
                          </a:solidFill>
                          <a:effectLst/>
                          <a:latin typeface="Inter"/>
                        </a:rPr>
                        <a:t>{{scope2_baseline}}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6173805"/>
                  </a:ext>
                </a:extLst>
              </a:tr>
              <a:tr h="288588">
                <a:tc>
                  <a:txBody>
                    <a:bodyPr/>
                    <a:lstStyle/>
                    <a:p>
                      <a:pPr algn="l"/>
                      <a:r>
                        <a:rPr lang="en-GB" sz="975" b="1" kern="1200" spc="-10" noProof="0">
                          <a:solidFill>
                            <a:schemeClr val="tx2"/>
                          </a:solidFill>
                          <a:latin typeface="+mn-lt"/>
                          <a:ea typeface="+mn-ea"/>
                          <a:cs typeface="+mn-cs"/>
                        </a:rPr>
                        <a:t>Scope 3</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n-GB" sz="975" b="0" i="0" u="none" strike="noStrike" noProof="0">
                          <a:solidFill>
                            <a:srgbClr val="1B4528"/>
                          </a:solidFill>
                          <a:effectLst/>
                          <a:latin typeface="Inter"/>
                        </a:rPr>
                        <a:t>{{scope3_target}}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rtl="0" fontAlgn="ctr" algn="r">
                        <a:buNone/>
                      </a:pPr>
                      <a:r>
                        <a:rPr lang="en-GB" sz="975" b="0" i="0" u="none" strike="noStrike" noProof="0">
                          <a:solidFill>
                            <a:srgbClr val="1B4528"/>
                          </a:solidFill>
                          <a:effectLst/>
                          <a:latin typeface="Inter"/>
                        </a:rPr>
                        <a:t>{{scope3_baseline}}</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bl>
          </a:graphicData>
        </a:graphic>
      </p:graphicFrame>
      <p:graphicFrame>
        <p:nvGraphicFramePr>
          <p:cNvPr id="7" name="Table 21">
            <a:extLst>
              <a:ext uri="{FF2B5EF4-FFF2-40B4-BE49-F238E27FC236}">
                <a16:creationId xmlns:a16="http://schemas.microsoft.com/office/drawing/2014/main" id="{C5FA6A58-54C9-F06A-6108-64DA6FC7E9AC}"/>
              </a:ext>
            </a:extLst>
          </p:cNvPr>
          <p:cNvGraphicFramePr>
            <a:graphicFrameLocks noGrp="1"/>
          </p:cNvGraphicFramePr>
          <p:nvPr>
            <p:extLst>
              <p:ext uri="{D42A27DB-BD31-4B8C-83A1-F6EECF244321}">
                <p14:modId xmlns:p14="http://schemas.microsoft.com/office/powerpoint/2010/main" val="2496809021"/>
              </p:ext>
            </p:extLst>
          </p:nvPr>
        </p:nvGraphicFramePr>
        <p:xfrm>
          <a:off x="411480" y="5261327"/>
          <a:ext cx="6737040" cy="633415"/>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75299">
                <a:tc>
                  <a:txBody>
                    <a:bodyPr/>
                    <a:lstStyle/>
                    <a:p>
                      <a:pPr marL="0" algn="l" defTabSz="914400" rtl="0" eaLnBrk="1" latinLnBrk="0" hangingPunct="1"/>
                      <a:r>
                        <a:rPr lang="en-GB" sz="975" b="1" kern="1200" spc="-10" noProof="0">
                          <a:solidFill>
                            <a:schemeClr val="tx2"/>
                          </a:solidFill>
                          <a:latin typeface="+mn-lt"/>
                          <a:ea typeface="+mn-ea"/>
                          <a:cs typeface="+mn-cs"/>
                        </a:rPr>
                        <a:t>List of the main actions </a:t>
                      </a:r>
                      <a:r>
                        <a:rPr lang="en-GB" sz="975" b="1" kern="1200" noProof="0">
                          <a:solidFill>
                            <a:srgbClr val="1B4528"/>
                          </a:solidFill>
                          <a:latin typeface="+mn-lt"/>
                          <a:ea typeface="+mn-ea"/>
                          <a:cs typeface="+mn-cs"/>
                        </a:rPr>
                        <a:t>{{Company name}} </a:t>
                      </a:r>
                      <a:r>
                        <a:rPr lang="en-GB" sz="975" b="0" kern="1200" noProof="0">
                          <a:solidFill>
                            <a:srgbClr val="1B4528"/>
                          </a:solidFill>
                          <a:latin typeface="+mn-lt"/>
                          <a:ea typeface="+mn-ea"/>
                          <a:cs typeface="+mn-cs"/>
                        </a:rPr>
                        <a:t> </a:t>
                      </a:r>
                      <a:r>
                        <a:rPr lang="en-GB" sz="975" b="1" kern="1200" spc="-10" noProof="0">
                          <a:solidFill>
                            <a:schemeClr val="tx2"/>
                          </a:solidFill>
                          <a:latin typeface="+mn-lt"/>
                          <a:ea typeface="+mn-ea"/>
                          <a:cs typeface="+mn-cs"/>
                        </a:rPr>
                        <a:t>is implementing to achieve the CO₂e reduction targets </a:t>
                      </a:r>
                      <a:r>
                        <a:rPr lang="en-GB" sz="975" b="0" kern="1200" spc="-10" noProof="0">
                          <a:solidFill>
                            <a:schemeClr val="tx2"/>
                          </a:solidFill>
                          <a:latin typeface="+mn-lt"/>
                          <a:ea typeface="+mn-ea"/>
                          <a:cs typeface="+mn-cs"/>
                        </a:rPr>
                        <a:t>(para. 53e)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58116">
                <a:tc>
                  <a:txBody>
                    <a:bodyPr/>
                    <a:lstStyle/>
                    <a:p>
                      <a:pPr algn="l"/>
                      <a:r>
                        <a:rPr lang="en-GB" sz="975" b="0" noProof="0" dirty="0">
                          <a:solidFill>
                            <a:srgbClr val="1B4528"/>
                          </a:solidFill>
                        </a:rPr>
                        <a:t>{{</a:t>
                      </a:r>
                      <a:r>
                        <a:rPr lang="en-GB" sz="975" b="0" noProof="0" dirty="0" err="1">
                          <a:solidFill>
                            <a:srgbClr val="1B4528"/>
                          </a:solidFill>
                        </a:rPr>
                        <a:t>mainaction</a:t>
                      </a:r>
                      <a:r>
                        <a:rPr lang="en-GB" sz="975" b="0" noProof="0" dirty="0">
                          <a:solidFill>
                            <a:srgbClr val="1B4528"/>
                          </a:solidFill>
                        </a:rPr>
                        <a:t>}}</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19" name="Title 2">
            <a:extLst>
              <a:ext uri="{FF2B5EF4-FFF2-40B4-BE49-F238E27FC236}">
                <a16:creationId xmlns:a16="http://schemas.microsoft.com/office/drawing/2014/main" id="{4A504496-2FBB-B5B8-A62A-D1611D632D81}"/>
              </a:ext>
            </a:extLst>
          </p:cNvPr>
          <p:cNvSpPr txBox="1">
            <a:spLocks/>
          </p:cNvSpPr>
          <p:nvPr/>
        </p:nvSpPr>
        <p:spPr>
          <a:xfrm>
            <a:off x="411480" y="328158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t>CO₂e reduction targets (C3)</a:t>
            </a:r>
          </a:p>
        </p:txBody>
      </p:sp>
      <p:graphicFrame>
        <p:nvGraphicFramePr>
          <p:cNvPr id="21" name="Table 18">
            <a:extLst>
              <a:ext uri="{FF2B5EF4-FFF2-40B4-BE49-F238E27FC236}">
                <a16:creationId xmlns:a16="http://schemas.microsoft.com/office/drawing/2014/main" id="{7441C3F1-F61D-6925-5ACB-A4A2D6F92D40}"/>
              </a:ext>
            </a:extLst>
          </p:cNvPr>
          <p:cNvGraphicFramePr>
            <a:graphicFrameLocks noGrp="1"/>
          </p:cNvGraphicFramePr>
          <p:nvPr>
            <p:extLst>
              <p:ext uri="{D42A27DB-BD31-4B8C-83A1-F6EECF244321}">
                <p14:modId xmlns:p14="http://schemas.microsoft.com/office/powerpoint/2010/main" val="3697670750"/>
              </p:ext>
            </p:extLst>
          </p:nvPr>
        </p:nvGraphicFramePr>
        <p:xfrm>
          <a:off x="411480" y="1974320"/>
          <a:ext cx="6737040" cy="1067237"/>
        </p:xfrm>
        <a:graphic>
          <a:graphicData uri="http://schemas.openxmlformats.org/drawingml/2006/table">
            <a:tbl>
              <a:tblPr firstRow="1">
                <a:tableStyleId>{2A488322-F2BA-4B5B-9748-0D474271808F}</a:tableStyleId>
              </a:tblPr>
              <a:tblGrid>
                <a:gridCol w="5333961">
                  <a:extLst>
                    <a:ext uri="{9D8B030D-6E8A-4147-A177-3AD203B41FA5}">
                      <a16:colId xmlns:a16="http://schemas.microsoft.com/office/drawing/2014/main" val="2698153288"/>
                    </a:ext>
                  </a:extLst>
                </a:gridCol>
                <a:gridCol w="1403079">
                  <a:extLst>
                    <a:ext uri="{9D8B030D-6E8A-4147-A177-3AD203B41FA5}">
                      <a16:colId xmlns:a16="http://schemas.microsoft.com/office/drawing/2014/main" val="656209149"/>
                    </a:ext>
                  </a:extLst>
                </a:gridCol>
              </a:tblGrid>
              <a:tr h="239271">
                <a:tc>
                  <a:txBody>
                    <a:bodyPr/>
                    <a:lstStyle/>
                    <a:p>
                      <a:pPr>
                        <a:lnSpc>
                          <a:spcPct val="106000"/>
                        </a:lnSpc>
                      </a:pPr>
                      <a:r>
                        <a:rPr lang="en-GB" sz="975" b="1" noProof="0">
                          <a:solidFill>
                            <a:schemeClr val="tx2"/>
                          </a:solidFill>
                        </a:rPr>
                        <a:t>Greenhouse gas emissions –</a:t>
                      </a:r>
                      <a:r>
                        <a:rPr lang="en-GB" sz="975" b="0" noProof="0">
                          <a:solidFill>
                            <a:schemeClr val="tx2"/>
                          </a:solidFill>
                        </a:rPr>
                        <a:t> (added to para. 33)</a:t>
                      </a: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6000"/>
                        </a:lnSpc>
                        <a:spcBef>
                          <a:spcPts val="0"/>
                        </a:spcBef>
                        <a:spcAft>
                          <a:spcPts val="0"/>
                        </a:spcAft>
                        <a:buClrTx/>
                        <a:buSzTx/>
                        <a:buFontTx/>
                        <a:buNone/>
                        <a:tabLst/>
                        <a:defRPr/>
                      </a:pPr>
                      <a:r>
                        <a:rPr lang="en-GB" sz="975" b="1" noProof="0">
                          <a:solidFill>
                            <a:schemeClr val="tx2"/>
                          </a:solidFill>
                        </a:rPr>
                        <a:t>Year </a:t>
                      </a:r>
                      <a:r>
                        <a:rPr lang="en-GB" sz="975" b="1" noProof="0">
                          <a:solidFill>
                            <a:srgbClr val="1B4528"/>
                          </a:solidFill>
                          <a:latin typeface="Calibri"/>
                          <a:cs typeface="Calibri"/>
                        </a:rPr>
                        <a:t>{{Insert year}}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334791">
                <a:tc>
                  <a:txBody>
                    <a:bodyPr/>
                    <a:lstStyle/>
                    <a:p>
                      <a:pPr lvl="0" algn="r">
                        <a:lnSpc>
                          <a:spcPct val="100000"/>
                        </a:lnSpc>
                        <a:spcBef>
                          <a:spcPts val="0"/>
                        </a:spcBef>
                        <a:spcAft>
                          <a:spcPts val="0"/>
                        </a:spcAft>
                        <a:buNone/>
                      </a:pPr>
                      <a:r>
                        <a:rPr lang="en-GB" sz="975" b="0" i="0" u="none" strike="noStrike" kern="1200" noProof="0" dirty="0">
                          <a:solidFill>
                            <a:srgbClr val="1B4528"/>
                          </a:solidFill>
                          <a:latin typeface="IBM Plex Sans"/>
                          <a:ea typeface="+mn-ea"/>
                          <a:cs typeface="+mn-cs"/>
                        </a:rPr>
                        <a:t>{{scope3_description_table}}</a:t>
                      </a:r>
                      <a:endParaRPr lang="en-GB" dirty="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a:txBody>
                    <a:bodyPr/>
                    <a:lstStyle/>
                    <a:p>
                      <a:pPr lvl="0" algn="r">
                        <a:lnSpc>
                          <a:spcPct val="100000"/>
                        </a:lnSpc>
                        <a:spcBef>
                          <a:spcPts val="0"/>
                        </a:spcBef>
                        <a:spcAft>
                          <a:spcPts val="0"/>
                        </a:spcAft>
                        <a:buNone/>
                      </a:pPr>
                      <a:r>
                        <a:rPr lang="en-GB" sz="975" b="0" i="0" u="none" strike="noStrike" kern="1200" cap="none" spc="0" normalizeH="0" baseline="0" noProof="0">
                          <a:ln>
                            <a:noFill/>
                          </a:ln>
                          <a:solidFill>
                            <a:srgbClr val="1B4528"/>
                          </a:solidFill>
                          <a:effectLst/>
                          <a:uLnTx/>
                          <a:uFillTx/>
                          <a:latin typeface="IBM Plex Sans"/>
                          <a:ea typeface="+mn-ea"/>
                          <a:cs typeface="+mn-cs"/>
                        </a:rPr>
                        <a:t>{{scope3_emissions_table}}</a:t>
                      </a:r>
                      <a:endParaRPr lang="en-GB"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extLst>
                  <a:ext uri="{0D108BD9-81ED-4DB2-BD59-A6C34878D82A}">
                    <a16:rowId xmlns:a16="http://schemas.microsoft.com/office/drawing/2014/main" val="1775587356"/>
                  </a:ext>
                </a:extLst>
              </a:tr>
              <a:tr h="235394">
                <a:tc>
                  <a:txBody>
                    <a:bodyPr/>
                    <a:lstStyle/>
                    <a:p>
                      <a:pPr>
                        <a:lnSpc>
                          <a:spcPct val="106000"/>
                        </a:lnSpc>
                      </a:pPr>
                      <a:r>
                        <a:rPr lang="en-GB" sz="975" b="1" noProof="0">
                          <a:solidFill>
                            <a:schemeClr val="tx2"/>
                          </a:solidFill>
                        </a:rPr>
                        <a:t>Total Scope 3 CO₂e emissions (location-based)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lvl="0" algn="r">
                        <a:lnSpc>
                          <a:spcPct val="100000"/>
                        </a:lnSpc>
                        <a:spcBef>
                          <a:spcPts val="0"/>
                        </a:spcBef>
                        <a:spcAft>
                          <a:spcPts val="0"/>
                        </a:spcAft>
                        <a:buNone/>
                      </a:pPr>
                      <a:r>
                        <a:rPr lang="en-GB" sz="975" b="0" i="0" u="none" strike="noStrike" kern="1200" cap="none" spc="0" normalizeH="0" baseline="0" noProof="0">
                          <a:ln>
                            <a:noFill/>
                          </a:ln>
                          <a:solidFill>
                            <a:srgbClr val="1B4528"/>
                          </a:solidFill>
                          <a:effectLst/>
                          <a:uLnTx/>
                          <a:uFillTx/>
                          <a:latin typeface="IBM Plex Sans"/>
                          <a:ea typeface="+mn-ea"/>
                          <a:cs typeface="+mn-cs"/>
                        </a:rPr>
                        <a:t>{{scope3}}</a:t>
                      </a:r>
                      <a:endParaRPr lang="en-GB" sz="975" b="0" i="0" u="none" strike="noStrike" kern="1200" cap="none" spc="0" normalizeH="0" baseline="0" noProof="0">
                        <a:ln>
                          <a:noFill/>
                        </a:ln>
                        <a:solidFill>
                          <a:srgbClr val="000000"/>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r h="235394">
                <a:tc>
                  <a:txBody>
                    <a:bodyPr/>
                    <a:lstStyle/>
                    <a:p>
                      <a:pPr>
                        <a:lnSpc>
                          <a:spcPct val="106000"/>
                        </a:lnSpc>
                      </a:pPr>
                      <a:r>
                        <a:rPr lang="en-GB" sz="975" b="1" noProof="0">
                          <a:solidFill>
                            <a:schemeClr val="tx2"/>
                          </a:solidFill>
                        </a:rPr>
                        <a:t>Total CO₂e emissions for Scope 1, 2 and 3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6000"/>
                        </a:lnSpc>
                        <a:spcBef>
                          <a:spcPts val="0"/>
                        </a:spcBef>
                        <a:spcAft>
                          <a:spcPts val="0"/>
                        </a:spcAft>
                        <a:buClrTx/>
                        <a:buSzTx/>
                        <a:buFontTx/>
                        <a:buNone/>
                        <a:tabLst/>
                        <a:defRPr/>
                      </a:pPr>
                      <a:r>
                        <a:rPr kumimoji="0" lang="en-GB" sz="975" b="0" i="0" u="none" strike="noStrike" kern="1200" cap="none" spc="0" normalizeH="0" baseline="0" noProof="0" dirty="0">
                          <a:ln>
                            <a:noFill/>
                          </a:ln>
                          <a:solidFill>
                            <a:srgbClr val="1B4528"/>
                          </a:solidFill>
                          <a:effectLst/>
                          <a:uLnTx/>
                          <a:uFillTx/>
                          <a:latin typeface="+mn-lt"/>
                          <a:ea typeface="+mn-ea"/>
                          <a:cs typeface="+mn-cs"/>
                        </a:rPr>
                        <a:t>{{</a:t>
                      </a:r>
                      <a:r>
                        <a:rPr kumimoji="0" lang="en-GB" sz="975" b="0" i="0" u="none" strike="noStrike" kern="1200" cap="none" spc="0" normalizeH="0" baseline="0" noProof="0" dirty="0" err="1">
                          <a:ln>
                            <a:noFill/>
                          </a:ln>
                          <a:solidFill>
                            <a:srgbClr val="1B4528"/>
                          </a:solidFill>
                          <a:effectLst/>
                          <a:uLnTx/>
                          <a:uFillTx/>
                          <a:latin typeface="+mn-lt"/>
                          <a:ea typeface="+mn-ea"/>
                          <a:cs typeface="+mn-cs"/>
                        </a:rPr>
                        <a:t>total_all_scopes</a:t>
                      </a:r>
                      <a:r>
                        <a:rPr kumimoji="0" lang="en-GB" sz="975" b="0" i="0" u="none" strike="noStrike" kern="1200" cap="none" spc="0" normalizeH="0" baseline="0" noProof="0" dirty="0">
                          <a:ln>
                            <a:noFill/>
                          </a:ln>
                          <a:solidFill>
                            <a:srgbClr val="1B4528"/>
                          </a:solidFill>
                          <a:effectLst/>
                          <a:uLnTx/>
                          <a:uFillTx/>
                          <a:latin typeface="+mn-lt"/>
                          <a:ea typeface="+mn-ea"/>
                          <a:cs typeface="+mn-cs"/>
                        </a:rPr>
                        <a:t>}}</a:t>
                      </a:r>
                      <a:endParaRPr kumimoji="0" lang="en-GB" sz="975" b="0" i="0" u="none" strike="noStrike" kern="1200" cap="none" spc="0" normalizeH="0" baseline="0" noProof="0" dirty="0">
                        <a:ln>
                          <a:noFill/>
                        </a:ln>
                        <a:solidFill>
                          <a:srgbClr val="1B4528"/>
                        </a:solidFill>
                        <a:effectLst/>
                        <a:uLnTx/>
                        <a:uFillTx/>
                        <a:latin typeface="IBM Plex Sans"/>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423150282"/>
                  </a:ext>
                </a:extLst>
              </a:tr>
            </a:tbl>
          </a:graphicData>
        </a:graphic>
      </p:graphicFrame>
      <p:sp>
        <p:nvSpPr>
          <p:cNvPr id="23" name="Tekstfelt 22">
            <a:extLst>
              <a:ext uri="{FF2B5EF4-FFF2-40B4-BE49-F238E27FC236}">
                <a16:creationId xmlns:a16="http://schemas.microsoft.com/office/drawing/2014/main" id="{2E9E5E59-EFEC-9D92-05CF-169227F7ABCF}"/>
              </a:ext>
            </a:extLst>
          </p:cNvPr>
          <p:cNvSpPr txBox="1"/>
          <p:nvPr/>
        </p:nvSpPr>
        <p:spPr>
          <a:xfrm>
            <a:off x="411480" y="1204244"/>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provided an overview of Scope 3 greenhouse gas emissions in accordance with the GHG Protocol. The undertaking states total emissions and location-based Scope 3 emissions. The undertaking’s CO₂e reduction targets are set out, including the undertaking’s main actions to meet the reduction target</a:t>
            </a:r>
            <a:r>
              <a:rPr lang="en-GB" sz="975" noProof="0">
                <a:solidFill>
                  <a:schemeClr val="tx2"/>
                </a:solidFill>
                <a:latin typeface="Inter"/>
              </a:rPr>
              <a:t>s.</a:t>
            </a:r>
          </a:p>
        </p:txBody>
      </p:sp>
      <p:sp>
        <p:nvSpPr>
          <p:cNvPr id="4" name="Title 2">
            <a:extLst>
              <a:ext uri="{FF2B5EF4-FFF2-40B4-BE49-F238E27FC236}">
                <a16:creationId xmlns:a16="http://schemas.microsoft.com/office/drawing/2014/main" id="{FBB97B4D-08D8-D90C-1409-BA753C4F4AD8}"/>
              </a:ext>
            </a:extLst>
          </p:cNvPr>
          <p:cNvSpPr txBox="1">
            <a:spLocks/>
          </p:cNvSpPr>
          <p:nvPr/>
        </p:nvSpPr>
        <p:spPr>
          <a:xfrm>
            <a:off x="411480" y="614155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t>Climate transition (C3)</a:t>
            </a:r>
          </a:p>
        </p:txBody>
      </p:sp>
      <p:graphicFrame>
        <p:nvGraphicFramePr>
          <p:cNvPr id="6" name="Table 21">
            <a:extLst>
              <a:ext uri="{FF2B5EF4-FFF2-40B4-BE49-F238E27FC236}">
                <a16:creationId xmlns:a16="http://schemas.microsoft.com/office/drawing/2014/main" id="{2DE6B17C-F4B0-464A-05E7-A58062EF922E}"/>
              </a:ext>
            </a:extLst>
          </p:cNvPr>
          <p:cNvGraphicFramePr>
            <a:graphicFrameLocks noGrp="1"/>
          </p:cNvGraphicFramePr>
          <p:nvPr>
            <p:extLst>
              <p:ext uri="{D42A27DB-BD31-4B8C-83A1-F6EECF244321}">
                <p14:modId xmlns:p14="http://schemas.microsoft.com/office/powerpoint/2010/main" val="572220017"/>
              </p:ext>
            </p:extLst>
          </p:nvPr>
        </p:nvGraphicFramePr>
        <p:xfrm>
          <a:off x="411480" y="8896659"/>
          <a:ext cx="6737040" cy="1020741"/>
        </p:xfrm>
        <a:graphic>
          <a:graphicData uri="http://schemas.openxmlformats.org/drawingml/2006/table">
            <a:tbl>
              <a:tblPr firstRow="1">
                <a:tableStyleId>{2A488322-F2BA-4B5B-9748-0D474271808F}</a:tableStyleId>
              </a:tblPr>
              <a:tblGrid>
                <a:gridCol w="3368520">
                  <a:extLst>
                    <a:ext uri="{9D8B030D-6E8A-4147-A177-3AD203B41FA5}">
                      <a16:colId xmlns:a16="http://schemas.microsoft.com/office/drawing/2014/main" val="2119413191"/>
                    </a:ext>
                  </a:extLst>
                </a:gridCol>
                <a:gridCol w="3368520">
                  <a:extLst>
                    <a:ext uri="{9D8B030D-6E8A-4147-A177-3AD203B41FA5}">
                      <a16:colId xmlns:a16="http://schemas.microsoft.com/office/drawing/2014/main" val="970155923"/>
                    </a:ext>
                  </a:extLst>
                </a:gridCol>
              </a:tblGrid>
              <a:tr h="272971">
                <a:tc gridSpan="2">
                  <a:txBody>
                    <a:bodyPr/>
                    <a:lstStyle/>
                    <a:p>
                      <a:r>
                        <a:rPr lang="en-GB" sz="975" b="1" kern="1200" spc="-10" noProof="0">
                          <a:solidFill>
                            <a:schemeClr val="tx2"/>
                          </a:solidFill>
                          <a:latin typeface="+mn-lt"/>
                          <a:ea typeface="+mn-ea"/>
                          <a:cs typeface="+mn-cs"/>
                        </a:rPr>
                        <a:t>Future transition plan </a:t>
                      </a:r>
                      <a:r>
                        <a:rPr lang="en-GB" sz="975" b="0" kern="1200" spc="-10" noProof="0">
                          <a:solidFill>
                            <a:schemeClr val="tx2"/>
                          </a:solidFill>
                          <a:latin typeface="+mn-lt"/>
                          <a:ea typeface="+mn-ea"/>
                          <a:cs typeface="+mn-cs"/>
                        </a:rPr>
                        <a:t>(para. 55)</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algn="l"/>
                      <a:endParaRPr lang="en-GB" sz="72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373885">
                <a:tc>
                  <a:txBody>
                    <a:bodyPr/>
                    <a:lstStyle/>
                    <a:p>
                      <a:pPr algn="l"/>
                      <a:r>
                        <a:rPr lang="en-GB" sz="975" b="1" kern="1200" noProof="0">
                          <a:solidFill>
                            <a:srgbClr val="1B4528"/>
                          </a:solidFill>
                          <a:latin typeface="+mn-lt"/>
                          <a:ea typeface="+mn-ea"/>
                          <a:cs typeface="+mn-cs"/>
                        </a:rPr>
                        <a:t>{{company_name}} </a:t>
                      </a:r>
                      <a:r>
                        <a:rPr lang="en-GB" sz="975" b="1" kern="1200" noProof="0">
                          <a:solidFill>
                            <a:schemeClr val="tx2"/>
                          </a:solidFill>
                          <a:latin typeface="+mn-lt"/>
                          <a:ea typeface="+mn-ea"/>
                          <a:cs typeface="+mn-cs"/>
                        </a:rPr>
                        <a:t>will adopt a specific transition plan </a:t>
                      </a:r>
                      <a:r>
                        <a:rPr lang="en-GB" sz="975" b="1" noProof="0">
                          <a:solidFill>
                            <a:schemeClr val="tx2"/>
                          </a:solidFill>
                        </a:rPr>
                        <a:t>for climate change mitigation</a:t>
                      </a:r>
                      <a:endParaRPr lang="en-GB"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n-GB" sz="975" b="0" i="0" u="none" strike="noStrike" noProof="0">
                          <a:solidFill>
                            <a:srgbClr val="1B4528"/>
                          </a:solidFill>
                          <a:effectLst/>
                          <a:latin typeface="Inter"/>
                        </a:rPr>
                        <a:t>{{transition_plan?}}</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373885">
                <a:tc>
                  <a:txBody>
                    <a:bodyPr/>
                    <a:lstStyle/>
                    <a:p>
                      <a:pPr algn="l"/>
                      <a:r>
                        <a:rPr lang="en-GB" sz="975" b="1" kern="1200" noProof="0">
                          <a:solidFill>
                            <a:schemeClr val="tx2"/>
                          </a:solidFill>
                          <a:latin typeface="+mn-lt"/>
                          <a:ea typeface="+mn-ea"/>
                          <a:cs typeface="+mn-cs"/>
                        </a:rPr>
                        <a:t>Timing of adoption of the transition plan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transition_plan_date</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68096352"/>
                  </a:ext>
                </a:extLst>
              </a:tr>
            </a:tbl>
          </a:graphicData>
        </a:graphic>
      </p:graphicFrame>
      <p:graphicFrame>
        <p:nvGraphicFramePr>
          <p:cNvPr id="8" name="Table 21">
            <a:extLst>
              <a:ext uri="{FF2B5EF4-FFF2-40B4-BE49-F238E27FC236}">
                <a16:creationId xmlns:a16="http://schemas.microsoft.com/office/drawing/2014/main" id="{E6BB71D4-7167-ADE5-0F8F-5DCD2A18B1DD}"/>
              </a:ext>
            </a:extLst>
          </p:cNvPr>
          <p:cNvGraphicFramePr>
            <a:graphicFrameLocks noGrp="1"/>
          </p:cNvGraphicFramePr>
          <p:nvPr>
            <p:extLst>
              <p:ext uri="{D42A27DB-BD31-4B8C-83A1-F6EECF244321}">
                <p14:modId xmlns:p14="http://schemas.microsoft.com/office/powerpoint/2010/main" val="480748797"/>
              </p:ext>
            </p:extLst>
          </p:nvPr>
        </p:nvGraphicFramePr>
        <p:xfrm>
          <a:off x="411480" y="7128927"/>
          <a:ext cx="6737040" cy="1169467"/>
        </p:xfrm>
        <a:graphic>
          <a:graphicData uri="http://schemas.openxmlformats.org/drawingml/2006/table">
            <a:tbl>
              <a:tblPr firstRow="1">
                <a:tableStyleId>{2A488322-F2BA-4B5B-9748-0D474271808F}</a:tableStyleId>
              </a:tblPr>
              <a:tblGrid>
                <a:gridCol w="6737040">
                  <a:extLst>
                    <a:ext uri="{9D8B030D-6E8A-4147-A177-3AD203B41FA5}">
                      <a16:colId xmlns:a16="http://schemas.microsoft.com/office/drawing/2014/main" val="2119413191"/>
                    </a:ext>
                  </a:extLst>
                </a:gridCol>
              </a:tblGrid>
              <a:tr h="221082">
                <a:tc>
                  <a:txBody>
                    <a:bodyPr/>
                    <a:lstStyle/>
                    <a:p>
                      <a:r>
                        <a:rPr lang="en-GB" sz="975" b="1" kern="1200" spc="-10" noProof="0">
                          <a:solidFill>
                            <a:schemeClr val="tx2"/>
                          </a:solidFill>
                          <a:latin typeface="+mn-lt"/>
                          <a:ea typeface="+mn-ea"/>
                          <a:cs typeface="+mn-cs"/>
                        </a:rPr>
                        <a:t>Transition plan for climate change mitigation </a:t>
                      </a:r>
                      <a:r>
                        <a:rPr lang="en-GB" sz="975" b="0" kern="1200" spc="-10" noProof="0">
                          <a:solidFill>
                            <a:schemeClr val="tx2"/>
                          </a:solidFill>
                          <a:latin typeface="+mn-lt"/>
                          <a:ea typeface="+mn-ea"/>
                          <a:cs typeface="+mn-cs"/>
                        </a:rPr>
                        <a:t>(para. 54)</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948385">
                <a:tc>
                  <a:txBody>
                    <a:bodyPr/>
                    <a:lstStyle/>
                    <a:p>
                      <a:pPr algn="l"/>
                      <a:r>
                        <a:rPr lang="en-GB" sz="975" b="0" noProof="0" dirty="0">
                          <a:solidFill>
                            <a:srgbClr val="1B4528"/>
                          </a:solidFill>
                        </a:rPr>
                        <a:t>{{</a:t>
                      </a:r>
                      <a:r>
                        <a:rPr lang="en-GB" sz="975" b="0" noProof="0" dirty="0" err="1">
                          <a:solidFill>
                            <a:srgbClr val="1B4528"/>
                          </a:solidFill>
                        </a:rPr>
                        <a:t>transition_plan</a:t>
                      </a:r>
                      <a:r>
                        <a:rPr lang="en-GB" sz="975" b="0" noProof="0" dirty="0">
                          <a:solidFill>
                            <a:srgbClr val="1B4528"/>
                          </a:solidFill>
                        </a:rPr>
                        <a:t>}}</a:t>
                      </a:r>
                    </a:p>
                    <a:p>
                      <a:pPr algn="l"/>
                      <a:endParaRPr lang="en-GB" sz="975" b="0" noProof="0" dirty="0">
                        <a:solidFill>
                          <a:srgbClr val="1B4528"/>
                        </a:solidFill>
                      </a:endParaRPr>
                    </a:p>
                    <a:p>
                      <a:pPr algn="l"/>
                      <a:endParaRPr lang="en-GB" sz="975" b="0" noProof="0" dirty="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bl>
          </a:graphicData>
        </a:graphic>
      </p:graphicFrame>
      <p:sp>
        <p:nvSpPr>
          <p:cNvPr id="9" name="Tekstfelt 8">
            <a:extLst>
              <a:ext uri="{FF2B5EF4-FFF2-40B4-BE49-F238E27FC236}">
                <a16:creationId xmlns:a16="http://schemas.microsoft.com/office/drawing/2014/main" id="{D30F6DC8-D978-CF00-7945-B9B1AF621669}"/>
              </a:ext>
            </a:extLst>
          </p:cNvPr>
          <p:cNvSpPr txBox="1"/>
          <p:nvPr/>
        </p:nvSpPr>
        <p:spPr>
          <a:xfrm>
            <a:off x="411480" y="6594415"/>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information below relates to the undertaking’s transition plan for climate change mitigation. The transition is linked to the undertaking’s CO₂e reduction targets.</a:t>
            </a:r>
          </a:p>
        </p:txBody>
      </p:sp>
      <p:sp>
        <p:nvSpPr>
          <p:cNvPr id="10" name="Tekstfelt 9">
            <a:extLst>
              <a:ext uri="{FF2B5EF4-FFF2-40B4-BE49-F238E27FC236}">
                <a16:creationId xmlns:a16="http://schemas.microsoft.com/office/drawing/2014/main" id="{24B5A55D-2C44-16CE-514E-9715833483A7}"/>
              </a:ext>
            </a:extLst>
          </p:cNvPr>
          <p:cNvSpPr txBox="1"/>
          <p:nvPr/>
        </p:nvSpPr>
        <p:spPr>
          <a:xfrm>
            <a:off x="411480" y="8386928"/>
            <a:ext cx="6737040" cy="230823"/>
          </a:xfrm>
          <a:prstGeom prst="rect">
            <a:avLst/>
          </a:prstGeom>
          <a:noFill/>
        </p:spPr>
        <p:txBody>
          <a:bodyPr wrap="square">
            <a:spAutoFit/>
          </a:bodyPr>
          <a:lstStyle/>
          <a:p>
            <a:pPr rtl="0">
              <a:buNone/>
            </a:pPr>
            <a:r>
              <a:rPr lang="en-GB" sz="975" b="0" i="0" u="none" strike="noStrike" noProof="0">
                <a:solidFill>
                  <a:schemeClr val="tx2"/>
                </a:solidFill>
                <a:effectLst/>
                <a:latin typeface="Inter"/>
              </a:rPr>
              <a:t>This disclosure has been completed because the undertaking has stated that it will adopt a specific transition plan, together with the date of adoption.</a:t>
            </a:r>
            <a:endParaRPr lang="en-GB" noProof="0">
              <a:solidFill>
                <a:schemeClr val="tx2"/>
              </a:solidFill>
            </a:endParaRPr>
          </a:p>
        </p:txBody>
      </p:sp>
    </p:spTree>
    <p:extLst>
      <p:ext uri="{BB962C8B-B14F-4D97-AF65-F5344CB8AC3E}">
        <p14:creationId xmlns:p14="http://schemas.microsoft.com/office/powerpoint/2010/main" val="312394099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31222"/>
            <a:ext cx="6737040" cy="207741"/>
          </a:xfrm>
        </p:spPr>
        <p:txBody>
          <a:bodyPr/>
          <a:lstStyle/>
          <a:p>
            <a:r>
              <a:rPr lang="en-GB" noProof="0"/>
              <a:t>C</a:t>
            </a:r>
            <a:r>
              <a:rPr lang="en-GB" sz="1475" b="1" noProof="0">
                <a:solidFill>
                  <a:schemeClr val="tx2"/>
                </a:solidFill>
              </a:rPr>
              <a:t>limate risks (C4)</a:t>
            </a:r>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pic>
        <p:nvPicPr>
          <p:cNvPr id="16" name="Graphic 9">
            <a:extLst>
              <a:ext uri="{FF2B5EF4-FFF2-40B4-BE49-F238E27FC236}">
                <a16:creationId xmlns:a16="http://schemas.microsoft.com/office/drawing/2014/main" id="{033648F6-FE58-4D8D-89DB-42FC37C87063}"/>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4855421"/>
            <a:ext cx="6737040" cy="193826"/>
          </a:xfrm>
          <a:prstGeom prst="rect">
            <a:avLst/>
          </a:prstGeom>
        </p:spPr>
      </p:pic>
      <p:pic>
        <p:nvPicPr>
          <p:cNvPr id="9" name="Graphic 9">
            <a:extLst>
              <a:ext uri="{FF2B5EF4-FFF2-40B4-BE49-F238E27FC236}">
                <a16:creationId xmlns:a16="http://schemas.microsoft.com/office/drawing/2014/main" id="{701FC5B6-C71C-4B3D-30F9-DBF0A8F39E17}"/>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3"/>
              </a:ext>
            </a:extLst>
          </a:blip>
          <a:stretch>
            <a:fillRect/>
          </a:stretch>
        </p:blipFill>
        <p:spPr>
          <a:xfrm>
            <a:off x="411480" y="5649259"/>
            <a:ext cx="6737040" cy="193826"/>
          </a:xfrm>
          <a:prstGeom prst="rect">
            <a:avLst/>
          </a:prstGeom>
        </p:spPr>
      </p:pic>
      <p:graphicFrame>
        <p:nvGraphicFramePr>
          <p:cNvPr id="13" name="Table 2">
            <a:extLst>
              <a:ext uri="{FF2B5EF4-FFF2-40B4-BE49-F238E27FC236}">
                <a16:creationId xmlns:a16="http://schemas.microsoft.com/office/drawing/2014/main" id="{6B6532BD-8830-D325-3A0A-E3778F929B7C}"/>
              </a:ext>
            </a:extLst>
          </p:cNvPr>
          <p:cNvGraphicFramePr>
            <a:graphicFrameLocks noGrp="1"/>
          </p:cNvGraphicFramePr>
          <p:nvPr>
            <p:extLst>
              <p:ext uri="{D42A27DB-BD31-4B8C-83A1-F6EECF244321}">
                <p14:modId xmlns:p14="http://schemas.microsoft.com/office/powerpoint/2010/main" val="2382858557"/>
              </p:ext>
            </p:extLst>
          </p:nvPr>
        </p:nvGraphicFramePr>
        <p:xfrm>
          <a:off x="411480" y="2041628"/>
          <a:ext cx="6737040" cy="3977161"/>
        </p:xfrm>
        <a:graphic>
          <a:graphicData uri="http://schemas.openxmlformats.org/drawingml/2006/table">
            <a:tbl>
              <a:tblPr firstRow="1">
                <a:tableStyleId>{2A488322-F2BA-4B5B-9748-0D474271808F}</a:tableStyleId>
              </a:tblPr>
              <a:tblGrid>
                <a:gridCol w="914400">
                  <a:extLst>
                    <a:ext uri="{9D8B030D-6E8A-4147-A177-3AD203B41FA5}">
                      <a16:colId xmlns:a16="http://schemas.microsoft.com/office/drawing/2014/main" val="1904521774"/>
                    </a:ext>
                  </a:extLst>
                </a:gridCol>
                <a:gridCol w="914400">
                  <a:extLst>
                    <a:ext uri="{9D8B030D-6E8A-4147-A177-3AD203B41FA5}">
                      <a16:colId xmlns:a16="http://schemas.microsoft.com/office/drawing/2014/main" val="3691300808"/>
                    </a:ext>
                  </a:extLst>
                </a:gridCol>
                <a:gridCol w="1097312">
                  <a:extLst>
                    <a:ext uri="{9D8B030D-6E8A-4147-A177-3AD203B41FA5}">
                      <a16:colId xmlns:a16="http://schemas.microsoft.com/office/drawing/2014/main" val="1169754581"/>
                    </a:ext>
                  </a:extLst>
                </a:gridCol>
                <a:gridCol w="1034845">
                  <a:extLst>
                    <a:ext uri="{9D8B030D-6E8A-4147-A177-3AD203B41FA5}">
                      <a16:colId xmlns:a16="http://schemas.microsoft.com/office/drawing/2014/main" val="519320573"/>
                    </a:ext>
                  </a:extLst>
                </a:gridCol>
                <a:gridCol w="947283">
                  <a:extLst>
                    <a:ext uri="{9D8B030D-6E8A-4147-A177-3AD203B41FA5}">
                      <a16:colId xmlns:a16="http://schemas.microsoft.com/office/drawing/2014/main" val="43798019"/>
                    </a:ext>
                  </a:extLst>
                </a:gridCol>
                <a:gridCol w="914400">
                  <a:extLst>
                    <a:ext uri="{9D8B030D-6E8A-4147-A177-3AD203B41FA5}">
                      <a16:colId xmlns:a16="http://schemas.microsoft.com/office/drawing/2014/main" val="3164053669"/>
                    </a:ext>
                  </a:extLst>
                </a:gridCol>
                <a:gridCol w="914400">
                  <a:extLst>
                    <a:ext uri="{9D8B030D-6E8A-4147-A177-3AD203B41FA5}">
                      <a16:colId xmlns:a16="http://schemas.microsoft.com/office/drawing/2014/main" val="1484983729"/>
                    </a:ext>
                  </a:extLst>
                </a:gridCol>
              </a:tblGrid>
              <a:tr h="186792">
                <a:tc gridSpan="3">
                  <a:txBody>
                    <a:bodyPr/>
                    <a:lstStyle/>
                    <a:p>
                      <a:r>
                        <a:rPr lang="en-GB" sz="825" b="0" kern="1200" noProof="0">
                          <a:solidFill>
                            <a:schemeClr val="tx2"/>
                          </a:solidFill>
                          <a:latin typeface="+mn-lt"/>
                          <a:ea typeface="+mn-ea"/>
                          <a:cs typeface="+mn-cs"/>
                        </a:rPr>
                        <a:t>(para. 56a)</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600"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gridSpan="2">
                  <a:txBody>
                    <a:bodyPr/>
                    <a:lstStyle/>
                    <a:p>
                      <a:r>
                        <a:rPr lang="en-GB" sz="825" b="0" kern="1200" noProof="0">
                          <a:solidFill>
                            <a:schemeClr val="tx2"/>
                          </a:solidFill>
                          <a:latin typeface="+mn-lt"/>
                          <a:ea typeface="+mn-ea"/>
                          <a:cs typeface="+mn-cs"/>
                        </a:rPr>
                        <a:t>(para. 56b)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600"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n-GB" sz="825" b="0" kern="1200" noProof="0">
                          <a:solidFill>
                            <a:schemeClr val="tx2"/>
                          </a:solidFill>
                          <a:latin typeface="+mn-lt"/>
                          <a:ea typeface="+mn-ea"/>
                          <a:cs typeface="+mn-cs"/>
                        </a:rPr>
                        <a:t>(para. 56c)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r>
                        <a:rPr lang="en-GB" sz="825" b="0" kern="1200" noProof="0">
                          <a:solidFill>
                            <a:schemeClr val="tx2"/>
                          </a:solidFill>
                          <a:latin typeface="+mn-lt"/>
                          <a:ea typeface="+mn-ea"/>
                          <a:cs typeface="+mn-cs"/>
                        </a:rPr>
                        <a:t>(para. 56d)</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54843">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Climate-related risks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Where</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Brief description of risks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Exposure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noProof="0">
                          <a:solidFill>
                            <a:schemeClr val="tx2"/>
                          </a:solidFill>
                        </a:rPr>
                        <a:t>(low/medium/high)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Sensitivity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noProof="0">
                          <a:solidFill>
                            <a:schemeClr val="tx2"/>
                          </a:solidFill>
                        </a:rPr>
                        <a:t>(low/medium/high)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Time horizon </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i="0" noProof="0">
                          <a:solidFill>
                            <a:schemeClr val="tx2"/>
                          </a:solidFill>
                        </a:rPr>
                        <a:t>(0-1/2-5/&gt;5 years)</a:t>
                      </a:r>
                      <a:endParaRPr lang="en-GB" sz="825" b="0" i="0" noProof="0"/>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Adaptation undertaken </a:t>
                      </a:r>
                      <a:r>
                        <a:rPr lang="en-GB" sz="825" b="0" noProof="0">
                          <a:solidFill>
                            <a:schemeClr val="tx2"/>
                          </a:solidFill>
                        </a:rPr>
                        <a:t>(YES/NO)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729970087"/>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noProof="0">
                          <a:solidFill>
                            <a:schemeClr val="tx2"/>
                          </a:solidFill>
                        </a:rPr>
                        <a:t>Chronic hazards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Assets</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{{chronic_aktiver_description}}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{{chronic_aktiver_eksponerning}}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{{chronic_aktiver_sårbarhed}}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{{chronic_aktiver_time}}</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{{chronic_aktiver_tilpasning}}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Activities</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{{chronic_aktiveter_description}}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{{chronic_aktivteter_eksponerning}}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{{chronic_aktivteter_sårbarhed}}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{{chronic_aktivteter_time}}</a:t>
                      </a:r>
                      <a:endParaRPr lang="en-GB"/>
                    </a:p>
                    <a:p>
                      <a:pPr lvl="0" algn="ctr">
                        <a:lnSpc>
                          <a:spcPct val="100000"/>
                        </a:lnSpc>
                        <a:spcBef>
                          <a:spcPts val="0"/>
                        </a:spcBef>
                        <a:spcAft>
                          <a:spcPts val="0"/>
                        </a:spcAft>
                        <a:buNone/>
                      </a:pP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{{chronic_aktivteter_tilpasning}}</a:t>
                      </a:r>
                      <a:endParaRPr lang="en-GB"/>
                    </a:p>
                    <a:p>
                      <a:pPr marL="0" marR="0" lvl="0" indent="0" algn="ctr">
                        <a:lnSpc>
                          <a:spcPct val="100000"/>
                        </a:lnSpc>
                        <a:spcBef>
                          <a:spcPts val="0"/>
                        </a:spcBef>
                        <a:spcAft>
                          <a:spcPts val="0"/>
                        </a:spcAft>
                        <a:buClrTx/>
                        <a:buSzTx/>
                        <a:buFontTx/>
                        <a:buNone/>
                      </a:pP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3394372718"/>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Value chain</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{{chronic_value_description}}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{{chronic_value_eksponerning}}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{{chronic_value_sårbarhed}}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{{chronic_value_time}}</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{{chronic_value_tilpasning}}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58144899"/>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kern="1200" noProof="0">
                          <a:solidFill>
                            <a:schemeClr val="tx2"/>
                          </a:solidFill>
                          <a:latin typeface="+mn-lt"/>
                          <a:ea typeface="+mn-ea"/>
                          <a:cs typeface="+mn-cs"/>
                        </a:rPr>
                        <a:t>Acute hazards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Assets</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{{akut_aktiver_description}}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{{akut_aktiver_eksponering}}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{{akut_aktiver_sårbarhed}}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{{akut_aktiver_tidshorisont}}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{{akut_aktiver_tilpasning}}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00158845"/>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Activities</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{{akut_aktiviteter_description}}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{{akut_aktiviteter_eksponering}}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{{akut_aktiviteter_sårbarhed}}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{{akut_aktiviteter_tidshorisont}}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{{akut_aktiviteter_tilpasning}}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281780729"/>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Value chain</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{{akut_værdikæde_description}}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{{akut_værdikæde_eksponering}}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{{akut_værdikæde_sårbarhed}}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{{akut_værdikæde_tidshorisont}}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{{akut_værdikæde_tilpasning}}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190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4169359558"/>
                  </a:ext>
                </a:extLst>
              </a:tr>
              <a:tr h="320817">
                <a:tc rowSpan="3">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1" kern="1200" noProof="0">
                          <a:solidFill>
                            <a:schemeClr val="tx2"/>
                          </a:solidFill>
                          <a:latin typeface="+mn-lt"/>
                          <a:ea typeface="+mn-ea"/>
                          <a:cs typeface="+mn-cs"/>
                        </a:rPr>
                        <a:t>Transition event</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Assets</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{{omstilling_aktiver_description}}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{{omstilling_aktiver_eksponering}}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{{omstilling_aktiver_sårbarhed}}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{{omstilling_aktiver_tidshorisont}}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{{omstilling_aktiver_tilpasning}}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190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147315044"/>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Activities</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{{omstilling_aktiviteter_description}}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{{omstilling_aktiviteter_eksponering}}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{{omstilling_aktiviteter_sårbarhed}}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{{omstilling_aktiviteter_tidshorisont}}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{{omstilling_aktiviteter_tilpasning}}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681005516"/>
                  </a:ext>
                </a:extLst>
              </a:tr>
              <a:tr h="320817">
                <a:tc v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600" b="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825" b="0" kern="1200" noProof="0">
                          <a:solidFill>
                            <a:schemeClr val="tx2"/>
                          </a:solidFill>
                          <a:latin typeface="+mn-lt"/>
                          <a:ea typeface="+mn-ea"/>
                          <a:cs typeface="+mn-cs"/>
                        </a:rPr>
                        <a:t>Value chain</a:t>
                      </a:r>
                      <a:endParaRPr lang="en-GB" sz="82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rPr>
                        <a:t>{{omstilling_værdikæde_description}}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{{omstilling_værdikæde_eksponering}}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{{omstilling_værdikæde_sårbarhed}}</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{{omstilling_værdikæde_tidshorisont}}</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825" b="0" i="0" u="none" strike="noStrike" noProof="0">
                          <a:solidFill>
                            <a:srgbClr val="1B4528"/>
                          </a:solidFill>
                          <a:latin typeface="IBM Plex Sans"/>
                        </a:rPr>
                        <a:t>{{omstilling_værdikæde_tilpasning}}</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065361783"/>
                  </a:ext>
                </a:extLst>
              </a:tr>
            </a:tbl>
          </a:graphicData>
        </a:graphic>
      </p:graphicFrame>
      <p:sp>
        <p:nvSpPr>
          <p:cNvPr id="4" name="Slide Number Placeholder 1">
            <a:extLst>
              <a:ext uri="{FF2B5EF4-FFF2-40B4-BE49-F238E27FC236}">
                <a16:creationId xmlns:a16="http://schemas.microsoft.com/office/drawing/2014/main" id="{1BCA9577-CEBB-E934-0086-6454617DB7C5}"/>
              </a:ext>
              <a:ext uri="{C183D7F6-B498-43B3-948B-1728B52AA6E4}">
                <adec:decorative xmlns:adec="http://schemas.microsoft.com/office/drawing/2017/decorative" val="1"/>
              </a:ext>
            </a:extLst>
          </p:cNvPr>
          <p:cNvSpPr>
            <a:spLocks noGrp="1"/>
          </p:cNvSpPr>
          <p:nvPr>
            <p:ph type="sldNum" sz="quarter" idx="12"/>
          </p:nvPr>
        </p:nvSpPr>
        <p:spPr>
          <a:xfrm>
            <a:off x="411480" y="10152285"/>
            <a:ext cx="6737040" cy="128235"/>
          </a:xfrm>
        </p:spPr>
        <p:txBody>
          <a:bodyPr/>
          <a:lstStyle/>
          <a:p>
            <a:fld id="{4702451B-F4AF-4B05-87B1-F468C54F2952}" type="slidenum">
              <a:rPr lang="en-GB" dirty="0">
                <a:solidFill>
                  <a:srgbClr val="1B4528">
                    <a:alpha val="70000"/>
                  </a:srgbClr>
                </a:solidFill>
              </a:rPr>
              <a:t>14</a:t>
            </a:fld>
            <a:endParaRPr lang="en-GB" noProof="0">
              <a:solidFill>
                <a:srgbClr val="1B4528">
                  <a:alpha val="70000"/>
                </a:srgbClr>
              </a:solidFill>
            </a:endParaRPr>
          </a:p>
        </p:txBody>
      </p:sp>
      <p:sp>
        <p:nvSpPr>
          <p:cNvPr id="14" name="Tekstfelt 13">
            <a:extLst>
              <a:ext uri="{FF2B5EF4-FFF2-40B4-BE49-F238E27FC236}">
                <a16:creationId xmlns:a16="http://schemas.microsoft.com/office/drawing/2014/main" id="{95516DC4-723D-47D3-815C-1521BE5CD573}"/>
              </a:ext>
            </a:extLst>
          </p:cNvPr>
          <p:cNvSpPr txBox="1"/>
          <p:nvPr/>
        </p:nvSpPr>
        <p:spPr>
          <a:xfrm>
            <a:off x="411480" y="1201922"/>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provided an overview of climate-related risks, including whether these are chronic, acute or transition-related and where they are located (assets, activities or in the undertaking’s value chain). </a:t>
            </a:r>
            <a:endParaRPr lang="en-GB" sz="975" noProof="0">
              <a:solidFill>
                <a:schemeClr val="tx2"/>
              </a:solidFill>
              <a:latin typeface="Inter"/>
            </a:endParaRPr>
          </a:p>
        </p:txBody>
      </p:sp>
    </p:spTree>
    <p:extLst>
      <p:ext uri="{BB962C8B-B14F-4D97-AF65-F5344CB8AC3E}">
        <p14:creationId xmlns:p14="http://schemas.microsoft.com/office/powerpoint/2010/main" val="116871876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23182"/>
            <a:ext cx="6737040" cy="207741"/>
          </a:xfrm>
        </p:spPr>
        <p:txBody>
          <a:bodyPr/>
          <a:lstStyle/>
          <a:p>
            <a:r>
              <a:rPr lang="en-GB" noProof="0"/>
              <a:t>C</a:t>
            </a:r>
            <a:r>
              <a:rPr lang="en-GB" sz="1475" b="1" noProof="0">
                <a:solidFill>
                  <a:schemeClr val="tx2"/>
                </a:solidFill>
              </a:rPr>
              <a:t>limate risks (C4) - continued</a:t>
            </a:r>
            <a:endParaRPr lang="en-GB"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15</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graphicFrame>
        <p:nvGraphicFramePr>
          <p:cNvPr id="6" name="Table 2">
            <a:extLst>
              <a:ext uri="{FF2B5EF4-FFF2-40B4-BE49-F238E27FC236}">
                <a16:creationId xmlns:a16="http://schemas.microsoft.com/office/drawing/2014/main" id="{EF97A137-22B1-3AE3-C34C-FFADFEC612CC}"/>
              </a:ext>
            </a:extLst>
          </p:cNvPr>
          <p:cNvGraphicFramePr>
            <a:graphicFrameLocks noGrp="1"/>
          </p:cNvGraphicFramePr>
          <p:nvPr>
            <p:extLst>
              <p:ext uri="{D42A27DB-BD31-4B8C-83A1-F6EECF244321}">
                <p14:modId xmlns:p14="http://schemas.microsoft.com/office/powerpoint/2010/main" val="2591302557"/>
              </p:ext>
            </p:extLst>
          </p:nvPr>
        </p:nvGraphicFramePr>
        <p:xfrm>
          <a:off x="411480" y="2093980"/>
          <a:ext cx="6737040" cy="2933624"/>
        </p:xfrm>
        <a:graphic>
          <a:graphicData uri="http://schemas.openxmlformats.org/drawingml/2006/table">
            <a:tbl>
              <a:tblPr firstRow="1">
                <a:tableStyleId>{2A488322-F2BA-4B5B-9748-0D474271808F}</a:tableStyleId>
              </a:tblPr>
              <a:tblGrid>
                <a:gridCol w="1712972">
                  <a:extLst>
                    <a:ext uri="{9D8B030D-6E8A-4147-A177-3AD203B41FA5}">
                      <a16:colId xmlns:a16="http://schemas.microsoft.com/office/drawing/2014/main" val="1904521774"/>
                    </a:ext>
                  </a:extLst>
                </a:gridCol>
                <a:gridCol w="3196433">
                  <a:extLst>
                    <a:ext uri="{9D8B030D-6E8A-4147-A177-3AD203B41FA5}">
                      <a16:colId xmlns:a16="http://schemas.microsoft.com/office/drawing/2014/main" val="3164053669"/>
                    </a:ext>
                  </a:extLst>
                </a:gridCol>
                <a:gridCol w="987084">
                  <a:extLst>
                    <a:ext uri="{9D8B030D-6E8A-4147-A177-3AD203B41FA5}">
                      <a16:colId xmlns:a16="http://schemas.microsoft.com/office/drawing/2014/main" val="1263457420"/>
                    </a:ext>
                  </a:extLst>
                </a:gridCol>
                <a:gridCol w="840551">
                  <a:extLst>
                    <a:ext uri="{9D8B030D-6E8A-4147-A177-3AD203B41FA5}">
                      <a16:colId xmlns:a16="http://schemas.microsoft.com/office/drawing/2014/main" val="1484983729"/>
                    </a:ext>
                  </a:extLst>
                </a:gridCol>
              </a:tblGrid>
              <a:tr h="145927">
                <a:tc gridSpan="4">
                  <a:txBody>
                    <a:bodyPr/>
                    <a:lstStyle/>
                    <a:p>
                      <a:r>
                        <a:rPr lang="en-GB" sz="975" b="0" kern="1200" noProof="0">
                          <a:solidFill>
                            <a:schemeClr val="tx2"/>
                          </a:solidFill>
                          <a:latin typeface="+mn-lt"/>
                          <a:ea typeface="+mn-ea"/>
                          <a:cs typeface="+mn-cs"/>
                        </a:rPr>
                        <a:t>(para. 57)</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kern="120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i="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806123079"/>
                  </a:ext>
                </a:extLst>
              </a:tr>
              <a:tr h="323458">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Potential adverse </a:t>
                      </a:r>
                      <a:r>
                        <a:rPr lang="en-GB" sz="975" b="1" kern="1200" noProof="0">
                          <a:solidFill>
                            <a:schemeClr val="tx2"/>
                          </a:solidFill>
                          <a:latin typeface="+mn-lt"/>
                          <a:ea typeface="+mn-ea"/>
                          <a:cs typeface="+mn-cs"/>
                        </a:rPr>
                        <a:t>effects on the undertaking’s financial performance and business operations </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Financial risk</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0" kern="1200" noProof="0">
                          <a:solidFill>
                            <a:schemeClr val="tx2"/>
                          </a:solidFill>
                          <a:latin typeface="+mn-lt"/>
                          <a:ea typeface="+mn-ea"/>
                          <a:cs typeface="+mn-cs"/>
                        </a:rPr>
                        <a:t>(low/medium/high)</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noProof="0">
                          <a:solidFill>
                            <a:schemeClr val="tx2"/>
                          </a:solidFill>
                        </a:rPr>
                        <a:t>Time horizon</a:t>
                      </a:r>
                    </a:p>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0" i="0" noProof="0">
                          <a:solidFill>
                            <a:schemeClr val="tx2"/>
                          </a:solidFill>
                        </a:rPr>
                        <a:t>(0-1/2-5/&gt;5 years)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Chronic hazards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074311986"/>
                  </a:ext>
                </a:extLst>
              </a:tr>
              <a:tr h="198656">
                <a:tc>
                  <a:txBody>
                    <a:bodyPr/>
                    <a:lstStyle/>
                    <a:p>
                      <a:pPr lvl="0" algn="l">
                        <a:lnSpc>
                          <a:spcPct val="100000"/>
                        </a:lnSpc>
                        <a:spcBef>
                          <a:spcPts val="0"/>
                        </a:spcBef>
                        <a:spcAft>
                          <a:spcPts val="0"/>
                        </a:spcAft>
                        <a:buNone/>
                      </a:pPr>
                      <a:r>
                        <a:rPr lang="en-GB" sz="975" b="0" i="0" u="none" strike="noStrike" noProof="0">
                          <a:solidFill>
                            <a:srgbClr val="1B4528"/>
                          </a:solidFill>
                        </a:rPr>
                        <a:t>{{chronic_hazards}}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{{chronic connection financial </a:t>
                      </a:r>
                      <a:r>
                        <a:rPr lang="en-GB" sz="975" b="0" i="0" u="none" strike="noStrike" noProof="0">
                          <a:solidFill>
                            <a:srgbClr val="1B4528"/>
                          </a:solidFill>
                          <a:latin typeface="IBM Plex Sans"/>
                          <a:ea typeface="+mn-ea"/>
                          <a:cs typeface="+mn-cs"/>
                        </a:rPr>
                        <a:t>and operations}}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{{chronic_financial_risk}}</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{{chronic_time_horizon}}</a:t>
                      </a:r>
                      <a:endParaRPr lang="en-GB"/>
                    </a:p>
                    <a:p>
                      <a:pPr marL="0" marR="0" lvl="0" indent="0" algn="ctr" defTabSz="914400">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737070102"/>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Acute hazards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248636619"/>
                  </a:ext>
                </a:extLst>
              </a:tr>
              <a:tr h="198656">
                <a:tc>
                  <a:txBody>
                    <a:bodyPr/>
                    <a:lstStyle/>
                    <a:p>
                      <a:pPr lvl="0" algn="l">
                        <a:lnSpc>
                          <a:spcPct val="100000"/>
                        </a:lnSpc>
                        <a:spcBef>
                          <a:spcPts val="0"/>
                        </a:spcBef>
                        <a:spcAft>
                          <a:spcPts val="0"/>
                        </a:spcAft>
                        <a:buNone/>
                      </a:pPr>
                      <a:r>
                        <a:rPr lang="en-GB" sz="975" b="0" i="0" u="none" strike="noStrike" noProof="0">
                          <a:solidFill>
                            <a:srgbClr val="1B4528"/>
                          </a:solidFill>
                        </a:rPr>
                        <a:t>{{acute_hazards}}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{{acute connection </a:t>
                      </a:r>
                      <a:r>
                        <a:rPr lang="en-GB" sz="975" b="0" i="0" u="none" strike="noStrike" noProof="0">
                          <a:solidFill>
                            <a:srgbClr val="1B4528"/>
                          </a:solidFill>
                          <a:latin typeface="IBM Plex Sans"/>
                          <a:ea typeface="+mn-ea"/>
                          <a:cs typeface="+mn-cs"/>
                        </a:rPr>
                        <a:t>financial and operations}}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{{acute_financial_risk}}</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{{acute_time_horizon}}</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323552898"/>
                  </a:ext>
                </a:extLst>
              </a:tr>
              <a:tr h="198656">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Transition risks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670555600"/>
                  </a:ext>
                </a:extLst>
              </a:tr>
              <a:tr h="198656">
                <a:tc>
                  <a:txBody>
                    <a:bodyPr/>
                    <a:lstStyle/>
                    <a:p>
                      <a:pPr lvl="0" algn="l">
                        <a:lnSpc>
                          <a:spcPct val="100000"/>
                        </a:lnSpc>
                        <a:spcBef>
                          <a:spcPts val="0"/>
                        </a:spcBef>
                        <a:spcAft>
                          <a:spcPts val="0"/>
                        </a:spcAft>
                        <a:buNone/>
                      </a:pPr>
                      <a:r>
                        <a:rPr lang="en-GB" sz="975" b="0" i="0" u="none" strike="noStrike" noProof="0">
                          <a:solidFill>
                            <a:srgbClr val="1B4528"/>
                          </a:solidFill>
                        </a:rPr>
                        <a:t>{{climate_related}}</a:t>
                      </a:r>
                      <a:endParaRPr lang="en-GB"/>
                    </a:p>
                    <a:p>
                      <a:pPr lvl="0" algn="l">
                        <a:lnSpc>
                          <a:spcPct val="100000"/>
                        </a:lnSpc>
                        <a:spcBef>
                          <a:spcPts val="0"/>
                        </a:spcBef>
                        <a:spcAft>
                          <a:spcPts val="0"/>
                        </a:spcAft>
                        <a:buNone/>
                      </a:pPr>
                      <a:endParaRPr lang="en-GB" sz="975" b="0" i="0" u="none" strike="noStrike" noProof="0">
                        <a:solidFill>
                          <a:srgbClr val="1B4528"/>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{{climate connection financial </a:t>
                      </a:r>
                      <a:r>
                        <a:rPr lang="en-GB" sz="975" b="0" i="0" u="none" strike="noStrike" noProof="0">
                          <a:solidFill>
                            <a:srgbClr val="1B4528"/>
                          </a:solidFill>
                          <a:latin typeface="IBM Plex Sans"/>
                          <a:ea typeface="+mn-ea"/>
                          <a:cs typeface="+mn-cs"/>
                        </a:rPr>
                        <a:t>and operations}}</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{{climate_related_risk}}</a:t>
                      </a:r>
                      <a:endParaRPr lang="en-GB"/>
                    </a:p>
                    <a:p>
                      <a:pPr lvl="0" algn="ctr">
                        <a:lnSpc>
                          <a:spcPct val="100000"/>
                        </a:lnSpc>
                        <a:spcBef>
                          <a:spcPts val="0"/>
                        </a:spcBef>
                        <a:spcAft>
                          <a:spcPts val="0"/>
                        </a:spcAft>
                        <a:buNone/>
                      </a:pP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rPr>
                        <a:t>{{climate_time_horizon}}</a:t>
                      </a:r>
                      <a:endParaRPr lang="en-GB"/>
                    </a:p>
                    <a:p>
                      <a:pPr marL="0" marR="0" lvl="0" indent="0" algn="ctr" defTabSz="914400">
                        <a:lnSpc>
                          <a:spcPct val="100000"/>
                        </a:lnSpc>
                        <a:spcBef>
                          <a:spcPts val="0"/>
                        </a:spcBef>
                        <a:spcAft>
                          <a:spcPts val="0"/>
                        </a:spcAft>
                        <a:buClrTx/>
                        <a:buSzTx/>
                        <a:buFontTx/>
                        <a:buNone/>
                        <a:tabLst/>
                        <a:defRPr/>
                      </a:pPr>
                      <a:endParaRPr lang="en-GB" sz="975" b="0" noProof="0">
                        <a:solidFill>
                          <a:srgbClr val="1B4528"/>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96258133"/>
                  </a:ext>
                </a:extLst>
              </a:tr>
            </a:tbl>
          </a:graphicData>
        </a:graphic>
      </p:graphicFrame>
      <p:sp>
        <p:nvSpPr>
          <p:cNvPr id="9" name="Tekstfelt 8">
            <a:extLst>
              <a:ext uri="{FF2B5EF4-FFF2-40B4-BE49-F238E27FC236}">
                <a16:creationId xmlns:a16="http://schemas.microsoft.com/office/drawing/2014/main" id="{9077FE99-B8D2-4CF3-47CF-D201C45554CD}"/>
              </a:ext>
            </a:extLst>
          </p:cNvPr>
          <p:cNvSpPr txBox="1"/>
          <p:nvPr/>
        </p:nvSpPr>
        <p:spPr>
          <a:xfrm>
            <a:off x="411480" y="1290340"/>
            <a:ext cx="6737040" cy="384705"/>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undertaking has provided an overview of climate-related risks, including whether these are chronic, acute or transition-related and whether they may have a potential adverse effect on the undertaking’s financial performance and business operations.</a:t>
            </a:r>
            <a:endParaRPr lang="en-GB" sz="975" noProof="0">
              <a:solidFill>
                <a:schemeClr val="tx2"/>
              </a:solidFill>
              <a:latin typeface="Inter"/>
            </a:endParaRPr>
          </a:p>
        </p:txBody>
      </p:sp>
    </p:spTree>
    <p:extLst>
      <p:ext uri="{BB962C8B-B14F-4D97-AF65-F5344CB8AC3E}">
        <p14:creationId xmlns:p14="http://schemas.microsoft.com/office/powerpoint/2010/main" val="400194317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FF150DD1-68D5-731F-A718-D62C3CF30A65}"/>
              </a:ext>
            </a:extLst>
          </p:cNvPr>
          <p:cNvSpPr>
            <a:spLocks noGrp="1"/>
          </p:cNvSpPr>
          <p:nvPr>
            <p:ph type="title"/>
          </p:nvPr>
        </p:nvSpPr>
        <p:spPr>
          <a:xfrm>
            <a:off x="411480" y="832321"/>
            <a:ext cx="6737040" cy="207741"/>
          </a:xfrm>
        </p:spPr>
        <p:txBody>
          <a:bodyPr/>
          <a:lstStyle/>
          <a:p>
            <a:r>
              <a:rPr lang="en-GB" sz="1475" b="1" i="0" u="none" strike="noStrike" kern="1200" spc="-10" noProof="0">
                <a:solidFill>
                  <a:srgbClr val="1B4528"/>
                </a:solidFill>
              </a:rPr>
              <a:t>Additional (general) workforce characteristics (C5)</a:t>
            </a:r>
            <a:endParaRPr lang="en-GB" noProof="0"/>
          </a:p>
        </p:txBody>
      </p:sp>
      <p:sp>
        <p:nvSpPr>
          <p:cNvPr id="6" name="Slide Number Placeholder 5">
            <a:extLst>
              <a:ext uri="{FF2B5EF4-FFF2-40B4-BE49-F238E27FC236}">
                <a16:creationId xmlns:a16="http://schemas.microsoft.com/office/drawing/2014/main" id="{4477F7BF-85D3-AAB2-E437-08AF193582A9}"/>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16</a:t>
            </a:fld>
            <a:endParaRPr lang="en-GB" noProof="0"/>
          </a:p>
        </p:txBody>
      </p:sp>
      <p:sp>
        <p:nvSpPr>
          <p:cNvPr id="5" name="Footer Placeholder 4">
            <a:extLst>
              <a:ext uri="{FF2B5EF4-FFF2-40B4-BE49-F238E27FC236}">
                <a16:creationId xmlns:a16="http://schemas.microsoft.com/office/drawing/2014/main" id="{DBAF5DBA-985E-0DEE-3635-AA29433685C0}"/>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br>
              <a:rPr lang="en-GB" noProof="0"/>
            </a:br>
            <a:endParaRPr lang="en-GB" noProof="0"/>
          </a:p>
        </p:txBody>
      </p:sp>
      <p:graphicFrame>
        <p:nvGraphicFramePr>
          <p:cNvPr id="8" name="Table 7">
            <a:extLst>
              <a:ext uri="{FF2B5EF4-FFF2-40B4-BE49-F238E27FC236}">
                <a16:creationId xmlns:a16="http://schemas.microsoft.com/office/drawing/2014/main" id="{93255C96-A783-191D-6874-59444594070E}"/>
              </a:ext>
            </a:extLst>
          </p:cNvPr>
          <p:cNvGraphicFramePr>
            <a:graphicFrameLocks noGrp="1"/>
          </p:cNvGraphicFramePr>
          <p:nvPr>
            <p:extLst>
              <p:ext uri="{D42A27DB-BD31-4B8C-83A1-F6EECF244321}">
                <p14:modId xmlns:p14="http://schemas.microsoft.com/office/powerpoint/2010/main" val="2495306731"/>
              </p:ext>
            </p:extLst>
          </p:nvPr>
        </p:nvGraphicFramePr>
        <p:xfrm>
          <a:off x="3853152" y="2024224"/>
          <a:ext cx="3295368" cy="863479"/>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43174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i="0" noProof="0">
                          <a:solidFill>
                            <a:schemeClr val="tx2"/>
                          </a:solidFill>
                        </a:rPr>
                        <a:t>Female-to-male ratio at management level </a:t>
                      </a:r>
                      <a:r>
                        <a:rPr lang="en-GB" sz="975" b="0" i="0" noProof="0">
                          <a:solidFill>
                            <a:schemeClr val="tx2"/>
                          </a:solidFill>
                        </a:rPr>
                        <a:t>(para. 59)</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1" i="0" u="none" strike="noStrike" noProof="0">
                          <a:solidFill>
                            <a:srgbClr val="1B4528"/>
                          </a:solidFill>
                          <a:effectLst/>
                          <a:latin typeface="IBM Plex Sans" panose="020B0503050203000203" pitchFamily="34" charset="0"/>
                        </a:rPr>
                        <a:t>Year </a:t>
                      </a:r>
                      <a:r>
                        <a:rPr lang="en-GB" sz="975" b="1" i="0" u="none" strike="noStrike" noProof="0">
                          <a:solidFill>
                            <a:srgbClr val="1B4528"/>
                          </a:solidFill>
                          <a:effectLst/>
                          <a:latin typeface="IBM Plex Sans" panose="020B0503050203000203" pitchFamily="34" charset="0"/>
                        </a:rPr>
                        <a:t>{{Insert year}}</a:t>
                      </a:r>
                      <a:endParaRPr lang="en-GB" sz="975"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31740">
                <a:tc vMerge="1">
                  <a:txBody>
                    <a:bodyPr/>
                    <a:lstStyle/>
                    <a:p>
                      <a:endParaRPr lang="en-GB"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{{gender_balance}}</a:t>
                      </a:r>
                      <a:endParaRPr lang="en-GB" sz="975"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graphicFrame>
        <p:nvGraphicFramePr>
          <p:cNvPr id="2" name="Table 7">
            <a:extLst>
              <a:ext uri="{FF2B5EF4-FFF2-40B4-BE49-F238E27FC236}">
                <a16:creationId xmlns:a16="http://schemas.microsoft.com/office/drawing/2014/main" id="{69535A26-01A9-A0FA-67C0-F2DDC3A1A436}"/>
              </a:ext>
            </a:extLst>
          </p:cNvPr>
          <p:cNvGraphicFramePr>
            <a:graphicFrameLocks noGrp="1"/>
          </p:cNvGraphicFramePr>
          <p:nvPr>
            <p:extLst>
              <p:ext uri="{D42A27DB-BD31-4B8C-83A1-F6EECF244321}">
                <p14:modId xmlns:p14="http://schemas.microsoft.com/office/powerpoint/2010/main" val="2131584882"/>
              </p:ext>
            </p:extLst>
          </p:nvPr>
        </p:nvGraphicFramePr>
        <p:xfrm>
          <a:off x="411480" y="2024224"/>
          <a:ext cx="3295368" cy="863479"/>
        </p:xfrm>
        <a:graphic>
          <a:graphicData uri="http://schemas.openxmlformats.org/drawingml/2006/table">
            <a:tbl>
              <a:tblPr firstRow="1">
                <a:tableStyleId>{2A488322-F2BA-4B5B-9748-0D474271808F}</a:tableStyleId>
              </a:tblPr>
              <a:tblGrid>
                <a:gridCol w="2558408">
                  <a:extLst>
                    <a:ext uri="{9D8B030D-6E8A-4147-A177-3AD203B41FA5}">
                      <a16:colId xmlns:a16="http://schemas.microsoft.com/office/drawing/2014/main" val="2698153288"/>
                    </a:ext>
                  </a:extLst>
                </a:gridCol>
                <a:gridCol w="736960">
                  <a:extLst>
                    <a:ext uri="{9D8B030D-6E8A-4147-A177-3AD203B41FA5}">
                      <a16:colId xmlns:a16="http://schemas.microsoft.com/office/drawing/2014/main" val="2119413191"/>
                    </a:ext>
                  </a:extLst>
                </a:gridCol>
              </a:tblGrid>
              <a:tr h="431740">
                <a:tc rowSpan="2">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i="0" noProof="0">
                          <a:solidFill>
                            <a:schemeClr val="tx2"/>
                          </a:solidFill>
                        </a:rPr>
                        <a:t>Employee turnover in the reporting year </a:t>
                      </a:r>
                      <a:r>
                        <a:rPr lang="en-GB" sz="975" b="0" i="0" noProof="0">
                          <a:solidFill>
                            <a:schemeClr val="tx2"/>
                          </a:solidFill>
                        </a:rPr>
                        <a:t>(para. 58)</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buNone/>
                      </a:pPr>
                      <a:r>
                        <a:rPr lang="en-GB" sz="975" b="1" i="0" u="none" strike="noStrike" noProof="0">
                          <a:solidFill>
                            <a:srgbClr val="1B4528"/>
                          </a:solidFill>
                          <a:effectLst/>
                          <a:latin typeface="IBM Plex Sans" panose="020B0503050203000203" pitchFamily="34" charset="0"/>
                        </a:rPr>
                        <a:t>Year </a:t>
                      </a:r>
                      <a:r>
                        <a:rPr lang="en-GB" sz="975" b="1" i="0" u="none" strike="noStrike" noProof="0">
                          <a:solidFill>
                            <a:srgbClr val="1B4528"/>
                          </a:solidFill>
                          <a:effectLst/>
                          <a:latin typeface="IBM Plex Sans" panose="020B0503050203000203" pitchFamily="34" charset="0"/>
                        </a:rPr>
                        <a:t>{{Insert year}}</a:t>
                      </a:r>
                      <a:endParaRPr lang="en-GB" sz="975" noProof="0">
                        <a:effectLst/>
                      </a:endParaRP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431740">
                <a:tc vMerge="1">
                  <a:txBody>
                    <a:bodyPr/>
                    <a:lstStyle/>
                    <a:p>
                      <a:endParaRPr lang="en-GB"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rtl="0" fontAlgn="ctr" algn="r">
                        <a:buNone/>
                      </a:pPr>
                      <a:r>
                        <a:rPr lang="en-GB" sz="975" b="0" i="0" u="none" strike="noStrike" noProof="0">
                          <a:solidFill>
                            <a:srgbClr val="1B4528"/>
                          </a:solidFill>
                          <a:effectLst/>
                          <a:latin typeface="IBM Plex Sans" panose="020B0503050203000203" pitchFamily="34" charset="0"/>
                        </a:rPr>
                        <a:t>{{omsatningsrate}}</a:t>
                      </a:r>
                    </a:p>
                  </a:txBody>
                  <a:tcPr marL="31749" marR="31749" marT="10583" marB="10583"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3" name="Tekstfelt 12">
            <a:extLst>
              <a:ext uri="{FF2B5EF4-FFF2-40B4-BE49-F238E27FC236}">
                <a16:creationId xmlns:a16="http://schemas.microsoft.com/office/drawing/2014/main" id="{02AD3E18-6260-CBA0-2A83-112A686452CC}"/>
              </a:ext>
            </a:extLst>
          </p:cNvPr>
          <p:cNvSpPr txBox="1"/>
          <p:nvPr/>
        </p:nvSpPr>
        <p:spPr>
          <a:xfrm>
            <a:off x="411480" y="1317755"/>
            <a:ext cx="6737040" cy="692470"/>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information below supplements the other disclosures on the undertaking’s workforce, including how the undertaking’s ratio of men to women at management level is distributed.</a:t>
            </a:r>
            <a:endParaRPr lang="en-GB" sz="975" b="0" noProof="0">
              <a:solidFill>
                <a:schemeClr val="tx2"/>
              </a:solidFill>
              <a:effectLst/>
              <a:latin typeface="Inter"/>
            </a:endParaRPr>
          </a:p>
          <a:p>
            <a:pPr>
              <a:buNone/>
            </a:pPr>
            <a:br>
              <a:rPr lang="en-GB" sz="975" noProof="0">
                <a:solidFill>
                  <a:schemeClr val="tx2"/>
                </a:solidFill>
                <a:latin typeface="Inter"/>
              </a:rPr>
            </a:br>
            <a:endParaRPr lang="en-GB" sz="975" noProof="0">
              <a:solidFill>
                <a:schemeClr val="tx2"/>
              </a:solidFill>
              <a:latin typeface="Inter"/>
            </a:endParaRPr>
          </a:p>
        </p:txBody>
      </p:sp>
      <p:graphicFrame>
        <p:nvGraphicFramePr>
          <p:cNvPr id="17" name="Table 8">
            <a:extLst>
              <a:ext uri="{FF2B5EF4-FFF2-40B4-BE49-F238E27FC236}">
                <a16:creationId xmlns:a16="http://schemas.microsoft.com/office/drawing/2014/main" id="{A0192DD3-B257-9166-AD07-2538AE6407A8}"/>
              </a:ext>
            </a:extLst>
          </p:cNvPr>
          <p:cNvGraphicFramePr>
            <a:graphicFrameLocks noGrp="1"/>
          </p:cNvGraphicFramePr>
          <p:nvPr>
            <p:extLst>
              <p:ext uri="{D42A27DB-BD31-4B8C-83A1-F6EECF244321}">
                <p14:modId xmlns:p14="http://schemas.microsoft.com/office/powerpoint/2010/main" val="1032068852"/>
              </p:ext>
            </p:extLst>
          </p:nvPr>
        </p:nvGraphicFramePr>
        <p:xfrm>
          <a:off x="411480" y="3646198"/>
          <a:ext cx="6737040" cy="959960"/>
        </p:xfrm>
        <a:graphic>
          <a:graphicData uri="http://schemas.openxmlformats.org/drawingml/2006/table">
            <a:tbl>
              <a:tblPr firstRow="1">
                <a:tableStyleId>{2A488322-F2BA-4B5B-9748-0D474271808F}</a:tableStyleId>
              </a:tblPr>
              <a:tblGrid>
                <a:gridCol w="4993574">
                  <a:extLst>
                    <a:ext uri="{9D8B030D-6E8A-4147-A177-3AD203B41FA5}">
                      <a16:colId xmlns:a16="http://schemas.microsoft.com/office/drawing/2014/main" val="2698153288"/>
                    </a:ext>
                  </a:extLst>
                </a:gridCol>
                <a:gridCol w="1743466">
                  <a:extLst>
                    <a:ext uri="{9D8B030D-6E8A-4147-A177-3AD203B41FA5}">
                      <a16:colId xmlns:a16="http://schemas.microsoft.com/office/drawing/2014/main" val="2119413191"/>
                    </a:ext>
                  </a:extLst>
                </a:gridCol>
              </a:tblGrid>
              <a:tr h="239990">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Self-employed and temporary workers </a:t>
                      </a:r>
                      <a:r>
                        <a:rPr lang="en-GB" sz="975" b="0" noProof="0">
                          <a:solidFill>
                            <a:schemeClr val="tx2"/>
                          </a:solidFill>
                        </a:rPr>
                        <a:t>(para. 60)</a:t>
                      </a:r>
                      <a:endParaRPr lang="en-GB" sz="975" b="1" kern="120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804764708"/>
                  </a:ext>
                </a:extLst>
              </a:tr>
              <a:tr h="2399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975" b="1"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kern="1200" noProof="0">
                          <a:solidFill>
                            <a:schemeClr val="tx2"/>
                          </a:solidFill>
                          <a:latin typeface="+mn-lt"/>
                          <a:ea typeface="+mn-ea"/>
                          <a:cs typeface="+mn-cs"/>
                        </a:rPr>
                        <a:t>Number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1977038530"/>
                  </a:ext>
                </a:extLst>
              </a:tr>
              <a:tr h="239990">
                <a:tc>
                  <a:txBody>
                    <a:bodyPr/>
                    <a:lstStyle/>
                    <a:p>
                      <a:r>
                        <a:rPr lang="en-GB" sz="975" b="1" noProof="0">
                          <a:solidFill>
                            <a:schemeClr val="tx2"/>
                          </a:solidFill>
                        </a:rPr>
                        <a:t>Self-employed (without personnel)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{{self-employeed}}</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513257532"/>
                  </a:ext>
                </a:extLst>
              </a:tr>
              <a:tr h="239990">
                <a:tc>
                  <a:txBody>
                    <a:bodyPr/>
                    <a:lstStyle/>
                    <a:p>
                      <a:r>
                        <a:rPr lang="en-GB" sz="975" b="1" noProof="0">
                          <a:solidFill>
                            <a:schemeClr val="tx2"/>
                          </a:solidFill>
                        </a:rPr>
                        <a:t>Temporary workers (provided through an employment agency) </a:t>
                      </a:r>
                      <a:endParaRPr lang="en-GB" sz="975" b="0"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temp_workers</a:t>
                      </a:r>
                      <a:r>
                        <a:rPr lang="en-GB" sz="975" b="0" i="0" u="none" strike="noStrike" noProof="0" dirty="0">
                          <a:solidFill>
                            <a:srgbClr val="1B4528"/>
                          </a:solidFill>
                          <a:effectLst/>
                          <a:latin typeface="Inter"/>
                        </a:rPr>
                        <a:t>}}</a:t>
                      </a:r>
                      <a:endParaRPr lang="en-GB" sz="975"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339040515"/>
                  </a:ext>
                </a:extLst>
              </a:tr>
            </a:tbl>
          </a:graphicData>
        </a:graphic>
      </p:graphicFrame>
      <p:sp>
        <p:nvSpPr>
          <p:cNvPr id="23" name="Tekstfelt 22">
            <a:extLst>
              <a:ext uri="{FF2B5EF4-FFF2-40B4-BE49-F238E27FC236}">
                <a16:creationId xmlns:a16="http://schemas.microsoft.com/office/drawing/2014/main" id="{D60EF1D1-D1F5-4064-9ED3-DE93382F39C3}"/>
              </a:ext>
            </a:extLst>
          </p:cNvPr>
          <p:cNvSpPr txBox="1"/>
          <p:nvPr/>
        </p:nvSpPr>
        <p:spPr>
          <a:xfrm>
            <a:off x="411480" y="3114838"/>
            <a:ext cx="6737040" cy="230823"/>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information below has been completed to disclose the number of self-employed persons and temporary workers the undertaking has.</a:t>
            </a:r>
            <a:endParaRPr lang="en-GB" sz="975" b="0" noProof="0">
              <a:solidFill>
                <a:schemeClr val="tx2"/>
              </a:solidFill>
              <a:effectLst/>
              <a:latin typeface="Inter"/>
            </a:endParaRPr>
          </a:p>
        </p:txBody>
      </p:sp>
      <p:sp>
        <p:nvSpPr>
          <p:cNvPr id="3" name="Title 2">
            <a:extLst>
              <a:ext uri="{FF2B5EF4-FFF2-40B4-BE49-F238E27FC236}">
                <a16:creationId xmlns:a16="http://schemas.microsoft.com/office/drawing/2014/main" id="{60DB9D9C-F7AE-1DD2-71CF-81E689C1070F}"/>
              </a:ext>
            </a:extLst>
          </p:cNvPr>
          <p:cNvSpPr txBox="1">
            <a:spLocks/>
          </p:cNvSpPr>
          <p:nvPr/>
        </p:nvSpPr>
        <p:spPr>
          <a:xfrm>
            <a:off x="411480" y="5020235"/>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solidFill>
                  <a:srgbClr val="1B4528"/>
                </a:solidFill>
                <a:latin typeface="+mn-lt"/>
                <a:ea typeface="+mn-ea"/>
                <a:cs typeface="+mn-cs"/>
              </a:rPr>
              <a:t>Human rights policies and processes (C6</a:t>
            </a:r>
            <a:r>
              <a:rPr lang="en-GB"/>
              <a:t>) - Own workforce</a:t>
            </a:r>
          </a:p>
        </p:txBody>
      </p:sp>
      <p:graphicFrame>
        <p:nvGraphicFramePr>
          <p:cNvPr id="7" name="Table 12">
            <a:extLst>
              <a:ext uri="{FF2B5EF4-FFF2-40B4-BE49-F238E27FC236}">
                <a16:creationId xmlns:a16="http://schemas.microsoft.com/office/drawing/2014/main" id="{EFD90793-89B1-1051-40D4-976350EF00EF}"/>
              </a:ext>
            </a:extLst>
          </p:cNvPr>
          <p:cNvGraphicFramePr>
            <a:graphicFrameLocks noGrp="1"/>
          </p:cNvGraphicFramePr>
          <p:nvPr>
            <p:extLst>
              <p:ext uri="{D42A27DB-BD31-4B8C-83A1-F6EECF244321}">
                <p14:modId xmlns:p14="http://schemas.microsoft.com/office/powerpoint/2010/main" val="2276300516"/>
              </p:ext>
            </p:extLst>
          </p:nvPr>
        </p:nvGraphicFramePr>
        <p:xfrm>
          <a:off x="411480" y="5968203"/>
          <a:ext cx="6737040" cy="2876437"/>
        </p:xfrm>
        <a:graphic>
          <a:graphicData uri="http://schemas.openxmlformats.org/drawingml/2006/table">
            <a:tbl>
              <a:tblPr firstRow="1">
                <a:tableStyleId>{2A488322-F2BA-4B5B-9748-0D474271808F}</a:tableStyleId>
              </a:tblPr>
              <a:tblGrid>
                <a:gridCol w="5179030">
                  <a:extLst>
                    <a:ext uri="{9D8B030D-6E8A-4147-A177-3AD203B41FA5}">
                      <a16:colId xmlns:a16="http://schemas.microsoft.com/office/drawing/2014/main" val="2698153288"/>
                    </a:ext>
                  </a:extLst>
                </a:gridCol>
                <a:gridCol w="1558010">
                  <a:extLst>
                    <a:ext uri="{9D8B030D-6E8A-4147-A177-3AD203B41FA5}">
                      <a16:colId xmlns:a16="http://schemas.microsoft.com/office/drawing/2014/main" val="2119413191"/>
                    </a:ext>
                  </a:extLst>
                </a:gridCol>
              </a:tblGrid>
              <a:tr h="426590">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GB" sz="975" b="1" kern="1200" noProof="0">
                          <a:solidFill>
                            <a:srgbClr val="1B4528"/>
                          </a:solidFill>
                          <a:latin typeface="+mn-lt"/>
                          <a:ea typeface="+mn-ea"/>
                          <a:cs typeface="+mn-cs"/>
                        </a:rPr>
                        <a:t>{{company_name}}</a:t>
                      </a:r>
                      <a:r>
                        <a:rPr lang="en-GB" sz="975" b="1" noProof="0">
                          <a:solidFill>
                            <a:schemeClr val="tx2"/>
                          </a:solidFill>
                        </a:rPr>
                        <a:t> has </a:t>
                      </a:r>
                      <a:r>
                        <a:rPr lang="en-GB" sz="975" b="1" kern="1200" spc="-10" noProof="0">
                          <a:solidFill>
                            <a:schemeClr val="tx2"/>
                          </a:solidFill>
                          <a:latin typeface="+mn-lt"/>
                          <a:ea typeface="+mn-ea"/>
                          <a:cs typeface="+mn-cs"/>
                        </a:rPr>
                        <a:t>a code of conduct </a:t>
                      </a:r>
                      <a:r>
                        <a:rPr lang="en-GB" sz="975" b="1" i="1" kern="1200" spc="-10" noProof="0">
                          <a:solidFill>
                            <a:schemeClr val="tx2"/>
                          </a:solidFill>
                          <a:latin typeface="+mn-lt"/>
                          <a:ea typeface="+mn-ea"/>
                          <a:cs typeface="+mn-cs"/>
                        </a:rPr>
                        <a:t>and/or</a:t>
                      </a:r>
                      <a:r>
                        <a:rPr lang="en-GB" sz="975" b="1" kern="1200" spc="-10" noProof="0">
                          <a:solidFill>
                            <a:schemeClr val="tx2"/>
                          </a:solidFill>
                          <a:latin typeface="+mn-lt"/>
                          <a:ea typeface="+mn-ea"/>
                          <a:cs typeface="+mn-cs"/>
                        </a:rPr>
                        <a:t> a human rights policy for our </a:t>
                      </a:r>
                      <a:r>
                        <a:rPr lang="en-GB" sz="975" b="1" u="sng" kern="1200" spc="-10" noProof="0">
                          <a:solidFill>
                            <a:schemeClr val="tx2"/>
                          </a:solidFill>
                          <a:latin typeface="+mn-lt"/>
                          <a:ea typeface="+mn-ea"/>
                          <a:cs typeface="+mn-cs"/>
                        </a:rPr>
                        <a:t>own workforce</a:t>
                      </a:r>
                      <a:r>
                        <a:rPr lang="en-GB" sz="975" b="0" u="none" kern="1200" spc="-10" noProof="0">
                          <a:solidFill>
                            <a:schemeClr val="tx2"/>
                          </a:solidFill>
                          <a:latin typeface="+mn-lt"/>
                          <a:ea typeface="+mn-ea"/>
                          <a:cs typeface="+mn-cs"/>
                        </a:rPr>
                        <a:t> (para. 61a)</a:t>
                      </a:r>
                      <a:endParaRPr lang="en-GB" sz="975" b="0" u="none" noProof="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975" b="0" noProof="0">
                          <a:solidFill>
                            <a:srgbClr val="1B4528"/>
                          </a:solidFill>
                          <a:latin typeface="+mn-lt"/>
                          <a:cs typeface="Calibri"/>
                        </a:rPr>
                        <a:t>{{human_rights_policy?}}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91168870"/>
                  </a:ext>
                </a:extLst>
              </a:tr>
              <a:tr h="219389">
                <a:tc gridSpan="2">
                  <a:txBody>
                    <a:bodyPr/>
                    <a:lstStyle/>
                    <a:p>
                      <a:r>
                        <a:rPr lang="en-GB" sz="975" b="1" kern="1200" noProof="0">
                          <a:solidFill>
                            <a:schemeClr val="tx1"/>
                          </a:solidFill>
                          <a:latin typeface="+mn-lt"/>
                          <a:ea typeface="+mn-ea"/>
                          <a:cs typeface="+mn-cs"/>
                        </a:rPr>
                        <a:t>The code of conduct or human rights policy covers these topics: </a:t>
                      </a:r>
                      <a:r>
                        <a:rPr lang="en-GB" sz="975" b="0" u="none" kern="1200" spc="-10" noProof="0">
                          <a:solidFill>
                            <a:schemeClr val="tx2"/>
                          </a:solidFill>
                          <a:latin typeface="+mn-lt"/>
                          <a:ea typeface="+mn-ea"/>
                          <a:cs typeface="+mn-cs"/>
                        </a:rPr>
                        <a:t>(para. 61b)</a:t>
                      </a:r>
                      <a:endParaRPr lang="en-GB" sz="975" b="0" noProof="0">
                        <a:solidFill>
                          <a:schemeClr val="tx1"/>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903441729"/>
                  </a:ext>
                </a:extLst>
              </a:tr>
              <a:tr h="219389">
                <a:tc>
                  <a:txBody>
                    <a:bodyPr/>
                    <a:lstStyle/>
                    <a:p>
                      <a:pPr lvl="1"/>
                      <a:r>
                        <a:rPr lang="en-GB" sz="975" b="0" noProof="0">
                          <a:solidFill>
                            <a:schemeClr val="tx2"/>
                          </a:solidFill>
                        </a:rPr>
                        <a:t>Child labour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{{child_labour_polict?}}</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109313864"/>
                  </a:ext>
                </a:extLst>
              </a:tr>
              <a:tr h="219389">
                <a:tc>
                  <a:txBody>
                    <a:bodyPr/>
                    <a:lstStyle/>
                    <a:p>
                      <a:pPr lvl="1"/>
                      <a:r>
                        <a:rPr lang="en-GB" sz="975" b="0" noProof="0">
                          <a:solidFill>
                            <a:schemeClr val="tx2"/>
                          </a:solidFill>
                        </a:rPr>
                        <a:t>Forced labour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{{forced_labour_policy?}}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828850338"/>
                  </a:ext>
                </a:extLst>
              </a:tr>
              <a:tr h="219389">
                <a:tc>
                  <a:txBody>
                    <a:bodyPr/>
                    <a:lstStyle/>
                    <a:p>
                      <a:pPr lvl="1"/>
                      <a:r>
                        <a:rPr lang="en-GB" sz="975" b="0" noProof="0">
                          <a:solidFill>
                            <a:schemeClr val="tx2"/>
                          </a:solidFill>
                        </a:rPr>
                        <a:t>Human trafficking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{{human_policy?}}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946288779"/>
                  </a:ext>
                </a:extLst>
              </a:tr>
              <a:tr h="219389">
                <a:tc>
                  <a:txBody>
                    <a:bodyPr/>
                    <a:lstStyle/>
                    <a:p>
                      <a:pPr lvl="1"/>
                      <a:r>
                        <a:rPr lang="en-GB" sz="975" b="0" noProof="0">
                          <a:solidFill>
                            <a:schemeClr val="tx2"/>
                          </a:solidFill>
                        </a:rPr>
                        <a:t>Discrimination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{{discrimanation_policy?}}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2269962095"/>
                  </a:ext>
                </a:extLst>
              </a:tr>
              <a:tr h="219389">
                <a:tc>
                  <a:txBody>
                    <a:bodyPr/>
                    <a:lstStyle/>
                    <a:p>
                      <a:pPr lvl="1"/>
                      <a:r>
                        <a:rPr lang="en-GB" sz="975" b="0" noProof="0">
                          <a:solidFill>
                            <a:schemeClr val="tx2"/>
                          </a:solidFill>
                        </a:rPr>
                        <a:t>Safety and accident prevention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{{safety_policy?}}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23512640"/>
                  </a:ext>
                </a:extLst>
              </a:tr>
              <a:tr h="219389">
                <a:tc>
                  <a:txBody>
                    <a:bodyPr/>
                    <a:lstStyle/>
                    <a:p>
                      <a:pPr lvl="1"/>
                      <a:r>
                        <a:rPr lang="en-GB" sz="975" b="0" noProof="0">
                          <a:solidFill>
                            <a:schemeClr val="tx2"/>
                          </a:solidFill>
                        </a:rPr>
                        <a:t>Other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rtl="0" fontAlgn="ctr">
                        <a:buNone/>
                      </a:pPr>
                      <a:r>
                        <a:rPr lang="en-GB" sz="975" b="0" i="0" u="none" strike="noStrike" noProof="0">
                          <a:solidFill>
                            <a:srgbClr val="1B4528"/>
                          </a:solidFill>
                          <a:effectLst/>
                          <a:latin typeface="Inter"/>
                        </a:rPr>
                        <a:t>{{other_policy?}}</a:t>
                      </a:r>
                      <a:endParaRPr lang="en-GB" sz="975" b="0"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53969227"/>
                  </a:ext>
                </a:extLst>
              </a:tr>
              <a:tr h="219389">
                <a:tc gridSpan="2">
                  <a:txBody>
                    <a:bodyPr/>
                    <a:lstStyle/>
                    <a:p>
                      <a:r>
                        <a:rPr lang="en-GB" sz="975" b="1" noProof="0">
                          <a:solidFill>
                            <a:schemeClr val="tx2"/>
                          </a:solidFill>
                        </a:rPr>
                        <a:t>If yes to ”Other”, please specify</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240263137"/>
                  </a:ext>
                </a:extLst>
              </a:tr>
              <a:tr h="694735">
                <a:tc gridSpan="2">
                  <a:txBody>
                    <a:bodyPr/>
                    <a:lstStyle/>
                    <a:p>
                      <a:endParaRPr lang="en-GB" sz="975" b="0" noProof="0" dirty="0">
                        <a:solidFill>
                          <a:schemeClr val="tx2"/>
                        </a:solidFill>
                      </a:endParaRPr>
                    </a:p>
                    <a:p>
                      <a:pPr lvl="0" algn="r">
                        <a:lnSpc>
                          <a:spcPct val="100000"/>
                        </a:lnSpc>
                        <a:spcBef>
                          <a:spcPts val="0"/>
                        </a:spcBef>
                        <a:spcAft>
                          <a:spcPts val="0"/>
                        </a:spcAft>
                        <a:buNone/>
                      </a:pPr>
                      <a:r>
                        <a:rPr lang="en-GB" sz="975" b="0" i="0" u="none" strike="noStrike" kern="1200" noProof="0" dirty="0">
                          <a:solidFill>
                            <a:srgbClr val="1B4528"/>
                          </a:solidFill>
                          <a:latin typeface="Inter"/>
                          <a:ea typeface="+mn-ea"/>
                          <a:cs typeface="+mn-cs"/>
                        </a:rPr>
                        <a:t>{{C6_other_description}}</a:t>
                      </a:r>
                      <a:endParaRPr lang="en-GB" sz="975" b="0" i="0" u="none" strike="noStrike" kern="1200" noProof="0" dirty="0">
                        <a:solidFill>
                          <a:srgbClr val="000000"/>
                        </a:solidFill>
                        <a:latin typeface="Inter"/>
                        <a:ea typeface="+mn-ea"/>
                        <a:cs typeface="+mn-cs"/>
                      </a:endParaRPr>
                    </a:p>
                    <a:p>
                      <a:endParaRPr lang="en-GB" sz="975" b="0" noProof="0" dirty="0">
                        <a:solidFill>
                          <a:schemeClr val="tx2"/>
                        </a:solidFill>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noFill/>
                  </a:tcPr>
                </a:tc>
                <a:tc hMerge="1">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GB" sz="725" b="0"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3253903979"/>
                  </a:ext>
                </a:extLst>
              </a:tr>
            </a:tbl>
          </a:graphicData>
        </a:graphic>
      </p:graphicFrame>
      <p:graphicFrame>
        <p:nvGraphicFramePr>
          <p:cNvPr id="9" name="Table 12">
            <a:extLst>
              <a:ext uri="{FF2B5EF4-FFF2-40B4-BE49-F238E27FC236}">
                <a16:creationId xmlns:a16="http://schemas.microsoft.com/office/drawing/2014/main" id="{EF31CA8D-F773-B7A0-BF4B-230DDB5D05E2}"/>
              </a:ext>
            </a:extLst>
          </p:cNvPr>
          <p:cNvGraphicFramePr>
            <a:graphicFrameLocks noGrp="1"/>
          </p:cNvGraphicFramePr>
          <p:nvPr>
            <p:extLst>
              <p:ext uri="{D42A27DB-BD31-4B8C-83A1-F6EECF244321}">
                <p14:modId xmlns:p14="http://schemas.microsoft.com/office/powerpoint/2010/main" val="4186352873"/>
              </p:ext>
            </p:extLst>
          </p:nvPr>
        </p:nvGraphicFramePr>
        <p:xfrm>
          <a:off x="411480" y="9055675"/>
          <a:ext cx="6737040" cy="721700"/>
        </p:xfrm>
        <a:graphic>
          <a:graphicData uri="http://schemas.openxmlformats.org/drawingml/2006/table">
            <a:tbl>
              <a:tblPr firstRow="1">
                <a:tableStyleId>{2A488322-F2BA-4B5B-9748-0D474271808F}</a:tableStyleId>
              </a:tblPr>
              <a:tblGrid>
                <a:gridCol w="5179031">
                  <a:extLst>
                    <a:ext uri="{9D8B030D-6E8A-4147-A177-3AD203B41FA5}">
                      <a16:colId xmlns:a16="http://schemas.microsoft.com/office/drawing/2014/main" val="2698153288"/>
                    </a:ext>
                  </a:extLst>
                </a:gridCol>
                <a:gridCol w="1558009">
                  <a:extLst>
                    <a:ext uri="{9D8B030D-6E8A-4147-A177-3AD203B41FA5}">
                      <a16:colId xmlns:a16="http://schemas.microsoft.com/office/drawing/2014/main" val="2119413191"/>
                    </a:ext>
                  </a:extLst>
                </a:gridCol>
              </a:tblGrid>
              <a:tr h="721700">
                <a:tc>
                  <a:txBody>
                    <a:bodyPr/>
                    <a:lstStyle/>
                    <a:p>
                      <a:r>
                        <a:rPr lang="en-GB" sz="975" b="1" noProof="0">
                          <a:solidFill>
                            <a:schemeClr val="tx2"/>
                          </a:solidFill>
                        </a:rPr>
                        <a:t>The undertaking has a complaints-handling mechanism for our </a:t>
                      </a:r>
                      <a:r>
                        <a:rPr lang="en-GB" sz="975" b="1" u="sng" noProof="0">
                          <a:solidFill>
                            <a:schemeClr val="tx2"/>
                          </a:solidFill>
                        </a:rPr>
                        <a:t>own workforce</a:t>
                      </a:r>
                      <a:r>
                        <a:rPr lang="en-GB" sz="975" b="0" u="sng" noProof="0">
                          <a:solidFill>
                            <a:schemeClr val="tx2"/>
                          </a:solidFill>
                        </a:rPr>
                        <a:t> </a:t>
                      </a:r>
                      <a:r>
                        <a:rPr lang="en-GB" sz="975" b="0" noProof="0">
                          <a:solidFill>
                            <a:schemeClr val="tx2"/>
                          </a:solidFill>
                        </a:rPr>
                        <a:t>(para. 61c)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marL="0" marR="0" lvl="0" indent="0" algn="r" defTabSz="914400" rtl="0" eaLnBrk="1" fontAlgn="auto" latinLnBrk="0" hangingPunct="1">
                        <a:lnSpc>
                          <a:spcPct val="100000"/>
                        </a:lnSpc>
                        <a:spcBef>
                          <a:spcPts val="0"/>
                        </a:spcBef>
                        <a:spcAft>
                          <a:spcPts val="0"/>
                        </a:spcAft>
                        <a:buClrTx/>
                        <a:buSzTx/>
                        <a:buFontTx/>
                        <a:buNone/>
                        <a:tabLst/>
                        <a:defRPr/>
                      </a:pPr>
                      <a:r>
                        <a:rPr lang="en-GB" sz="975" b="0" noProof="0" dirty="0">
                          <a:solidFill>
                            <a:srgbClr val="1B4528"/>
                          </a:solidFill>
                          <a:latin typeface="+mn-lt"/>
                          <a:cs typeface="Calibri"/>
                        </a:rPr>
                        <a:t>{{whistleblower?}}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903441729"/>
                  </a:ext>
                </a:extLst>
              </a:tr>
            </a:tbl>
          </a:graphicData>
        </a:graphic>
      </p:graphicFrame>
      <p:sp>
        <p:nvSpPr>
          <p:cNvPr id="10" name="Tekstfelt 9">
            <a:extLst>
              <a:ext uri="{FF2B5EF4-FFF2-40B4-BE49-F238E27FC236}">
                <a16:creationId xmlns:a16="http://schemas.microsoft.com/office/drawing/2014/main" id="{DE98A347-CF52-AA6C-DDC5-06292C717A69}"/>
              </a:ext>
            </a:extLst>
          </p:cNvPr>
          <p:cNvSpPr txBox="1"/>
          <p:nvPr/>
        </p:nvSpPr>
        <p:spPr>
          <a:xfrm>
            <a:off x="411480" y="5321206"/>
            <a:ext cx="6737040" cy="384705"/>
          </a:xfrm>
          <a:prstGeom prst="rect">
            <a:avLst/>
          </a:prstGeom>
          <a:noFill/>
        </p:spPr>
        <p:txBody>
          <a:bodyPr wrap="square">
            <a:spAutoFit/>
          </a:bodyPr>
          <a:lstStyle/>
          <a:p>
            <a:pPr>
              <a:spcBef>
                <a:spcPts val="750"/>
              </a:spcBef>
            </a:pPr>
            <a:r>
              <a:rPr lang="en-GB" sz="975" b="0" i="0" u="none" strike="noStrike" noProof="0">
                <a:solidFill>
                  <a:schemeClr val="tx2"/>
                </a:solidFill>
                <a:effectLst/>
                <a:latin typeface="Inter"/>
              </a:rPr>
              <a:t>Below is </a:t>
            </a:r>
            <a:r>
              <a:rPr lang="en-GB" sz="975" noProof="0">
                <a:solidFill>
                  <a:schemeClr val="tx2"/>
                </a:solidFill>
                <a:latin typeface="Inter"/>
              </a:rPr>
              <a:t>information on </a:t>
            </a:r>
            <a:r>
              <a:rPr lang="en-GB" sz="975" b="0" i="0" u="none" strike="noStrike" noProof="0">
                <a:solidFill>
                  <a:schemeClr val="tx2"/>
                </a:solidFill>
                <a:effectLst/>
                <a:latin typeface="Inter"/>
              </a:rPr>
              <a:t>the undertaking’s code of conduct and/or human rights policy covering its own workforc</a:t>
            </a:r>
            <a:r>
              <a:rPr lang="en-GB" sz="975" noProof="0">
                <a:solidFill>
                  <a:schemeClr val="tx2"/>
                </a:solidFill>
                <a:latin typeface="Inter"/>
              </a:rPr>
              <a:t>e. It is also stated whether the undertaking has a complaints-handling mechanism that enables employees to report matters related to human rights violations, discrimination, harassment or other objectionable conduct.</a:t>
            </a:r>
          </a:p>
        </p:txBody>
      </p:sp>
    </p:spTree>
    <p:extLst>
      <p:ext uri="{BB962C8B-B14F-4D97-AF65-F5344CB8AC3E}">
        <p14:creationId xmlns:p14="http://schemas.microsoft.com/office/powerpoint/2010/main" val="109591303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832321"/>
            <a:ext cx="6737040" cy="207741"/>
          </a:xfrm>
        </p:spPr>
        <p:txBody>
          <a:bodyPr/>
          <a:lstStyle/>
          <a:p>
            <a:r>
              <a:rPr lang="en-GB" sz="1475" b="1" i="0" u="none" strike="noStrike" kern="1200" spc="-10" noProof="0">
                <a:solidFill>
                  <a:srgbClr val="1B4528"/>
                </a:solidFill>
                <a:latin typeface="+mn-lt"/>
                <a:ea typeface="+mn-ea"/>
                <a:cs typeface="+mn-cs"/>
              </a:rPr>
              <a:t>Severe negative human rights incidents (C7</a:t>
            </a:r>
            <a:r>
              <a:rPr lang="en-GB" noProof="0"/>
              <a:t>) – Own workforce</a:t>
            </a:r>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17</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257119581"/>
              </p:ext>
            </p:extLst>
          </p:nvPr>
        </p:nvGraphicFramePr>
        <p:xfrm>
          <a:off x="411480" y="2153762"/>
          <a:ext cx="6737040" cy="2579984"/>
        </p:xfrm>
        <a:graphic>
          <a:graphicData uri="http://schemas.openxmlformats.org/drawingml/2006/table">
            <a:tbl>
              <a:tblPr firstRow="1">
                <a:tableStyleId>{2A488322-F2BA-4B5B-9748-0D474271808F}</a:tableStyleId>
              </a:tblPr>
              <a:tblGrid>
                <a:gridCol w="2364547">
                  <a:extLst>
                    <a:ext uri="{9D8B030D-6E8A-4147-A177-3AD203B41FA5}">
                      <a16:colId xmlns:a16="http://schemas.microsoft.com/office/drawing/2014/main" val="1902117154"/>
                    </a:ext>
                  </a:extLst>
                </a:gridCol>
                <a:gridCol w="4372493">
                  <a:extLst>
                    <a:ext uri="{9D8B030D-6E8A-4147-A177-3AD203B41FA5}">
                      <a16:colId xmlns:a16="http://schemas.microsoft.com/office/drawing/2014/main" val="1904521774"/>
                    </a:ext>
                  </a:extLst>
                </a:gridCol>
              </a:tblGrid>
              <a:tr h="272122">
                <a:tc gridSpan="2">
                  <a:txBody>
                    <a:bodyPr/>
                    <a:lstStyle/>
                    <a:p>
                      <a:pPr algn="l"/>
                      <a:r>
                        <a:rPr lang="en-GB" sz="975" b="1" kern="1200" spc="-10" noProof="0">
                          <a:solidFill>
                            <a:schemeClr val="tx2"/>
                          </a:solidFill>
                          <a:latin typeface="+mn-lt"/>
                          <a:ea typeface="+mn-ea"/>
                          <a:cs typeface="+mn-cs"/>
                        </a:rPr>
                        <a:t>Are there, for the undertaking’s </a:t>
                      </a:r>
                      <a:r>
                        <a:rPr lang="en-GB" sz="975" b="1" u="sng" kern="1200" spc="-10" noProof="0">
                          <a:solidFill>
                            <a:schemeClr val="tx2"/>
                          </a:solidFill>
                          <a:latin typeface="+mn-lt"/>
                          <a:ea typeface="+mn-ea"/>
                          <a:cs typeface="+mn-cs"/>
                        </a:rPr>
                        <a:t>own workforce</a:t>
                      </a:r>
                      <a:r>
                        <a:rPr lang="en-GB" sz="975" b="1" u="none" kern="1200" spc="-10" noProof="0">
                          <a:solidFill>
                            <a:schemeClr val="tx2"/>
                          </a:solidFill>
                          <a:latin typeface="+mn-lt"/>
                          <a:ea typeface="+mn-ea"/>
                          <a:cs typeface="+mn-cs"/>
                        </a:rPr>
                        <a:t>, </a:t>
                      </a:r>
                      <a:r>
                        <a:rPr lang="en-GB" sz="975" b="1" kern="1200" spc="-10" noProof="0">
                          <a:solidFill>
                            <a:schemeClr val="tx2"/>
                          </a:solidFill>
                          <a:latin typeface="+mn-lt"/>
                          <a:ea typeface="+mn-ea"/>
                          <a:cs typeface="+mn-cs"/>
                        </a:rPr>
                        <a:t>confirmed negative incidents related to the following </a:t>
                      </a:r>
                      <a:r>
                        <a:rPr lang="en-GB" sz="975" b="0" kern="1200" spc="-10" noProof="0">
                          <a:solidFill>
                            <a:schemeClr val="tx2"/>
                          </a:solidFill>
                          <a:latin typeface="+mn-lt"/>
                          <a:ea typeface="+mn-ea"/>
                          <a:cs typeface="+mn-cs"/>
                        </a:rPr>
                        <a:t>(para. 62a-b)</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87671">
                <a:tc>
                  <a:txBody>
                    <a:bodyPr/>
                    <a:lstStyle/>
                    <a:p>
                      <a:pPr algn="l"/>
                      <a:r>
                        <a:rPr lang="en-GB" sz="975" b="1" kern="1200" spc="-10" noProof="0">
                          <a:solidFill>
                            <a:schemeClr val="tx2"/>
                          </a:solidFill>
                          <a:latin typeface="+mn-lt"/>
                          <a:ea typeface="+mn-ea"/>
                          <a:cs typeface="+mn-cs"/>
                        </a:rPr>
                        <a:t>Child labour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rgbClr val="1B4528"/>
                          </a:solidFill>
                        </a:rPr>
                        <a:t>{{child_labour_yes?}}</a:t>
                      </a:r>
                      <a:endParaRPr lang="en-GB"/>
                    </a:p>
                    <a:p>
                      <a:pPr lvl="0" algn="l">
                        <a:lnSpc>
                          <a:spcPct val="100000"/>
                        </a:lnSpc>
                        <a:spcBef>
                          <a:spcPts val="0"/>
                        </a:spcBef>
                        <a:spcAft>
                          <a:spcPts val="0"/>
                        </a:spcAft>
                        <a:buNone/>
                      </a:pPr>
                      <a:r>
                        <a:rPr lang="en-GB" sz="975" b="0" i="0" u="none" strike="noStrike" noProof="0">
                          <a:solidFill>
                            <a:srgbClr val="1B4528"/>
                          </a:solidFill>
                        </a:rPr>
                        <a:t>{{child_labour_desc}}</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87671">
                <a:tc>
                  <a:txBody>
                    <a:bodyPr/>
                    <a:lstStyle/>
                    <a:p>
                      <a:pPr algn="l"/>
                      <a:r>
                        <a:rPr lang="en-GB" sz="975" b="1" kern="1200" spc="-10" noProof="0">
                          <a:solidFill>
                            <a:schemeClr val="tx2"/>
                          </a:solidFill>
                          <a:latin typeface="+mn-lt"/>
                          <a:ea typeface="+mn-ea"/>
                          <a:cs typeface="+mn-cs"/>
                        </a:rPr>
                        <a:t>Forced labour</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rgbClr val="1B4528"/>
                          </a:solidFill>
                        </a:rPr>
                        <a:t>{{forced_labour_yes?}}</a:t>
                      </a:r>
                      <a:endParaRPr lang="en-GB"/>
                    </a:p>
                    <a:p>
                      <a:pPr lvl="0" algn="l" defTabSz="914400">
                        <a:lnSpc>
                          <a:spcPct val="100000"/>
                        </a:lnSpc>
                        <a:spcBef>
                          <a:spcPts val="0"/>
                        </a:spcBef>
                        <a:spcAft>
                          <a:spcPts val="0"/>
                        </a:spcAft>
                        <a:buNone/>
                        <a:tabLst/>
                        <a:defRPr/>
                      </a:pPr>
                      <a:r>
                        <a:rPr lang="en-GB" sz="975" b="0" i="0" u="none" strike="noStrike" noProof="0">
                          <a:solidFill>
                            <a:srgbClr val="1B4528"/>
                          </a:solidFill>
                        </a:rPr>
                        <a:t>{{forced_labour_desc}}</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87671">
                <a:tc>
                  <a:txBody>
                    <a:bodyPr/>
                    <a:lstStyle/>
                    <a:p>
                      <a:pPr algn="l"/>
                      <a:r>
                        <a:rPr lang="en-GB" sz="975" b="1" kern="1200" spc="-10" noProof="0">
                          <a:solidFill>
                            <a:schemeClr val="tx2"/>
                          </a:solidFill>
                          <a:latin typeface="+mn-lt"/>
                          <a:ea typeface="+mn-ea"/>
                          <a:cs typeface="+mn-cs"/>
                        </a:rPr>
                        <a:t>Human trafficking</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rgbClr val="1B4528"/>
                          </a:solidFill>
                        </a:rPr>
                        <a:t>{{human_trafficking_yes?}}</a:t>
                      </a:r>
                      <a:endParaRPr lang="en-GB"/>
                    </a:p>
                    <a:p>
                      <a:pPr lvl="0" algn="l" defTabSz="914400">
                        <a:lnSpc>
                          <a:spcPct val="100000"/>
                        </a:lnSpc>
                        <a:spcBef>
                          <a:spcPts val="0"/>
                        </a:spcBef>
                        <a:spcAft>
                          <a:spcPts val="0"/>
                        </a:spcAft>
                        <a:buNone/>
                        <a:tabLst/>
                        <a:defRPr/>
                      </a:pPr>
                      <a:r>
                        <a:rPr lang="en-GB" sz="975" b="0" i="0" u="none" strike="noStrike" noProof="0">
                          <a:solidFill>
                            <a:srgbClr val="1B4528"/>
                          </a:solidFill>
                        </a:rPr>
                        <a:t>{{human_trafficking_desc}}</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487671">
                <a:tc>
                  <a:txBody>
                    <a:bodyPr/>
                    <a:lstStyle/>
                    <a:p>
                      <a:pPr algn="l"/>
                      <a:r>
                        <a:rPr lang="en-GB" sz="975" b="1" kern="1200" spc="-10" noProof="0">
                          <a:solidFill>
                            <a:schemeClr val="tx2"/>
                          </a:solidFill>
                          <a:latin typeface="+mn-lt"/>
                          <a:ea typeface="+mn-ea"/>
                          <a:cs typeface="+mn-cs"/>
                        </a:rPr>
                        <a:t>Discrimination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rgbClr val="1B4528"/>
                          </a:solidFill>
                        </a:rPr>
                        <a:t>{{discrimination_yes?}}</a:t>
                      </a:r>
                      <a:endParaRPr lang="en-GB"/>
                    </a:p>
                    <a:p>
                      <a:pPr lvl="0" algn="l" defTabSz="914400">
                        <a:lnSpc>
                          <a:spcPct val="100000"/>
                        </a:lnSpc>
                        <a:spcBef>
                          <a:spcPts val="0"/>
                        </a:spcBef>
                        <a:spcAft>
                          <a:spcPts val="0"/>
                        </a:spcAft>
                        <a:buNone/>
                        <a:tabLst/>
                        <a:defRPr/>
                      </a:pPr>
                      <a:r>
                        <a:rPr lang="en-GB" sz="975" b="0" i="0" u="none" strike="noStrike" noProof="0">
                          <a:solidFill>
                            <a:srgbClr val="1B4528"/>
                          </a:solidFill>
                        </a:rPr>
                        <a:t>{{discrimination_desc}}</a:t>
                      </a:r>
                      <a:endParaRPr lang="en-GB"/>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343972">
                <a:tc>
                  <a:txBody>
                    <a:bodyPr/>
                    <a:lstStyle/>
                    <a:p>
                      <a:pPr lvl="0" algn="l">
                        <a:buNone/>
                      </a:pPr>
                      <a:r>
                        <a:rPr lang="en-GB" sz="975" b="1" kern="1200" spc="-10" noProof="0">
                          <a:solidFill>
                            <a:schemeClr val="tx2"/>
                          </a:solidFill>
                          <a:latin typeface="+mn-lt"/>
                          <a:ea typeface="+mn-ea"/>
                          <a:cs typeface="+mn-cs"/>
                        </a:rPr>
                        <a:t>Other </a:t>
                      </a:r>
                      <a:endParaRPr lang="en-US" b="1">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lvl="0" algn="l">
                        <a:lnSpc>
                          <a:spcPct val="100000"/>
                        </a:lnSpc>
                        <a:spcBef>
                          <a:spcPts val="0"/>
                        </a:spcBef>
                        <a:spcAft>
                          <a:spcPts val="0"/>
                        </a:spcAft>
                        <a:buNone/>
                      </a:pPr>
                      <a:r>
                        <a:rPr lang="en-GB" sz="975" b="0" i="0" u="none" strike="noStrike" noProof="0">
                          <a:solidFill>
                            <a:srgbClr val="1B4528"/>
                          </a:solidFill>
                          <a:latin typeface="IBM Plex Sans"/>
                          <a:cs typeface="Calibri"/>
                        </a:rPr>
                        <a:t>{{other</a:t>
                      </a:r>
                      <a:r>
                        <a:rPr lang="en-GB" sz="975" b="0" i="0" u="none" strike="noStrike" noProof="0">
                          <a:solidFill>
                            <a:srgbClr val="1B4528"/>
                          </a:solidFill>
                          <a:latin typeface="IBM Plex Sans"/>
                        </a:rPr>
                        <a:t>_yes?}}</a:t>
                      </a:r>
                      <a:endParaRPr lang="en-GB" sz="975" b="0" i="0" u="none" strike="noStrike" noProof="0">
                        <a:solidFill>
                          <a:srgbClr val="000000"/>
                        </a:solidFill>
                        <a:latin typeface="IBM Plex Sans"/>
                      </a:endParaRPr>
                    </a:p>
                    <a:p>
                      <a:pPr lvl="0" algn="l" defTabSz="914400">
                        <a:lnSpc>
                          <a:spcPct val="100000"/>
                        </a:lnSpc>
                        <a:spcBef>
                          <a:spcPts val="0"/>
                        </a:spcBef>
                        <a:spcAft>
                          <a:spcPts val="0"/>
                        </a:spcAft>
                        <a:buNone/>
                        <a:tabLst/>
                        <a:defRPr/>
                      </a:pPr>
                      <a:r>
                        <a:rPr lang="en-GB" sz="975" b="0" i="0" u="none" strike="noStrike" noProof="0">
                          <a:solidFill>
                            <a:srgbClr val="1B4528"/>
                          </a:solidFill>
                          <a:latin typeface="IBM Plex Sans"/>
                        </a:rPr>
                        <a:t>{{other_desc}}</a:t>
                      </a:r>
                      <a:endParaRPr lang="en-GB" sz="975" b="0" i="0" u="none" strike="noStrike" noProof="0">
                        <a:solidFill>
                          <a:srgbClr val="000000"/>
                        </a:solidFill>
                        <a:latin typeface="IBM Plex San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bl>
          </a:graphicData>
        </a:graphic>
      </p:graphicFrame>
      <p:sp>
        <p:nvSpPr>
          <p:cNvPr id="14" name="Tekstfelt 13">
            <a:extLst>
              <a:ext uri="{FF2B5EF4-FFF2-40B4-BE49-F238E27FC236}">
                <a16:creationId xmlns:a16="http://schemas.microsoft.com/office/drawing/2014/main" id="{6621372E-99B2-9153-2F88-5157BF16DADB}"/>
              </a:ext>
            </a:extLst>
          </p:cNvPr>
          <p:cNvSpPr txBox="1"/>
          <p:nvPr/>
        </p:nvSpPr>
        <p:spPr>
          <a:xfrm>
            <a:off x="411480" y="1317755"/>
            <a:ext cx="6737040" cy="692470"/>
          </a:xfrm>
          <a:prstGeom prst="rect">
            <a:avLst/>
          </a:prstGeom>
          <a:noFill/>
        </p:spPr>
        <p:txBody>
          <a:bodyPr wrap="square">
            <a:spAutoFit/>
          </a:bodyPr>
          <a:lstStyle/>
          <a:p>
            <a:pPr rtl="0">
              <a:buNone/>
            </a:pPr>
            <a:r>
              <a:rPr lang="en-GB" sz="975" b="0" i="0" u="none" strike="noStrike" noProof="0">
                <a:solidFill>
                  <a:schemeClr val="tx2"/>
                </a:solidFill>
                <a:effectLst/>
                <a:latin typeface="Inter"/>
              </a:rPr>
              <a:t>The following disclosure requirements set out the undertaking’s reporting on negative incidents related to child labour, forced labour, human trafficking and discrimination. In this section, the undertaking states whether the above relates to its own workforce.</a:t>
            </a:r>
            <a:endParaRPr lang="en-GB" sz="975" b="0" noProof="0">
              <a:solidFill>
                <a:schemeClr val="tx2"/>
              </a:solidFill>
              <a:effectLst/>
              <a:latin typeface="Inter"/>
            </a:endParaRPr>
          </a:p>
          <a:p>
            <a:pPr>
              <a:buNone/>
            </a:pPr>
            <a:br>
              <a:rPr lang="en-GB" sz="975" noProof="0">
                <a:solidFill>
                  <a:schemeClr val="tx2"/>
                </a:solidFill>
                <a:latin typeface="Inter"/>
              </a:rPr>
            </a:br>
            <a:endParaRPr lang="en-GB" sz="975" noProof="0">
              <a:solidFill>
                <a:schemeClr val="tx2"/>
              </a:solidFill>
              <a:latin typeface="Inter"/>
            </a:endParaRPr>
          </a:p>
        </p:txBody>
      </p:sp>
      <p:sp>
        <p:nvSpPr>
          <p:cNvPr id="4" name="Title 2">
            <a:extLst>
              <a:ext uri="{FF2B5EF4-FFF2-40B4-BE49-F238E27FC236}">
                <a16:creationId xmlns:a16="http://schemas.microsoft.com/office/drawing/2014/main" id="{41F3A84E-89CC-12F3-053B-7720F7BEBDF4}"/>
              </a:ext>
            </a:extLst>
          </p:cNvPr>
          <p:cNvSpPr txBox="1">
            <a:spLocks/>
          </p:cNvSpPr>
          <p:nvPr/>
        </p:nvSpPr>
        <p:spPr>
          <a:xfrm>
            <a:off x="411480" y="5186632"/>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a:solidFill>
                  <a:srgbClr val="1B4528"/>
                </a:solidFill>
                <a:latin typeface="+mn-lt"/>
                <a:ea typeface="+mn-ea"/>
                <a:cs typeface="+mn-cs"/>
              </a:rPr>
              <a:t>Severe negative human rights incidents (C7</a:t>
            </a:r>
            <a:r>
              <a:rPr lang="en-GB"/>
              <a:t>) – In the value chain</a:t>
            </a:r>
          </a:p>
        </p:txBody>
      </p:sp>
      <p:graphicFrame>
        <p:nvGraphicFramePr>
          <p:cNvPr id="6" name="Table 2">
            <a:extLst>
              <a:ext uri="{FF2B5EF4-FFF2-40B4-BE49-F238E27FC236}">
                <a16:creationId xmlns:a16="http://schemas.microsoft.com/office/drawing/2014/main" id="{C2849829-EDEC-28FD-0347-B091216B259D}"/>
              </a:ext>
            </a:extLst>
          </p:cNvPr>
          <p:cNvGraphicFramePr>
            <a:graphicFrameLocks noGrp="1"/>
          </p:cNvGraphicFramePr>
          <p:nvPr>
            <p:extLst>
              <p:ext uri="{D42A27DB-BD31-4B8C-83A1-F6EECF244321}">
                <p14:modId xmlns:p14="http://schemas.microsoft.com/office/powerpoint/2010/main" val="445969331"/>
              </p:ext>
            </p:extLst>
          </p:nvPr>
        </p:nvGraphicFramePr>
        <p:xfrm>
          <a:off x="411480" y="6039725"/>
          <a:ext cx="6737040" cy="1658137"/>
        </p:xfrm>
        <a:graphic>
          <a:graphicData uri="http://schemas.openxmlformats.org/drawingml/2006/table">
            <a:tbl>
              <a:tblPr firstRow="1">
                <a:tableStyleId>{2A488322-F2BA-4B5B-9748-0D474271808F}</a:tableStyleId>
              </a:tblPr>
              <a:tblGrid>
                <a:gridCol w="1486246">
                  <a:extLst>
                    <a:ext uri="{9D8B030D-6E8A-4147-A177-3AD203B41FA5}">
                      <a16:colId xmlns:a16="http://schemas.microsoft.com/office/drawing/2014/main" val="1902117154"/>
                    </a:ext>
                  </a:extLst>
                </a:gridCol>
                <a:gridCol w="5250794">
                  <a:extLst>
                    <a:ext uri="{9D8B030D-6E8A-4147-A177-3AD203B41FA5}">
                      <a16:colId xmlns:a16="http://schemas.microsoft.com/office/drawing/2014/main" val="1904521774"/>
                    </a:ext>
                  </a:extLst>
                </a:gridCol>
              </a:tblGrid>
              <a:tr h="251982">
                <a:tc gridSpan="2">
                  <a:txBody>
                    <a:bodyPr/>
                    <a:lstStyle/>
                    <a:p>
                      <a:pPr algn="l"/>
                      <a:r>
                        <a:rPr lang="en-GB" sz="975" b="1" kern="1200" spc="-10" noProof="0">
                          <a:solidFill>
                            <a:schemeClr val="tx2"/>
                          </a:solidFill>
                          <a:latin typeface="+mn-lt"/>
                          <a:ea typeface="+mn-ea"/>
                          <a:cs typeface="+mn-cs"/>
                        </a:rPr>
                        <a:t>Is the undertaking aware of confirmed negative human rights incidents in </a:t>
                      </a:r>
                      <a:r>
                        <a:rPr lang="en-GB" sz="975" b="1" kern="1200" noProof="0">
                          <a:solidFill>
                            <a:srgbClr val="1B4528"/>
                          </a:solidFill>
                          <a:latin typeface="+mn-lt"/>
                          <a:ea typeface="+mn-ea"/>
                          <a:cs typeface="+mn-cs"/>
                        </a:rPr>
                        <a:t>{{company_name}}’s</a:t>
                      </a:r>
                      <a:r>
                        <a:rPr lang="en-GB" sz="975" b="1" kern="1200" noProof="0">
                          <a:solidFill>
                            <a:schemeClr val="tx2"/>
                          </a:solidFill>
                          <a:latin typeface="+mn-lt"/>
                          <a:ea typeface="+mn-ea"/>
                          <a:cs typeface="+mn-cs"/>
                        </a:rPr>
                        <a:t> </a:t>
                      </a:r>
                      <a:r>
                        <a:rPr lang="en-GB" sz="975" b="1" kern="1200" spc="-10" noProof="0">
                          <a:solidFill>
                            <a:schemeClr val="tx2"/>
                          </a:solidFill>
                          <a:latin typeface="+mn-lt"/>
                          <a:ea typeface="+mn-ea"/>
                          <a:cs typeface="+mn-cs"/>
                        </a:rPr>
                        <a:t>value chain </a:t>
                      </a:r>
                      <a:r>
                        <a:rPr lang="en-GB" sz="975" b="0" kern="1200" spc="-10" noProof="0">
                          <a:solidFill>
                            <a:schemeClr val="tx2"/>
                          </a:solidFill>
                          <a:latin typeface="+mn-lt"/>
                          <a:ea typeface="+mn-ea"/>
                          <a:cs typeface="+mn-cs"/>
                        </a:rPr>
                        <a:t>(para. 62c)</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algn="l"/>
                      <a:endParaRPr lang="en-GB" sz="725" b="1"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3642311251"/>
                  </a:ext>
                </a:extLst>
              </a:tr>
              <a:tr h="433653">
                <a:tc>
                  <a:txBody>
                    <a:bodyPr/>
                    <a:lstStyle/>
                    <a:p>
                      <a:pPr algn="l"/>
                      <a:r>
                        <a:rPr lang="en-GB" sz="975" b="1" kern="1200" spc="-10" noProof="0">
                          <a:solidFill>
                            <a:schemeClr val="tx2"/>
                          </a:solidFill>
                          <a:latin typeface="+mn-lt"/>
                          <a:ea typeface="+mn-ea"/>
                          <a:cs typeface="+mn-cs"/>
                        </a:rPr>
                        <a:t>Workers in the value chain</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n-GB" sz="975" b="0" i="0" u="none" strike="noStrike" noProof="0">
                          <a:solidFill>
                            <a:srgbClr val="1B4528"/>
                          </a:solidFill>
                          <a:effectLst/>
                          <a:latin typeface="Inter"/>
                        </a:rPr>
                        <a:t>{{incidents_workers_value_chain}}</a:t>
                      </a:r>
                      <a:endParaRPr lang="en-GB" sz="975" noProof="0">
                        <a:solidFill>
                          <a:srgbClr val="1B4528"/>
                        </a:solidFill>
                        <a:latin typeface="+mn-lt"/>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433653">
                <a:tc>
                  <a:txBody>
                    <a:bodyPr/>
                    <a:lstStyle/>
                    <a:p>
                      <a:pPr algn="l"/>
                      <a:r>
                        <a:rPr lang="en-GB" sz="975" b="1" kern="1200" spc="-10" noProof="0">
                          <a:solidFill>
                            <a:schemeClr val="tx2"/>
                          </a:solidFill>
                          <a:latin typeface="+mn-lt"/>
                          <a:ea typeface="+mn-ea"/>
                          <a:cs typeface="+mn-cs"/>
                        </a:rPr>
                        <a:t>Affected communities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n-GB" sz="975" b="0" i="0" u="none" strike="noStrike" noProof="0">
                          <a:solidFill>
                            <a:srgbClr val="1B4528"/>
                          </a:solidFill>
                          <a:effectLst/>
                          <a:latin typeface="Inter"/>
                        </a:rPr>
                        <a:t>{{incidents_affected_communities}}</a:t>
                      </a:r>
                      <a:endParaRPr lang="en-GB" sz="975" kern="1200" noProof="0">
                        <a:solidFill>
                          <a:srgbClr val="1B4528"/>
                        </a:solidFill>
                        <a:latin typeface="+mn-lt"/>
                        <a:ea typeface="+mn-ea"/>
                        <a:cs typeface="Calibri"/>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433653">
                <a:tc>
                  <a:txBody>
                    <a:bodyPr/>
                    <a:lstStyle/>
                    <a:p>
                      <a:pPr algn="l"/>
                      <a:r>
                        <a:rPr lang="en-GB" sz="975" b="1" kern="1200" spc="-10" noProof="0">
                          <a:solidFill>
                            <a:schemeClr val="tx2"/>
                          </a:solidFill>
                          <a:latin typeface="+mn-lt"/>
                          <a:ea typeface="+mn-ea"/>
                          <a:cs typeface="+mn-cs"/>
                        </a:rPr>
                        <a:t>Consumers and end-users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lgn="l">
                        <a:buNone/>
                      </a:pPr>
                      <a:r>
                        <a:rPr lang="en-GB" sz="975" b="0" i="0" u="none" strike="noStrike" noProof="0" dirty="0">
                          <a:solidFill>
                            <a:srgbClr val="1B4528"/>
                          </a:solidFill>
                          <a:effectLst/>
                          <a:latin typeface="Inter"/>
                        </a:rPr>
                        <a:t>{{</a:t>
                      </a:r>
                      <a:r>
                        <a:rPr lang="en-GB" sz="975" b="0" i="0" u="none" strike="noStrike" noProof="0" dirty="0" err="1">
                          <a:solidFill>
                            <a:srgbClr val="1B4528"/>
                          </a:solidFill>
                          <a:effectLst/>
                          <a:latin typeface="Inter"/>
                        </a:rPr>
                        <a:t>incidents_consumers</a:t>
                      </a:r>
                      <a:r>
                        <a:rPr lang="en-GB" sz="975" b="0" i="0" u="none" strike="noStrike" noProof="0" dirty="0">
                          <a:solidFill>
                            <a:srgbClr val="1B4528"/>
                          </a:solidFill>
                          <a:effectLst/>
                          <a:latin typeface="Inter"/>
                        </a:rPr>
                        <a:t>}}</a:t>
                      </a:r>
                      <a:endParaRPr lang="en-GB" sz="975" b="0" noProof="0" dirty="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414495947"/>
                  </a:ext>
                </a:extLst>
              </a:tr>
            </a:tbl>
          </a:graphicData>
        </a:graphic>
      </p:graphicFrame>
      <p:sp>
        <p:nvSpPr>
          <p:cNvPr id="7" name="Tekstfelt 6">
            <a:extLst>
              <a:ext uri="{FF2B5EF4-FFF2-40B4-BE49-F238E27FC236}">
                <a16:creationId xmlns:a16="http://schemas.microsoft.com/office/drawing/2014/main" id="{D86CEC8F-33AD-EB43-97CC-8C565BD2D1E9}"/>
              </a:ext>
            </a:extLst>
          </p:cNvPr>
          <p:cNvSpPr txBox="1"/>
          <p:nvPr/>
        </p:nvSpPr>
        <p:spPr>
          <a:xfrm>
            <a:off x="411480" y="5538666"/>
            <a:ext cx="6737040" cy="230823"/>
          </a:xfrm>
          <a:prstGeom prst="rect">
            <a:avLst/>
          </a:prstGeom>
          <a:noFill/>
        </p:spPr>
        <p:txBody>
          <a:bodyPr wrap="square">
            <a:spAutoFit/>
          </a:bodyPr>
          <a:lstStyle/>
          <a:p>
            <a:pPr>
              <a:spcBef>
                <a:spcPts val="750"/>
              </a:spcBef>
            </a:pPr>
            <a:r>
              <a:rPr lang="en-GB" sz="975" b="0" i="0" u="none" strike="noStrike" noProof="0">
                <a:solidFill>
                  <a:schemeClr val="tx2"/>
                </a:solidFill>
                <a:effectLst/>
                <a:latin typeface="Inter"/>
              </a:rPr>
              <a:t>Below is </a:t>
            </a:r>
            <a:r>
              <a:rPr lang="en-GB" sz="975" noProof="0">
                <a:solidFill>
                  <a:schemeClr val="tx2"/>
                </a:solidFill>
                <a:latin typeface="Inter"/>
              </a:rPr>
              <a:t>information on </a:t>
            </a:r>
            <a:r>
              <a:rPr lang="en-GB" sz="975" b="0" i="0" u="none" strike="noStrike" noProof="0">
                <a:solidFill>
                  <a:schemeClr val="tx2"/>
                </a:solidFill>
                <a:effectLst/>
                <a:latin typeface="Inter"/>
              </a:rPr>
              <a:t>the undertaking’s knowledge of confirmed negative human rights incidents in the undertaking’s value chain.</a:t>
            </a:r>
          </a:p>
        </p:txBody>
      </p:sp>
    </p:spTree>
    <p:extLst>
      <p:ext uri="{BB962C8B-B14F-4D97-AF65-F5344CB8AC3E}">
        <p14:creationId xmlns:p14="http://schemas.microsoft.com/office/powerpoint/2010/main" val="370506833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0C62860-972E-E884-9828-460A25BDCE9F}"/>
              </a:ext>
            </a:extLst>
          </p:cNvPr>
          <p:cNvSpPr>
            <a:spLocks noGrp="1"/>
          </p:cNvSpPr>
          <p:nvPr>
            <p:ph type="title"/>
          </p:nvPr>
        </p:nvSpPr>
        <p:spPr>
          <a:xfrm>
            <a:off x="411480" y="788246"/>
            <a:ext cx="6737040" cy="207741"/>
          </a:xfrm>
        </p:spPr>
        <p:txBody>
          <a:bodyPr/>
          <a:lstStyle/>
          <a:p>
            <a:r>
              <a:rPr lang="en-GB" sz="1475" b="1" i="0" u="none" strike="noStrike" kern="1200" spc="-10" noProof="0">
                <a:solidFill>
                  <a:srgbClr val="1B4528"/>
                </a:solidFill>
              </a:rPr>
              <a:t>Revenues from certain activities (C8)</a:t>
            </a:r>
            <a:endParaRPr lang="en-GB" noProof="0"/>
          </a:p>
        </p:txBody>
      </p:sp>
      <p:sp>
        <p:nvSpPr>
          <p:cNvPr id="2" name="Slide Number Placeholder 1">
            <a:extLst>
              <a:ext uri="{FF2B5EF4-FFF2-40B4-BE49-F238E27FC236}">
                <a16:creationId xmlns:a16="http://schemas.microsoft.com/office/drawing/2014/main" id="{F72C860F-3613-E98B-42C7-204BDA28A1F2}"/>
              </a:ext>
              <a:ext uri="{C183D7F6-B498-43B3-948B-1728B52AA6E4}">
                <adec:decorative xmlns:adec="http://schemas.microsoft.com/office/drawing/2017/decorative" val="1"/>
              </a:ext>
            </a:extLst>
          </p:cNvPr>
          <p:cNvSpPr>
            <a:spLocks noGrp="1"/>
          </p:cNvSpPr>
          <p:nvPr>
            <p:ph type="sldNum" sz="quarter" idx="12"/>
          </p:nvPr>
        </p:nvSpPr>
        <p:spPr/>
        <p:txBody>
          <a:bodyPr/>
          <a:lstStyle/>
          <a:p>
            <a:fld id="{5A0D23CF-C5A3-5445-819D-C647D180BB4B}" type="slidenum">
              <a:rPr lang="en-GB" noProof="0" smtClean="0"/>
              <a:pPr/>
              <a:t>18</a:t>
            </a:fld>
            <a:endParaRPr lang="en-GB" noProof="0"/>
          </a:p>
        </p:txBody>
      </p:sp>
      <p:sp>
        <p:nvSpPr>
          <p:cNvPr id="5" name="Footer Placeholder 4">
            <a:extLst>
              <a:ext uri="{FF2B5EF4-FFF2-40B4-BE49-F238E27FC236}">
                <a16:creationId xmlns:a16="http://schemas.microsoft.com/office/drawing/2014/main" id="{340F24C5-33C0-4C2D-8193-33A504950FC4}"/>
              </a:ext>
              <a:ext uri="{C183D7F6-B498-43B3-948B-1728B52AA6E4}">
                <adec:decorative xmlns:adec="http://schemas.microsoft.com/office/drawing/2017/decorative" val="1"/>
              </a:ext>
            </a:extLst>
          </p:cNvPr>
          <p:cNvSpPr>
            <a:spLocks noGrp="1"/>
          </p:cNvSpPr>
          <p:nvPr>
            <p:ph type="ftr" sz="quarter" idx="11"/>
          </p:nvPr>
        </p:nvSpPr>
        <p:spPr/>
        <p:txBody>
          <a:bodyPr/>
          <a:lstStyle/>
          <a:p>
            <a:r>
              <a:rPr lang="en-GB" noProof="0"/>
              <a:t>{{company_name}}</a:t>
            </a:r>
            <a:endParaRPr lang="en-GB" b="0" noProof="0"/>
          </a:p>
          <a:p>
            <a:endParaRPr lang="en-GB" noProof="0"/>
          </a:p>
        </p:txBody>
      </p:sp>
      <p:graphicFrame>
        <p:nvGraphicFramePr>
          <p:cNvPr id="11" name="Table 2">
            <a:extLst>
              <a:ext uri="{FF2B5EF4-FFF2-40B4-BE49-F238E27FC236}">
                <a16:creationId xmlns:a16="http://schemas.microsoft.com/office/drawing/2014/main" id="{A420AFF6-414E-4EC8-A668-F0BFECC8260A}"/>
              </a:ext>
            </a:extLst>
          </p:cNvPr>
          <p:cNvGraphicFramePr>
            <a:graphicFrameLocks noGrp="1"/>
          </p:cNvGraphicFramePr>
          <p:nvPr>
            <p:extLst>
              <p:ext uri="{D42A27DB-BD31-4B8C-83A1-F6EECF244321}">
                <p14:modId xmlns:p14="http://schemas.microsoft.com/office/powerpoint/2010/main" val="1075469184"/>
              </p:ext>
            </p:extLst>
          </p:nvPr>
        </p:nvGraphicFramePr>
        <p:xfrm>
          <a:off x="411480" y="1792933"/>
          <a:ext cx="6737040" cy="2504114"/>
        </p:xfrm>
        <a:graphic>
          <a:graphicData uri="http://schemas.openxmlformats.org/drawingml/2006/table">
            <a:tbl>
              <a:tblPr firstRow="1">
                <a:tableStyleId>{2A488322-F2BA-4B5B-9748-0D474271808F}</a:tableStyleId>
              </a:tblPr>
              <a:tblGrid>
                <a:gridCol w="4617489">
                  <a:extLst>
                    <a:ext uri="{9D8B030D-6E8A-4147-A177-3AD203B41FA5}">
                      <a16:colId xmlns:a16="http://schemas.microsoft.com/office/drawing/2014/main" val="1902117154"/>
                    </a:ext>
                  </a:extLst>
                </a:gridCol>
                <a:gridCol w="2119551">
                  <a:extLst>
                    <a:ext uri="{9D8B030D-6E8A-4147-A177-3AD203B41FA5}">
                      <a16:colId xmlns:a16="http://schemas.microsoft.com/office/drawing/2014/main" val="1904521774"/>
                    </a:ext>
                  </a:extLst>
                </a:gridCol>
              </a:tblGrid>
              <a:tr h="286516">
                <a:tc gridSpan="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GB" sz="975" b="1" kern="1200" spc="-10" noProof="0">
                          <a:solidFill>
                            <a:schemeClr val="tx2"/>
                          </a:solidFill>
                          <a:latin typeface="+mn-lt"/>
                          <a:ea typeface="+mn-ea"/>
                          <a:cs typeface="+mn-cs"/>
                        </a:rPr>
                        <a:t>Revenues from certain sectors</a:t>
                      </a:r>
                      <a:r>
                        <a:rPr lang="en-GB" sz="975" b="0" kern="1200" spc="-10" noProof="0">
                          <a:solidFill>
                            <a:schemeClr val="tx2"/>
                          </a:solidFill>
                          <a:latin typeface="+mn-lt"/>
                          <a:ea typeface="+mn-ea"/>
                          <a:cs typeface="+mn-cs"/>
                        </a:rPr>
                        <a:t> (Para. 63 a-d)</a:t>
                      </a:r>
                    </a:p>
                    <a:p>
                      <a:pPr algn="l"/>
                      <a:endParaRPr lang="en-GB"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hMerge="1">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endParaRPr lang="en-GB" sz="725" noProof="0">
                        <a:solidFill>
                          <a:srgbClr val="1B4528"/>
                        </a:solidFill>
                        <a:latin typeface="+mn-lt"/>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1853461323"/>
                  </a:ext>
                </a:extLst>
              </a:tr>
              <a:tr h="286516">
                <a:tc>
                  <a:txBody>
                    <a:bodyPr/>
                    <a:lstStyle/>
                    <a:p>
                      <a:pPr algn="l"/>
                      <a:endParaRPr lang="en-GB" sz="975" b="0" kern="1200" spc="-10" noProof="0">
                        <a:solidFill>
                          <a:schemeClr val="tx2"/>
                        </a:solidFill>
                        <a:latin typeface="+mn-lt"/>
                        <a:ea typeface="+mn-ea"/>
                        <a:cs typeface="+mn-cs"/>
                      </a:endParaRP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rtl="0" fontAlgn="ctr">
                        <a:buNone/>
                      </a:pPr>
                      <a:r>
                        <a:rPr lang="en-GB" sz="975" b="1" i="0" u="none" strike="noStrike" noProof="0">
                          <a:solidFill>
                            <a:srgbClr val="1B4528"/>
                          </a:solidFill>
                          <a:effectLst/>
                          <a:latin typeface="IBM Plex Sans" panose="020B0503050203000203" pitchFamily="34" charset="0"/>
                        </a:rPr>
                        <a:t>Revenue in year </a:t>
                      </a:r>
                      <a:r>
                        <a:rPr lang="en-GB" sz="975" b="1" i="0" u="none" strike="noStrike" noProof="0">
                          <a:solidFill>
                            <a:srgbClr val="1B4528"/>
                          </a:solidFill>
                          <a:effectLst/>
                          <a:latin typeface="Inter"/>
                        </a:rPr>
                        <a:t>{{Insert year}}</a:t>
                      </a:r>
                      <a:endParaRPr lang="en-GB" sz="975" noProof="0">
                        <a:effectLst/>
                      </a:endParaRPr>
                    </a:p>
                  </a:txBody>
                  <a:tcPr marL="31749" marR="31749" marT="21166" marB="21166"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extLst>
                  <a:ext uri="{0D108BD9-81ED-4DB2-BD59-A6C34878D82A}">
                    <a16:rowId xmlns:a16="http://schemas.microsoft.com/office/drawing/2014/main" val="2680761105"/>
                  </a:ext>
                </a:extLst>
              </a:tr>
              <a:tr h="286516">
                <a:tc>
                  <a:txBody>
                    <a:bodyPr/>
                    <a:lstStyle/>
                    <a:p>
                      <a:pPr algn="l"/>
                      <a:r>
                        <a:rPr lang="en-GB" sz="975" b="1" kern="1200" spc="-10" noProof="0">
                          <a:solidFill>
                            <a:schemeClr val="tx2"/>
                          </a:solidFill>
                          <a:latin typeface="+mn-lt"/>
                          <a:ea typeface="+mn-ea"/>
                          <a:cs typeface="+mn-cs"/>
                        </a:rPr>
                        <a:t>Controversial weapons (anti-personnel mines, cluster munitions, chemical weapons and biological weapons)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975" b="0" i="0" u="none" strike="noStrike" noProof="0">
                          <a:solidFill>
                            <a:srgbClr val="1B4528"/>
                          </a:solidFill>
                          <a:effectLst/>
                          <a:latin typeface="Inter"/>
                        </a:rPr>
                        <a:t>{{revenue_weapons}}</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80349995"/>
                  </a:ext>
                </a:extLst>
              </a:tr>
              <a:tr h="286516">
                <a:tc>
                  <a:txBody>
                    <a:bodyPr/>
                    <a:lstStyle/>
                    <a:p>
                      <a:pPr algn="l"/>
                      <a:r>
                        <a:rPr lang="en-GB" sz="975" b="1" kern="1200" spc="-10" noProof="0">
                          <a:solidFill>
                            <a:schemeClr val="tx2"/>
                          </a:solidFill>
                          <a:latin typeface="+mn-lt"/>
                          <a:ea typeface="+mn-ea"/>
                          <a:cs typeface="+mn-cs"/>
                        </a:rPr>
                        <a:t>Cultivation and/or production of tobacco</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975" b="0" i="0" u="none" strike="noStrike" noProof="0">
                          <a:solidFill>
                            <a:srgbClr val="1B4528"/>
                          </a:solidFill>
                          <a:effectLst/>
                          <a:latin typeface="Inter"/>
                        </a:rPr>
                        <a:t>{{revenue_cultivation}}</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0256071"/>
                  </a:ext>
                </a:extLst>
              </a:tr>
              <a:tr h="286516">
                <a:tc>
                  <a:txBody>
                    <a:bodyPr/>
                    <a:lstStyle/>
                    <a:p>
                      <a:pPr algn="l"/>
                      <a:r>
                        <a:rPr lang="en-GB" sz="975" b="1" kern="1200" spc="-10" noProof="0">
                          <a:solidFill>
                            <a:schemeClr val="tx2"/>
                          </a:solidFill>
                          <a:latin typeface="+mn-lt"/>
                          <a:ea typeface="+mn-ea"/>
                          <a:cs typeface="+mn-cs"/>
                        </a:rPr>
                        <a:t>Fossil fuels: Coal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975" b="0" i="0" u="none" strike="noStrike" noProof="0">
                          <a:solidFill>
                            <a:srgbClr val="1B4528"/>
                          </a:solidFill>
                          <a:effectLst/>
                          <a:latin typeface="Inter"/>
                        </a:rPr>
                        <a:t>{{revenue_coal}}</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442156864"/>
                  </a:ext>
                </a:extLst>
              </a:tr>
              <a:tr h="286516">
                <a:tc>
                  <a:txBody>
                    <a:bodyPr/>
                    <a:lstStyle/>
                    <a:p>
                      <a:pPr algn="l"/>
                      <a:r>
                        <a:rPr lang="en-GB" sz="975" b="1" kern="1200" spc="-10" noProof="0">
                          <a:solidFill>
                            <a:schemeClr val="tx2"/>
                          </a:solidFill>
                          <a:latin typeface="+mn-lt"/>
                          <a:ea typeface="+mn-ea"/>
                          <a:cs typeface="+mn-cs"/>
                        </a:rPr>
                        <a:t>Fossil fuels: Oil</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975" b="0" i="0" u="none" strike="noStrike" noProof="0">
                          <a:solidFill>
                            <a:srgbClr val="1B4528"/>
                          </a:solidFill>
                          <a:effectLst/>
                          <a:latin typeface="Inter"/>
                        </a:rPr>
                        <a:t>{{revenue_oil}}</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197746340"/>
                  </a:ext>
                </a:extLst>
              </a:tr>
              <a:tr h="286516">
                <a:tc>
                  <a:txBody>
                    <a:bodyPr/>
                    <a:lstStyle/>
                    <a:p>
                      <a:pPr algn="l"/>
                      <a:r>
                        <a:rPr lang="en-GB" sz="975" b="1" kern="1200" spc="-10" noProof="0">
                          <a:solidFill>
                            <a:schemeClr val="tx2"/>
                          </a:solidFill>
                          <a:latin typeface="+mn-lt"/>
                          <a:ea typeface="+mn-ea"/>
                          <a:cs typeface="+mn-cs"/>
                        </a:rPr>
                        <a:t>Fossil fuels: Gas/natural gas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975" b="0" i="0" u="none" strike="noStrike" noProof="0">
                          <a:solidFill>
                            <a:srgbClr val="1B4528"/>
                          </a:solidFill>
                          <a:effectLst/>
                          <a:latin typeface="Inter"/>
                        </a:rPr>
                        <a:t>{{revenue_gas}}</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1942359221"/>
                  </a:ext>
                </a:extLst>
              </a:tr>
              <a:tr h="286516">
                <a:tc>
                  <a:txBody>
                    <a:bodyPr/>
                    <a:lstStyle/>
                    <a:p>
                      <a:pPr algn="l"/>
                      <a:r>
                        <a:rPr lang="en-GB" sz="975" b="1" kern="1200" spc="-10" noProof="0">
                          <a:solidFill>
                            <a:schemeClr val="tx2"/>
                          </a:solidFill>
                          <a:latin typeface="+mn-lt"/>
                          <a:ea typeface="+mn-ea"/>
                          <a:cs typeface="+mn-cs"/>
                        </a:rPr>
                        <a:t>Chemicals production for the manufacture of pesticides and other agrochemical products</a:t>
                      </a:r>
                    </a:p>
                  </a:txBody>
                  <a:tcPr marL="44998" marR="44998" marT="29999" marB="29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rgbClr val="D1DAD4"/>
                    </a:solidFill>
                  </a:tcPr>
                </a:tc>
                <a:tc>
                  <a:txBody>
                    <a:bodyPr/>
                    <a:lstStyle/>
                    <a:p>
                      <a:pPr algn="r" rtl="0" fontAlgn="ctr">
                        <a:buNone/>
                      </a:pPr>
                      <a:r>
                        <a:rPr lang="en-GB" sz="975" b="0" i="0" u="none" strike="noStrike" noProof="0">
                          <a:solidFill>
                            <a:srgbClr val="1B4528"/>
                          </a:solidFill>
                          <a:effectLst/>
                          <a:latin typeface="Inter"/>
                        </a:rPr>
                        <a:t>{{revenue_chemichal}}</a:t>
                      </a:r>
                      <a:endParaRPr lang="en-GB" sz="975" noProof="0">
                        <a:effectLst/>
                      </a:endParaRPr>
                    </a:p>
                  </a:txBody>
                  <a:tcPr marL="21166" marR="21166" marT="15874" marB="15874"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tcPr>
                </a:tc>
                <a:extLst>
                  <a:ext uri="{0D108BD9-81ED-4DB2-BD59-A6C34878D82A}">
                    <a16:rowId xmlns:a16="http://schemas.microsoft.com/office/drawing/2014/main" val="284094391"/>
                  </a:ext>
                </a:extLst>
              </a:tr>
            </a:tbl>
          </a:graphicData>
        </a:graphic>
      </p:graphicFrame>
      <p:sp>
        <p:nvSpPr>
          <p:cNvPr id="9" name="Tekstfelt 8">
            <a:extLst>
              <a:ext uri="{FF2B5EF4-FFF2-40B4-BE49-F238E27FC236}">
                <a16:creationId xmlns:a16="http://schemas.microsoft.com/office/drawing/2014/main" id="{919C8F24-DB64-A6E9-713A-0D402DE90CB8}"/>
              </a:ext>
            </a:extLst>
          </p:cNvPr>
          <p:cNvSpPr txBox="1"/>
          <p:nvPr/>
        </p:nvSpPr>
        <p:spPr>
          <a:xfrm>
            <a:off x="411480" y="1266643"/>
            <a:ext cx="6737040" cy="230823"/>
          </a:xfrm>
          <a:prstGeom prst="rect">
            <a:avLst/>
          </a:prstGeom>
          <a:noFill/>
        </p:spPr>
        <p:txBody>
          <a:bodyPr wrap="square">
            <a:spAutoFit/>
          </a:bodyPr>
          <a:lstStyle/>
          <a:p>
            <a:pPr rtl="0">
              <a:buNone/>
            </a:pPr>
            <a:r>
              <a:rPr lang="en-GB" sz="975" noProof="0">
                <a:solidFill>
                  <a:schemeClr val="tx2"/>
                </a:solidFill>
                <a:latin typeface="Inter"/>
              </a:rPr>
              <a:t>T</a:t>
            </a:r>
            <a:r>
              <a:rPr lang="en-GB" sz="975" b="0" i="0" u="none" strike="noStrike" noProof="0">
                <a:solidFill>
                  <a:schemeClr val="tx2"/>
                </a:solidFill>
                <a:effectLst/>
                <a:latin typeface="Inter"/>
              </a:rPr>
              <a:t>he undertaking has stated revenues from certain sectors and the amounts derived from those activities.</a:t>
            </a:r>
            <a:endParaRPr lang="en-GB" noProof="0">
              <a:solidFill>
                <a:schemeClr val="tx2"/>
              </a:solidFill>
            </a:endParaRPr>
          </a:p>
        </p:txBody>
      </p:sp>
      <p:sp>
        <p:nvSpPr>
          <p:cNvPr id="12" name="Title 3">
            <a:extLst>
              <a:ext uri="{FF2B5EF4-FFF2-40B4-BE49-F238E27FC236}">
                <a16:creationId xmlns:a16="http://schemas.microsoft.com/office/drawing/2014/main" id="{36344292-9D49-4ECA-2BB5-0243CF820322}"/>
              </a:ext>
            </a:extLst>
          </p:cNvPr>
          <p:cNvSpPr txBox="1">
            <a:spLocks/>
          </p:cNvSpPr>
          <p:nvPr/>
        </p:nvSpPr>
        <p:spPr>
          <a:xfrm>
            <a:off x="411480" y="4686387"/>
            <a:ext cx="6737040" cy="207741"/>
          </a:xfrm>
          <a:prstGeom prst="rect">
            <a:avLst/>
          </a:prstGeom>
        </p:spPr>
        <p:txBody>
          <a:bodyPr vert="horz" wrap="square" lIns="0" tIns="0" rIns="0" bIns="0" rtlCol="0" anchor="t" anchorCtr="0">
            <a:spAutoFit/>
          </a:bodyPr>
          <a:lstStyle>
            <a:lvl1pPr algn="l" defTabSz="914400" rtl="0" eaLnBrk="1" latinLnBrk="0" hangingPunct="1">
              <a:lnSpc>
                <a:spcPct val="90000"/>
              </a:lnSpc>
              <a:spcBef>
                <a:spcPct val="0"/>
              </a:spcBef>
              <a:buNone/>
              <a:defRPr sz="1475" b="1" kern="1200" spc="-10" baseline="0">
                <a:solidFill>
                  <a:schemeClr val="tx2"/>
                </a:solidFill>
                <a:latin typeface="+mj-lt"/>
                <a:ea typeface="+mj-ea"/>
                <a:cs typeface="+mj-cs"/>
              </a:defRPr>
            </a:lvl1pPr>
          </a:lstStyle>
          <a:p>
            <a:r>
              <a:rPr lang="en-GB" noProof="0">
                <a:solidFill>
                  <a:srgbClr val="1B4528"/>
                </a:solidFill>
              </a:rPr>
              <a:t>Gender diversity ratio in the governance body (C9)</a:t>
            </a:r>
            <a:endParaRPr lang="en-GB" noProof="0"/>
          </a:p>
        </p:txBody>
      </p:sp>
      <p:graphicFrame>
        <p:nvGraphicFramePr>
          <p:cNvPr id="13" name="Table 7">
            <a:extLst>
              <a:ext uri="{FF2B5EF4-FFF2-40B4-BE49-F238E27FC236}">
                <a16:creationId xmlns:a16="http://schemas.microsoft.com/office/drawing/2014/main" id="{5010B50D-163D-69DE-999C-3BC9FA39E2D0}"/>
              </a:ext>
            </a:extLst>
          </p:cNvPr>
          <p:cNvGraphicFramePr>
            <a:graphicFrameLocks noGrp="1"/>
          </p:cNvGraphicFramePr>
          <p:nvPr>
            <p:extLst>
              <p:ext uri="{D42A27DB-BD31-4B8C-83A1-F6EECF244321}">
                <p14:modId xmlns:p14="http://schemas.microsoft.com/office/powerpoint/2010/main" val="2206177221"/>
              </p:ext>
            </p:extLst>
          </p:nvPr>
        </p:nvGraphicFramePr>
        <p:xfrm>
          <a:off x="411480" y="5679204"/>
          <a:ext cx="6737040" cy="479980"/>
        </p:xfrm>
        <a:graphic>
          <a:graphicData uri="http://schemas.openxmlformats.org/drawingml/2006/table">
            <a:tbl>
              <a:tblPr firstRow="1">
                <a:tableStyleId>{2A488322-F2BA-4B5B-9748-0D474271808F}</a:tableStyleId>
              </a:tblPr>
              <a:tblGrid>
                <a:gridCol w="4648693">
                  <a:extLst>
                    <a:ext uri="{9D8B030D-6E8A-4147-A177-3AD203B41FA5}">
                      <a16:colId xmlns:a16="http://schemas.microsoft.com/office/drawing/2014/main" val="2698153288"/>
                    </a:ext>
                  </a:extLst>
                </a:gridCol>
                <a:gridCol w="2088347">
                  <a:extLst>
                    <a:ext uri="{9D8B030D-6E8A-4147-A177-3AD203B41FA5}">
                      <a16:colId xmlns:a16="http://schemas.microsoft.com/office/drawing/2014/main" val="2119413191"/>
                    </a:ext>
                  </a:extLst>
                </a:gridCol>
              </a:tblGrid>
              <a:tr h="239990">
                <a:tc rowSpan="2">
                  <a:txBody>
                    <a:bodyPr/>
                    <a:lstStyle/>
                    <a:p>
                      <a:r>
                        <a:rPr lang="en-GB" sz="975" b="1" kern="1200" spc="-10" noProof="0">
                          <a:solidFill>
                            <a:schemeClr val="tx2"/>
                          </a:solidFill>
                          <a:latin typeface="+mj-lt"/>
                          <a:ea typeface="+mn-ea"/>
                          <a:cs typeface="+mn-cs"/>
                        </a:rPr>
                        <a:t>The ratio of women to men in the governance body (</a:t>
                      </a:r>
                      <a:r>
                        <a:rPr lang="en-GB" sz="975" b="0" kern="1200" spc="-10" noProof="0">
                          <a:solidFill>
                            <a:schemeClr val="tx2"/>
                          </a:solidFill>
                          <a:latin typeface="+mj-lt"/>
                          <a:ea typeface="+mn-ea"/>
                          <a:cs typeface="+mn-cs"/>
                        </a:rPr>
                        <a:t>para. 64</a:t>
                      </a:r>
                      <a:r>
                        <a:rPr lang="en-GB" sz="975" b="1" kern="1200" spc="-10" noProof="0">
                          <a:solidFill>
                            <a:schemeClr val="tx2"/>
                          </a:solidFill>
                          <a:latin typeface="+mj-lt"/>
                          <a:ea typeface="+mn-ea"/>
                          <a:cs typeface="+mn-cs"/>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r>
                        <a:rPr lang="en-GB" sz="975" b="1" noProof="0">
                          <a:solidFill>
                            <a:schemeClr val="tx2"/>
                          </a:solidFill>
                        </a:rPr>
                        <a:t>Year </a:t>
                      </a:r>
                      <a:r>
                        <a:rPr lang="en-GB" sz="975" b="1" i="0" u="none" strike="noStrike" noProof="0">
                          <a:solidFill>
                            <a:srgbClr val="1B4528"/>
                          </a:solidFill>
                          <a:effectLst/>
                          <a:latin typeface="Inter"/>
                        </a:rPr>
                        <a:t>{{Insert year}}</a:t>
                      </a:r>
                      <a:endParaRPr lang="en-GB" sz="975" b="1"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extLst>
                  <a:ext uri="{0D108BD9-81ED-4DB2-BD59-A6C34878D82A}">
                    <a16:rowId xmlns:a16="http://schemas.microsoft.com/office/drawing/2014/main" val="625231048"/>
                  </a:ext>
                </a:extLst>
              </a:tr>
              <a:tr h="239990">
                <a:tc vMerge="1">
                  <a:txBody>
                    <a:bodyPr/>
                    <a:lstStyle/>
                    <a:p>
                      <a:endParaRPr lang="en-GB" sz="725" b="0" noProof="0">
                        <a:solidFill>
                          <a:schemeClr val="tx2"/>
                        </a:solidFill>
                      </a:endParaRP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2"/>
                    </a:solidFill>
                  </a:tcPr>
                </a:tc>
                <a:tc>
                  <a:txBody>
                    <a:bodyPr/>
                    <a:lstStyle/>
                    <a:p>
                      <a:pPr algn="r"/>
                      <a:r>
                        <a:rPr lang="en-GB" sz="975" b="0" noProof="0">
                          <a:solidFill>
                            <a:srgbClr val="1B4528"/>
                          </a:solidFill>
                        </a:rPr>
                        <a:t>{{</a:t>
                      </a:r>
                      <a:r>
                        <a:rPr lang="en-GB" sz="975" b="0" i="0" u="none" strike="noStrike" noProof="0">
                          <a:solidFill>
                            <a:srgbClr val="1B4528"/>
                          </a:solidFill>
                          <a:latin typeface="IBM Plex Sans"/>
                        </a:rPr>
                        <a:t>gender_supreme_body</a:t>
                      </a:r>
                      <a:r>
                        <a:rPr lang="en-GB" sz="975" b="0" noProof="0">
                          <a:solidFill>
                            <a:srgbClr val="1B4528"/>
                          </a:solidFill>
                        </a:rPr>
                        <a:t>}}</a:t>
                      </a:r>
                    </a:p>
                  </a:txBody>
                  <a:tcPr marL="44998" marR="44998" marT="17999" marB="17999" anchor="ctr">
                    <a:lnL w="6350" cap="flat" cmpd="sng" algn="ctr">
                      <a:solidFill>
                        <a:schemeClr val="tx2"/>
                      </a:solidFill>
                      <a:prstDash val="solid"/>
                      <a:round/>
                      <a:headEnd type="none" w="med" len="med"/>
                      <a:tailEnd type="none" w="med" len="med"/>
                    </a:lnL>
                    <a:lnR w="6350" cap="flat" cmpd="sng" algn="ctr">
                      <a:solidFill>
                        <a:schemeClr val="tx2"/>
                      </a:solidFill>
                      <a:prstDash val="solid"/>
                      <a:round/>
                      <a:headEnd type="none" w="med" len="med"/>
                      <a:tailEnd type="none" w="med" len="med"/>
                    </a:lnR>
                    <a:lnT w="6350" cap="flat" cmpd="sng" algn="ctr">
                      <a:solidFill>
                        <a:schemeClr val="tx2"/>
                      </a:solidFill>
                      <a:prstDash val="solid"/>
                      <a:round/>
                      <a:headEnd type="none" w="med" len="med"/>
                      <a:tailEnd type="none" w="med" len="med"/>
                    </a:lnT>
                    <a:lnB w="6350" cap="flat" cmpd="sng" algn="ctr">
                      <a:solidFill>
                        <a:schemeClr val="tx2"/>
                      </a:solidFill>
                      <a:prstDash val="solid"/>
                      <a:round/>
                      <a:headEnd type="none" w="med" len="med"/>
                      <a:tailEnd type="none" w="med" len="med"/>
                    </a:lnB>
                    <a:solidFill>
                      <a:schemeClr val="bg1"/>
                    </a:solidFill>
                  </a:tcPr>
                </a:tc>
                <a:extLst>
                  <a:ext uri="{0D108BD9-81ED-4DB2-BD59-A6C34878D82A}">
                    <a16:rowId xmlns:a16="http://schemas.microsoft.com/office/drawing/2014/main" val="1977038530"/>
                  </a:ext>
                </a:extLst>
              </a:tr>
            </a:tbl>
          </a:graphicData>
        </a:graphic>
      </p:graphicFrame>
      <p:sp>
        <p:nvSpPr>
          <p:cNvPr id="19" name="Tekstfelt 18">
            <a:extLst>
              <a:ext uri="{FF2B5EF4-FFF2-40B4-BE49-F238E27FC236}">
                <a16:creationId xmlns:a16="http://schemas.microsoft.com/office/drawing/2014/main" id="{299A6B5A-11F5-BD48-FC7A-B6A967C62C71}"/>
              </a:ext>
            </a:extLst>
          </p:cNvPr>
          <p:cNvSpPr txBox="1"/>
          <p:nvPr/>
        </p:nvSpPr>
        <p:spPr>
          <a:xfrm>
            <a:off x="411480" y="2493514"/>
            <a:ext cx="6737040" cy="307764"/>
          </a:xfrm>
          <a:prstGeom prst="rect">
            <a:avLst/>
          </a:prstGeom>
          <a:noFill/>
        </p:spPr>
        <p:txBody>
          <a:bodyPr wrap="square">
            <a:spAutoFit/>
          </a:bodyPr>
          <a:lstStyle/>
          <a:p>
            <a:r>
              <a:rPr lang="en-GB" b="0" noProof="0">
                <a:effectLst/>
              </a:rPr>
              <a:t> </a:t>
            </a:r>
            <a:endParaRPr lang="en-GB" noProof="0"/>
          </a:p>
        </p:txBody>
      </p:sp>
      <p:sp>
        <p:nvSpPr>
          <p:cNvPr id="22" name="Tekstfelt 21">
            <a:extLst>
              <a:ext uri="{FF2B5EF4-FFF2-40B4-BE49-F238E27FC236}">
                <a16:creationId xmlns:a16="http://schemas.microsoft.com/office/drawing/2014/main" id="{3F21186B-0691-91C9-5FC9-0771DBEFE852}"/>
              </a:ext>
            </a:extLst>
          </p:cNvPr>
          <p:cNvSpPr txBox="1"/>
          <p:nvPr/>
        </p:nvSpPr>
        <p:spPr>
          <a:xfrm>
            <a:off x="411480" y="5139662"/>
            <a:ext cx="6737040" cy="230823"/>
          </a:xfrm>
          <a:prstGeom prst="rect">
            <a:avLst/>
          </a:prstGeom>
          <a:noFill/>
        </p:spPr>
        <p:txBody>
          <a:bodyPr wrap="square">
            <a:spAutoFit/>
          </a:bodyPr>
          <a:lstStyle/>
          <a:p>
            <a:pPr rtl="0">
              <a:buNone/>
            </a:pPr>
            <a:r>
              <a:rPr lang="en-GB" sz="975" noProof="0">
                <a:solidFill>
                  <a:schemeClr val="tx2"/>
                </a:solidFill>
                <a:latin typeface="Inter"/>
              </a:rPr>
              <a:t>T</a:t>
            </a:r>
            <a:r>
              <a:rPr lang="en-GB" sz="975" b="0" i="0" u="none" strike="noStrike" noProof="0">
                <a:solidFill>
                  <a:schemeClr val="tx2"/>
                </a:solidFill>
                <a:effectLst/>
                <a:latin typeface="Inter"/>
              </a:rPr>
              <a:t>he undertaking has stated the ratio of women to men in the governance body.</a:t>
            </a:r>
          </a:p>
        </p:txBody>
      </p:sp>
    </p:spTree>
    <p:extLst>
      <p:ext uri="{BB962C8B-B14F-4D97-AF65-F5344CB8AC3E}">
        <p14:creationId xmlns:p14="http://schemas.microsoft.com/office/powerpoint/2010/main" val="373981765"/>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Pladsholder til indhold 2">
            <a:extLst>
              <a:ext uri="{FF2B5EF4-FFF2-40B4-BE49-F238E27FC236}">
                <a16:creationId xmlns:a16="http://schemas.microsoft.com/office/drawing/2014/main" id="{237B3177-8AE4-2BCB-D392-E3B969EBBB7B}"/>
              </a:ext>
            </a:extLst>
          </p:cNvPr>
          <p:cNvSpPr>
            <a:spLocks noGrp="1"/>
          </p:cNvSpPr>
          <p:nvPr>
            <p:ph idx="1"/>
          </p:nvPr>
        </p:nvSpPr>
        <p:spPr>
          <a:xfrm>
            <a:off x="411480" y="6007478"/>
            <a:ext cx="6737040" cy="861898"/>
          </a:xfrm>
          <a:noFill/>
        </p:spPr>
        <p:txBody>
          <a:bodyPr>
            <a:normAutofit/>
          </a:bodyPr>
          <a:lstStyle/>
          <a:p>
            <a:pPr algn="ctr"/>
            <a:r>
              <a:rPr lang="en-GB" sz="1475" b="1" noProof="0">
                <a:solidFill>
                  <a:srgbClr val="FFFFFF"/>
                </a:solidFill>
                <a:latin typeface="IBM Plex Sans" panose="020B0503050203000203" pitchFamily="34" charset="0"/>
              </a:rPr>
              <a:t>{{company_name}}</a:t>
            </a:r>
          </a:p>
          <a:p>
            <a:pPr algn="ctr"/>
            <a:r>
              <a:rPr lang="en-GB" sz="1475" b="1" noProof="0">
                <a:solidFill>
                  <a:srgbClr val="FFFFFF"/>
                </a:solidFill>
                <a:latin typeface="IBM Plex Sans" panose="020B0503050203000203" pitchFamily="34" charset="0"/>
              </a:rPr>
              <a:t>{{insert_year}}</a:t>
            </a:r>
            <a:br>
              <a:rPr lang="en-GB" sz="1475" b="1" noProof="0">
                <a:solidFill>
                  <a:srgbClr val="FFFFFF"/>
                </a:solidFill>
                <a:latin typeface="IBM Plex Sans" panose="020B0503050203000203" pitchFamily="34" charset="0"/>
              </a:rPr>
            </a:br>
            <a:endParaRPr lang="en-GB" sz="1475" noProof="0"/>
          </a:p>
        </p:txBody>
      </p:sp>
      <p:sp>
        <p:nvSpPr>
          <p:cNvPr id="4" name="Pladsholder til slidenummer 3">
            <a:extLst>
              <a:ext uri="{FF2B5EF4-FFF2-40B4-BE49-F238E27FC236}">
                <a16:creationId xmlns:a16="http://schemas.microsoft.com/office/drawing/2014/main" id="{48F46A40-E7BB-3909-2FA6-1A954E10A816}"/>
              </a:ext>
            </a:extLst>
          </p:cNvPr>
          <p:cNvSpPr>
            <a:spLocks noGrp="1"/>
          </p:cNvSpPr>
          <p:nvPr>
            <p:ph type="sldNum" sz="quarter" idx="16"/>
          </p:nvPr>
        </p:nvSpPr>
        <p:spPr>
          <a:xfrm>
            <a:off x="411480" y="10152285"/>
            <a:ext cx="6737040" cy="128235"/>
          </a:xfrm>
        </p:spPr>
        <p:txBody>
          <a:bodyPr/>
          <a:lstStyle/>
          <a:p>
            <a:fld id="{5A0D23CF-C5A3-5445-819D-C647D180BB4B}" type="slidenum">
              <a:rPr lang="en-GB" noProof="0" smtClean="0"/>
              <a:pPr/>
              <a:t>19</a:t>
            </a:fld>
            <a:endParaRPr lang="en-GB" noProof="0"/>
          </a:p>
        </p:txBody>
      </p:sp>
    </p:spTree>
    <p:extLst>
      <p:ext uri="{BB962C8B-B14F-4D97-AF65-F5344CB8AC3E}">
        <p14:creationId xmlns:p14="http://schemas.microsoft.com/office/powerpoint/2010/main" val="3140708205"/>
      </p:ext>
    </p:extLst>
  </p:cSld>
  <p:clrMapOvr>
    <a:masterClrMapping/>
  </p:clrMapOvr>
</p:sld>
</file>

<file path=ppt/theme/theme1.xml><?xml version="1.0" encoding="utf-8"?>
<a:theme xmlns:a="http://schemas.openxmlformats.org/drawingml/2006/main" name="Tema ESG skabelon 2023">
  <a:themeElements>
    <a:clrScheme name="Custom 63">
      <a:dk1>
        <a:srgbClr val="000000"/>
      </a:dk1>
      <a:lt1>
        <a:srgbClr val="FFFFFF"/>
      </a:lt1>
      <a:dk2>
        <a:srgbClr val="1B4528"/>
      </a:dk2>
      <a:lt2>
        <a:srgbClr val="D1DAD4"/>
      </a:lt2>
      <a:accent1>
        <a:srgbClr val="1B4528"/>
      </a:accent1>
      <a:accent2>
        <a:srgbClr val="2D55FF"/>
      </a:accent2>
      <a:accent3>
        <a:srgbClr val="FCFC95"/>
      </a:accent3>
      <a:accent4>
        <a:srgbClr val="5F7D69"/>
      </a:accent4>
      <a:accent5>
        <a:srgbClr val="8DA294"/>
      </a:accent5>
      <a:accent6>
        <a:srgbClr val="BBC7BF"/>
      </a:accent6>
      <a:hlink>
        <a:srgbClr val="00A65A"/>
      </a:hlink>
      <a:folHlink>
        <a:srgbClr val="A6A6A6"/>
      </a:folHlink>
    </a:clrScheme>
    <a:fontScheme name="Custom 19">
      <a:majorFont>
        <a:latin typeface="IBM Plex Sans"/>
        <a:ea typeface=""/>
        <a:cs typeface=""/>
      </a:majorFont>
      <a:minorFont>
        <a:latin typeface="IBM Plex Sans"/>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rgbClr val="5F7D69"/>
        </a:solidFill>
        <a:ln>
          <a:noFill/>
        </a:ln>
      </a:spPr>
      <a:bodyPr lIns="126000" tIns="108000" rIns="108000" bIns="144000" rtlCol="0" anchor="t" anchorCtr="0"/>
      <a:lstStyle>
        <a:defPPr algn="l">
          <a:lnSpc>
            <a:spcPct val="106000"/>
          </a:lnSpc>
          <a:defRPr sz="900" spc="-10" dirty="0"/>
        </a:defPPr>
      </a:lstStyle>
      <a:style>
        <a:lnRef idx="2">
          <a:schemeClr val="accent1">
            <a:shade val="15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gn="l">
          <a:lnSpc>
            <a:spcPct val="120000"/>
          </a:lnSpc>
          <a:defRPr sz="900" spc="-10" dirty="0" smtClean="0">
            <a:solidFill>
              <a:schemeClr val="bg1"/>
            </a:solidFill>
          </a:defRPr>
        </a:defPPr>
      </a:lstStyle>
    </a:txDef>
  </a:objectDefaults>
  <a:extraClrSchemeLst/>
  <a:custClrLst>
    <a:custClr name="Grøn 100%">
      <a:srgbClr val="1B4529"/>
    </a:custClr>
    <a:custClr name="Grøn 90%">
      <a:srgbClr val="32583E"/>
    </a:custClr>
    <a:custClr name="Grøn 80%">
      <a:srgbClr val="496A54"/>
    </a:custClr>
    <a:custClr name="Grøn 70%">
      <a:srgbClr val="5F7D69"/>
    </a:custClr>
    <a:custClr name="Grøn 60%">
      <a:srgbClr val="768F7F"/>
    </a:custClr>
    <a:custClr name="Grøn 50%">
      <a:srgbClr val="8DA294"/>
    </a:custClr>
    <a:custClr name="Grøn 40%">
      <a:srgbClr val="A4B5A9"/>
    </a:custClr>
    <a:custClr name="Grøn 30%">
      <a:srgbClr val="BBC7BF"/>
    </a:custClr>
    <a:custClr name="Grøn 20%">
      <a:srgbClr val="D1DAD4"/>
    </a:custClr>
    <a:custClr name="Grøn 10%">
      <a:srgbClr val="E8ECEA"/>
    </a:custClr>
  </a:custClrLst>
  <a:extLst>
    <a:ext uri="{05A4C25C-085E-4340-85A3-A5531E510DB2}">
      <thm15:themeFamily xmlns:thm15="http://schemas.microsoft.com/office/thememl/2012/main" name="Tema ESG skabelon 2023" id="{4F616B44-E23C-9D4B-A414-B698B6CB0592}" vid="{C1CEAE3D-34EF-BE45-B60E-4DC3BCA22C44}"/>
    </a:ext>
  </a:extLst>
</a:theme>
</file>

<file path=ppt/theme/theme2.xml><?xml version="1.0" encoding="utf-8"?>
<a:theme xmlns:a="http://schemas.openxmlformats.org/drawingml/2006/main" name="Office-tema">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TaxCatchAll xmlns="43a5b9ff-ef68-4e08-86c8-07b185fdc818" xsi:nil="true"/>
    <indhold xmlns="a1c42b88-5e29-4fe4-8139-416e072a19cb" xsi:nil="true"/>
    <lcf76f155ced4ddcb4097134ff3c332f xmlns="a1c42b88-5e29-4fe4-8139-416e072a19cb">
      <Terms xmlns="http://schemas.microsoft.com/office/infopath/2007/PartnerControls"/>
    </lcf76f155ced4ddcb4097134ff3c332f>
  </documentManagement>
</p:properties>
</file>

<file path=customXml/item2.xml><?xml version="1.0" encoding="utf-8"?>
<ct:contentTypeSchema xmlns:ct="http://schemas.microsoft.com/office/2006/metadata/contentType" xmlns:ma="http://schemas.microsoft.com/office/2006/metadata/properties/metaAttributes" ct:_="" ma:_="" ma:contentTypeName="Dokument" ma:contentTypeID="0x0101004C5C98558ED72C4BBCB756F8247CFA4C" ma:contentTypeVersion="18" ma:contentTypeDescription="Opret et nyt dokument." ma:contentTypeScope="" ma:versionID="05a2f073985d4662672e64bc9a421606">
  <xsd:schema xmlns:xsd="http://www.w3.org/2001/XMLSchema" xmlns:xs="http://www.w3.org/2001/XMLSchema" xmlns:p="http://schemas.microsoft.com/office/2006/metadata/properties" xmlns:ns2="a1c42b88-5e29-4fe4-8139-416e072a19cb" xmlns:ns3="202ccbda-223a-4645-9097-be5f8cdf3aa6" xmlns:ns4="43a5b9ff-ef68-4e08-86c8-07b185fdc818" targetNamespace="http://schemas.microsoft.com/office/2006/metadata/properties" ma:root="true" ma:fieldsID="50f1595d426bd689bc07261444f354ae" ns2:_="" ns3:_="" ns4:_="">
    <xsd:import namespace="a1c42b88-5e29-4fe4-8139-416e072a19cb"/>
    <xsd:import namespace="202ccbda-223a-4645-9097-be5f8cdf3aa6"/>
    <xsd:import namespace="43a5b9ff-ef68-4e08-86c8-07b185fdc818"/>
    <xsd:element name="properties">
      <xsd:complexType>
        <xsd:sequence>
          <xsd:element name="documentManagement">
            <xsd:complexType>
              <xsd:all>
                <xsd:element ref="ns2:MediaServiceMetadata" minOccurs="0"/>
                <xsd:element ref="ns2:MediaServiceFastMetadata" minOccurs="0"/>
                <xsd:element ref="ns2:MediaLengthInSeconds" minOccurs="0"/>
                <xsd:element ref="ns3:SharedWithUsers" minOccurs="0"/>
                <xsd:element ref="ns3:SharedWithDetails" minOccurs="0"/>
                <xsd:element ref="ns2:MediaServiceAutoKeyPoints" minOccurs="0"/>
                <xsd:element ref="ns2:MediaServiceKeyPoints" minOccurs="0"/>
                <xsd:element ref="ns2:MediaServiceDateTaken" minOccurs="0"/>
                <xsd:element ref="ns2:lcf76f155ced4ddcb4097134ff3c332f" minOccurs="0"/>
                <xsd:element ref="ns4:TaxCatchAll" minOccurs="0"/>
                <xsd:element ref="ns2:MediaServiceGenerationTime" minOccurs="0"/>
                <xsd:element ref="ns2:MediaServiceEventHashCode" minOccurs="0"/>
                <xsd:element ref="ns2:MediaServiceOCR" minOccurs="0"/>
                <xsd:element ref="ns2:indhold" minOccurs="0"/>
                <xsd:element ref="ns2:MediaServiceObjectDetectorVersions" minOccurs="0"/>
                <xsd:element ref="ns2:MediaServiceSearchProperties" minOccurs="0"/>
                <xsd:element ref="ns2:MediaServiceLocation"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a1c42b88-5e29-4fe4-8139-416e072a19cb"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LengthInSeconds" ma:index="10" nillable="true" ma:displayName="Length (seconds)" ma:internalName="MediaLengthInSeconds" ma:readOnly="true">
      <xsd:simpleType>
        <xsd:restriction base="dms:Unknown"/>
      </xsd:simpleType>
    </xsd:element>
    <xsd:element name="MediaServiceAutoKeyPoints" ma:index="13" nillable="true" ma:displayName="MediaServiceAutoKeyPoints" ma:hidden="true" ma:internalName="MediaServiceAutoKeyPoints" ma:readOnly="true">
      <xsd:simpleType>
        <xsd:restriction base="dms:Note"/>
      </xsd:simpleType>
    </xsd:element>
    <xsd:element name="MediaServiceKeyPoints" ma:index="14" nillable="true" ma:displayName="KeyPoints" ma:internalName="MediaServiceKeyPoints" ma:readOnly="true">
      <xsd:simpleType>
        <xsd:restriction base="dms:Note">
          <xsd:maxLength value="255"/>
        </xsd:restriction>
      </xsd:simpleType>
    </xsd:element>
    <xsd:element name="MediaServiceDateTaken" ma:index="15" nillable="true" ma:displayName="MediaServiceDateTaken" ma:hidden="true" ma:internalName="MediaServiceDateTaken" ma:readOnly="true">
      <xsd:simpleType>
        <xsd:restriction base="dms:Text"/>
      </xsd:simpleType>
    </xsd:element>
    <xsd:element name="lcf76f155ced4ddcb4097134ff3c332f" ma:index="17" nillable="true" ma:taxonomy="true" ma:internalName="lcf76f155ced4ddcb4097134ff3c332f" ma:taxonomyFieldName="MediaServiceImageTags" ma:displayName="Billedmærker" ma:readOnly="false" ma:fieldId="{5cf76f15-5ced-4ddc-b409-7134ff3c332f}" ma:taxonomyMulti="true" ma:sspId="5bc8fd69-a729-4468-93ff-8d64956d1ba4" ma:termSetId="09814cd3-568e-fe90-9814-8d621ff8fb84" ma:anchorId="fba54fb3-c3e1-fe81-a776-ca4b69148c4d" ma:open="true" ma:isKeyword="false">
      <xsd:complexType>
        <xsd:sequence>
          <xsd:element ref="pc:Terms" minOccurs="0" maxOccurs="1"/>
        </xsd:sequence>
      </xsd:complexType>
    </xsd:element>
    <xsd:element name="MediaServiceGenerationTime" ma:index="19" nillable="true" ma:displayName="MediaServiceGenerationTime" ma:hidden="true" ma:internalName="MediaServiceGenerationTime" ma:readOnly="true">
      <xsd:simpleType>
        <xsd:restriction base="dms:Text"/>
      </xsd:simpleType>
    </xsd:element>
    <xsd:element name="MediaServiceEventHashCode" ma:index="20" nillable="true" ma:displayName="MediaServiceEventHashCode" ma:hidden="true" ma:internalName="MediaServiceEventHashCode" ma:readOnly="true">
      <xsd:simpleType>
        <xsd:restriction base="dms:Text"/>
      </xsd:simpleType>
    </xsd:element>
    <xsd:element name="MediaServiceOCR" ma:index="21" nillable="true" ma:displayName="Extracted Text" ma:internalName="MediaServiceOCR" ma:readOnly="true">
      <xsd:simpleType>
        <xsd:restriction base="dms:Note">
          <xsd:maxLength value="255"/>
        </xsd:restriction>
      </xsd:simpleType>
    </xsd:element>
    <xsd:element name="indhold" ma:index="22" nillable="true" ma:displayName="indhold" ma:format="Dropdown" ma:internalName="indhold">
      <xsd:simpleType>
        <xsd:restriction base="dms:Text">
          <xsd:maxLength value="255"/>
        </xsd:restriction>
      </xsd:simpleType>
    </xsd:element>
    <xsd:element name="MediaServiceObjectDetectorVersions" ma:index="23" nillable="true" ma:displayName="MediaServiceObjectDetectorVersions" ma:hidden="true" ma:indexed="true" ma:internalName="MediaServiceObjectDetectorVersions" ma:readOnly="true">
      <xsd:simpleType>
        <xsd:restriction base="dms:Text"/>
      </xsd:simpleType>
    </xsd:element>
    <xsd:element name="MediaServiceSearchProperties" ma:index="24" nillable="true" ma:displayName="MediaServiceSearchProperties" ma:hidden="true" ma:internalName="MediaServiceSearchProperties" ma:readOnly="true">
      <xsd:simpleType>
        <xsd:restriction base="dms:Note"/>
      </xsd:simpleType>
    </xsd:element>
    <xsd:element name="MediaServiceLocation" ma:index="25" nillable="true" ma:displayName="Location" ma:indexed="true" ma:internalName="MediaServiceLocation" ma:readOnly="true">
      <xsd:simpleType>
        <xsd:restriction base="dms:Text"/>
      </xsd:simpleType>
    </xsd:element>
  </xsd:schema>
  <xsd:schema xmlns:xsd="http://www.w3.org/2001/XMLSchema" xmlns:xs="http://www.w3.org/2001/XMLSchema" xmlns:dms="http://schemas.microsoft.com/office/2006/documentManagement/types" xmlns:pc="http://schemas.microsoft.com/office/infopath/2007/PartnerControls" targetNamespace="202ccbda-223a-4645-9097-be5f8cdf3aa6" elementFormDefault="qualified">
    <xsd:import namespace="http://schemas.microsoft.com/office/2006/documentManagement/types"/>
    <xsd:import namespace="http://schemas.microsoft.com/office/infopath/2007/PartnerControls"/>
    <xsd:element name="SharedWithUsers" ma:index="11" nillable="true" ma:displayName="Delt med"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Delt med detaljer" ma:internalName="SharedWithDetails" ma:readOnly="true">
      <xsd:simpleType>
        <xsd:restriction base="dms:Note">
          <xsd:maxLength value="255"/>
        </xsd:restriction>
      </xsd:simpleType>
    </xsd:element>
  </xsd:schema>
  <xsd:schema xmlns:xsd="http://www.w3.org/2001/XMLSchema" xmlns:xs="http://www.w3.org/2001/XMLSchema" xmlns:dms="http://schemas.microsoft.com/office/2006/documentManagement/types" xmlns:pc="http://schemas.microsoft.com/office/infopath/2007/PartnerControls" targetNamespace="43a5b9ff-ef68-4e08-86c8-07b185fdc818" elementFormDefault="qualified">
    <xsd:import namespace="http://schemas.microsoft.com/office/2006/documentManagement/types"/>
    <xsd:import namespace="http://schemas.microsoft.com/office/infopath/2007/PartnerControls"/>
    <xsd:element name="TaxCatchAll" ma:index="18" nillable="true" ma:displayName="Taxonomy Catch All Column" ma:hidden="true" ma:list="{1a2a80f0-0fad-4372-b264-33bf0361a80c}" ma:internalName="TaxCatchAll" ma:showField="CatchAllData" ma:web="202ccbda-223a-4645-9097-be5f8cdf3aa6">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Indholdstype"/>
        <xsd:element ref="dc:title" minOccurs="0" maxOccurs="1" ma:index="4" ma:displayName="Titel"/>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B12C55C2-A88D-45C1-99A2-B6C1D18AED07}">
  <ds:schemaRefs>
    <ds:schemaRef ds:uri="43a5b9ff-ef68-4e08-86c8-07b185fdc818"/>
    <ds:schemaRef ds:uri="a1c42b88-5e29-4fe4-8139-416e072a19cb"/>
    <ds:schemaRef ds:uri="http://schemas.microsoft.com/office/2006/metadata/properties"/>
    <ds:schemaRef ds:uri="http://schemas.microsoft.com/office/infopath/2007/PartnerControls"/>
  </ds:schemaRefs>
</ds:datastoreItem>
</file>

<file path=customXml/itemProps2.xml><?xml version="1.0" encoding="utf-8"?>
<ds:datastoreItem xmlns:ds="http://schemas.openxmlformats.org/officeDocument/2006/customXml" ds:itemID="{2C3C50CC-B1F2-4B3E-8326-2BA1B8993967}">
  <ds:schemaRefs>
    <ds:schemaRef ds:uri="202ccbda-223a-4645-9097-be5f8cdf3aa6"/>
    <ds:schemaRef ds:uri="43a5b9ff-ef68-4e08-86c8-07b185fdc818"/>
    <ds:schemaRef ds:uri="a1c42b88-5e29-4fe4-8139-416e072a19cb"/>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C7C2DE4E-10FC-4FD7-BA3A-6232093B7289}">
  <ds:schemaRefs>
    <ds:schemaRef ds:uri="http://schemas.microsoft.com/sharepoint/v3/contenttype/forms"/>
  </ds:schemaRefs>
</ds:datastoreItem>
</file>

<file path=docProps/app.xml><?xml version="1.0" encoding="utf-8"?>
<Properties xmlns="http://schemas.openxmlformats.org/officeDocument/2006/extended-properties" xmlns:vt="http://schemas.openxmlformats.org/officeDocument/2006/docPropsVTypes">
  <Template/>
  <TotalTime>0</TotalTime>
  <Words>4975</Words>
  <Application>Microsoft Office PowerPoint</Application>
  <PresentationFormat>Brugerdefineret</PresentationFormat>
  <Paragraphs>637</Paragraphs>
  <Slides>19</Slides>
  <Notes>16</Notes>
  <HiddenSlides>0</HiddenSlides>
  <MMClips>0</MMClips>
  <ScaleCrop>false</ScaleCrop>
  <HeadingPairs>
    <vt:vector size="6" baseType="variant">
      <vt:variant>
        <vt:lpstr>Benyttede skrifttyper</vt:lpstr>
      </vt:variant>
      <vt:variant>
        <vt:i4>4</vt:i4>
      </vt:variant>
      <vt:variant>
        <vt:lpstr>Tema</vt:lpstr>
      </vt:variant>
      <vt:variant>
        <vt:i4>1</vt:i4>
      </vt:variant>
      <vt:variant>
        <vt:lpstr>Slidetitler</vt:lpstr>
      </vt:variant>
      <vt:variant>
        <vt:i4>19</vt:i4>
      </vt:variant>
    </vt:vector>
  </HeadingPairs>
  <TitlesOfParts>
    <vt:vector size="24" baseType="lpstr">
      <vt:lpstr>Arial</vt:lpstr>
      <vt:lpstr>Calibri</vt:lpstr>
      <vt:lpstr>IBM Plex Sans</vt:lpstr>
      <vt:lpstr>Inter</vt:lpstr>
      <vt:lpstr>Tema ESG skabelon 2023</vt:lpstr>
      <vt:lpstr>ESG REPORT {{insert_year}}</vt:lpstr>
      <vt:lpstr>ESG report  </vt:lpstr>
      <vt:lpstr>Basis for preparation (B1) </vt:lpstr>
      <vt:lpstr>Practices, policies and future initiatives for transitioning towards a more sustainable economy (B2)</vt:lpstr>
      <vt:lpstr>Energy consumption (B3)</vt:lpstr>
      <vt:lpstr>Pollution of air, water and soil (B4)</vt:lpstr>
      <vt:lpstr>Resource use, circular economy and waste management (B7) – continued</vt:lpstr>
      <vt:lpstr>Own workforce: General characteristics (B8) </vt:lpstr>
      <vt:lpstr>Business conduct: Number of convictions and fines related to corruption &amp; bribery (B11) </vt:lpstr>
      <vt:lpstr>PowerPoint-præsentation</vt:lpstr>
      <vt:lpstr>Strategy: Business model and sustainability-related initiatives (C1)</vt:lpstr>
      <vt:lpstr>Practices, policies and future initiatives for transitioning towards a more sustainable economy (C2)</vt:lpstr>
      <vt:lpstr>CO₂e emissions under B3 in the Basic Module</vt:lpstr>
      <vt:lpstr>Climate risks (C4)</vt:lpstr>
      <vt:lpstr>Climate risks (C4) - continued</vt:lpstr>
      <vt:lpstr>Additional (general) workforce characteristics (C5)</vt:lpstr>
      <vt:lpstr>Severe negative human rights incidents (C7) – Own workforce</vt:lpstr>
      <vt:lpstr>Revenues from certain activities (C8)</vt:lpstr>
      <vt:lpstr>PowerPoint-præsentation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Amanda Simonsen</dc:creator>
  <cp:lastModifiedBy>Amanda Simonsen</cp:lastModifiedBy>
  <cp:revision>28</cp:revision>
  <dcterms:created xsi:type="dcterms:W3CDTF">2025-02-28T18:51:17Z</dcterms:created>
  <dcterms:modified xsi:type="dcterms:W3CDTF">2026-08-12T20:10:01Z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0x0101004C5C98558ED72C4BBCB756F8247CFA4C</vt:lpwstr>
  </property>
  <property fmtid="{D5CDD505-2E9C-101B-9397-08002B2CF9AE}" pid="3" name="MediaServiceImageTags">
    <vt:lpwstr/>
  </property>
</Properties>
</file>