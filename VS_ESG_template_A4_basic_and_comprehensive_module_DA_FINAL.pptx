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a-DK" smtClean="0"/>
              <a:pPr/>
              <a:t>12/08/2026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Click to edit Master text styles</a:t>
            </a:r>
          </a:p>
          <a:p>
            <a:pPr lvl="1"/>
            <a:r>
              <a:rPr lang="da-DK"/>
              <a:t xml:space="preserve">Andet niveau</a:t>
            </a:r>
          </a:p>
          <a:p>
            <a:pPr lvl="2"/>
            <a:r>
              <a:rPr lang="da-DK"/>
              <a:t xml:space="preserve">Tredje niveau</a:t>
            </a:r>
          </a:p>
          <a:p>
            <a:pPr lvl="3"/>
            <a:r>
              <a:rPr lang="da-DK"/>
              <a:t xml:space="preserve">Fjerde niveau</a:t>
            </a:r>
          </a:p>
          <a:p>
            <a:pPr lvl="4"/>
            <a:r>
              <a:rPr lang="da-DK"/>
              <a:t xml:space="preserve">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a-DK" smtClean="0"/>
              <a:pPr/>
              <a:t>‹nr.›</a:t>
            </a:fld>
            <a:endParaRPr lang="da-DK"/>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a:t>
            </a:fld>
            <a:endParaRPr lang="da-DK"/>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2</a:t>
            </a:fld>
            <a:endParaRPr lang="da-DK"/>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3</a:t>
            </a:fld>
            <a:endParaRPr lang="da-DK"/>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{{documents_B2}}</a:t>
            </a:r>
          </a:p>
          <a:p>
            <a:r>
              <a:rPr lang="da-DK" sz="1200" b="0" i="0" u="none" strike="noStrike" kern="1200">
                <a:solidFill>
                  <a:schemeClr val="tx1"/>
                </a:solidFill>
                <a:effectLst/>
                <a:latin typeface="IBM Plex Sans" panose="020B0503050203000203" pitchFamily="34" charset="0"/>
                <a:ea typeface="+mn-ea"/>
                <a:cs typeface="+mn-cs"/>
              </a:rPr>
              <a:t xml:space="preserve">Tilføjet: kolonne om monitorering</a:t>
            </a:r>
            <a:r>
              <a:rPr lang="da-DK" sz="1200" b="0" i="0" u="none" strike="noStrike" kern="1200">
                <a:solidFill>
                  <a:schemeClr val="tx1"/>
                </a:solidFill>
                <a:effectLst/>
                <a:latin typeface="IBM Plex Sans" panose="020B0503050203000203" pitchFamily="34" charset="0"/>
                <a:ea typeface="+mn-ea"/>
                <a:cs typeface="+mn-cs"/>
              </a:rPr>
              <a:t xml:space="preserve"/>
            </a:r>
            <a:r>
              <a:rPr lang="da-DK" sz="1200" b="0" i="0" u="none" strike="noStrike" kern="1200">
                <a:solidFill>
                  <a:schemeClr val="tx1"/>
                </a:solidFill>
                <a:effectLst/>
                <a:latin typeface="IBM Plex Sans" panose="020B0503050203000203" pitchFamily="34" charset="0"/>
                <a:ea typeface="+mn-ea"/>
                <a:cs typeface="+mn-cs"/>
              </a:rPr>
              <a:t xml:space="preserve"/>
            </a:r>
            <a:r>
              <a:rPr lang="da-DK" sz="1200" b="0" i="0" u="none" strike="noStrike" kern="1200">
                <a:solidFill>
                  <a:schemeClr val="tx1"/>
                </a:solidFill>
                <a:effectLst/>
                <a:latin typeface="IBM Plex Sans" panose="020B0503050203000203" pitchFamily="34" charset="0"/>
                <a:ea typeface="+mn-ea"/>
                <a:cs typeface="+mn-cs"/>
              </a:rPr>
              <a:t xml:space="preserve"/>
            </a:r>
            <a:r>
              <a:rPr lang="da-DK" sz="1200" b="0" i="0" u="none" strike="noStrike" kern="1200">
                <a:solidFill>
                  <a:schemeClr val="tx1"/>
                </a:solidFill>
                <a:effectLst/>
                <a:latin typeface="IBM Plex Sans" panose="020B0503050203000203" pitchFamily="34" charset="0"/>
                <a:ea typeface="+mn-ea"/>
                <a:cs typeface="+mn-cs"/>
              </a:rPr>
              <a:t xml:space="preserve"/>
            </a:r>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4</a:t>
            </a:fld>
            <a:endParaRPr lang="da-DK"/>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pPr rtl="0"/>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{{Insert_CO2e_intensity}}</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5</a:t>
            </a:fld>
            <a:endParaRPr lang="da-DK"/>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{{uploaded_documents_B4}}</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6</a:t>
            </a:fld>
            <a:endParaRPr lang="da-DK"/>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7</a:t>
            </a:fld>
            <a:endParaRPr lang="da-DK"/>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a:solidFill>
                  <a:schemeClr val="tx1"/>
                </a:solidFill>
                <a:effectLst/>
                <a:latin typeface="IBM Plex Sans" panose="020B0503050203000203" pitchFamily="34" charset="0"/>
                <a:ea typeface="+mn-ea"/>
                <a:cs typeface="+mn-cs"/>
              </a:rPr>
              <a:t>omsatningsrate</a:t>
            </a:r>
            <a:r>
              <a:rPr lang="da-DK" sz="1200" b="0" i="0" u="none" strike="noStrike" kern="1200">
                <a:solidFill>
                  <a:schemeClr val="tx1"/>
                </a:solidFill>
                <a:effectLst/>
                <a:latin typeface="IBM Plex Sans" panose="020B0503050203000203" pitchFamily="34" charset="0"/>
                <a:ea typeface="+mn-ea"/>
                <a:cs typeface="+mn-cs"/>
              </a:rPr>
              <a:t>}}</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8</a:t>
            </a:fld>
            <a:endParaRPr lang="da-DK"/>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9</a:t>
            </a:fld>
            <a:endParaRPr lang="da-DK"/>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10</a:t>
            </a:fld>
            <a:endParaRPr lang="da-DK"/>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11</a:t>
            </a:fld>
            <a:endParaRPr lang="da-DK"/>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12</a:t>
            </a:fld>
            <a:endParaRPr lang="da-DK"/>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13</a:t>
            </a:fld>
            <a:endParaRPr lang="da-DK"/>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14</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15</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a-DK"/>
              <a:t xml:space="preserve">Tilføjet fra B8: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a:solidFill>
                  <a:schemeClr val="tx1"/>
                </a:solidFill>
                <a:effectLst/>
                <a:latin typeface="IBM Plex Sans" panose="020B0503050203000203" pitchFamily="34" charset="0"/>
                <a:ea typeface="+mn-ea"/>
                <a:cs typeface="+mn-cs"/>
              </a:rPr>
              <a:t>omsatningsrate</a:t>
            </a:r>
            <a:r>
              <a:rPr lang="da-DK" sz="1200" b="0" i="0" u="none" strike="noStrike" kern="1200">
                <a:solidFill>
                  <a:schemeClr val="tx1"/>
                </a:solidFill>
                <a:effectLst/>
                <a:latin typeface="IBM Plex Sans" panose="020B0503050203000203" pitchFamily="34" charset="0"/>
                <a:ea typeface="+mn-ea"/>
                <a:cs typeface="+mn-cs"/>
              </a:rPr>
              <a:t>}}</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16</a:t>
            </a:fld>
            <a:endParaRPr lang="da-DK"/>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da-DK"/>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E10D728-2F8E-9A79-A793-8FA18EC9A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3146" y="3090113"/>
            <a:ext cx="657854" cy="1152135"/>
          </a:xfrm>
          <a:prstGeom prst="rect">
            <a:avLst/>
          </a:prstGeom>
        </p:spPr>
      </p:pic>
      <p:pic>
        <p:nvPicPr>
          <p:cNvPr id="3" name="Grafik 2">
            <a:extLst>
              <a:ext uri="{FF2B5EF4-FFF2-40B4-BE49-F238E27FC236}">
                <a16:creationId xmlns:a16="http://schemas.microsoft.com/office/drawing/2014/main" id="{AE996835-EDFE-BE3E-C688-CC762B1E3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46748" y="3035991"/>
            <a:ext cx="840170" cy="1200816"/>
          </a:xfrm>
          <a:prstGeom prst="rect">
            <a:avLst/>
          </a:prstGeom>
        </p:spPr>
      </p:pic>
      <p:pic>
        <p:nvPicPr>
          <p:cNvPr id="4" name="Grafik 3">
            <a:extLst>
              <a:ext uri="{FF2B5EF4-FFF2-40B4-BE49-F238E27FC236}">
                <a16:creationId xmlns:a16="http://schemas.microsoft.com/office/drawing/2014/main" id="{A9BBDDF2-8BA5-B125-BDA8-EC3EA874D9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45834" y="3035990"/>
            <a:ext cx="782093" cy="1231210"/>
          </a:xfrm>
          <a:prstGeom prst="rect">
            <a:avLst/>
          </a:prstGeom>
        </p:spPr>
      </p:pic>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da-DK"/>
              <a:t xml:space="preserve">KLIK FOR AT INDSÆTTE FIRMANAVN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da-DK"/>
              <a:t xml:space="preserve">INDSÆT TITEL</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a-DK"/>
              <a:t xml:space="preserve">KLIK FOR AT INDSÆTTE FIRMANAVN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a-DK" smtClean="0"/>
              <a:pPr/>
              <a:t>‹nr.›</a:t>
            </a:fld>
            <a:endParaRPr lang="da-DK"/>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da-DK"/>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a-DK" noProof="0"/>
              <a:t>Click</a:t>
            </a:r>
            <a:r>
              <a:rPr lang="da-DK" noProof="0"/>
              <a:t> to </a:t>
            </a:r>
            <a:r>
              <a:rPr lang="da-DK" noProof="0"/>
              <a:t>edit</a:t>
            </a:r>
            <a:r>
              <a:rPr lang="da-DK" noProof="0"/>
              <a:t> Master </a:t>
            </a:r>
            <a:r>
              <a:rPr lang="da-DK" noProof="0"/>
              <a:t>title</a:t>
            </a:r>
            <a:r>
              <a:rPr lang="da-DK"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a-DK"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a-DK" noProof="0"/>
              <a:t xml:space="preserve">KLIK FOR AT INDSÆTTE FIRMANAVN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da-DK" noProof="0"/>
              <a:t xml:space="preserve">Indsæt virksomhedsinformation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a-DK" noProof="0"/>
              <a:t>Click</a:t>
            </a:r>
            <a:r>
              <a:rPr lang="da-DK" noProof="0"/>
              <a:t> to </a:t>
            </a:r>
            <a:r>
              <a:rPr lang="da-DK" noProof="0"/>
              <a:t>edit</a:t>
            </a:r>
            <a:r>
              <a:rPr lang="da-DK" noProof="0"/>
              <a:t> Master </a:t>
            </a:r>
            <a:r>
              <a:rPr lang="da-DK" noProof="0"/>
              <a:t>title</a:t>
            </a:r>
            <a:r>
              <a:rPr lang="da-DK"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a-DK" noProof="0"/>
              <a:t xml:space="preserve">KLIK FOR AT INDSÆTTE FIRMANAVN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da-DK" noProof="0"/>
              <a:t>Click to edit Master text styles</a:t>
            </a:r>
          </a:p>
          <a:p>
            <a:pPr lvl="1"/>
            <a:r>
              <a:rPr lang="da-DK" noProof="0"/>
              <a:t xml:space="preserve">Andet niveau</a:t>
            </a:r>
          </a:p>
          <a:p>
            <a:pPr lvl="2"/>
            <a:r>
              <a:rPr lang="da-DK" noProof="0"/>
              <a:t xml:space="preserve">Tredje niveau</a:t>
            </a:r>
          </a:p>
          <a:p>
            <a:pPr lvl="3"/>
            <a:r>
              <a:rPr lang="da-DK" noProof="0"/>
              <a:t xml:space="preserve">Fjerde niveau</a:t>
            </a:r>
          </a:p>
          <a:p>
            <a:pPr lvl="4"/>
            <a:r>
              <a:rPr lang="da-DK" noProof="0"/>
              <a:t xml:space="preserve">Femte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da-DK"/>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da-DK"/>
              <a:t xml:space="preserve">KLIK FOR AT INDSÆTTE FIRMANAVN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da-DK" smtClean="0"/>
              <a:pPr/>
              <a:t>‹nr.›</a:t>
            </a:fld>
            <a:endParaRPr lang="da-DK"/>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da-DK"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da-DK"/>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da-DK" noProof="0"/>
              <a:t xml:space="preserve">OPGØRELSE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da-DK" noProof="0"/>
              <a:t>{{company_name}}</a:t>
            </a:r>
            <a:endParaRPr lang="da-DK"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da-DK" noProof="0"/>
              <a:t xml:space="preserve">ESG opgørelse</a:t>
            </a:r>
            <a:r>
              <a:rPr lang="da-DK" b="0" noProof="0">
                <a:solidFill>
                  <a:schemeClr val="accent2"/>
                </a:solidFill>
                <a:ea typeface="+mn-ea"/>
                <a:cs typeface="+mn-cs"/>
              </a:rPr>
              <a:t> </a:t>
            </a:r>
            <a:br>
              <a:rPr lang="da-DK" b="0" noProof="0">
                <a:solidFill>
                  <a:schemeClr val="accent2"/>
                </a:solidFill>
                <a:ea typeface="+mn-ea"/>
                <a:cs typeface="+mn-cs"/>
              </a:rPr>
            </a:br>
            <a:endParaRPr lang="da-DK" b="0" noProof="0">
              <a:solidFill>
                <a:schemeClr val="accent2"/>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da-DK" sz="975" b="1" noProof="0" dirty="0">
              <a:latin typeface="+mj-lt"/>
            </a:endParaRPr>
          </a:p>
          <a:p>
            <a:pPr>
              <a:lnSpc>
                <a:spcPct val="150000"/>
              </a:lnSpc>
              <a:tabLst>
                <a:tab pos="239439" algn="l"/>
                <a:tab pos="388922" algn="l"/>
                <a:tab pos="3737091" algn="r"/>
              </a:tabLst>
            </a:pPr>
            <a:endParaRPr lang="da-DK" sz="975" b="1"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Generelle oplysninger				</a:t>
            </a:r>
            <a:endParaRPr lang="da-DK"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a-DK" sz="975" b="1" kern="1200" spc="-10" noProof="0">
                <a:solidFill>
                  <a:schemeClr val="tx2"/>
                </a:solidFill>
                <a:latin typeface="+mn-lt"/>
                <a:ea typeface="+mn-ea"/>
                <a:cs typeface="+mn-cs"/>
              </a:rPr>
              <a:t xml:space="preserve">Indsatser, politikker og initiativer for omstilling til en mere bæredygtig økonomi	</a:t>
            </a:r>
            <a:endParaRPr lang="da-DK" sz="975" b="1"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Energiforbrug				</a:t>
            </a:r>
            <a:endParaRPr lang="da-DK" sz="975"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CO₂e udledning 				</a:t>
            </a:r>
            <a:endParaRPr lang="da-DK" sz="975"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Forurening af luft, vand og jord</a:t>
            </a:r>
            <a:r>
              <a:rPr lang="da-DK" sz="975" noProof="0">
                <a:latin typeface="+mj-lt"/>
              </a:rPr>
              <a:t>				</a:t>
            </a: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Biodiversitet</a:t>
            </a:r>
            <a:r>
              <a:rPr lang="da-DK" sz="975" noProof="0">
                <a:latin typeface="+mj-lt"/>
              </a:rPr>
              <a:t>				</a:t>
            </a: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Vand	</a:t>
            </a:r>
            <a:r>
              <a:rPr lang="da-DK" sz="975" noProof="0">
                <a:latin typeface="+mj-lt"/>
              </a:rPr>
              <a:t> 			</a:t>
            </a: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Ressourceforbrug, cirkulærøkonomi og affaldshåndtering</a:t>
            </a:r>
            <a:r>
              <a:rPr lang="da-DK" sz="975" noProof="0">
                <a:latin typeface="+mj-lt"/>
              </a:rPr>
              <a:t>				</a:t>
            </a:r>
            <a:endParaRPr lang="da-DK"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Egen arbejdsstyrke: Generelle karakteristika</a:t>
            </a:r>
            <a:r>
              <a:rPr lang="da-DK" sz="975" noProof="0">
                <a:latin typeface="+mj-lt"/>
              </a:rPr>
              <a:t>				</a:t>
            </a:r>
            <a:endParaRPr lang="da-DK"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Egen arbejdsstyrke: Sundhed og sikkerhed</a:t>
            </a:r>
            <a:r>
              <a:rPr lang="da-DK" sz="975" noProof="0">
                <a:latin typeface="+mj-lt"/>
              </a:rPr>
              <a:t>				</a:t>
            </a:r>
            <a:endParaRPr lang="da-DK"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Egen arbejdsstyrke: Vederlag, overenskomster og uddannelse</a:t>
            </a:r>
            <a:r>
              <a:rPr lang="da-DK" sz="975" noProof="0">
                <a:latin typeface="+mj-lt"/>
              </a:rPr>
              <a:t>		</a:t>
            </a:r>
            <a:endParaRPr lang="da-DK" sz="975" noProof="0" dirty="0">
              <a:solidFill>
                <a:schemeClr val="accent2"/>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Virksomhedsadfærd</a:t>
            </a:r>
            <a:r>
              <a:rPr lang="da-DK" sz="975" noProof="0">
                <a:latin typeface="+mj-lt"/>
              </a:rPr>
              <a:t>	 			</a:t>
            </a:r>
            <a:endParaRPr lang="da-DK" sz="975" noProof="0" dirty="0">
              <a:solidFill>
                <a:schemeClr val="accent2"/>
              </a:solidFill>
              <a:latin typeface="+mj-lt"/>
            </a:endParaRPr>
          </a:p>
          <a:p>
            <a:pPr>
              <a:tabLst>
                <a:tab pos="239439" algn="l"/>
                <a:tab pos="388922" algn="l"/>
                <a:tab pos="3737091" algn="r"/>
              </a:tabLst>
            </a:pPr>
            <a:endParaRPr lang="da-DK" sz="975" noProof="0" dirty="0">
              <a:latin typeface="+mj-lt"/>
            </a:endParaRPr>
          </a:p>
          <a:p>
            <a:pPr>
              <a:tabLst>
                <a:tab pos="239439" algn="l"/>
                <a:tab pos="388922" algn="l"/>
                <a:tab pos="3737091" algn="r"/>
              </a:tabLst>
            </a:pPr>
            <a:endParaRPr lang="da-DK" sz="975" noProof="0" dirty="0">
              <a:latin typeface="+mj-lt"/>
            </a:endParaRPr>
          </a:p>
          <a:p>
            <a:pPr>
              <a:tabLst>
                <a:tab pos="239439" algn="l"/>
                <a:tab pos="388922" algn="l"/>
                <a:tab pos="3737091" algn="r"/>
              </a:tabLst>
            </a:pPr>
            <a:endParaRPr lang="da-DK" noProof="0" dirty="0">
              <a:latin typeface="+mj-lt"/>
            </a:endParaRPr>
          </a:p>
          <a:p>
            <a:pPr>
              <a:tabLst>
                <a:tab pos="239439" algn="l"/>
                <a:tab pos="388922" algn="l"/>
                <a:tab pos="3737091" algn="r"/>
              </a:tabLst>
            </a:pPr>
            <a:endParaRPr lang="da-DK"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da-DK"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da-DK" noProof="0" smtClean="0"/>
              <a:pPr/>
              <a:t>2</a:t>
            </a:fld>
            <a:endParaRPr lang="da-DK"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da-DK" noProof="0"/>
              <a:t xml:space="preserve">Grundlag for udarbejdelse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da-DK" noProof="0">
              <a:solidFill>
                <a:schemeClr val="accent2"/>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3107"/>
          <a:ext cx="3295368" cy="77015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55788">
                <a:tc gridSpan="2">
                  <a:txBody>
                    <a:bodyPr/>
                    <a:lstStyle/>
                    <a:p>
                      <a:pPr marL="0" algn="l" defTabSz="914400" rtl="0" eaLnBrk="1" latinLnBrk="0" hangingPunct="1"/>
                      <a:r>
                        <a:rPr lang="da-DK" sz="975" b="1" kern="1200" spc="-10" noProof="0">
                          <a:solidFill>
                            <a:schemeClr val="tx2"/>
                          </a:solidFill>
                          <a:latin typeface="+mn-lt"/>
                          <a:ea typeface="+mn-ea"/>
                          <a:cs typeface="+mn-cs"/>
                        </a:rPr>
                        <a:t xml:space="preserve">Oversigt over datterselskaber, der indgår i denne ESG-opgørelse </a:t>
                      </a:r>
                      <a:r>
                        <a:rPr lang="da-DK" sz="975" b="0" kern="1200" spc="-10" noProof="0">
                          <a:solidFill>
                            <a:schemeClr val="tx2"/>
                          </a:solidFill>
                          <a:latin typeface="+mn-lt"/>
                          <a:ea typeface="+mn-ea"/>
                          <a:cs typeface="+mn-cs"/>
                        </a:rPr>
                        <a:t xml:space="preserve">(pkt. 27d)</a:t>
                      </a:r>
                      <a:endParaRPr lang="da-DK"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147556">
                <a:tc>
                  <a:txBody>
                    <a:bodyPr/>
                    <a:lstStyle/>
                    <a:p>
                      <a:pPr algn="l"/>
                      <a:r>
                        <a:rPr lang="da-DK" sz="975" b="1" kern="1200" spc="-10" noProof="0">
                          <a:solidFill>
                            <a:schemeClr val="tx2"/>
                          </a:solidFill>
                          <a:latin typeface="+mn-lt"/>
                          <a:ea typeface="+mn-ea"/>
                          <a:cs typeface="+mn-cs"/>
                        </a:rPr>
                        <a:t xml:space="preserve">Navn på datterselskab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Adresse på datterselskab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buNone/>
                      </a:pPr>
                      <a:r>
                        <a:rPr lang="da-DK" sz="975" b="0" i="0" u="none" strike="noStrike" noProof="0">
                          <a:solidFill>
                            <a:srgbClr val="2D55FF"/>
                          </a:solidFill>
                          <a:effectLst/>
                          <a:latin typeface="Inter"/>
                        </a:rPr>
                        <a:t>{{subsidiary}}</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subsidiary_address</a:t>
                      </a:r>
                      <a:r>
                        <a:rPr lang="da-DK" sz="975" b="0" i="0" u="none" strike="noStrike" noProof="0">
                          <a:solidFill>
                            <a:srgbClr val="2D55FF"/>
                          </a:solidFill>
                          <a:effectLst/>
                          <a:latin typeface="Inter"/>
                        </a:rPr>
                        <a:t>}}</a:t>
                      </a:r>
                      <a:endParaRPr lang="da-DK"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a-DK" noProof="0" smtClean="0"/>
              <a:pPr/>
              <a:t>3</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da-DK" noProof="0"/>
              <a:t>{{company_name}}</a:t>
            </a:r>
            <a:endParaRPr lang="da-DK" b="0" noProof="0"/>
          </a:p>
          <a:p>
            <a:br>
              <a:rPr lang="da-DK" noProof="0"/>
            </a:br>
            <a:endParaRPr lang="da-DK"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220124"/>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171405">
                <a:tc gridSpan="2">
                  <a:txBody>
                    <a:bodyPr/>
                    <a:lstStyle/>
                    <a:p>
                      <a:r>
                        <a:rPr lang="da-DK" sz="975" b="1" noProof="0">
                          <a:solidFill>
                            <a:schemeClr val="tx2"/>
                          </a:solidFill>
                        </a:rPr>
                        <a:t xml:space="preserve">Individuel eller konsolideret rapportering</a:t>
                      </a:r>
                      <a:r>
                        <a:rPr lang="da-DK" sz="975" b="0" noProof="0">
                          <a:solidFill>
                            <a:schemeClr val="tx2"/>
                          </a:solidFill>
                        </a:rPr>
                        <a:t xml:space="preserve"> (pkt.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udarbejdet på </a:t>
                      </a:r>
                      <a:r>
                        <a:rPr lang="da-DK" sz="975" b="1" kern="1200" spc="-10" noProof="0">
                          <a:solidFill>
                            <a:schemeClr val="tx2"/>
                          </a:solidFill>
                          <a:latin typeface="+mn-lt"/>
                          <a:ea typeface="+mn-ea"/>
                          <a:cs typeface="+mn-cs"/>
                        </a:rPr>
                        <a:t xml:space="preserve">individuel basis </a:t>
                      </a:r>
                      <a:r>
                        <a:rPr lang="da-DK" sz="975" b="0" kern="1200" spc="-10" noProof="0">
                          <a:solidFill>
                            <a:schemeClr val="tx2"/>
                          </a:solidFill>
                          <a:latin typeface="+mn-lt"/>
                          <a:ea typeface="+mn-ea"/>
                          <a:cs typeface="+mn-cs"/>
                        </a:rPr>
                        <a:t xml:space="preserve">(dvs. opgørelsen dækker ikke eventuelle datterselskaber)</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975" b="0" i="0" u="none" strike="noStrike" noProof="0">
                          <a:solidFill>
                            <a:srgbClr val="2D55FF"/>
                          </a:solidFill>
                          <a:effectLst/>
                          <a:latin typeface="Inter"/>
                        </a:rPr>
                        <a:t>{{yes_subsidiary?}}</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2452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udarbejdet på et </a:t>
                      </a:r>
                      <a:r>
                        <a:rPr lang="da-DK" sz="975" b="1" kern="1200" spc="-10" noProof="0">
                          <a:solidFill>
                            <a:schemeClr val="tx2"/>
                          </a:solidFill>
                          <a:latin typeface="+mn-lt"/>
                          <a:ea typeface="+mn-ea"/>
                          <a:cs typeface="+mn-cs"/>
                        </a:rPr>
                        <a:t xml:space="preserve">konsolideret grundlag </a:t>
                      </a:r>
                      <a:r>
                        <a:rPr lang="da-DK" sz="975" b="0" kern="1200" spc="-10" noProof="0">
                          <a:solidFill>
                            <a:schemeClr val="tx2"/>
                          </a:solidFill>
                          <a:latin typeface="+mn-lt"/>
                          <a:ea typeface="+mn-ea"/>
                          <a:cs typeface="+mn-cs"/>
                        </a:rPr>
                        <a:t xml:space="preserve">(dvs. opgørelsen omfatter virksomhedens datterselskaber)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975" b="0" i="0" u="none" strike="noStrike" noProof="0">
                          <a:solidFill>
                            <a:srgbClr val="2D55FF"/>
                          </a:solidFill>
                          <a:effectLst/>
                          <a:latin typeface="Inter"/>
                        </a:rPr>
                        <a:t>{{no_subsidiary?}}</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40464"/>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25979">
                <a:tc gridSpan="2">
                  <a:txBody>
                    <a:bodyPr/>
                    <a:lstStyle/>
                    <a:p>
                      <a:r>
                        <a:rPr lang="da-DK" sz="975" b="1" kern="1200" spc="-10" noProof="0">
                          <a:solidFill>
                            <a:schemeClr val="tx2"/>
                          </a:solidFill>
                          <a:latin typeface="+mn-lt"/>
                          <a:ea typeface="+mn-ea"/>
                          <a:cs typeface="+mn-cs"/>
                        </a:rPr>
                        <a:t xml:space="preserve">Basismodul, eller Basismodul +</a:t>
                      </a:r>
                      <a:r>
                        <a:rPr lang="da-DK" sz="975" b="0" kern="1200" spc="-10" noProof="0">
                          <a:solidFill>
                            <a:schemeClr val="tx2"/>
                          </a:solidFill>
                          <a:latin typeface="+mn-lt"/>
                          <a:ea typeface="+mn-ea"/>
                          <a:cs typeface="+mn-cs"/>
                        </a:rPr>
                        <a:t> </a:t>
                      </a:r>
                      <a:r>
                        <a:rPr lang="da-DK" sz="975" b="1" kern="1200" spc="-10" noProof="0">
                          <a:solidFill>
                            <a:schemeClr val="tx2"/>
                          </a:solidFill>
                          <a:latin typeface="+mn-lt"/>
                          <a:ea typeface="+mn-ea"/>
                          <a:cs typeface="+mn-cs"/>
                        </a:rPr>
                        <a:t xml:space="preserve">Udvidet Modul </a:t>
                      </a:r>
                      <a:r>
                        <a:rPr lang="da-DK" sz="975" b="0" kern="1200" spc="-10" noProof="0">
                          <a:solidFill>
                            <a:schemeClr val="tx2"/>
                          </a:solidFill>
                          <a:latin typeface="+mn-lt"/>
                          <a:ea typeface="+mn-ea"/>
                          <a:cs typeface="+mn-cs"/>
                        </a:rPr>
                        <a:t xml:space="preserve">(pkt. 27a)</a:t>
                      </a:r>
                      <a:r>
                        <a:rPr lang="da-DK" sz="975" b="1" kern="1200" spc="-10" noProof="0">
                          <a:solidFill>
                            <a:schemeClr val="tx2"/>
                          </a:solidFill>
                          <a:latin typeface="+mn-lt"/>
                          <a:ea typeface="+mn-ea"/>
                          <a:cs typeface="+mn-cs"/>
                        </a:rPr>
                        <a:t>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406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baseret på </a:t>
                      </a:r>
                      <a:r>
                        <a:rPr lang="da-DK" sz="975" b="1" kern="1200" spc="-10" noProof="0">
                          <a:solidFill>
                            <a:schemeClr val="tx2"/>
                          </a:solidFill>
                          <a:latin typeface="+mn-lt"/>
                          <a:ea typeface="+mn-ea"/>
                          <a:cs typeface="+mn-cs"/>
                        </a:rPr>
                        <a:t xml:space="preserve">Basismodulet</a:t>
                      </a:r>
                      <a:r>
                        <a:rPr lang="da-DK" sz="975" b="0" kern="1200" spc="-10" noProof="0">
                          <a:solidFill>
                            <a:schemeClr val="tx2"/>
                          </a:solidFill>
                          <a:latin typeface="+mn-lt"/>
                          <a:ea typeface="+mn-ea"/>
                          <a:cs typeface="+mn-cs"/>
                        </a:rPr>
                        <a:t xml:space="preserve"> i den frivillige SMV-standard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975" b="0" i="0" u="none" strike="noStrike" noProof="0">
                          <a:solidFill>
                            <a:srgbClr val="2D55FF"/>
                          </a:solidFill>
                          <a:effectLst/>
                          <a:latin typeface="Inter"/>
                        </a:rPr>
                        <a:t>{{basic_module?}}</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42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baseret på </a:t>
                      </a:r>
                      <a:r>
                        <a:rPr lang="da-DK" sz="975" b="1" kern="1200" spc="-10" noProof="0">
                          <a:solidFill>
                            <a:schemeClr val="tx2"/>
                          </a:solidFill>
                          <a:latin typeface="+mn-lt"/>
                          <a:ea typeface="+mn-ea"/>
                          <a:cs typeface="+mn-cs"/>
                        </a:rPr>
                        <a:t xml:space="preserve">Basismodulet</a:t>
                      </a:r>
                      <a:r>
                        <a:rPr lang="da-DK" sz="975" b="0" kern="1200" spc="-10" noProof="0">
                          <a:solidFill>
                            <a:schemeClr val="tx2"/>
                          </a:solidFill>
                          <a:latin typeface="+mn-lt"/>
                          <a:ea typeface="+mn-ea"/>
                          <a:cs typeface="+mn-cs"/>
                        </a:rPr>
                        <a:t xml:space="preserve"> og </a:t>
                      </a:r>
                      <a:r>
                        <a:rPr lang="da-DK" sz="975" b="1" kern="1200" spc="-10" noProof="0">
                          <a:solidFill>
                            <a:schemeClr val="tx2"/>
                          </a:solidFill>
                          <a:latin typeface="+mn-lt"/>
                          <a:ea typeface="+mn-ea"/>
                          <a:cs typeface="+mn-cs"/>
                        </a:rPr>
                        <a:t xml:space="preserve">Udvidet Modul </a:t>
                      </a:r>
                      <a:r>
                        <a:rPr lang="da-DK" sz="975" b="0" kern="1200" spc="-10" noProof="0">
                          <a:solidFill>
                            <a:schemeClr val="tx2"/>
                          </a:solidFill>
                          <a:latin typeface="+mn-lt"/>
                          <a:ea typeface="+mn-ea"/>
                          <a:cs typeface="+mn-cs"/>
                        </a:rPr>
                        <a:t xml:space="preserve">i den frivillige SMV-standard</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975" b="0" i="0" u="none" strike="noStrike" noProof="0">
                          <a:solidFill>
                            <a:srgbClr val="2D55FF"/>
                          </a:solidFill>
                          <a:effectLst/>
                          <a:latin typeface="Inter"/>
                        </a:rPr>
                        <a:t>{{comprehensive?}}</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lang="da-DK"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07434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06590">
                <a:tc gridSpan="2">
                  <a:txBody>
                    <a:bodyPr/>
                    <a:lstStyle/>
                    <a:p>
                      <a:pPr algn="l"/>
                      <a:r>
                        <a:rPr lang="da-DK" sz="975" b="1" kern="1200" spc="-10" noProof="0">
                          <a:solidFill>
                            <a:schemeClr val="tx2"/>
                          </a:solidFill>
                          <a:latin typeface="+mn-lt"/>
                          <a:ea typeface="+mn-ea"/>
                          <a:cs typeface="+mn-cs"/>
                        </a:rPr>
                        <a:t xml:space="preserve">Grundlæggende informationer om </a:t>
                      </a:r>
                      <a:r>
                        <a:rPr lang="da-DK" sz="975" b="0" kern="1200" spc="-10" noProof="0">
                          <a:solidFill>
                            <a:schemeClr val="tx2"/>
                          </a:solidFill>
                          <a:latin typeface="+mn-lt"/>
                          <a:ea typeface="+mn-ea"/>
                          <a:cs typeface="+mn-cs"/>
                        </a:rPr>
                        <a:t xml:space="preserve"> (pkt.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585757">
                <a:tc>
                  <a:txBody>
                    <a:bodyPr/>
                    <a:lstStyle/>
                    <a:p>
                      <a:pPr algn="l"/>
                      <a:r>
                        <a:rPr lang="da-DK" sz="975" b="1" kern="1200" spc="-10" noProof="0">
                          <a:solidFill>
                            <a:schemeClr val="tx2"/>
                          </a:solidFill>
                          <a:latin typeface="+mn-lt"/>
                          <a:ea typeface="+mn-ea"/>
                          <a:cs typeface="+mn-cs"/>
                        </a:rPr>
                        <a:t xml:space="preserve">Virksomhedsform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{{branchekode}}</a:t>
                      </a:r>
                      <a:endParaRPr lang="da-DK"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59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NACE sektor kode(r)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{{NACE}}</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3548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Balancesum (i Euro eller dk)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{{balance}}</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54821">
                <a:tc>
                  <a:txBody>
                    <a:bodyPr/>
                    <a:lstStyle/>
                    <a:p>
                      <a:pPr algn="l"/>
                      <a:r>
                        <a:rPr lang="da-DK" sz="975" b="1" kern="1200" spc="-10" noProof="0">
                          <a:solidFill>
                            <a:schemeClr val="tx2"/>
                          </a:solidFill>
                          <a:latin typeface="+mn-lt"/>
                          <a:ea typeface="+mn-ea"/>
                          <a:cs typeface="+mn-cs"/>
                        </a:rPr>
                        <a:t>Omsætning (i Euro eller dk)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{{revenue}}</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06590">
                <a:tc>
                  <a:txBody>
                    <a:bodyPr/>
                    <a:lstStyle/>
                    <a:p>
                      <a:pPr algn="l"/>
                      <a:r>
                        <a:rPr lang="da-DK" sz="975" b="1" kern="1200" spc="-10" noProof="0">
                          <a:solidFill>
                            <a:schemeClr val="tx2"/>
                          </a:solidFill>
                          <a:latin typeface="+mn-lt"/>
                          <a:ea typeface="+mn-ea"/>
                          <a:cs typeface="+mn-cs"/>
                        </a:rPr>
                        <a:t xml:space="preserve">Antal ansatte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{{total_employees}}</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36743"/>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409653">
                <a:tc gridSpan="2">
                  <a:txBody>
                    <a:bodyPr/>
                    <a:lstStyle/>
                    <a:p>
                      <a:pPr algn="l"/>
                      <a:r>
                        <a:rPr lang="da-DK" sz="975" b="1" kern="1200" spc="-10" noProof="0">
                          <a:solidFill>
                            <a:schemeClr val="tx2"/>
                          </a:solidFill>
                          <a:latin typeface="+mn-lt"/>
                          <a:ea typeface="+mn-ea"/>
                          <a:cs typeface="+mn-cs"/>
                        </a:rPr>
                        <a:t xml:space="preserve">ESG-opgørelsen indeholder udeladelser grundet sensitiv forretningsinformation </a:t>
                      </a:r>
                      <a:r>
                        <a:rPr lang="da-DK" sz="975" b="0" kern="1200" spc="-10" noProof="0">
                          <a:solidFill>
                            <a:schemeClr val="tx2"/>
                          </a:solidFill>
                          <a:latin typeface="+mn-lt"/>
                          <a:ea typeface="+mn-ea"/>
                          <a:cs typeface="+mn-cs"/>
                        </a:rPr>
                        <a:t xml:space="preserve">(pkt.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927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Følgende oplysnings-punkter er udeladt</a:t>
                      </a:r>
                    </a:p>
                    <a:p>
                      <a:pPr algn="l"/>
                      <a:endParaRPr lang="da-DK"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noProof="0">
                          <a:solidFill>
                            <a:schemeClr val="accent2"/>
                          </a:solidFill>
                          <a:latin typeface="+mn-lt"/>
                          <a:cs typeface="Calibri" panose="020F0502020204030204" pitchFamily="34" charset="0"/>
                        </a:rPr>
                        <a:t>{{</a:t>
                      </a:r>
                      <a:r>
                        <a:rPr lang="da-DK" sz="975" noProof="0">
                          <a:solidFill>
                            <a:schemeClr val="accent2"/>
                          </a:solidFill>
                          <a:latin typeface="+mn-lt"/>
                          <a:cs typeface="Calibri" panose="020F0502020204030204" pitchFamily="34" charset="0"/>
                        </a:rPr>
                        <a:t>confidentiality_info</a:t>
                      </a:r>
                      <a:r>
                        <a:rPr lang="da-DK" sz="975" noProof="0">
                          <a:solidFill>
                            <a:schemeClr val="accent2"/>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da-DK" sz="975" b="1" kern="1200" spc="-10" noProof="0">
                          <a:solidFill>
                            <a:schemeClr val="tx2"/>
                          </a:solidFill>
                          <a:latin typeface="+mn-lt"/>
                          <a:ea typeface="+mn-ea"/>
                          <a:cs typeface="+mn-cs"/>
                        </a:rPr>
                        <a:t xml:space="preserve">Navn på ESG-certifikat/miljømærke </a:t>
                      </a:r>
                      <a:r>
                        <a:rPr lang="da-DK" sz="975" b="0" kern="1200" spc="-10" noProof="0">
                          <a:solidFill>
                            <a:schemeClr val="tx2"/>
                          </a:solidFill>
                          <a:latin typeface="+mn-lt"/>
                          <a:ea typeface="+mn-ea"/>
                          <a:cs typeface="+mn-cs"/>
                        </a:rPr>
                        <a:t xml:space="preserve">(pkt.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Kort beskrivelse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Dato for udstedelse/</a:t>
                      </a:r>
                    </a:p>
                    <a:p>
                      <a:pPr algn="l"/>
                      <a:r>
                        <a:rPr lang="da-DK" sz="975" b="1" kern="1200" spc="-10" noProof="0">
                          <a:solidFill>
                            <a:schemeClr val="tx2"/>
                          </a:solidFill>
                          <a:latin typeface="+mn-lt"/>
                          <a:ea typeface="+mn-ea"/>
                          <a:cs typeface="+mn-cs"/>
                        </a:rPr>
                        <a:t xml:space="preserve">gyldighed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Evt. rating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buNone/>
                      </a:pPr>
                      <a:r>
                        <a:rPr lang="da-DK" sz="975" b="0" i="0" u="none" strike="noStrike" noProof="0">
                          <a:solidFill>
                            <a:srgbClr val="2D55FF"/>
                          </a:solidFill>
                          <a:effectLst/>
                          <a:latin typeface="Inter"/>
                        </a:rPr>
                        <a:t>{{certificate_or_ecolabel}}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975" b="0" i="0" u="none" strike="noStrike" noProof="0">
                          <a:solidFill>
                            <a:srgbClr val="2D55FF"/>
                          </a:solidFill>
                          <a:effectLst/>
                          <a:latin typeface="Inter"/>
                        </a:rPr>
                        <a:t>{{description_certificate}}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date_certicate</a:t>
                      </a:r>
                      <a:r>
                        <a:rPr lang="da-DK" sz="975" b="0" i="0" u="none" strike="noStrike" noProof="0">
                          <a:solidFill>
                            <a:srgbClr val="2D55FF"/>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certiciate_possible_rating</a:t>
                      </a:r>
                      <a:r>
                        <a:rPr lang="da-DK" sz="975" b="0" i="0" u="none" strike="noStrike" noProof="0">
                          <a:solidFill>
                            <a:srgbClr val="2D55FF"/>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Adresser og geolokation på </a:t>
                      </a:r>
                      <a:r>
                        <a:rPr lang="da-DK" sz="975" b="1" u="none" kern="1200" spc="-10" noProof="0">
                          <a:solidFill>
                            <a:schemeClr val="tx2"/>
                          </a:solidFill>
                          <a:latin typeface="+mn-lt"/>
                          <a:ea typeface="+mn-ea"/>
                          <a:cs typeface="+mn-cs"/>
                        </a:rPr>
                        <a:t xml:space="preserve">væsentlige</a:t>
                      </a:r>
                      <a:r>
                        <a:rPr lang="da-DK" sz="975" b="1" kern="1200" spc="-10" noProof="0">
                          <a:solidFill>
                            <a:schemeClr val="tx2"/>
                          </a:solidFill>
                          <a:latin typeface="+mn-lt"/>
                          <a:ea typeface="+mn-ea"/>
                          <a:cs typeface="+mn-cs"/>
                        </a:rPr>
                        <a:t xml:space="preserve"> aktiver og anlæg, som virksomheden</a:t>
                      </a:r>
                      <a:r>
                        <a:rPr lang="da-DK" sz="975" b="0" kern="1200" spc="-10" noProof="0">
                          <a:solidFill>
                            <a:schemeClr val="tx2"/>
                          </a:solidFill>
                          <a:latin typeface="+mn-lt"/>
                          <a:ea typeface="+mn-ea"/>
                          <a:cs typeface="+mn-cs"/>
                        </a:rPr>
                        <a:t> </a:t>
                      </a:r>
                      <a:r>
                        <a:rPr lang="da-DK" sz="975" b="1" kern="1200" spc="-10" noProof="0">
                          <a:solidFill>
                            <a:schemeClr val="tx2"/>
                          </a:solidFill>
                          <a:latin typeface="+mn-lt"/>
                          <a:ea typeface="+mn-ea"/>
                          <a:cs typeface="+mn-cs"/>
                        </a:rPr>
                        <a:t xml:space="preserve">ejer, lejer eller forvalter </a:t>
                      </a:r>
                      <a:r>
                        <a:rPr lang="da-DK" sz="975" b="0" kern="1200" spc="-10" noProof="0">
                          <a:solidFill>
                            <a:schemeClr val="tx2"/>
                          </a:solidFill>
                          <a:latin typeface="+mn-lt"/>
                          <a:ea typeface="+mn-ea"/>
                          <a:cs typeface="+mn-cs"/>
                        </a:rPr>
                        <a:t xml:space="preserve">(pkt.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da-DK" sz="975" b="1" kern="1200" spc="-10" noProof="0">
                          <a:solidFill>
                            <a:schemeClr val="tx2"/>
                          </a:solidFill>
                          <a:latin typeface="+mn-lt"/>
                          <a:ea typeface="+mn-ea"/>
                          <a:cs typeface="+mn-cs"/>
                        </a:rPr>
                        <a:t xml:space="preserve">Sted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Adresse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Postnummer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By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Land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Geolokation (koordinater)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buNone/>
                      </a:pPr>
                      <a:r>
                        <a:rPr lang="da-DK" sz="975" b="0" i="0" u="none" strike="noStrike" noProof="0">
                          <a:solidFill>
                            <a:srgbClr val="2D55FF"/>
                          </a:solidFill>
                          <a:effectLst/>
                          <a:latin typeface="Inter"/>
                        </a:rPr>
                        <a:t>{{geolocation}}</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geolocation_adress</a:t>
                      </a:r>
                      <a:r>
                        <a:rPr lang="da-DK" sz="975" b="0" i="0" u="none" strike="noStrike" noProof="0">
                          <a:solidFill>
                            <a:srgbClr val="2D55FF"/>
                          </a:solidFill>
                          <a:effectLst/>
                          <a:latin typeface="Inter"/>
                        </a:rPr>
                        <a:t>}}</a:t>
                      </a:r>
                      <a:endParaRPr lang="da-DK"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{{geolocation_postcode}}</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{{geolocation_city}}</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{{geolocation_country}}</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geolocation_coordinates</a:t>
                      </a:r>
                      <a:r>
                        <a:rPr lang="da-DK" sz="975" b="0" i="0" u="none" strike="noStrike" noProof="0">
                          <a:solidFill>
                            <a:srgbClr val="2D55FF"/>
                          </a:solidFill>
                          <a:effectLst/>
                          <a:latin typeface="Inter"/>
                        </a:rPr>
                        <a:t>}}</a:t>
                      </a:r>
                      <a:endParaRPr lang="da-DK"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da-DK" sz="975" b="0" i="0" u="none" strike="noStrike" noProof="0">
                <a:solidFill>
                  <a:schemeClr val="tx2"/>
                </a:solidFill>
                <a:effectLst/>
                <a:latin typeface="Inter"/>
              </a:rPr>
              <a:t xml:space="preserve">Nedenfor er en beskrivelse af virksomhedens geolokationer, samt hvor virksomheden opererer. Disse oplysninger kan anvendes til klimarelaterede risikozoner og giver oplysninger om virksomhedens anlæg, faciliteter og/eller hovedkvarter</a:t>
            </a:r>
            <a:r>
              <a:rPr lang="da-DK" sz="975" noProof="0">
                <a:solidFill>
                  <a:schemeClr val="tx2"/>
                </a:solidFill>
                <a:latin typeface="Inter"/>
              </a:rPr>
              <a:t xml:space="preserve">. Relevante bæredygtighedscertificeringer eller -mærker er også angivet, herunder udsteder af certificeringen, dato og eventuel rating.</a:t>
            </a:r>
            <a:endParaRPr lang="da-DK"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da-DK" sz="975" noProof="0">
                <a:solidFill>
                  <a:srgbClr val="487477"/>
                </a:solidFill>
                <a:latin typeface="Inter"/>
              </a:rPr>
              <a:t xml:space="preserve">Virksomhedens certifikater og miljømærker er listet nedenfor.</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da-DK" noProof="0"/>
              <a:t xml:space="preserve">Indsatser, politikker og fremtidige initiativer for omstilling til en mere bæredygtig økonomi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da-DK" sz="975" b="1" kern="1200" spc="-10" noProof="0">
                          <a:solidFill>
                            <a:schemeClr val="tx2"/>
                          </a:solidFill>
                          <a:latin typeface="+mn-lt"/>
                          <a:ea typeface="+mn-ea"/>
                          <a:cs typeface="+mn-cs"/>
                        </a:rPr>
                        <a:t xml:space="preserve">Område</a:t>
                      </a:r>
                    </a:p>
                    <a:p>
                      <a:r>
                        <a:rPr lang="da-DK" sz="975" b="0" kern="1200" spc="-10" noProof="0">
                          <a:solidFill>
                            <a:schemeClr val="tx2"/>
                          </a:solidFill>
                          <a:latin typeface="+mn-lt"/>
                          <a:ea typeface="+mn-ea"/>
                          <a:cs typeface="+mn-cs"/>
                        </a:rPr>
                        <a:t xml:space="preserve">(pkt.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Virksomheden har en konkret indsats eller politik på området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Er politikken offentligt tilgængelig?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Virksomheden har fremtidige initiativer og planer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Virksomheden har konkrete målsætninger til at monitorere implementering af indsatser og politikker?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da-DK" sz="975" b="1" kern="1200" spc="-10" noProof="0">
                          <a:solidFill>
                            <a:schemeClr val="tx2"/>
                          </a:solidFill>
                          <a:latin typeface="+mn-lt"/>
                          <a:ea typeface="+mn-ea"/>
                          <a:cs typeface="+mn-cs"/>
                        </a:rPr>
                        <a:t xml:space="preserve">Klimaforandringer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{{climate_change_concrete}}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{{climate_change_publicly}}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{{climate_change_future}}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{{climate_change_plan}}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da-DK" sz="975" b="1" kern="1200" spc="-10" noProof="0">
                          <a:solidFill>
                            <a:schemeClr val="tx2"/>
                          </a:solidFill>
                          <a:latin typeface="+mn-lt"/>
                          <a:ea typeface="+mn-ea"/>
                          <a:cs typeface="+mn-cs"/>
                        </a:rPr>
                        <a:t xml:space="preserve">Forurening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{{pollution_concrete}}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{{pollution_publicly}}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{{pollution_future}}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{{pollution_plan}}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da-DK" sz="975" b="1" kern="1200" spc="-10" noProof="0">
                          <a:solidFill>
                            <a:schemeClr val="tx2"/>
                          </a:solidFill>
                          <a:latin typeface="+mn-lt"/>
                          <a:ea typeface="+mn-ea"/>
                          <a:cs typeface="+mn-cs"/>
                        </a:rPr>
                        <a:t xml:space="preserve">Vand -og Havressourcer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{{water_concrete}}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{{water_publicly}}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{{water_future}}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{{water_plan}}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da-DK" sz="975" b="1" kern="1200" spc="-10" noProof="0">
                          <a:solidFill>
                            <a:schemeClr val="tx2"/>
                          </a:solidFill>
                          <a:latin typeface="+mn-lt"/>
                          <a:ea typeface="+mn-ea"/>
                          <a:cs typeface="+mn-cs"/>
                        </a:rPr>
                        <a:t xml:space="preserve">Biodiversitet og Økosystemer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{{biodiversity_concrete}}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{{biodiversity_publicly}}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{{biodiversity_future}}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{{biodiversity_plan}}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da-DK" sz="975" b="1" kern="1200" spc="-10" noProof="0">
                          <a:solidFill>
                            <a:schemeClr val="tx2"/>
                          </a:solidFill>
                          <a:latin typeface="+mn-lt"/>
                          <a:ea typeface="+mn-ea"/>
                          <a:cs typeface="+mn-cs"/>
                        </a:rPr>
                        <a:t xml:space="preserve">Cirkulær økonomi</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{{circular_concrete}}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{{circular_publicly}}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{{circular_future}}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{{circular_plan}}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da-DK" sz="975" b="1" kern="1200" spc="-10" noProof="0">
                          <a:solidFill>
                            <a:schemeClr val="tx2"/>
                          </a:solidFill>
                          <a:latin typeface="+mn-lt"/>
                          <a:ea typeface="+mn-ea"/>
                          <a:cs typeface="+mn-cs"/>
                        </a:rPr>
                        <a:t xml:space="preserve">Egen arbejdsstyrke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{{workforce_concrete}}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{{workforce_publicly}}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{{workforce_future}}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{{workforce_plan}}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da-DK" sz="975" b="1" kern="1200" spc="-10" noProof="0">
                          <a:solidFill>
                            <a:schemeClr val="tx2"/>
                          </a:solidFill>
                          <a:latin typeface="+mn-lt"/>
                          <a:ea typeface="+mn-ea"/>
                          <a:cs typeface="+mn-cs"/>
                        </a:rPr>
                        <a:t xml:space="preserve">Arbejdere i værdikæden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{{workers_concrete}}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{{workers_publicly}}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{{workers_future}}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{{workers_plan}}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da-DK" sz="975" b="1" kern="1200" spc="-10" noProof="0">
                          <a:solidFill>
                            <a:schemeClr val="tx2"/>
                          </a:solidFill>
                          <a:latin typeface="+mn-lt"/>
                          <a:ea typeface="+mn-ea"/>
                          <a:cs typeface="+mn-cs"/>
                        </a:rPr>
                        <a:t xml:space="preserve">Berørte samfund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{{communities_concrete}}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{{communities_publicly}}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{{communities_future}}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{{communities_plan}}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da-DK" sz="975" b="1" kern="1200" spc="-10" noProof="0">
                          <a:solidFill>
                            <a:schemeClr val="tx2"/>
                          </a:solidFill>
                          <a:latin typeface="+mn-lt"/>
                          <a:ea typeface="+mn-ea"/>
                          <a:cs typeface="+mn-cs"/>
                        </a:rPr>
                        <a:t xml:space="preserve">Forbrugere og slutbrugere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{{consumers_concrete}}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{{consumers_publicly}}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{{consumers_future}}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{{consumers_plan}}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da-DK" sz="975" b="1" kern="1200" spc="-10" noProof="0">
                          <a:solidFill>
                            <a:schemeClr val="tx2"/>
                          </a:solidFill>
                          <a:latin typeface="+mn-lt"/>
                          <a:ea typeface="+mn-ea"/>
                          <a:cs typeface="+mn-cs"/>
                        </a:rPr>
                        <a:t xml:space="preserve">Virksomhedsledelse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{{governance_concrete}}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{{governance_publicly}}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{{governance_future}}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nter"/>
                        </a:rPr>
                        <a:t>{{governance_plan}}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da-DK" sz="975" b="0" i="0" u="none" strike="noStrike" noProof="0">
                <a:solidFill>
                  <a:schemeClr val="tx2"/>
                </a:solidFill>
                <a:effectLst/>
                <a:latin typeface="Inter"/>
              </a:rPr>
              <a:t xml:space="preserve">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975" noProof="0">
                <a:solidFill>
                  <a:schemeClr val="tx2"/>
                </a:solidFill>
              </a:rPr>
            </a:br>
            <a:endParaRPr lang="da-DK"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a-DK" noProof="0" smtClean="0"/>
              <a:pPr/>
              <a:t>4</a:t>
            </a:fld>
            <a:endParaRPr lang="da-DK"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Energiforbrug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Energiforbrug i MWh </a:t>
                      </a:r>
                      <a:r>
                        <a:rPr lang="da-DK" sz="975" b="0" noProof="0">
                          <a:solidFill>
                            <a:schemeClr val="tx2"/>
                          </a:solidFill>
                        </a:rPr>
                        <a:t xml:space="preserve">(pkt.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a-DK" sz="72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975" b="1" noProof="0">
                          <a:solidFill>
                            <a:schemeClr val="tx2"/>
                          </a:solidFill>
                        </a:rPr>
                        <a:t xml:space="preserve">Vedvarende energiforbrug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975" b="1" noProof="0">
                          <a:solidFill>
                            <a:schemeClr val="tx2"/>
                          </a:solidFill>
                        </a:rPr>
                        <a:t xml:space="preserve">Ikke-vedvarende energiforbrug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Total energiforbrug (MWh)</a:t>
                      </a:r>
                    </a:p>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da-DK" sz="975" b="1" noProof="0">
                          <a:solidFill>
                            <a:schemeClr val="tx2"/>
                          </a:solidFill>
                        </a:rPr>
                        <a:t xml:space="preserve">Elektricitet </a:t>
                      </a:r>
                      <a:r>
                        <a:rPr lang="da-DK" sz="975" b="0" noProof="0">
                          <a:solidFill>
                            <a:schemeClr val="tx2"/>
                          </a:solidFill>
                        </a:rPr>
                        <a:t xml:space="preserve">(som det fremgår af virksomhedens forbrugsregninger)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{{electricity_renewable}}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{{electricity_non_rewenable}}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{{total_electricity}}</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da-DK" sz="975" b="1" noProof="0">
                          <a:solidFill>
                            <a:schemeClr val="tx2"/>
                          </a:solidFill>
                        </a:rPr>
                        <a:t xml:space="preserve">Brændstoffer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{{fuel_renewable}}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{{fuel_non_rewenable}}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{{total_fuel}}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da-DK" sz="975" b="1" noProof="0">
                          <a:solidFill>
                            <a:schemeClr val="tx2"/>
                          </a:solidFill>
                        </a:rPr>
                        <a:t xml:space="preserve">Andet (fx fjernvarme)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{{district_heating_rewenable}}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{{district_heating_non_rewenable}}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{{total_district_heating}}</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da-DK"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{{renewable_energy_total}}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{{non_rewenable_energy_total}}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BM Plex Sans" panose="020B0503050203000203" pitchFamily="34" charset="0"/>
                        </a:rPr>
                        <a:t>{{total_energy_consumption}}</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5</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da-DK" sz="975" b="0" i="0" u="none" strike="noStrike" noProof="0">
                <a:solidFill>
                  <a:schemeClr val="tx2"/>
                </a:solidFill>
                <a:effectLst/>
                <a:latin typeface="Inter"/>
              </a:rPr>
              <a:t xml:space="preserve">Dette afsnit angiver virksomhedens CO2-udledning fra energiforbrug og angiver vedvarende og ikke-vedvarende forbrug. </a:t>
            </a:r>
            <a:r>
              <a:rPr lang="da-DK" sz="975" noProof="0">
                <a:solidFill>
                  <a:schemeClr val="tx2"/>
                </a:solidFill>
                <a:latin typeface="Inter"/>
              </a:rPr>
              <a:t xml:space="preserve">Udledningerne er oplyst ud fra </a:t>
            </a:r>
            <a:r>
              <a:rPr lang="da-DK" sz="975" b="0" i="0" u="none" strike="noStrike" noProof="0">
                <a:solidFill>
                  <a:schemeClr val="tx2"/>
                </a:solidFill>
                <a:effectLst/>
                <a:latin typeface="Inter"/>
              </a:rPr>
              <a:t xml:space="preserve">GHG-protokollens definitioner afhvad direkte og indirekte emissioner omfatter. </a:t>
            </a:r>
            <a:br>
              <a:rPr lang="da-DK" sz="975" b="0" i="0" u="none" strike="noStrike" noProof="0" dirty="0">
                <a:effectLst/>
                <a:latin typeface="Inter"/>
              </a:rPr>
            </a:br>
            <a:br>
              <a:rPr lang="da-DK" sz="975" dirty="0">
                <a:latin typeface="Inter"/>
              </a:rPr>
            </a:br>
            <a:r>
              <a:rPr lang="da-DK" sz="650" b="0" i="0" u="none" strike="noStrike" noProof="0">
                <a:solidFill>
                  <a:schemeClr val="tx2"/>
                </a:solidFill>
                <a:effectLst/>
                <a:latin typeface="Inter"/>
              </a:rPr>
              <a:t> </a:t>
            </a:r>
            <a:endParaRPr lang="da-DK" sz="975" b="0" i="0" u="none" strike="noStrike" noProof="0" dirty="0">
              <a:solidFill>
                <a:schemeClr val="tx2"/>
              </a:solidFill>
              <a:effectLst/>
              <a:latin typeface="Inter"/>
            </a:endParaRPr>
          </a:p>
          <a:p>
            <a:pPr rtl="0">
              <a:buNone/>
            </a:pPr>
            <a:endParaRPr lang="da-DK" sz="975" b="0" noProof="0">
              <a:solidFill>
                <a:schemeClr val="tx2"/>
              </a:solidFill>
              <a:effectLst/>
              <a:latin typeface="Inter"/>
            </a:endParaRPr>
          </a:p>
          <a:p>
            <a:pPr>
              <a:buNone/>
            </a:pPr>
            <a:endParaRPr lang="da-DK" b="0" noProof="0">
              <a:solidFill>
                <a:schemeClr val="tx2"/>
              </a:solidFill>
              <a:effectLst/>
              <a:latin typeface="Inter"/>
            </a:endParaRPr>
          </a:p>
          <a:p>
            <a:pPr>
              <a:buNone/>
            </a:pPr>
            <a:endParaRPr lang="da-DK" sz="1325" noProof="0">
              <a:solidFill>
                <a:schemeClr val="tx2"/>
              </a:solidFill>
              <a:latin typeface="Inter"/>
            </a:endParaRPr>
          </a:p>
          <a:p>
            <a:pPr>
              <a:buNone/>
            </a:pPr>
            <a:endParaRPr lang="da-DK" sz="1325" b="0" noProof="0">
              <a:solidFill>
                <a:schemeClr val="tx2"/>
              </a:solidFill>
              <a:effectLst/>
              <a:latin typeface="Inter"/>
            </a:endParaRPr>
          </a:p>
          <a:p>
            <a:pPr>
              <a:buNone/>
            </a:pPr>
            <a:endParaRPr lang="da-DK" sz="1325" noProof="0">
              <a:solidFill>
                <a:schemeClr val="tx2"/>
              </a:solidFill>
              <a:latin typeface="Inter"/>
            </a:endParaRPr>
          </a:p>
          <a:p>
            <a:pPr>
              <a:buNone/>
            </a:pPr>
            <a:endParaRPr lang="da-DK" sz="1325" b="0" noProof="0">
              <a:solidFill>
                <a:schemeClr val="tx2"/>
              </a:solidFill>
              <a:effectLst/>
              <a:latin typeface="Inter"/>
            </a:endParaRPr>
          </a:p>
          <a:p>
            <a:endParaRPr lang="da-DK"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da-DK" sz="975" b="1" noProof="0">
                          <a:solidFill>
                            <a:schemeClr val="tx2"/>
                          </a:solidFill>
                        </a:rPr>
                        <a:t xml:space="preserve">Udledning af drivhusgasser </a:t>
                      </a:r>
                      <a:r>
                        <a:rPr lang="da-DK" sz="975" b="0" noProof="0">
                          <a:solidFill>
                            <a:schemeClr val="tx2"/>
                          </a:solidFill>
                        </a:rPr>
                        <a:t xml:space="preserve">(pkt. 33)</a:t>
                      </a: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År </a:t>
                      </a:r>
                      <a:r>
                        <a:rPr lang="da-DK" sz="975" b="1" noProof="0">
                          <a:solidFill>
                            <a:schemeClr val="accent2"/>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da-DK" sz="975" b="1" noProof="0">
                          <a:solidFill>
                            <a:schemeClr val="tx2"/>
                          </a:solidFill>
                        </a:rPr>
                        <a:t xml:space="preserve">Scope 1 CO₂e-udledninger</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{{scope1}}</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da-DK" sz="975" b="1" noProof="0">
                          <a:solidFill>
                            <a:schemeClr val="tx2"/>
                          </a:solidFill>
                        </a:rPr>
                        <a:t xml:space="preserve">Scope 2 CO₂e-udledninger (lokationsbaseret)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{{scope2}}</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a-DK" sz="975" b="1" noProof="0">
                          <a:solidFill>
                            <a:schemeClr val="tx2"/>
                          </a:solidFill>
                        </a:rPr>
                        <a:t xml:space="preserve">Total CO₂e-udledning fra scope 1 og scope 2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{{total_scope}}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da-DK" b="1" dirty="0">
                <a:latin typeface="+mj-lt"/>
              </a:rPr>
            </a:br>
            <a:r>
              <a:rPr lang="da-DK" b="1" i="0" u="none" strike="noStrike" noProof="0">
                <a:solidFill>
                  <a:schemeClr val="tx2"/>
                </a:solidFill>
                <a:effectLst/>
                <a:latin typeface="+mj-lt"/>
              </a:rPr>
              <a:t xml:space="preserve">CO₂e-udledning (B3)</a:t>
            </a:r>
            <a:endParaRPr lang="da-DK" noProof="0">
              <a:solidFill>
                <a:schemeClr val="tx2"/>
              </a:solidFill>
              <a:effectLst/>
              <a:latin typeface="+mj-lt"/>
            </a:endParaRPr>
          </a:p>
          <a:p>
            <a:r>
              <a:rPr lang="da-DK" sz="650">
                <a:latin typeface="Inter"/>
              </a:rPr>
              <a:t> </a:t>
            </a:r>
            <a:br>
              <a:rPr lang="da-DK" sz="975" dirty="0">
                <a:solidFill>
                  <a:schemeClr val="tx2"/>
                </a:solidFill>
                <a:latin typeface="Inter"/>
              </a:rPr>
            </a:br>
            <a:r>
              <a:rPr lang="da-DK" sz="975" b="0" i="0" u="none" strike="noStrike" noProof="0">
                <a:solidFill>
                  <a:schemeClr val="tx2"/>
                </a:solidFill>
                <a:effectLst/>
                <a:latin typeface="Inter"/>
              </a:rPr>
              <a:t xml:space="preserve">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975" noProof="0">
                <a:solidFill>
                  <a:schemeClr val="tx2"/>
                </a:solidFill>
                <a:latin typeface="Inter"/>
              </a:rPr>
              <a:t> </a:t>
            </a:r>
            <a:r>
              <a:rPr lang="da-DK" sz="975" b="0" i="0" u="none" strike="noStrike" noProof="0">
                <a:solidFill>
                  <a:schemeClr val="tx2"/>
                </a:solidFill>
                <a:effectLst/>
                <a:latin typeface="Inter"/>
              </a:rPr>
              <a:t>Scope 2</a:t>
            </a:r>
            <a:r>
              <a:rPr lang="da-DK" sz="975" noProof="0">
                <a:solidFill>
                  <a:schemeClr val="tx2"/>
                </a:solidFill>
                <a:latin typeface="Inter"/>
              </a:rPr>
              <a:t xml:space="preserve"> angiver i</a:t>
            </a:r>
            <a:r>
              <a:rPr lang="da-DK" sz="975" b="0" i="0" u="none" strike="noStrike" noProof="0">
                <a:solidFill>
                  <a:schemeClr val="tx2"/>
                </a:solidFill>
                <a:effectLst/>
                <a:latin typeface="Inter"/>
              </a:rPr>
              <a:t xml:space="preserve">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lang="da-DK"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Forurening af luft, vand og jord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da-DK" sz="824" b="1" noProof="0">
                          <a:solidFill>
                            <a:schemeClr val="tx2"/>
                          </a:solidFill>
                        </a:rPr>
                        <a:t xml:space="preserve">Forurening af luft, vand og jord </a:t>
                      </a:r>
                      <a:r>
                        <a:rPr lang="da-DK" sz="824" b="0" noProof="0">
                          <a:solidFill>
                            <a:schemeClr val="tx2"/>
                          </a:solidFill>
                        </a:rPr>
                        <a:t xml:space="preserve">(pkt.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824" b="1" noProof="0">
                          <a:solidFill>
                            <a:schemeClr val="tx2"/>
                          </a:solidFill>
                        </a:rPr>
                        <a:t xml:space="preserve">Type af forurening </a:t>
                      </a:r>
                      <a:r>
                        <a:rPr lang="da-DK" sz="824" b="0" noProof="0">
                          <a:solidFill>
                            <a:schemeClr val="tx2"/>
                          </a:solidFill>
                        </a:rPr>
                        <a:t xml:space="preserve">(fx stof)</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824" b="1" noProof="0">
                          <a:solidFill>
                            <a:schemeClr val="tx2"/>
                          </a:solidFill>
                        </a:rPr>
                        <a:t xml:space="preserve">Hvor? </a:t>
                      </a:r>
                      <a:r>
                        <a:rPr lang="da-DK" sz="824" b="0" noProof="0">
                          <a:solidFill>
                            <a:schemeClr val="tx2"/>
                          </a:solidFill>
                        </a:rPr>
                        <a:t xml:space="preserve">(luft, vand, jord)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824" b="1" noProof="0">
                          <a:solidFill>
                            <a:schemeClr val="tx2"/>
                          </a:solidFill>
                        </a:rPr>
                        <a:t xml:space="preserve">Omfang</a:t>
                      </a:r>
                      <a:endParaRPr lang="da-DK" sz="824"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buNone/>
                      </a:pPr>
                      <a:r>
                        <a:rPr lang="da-DK" sz="824" b="0" i="0" u="none" strike="noStrike" noProof="0">
                          <a:solidFill>
                            <a:srgbClr val="2D55FF"/>
                          </a:solidFill>
                          <a:effectLst/>
                          <a:latin typeface="Inter"/>
                        </a:rPr>
                        <a:t>{{type_of_pollution}}</a:t>
                      </a:r>
                      <a:endParaRPr lang="da-DK" sz="824"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rtl="0" fontAlgn="ctr">
                        <a:buNone/>
                      </a:pPr>
                      <a:r>
                        <a:rPr lang="da-DK" sz="824" b="0" i="0" u="none" strike="noStrike" noProof="0">
                          <a:solidFill>
                            <a:srgbClr val="2D55FF"/>
                          </a:solidFill>
                          <a:effectLst/>
                          <a:latin typeface="Inter"/>
                        </a:rPr>
                        <a:t>{{scope_pollution}}</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824" b="0" i="0" u="none" strike="noStrike" noProof="0">
                          <a:solidFill>
                            <a:srgbClr val="2D55FF"/>
                          </a:solidFill>
                          <a:effectLst/>
                          <a:latin typeface="Inter"/>
                        </a:rPr>
                        <a:t>{{</a:t>
                      </a:r>
                      <a:r>
                        <a:rPr lang="da-DK" sz="824" b="0" i="0" u="none" strike="noStrike" noProof="0">
                          <a:solidFill>
                            <a:srgbClr val="2D55FF"/>
                          </a:solidFill>
                          <a:effectLst/>
                          <a:latin typeface="Inter"/>
                        </a:rPr>
                        <a:t>pollution_medium</a:t>
                      </a:r>
                      <a:r>
                        <a:rPr lang="da-DK" sz="824" b="0" i="0" u="none" strike="noStrike" noProof="0">
                          <a:solidFill>
                            <a:srgbClr val="2D55FF"/>
                          </a:solidFill>
                          <a:effectLst/>
                          <a:latin typeface="Inter"/>
                        </a:rPr>
                        <a:t>}}</a:t>
                      </a:r>
                      <a:endParaRPr lang="da-DK" sz="824"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da-DK" sz="824" b="0" i="0" u="none" strike="noStrike" noProof="0">
                <a:solidFill>
                  <a:schemeClr val="tx2"/>
                </a:solidFill>
                <a:effectLst/>
                <a:latin typeface="Inter"/>
              </a:rPr>
              <a:t xml:space="preserve">Virksomheden rapporterer den samlede mængde af forurenende stoffer, der udledes fra deres anlæg. Rapportering om specifikke forurenende stoffer og deres mængder, der udledes til luft, vand og jord</a:t>
            </a:r>
            <a:r>
              <a:rPr lang="da-DK" sz="824" noProof="0">
                <a:solidFill>
                  <a:schemeClr val="tx2"/>
                </a:solidFill>
                <a:latin typeface="Inter"/>
              </a:rPr>
              <a:t xml:space="preserve"> er anført nedenfor.</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47" b="1" kern="1200" spc="-10" baseline="0">
                <a:solidFill>
                  <a:schemeClr val="tx2"/>
                </a:solidFill>
                <a:latin typeface="+mj-lt"/>
                <a:ea typeface="+mj-ea"/>
                <a:cs typeface="+mj-cs"/>
              </a:defRPr>
            </a:lvl1pPr>
          </a:lstStyle>
          <a:p>
            <a:r>
              <a:rPr lang="da-DK" noProof="0"/>
              <a:t xml:space="preserve">Biodiversitet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da-DK" sz="824" b="1" noProof="0">
                          <a:solidFill>
                            <a:schemeClr val="tx2"/>
                          </a:solidFill>
                        </a:rPr>
                        <a:t xml:space="preserve">Områder i nærheden af eller i 'biodiversitetsfølsomme områder’, som virksomheden ejer, lejer eller forvalter </a:t>
                      </a:r>
                      <a:r>
                        <a:rPr lang="da-DK" sz="824" b="0" noProof="0">
                          <a:solidFill>
                            <a:schemeClr val="tx2"/>
                          </a:solidFill>
                        </a:rPr>
                        <a:t xml:space="preserve">(pkt.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da-DK" sz="824" b="1" noProof="0">
                          <a:solidFill>
                            <a:schemeClr val="tx2"/>
                          </a:solidFill>
                        </a:rPr>
                        <a:t xml:space="preserve">Lokation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824" b="1" noProof="0">
                          <a:solidFill>
                            <a:schemeClr val="tx2"/>
                          </a:solidFill>
                        </a:rPr>
                        <a:t xml:space="preserve">Areal opgjort i hektar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824" b="1" noProof="0">
                          <a:solidFill>
                            <a:schemeClr val="tx2"/>
                          </a:solidFill>
                        </a:rPr>
                        <a:t xml:space="preserve">Biodiversitetsfølsomt område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824" b="1" noProof="0">
                          <a:solidFill>
                            <a:schemeClr val="tx2"/>
                          </a:solidFill>
                        </a:rPr>
                        <a:t xml:space="preserve">Specifikation: I nærheden af eller i et biodiversitetsfølsomt område</a:t>
                      </a:r>
                      <a:endParaRPr lang="da-DK" sz="824"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buNone/>
                      </a:pPr>
                      <a:r>
                        <a:rPr lang="da-DK" sz="824" b="0" i="0" u="none" strike="noStrike" noProof="0">
                          <a:solidFill>
                            <a:srgbClr val="2D55FF"/>
                          </a:solidFill>
                          <a:effectLst/>
                          <a:latin typeface="Inter"/>
                        </a:rPr>
                        <a:t>{{country_location}}</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824" b="0" i="0" u="none" strike="noStrike" noProof="0">
                          <a:solidFill>
                            <a:srgbClr val="2D55FF"/>
                          </a:solidFill>
                          <a:effectLst/>
                          <a:latin typeface="Inter"/>
                        </a:rPr>
                        <a:t> {{area_hect}}</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824" b="0" i="0" u="none" strike="noStrike" noProof="0">
                          <a:solidFill>
                            <a:srgbClr val="2D55FF"/>
                          </a:solidFill>
                          <a:effectLst/>
                          <a:latin typeface="Inter"/>
                        </a:rPr>
                        <a:t>{{area_name}}</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824" b="0" i="0" u="none" strike="noStrike" noProof="0">
                          <a:solidFill>
                            <a:srgbClr val="2D55FF"/>
                          </a:solidFill>
                          <a:effectLst/>
                          <a:latin typeface="Inter"/>
                        </a:rPr>
                        <a:t>{{</a:t>
                      </a:r>
                      <a:r>
                        <a:rPr lang="da-DK" sz="824" b="0" i="0" u="none" strike="noStrike" noProof="0">
                          <a:solidFill>
                            <a:srgbClr val="2D55FF"/>
                          </a:solidFill>
                          <a:effectLst/>
                          <a:latin typeface="Inter"/>
                        </a:rPr>
                        <a:t>biosensitive_area</a:t>
                      </a:r>
                      <a:r>
                        <a:rPr lang="da-DK" sz="824" b="0" i="0" u="none" strike="noStrike" noProof="0">
                          <a:solidFill>
                            <a:srgbClr val="2D55FF"/>
                          </a:solidFill>
                          <a:effectLst/>
                          <a:latin typeface="Inter"/>
                        </a:rPr>
                        <a:t>}}</a:t>
                      </a:r>
                      <a:endParaRPr lang="da-DK" sz="824"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da-DK" sz="824" b="0" i="0" u="none" strike="noStrike" noProof="0">
                <a:solidFill>
                  <a:schemeClr val="tx2"/>
                </a:solidFill>
                <a:effectLst/>
                <a:latin typeface="Inter"/>
              </a:rPr>
              <a:t xml:space="preserve">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(KBA'er) samt andre beskyttede områder.</a:t>
            </a:r>
            <a:endParaRPr lang="da-DK" sz="824"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66543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47" b="1" kern="1200" spc="-10" baseline="0">
                <a:solidFill>
                  <a:schemeClr val="tx2"/>
                </a:solidFill>
                <a:latin typeface="+mj-lt"/>
                <a:ea typeface="+mj-ea"/>
                <a:cs typeface="+mj-cs"/>
              </a:defRPr>
            </a:lvl1pPr>
          </a:lstStyle>
          <a:p>
            <a:r>
              <a:rPr lang="da-DK"/>
              <a:t xml:space="preserve">Vand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674180"/>
          <a:ext cx="3295368" cy="1118085"/>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66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1" noProof="0">
                          <a:solidFill>
                            <a:schemeClr val="tx2"/>
                          </a:solidFill>
                        </a:rPr>
                        <a:t xml:space="preserve">Vandudtag </a:t>
                      </a:r>
                      <a:r>
                        <a:rPr lang="da-DK" sz="824" b="0" noProof="0">
                          <a:solidFill>
                            <a:schemeClr val="tx2"/>
                          </a:solidFill>
                        </a:rPr>
                        <a:t xml:space="preserve">(pkt.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824" b="1" noProof="0">
                          <a:solidFill>
                            <a:schemeClr val="tx2"/>
                          </a:solidFill>
                        </a:rPr>
                        <a:t xml:space="preserve">År </a:t>
                      </a:r>
                      <a:r>
                        <a:rPr lang="da-DK" sz="824"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51364">
                <a:tc>
                  <a:txBody>
                    <a:bodyPr/>
                    <a:lstStyle/>
                    <a:p>
                      <a:r>
                        <a:rPr lang="da-DK" sz="824" b="0" noProof="0">
                          <a:solidFill>
                            <a:schemeClr val="tx2"/>
                          </a:solidFill>
                        </a:rPr>
                        <a:t xml:space="preserve">Samlet for alle lokationer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824" b="0" i="0" u="none" strike="noStrike" kern="1200" cap="none" spc="0" normalizeH="0" baseline="0" noProof="0">
                          <a:ln>
                            <a:noFill/>
                          </a:ln>
                          <a:solidFill>
                            <a:srgbClr val="2D55FF"/>
                          </a:solidFill>
                          <a:effectLst/>
                          <a:uLnTx/>
                          <a:uFillTx/>
                          <a:latin typeface="+mn-lt"/>
                          <a:ea typeface="+mn-ea"/>
                          <a:cs typeface="+mn-cs"/>
                        </a:rPr>
                        <a:t>{{</a:t>
                      </a:r>
                      <a:r>
                        <a:rPr kumimoji="0" lang="da-DK" sz="824" b="0" i="0" u="none" strike="noStrike" kern="1200" cap="none" spc="0" normalizeH="0" baseline="0" noProof="0">
                          <a:ln>
                            <a:noFill/>
                          </a:ln>
                          <a:solidFill>
                            <a:srgbClr val="2D55FF"/>
                          </a:solidFill>
                          <a:effectLst/>
                          <a:uLnTx/>
                          <a:uFillTx/>
                          <a:latin typeface="+mn-lt"/>
                          <a:ea typeface="+mn-ea"/>
                          <a:cs typeface="+mn-cs"/>
                        </a:rPr>
                        <a:t>total_withdrawal</a:t>
                      </a:r>
                      <a:r>
                        <a:rPr kumimoji="0" lang="da-DK" sz="824" b="0" i="0" u="none" strike="noStrike" kern="1200" cap="none" spc="0" normalizeH="0" baseline="0" noProof="0">
                          <a:ln>
                            <a:noFill/>
                          </a:ln>
                          <a:solidFill>
                            <a:srgbClr val="2D55FF"/>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674180"/>
          <a:ext cx="3295368" cy="1118085"/>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319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1" noProof="0">
                          <a:solidFill>
                            <a:schemeClr val="tx2"/>
                          </a:solidFill>
                        </a:rPr>
                        <a:t xml:space="preserve">Vandforbrug </a:t>
                      </a:r>
                      <a:r>
                        <a:rPr lang="da-DK" sz="824" b="0" noProof="0">
                          <a:solidFill>
                            <a:schemeClr val="tx2"/>
                          </a:solidFill>
                        </a:rPr>
                        <a:t xml:space="preserve">(pkt.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824" b="1" noProof="0">
                          <a:solidFill>
                            <a:schemeClr val="tx2"/>
                          </a:solidFill>
                        </a:rPr>
                        <a:t xml:space="preserve">År </a:t>
                      </a:r>
                      <a:r>
                        <a:rPr lang="da-DK" sz="824"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70905">
                <a:tc>
                  <a:txBody>
                    <a:bodyPr/>
                    <a:lstStyle/>
                    <a:p>
                      <a:r>
                        <a:rPr lang="da-DK" sz="824" b="0" noProof="0">
                          <a:solidFill>
                            <a:schemeClr val="tx2"/>
                          </a:solidFill>
                        </a:rPr>
                        <a:t xml:space="preserve">Samlet for alle lokationer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24" b="0" i="0" u="none" strike="noStrike" noProof="0">
                          <a:solidFill>
                            <a:srgbClr val="2D55FF"/>
                          </a:solidFill>
                          <a:effectLst/>
                          <a:latin typeface="Inter"/>
                        </a:rPr>
                        <a:t>{{consumption_total}}</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41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0" noProof="0">
                          <a:solidFill>
                            <a:schemeClr val="tx2"/>
                          </a:solidFill>
                        </a:rPr>
                        <a:t xml:space="preserve">Fra lokationer i områder med mangel på vand (højt vandstress)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24" b="0" i="0" u="none" strike="noStrike" noProof="0">
                          <a:solidFill>
                            <a:srgbClr val="2D55FF"/>
                          </a:solidFill>
                          <a:effectLst/>
                          <a:latin typeface="Inter"/>
                        </a:rPr>
                        <a:t>{{</a:t>
                      </a:r>
                      <a:r>
                        <a:rPr lang="da-DK" sz="824" b="0" i="0" u="none" strike="noStrike" noProof="0">
                          <a:solidFill>
                            <a:srgbClr val="2D55FF"/>
                          </a:solidFill>
                          <a:effectLst/>
                          <a:latin typeface="Inter"/>
                        </a:rPr>
                        <a:t>consumption_waterstress</a:t>
                      </a:r>
                      <a:r>
                        <a:rPr lang="da-DK" sz="824" b="0" i="0" u="none" strike="noStrike" noProof="0">
                          <a:solidFill>
                            <a:srgbClr val="2D55FF"/>
                          </a:solidFill>
                          <a:effectLst/>
                          <a:latin typeface="Inter"/>
                        </a:rPr>
                        <a:t>}}</a:t>
                      </a:r>
                      <a:endParaRPr lang="da-DK" sz="824"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4996139"/>
            <a:ext cx="6737040" cy="384705"/>
          </a:xfrm>
          <a:prstGeom prst="rect">
            <a:avLst/>
          </a:prstGeom>
          <a:noFill/>
        </p:spPr>
        <p:txBody>
          <a:bodyPr wrap="square">
            <a:spAutoFit/>
          </a:bodyPr>
          <a:lstStyle/>
          <a:p>
            <a:pPr rtl="0">
              <a:spcBef>
                <a:spcPts val="750"/>
              </a:spcBef>
              <a:buNone/>
            </a:pPr>
            <a:r>
              <a:rPr lang="da-DK" sz="824" b="0" i="0" u="none" strike="noStrike" noProof="0">
                <a:solidFill>
                  <a:schemeClr val="tx2"/>
                </a:solidFill>
                <a:effectLst/>
                <a:latin typeface="Inter"/>
              </a:rPr>
              <a:t xml:space="preserve">Vandudtaget er den mængde vand, der anvendes af virksomheden, hvorunder </a:t>
            </a:r>
            <a:r>
              <a:rPr lang="da-DK" sz="824" noProof="0">
                <a:solidFill>
                  <a:schemeClr val="tx2"/>
                </a:solidFill>
                <a:latin typeface="Inter"/>
              </a:rPr>
              <a:t xml:space="preserve">forbruget angiver vand der </a:t>
            </a:r>
            <a:r>
              <a:rPr lang="da-DK" sz="824" b="0" i="0" u="none" strike="noStrike" noProof="0">
                <a:solidFill>
                  <a:schemeClr val="tx2"/>
                </a:solidFill>
                <a:effectLst/>
                <a:latin typeface="Inter"/>
              </a:rPr>
              <a:t xml:space="preserve">ikke udledes eller planlægges udledt tilbage til vandmiljøet eller til en tredjepart. I dette afsnit oplyses virksomhedens samlede vandudtag. Virksomhedens vandforbrug</a:t>
            </a:r>
            <a:r>
              <a:rPr lang="da-DK" sz="824" noProof="0">
                <a:solidFill>
                  <a:schemeClr val="tx2"/>
                </a:solidFill>
                <a:latin typeface="Inter"/>
              </a:rPr>
              <a:t> </a:t>
            </a:r>
            <a:r>
              <a:rPr lang="da-DK" sz="824" b="0" i="0" u="none" strike="noStrike" noProof="0">
                <a:solidFill>
                  <a:schemeClr val="tx2"/>
                </a:solidFill>
                <a:effectLst/>
                <a:latin typeface="Inter"/>
              </a:rPr>
              <a:t xml:space="preserve">og vandudledning fra områder med høj vandstress er anført nedenfor.</a:t>
            </a:r>
            <a:endParaRPr lang="da-DK" sz="824"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06670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47" b="1" kern="1200" spc="-10" baseline="0">
                <a:solidFill>
                  <a:schemeClr val="tx2"/>
                </a:solidFill>
                <a:latin typeface="+mj-lt"/>
                <a:ea typeface="+mj-ea"/>
                <a:cs typeface="+mj-cs"/>
              </a:defRPr>
            </a:lvl1pPr>
          </a:lstStyle>
          <a:p>
            <a:r>
              <a:rPr lang="da-DK" noProof="0"/>
              <a:t xml:space="preserve">Ressourceforbrug, cirkulær økonomi og affaldshåndtering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48721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1" noProof="0">
                          <a:solidFill>
                            <a:schemeClr val="tx2"/>
                          </a:solidFill>
                        </a:rPr>
                        <a:t xml:space="preserve">Oplysning om anvendelse af principper fra cirkulær økonomi </a:t>
                      </a:r>
                      <a:r>
                        <a:rPr lang="da-DK" sz="824" b="0" noProof="0">
                          <a:solidFill>
                            <a:schemeClr val="tx2"/>
                          </a:solidFill>
                        </a:rPr>
                        <a:t xml:space="preserve">(pkt.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da-DK" sz="824" b="0" noProof="0">
                          <a:solidFill>
                            <a:schemeClr val="tx2"/>
                          </a:solidFill>
                        </a:rPr>
                        <a:t xml:space="preserve">Min virksomhed anvender principper fra cirkulær økonomi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824"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824" b="1" noProof="0">
                          <a:solidFill>
                            <a:schemeClr val="tx2"/>
                          </a:solidFill>
                        </a:rPr>
                        <a:t xml:space="preserve">Nej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24" b="0" i="0" u="none" strike="noStrike" noProof="0">
                          <a:solidFill>
                            <a:srgbClr val="2D55FF"/>
                          </a:solidFill>
                          <a:effectLst/>
                          <a:latin typeface="Inter"/>
                        </a:rPr>
                        <a:t>{{circular_economy_princples_yes}}</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824" b="0" i="0" u="none" strike="noStrike" noProof="0">
                          <a:solidFill>
                            <a:srgbClr val="2D55FF"/>
                          </a:solidFill>
                          <a:effectLst/>
                          <a:latin typeface="Inter"/>
                        </a:rPr>
                        <a:t>{{circular_economy_princples_no?}}</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470197"/>
            <a:ext cx="3295368" cy="692470"/>
          </a:xfrm>
          <a:prstGeom prst="rect">
            <a:avLst/>
          </a:prstGeom>
          <a:noFill/>
        </p:spPr>
        <p:txBody>
          <a:bodyPr wrap="square" lIns="76197" tIns="38098" rIns="76197" bIns="38098" anchor="t">
            <a:spAutoFit/>
          </a:bodyPr>
          <a:lstStyle/>
          <a:p>
            <a:pPr rtl="0">
              <a:buNone/>
            </a:pPr>
            <a:r>
              <a:rPr lang="da-DK" sz="824" b="0" i="0" u="none" strike="noStrike" noProof="0">
                <a:solidFill>
                  <a:schemeClr val="tx2"/>
                </a:solidFill>
                <a:effectLst/>
                <a:latin typeface="Inter"/>
              </a:rPr>
              <a:t xml:space="preserve">Dette informationskrav angiver information om hvorvidt virksomheden</a:t>
            </a:r>
            <a:r>
              <a:rPr lang="da-DK" sz="824" noProof="0">
                <a:solidFill>
                  <a:schemeClr val="tx2"/>
                </a:solidFill>
                <a:latin typeface="Inter"/>
              </a:rPr>
              <a:t xml:space="preserve"> anvender principper for cirkulær økonomi. Herunder, om der er principper i anvendelse når det kommer til reduktion af affald og forurening samt fokus på cirkulære produkter og materialer.</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598462"/>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da-DK" sz="824" b="1" noProof="0">
                          <a:solidFill>
                            <a:schemeClr val="tx2"/>
                          </a:solidFill>
                        </a:rPr>
                        <a:t xml:space="preserve">Beskrivelse af, hvordan virksomheden arbejder med principper fra cirkulær økonomi </a:t>
                      </a:r>
                      <a:r>
                        <a:rPr lang="da-DK" sz="824" b="0" noProof="0">
                          <a:solidFill>
                            <a:schemeClr val="tx2"/>
                          </a:solidFill>
                        </a:rPr>
                        <a:t xml:space="preserve">(pkt. 38 fortsat)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da-DK" sz="824" b="0" kern="1200" noProof="0">
                          <a:solidFill>
                            <a:schemeClr val="accent2"/>
                          </a:solidFill>
                          <a:latin typeface="+mn-lt"/>
                          <a:ea typeface="+mn-ea"/>
                          <a:cs typeface="+mn-cs"/>
                        </a:rPr>
                        <a:t>{{</a:t>
                      </a:r>
                      <a:r>
                        <a:rPr lang="da-DK" sz="824" b="0" kern="1200" noProof="0">
                          <a:solidFill>
                            <a:schemeClr val="accent2"/>
                          </a:solidFill>
                          <a:latin typeface="+mn-lt"/>
                          <a:ea typeface="+mn-ea"/>
                          <a:cs typeface="+mn-cs"/>
                        </a:rPr>
                        <a:t>description_of_circular_economies</a:t>
                      </a:r>
                      <a:r>
                        <a:rPr lang="da-DK" sz="824" b="0" kern="1200" noProof="0">
                          <a:solidFill>
                            <a:schemeClr val="accent2"/>
                          </a:solidFill>
                          <a:latin typeface="+mn-lt"/>
                          <a:ea typeface="+mn-ea"/>
                          <a:cs typeface="+mn-cs"/>
                        </a:rPr>
                        <a:t>}}</a:t>
                      </a:r>
                    </a:p>
                    <a:p>
                      <a:pPr algn="l"/>
                      <a:endParaRPr lang="da-DK" sz="824" b="0" kern="1200" noProof="0" dirty="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da-DK" noProof="0" smtClean="0"/>
              <a:pPr/>
              <a:t>6</a:t>
            </a:fld>
            <a:endParaRPr lang="da-DK"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Ressourceforbrug, cirkulær økonomi og affaldshåndtering (B7) – fortsat</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da-DK" sz="975" b="1" noProof="0">
                          <a:solidFill>
                            <a:schemeClr val="tx2"/>
                          </a:solidFill>
                        </a:rPr>
                        <a:t xml:space="preserve">Samlet mængde affald årligt</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86343">
                <a:tc>
                  <a:txBody>
                    <a:bodyPr/>
                    <a:lstStyle/>
                    <a:p>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75" b="1" noProof="0">
                          <a:solidFill>
                            <a:schemeClr val="tx2"/>
                          </a:solidFill>
                        </a:rPr>
                        <a:t xml:space="preserve">Samlet mængde affald </a:t>
                      </a:r>
                      <a:r>
                        <a:rPr lang="da-DK" sz="975" b="0" noProof="0">
                          <a:solidFill>
                            <a:schemeClr val="tx2"/>
                          </a:solidFill>
                        </a:rPr>
                        <a:t xml:space="preserve">(pkt.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75" b="1" noProof="0">
                          <a:solidFill>
                            <a:schemeClr val="tx2"/>
                          </a:solidFill>
                        </a:rPr>
                        <a:t xml:space="preserve">Affald der omdirigeres til genanvendelse eller forberedelse mhp. genbrug </a:t>
                      </a:r>
                      <a:r>
                        <a:rPr lang="da-DK" sz="975" b="0" noProof="0">
                          <a:solidFill>
                            <a:schemeClr val="tx2"/>
                          </a:solidFill>
                        </a:rPr>
                        <a:t xml:space="preserve">(pkt.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Ikke-farligt affald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buNone/>
                      </a:pPr>
                      <a:r>
                        <a:rPr lang="da-DK" sz="975" b="0" i="0" u="none" strike="noStrike" noProof="0">
                          <a:solidFill>
                            <a:srgbClr val="2D55FF"/>
                          </a:solidFill>
                          <a:effectLst/>
                          <a:latin typeface="Inter"/>
                        </a:rPr>
                        <a:t>{{Type_af_affald}}</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{{kg_tons_total}}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nter"/>
                        </a:rPr>
                        <a:t>{{genbrug_kg_tons}}</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da-DK" sz="975" b="1" noProof="0">
                          <a:solidFill>
                            <a:schemeClr val="tx2"/>
                          </a:solidFill>
                        </a:rPr>
                        <a:t xml:space="preserve">Farligt affald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buNone/>
                      </a:pPr>
                      <a:r>
                        <a:rPr lang="da-DK" sz="975" b="0" i="0" u="none" strike="noStrike" noProof="0">
                          <a:solidFill>
                            <a:srgbClr val="2D55FF"/>
                          </a:solidFill>
                          <a:effectLst/>
                          <a:latin typeface="Inter"/>
                        </a:rPr>
                        <a:t>{{Type_af_affald_farlig}}</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{{farlig_kg_tons}}</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farlig_genbrug_kg_tons</a:t>
                      </a:r>
                      <a:r>
                        <a:rPr lang="da-DK" sz="975" b="0" i="0" u="none" strike="noStrike" noProof="0">
                          <a:solidFill>
                            <a:srgbClr val="2D55FF"/>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7</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lang="da-DK"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da-DK" sz="975" b="1" noProof="0">
                          <a:solidFill>
                            <a:schemeClr val="tx2"/>
                          </a:solidFill>
                        </a:rPr>
                        <a:t xml:space="preserve">Væsentlige materialer </a:t>
                      </a:r>
                      <a:r>
                        <a:rPr lang="da-DK" sz="975" b="0" noProof="0">
                          <a:solidFill>
                            <a:schemeClr val="tx2"/>
                          </a:solidFill>
                        </a:rPr>
                        <a:t xml:space="preserve">(pkt.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75" b="1" noProof="0">
                          <a:solidFill>
                            <a:schemeClr val="tx2"/>
                          </a:solidFill>
                        </a:rPr>
                        <a:t xml:space="preserve">Årligt masse-flow </a:t>
                      </a:r>
                      <a:r>
                        <a:rPr lang="da-DK" sz="975" b="1" noProof="0">
                          <a:solidFill>
                            <a:schemeClr val="accent2"/>
                          </a:solidFill>
                        </a:rPr>
                        <a:t>{{insert_year}}</a:t>
                      </a: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r>
                        <a:rPr lang="da-DK" sz="975" b="0" i="0" u="none" strike="noStrike" noProof="0">
                          <a:solidFill>
                            <a:srgbClr val="2D55FF"/>
                          </a:solidFill>
                          <a:latin typeface="Inter"/>
                        </a:rPr>
                        <a:t>{{significant_material}}</a:t>
                      </a:r>
                      <a:endParaRPr lang="da-DK" sz="975" b="0" noProof="0">
                        <a:solidFill>
                          <a:schemeClr val="accent2"/>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975" b="0" i="0" u="none" strike="noStrike" noProof="0">
                          <a:solidFill>
                            <a:srgbClr val="2D55FF"/>
                          </a:solidFill>
                          <a:latin typeface="Inter"/>
                        </a:rPr>
                        <a:t>{{</a:t>
                      </a:r>
                      <a:r>
                        <a:rPr lang="da-DK" sz="975" b="0" i="0" u="none" strike="noStrike" noProof="0">
                          <a:solidFill>
                            <a:srgbClr val="2D55FF"/>
                          </a:solidFill>
                          <a:latin typeface="Inter"/>
                        </a:rPr>
                        <a:t>significant_material_unit</a:t>
                      </a:r>
                      <a:r>
                        <a:rPr lang="da-DK" sz="975" b="0" i="0" u="none" strike="noStrike" noProof="0">
                          <a:solidFill>
                            <a:srgbClr val="2D55FF"/>
                          </a:solidFill>
                          <a:latin typeface="Inter"/>
                        </a:rPr>
                        <a:t>}}</a:t>
                      </a:r>
                      <a:endParaRPr lang="da-DK"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Egen arbejdsstyrke: Generelle karakteristika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63732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385185">
                <a:tc>
                  <a:txBody>
                    <a:bodyPr/>
                    <a:lstStyle/>
                    <a:p>
                      <a:r>
                        <a:rPr lang="da-DK" sz="975" b="1" noProof="0">
                          <a:solidFill>
                            <a:schemeClr val="tx2"/>
                          </a:solidFill>
                        </a:rPr>
                        <a:t xml:space="preserve">Kontrakttype </a:t>
                      </a:r>
                      <a:r>
                        <a:rPr lang="da-DK" sz="975" b="0" noProof="0">
                          <a:solidFill>
                            <a:schemeClr val="tx2"/>
                          </a:solidFill>
                        </a:rPr>
                        <a:t xml:space="preserve">(pkt.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rPr>
                        <a:t xml:space="preserve">Antal ansatte (antal personer eller fuldtidsækvivalenter)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85185">
                <a:tc>
                  <a:txBody>
                    <a:bodyPr/>
                    <a:lstStyle/>
                    <a:p>
                      <a:r>
                        <a:rPr lang="da-DK" sz="975" b="0" noProof="0">
                          <a:solidFill>
                            <a:schemeClr val="tx2"/>
                          </a:solidFill>
                        </a:rPr>
                        <a:t xml:space="preserve">Midlertidig ansættelse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{{temporary}}</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5185">
                <a:tc>
                  <a:txBody>
                    <a:bodyPr/>
                    <a:lstStyle/>
                    <a:p>
                      <a:r>
                        <a:rPr lang="da-DK" sz="975" b="0" noProof="0">
                          <a:solidFill>
                            <a:schemeClr val="tx2"/>
                          </a:solidFill>
                        </a:rPr>
                        <a:t xml:space="preserve">Fastansættelse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{{fulltime}}</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85185">
                <a:tc>
                  <a:txBody>
                    <a:bodyPr/>
                    <a:lstStyle/>
                    <a:p>
                      <a:r>
                        <a:rPr lang="da-DK" sz="975" b="0" noProof="0">
                          <a:solidFill>
                            <a:schemeClr val="tx2"/>
                          </a:solidFill>
                        </a:rPr>
                        <a:t xml:space="preserve">Totalt antal ansatte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{{total_employees}}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681718"/>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239990">
                <a:tc>
                  <a:txBody>
                    <a:bodyPr/>
                    <a:lstStyle/>
                    <a:p>
                      <a:r>
                        <a:rPr lang="da-DK" sz="975" b="1" noProof="0">
                          <a:solidFill>
                            <a:schemeClr val="tx2"/>
                          </a:solidFill>
                          <a:latin typeface="+mn-lt"/>
                        </a:rPr>
                        <a:t xml:space="preserve">Køn</a:t>
                      </a:r>
                      <a:r>
                        <a:rPr lang="da-DK" sz="975" b="0" noProof="0">
                          <a:solidFill>
                            <a:schemeClr val="tx2"/>
                          </a:solidFill>
                          <a:latin typeface="+mn-lt"/>
                        </a:rPr>
                        <a:t xml:space="preserve"> (pkt.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latin typeface="+mn-lt"/>
                        </a:rPr>
                        <a:t xml:space="preserve">Antal ansatte (antal personer eller fuldtidsækvivalenter)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a-DK" sz="975" b="0" noProof="0">
                          <a:solidFill>
                            <a:schemeClr val="tx2"/>
                          </a:solidFill>
                          <a:latin typeface="+mn-lt"/>
                        </a:rPr>
                        <a:t xml:space="preserve">Mand</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{{men}}</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a-DK" sz="975" b="0" noProof="0">
                          <a:solidFill>
                            <a:schemeClr val="tx2"/>
                          </a:solidFill>
                          <a:latin typeface="+mn-lt"/>
                        </a:rPr>
                        <a:t xml:space="preserve">Kvinde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{{women}}</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da-DK" sz="975" b="0" noProof="0">
                          <a:solidFill>
                            <a:schemeClr val="tx2"/>
                          </a:solidFill>
                          <a:latin typeface="+mn-lt"/>
                        </a:rPr>
                        <a:t xml:space="preserve">Andet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{{others}}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da-DK" sz="975" b="0" noProof="0">
                          <a:solidFill>
                            <a:schemeClr val="tx2"/>
                          </a:solidFill>
                          <a:latin typeface="+mn-lt"/>
                        </a:rPr>
                        <a:t xml:space="preserve">Ikke registreret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{{not_registeret}}</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da-DK" sz="975" b="0" noProof="0">
                          <a:solidFill>
                            <a:schemeClr val="tx2"/>
                          </a:solidFill>
                          <a:latin typeface="+mn-lt"/>
                        </a:rPr>
                        <a:t xml:space="preserve">Totalt antal ansatte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{{total_employees}}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8</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da-DK" sz="975" b="0" i="0" u="none" strike="noStrike" noProof="0">
                <a:solidFill>
                  <a:srgbClr val="25595D"/>
                </a:solidFill>
                <a:effectLst/>
                <a:latin typeface="Inter"/>
              </a:rPr>
              <a:t xml:space="preserve">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lang="da-DK" sz="975" b="0" noProof="0">
              <a:effectLst/>
              <a:latin typeface="Inter"/>
            </a:endParaRPr>
          </a:p>
          <a:p>
            <a:pPr>
              <a:buNone/>
            </a:pPr>
            <a:br>
              <a:rPr lang="da-DK" sz="975" noProof="0">
                <a:latin typeface="Inter"/>
              </a:rPr>
            </a:br>
            <a:endParaRPr lang="da-DK"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da-DK" sz="975" b="1" noProof="0">
                          <a:solidFill>
                            <a:schemeClr val="tx2"/>
                          </a:solidFill>
                        </a:rPr>
                        <a:t xml:space="preserve">Land (hvor ansættelseskontrakten er indgået) </a:t>
                      </a:r>
                      <a:r>
                        <a:rPr lang="da-DK" sz="975" b="0" noProof="0">
                          <a:solidFill>
                            <a:schemeClr val="tx2"/>
                          </a:solidFill>
                        </a:rPr>
                        <a:t xml:space="preserve">(pkt.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rPr>
                        <a:t xml:space="preserve">Antal ansatte (antal personer eller fuldtidsækvivalenter)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a-DK" sz="975" b="0" noProof="0">
                          <a:solidFill>
                            <a:schemeClr val="tx2"/>
                          </a:solidFill>
                        </a:rPr>
                        <a:t xml:space="preserve">Danmark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975" b="0" i="0" u="none" strike="noStrike" noProof="0">
                          <a:solidFill>
                            <a:srgbClr val="2D55FF"/>
                          </a:solidFill>
                          <a:effectLst/>
                          <a:latin typeface="Inter"/>
                        </a:rPr>
                        <a:t>{{Denmark}}</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buNone/>
                      </a:pPr>
                      <a:r>
                        <a:rPr lang="da-DK" sz="975" b="0" i="0" u="none" strike="noStrike" noProof="0">
                          <a:solidFill>
                            <a:srgbClr val="2D55FF"/>
                          </a:solidFill>
                          <a:effectLst/>
                          <a:latin typeface="Inter"/>
                        </a:rPr>
                        <a:t>{{Land_b}}</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buNone/>
                      </a:pPr>
                      <a:r>
                        <a:rPr lang="da-DK" sz="975" b="0" i="0" u="none" strike="noStrike" noProof="0">
                          <a:solidFill>
                            <a:srgbClr val="2D55FF"/>
                          </a:solidFill>
                          <a:effectLst/>
                          <a:latin typeface="Inter"/>
                        </a:rPr>
                        <a:t>{{</a:t>
                      </a:r>
                      <a:r>
                        <a:rPr lang="da-DK" sz="975" b="0" i="0" u="none" strike="noStrike" noProof="0">
                          <a:solidFill>
                            <a:srgbClr val="2D55FF"/>
                          </a:solidFill>
                          <a:effectLst/>
                        </a:rPr>
                        <a:t>FTE_eller_antal_personer_land_b</a:t>
                      </a:r>
                      <a:r>
                        <a:rPr lang="da-DK" sz="975" b="0" i="0" u="none" strike="noStrike" noProof="0">
                          <a:solidFill>
                            <a:srgbClr val="2D55FF"/>
                          </a:solidFill>
                          <a:effectLst/>
                          <a:latin typeface="Inter"/>
                        </a:rPr>
                        <a:t>}}</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a-DK" sz="975" b="0" noProof="0">
                          <a:solidFill>
                            <a:schemeClr val="tx2"/>
                          </a:solidFill>
                        </a:rPr>
                        <a:t xml:space="preserve">Totalt antal ansatte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975" b="0" i="0" u="none" strike="noStrike" noProof="0">
                          <a:solidFill>
                            <a:srgbClr val="2D55FF"/>
                          </a:solidFill>
                          <a:effectLst/>
                          <a:latin typeface="Inter"/>
                        </a:rPr>
                        <a:t>{{Total_out_of_countries}}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a:t xml:space="preserve">Egen arbejdsstyrke: Vederlag, overenskomster og uddannelse (B10)</a:t>
            </a:r>
            <a:endParaRPr lang="da-DK"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11536"/>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4745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Lønforskel mellem mandlige og kvindelige ansatte </a:t>
                      </a:r>
                      <a:r>
                        <a:rPr lang="da-DK" sz="975" b="0" noProof="0">
                          <a:solidFill>
                            <a:schemeClr val="tx2"/>
                          </a:solidFill>
                        </a:rPr>
                        <a:t xml:space="preserve">(pkt.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Year</a:t>
                      </a:r>
                      <a:r>
                        <a:rPr lang="da-DK" sz="975" b="1" noProof="0">
                          <a:solidFill>
                            <a:schemeClr val="accent2"/>
                          </a:solidFill>
                          <a:latin typeface="Calibri" panose="020F0502020204030204" pitchFamily="34" charset="0"/>
                          <a:cs typeface="Calibri" panose="020F0502020204030204" pitchFamily="34" charset="0"/>
                        </a:rPr>
                        <a:t> </a:t>
                      </a:r>
                      <a:r>
                        <a:rPr lang="da-DK" sz="975" b="1" noProof="0">
                          <a:solidFill>
                            <a:schemeClr val="accent2"/>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077">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975" b="0" noProof="0">
                          <a:solidFill>
                            <a:schemeClr val="accent2"/>
                          </a:solidFill>
                        </a:rPr>
                        <a:t>{{</a:t>
                      </a:r>
                      <a:r>
                        <a:rPr lang="da-DK" sz="975" b="0" noProof="0">
                          <a:solidFill>
                            <a:schemeClr val="accent2"/>
                          </a:solidFill>
                        </a:rPr>
                        <a:t>indsat_procentvise_lonforskel</a:t>
                      </a:r>
                      <a:r>
                        <a:rPr lang="da-DK" sz="975" b="0" noProof="0">
                          <a:solidFill>
                            <a:schemeClr val="accent2"/>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11536"/>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172070">
                <a:tc>
                  <a:txBody>
                    <a:bodyPr/>
                    <a:lstStyle/>
                    <a:p>
                      <a:r>
                        <a:rPr lang="da-DK" sz="975" b="1" noProof="0">
                          <a:solidFill>
                            <a:schemeClr val="tx2"/>
                          </a:solidFill>
                        </a:rPr>
                        <a:t xml:space="preserve">Oplysninger om minimumsløn </a:t>
                      </a:r>
                      <a:r>
                        <a:rPr lang="da-DK"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75"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75" b="1" noProof="0">
                          <a:solidFill>
                            <a:schemeClr val="tx2"/>
                          </a:solidFill>
                        </a:rPr>
                        <a:t xml:space="preserve">Nej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418994">
                <a:tc>
                  <a:txBody>
                    <a:bodyPr/>
                    <a:lstStyle/>
                    <a:p>
                      <a:r>
                        <a:rPr lang="da-DK" sz="975" b="0" noProof="0">
                          <a:solidFill>
                            <a:schemeClr val="tx2"/>
                          </a:solidFill>
                        </a:rPr>
                        <a:t xml:space="preserve">I virksomheden modtager alle ansatte en løn, der som minimum er på niveau med minimumslønnen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975" b="0" i="0" u="none" strike="noStrike" noProof="0">
                          <a:solidFill>
                            <a:srgbClr val="2D55FF"/>
                          </a:solidFill>
                          <a:effectLst/>
                          <a:latin typeface="Inter"/>
                        </a:rPr>
                        <a:t>{{minumum_wage_yes?}}</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975" b="0" i="0" u="none" strike="noStrike" noProof="0">
                          <a:solidFill>
                            <a:srgbClr val="2D55FF"/>
                          </a:solidFill>
                          <a:effectLst/>
                          <a:latin typeface="Inter"/>
                        </a:rPr>
                        <a:t>{{minimum_wage_no?}}</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59989"/>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Kollektiv overenskomst </a:t>
                      </a:r>
                      <a:r>
                        <a:rPr lang="da-DK" sz="975" b="0" noProof="0">
                          <a:solidFill>
                            <a:schemeClr val="tx2"/>
                          </a:solidFill>
                        </a:rPr>
                        <a:t xml:space="preserve">(pkt.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Year</a:t>
                      </a:r>
                      <a:r>
                        <a:rPr lang="da-DK" sz="975" b="1" noProof="0">
                          <a:solidFill>
                            <a:schemeClr val="accent2"/>
                          </a:solidFill>
                          <a:latin typeface="Calibri" panose="020F0502020204030204" pitchFamily="34" charset="0"/>
                          <a:cs typeface="Calibri" panose="020F0502020204030204" pitchFamily="34" charset="0"/>
                        </a:rPr>
                        <a:t> {{insert_year}}</a:t>
                      </a:r>
                      <a:endParaRPr lang="da-DK" sz="975" b="1"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178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noProof="0">
                          <a:solidFill>
                            <a:schemeClr val="tx2"/>
                          </a:solidFill>
                        </a:rPr>
                        <a:t xml:space="preserve">Procentvis ansatte, der er dækket af en kollektiv overenskomst</a:t>
                      </a:r>
                      <a:endParaRPr kumimoji="0" lang="da-DK" sz="975" b="0" i="0" u="none" strike="noStrike" kern="1200" cap="none" spc="0" normalizeH="0" baseline="0" noProof="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975" b="0" i="0" u="none" strike="noStrike" kern="1200" cap="none" spc="0" normalizeH="0" baseline="0" noProof="0">
                          <a:ln>
                            <a:noFill/>
                          </a:ln>
                          <a:solidFill>
                            <a:srgbClr val="2D55FF"/>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5998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395290">
                <a:tc>
                  <a:txBody>
                    <a:bodyPr/>
                    <a:lstStyle/>
                    <a:p>
                      <a:r>
                        <a:rPr lang="da-DK" sz="975" b="1" noProof="0">
                          <a:solidFill>
                            <a:schemeClr val="tx2"/>
                          </a:solidFill>
                        </a:rPr>
                        <a:t xml:space="preserve">Uddannelsestimer i gennemsnit pr. ansat </a:t>
                      </a:r>
                      <a:r>
                        <a:rPr lang="da-DK" sz="975" b="0" noProof="0">
                          <a:solidFill>
                            <a:schemeClr val="tx2"/>
                          </a:solidFill>
                        </a:rPr>
                        <a:t xml:space="preserve">(pkt.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Year</a:t>
                      </a:r>
                      <a:r>
                        <a:rPr lang="da-DK" sz="975" b="1" noProof="0">
                          <a:solidFill>
                            <a:schemeClr val="accent2"/>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64699">
                <a:tc>
                  <a:txBody>
                    <a:bodyPr/>
                    <a:lstStyle/>
                    <a:p>
                      <a:r>
                        <a:rPr lang="da-DK" sz="975" b="0" noProof="0">
                          <a:solidFill>
                            <a:schemeClr val="tx2"/>
                          </a:solidFill>
                        </a:rPr>
                        <a:t xml:space="preserve">Time(r) pr. ansat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gennemsnitstimer</a:t>
                      </a:r>
                      <a:r>
                        <a:rPr lang="da-DK" sz="975" b="0" i="0" u="none" strike="noStrike" noProof="0">
                          <a:solidFill>
                            <a:srgbClr val="2D55FF"/>
                          </a:solidFill>
                          <a:effectLst/>
                          <a:latin typeface="Inter"/>
                        </a:rPr>
                        <a:t>}}</a:t>
                      </a:r>
                      <a:endParaRPr lang="da-DK"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p>
          <a:p>
            <a:pPr>
              <a:buNone/>
            </a:pPr>
            <a:br>
              <a:rPr lang="da-DK" sz="975" noProof="0">
                <a:solidFill>
                  <a:schemeClr val="tx2"/>
                </a:solidFill>
                <a:latin typeface="Inter"/>
              </a:rPr>
            </a:br>
            <a:endParaRPr lang="da-DK"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Virksomhedsadfærd: Antal domme og bøder i relation til korruption &amp; bestikkelse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da-DK" sz="975" b="1" noProof="0">
                          <a:solidFill>
                            <a:schemeClr val="tx2"/>
                          </a:solidFill>
                        </a:rPr>
                        <a:t xml:space="preserve">Korruption og bestikkelse </a:t>
                      </a:r>
                      <a:r>
                        <a:rPr lang="da-DK" sz="975" b="0" noProof="0">
                          <a:solidFill>
                            <a:schemeClr val="tx2"/>
                          </a:solidFill>
                        </a:rPr>
                        <a:t xml:space="preserve">(pkt.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975" b="1" noProof="0">
                          <a:solidFill>
                            <a:schemeClr val="tx2"/>
                          </a:solidFill>
                        </a:rPr>
                        <a:t xml:space="preserve">Antal domme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75" b="1" noProof="0">
                          <a:solidFill>
                            <a:schemeClr val="tx2"/>
                          </a:solidFill>
                        </a:rPr>
                        <a:t xml:space="preserve">Samlede bødestørrelse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da-DK" sz="725"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975" b="0" i="0" u="none" strike="noStrike" noProof="0">
                          <a:solidFill>
                            <a:srgbClr val="2D55FF"/>
                          </a:solidFill>
                          <a:effectLst/>
                          <a:latin typeface="Inter"/>
                        </a:rPr>
                        <a:t>{{domme}}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ctr" rtl="0" fontAlgn="ctr">
                        <a:buNone/>
                      </a:pPr>
                      <a:r>
                        <a:rPr lang="da-DK" sz="975" b="0" i="0" u="none" strike="noStrike" noProof="0">
                          <a:solidFill>
                            <a:srgbClr val="2D55FF"/>
                          </a:solidFill>
                          <a:effectLst/>
                          <a:latin typeface="Inter"/>
                        </a:rPr>
                        <a:t>{{samlet_bodestorrelse}}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9</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overtrædelser af anti-korruptions- og anti-bestikkelseslove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lang="da-DK" sz="975" b="0" noProof="0">
              <a:solidFill>
                <a:schemeClr val="tx2"/>
              </a:solidFill>
              <a:effectLst/>
              <a:latin typeface="Inter"/>
            </a:endParaRPr>
          </a:p>
          <a:p>
            <a:pPr>
              <a:buNone/>
            </a:pPr>
            <a:br>
              <a:rPr lang="da-DK" sz="975" noProof="0">
                <a:solidFill>
                  <a:schemeClr val="tx2"/>
                </a:solidFill>
                <a:latin typeface="Inter"/>
              </a:rPr>
            </a:br>
            <a:endParaRPr lang="da-DK"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da-DK" sz="3325" b="1" noProof="0"/>
              <a:t xml:space="preserve">Oplysningspunkter i Udvidet Modul</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a-DK" noProof="0" smtClean="0"/>
              <a:pPr/>
              <a:t>10</a:t>
            </a:fld>
            <a:endParaRPr lang="da-DK"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da-DK" sz="1475" b="1" i="0" u="none" strike="noStrike" kern="1200" spc="-10" noProof="0">
                <a:solidFill>
                  <a:srgbClr val="1B4528"/>
                </a:solidFill>
                <a:effectLst/>
                <a:latin typeface="IBM Plex Sans" panose="020B0503050203000203" pitchFamily="34" charset="0"/>
              </a:rPr>
              <a:t xml:space="preserve">Strategi: Forretningsmodel og bæredygtighedsrelaterede initiativer (C1)</a:t>
            </a:r>
            <a:endParaRPr lang="da-DK"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11</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da-DK" sz="975" b="1" noProof="0">
                          <a:solidFill>
                            <a:schemeClr val="tx2"/>
                          </a:solidFill>
                        </a:rPr>
                        <a:t xml:space="preserve">Beskrivelse af væsentlige grupper af produkter og/eller tjenesteydelser, som </a:t>
                      </a:r>
                      <a:r>
                        <a:rPr lang="da-DK" sz="975" b="1" kern="1200" noProof="0">
                          <a:solidFill>
                            <a:schemeClr val="accent2"/>
                          </a:solidFill>
                          <a:latin typeface="+mn-lt"/>
                          <a:ea typeface="+mn-ea"/>
                          <a:cs typeface="+mn-cs"/>
                        </a:rPr>
                        <a:t>{{company_name}} </a:t>
                      </a:r>
                      <a:r>
                        <a:rPr lang="da-DK" sz="975" b="1" kern="1200" noProof="0">
                          <a:solidFill>
                            <a:schemeClr val="tx2"/>
                          </a:solidFill>
                          <a:latin typeface="+mn-lt"/>
                          <a:ea typeface="+mn-ea"/>
                          <a:cs typeface="+mn-cs"/>
                        </a:rPr>
                        <a:t xml:space="preserve">tilbyder</a:t>
                      </a:r>
                      <a:r>
                        <a:rPr lang="da-DK" sz="975" b="1" noProof="0">
                          <a:solidFill>
                            <a:schemeClr val="tx2"/>
                          </a:solidFill>
                        </a:rPr>
                        <a:t> </a:t>
                      </a:r>
                      <a:r>
                        <a:rPr lang="da-DK" sz="975" b="0" noProof="0">
                          <a:solidFill>
                            <a:schemeClr val="tx2"/>
                          </a:solidFill>
                        </a:rPr>
                        <a:t xml:space="preserve">(pkt.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da-DK" sz="975" b="0" noProof="0">
                          <a:solidFill>
                            <a:schemeClr val="accent2"/>
                          </a:solidFill>
                        </a:rPr>
                        <a:t>{{markets_description}}</a:t>
                      </a:r>
                      <a:endParaRPr lang="da-DK"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da-DK" sz="975" b="1" noProof="0">
                          <a:solidFill>
                            <a:schemeClr val="tx2"/>
                          </a:solidFill>
                        </a:rPr>
                        <a:t xml:space="preserve">Beskrivelse af de væsentlige markeder, som </a:t>
                      </a:r>
                      <a:r>
                        <a:rPr lang="da-DK" sz="975" b="1" kern="1200" noProof="0">
                          <a:solidFill>
                            <a:schemeClr val="accent2"/>
                          </a:solidFill>
                          <a:latin typeface="+mn-lt"/>
                          <a:ea typeface="+mn-ea"/>
                          <a:cs typeface="+mn-cs"/>
                        </a:rPr>
                        <a:t>{{company_name}} </a:t>
                      </a:r>
                      <a:r>
                        <a:rPr lang="da-DK" sz="975" b="1" noProof="0">
                          <a:solidFill>
                            <a:schemeClr val="tx2"/>
                          </a:solidFill>
                        </a:rPr>
                        <a:t xml:space="preserve">arbejder med </a:t>
                      </a:r>
                      <a:r>
                        <a:rPr lang="da-DK" sz="975" b="0" noProof="0">
                          <a:solidFill>
                            <a:schemeClr val="tx2"/>
                          </a:solidFill>
                        </a:rPr>
                        <a:t xml:space="preserve">(pkt.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da-DK" sz="975" b="0" noProof="0">
                          <a:solidFill>
                            <a:schemeClr val="accent2"/>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da-DK" sz="975" b="1" noProof="0">
                          <a:solidFill>
                            <a:schemeClr val="tx2"/>
                          </a:solidFill>
                        </a:rPr>
                        <a:t xml:space="preserve">Beskrivelse af </a:t>
                      </a:r>
                      <a:r>
                        <a:rPr lang="da-DK" sz="975" b="1" kern="1200" noProof="0">
                          <a:solidFill>
                            <a:schemeClr val="accent2"/>
                          </a:solidFill>
                          <a:latin typeface="+mn-lt"/>
                          <a:ea typeface="+mn-ea"/>
                          <a:cs typeface="+mn-cs"/>
                        </a:rPr>
                        <a:t>{{company_name}}</a:t>
                      </a:r>
                      <a:r>
                        <a:rPr lang="da-DK" sz="975" b="1" kern="1200" noProof="0">
                          <a:solidFill>
                            <a:schemeClr val="accent1"/>
                          </a:solidFill>
                          <a:latin typeface="+mn-lt"/>
                          <a:ea typeface="+mn-ea"/>
                          <a:cs typeface="+mn-cs"/>
                        </a:rPr>
                        <a:t>’s</a:t>
                      </a:r>
                      <a:r>
                        <a:rPr lang="da-DK" sz="975" b="1" kern="1200" noProof="0">
                          <a:solidFill>
                            <a:schemeClr val="accent2"/>
                          </a:solidFill>
                          <a:latin typeface="+mn-lt"/>
                          <a:ea typeface="+mn-ea"/>
                          <a:cs typeface="+mn-cs"/>
                        </a:rPr>
                        <a:t> </a:t>
                      </a:r>
                      <a:r>
                        <a:rPr lang="da-DK" sz="975" b="1" noProof="0">
                          <a:solidFill>
                            <a:schemeClr val="tx2"/>
                          </a:solidFill>
                        </a:rPr>
                        <a:t xml:space="preserve">primære forretningsforbindelser </a:t>
                      </a:r>
                      <a:r>
                        <a:rPr lang="da-DK" sz="975" b="0" noProof="0">
                          <a:solidFill>
                            <a:schemeClr val="tx2"/>
                          </a:solidFill>
                        </a:rPr>
                        <a:t xml:space="preserve">(pkt.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da-DK" sz="975" b="0" noProof="0">
                          <a:solidFill>
                            <a:schemeClr val="accent2"/>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da-DK" sz="975" b="1" noProof="0">
                          <a:solidFill>
                            <a:schemeClr val="tx2"/>
                          </a:solidFill>
                        </a:rPr>
                        <a:t xml:space="preserve">Beskrivelse af overordnet forretningsmodel og strategi </a:t>
                      </a:r>
                      <a:r>
                        <a:rPr lang="da-DK" sz="975" b="0" noProof="0">
                          <a:solidFill>
                            <a:schemeClr val="tx2"/>
                          </a:solidFill>
                        </a:rPr>
                        <a:t xml:space="preserve">(pkt.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da-DK" sz="975" b="0" noProof="0">
                          <a:solidFill>
                            <a:schemeClr val="accent2"/>
                          </a:solidFill>
                        </a:rPr>
                        <a:t>{{products_description}}</a:t>
                      </a:r>
                    </a:p>
                    <a:p>
                      <a:pPr algn="l"/>
                      <a:endParaRPr lang="da-DK" sz="975" b="0" kern="1200" noProof="0">
                        <a:solidFill>
                          <a:schemeClr val="accent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da-DK" sz="975" b="1" noProof="0">
                          <a:solidFill>
                            <a:schemeClr val="tx2"/>
                          </a:solidFill>
                        </a:rPr>
                        <a:t xml:space="preserve">Beskrivelse af, hvor </a:t>
                      </a:r>
                      <a:r>
                        <a:rPr lang="da-DK" sz="975" b="1" kern="1200" noProof="0">
                          <a:solidFill>
                            <a:schemeClr val="accent2"/>
                          </a:solidFill>
                          <a:latin typeface="+mn-lt"/>
                          <a:ea typeface="+mn-ea"/>
                          <a:cs typeface="+mn-cs"/>
                        </a:rPr>
                        <a:t>{{company_name}}</a:t>
                      </a:r>
                      <a:r>
                        <a:rPr lang="da-DK" sz="975" b="1" kern="1200" noProof="0">
                          <a:solidFill>
                            <a:schemeClr val="accent1"/>
                          </a:solidFill>
                          <a:latin typeface="+mn-lt"/>
                          <a:ea typeface="+mn-ea"/>
                          <a:cs typeface="+mn-cs"/>
                        </a:rPr>
                        <a:t xml:space="preserve">´s strategi og forretningsmodel har bæredygtighedsrelaterede elementer</a:t>
                      </a:r>
                      <a:r>
                        <a:rPr lang="da-DK" sz="975" b="0" noProof="0">
                          <a:solidFill>
                            <a:schemeClr val="tx2"/>
                          </a:solidFill>
                        </a:rPr>
                        <a:t xml:space="preserve">(pkt.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da-DK" sz="975" b="0" noProof="0">
                          <a:solidFill>
                            <a:schemeClr val="accent2"/>
                          </a:solidFill>
                        </a:rPr>
                        <a:t>{{business_model}}</a:t>
                      </a:r>
                      <a:endParaRPr lang="da-DK"/>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beskrivelse af overordnet forretningsmodel og strategi; produkter og/eller tjenesteydelser; markeder; forretningsforbindelser samt om virksomhedens forretningsmodel har bæredygtighedsrelaterede elementer. </a:t>
            </a:r>
            <a:endParaRPr lang="da-DK"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da-DK" noProof="0">
                <a:latin typeface="+mn-lt"/>
                <a:ea typeface="+mn-ea"/>
                <a:cs typeface="+mn-cs"/>
              </a:rPr>
              <a:t xml:space="preserve">I</a:t>
            </a:r>
            <a:r>
              <a:rPr lang="da-DK" sz="1475" b="1" kern="1200" spc="-10" noProof="0">
                <a:solidFill>
                  <a:schemeClr val="tx2"/>
                </a:solidFill>
                <a:latin typeface="+mn-lt"/>
                <a:ea typeface="+mn-ea"/>
                <a:cs typeface="+mn-cs"/>
              </a:rPr>
              <a:t xml:space="preserve">ndsatser, politikker og fremtidige initiativer for omstilling til en mere bæredygtig økonomi (C2)</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12</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da-DK" sz="975" b="1" kern="1200" spc="-10" noProof="0">
                          <a:solidFill>
                            <a:schemeClr val="tx2"/>
                          </a:solidFill>
                          <a:latin typeface="+mn-lt"/>
                          <a:ea typeface="+mn-ea"/>
                          <a:cs typeface="+mn-cs"/>
                        </a:rPr>
                        <a:t xml:space="preserve">Område</a:t>
                      </a:r>
                    </a:p>
                    <a:p>
                      <a:pPr algn="l"/>
                      <a:r>
                        <a:rPr lang="da-DK" sz="975" b="0" kern="1200" spc="-10" noProof="0">
                          <a:solidFill>
                            <a:schemeClr val="tx2"/>
                          </a:solidFill>
                          <a:latin typeface="+mn-lt"/>
                          <a:ea typeface="+mn-ea"/>
                          <a:cs typeface="+mn-cs"/>
                        </a:rPr>
                        <a:t xml:space="preserve">(pkt.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975" b="1" kern="1200" spc="-10" noProof="0">
                          <a:solidFill>
                            <a:schemeClr val="tx2"/>
                          </a:solidFill>
                          <a:latin typeface="+mn-lt"/>
                          <a:ea typeface="+mn-ea"/>
                          <a:cs typeface="+mn-cs"/>
                        </a:rPr>
                        <a:t xml:space="preserve">Kort beskrivelse </a:t>
                      </a:r>
                      <a:r>
                        <a:rPr lang="da-DK" sz="975" b="1" u="none" kern="1200" spc="-10" noProof="0">
                          <a:solidFill>
                            <a:schemeClr val="tx2"/>
                          </a:solidFill>
                          <a:latin typeface="+mn-lt"/>
                          <a:ea typeface="+mn-ea"/>
                          <a:cs typeface="+mn-cs"/>
                        </a:rPr>
                        <a:t xml:space="preserve">af eksisterende </a:t>
                      </a:r>
                      <a:r>
                        <a:rPr lang="da-DK" sz="975" b="1" kern="1200" spc="-10" noProof="0">
                          <a:solidFill>
                            <a:schemeClr val="tx2"/>
                          </a:solidFill>
                          <a:latin typeface="+mn-lt"/>
                          <a:ea typeface="+mn-ea"/>
                          <a:cs typeface="+mn-cs"/>
                        </a:rPr>
                        <a:t xml:space="preserve">indsatser/politikker/handlinger (jf. oplysningspunkt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975" b="1" kern="1200" spc="-10" noProof="0">
                          <a:solidFill>
                            <a:schemeClr val="tx2"/>
                          </a:solidFill>
                          <a:latin typeface="+mn-lt"/>
                          <a:ea typeface="+mn-ea"/>
                          <a:cs typeface="+mn-cs"/>
                        </a:rPr>
                        <a:t xml:space="preserve">Kort beskrivelse af eventuelle </a:t>
                      </a:r>
                      <a:r>
                        <a:rPr lang="da-DK" sz="975" b="1" u="none" kern="1200" spc="-10" noProof="0">
                          <a:solidFill>
                            <a:schemeClr val="tx2"/>
                          </a:solidFill>
                          <a:latin typeface="+mn-lt"/>
                          <a:ea typeface="+mn-ea"/>
                          <a:cs typeface="+mn-cs"/>
                        </a:rPr>
                        <a:t xml:space="preserve">fremtidige</a:t>
                      </a:r>
                      <a:r>
                        <a:rPr lang="da-DK" sz="975" b="1" kern="1200" spc="-10" noProof="0">
                          <a:solidFill>
                            <a:schemeClr val="tx2"/>
                          </a:solidFill>
                          <a:latin typeface="+mn-lt"/>
                          <a:ea typeface="+mn-ea"/>
                          <a:cs typeface="+mn-cs"/>
                        </a:rPr>
                        <a:t xml:space="preserve"> målsætninger (jf. oplysningspunkt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spc="-10" noProof="0">
                          <a:solidFill>
                            <a:schemeClr val="bg1"/>
                          </a:solidFill>
                        </a:rPr>
                        <a:t xml:space="preserve">Oplysningspunktet </a:t>
                      </a:r>
                      <a:r>
                        <a:rPr lang="da-DK" sz="975" b="1" spc="-10" noProof="0">
                          <a:solidFill>
                            <a:schemeClr val="bg1"/>
                          </a:solidFill>
                        </a:rPr>
                        <a:t xml:space="preserve">er frivilligt</a:t>
                      </a:r>
                      <a:endParaRPr lang="da-DK"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da-DK"/>
                    </a:p>
                  </a:txBody>
                  <a:tcPr/>
                </a:tc>
                <a:tc vMerge="1">
                  <a:txBody>
                    <a:bodyPr/>
                    <a:lstStyle/>
                    <a:p>
                      <a:endParaRPr lang="da-DK"/>
                    </a:p>
                  </a:txBody>
                  <a:tcPr/>
                </a:tc>
                <a:tc vMerge="1">
                  <a:txBody>
                    <a:bodyPr/>
                    <a:lstStyle/>
                    <a:p>
                      <a:endParaRPr lang="da-DK"/>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Angivelse af det højeste ledelsesniveau i virksomheden, der er ansvarlig for implementeringen </a:t>
                      </a:r>
                      <a:r>
                        <a:rPr lang="da-DK" sz="975" b="0" kern="1200" spc="-10" noProof="0">
                          <a:solidFill>
                            <a:schemeClr val="tx2"/>
                          </a:solidFill>
                          <a:latin typeface="+mn-lt"/>
                          <a:ea typeface="+mn-ea"/>
                          <a:cs typeface="+mn-cs"/>
                        </a:rPr>
                        <a:t xml:space="preserve">(pkt.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da-DK" sz="975" b="1" kern="1200" spc="-10" noProof="0">
                          <a:solidFill>
                            <a:schemeClr val="tx2"/>
                          </a:solidFill>
                          <a:latin typeface="+mn-lt"/>
                          <a:ea typeface="+mn-ea"/>
                          <a:cs typeface="+mn-cs"/>
                        </a:rPr>
                        <a:t xml:space="preserve">Klimaforandringer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Climate_C2_Description_Existing_Practices</a:t>
                      </a:r>
                      <a:r>
                        <a:rPr lang="da-DK" sz="975" b="0" i="0" u="none" strike="noStrike" noProof="0">
                          <a:solidFill>
                            <a:srgbClr val="2D55FF"/>
                          </a:solidFill>
                          <a:effectLst/>
                          <a:latin typeface="Inter"/>
                        </a:rPr>
                        <a:t>}}</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Climate_C2_Future_Practices</a:t>
                      </a:r>
                      <a:r>
                        <a:rPr lang="da-DK" sz="975" b="0" i="0" u="none" strike="noStrike" noProof="0">
                          <a:solidFill>
                            <a:srgbClr val="2D55FF"/>
                          </a:solidFill>
                          <a:effectLst/>
                          <a:latin typeface="Inter"/>
                        </a:rPr>
                        <a:t>}}</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Climate_C2_Management_Level</a:t>
                      </a:r>
                      <a:r>
                        <a:rPr lang="da-DK" sz="975" b="0" i="0" u="none" strike="noStrike" noProof="0">
                          <a:solidFill>
                            <a:srgbClr val="2D55FF"/>
                          </a:solidFill>
                          <a:effectLst/>
                          <a:latin typeface="Inter"/>
                        </a:rPr>
                        <a:t>}}</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da-DK" sz="975" b="1" kern="1200" spc="-10" noProof="0">
                          <a:solidFill>
                            <a:schemeClr val="tx2"/>
                          </a:solidFill>
                          <a:latin typeface="+mn-lt"/>
                          <a:ea typeface="+mn-ea"/>
                          <a:cs typeface="+mn-cs"/>
                        </a:rPr>
                        <a:t xml:space="preserve">Forurening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Pollution_C2_Description_Existing_Practices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Pollution_C2_Future_Practices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Pollution_C2_Management_Level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da-DK" sz="975" b="1" kern="1200" spc="-10" noProof="0">
                          <a:solidFill>
                            <a:schemeClr val="tx2"/>
                          </a:solidFill>
                          <a:latin typeface="+mn-lt"/>
                          <a:ea typeface="+mn-ea"/>
                          <a:cs typeface="+mn-cs"/>
                        </a:rPr>
                        <a:t xml:space="preserve">Vand -og Havressourcer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Water_C2_Description_Existing_Practices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Water_C2_Future_Practices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BM Plex Sans"/>
                        </a:rPr>
                        <a:t>Water_C2_Management_Level</a:t>
                      </a:r>
                      <a:r>
                        <a:rPr lang="da-DK" sz="975" b="0" i="0" u="none" strike="noStrike" noProof="0">
                          <a:solidFill>
                            <a:srgbClr val="2D55FF"/>
                          </a:solidFill>
                          <a:effectLst/>
                          <a:latin typeface="Inter"/>
                        </a:rPr>
                        <a:t>}}</a:t>
                      </a:r>
                      <a:endParaRPr lang="da-DK" sz="975" b="0" i="0" u="none" strike="noStrike" noProof="0">
                        <a:solidFill>
                          <a:srgbClr val="000000"/>
                        </a:solidFill>
                        <a:effectLst/>
                        <a:latin typeface="Inter"/>
                      </a:endParaRPr>
                    </a:p>
                    <a:p>
                      <a:pPr lvl="0">
                        <a:buNone/>
                      </a:pPr>
                      <a:endParaRPr lang="da-DK" sz="975" b="0" i="0" u="none" strike="noStrike" noProof="0">
                        <a:solidFill>
                          <a:srgbClr val="2D55FF"/>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da-DK" sz="975" b="1" kern="1200" spc="-10" noProof="0">
                          <a:solidFill>
                            <a:schemeClr val="tx2"/>
                          </a:solidFill>
                          <a:latin typeface="+mn-lt"/>
                          <a:ea typeface="+mn-ea"/>
                          <a:cs typeface="+mn-cs"/>
                        </a:rPr>
                        <a:t xml:space="preserve">Biodiversitet og Økosystemer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Bio_C2_Description_Existing_Practices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Bio_C2_Future_Practices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Bio_C2_Management_Level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da-DK" sz="975" b="1" kern="1200" spc="-10" noProof="0">
                          <a:solidFill>
                            <a:schemeClr val="tx2"/>
                          </a:solidFill>
                          <a:latin typeface="+mn-lt"/>
                          <a:ea typeface="+mn-ea"/>
                          <a:cs typeface="+mn-cs"/>
                        </a:rPr>
                        <a:t xml:space="preserve">Cirkulær økonomi</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Circular_C2_Description_Existing_Practices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Circular_C2_Future_Practices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Circular_C2_Management_Level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da-DK" sz="975" b="1" kern="1200" spc="-10" noProof="0">
                          <a:solidFill>
                            <a:schemeClr val="tx2"/>
                          </a:solidFill>
                          <a:latin typeface="+mn-lt"/>
                          <a:ea typeface="+mn-ea"/>
                          <a:cs typeface="+mn-cs"/>
                        </a:rPr>
                        <a:t xml:space="preserve">Egen arbejdsstyrke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Own_Workforce_C2_Description_Existing_Practices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Own_Workforce_C2_Future_Practices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Own_Workforce_C2_Management_Level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da-DK" sz="975" b="1" kern="1200" spc="-10" noProof="0">
                          <a:solidFill>
                            <a:schemeClr val="tx2"/>
                          </a:solidFill>
                          <a:latin typeface="+mn-lt"/>
                          <a:ea typeface="+mn-ea"/>
                          <a:cs typeface="+mn-cs"/>
                        </a:rPr>
                        <a:t xml:space="preserve">Arbejdere i værdikæden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Workers_Value_Chain_C2_Description_Existing_Practices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Workers_Value_Chain_C2_Future_Practices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Workers_Value_Chain_C2_Management_Level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da-DK" sz="975" b="1" kern="1200" spc="-10" noProof="0">
                          <a:solidFill>
                            <a:schemeClr val="tx2"/>
                          </a:solidFill>
                          <a:latin typeface="+mn-lt"/>
                          <a:ea typeface="+mn-ea"/>
                          <a:cs typeface="+mn-cs"/>
                        </a:rPr>
                        <a:t xml:space="preserve">Berørte samfund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Affected_C2_Description_Existing_Practices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Affected_C2_Future_Practices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Affected_C2_Management_Level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da-DK" sz="975" b="1" kern="1200" spc="-10" noProof="0">
                          <a:solidFill>
                            <a:schemeClr val="tx2"/>
                          </a:solidFill>
                          <a:latin typeface="+mn-lt"/>
                          <a:ea typeface="+mn-ea"/>
                          <a:cs typeface="+mn-cs"/>
                        </a:rPr>
                        <a:t xml:space="preserve">Forbrugere og slutbrugere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Consumers_C2_Description_Existing_Practices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Consumers_C2_Future_Practices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Consumers_C2_Management_Level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da-DK" sz="975" b="1" kern="1200" spc="-10" noProof="0">
                          <a:solidFill>
                            <a:schemeClr val="tx2"/>
                          </a:solidFill>
                          <a:latin typeface="+mn-lt"/>
                          <a:ea typeface="+mn-ea"/>
                          <a:cs typeface="+mn-cs"/>
                        </a:rPr>
                        <a:t xml:space="preserve">Virksomhedsledelse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Governance_C2_Description_Existing_Practices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Governance_C2_Future_Practices</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buNone/>
                      </a:pPr>
                      <a:r>
                        <a:rPr lang="da-DK" sz="975" b="0" i="0" u="none" strike="noStrike" noProof="0">
                          <a:solidFill>
                            <a:srgbClr val="2D55FF"/>
                          </a:solidFill>
                          <a:effectLst/>
                          <a:latin typeface="Inter"/>
                        </a:rPr>
                        <a:t>{{</a:t>
                      </a:r>
                      <a:r>
                        <a:rPr lang="da-DK" sz="975" b="0" i="0" u="none" strike="noStrike" noProof="0">
                          <a:solidFill>
                            <a:srgbClr val="2D55FF"/>
                          </a:solidFill>
                          <a:effectLst/>
                        </a:rPr>
                        <a:t>Governance_C2_Management_Level</a:t>
                      </a:r>
                      <a:r>
                        <a:rPr lang="da-DK" sz="975" b="0" i="0" u="none" strike="noStrike" noProof="0">
                          <a:solidFill>
                            <a:srgbClr val="2D55FF"/>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da-DK" sz="975" noProof="0">
                <a:solidFill>
                  <a:schemeClr val="tx2"/>
                </a:solidFill>
              </a:rPr>
              <a:t xml:space="preserve">Nedenstående tabel er udfyldt, da virksomheden allerede har iværksat konkrete indsatser, politikker eller initiativer, der bidrager til omstillingen mod en mere bæredygtig økonomi. Virksomheden har svaret ”JA” til et eller flere oplysningspunkter under B2 i Basismodulet. Nedenstående angiver et mere fyldestgørende svar på politikker, initiativer og indsatser som er igangsat for omstilling til en mere bæredygtig økonomi i virksomheden</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da-DK" noProof="0">
                <a:solidFill>
                  <a:srgbClr val="1B4528"/>
                </a:solidFill>
                <a:latin typeface="IBM Plex Sans" panose="020B0503050203000203" pitchFamily="34" charset="0"/>
              </a:rPr>
              <a:t xml:space="preserve">CO₂e-udledning under B3 i Basismodulet</a:t>
            </a:r>
            <a:endParaRPr lang="da-DK"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13</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da-DK" sz="975" b="1" kern="1200" spc="-10" noProof="0">
                          <a:solidFill>
                            <a:schemeClr val="tx2"/>
                          </a:solidFill>
                          <a:latin typeface="+mn-lt"/>
                          <a:ea typeface="+mn-ea"/>
                          <a:cs typeface="+mn-cs"/>
                        </a:rPr>
                        <a:t xml:space="preserve">CO₂e-reduktionsmål </a:t>
                      </a:r>
                      <a:r>
                        <a:rPr lang="da-DK" sz="975" b="0" kern="1200" spc="-10" noProof="0">
                          <a:solidFill>
                            <a:schemeClr val="tx2"/>
                          </a:solidFill>
                          <a:latin typeface="+mn-lt"/>
                          <a:ea typeface="+mn-ea"/>
                          <a:cs typeface="+mn-cs"/>
                        </a:rPr>
                        <a:t xml:space="preserve">(pkt.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da-DK"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Reduktionsmål i år </a:t>
                      </a:r>
                      <a:r>
                        <a:rPr lang="da-DK" sz="975" b="1" kern="1200" spc="-10" noProof="0">
                          <a:solidFill>
                            <a:schemeClr val="accent2"/>
                          </a:solidFill>
                          <a:latin typeface="+mn-lt"/>
                          <a:ea typeface="+mn-ea"/>
                          <a:cs typeface="+mn-cs"/>
                        </a:rPr>
                        <a:t>{{baseline_year-1}}</a:t>
                      </a:r>
                      <a:endParaRPr lang="da-DK" sz="975" b="0" kern="1200" spc="-10" noProof="0">
                        <a:solidFill>
                          <a:schemeClr val="accent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CO₂e-udledning i baselineår:</a:t>
                      </a:r>
                      <a:r>
                        <a:rPr lang="da-DK" sz="975" b="0" kern="1200" spc="-10" noProof="0">
                          <a:solidFill>
                            <a:schemeClr val="tx2"/>
                          </a:solidFill>
                          <a:latin typeface="+mn-lt"/>
                          <a:ea typeface="+mn-ea"/>
                          <a:cs typeface="+mn-cs"/>
                        </a:rPr>
                        <a:t> </a:t>
                      </a:r>
                      <a:r>
                        <a:rPr lang="da-DK" sz="975" b="1" kern="1200" spc="-10" noProof="0">
                          <a:solidFill>
                            <a:schemeClr val="accent2"/>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{{scope1-2_target}}</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975" b="0" i="0" u="none" strike="noStrike" noProof="0">
                          <a:solidFill>
                            <a:srgbClr val="2D55FF"/>
                          </a:solidFill>
                          <a:effectLst/>
                          <a:latin typeface="Inter"/>
                        </a:rPr>
                        <a:t>{{scope1-2_baseline}}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{{scope1-2_target}}</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975" b="0" i="0" u="none" strike="noStrike" noProof="0">
                          <a:solidFill>
                            <a:srgbClr val="2D55FF"/>
                          </a:solidFill>
                          <a:effectLst/>
                          <a:latin typeface="Inter"/>
                        </a:rPr>
                        <a:t>{{scope1-2_baseline}}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da-DK"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{{scope3_target}}</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buNone/>
                      </a:pPr>
                      <a:r>
                        <a:rPr lang="da-DK" sz="975" b="0" i="0" u="none" strike="noStrike" noProof="0">
                          <a:solidFill>
                            <a:srgbClr val="2D55FF"/>
                          </a:solidFill>
                          <a:effectLst/>
                          <a:latin typeface="Inter"/>
                        </a:rPr>
                        <a:t>{{scope3_baseline}}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da-DK" sz="975" b="1" kern="1200" spc="-10" noProof="0">
                          <a:solidFill>
                            <a:schemeClr val="tx2"/>
                          </a:solidFill>
                          <a:latin typeface="+mn-lt"/>
                          <a:ea typeface="+mn-ea"/>
                          <a:cs typeface="+mn-cs"/>
                        </a:rPr>
                        <a:t xml:space="preserve">Liste over de vigtigste handlinger </a:t>
                      </a:r>
                      <a:r>
                        <a:rPr lang="da-DK" sz="975" b="1" kern="1200" noProof="0">
                          <a:solidFill>
                            <a:schemeClr val="accent2"/>
                          </a:solidFill>
                          <a:latin typeface="+mn-lt"/>
                          <a:ea typeface="+mn-ea"/>
                          <a:cs typeface="+mn-cs"/>
                        </a:rPr>
                        <a:t>{{Company name}} </a:t>
                      </a:r>
                      <a:r>
                        <a:rPr lang="da-DK" sz="975" b="0" kern="1200" noProof="0">
                          <a:solidFill>
                            <a:schemeClr val="accent2"/>
                          </a:solidFill>
                          <a:latin typeface="+mn-lt"/>
                          <a:ea typeface="+mn-ea"/>
                          <a:cs typeface="+mn-cs"/>
                        </a:rPr>
                        <a:t> </a:t>
                      </a:r>
                      <a:r>
                        <a:rPr lang="da-DK" sz="975" b="1" kern="1200" spc="-10" noProof="0">
                          <a:solidFill>
                            <a:schemeClr val="tx2"/>
                          </a:solidFill>
                          <a:latin typeface="+mn-lt"/>
                          <a:ea typeface="+mn-ea"/>
                          <a:cs typeface="+mn-cs"/>
                        </a:rPr>
                        <a:t xml:space="preserve">implementerer for at nå CO₂e-reduktionsmålene </a:t>
                      </a:r>
                      <a:r>
                        <a:rPr lang="da-DK" sz="975" b="0" kern="1200" spc="-10" noProof="0">
                          <a:solidFill>
                            <a:schemeClr val="tx2"/>
                          </a:solidFill>
                          <a:latin typeface="+mn-lt"/>
                          <a:ea typeface="+mn-ea"/>
                          <a:cs typeface="+mn-cs"/>
                        </a:rPr>
                        <a:t xml:space="preserve">(pkt.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da-DK" sz="975" b="0" noProof="0">
                          <a:solidFill>
                            <a:schemeClr val="accent2"/>
                          </a:solidFill>
                        </a:rPr>
                        <a:t>{{</a:t>
                      </a:r>
                      <a:r>
                        <a:rPr lang="da-DK" sz="975" b="0" noProof="0">
                          <a:solidFill>
                            <a:schemeClr val="accent2"/>
                          </a:solidFill>
                        </a:rPr>
                        <a:t>mainaction</a:t>
                      </a:r>
                      <a:r>
                        <a:rPr lang="da-DK" sz="975" b="0" noProof="0">
                          <a:solidFill>
                            <a:schemeClr val="accent2"/>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noProof="0"/>
              <a:t xml:space="preserve">CO₂e-reduktionsmål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da-DK" sz="975" b="1" noProof="0">
                          <a:solidFill>
                            <a:schemeClr val="tx2"/>
                          </a:solidFill>
                        </a:rPr>
                        <a:t xml:space="preserve">Udledning af drivhusgasser –</a:t>
                      </a:r>
                      <a:r>
                        <a:rPr lang="da-DK" sz="975" b="0" noProof="0">
                          <a:solidFill>
                            <a:schemeClr val="tx2"/>
                          </a:solidFill>
                        </a:rPr>
                        <a:t xml:space="preserve"> (tilføjes pkt. 33)</a:t>
                      </a: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År </a:t>
                      </a:r>
                      <a:r>
                        <a:rPr lang="da-DK" sz="975" b="1" noProof="0">
                          <a:solidFill>
                            <a:schemeClr val="accent2"/>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l">
                        <a:lnSpc>
                          <a:spcPct val="100000"/>
                        </a:lnSpc>
                        <a:spcBef>
                          <a:spcPts val="0"/>
                        </a:spcBef>
                        <a:spcAft>
                          <a:spcPts val="0"/>
                        </a:spcAft>
                        <a:buNone/>
                      </a:pPr>
                      <a:r>
                        <a:rPr lang="da-DK" sz="975" b="0" i="0" u="none" strike="noStrike" kern="1200" noProof="0">
                          <a:solidFill>
                            <a:srgbClr val="2D55FF"/>
                          </a:solidFill>
                          <a:latin typeface="IBM Plex Sans"/>
                          <a:ea typeface="+mn-ea"/>
                          <a:cs typeface="+mn-cs"/>
                        </a:rPr>
                        <a:t>{{scope3_description_table}}</a:t>
                      </a:r>
                      <a:endParaRPr lang="da-DK"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975" b="0" i="0" u="none" strike="noStrike" kern="1200" cap="none" spc="0" normalizeH="0" baseline="0" noProof="0">
                          <a:ln>
                            <a:noFill/>
                          </a:ln>
                          <a:solidFill>
                            <a:srgbClr val="2D55FF"/>
                          </a:solidFill>
                          <a:effectLst/>
                          <a:uLnTx/>
                          <a:uFillTx/>
                          <a:latin typeface="IBM Plex Sans"/>
                          <a:ea typeface="+mn-ea"/>
                          <a:cs typeface="+mn-cs"/>
                        </a:rPr>
                        <a:t>{{scope3_emissions_table}}</a:t>
                      </a:r>
                      <a:endParaRPr lang="da-DK"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da-DK" sz="975" b="1" noProof="0">
                          <a:solidFill>
                            <a:schemeClr val="tx2"/>
                          </a:solidFill>
                        </a:rPr>
                        <a:t xml:space="preserve">CO₂e-udledninger i scope 3 total (lokationsbaseret)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l">
                        <a:lnSpc>
                          <a:spcPct val="100000"/>
                        </a:lnSpc>
                        <a:spcBef>
                          <a:spcPts val="0"/>
                        </a:spcBef>
                        <a:spcAft>
                          <a:spcPts val="0"/>
                        </a:spcAft>
                        <a:buNone/>
                      </a:pPr>
                      <a:r>
                        <a:rPr lang="da-DK" sz="975" b="0" i="0" u="none" strike="noStrike" kern="1200" cap="none" spc="0" normalizeH="0" baseline="0" noProof="0">
                          <a:ln>
                            <a:noFill/>
                          </a:ln>
                          <a:solidFill>
                            <a:srgbClr val="2D55FF"/>
                          </a:solidFill>
                          <a:effectLst/>
                          <a:uLnTx/>
                          <a:uFillTx/>
                          <a:latin typeface="IBM Plex Sans"/>
                          <a:ea typeface="+mn-ea"/>
                          <a:cs typeface="+mn-cs"/>
                        </a:rPr>
                        <a:t>{{scope3}}</a:t>
                      </a:r>
                      <a:endParaRPr lang="da-DK"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da-DK" sz="975" b="1" noProof="0">
                          <a:solidFill>
                            <a:schemeClr val="tx2"/>
                          </a:solidFill>
                        </a:rPr>
                        <a:t xml:space="preserve">Total CO₂e-udledning for scope 1, 2 og 3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da-DK" sz="975" b="0" i="0" u="none" strike="noStrike" kern="1200" cap="none" spc="0" normalizeH="0" baseline="0" noProof="0">
                          <a:ln>
                            <a:noFill/>
                          </a:ln>
                          <a:solidFill>
                            <a:srgbClr val="2D55FF"/>
                          </a:solidFill>
                          <a:effectLst/>
                          <a:uLnTx/>
                          <a:uFillTx/>
                          <a:latin typeface="+mn-lt"/>
                          <a:ea typeface="+mn-ea"/>
                          <a:cs typeface="+mn-cs"/>
                        </a:rPr>
                        <a:t>{{</a:t>
                      </a:r>
                      <a:r>
                        <a:rPr kumimoji="0" lang="da-DK" sz="975" b="0" i="0" u="none" strike="noStrike" kern="1200" cap="none" spc="0" normalizeH="0" baseline="0" noProof="0">
                          <a:ln>
                            <a:noFill/>
                          </a:ln>
                          <a:solidFill>
                            <a:srgbClr val="2D55FF"/>
                          </a:solidFill>
                          <a:effectLst/>
                          <a:uLnTx/>
                          <a:uFillTx/>
                          <a:latin typeface="+mn-lt"/>
                          <a:ea typeface="+mn-ea"/>
                          <a:cs typeface="+mn-cs"/>
                        </a:rPr>
                        <a:t>total_all_scopes</a:t>
                      </a:r>
                      <a:r>
                        <a:rPr kumimoji="0" lang="da-DK" sz="975" b="0" i="0" u="none" strike="noStrike" kern="1200" cap="none" spc="0" normalizeH="0" baseline="0" noProof="0">
                          <a:ln>
                            <a:noFill/>
                          </a:ln>
                          <a:solidFill>
                            <a:srgbClr val="2D55FF"/>
                          </a:solidFill>
                          <a:effectLst/>
                          <a:uLnTx/>
                          <a:uFillTx/>
                          <a:latin typeface="+mn-lt"/>
                          <a:ea typeface="+mn-ea"/>
                          <a:cs typeface="+mn-cs"/>
                        </a:rPr>
                        <a:t>}}</a:t>
                      </a:r>
                      <a:endParaRPr kumimoji="0" lang="da-DK" sz="975" b="0" i="0" u="none" strike="noStrike" kern="1200" cap="none" spc="0" normalizeH="0" baseline="0" noProof="0" dirty="0">
                        <a:ln>
                          <a:noFill/>
                        </a:ln>
                        <a:solidFill>
                          <a:srgbClr val="2D55FF"/>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en oversigt over udledning af drivhusgasserne i Scope 3 som følger GHG-protokollen. Virksomheden angiver den samlede udledning og den lokationsbaserede udledning fra Scope 3. Virksomhedens CO₂e-reduktionsmål er anført, herunder virksomhedens vigtigste handlinger for at møde reduktionsmål</a:t>
            </a:r>
            <a:r>
              <a:rPr lang="da-DK" sz="975" noProof="0">
                <a:solidFill>
                  <a:schemeClr val="tx2"/>
                </a:solidFill>
                <a:latin typeface="Inter"/>
              </a:rPr>
              <a:t xml:space="preserve">ene.</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a:t xml:space="preserve">Klimaomstilling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da-DK" sz="975" b="1" kern="1200" spc="-10" noProof="0">
                          <a:solidFill>
                            <a:schemeClr val="tx2"/>
                          </a:solidFill>
                          <a:latin typeface="+mn-lt"/>
                          <a:ea typeface="+mn-ea"/>
                          <a:cs typeface="+mn-cs"/>
                        </a:rPr>
                        <a:t xml:space="preserve">Kommende omstillingsplan </a:t>
                      </a:r>
                      <a:r>
                        <a:rPr lang="da-DK" sz="975" b="0" kern="1200" spc="-10" noProof="0">
                          <a:solidFill>
                            <a:schemeClr val="tx2"/>
                          </a:solidFill>
                          <a:latin typeface="+mn-lt"/>
                          <a:ea typeface="+mn-ea"/>
                          <a:cs typeface="+mn-cs"/>
                        </a:rPr>
                        <a:t xml:space="preserve">(pkt.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a-DK"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da-DK" sz="975" b="1" kern="1200" noProof="0">
                          <a:solidFill>
                            <a:schemeClr val="accent2"/>
                          </a:solidFill>
                          <a:latin typeface="+mn-lt"/>
                          <a:ea typeface="+mn-ea"/>
                          <a:cs typeface="+mn-cs"/>
                        </a:rPr>
                        <a:t>{{company_name}} </a:t>
                      </a:r>
                      <a:r>
                        <a:rPr lang="da-DK" sz="975" b="1" kern="1200" noProof="0">
                          <a:solidFill>
                            <a:schemeClr val="tx2"/>
                          </a:solidFill>
                          <a:latin typeface="+mn-lt"/>
                          <a:ea typeface="+mn-ea"/>
                          <a:cs typeface="+mn-cs"/>
                        </a:rPr>
                        <a:t xml:space="preserve">vil igangsætte en konkret omstillingsplan </a:t>
                      </a:r>
                      <a:r>
                        <a:rPr lang="da-DK" sz="975" b="1" noProof="0">
                          <a:solidFill>
                            <a:schemeClr val="tx2"/>
                          </a:solidFill>
                        </a:rPr>
                        <a:t xml:space="preserve">for at modvirke klimaforandringer</a:t>
                      </a:r>
                      <a:endParaRPr lang="da-DK"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{{transition_plan?}}</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da-DK" sz="975" b="1" kern="1200" noProof="0">
                          <a:solidFill>
                            <a:schemeClr val="tx2"/>
                          </a:solidFill>
                          <a:latin typeface="+mn-lt"/>
                          <a:ea typeface="+mn-ea"/>
                          <a:cs typeface="+mn-cs"/>
                        </a:rPr>
                        <a:t xml:space="preserve">Tidspunkt for vedtagelse af omstillingsplan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transition_plan_date</a:t>
                      </a:r>
                      <a:r>
                        <a:rPr lang="da-DK" sz="975" b="0" i="0" u="none" strike="noStrike" noProof="0">
                          <a:solidFill>
                            <a:srgbClr val="2D55FF"/>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da-DK" sz="975" b="1" kern="1200" spc="-10" noProof="0">
                          <a:solidFill>
                            <a:schemeClr val="tx2"/>
                          </a:solidFill>
                          <a:latin typeface="+mn-lt"/>
                          <a:ea typeface="+mn-ea"/>
                          <a:cs typeface="+mn-cs"/>
                        </a:rPr>
                        <a:t xml:space="preserve">Omstillingsplan for modvirkning af klimaforandringer </a:t>
                      </a:r>
                      <a:r>
                        <a:rPr lang="da-DK" sz="975" b="0" kern="1200" spc="-10" noProof="0">
                          <a:solidFill>
                            <a:schemeClr val="tx2"/>
                          </a:solidFill>
                          <a:latin typeface="+mn-lt"/>
                          <a:ea typeface="+mn-ea"/>
                          <a:cs typeface="+mn-cs"/>
                        </a:rPr>
                        <a:t xml:space="preserve">(pkt.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da-DK" sz="975" b="0" noProof="0">
                          <a:solidFill>
                            <a:schemeClr val="accent2"/>
                          </a:solidFill>
                        </a:rPr>
                        <a:t>{{</a:t>
                      </a:r>
                      <a:r>
                        <a:rPr lang="da-DK" sz="975" b="0" noProof="0">
                          <a:solidFill>
                            <a:schemeClr val="accent2"/>
                          </a:solidFill>
                        </a:rPr>
                        <a:t>transition_plan</a:t>
                      </a:r>
                      <a:r>
                        <a:rPr lang="da-DK" sz="975" b="0" noProof="0">
                          <a:solidFill>
                            <a:schemeClr val="accent2"/>
                          </a:solidFill>
                        </a:rPr>
                        <a:t>}}</a:t>
                      </a:r>
                    </a:p>
                    <a:p>
                      <a:pPr algn="l"/>
                      <a:endParaRPr lang="da-DK" sz="975" b="0" noProof="0" dirty="0">
                        <a:solidFill>
                          <a:schemeClr val="accent2"/>
                        </a:solidFill>
                      </a:endParaRPr>
                    </a:p>
                    <a:p>
                      <a:pPr algn="l"/>
                      <a:endParaRPr lang="da-DK" sz="975" b="0" noProof="0" dirty="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De nedenstående oplysninger relaterer sig til virksomhedens omstillingsplan for modvirkning af klimaforandringer. Omstillingen er relateret til virksomhedens CO₂e-reduktionsmål.</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Dette oplysningspunkt er udfyldt, da virksomheden har angivet at de vil igangsætte en konkret omstillingsplan samt dato for vedtagelse.</a:t>
            </a:r>
            <a:endParaRPr lang="da-DK"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da-DK" noProof="0"/>
              <a:t xml:space="preserve">K</a:t>
            </a:r>
            <a:r>
              <a:rPr lang="da-DK" sz="1475" b="1" noProof="0">
                <a:solidFill>
                  <a:schemeClr val="tx2"/>
                </a:solidFill>
              </a:rPr>
              <a:t xml:space="preserve">limarisici (C4)</a:t>
            </a:r>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da-DK" sz="825" b="0" kern="1200" noProof="0">
                          <a:solidFill>
                            <a:schemeClr val="tx2"/>
                          </a:solidFill>
                          <a:latin typeface="+mn-lt"/>
                          <a:ea typeface="+mn-ea"/>
                          <a:cs typeface="+mn-cs"/>
                        </a:rPr>
                        <a:t xml:space="preserve">(pkt.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da-DK" sz="825" b="0" kern="1200" noProof="0">
                          <a:solidFill>
                            <a:schemeClr val="tx2"/>
                          </a:solidFill>
                          <a:latin typeface="+mn-lt"/>
                          <a:ea typeface="+mn-ea"/>
                          <a:cs typeface="+mn-cs"/>
                        </a:rPr>
                        <a:t xml:space="preserve">(pkt.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825" b="0" kern="1200" noProof="0">
                          <a:solidFill>
                            <a:schemeClr val="tx2"/>
                          </a:solidFill>
                          <a:latin typeface="+mn-lt"/>
                          <a:ea typeface="+mn-ea"/>
                          <a:cs typeface="+mn-cs"/>
                        </a:rPr>
                        <a:t xml:space="preserve">(pkt.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825" b="0" kern="1200" noProof="0">
                          <a:solidFill>
                            <a:schemeClr val="tx2"/>
                          </a:solidFill>
                          <a:latin typeface="+mn-lt"/>
                          <a:ea typeface="+mn-ea"/>
                          <a:cs typeface="+mn-cs"/>
                        </a:rPr>
                        <a:t xml:space="preserve">(pkt.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Klimarelaterede risici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Hvor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Kort beskrivelse af risici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Eksponering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noProof="0">
                          <a:solidFill>
                            <a:schemeClr val="tx2"/>
                          </a:solidFill>
                        </a:rPr>
                        <a:t xml:space="preserve">(lav/mellem/høj)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Sårbarhed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noProof="0">
                          <a:solidFill>
                            <a:schemeClr val="tx2"/>
                          </a:solidFill>
                        </a:rPr>
                        <a:t xml:space="preserve">(lav/mellem/høj)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Tidshorisont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i="0" noProof="0">
                          <a:solidFill>
                            <a:schemeClr val="tx2"/>
                          </a:solidFill>
                        </a:rPr>
                        <a:t xml:space="preserve">(0-1 år/2-5 år/ &gt;5 år)</a:t>
                      </a:r>
                      <a:endParaRPr lang="da-DK"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Tilpasning iværksat </a:t>
                      </a:r>
                      <a:r>
                        <a:rPr lang="da-DK" sz="825" b="0" noProof="0">
                          <a:solidFill>
                            <a:schemeClr val="tx2"/>
                          </a:solidFill>
                        </a:rPr>
                        <a:t xml:space="preserve">(JA/NEJ)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Kroniske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Aktiver</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{{chronic_aktiver_description}}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{{chronic_aktiver_eksponerning}}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{{chronic_aktiver_time}}</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Aktiviteter</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{{chronic_aktiveter_description}}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{{chronic_aktivteter_eksponerning}}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{{chronic_aktivteter_sårbarhed}}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{{chronic_aktivteter_time}}</a:t>
                      </a:r>
                      <a:endParaRPr lang="da-DK"/>
                    </a:p>
                    <a:p>
                      <a:pPr lvl="0" algn="ctr">
                        <a:lnSpc>
                          <a:spcPct val="100000"/>
                        </a:lnSpc>
                        <a:spcBef>
                          <a:spcPts val="0"/>
                        </a:spcBef>
                        <a:spcAft>
                          <a:spcPts val="0"/>
                        </a:spcAft>
                        <a:buNone/>
                      </a:pP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{{chronic_aktivteter_tilpasning}}</a:t>
                      </a:r>
                      <a:endParaRPr lang="da-DK"/>
                    </a:p>
                    <a:p>
                      <a:pPr marL="0" marR="0" lvl="0" indent="0" algn="ctr">
                        <a:lnSpc>
                          <a:spcPct val="100000"/>
                        </a:lnSpc>
                        <a:spcBef>
                          <a:spcPts val="0"/>
                        </a:spcBef>
                        <a:spcAft>
                          <a:spcPts val="0"/>
                        </a:spcAft>
                        <a:buClrTx/>
                        <a:buSzTx/>
                        <a:buFontTx/>
                        <a:buNone/>
                      </a:pP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Værdikæde</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{{chronic_value_description}}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{{chronic_value_eksponerning}}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{{chronic_value_sårbarhed}}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{{chronic_value_time}}</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{{chronic_value_tilpasning}}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kern="1200" noProof="0">
                          <a:solidFill>
                            <a:schemeClr val="tx2"/>
                          </a:solidFill>
                          <a:latin typeface="+mn-lt"/>
                          <a:ea typeface="+mn-ea"/>
                          <a:cs typeface="+mn-cs"/>
                        </a:rPr>
                        <a:t xml:space="preserve">Akutte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Aktiver</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{{akut_aktiver_description}}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Aktiviteter</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{{akut_aktiviteter_description}}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{{akut_aktiviteter_eksponering}}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{{akut_aktiviteter_sårbarhed}}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{{akut_aktiviteter_tidshorisont}}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{{akut_aktiviteter_tilpasning}}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Værdikæde</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{{akut_værdikæde_description}}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{{akut_værdikæde_eksponering}}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{{akut_værdikæde_sårbarhed}}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{{akut_værdikæde_tidshorisont}}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{{akut_værdikæde_tilpasning}}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kern="1200" noProof="0">
                          <a:solidFill>
                            <a:schemeClr val="tx2"/>
                          </a:solidFill>
                          <a:latin typeface="+mn-lt"/>
                          <a:ea typeface="+mn-ea"/>
                          <a:cs typeface="+mn-cs"/>
                        </a:rPr>
                        <a:t xml:space="preserve">Omstillings-hændelse</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Aktiver</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{{omstilling_aktiver_description}}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Aktiviteter</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{{omstilling_aktiviteter_description}}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{{omstilling_aktiviteter_eksponering}}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{{omstilling_aktiviteter_sårbarhed}}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{{omstilling_aktiviteter_tidshorisont}}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{{omstilling_aktiviteter_tilpasning}}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Værdikæde</a:t>
                      </a:r>
                      <a:endParaRPr lang="da-DK" sz="82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rPr>
                        <a:t>{{omstilling_værdikæde_description}}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{{omstilling_værdikæde_eksponering}}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{{omstilling_værdikæde_sårbarhed}}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{{omstilling_værdikæde_tidshorisont}}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825" b="0" i="0" u="none" strike="noStrike" noProof="0">
                          <a:solidFill>
                            <a:schemeClr val="accent2"/>
                          </a:solidFill>
                          <a:latin typeface="IBM Plex Sans"/>
                        </a:rPr>
                        <a:t>{{omstilling_værdikæde_tilpasning}}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da-DK" dirty="0">
                <a:solidFill>
                  <a:srgbClr val="1B4528">
                    <a:alpha val="70000"/>
                  </a:srgbClr>
                </a:solidFill>
              </a:rPr>
              <a:t>14</a:t>
            </a:fld>
            <a:endParaRPr lang="da-DK"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en oversigt over klimarelaterede risici. Herunder om disse er kroniske, akutte eller omstillingsrelaterede og hvor disse er placeret (aktiver, aktiviteter eller i virksomhedens værdikæde. </a:t>
            </a:r>
            <a:endParaRPr lang="da-DK"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da-DK" noProof="0"/>
              <a:t xml:space="preserve">K</a:t>
            </a:r>
            <a:r>
              <a:rPr lang="da-DK" sz="1475" b="1" noProof="0">
                <a:solidFill>
                  <a:schemeClr val="tx2"/>
                </a:solidFill>
              </a:rPr>
              <a:t xml:space="preserve">limarisici (C4) - fortsat</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15</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da-DK" sz="975" b="0" kern="1200" noProof="0">
                          <a:solidFill>
                            <a:schemeClr val="tx2"/>
                          </a:solidFill>
                          <a:latin typeface="+mn-lt"/>
                          <a:ea typeface="+mn-ea"/>
                          <a:cs typeface="+mn-cs"/>
                        </a:rPr>
                        <a:t xml:space="preserve">(pkt.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Potentiel negativ </a:t>
                      </a:r>
                      <a:r>
                        <a:rPr lang="da-DK" sz="975" b="1" kern="1200" noProof="0">
                          <a:solidFill>
                            <a:schemeClr val="tx2"/>
                          </a:solidFill>
                          <a:latin typeface="+mn-lt"/>
                          <a:ea typeface="+mn-ea"/>
                          <a:cs typeface="+mn-cs"/>
                        </a:rPr>
                        <a:t xml:space="preserve">påvirkning på virksomhedens finansielle præstation og forretningsdrift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Finansiel risiko</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0" kern="1200" noProof="0">
                          <a:solidFill>
                            <a:schemeClr val="tx2"/>
                          </a:solidFill>
                          <a:latin typeface="+mn-lt"/>
                          <a:ea typeface="+mn-ea"/>
                          <a:cs typeface="+mn-cs"/>
                        </a:rPr>
                        <a:t xml:space="preserve">(lav/mellem/høj)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Tidshorisont</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0" i="0" noProof="0">
                          <a:solidFill>
                            <a:schemeClr val="tx2"/>
                          </a:solidFill>
                        </a:rPr>
                        <a:t xml:space="preserve">(0-1 år/2-5 år/ &gt;5 år)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Kroniske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da-DK" sz="975" b="0" i="0" u="none" strike="noStrike" noProof="0">
                          <a:solidFill>
                            <a:schemeClr val="accent2"/>
                          </a:solidFill>
                        </a:rPr>
                        <a:t>{{chronic_hazards}}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BM Plex Sans"/>
                        </a:rPr>
                        <a:t>{{chronic connection financial </a:t>
                      </a:r>
                      <a:r>
                        <a:rPr lang="da-DK" sz="975" b="0" i="0" u="none" strike="noStrike" noProof="0">
                          <a:solidFill>
                            <a:schemeClr val="accent2"/>
                          </a:solidFill>
                          <a:latin typeface="IBM Plex Sans"/>
                          <a:ea typeface="+mn-ea"/>
                          <a:cs typeface="+mn-cs"/>
                        </a:rPr>
                        <a:t>and operations}}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chemeClr val="accent2"/>
                          </a:solidFill>
                          <a:latin typeface="IBM Plex Sans"/>
                        </a:rPr>
                        <a:t>{{chronic_financial_risk}}</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chemeClr val="accent2"/>
                          </a:solidFill>
                          <a:latin typeface="IBM Plex Sans"/>
                        </a:rPr>
                        <a:t>{{chronic_time_horizon}}</a:t>
                      </a:r>
                      <a:endParaRPr lang="da-DK"/>
                    </a:p>
                    <a:p>
                      <a:pPr marL="0" marR="0" lvl="0" indent="0" algn="ctr" defTabSz="914400">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Akutte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da-DK" sz="975" b="0" i="0" u="none" strike="noStrike" noProof="0">
                          <a:solidFill>
                            <a:schemeClr val="accent2"/>
                          </a:solidFill>
                        </a:rPr>
                        <a:t>{{acute_hazards}}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BM Plex Sans"/>
                        </a:rPr>
                        <a:t>{{acute connection </a:t>
                      </a:r>
                      <a:r>
                        <a:rPr lang="da-DK" sz="975" b="0" i="0" u="none" strike="noStrike" noProof="0">
                          <a:solidFill>
                            <a:schemeClr val="accent2"/>
                          </a:solidFill>
                          <a:latin typeface="IBM Plex Sans"/>
                          <a:ea typeface="+mn-ea"/>
                          <a:cs typeface="+mn-cs"/>
                        </a:rPr>
                        <a:t>financial and operations}}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chemeClr val="accent2"/>
                          </a:solidFill>
                          <a:latin typeface="IBM Plex Sans"/>
                        </a:rPr>
                        <a:t>{{acute_financial_risk}}</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chemeClr val="accent2"/>
                          </a:solidFill>
                          <a:latin typeface="IBM Plex Sans"/>
                        </a:rPr>
                        <a:t>{{acute_time_horizon}}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Omstillingsrisici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da-DK" sz="975" b="0" i="0" u="none" strike="noStrike" noProof="0">
                          <a:solidFill>
                            <a:schemeClr val="accent2"/>
                          </a:solidFill>
                        </a:rPr>
                        <a:t>{{climate_related}}</a:t>
                      </a:r>
                      <a:endParaRPr lang="da-DK"/>
                    </a:p>
                    <a:p>
                      <a:pPr lvl="0" algn="l">
                        <a:lnSpc>
                          <a:spcPct val="100000"/>
                        </a:lnSpc>
                        <a:spcBef>
                          <a:spcPts val="0"/>
                        </a:spcBef>
                        <a:spcAft>
                          <a:spcPts val="0"/>
                        </a:spcAft>
                        <a:buNone/>
                      </a:pPr>
                      <a:endParaRPr lang="da-DK" sz="975" b="0" i="0" u="none" strike="noStrike" noProof="0">
                        <a:solidFill>
                          <a:schemeClr val="accent2"/>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BM Plex Sans"/>
                        </a:rPr>
                        <a:t>{{climate connection financial </a:t>
                      </a:r>
                      <a:r>
                        <a:rPr lang="da-DK" sz="975" b="0" i="0" u="none" strike="noStrike" noProof="0">
                          <a:solidFill>
                            <a:schemeClr val="accent2"/>
                          </a:solidFill>
                          <a:latin typeface="IBM Plex Sans"/>
                          <a:ea typeface="+mn-ea"/>
                          <a:cs typeface="+mn-cs"/>
                        </a:rPr>
                        <a:t>and operations}}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chemeClr val="accent2"/>
                          </a:solidFill>
                          <a:latin typeface="IBM Plex Sans"/>
                        </a:rPr>
                        <a:t>{{climate_related_risk}}</a:t>
                      </a:r>
                      <a:endParaRPr lang="da-DK"/>
                    </a:p>
                    <a:p>
                      <a:pPr lvl="0" algn="ctr">
                        <a:lnSpc>
                          <a:spcPct val="100000"/>
                        </a:lnSpc>
                        <a:spcBef>
                          <a:spcPts val="0"/>
                        </a:spcBef>
                        <a:spcAft>
                          <a:spcPts val="0"/>
                        </a:spcAft>
                        <a:buNone/>
                      </a:pP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chemeClr val="accent2"/>
                          </a:solidFill>
                          <a:latin typeface="IBM Plex Sans"/>
                        </a:rPr>
                        <a:t>{{climate_time_horizon}}</a:t>
                      </a:r>
                      <a:endParaRPr lang="da-DK"/>
                    </a:p>
                    <a:p>
                      <a:pPr marL="0" marR="0" lvl="0" indent="0" algn="ctr" defTabSz="914400">
                        <a:lnSpc>
                          <a:spcPct val="100000"/>
                        </a:lnSpc>
                        <a:spcBef>
                          <a:spcPts val="0"/>
                        </a:spcBef>
                        <a:spcAft>
                          <a:spcPts val="0"/>
                        </a:spcAft>
                        <a:buClrTx/>
                        <a:buSzTx/>
                        <a:buFontTx/>
                        <a:buNone/>
                        <a:tabLst/>
                        <a:defRPr/>
                      </a:pPr>
                      <a:endParaRPr lang="da-DK" sz="975" b="0" noProof="0">
                        <a:solidFill>
                          <a:schemeClr val="accent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en oversigt over klimarelaterede risici. Herunder om disse er kroniske, akutte eller omstillingsrelaterede og om disse kan have en potentiel negativ påvirkning på virksomhedens finansielle præsentation og forretningsdrift.</a:t>
            </a:r>
            <a:endParaRPr lang="da-DK"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da-DK" sz="1327" b="1" i="0" u="none" strike="noStrike" kern="1200" spc="-10" noProof="0">
                <a:solidFill>
                  <a:srgbClr val="1B4528"/>
                </a:solidFill>
              </a:rPr>
              <a:t xml:space="preserve">Supplerende (generelle) oplysninger om arbejdsstyrken (C5)</a:t>
            </a:r>
            <a:endParaRPr lang="da-DK"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16</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77" b="1" i="0" noProof="0">
                          <a:solidFill>
                            <a:schemeClr val="tx2"/>
                          </a:solidFill>
                        </a:rPr>
                        <a:t xml:space="preserve">Forholdet mellem kvinder og mænd på ledelsesniveau </a:t>
                      </a:r>
                      <a:r>
                        <a:rPr lang="da-DK" sz="877" b="0" i="0" noProof="0">
                          <a:solidFill>
                            <a:schemeClr val="tx2"/>
                          </a:solidFill>
                        </a:rPr>
                        <a:t xml:space="preserve">(pkt.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877" b="1" i="0" u="none" strike="noStrike" noProof="0">
                          <a:solidFill>
                            <a:srgbClr val="1B4528"/>
                          </a:solidFill>
                          <a:effectLst/>
                          <a:latin typeface="IBM Plex Sans" panose="020B0503050203000203" pitchFamily="34" charset="0"/>
                        </a:rPr>
                        <a:t xml:space="preserve">År </a:t>
                      </a:r>
                      <a:r>
                        <a:rPr lang="da-DK" sz="877" b="1" i="0" u="none" strike="noStrike" noProof="0">
                          <a:solidFill>
                            <a:srgbClr val="2D55FF"/>
                          </a:solidFill>
                          <a:effectLst/>
                          <a:latin typeface="IBM Plex Sans" panose="020B0503050203000203" pitchFamily="34" charset="0"/>
                        </a:rPr>
                        <a:t>{{Insert year}}</a:t>
                      </a:r>
                      <a:endParaRPr lang="da-DK"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a-DK"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877" b="0" i="0" u="none" strike="noStrike" noProof="0">
                          <a:solidFill>
                            <a:srgbClr val="2D55FF"/>
                          </a:solidFill>
                          <a:effectLst/>
                          <a:latin typeface="IBM Plex Sans" panose="020B0503050203000203" pitchFamily="34" charset="0"/>
                        </a:rPr>
                        <a:t>{{gender_balance}}</a:t>
                      </a:r>
                      <a:endParaRPr lang="da-DK"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785282"/>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23999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77" b="1" i="0" noProof="0">
                          <a:solidFill>
                            <a:schemeClr val="tx2"/>
                          </a:solidFill>
                        </a:rPr>
                        <a:t xml:space="preserve">Medarbejderomsætning i rapporteringsåret </a:t>
                      </a:r>
                      <a:r>
                        <a:rPr lang="da-DK" sz="877" b="0" i="0" noProof="0">
                          <a:solidFill>
                            <a:schemeClr val="tx2"/>
                          </a:solidFill>
                        </a:rPr>
                        <a:t xml:space="preserve">(pkt.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877" b="1" i="0" u="none" strike="noStrike" noProof="0">
                          <a:solidFill>
                            <a:srgbClr val="1B4528"/>
                          </a:solidFill>
                          <a:effectLst/>
                          <a:latin typeface="IBM Plex Sans" panose="020B0503050203000203" pitchFamily="34" charset="0"/>
                        </a:rPr>
                        <a:t xml:space="preserve">År </a:t>
                      </a:r>
                      <a:r>
                        <a:rPr lang="da-DK" sz="877" b="1" i="0" u="none" strike="noStrike" noProof="0">
                          <a:solidFill>
                            <a:srgbClr val="2D55FF"/>
                          </a:solidFill>
                          <a:effectLst/>
                          <a:latin typeface="IBM Plex Sans" panose="020B0503050203000203" pitchFamily="34" charset="0"/>
                        </a:rPr>
                        <a:t>{{Insert year}}</a:t>
                      </a:r>
                      <a:endParaRPr lang="da-DK"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a-DK"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877" b="0" i="0" u="none" strike="noStrike" noProof="0">
                          <a:solidFill>
                            <a:srgbClr val="2D55FF"/>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da-DK" sz="877" b="0" i="0" u="none" strike="noStrike" noProof="0">
                <a:solidFill>
                  <a:schemeClr val="tx2"/>
                </a:solidFill>
                <a:effectLst/>
                <a:latin typeface="Inter"/>
              </a:rPr>
              <a:t xml:space="preserve">Den nedenstående information er supplement til anden oplysning om virksomhedens arbejdsstyrke. Herunder, hvordan virksomhedens forhold mellem mænd og kvinder på ledelsesniveau fordeler sig.</a:t>
            </a:r>
            <a:endParaRPr lang="da-DK" sz="877" b="0" noProof="0">
              <a:solidFill>
                <a:schemeClr val="tx2"/>
              </a:solidFill>
              <a:effectLst/>
              <a:latin typeface="Inter"/>
            </a:endParaRPr>
          </a:p>
          <a:p>
            <a:pPr>
              <a:buNone/>
            </a:pPr>
            <a:br>
              <a:rPr lang="da-DK" sz="877" noProof="0">
                <a:solidFill>
                  <a:schemeClr val="tx2"/>
                </a:solidFill>
                <a:latin typeface="Inter"/>
              </a:rPr>
            </a:br>
            <a:endParaRPr lang="da-DK" sz="877"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77" b="1" kern="1200" noProof="0">
                          <a:solidFill>
                            <a:schemeClr val="tx2"/>
                          </a:solidFill>
                          <a:latin typeface="+mn-lt"/>
                          <a:ea typeface="+mn-ea"/>
                          <a:cs typeface="+mn-cs"/>
                        </a:rPr>
                        <a:t xml:space="preserve">Selvstændige og vikarer </a:t>
                      </a:r>
                      <a:r>
                        <a:rPr lang="da-DK" sz="877" b="0" noProof="0">
                          <a:solidFill>
                            <a:schemeClr val="tx2"/>
                          </a:solidFill>
                        </a:rPr>
                        <a:t xml:space="preserve">(pkt. 60)</a:t>
                      </a:r>
                      <a:endParaRPr lang="da-DK" sz="877"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877"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77" b="1" kern="1200" noProof="0">
                          <a:solidFill>
                            <a:schemeClr val="tx2"/>
                          </a:solidFill>
                          <a:latin typeface="+mn-lt"/>
                          <a:ea typeface="+mn-ea"/>
                          <a:cs typeface="+mn-cs"/>
                        </a:rPr>
                        <a:t xml:space="preserve">Antal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da-DK" sz="877" b="1" noProof="0">
                          <a:solidFill>
                            <a:schemeClr val="tx2"/>
                          </a:solidFill>
                        </a:rPr>
                        <a:t xml:space="preserve">Selvstændige (uden egne 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{{self-employeed}}</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a-DK" sz="877" b="1" noProof="0">
                          <a:solidFill>
                            <a:schemeClr val="tx2"/>
                          </a:solidFill>
                        </a:rPr>
                        <a:t xml:space="preserve">Vikarer (rekrutteret via et vikarbureau) </a:t>
                      </a:r>
                      <a:endParaRPr lang="da-DK"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a:t>
                      </a:r>
                      <a:r>
                        <a:rPr lang="da-DK" sz="877" b="0" i="0" u="none" strike="noStrike" noProof="0">
                          <a:solidFill>
                            <a:srgbClr val="2D55FF"/>
                          </a:solidFill>
                          <a:effectLst/>
                          <a:latin typeface="Inter"/>
                        </a:rPr>
                        <a:t>temp_workers</a:t>
                      </a:r>
                      <a:r>
                        <a:rPr lang="da-DK" sz="877" b="0" i="0" u="none" strike="noStrike" noProof="0">
                          <a:solidFill>
                            <a:srgbClr val="2D55FF"/>
                          </a:solidFill>
                          <a:effectLst/>
                          <a:latin typeface="Inter"/>
                        </a:rPr>
                        <a:t>}}</a:t>
                      </a:r>
                      <a:endParaRPr lang="da-DK" sz="877"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da-DK" sz="877" b="0" i="0" u="none" strike="noStrike" noProof="0">
                <a:solidFill>
                  <a:schemeClr val="tx2"/>
                </a:solidFill>
                <a:effectLst/>
                <a:latin typeface="Inter"/>
              </a:rPr>
              <a:t xml:space="preserve">Den nedenstående information er udfyldt for at informere om antallet af selvstændige og vikarer virksomheden har.</a:t>
            </a:r>
            <a:endParaRPr lang="da-DK" sz="877"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da-DK">
                <a:solidFill>
                  <a:srgbClr val="1B4528"/>
                </a:solidFill>
                <a:latin typeface="+mn-lt"/>
                <a:ea typeface="+mn-ea"/>
                <a:cs typeface="+mn-cs"/>
              </a:rPr>
              <a:t xml:space="preserve">Menneskerettighedspolitikker og -processer (C6</a:t>
            </a:r>
            <a:r>
              <a:rPr lang="da-DK"/>
              <a:t xml:space="preserve">) - Egen arbejdsstyrke</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77" b="1" kern="1200" noProof="0">
                          <a:solidFill>
                            <a:schemeClr val="accent2"/>
                          </a:solidFill>
                          <a:latin typeface="+mn-lt"/>
                          <a:ea typeface="+mn-ea"/>
                          <a:cs typeface="+mn-cs"/>
                        </a:rPr>
                        <a:t>{{company_name}}</a:t>
                      </a:r>
                      <a:r>
                        <a:rPr lang="da-DK" sz="877" b="1" noProof="0">
                          <a:solidFill>
                            <a:schemeClr val="tx2"/>
                          </a:solidFill>
                        </a:rPr>
                        <a:t xml:space="preserve"> har </a:t>
                      </a:r>
                      <a:r>
                        <a:rPr lang="da-DK" sz="877" b="1" kern="1200" spc="-10" noProof="0">
                          <a:solidFill>
                            <a:schemeClr val="tx2"/>
                          </a:solidFill>
                          <a:latin typeface="+mn-lt"/>
                          <a:ea typeface="+mn-ea"/>
                          <a:cs typeface="+mn-cs"/>
                        </a:rPr>
                        <a:t xml:space="preserve">en ansvarlighedspolitik </a:t>
                      </a:r>
                      <a:r>
                        <a:rPr lang="da-DK" sz="877" b="1" i="1" kern="1200" spc="-10" noProof="0">
                          <a:solidFill>
                            <a:schemeClr val="tx2"/>
                          </a:solidFill>
                          <a:latin typeface="+mn-lt"/>
                          <a:ea typeface="+mn-ea"/>
                          <a:cs typeface="+mn-cs"/>
                        </a:rPr>
                        <a:t xml:space="preserve">og/eller</a:t>
                      </a:r>
                      <a:r>
                        <a:rPr lang="da-DK" sz="877" b="1" kern="1200" spc="-10" noProof="0">
                          <a:solidFill>
                            <a:schemeClr val="tx2"/>
                          </a:solidFill>
                          <a:latin typeface="+mn-lt"/>
                          <a:ea typeface="+mn-ea"/>
                          <a:cs typeface="+mn-cs"/>
                        </a:rPr>
                        <a:t xml:space="preserve"> en menneskerettighedspolitik for vores </a:t>
                      </a:r>
                      <a:r>
                        <a:rPr lang="da-DK" sz="877" b="1" u="sng" kern="1200" spc="-10" noProof="0">
                          <a:solidFill>
                            <a:schemeClr val="tx2"/>
                          </a:solidFill>
                          <a:latin typeface="+mn-lt"/>
                          <a:ea typeface="+mn-ea"/>
                          <a:cs typeface="+mn-cs"/>
                        </a:rPr>
                        <a:t xml:space="preserve">egen arbejdsstyrke</a:t>
                      </a:r>
                      <a:r>
                        <a:rPr lang="da-DK" sz="877" b="0" u="none" kern="1200" spc="-10" noProof="0">
                          <a:solidFill>
                            <a:schemeClr val="tx2"/>
                          </a:solidFill>
                          <a:latin typeface="+mn-lt"/>
                          <a:ea typeface="+mn-ea"/>
                          <a:cs typeface="+mn-cs"/>
                        </a:rPr>
                        <a:t xml:space="preserve"> (pkt. 61a)</a:t>
                      </a:r>
                      <a:endParaRPr lang="da-DK" sz="877"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77" b="0" noProof="0">
                          <a:solidFill>
                            <a:schemeClr val="accent2"/>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da-DK" sz="877" b="1" kern="1200" noProof="0">
                          <a:solidFill>
                            <a:schemeClr val="tx1"/>
                          </a:solidFill>
                          <a:latin typeface="+mn-lt"/>
                          <a:ea typeface="+mn-ea"/>
                          <a:cs typeface="+mn-cs"/>
                        </a:rPr>
                        <a:t xml:space="preserve">Ansvarligheds- eller menneskerettighedspolitikken dækker disse emner: </a:t>
                      </a:r>
                      <a:r>
                        <a:rPr lang="da-DK" sz="877" b="0" u="none" kern="1200" spc="-10" noProof="0">
                          <a:solidFill>
                            <a:schemeClr val="tx2"/>
                          </a:solidFill>
                          <a:latin typeface="+mn-lt"/>
                          <a:ea typeface="+mn-ea"/>
                          <a:cs typeface="+mn-cs"/>
                        </a:rPr>
                        <a:t xml:space="preserve">(pkt. 61b)</a:t>
                      </a:r>
                      <a:endParaRPr lang="da-DK" sz="877"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5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da-DK" sz="877" b="0" noProof="0">
                          <a:solidFill>
                            <a:schemeClr val="tx2"/>
                          </a:solidFill>
                        </a:rPr>
                        <a:t xml:space="preserve">Børnearbejde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{{child_labour_polict?}}</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da-DK" sz="877" b="0" noProof="0">
                          <a:solidFill>
                            <a:schemeClr val="tx2"/>
                          </a:solidFill>
                        </a:rPr>
                        <a:t xml:space="preserve">Tvangsarbejde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{{forced_labour_policy?}}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da-DK" sz="877" b="0" noProof="0">
                          <a:solidFill>
                            <a:schemeClr val="tx2"/>
                          </a:solidFill>
                        </a:rPr>
                        <a:t xml:space="preserve">Menneskehandel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{{human_policy?}}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da-DK" sz="877" b="0" noProof="0">
                          <a:solidFill>
                            <a:schemeClr val="tx2"/>
                          </a:solidFill>
                        </a:rPr>
                        <a:t xml:space="preserve">Diskrimination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{{discrimanation_policy?}}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da-DK" sz="877" b="0" noProof="0">
                          <a:solidFill>
                            <a:schemeClr val="tx2"/>
                          </a:solidFill>
                        </a:rPr>
                        <a:t xml:space="preserve">Sikkerhed og forebyggelse af ulykker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{{safety_policy?}}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da-DK" sz="877" b="0" noProof="0">
                          <a:solidFill>
                            <a:schemeClr val="tx2"/>
                          </a:solidFill>
                        </a:rPr>
                        <a:t xml:space="preserve">Andet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rtl="0" fontAlgn="ctr">
                        <a:buNone/>
                      </a:pPr>
                      <a:r>
                        <a:rPr lang="da-DK" sz="877" b="0" i="0" u="none" strike="noStrike" noProof="0">
                          <a:solidFill>
                            <a:srgbClr val="2D55FF"/>
                          </a:solidFill>
                          <a:effectLst/>
                          <a:latin typeface="Inter"/>
                        </a:rPr>
                        <a:t>{{other_policy?}}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da-DK" sz="877" b="1" noProof="0">
                          <a:solidFill>
                            <a:schemeClr val="tx2"/>
                          </a:solidFill>
                        </a:rPr>
                        <a:t xml:space="preserve">Hvis ja til ”Andet”, specificer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da-DK" sz="877" b="0" noProof="0" dirty="0">
                        <a:solidFill>
                          <a:schemeClr val="tx2"/>
                        </a:solidFill>
                      </a:endParaRPr>
                    </a:p>
                    <a:p>
                      <a:pPr lvl="0" algn="l">
                        <a:lnSpc>
                          <a:spcPct val="100000"/>
                        </a:lnSpc>
                        <a:spcBef>
                          <a:spcPts val="0"/>
                        </a:spcBef>
                        <a:spcAft>
                          <a:spcPts val="0"/>
                        </a:spcAft>
                        <a:buNone/>
                      </a:pPr>
                      <a:r>
                        <a:rPr lang="da-DK" sz="877" b="0" i="0" u="none" strike="noStrike" kern="1200" noProof="0">
                          <a:solidFill>
                            <a:srgbClr val="2D55FF"/>
                          </a:solidFill>
                          <a:latin typeface="Inter"/>
                          <a:ea typeface="+mn-ea"/>
                          <a:cs typeface="+mn-cs"/>
                        </a:rPr>
                        <a:t>{{C6_other_description}}</a:t>
                      </a:r>
                      <a:endParaRPr lang="da-DK" sz="877" b="0" i="0" u="none" strike="noStrike" kern="1200" noProof="0" dirty="0">
                        <a:solidFill>
                          <a:srgbClr val="000000"/>
                        </a:solidFill>
                        <a:latin typeface="Inter"/>
                        <a:ea typeface="+mn-ea"/>
                        <a:cs typeface="+mn-cs"/>
                      </a:endParaRPr>
                    </a:p>
                    <a:p>
                      <a:endParaRPr lang="da-DK" sz="877"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50" b="0"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da-DK" sz="877" b="1" noProof="0">
                          <a:solidFill>
                            <a:schemeClr val="tx2"/>
                          </a:solidFill>
                        </a:rPr>
                        <a:t xml:space="preserve">Virksomheden har en klagemekanisme for vores </a:t>
                      </a:r>
                      <a:r>
                        <a:rPr lang="da-DK" sz="877" b="1" u="sng" noProof="0">
                          <a:solidFill>
                            <a:schemeClr val="tx2"/>
                          </a:solidFill>
                        </a:rPr>
                        <a:t xml:space="preserve">egen arbejdsstyrke</a:t>
                      </a:r>
                      <a:r>
                        <a:rPr lang="da-DK" sz="877" b="0" u="sng" noProof="0">
                          <a:solidFill>
                            <a:schemeClr val="tx2"/>
                          </a:solidFill>
                        </a:rPr>
                        <a:t> </a:t>
                      </a:r>
                      <a:r>
                        <a:rPr lang="da-DK" sz="877" b="0" noProof="0">
                          <a:solidFill>
                            <a:schemeClr val="tx2"/>
                          </a:solidFill>
                        </a:rPr>
                        <a:t xml:space="preserve">(pkt.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77" b="0" noProof="0">
                          <a:solidFill>
                            <a:schemeClr val="accent2"/>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da-DK" sz="877" b="0" i="0" u="none" strike="noStrike" noProof="0">
                <a:solidFill>
                  <a:schemeClr val="tx2"/>
                </a:solidFill>
                <a:effectLst/>
                <a:latin typeface="Inter"/>
              </a:rPr>
              <a:t xml:space="preserve">Nedenfor er </a:t>
            </a:r>
            <a:r>
              <a:rPr lang="da-DK" sz="877" noProof="0">
                <a:solidFill>
                  <a:schemeClr val="tx2"/>
                </a:solidFill>
                <a:latin typeface="Inter"/>
              </a:rPr>
              <a:t xml:space="preserve">angivet information om </a:t>
            </a:r>
            <a:r>
              <a:rPr lang="da-DK" sz="877" b="0" i="0" u="none" strike="noStrike" noProof="0">
                <a:solidFill>
                  <a:schemeClr val="tx2"/>
                </a:solidFill>
                <a:effectLst/>
                <a:latin typeface="Inter"/>
              </a:rPr>
              <a:t xml:space="preserve">virksomhedens ansvarlighedspolitik og/eller menneskerettighedspolitik som dækker egen arbejdsstyrk</a:t>
            </a:r>
            <a:r>
              <a:rPr lang="da-DK" sz="877" noProof="0">
                <a:solidFill>
                  <a:schemeClr val="tx2"/>
                </a:solidFill>
                <a:latin typeface="Inter"/>
              </a:rPr>
              <a:t xml:space="preserve">e. Ligeledes om virksomheden har en klagemekanisme, der gør det muligt for medarbejdere at rapportere forhold relateret til menneskerettighedskrænkelser, diskrimination, chikane eller andre kritisable forhold.</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da-DK" sz="1475" b="1" i="0" u="none" strike="noStrike" kern="1200" spc="-10" noProof="0">
                <a:solidFill>
                  <a:srgbClr val="1B4528"/>
                </a:solidFill>
                <a:latin typeface="+mn-lt"/>
                <a:ea typeface="+mn-ea"/>
                <a:cs typeface="+mn-cs"/>
              </a:rPr>
              <a:t xml:space="preserve">Alvorlige negative menneskerettighedshændelser (C7</a:t>
            </a:r>
            <a:r>
              <a:rPr lang="da-DK" noProof="0"/>
              <a:t xml:space="preserve">) – Egen arbejdsstyrke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17</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da-DK" sz="975" b="1" kern="1200" spc="-10" noProof="0">
                          <a:solidFill>
                            <a:schemeClr val="tx2"/>
                          </a:solidFill>
                          <a:latin typeface="+mn-lt"/>
                          <a:ea typeface="+mn-ea"/>
                          <a:cs typeface="+mn-cs"/>
                        </a:rPr>
                        <a:t xml:space="preserve">Er der for virksomhedens </a:t>
                      </a:r>
                      <a:r>
                        <a:rPr lang="da-DK" sz="975" b="1" u="sng" kern="1200" spc="-10" noProof="0">
                          <a:solidFill>
                            <a:schemeClr val="tx2"/>
                          </a:solidFill>
                          <a:latin typeface="+mn-lt"/>
                          <a:ea typeface="+mn-ea"/>
                          <a:cs typeface="+mn-cs"/>
                        </a:rPr>
                        <a:t xml:space="preserve">egen arbejdsstyrke</a:t>
                      </a:r>
                      <a:r>
                        <a:rPr lang="da-DK" sz="975" b="1" u="none" kern="1200" spc="-10" noProof="0">
                          <a:solidFill>
                            <a:schemeClr val="tx2"/>
                          </a:solidFill>
                          <a:latin typeface="+mn-lt"/>
                          <a:ea typeface="+mn-ea"/>
                          <a:cs typeface="+mn-cs"/>
                        </a:rPr>
                        <a:t xml:space="preserve"> </a:t>
                      </a:r>
                      <a:r>
                        <a:rPr lang="da-DK" sz="975" b="1" kern="1200" spc="-10" noProof="0">
                          <a:solidFill>
                            <a:schemeClr val="tx2"/>
                          </a:solidFill>
                          <a:latin typeface="+mn-lt"/>
                          <a:ea typeface="+mn-ea"/>
                          <a:cs typeface="+mn-cs"/>
                        </a:rPr>
                        <a:t xml:space="preserve">bekræftede negative hændelser, der relaterer sig til nedenstående </a:t>
                      </a:r>
                      <a:r>
                        <a:rPr lang="da-DK" sz="975" b="0" kern="1200" spc="-10" noProof="0">
                          <a:solidFill>
                            <a:schemeClr val="tx2"/>
                          </a:solidFill>
                          <a:latin typeface="+mn-lt"/>
                          <a:ea typeface="+mn-ea"/>
                          <a:cs typeface="+mn-cs"/>
                        </a:rPr>
                        <a:t xml:space="preserve">(pkt.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da-DK" sz="975" b="1" kern="1200" spc="-10" noProof="0">
                          <a:solidFill>
                            <a:schemeClr val="tx2"/>
                          </a:solidFill>
                          <a:latin typeface="+mn-lt"/>
                          <a:ea typeface="+mn-ea"/>
                          <a:cs typeface="+mn-cs"/>
                        </a:rPr>
                        <a:t xml:space="preserve">Børnearbejde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chemeClr val="accent2"/>
                          </a:solidFill>
                        </a:rPr>
                        <a:t>{{child_labour_yes?}}</a:t>
                      </a:r>
                      <a:endParaRPr lang="da-DK"/>
                    </a:p>
                    <a:p>
                      <a:pPr lvl="0" algn="l">
                        <a:lnSpc>
                          <a:spcPct val="100000"/>
                        </a:lnSpc>
                        <a:spcBef>
                          <a:spcPts val="0"/>
                        </a:spcBef>
                        <a:spcAft>
                          <a:spcPts val="0"/>
                        </a:spcAft>
                        <a:buNone/>
                      </a:pPr>
                      <a:r>
                        <a:rPr lang="da-DK" sz="975" b="0" i="0" u="none" strike="noStrike" noProof="0">
                          <a:solidFill>
                            <a:schemeClr val="accent2"/>
                          </a:solidFill>
                        </a:rPr>
                        <a:t>{{child_labour_desc}}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da-DK" sz="975" b="1" kern="1200" spc="-10" noProof="0">
                          <a:solidFill>
                            <a:schemeClr val="tx2"/>
                          </a:solidFill>
                          <a:latin typeface="+mn-lt"/>
                          <a:ea typeface="+mn-ea"/>
                          <a:cs typeface="+mn-cs"/>
                        </a:rPr>
                        <a:t xml:space="preserve">Tvangsarbejde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chemeClr val="accent2"/>
                          </a:solidFill>
                        </a:rPr>
                        <a:t>{{forced_labour_yes?}}</a:t>
                      </a:r>
                      <a:endParaRPr lang="da-DK"/>
                    </a:p>
                    <a:p>
                      <a:pPr lvl="0" algn="l" defTabSz="914400">
                        <a:lnSpc>
                          <a:spcPct val="100000"/>
                        </a:lnSpc>
                        <a:spcBef>
                          <a:spcPts val="0"/>
                        </a:spcBef>
                        <a:spcAft>
                          <a:spcPts val="0"/>
                        </a:spcAft>
                        <a:buNone/>
                        <a:tabLst/>
                        <a:defRPr/>
                      </a:pPr>
                      <a:r>
                        <a:rPr lang="da-DK" sz="975" b="0" i="0" u="none" strike="noStrike" noProof="0">
                          <a:solidFill>
                            <a:schemeClr val="accent2"/>
                          </a:solidFill>
                        </a:rPr>
                        <a:t>{{forced_labour_desc}}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da-DK" sz="975" b="1" kern="1200" spc="-10" noProof="0">
                          <a:solidFill>
                            <a:schemeClr val="tx2"/>
                          </a:solidFill>
                          <a:latin typeface="+mn-lt"/>
                          <a:ea typeface="+mn-ea"/>
                          <a:cs typeface="+mn-cs"/>
                        </a:rPr>
                        <a:t xml:space="preserve">Menneskehandel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chemeClr val="accent2"/>
                          </a:solidFill>
                        </a:rPr>
                        <a:t>{{human_trafficking_yes?}}</a:t>
                      </a:r>
                      <a:endParaRPr lang="da-DK"/>
                    </a:p>
                    <a:p>
                      <a:pPr lvl="0" algn="l" defTabSz="914400">
                        <a:lnSpc>
                          <a:spcPct val="100000"/>
                        </a:lnSpc>
                        <a:spcBef>
                          <a:spcPts val="0"/>
                        </a:spcBef>
                        <a:spcAft>
                          <a:spcPts val="0"/>
                        </a:spcAft>
                        <a:buNone/>
                        <a:tabLst/>
                        <a:defRPr/>
                      </a:pPr>
                      <a:r>
                        <a:rPr lang="da-DK" sz="975" b="0" i="0" u="none" strike="noStrike" noProof="0">
                          <a:solidFill>
                            <a:schemeClr val="accent2"/>
                          </a:solidFill>
                        </a:rPr>
                        <a:t>{{human_trafficking_desc}}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da-DK" sz="975" b="1" kern="1200" spc="-10" noProof="0">
                          <a:solidFill>
                            <a:schemeClr val="tx2"/>
                          </a:solidFill>
                          <a:latin typeface="+mn-lt"/>
                          <a:ea typeface="+mn-ea"/>
                          <a:cs typeface="+mn-cs"/>
                        </a:rPr>
                        <a:t xml:space="preserve">Diskrimination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chemeClr val="accent2"/>
                          </a:solidFill>
                        </a:rPr>
                        <a:t>{{discrimination_yes?}}</a:t>
                      </a:r>
                      <a:endParaRPr lang="da-DK"/>
                    </a:p>
                    <a:p>
                      <a:pPr lvl="0" algn="l" defTabSz="914400">
                        <a:lnSpc>
                          <a:spcPct val="100000"/>
                        </a:lnSpc>
                        <a:spcBef>
                          <a:spcPts val="0"/>
                        </a:spcBef>
                        <a:spcAft>
                          <a:spcPts val="0"/>
                        </a:spcAft>
                        <a:buNone/>
                        <a:tabLst/>
                        <a:defRPr/>
                      </a:pPr>
                      <a:r>
                        <a:rPr lang="da-DK" sz="975" b="0" i="0" u="none" strike="noStrike" noProof="0">
                          <a:solidFill>
                            <a:schemeClr val="accent2"/>
                          </a:solidFill>
                        </a:rPr>
                        <a:t>{{discrimination_desc}}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da-DK" sz="975" b="1" kern="1200" spc="-10" noProof="0">
                          <a:solidFill>
                            <a:schemeClr val="tx2"/>
                          </a:solidFill>
                          <a:latin typeface="+mn-lt"/>
                          <a:ea typeface="+mn-ea"/>
                          <a:cs typeface="+mn-cs"/>
                        </a:rPr>
                        <a:t xml:space="preserve">Andet </a:t>
                      </a:r>
                      <a:endParaRPr lang="da-DK"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chemeClr val="accent2"/>
                          </a:solidFill>
                          <a:latin typeface="IBM Plex Sans"/>
                          <a:cs typeface="Calibri"/>
                        </a:rPr>
                        <a:t>{{other</a:t>
                      </a:r>
                      <a:r>
                        <a:rPr lang="da-DK" sz="975" b="0" i="0" u="none" strike="noStrike" noProof="0">
                          <a:solidFill>
                            <a:schemeClr val="accent2"/>
                          </a:solidFill>
                          <a:latin typeface="IBM Plex Sans"/>
                        </a:rPr>
                        <a:t>_yes?}}</a:t>
                      </a:r>
                      <a:endParaRPr lang="da-DK"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da-DK" sz="975" b="0" i="0" u="none" strike="noStrike" noProof="0">
                          <a:solidFill>
                            <a:schemeClr val="accent2"/>
                          </a:solidFill>
                          <a:latin typeface="IBM Plex Sans"/>
                        </a:rPr>
                        <a:t>{{other_desc}}</a:t>
                      </a:r>
                      <a:endParaRPr lang="da-DK"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De følgende oplysningskrav angiver, virksomhedens afrapportering på negative hændelser som relaterer sig til børnearbejde, tvangsarbejde, menneskehandel og diskrimination. Virksomhed angiver i dette afsnit om ovenstående relateret til egen arbejdsstyrke.</a:t>
            </a:r>
            <a:endParaRPr lang="da-DK" sz="975" b="0" noProof="0">
              <a:solidFill>
                <a:schemeClr val="tx2"/>
              </a:solidFill>
              <a:effectLst/>
              <a:latin typeface="Inter"/>
            </a:endParaRPr>
          </a:p>
          <a:p>
            <a:pPr>
              <a:buNone/>
            </a:pPr>
            <a:br>
              <a:rPr lang="da-DK" sz="975" noProof="0">
                <a:solidFill>
                  <a:schemeClr val="tx2"/>
                </a:solidFill>
                <a:latin typeface="Inter"/>
              </a:rPr>
            </a:br>
            <a:endParaRPr lang="da-DK"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a:solidFill>
                  <a:srgbClr val="1B4528"/>
                </a:solidFill>
                <a:latin typeface="+mn-lt"/>
                <a:ea typeface="+mn-ea"/>
                <a:cs typeface="+mn-cs"/>
              </a:rPr>
              <a:t xml:space="preserve">Alvorlige negative menneskerettighedshændelser (C7</a:t>
            </a:r>
            <a:r>
              <a:rPr lang="da-DK"/>
              <a:t xml:space="preserve">) – I værdikæden</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da-DK" sz="975" b="1" kern="1200" spc="-10" noProof="0">
                          <a:solidFill>
                            <a:schemeClr val="tx2"/>
                          </a:solidFill>
                          <a:latin typeface="+mn-lt"/>
                          <a:ea typeface="+mn-ea"/>
                          <a:cs typeface="+mn-cs"/>
                        </a:rPr>
                        <a:t xml:space="preserve">Er virksomheden bekendt med bekræftede negative menneskerettighedshændelser i </a:t>
                      </a:r>
                      <a:r>
                        <a:rPr lang="da-DK" sz="975" b="1" kern="1200" noProof="0">
                          <a:solidFill>
                            <a:schemeClr val="accent2"/>
                          </a:solidFill>
                          <a:latin typeface="+mn-lt"/>
                          <a:ea typeface="+mn-ea"/>
                          <a:cs typeface="+mn-cs"/>
                        </a:rPr>
                        <a:t>{{company_name}}’s</a:t>
                      </a:r>
                      <a:r>
                        <a:rPr lang="da-DK" sz="975" b="1" kern="1200" noProof="0">
                          <a:solidFill>
                            <a:schemeClr val="tx2"/>
                          </a:solidFill>
                          <a:latin typeface="+mn-lt"/>
                          <a:ea typeface="+mn-ea"/>
                          <a:cs typeface="+mn-cs"/>
                        </a:rPr>
                        <a:t> </a:t>
                      </a:r>
                      <a:r>
                        <a:rPr lang="da-DK" sz="975" b="1" kern="1200" spc="-10" noProof="0">
                          <a:solidFill>
                            <a:schemeClr val="tx2"/>
                          </a:solidFill>
                          <a:latin typeface="+mn-lt"/>
                          <a:ea typeface="+mn-ea"/>
                          <a:cs typeface="+mn-cs"/>
                        </a:rPr>
                        <a:t xml:space="preserve">værdikæde </a:t>
                      </a:r>
                      <a:r>
                        <a:rPr lang="da-DK" sz="975" b="0" kern="1200" spc="-10" noProof="0">
                          <a:solidFill>
                            <a:schemeClr val="tx2"/>
                          </a:solidFill>
                          <a:latin typeface="+mn-lt"/>
                          <a:ea typeface="+mn-ea"/>
                          <a:cs typeface="+mn-cs"/>
                        </a:rPr>
                        <a:t xml:space="preserve">(pkt.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da-DK" sz="975" b="1" kern="1200" spc="-10" noProof="0">
                          <a:solidFill>
                            <a:schemeClr val="tx2"/>
                          </a:solidFill>
                          <a:latin typeface="+mn-lt"/>
                          <a:ea typeface="+mn-ea"/>
                          <a:cs typeface="+mn-cs"/>
                        </a:rPr>
                        <a:t xml:space="preserve">Arbejdere i værdikæden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{{incidents_workers_value_chain}}</a:t>
                      </a:r>
                      <a:endParaRPr lang="da-DK" sz="975" noProof="0">
                        <a:solidFill>
                          <a:schemeClr val="accent2"/>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da-DK" sz="975" b="1" kern="1200" spc="-10" noProof="0">
                          <a:solidFill>
                            <a:schemeClr val="tx2"/>
                          </a:solidFill>
                          <a:latin typeface="+mn-lt"/>
                          <a:ea typeface="+mn-ea"/>
                          <a:cs typeface="+mn-cs"/>
                        </a:rPr>
                        <a:t xml:space="preserve">Berørte samfund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{{incidents_affected_communities}}</a:t>
                      </a:r>
                      <a:endParaRPr lang="da-DK" sz="975" kern="1200" noProof="0">
                        <a:solidFill>
                          <a:schemeClr val="accent2"/>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da-DK" sz="975" b="1" kern="1200" spc="-10" noProof="0">
                          <a:solidFill>
                            <a:schemeClr val="tx2"/>
                          </a:solidFill>
                          <a:latin typeface="+mn-lt"/>
                          <a:ea typeface="+mn-ea"/>
                          <a:cs typeface="+mn-cs"/>
                        </a:rPr>
                        <a:t xml:space="preserve">Forbrugere og slutbrugere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0" i="0" u="none" strike="noStrike" noProof="0">
                          <a:solidFill>
                            <a:srgbClr val="2D55FF"/>
                          </a:solidFill>
                          <a:effectLst/>
                          <a:latin typeface="Inter"/>
                        </a:rPr>
                        <a:t>{{</a:t>
                      </a:r>
                      <a:r>
                        <a:rPr lang="da-DK" sz="975" b="0" i="0" u="none" strike="noStrike" noProof="0">
                          <a:solidFill>
                            <a:srgbClr val="2D55FF"/>
                          </a:solidFill>
                          <a:effectLst/>
                          <a:latin typeface="Inter"/>
                        </a:rPr>
                        <a:t>incidents_consumers</a:t>
                      </a:r>
                      <a:r>
                        <a:rPr lang="da-DK" sz="975" b="0" i="0" u="none" strike="noStrike" noProof="0">
                          <a:solidFill>
                            <a:srgbClr val="2D55FF"/>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da-DK" sz="975" b="0" i="0" u="none" strike="noStrike" noProof="0">
                <a:solidFill>
                  <a:schemeClr val="tx2"/>
                </a:solidFill>
                <a:effectLst/>
                <a:latin typeface="Inter"/>
              </a:rPr>
              <a:t xml:space="preserve">Nedenfor er </a:t>
            </a:r>
            <a:r>
              <a:rPr lang="da-DK" sz="975" noProof="0">
                <a:solidFill>
                  <a:schemeClr val="tx2"/>
                </a:solidFill>
                <a:latin typeface="Inter"/>
              </a:rPr>
              <a:t xml:space="preserve">angivet information om </a:t>
            </a:r>
            <a:r>
              <a:rPr lang="da-DK" sz="975" b="0" i="0" u="none" strike="noStrike" noProof="0">
                <a:solidFill>
                  <a:schemeClr val="tx2"/>
                </a:solidFill>
                <a:effectLst/>
                <a:latin typeface="Inter"/>
              </a:rPr>
              <a:t xml:space="preserve">virksomhedens kendskab til bekræftede negative menneskerettighedshændelser i virksomhedens værdikæde.</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da-DK" sz="1475" b="1" i="0" u="none" strike="noStrike" kern="1200" spc="-10" noProof="0">
                <a:solidFill>
                  <a:srgbClr val="1B4528"/>
                </a:solidFill>
              </a:rPr>
              <a:t xml:space="preserve">Indtægter fra bestemte aktiviteter (C8)</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18</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Indtægter fra udvalgte sektorer</a:t>
                      </a:r>
                      <a:r>
                        <a:rPr lang="da-DK" sz="975" b="0" kern="1200" spc="-10" noProof="0">
                          <a:solidFill>
                            <a:schemeClr val="tx2"/>
                          </a:solidFill>
                          <a:latin typeface="+mn-lt"/>
                          <a:ea typeface="+mn-ea"/>
                          <a:cs typeface="+mn-cs"/>
                        </a:rPr>
                        <a:t xml:space="preserve"> (Pkt. 63 a-d)</a:t>
                      </a:r>
                    </a:p>
                    <a:p>
                      <a:pPr algn="l"/>
                      <a:endParaRPr lang="da-DK"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725" noProof="0">
                        <a:solidFill>
                          <a:schemeClr val="accent2"/>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da-DK"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1" i="0" u="none" strike="noStrike" noProof="0">
                          <a:solidFill>
                            <a:srgbClr val="1B4528"/>
                          </a:solidFill>
                          <a:effectLst/>
                          <a:latin typeface="IBM Plex Sans" panose="020B0503050203000203" pitchFamily="34" charset="0"/>
                        </a:rPr>
                        <a:t xml:space="preserve">Indtægt i år </a:t>
                      </a:r>
                      <a:r>
                        <a:rPr lang="da-DK" sz="975" b="1" i="0" u="none" strike="noStrike" noProof="0">
                          <a:solidFill>
                            <a:srgbClr val="2D55FF"/>
                          </a:solidFill>
                          <a:effectLst/>
                          <a:latin typeface="Inter"/>
                        </a:rPr>
                        <a:t>{{Insert year}}</a:t>
                      </a:r>
                      <a:endParaRPr lang="da-DK"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da-DK" sz="975" b="1" kern="1200" spc="-10" noProof="0">
                          <a:solidFill>
                            <a:schemeClr val="tx2"/>
                          </a:solidFill>
                          <a:latin typeface="+mn-lt"/>
                          <a:ea typeface="+mn-ea"/>
                          <a:cs typeface="+mn-cs"/>
                        </a:rPr>
                        <a:t xml:space="preserve">Kontroversielle våben (personelminer, klyngebomber, kemiske våben og biologiske våben)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975" b="0" i="0" u="none" strike="noStrike" noProof="0">
                          <a:solidFill>
                            <a:srgbClr val="2D55FF"/>
                          </a:solidFill>
                          <a:effectLst/>
                          <a:latin typeface="Inter"/>
                        </a:rPr>
                        <a:t>{{revenue_weapons}}</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da-DK" sz="975" b="1" kern="1200" spc="-10" noProof="0">
                          <a:solidFill>
                            <a:schemeClr val="tx2"/>
                          </a:solidFill>
                          <a:latin typeface="+mn-lt"/>
                          <a:ea typeface="+mn-ea"/>
                          <a:cs typeface="+mn-cs"/>
                        </a:rPr>
                        <a:t xml:space="preserve">Dyrkning og/eller produktion af tobak</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975" b="0" i="0" u="none" strike="noStrike" noProof="0">
                          <a:solidFill>
                            <a:srgbClr val="2D55FF"/>
                          </a:solidFill>
                          <a:effectLst/>
                          <a:latin typeface="Inter"/>
                        </a:rPr>
                        <a:t>{{revenue_cultivation}}</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da-DK" sz="975" b="1" kern="1200" spc="-10" noProof="0">
                          <a:solidFill>
                            <a:schemeClr val="tx2"/>
                          </a:solidFill>
                          <a:latin typeface="+mn-lt"/>
                          <a:ea typeface="+mn-ea"/>
                          <a:cs typeface="+mn-cs"/>
                        </a:rPr>
                        <a:t xml:space="preserve">Fossile brændstoffer: Kul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975" b="0" i="0" u="none" strike="noStrike" noProof="0">
                          <a:solidFill>
                            <a:srgbClr val="2D55FF"/>
                          </a:solidFill>
                          <a:effectLst/>
                          <a:latin typeface="Inter"/>
                        </a:rPr>
                        <a:t>{{revenue_coal}}</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da-DK" sz="975" b="1" kern="1200" spc="-10" noProof="0">
                          <a:solidFill>
                            <a:schemeClr val="tx2"/>
                          </a:solidFill>
                          <a:latin typeface="+mn-lt"/>
                          <a:ea typeface="+mn-ea"/>
                          <a:cs typeface="+mn-cs"/>
                        </a:rPr>
                        <a:t xml:space="preserve">Fossile brændstoffer: Olie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975" b="0" i="0" u="none" strike="noStrike" noProof="0">
                          <a:solidFill>
                            <a:srgbClr val="2D55FF"/>
                          </a:solidFill>
                          <a:effectLst/>
                          <a:latin typeface="Inter"/>
                        </a:rPr>
                        <a:t>{{revenue_oil}}</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da-DK" sz="975" b="1" kern="1200" spc="-10" noProof="0">
                          <a:solidFill>
                            <a:schemeClr val="tx2"/>
                          </a:solidFill>
                          <a:latin typeface="+mn-lt"/>
                          <a:ea typeface="+mn-ea"/>
                          <a:cs typeface="+mn-cs"/>
                        </a:rPr>
                        <a:t xml:space="preserve">Fossile brændstoffer: Gas/Naturgas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975" b="0" i="0" u="none" strike="noStrike" noProof="0">
                          <a:solidFill>
                            <a:srgbClr val="2D55FF"/>
                          </a:solidFill>
                          <a:effectLst/>
                          <a:latin typeface="Inter"/>
                        </a:rPr>
                        <a:t>{{revenue_gas}}</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da-DK" sz="975" b="1" kern="1200" spc="-10" noProof="0">
                          <a:solidFill>
                            <a:schemeClr val="tx2"/>
                          </a:solidFill>
                          <a:latin typeface="+mn-lt"/>
                          <a:ea typeface="+mn-ea"/>
                          <a:cs typeface="+mn-cs"/>
                        </a:rPr>
                        <a:t xml:space="preserve">Kemikalieproduktion til produktion af pesticider og andre agrokemiske produkter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rtl="0" fontAlgn="ctr">
                        <a:buNone/>
                      </a:pPr>
                      <a:r>
                        <a:rPr lang="da-DK" sz="975" b="0" i="0" u="none" strike="noStrike" noProof="0">
                          <a:solidFill>
                            <a:srgbClr val="2D55FF"/>
                          </a:solidFill>
                          <a:effectLst/>
                          <a:latin typeface="Inter"/>
                        </a:rPr>
                        <a:t>{{revenue_chemichal}}</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da-DK" sz="975" noProof="0">
                <a:solidFill>
                  <a:schemeClr val="tx2"/>
                </a:solidFill>
                <a:latin typeface="Inter"/>
              </a:rPr>
              <a:t xml:space="preserve">V</a:t>
            </a:r>
            <a:r>
              <a:rPr lang="da-DK" sz="975" b="0" i="0" u="none" strike="noStrike" noProof="0">
                <a:solidFill>
                  <a:schemeClr val="tx2"/>
                </a:solidFill>
                <a:effectLst/>
                <a:latin typeface="Inter"/>
              </a:rPr>
              <a:t xml:space="preserve">irksomheden har angivet indtægter fra udvalgte sektorer og angivet beløbsstørrelser fra disse aktiviteter.</a:t>
            </a:r>
            <a:endParaRPr lang="da-DK"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noProof="0">
                <a:solidFill>
                  <a:srgbClr val="1B4528"/>
                </a:solidFill>
              </a:rPr>
              <a:t xml:space="preserve">Kønsfordeling i øverste ledelsesorgan (C9)</a:t>
            </a:r>
            <a:endParaRPr lang="da-DK"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da-DK" sz="975" b="1" kern="1200" spc="-10" noProof="0">
                          <a:solidFill>
                            <a:schemeClr val="tx2"/>
                          </a:solidFill>
                          <a:latin typeface="+mj-lt"/>
                          <a:ea typeface="+mn-ea"/>
                          <a:cs typeface="+mn-cs"/>
                        </a:rPr>
                        <a:t xml:space="preserve">Forholdet mellem kvinder og mænd i det øverste ledelsesorgan (</a:t>
                      </a:r>
                      <a:r>
                        <a:rPr lang="da-DK" sz="975" b="0" kern="1200" spc="-10" noProof="0">
                          <a:solidFill>
                            <a:schemeClr val="tx2"/>
                          </a:solidFill>
                          <a:latin typeface="+mj-lt"/>
                          <a:ea typeface="+mn-ea"/>
                          <a:cs typeface="+mn-cs"/>
                        </a:rPr>
                        <a:t xml:space="preserve">pkt. 64</a:t>
                      </a:r>
                      <a:r>
                        <a:rPr lang="da-DK"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rPr>
                        <a:t xml:space="preserve">År </a:t>
                      </a:r>
                      <a:r>
                        <a:rPr lang="da-DK" sz="975" b="1" i="0" u="none" strike="noStrike" noProof="0">
                          <a:solidFill>
                            <a:srgbClr val="2D55FF"/>
                          </a:solidFill>
                          <a:effectLst/>
                          <a:latin typeface="Inter"/>
                        </a:rPr>
                        <a:t>{{Insert year}}</a:t>
                      </a:r>
                      <a:endParaRPr lang="da-DK"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a-DK"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75" b="0" noProof="0">
                          <a:solidFill>
                            <a:schemeClr val="accent2"/>
                          </a:solidFill>
                        </a:rPr>
                        <a:t>{{</a:t>
                      </a:r>
                      <a:r>
                        <a:rPr lang="da-DK" sz="975" b="0" i="0" u="none" strike="noStrike" noProof="0">
                          <a:solidFill>
                            <a:schemeClr val="accent2"/>
                          </a:solidFill>
                          <a:latin typeface="IBM Plex Sans"/>
                        </a:rPr>
                        <a:t>gender_supreme_body</a:t>
                      </a:r>
                      <a:r>
                        <a:rPr lang="da-DK" sz="975" b="0" noProof="0">
                          <a:solidFill>
                            <a:schemeClr val="accent2"/>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da-DK" b="0" noProof="0">
                <a:effectLst/>
              </a:rPr>
              <a:t> </a:t>
            </a:r>
            <a:endParaRPr lang="da-DK"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da-DK" sz="975" noProof="0">
                <a:solidFill>
                  <a:schemeClr val="tx2"/>
                </a:solidFill>
                <a:latin typeface="Inter"/>
              </a:rPr>
              <a:t xml:space="preserve">V</a:t>
            </a:r>
            <a:r>
              <a:rPr lang="da-DK" sz="975" b="0" i="0" u="none" strike="noStrike" noProof="0">
                <a:solidFill>
                  <a:schemeClr val="tx2"/>
                </a:solidFill>
                <a:effectLst/>
                <a:latin typeface="Inter"/>
              </a:rPr>
              <a:t xml:space="preserve">irksomheden har angivet forholdet mellem kvinder og mænd i det øverste ledelsesorgan.</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da-DK" sz="1475" b="1" noProof="0">
                <a:solidFill>
                  <a:srgbClr val="FFFFFF"/>
                </a:solidFill>
                <a:latin typeface="IBM Plex Sans" panose="020B0503050203000203" pitchFamily="34" charset="0"/>
              </a:rPr>
              <a:t>{{company_name}}</a:t>
            </a:r>
          </a:p>
          <a:p>
            <a:pPr algn="ctr"/>
            <a:r>
              <a:rPr lang="da-DK" sz="1475" b="1" noProof="0">
                <a:solidFill>
                  <a:srgbClr val="FFFFFF"/>
                </a:solidFill>
                <a:latin typeface="IBM Plex Sans" panose="020B0503050203000203" pitchFamily="34" charset="0"/>
              </a:rPr>
              <a:t>{{insert_year}}</a:t>
            </a:r>
            <a:br>
              <a:rPr lang="da-DK" sz="1475" b="1" noProof="0">
                <a:solidFill>
                  <a:srgbClr val="FFFFFF"/>
                </a:solidFill>
                <a:latin typeface="IBM Plex Sans" panose="020B0503050203000203" pitchFamily="34" charset="0"/>
              </a:rPr>
            </a:br>
            <a:endParaRPr lang="da-DK"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da-DK" noProof="0" smtClean="0"/>
              <a:pPr/>
              <a:t>19</a:t>
            </a:fld>
            <a:endParaRPr lang="da-DK"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