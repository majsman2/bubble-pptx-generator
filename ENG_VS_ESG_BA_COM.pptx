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IBM Plex Sa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jXrbbIJ7q/rDs0XCC4QH1Y3WYb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4485D4-36BE-405D-A0BE-AC2E898BDFCA}">
  <a:tblStyle styleId="{7E4485D4-36BE-405D-A0BE-AC2E898BDFCA}"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bold.fntdata"/><Relationship Id="rId10" Type="http://schemas.openxmlformats.org/officeDocument/2006/relationships/slide" Target="slides/slide4.xml"/><Relationship Id="rId32" Type="http://schemas.openxmlformats.org/officeDocument/2006/relationships/font" Target="fonts/IBMPlexSans-regular.fntdata"/><Relationship Id="rId13" Type="http://schemas.openxmlformats.org/officeDocument/2006/relationships/slide" Target="slides/slide7.xml"/><Relationship Id="rId35" Type="http://schemas.openxmlformats.org/officeDocument/2006/relationships/font" Target="fonts/IBMPlexSans-boldItalic.fntdata"/><Relationship Id="rId12" Type="http://schemas.openxmlformats.org/officeDocument/2006/relationships/slide" Target="slides/slide6.xml"/><Relationship Id="rId34" Type="http://schemas.openxmlformats.org/officeDocument/2006/relationships/font" Target="fonts/IBMPlexSans-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en-GB" sz="1200" u="none" strike="noStrike">
                <a:solidFill>
                  <a:schemeClr val="dk1"/>
                </a:solidFill>
                <a:latin typeface="IBM Plex Sans"/>
                <a:ea typeface="IBM Plex Sans"/>
                <a:cs typeface="IBM Plex Sans"/>
                <a:sym typeface="IBM Plex Sans"/>
              </a:rPr>
              <a:t>Added: column on monitoring</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{{Insert_CO2e_intensity}}</a:t>
            </a:r>
            <a:endParaRPr b="0"/>
          </a:p>
        </p:txBody>
      </p:sp>
      <p:sp>
        <p:nvSpPr>
          <p:cNvPr id="98" name="Google Shape;9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{{uploaded_documents_B4}}</a:t>
            </a:r>
            <a:endParaRPr b="0"/>
          </a:p>
        </p:txBody>
      </p:sp>
      <p:sp>
        <p:nvSpPr>
          <p:cNvPr id="109" name="Google Shape;1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{{waterstress_withdrawal}}</a:t>
            </a:r>
            <a:endParaRPr b="0"/>
          </a:p>
          <a:p>
            <a:pPr indent="0" lvl="0" marL="0" rtl="0" algn="l">
              <a:spcBef>
                <a:spcPts val="0"/>
              </a:spcBef>
              <a:spcAft>
                <a:spcPts val="0"/>
              </a:spcAft>
              <a:buNone/>
            </a:pPr>
            <a:br>
              <a:rPr lang="en-GB"/>
            </a:br>
            <a:endParaRPr/>
          </a:p>
        </p:txBody>
      </p:sp>
      <p:sp>
        <p:nvSpPr>
          <p:cNvPr id="122" name="Google Shape;1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a:t>
            </a:r>
            <a:r>
              <a:rPr b="0" i="0" lang="en-GB" sz="1200" u="none" strike="noStrike">
                <a:solidFill>
                  <a:schemeClr val="dk1"/>
                </a:solidFill>
                <a:latin typeface="IBM Plex Sans"/>
                <a:ea typeface="IBM Plex Sans"/>
                <a:cs typeface="IBM Plex Sans"/>
                <a:sym typeface="IBM Plex Sans"/>
              </a:rPr>
              <a:t>{{omsatningsrate}}</a:t>
            </a:r>
            <a:endParaRPr b="0"/>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GB"/>
              <a:t>Removed: </a:t>
            </a:r>
            <a:r>
              <a:rPr b="0" i="0" lang="en-GB" sz="1200" u="none" strike="noStrike">
                <a:solidFill>
                  <a:schemeClr val="dk1"/>
                </a:solidFill>
                <a:latin typeface="IBM Plex Sans"/>
                <a:ea typeface="IBM Plex Sans"/>
                <a:cs typeface="IBM Plex Sans"/>
                <a:sym typeface="IBM Plex Sans"/>
              </a:rPr>
              <a:t>{{men_gennemsnitstimer}}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en-GB" sz="1200" u="none" strike="noStrike">
                <a:solidFill>
                  <a:schemeClr val="dk1"/>
                </a:solidFill>
                <a:latin typeface="IBM Plex Sans"/>
                <a:ea typeface="IBM Plex Sans"/>
                <a:cs typeface="IBM Plex Sans"/>
                <a:sym typeface="IBM Plex Sans"/>
              </a:rPr>
              <a:t>{{women_gennemsnitstimer}}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en-GB" sz="1200" u="none" strike="noStrike">
                <a:solidFill>
                  <a:schemeClr val="dk1"/>
                </a:solidFill>
                <a:latin typeface="IBM Plex Sans"/>
                <a:ea typeface="IBM Plex Sans"/>
                <a:cs typeface="IBM Plex Sans"/>
                <a:sym typeface="IBM Plex Sans"/>
              </a:rPr>
              <a:t>{{other_gennemsnitstimer}}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b="0"/>
          </a:p>
        </p:txBody>
      </p:sp>
      <p:sp>
        <p:nvSpPr>
          <p:cNvPr id="160" name="Google Shape;1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Added from B8: </a:t>
            </a:r>
            <a:r>
              <a:rPr b="0" i="0" lang="en-GB" sz="1200" u="none" strike="noStrike">
                <a:solidFill>
                  <a:schemeClr val="dk1"/>
                </a:solidFill>
                <a:latin typeface="IBM Plex Sans"/>
                <a:ea typeface="IBM Plex Sans"/>
                <a:cs typeface="IBM Plex Sans"/>
                <a:sym typeface="IBM Plex Sans"/>
              </a:rPr>
              <a:t>{{omsatningsrate}}</a:t>
            </a:r>
            <a:endParaRPr b="0"/>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Removed: EU benchmark exclusion</a:t>
            </a:r>
            <a:endParaRPr/>
          </a:p>
          <a:p>
            <a:pPr indent="0" lvl="0" marL="0" rtl="0" algn="l">
              <a:spcBef>
                <a:spcPts val="0"/>
              </a:spcBef>
              <a:spcAft>
                <a:spcPts val="0"/>
              </a:spcAft>
              <a:buNone/>
            </a:pPr>
            <a:r>
              <a:rPr lang="en-GB"/>
              <a:t>Removed: </a:t>
            </a:r>
            <a:endParaRPr/>
          </a:p>
        </p:txBody>
      </p:sp>
      <p:sp>
        <p:nvSpPr>
          <p:cNvPr id="298" name="Google Shape;2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p:nvPr/>
        </p:nvSpPr>
        <p:spPr>
          <a:xfrm>
            <a:off x="3422854" y="2136228"/>
            <a:ext cx="1394622" cy="2068689"/>
          </a:xfrm>
          <a:prstGeom prst="rect">
            <a:avLst/>
          </a:prstGeom>
          <a:noFill/>
          <a:ln>
            <a:noFill/>
          </a:ln>
        </p:spPr>
      </p:sp>
      <p:sp>
        <p:nvSpPr>
          <p:cNvPr id="17" name="Google Shape;17;p27"/>
          <p:cNvSpPr/>
          <p:nvPr/>
        </p:nvSpPr>
        <p:spPr>
          <a:xfrm>
            <a:off x="7013220" y="2085593"/>
            <a:ext cx="1781124" cy="2156098"/>
          </a:xfrm>
          <a:prstGeom prst="rect">
            <a:avLst/>
          </a:prstGeom>
          <a:noFill/>
          <a:ln>
            <a:noFill/>
          </a:ln>
        </p:spPr>
      </p:sp>
      <p:sp>
        <p:nvSpPr>
          <p:cNvPr id="18" name="Google Shape;18;p27"/>
          <p:cNvSpPr/>
          <p:nvPr/>
        </p:nvSpPr>
        <p:spPr>
          <a:xfrm>
            <a:off x="5103319" y="2085593"/>
            <a:ext cx="1658004" cy="2210671"/>
          </a:xfrm>
          <a:prstGeom prst="rect">
            <a:avLst/>
          </a:prstGeom>
          <a:noFill/>
          <a:ln>
            <a:noFill/>
          </a:ln>
        </p:spPr>
      </p:sp>
      <p:sp>
        <p:nvSpPr>
          <p:cNvPr id="19" name="Google Shape;19;p27"/>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type="title"/>
          </p:nvPr>
        </p:nvSpPr>
        <p:spPr>
          <a:xfrm>
            <a:off x="1079500" y="4619652"/>
            <a:ext cx="10033000" cy="182736"/>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11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21" name="Shape 21"/>
        <p:cNvGrpSpPr/>
        <p:nvPr/>
      </p:nvGrpSpPr>
      <p:grpSpPr>
        <a:xfrm>
          <a:off x="0" y="0"/>
          <a:ext cx="0" cy="0"/>
          <a:chOff x="0" y="0"/>
          <a:chExt cx="0" cy="0"/>
        </a:xfrm>
      </p:grpSpPr>
      <p:sp>
        <p:nvSpPr>
          <p:cNvPr id="22" name="Google Shape;22;p28"/>
          <p:cNvSpPr txBox="1"/>
          <p:nvPr>
            <p:ph idx="1" type="body"/>
          </p:nvPr>
        </p:nvSpPr>
        <p:spPr>
          <a:xfrm>
            <a:off x="518599" y="985520"/>
            <a:ext cx="4558013" cy="536448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8"/>
          <p:cNvSpPr txBox="1"/>
          <p:nvPr>
            <p:ph idx="2" type="body"/>
          </p:nvPr>
        </p:nvSpPr>
        <p:spPr>
          <a:xfrm>
            <a:off x="6472011" y="979593"/>
            <a:ext cx="4558013" cy="5364479"/>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6" name="Google Shape;26;p2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2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2" name="Shape 32"/>
        <p:cNvGrpSpPr/>
        <p:nvPr/>
      </p:nvGrpSpPr>
      <p:grpSpPr>
        <a:xfrm>
          <a:off x="0" y="0"/>
          <a:ext cx="0" cy="0"/>
          <a:chOff x="0" y="0"/>
          <a:chExt cx="0" cy="0"/>
        </a:xfrm>
      </p:grpSpPr>
      <p:sp>
        <p:nvSpPr>
          <p:cNvPr id="33" name="Google Shape;33;p30"/>
          <p:cNvSpPr txBox="1"/>
          <p:nvPr>
            <p:ph idx="1" type="body"/>
          </p:nvPr>
        </p:nvSpPr>
        <p:spPr>
          <a:xfrm>
            <a:off x="1079500" y="1587501"/>
            <a:ext cx="10033000" cy="1460499"/>
          </a:xfrm>
          <a:prstGeom prst="rect">
            <a:avLst/>
          </a:prstGeom>
          <a:solidFill>
            <a:srgbClr val="1B4529"/>
          </a:solidFill>
          <a:ln>
            <a:noFill/>
          </a:ln>
        </p:spPr>
        <p:txBody>
          <a:bodyPr anchorCtr="0" anchor="t" bIns="0" lIns="0" spcFirstLastPara="1" rIns="0" wrap="square" tIns="0">
            <a:normAutofit/>
          </a:bodyPr>
          <a:lstStyle>
            <a:lvl1pPr indent="-228600" lvl="0" marL="457200" algn="l">
              <a:lnSpc>
                <a:spcPct val="100000"/>
              </a:lnSpc>
              <a:spcBef>
                <a:spcPts val="200"/>
              </a:spcBef>
              <a:spcAft>
                <a:spcPts val="0"/>
              </a:spcAft>
              <a:buClr>
                <a:schemeClr val="lt1"/>
              </a:buClr>
              <a:buSzPts val="1100"/>
              <a:buFont typeface="IBM Plex Sans"/>
              <a:buNone/>
              <a:defRPr sz="1100">
                <a:solidFill>
                  <a:schemeClr val="lt1"/>
                </a:solidFill>
              </a:defRPr>
            </a:lvl1pPr>
            <a:lvl2pPr indent="-228600" lvl="1" marL="914400" algn="l">
              <a:lnSpc>
                <a:spcPct val="106000"/>
              </a:lnSpc>
              <a:spcBef>
                <a:spcPts val="0"/>
              </a:spcBef>
              <a:spcAft>
                <a:spcPts val="0"/>
              </a:spcAft>
              <a:buClr>
                <a:schemeClr val="lt1"/>
              </a:buClr>
              <a:buSzPts val="1100"/>
              <a:buFont typeface="IBM Plex Sans"/>
              <a:buNone/>
              <a:defRPr sz="1100">
                <a:solidFill>
                  <a:schemeClr val="lt1"/>
                </a:solidFill>
              </a:defRPr>
            </a:lvl2pPr>
            <a:lvl3pPr indent="-298450" lvl="2" marL="1371600" algn="l">
              <a:lnSpc>
                <a:spcPct val="106000"/>
              </a:lnSpc>
              <a:spcBef>
                <a:spcPts val="0"/>
              </a:spcBef>
              <a:spcAft>
                <a:spcPts val="0"/>
              </a:spcAft>
              <a:buClr>
                <a:schemeClr val="lt1"/>
              </a:buClr>
              <a:buSzPts val="1100"/>
              <a:buChar char="•"/>
              <a:defRPr sz="1100">
                <a:solidFill>
                  <a:schemeClr val="lt1"/>
                </a:solidFill>
              </a:defRPr>
            </a:lvl3pPr>
            <a:lvl4pPr indent="-298450" lvl="3" marL="1828800" algn="l">
              <a:lnSpc>
                <a:spcPct val="106000"/>
              </a:lnSpc>
              <a:spcBef>
                <a:spcPts val="0"/>
              </a:spcBef>
              <a:spcAft>
                <a:spcPts val="0"/>
              </a:spcAft>
              <a:buClr>
                <a:schemeClr val="lt1"/>
              </a:buClr>
              <a:buSzPts val="1100"/>
              <a:buChar char="•"/>
              <a:defRPr sz="1100">
                <a:solidFill>
                  <a:schemeClr val="lt1"/>
                </a:solidFill>
              </a:defRPr>
            </a:lvl4pPr>
            <a:lvl5pPr indent="-298450" lvl="4" marL="2286000" algn="l">
              <a:lnSpc>
                <a:spcPct val="106000"/>
              </a:lnSpc>
              <a:spcBef>
                <a:spcPts val="0"/>
              </a:spcBef>
              <a:spcAft>
                <a:spcPts val="0"/>
              </a:spcAft>
              <a:buClr>
                <a:schemeClr val="lt1"/>
              </a:buClr>
              <a:buSzPts val="1100"/>
              <a:buChar char="•"/>
              <a:defRPr sz="11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sz="1000">
                <a:solidFill>
                  <a:schemeClr val="lt1"/>
                </a:solidFill>
                <a:latin typeface="IBM Plex Sans"/>
                <a:ea typeface="IBM Plex Sans"/>
                <a:cs typeface="IBM Plex Sans"/>
                <a:sym typeface="IBM Plex Sans"/>
              </a:defRPr>
            </a:lvl1pPr>
            <a:lvl2pPr indent="0" lvl="1" marL="0" algn="r">
              <a:spcBef>
                <a:spcPts val="0"/>
              </a:spcBef>
              <a:buNone/>
              <a:defRPr sz="1000">
                <a:solidFill>
                  <a:schemeClr val="lt1"/>
                </a:solidFill>
                <a:latin typeface="IBM Plex Sans"/>
                <a:ea typeface="IBM Plex Sans"/>
                <a:cs typeface="IBM Plex Sans"/>
                <a:sym typeface="IBM Plex Sans"/>
              </a:defRPr>
            </a:lvl2pPr>
            <a:lvl3pPr indent="0" lvl="2" marL="0" algn="r">
              <a:spcBef>
                <a:spcPts val="0"/>
              </a:spcBef>
              <a:buNone/>
              <a:defRPr sz="1000">
                <a:solidFill>
                  <a:schemeClr val="lt1"/>
                </a:solidFill>
                <a:latin typeface="IBM Plex Sans"/>
                <a:ea typeface="IBM Plex Sans"/>
                <a:cs typeface="IBM Plex Sans"/>
                <a:sym typeface="IBM Plex Sans"/>
              </a:defRPr>
            </a:lvl3pPr>
            <a:lvl4pPr indent="0" lvl="3" marL="0" algn="r">
              <a:spcBef>
                <a:spcPts val="0"/>
              </a:spcBef>
              <a:buNone/>
              <a:defRPr sz="1000">
                <a:solidFill>
                  <a:schemeClr val="lt1"/>
                </a:solidFill>
                <a:latin typeface="IBM Plex Sans"/>
                <a:ea typeface="IBM Plex Sans"/>
                <a:cs typeface="IBM Plex Sans"/>
                <a:sym typeface="IBM Plex Sans"/>
              </a:defRPr>
            </a:lvl4pPr>
            <a:lvl5pPr indent="0" lvl="4" marL="0" algn="r">
              <a:spcBef>
                <a:spcPts val="0"/>
              </a:spcBef>
              <a:buNone/>
              <a:defRPr sz="1000">
                <a:solidFill>
                  <a:schemeClr val="lt1"/>
                </a:solidFill>
                <a:latin typeface="IBM Plex Sans"/>
                <a:ea typeface="IBM Plex Sans"/>
                <a:cs typeface="IBM Plex Sans"/>
                <a:sym typeface="IBM Plex Sans"/>
              </a:defRPr>
            </a:lvl5pPr>
            <a:lvl6pPr indent="0" lvl="5" marL="0" algn="r">
              <a:spcBef>
                <a:spcPts val="0"/>
              </a:spcBef>
              <a:buNone/>
              <a:defRPr sz="1000">
                <a:solidFill>
                  <a:schemeClr val="lt1"/>
                </a:solidFill>
                <a:latin typeface="IBM Plex Sans"/>
                <a:ea typeface="IBM Plex Sans"/>
                <a:cs typeface="IBM Plex Sans"/>
                <a:sym typeface="IBM Plex Sans"/>
              </a:defRPr>
            </a:lvl6pPr>
            <a:lvl7pPr indent="0" lvl="6" marL="0" algn="r">
              <a:spcBef>
                <a:spcPts val="0"/>
              </a:spcBef>
              <a:buNone/>
              <a:defRPr sz="1000">
                <a:solidFill>
                  <a:schemeClr val="lt1"/>
                </a:solidFill>
                <a:latin typeface="IBM Plex Sans"/>
                <a:ea typeface="IBM Plex Sans"/>
                <a:cs typeface="IBM Plex Sans"/>
                <a:sym typeface="IBM Plex Sans"/>
              </a:defRPr>
            </a:lvl7pPr>
            <a:lvl8pPr indent="0" lvl="7" marL="0" algn="r">
              <a:spcBef>
                <a:spcPts val="0"/>
              </a:spcBef>
              <a:buNone/>
              <a:defRPr sz="1000">
                <a:solidFill>
                  <a:schemeClr val="lt1"/>
                </a:solidFill>
                <a:latin typeface="IBM Plex Sans"/>
                <a:ea typeface="IBM Plex Sans"/>
                <a:cs typeface="IBM Plex Sans"/>
                <a:sym typeface="IBM Plex Sans"/>
              </a:defRPr>
            </a:lvl8pPr>
            <a:lvl9pPr indent="0" lvl="8" marL="0" algn="r">
              <a:spcBef>
                <a:spcPts val="0"/>
              </a:spcBef>
              <a:buNone/>
              <a:defRPr sz="1000">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7" name="Shape 37"/>
        <p:cNvGrpSpPr/>
        <p:nvPr/>
      </p:nvGrpSpPr>
      <p:grpSpPr>
        <a:xfrm>
          <a:off x="0" y="0"/>
          <a:ext cx="0" cy="0"/>
          <a:chOff x="0" y="0"/>
          <a:chExt cx="0" cy="0"/>
        </a:xfrm>
      </p:grpSpPr>
      <p:sp>
        <p:nvSpPr>
          <p:cNvPr id="38" name="Google Shape;38;p31"/>
          <p:cNvSpPr txBox="1"/>
          <p:nvPr>
            <p:ph idx="1" type="body"/>
          </p:nvPr>
        </p:nvSpPr>
        <p:spPr>
          <a:xfrm>
            <a:off x="508000" y="1015788"/>
            <a:ext cx="3513138" cy="5328285"/>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1"/>
          <p:cNvSpPr txBox="1"/>
          <p:nvPr>
            <p:ph idx="2" type="body"/>
          </p:nvPr>
        </p:nvSpPr>
        <p:spPr>
          <a:xfrm>
            <a:off x="4338638" y="1015789"/>
            <a:ext cx="3513137" cy="5328284"/>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idx="1" type="body"/>
          </p:nvPr>
        </p:nvSpPr>
        <p:spPr>
          <a:xfrm>
            <a:off x="518599" y="1015999"/>
            <a:ext cx="11165399" cy="5328073"/>
          </a:xfrm>
          <a:prstGeom prst="rect">
            <a:avLst/>
          </a:prstGeom>
          <a:noFill/>
          <a:ln>
            <a:noFill/>
          </a:ln>
        </p:spPr>
        <p:txBody>
          <a:bodyPr anchorCtr="0" anchor="t" bIns="0" lIns="0" spcFirstLastPara="1" rIns="0" wrap="square" tIns="0">
            <a:noAutofit/>
          </a:bodyPr>
          <a:lstStyle>
            <a:lvl1pPr indent="-285750" lvl="0" marL="4572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1pPr>
            <a:lvl2pPr indent="-285750" lvl="1" marL="9144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2pPr>
            <a:lvl3pPr indent="-285750" lvl="2" marL="13716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3pPr>
            <a:lvl4pPr indent="-285750" lvl="3" marL="18288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4pPr>
            <a:lvl5pPr indent="-285750" lvl="4" marL="22860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9pPr>
          </a:lstStyle>
          <a:p/>
        </p:txBody>
      </p:sp>
      <p:sp>
        <p:nvSpPr>
          <p:cNvPr id="11" name="Google Shape;11;p26"/>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2" name="Google Shape;12;p2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3" name="Google Shape;13;p2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000"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1000"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1000"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1000"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1000"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1000"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1000"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1000"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1000"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GB"/>
              <a:t>‹#›</a:t>
            </a:fld>
            <a:endParaRPr/>
          </a:p>
        </p:txBody>
      </p:sp>
      <p:sp>
        <p:nvSpPr>
          <p:cNvPr id="14" name="Google Shape;14;p2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800"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1079500" y="4619652"/>
            <a:ext cx="10033000" cy="152349"/>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1100"/>
              <a:buFont typeface="IBM Plex Sans"/>
              <a:buNone/>
            </a:pPr>
            <a:r>
              <a:rPr lang="en-GB"/>
              <a:t>ESG REPORT {{insert_year}}</a:t>
            </a:r>
            <a:endParaRPr/>
          </a:p>
        </p:txBody>
      </p:sp>
      <p:sp>
        <p:nvSpPr>
          <p:cNvPr id="47" name="Google Shape;47;p1"/>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518600" y="513927"/>
            <a:ext cx="11165400"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ESG report</a:t>
            </a:r>
            <a:r>
              <a:rPr b="0" lang="en-GB">
                <a:solidFill>
                  <a:schemeClr val="accent2"/>
                </a:solidFill>
              </a:rPr>
              <a:t> </a:t>
            </a:r>
            <a:br>
              <a:rPr b="0" lang="en-GB">
                <a:solidFill>
                  <a:schemeClr val="accent2"/>
                </a:solidFill>
              </a:rPr>
            </a:br>
            <a:endParaRPr b="0">
              <a:solidFill>
                <a:schemeClr val="accent2"/>
              </a:solidFill>
            </a:endParaRPr>
          </a:p>
        </p:txBody>
      </p:sp>
      <p:sp>
        <p:nvSpPr>
          <p:cNvPr id="54" name="Google Shape;54;p2"/>
          <p:cNvSpPr txBox="1"/>
          <p:nvPr>
            <p:ph idx="1" type="body"/>
          </p:nvPr>
        </p:nvSpPr>
        <p:spPr>
          <a:xfrm>
            <a:off x="518597" y="985520"/>
            <a:ext cx="7845473" cy="536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General information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solidFill>
                  <a:schemeClr val="dk2"/>
                </a:solidFill>
                <a:latin typeface="IBM Plex Sans"/>
                <a:ea typeface="IBM Plex Sans"/>
                <a:cs typeface="IBM Plex Sans"/>
                <a:sym typeface="IBM Plex Sans"/>
              </a:rPr>
              <a:t>Practices, policies and initiatives for transitioning to a more sustainable economy	</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Energy consumption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CO₂e emissions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Pollution of air, water and soil</a:t>
            </a:r>
            <a:r>
              <a:rPr lang="en-GB"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Biodiversity</a:t>
            </a:r>
            <a:r>
              <a:rPr lang="en-GB"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Water	</a:t>
            </a:r>
            <a:r>
              <a:rPr lang="en-GB"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Resource use, circular economy and waste management</a:t>
            </a:r>
            <a:r>
              <a:rPr lang="en-GB"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Own workforce: General characteristics</a:t>
            </a:r>
            <a:r>
              <a:rPr lang="en-GB"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Own workforce: Health and safety</a:t>
            </a:r>
            <a:r>
              <a:rPr lang="en-GB"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Own workforce: Remuneration, collective bargaining and training</a:t>
            </a:r>
            <a:r>
              <a:rPr lang="en-GB"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en-GB" sz="1200">
                <a:latin typeface="IBM Plex Sans"/>
                <a:ea typeface="IBM Plex Sans"/>
                <a:cs typeface="IBM Plex Sans"/>
                <a:sym typeface="IBM Plex Sans"/>
              </a:rPr>
              <a:t>Business conduct</a:t>
            </a:r>
            <a:r>
              <a:rPr lang="en-GB"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p:txBody>
      </p:sp>
      <p:sp>
        <p:nvSpPr>
          <p:cNvPr id="55" name="Google Shape;55;p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a:p>
        </p:txBody>
      </p:sp>
      <p:sp>
        <p:nvSpPr>
          <p:cNvPr id="56" name="Google Shape;56;p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Basis for preparation (B1) </a:t>
            </a:r>
            <a:endParaRPr/>
          </a:p>
        </p:txBody>
      </p:sp>
      <p:sp>
        <p:nvSpPr>
          <p:cNvPr id="63" name="Google Shape;63;p3"/>
          <p:cNvSpPr txBox="1"/>
          <p:nvPr/>
        </p:nvSpPr>
        <p:spPr>
          <a:xfrm>
            <a:off x="508000" y="2965249"/>
            <a:ext cx="3513138" cy="171795"/>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900"/>
              <a:buFont typeface="Arial"/>
              <a:buNone/>
            </a:pPr>
            <a:r>
              <a:t/>
            </a:r>
            <a:endParaRPr b="0" i="0" sz="900" u="none" cap="none" strike="noStrike">
              <a:solidFill>
                <a:schemeClr val="accent2"/>
              </a:solidFill>
              <a:latin typeface="IBM Plex Sans"/>
              <a:ea typeface="IBM Plex Sans"/>
              <a:cs typeface="IBM Plex Sans"/>
              <a:sym typeface="IBM Plex Sans"/>
            </a:endParaRPr>
          </a:p>
        </p:txBody>
      </p:sp>
      <p:graphicFrame>
        <p:nvGraphicFramePr>
          <p:cNvPr id="64" name="Google Shape;64;p3"/>
          <p:cNvGraphicFramePr/>
          <p:nvPr/>
        </p:nvGraphicFramePr>
        <p:xfrm>
          <a:off x="518599" y="5090156"/>
          <a:ext cx="3000000" cy="3000000"/>
        </p:xfrm>
        <a:graphic>
          <a:graphicData uri="http://schemas.openxmlformats.org/drawingml/2006/table">
            <a:tbl>
              <a:tblPr firstRow="1">
                <a:noFill/>
                <a:tableStyleId>{7E4485D4-36BE-405D-A0BE-AC2E898BDFCA}</a:tableStyleId>
              </a:tblPr>
              <a:tblGrid>
                <a:gridCol w="3400875"/>
                <a:gridCol w="3953500"/>
              </a:tblGrid>
              <a:tr h="306950">
                <a:tc gridSpan="2">
                  <a:txBody>
                    <a:bodyPr/>
                    <a:lstStyle/>
                    <a:p>
                      <a:pPr indent="0" lvl="0" marL="0" marR="0" rtl="0" algn="l">
                        <a:spcBef>
                          <a:spcPts val="0"/>
                        </a:spcBef>
                        <a:spcAft>
                          <a:spcPts val="0"/>
                        </a:spcAft>
                        <a:buNone/>
                      </a:pPr>
                      <a:r>
                        <a:rPr b="1" lang="en-GB" sz="1200" u="none" cap="none" strike="noStrike">
                          <a:solidFill>
                            <a:schemeClr val="dk2"/>
                          </a:solidFill>
                          <a:latin typeface="IBM Plex Sans"/>
                          <a:ea typeface="IBM Plex Sans"/>
                          <a:cs typeface="IBM Plex Sans"/>
                          <a:sym typeface="IBM Plex Sans"/>
                        </a:rPr>
                        <a:t>List of subsidiaries included in this ESG report </a:t>
                      </a:r>
                      <a:r>
                        <a:rPr b="0" lang="en-GB" sz="1200" u="none" cap="none" strike="noStrike">
                          <a:solidFill>
                            <a:schemeClr val="dk2"/>
                          </a:solidFill>
                          <a:latin typeface="IBM Plex Sans"/>
                          <a:ea typeface="IBM Plex Sans"/>
                          <a:cs typeface="IBM Plex Sans"/>
                          <a:sym typeface="IBM Plex Sans"/>
                        </a:rPr>
                        <a:t>(para. 27d)</a:t>
                      </a:r>
                      <a:endParaRPr b="0" i="1" sz="12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177075">
                <a:tc>
                  <a:txBody>
                    <a:bodyPr/>
                    <a:lstStyle/>
                    <a:p>
                      <a:pPr indent="0" lvl="0" marL="0" marR="0" rtl="0" algn="l">
                        <a:spcBef>
                          <a:spcPts val="0"/>
                        </a:spcBef>
                        <a:spcAft>
                          <a:spcPts val="0"/>
                        </a:spcAft>
                        <a:buNone/>
                      </a:pPr>
                      <a:r>
                        <a:rPr b="1" lang="en-GB" sz="1200" u="none" cap="none" strike="noStrike">
                          <a:solidFill>
                            <a:schemeClr val="dk2"/>
                          </a:solidFill>
                          <a:latin typeface="IBM Plex Sans"/>
                          <a:ea typeface="IBM Plex Sans"/>
                          <a:cs typeface="IBM Plex Sans"/>
                          <a:sym typeface="IBM Plex Sans"/>
                        </a:rPr>
                        <a:t>Name of subsidiary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200" u="none" cap="none" strike="noStrike">
                          <a:solidFill>
                            <a:schemeClr val="dk2"/>
                          </a:solidFill>
                          <a:latin typeface="IBM Plex Sans"/>
                          <a:ea typeface="IBM Plex Sans"/>
                          <a:cs typeface="IBM Plex Sans"/>
                          <a:sym typeface="IBM Plex Sans"/>
                        </a:rPr>
                        <a:t>Address of subsidiary</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5275">
                <a:tc>
                  <a:txBody>
                    <a:bodyPr/>
                    <a:lstStyle/>
                    <a:p>
                      <a:pPr indent="0" lvl="0" marL="0" marR="0" rtl="0" algn="l">
                        <a:spcBef>
                          <a:spcPts val="0"/>
                        </a:spcBef>
                        <a:spcAft>
                          <a:spcPts val="0"/>
                        </a:spcAft>
                        <a:buClr>
                          <a:srgbClr val="2D55FF"/>
                        </a:buClr>
                        <a:buSzPts val="1200"/>
                        <a:buFont typeface="Inter"/>
                        <a:buNone/>
                      </a:pPr>
                      <a:r>
                        <a:rPr b="0" i="0" lang="en-GB" sz="1200" u="none" cap="none" strike="noStrike">
                          <a:solidFill>
                            <a:srgbClr val="2D55FF"/>
                          </a:solidFill>
                          <a:latin typeface="Inter"/>
                          <a:ea typeface="Inter"/>
                          <a:cs typeface="Inter"/>
                          <a:sym typeface="Inter"/>
                        </a:rPr>
                        <a:t>{{subsidiary}}</a:t>
                      </a:r>
                      <a:endParaRPr sz="1200" u="none" cap="none" strike="noStrike"/>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cap="none" strike="noStrike">
                          <a:solidFill>
                            <a:srgbClr val="2D55FF"/>
                          </a:solidFill>
                          <a:latin typeface="Inter"/>
                          <a:ea typeface="Inter"/>
                          <a:cs typeface="Inter"/>
                          <a:sym typeface="Inter"/>
                        </a:rPr>
                        <a:t>{{subsidiary_address}}</a:t>
                      </a:r>
                      <a:endParaRPr sz="1200" u="none" cap="none" strike="noStrike"/>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5" name="Google Shape;65;p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66" name="Google Shape;66;p3"/>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67" name="Google Shape;67;p3"/>
          <p:cNvGraphicFramePr/>
          <p:nvPr/>
        </p:nvGraphicFramePr>
        <p:xfrm>
          <a:off x="518599" y="3862384"/>
          <a:ext cx="3000000" cy="3000000"/>
        </p:xfrm>
        <a:graphic>
          <a:graphicData uri="http://schemas.openxmlformats.org/drawingml/2006/table">
            <a:tbl>
              <a:tblPr firstRow="1">
                <a:noFill/>
                <a:tableStyleId>{7E4485D4-36BE-405D-A0BE-AC2E898BDFCA}</a:tableStyleId>
              </a:tblPr>
              <a:tblGrid>
                <a:gridCol w="6194425"/>
                <a:gridCol w="1159950"/>
              </a:tblGrid>
              <a:tr h="205700">
                <a:tc gridSpan="2">
                  <a:txBody>
                    <a:bodyPr/>
                    <a:lstStyle/>
                    <a:p>
                      <a:pPr indent="0" lvl="0" marL="0" marR="0" rtl="0" algn="l">
                        <a:spcBef>
                          <a:spcPts val="0"/>
                        </a:spcBef>
                        <a:spcAft>
                          <a:spcPts val="0"/>
                        </a:spcAft>
                        <a:buNone/>
                      </a:pPr>
                      <a:r>
                        <a:rPr b="1" lang="en-GB" sz="1200" u="none" cap="none" strike="noStrike">
                          <a:solidFill>
                            <a:schemeClr val="dk2"/>
                          </a:solidFill>
                        </a:rPr>
                        <a:t>Individual or consolidated reporting</a:t>
                      </a:r>
                      <a:r>
                        <a:rPr b="0" lang="en-GB" sz="1200" u="none" cap="none" strike="noStrike">
                          <a:solidFill>
                            <a:schemeClr val="dk2"/>
                          </a:solidFill>
                        </a:rPr>
                        <a:t> (para. 27c)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94275">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The report has been prepared on an </a:t>
                      </a:r>
                      <a:r>
                        <a:rPr b="1" lang="en-GB" sz="1200">
                          <a:solidFill>
                            <a:schemeClr val="dk2"/>
                          </a:solidFill>
                          <a:latin typeface="IBM Plex Sans"/>
                          <a:ea typeface="IBM Plex Sans"/>
                          <a:cs typeface="IBM Plex Sans"/>
                          <a:sym typeface="IBM Plex Sans"/>
                        </a:rPr>
                        <a:t>individual basis </a:t>
                      </a:r>
                      <a:r>
                        <a:rPr b="0" lang="en-GB" sz="1200">
                          <a:solidFill>
                            <a:schemeClr val="dk2"/>
                          </a:solidFill>
                          <a:latin typeface="IBM Plex Sans"/>
                          <a:ea typeface="IBM Plex Sans"/>
                          <a:cs typeface="IBM Plex Sans"/>
                          <a:sym typeface="IBM Plex Sans"/>
                        </a:rPr>
                        <a:t>(i.e. the report does not cover any subsidiaries)</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{{yes_subsidiary?}}</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4275">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The report has been prepared on a </a:t>
                      </a:r>
                      <a:r>
                        <a:rPr b="1" lang="en-GB" sz="1200">
                          <a:solidFill>
                            <a:schemeClr val="dk2"/>
                          </a:solidFill>
                          <a:latin typeface="IBM Plex Sans"/>
                          <a:ea typeface="IBM Plex Sans"/>
                          <a:cs typeface="IBM Plex Sans"/>
                          <a:sym typeface="IBM Plex Sans"/>
                        </a:rPr>
                        <a:t>consolidated basis </a:t>
                      </a:r>
                      <a:r>
                        <a:rPr b="0" lang="en-GB" sz="1200">
                          <a:solidFill>
                            <a:schemeClr val="dk2"/>
                          </a:solidFill>
                          <a:latin typeface="IBM Plex Sans"/>
                          <a:ea typeface="IBM Plex Sans"/>
                          <a:cs typeface="IBM Plex Sans"/>
                          <a:sym typeface="IBM Plex Sans"/>
                        </a:rPr>
                        <a:t>(i.e. the report includes the undertaking’s subsidiaries)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{{no_subsidiary?}}</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8" name="Google Shape;68;p3"/>
          <p:cNvGraphicFramePr/>
          <p:nvPr/>
        </p:nvGraphicFramePr>
        <p:xfrm>
          <a:off x="518600" y="2284438"/>
          <a:ext cx="3000000" cy="3000000"/>
        </p:xfrm>
        <a:graphic>
          <a:graphicData uri="http://schemas.openxmlformats.org/drawingml/2006/table">
            <a:tbl>
              <a:tblPr firstRow="1">
                <a:noFill/>
                <a:tableStyleId>{7E4485D4-36BE-405D-A0BE-AC2E898BDFCA}</a:tableStyleId>
              </a:tblPr>
              <a:tblGrid>
                <a:gridCol w="6205575"/>
                <a:gridCol w="1148800"/>
              </a:tblGrid>
              <a:tr h="391200">
                <a:tc grid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Basic Module, or Basic Module +</a:t>
                      </a:r>
                      <a:r>
                        <a:rPr b="0" lang="en-GB" sz="1200">
                          <a:solidFill>
                            <a:schemeClr val="dk2"/>
                          </a:solidFill>
                          <a:latin typeface="IBM Plex Sans"/>
                          <a:ea typeface="IBM Plex Sans"/>
                          <a:cs typeface="IBM Plex Sans"/>
                          <a:sym typeface="IBM Plex Sans"/>
                        </a:rPr>
                        <a:t> </a:t>
                      </a:r>
                      <a:r>
                        <a:rPr b="1" lang="en-GB" sz="1200">
                          <a:solidFill>
                            <a:schemeClr val="dk2"/>
                          </a:solidFill>
                          <a:latin typeface="IBM Plex Sans"/>
                          <a:ea typeface="IBM Plex Sans"/>
                          <a:cs typeface="IBM Plex Sans"/>
                          <a:sym typeface="IBM Plex Sans"/>
                        </a:rPr>
                        <a:t>Comprehensive Module </a:t>
                      </a:r>
                      <a:r>
                        <a:rPr b="0" lang="en-GB" sz="1200">
                          <a:solidFill>
                            <a:schemeClr val="dk2"/>
                          </a:solidFill>
                          <a:latin typeface="IBM Plex Sans"/>
                          <a:ea typeface="IBM Plex Sans"/>
                          <a:cs typeface="IBM Plex Sans"/>
                          <a:sym typeface="IBM Plex Sans"/>
                        </a:rPr>
                        <a:t>(para. 27a)</a:t>
                      </a:r>
                      <a:r>
                        <a:rPr b="1" lang="en-GB" sz="1200">
                          <a:solidFill>
                            <a:schemeClr val="dk2"/>
                          </a:solidFill>
                          <a:latin typeface="IBM Plex Sans"/>
                          <a:ea typeface="IBM Plex Sans"/>
                          <a:cs typeface="IBM Plex Sans"/>
                          <a:sym typeface="IBM Plex Sans"/>
                        </a:rPr>
                        <a:t>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08850">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The report is based on the </a:t>
                      </a:r>
                      <a:r>
                        <a:rPr b="1" lang="en-GB" sz="1200">
                          <a:solidFill>
                            <a:schemeClr val="dk2"/>
                          </a:solidFill>
                          <a:latin typeface="IBM Plex Sans"/>
                          <a:ea typeface="IBM Plex Sans"/>
                          <a:cs typeface="IBM Plex Sans"/>
                          <a:sym typeface="IBM Plex Sans"/>
                        </a:rPr>
                        <a:t>Basic Module</a:t>
                      </a:r>
                      <a:r>
                        <a:rPr b="0" lang="en-GB" sz="1200">
                          <a:solidFill>
                            <a:schemeClr val="dk2"/>
                          </a:solidFill>
                          <a:latin typeface="IBM Plex Sans"/>
                          <a:ea typeface="IBM Plex Sans"/>
                          <a:cs typeface="IBM Plex Sans"/>
                          <a:sym typeface="IBM Plex Sans"/>
                        </a:rPr>
                        <a:t> of the voluntary SME standard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{{basic_module?}}</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531300">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The report is based on the </a:t>
                      </a:r>
                      <a:r>
                        <a:rPr b="1" lang="en-GB" sz="1200">
                          <a:solidFill>
                            <a:schemeClr val="dk2"/>
                          </a:solidFill>
                          <a:latin typeface="IBM Plex Sans"/>
                          <a:ea typeface="IBM Plex Sans"/>
                          <a:cs typeface="IBM Plex Sans"/>
                          <a:sym typeface="IBM Plex Sans"/>
                        </a:rPr>
                        <a:t>Basic Module</a:t>
                      </a:r>
                      <a:r>
                        <a:rPr b="0" lang="en-GB" sz="1200">
                          <a:solidFill>
                            <a:schemeClr val="dk2"/>
                          </a:solidFill>
                          <a:latin typeface="IBM Plex Sans"/>
                          <a:ea typeface="IBM Plex Sans"/>
                          <a:cs typeface="IBM Plex Sans"/>
                          <a:sym typeface="IBM Plex Sans"/>
                        </a:rPr>
                        <a:t> and </a:t>
                      </a:r>
                      <a:r>
                        <a:rPr b="1" lang="en-GB" sz="1200">
                          <a:solidFill>
                            <a:schemeClr val="dk2"/>
                          </a:solidFill>
                          <a:latin typeface="IBM Plex Sans"/>
                          <a:ea typeface="IBM Plex Sans"/>
                          <a:cs typeface="IBM Plex Sans"/>
                          <a:sym typeface="IBM Plex Sans"/>
                        </a:rPr>
                        <a:t>Comprehensive Module </a:t>
                      </a:r>
                      <a:r>
                        <a:rPr b="0" lang="en-GB" sz="1200">
                          <a:solidFill>
                            <a:schemeClr val="dk2"/>
                          </a:solidFill>
                          <a:latin typeface="IBM Plex Sans"/>
                          <a:ea typeface="IBM Plex Sans"/>
                          <a:cs typeface="IBM Plex Sans"/>
                          <a:sym typeface="IBM Plex Sans"/>
                        </a:rPr>
                        <a:t>of the voluntary SME standard</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{{comprehensive?}}</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9" name="Google Shape;69;p3"/>
          <p:cNvSpPr txBox="1"/>
          <p:nvPr/>
        </p:nvSpPr>
        <p:spPr>
          <a:xfrm>
            <a:off x="508000" y="1016000"/>
            <a:ext cx="111654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cap="none" strike="noStrike">
                <a:solidFill>
                  <a:schemeClr val="dk2"/>
                </a:solidFill>
                <a:latin typeface="Inter"/>
                <a:ea typeface="Inter"/>
                <a:cs typeface="Inter"/>
                <a:sym typeface="Inter"/>
              </a:rPr>
              <a:t>The undertaking has prepared its sustainability report in accordance with the VSME Standard, which follows a structured approach to ensure that the required information is reported in a standardised and transparent manner. The report reflects the sustainability modules selected and covered by the undertaking. In addition, it is stated whether the sustainability report is prepared on an individual basis (the undertaking’s own data only) or on a consolidated basis. This section contains basic information about the undertaking, such as its legal form, NACE sector code(s), size of the balance sheet and turnover, number of employees, as well as information on the undertaking’s country of primary operations and the location of other significant assets.</a:t>
            </a:r>
            <a:endParaRPr b="0" i="0" sz="1200" u="none" cap="none" strike="noStrike">
              <a:solidFill>
                <a:schemeClr val="dk2"/>
              </a:solidFill>
              <a:latin typeface="IBM Plex Sans"/>
              <a:ea typeface="IBM Plex Sans"/>
              <a:cs typeface="IBM Plex Sans"/>
              <a:sym typeface="IBM Plex Sans"/>
            </a:endParaRPr>
          </a:p>
        </p:txBody>
      </p:sp>
      <p:graphicFrame>
        <p:nvGraphicFramePr>
          <p:cNvPr id="70" name="Google Shape;70;p3"/>
          <p:cNvGraphicFramePr/>
          <p:nvPr/>
        </p:nvGraphicFramePr>
        <p:xfrm>
          <a:off x="8169275" y="3862384"/>
          <a:ext cx="3000000" cy="3000000"/>
        </p:xfrm>
        <a:graphic>
          <a:graphicData uri="http://schemas.openxmlformats.org/drawingml/2006/table">
            <a:tbl>
              <a:tblPr firstRow="1">
                <a:noFill/>
                <a:tableStyleId>{7E4485D4-36BE-405D-A0BE-AC2E898BDFCA}</a:tableStyleId>
              </a:tblPr>
              <a:tblGrid>
                <a:gridCol w="1620400"/>
                <a:gridCol w="1883725"/>
              </a:tblGrid>
              <a:tr h="247925">
                <a:tc grid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Basic information about the undertaking</a:t>
                      </a:r>
                      <a:r>
                        <a:rPr b="0" lang="en-GB" sz="1200">
                          <a:solidFill>
                            <a:schemeClr val="dk2"/>
                          </a:solidFill>
                          <a:latin typeface="IBM Plex Sans"/>
                          <a:ea typeface="IBM Plex Sans"/>
                          <a:cs typeface="IBM Plex Sans"/>
                          <a:sym typeface="IBM Plex Sans"/>
                        </a:rPr>
                        <a:t> (para. 27e, i-v)</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7029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Legal form</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{{branchekode}}</a:t>
                      </a:r>
                      <a:endParaRPr b="0"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31325">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NACE sector code(s)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{{NACE}}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580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Balance sheet total (EUR)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{{balance}}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58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Turnover (EUR)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{{revenue}}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9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No. of employees </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{{total_employees}}</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71" name="Google Shape;71;p3"/>
          <p:cNvGraphicFramePr/>
          <p:nvPr/>
        </p:nvGraphicFramePr>
        <p:xfrm>
          <a:off x="8169275" y="2286881"/>
          <a:ext cx="3000000" cy="3000000"/>
        </p:xfrm>
        <a:graphic>
          <a:graphicData uri="http://schemas.openxmlformats.org/drawingml/2006/table">
            <a:tbl>
              <a:tblPr firstRow="1">
                <a:noFill/>
                <a:tableStyleId>{7E4485D4-36BE-405D-A0BE-AC2E898BDFCA}</a:tableStyleId>
              </a:tblPr>
              <a:tblGrid>
                <a:gridCol w="1620400"/>
                <a:gridCol w="1883725"/>
              </a:tblGrid>
              <a:tr h="498650">
                <a:tc grid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The ESG report contains omissions due to sensitive business information </a:t>
                      </a:r>
                      <a:r>
                        <a:rPr b="0" lang="en-GB" sz="1200">
                          <a:solidFill>
                            <a:schemeClr val="dk2"/>
                          </a:solidFill>
                          <a:latin typeface="IBM Plex Sans"/>
                          <a:ea typeface="IBM Plex Sans"/>
                          <a:cs typeface="IBM Plex Sans"/>
                          <a:sym typeface="IBM Plex Sans"/>
                        </a:rPr>
                        <a:t>(para. 27b)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8326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The following disclosures have been omitted</a:t>
                      </a:r>
                      <a:endParaRPr/>
                    </a:p>
                    <a:p>
                      <a:pPr indent="0" lvl="0" marL="0" marR="0" rtl="0" algn="l">
                        <a:spcBef>
                          <a:spcPts val="0"/>
                        </a:spcBef>
                        <a:spcAft>
                          <a:spcPts val="0"/>
                        </a:spcAft>
                        <a:buNone/>
                      </a:pPr>
                      <a:r>
                        <a:t/>
                      </a:r>
                      <a:endParaRPr b="1" sz="9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lang="en-GB" sz="1200">
                          <a:solidFill>
                            <a:schemeClr val="accent2"/>
                          </a:solidFill>
                          <a:latin typeface="IBM Plex Sans"/>
                          <a:ea typeface="IBM Plex Sans"/>
                          <a:cs typeface="IBM Plex Sans"/>
                          <a:sym typeface="IBM Plex Sans"/>
                        </a:rPr>
                        <a:t>{{confidentiality_info}}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Basis for preparation (B1) - continued</a:t>
            </a:r>
            <a:endParaRPr/>
          </a:p>
        </p:txBody>
      </p:sp>
      <p:sp>
        <p:nvSpPr>
          <p:cNvPr id="78" name="Google Shape;78;p4"/>
          <p:cNvSpPr/>
          <p:nvPr/>
        </p:nvSpPr>
        <p:spPr>
          <a:xfrm>
            <a:off x="638979" y="1108695"/>
            <a:ext cx="207455" cy="232601"/>
          </a:xfrm>
          <a:prstGeom prst="rect">
            <a:avLst/>
          </a:prstGeom>
          <a:noFill/>
          <a:ln>
            <a:noFill/>
          </a:ln>
        </p:spPr>
      </p:sp>
      <p:sp>
        <p:nvSpPr>
          <p:cNvPr id="79" name="Google Shape;79;p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80" name="Google Shape;80;p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81" name="Google Shape;81;p4"/>
          <p:cNvGraphicFramePr/>
          <p:nvPr/>
        </p:nvGraphicFramePr>
        <p:xfrm>
          <a:off x="515952" y="5116019"/>
          <a:ext cx="3000000" cy="3000000"/>
        </p:xfrm>
        <a:graphic>
          <a:graphicData uri="http://schemas.openxmlformats.org/drawingml/2006/table">
            <a:tbl>
              <a:tblPr firstRow="1">
                <a:noFill/>
                <a:tableStyleId>{7E4485D4-36BE-405D-A0BE-AC2E898BDFCA}</a:tableStyleId>
              </a:tblPr>
              <a:tblGrid>
                <a:gridCol w="3849500"/>
                <a:gridCol w="3694650"/>
                <a:gridCol w="1948875"/>
                <a:gridCol w="1704650"/>
              </a:tblGrid>
              <a:tr h="2520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Name of ESG certificate/ecolabel </a:t>
                      </a:r>
                      <a:r>
                        <a:rPr b="0" lang="en-GB" sz="1200">
                          <a:solidFill>
                            <a:schemeClr val="dk2"/>
                          </a:solidFill>
                          <a:latin typeface="IBM Plex Sans"/>
                          <a:ea typeface="IBM Plex Sans"/>
                          <a:cs typeface="IBM Plex Sans"/>
                          <a:sym typeface="IBM Plex Sans"/>
                        </a:rPr>
                        <a:t>(para. 28)</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Brief description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Date of issue/</a:t>
                      </a:r>
                      <a:endParaRPr/>
                    </a:p>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validity</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Rating, if any</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2000">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{{certificate_or_ecolabel}}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{{description_certificate}}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{{date_certicate}}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{{certiciate_possible_rating}}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82" name="Google Shape;82;p4"/>
          <p:cNvGraphicFramePr/>
          <p:nvPr/>
        </p:nvGraphicFramePr>
        <p:xfrm>
          <a:off x="534502" y="1788146"/>
          <a:ext cx="3000000" cy="3000000"/>
        </p:xfrm>
        <a:graphic>
          <a:graphicData uri="http://schemas.openxmlformats.org/drawingml/2006/table">
            <a:tbl>
              <a:tblPr firstRow="1">
                <a:noFill/>
                <a:tableStyleId>{7E4485D4-36BE-405D-A0BE-AC2E898BDFCA}</a:tableStyleId>
              </a:tblPr>
              <a:tblGrid>
                <a:gridCol w="2030575"/>
                <a:gridCol w="2156275"/>
                <a:gridCol w="1647600"/>
                <a:gridCol w="1610150"/>
                <a:gridCol w="1784900"/>
                <a:gridCol w="1912000"/>
              </a:tblGrid>
              <a:tr h="324000">
                <a:tc gridSpan="6">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Addresses and geolocation of </a:t>
                      </a:r>
                      <a:r>
                        <a:rPr b="1" lang="en-GB" sz="1200" u="none">
                          <a:solidFill>
                            <a:schemeClr val="dk2"/>
                          </a:solidFill>
                          <a:latin typeface="IBM Plex Sans"/>
                          <a:ea typeface="IBM Plex Sans"/>
                          <a:cs typeface="IBM Plex Sans"/>
                          <a:sym typeface="IBM Plex Sans"/>
                        </a:rPr>
                        <a:t>significant</a:t>
                      </a:r>
                      <a:r>
                        <a:rPr b="1" lang="en-GB" sz="1200">
                          <a:solidFill>
                            <a:schemeClr val="dk2"/>
                          </a:solidFill>
                          <a:latin typeface="IBM Plex Sans"/>
                          <a:ea typeface="IBM Plex Sans"/>
                          <a:cs typeface="IBM Plex Sans"/>
                          <a:sym typeface="IBM Plex Sans"/>
                        </a:rPr>
                        <a:t> assets and sites that the undertaking</a:t>
                      </a:r>
                      <a:r>
                        <a:rPr b="0" lang="en-GB" sz="1200">
                          <a:solidFill>
                            <a:schemeClr val="dk2"/>
                          </a:solidFill>
                          <a:latin typeface="IBM Plex Sans"/>
                          <a:ea typeface="IBM Plex Sans"/>
                          <a:cs typeface="IBM Plex Sans"/>
                          <a:sym typeface="IBM Plex Sans"/>
                        </a:rPr>
                        <a:t> </a:t>
                      </a:r>
                      <a:r>
                        <a:rPr b="1" lang="en-GB" sz="1200">
                          <a:solidFill>
                            <a:schemeClr val="dk2"/>
                          </a:solidFill>
                          <a:latin typeface="IBM Plex Sans"/>
                          <a:ea typeface="IBM Plex Sans"/>
                          <a:cs typeface="IBM Plex Sans"/>
                          <a:sym typeface="IBM Plex Sans"/>
                        </a:rPr>
                        <a:t>owns, leases or manages </a:t>
                      </a:r>
                      <a:r>
                        <a:rPr b="0" lang="en-GB" sz="1200">
                          <a:solidFill>
                            <a:schemeClr val="dk2"/>
                          </a:solidFill>
                          <a:latin typeface="IBM Plex Sans"/>
                          <a:ea typeface="IBM Plex Sans"/>
                          <a:cs typeface="IBM Plex Sans"/>
                          <a:sym typeface="IBM Plex Sans"/>
                        </a:rPr>
                        <a:t>(para. 27e, vi, vii)</a:t>
                      </a:r>
                      <a:endParaRPr/>
                    </a:p>
                    <a:p>
                      <a:pPr indent="0" lvl="0" marL="0" marR="0" rtl="0" algn="l">
                        <a:lnSpc>
                          <a:spcPct val="100000"/>
                        </a:lnSpc>
                        <a:spcBef>
                          <a:spcPts val="0"/>
                        </a:spcBef>
                        <a:spcAft>
                          <a:spcPts val="0"/>
                        </a:spcAft>
                        <a:buClr>
                          <a:schemeClr val="dk1"/>
                        </a:buClr>
                        <a:buSzPts val="1200"/>
                        <a:buFont typeface="IBM Plex Sans"/>
                        <a:buNone/>
                      </a:pPr>
                      <a:r>
                        <a:t/>
                      </a:r>
                      <a:endParaRPr b="1" sz="1200">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3240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Site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Address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Postcode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City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Country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Geolocation (coordinates)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24000">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{{geolocation}}</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{{geolocation_adress}}</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{{geolocation_postcode}}</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{{geolocation_city}}</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{{geolocation_country}}</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{{geolocation_coordinates}}</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3" name="Google Shape;83;p4"/>
          <p:cNvSpPr txBox="1"/>
          <p:nvPr/>
        </p:nvSpPr>
        <p:spPr>
          <a:xfrm>
            <a:off x="515952" y="1016000"/>
            <a:ext cx="1116804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cap="none" strike="noStrike">
                <a:solidFill>
                  <a:schemeClr val="dk2"/>
                </a:solidFill>
                <a:latin typeface="Inter"/>
                <a:ea typeface="Inter"/>
                <a:cs typeface="Inter"/>
                <a:sym typeface="Inter"/>
              </a:rPr>
              <a:t>Below is a description of the undertaking’s geolocations and of where the undertaking operates. This information can be used for climate-related risk zones and provides information on the undertaking’s sites, facilities and/or headquarters. Relevant sustainability-related certifications or labels are also stated, including the issuer of the certification, the date and any rating.</a:t>
            </a:r>
            <a:endParaRPr b="0" i="0" sz="1200" u="none" cap="none" strike="noStrike">
              <a:solidFill>
                <a:schemeClr val="dk2"/>
              </a:solidFill>
              <a:latin typeface="Inter"/>
              <a:ea typeface="Inter"/>
              <a:cs typeface="Inter"/>
              <a:sym typeface="Inter"/>
            </a:endParaRPr>
          </a:p>
        </p:txBody>
      </p:sp>
      <p:sp>
        <p:nvSpPr>
          <p:cNvPr id="84" name="Google Shape;84;p4"/>
          <p:cNvSpPr txBox="1"/>
          <p:nvPr/>
        </p:nvSpPr>
        <p:spPr>
          <a:xfrm>
            <a:off x="515952" y="4768057"/>
            <a:ext cx="818057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cap="none" strike="noStrike">
                <a:solidFill>
                  <a:srgbClr val="487477"/>
                </a:solidFill>
                <a:latin typeface="Inter"/>
                <a:ea typeface="Inter"/>
                <a:cs typeface="Inter"/>
                <a:sym typeface="Inter"/>
              </a:rPr>
              <a:t>The undertaking’s certificates and ecolabels are listed below.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Practices, policies and future initiatives for transitioning towards a more sustainable economy (B2)</a:t>
            </a:r>
            <a:endParaRPr/>
          </a:p>
        </p:txBody>
      </p:sp>
      <p:sp>
        <p:nvSpPr>
          <p:cNvPr id="91" name="Google Shape;91;p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92" name="Google Shape;92;p5"/>
          <p:cNvGraphicFramePr/>
          <p:nvPr/>
        </p:nvGraphicFramePr>
        <p:xfrm>
          <a:off x="518600" y="1711777"/>
          <a:ext cx="3000000" cy="3000000"/>
        </p:xfrm>
        <a:graphic>
          <a:graphicData uri="http://schemas.openxmlformats.org/drawingml/2006/table">
            <a:tbl>
              <a:tblPr firstRow="1">
                <a:noFill/>
                <a:tableStyleId>{7E4485D4-36BE-405D-A0BE-AC2E898BDFCA}</a:tableStyleId>
              </a:tblPr>
              <a:tblGrid>
                <a:gridCol w="1996000"/>
                <a:gridCol w="2108200"/>
                <a:gridCol w="1651000"/>
                <a:gridCol w="2311400"/>
                <a:gridCol w="3098800"/>
              </a:tblGrid>
              <a:tr h="4762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Area</a:t>
                      </a:r>
                      <a:endParaRPr/>
                    </a:p>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(para. 29a-d)</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The undertaking has a specific practice or policy in this area</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Is the policy publicly available? </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The undertaking has future initiatives and plans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The undertaking has specific targets to monitor the implementation of practices and policies?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45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Climate change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{{climate_change_concrete}}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{{climate_change_publicly}}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{{climate_change_future}}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{{climate_change_plan}}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889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Pollution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{{pollution_concrete}}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{{pollution_publicly}}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{{pollution_future}}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{{pollution_plan}}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Water and marine resources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{{water_concrete}}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{{water_publicly}}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{{water_future}}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{{water_plan}}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Biodiversity and ecosystems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{{biodiversity_concrete}}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{{biodiversity_publicly}}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{{biodiversity_future}}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{{biodiversity_plan}}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Circular economy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{{circular_concrete}}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{{circular_publicly}}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{{circular_future}}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{{circular_plan}}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Own workforce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{{workforce_concrete}}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{{workforce_publicly}}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{{workforce_future}}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{{workforce_plan}}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Workers in the value chain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{{workers_concrete}}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{{workers_publicly}}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{{workers_future}}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{{workers_plan}}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Affected communities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{{communities_concrete}}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{{communities_publicly}}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{{communities_future}}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{{communities_plan}}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Consumers and end-users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{{consumers_concrete}}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{{consumers_publicly}}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{{consumers_future}}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{{consumers_plan}}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Business conduct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{{governance_concrete}}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{{governance_publicly}}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{{governance_future}}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en-GB" sz="1200" u="none" strike="noStrike">
                          <a:solidFill>
                            <a:schemeClr val="accent2"/>
                          </a:solidFill>
                          <a:latin typeface="Inter"/>
                          <a:ea typeface="Inter"/>
                          <a:cs typeface="Inter"/>
                          <a:sym typeface="Inter"/>
                        </a:rPr>
                        <a:t>{{governance_plan}}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93" name="Google Shape;93;p5"/>
          <p:cNvSpPr txBox="1"/>
          <p:nvPr/>
        </p:nvSpPr>
        <p:spPr>
          <a:xfrm>
            <a:off x="518600" y="1016000"/>
            <a:ext cx="11154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This section outlines the practices, policies and future initiatives that the undertaking has implemented to support a sustainable economy. This includes stating which specific measures the undertaking has taken to reduce negative environmental impacts and to improve working conditions and equal treatment (YES/NO).</a:t>
            </a:r>
            <a:br>
              <a:rPr lang="en-GB" sz="1200">
                <a:solidFill>
                  <a:schemeClr val="dk2"/>
                </a:solidFill>
                <a:latin typeface="IBM Plex Sans"/>
                <a:ea typeface="IBM Plex Sans"/>
                <a:cs typeface="IBM Plex Sans"/>
                <a:sym typeface="IBM Plex Sans"/>
              </a:rPr>
            </a:br>
            <a:endParaRPr sz="1200">
              <a:solidFill>
                <a:schemeClr val="dk2"/>
              </a:solidFill>
              <a:latin typeface="IBM Plex Sans"/>
              <a:ea typeface="IBM Plex Sans"/>
              <a:cs typeface="IBM Plex Sans"/>
              <a:sym typeface="IBM Plex Sans"/>
            </a:endParaRPr>
          </a:p>
        </p:txBody>
      </p:sp>
      <p:sp>
        <p:nvSpPr>
          <p:cNvPr id="94" name="Google Shape;94;p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Energy consumption (B3)</a:t>
            </a:r>
            <a:endParaRPr/>
          </a:p>
        </p:txBody>
      </p:sp>
      <p:graphicFrame>
        <p:nvGraphicFramePr>
          <p:cNvPr id="101" name="Google Shape;101;p6"/>
          <p:cNvGraphicFramePr/>
          <p:nvPr/>
        </p:nvGraphicFramePr>
        <p:xfrm>
          <a:off x="505570" y="1550345"/>
          <a:ext cx="3000000" cy="3000000"/>
        </p:xfrm>
        <a:graphic>
          <a:graphicData uri="http://schemas.openxmlformats.org/drawingml/2006/table">
            <a:tbl>
              <a:tblPr firstRow="1">
                <a:noFill/>
                <a:tableStyleId>{7E4485D4-36BE-405D-A0BE-AC2E898BDFCA}</a:tableStyleId>
              </a:tblPr>
              <a:tblGrid>
                <a:gridCol w="3033800"/>
                <a:gridCol w="2816100"/>
                <a:gridCol w="2969800"/>
                <a:gridCol w="2358725"/>
              </a:tblGrid>
              <a:tr h="249275">
                <a:tc gridSpan="4">
                  <a:txBody>
                    <a:bodyPr/>
                    <a:lstStyle/>
                    <a:p>
                      <a:pPr indent="0" lvl="0" marL="0" marR="0" rtl="0" algn="ctr">
                        <a:lnSpc>
                          <a:spcPct val="106000"/>
                        </a:lnSpc>
                        <a:spcBef>
                          <a:spcPts val="0"/>
                        </a:spcBef>
                        <a:spcAft>
                          <a:spcPts val="0"/>
                        </a:spcAft>
                        <a:buClr>
                          <a:schemeClr val="dk2"/>
                        </a:buClr>
                        <a:buSzPts val="1200"/>
                        <a:buFont typeface="IBM Plex Sans"/>
                        <a:buNone/>
                      </a:pPr>
                      <a:r>
                        <a:rPr b="1" lang="en-GB" sz="1200">
                          <a:solidFill>
                            <a:schemeClr val="dk2"/>
                          </a:solidFill>
                        </a:rPr>
                        <a:t>Energy consumption in MWh </a:t>
                      </a:r>
                      <a:r>
                        <a:rPr b="0" lang="en-GB" sz="1200">
                          <a:solidFill>
                            <a:schemeClr val="dk2"/>
                          </a:solidFill>
                        </a:rPr>
                        <a:t>(para. 32)</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96325">
                <a:tc>
                  <a:txBody>
                    <a:bodyPr/>
                    <a:lstStyle/>
                    <a:p>
                      <a:pPr indent="0" lvl="0" marL="0" marR="0" rtl="0" algn="l">
                        <a:lnSpc>
                          <a:spcPct val="106000"/>
                        </a:lnSpc>
                        <a:spcBef>
                          <a:spcPts val="0"/>
                        </a:spcBef>
                        <a:spcAft>
                          <a:spcPts val="0"/>
                        </a:spcAft>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en-GB" sz="1200">
                          <a:solidFill>
                            <a:schemeClr val="dk2"/>
                          </a:solidFill>
                        </a:rPr>
                        <a:t>Renewable energy consumption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en-GB" sz="1200">
                          <a:solidFill>
                            <a:schemeClr val="dk2"/>
                          </a:solidFill>
                        </a:rPr>
                        <a:t>Non-renewable energy consumption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200">
                          <a:solidFill>
                            <a:schemeClr val="dk2"/>
                          </a:solidFill>
                        </a:rPr>
                        <a:t>Total energy consumption (MWh)</a:t>
                      </a:r>
                      <a:endParaRPr/>
                    </a:p>
                    <a:p>
                      <a:pPr indent="0" lvl="0" marL="0" marR="0" rtl="0" algn="ctr">
                        <a:lnSpc>
                          <a:spcPct val="106000"/>
                        </a:lnSpc>
                        <a:spcBef>
                          <a:spcPts val="0"/>
                        </a:spcBef>
                        <a:spcAft>
                          <a:spcPts val="0"/>
                        </a:spcAft>
                        <a:buClr>
                          <a:schemeClr val="accent2"/>
                        </a:buClr>
                        <a:buSzPts val="1200"/>
                        <a:buFont typeface="IBM Plex Sans"/>
                        <a:buNone/>
                      </a:pPr>
                      <a:r>
                        <a:rPr b="1" lang="en-GB"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96325">
                <a:tc>
                  <a:txBody>
                    <a:bodyPr/>
                    <a:lstStyle/>
                    <a:p>
                      <a:pPr indent="0" lvl="0" marL="0" marR="0" rtl="0" algn="l">
                        <a:lnSpc>
                          <a:spcPct val="106000"/>
                        </a:lnSpc>
                        <a:spcBef>
                          <a:spcPts val="0"/>
                        </a:spcBef>
                        <a:spcAft>
                          <a:spcPts val="0"/>
                        </a:spcAft>
                        <a:buNone/>
                      </a:pPr>
                      <a:r>
                        <a:rPr b="1" lang="en-GB" sz="1200">
                          <a:solidFill>
                            <a:schemeClr val="dk2"/>
                          </a:solidFill>
                        </a:rPr>
                        <a:t>Electricity </a:t>
                      </a:r>
                      <a:r>
                        <a:rPr b="0" lang="en-GB" sz="1200">
                          <a:solidFill>
                            <a:schemeClr val="dk2"/>
                          </a:solidFill>
                        </a:rPr>
                        <a:t>(as reflected in the undertaking’s utility bills)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{{electricity_renewable}}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{{electricity_non_rewenable}}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{{total_electricity}}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en-GB" sz="1200">
                          <a:solidFill>
                            <a:schemeClr val="dk2"/>
                          </a:solidFill>
                        </a:rPr>
                        <a:t>Fuels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{{fuel_renewable}}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{{fuel_non_rewenable}}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{{total_fuel}}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en-GB" sz="1200">
                          <a:solidFill>
                            <a:schemeClr val="dk2"/>
                          </a:solidFill>
                        </a:rPr>
                        <a:t>Other (e.g. district heating)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{{district_heating_rewenable}}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{{district_heating_non_rewenable}}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{{total_district_heating}}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en-GB" sz="1200">
                          <a:solidFill>
                            <a:schemeClr val="dk2"/>
                          </a:solidFill>
                        </a:rPr>
                        <a:t>Total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{{renewable_energy_total}}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{{non_rewenable_energy_total}}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{{total_energy_consumption}}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2" name="Google Shape;102;p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03" name="Google Shape;103;p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04" name="Google Shape;104;p6"/>
          <p:cNvSpPr txBox="1"/>
          <p:nvPr/>
        </p:nvSpPr>
        <p:spPr>
          <a:xfrm>
            <a:off x="505570" y="1024229"/>
            <a:ext cx="11178430" cy="41242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strike="noStrike">
                <a:solidFill>
                  <a:schemeClr val="dk2"/>
                </a:solidFill>
                <a:latin typeface="Inter"/>
                <a:ea typeface="Inter"/>
                <a:cs typeface="Inter"/>
                <a:sym typeface="Inter"/>
              </a:rPr>
              <a:t>This section presents the undertaking’s CO2 emissions from energy consumption and states renewable and non-renewable consumption. </a:t>
            </a:r>
            <a:r>
              <a:rPr lang="en-GB" sz="1200">
                <a:solidFill>
                  <a:schemeClr val="dk2"/>
                </a:solidFill>
                <a:latin typeface="Inter"/>
                <a:ea typeface="Inter"/>
                <a:cs typeface="Inter"/>
                <a:sym typeface="Inter"/>
              </a:rPr>
              <a:t>The emissions are disclosed on the basis of </a:t>
            </a:r>
            <a:r>
              <a:rPr b="0" i="0" lang="en-GB" sz="1200" u="none" strike="noStrike">
                <a:solidFill>
                  <a:schemeClr val="dk2"/>
                </a:solidFill>
                <a:latin typeface="Inter"/>
                <a:ea typeface="Inter"/>
                <a:cs typeface="Inter"/>
                <a:sym typeface="Inter"/>
              </a:rPr>
              <a:t>the GHG Protocol’s definitions of what direct and indirect emissions comprise. </a:t>
            </a:r>
            <a:br>
              <a:rPr b="0" i="0" lang="en-GB" sz="1200" u="none" strike="noStrike">
                <a:solidFill>
                  <a:schemeClr val="dk1"/>
                </a:solidFill>
                <a:latin typeface="Inter"/>
                <a:ea typeface="Inter"/>
                <a:cs typeface="Inter"/>
                <a:sym typeface="Inter"/>
              </a:rPr>
            </a:br>
            <a:br>
              <a:rPr lang="en-GB" sz="1200">
                <a:solidFill>
                  <a:schemeClr val="dk1"/>
                </a:solidFill>
                <a:latin typeface="Inter"/>
                <a:ea typeface="Inter"/>
                <a:cs typeface="Inter"/>
                <a:sym typeface="Inter"/>
              </a:rPr>
            </a:br>
            <a:r>
              <a:rPr b="0" i="0" lang="en-GB" sz="800" u="none" strike="noStrike">
                <a:solidFill>
                  <a:schemeClr val="dk2"/>
                </a:solidFill>
                <a:latin typeface="Inter"/>
                <a:ea typeface="Inter"/>
                <a:cs typeface="Inter"/>
                <a:sym typeface="Inter"/>
              </a:rPr>
              <a:t> </a:t>
            </a:r>
            <a:endParaRPr b="0" i="0" sz="1200"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8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600">
              <a:solidFill>
                <a:schemeClr val="dk2"/>
              </a:solidFill>
              <a:latin typeface="Inter"/>
              <a:ea typeface="Inter"/>
              <a:cs typeface="Inter"/>
              <a:sym typeface="Inter"/>
            </a:endParaRPr>
          </a:p>
          <a:p>
            <a:pPr indent="0" lvl="0" marL="0" marR="0" rtl="0" algn="l">
              <a:spcBef>
                <a:spcPts val="0"/>
              </a:spcBef>
              <a:spcAft>
                <a:spcPts val="0"/>
              </a:spcAft>
              <a:buNone/>
            </a:pPr>
            <a:r>
              <a:t/>
            </a:r>
            <a:endParaRPr b="1" sz="16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br>
              <a:rPr b="1" lang="en-GB" sz="1800">
                <a:solidFill>
                  <a:schemeClr val="dk1"/>
                </a:solidFill>
                <a:latin typeface="IBM Plex Sans"/>
                <a:ea typeface="IBM Plex Sans"/>
                <a:cs typeface="IBM Plex Sans"/>
                <a:sym typeface="IBM Plex Sans"/>
              </a:rPr>
            </a:br>
            <a:r>
              <a:rPr b="1" i="0" lang="en-GB" sz="1800" u="none" strike="noStrike">
                <a:solidFill>
                  <a:schemeClr val="dk2"/>
                </a:solidFill>
                <a:latin typeface="IBM Plex Sans"/>
                <a:ea typeface="IBM Plex Sans"/>
                <a:cs typeface="IBM Plex Sans"/>
                <a:sym typeface="IBM Plex Sans"/>
              </a:rPr>
              <a:t>CO₂e emissions (B3)</a:t>
            </a:r>
            <a:endParaRPr sz="1800">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en-GB" sz="800">
                <a:solidFill>
                  <a:schemeClr val="dk1"/>
                </a:solidFill>
                <a:latin typeface="Inter"/>
                <a:ea typeface="Inter"/>
                <a:cs typeface="Inter"/>
                <a:sym typeface="Inter"/>
              </a:rPr>
              <a:t> </a:t>
            </a:r>
            <a:br>
              <a:rPr lang="en-GB" sz="1200">
                <a:solidFill>
                  <a:schemeClr val="dk2"/>
                </a:solidFill>
                <a:latin typeface="Inter"/>
                <a:ea typeface="Inter"/>
                <a:cs typeface="Inter"/>
                <a:sym typeface="Inter"/>
              </a:rPr>
            </a:br>
            <a:r>
              <a:rPr b="0" i="0" lang="en-GB" sz="1200" u="none" strike="noStrike">
                <a:solidFill>
                  <a:schemeClr val="dk2"/>
                </a:solidFill>
                <a:latin typeface="Inter"/>
                <a:ea typeface="Inter"/>
                <a:cs typeface="Inter"/>
                <a:sym typeface="Inter"/>
              </a:rPr>
              <a:t>Para. 33 contains information on the undertaking’s greenhouse gas emissions based on Scope 1 and Scope 2 emissions. Scope 1 covers direct greenhouse gas emissions and includes emissions from sources that the undertaking owns or directly controls. This comprises, for example, the combustion of fuel in company vehicles or the heating of buildings with natural gas, as well as emissions from industrial processes and leakages in systems such as refrigeration.</a:t>
            </a:r>
            <a:r>
              <a:rPr lang="en-GB" sz="1200">
                <a:solidFill>
                  <a:schemeClr val="dk2"/>
                </a:solidFill>
                <a:latin typeface="Inter"/>
                <a:ea typeface="Inter"/>
                <a:cs typeface="Inter"/>
                <a:sym typeface="Inter"/>
              </a:rPr>
              <a:t> </a:t>
            </a:r>
            <a:r>
              <a:rPr b="0" i="0" lang="en-GB" sz="1200" u="none" strike="noStrike">
                <a:solidFill>
                  <a:schemeClr val="dk2"/>
                </a:solidFill>
                <a:latin typeface="Inter"/>
                <a:ea typeface="Inter"/>
                <a:cs typeface="Inter"/>
                <a:sym typeface="Inter"/>
              </a:rPr>
              <a:t>Scope 2</a:t>
            </a:r>
            <a:r>
              <a:rPr lang="en-GB" sz="1200">
                <a:solidFill>
                  <a:schemeClr val="dk2"/>
                </a:solidFill>
                <a:latin typeface="Inter"/>
                <a:ea typeface="Inter"/>
                <a:cs typeface="Inter"/>
                <a:sym typeface="Inter"/>
              </a:rPr>
              <a:t> covers i</a:t>
            </a:r>
            <a:r>
              <a:rPr b="0" i="0" lang="en-GB" sz="1200" u="none" strike="noStrike">
                <a:solidFill>
                  <a:schemeClr val="dk2"/>
                </a:solidFill>
                <a:latin typeface="Inter"/>
                <a:ea typeface="Inter"/>
                <a:cs typeface="Inter"/>
                <a:sym typeface="Inter"/>
              </a:rPr>
              <a:t>ndirect emissions from purchased electricity, referring to emissions from the generation of the electricity, steam, heat or cooling that the undertaking purchases and uses. Although these emissions originate from the energy producers, they are attributed to the undertaking because it consumes the energy.</a:t>
            </a:r>
            <a:endParaRPr b="0" sz="1200">
              <a:solidFill>
                <a:schemeClr val="dk2"/>
              </a:solidFill>
              <a:latin typeface="Inter"/>
              <a:ea typeface="Inter"/>
              <a:cs typeface="Inter"/>
              <a:sym typeface="Inter"/>
            </a:endParaRPr>
          </a:p>
        </p:txBody>
      </p:sp>
      <p:graphicFrame>
        <p:nvGraphicFramePr>
          <p:cNvPr id="105" name="Google Shape;105;p6"/>
          <p:cNvGraphicFramePr/>
          <p:nvPr/>
        </p:nvGraphicFramePr>
        <p:xfrm>
          <a:off x="507990" y="5218755"/>
          <a:ext cx="3000000" cy="3000000"/>
        </p:xfrm>
        <a:graphic>
          <a:graphicData uri="http://schemas.openxmlformats.org/drawingml/2006/table">
            <a:tbl>
              <a:tblPr firstRow="1">
                <a:noFill/>
                <a:tableStyleId>{7E4485D4-36BE-405D-A0BE-AC2E898BDFCA}</a:tableStyleId>
              </a:tblPr>
              <a:tblGrid>
                <a:gridCol w="8848450"/>
                <a:gridCol w="2327550"/>
              </a:tblGrid>
              <a:tr h="271950">
                <a:tc>
                  <a:txBody>
                    <a:bodyPr/>
                    <a:lstStyle/>
                    <a:p>
                      <a:pPr indent="0" lvl="0" marL="0" marR="0" rtl="0" algn="l">
                        <a:lnSpc>
                          <a:spcPct val="106000"/>
                        </a:lnSpc>
                        <a:spcBef>
                          <a:spcPts val="0"/>
                        </a:spcBef>
                        <a:spcAft>
                          <a:spcPts val="0"/>
                        </a:spcAft>
                        <a:buNone/>
                      </a:pPr>
                      <a:r>
                        <a:rPr b="1" lang="en-GB" sz="1200">
                          <a:solidFill>
                            <a:schemeClr val="dk2"/>
                          </a:solidFill>
                        </a:rPr>
                        <a:t>Greenhouse gas emissions </a:t>
                      </a:r>
                      <a:r>
                        <a:rPr b="0" lang="en-GB" sz="1200">
                          <a:solidFill>
                            <a:schemeClr val="dk2"/>
                          </a:solidFill>
                        </a:rPr>
                        <a:t>(para. 33)</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200">
                          <a:solidFill>
                            <a:schemeClr val="dk2"/>
                          </a:solidFill>
                        </a:rPr>
                        <a:t>Year </a:t>
                      </a:r>
                      <a:r>
                        <a:rPr b="1" lang="en-GB" sz="1200">
                          <a:solidFill>
                            <a:schemeClr val="accent2"/>
                          </a:solidFill>
                          <a:latin typeface="Calibri"/>
                          <a:ea typeface="Calibri"/>
                          <a:cs typeface="Calibri"/>
                          <a:sym typeface="Calibri"/>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0800">
                <a:tc>
                  <a:txBody>
                    <a:bodyPr/>
                    <a:lstStyle/>
                    <a:p>
                      <a:pPr indent="0" lvl="0" marL="0" marR="0" rtl="0" algn="l">
                        <a:lnSpc>
                          <a:spcPct val="106000"/>
                        </a:lnSpc>
                        <a:spcBef>
                          <a:spcPts val="0"/>
                        </a:spcBef>
                        <a:spcAft>
                          <a:spcPts val="0"/>
                        </a:spcAft>
                        <a:buNone/>
                      </a:pPr>
                      <a:r>
                        <a:rPr b="1" lang="en-GB" sz="1200">
                          <a:solidFill>
                            <a:schemeClr val="dk2"/>
                          </a:solidFill>
                        </a:rPr>
                        <a:t>Scope 1 CO₂e emissions</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{{scope1}}</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0800">
                <a:tc>
                  <a:txBody>
                    <a:bodyPr/>
                    <a:lstStyle/>
                    <a:p>
                      <a:pPr indent="0" lvl="0" marL="0" marR="0" rtl="0" algn="l">
                        <a:lnSpc>
                          <a:spcPct val="106000"/>
                        </a:lnSpc>
                        <a:spcBef>
                          <a:spcPts val="0"/>
                        </a:spcBef>
                        <a:spcAft>
                          <a:spcPts val="0"/>
                        </a:spcAft>
                        <a:buNone/>
                      </a:pPr>
                      <a:r>
                        <a:rPr b="1" lang="en-GB" sz="1200">
                          <a:solidFill>
                            <a:schemeClr val="dk2"/>
                          </a:solidFill>
                        </a:rPr>
                        <a:t>Scope 2 CO₂e emissions (location-based)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{{scope2}}</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0800">
                <a:tc>
                  <a:txBody>
                    <a:bodyPr/>
                    <a:lstStyle/>
                    <a:p>
                      <a:pPr indent="0" lvl="0" marL="0" marR="0" rtl="0" algn="l">
                        <a:lnSpc>
                          <a:spcPct val="106000"/>
                        </a:lnSpc>
                        <a:spcBef>
                          <a:spcPts val="0"/>
                        </a:spcBef>
                        <a:spcAft>
                          <a:spcPts val="0"/>
                        </a:spcAft>
                        <a:buNone/>
                      </a:pPr>
                      <a:r>
                        <a:rPr b="1" lang="en-GB" sz="1200">
                          <a:solidFill>
                            <a:schemeClr val="dk2"/>
                          </a:solidFill>
                        </a:rPr>
                        <a:t>Total CO₂e emissions from Scope 1 and Scope 2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{{total_scope}}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Pollution of air, water and soil (B4)</a:t>
            </a:r>
            <a:endParaRPr/>
          </a:p>
        </p:txBody>
      </p:sp>
      <p:graphicFrame>
        <p:nvGraphicFramePr>
          <p:cNvPr id="112" name="Google Shape;112;p7"/>
          <p:cNvGraphicFramePr/>
          <p:nvPr/>
        </p:nvGraphicFramePr>
        <p:xfrm>
          <a:off x="507998" y="1663288"/>
          <a:ext cx="3000000" cy="3000000"/>
        </p:xfrm>
        <a:graphic>
          <a:graphicData uri="http://schemas.openxmlformats.org/drawingml/2006/table">
            <a:tbl>
              <a:tblPr firstRow="1">
                <a:noFill/>
                <a:tableStyleId>{7E4485D4-36BE-405D-A0BE-AC2E898BDFCA}</a:tableStyleId>
              </a:tblPr>
              <a:tblGrid>
                <a:gridCol w="3534725"/>
                <a:gridCol w="3408100"/>
                <a:gridCol w="4214425"/>
              </a:tblGrid>
              <a:tr h="279425">
                <a:tc gridSpan="3">
                  <a:txBody>
                    <a:bodyPr/>
                    <a:lstStyle/>
                    <a:p>
                      <a:pPr indent="0" lvl="0" marL="0" marR="0" rtl="0" algn="l">
                        <a:lnSpc>
                          <a:spcPct val="106000"/>
                        </a:lnSpc>
                        <a:spcBef>
                          <a:spcPts val="0"/>
                        </a:spcBef>
                        <a:spcAft>
                          <a:spcPts val="0"/>
                        </a:spcAft>
                        <a:buNone/>
                      </a:pPr>
                      <a:r>
                        <a:rPr b="1" lang="en-GB" sz="1200">
                          <a:solidFill>
                            <a:schemeClr val="dk2"/>
                          </a:solidFill>
                        </a:rPr>
                        <a:t>Pollution of air, water and soil </a:t>
                      </a:r>
                      <a:r>
                        <a:rPr b="0" lang="en-GB" sz="1200">
                          <a:solidFill>
                            <a:schemeClr val="dk2"/>
                          </a:solidFill>
                        </a:rPr>
                        <a:t>(para. 34)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79425">
                <a:tc>
                  <a:txBody>
                    <a:bodyPr/>
                    <a:lstStyle/>
                    <a:p>
                      <a:pPr indent="0" lvl="0" marL="0" marR="0" rtl="0" algn="l">
                        <a:lnSpc>
                          <a:spcPct val="106000"/>
                        </a:lnSpc>
                        <a:spcBef>
                          <a:spcPts val="0"/>
                        </a:spcBef>
                        <a:spcAft>
                          <a:spcPts val="0"/>
                        </a:spcAft>
                        <a:buClr>
                          <a:schemeClr val="dk2"/>
                        </a:buClr>
                        <a:buSzPts val="1200"/>
                        <a:buFont typeface="IBM Plex Sans"/>
                        <a:buNone/>
                      </a:pPr>
                      <a:r>
                        <a:rPr b="1" lang="en-GB" sz="1200">
                          <a:solidFill>
                            <a:schemeClr val="dk2"/>
                          </a:solidFill>
                        </a:rPr>
                        <a:t>Type of pollution </a:t>
                      </a:r>
                      <a:r>
                        <a:rPr b="0" lang="en-GB" sz="1200">
                          <a:solidFill>
                            <a:schemeClr val="dk2"/>
                          </a:solidFill>
                        </a:rPr>
                        <a:t>(e.g. substance)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en-GB" sz="1200">
                          <a:solidFill>
                            <a:schemeClr val="dk2"/>
                          </a:solidFill>
                        </a:rPr>
                        <a:t>Where? </a:t>
                      </a:r>
                      <a:r>
                        <a:rPr b="0" lang="en-GB" sz="1200">
                          <a:solidFill>
                            <a:schemeClr val="dk2"/>
                          </a:solidFill>
                        </a:rPr>
                        <a:t>(air, water, soil)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en-GB" sz="1200">
                          <a:solidFill>
                            <a:schemeClr val="dk2"/>
                          </a:solidFill>
                        </a:rPr>
                        <a:t>Amount</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41125">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{{type_of_pollution}}</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{{scope_pollution}}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{{pollution_medium}}</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3" name="Google Shape;113;p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14" name="Google Shape;114;p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15" name="Google Shape;115;p7"/>
          <p:cNvSpPr txBox="1"/>
          <p:nvPr/>
        </p:nvSpPr>
        <p:spPr>
          <a:xfrm>
            <a:off x="526778" y="1016000"/>
            <a:ext cx="111572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reports the total amount of pollutants emitted from its own operations. Reporting on specific pollutants and their amounts emitted to air, water and soil</a:t>
            </a:r>
            <a:r>
              <a:rPr lang="en-GB" sz="1200">
                <a:solidFill>
                  <a:schemeClr val="dk2"/>
                </a:solidFill>
                <a:latin typeface="Inter"/>
                <a:ea typeface="Inter"/>
                <a:cs typeface="Inter"/>
                <a:sym typeface="Inter"/>
              </a:rPr>
              <a:t> is set out below.</a:t>
            </a:r>
            <a:endParaRPr/>
          </a:p>
        </p:txBody>
      </p:sp>
      <p:sp>
        <p:nvSpPr>
          <p:cNvPr id="116" name="Google Shape;116;p7"/>
          <p:cNvSpPr txBox="1"/>
          <p:nvPr/>
        </p:nvSpPr>
        <p:spPr>
          <a:xfrm>
            <a:off x="518600" y="3359149"/>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800">
                <a:solidFill>
                  <a:schemeClr val="dk2"/>
                </a:solidFill>
                <a:latin typeface="IBM Plex Sans"/>
                <a:ea typeface="IBM Plex Sans"/>
                <a:cs typeface="IBM Plex Sans"/>
                <a:sym typeface="IBM Plex Sans"/>
              </a:rPr>
              <a:t>Biodiversity (B5) </a:t>
            </a:r>
            <a:endParaRPr/>
          </a:p>
        </p:txBody>
      </p:sp>
      <p:graphicFrame>
        <p:nvGraphicFramePr>
          <p:cNvPr id="117" name="Google Shape;117;p7"/>
          <p:cNvGraphicFramePr/>
          <p:nvPr/>
        </p:nvGraphicFramePr>
        <p:xfrm>
          <a:off x="518599" y="4675630"/>
          <a:ext cx="3000000" cy="3000000"/>
        </p:xfrm>
        <a:graphic>
          <a:graphicData uri="http://schemas.openxmlformats.org/drawingml/2006/table">
            <a:tbl>
              <a:tblPr firstRow="1">
                <a:noFill/>
                <a:tableStyleId>{7E4485D4-36BE-405D-A0BE-AC2E898BDFCA}</a:tableStyleId>
              </a:tblPr>
              <a:tblGrid>
                <a:gridCol w="2027925"/>
                <a:gridCol w="3045825"/>
                <a:gridCol w="3045825"/>
                <a:gridCol w="3045825"/>
              </a:tblGrid>
              <a:tr h="230875">
                <a:tc gridSpan="4">
                  <a:txBody>
                    <a:bodyPr/>
                    <a:lstStyle/>
                    <a:p>
                      <a:pPr indent="0" lvl="0" marL="0" marR="0" rtl="0" algn="l">
                        <a:spcBef>
                          <a:spcPts val="0"/>
                        </a:spcBef>
                        <a:spcAft>
                          <a:spcPts val="0"/>
                        </a:spcAft>
                        <a:buNone/>
                      </a:pPr>
                      <a:r>
                        <a:rPr b="1" lang="en-GB" sz="1200">
                          <a:solidFill>
                            <a:schemeClr val="dk2"/>
                          </a:solidFill>
                        </a:rPr>
                        <a:t>Sites in or near ‘biodiversity sensitive areas’ that the undertaking owns, leases or manages </a:t>
                      </a:r>
                      <a:r>
                        <a:rPr b="0" lang="en-GB" sz="1200">
                          <a:solidFill>
                            <a:schemeClr val="dk2"/>
                          </a:solidFill>
                        </a:rPr>
                        <a:t>(para. 35)</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45225">
                <a:tc>
                  <a:txBody>
                    <a:bodyPr/>
                    <a:lstStyle/>
                    <a:p>
                      <a:pPr indent="0" lvl="0" marL="0" marR="0" rtl="0" algn="l">
                        <a:spcBef>
                          <a:spcPts val="0"/>
                        </a:spcBef>
                        <a:spcAft>
                          <a:spcPts val="0"/>
                        </a:spcAft>
                        <a:buNone/>
                      </a:pPr>
                      <a:r>
                        <a:rPr b="1" lang="en-GB" sz="1200">
                          <a:solidFill>
                            <a:schemeClr val="dk2"/>
                          </a:solidFill>
                        </a:rPr>
                        <a:t>Location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Area in hectares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Biodiversity sensitive area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Specification: in or near a biodiversity sensitive area</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1625">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{{country_location}}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 {{area_hect}}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{{area_name}}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{{biosensitive_area}}</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8" name="Google Shape;118;p7"/>
          <p:cNvSpPr txBox="1"/>
          <p:nvPr/>
        </p:nvSpPr>
        <p:spPr>
          <a:xfrm>
            <a:off x="507999" y="3753340"/>
            <a:ext cx="1116539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undertaking’s disclosure concerns the sites where it operates that are located in or near biodiversity sensitive areas. Biodiversity sensitive areas are defined as such under specific nature conservation provisions at European or international level. This includes areas belonging to Natura 2000, UNESCO and Key Biodiversity Areas (KBAs), as well as other protected areas.</a:t>
            </a:r>
            <a:endParaRPr sz="120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Water (B6)</a:t>
            </a:r>
            <a:endParaRPr/>
          </a:p>
        </p:txBody>
      </p:sp>
      <p:graphicFrame>
        <p:nvGraphicFramePr>
          <p:cNvPr id="125" name="Google Shape;125;p8"/>
          <p:cNvGraphicFramePr/>
          <p:nvPr/>
        </p:nvGraphicFramePr>
        <p:xfrm>
          <a:off x="518600" y="1716227"/>
          <a:ext cx="3000000" cy="3000000"/>
        </p:xfrm>
        <a:graphic>
          <a:graphicData uri="http://schemas.openxmlformats.org/drawingml/2006/table">
            <a:tbl>
              <a:tblPr firstRow="1">
                <a:noFill/>
                <a:tableStyleId>{7E4485D4-36BE-405D-A0BE-AC2E898BDFCA}</a:tableStyleId>
              </a:tblPr>
              <a:tblGrid>
                <a:gridCol w="3087250"/>
                <a:gridCol w="1725275"/>
              </a:tblGrid>
              <a:tr h="49665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Water withdrawal </a:t>
                      </a:r>
                      <a:r>
                        <a:rPr b="0" lang="en-GB" sz="1200">
                          <a:solidFill>
                            <a:schemeClr val="dk2"/>
                          </a:solidFill>
                        </a:rPr>
                        <a:t>(para. 36)</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200">
                          <a:solidFill>
                            <a:schemeClr val="dk2"/>
                          </a:solidFill>
                        </a:rPr>
                        <a:t>Year </a:t>
                      </a:r>
                      <a:r>
                        <a:rPr b="1" lang="en-GB"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83200">
                <a:tc>
                  <a:txBody>
                    <a:bodyPr/>
                    <a:lstStyle/>
                    <a:p>
                      <a:pPr indent="0" lvl="0" marL="0" marR="0" rtl="0" algn="l">
                        <a:spcBef>
                          <a:spcPts val="0"/>
                        </a:spcBef>
                        <a:spcAft>
                          <a:spcPts val="0"/>
                        </a:spcAft>
                        <a:buNone/>
                      </a:pPr>
                      <a:r>
                        <a:rPr b="0" lang="en-GB" sz="1200">
                          <a:solidFill>
                            <a:schemeClr val="dk2"/>
                          </a:solidFill>
                        </a:rPr>
                        <a:t>Total for all sites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BM Plex Sans"/>
                        <a:buNone/>
                      </a:pPr>
                      <a:r>
                        <a:rPr b="0" i="0" lang="en-GB" sz="1200" u="none" cap="none" strike="noStrike">
                          <a:solidFill>
                            <a:srgbClr val="2D55FF"/>
                          </a:solidFill>
                          <a:latin typeface="IBM Plex Sans"/>
                          <a:ea typeface="IBM Plex Sans"/>
                          <a:cs typeface="IBM Plex Sans"/>
                          <a:sym typeface="IBM Plex Sans"/>
                        </a:rPr>
                        <a:t>{{total_withdrawal}}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6" name="Google Shape;126;p8"/>
          <p:cNvGraphicFramePr/>
          <p:nvPr/>
        </p:nvGraphicFramePr>
        <p:xfrm>
          <a:off x="5538158" y="1716227"/>
          <a:ext cx="3000000" cy="3000000"/>
        </p:xfrm>
        <a:graphic>
          <a:graphicData uri="http://schemas.openxmlformats.org/drawingml/2006/table">
            <a:tbl>
              <a:tblPr firstRow="1">
                <a:noFill/>
                <a:tableStyleId>{7E4485D4-36BE-405D-A0BE-AC2E898BDFCA}</a:tableStyleId>
              </a:tblPr>
              <a:tblGrid>
                <a:gridCol w="4631750"/>
                <a:gridCol w="1514100"/>
              </a:tblGrid>
              <a:tr h="28800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Water consumption </a:t>
                      </a:r>
                      <a:r>
                        <a:rPr b="0" lang="en-GB" sz="1200">
                          <a:solidFill>
                            <a:schemeClr val="dk2"/>
                          </a:solidFill>
                        </a:rPr>
                        <a:t>(para. 37)</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200">
                          <a:solidFill>
                            <a:schemeClr val="dk2"/>
                          </a:solidFill>
                        </a:rPr>
                        <a:t>Year </a:t>
                      </a:r>
                      <a:r>
                        <a:rPr b="1" lang="en-GB"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en-GB" sz="1200">
                          <a:solidFill>
                            <a:schemeClr val="dk2"/>
                          </a:solidFill>
                        </a:rPr>
                        <a:t>Total for all sites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{{consumption_total}}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200">
                          <a:solidFill>
                            <a:schemeClr val="dk2"/>
                          </a:solidFill>
                        </a:rPr>
                        <a:t>From sites in areas of water scarcity (high water-stress)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{{consumption_waterstress}}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7" name="Google Shape;127;p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28" name="Google Shape;128;p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29" name="Google Shape;129;p8"/>
          <p:cNvSpPr txBox="1"/>
          <p:nvPr/>
        </p:nvSpPr>
        <p:spPr>
          <a:xfrm>
            <a:off x="508000" y="1028466"/>
            <a:ext cx="1117599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Water withdrawal is the amount of water used by the undertaking, of which </a:t>
            </a:r>
            <a:r>
              <a:rPr lang="en-GB" sz="1200">
                <a:solidFill>
                  <a:schemeClr val="dk2"/>
                </a:solidFill>
                <a:latin typeface="Inter"/>
                <a:ea typeface="Inter"/>
                <a:cs typeface="Inter"/>
                <a:sym typeface="Inter"/>
              </a:rPr>
              <a:t>consumption denotes water that </a:t>
            </a:r>
            <a:r>
              <a:rPr b="0" i="0" lang="en-GB" sz="1200" u="none" strike="noStrike">
                <a:solidFill>
                  <a:schemeClr val="dk2"/>
                </a:solidFill>
                <a:latin typeface="Inter"/>
                <a:ea typeface="Inter"/>
                <a:cs typeface="Inter"/>
                <a:sym typeface="Inter"/>
              </a:rPr>
              <a:t>is not discharged, or planned to be discharged, back to the water environment or to a third party. This section discloses the undertaking’s total water withdrawal. The undertaking’s water consumption</a:t>
            </a:r>
            <a:r>
              <a:rPr lang="en-GB" sz="1200">
                <a:solidFill>
                  <a:schemeClr val="dk2"/>
                </a:solidFill>
                <a:latin typeface="Inter"/>
                <a:ea typeface="Inter"/>
                <a:cs typeface="Inter"/>
                <a:sym typeface="Inter"/>
              </a:rPr>
              <a:t> </a:t>
            </a:r>
            <a:r>
              <a:rPr b="0" i="0" lang="en-GB" sz="1200" u="none" strike="noStrike">
                <a:solidFill>
                  <a:schemeClr val="dk2"/>
                </a:solidFill>
                <a:latin typeface="Inter"/>
                <a:ea typeface="Inter"/>
                <a:cs typeface="Inter"/>
                <a:sym typeface="Inter"/>
              </a:rPr>
              <a:t>and water discharge from areas of high water-stress are set out below.</a:t>
            </a:r>
            <a:endParaRPr b="0" sz="1200">
              <a:solidFill>
                <a:schemeClr val="dk2"/>
              </a:solidFill>
              <a:latin typeface="Inter"/>
              <a:ea typeface="Inter"/>
              <a:cs typeface="Inter"/>
              <a:sym typeface="Inter"/>
            </a:endParaRPr>
          </a:p>
        </p:txBody>
      </p:sp>
      <p:sp>
        <p:nvSpPr>
          <p:cNvPr id="130" name="Google Shape;130;p8"/>
          <p:cNvSpPr txBox="1"/>
          <p:nvPr/>
        </p:nvSpPr>
        <p:spPr>
          <a:xfrm>
            <a:off x="518600" y="3093502"/>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800">
                <a:solidFill>
                  <a:schemeClr val="dk2"/>
                </a:solidFill>
                <a:latin typeface="IBM Plex Sans"/>
                <a:ea typeface="IBM Plex Sans"/>
                <a:cs typeface="IBM Plex Sans"/>
                <a:sym typeface="IBM Plex Sans"/>
              </a:rPr>
              <a:t>Resource use, circular economy and waste management (B7) </a:t>
            </a:r>
            <a:endParaRPr/>
          </a:p>
        </p:txBody>
      </p:sp>
      <p:graphicFrame>
        <p:nvGraphicFramePr>
          <p:cNvPr id="131" name="Google Shape;131;p8"/>
          <p:cNvGraphicFramePr/>
          <p:nvPr/>
        </p:nvGraphicFramePr>
        <p:xfrm>
          <a:off x="5538158" y="3566941"/>
          <a:ext cx="3000000" cy="3000000"/>
        </p:xfrm>
        <a:graphic>
          <a:graphicData uri="http://schemas.openxmlformats.org/drawingml/2006/table">
            <a:tbl>
              <a:tblPr firstRow="1">
                <a:noFill/>
                <a:tableStyleId>{7E4485D4-36BE-405D-A0BE-AC2E898BDFCA}</a:tableStyleId>
              </a:tblPr>
              <a:tblGrid>
                <a:gridCol w="2427150"/>
                <a:gridCol w="1886075"/>
                <a:gridCol w="1822025"/>
              </a:tblGrid>
              <a:tr h="269500">
                <a:tc gridSpan="3">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Disclosure on the application of circular economy principles </a:t>
                      </a:r>
                      <a:r>
                        <a:rPr b="0" lang="en-GB" sz="1200">
                          <a:solidFill>
                            <a:schemeClr val="dk2"/>
                          </a:solidFill>
                        </a:rPr>
                        <a:t>(para. 38)</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69225">
                <a:tc rowSpan="2">
                  <a:txBody>
                    <a:bodyPr/>
                    <a:lstStyle/>
                    <a:p>
                      <a:pPr indent="0" lvl="0" marL="0" marR="0" rtl="0" algn="l">
                        <a:spcBef>
                          <a:spcPts val="0"/>
                        </a:spcBef>
                        <a:spcAft>
                          <a:spcPts val="0"/>
                        </a:spcAft>
                        <a:buNone/>
                      </a:pPr>
                      <a:r>
                        <a:rPr b="0" lang="en-GB" sz="1200">
                          <a:solidFill>
                            <a:schemeClr val="dk2"/>
                          </a:solidFill>
                        </a:rPr>
                        <a:t>My company applies circular economy principles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200">
                          <a:solidFill>
                            <a:schemeClr val="dk2"/>
                          </a:solidFill>
                        </a:rPr>
                        <a:t>Yes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200">
                          <a:solidFill>
                            <a:schemeClr val="dk2"/>
                          </a:solidFill>
                        </a:rPr>
                        <a:t>No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3100">
                <a:tc vMerge="1"/>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{{circular_economy_princples_yes}}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{{circular_economy_princples_no?}}</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2" name="Google Shape;132;p8"/>
          <p:cNvGraphicFramePr/>
          <p:nvPr/>
        </p:nvGraphicFramePr>
        <p:xfrm>
          <a:off x="507998" y="4612469"/>
          <a:ext cx="3000000" cy="3000000"/>
        </p:xfrm>
        <a:graphic>
          <a:graphicData uri="http://schemas.openxmlformats.org/drawingml/2006/table">
            <a:tbl>
              <a:tblPr firstRow="1">
                <a:noFill/>
                <a:tableStyleId>{7E4485D4-36BE-405D-A0BE-AC2E898BDFCA}</a:tableStyleId>
              </a:tblPr>
              <a:tblGrid>
                <a:gridCol w="11165400"/>
              </a:tblGrid>
              <a:tr h="292675">
                <a:tc>
                  <a:txBody>
                    <a:bodyPr/>
                    <a:lstStyle/>
                    <a:p>
                      <a:pPr indent="0" lvl="0" marL="0" marR="0" rtl="0" algn="l">
                        <a:spcBef>
                          <a:spcPts val="0"/>
                        </a:spcBef>
                        <a:spcAft>
                          <a:spcPts val="0"/>
                        </a:spcAft>
                        <a:buNone/>
                      </a:pPr>
                      <a:r>
                        <a:rPr b="1" lang="en-GB" sz="1200">
                          <a:solidFill>
                            <a:schemeClr val="dk2"/>
                          </a:solidFill>
                        </a:rPr>
                        <a:t>Description of how the undertaking applies circular economy principles </a:t>
                      </a:r>
                      <a:r>
                        <a:rPr b="0" lang="en-GB" sz="1200">
                          <a:solidFill>
                            <a:schemeClr val="dk2"/>
                          </a:solidFill>
                        </a:rPr>
                        <a:t>(para. 38 continued)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474650">
                <a:tc>
                  <a:txBody>
                    <a:bodyPr/>
                    <a:lstStyle/>
                    <a:p>
                      <a:pPr indent="0" lvl="0" marL="0" marR="0" rtl="0" algn="l">
                        <a:spcBef>
                          <a:spcPts val="0"/>
                        </a:spcBef>
                        <a:spcAft>
                          <a:spcPts val="0"/>
                        </a:spcAft>
                        <a:buNone/>
                      </a:pPr>
                      <a:r>
                        <a:rPr b="0" lang="en-GB" sz="1200">
                          <a:solidFill>
                            <a:schemeClr val="accent2"/>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33" name="Google Shape;133;p8"/>
          <p:cNvSpPr txBox="1"/>
          <p:nvPr/>
        </p:nvSpPr>
        <p:spPr>
          <a:xfrm>
            <a:off x="508302" y="3555852"/>
            <a:ext cx="484341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This disclosure requirement provides information on whether the undertaking</a:t>
            </a:r>
            <a:r>
              <a:rPr lang="en-GB" sz="1200">
                <a:solidFill>
                  <a:schemeClr val="dk2"/>
                </a:solidFill>
                <a:latin typeface="Inter"/>
                <a:ea typeface="Inter"/>
                <a:cs typeface="Inter"/>
                <a:sym typeface="Inter"/>
              </a:rPr>
              <a:t> applies circular economy principles, including whether principles are applied with regard to reducing waste and pollution and to a focus on circular products and materials.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Resource use, circular economy and waste management (B7) – continued</a:t>
            </a:r>
            <a:endParaRPr/>
          </a:p>
        </p:txBody>
      </p:sp>
      <p:graphicFrame>
        <p:nvGraphicFramePr>
          <p:cNvPr id="140" name="Google Shape;140;p9"/>
          <p:cNvGraphicFramePr/>
          <p:nvPr/>
        </p:nvGraphicFramePr>
        <p:xfrm>
          <a:off x="507999" y="1645437"/>
          <a:ext cx="3000000" cy="3000000"/>
        </p:xfrm>
        <a:graphic>
          <a:graphicData uri="http://schemas.openxmlformats.org/drawingml/2006/table">
            <a:tbl>
              <a:tblPr firstRow="1">
                <a:noFill/>
                <a:tableStyleId>{7E4485D4-36BE-405D-A0BE-AC2E898BDFCA}</a:tableStyleId>
              </a:tblPr>
              <a:tblGrid>
                <a:gridCol w="2276000"/>
                <a:gridCol w="2543225"/>
                <a:gridCol w="2524550"/>
              </a:tblGrid>
              <a:tr h="328600">
                <a:tc gridSpan="3">
                  <a:txBody>
                    <a:bodyPr/>
                    <a:lstStyle/>
                    <a:p>
                      <a:pPr indent="0" lvl="0" marL="0" marR="0" rtl="0" algn="ctr">
                        <a:spcBef>
                          <a:spcPts val="0"/>
                        </a:spcBef>
                        <a:spcAft>
                          <a:spcPts val="0"/>
                        </a:spcAft>
                        <a:buNone/>
                      </a:pPr>
                      <a:r>
                        <a:rPr b="1" lang="en-GB" sz="1200">
                          <a:solidFill>
                            <a:schemeClr val="dk2"/>
                          </a:solidFill>
                        </a:rPr>
                        <a:t>Total annual waste generation</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43625">
                <a:tc>
                  <a:txBody>
                    <a:bodyPr/>
                    <a:lstStyle/>
                    <a:p>
                      <a:pPr indent="0" lvl="0" marL="0" marR="0" rtl="0" algn="l">
                        <a:spcBef>
                          <a:spcPts val="0"/>
                        </a:spcBef>
                        <a:spcAft>
                          <a:spcPts val="0"/>
                        </a:spcAft>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Total waste generated </a:t>
                      </a:r>
                      <a:r>
                        <a:rPr b="0" lang="en-GB" sz="1200">
                          <a:solidFill>
                            <a:schemeClr val="dk2"/>
                          </a:solidFill>
                        </a:rPr>
                        <a:t>(para. 39a)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Waste diverted to recycling or preparation for reuse </a:t>
                      </a:r>
                      <a:r>
                        <a:rPr b="0" lang="en-GB" sz="1200">
                          <a:solidFill>
                            <a:schemeClr val="dk2"/>
                          </a:solidFill>
                        </a:rPr>
                        <a:t>(para. 39b)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3625">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Non-hazardous waste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3675">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{{Type_af_affald}}</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{{kg_tons_total}}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{{genbrug_kg_tons}}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43625">
                <a:tc>
                  <a:txBody>
                    <a:bodyPr/>
                    <a:lstStyle/>
                    <a:p>
                      <a:pPr indent="0" lvl="0" marL="0" marR="0" rtl="0" algn="l">
                        <a:spcBef>
                          <a:spcPts val="0"/>
                        </a:spcBef>
                        <a:spcAft>
                          <a:spcPts val="0"/>
                        </a:spcAft>
                        <a:buNone/>
                      </a:pPr>
                      <a:r>
                        <a:rPr b="1" lang="en-GB" sz="1200">
                          <a:solidFill>
                            <a:schemeClr val="dk2"/>
                          </a:solidFill>
                        </a:rPr>
                        <a:t>Hazardous waste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3675">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{{Type_af_affald_farlig}}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{{farlig_kg_tons}}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{{farlig_genbrug_kg_tons}}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41" name="Google Shape;141;p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42" name="Google Shape;142;p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43" name="Google Shape;143;p9"/>
          <p:cNvSpPr txBox="1"/>
          <p:nvPr/>
        </p:nvSpPr>
        <p:spPr>
          <a:xfrm>
            <a:off x="518600" y="1016000"/>
            <a:ext cx="11165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following section provides information on material use and waste management. The information relates to the circular economy and shows how the undertaking’s total annual waste generation (hazardous/non-hazardous) is broken down, and the amounts of significant materials are also stated. </a:t>
            </a:r>
            <a:endParaRPr sz="1200">
              <a:solidFill>
                <a:schemeClr val="dk2"/>
              </a:solidFill>
              <a:latin typeface="Inter"/>
              <a:ea typeface="Inter"/>
              <a:cs typeface="Inter"/>
              <a:sym typeface="Inter"/>
            </a:endParaRPr>
          </a:p>
        </p:txBody>
      </p:sp>
      <p:graphicFrame>
        <p:nvGraphicFramePr>
          <p:cNvPr id="144" name="Google Shape;144;p9"/>
          <p:cNvGraphicFramePr/>
          <p:nvPr/>
        </p:nvGraphicFramePr>
        <p:xfrm>
          <a:off x="8160963" y="1680195"/>
          <a:ext cx="3000000" cy="3000000"/>
        </p:xfrm>
        <a:graphic>
          <a:graphicData uri="http://schemas.openxmlformats.org/drawingml/2006/table">
            <a:tbl>
              <a:tblPr firstRow="1">
                <a:noFill/>
                <a:tableStyleId>{7E4485D4-36BE-405D-A0BE-AC2E898BDFCA}</a:tableStyleId>
              </a:tblPr>
              <a:tblGrid>
                <a:gridCol w="2253575"/>
                <a:gridCol w="1258875"/>
              </a:tblGrid>
              <a:tr h="901850">
                <a:tc>
                  <a:txBody>
                    <a:bodyPr/>
                    <a:lstStyle/>
                    <a:p>
                      <a:pPr indent="0" lvl="0" marL="0" marR="0" rtl="0" algn="l">
                        <a:spcBef>
                          <a:spcPts val="0"/>
                        </a:spcBef>
                        <a:spcAft>
                          <a:spcPts val="0"/>
                        </a:spcAft>
                        <a:buNone/>
                      </a:pPr>
                      <a:r>
                        <a:rPr b="1" lang="en-GB" sz="1200">
                          <a:solidFill>
                            <a:schemeClr val="dk2"/>
                          </a:solidFill>
                        </a:rPr>
                        <a:t>Significant materials </a:t>
                      </a:r>
                      <a:r>
                        <a:rPr b="0" lang="en-GB" sz="1200">
                          <a:solidFill>
                            <a:schemeClr val="dk2"/>
                          </a:solidFill>
                        </a:rPr>
                        <a:t>(para. 39c)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Annual mass-flow </a:t>
                      </a:r>
                      <a:r>
                        <a:rPr b="1" lang="en-GB" sz="1200">
                          <a:solidFill>
                            <a:schemeClr val="accent2"/>
                          </a:solidFill>
                        </a:rPr>
                        <a:t>{{insert_year}}</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08050">
                <a:tc>
                  <a:txBody>
                    <a:bodyPr/>
                    <a:lstStyle/>
                    <a:p>
                      <a:pPr indent="0" lvl="0" marL="0" marR="0" rtl="0" algn="l">
                        <a:spcBef>
                          <a:spcPts val="0"/>
                        </a:spcBef>
                        <a:spcAft>
                          <a:spcPts val="0"/>
                        </a:spcAft>
                        <a:buNone/>
                      </a:pPr>
                      <a:r>
                        <a:rPr b="0" i="0" lang="en-GB" sz="1200" u="none" strike="noStrike">
                          <a:solidFill>
                            <a:srgbClr val="2D55FF"/>
                          </a:solidFill>
                          <a:latin typeface="Inter"/>
                          <a:ea typeface="Inter"/>
                          <a:cs typeface="Inter"/>
                          <a:sym typeface="Inter"/>
                        </a:rPr>
                        <a:t>{{significant_material}}</a:t>
                      </a:r>
                      <a:endParaRPr b="0" sz="1200">
                        <a:solidFill>
                          <a:schemeClr val="accent2"/>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{{significant_material_unit}}</a:t>
                      </a:r>
                      <a:endParaRPr b="0" i="0" sz="1200" u="none" strike="noStrike">
                        <a:solidFill>
                          <a:srgbClr val="000000"/>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1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Own workforce: General characteristics (B8) </a:t>
            </a:r>
            <a:endParaRPr/>
          </a:p>
        </p:txBody>
      </p:sp>
      <p:graphicFrame>
        <p:nvGraphicFramePr>
          <p:cNvPr id="151" name="Google Shape;151;p10"/>
          <p:cNvGraphicFramePr/>
          <p:nvPr/>
        </p:nvGraphicFramePr>
        <p:xfrm>
          <a:off x="507992" y="1733785"/>
          <a:ext cx="3000000" cy="3000000"/>
        </p:xfrm>
        <a:graphic>
          <a:graphicData uri="http://schemas.openxmlformats.org/drawingml/2006/table">
            <a:tbl>
              <a:tblPr firstRow="1">
                <a:noFill/>
                <a:tableStyleId>{7E4485D4-36BE-405D-A0BE-AC2E898BDFCA}</a:tableStyleId>
              </a:tblPr>
              <a:tblGrid>
                <a:gridCol w="2489200"/>
                <a:gridCol w="2489200"/>
              </a:tblGrid>
              <a:tr h="462250">
                <a:tc>
                  <a:txBody>
                    <a:bodyPr/>
                    <a:lstStyle/>
                    <a:p>
                      <a:pPr indent="0" lvl="0" marL="0" marR="0" rtl="0" algn="l">
                        <a:spcBef>
                          <a:spcPts val="0"/>
                        </a:spcBef>
                        <a:spcAft>
                          <a:spcPts val="0"/>
                        </a:spcAft>
                        <a:buNone/>
                      </a:pPr>
                      <a:r>
                        <a:rPr b="1" lang="en-GB" sz="1200">
                          <a:solidFill>
                            <a:schemeClr val="dk2"/>
                          </a:solidFill>
                        </a:rPr>
                        <a:t>Type of contract </a:t>
                      </a:r>
                      <a:r>
                        <a:rPr b="0" lang="en-GB" sz="1200">
                          <a:solidFill>
                            <a:schemeClr val="dk2"/>
                          </a:solidFill>
                        </a:rPr>
                        <a:t>(para. 40a)</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Number of employees (headcount or full-time equivalents)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2250">
                <a:tc>
                  <a:txBody>
                    <a:bodyPr/>
                    <a:lstStyle/>
                    <a:p>
                      <a:pPr indent="0" lvl="0" marL="0" marR="0" rtl="0" algn="l">
                        <a:spcBef>
                          <a:spcPts val="0"/>
                        </a:spcBef>
                        <a:spcAft>
                          <a:spcPts val="0"/>
                        </a:spcAft>
                        <a:buNone/>
                      </a:pPr>
                      <a:r>
                        <a:rPr b="0" lang="en-GB" sz="1200">
                          <a:solidFill>
                            <a:schemeClr val="dk2"/>
                          </a:solidFill>
                        </a:rPr>
                        <a:t>Temporary employment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{{temporary}}</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2250">
                <a:tc>
                  <a:txBody>
                    <a:bodyPr/>
                    <a:lstStyle/>
                    <a:p>
                      <a:pPr indent="0" lvl="0" marL="0" marR="0" rtl="0" algn="l">
                        <a:spcBef>
                          <a:spcPts val="0"/>
                        </a:spcBef>
                        <a:spcAft>
                          <a:spcPts val="0"/>
                        </a:spcAft>
                        <a:buNone/>
                      </a:pPr>
                      <a:r>
                        <a:rPr b="0" lang="en-GB" sz="1200">
                          <a:solidFill>
                            <a:schemeClr val="dk2"/>
                          </a:solidFill>
                        </a:rPr>
                        <a:t>Permanent employment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{{fulltime}}</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2250">
                <a:tc>
                  <a:txBody>
                    <a:bodyPr/>
                    <a:lstStyle/>
                    <a:p>
                      <a:pPr indent="0" lvl="0" marL="0" marR="0" rtl="0" algn="l">
                        <a:spcBef>
                          <a:spcPts val="0"/>
                        </a:spcBef>
                        <a:spcAft>
                          <a:spcPts val="0"/>
                        </a:spcAft>
                        <a:buNone/>
                      </a:pPr>
                      <a:r>
                        <a:rPr b="0" lang="en-GB" sz="1200">
                          <a:solidFill>
                            <a:schemeClr val="dk2"/>
                          </a:solidFill>
                        </a:rPr>
                        <a:t>Total number of employees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{{total_employees}}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2" name="Google Shape;152;p10"/>
          <p:cNvGraphicFramePr/>
          <p:nvPr/>
        </p:nvGraphicFramePr>
        <p:xfrm>
          <a:off x="5710687" y="1733787"/>
          <a:ext cx="3000000" cy="3000000"/>
        </p:xfrm>
        <a:graphic>
          <a:graphicData uri="http://schemas.openxmlformats.org/drawingml/2006/table">
            <a:tbl>
              <a:tblPr firstRow="1">
                <a:noFill/>
                <a:tableStyleId>{7E4485D4-36BE-405D-A0BE-AC2E898BDFCA}</a:tableStyleId>
              </a:tblPr>
              <a:tblGrid>
                <a:gridCol w="2986650"/>
                <a:gridCol w="2986650"/>
              </a:tblGrid>
              <a:tr h="2880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Gender</a:t>
                      </a:r>
                      <a:r>
                        <a:rPr b="0" lang="en-GB" sz="1200">
                          <a:solidFill>
                            <a:schemeClr val="dk2"/>
                          </a:solidFill>
                          <a:latin typeface="IBM Plex Sans"/>
                          <a:ea typeface="IBM Plex Sans"/>
                          <a:cs typeface="IBM Plex Sans"/>
                          <a:sym typeface="IBM Plex Sans"/>
                        </a:rPr>
                        <a:t> (para. 40b)</a:t>
                      </a:r>
                      <a:endParaRPr b="0" sz="12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Number of employees (headcount or full-time equivalents)</a:t>
                      </a:r>
                      <a:endParaRPr b="1" sz="12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Male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{{men}}</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Female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{{women}}</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Other</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{{others}}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Not recorded</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{{not_registeret}}</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Total number of employees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{{total_employees}}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3" name="Google Shape;153;p1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54" name="Google Shape;154;p1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55" name="Google Shape;155;p10"/>
          <p:cNvSpPr txBox="1"/>
          <p:nvPr/>
        </p:nvSpPr>
        <p:spPr>
          <a:xfrm>
            <a:off x="518600" y="1041410"/>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5595D"/>
              </a:buClr>
              <a:buSzPts val="1200"/>
              <a:buFont typeface="Inter"/>
              <a:buNone/>
            </a:pPr>
            <a:r>
              <a:rPr b="0" i="0" lang="en-GB" sz="1200" u="none" strike="noStrike">
                <a:solidFill>
                  <a:srgbClr val="25595D"/>
                </a:solidFill>
                <a:latin typeface="Inter"/>
                <a:ea typeface="Inter"/>
                <a:cs typeface="Inter"/>
                <a:sym typeface="Inter"/>
              </a:rPr>
              <a:t>The undertaking has disclosed the number of employees for the following breakdowns: type of employment contract, where employees are divided into temporary and permanent contracts; gender, which provides insight into the gender distribution among employees; and country of the employment contract, which is relevant if the undertaking operates in more than one country.</a:t>
            </a:r>
            <a:endParaRPr b="0" sz="1200">
              <a:solidFill>
                <a:schemeClr val="dk1"/>
              </a:solidFill>
              <a:latin typeface="Inter"/>
              <a:ea typeface="Inter"/>
              <a:cs typeface="Inter"/>
              <a:sym typeface="Inter"/>
            </a:endParaRPr>
          </a:p>
          <a:p>
            <a:pPr indent="0" lvl="0" marL="0" marR="0" rtl="0" algn="l">
              <a:spcBef>
                <a:spcPts val="0"/>
              </a:spcBef>
              <a:spcAft>
                <a:spcPts val="0"/>
              </a:spcAft>
              <a:buClr>
                <a:schemeClr val="dk1"/>
              </a:buClr>
              <a:buSzPts val="1200"/>
              <a:buFont typeface="Inter"/>
              <a:buNone/>
            </a:pPr>
            <a:br>
              <a:rPr lang="en-GB" sz="1200">
                <a:solidFill>
                  <a:schemeClr val="dk1"/>
                </a:solidFill>
                <a:latin typeface="Inter"/>
                <a:ea typeface="Inter"/>
                <a:cs typeface="Inter"/>
                <a:sym typeface="Inter"/>
              </a:rPr>
            </a:br>
            <a:endParaRPr sz="1200">
              <a:solidFill>
                <a:schemeClr val="dk1"/>
              </a:solidFill>
              <a:latin typeface="Inter"/>
              <a:ea typeface="Inter"/>
              <a:cs typeface="Inter"/>
              <a:sym typeface="Inter"/>
            </a:endParaRPr>
          </a:p>
        </p:txBody>
      </p:sp>
      <p:graphicFrame>
        <p:nvGraphicFramePr>
          <p:cNvPr id="156" name="Google Shape;156;p10"/>
          <p:cNvGraphicFramePr/>
          <p:nvPr/>
        </p:nvGraphicFramePr>
        <p:xfrm>
          <a:off x="509736" y="3930137"/>
          <a:ext cx="3000000" cy="3000000"/>
        </p:xfrm>
        <a:graphic>
          <a:graphicData uri="http://schemas.openxmlformats.org/drawingml/2006/table">
            <a:tbl>
              <a:tblPr firstRow="1">
                <a:noFill/>
                <a:tableStyleId>{7E4485D4-36BE-405D-A0BE-AC2E898BDFCA}</a:tableStyleId>
              </a:tblPr>
              <a:tblGrid>
                <a:gridCol w="5967825"/>
                <a:gridCol w="5195825"/>
              </a:tblGrid>
              <a:tr h="288000">
                <a:tc>
                  <a:txBody>
                    <a:bodyPr/>
                    <a:lstStyle/>
                    <a:p>
                      <a:pPr indent="0" lvl="0" marL="0" marR="0" rtl="0" algn="l">
                        <a:spcBef>
                          <a:spcPts val="0"/>
                        </a:spcBef>
                        <a:spcAft>
                          <a:spcPts val="0"/>
                        </a:spcAft>
                        <a:buNone/>
                      </a:pPr>
                      <a:r>
                        <a:rPr b="1" lang="en-GB" sz="1200">
                          <a:solidFill>
                            <a:schemeClr val="dk2"/>
                          </a:solidFill>
                        </a:rPr>
                        <a:t>Country (where the employment contract was concluded) </a:t>
                      </a:r>
                      <a:r>
                        <a:rPr b="0" lang="en-GB" sz="1200">
                          <a:solidFill>
                            <a:schemeClr val="dk2"/>
                          </a:solidFill>
                        </a:rPr>
                        <a:t>(para. 40c)</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Number of employees (headcount or full-time equivalents)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en-GB" sz="1200">
                          <a:solidFill>
                            <a:schemeClr val="dk2"/>
                          </a:solidFill>
                        </a:rPr>
                        <a:t>Denmark</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{{Denmark}}</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{{Land_b}}</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FTE_eller_antal_personer_land_b</a:t>
                      </a:r>
                      <a:r>
                        <a:rPr b="0" i="0" lang="en-GB" sz="1200" u="none" strike="noStrike">
                          <a:solidFill>
                            <a:srgbClr val="2D55FF"/>
                          </a:solidFill>
                          <a:latin typeface="Inter"/>
                          <a:ea typeface="Inter"/>
                          <a:cs typeface="Inter"/>
                          <a:sym typeface="Inter"/>
                        </a:rPr>
                        <a:t>}}</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en-GB" sz="1200">
                          <a:solidFill>
                            <a:schemeClr val="dk2"/>
                          </a:solidFill>
                        </a:rPr>
                        <a:t>Total number of employees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{{Total_out_of_countries}}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Own workforce: Health and safety (B9)</a:t>
            </a:r>
            <a:endParaRPr/>
          </a:p>
        </p:txBody>
      </p:sp>
      <p:graphicFrame>
        <p:nvGraphicFramePr>
          <p:cNvPr id="163" name="Google Shape;163;p11"/>
          <p:cNvGraphicFramePr/>
          <p:nvPr/>
        </p:nvGraphicFramePr>
        <p:xfrm>
          <a:off x="508000" y="1720951"/>
          <a:ext cx="3000000" cy="3000000"/>
        </p:xfrm>
        <a:graphic>
          <a:graphicData uri="http://schemas.openxmlformats.org/drawingml/2006/table">
            <a:tbl>
              <a:tblPr firstRow="1">
                <a:noFill/>
                <a:tableStyleId>{7E4485D4-36BE-405D-A0BE-AC2E898BDFCA}</a:tableStyleId>
              </a:tblPr>
              <a:tblGrid>
                <a:gridCol w="3028825"/>
                <a:gridCol w="2440650"/>
              </a:tblGrid>
              <a:tr h="337925">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Recordable work-related accidents </a:t>
                      </a:r>
                      <a:r>
                        <a:rPr b="0" lang="en-GB" sz="1200">
                          <a:solidFill>
                            <a:schemeClr val="dk2"/>
                          </a:solidFill>
                        </a:rPr>
                        <a:t>(para. 41a)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Year</a:t>
                      </a:r>
                      <a:r>
                        <a:rPr b="1" lang="en-GB"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7925">
                <a:tc>
                  <a:txBody>
                    <a:bodyPr/>
                    <a:lstStyle/>
                    <a:p>
                      <a:pPr indent="0" lvl="0" marL="0" marR="0" rtl="0" algn="l">
                        <a:spcBef>
                          <a:spcPts val="0"/>
                        </a:spcBef>
                        <a:spcAft>
                          <a:spcPts val="0"/>
                        </a:spcAft>
                        <a:buNone/>
                      </a:pPr>
                      <a:r>
                        <a:rPr b="0" lang="en-GB" sz="1200">
                          <a:solidFill>
                            <a:schemeClr val="dk2"/>
                          </a:solidFill>
                        </a:rPr>
                        <a:t>Number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en-GB" sz="1200" u="none" cap="none" strike="noStrike">
                          <a:solidFill>
                            <a:srgbClr val="2D55FF"/>
                          </a:solidFill>
                          <a:latin typeface="Inter"/>
                          <a:ea typeface="Inter"/>
                          <a:cs typeface="Inter"/>
                          <a:sym typeface="Inter"/>
                        </a:rPr>
                        <a:t>{{indsat_antal_accidents}}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7925">
                <a:tc>
                  <a:txBody>
                    <a:bodyPr/>
                    <a:lstStyle/>
                    <a:p>
                      <a:pPr indent="0" lvl="0" marL="0" marR="0" rtl="0" algn="l">
                        <a:spcBef>
                          <a:spcPts val="0"/>
                        </a:spcBef>
                        <a:spcAft>
                          <a:spcPts val="0"/>
                        </a:spcAft>
                        <a:buNone/>
                      </a:pPr>
                      <a:r>
                        <a:rPr b="0" lang="en-GB" sz="1200">
                          <a:solidFill>
                            <a:schemeClr val="dk2"/>
                          </a:solidFill>
                        </a:rPr>
                        <a:t>Rate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en-GB" sz="1200" u="none" cap="none" strike="noStrike">
                          <a:solidFill>
                            <a:srgbClr val="2D55FF"/>
                          </a:solidFill>
                          <a:latin typeface="Inter"/>
                          <a:ea typeface="Inter"/>
                          <a:cs typeface="Inter"/>
                          <a:sym typeface="Inter"/>
                        </a:rPr>
                        <a:t>{{indsat_accidents_frequents}}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4" name="Google Shape;164;p11"/>
          <p:cNvGraphicFramePr/>
          <p:nvPr/>
        </p:nvGraphicFramePr>
        <p:xfrm>
          <a:off x="6203932" y="1720952"/>
          <a:ext cx="3000000" cy="3000000"/>
        </p:xfrm>
        <a:graphic>
          <a:graphicData uri="http://schemas.openxmlformats.org/drawingml/2006/table">
            <a:tbl>
              <a:tblPr firstRow="1">
                <a:noFill/>
                <a:tableStyleId>{7E4485D4-36BE-405D-A0BE-AC2E898BDFCA}</a:tableStyleId>
              </a:tblPr>
              <a:tblGrid>
                <a:gridCol w="3778275"/>
                <a:gridCol w="1691200"/>
              </a:tblGrid>
              <a:tr h="33215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Work-related fatalities </a:t>
                      </a:r>
                      <a:r>
                        <a:rPr b="0" lang="en-GB" sz="1200">
                          <a:solidFill>
                            <a:schemeClr val="dk2"/>
                          </a:solidFill>
                        </a:rPr>
                        <a:t>(para. 41b)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Year</a:t>
                      </a:r>
                      <a:r>
                        <a:rPr b="1" lang="en-GB"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2150">
                <a:tc>
                  <a:txBody>
                    <a:bodyPr/>
                    <a:lstStyle/>
                    <a:p>
                      <a:pPr indent="0" lvl="0" marL="0" marR="0" rtl="0" algn="l">
                        <a:spcBef>
                          <a:spcPts val="0"/>
                        </a:spcBef>
                        <a:spcAft>
                          <a:spcPts val="0"/>
                        </a:spcAft>
                        <a:buNone/>
                      </a:pPr>
                      <a:r>
                        <a:rPr b="0" lang="en-GB" sz="1200">
                          <a:solidFill>
                            <a:schemeClr val="dk2"/>
                          </a:solidFill>
                        </a:rPr>
                        <a:t>As a result of work-related injury/accident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en-GB" sz="1200" u="none" cap="none" strike="noStrike">
                          <a:solidFill>
                            <a:srgbClr val="2D55FF"/>
                          </a:solidFill>
                          <a:latin typeface="Inter"/>
                          <a:ea typeface="Inter"/>
                          <a:cs typeface="Inter"/>
                          <a:sym typeface="Inter"/>
                        </a:rPr>
                        <a:t>{{deaths_by_accidents}}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2150">
                <a:tc>
                  <a:txBody>
                    <a:bodyPr/>
                    <a:lstStyle/>
                    <a:p>
                      <a:pPr indent="0" lvl="0" marL="0" marR="0" rtl="0" algn="l">
                        <a:spcBef>
                          <a:spcPts val="0"/>
                        </a:spcBef>
                        <a:spcAft>
                          <a:spcPts val="0"/>
                        </a:spcAft>
                        <a:buNone/>
                      </a:pPr>
                      <a:r>
                        <a:rPr b="0" lang="en-GB" sz="1200">
                          <a:solidFill>
                            <a:schemeClr val="dk2"/>
                          </a:solidFill>
                        </a:rPr>
                        <a:t>As a result of work-related ill health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en-GB" sz="1200" u="none" cap="none" strike="noStrike">
                          <a:solidFill>
                            <a:srgbClr val="2D55FF"/>
                          </a:solidFill>
                          <a:latin typeface="Inter"/>
                          <a:ea typeface="Inter"/>
                          <a:cs typeface="Inter"/>
                          <a:sym typeface="Inter"/>
                        </a:rPr>
                        <a:t>{{deaths_by_health}}</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5" name="Google Shape;165;p11"/>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66" name="Google Shape;166;p11"/>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167" name="Google Shape;167;p11"/>
          <p:cNvSpPr txBox="1"/>
          <p:nvPr/>
        </p:nvSpPr>
        <p:spPr>
          <a:xfrm>
            <a:off x="518600" y="995767"/>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has disclosed information on the number of recordable work-related accidents and work-related fatalities for the following breakdowns: number and rate. In addition, whether work-related fatalities are due to work-related injuries/accidents or ill health.</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
        <p:nvSpPr>
          <p:cNvPr id="168" name="Google Shape;168;p11"/>
          <p:cNvSpPr txBox="1"/>
          <p:nvPr/>
        </p:nvSpPr>
        <p:spPr>
          <a:xfrm>
            <a:off x="518600" y="3051599"/>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800">
                <a:solidFill>
                  <a:schemeClr val="dk2"/>
                </a:solidFill>
                <a:latin typeface="IBM Plex Sans"/>
                <a:ea typeface="IBM Plex Sans"/>
                <a:cs typeface="IBM Plex Sans"/>
                <a:sym typeface="IBM Plex Sans"/>
              </a:rPr>
              <a:t>Own workforce: Remuneration, collective bargaining and training (B10)</a:t>
            </a:r>
            <a:endParaRPr/>
          </a:p>
        </p:txBody>
      </p:sp>
      <p:graphicFrame>
        <p:nvGraphicFramePr>
          <p:cNvPr id="169" name="Google Shape;169;p11"/>
          <p:cNvGraphicFramePr/>
          <p:nvPr/>
        </p:nvGraphicFramePr>
        <p:xfrm>
          <a:off x="6214532" y="4181125"/>
          <a:ext cx="3000000" cy="3000000"/>
        </p:xfrm>
        <a:graphic>
          <a:graphicData uri="http://schemas.openxmlformats.org/drawingml/2006/table">
            <a:tbl>
              <a:tblPr firstRow="1">
                <a:noFill/>
                <a:tableStyleId>{7E4485D4-36BE-405D-A0BE-AC2E898BDFCA}</a:tableStyleId>
              </a:tblPr>
              <a:tblGrid>
                <a:gridCol w="3805775"/>
                <a:gridCol w="1663700"/>
              </a:tblGrid>
              <a:tr h="335175">
                <a:tc rowSpan="2">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Pay gap between male and female employees </a:t>
                      </a:r>
                      <a:r>
                        <a:rPr b="0" lang="en-GB" sz="1200">
                          <a:solidFill>
                            <a:schemeClr val="dk2"/>
                          </a:solidFill>
                        </a:rPr>
                        <a:t>(para. 42b)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Year</a:t>
                      </a:r>
                      <a:r>
                        <a:rPr b="1" lang="en-GB" sz="1200">
                          <a:solidFill>
                            <a:schemeClr val="accent2"/>
                          </a:solidFill>
                          <a:latin typeface="Calibri"/>
                          <a:ea typeface="Calibri"/>
                          <a:cs typeface="Calibri"/>
                          <a:sym typeface="Calibri"/>
                        </a:rPr>
                        <a:t> </a:t>
                      </a:r>
                      <a:r>
                        <a:rPr b="1" lang="en-GB"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40350">
                <a:tc vMerge="1"/>
                <a:tc>
                  <a:txBody>
                    <a:bodyPr/>
                    <a:lstStyle/>
                    <a:p>
                      <a:pPr indent="0" lvl="0" marL="0" marR="0" rtl="0" algn="ctr">
                        <a:spcBef>
                          <a:spcPts val="0"/>
                        </a:spcBef>
                        <a:spcAft>
                          <a:spcPts val="0"/>
                        </a:spcAft>
                        <a:buNone/>
                      </a:pPr>
                      <a:r>
                        <a:rPr b="0" lang="en-GB" sz="1200">
                          <a:solidFill>
                            <a:schemeClr val="accent2"/>
                          </a:solidFill>
                        </a:rPr>
                        <a:t>{{indsat_procentvise_lonforskel}}</a:t>
                      </a:r>
                      <a:endParaRPr/>
                    </a:p>
                  </a:txBody>
                  <a:tcPr marT="36000" marB="36000" marR="36000" marL="36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0" name="Google Shape;170;p11"/>
          <p:cNvGraphicFramePr/>
          <p:nvPr/>
        </p:nvGraphicFramePr>
        <p:xfrm>
          <a:off x="507995" y="4181127"/>
          <a:ext cx="3000000" cy="3000000"/>
        </p:xfrm>
        <a:graphic>
          <a:graphicData uri="http://schemas.openxmlformats.org/drawingml/2006/table">
            <a:tbl>
              <a:tblPr firstRow="1">
                <a:noFill/>
                <a:tableStyleId>{7E4485D4-36BE-405D-A0BE-AC2E898BDFCA}</a:tableStyleId>
              </a:tblPr>
              <a:tblGrid>
                <a:gridCol w="3003025"/>
                <a:gridCol w="1267025"/>
                <a:gridCol w="1203675"/>
              </a:tblGrid>
              <a:tr h="206500">
                <a:tc>
                  <a:txBody>
                    <a:bodyPr/>
                    <a:lstStyle/>
                    <a:p>
                      <a:pPr indent="0" lvl="0" marL="0" marR="0" rtl="0" algn="l">
                        <a:spcBef>
                          <a:spcPts val="0"/>
                        </a:spcBef>
                        <a:spcAft>
                          <a:spcPts val="0"/>
                        </a:spcAft>
                        <a:buNone/>
                      </a:pPr>
                      <a:r>
                        <a:rPr b="1" lang="en-GB" sz="1200">
                          <a:solidFill>
                            <a:schemeClr val="dk2"/>
                          </a:solidFill>
                        </a:rPr>
                        <a:t>Information on minimum wage </a:t>
                      </a:r>
                      <a:r>
                        <a:rPr b="0" lang="en-GB" sz="1200">
                          <a:solidFill>
                            <a:schemeClr val="dk2"/>
                          </a:solidFill>
                        </a:rPr>
                        <a:t>(42a)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200">
                          <a:solidFill>
                            <a:schemeClr val="dk2"/>
                          </a:solidFill>
                        </a:rPr>
                        <a:t>Yes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200">
                          <a:solidFill>
                            <a:schemeClr val="dk2"/>
                          </a:solidFill>
                        </a:rPr>
                        <a:t>No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02825">
                <a:tc>
                  <a:txBody>
                    <a:bodyPr/>
                    <a:lstStyle/>
                    <a:p>
                      <a:pPr indent="0" lvl="0" marL="0" marR="0" rtl="0" algn="l">
                        <a:spcBef>
                          <a:spcPts val="0"/>
                        </a:spcBef>
                        <a:spcAft>
                          <a:spcPts val="0"/>
                        </a:spcAft>
                        <a:buNone/>
                      </a:pPr>
                      <a:r>
                        <a:rPr b="0" lang="en-GB" sz="1200">
                          <a:solidFill>
                            <a:schemeClr val="dk2"/>
                          </a:solidFill>
                        </a:rPr>
                        <a:t>In the undertaking, all employees receive pay that is at least equal to the minimum wage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{{minumum_wage_yes?}}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{{minimum_wage_no?}}</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1" name="Google Shape;171;p11"/>
          <p:cNvGraphicFramePr/>
          <p:nvPr/>
        </p:nvGraphicFramePr>
        <p:xfrm>
          <a:off x="507998" y="5198328"/>
          <a:ext cx="3000000" cy="3000000"/>
        </p:xfrm>
        <a:graphic>
          <a:graphicData uri="http://schemas.openxmlformats.org/drawingml/2006/table">
            <a:tbl>
              <a:tblPr firstRow="1">
                <a:noFill/>
                <a:tableStyleId>{7E4485D4-36BE-405D-A0BE-AC2E898BDFCA}</a:tableStyleId>
              </a:tblPr>
              <a:tblGrid>
                <a:gridCol w="3022600"/>
                <a:gridCol w="2446875"/>
              </a:tblGrid>
              <a:tr h="545075">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rPr>
                        <a:t>Collective bargaining agreement </a:t>
                      </a:r>
                      <a:r>
                        <a:rPr b="0" lang="en-GB" sz="1200">
                          <a:solidFill>
                            <a:schemeClr val="dk2"/>
                          </a:solidFill>
                        </a:rPr>
                        <a:t>(para. 42c)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Year</a:t>
                      </a:r>
                      <a:r>
                        <a:rPr b="1" lang="en-GB" sz="1200">
                          <a:solidFill>
                            <a:schemeClr val="accent2"/>
                          </a:solidFill>
                          <a:latin typeface="Calibri"/>
                          <a:ea typeface="Calibri"/>
                          <a:cs typeface="Calibri"/>
                          <a:sym typeface="Calibri"/>
                        </a:rPr>
                        <a:t> {{insert_year}}</a:t>
                      </a:r>
                      <a:endParaRPr b="1"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01475">
                <a:tc>
                  <a:txBody>
                    <a:bodyPr/>
                    <a:lstStyle/>
                    <a:p>
                      <a:pPr indent="0" lvl="0" marL="0" marR="0" rtl="0" algn="l">
                        <a:lnSpc>
                          <a:spcPct val="100000"/>
                        </a:lnSpc>
                        <a:spcBef>
                          <a:spcPts val="0"/>
                        </a:spcBef>
                        <a:spcAft>
                          <a:spcPts val="0"/>
                        </a:spcAft>
                        <a:buClr>
                          <a:schemeClr val="dk2"/>
                        </a:buClr>
                        <a:buSzPts val="1200"/>
                        <a:buFont typeface="IBM Plex Sans"/>
                        <a:buNone/>
                      </a:pPr>
                      <a:r>
                        <a:rPr b="0" lang="en-GB" sz="1200">
                          <a:solidFill>
                            <a:schemeClr val="dk2"/>
                          </a:solidFill>
                        </a:rPr>
                        <a:t>Percentage of employees covered by a collective bargaining agreement</a:t>
                      </a:r>
                      <a:endParaRPr b="0" i="0" sz="1200" u="none" cap="none" strike="noStrike">
                        <a:solidFill>
                          <a:srgbClr val="2D55FF"/>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rgbClr val="2D55FF"/>
                        </a:buClr>
                        <a:buSzPts val="1200"/>
                        <a:buFont typeface="IBM Plex Sans"/>
                        <a:buNone/>
                      </a:pPr>
                      <a:r>
                        <a:rPr b="0" i="0" lang="en-GB" sz="1200" u="none" cap="none" strike="noStrike">
                          <a:solidFill>
                            <a:srgbClr val="2D55FF"/>
                          </a:solidFill>
                          <a:latin typeface="IBM Plex Sans"/>
                          <a:ea typeface="IBM Plex Sans"/>
                          <a:cs typeface="IBM Plex Sans"/>
                          <a:sym typeface="IBM Plex Sans"/>
                        </a:rPr>
                        <a:t>{{indsat_procentvis_ansatte}}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2" name="Google Shape;172;p11"/>
          <p:cNvGraphicFramePr/>
          <p:nvPr/>
        </p:nvGraphicFramePr>
        <p:xfrm>
          <a:off x="6212426" y="5198327"/>
          <a:ext cx="3000000" cy="3000000"/>
        </p:xfrm>
        <a:graphic>
          <a:graphicData uri="http://schemas.openxmlformats.org/drawingml/2006/table">
            <a:tbl>
              <a:tblPr firstRow="1">
                <a:noFill/>
                <a:tableStyleId>{7E4485D4-36BE-405D-A0BE-AC2E898BDFCA}</a:tableStyleId>
              </a:tblPr>
              <a:tblGrid>
                <a:gridCol w="3807875"/>
                <a:gridCol w="1661600"/>
              </a:tblGrid>
              <a:tr h="429825">
                <a:tc>
                  <a:txBody>
                    <a:bodyPr/>
                    <a:lstStyle/>
                    <a:p>
                      <a:pPr indent="0" lvl="0" marL="0" marR="0" rtl="0" algn="l">
                        <a:spcBef>
                          <a:spcPts val="0"/>
                        </a:spcBef>
                        <a:spcAft>
                          <a:spcPts val="0"/>
                        </a:spcAft>
                        <a:buNone/>
                      </a:pPr>
                      <a:r>
                        <a:rPr b="1" lang="en-GB" sz="1200">
                          <a:solidFill>
                            <a:schemeClr val="dk2"/>
                          </a:solidFill>
                        </a:rPr>
                        <a:t>Average training hours per employee </a:t>
                      </a:r>
                      <a:r>
                        <a:rPr b="0" lang="en-GB" sz="1200">
                          <a:solidFill>
                            <a:schemeClr val="dk2"/>
                          </a:solidFill>
                        </a:rPr>
                        <a:t>(para. 42d)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Year</a:t>
                      </a:r>
                      <a:r>
                        <a:rPr b="1" lang="en-GB"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14050">
                <a:tc>
                  <a:txBody>
                    <a:bodyPr/>
                    <a:lstStyle/>
                    <a:p>
                      <a:pPr indent="0" lvl="0" marL="0" marR="0" rtl="0" algn="l">
                        <a:spcBef>
                          <a:spcPts val="0"/>
                        </a:spcBef>
                        <a:spcAft>
                          <a:spcPts val="0"/>
                        </a:spcAft>
                        <a:buNone/>
                      </a:pPr>
                      <a:r>
                        <a:rPr b="0" lang="en-GB" sz="1200">
                          <a:solidFill>
                            <a:schemeClr val="dk2"/>
                          </a:solidFill>
                        </a:rPr>
                        <a:t>Hour(s) per employee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{{gennemsnitstimer}}</a:t>
                      </a:r>
                      <a:endParaRPr b="0" sz="1200"/>
                    </a:p>
                  </a:txBody>
                  <a:tcPr marT="19050" marB="19050" marR="19050" marL="190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3" name="Google Shape;173;p11"/>
          <p:cNvSpPr txBox="1"/>
          <p:nvPr/>
        </p:nvSpPr>
        <p:spPr>
          <a:xfrm>
            <a:off x="531300" y="3446812"/>
            <a:ext cx="111654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has disclosed information on the minimum wage and has stated the percentage of employees covered by collective bargaining agreements and the average number of annual training hours per employee, broken down by gender. If the undertaking is already required under EU legislation 8 or other national provisions to report the percentage pay gap between its female and male employees, it shall disclose this.</a:t>
            </a:r>
            <a:endParaRPr/>
          </a:p>
          <a:p>
            <a:pPr indent="0" lvl="0" marL="0" marR="0" rtl="0" algn="l">
              <a:spcBef>
                <a:spcPts val="0"/>
              </a:spcBef>
              <a:spcAft>
                <a:spcPts val="0"/>
              </a:spcAft>
              <a:buClr>
                <a:schemeClr val="dk2"/>
              </a:buClr>
              <a:buSzPts val="1200"/>
              <a:buFont typeface="Inter"/>
              <a:buNone/>
            </a:pPr>
            <a:br>
              <a:rPr lang="en-GB"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Business conduct: Number of convictions and fines related to corruption &amp; bribery (B11) </a:t>
            </a:r>
            <a:endParaRPr/>
          </a:p>
        </p:txBody>
      </p:sp>
      <p:graphicFrame>
        <p:nvGraphicFramePr>
          <p:cNvPr id="180" name="Google Shape;180;p12"/>
          <p:cNvGraphicFramePr/>
          <p:nvPr/>
        </p:nvGraphicFramePr>
        <p:xfrm>
          <a:off x="507998" y="1945690"/>
          <a:ext cx="3000000" cy="3000000"/>
        </p:xfrm>
        <a:graphic>
          <a:graphicData uri="http://schemas.openxmlformats.org/drawingml/2006/table">
            <a:tbl>
              <a:tblPr firstRow="1">
                <a:noFill/>
                <a:tableStyleId>{7E4485D4-36BE-405D-A0BE-AC2E898BDFCA}</a:tableStyleId>
              </a:tblPr>
              <a:tblGrid>
                <a:gridCol w="3721800"/>
                <a:gridCol w="3721800"/>
                <a:gridCol w="3721800"/>
              </a:tblGrid>
              <a:tr h="306000">
                <a:tc rowSpan="2">
                  <a:txBody>
                    <a:bodyPr/>
                    <a:lstStyle/>
                    <a:p>
                      <a:pPr indent="0" lvl="0" marL="0" marR="0" rtl="0" algn="l">
                        <a:spcBef>
                          <a:spcPts val="0"/>
                        </a:spcBef>
                        <a:spcAft>
                          <a:spcPts val="0"/>
                        </a:spcAft>
                        <a:buNone/>
                      </a:pPr>
                      <a:r>
                        <a:rPr b="1" lang="en-GB" sz="1200">
                          <a:solidFill>
                            <a:schemeClr val="dk2"/>
                          </a:solidFill>
                        </a:rPr>
                        <a:t>Corruption and bribery </a:t>
                      </a:r>
                      <a:r>
                        <a:rPr b="0" lang="en-GB" sz="1200">
                          <a:solidFill>
                            <a:schemeClr val="dk2"/>
                          </a:solidFill>
                        </a:rPr>
                        <a:t>(para. 43)</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en-GB" sz="1200">
                          <a:solidFill>
                            <a:schemeClr val="dk2"/>
                          </a:solidFill>
                        </a:rPr>
                        <a:t>Number of convictions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en-GB" sz="1200">
                          <a:solidFill>
                            <a:schemeClr val="dk2"/>
                          </a:solidFill>
                        </a:rPr>
                        <a:t>Total amount of fines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6000">
                <a:tc vMerge="1"/>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{{domme}}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{{samlet_bodestorrelse}}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81" name="Google Shape;181;p1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82" name="Google Shape;182;p1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sp>
        <p:nvSpPr>
          <p:cNvPr id="183" name="Google Shape;183;p12"/>
          <p:cNvSpPr txBox="1"/>
          <p:nvPr/>
        </p:nvSpPr>
        <p:spPr>
          <a:xfrm>
            <a:off x="518600" y="1016000"/>
            <a:ext cx="112543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has stated violations of anti-corruption and anti-bribery laws in the reporting period. If the undertaking has been involved in convictions or fines for violations of these laws, the following information has been disclosed: the number of convictions and the total amount of fines incurred as a result of the violations. This information concerns the undertaking’s business ethics and sustainability, in particular as regards addressing corruption and bribery, and is set out below.</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 type="body"/>
          </p:nvPr>
        </p:nvSpPr>
        <p:spPr>
          <a:xfrm>
            <a:off x="960628" y="2698750"/>
            <a:ext cx="10033000" cy="1460499"/>
          </a:xfrm>
          <a:prstGeom prst="rect">
            <a:avLst/>
          </a:prstGeom>
          <a:solidFill>
            <a:srgbClr val="1B4529"/>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4000"/>
              <a:buFont typeface="IBM Plex Sans"/>
              <a:buNone/>
            </a:pPr>
            <a:r>
              <a:rPr b="1" lang="en-GB" sz="4000"/>
              <a:t>Disclosures in the Comprehensive Module</a:t>
            </a:r>
            <a:endParaRPr/>
          </a:p>
        </p:txBody>
      </p:sp>
      <p:sp>
        <p:nvSpPr>
          <p:cNvPr id="190" name="Google Shape;190;p1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518600" y="513927"/>
            <a:ext cx="11165400" cy="256224"/>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800" u="none" strike="noStrike">
                <a:solidFill>
                  <a:srgbClr val="1B4528"/>
                </a:solidFill>
                <a:latin typeface="IBM Plex Sans"/>
                <a:ea typeface="IBM Plex Sans"/>
                <a:cs typeface="IBM Plex Sans"/>
                <a:sym typeface="IBM Plex Sans"/>
              </a:rPr>
              <a:t>Strategy: Business model and sustainability-related initiatives (C1)</a:t>
            </a:r>
            <a:endParaRPr/>
          </a:p>
        </p:txBody>
      </p:sp>
      <p:sp>
        <p:nvSpPr>
          <p:cNvPr id="197" name="Google Shape;197;p14"/>
          <p:cNvSpPr/>
          <p:nvPr/>
        </p:nvSpPr>
        <p:spPr>
          <a:xfrm>
            <a:off x="612401" y="4709014"/>
            <a:ext cx="207455" cy="232601"/>
          </a:xfrm>
          <a:prstGeom prst="rect">
            <a:avLst/>
          </a:prstGeom>
          <a:noFill/>
          <a:ln>
            <a:noFill/>
          </a:ln>
        </p:spPr>
      </p:sp>
      <p:sp>
        <p:nvSpPr>
          <p:cNvPr id="198" name="Google Shape;198;p1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199" name="Google Shape;199;p1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00" name="Google Shape;200;p14"/>
          <p:cNvGraphicFramePr/>
          <p:nvPr/>
        </p:nvGraphicFramePr>
        <p:xfrm>
          <a:off x="529201" y="2372250"/>
          <a:ext cx="3000000" cy="3000000"/>
        </p:xfrm>
        <a:graphic>
          <a:graphicData uri="http://schemas.openxmlformats.org/drawingml/2006/table">
            <a:tbl>
              <a:tblPr firstRow="1">
                <a:noFill/>
                <a:tableStyleId>{7E4485D4-36BE-405D-A0BE-AC2E898BDFCA}</a:tableStyleId>
              </a:tblPr>
              <a:tblGrid>
                <a:gridCol w="11165400"/>
              </a:tblGrid>
              <a:tr h="180000">
                <a:tc>
                  <a:txBody>
                    <a:bodyPr/>
                    <a:lstStyle/>
                    <a:p>
                      <a:pPr indent="0" lvl="0" marL="0" marR="0" rtl="0" algn="l">
                        <a:spcBef>
                          <a:spcPts val="0"/>
                        </a:spcBef>
                        <a:spcAft>
                          <a:spcPts val="0"/>
                        </a:spcAft>
                        <a:buNone/>
                      </a:pPr>
                      <a:r>
                        <a:rPr b="1" lang="en-GB" sz="1200">
                          <a:solidFill>
                            <a:schemeClr val="dk2"/>
                          </a:solidFill>
                        </a:rPr>
                        <a:t>Description of significant groups of products and/or services that </a:t>
                      </a:r>
                      <a:r>
                        <a:rPr b="1" lang="en-GB" sz="1200">
                          <a:solidFill>
                            <a:schemeClr val="accent2"/>
                          </a:solidFill>
                          <a:latin typeface="IBM Plex Sans"/>
                          <a:ea typeface="IBM Plex Sans"/>
                          <a:cs typeface="IBM Plex Sans"/>
                          <a:sym typeface="IBM Plex Sans"/>
                        </a:rPr>
                        <a:t>{{company_name}} </a:t>
                      </a:r>
                      <a:r>
                        <a:rPr b="1" lang="en-GB" sz="1200">
                          <a:solidFill>
                            <a:schemeClr val="dk2"/>
                          </a:solidFill>
                          <a:latin typeface="IBM Plex Sans"/>
                          <a:ea typeface="IBM Plex Sans"/>
                          <a:cs typeface="IBM Plex Sans"/>
                          <a:sym typeface="IBM Plex Sans"/>
                        </a:rPr>
                        <a:t>offers</a:t>
                      </a:r>
                      <a:r>
                        <a:rPr b="1" lang="en-GB" sz="1200">
                          <a:solidFill>
                            <a:schemeClr val="dk2"/>
                          </a:solidFill>
                        </a:rPr>
                        <a:t> </a:t>
                      </a:r>
                      <a:r>
                        <a:rPr b="0" lang="en-GB" sz="1200">
                          <a:solidFill>
                            <a:schemeClr val="dk2"/>
                          </a:solidFill>
                        </a:rPr>
                        <a:t>(para. 46a)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33725">
                <a:tc>
                  <a:txBody>
                    <a:bodyPr/>
                    <a:lstStyle/>
                    <a:p>
                      <a:pPr indent="0" lvl="0" marL="0" marR="0" rtl="0" algn="l">
                        <a:spcBef>
                          <a:spcPts val="0"/>
                        </a:spcBef>
                        <a:spcAft>
                          <a:spcPts val="0"/>
                        </a:spcAft>
                        <a:buNone/>
                      </a:pPr>
                      <a:r>
                        <a:rPr b="0" lang="en-GB" sz="1200">
                          <a:solidFill>
                            <a:schemeClr val="accent2"/>
                          </a:solidFill>
                        </a:rPr>
                        <a:t>{{markets_description}}</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1" name="Google Shape;201;p14"/>
          <p:cNvGraphicFramePr/>
          <p:nvPr/>
        </p:nvGraphicFramePr>
        <p:xfrm>
          <a:off x="529201" y="3297015"/>
          <a:ext cx="3000000" cy="3000000"/>
        </p:xfrm>
        <a:graphic>
          <a:graphicData uri="http://schemas.openxmlformats.org/drawingml/2006/table">
            <a:tbl>
              <a:tblPr firstRow="1">
                <a:noFill/>
                <a:tableStyleId>{7E4485D4-36BE-405D-A0BE-AC2E898BDFCA}</a:tableStyleId>
              </a:tblPr>
              <a:tblGrid>
                <a:gridCol w="11165400"/>
              </a:tblGrid>
              <a:tr h="194800">
                <a:tc>
                  <a:txBody>
                    <a:bodyPr/>
                    <a:lstStyle/>
                    <a:p>
                      <a:pPr indent="0" lvl="0" marL="0" marR="0" rtl="0" algn="l">
                        <a:spcBef>
                          <a:spcPts val="0"/>
                        </a:spcBef>
                        <a:spcAft>
                          <a:spcPts val="0"/>
                        </a:spcAft>
                        <a:buNone/>
                      </a:pPr>
                      <a:r>
                        <a:rPr b="1" lang="en-GB" sz="1200">
                          <a:solidFill>
                            <a:schemeClr val="dk2"/>
                          </a:solidFill>
                        </a:rPr>
                        <a:t>Description of the significant markets that </a:t>
                      </a:r>
                      <a:r>
                        <a:rPr b="1" lang="en-GB" sz="1200">
                          <a:solidFill>
                            <a:schemeClr val="accent2"/>
                          </a:solidFill>
                          <a:latin typeface="IBM Plex Sans"/>
                          <a:ea typeface="IBM Plex Sans"/>
                          <a:cs typeface="IBM Plex Sans"/>
                          <a:sym typeface="IBM Plex Sans"/>
                        </a:rPr>
                        <a:t>{{company_name}} </a:t>
                      </a:r>
                      <a:r>
                        <a:rPr b="1" lang="en-GB" sz="1200">
                          <a:solidFill>
                            <a:schemeClr val="dk2"/>
                          </a:solidFill>
                        </a:rPr>
                        <a:t>operates in </a:t>
                      </a:r>
                      <a:r>
                        <a:rPr b="0" lang="en-GB" sz="1200">
                          <a:solidFill>
                            <a:schemeClr val="dk2"/>
                          </a:solidFill>
                        </a:rPr>
                        <a:t>(para. 46b)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73100">
                <a:tc>
                  <a:txBody>
                    <a:bodyPr/>
                    <a:lstStyle/>
                    <a:p>
                      <a:pPr indent="0" lvl="0" marL="0" marR="0" rtl="0" algn="l">
                        <a:spcBef>
                          <a:spcPts val="0"/>
                        </a:spcBef>
                        <a:spcAft>
                          <a:spcPts val="0"/>
                        </a:spcAft>
                        <a:buNone/>
                      </a:pPr>
                      <a:r>
                        <a:rPr b="0" lang="en-GB" sz="1200">
                          <a:solidFill>
                            <a:schemeClr val="accent2"/>
                          </a:solidFill>
                        </a:rPr>
                        <a:t>{{business_relationships}}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2" name="Google Shape;202;p14"/>
          <p:cNvGraphicFramePr/>
          <p:nvPr/>
        </p:nvGraphicFramePr>
        <p:xfrm>
          <a:off x="529201" y="4436129"/>
          <a:ext cx="3000000" cy="3000000"/>
        </p:xfrm>
        <a:graphic>
          <a:graphicData uri="http://schemas.openxmlformats.org/drawingml/2006/table">
            <a:tbl>
              <a:tblPr firstRow="1">
                <a:noFill/>
                <a:tableStyleId>{7E4485D4-36BE-405D-A0BE-AC2E898BDFCA}</a:tableStyleId>
              </a:tblPr>
              <a:tblGrid>
                <a:gridCol w="11165400"/>
              </a:tblGrid>
              <a:tr h="177875">
                <a:tc>
                  <a:txBody>
                    <a:bodyPr/>
                    <a:lstStyle/>
                    <a:p>
                      <a:pPr indent="0" lvl="0" marL="0" marR="0" rtl="0" algn="l">
                        <a:spcBef>
                          <a:spcPts val="0"/>
                        </a:spcBef>
                        <a:spcAft>
                          <a:spcPts val="0"/>
                        </a:spcAft>
                        <a:buNone/>
                      </a:pPr>
                      <a:r>
                        <a:rPr b="1" lang="en-GB" sz="1200">
                          <a:solidFill>
                            <a:schemeClr val="dk2"/>
                          </a:solidFill>
                        </a:rPr>
                        <a:t>Description of </a:t>
                      </a:r>
                      <a:r>
                        <a:rPr b="1" lang="en-GB" sz="1200">
                          <a:solidFill>
                            <a:schemeClr val="accent2"/>
                          </a:solidFill>
                          <a:latin typeface="IBM Plex Sans"/>
                          <a:ea typeface="IBM Plex Sans"/>
                          <a:cs typeface="IBM Plex Sans"/>
                          <a:sym typeface="IBM Plex Sans"/>
                        </a:rPr>
                        <a:t>{{company_name}}</a:t>
                      </a:r>
                      <a:r>
                        <a:rPr b="1" lang="en-GB" sz="1200">
                          <a:solidFill>
                            <a:schemeClr val="accent1"/>
                          </a:solidFill>
                          <a:latin typeface="IBM Plex Sans"/>
                          <a:ea typeface="IBM Plex Sans"/>
                          <a:cs typeface="IBM Plex Sans"/>
                          <a:sym typeface="IBM Plex Sans"/>
                        </a:rPr>
                        <a:t>’s</a:t>
                      </a:r>
                      <a:r>
                        <a:rPr b="1" lang="en-GB" sz="1200">
                          <a:solidFill>
                            <a:schemeClr val="accent2"/>
                          </a:solidFill>
                          <a:latin typeface="IBM Plex Sans"/>
                          <a:ea typeface="IBM Plex Sans"/>
                          <a:cs typeface="IBM Plex Sans"/>
                          <a:sym typeface="IBM Plex Sans"/>
                        </a:rPr>
                        <a:t> </a:t>
                      </a:r>
                      <a:r>
                        <a:rPr b="1" lang="en-GB" sz="1200">
                          <a:solidFill>
                            <a:schemeClr val="dk2"/>
                          </a:solidFill>
                        </a:rPr>
                        <a:t>main business relationships </a:t>
                      </a:r>
                      <a:r>
                        <a:rPr b="0" lang="en-GB" sz="1200">
                          <a:solidFill>
                            <a:schemeClr val="dk2"/>
                          </a:solidFill>
                        </a:rPr>
                        <a:t>(para. 46c)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47800">
                <a:tc>
                  <a:txBody>
                    <a:bodyPr/>
                    <a:lstStyle/>
                    <a:p>
                      <a:pPr indent="0" lvl="0" marL="0" marR="0" rtl="0" algn="l">
                        <a:spcBef>
                          <a:spcPts val="0"/>
                        </a:spcBef>
                        <a:spcAft>
                          <a:spcPts val="0"/>
                        </a:spcAft>
                        <a:buNone/>
                      </a:pPr>
                      <a:r>
                        <a:rPr b="0" lang="en-GB" sz="1200">
                          <a:solidFill>
                            <a:schemeClr val="accent2"/>
                          </a:solidFill>
                        </a:rPr>
                        <a:t>{{strategy}}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3" name="Google Shape;203;p14"/>
          <p:cNvGraphicFramePr/>
          <p:nvPr/>
        </p:nvGraphicFramePr>
        <p:xfrm>
          <a:off x="518600" y="1581713"/>
          <a:ext cx="3000000" cy="3000000"/>
        </p:xfrm>
        <a:graphic>
          <a:graphicData uri="http://schemas.openxmlformats.org/drawingml/2006/table">
            <a:tbl>
              <a:tblPr firstRow="1">
                <a:noFill/>
                <a:tableStyleId>{7E4485D4-36BE-405D-A0BE-AC2E898BDFCA}</a:tableStyleId>
              </a:tblPr>
              <a:tblGrid>
                <a:gridCol w="11165400"/>
              </a:tblGrid>
              <a:tr h="186900">
                <a:tc>
                  <a:txBody>
                    <a:bodyPr/>
                    <a:lstStyle/>
                    <a:p>
                      <a:pPr indent="0" lvl="0" marL="0" marR="0" rtl="0" algn="l">
                        <a:spcBef>
                          <a:spcPts val="0"/>
                        </a:spcBef>
                        <a:spcAft>
                          <a:spcPts val="0"/>
                        </a:spcAft>
                        <a:buNone/>
                      </a:pPr>
                      <a:r>
                        <a:rPr b="1" lang="en-GB" sz="1200">
                          <a:solidFill>
                            <a:schemeClr val="dk2"/>
                          </a:solidFill>
                        </a:rPr>
                        <a:t>Description of the overall business model and strategy </a:t>
                      </a:r>
                      <a:r>
                        <a:rPr b="0" lang="en-GB" sz="1200">
                          <a:solidFill>
                            <a:schemeClr val="dk2"/>
                          </a:solidFill>
                        </a:rPr>
                        <a:t>(para. 46)</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32050">
                <a:tc>
                  <a:txBody>
                    <a:bodyPr/>
                    <a:lstStyle/>
                    <a:p>
                      <a:pPr indent="0" lvl="0" marL="0" marR="0" rtl="0" algn="l">
                        <a:spcBef>
                          <a:spcPts val="0"/>
                        </a:spcBef>
                        <a:spcAft>
                          <a:spcPts val="0"/>
                        </a:spcAft>
                        <a:buNone/>
                      </a:pPr>
                      <a:r>
                        <a:rPr b="0" lang="en-GB" sz="1200">
                          <a:solidFill>
                            <a:schemeClr val="accent2"/>
                          </a:solidFill>
                        </a:rPr>
                        <a:t>{{products_description}}</a:t>
                      </a:r>
                      <a:endParaRPr/>
                    </a:p>
                    <a:p>
                      <a:pPr indent="0" lvl="0" marL="0" marR="0" rtl="0" algn="l">
                        <a:spcBef>
                          <a:spcPts val="0"/>
                        </a:spcBef>
                        <a:spcAft>
                          <a:spcPts val="0"/>
                        </a:spcAft>
                        <a:buNone/>
                      </a:pPr>
                      <a:r>
                        <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4" name="Google Shape;204;p14"/>
          <p:cNvGraphicFramePr/>
          <p:nvPr/>
        </p:nvGraphicFramePr>
        <p:xfrm>
          <a:off x="518598" y="5551393"/>
          <a:ext cx="3000000" cy="3000000"/>
        </p:xfrm>
        <a:graphic>
          <a:graphicData uri="http://schemas.openxmlformats.org/drawingml/2006/table">
            <a:tbl>
              <a:tblPr firstRow="1">
                <a:noFill/>
                <a:tableStyleId>{7E4485D4-36BE-405D-A0BE-AC2E898BDFCA}</a:tableStyleId>
              </a:tblPr>
              <a:tblGrid>
                <a:gridCol w="11165400"/>
              </a:tblGrid>
              <a:tr h="151400">
                <a:tc>
                  <a:txBody>
                    <a:bodyPr/>
                    <a:lstStyle/>
                    <a:p>
                      <a:pPr indent="0" lvl="0" marL="0" marR="0" rtl="0" algn="l">
                        <a:spcBef>
                          <a:spcPts val="0"/>
                        </a:spcBef>
                        <a:spcAft>
                          <a:spcPts val="0"/>
                        </a:spcAft>
                        <a:buNone/>
                      </a:pPr>
                      <a:r>
                        <a:rPr b="1" lang="en-GB" sz="1200">
                          <a:solidFill>
                            <a:schemeClr val="dk2"/>
                          </a:solidFill>
                        </a:rPr>
                        <a:t>Description of where </a:t>
                      </a:r>
                      <a:r>
                        <a:rPr b="1" lang="en-GB" sz="1200">
                          <a:solidFill>
                            <a:schemeClr val="accent2"/>
                          </a:solidFill>
                          <a:latin typeface="IBM Plex Sans"/>
                          <a:ea typeface="IBM Plex Sans"/>
                          <a:cs typeface="IBM Plex Sans"/>
                          <a:sym typeface="IBM Plex Sans"/>
                        </a:rPr>
                        <a:t>{{company_name}}</a:t>
                      </a:r>
                      <a:r>
                        <a:rPr b="1" lang="en-GB" sz="1200">
                          <a:solidFill>
                            <a:schemeClr val="accent1"/>
                          </a:solidFill>
                          <a:latin typeface="IBM Plex Sans"/>
                          <a:ea typeface="IBM Plex Sans"/>
                          <a:cs typeface="IBM Plex Sans"/>
                          <a:sym typeface="IBM Plex Sans"/>
                        </a:rPr>
                        <a:t>´s strategy and business model have sustainability-related elements </a:t>
                      </a:r>
                      <a:r>
                        <a:rPr b="0" lang="en-GB" sz="1200">
                          <a:solidFill>
                            <a:schemeClr val="dk2"/>
                          </a:solidFill>
                        </a:rPr>
                        <a:t>(para. 46d)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41250">
                <a:tc>
                  <a:txBody>
                    <a:bodyPr/>
                    <a:lstStyle/>
                    <a:p>
                      <a:pPr indent="0" lvl="0" marL="0" marR="0" rtl="0" algn="l">
                        <a:spcBef>
                          <a:spcPts val="0"/>
                        </a:spcBef>
                        <a:spcAft>
                          <a:spcPts val="0"/>
                        </a:spcAft>
                        <a:buClr>
                          <a:schemeClr val="accent2"/>
                        </a:buClr>
                        <a:buSzPts val="1200"/>
                        <a:buFont typeface="IBM Plex Sans"/>
                        <a:buNone/>
                      </a:pPr>
                      <a:r>
                        <a:rPr b="0" lang="en-GB" sz="1200">
                          <a:solidFill>
                            <a:schemeClr val="accent2"/>
                          </a:solidFill>
                        </a:rPr>
                        <a:t>{{business_model}}</a:t>
                      </a:r>
                      <a:endParaRPr sz="1800"/>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05" name="Google Shape;205;p14"/>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has provided a description of its overall business model and strategy; products and/or services; markets; business relationships; and whether the undertaking’s business model has sustainability-related elements. </a:t>
            </a:r>
            <a:endParaRPr sz="1200">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latin typeface="IBM Plex Sans"/>
                <a:ea typeface="IBM Plex Sans"/>
                <a:cs typeface="IBM Plex Sans"/>
                <a:sym typeface="IBM Plex Sans"/>
              </a:rPr>
              <a:t>P</a:t>
            </a:r>
            <a:r>
              <a:rPr b="1" lang="en-GB" sz="1800">
                <a:solidFill>
                  <a:schemeClr val="dk2"/>
                </a:solidFill>
                <a:latin typeface="IBM Plex Sans"/>
                <a:ea typeface="IBM Plex Sans"/>
                <a:cs typeface="IBM Plex Sans"/>
                <a:sym typeface="IBM Plex Sans"/>
              </a:rPr>
              <a:t>ractices, policies and future initiatives for transitioning towards a more sustainable economy (C2)</a:t>
            </a:r>
            <a:endParaRPr/>
          </a:p>
        </p:txBody>
      </p:sp>
      <p:sp>
        <p:nvSpPr>
          <p:cNvPr id="212" name="Google Shape;212;p1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13" name="Google Shape;213;p1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14" name="Google Shape;214;p15"/>
          <p:cNvGraphicFramePr/>
          <p:nvPr/>
        </p:nvGraphicFramePr>
        <p:xfrm>
          <a:off x="518601" y="1753116"/>
          <a:ext cx="3000000" cy="3000000"/>
        </p:xfrm>
        <a:graphic>
          <a:graphicData uri="http://schemas.openxmlformats.org/drawingml/2006/table">
            <a:tbl>
              <a:tblPr firstRow="1">
                <a:noFill/>
                <a:tableStyleId>{7E4485D4-36BE-405D-A0BE-AC2E898BDFCA}</a:tableStyleId>
              </a:tblPr>
              <a:tblGrid>
                <a:gridCol w="1916850"/>
                <a:gridCol w="3082850"/>
                <a:gridCol w="3082850"/>
                <a:gridCol w="3082850"/>
              </a:tblGrid>
              <a:tr h="349625">
                <a:tc row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Area</a:t>
                      </a:r>
                      <a:endParaRPr/>
                    </a:p>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(para. 47)</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Brief description </a:t>
                      </a:r>
                      <a:r>
                        <a:rPr b="1" lang="en-GB" sz="1200" u="none">
                          <a:solidFill>
                            <a:schemeClr val="dk2"/>
                          </a:solidFill>
                          <a:latin typeface="IBM Plex Sans"/>
                          <a:ea typeface="IBM Plex Sans"/>
                          <a:cs typeface="IBM Plex Sans"/>
                          <a:sym typeface="IBM Plex Sans"/>
                        </a:rPr>
                        <a:t>of existing </a:t>
                      </a:r>
                      <a:r>
                        <a:rPr b="1" lang="en-GB" sz="1200">
                          <a:solidFill>
                            <a:schemeClr val="dk2"/>
                          </a:solidFill>
                          <a:latin typeface="IBM Plex Sans"/>
                          <a:ea typeface="IBM Plex Sans"/>
                          <a:cs typeface="IBM Plex Sans"/>
                          <a:sym typeface="IBM Plex Sans"/>
                        </a:rPr>
                        <a:t>practices/policies/actions (cf. disclosure B2)</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Brief description of any </a:t>
                      </a:r>
                      <a:r>
                        <a:rPr b="1" lang="en-GB" sz="1200" u="none">
                          <a:solidFill>
                            <a:schemeClr val="dk2"/>
                          </a:solidFill>
                          <a:latin typeface="IBM Plex Sans"/>
                          <a:ea typeface="IBM Plex Sans"/>
                          <a:cs typeface="IBM Plex Sans"/>
                          <a:sym typeface="IBM Plex Sans"/>
                        </a:rPr>
                        <a:t>future</a:t>
                      </a:r>
                      <a:r>
                        <a:rPr b="1" lang="en-GB" sz="1200">
                          <a:solidFill>
                            <a:schemeClr val="dk2"/>
                          </a:solidFill>
                          <a:latin typeface="IBM Plex Sans"/>
                          <a:ea typeface="IBM Plex Sans"/>
                          <a:cs typeface="IBM Plex Sans"/>
                          <a:sym typeface="IBM Plex Sans"/>
                        </a:rPr>
                        <a:t> targets (cf. disclosure B2)</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lt1"/>
                        </a:buClr>
                        <a:buSzPts val="1200"/>
                        <a:buFont typeface="IBM Plex Sans"/>
                        <a:buNone/>
                      </a:pPr>
                      <a:r>
                        <a:rPr lang="en-GB" sz="1200">
                          <a:solidFill>
                            <a:schemeClr val="lt1"/>
                          </a:solidFill>
                        </a:rPr>
                        <a:t>This disclosure </a:t>
                      </a:r>
                      <a:r>
                        <a:rPr b="1" lang="en-GB" sz="1200">
                          <a:solidFill>
                            <a:schemeClr val="lt1"/>
                          </a:solidFill>
                        </a:rPr>
                        <a:t>is voluntary</a:t>
                      </a:r>
                      <a:endParaRPr sz="1200">
                        <a:solidFill>
                          <a:schemeClr val="lt1"/>
                        </a:solidFill>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1B4529"/>
                    </a:solidFill>
                  </a:tcPr>
                </a:tc>
              </a:tr>
              <a:tr h="572675">
                <a:tc vMerge="1"/>
                <a:tc vMerge="1"/>
                <a:tc vMerge="1"/>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Indication of the most senior level within the undertaking accountable for implementation </a:t>
                      </a:r>
                      <a:r>
                        <a:rPr b="0" lang="en-GB" sz="1200">
                          <a:solidFill>
                            <a:schemeClr val="dk2"/>
                          </a:solidFill>
                          <a:latin typeface="IBM Plex Sans"/>
                          <a:ea typeface="IBM Plex Sans"/>
                          <a:cs typeface="IBM Plex Sans"/>
                          <a:sym typeface="IBM Plex Sans"/>
                        </a:rPr>
                        <a:t>(para. 48)</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95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Climate change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Climate_C2_Description_Existing_Practices</a:t>
                      </a:r>
                      <a:r>
                        <a:rPr b="0" i="0" lang="en-GB"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Climate_C2_Future_Practices</a:t>
                      </a:r>
                      <a:r>
                        <a:rPr b="0" i="0" lang="en-GB"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Climate_C2_Management_Level</a:t>
                      </a:r>
                      <a:r>
                        <a:rPr b="0" i="0" lang="en-GB"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7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Pollution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Pollution_C2_Description_Existing_Practices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Pollution_C2_Future_Practices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Pollution_C2_Management_Level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Water and marine resources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Water_C2_Description_Existing_Practices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Water_C2_Future_Practices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latin typeface="IBM Plex Sans"/>
                          <a:ea typeface="IBM Plex Sans"/>
                          <a:cs typeface="IBM Plex Sans"/>
                          <a:sym typeface="IBM Plex Sans"/>
                        </a:rPr>
                        <a:t>Water_C2_Management_Level</a:t>
                      </a:r>
                      <a:r>
                        <a:rPr b="0" i="0" lang="en-GB" sz="1200" u="none" strike="noStrike">
                          <a:solidFill>
                            <a:srgbClr val="2D55FF"/>
                          </a:solidFill>
                          <a:latin typeface="Inter"/>
                          <a:ea typeface="Inter"/>
                          <a:cs typeface="Inter"/>
                          <a:sym typeface="Inter"/>
                        </a:rPr>
                        <a:t>}}</a:t>
                      </a:r>
                      <a:endParaRPr b="0" i="0" sz="1200" u="none" strike="noStrike">
                        <a:solidFill>
                          <a:srgbClr val="000000"/>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i="0" sz="1200" u="none" strike="noStrike">
                        <a:solidFill>
                          <a:srgbClr val="2D55FF"/>
                        </a:solidFill>
                        <a:latin typeface="Inter"/>
                        <a:ea typeface="Inter"/>
                        <a:cs typeface="Inter"/>
                        <a:sym typeface="Inter"/>
                      </a:endParaRPr>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39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Biodiversity and ecosystems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Bio_C2_Description_Existing_Practices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Bio_C2_Future_Practices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Bio_C2_Management_Level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Circular economy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Circular_C2_Description_Existing_Practices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Circular_C2_Future_Practices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Circular_C2_Management_Level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Own workforce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Own_Workforce_C2_Description_Existing_Practices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Own_Workforce_C2_Future_Practices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Own_Workforce_C2_Management_Level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Workers in the value chain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Workers_Value_Chain_C2_Description_Existing_Practices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Workers_Value_Chain_C2_Future_Practices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Workers_Value_Chain_C2_Management_Level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Affected communities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Affected_C2_Description_Existing_Practices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Affected_C2_Future_Practices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Affected_C2_Management_Level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39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Consumers and end-users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Consumers_C2_Description_Existing_Practices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Consumers_C2_Future_Practices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Consumers_C2_Management_Level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Business conduct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Governance_C2_Description_Existing_Practices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Governance_C2_Future_Practices</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a:t>
                      </a:r>
                      <a:r>
                        <a:rPr b="0" i="0" lang="en-GB" sz="1200" u="none" strike="noStrike">
                          <a:solidFill>
                            <a:srgbClr val="2D55FF"/>
                          </a:solidFill>
                        </a:rPr>
                        <a:t>Governance_C2_Management_Level</a:t>
                      </a:r>
                      <a:r>
                        <a:rPr b="0" i="0" lang="en-GB"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15" name="Google Shape;215;p15"/>
          <p:cNvSpPr txBox="1"/>
          <p:nvPr/>
        </p:nvSpPr>
        <p:spPr>
          <a:xfrm>
            <a:off x="535853" y="1029778"/>
            <a:ext cx="1114814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2"/>
                </a:solidFill>
                <a:latin typeface="IBM Plex Sans"/>
                <a:ea typeface="IBM Plex Sans"/>
                <a:cs typeface="IBM Plex Sans"/>
                <a:sym typeface="IBM Plex Sans"/>
              </a:rPr>
              <a:t>The table below has been completed because the undertaking has already put in place specific practices, policies or initiatives that contribute to the transition towards a more sustainable economy. The undertaking has answered ”YES” to one or more disclosures under B2 in the Basic Module. The following provides a more complete account of the policies, initiatives and practices put in place for the transition towards a more sustainable economy in the undertaking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lang="en-GB">
                <a:solidFill>
                  <a:srgbClr val="1B4528"/>
                </a:solidFill>
                <a:latin typeface="IBM Plex Sans"/>
                <a:ea typeface="IBM Plex Sans"/>
                <a:cs typeface="IBM Plex Sans"/>
                <a:sym typeface="IBM Plex Sans"/>
              </a:rPr>
              <a:t>CO₂e emissions under B3 in the Basic Module</a:t>
            </a:r>
            <a:endParaRPr b="0"/>
          </a:p>
        </p:txBody>
      </p:sp>
      <p:sp>
        <p:nvSpPr>
          <p:cNvPr id="222" name="Google Shape;222;p1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23" name="Google Shape;223;p1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224" name="Google Shape;224;p16"/>
          <p:cNvGraphicFramePr/>
          <p:nvPr/>
        </p:nvGraphicFramePr>
        <p:xfrm>
          <a:off x="518599" y="3711451"/>
          <a:ext cx="3000000" cy="3000000"/>
        </p:xfrm>
        <a:graphic>
          <a:graphicData uri="http://schemas.openxmlformats.org/drawingml/2006/table">
            <a:tbl>
              <a:tblPr firstRow="1">
                <a:noFill/>
                <a:tableStyleId>{7E4485D4-36BE-405D-A0BE-AC2E898BDFCA}</a:tableStyleId>
              </a:tblPr>
              <a:tblGrid>
                <a:gridCol w="3721800"/>
                <a:gridCol w="3721800"/>
                <a:gridCol w="3721800"/>
              </a:tblGrid>
              <a:tr h="280100">
                <a:tc gridSpan="3">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CO₂e reduction targets </a:t>
                      </a:r>
                      <a:r>
                        <a:rPr b="0" lang="en-GB" sz="1200">
                          <a:solidFill>
                            <a:schemeClr val="dk2"/>
                          </a:solidFill>
                          <a:latin typeface="IBM Plex Sans"/>
                          <a:ea typeface="IBM Plex Sans"/>
                          <a:cs typeface="IBM Plex Sans"/>
                          <a:sym typeface="IBM Plex Sans"/>
                        </a:rPr>
                        <a:t>(para. 53 a–d)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r>
              <a:tr h="346325">
                <a:tc>
                  <a:txBody>
                    <a:bodyPr/>
                    <a:lstStyle/>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Target in year </a:t>
                      </a:r>
                      <a:r>
                        <a:rPr b="1" lang="en-GB" sz="1200">
                          <a:solidFill>
                            <a:schemeClr val="accent2"/>
                          </a:solidFill>
                          <a:latin typeface="IBM Plex Sans"/>
                          <a:ea typeface="IBM Plex Sans"/>
                          <a:cs typeface="IBM Plex Sans"/>
                          <a:sym typeface="IBM Plex Sans"/>
                        </a:rPr>
                        <a:t>{{baseline_year-1}}</a:t>
                      </a:r>
                      <a:endParaRPr b="0" sz="1200">
                        <a:solidFill>
                          <a:schemeClr val="accent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CO₂e emissions in base year:</a:t>
                      </a:r>
                      <a:r>
                        <a:rPr b="0" lang="en-GB" sz="1200">
                          <a:solidFill>
                            <a:schemeClr val="dk2"/>
                          </a:solidFill>
                          <a:latin typeface="IBM Plex Sans"/>
                          <a:ea typeface="IBM Plex Sans"/>
                          <a:cs typeface="IBM Plex Sans"/>
                          <a:sym typeface="IBM Plex Sans"/>
                        </a:rPr>
                        <a:t> </a:t>
                      </a:r>
                      <a:r>
                        <a:rPr b="1" lang="en-GB" sz="1200">
                          <a:solidFill>
                            <a:schemeClr val="accent2"/>
                          </a:solidFill>
                          <a:latin typeface="IBM Plex Sans"/>
                          <a:ea typeface="IBM Plex Sans"/>
                          <a:cs typeface="IBM Plex Sans"/>
                          <a:sym typeface="IBM Plex Sans"/>
                        </a:rPr>
                        <a:t>{{Insert baseline 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6325">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Scope 1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{{scope1-2_target}}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{{scope1-2_baseline}}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6325">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Scope 2</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{{scope1-2_target}}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{{scope1-2_baseline}}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Scope 3</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{{scope3_target}}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{{scope3_baseline}}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25" name="Google Shape;225;p16"/>
          <p:cNvGraphicFramePr/>
          <p:nvPr/>
        </p:nvGraphicFramePr>
        <p:xfrm>
          <a:off x="518598" y="5613228"/>
          <a:ext cx="3000000" cy="3000000"/>
        </p:xfrm>
        <a:graphic>
          <a:graphicData uri="http://schemas.openxmlformats.org/drawingml/2006/table">
            <a:tbl>
              <a:tblPr firstRow="1">
                <a:noFill/>
                <a:tableStyleId>{7E4485D4-36BE-405D-A0BE-AC2E898BDFCA}</a:tableStyleId>
              </a:tblPr>
              <a:tblGrid>
                <a:gridCol w="11165400"/>
              </a:tblGrid>
              <a:tr h="3303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List of the main actions </a:t>
                      </a:r>
                      <a:r>
                        <a:rPr b="1" lang="en-GB" sz="1200">
                          <a:solidFill>
                            <a:schemeClr val="accent2"/>
                          </a:solidFill>
                          <a:latin typeface="IBM Plex Sans"/>
                          <a:ea typeface="IBM Plex Sans"/>
                          <a:cs typeface="IBM Plex Sans"/>
                          <a:sym typeface="IBM Plex Sans"/>
                        </a:rPr>
                        <a:t>{{Company name}} </a:t>
                      </a:r>
                      <a:r>
                        <a:rPr b="0" lang="en-GB" sz="1200">
                          <a:solidFill>
                            <a:schemeClr val="accent2"/>
                          </a:solidFill>
                          <a:latin typeface="IBM Plex Sans"/>
                          <a:ea typeface="IBM Plex Sans"/>
                          <a:cs typeface="IBM Plex Sans"/>
                          <a:sym typeface="IBM Plex Sans"/>
                        </a:rPr>
                        <a:t> </a:t>
                      </a:r>
                      <a:r>
                        <a:rPr b="1" lang="en-GB" sz="1200">
                          <a:solidFill>
                            <a:schemeClr val="dk2"/>
                          </a:solidFill>
                          <a:latin typeface="IBM Plex Sans"/>
                          <a:ea typeface="IBM Plex Sans"/>
                          <a:cs typeface="IBM Plex Sans"/>
                          <a:sym typeface="IBM Plex Sans"/>
                        </a:rPr>
                        <a:t>is implementing to achieve the CO₂e reduction targets </a:t>
                      </a:r>
                      <a:r>
                        <a:rPr b="0" lang="en-GB" sz="1200">
                          <a:solidFill>
                            <a:schemeClr val="dk2"/>
                          </a:solidFill>
                          <a:latin typeface="IBM Plex Sans"/>
                          <a:ea typeface="IBM Plex Sans"/>
                          <a:cs typeface="IBM Plex Sans"/>
                          <a:sym typeface="IBM Plex Sans"/>
                        </a:rPr>
                        <a:t>(para. 53e)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29750">
                <a:tc>
                  <a:txBody>
                    <a:bodyPr/>
                    <a:lstStyle/>
                    <a:p>
                      <a:pPr indent="0" lvl="0" marL="0" marR="0" rtl="0" algn="l">
                        <a:spcBef>
                          <a:spcPts val="0"/>
                        </a:spcBef>
                        <a:spcAft>
                          <a:spcPts val="0"/>
                        </a:spcAft>
                        <a:buNone/>
                      </a:pPr>
                      <a:r>
                        <a:rPr b="0" lang="en-GB" sz="1200">
                          <a:solidFill>
                            <a:schemeClr val="accent2"/>
                          </a:solidFill>
                        </a:rPr>
                        <a:t>{{mainaction}}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6" name="Google Shape;226;p16"/>
          <p:cNvSpPr txBox="1"/>
          <p:nvPr/>
        </p:nvSpPr>
        <p:spPr>
          <a:xfrm>
            <a:off x="518600" y="3264714"/>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en-GB" sz="1800">
                <a:solidFill>
                  <a:schemeClr val="dk2"/>
                </a:solidFill>
                <a:latin typeface="IBM Plex Sans"/>
                <a:ea typeface="IBM Plex Sans"/>
                <a:cs typeface="IBM Plex Sans"/>
                <a:sym typeface="IBM Plex Sans"/>
              </a:rPr>
              <a:t>CO₂e reduction targets (C3)</a:t>
            </a:r>
            <a:endParaRPr/>
          </a:p>
        </p:txBody>
      </p:sp>
      <p:graphicFrame>
        <p:nvGraphicFramePr>
          <p:cNvPr id="227" name="Google Shape;227;p16"/>
          <p:cNvGraphicFramePr/>
          <p:nvPr/>
        </p:nvGraphicFramePr>
        <p:xfrm>
          <a:off x="518599" y="1559113"/>
          <a:ext cx="3000000" cy="3000000"/>
        </p:xfrm>
        <a:graphic>
          <a:graphicData uri="http://schemas.openxmlformats.org/drawingml/2006/table">
            <a:tbl>
              <a:tblPr firstRow="1">
                <a:noFill/>
                <a:tableStyleId>{7E4485D4-36BE-405D-A0BE-AC2E898BDFCA}</a:tableStyleId>
              </a:tblPr>
              <a:tblGrid>
                <a:gridCol w="8831675"/>
                <a:gridCol w="2323125"/>
              </a:tblGrid>
              <a:tr h="306325">
                <a:tc>
                  <a:txBody>
                    <a:bodyPr/>
                    <a:lstStyle/>
                    <a:p>
                      <a:pPr indent="0" lvl="0" marL="0" marR="0" rtl="0" algn="l">
                        <a:lnSpc>
                          <a:spcPct val="106000"/>
                        </a:lnSpc>
                        <a:spcBef>
                          <a:spcPts val="0"/>
                        </a:spcBef>
                        <a:spcAft>
                          <a:spcPts val="0"/>
                        </a:spcAft>
                        <a:buNone/>
                      </a:pPr>
                      <a:r>
                        <a:rPr b="1" lang="en-GB" sz="1200">
                          <a:solidFill>
                            <a:schemeClr val="dk2"/>
                          </a:solidFill>
                        </a:rPr>
                        <a:t>Greenhouse gas emissions –</a:t>
                      </a:r>
                      <a:r>
                        <a:rPr b="0" lang="en-GB" sz="1200">
                          <a:solidFill>
                            <a:schemeClr val="dk2"/>
                          </a:solidFill>
                        </a:rPr>
                        <a:t> (added to para. 33)</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en-GB" sz="1200">
                          <a:solidFill>
                            <a:schemeClr val="dk2"/>
                          </a:solidFill>
                        </a:rPr>
                        <a:t>Year </a:t>
                      </a:r>
                      <a:r>
                        <a:rPr b="1" lang="en-GB" sz="1200">
                          <a:solidFill>
                            <a:schemeClr val="accent2"/>
                          </a:solidFill>
                          <a:latin typeface="Calibri"/>
                          <a:ea typeface="Calibri"/>
                          <a:cs typeface="Calibri"/>
                          <a:sym typeface="Calibri"/>
                        </a:rPr>
                        <a:t>{{Insert 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1375">
                <a:tc>
                  <a:txBody>
                    <a:bodyPr/>
                    <a:lstStyle/>
                    <a:p>
                      <a:pPr indent="0" lvl="0" marL="0" marR="0" rtl="0" algn="l">
                        <a:lnSpc>
                          <a:spcPct val="100000"/>
                        </a:lnSpc>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{{scope3_description_table}}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BM Plex Sans"/>
                        <a:buNone/>
                      </a:pPr>
                      <a:r>
                        <a:rPr b="0" i="0" lang="en-GB" sz="1200" u="none" cap="none" strike="noStrike">
                          <a:solidFill>
                            <a:srgbClr val="2D55FF"/>
                          </a:solidFill>
                          <a:latin typeface="IBM Plex Sans"/>
                          <a:ea typeface="IBM Plex Sans"/>
                          <a:cs typeface="IBM Plex Sans"/>
                          <a:sym typeface="IBM Plex Sans"/>
                        </a:rPr>
                        <a:t>{{scope3_emissions_table}}</a:t>
                      </a:r>
                      <a:endParaRPr b="0" i="0" sz="1200" u="none" cap="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375">
                <a:tc>
                  <a:txBody>
                    <a:bodyPr/>
                    <a:lstStyle/>
                    <a:p>
                      <a:pPr indent="0" lvl="0" marL="0" marR="0" rtl="0" algn="l">
                        <a:lnSpc>
                          <a:spcPct val="106000"/>
                        </a:lnSpc>
                        <a:spcBef>
                          <a:spcPts val="0"/>
                        </a:spcBef>
                        <a:spcAft>
                          <a:spcPts val="0"/>
                        </a:spcAft>
                        <a:buNone/>
                      </a:pPr>
                      <a:r>
                        <a:rPr b="1" lang="en-GB" sz="1200">
                          <a:solidFill>
                            <a:schemeClr val="dk2"/>
                          </a:solidFill>
                        </a:rPr>
                        <a:t>Total Scope 3 CO₂e emissions (location-based)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2D55FF"/>
                        </a:buClr>
                        <a:buSzPts val="1200"/>
                        <a:buFont typeface="IBM Plex Sans"/>
                        <a:buNone/>
                      </a:pPr>
                      <a:r>
                        <a:rPr b="0" i="0" lang="en-GB" sz="1200" u="none" cap="none" strike="noStrike">
                          <a:solidFill>
                            <a:srgbClr val="2D55FF"/>
                          </a:solidFill>
                          <a:latin typeface="IBM Plex Sans"/>
                          <a:ea typeface="IBM Plex Sans"/>
                          <a:cs typeface="IBM Plex Sans"/>
                          <a:sym typeface="IBM Plex Sans"/>
                        </a:rPr>
                        <a:t>{{scope3}}</a:t>
                      </a:r>
                      <a:endParaRPr b="0" i="0" sz="1200" u="none" cap="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1375">
                <a:tc>
                  <a:txBody>
                    <a:bodyPr/>
                    <a:lstStyle/>
                    <a:p>
                      <a:pPr indent="0" lvl="0" marL="0" marR="0" rtl="0" algn="l">
                        <a:lnSpc>
                          <a:spcPct val="106000"/>
                        </a:lnSpc>
                        <a:spcBef>
                          <a:spcPts val="0"/>
                        </a:spcBef>
                        <a:spcAft>
                          <a:spcPts val="0"/>
                        </a:spcAft>
                        <a:buNone/>
                      </a:pPr>
                      <a:r>
                        <a:rPr b="1" lang="en-GB" sz="1200">
                          <a:solidFill>
                            <a:schemeClr val="dk2"/>
                          </a:solidFill>
                        </a:rPr>
                        <a:t>Total CO₂e emissions for Scope 1, 2 and 3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1200"/>
                        <a:buFont typeface="IBM Plex Sans"/>
                        <a:buNone/>
                      </a:pPr>
                      <a:r>
                        <a:rPr b="0" i="0" lang="en-GB" sz="1200" u="none" cap="none" strike="noStrike">
                          <a:solidFill>
                            <a:srgbClr val="2D55FF"/>
                          </a:solidFill>
                          <a:latin typeface="IBM Plex Sans"/>
                          <a:ea typeface="IBM Plex Sans"/>
                          <a:cs typeface="IBM Plex Sans"/>
                          <a:sym typeface="IBM Plex Sans"/>
                        </a:rPr>
                        <a:t>{{total_all_scopes}}</a:t>
                      </a:r>
                      <a:endParaRPr b="0" i="0" sz="1200" u="none" cap="none" strike="noStrike">
                        <a:solidFill>
                          <a:srgbClr val="2D55FF"/>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8" name="Google Shape;228;p16"/>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has provided an overview of Scope 3 greenhouse gas emissions in accordance with the GHG Protocol. The undertaking states total emissions and location-based Scope 3 emissions. The undertaking’s CO₂e reduction targets are set out, including the undertaking’s main actions to meet the reduction target</a:t>
            </a:r>
            <a:r>
              <a:rPr lang="en-GB" sz="1200">
                <a:solidFill>
                  <a:schemeClr val="dk2"/>
                </a:solidFill>
                <a:latin typeface="Inter"/>
                <a:ea typeface="Inter"/>
                <a:cs typeface="Inter"/>
                <a:sym typeface="Inter"/>
              </a:rPr>
              <a: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C</a:t>
            </a:r>
            <a:r>
              <a:rPr b="1" lang="en-GB" sz="1800">
                <a:solidFill>
                  <a:schemeClr val="dk2"/>
                </a:solidFill>
              </a:rPr>
              <a:t>limate transition (C3)</a:t>
            </a:r>
            <a:endParaRPr/>
          </a:p>
        </p:txBody>
      </p:sp>
      <p:sp>
        <p:nvSpPr>
          <p:cNvPr id="235" name="Google Shape;235;p1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36" name="Google Shape;236;p1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37" name="Google Shape;237;p17"/>
          <p:cNvGraphicFramePr/>
          <p:nvPr/>
        </p:nvGraphicFramePr>
        <p:xfrm>
          <a:off x="518592" y="4404641"/>
          <a:ext cx="3000000" cy="3000000"/>
        </p:xfrm>
        <a:graphic>
          <a:graphicData uri="http://schemas.openxmlformats.org/drawingml/2006/table">
            <a:tbl>
              <a:tblPr firstRow="1">
                <a:noFill/>
                <a:tableStyleId>{7E4485D4-36BE-405D-A0BE-AC2E898BDFCA}</a:tableStyleId>
              </a:tblPr>
              <a:tblGrid>
                <a:gridCol w="5588000"/>
                <a:gridCol w="5588000"/>
              </a:tblGrid>
              <a:tr h="327575">
                <a:tc grid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Future transition plan </a:t>
                      </a:r>
                      <a:r>
                        <a:rPr b="0" lang="en-GB" sz="1200">
                          <a:solidFill>
                            <a:schemeClr val="dk2"/>
                          </a:solidFill>
                          <a:latin typeface="IBM Plex Sans"/>
                          <a:ea typeface="IBM Plex Sans"/>
                          <a:cs typeface="IBM Plex Sans"/>
                          <a:sym typeface="IBM Plex Sans"/>
                        </a:rPr>
                        <a:t>(para. 55)</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48675">
                <a:tc>
                  <a:txBody>
                    <a:bodyPr/>
                    <a:lstStyle/>
                    <a:p>
                      <a:pPr indent="0" lvl="0" marL="0" marR="0" rtl="0" algn="l">
                        <a:spcBef>
                          <a:spcPts val="0"/>
                        </a:spcBef>
                        <a:spcAft>
                          <a:spcPts val="0"/>
                        </a:spcAft>
                        <a:buNone/>
                      </a:pPr>
                      <a:r>
                        <a:rPr b="1" lang="en-GB" sz="1200">
                          <a:solidFill>
                            <a:schemeClr val="accent2"/>
                          </a:solidFill>
                          <a:latin typeface="IBM Plex Sans"/>
                          <a:ea typeface="IBM Plex Sans"/>
                          <a:cs typeface="IBM Plex Sans"/>
                          <a:sym typeface="IBM Plex Sans"/>
                        </a:rPr>
                        <a:t>{{company_name}} </a:t>
                      </a:r>
                      <a:r>
                        <a:rPr b="1" lang="en-GB" sz="1200">
                          <a:solidFill>
                            <a:schemeClr val="dk2"/>
                          </a:solidFill>
                          <a:latin typeface="IBM Plex Sans"/>
                          <a:ea typeface="IBM Plex Sans"/>
                          <a:cs typeface="IBM Plex Sans"/>
                          <a:sym typeface="IBM Plex Sans"/>
                        </a:rPr>
                        <a:t>will adopt a specific transition plan </a:t>
                      </a:r>
                      <a:r>
                        <a:rPr b="1" lang="en-GB" sz="1200">
                          <a:solidFill>
                            <a:schemeClr val="dk2"/>
                          </a:solidFill>
                        </a:rPr>
                        <a:t>for climate change mitigation</a:t>
                      </a:r>
                      <a:endParaRPr b="1"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{{transition_plan?}}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4867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Timing of adoption of the transition plan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{{transition_plan_date}}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8" name="Google Shape;238;p17"/>
          <p:cNvGraphicFramePr/>
          <p:nvPr/>
        </p:nvGraphicFramePr>
        <p:xfrm>
          <a:off x="518592" y="1672171"/>
          <a:ext cx="3000000" cy="3000000"/>
        </p:xfrm>
        <a:graphic>
          <a:graphicData uri="http://schemas.openxmlformats.org/drawingml/2006/table">
            <a:tbl>
              <a:tblPr firstRow="1">
                <a:noFill/>
                <a:tableStyleId>{7E4485D4-36BE-405D-A0BE-AC2E898BDFCA}</a:tableStyleId>
              </a:tblPr>
              <a:tblGrid>
                <a:gridCol w="11176000"/>
              </a:tblGrid>
              <a:tr h="3683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Transition plan for climate change mitigation </a:t>
                      </a:r>
                      <a:r>
                        <a:rPr b="0" lang="en-GB" sz="1200">
                          <a:solidFill>
                            <a:schemeClr val="dk2"/>
                          </a:solidFill>
                          <a:latin typeface="IBM Plex Sans"/>
                          <a:ea typeface="IBM Plex Sans"/>
                          <a:cs typeface="IBM Plex Sans"/>
                          <a:sym typeface="IBM Plex Sans"/>
                        </a:rPr>
                        <a:t>(para. 54)</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579875">
                <a:tc>
                  <a:txBody>
                    <a:bodyPr/>
                    <a:lstStyle/>
                    <a:p>
                      <a:pPr indent="0" lvl="0" marL="0" marR="0" rtl="0" algn="l">
                        <a:spcBef>
                          <a:spcPts val="0"/>
                        </a:spcBef>
                        <a:spcAft>
                          <a:spcPts val="0"/>
                        </a:spcAft>
                        <a:buNone/>
                      </a:pPr>
                      <a:r>
                        <a:rPr b="0" lang="en-GB" sz="1200">
                          <a:solidFill>
                            <a:schemeClr val="accent2"/>
                          </a:solidFill>
                        </a:rPr>
                        <a:t>{{transition_plan}}</a:t>
                      </a:r>
                      <a:endParaRPr/>
                    </a:p>
                    <a:p>
                      <a:pPr indent="0" lvl="0" marL="0" marR="0" rtl="0" algn="l">
                        <a:spcBef>
                          <a:spcPts val="0"/>
                        </a:spcBef>
                        <a:spcAft>
                          <a:spcPts val="0"/>
                        </a:spcAft>
                        <a:buNone/>
                      </a:pPr>
                      <a:r>
                        <a:t/>
                      </a:r>
                      <a:endParaRPr b="0" sz="1200">
                        <a:solidFill>
                          <a:schemeClr val="accent2"/>
                        </a:solidFill>
                      </a:endParaRPr>
                    </a:p>
                    <a:p>
                      <a:pPr indent="0" lvl="0" marL="0" marR="0" rtl="0" algn="l">
                        <a:spcBef>
                          <a:spcPts val="0"/>
                        </a:spcBef>
                        <a:spcAft>
                          <a:spcPts val="0"/>
                        </a:spcAft>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9" name="Google Shape;239;p17"/>
          <p:cNvSpPr txBox="1"/>
          <p:nvPr/>
        </p:nvSpPr>
        <p:spPr>
          <a:xfrm>
            <a:off x="508000" y="1016000"/>
            <a:ext cx="1117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information below relates to the undertaking’s transition plan for climate change mitigation. The transition is linked to the undertaking’s CO₂e reduction targets.</a:t>
            </a:r>
            <a:endParaRPr/>
          </a:p>
        </p:txBody>
      </p:sp>
      <p:sp>
        <p:nvSpPr>
          <p:cNvPr id="240" name="Google Shape;240;p17"/>
          <p:cNvSpPr txBox="1"/>
          <p:nvPr/>
        </p:nvSpPr>
        <p:spPr>
          <a:xfrm>
            <a:off x="497408" y="3854142"/>
            <a:ext cx="1117599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This disclosure has been completed because the undertaking has stated that it will adopt a specific transition plan, together with the date of adoption.</a:t>
            </a:r>
            <a:endParaRPr sz="1800">
              <a:solidFill>
                <a:schemeClr val="dk2"/>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C</a:t>
            </a:r>
            <a:r>
              <a:rPr b="1" lang="en-GB" sz="1800">
                <a:solidFill>
                  <a:schemeClr val="dk2"/>
                </a:solidFill>
              </a:rPr>
              <a:t>limate risks (C4)</a:t>
            </a:r>
            <a:endParaRPr/>
          </a:p>
        </p:txBody>
      </p:sp>
      <p:sp>
        <p:nvSpPr>
          <p:cNvPr id="247" name="Google Shape;247;p1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sp>
        <p:nvSpPr>
          <p:cNvPr id="248" name="Google Shape;248;p18"/>
          <p:cNvSpPr/>
          <p:nvPr/>
        </p:nvSpPr>
        <p:spPr>
          <a:xfrm>
            <a:off x="601802" y="3774751"/>
            <a:ext cx="207455" cy="232601"/>
          </a:xfrm>
          <a:prstGeom prst="rect">
            <a:avLst/>
          </a:prstGeom>
          <a:noFill/>
          <a:ln>
            <a:noFill/>
          </a:ln>
        </p:spPr>
      </p:sp>
      <p:sp>
        <p:nvSpPr>
          <p:cNvPr id="249" name="Google Shape;249;p18"/>
          <p:cNvSpPr/>
          <p:nvPr/>
        </p:nvSpPr>
        <p:spPr>
          <a:xfrm>
            <a:off x="601801" y="4402404"/>
            <a:ext cx="207455" cy="232601"/>
          </a:xfrm>
          <a:prstGeom prst="rect">
            <a:avLst/>
          </a:prstGeom>
          <a:noFill/>
          <a:ln>
            <a:noFill/>
          </a:ln>
        </p:spPr>
      </p:sp>
      <p:graphicFrame>
        <p:nvGraphicFramePr>
          <p:cNvPr id="250" name="Google Shape;250;p18"/>
          <p:cNvGraphicFramePr/>
          <p:nvPr/>
        </p:nvGraphicFramePr>
        <p:xfrm>
          <a:off x="518598" y="1550008"/>
          <a:ext cx="3000000" cy="3000000"/>
        </p:xfrm>
        <a:graphic>
          <a:graphicData uri="http://schemas.openxmlformats.org/drawingml/2006/table">
            <a:tbl>
              <a:tblPr firstRow="1">
                <a:noFill/>
                <a:tableStyleId>{7E4485D4-36BE-405D-A0BE-AC2E898BDFCA}</a:tableStyleId>
              </a:tblPr>
              <a:tblGrid>
                <a:gridCol w="1336725"/>
                <a:gridCol w="1007400"/>
                <a:gridCol w="3163225"/>
                <a:gridCol w="1715075"/>
                <a:gridCol w="1569950"/>
                <a:gridCol w="1213750"/>
                <a:gridCol w="1159325"/>
              </a:tblGrid>
              <a:tr h="224150">
                <a:tc gridSpan="3">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(para. 56a)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gridSpan="2">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(para. 56b)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(para. 56c)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(para. 56d)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545825">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Climate-related risks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Where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Brief description of risks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Exposure </a:t>
                      </a:r>
                      <a:endParaRPr/>
                    </a:p>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rPr>
                        <a:t>(low/medium/high)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Sensitivity </a:t>
                      </a:r>
                      <a:endParaRPr/>
                    </a:p>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rPr>
                        <a:t>(low/medium/high)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Time horizon </a:t>
                      </a:r>
                      <a:endParaRPr/>
                    </a:p>
                    <a:p>
                      <a:pPr indent="0" lvl="0" marL="0" marR="0" rtl="0" algn="ctr">
                        <a:lnSpc>
                          <a:spcPct val="100000"/>
                        </a:lnSpc>
                        <a:spcBef>
                          <a:spcPts val="0"/>
                        </a:spcBef>
                        <a:spcAft>
                          <a:spcPts val="0"/>
                        </a:spcAft>
                        <a:buClr>
                          <a:schemeClr val="dk2"/>
                        </a:buClr>
                        <a:buSzPts val="1200"/>
                        <a:buFont typeface="IBM Plex Sans"/>
                        <a:buNone/>
                      </a:pPr>
                      <a:r>
                        <a:rPr b="0" i="0" lang="en-GB" sz="1200">
                          <a:solidFill>
                            <a:schemeClr val="dk2"/>
                          </a:solidFill>
                        </a:rPr>
                        <a:t>(0-1/2-5/&gt;5 years)</a:t>
                      </a:r>
                      <a:endParaRPr b="0" i="0" sz="12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Adaptation undertaken </a:t>
                      </a:r>
                      <a:r>
                        <a:rPr b="0" lang="en-GB" sz="1200">
                          <a:solidFill>
                            <a:schemeClr val="dk2"/>
                          </a:solidFill>
                        </a:rPr>
                        <a:t>(YES/NO)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Chronic hazards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Assets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{{chronic_aktiver_description}}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{{chronic_aktiver_eksponerning}}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{{chronic_aktiver_time}}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Activities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{{chronic_aktivteter_eksponerning}}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{{chronic_aktivteter_time}}</a:t>
                      </a:r>
                      <a:endParaRPr sz="1800"/>
                    </a:p>
                    <a:p>
                      <a:pPr indent="0" lvl="0" marL="0" marR="0" rtl="0" algn="ctr">
                        <a:lnSpc>
                          <a:spcPct val="100000"/>
                        </a:lnSpc>
                        <a:spcBef>
                          <a:spcPts val="0"/>
                        </a:spcBef>
                        <a:spcAft>
                          <a:spcPts val="0"/>
                        </a:spcAft>
                        <a:buClr>
                          <a:schemeClr val="dk1"/>
                        </a:buClr>
                        <a:buSzPts val="1800"/>
                        <a:buFont typeface="IBM Plex Sans"/>
                        <a:buNone/>
                      </a:pPr>
                      <a:r>
                        <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{{chronic_aktivteter_tilpasning}}</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Value chain</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{{chronic_value_description}}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{{chronic_value_eksponerning}}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{{chronic_value_sårbarhed}}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{{chronic_value_time}}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{{chronic_value_tilpasning}}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Acute hazards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Assets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{{akut_aktiver_description}}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Activities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{{akut_aktiviteter_description}}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{{akut_aktiviteter_eksponering}}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{{akut_aktiviteter_sårbarhed}}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{{akut_aktiviteter_tidshorisont}}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{{akut_aktiviteter_tilpasning}}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Value chain</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{{akut_værdikæde_description}}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{{akut_værdikæde_eksponering}}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{{akut_værdikæde_sårbarhed}}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{{akut_værdikæde_tidshorisont}}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{{akut_værdikæde_tilpasning}}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Transition event</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Assets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{{omstilling_aktiver_description}}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Activities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{{omstilling_aktiviteter_description}}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{{omstilling_aktiviteter_eksponering}}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{{omstilling_aktiviteter_sårbarhed}}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{{omstilling_aktiviteter_tidshorisont}}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{{omstilling_aktiviteter_tilpasning}}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Value chain</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{{omstilling_værdikæde_description}}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{{omstilling_værdikæde_eksponering}}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{{omstilling_værdikæde_sårbarhed}}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{{omstilling_værdikæde_tidshorisont}}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{{omstilling_værdikæde_tilpasning}}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51" name="Google Shape;251;p1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solidFill>
                  <a:srgbClr val="1B4528"/>
                </a:solidFill>
              </a:rPr>
              <a:t>‹#›</a:t>
            </a:fld>
            <a:endParaRPr>
              <a:solidFill>
                <a:srgbClr val="1B4528"/>
              </a:solidFill>
            </a:endParaRPr>
          </a:p>
        </p:txBody>
      </p:sp>
      <p:sp>
        <p:nvSpPr>
          <p:cNvPr id="252" name="Google Shape;252;p18"/>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has provided an overview of climate-related risks, including whether these are chronic, acute or transition-related and where they are located (assets, activities or in the undertaking’s value chain). </a:t>
            </a:r>
            <a:endParaRPr sz="120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en-GB"/>
              <a:t>C</a:t>
            </a:r>
            <a:r>
              <a:rPr b="1" lang="en-GB" sz="1800">
                <a:solidFill>
                  <a:schemeClr val="dk2"/>
                </a:solidFill>
              </a:rPr>
              <a:t>limate risks (C4) - continued</a:t>
            </a:r>
            <a:endParaRPr/>
          </a:p>
        </p:txBody>
      </p:sp>
      <p:sp>
        <p:nvSpPr>
          <p:cNvPr id="259" name="Google Shape;259;p1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60" name="Google Shape;260;p1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61" name="Google Shape;261;p19"/>
          <p:cNvGraphicFramePr/>
          <p:nvPr/>
        </p:nvGraphicFramePr>
        <p:xfrm>
          <a:off x="498723" y="1527295"/>
          <a:ext cx="3000000" cy="3000000"/>
        </p:xfrm>
        <a:graphic>
          <a:graphicData uri="http://schemas.openxmlformats.org/drawingml/2006/table">
            <a:tbl>
              <a:tblPr firstRow="1">
                <a:noFill/>
                <a:tableStyleId>{7E4485D4-36BE-405D-A0BE-AC2E898BDFCA}</a:tableStyleId>
              </a:tblPr>
              <a:tblGrid>
                <a:gridCol w="2838925"/>
                <a:gridCol w="5297500"/>
                <a:gridCol w="1635900"/>
                <a:gridCol w="1393050"/>
              </a:tblGrid>
              <a:tr h="175125">
                <a:tc gridSpan="4">
                  <a:txBody>
                    <a:bodyPr/>
                    <a:lstStyle/>
                    <a:p>
                      <a:pPr indent="0" lvl="0" marL="0" marR="0" rtl="0" algn="l">
                        <a:spcBef>
                          <a:spcPts val="0"/>
                        </a:spcBef>
                        <a:spcAft>
                          <a:spcPts val="0"/>
                        </a:spcAft>
                        <a:buNone/>
                      </a:pPr>
                      <a:r>
                        <a:rPr b="0" lang="en-GB" sz="1200">
                          <a:solidFill>
                            <a:schemeClr val="dk2"/>
                          </a:solidFill>
                          <a:latin typeface="IBM Plex Sans"/>
                          <a:ea typeface="IBM Plex Sans"/>
                          <a:cs typeface="IBM Plex Sans"/>
                          <a:sym typeface="IBM Plex Sans"/>
                        </a:rPr>
                        <a:t>(para. 57)</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r>
              <a:tr h="388175">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Potential adverse </a:t>
                      </a:r>
                      <a:r>
                        <a:rPr b="1" lang="en-GB" sz="1200">
                          <a:solidFill>
                            <a:schemeClr val="dk2"/>
                          </a:solidFill>
                          <a:latin typeface="IBM Plex Sans"/>
                          <a:ea typeface="IBM Plex Sans"/>
                          <a:cs typeface="IBM Plex Sans"/>
                          <a:sym typeface="IBM Plex Sans"/>
                        </a:rPr>
                        <a:t>effects on the undertaking’s financial performance and business operations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Financial risk</a:t>
                      </a:r>
                      <a:endParaRPr/>
                    </a:p>
                    <a:p>
                      <a:pPr indent="0" lvl="0" marL="0" marR="0" rtl="0" algn="ctr">
                        <a:lnSpc>
                          <a:spcPct val="100000"/>
                        </a:lnSpc>
                        <a:spcBef>
                          <a:spcPts val="0"/>
                        </a:spcBef>
                        <a:spcAft>
                          <a:spcPts val="0"/>
                        </a:spcAft>
                        <a:buClr>
                          <a:schemeClr val="dk2"/>
                        </a:buClr>
                        <a:buSzPts val="1200"/>
                        <a:buFont typeface="IBM Plex Sans"/>
                        <a:buNone/>
                      </a:pPr>
                      <a:r>
                        <a:rPr b="0" lang="en-GB" sz="1200">
                          <a:solidFill>
                            <a:schemeClr val="dk2"/>
                          </a:solidFill>
                          <a:latin typeface="IBM Plex Sans"/>
                          <a:ea typeface="IBM Plex Sans"/>
                          <a:cs typeface="IBM Plex Sans"/>
                          <a:sym typeface="IBM Plex Sans"/>
                        </a:rPr>
                        <a:t>(low/medium/high)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rPr>
                        <a:t>Time horizon</a:t>
                      </a:r>
                      <a:endParaRPr/>
                    </a:p>
                    <a:p>
                      <a:pPr indent="0" lvl="0" marL="0" marR="0" rtl="0" algn="ctr">
                        <a:lnSpc>
                          <a:spcPct val="100000"/>
                        </a:lnSpc>
                        <a:spcBef>
                          <a:spcPts val="0"/>
                        </a:spcBef>
                        <a:spcAft>
                          <a:spcPts val="0"/>
                        </a:spcAft>
                        <a:buClr>
                          <a:schemeClr val="dk2"/>
                        </a:buClr>
                        <a:buSzPts val="1200"/>
                        <a:buFont typeface="IBM Plex Sans"/>
                        <a:buNone/>
                      </a:pPr>
                      <a:r>
                        <a:rPr b="0" i="0" lang="en-GB" sz="1200">
                          <a:solidFill>
                            <a:schemeClr val="dk2"/>
                          </a:solidFill>
                        </a:rPr>
                        <a:t>(0-1/2-5/&gt;5 years)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Chronic hazards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{{chronic_hazards}}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{{chronic_financial_risk}}</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{{chronic_time_horizon}}</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Acute hazards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{{acute_hazards}}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{{acute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{{acute_financial_risk}}</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{{acute_time_horizon}}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Transition risks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{{climate_related}}</a:t>
                      </a:r>
                      <a:endParaRPr sz="1800"/>
                    </a:p>
                    <a:p>
                      <a:pPr indent="0" lvl="0" marL="0" marR="0" rtl="0" algn="l">
                        <a:lnSpc>
                          <a:spcPct val="100000"/>
                        </a:lnSpc>
                        <a:spcBef>
                          <a:spcPts val="0"/>
                        </a:spcBef>
                        <a:spcAft>
                          <a:spcPts val="0"/>
                        </a:spcAft>
                        <a:buClr>
                          <a:schemeClr val="dk1"/>
                        </a:buClr>
                        <a:buSzPts val="1200"/>
                        <a:buFont typeface="IBM Plex Sans"/>
                        <a:buNone/>
                      </a:pPr>
                      <a:r>
                        <a:t/>
                      </a:r>
                      <a:endParaRPr b="0" i="0" sz="1200" u="none" strike="noStrike">
                        <a:solidFill>
                          <a:schemeClr val="accent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{{climate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{{climate_related_risk}}</a:t>
                      </a:r>
                      <a:endParaRPr sz="1800"/>
                    </a:p>
                    <a:p>
                      <a:pPr indent="0" lvl="0" marL="0" marR="0" rtl="0" algn="ctr">
                        <a:lnSpc>
                          <a:spcPct val="100000"/>
                        </a:lnSpc>
                        <a:spcBef>
                          <a:spcPts val="0"/>
                        </a:spcBef>
                        <a:spcAft>
                          <a:spcPts val="0"/>
                        </a:spcAft>
                        <a:buClr>
                          <a:schemeClr val="dk1"/>
                        </a:buClr>
                        <a:buSzPts val="1800"/>
                        <a:buFont typeface="IBM Plex Sans"/>
                        <a:buNone/>
                      </a:pPr>
                      <a:r>
                        <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{{climate_time_horizon}}</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62" name="Google Shape;262;p19"/>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undertaking has provided an overview of climate-related risks, including whether these are chronic, acute or transition-related and whether they may have a potential adverse effect on the undertaking’s financial performance and business operations.</a:t>
            </a:r>
            <a:endParaRPr sz="1200">
              <a:solidFill>
                <a:schemeClr val="dk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800" u="none" strike="noStrike">
                <a:solidFill>
                  <a:srgbClr val="1B4528"/>
                </a:solidFill>
              </a:rPr>
              <a:t>Additional (general) workforce characteristics (C5)</a:t>
            </a:r>
            <a:endParaRPr/>
          </a:p>
        </p:txBody>
      </p:sp>
      <p:sp>
        <p:nvSpPr>
          <p:cNvPr id="269" name="Google Shape;269;p2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70" name="Google Shape;270;p2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71" name="Google Shape;271;p20"/>
          <p:cNvGraphicFramePr/>
          <p:nvPr/>
        </p:nvGraphicFramePr>
        <p:xfrm>
          <a:off x="6237155" y="1650746"/>
          <a:ext cx="3000000" cy="3000000"/>
        </p:xfrm>
        <a:graphic>
          <a:graphicData uri="http://schemas.openxmlformats.org/drawingml/2006/table">
            <a:tbl>
              <a:tblPr firstRow="1">
                <a:noFill/>
                <a:tableStyleId>{7E4485D4-36BE-405D-A0BE-AC2E898BDFCA}</a:tableStyleId>
              </a:tblPr>
              <a:tblGrid>
                <a:gridCol w="4228750"/>
                <a:gridCol w="1218100"/>
              </a:tblGrid>
              <a:tr h="28800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en-GB" sz="1200">
                          <a:solidFill>
                            <a:schemeClr val="dk2"/>
                          </a:solidFill>
                        </a:rPr>
                        <a:t>Female-to-male ratio at management level </a:t>
                      </a:r>
                      <a:r>
                        <a:rPr b="0" i="0" lang="en-GB" sz="1200">
                          <a:solidFill>
                            <a:schemeClr val="dk2"/>
                          </a:solidFill>
                        </a:rPr>
                        <a:t>(para. 59)</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en-GB" sz="1200" u="none" strike="noStrike">
                          <a:solidFill>
                            <a:srgbClr val="1B4528"/>
                          </a:solidFill>
                          <a:latin typeface="IBM Plex Sans"/>
                          <a:ea typeface="IBM Plex Sans"/>
                          <a:cs typeface="IBM Plex Sans"/>
                          <a:sym typeface="IBM Plex Sans"/>
                        </a:rPr>
                        <a:t>Year </a:t>
                      </a:r>
                      <a:r>
                        <a:rPr b="1" i="0" lang="en-GB" sz="1200" u="none" strike="noStrike">
                          <a:solidFill>
                            <a:srgbClr val="2D55FF"/>
                          </a:solidFill>
                          <a:latin typeface="IBM Plex Sans"/>
                          <a:ea typeface="IBM Plex Sans"/>
                          <a:cs typeface="IBM Plex Sans"/>
                          <a:sym typeface="IBM Plex Sans"/>
                        </a:rPr>
                        <a:t>{{Insert year}}</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{{gender_balance}}</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72" name="Google Shape;272;p20"/>
          <p:cNvGraphicFramePr/>
          <p:nvPr/>
        </p:nvGraphicFramePr>
        <p:xfrm>
          <a:off x="505381" y="1650746"/>
          <a:ext cx="3000000" cy="3000000"/>
        </p:xfrm>
        <a:graphic>
          <a:graphicData uri="http://schemas.openxmlformats.org/drawingml/2006/table">
            <a:tbl>
              <a:tblPr firstRow="1">
                <a:noFill/>
                <a:tableStyleId>{7E4485D4-36BE-405D-A0BE-AC2E898BDFCA}</a:tableStyleId>
              </a:tblPr>
              <a:tblGrid>
                <a:gridCol w="4228750"/>
                <a:gridCol w="1218100"/>
              </a:tblGrid>
              <a:tr h="28800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en-GB" sz="1200">
                          <a:solidFill>
                            <a:schemeClr val="dk2"/>
                          </a:solidFill>
                        </a:rPr>
                        <a:t>Employee turnover in the reporting year </a:t>
                      </a:r>
                      <a:r>
                        <a:rPr b="0" i="0" lang="en-GB" sz="1200">
                          <a:solidFill>
                            <a:schemeClr val="dk2"/>
                          </a:solidFill>
                        </a:rPr>
                        <a:t>(para. 58)</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en-GB" sz="1200" u="none" strike="noStrike">
                          <a:solidFill>
                            <a:srgbClr val="1B4528"/>
                          </a:solidFill>
                          <a:latin typeface="IBM Plex Sans"/>
                          <a:ea typeface="IBM Plex Sans"/>
                          <a:cs typeface="IBM Plex Sans"/>
                          <a:sym typeface="IBM Plex Sans"/>
                        </a:rPr>
                        <a:t>Year </a:t>
                      </a:r>
                      <a:r>
                        <a:rPr b="1" i="0" lang="en-GB" sz="1200" u="none" strike="noStrike">
                          <a:solidFill>
                            <a:srgbClr val="2D55FF"/>
                          </a:solidFill>
                          <a:latin typeface="IBM Plex Sans"/>
                          <a:ea typeface="IBM Plex Sans"/>
                          <a:cs typeface="IBM Plex Sans"/>
                          <a:sym typeface="IBM Plex Sans"/>
                        </a:rPr>
                        <a:t>{{Insert year}}</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l">
                        <a:spcBef>
                          <a:spcPts val="0"/>
                        </a:spcBef>
                        <a:spcAft>
                          <a:spcPts val="0"/>
                        </a:spcAft>
                        <a:buClr>
                          <a:srgbClr val="2D55FF"/>
                        </a:buClr>
                        <a:buSzPts val="1200"/>
                        <a:buFont typeface="IBM Plex Sans"/>
                        <a:buNone/>
                      </a:pPr>
                      <a:r>
                        <a:rPr b="0" i="0" lang="en-GB" sz="1200" u="none" strike="noStrike">
                          <a:solidFill>
                            <a:srgbClr val="2D55FF"/>
                          </a:solidFill>
                          <a:latin typeface="IBM Plex Sans"/>
                          <a:ea typeface="IBM Plex Sans"/>
                          <a:cs typeface="IBM Plex Sans"/>
                          <a:sym typeface="IBM Plex Sans"/>
                        </a:rPr>
                        <a:t>{{omsatningsrate}}</a:t>
                      </a:r>
                      <a:endParaRPr/>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3" name="Google Shape;273;p20"/>
          <p:cNvSpPr txBox="1"/>
          <p:nvPr/>
        </p:nvSpPr>
        <p:spPr>
          <a:xfrm>
            <a:off x="508000" y="1016000"/>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information below supplements the other disclosures on the undertaking’s workforce, including how the undertaking’s ratio of men to women at management level is distributed.</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graphicFrame>
        <p:nvGraphicFramePr>
          <p:cNvPr id="274" name="Google Shape;274;p20"/>
          <p:cNvGraphicFramePr/>
          <p:nvPr/>
        </p:nvGraphicFramePr>
        <p:xfrm>
          <a:off x="507999" y="3287188"/>
          <a:ext cx="3000000" cy="3000000"/>
        </p:xfrm>
        <a:graphic>
          <a:graphicData uri="http://schemas.openxmlformats.org/drawingml/2006/table">
            <a:tbl>
              <a:tblPr firstRow="1">
                <a:noFill/>
                <a:tableStyleId>{7E4485D4-36BE-405D-A0BE-AC2E898BDFCA}</a:tableStyleId>
              </a:tblPr>
              <a:tblGrid>
                <a:gridCol w="8275925"/>
                <a:gridCol w="2889475"/>
              </a:tblGrid>
              <a:tr h="288000">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Self-employed and temporary workers </a:t>
                      </a:r>
                      <a:r>
                        <a:rPr b="0" lang="en-GB" sz="1200">
                          <a:solidFill>
                            <a:schemeClr val="dk2"/>
                          </a:solidFill>
                        </a:rPr>
                        <a:t>(para. 60)</a:t>
                      </a:r>
                      <a:endParaRPr b="1"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88000">
                <a:tc>
                  <a:txBody>
                    <a:bodyPr/>
                    <a:lstStyle/>
                    <a:p>
                      <a:pPr indent="0" lvl="0" marL="0" marR="0" rtl="0" algn="l">
                        <a:lnSpc>
                          <a:spcPct val="100000"/>
                        </a:lnSpc>
                        <a:spcBef>
                          <a:spcPts val="0"/>
                        </a:spcBef>
                        <a:spcAft>
                          <a:spcPts val="0"/>
                        </a:spcAft>
                        <a:buClr>
                          <a:schemeClr val="dk1"/>
                        </a:buClr>
                        <a:buSzPts val="1200"/>
                        <a:buFont typeface="IBM Plex Sans"/>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Number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1" lang="en-GB" sz="1200">
                          <a:solidFill>
                            <a:schemeClr val="dk2"/>
                          </a:solidFill>
                        </a:rPr>
                        <a:t>Self-employed (without personnel)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{{self-employeed}}</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1" lang="en-GB" sz="1200">
                          <a:solidFill>
                            <a:schemeClr val="dk2"/>
                          </a:solidFill>
                        </a:rPr>
                        <a:t>Temporary workers (provided through an employment agency)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{{temp_workers}}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5" name="Google Shape;275;p20"/>
          <p:cNvSpPr txBox="1"/>
          <p:nvPr/>
        </p:nvSpPr>
        <p:spPr>
          <a:xfrm>
            <a:off x="518599" y="2772045"/>
            <a:ext cx="1115479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information below has been completed to disclose the number of self-employed persons and temporary workers the undertaking has.</a:t>
            </a:r>
            <a:endParaRPr b="0" sz="1200">
              <a:solidFill>
                <a:schemeClr val="dk2"/>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800" u="none" strike="noStrike">
                <a:solidFill>
                  <a:srgbClr val="1B4528"/>
                </a:solidFill>
                <a:latin typeface="IBM Plex Sans"/>
                <a:ea typeface="IBM Plex Sans"/>
                <a:cs typeface="IBM Plex Sans"/>
                <a:sym typeface="IBM Plex Sans"/>
              </a:rPr>
              <a:t>Human rights policies and processes (C6</a:t>
            </a:r>
            <a:r>
              <a:rPr lang="en-GB"/>
              <a:t>) - Own workforce</a:t>
            </a:r>
            <a:endParaRPr/>
          </a:p>
        </p:txBody>
      </p:sp>
      <p:sp>
        <p:nvSpPr>
          <p:cNvPr id="281" name="Google Shape;281;p21"/>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82" name="Google Shape;282;p21"/>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br>
              <a:rPr lang="en-GB"/>
            </a:br>
            <a:endParaRPr/>
          </a:p>
        </p:txBody>
      </p:sp>
      <p:graphicFrame>
        <p:nvGraphicFramePr>
          <p:cNvPr id="283" name="Google Shape;283;p21"/>
          <p:cNvGraphicFramePr/>
          <p:nvPr/>
        </p:nvGraphicFramePr>
        <p:xfrm>
          <a:off x="518600" y="1841711"/>
          <a:ext cx="3000000" cy="3000000"/>
        </p:xfrm>
        <a:graphic>
          <a:graphicData uri="http://schemas.openxmlformats.org/drawingml/2006/table">
            <a:tbl>
              <a:tblPr firstRow="1">
                <a:noFill/>
                <a:tableStyleId>{7E4485D4-36BE-405D-A0BE-AC2E898BDFCA}</a:tableStyleId>
              </a:tblPr>
              <a:tblGrid>
                <a:gridCol w="8583275"/>
                <a:gridCol w="2582125"/>
              </a:tblGrid>
              <a:tr h="511925">
                <a:tc>
                  <a:txBody>
                    <a:bodyPr/>
                    <a:lstStyle/>
                    <a:p>
                      <a:pPr indent="0" lvl="0" marL="0" marR="0" rtl="0" algn="l">
                        <a:lnSpc>
                          <a:spcPct val="100000"/>
                        </a:lnSpc>
                        <a:spcBef>
                          <a:spcPts val="0"/>
                        </a:spcBef>
                        <a:spcAft>
                          <a:spcPts val="0"/>
                        </a:spcAft>
                        <a:buClr>
                          <a:schemeClr val="accent2"/>
                        </a:buClr>
                        <a:buSzPts val="1200"/>
                        <a:buFont typeface="IBM Plex Sans"/>
                        <a:buNone/>
                      </a:pPr>
                      <a:r>
                        <a:rPr b="1" lang="en-GB" sz="1200">
                          <a:solidFill>
                            <a:schemeClr val="accent2"/>
                          </a:solidFill>
                          <a:latin typeface="IBM Plex Sans"/>
                          <a:ea typeface="IBM Plex Sans"/>
                          <a:cs typeface="IBM Plex Sans"/>
                          <a:sym typeface="IBM Plex Sans"/>
                        </a:rPr>
                        <a:t>{{company_name}}</a:t>
                      </a:r>
                      <a:r>
                        <a:rPr b="1" lang="en-GB" sz="1200">
                          <a:solidFill>
                            <a:schemeClr val="dk2"/>
                          </a:solidFill>
                        </a:rPr>
                        <a:t> has </a:t>
                      </a:r>
                      <a:r>
                        <a:rPr b="1" lang="en-GB" sz="1200">
                          <a:solidFill>
                            <a:schemeClr val="dk2"/>
                          </a:solidFill>
                          <a:latin typeface="IBM Plex Sans"/>
                          <a:ea typeface="IBM Plex Sans"/>
                          <a:cs typeface="IBM Plex Sans"/>
                          <a:sym typeface="IBM Plex Sans"/>
                        </a:rPr>
                        <a:t>a code of conduct </a:t>
                      </a:r>
                      <a:r>
                        <a:rPr b="1" i="1" lang="en-GB" sz="1200">
                          <a:solidFill>
                            <a:schemeClr val="dk2"/>
                          </a:solidFill>
                          <a:latin typeface="IBM Plex Sans"/>
                          <a:ea typeface="IBM Plex Sans"/>
                          <a:cs typeface="IBM Plex Sans"/>
                          <a:sym typeface="IBM Plex Sans"/>
                        </a:rPr>
                        <a:t>and/or</a:t>
                      </a:r>
                      <a:r>
                        <a:rPr b="1" lang="en-GB" sz="1200">
                          <a:solidFill>
                            <a:schemeClr val="dk2"/>
                          </a:solidFill>
                          <a:latin typeface="IBM Plex Sans"/>
                          <a:ea typeface="IBM Plex Sans"/>
                          <a:cs typeface="IBM Plex Sans"/>
                          <a:sym typeface="IBM Plex Sans"/>
                        </a:rPr>
                        <a:t> a human rights policy for our </a:t>
                      </a:r>
                      <a:r>
                        <a:rPr b="1" lang="en-GB" sz="1200" u="sng">
                          <a:solidFill>
                            <a:schemeClr val="dk2"/>
                          </a:solidFill>
                          <a:latin typeface="IBM Plex Sans"/>
                          <a:ea typeface="IBM Plex Sans"/>
                          <a:cs typeface="IBM Plex Sans"/>
                          <a:sym typeface="IBM Plex Sans"/>
                        </a:rPr>
                        <a:t>own workforce</a:t>
                      </a:r>
                      <a:r>
                        <a:rPr b="0" lang="en-GB" sz="1200" u="none">
                          <a:solidFill>
                            <a:schemeClr val="dk2"/>
                          </a:solidFill>
                          <a:latin typeface="IBM Plex Sans"/>
                          <a:ea typeface="IBM Plex Sans"/>
                          <a:cs typeface="IBM Plex Sans"/>
                          <a:sym typeface="IBM Plex Sans"/>
                        </a:rPr>
                        <a:t> (para. 61a)</a:t>
                      </a:r>
                      <a:endParaRPr b="0" sz="1200" u="none">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lang="en-GB" sz="1200">
                          <a:solidFill>
                            <a:schemeClr val="accent2"/>
                          </a:solidFill>
                          <a:latin typeface="IBM Plex Sans"/>
                          <a:ea typeface="IBM Plex Sans"/>
                          <a:cs typeface="IBM Plex Sans"/>
                          <a:sym typeface="IBM Plex Sans"/>
                        </a:rPr>
                        <a:t>{{human_rights_policy?}}</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gridSpan="2">
                  <a:txBody>
                    <a:bodyPr/>
                    <a:lstStyle/>
                    <a:p>
                      <a:pPr indent="0" lvl="0" marL="0" marR="0" rtl="0" algn="l">
                        <a:spcBef>
                          <a:spcPts val="0"/>
                        </a:spcBef>
                        <a:spcAft>
                          <a:spcPts val="0"/>
                        </a:spcAft>
                        <a:buNone/>
                      </a:pPr>
                      <a:r>
                        <a:rPr b="1" lang="en-GB" sz="1200">
                          <a:solidFill>
                            <a:schemeClr val="dk1"/>
                          </a:solidFill>
                          <a:latin typeface="IBM Plex Sans"/>
                          <a:ea typeface="IBM Plex Sans"/>
                          <a:cs typeface="IBM Plex Sans"/>
                          <a:sym typeface="IBM Plex Sans"/>
                        </a:rPr>
                        <a:t>The code of conduct or human rights policy covers these topics: </a:t>
                      </a:r>
                      <a:r>
                        <a:rPr b="0" lang="en-GB" sz="1200" u="none">
                          <a:solidFill>
                            <a:schemeClr val="dk2"/>
                          </a:solidFill>
                          <a:latin typeface="IBM Plex Sans"/>
                          <a:ea typeface="IBM Plex Sans"/>
                          <a:cs typeface="IBM Plex Sans"/>
                          <a:sym typeface="IBM Plex Sans"/>
                        </a:rPr>
                        <a:t>(para. 61b)</a:t>
                      </a:r>
                      <a:endParaRPr b="0" sz="1200">
                        <a:solidFill>
                          <a:schemeClr val="dk1"/>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63275">
                <a:tc>
                  <a:txBody>
                    <a:bodyPr/>
                    <a:lstStyle/>
                    <a:p>
                      <a:pPr indent="0" lvl="1" marL="457200" marR="0" rtl="0" algn="l">
                        <a:spcBef>
                          <a:spcPts val="0"/>
                        </a:spcBef>
                        <a:spcAft>
                          <a:spcPts val="0"/>
                        </a:spcAft>
                        <a:buNone/>
                      </a:pPr>
                      <a:r>
                        <a:rPr b="0" lang="en-GB" sz="1200" u="none" cap="none" strike="noStrike">
                          <a:solidFill>
                            <a:schemeClr val="dk2"/>
                          </a:solidFill>
                        </a:rPr>
                        <a:t>Child labour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{{child_labour_polict?}}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en-GB" sz="1200" u="none" cap="none" strike="noStrike">
                          <a:solidFill>
                            <a:schemeClr val="dk2"/>
                          </a:solidFill>
                        </a:rPr>
                        <a:t>Forced labour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{{forced_labour_policy?}}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en-GB" sz="1200" u="none" cap="none" strike="noStrike">
                          <a:solidFill>
                            <a:schemeClr val="dk2"/>
                          </a:solidFill>
                        </a:rPr>
                        <a:t>Human trafficking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{{human_policy?}}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en-GB" sz="1200" u="none" cap="none" strike="noStrike">
                          <a:solidFill>
                            <a:schemeClr val="dk2"/>
                          </a:solidFill>
                        </a:rPr>
                        <a:t>Discrimination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{{discrimanation_policy?}}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en-GB" sz="1200" u="none" cap="none" strike="noStrike">
                          <a:solidFill>
                            <a:schemeClr val="dk2"/>
                          </a:solidFill>
                        </a:rPr>
                        <a:t>Safety and accident prevention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{{safety_policy?}}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en-GB" sz="1200" u="none" cap="none" strike="noStrike">
                          <a:solidFill>
                            <a:schemeClr val="dk2"/>
                          </a:solidFill>
                        </a:rPr>
                        <a:t>Other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{{other_policy?}}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gridSpan="2">
                  <a:txBody>
                    <a:bodyPr/>
                    <a:lstStyle/>
                    <a:p>
                      <a:pPr indent="0" lvl="0" marL="0" marR="0" rtl="0" algn="l">
                        <a:spcBef>
                          <a:spcPts val="0"/>
                        </a:spcBef>
                        <a:spcAft>
                          <a:spcPts val="0"/>
                        </a:spcAft>
                        <a:buNone/>
                      </a:pPr>
                      <a:r>
                        <a:rPr b="1" lang="en-GB" sz="1200">
                          <a:solidFill>
                            <a:schemeClr val="dk2"/>
                          </a:solidFill>
                        </a:rPr>
                        <a:t>If yes to ”Other”, please specify</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833725">
                <a:tc gridSpan="2">
                  <a:txBody>
                    <a:bodyPr/>
                    <a:lstStyle/>
                    <a:p>
                      <a:pPr indent="0" lvl="0" marL="0" marR="0" rtl="0" algn="l">
                        <a:spcBef>
                          <a:spcPts val="0"/>
                        </a:spcBef>
                        <a:spcAft>
                          <a:spcPts val="0"/>
                        </a:spcAft>
                        <a:buNone/>
                      </a:pPr>
                      <a:r>
                        <a:t/>
                      </a:r>
                      <a:endParaRPr b="0" sz="1200">
                        <a:solidFill>
                          <a:schemeClr val="dk2"/>
                        </a:solidFill>
                      </a:endParaRPr>
                    </a:p>
                    <a:p>
                      <a:pPr indent="0" lvl="0" marL="0" marR="0" rtl="0" algn="l">
                        <a:lnSpc>
                          <a:spcPct val="100000"/>
                        </a:lnSpc>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{{C6_other_description}}</a:t>
                      </a:r>
                      <a:endParaRPr b="0" i="0" sz="1200" u="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graphicFrame>
        <p:nvGraphicFramePr>
          <p:cNvPr id="284" name="Google Shape;284;p21"/>
          <p:cNvGraphicFramePr/>
          <p:nvPr/>
        </p:nvGraphicFramePr>
        <p:xfrm>
          <a:off x="507999" y="5483925"/>
          <a:ext cx="3000000" cy="3000000"/>
        </p:xfrm>
        <a:graphic>
          <a:graphicData uri="http://schemas.openxmlformats.org/drawingml/2006/table">
            <a:tbl>
              <a:tblPr firstRow="1">
                <a:noFill/>
                <a:tableStyleId>{7E4485D4-36BE-405D-A0BE-AC2E898BDFCA}</a:tableStyleId>
              </a:tblPr>
              <a:tblGrid>
                <a:gridCol w="8595650"/>
                <a:gridCol w="2585825"/>
              </a:tblGrid>
              <a:tr h="866075">
                <a:tc>
                  <a:txBody>
                    <a:bodyPr/>
                    <a:lstStyle/>
                    <a:p>
                      <a:pPr indent="0" lvl="0" marL="0" marR="0" rtl="0" algn="l">
                        <a:spcBef>
                          <a:spcPts val="0"/>
                        </a:spcBef>
                        <a:spcAft>
                          <a:spcPts val="0"/>
                        </a:spcAft>
                        <a:buNone/>
                      </a:pPr>
                      <a:r>
                        <a:rPr b="1" lang="en-GB" sz="1200">
                          <a:solidFill>
                            <a:schemeClr val="dk2"/>
                          </a:solidFill>
                        </a:rPr>
                        <a:t>The undertaking has a complaints-handling mechanism for our </a:t>
                      </a:r>
                      <a:r>
                        <a:rPr b="1" lang="en-GB" sz="1200" u="sng">
                          <a:solidFill>
                            <a:schemeClr val="dk2"/>
                          </a:solidFill>
                        </a:rPr>
                        <a:t>own workforce</a:t>
                      </a:r>
                      <a:r>
                        <a:rPr b="0" lang="en-GB" sz="1200" u="sng">
                          <a:solidFill>
                            <a:schemeClr val="dk2"/>
                          </a:solidFill>
                        </a:rPr>
                        <a:t> </a:t>
                      </a:r>
                      <a:r>
                        <a:rPr b="0" lang="en-GB" sz="1200">
                          <a:solidFill>
                            <a:schemeClr val="dk2"/>
                          </a:solidFill>
                        </a:rPr>
                        <a:t>(para. 61c)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lang="en-GB" sz="1200">
                          <a:solidFill>
                            <a:schemeClr val="accent2"/>
                          </a:solidFill>
                          <a:latin typeface="IBM Plex Sans"/>
                          <a:ea typeface="IBM Plex Sans"/>
                          <a:cs typeface="IBM Plex Sans"/>
                          <a:sym typeface="IBM Plex Sans"/>
                        </a:rPr>
                        <a:t>{{whistleblower?}}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85" name="Google Shape;285;p21"/>
          <p:cNvSpPr txBox="1"/>
          <p:nvPr/>
        </p:nvSpPr>
        <p:spPr>
          <a:xfrm>
            <a:off x="515952" y="1016000"/>
            <a:ext cx="1116804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strike="noStrike">
                <a:solidFill>
                  <a:schemeClr val="dk2"/>
                </a:solidFill>
                <a:latin typeface="Inter"/>
                <a:ea typeface="Inter"/>
                <a:cs typeface="Inter"/>
                <a:sym typeface="Inter"/>
              </a:rPr>
              <a:t>Below is </a:t>
            </a:r>
            <a:r>
              <a:rPr lang="en-GB" sz="1200">
                <a:solidFill>
                  <a:schemeClr val="dk2"/>
                </a:solidFill>
                <a:latin typeface="Inter"/>
                <a:ea typeface="Inter"/>
                <a:cs typeface="Inter"/>
                <a:sym typeface="Inter"/>
              </a:rPr>
              <a:t>information on </a:t>
            </a:r>
            <a:r>
              <a:rPr b="0" i="0" lang="en-GB" sz="1200" u="none" strike="noStrike">
                <a:solidFill>
                  <a:schemeClr val="dk2"/>
                </a:solidFill>
                <a:latin typeface="Inter"/>
                <a:ea typeface="Inter"/>
                <a:cs typeface="Inter"/>
                <a:sym typeface="Inter"/>
              </a:rPr>
              <a:t>the undertaking’s code of conduct and/or human rights policy covering its own workforc</a:t>
            </a:r>
            <a:r>
              <a:rPr lang="en-GB" sz="1200">
                <a:solidFill>
                  <a:schemeClr val="dk2"/>
                </a:solidFill>
                <a:latin typeface="Inter"/>
                <a:ea typeface="Inter"/>
                <a:cs typeface="Inter"/>
                <a:sym typeface="Inter"/>
              </a:rPr>
              <a:t>e. It is also stated whether the undertaking has a complaints-handling mechanism that enables employees to report matters related to human rights violations, discrimination, harassment or other objectionable conduct.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2"/>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800" u="none" strike="noStrike">
                <a:solidFill>
                  <a:srgbClr val="1B4528"/>
                </a:solidFill>
                <a:latin typeface="IBM Plex Sans"/>
                <a:ea typeface="IBM Plex Sans"/>
                <a:cs typeface="IBM Plex Sans"/>
                <a:sym typeface="IBM Plex Sans"/>
              </a:rPr>
              <a:t>Severe negative human rights incidents (C7</a:t>
            </a:r>
            <a:r>
              <a:rPr lang="en-GB"/>
              <a:t>) – Own workforce</a:t>
            </a:r>
            <a:endParaRPr/>
          </a:p>
        </p:txBody>
      </p:sp>
      <p:sp>
        <p:nvSpPr>
          <p:cNvPr id="291" name="Google Shape;291;p2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292" name="Google Shape;292;p2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293" name="Google Shape;293;p22"/>
          <p:cNvGraphicFramePr/>
          <p:nvPr/>
        </p:nvGraphicFramePr>
        <p:xfrm>
          <a:off x="518598" y="1676964"/>
          <a:ext cx="3000000" cy="3000000"/>
        </p:xfrm>
        <a:graphic>
          <a:graphicData uri="http://schemas.openxmlformats.org/drawingml/2006/table">
            <a:tbl>
              <a:tblPr firstRow="1">
                <a:noFill/>
                <a:tableStyleId>{7E4485D4-36BE-405D-A0BE-AC2E898BDFCA}</a:tableStyleId>
              </a:tblPr>
              <a:tblGrid>
                <a:gridCol w="3918800"/>
                <a:gridCol w="7246600"/>
              </a:tblGrid>
              <a:tr h="326550">
                <a:tc grid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Are there, for the undertaking’s </a:t>
                      </a:r>
                      <a:r>
                        <a:rPr b="1" lang="en-GB" sz="1200" u="sng">
                          <a:solidFill>
                            <a:schemeClr val="dk2"/>
                          </a:solidFill>
                          <a:latin typeface="IBM Plex Sans"/>
                          <a:ea typeface="IBM Plex Sans"/>
                          <a:cs typeface="IBM Plex Sans"/>
                          <a:sym typeface="IBM Plex Sans"/>
                        </a:rPr>
                        <a:t>own workforce</a:t>
                      </a:r>
                      <a:r>
                        <a:rPr b="1" lang="en-GB" sz="1200" u="none">
                          <a:solidFill>
                            <a:schemeClr val="dk2"/>
                          </a:solidFill>
                          <a:latin typeface="IBM Plex Sans"/>
                          <a:ea typeface="IBM Plex Sans"/>
                          <a:cs typeface="IBM Plex Sans"/>
                          <a:sym typeface="IBM Plex Sans"/>
                        </a:rPr>
                        <a:t>, </a:t>
                      </a:r>
                      <a:r>
                        <a:rPr b="1" lang="en-GB" sz="1200">
                          <a:solidFill>
                            <a:schemeClr val="dk2"/>
                          </a:solidFill>
                          <a:latin typeface="IBM Plex Sans"/>
                          <a:ea typeface="IBM Plex Sans"/>
                          <a:cs typeface="IBM Plex Sans"/>
                          <a:sym typeface="IBM Plex Sans"/>
                        </a:rPr>
                        <a:t>confirmed negative incidents related to the following </a:t>
                      </a:r>
                      <a:r>
                        <a:rPr b="0" lang="en-GB" sz="1200">
                          <a:solidFill>
                            <a:schemeClr val="dk2"/>
                          </a:solidFill>
                          <a:latin typeface="IBM Plex Sans"/>
                          <a:ea typeface="IBM Plex Sans"/>
                          <a:cs typeface="IBM Plex Sans"/>
                          <a:sym typeface="IBM Plex Sans"/>
                        </a:rPr>
                        <a:t>(para. 62a-b)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852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Child labour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{{child_labour_yes?}}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{{child_labour_desc}}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Forced labour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{{forced_labour_yes?}}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{{forced_labour_desc}}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Human trafficking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{{human_trafficking_yes?}}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{{human_trafficking_desc}}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Discrimination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{{discrimination_yes?}}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rPr>
                        <a:t>{{discrimination_desc}}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12775">
                <a:tc>
                  <a:txBody>
                    <a:bodyPr/>
                    <a:lstStyle/>
                    <a:p>
                      <a:pPr indent="0" lvl="0" marL="0" marR="0" rtl="0" algn="l">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Other </a:t>
                      </a:r>
                      <a:endParaRPr b="1" sz="1800">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{{other_yes?}}</a:t>
                      </a:r>
                      <a:endParaRPr b="0" i="0" sz="1200" u="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accent2"/>
                        </a:buClr>
                        <a:buSzPts val="1200"/>
                        <a:buFont typeface="IBM Plex Sans"/>
                        <a:buNone/>
                      </a:pPr>
                      <a:r>
                        <a:rPr b="0" i="0" lang="en-GB" sz="1200" u="none" strike="noStrike">
                          <a:solidFill>
                            <a:schemeClr val="accent2"/>
                          </a:solidFill>
                          <a:latin typeface="IBM Plex Sans"/>
                          <a:ea typeface="IBM Plex Sans"/>
                          <a:cs typeface="IBM Plex Sans"/>
                          <a:sym typeface="IBM Plex Sans"/>
                        </a:rPr>
                        <a:t>{{other_desc}}</a:t>
                      </a:r>
                      <a:endParaRPr b="0" i="0" sz="1200" u="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94" name="Google Shape;294;p22"/>
          <p:cNvSpPr txBox="1"/>
          <p:nvPr/>
        </p:nvSpPr>
        <p:spPr>
          <a:xfrm>
            <a:off x="507999" y="1016000"/>
            <a:ext cx="1116539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en-GB" sz="1200" u="none" strike="noStrike">
                <a:solidFill>
                  <a:schemeClr val="dk2"/>
                </a:solidFill>
                <a:latin typeface="Inter"/>
                <a:ea typeface="Inter"/>
                <a:cs typeface="Inter"/>
                <a:sym typeface="Inter"/>
              </a:rPr>
              <a:t>The following disclosure requirements set out the undertaking’s reporting on negative incidents related to child labour, forced labour, human trafficking and discrimination. In this section, the undertaking states whether the above relates to its own workforce.</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en-GB"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800" u="none" strike="noStrike">
                <a:solidFill>
                  <a:srgbClr val="1B4528"/>
                </a:solidFill>
                <a:latin typeface="IBM Plex Sans"/>
                <a:ea typeface="IBM Plex Sans"/>
                <a:cs typeface="IBM Plex Sans"/>
                <a:sym typeface="IBM Plex Sans"/>
              </a:rPr>
              <a:t>Severe negative human rights incidents (C7</a:t>
            </a:r>
            <a:r>
              <a:rPr lang="en-GB"/>
              <a:t>) – In the value chain</a:t>
            </a:r>
            <a:endParaRPr/>
          </a:p>
        </p:txBody>
      </p:sp>
      <p:sp>
        <p:nvSpPr>
          <p:cNvPr id="301" name="Google Shape;301;p2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302" name="Google Shape;302;p23"/>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sp>
        <p:nvSpPr>
          <p:cNvPr id="303" name="Google Shape;303;p23"/>
          <p:cNvSpPr/>
          <p:nvPr/>
        </p:nvSpPr>
        <p:spPr>
          <a:xfrm>
            <a:off x="601802" y="4594892"/>
            <a:ext cx="207455" cy="232601"/>
          </a:xfrm>
          <a:prstGeom prst="rect">
            <a:avLst/>
          </a:prstGeom>
          <a:noFill/>
          <a:ln>
            <a:noFill/>
          </a:ln>
        </p:spPr>
      </p:sp>
      <p:graphicFrame>
        <p:nvGraphicFramePr>
          <p:cNvPr id="304" name="Google Shape;304;p23"/>
          <p:cNvGraphicFramePr/>
          <p:nvPr/>
        </p:nvGraphicFramePr>
        <p:xfrm>
          <a:off x="518599" y="1638525"/>
          <a:ext cx="3000000" cy="3000000"/>
        </p:xfrm>
        <a:graphic>
          <a:graphicData uri="http://schemas.openxmlformats.org/drawingml/2006/table">
            <a:tbl>
              <a:tblPr firstRow="1">
                <a:noFill/>
                <a:tableStyleId>{7E4485D4-36BE-405D-A0BE-AC2E898BDFCA}</a:tableStyleId>
              </a:tblPr>
              <a:tblGrid>
                <a:gridCol w="2463175"/>
                <a:gridCol w="8702225"/>
              </a:tblGrid>
              <a:tr h="302400">
                <a:tc grid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Is the undertaking aware of confirmed negative human rights incidents in </a:t>
                      </a:r>
                      <a:r>
                        <a:rPr b="1" lang="en-GB" sz="1200">
                          <a:solidFill>
                            <a:schemeClr val="accent2"/>
                          </a:solidFill>
                          <a:latin typeface="IBM Plex Sans"/>
                          <a:ea typeface="IBM Plex Sans"/>
                          <a:cs typeface="IBM Plex Sans"/>
                          <a:sym typeface="IBM Plex Sans"/>
                        </a:rPr>
                        <a:t>{{company_name}}’s</a:t>
                      </a:r>
                      <a:r>
                        <a:rPr b="1" lang="en-GB" sz="1200">
                          <a:solidFill>
                            <a:schemeClr val="dk2"/>
                          </a:solidFill>
                          <a:latin typeface="IBM Plex Sans"/>
                          <a:ea typeface="IBM Plex Sans"/>
                          <a:cs typeface="IBM Plex Sans"/>
                          <a:sym typeface="IBM Plex Sans"/>
                        </a:rPr>
                        <a:t> value chain </a:t>
                      </a:r>
                      <a:r>
                        <a:rPr b="0" lang="en-GB" sz="1200">
                          <a:solidFill>
                            <a:schemeClr val="dk2"/>
                          </a:solidFill>
                          <a:latin typeface="IBM Plex Sans"/>
                          <a:ea typeface="IBM Plex Sans"/>
                          <a:cs typeface="IBM Plex Sans"/>
                          <a:sym typeface="IBM Plex Sans"/>
                        </a:rPr>
                        <a:t>(para. 62c)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204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Workers in the value chain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{{incidents_workers_value_chain}}</a:t>
                      </a:r>
                      <a:endParaRPr sz="1200">
                        <a:solidFill>
                          <a:schemeClr val="accent2"/>
                        </a:solidFill>
                        <a:latin typeface="IBM Plex Sans"/>
                        <a:ea typeface="IBM Plex Sans"/>
                        <a:cs typeface="IBM Plex Sans"/>
                        <a:sym typeface="IBM Plex Sans"/>
                      </a:endParaRPr>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04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Affected communities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{{incidents_affected_communities}}</a:t>
                      </a:r>
                      <a:endParaRPr sz="1200">
                        <a:solidFill>
                          <a:schemeClr val="accent2"/>
                        </a:solidFill>
                        <a:latin typeface="IBM Plex Sans"/>
                        <a:ea typeface="IBM Plex Sans"/>
                        <a:cs typeface="IBM Plex Sans"/>
                        <a:sym typeface="IBM Plex Sans"/>
                      </a:endParaRPr>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0400">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Consumers and end-users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{{incidents_consumers}}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05" name="Google Shape;305;p23"/>
          <p:cNvSpPr txBox="1"/>
          <p:nvPr/>
        </p:nvSpPr>
        <p:spPr>
          <a:xfrm>
            <a:off x="515952" y="1016000"/>
            <a:ext cx="1116804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200" u="none" strike="noStrike">
                <a:solidFill>
                  <a:schemeClr val="dk2"/>
                </a:solidFill>
                <a:latin typeface="Inter"/>
                <a:ea typeface="Inter"/>
                <a:cs typeface="Inter"/>
                <a:sym typeface="Inter"/>
              </a:rPr>
              <a:t>Below is </a:t>
            </a:r>
            <a:r>
              <a:rPr lang="en-GB" sz="1200">
                <a:solidFill>
                  <a:schemeClr val="dk2"/>
                </a:solidFill>
                <a:latin typeface="Inter"/>
                <a:ea typeface="Inter"/>
                <a:cs typeface="Inter"/>
                <a:sym typeface="Inter"/>
              </a:rPr>
              <a:t>information on </a:t>
            </a:r>
            <a:r>
              <a:rPr b="0" i="0" lang="en-GB" sz="1200" u="none" strike="noStrike">
                <a:solidFill>
                  <a:schemeClr val="dk2"/>
                </a:solidFill>
                <a:latin typeface="Inter"/>
                <a:ea typeface="Inter"/>
                <a:cs typeface="Inter"/>
                <a:sym typeface="Inter"/>
              </a:rPr>
              <a:t>the undertaking’s knowledge of confirmed negative human rights incidents in the undertaking’s value chain.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en-GB" sz="1800" u="none" strike="noStrike">
                <a:solidFill>
                  <a:srgbClr val="1B4528"/>
                </a:solidFill>
              </a:rPr>
              <a:t>Revenues from certain activities (C8)</a:t>
            </a:r>
            <a:endParaRPr/>
          </a:p>
        </p:txBody>
      </p:sp>
      <p:sp>
        <p:nvSpPr>
          <p:cNvPr id="311" name="Google Shape;311;p2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
        <p:nvSpPr>
          <p:cNvPr id="312" name="Google Shape;312;p2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{{company_name}}</a:t>
            </a:r>
            <a:endParaRPr b="0"/>
          </a:p>
          <a:p>
            <a:pPr indent="0" lvl="0" marL="0" rtl="0" algn="r">
              <a:spcBef>
                <a:spcPts val="0"/>
              </a:spcBef>
              <a:spcAft>
                <a:spcPts val="0"/>
              </a:spcAft>
              <a:buNone/>
            </a:pPr>
            <a:r>
              <a:t/>
            </a:r>
            <a:endParaRPr/>
          </a:p>
        </p:txBody>
      </p:sp>
      <p:graphicFrame>
        <p:nvGraphicFramePr>
          <p:cNvPr id="313" name="Google Shape;313;p24"/>
          <p:cNvGraphicFramePr/>
          <p:nvPr/>
        </p:nvGraphicFramePr>
        <p:xfrm>
          <a:off x="518598" y="1425825"/>
          <a:ext cx="3000000" cy="3000000"/>
        </p:xfrm>
        <a:graphic>
          <a:graphicData uri="http://schemas.openxmlformats.org/drawingml/2006/table">
            <a:tbl>
              <a:tblPr firstRow="1">
                <a:noFill/>
                <a:tableStyleId>{7E4485D4-36BE-405D-A0BE-AC2E898BDFCA}</a:tableStyleId>
              </a:tblPr>
              <a:tblGrid>
                <a:gridCol w="7652625"/>
                <a:gridCol w="3512775"/>
              </a:tblGrid>
              <a:tr h="343825">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en-GB" sz="1200">
                          <a:solidFill>
                            <a:schemeClr val="dk2"/>
                          </a:solidFill>
                          <a:latin typeface="IBM Plex Sans"/>
                          <a:ea typeface="IBM Plex Sans"/>
                          <a:cs typeface="IBM Plex Sans"/>
                          <a:sym typeface="IBM Plex Sans"/>
                        </a:rPr>
                        <a:t>Revenues from certain sectors</a:t>
                      </a:r>
                      <a:r>
                        <a:rPr b="0" lang="en-GB" sz="1200">
                          <a:solidFill>
                            <a:schemeClr val="dk2"/>
                          </a:solidFill>
                          <a:latin typeface="IBM Plex Sans"/>
                          <a:ea typeface="IBM Plex Sans"/>
                          <a:cs typeface="IBM Plex Sans"/>
                          <a:sym typeface="IBM Plex Sans"/>
                        </a:rPr>
                        <a:t> (Para. 63 a-d)</a:t>
                      </a:r>
                      <a:endParaRPr/>
                    </a:p>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43825">
                <a:tc>
                  <a:txBody>
                    <a:bodyPr/>
                    <a:lstStyle/>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BM Plex Sans"/>
                        <a:buNone/>
                      </a:pPr>
                      <a:r>
                        <a:rPr b="1" i="0" lang="en-GB" sz="1200" u="none" strike="noStrike">
                          <a:solidFill>
                            <a:srgbClr val="1B4528"/>
                          </a:solidFill>
                          <a:latin typeface="IBM Plex Sans"/>
                          <a:ea typeface="IBM Plex Sans"/>
                          <a:cs typeface="IBM Plex Sans"/>
                          <a:sym typeface="IBM Plex Sans"/>
                        </a:rPr>
                        <a:t>Revenue in year </a:t>
                      </a:r>
                      <a:r>
                        <a:rPr b="1" i="0" lang="en-GB" sz="1200" u="none" strike="noStrike">
                          <a:solidFill>
                            <a:srgbClr val="2D55FF"/>
                          </a:solidFill>
                          <a:latin typeface="Inter"/>
                          <a:ea typeface="Inter"/>
                          <a:cs typeface="Inter"/>
                          <a:sym typeface="Inter"/>
                        </a:rPr>
                        <a:t>{{Insert year}}</a:t>
                      </a:r>
                      <a:endParaRPr sz="1200"/>
                    </a:p>
                  </a:txBody>
                  <a:tcPr marT="25400" marB="254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38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Controversial weapons (anti-personnel mines, cluster munitions, chemical weapons and biological weapons)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{{revenue_weapons}}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Cultivation and/or production of tobacco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{{revenue_cultivation}}</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Fossil fuels: Coal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{{revenue_coal}}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Fossil fuels: Oil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{{revenue_oil}}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Fossil fuels: Gas/natural gas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{{revenue_gas}}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Chemicals production for the manufacture of pesticides and other agrochemical products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en-GB" sz="1200" u="none" strike="noStrike">
                          <a:solidFill>
                            <a:srgbClr val="2D55FF"/>
                          </a:solidFill>
                          <a:latin typeface="Inter"/>
                          <a:ea typeface="Inter"/>
                          <a:cs typeface="Inter"/>
                          <a:sym typeface="Inter"/>
                        </a:rPr>
                        <a:t>{{revenue_chemichal}}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14" name="Google Shape;314;p24"/>
          <p:cNvSpPr txBox="1"/>
          <p:nvPr/>
        </p:nvSpPr>
        <p:spPr>
          <a:xfrm>
            <a:off x="518598" y="1016000"/>
            <a:ext cx="111654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lang="en-GB" sz="1200">
                <a:solidFill>
                  <a:schemeClr val="dk2"/>
                </a:solidFill>
                <a:latin typeface="Inter"/>
                <a:ea typeface="Inter"/>
                <a:cs typeface="Inter"/>
                <a:sym typeface="Inter"/>
              </a:rPr>
              <a:t>T</a:t>
            </a:r>
            <a:r>
              <a:rPr b="0" i="0" lang="en-GB" sz="1200" u="none" strike="noStrike">
                <a:solidFill>
                  <a:schemeClr val="dk2"/>
                </a:solidFill>
                <a:latin typeface="Inter"/>
                <a:ea typeface="Inter"/>
                <a:cs typeface="Inter"/>
                <a:sym typeface="Inter"/>
              </a:rPr>
              <a:t>he undertaking has stated revenues from certain sectors and the amounts derived from those activities.</a:t>
            </a:r>
            <a:endParaRPr sz="1800">
              <a:solidFill>
                <a:schemeClr val="dk2"/>
              </a:solidFill>
              <a:latin typeface="IBM Plex Sans"/>
              <a:ea typeface="IBM Plex Sans"/>
              <a:cs typeface="IBM Plex Sans"/>
              <a:sym typeface="IBM Plex Sans"/>
            </a:endParaRPr>
          </a:p>
        </p:txBody>
      </p:sp>
      <p:sp>
        <p:nvSpPr>
          <p:cNvPr id="315" name="Google Shape;315;p24"/>
          <p:cNvSpPr txBox="1"/>
          <p:nvPr/>
        </p:nvSpPr>
        <p:spPr>
          <a:xfrm>
            <a:off x="518600" y="4748440"/>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B4528"/>
              </a:buClr>
              <a:buSzPts val="1800"/>
              <a:buFont typeface="IBM Plex Sans"/>
              <a:buNone/>
            </a:pPr>
            <a:r>
              <a:rPr b="1" lang="en-GB" sz="1800">
                <a:solidFill>
                  <a:srgbClr val="1B4528"/>
                </a:solidFill>
                <a:latin typeface="IBM Plex Sans"/>
                <a:ea typeface="IBM Plex Sans"/>
                <a:cs typeface="IBM Plex Sans"/>
                <a:sym typeface="IBM Plex Sans"/>
              </a:rPr>
              <a:t>Gender diversity ratio in the governance body (C9)</a:t>
            </a:r>
            <a:endParaRPr b="1" sz="1800">
              <a:solidFill>
                <a:schemeClr val="dk2"/>
              </a:solidFill>
              <a:latin typeface="IBM Plex Sans"/>
              <a:ea typeface="IBM Plex Sans"/>
              <a:cs typeface="IBM Plex Sans"/>
              <a:sym typeface="IBM Plex Sans"/>
            </a:endParaRPr>
          </a:p>
        </p:txBody>
      </p:sp>
      <p:graphicFrame>
        <p:nvGraphicFramePr>
          <p:cNvPr id="316" name="Google Shape;316;p24"/>
          <p:cNvGraphicFramePr/>
          <p:nvPr/>
        </p:nvGraphicFramePr>
        <p:xfrm>
          <a:off x="507998" y="5614719"/>
          <a:ext cx="3000000" cy="3000000"/>
        </p:xfrm>
        <a:graphic>
          <a:graphicData uri="http://schemas.openxmlformats.org/drawingml/2006/table">
            <a:tbl>
              <a:tblPr firstRow="1">
                <a:noFill/>
                <a:tableStyleId>{7E4485D4-36BE-405D-A0BE-AC2E898BDFCA}</a:tableStyleId>
              </a:tblPr>
              <a:tblGrid>
                <a:gridCol w="7704350"/>
                <a:gridCol w="3461050"/>
              </a:tblGrid>
              <a:tr h="288000">
                <a:tc rowSpan="2">
                  <a:txBody>
                    <a:bodyPr/>
                    <a:lstStyle/>
                    <a:p>
                      <a:pPr indent="0" lvl="0" marL="0" marR="0" rtl="0" algn="l">
                        <a:spcBef>
                          <a:spcPts val="0"/>
                        </a:spcBef>
                        <a:spcAft>
                          <a:spcPts val="0"/>
                        </a:spcAft>
                        <a:buNone/>
                      </a:pPr>
                      <a:r>
                        <a:rPr b="1" lang="en-GB" sz="1200">
                          <a:solidFill>
                            <a:schemeClr val="dk2"/>
                          </a:solidFill>
                          <a:latin typeface="IBM Plex Sans"/>
                          <a:ea typeface="IBM Plex Sans"/>
                          <a:cs typeface="IBM Plex Sans"/>
                          <a:sym typeface="IBM Plex Sans"/>
                        </a:rPr>
                        <a:t>The ratio of women to men in the governance body (</a:t>
                      </a:r>
                      <a:r>
                        <a:rPr b="0" lang="en-GB" sz="1200">
                          <a:solidFill>
                            <a:schemeClr val="dk2"/>
                          </a:solidFill>
                          <a:latin typeface="IBM Plex Sans"/>
                          <a:ea typeface="IBM Plex Sans"/>
                          <a:cs typeface="IBM Plex Sans"/>
                          <a:sym typeface="IBM Plex Sans"/>
                        </a:rPr>
                        <a:t>para. 64</a:t>
                      </a:r>
                      <a:r>
                        <a:rPr b="1" lang="en-GB" sz="1200">
                          <a:solidFill>
                            <a:schemeClr val="dk2"/>
                          </a:solidFill>
                          <a:latin typeface="IBM Plex Sans"/>
                          <a:ea typeface="IBM Plex Sans"/>
                          <a:cs typeface="IBM Plex Sans"/>
                          <a:sym typeface="IBM Plex Sans"/>
                        </a:rPr>
                        <a: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en-GB" sz="1200">
                          <a:solidFill>
                            <a:schemeClr val="dk2"/>
                          </a:solidFill>
                        </a:rPr>
                        <a:t>Year </a:t>
                      </a:r>
                      <a:r>
                        <a:rPr b="1" i="0" lang="en-GB" sz="1200" u="none" strike="noStrike">
                          <a:solidFill>
                            <a:srgbClr val="2D55FF"/>
                          </a:solidFill>
                          <a:latin typeface="Inter"/>
                          <a:ea typeface="Inter"/>
                          <a:cs typeface="Inter"/>
                          <a:sym typeface="Inter"/>
                        </a:rPr>
                        <a:t>{{Insert year}}</a:t>
                      </a:r>
                      <a:endParaRPr b="1" sz="1200">
                        <a:solidFill>
                          <a:schemeClr val="dk2"/>
                        </a:solidFill>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ctr">
                        <a:spcBef>
                          <a:spcPts val="0"/>
                        </a:spcBef>
                        <a:spcAft>
                          <a:spcPts val="0"/>
                        </a:spcAft>
                        <a:buNone/>
                      </a:pPr>
                      <a:r>
                        <a:rPr b="0" lang="en-GB" sz="1200">
                          <a:solidFill>
                            <a:schemeClr val="accent2"/>
                          </a:solidFill>
                        </a:rPr>
                        <a:t>{{</a:t>
                      </a:r>
                      <a:r>
                        <a:rPr b="0" i="0" lang="en-GB" sz="1200" u="none" strike="noStrike">
                          <a:solidFill>
                            <a:schemeClr val="accent2"/>
                          </a:solidFill>
                          <a:latin typeface="IBM Plex Sans"/>
                          <a:ea typeface="IBM Plex Sans"/>
                          <a:cs typeface="IBM Plex Sans"/>
                          <a:sym typeface="IBM Plex Sans"/>
                        </a:rPr>
                        <a:t>gender_supreme_body</a:t>
                      </a:r>
                      <a:r>
                        <a:rPr b="0" lang="en-GB" sz="1200">
                          <a:solidFill>
                            <a:schemeClr val="accent2"/>
                          </a:solidFill>
                        </a:rPr>
                        <a: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317" name="Google Shape;317;p24"/>
          <p:cNvSpPr txBox="1"/>
          <p:nvPr/>
        </p:nvSpPr>
        <p:spPr>
          <a:xfrm>
            <a:off x="3049438" y="3248647"/>
            <a:ext cx="60988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800">
                <a:solidFill>
                  <a:schemeClr val="dk1"/>
                </a:solidFill>
                <a:latin typeface="IBM Plex Sans"/>
                <a:ea typeface="IBM Plex Sans"/>
                <a:cs typeface="IBM Plex Sans"/>
                <a:sym typeface="IBM Plex Sans"/>
              </a:rPr>
              <a:t> </a:t>
            </a:r>
            <a:endParaRPr sz="1800">
              <a:solidFill>
                <a:schemeClr val="dk1"/>
              </a:solidFill>
              <a:latin typeface="IBM Plex Sans"/>
              <a:ea typeface="IBM Plex Sans"/>
              <a:cs typeface="IBM Plex Sans"/>
              <a:sym typeface="IBM Plex Sans"/>
            </a:endParaRPr>
          </a:p>
        </p:txBody>
      </p:sp>
      <p:sp>
        <p:nvSpPr>
          <p:cNvPr id="318" name="Google Shape;318;p24"/>
          <p:cNvSpPr txBox="1"/>
          <p:nvPr/>
        </p:nvSpPr>
        <p:spPr>
          <a:xfrm>
            <a:off x="526035" y="5127078"/>
            <a:ext cx="111654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lang="en-GB" sz="1200">
                <a:solidFill>
                  <a:schemeClr val="dk2"/>
                </a:solidFill>
                <a:latin typeface="Inter"/>
                <a:ea typeface="Inter"/>
                <a:cs typeface="Inter"/>
                <a:sym typeface="Inter"/>
              </a:rPr>
              <a:t>T</a:t>
            </a:r>
            <a:r>
              <a:rPr b="0" i="0" lang="en-GB" sz="1200" u="none" strike="noStrike">
                <a:solidFill>
                  <a:schemeClr val="dk2"/>
                </a:solidFill>
                <a:latin typeface="Inter"/>
                <a:ea typeface="Inter"/>
                <a:cs typeface="Inter"/>
                <a:sym typeface="Inter"/>
              </a:rPr>
              <a:t>he undertaking has stated the ratio of women to men in the governance body.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idx="1" type="body"/>
          </p:nvPr>
        </p:nvSpPr>
        <p:spPr>
          <a:xfrm>
            <a:off x="4402137" y="4447433"/>
            <a:ext cx="3449638" cy="1034319"/>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800"/>
              <a:buNone/>
            </a:pPr>
            <a:r>
              <a:rPr b="1" lang="en-GB" sz="1800">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200"/>
              </a:spcBef>
              <a:spcAft>
                <a:spcPts val="0"/>
              </a:spcAft>
              <a:buClr>
                <a:srgbClr val="FFFFFF"/>
              </a:buClr>
              <a:buSzPts val="1800"/>
              <a:buNone/>
            </a:pPr>
            <a:r>
              <a:rPr b="1" lang="en-GB" sz="1800">
                <a:solidFill>
                  <a:srgbClr val="FFFFFF"/>
                </a:solidFill>
                <a:latin typeface="IBM Plex Sans"/>
                <a:ea typeface="IBM Plex Sans"/>
                <a:cs typeface="IBM Plex Sans"/>
                <a:sym typeface="IBM Plex Sans"/>
              </a:rPr>
              <a:t>{{insert_year}}</a:t>
            </a:r>
            <a:br>
              <a:rPr b="1" lang="en-GB" sz="1800">
                <a:solidFill>
                  <a:srgbClr val="FFFFFF"/>
                </a:solidFill>
                <a:latin typeface="IBM Plex Sans"/>
                <a:ea typeface="IBM Plex Sans"/>
                <a:cs typeface="IBM Plex Sans"/>
                <a:sym typeface="IBM Plex Sans"/>
              </a:rPr>
            </a:br>
            <a:endParaRPr sz="1800"/>
          </a:p>
        </p:txBody>
      </p:sp>
      <p:sp>
        <p:nvSpPr>
          <p:cNvPr id="324" name="Google Shape;324;p2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