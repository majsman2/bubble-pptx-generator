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12192000"/>
  <p:notesSz cx="6858000" cy="9144000"/>
  <p:embeddedFontLst>
    <p:embeddedFont>
      <p:font typeface="IBM Plex Sans"/>
      <p:regular r:id="rId31"/>
      <p:bold r:id="rId32"/>
      <p:italic r:id="rId33"/>
      <p:boldItalic r:id="rId34"/>
    </p:embeddedFont>
    <p:embeddedFont>
      <p:font typeface="Inter"/>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iYakhuenL9JgHNi32Th69acS/q3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EAA23F-C412-4D4F-A7DF-F315DCF0D262}">
  <a:tblStyle styleId="{BAEAA23F-C412-4D4F-A7DF-F315DCF0D262}" styleName="Table_0">
    <a:wholeTbl>
      <a:tcTxStyle b="off" i="off">
        <a:font>
          <a:latin typeface="IBM Plex Sans"/>
          <a:ea typeface="IBM Plex Sans"/>
          <a:cs typeface="IBM Plex San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IBM Plex Sans"/>
          <a:ea typeface="IBM Plex Sans"/>
          <a:cs typeface="IBM Plex Sans"/>
        </a:font>
        <a:schemeClr val="lt1"/>
      </a:tcTxStyle>
      <a:tcStyle>
        <a:fill>
          <a:solidFill>
            <a:schemeClr val="accent6"/>
          </a:solidFill>
        </a:fill>
      </a:tcStyle>
    </a:lastCol>
    <a:firstCol>
      <a:tcTxStyle b="on" i="off">
        <a:font>
          <a:latin typeface="IBM Plex Sans"/>
          <a:ea typeface="IBM Plex Sans"/>
          <a:cs typeface="IBM Plex Sans"/>
        </a:font>
        <a:schemeClr val="lt1"/>
      </a:tcTxStyle>
      <a:tcStyle>
        <a:fill>
          <a:solidFill>
            <a:schemeClr val="accent6"/>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IBM Plex Sans"/>
          <a:ea typeface="IBM Plex Sans"/>
          <a:cs typeface="IBM Plex Sans"/>
        </a:font>
        <a:schemeClr val="dk1"/>
      </a:tcTxStyle>
    </a:seCell>
    <a:swCell>
      <a:tcTxStyle b="on" i="off">
        <a:font>
          <a:latin typeface="IBM Plex Sans"/>
          <a:ea typeface="IBM Plex Sans"/>
          <a:cs typeface="IBM Plex Sans"/>
        </a:font>
        <a:schemeClr val="dk1"/>
      </a:tcTxStyle>
    </a:swCell>
    <a:firstRow>
      <a:tcTxStyle b="on" i="off">
        <a:font>
          <a:latin typeface="IBM Plex Sans"/>
          <a:ea typeface="IBM Plex Sans"/>
          <a:cs typeface="IBM Plex Sans"/>
        </a:font>
        <a:schemeClr val="lt1"/>
      </a:tcTxStyle>
      <a:tcStyle>
        <a:tcBdr>
          <a:bottom>
            <a:ln cap="flat" cmpd="sng" w="25400">
              <a:solidFill>
                <a:schemeClr val="dk1"/>
              </a:solidFill>
              <a:prstDash val="solid"/>
              <a:round/>
              <a:headEnd len="sm" w="sm" type="none"/>
              <a:tailEnd len="sm" w="sm" type="none"/>
            </a:ln>
          </a:bottom>
        </a:tcBdr>
        <a:fill>
          <a:solidFill>
            <a:schemeClr val="accent6"/>
          </a:solidFill>
        </a:fill>
      </a:tcStyle>
    </a:firstRow>
    <a:neCell>
      <a:tcTxStyle/>
    </a:neCell>
    <a:nwCell>
      <a:tcTxStyle/>
    </a:nwCell>
  </a:tblStyle>
  <a:tblStyle styleId="{78A6D804-A972-451D-A148-11AE6AC30977}"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Sans-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IBMPlexSans-italic.fntdata"/><Relationship Id="rId10" Type="http://schemas.openxmlformats.org/officeDocument/2006/relationships/slide" Target="slides/slide4.xml"/><Relationship Id="rId32" Type="http://schemas.openxmlformats.org/officeDocument/2006/relationships/font" Target="fonts/IBMPlexSans-bold.fntdata"/><Relationship Id="rId13" Type="http://schemas.openxmlformats.org/officeDocument/2006/relationships/slide" Target="slides/slide7.xml"/><Relationship Id="rId35" Type="http://schemas.openxmlformats.org/officeDocument/2006/relationships/font" Target="fonts/Inter-regular.fntdata"/><Relationship Id="rId12" Type="http://schemas.openxmlformats.org/officeDocument/2006/relationships/slide" Target="slides/slide6.xml"/><Relationship Id="rId34" Type="http://schemas.openxmlformats.org/officeDocument/2006/relationships/font" Target="fonts/IBMPlexSans-boldItalic.fntdata"/><Relationship Id="rId15" Type="http://schemas.openxmlformats.org/officeDocument/2006/relationships/slide" Target="slides/slide9.xml"/><Relationship Id="rId37" Type="http://schemas.openxmlformats.org/officeDocument/2006/relationships/font" Target="fonts/Inter-italic.fntdata"/><Relationship Id="rId14" Type="http://schemas.openxmlformats.org/officeDocument/2006/relationships/slide" Target="slides/slide8.xml"/><Relationship Id="rId36" Type="http://schemas.openxmlformats.org/officeDocument/2006/relationships/font" Target="fonts/Inter-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Inter-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a-DK"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ca2c3f912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g3ca2c3f912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IBM Plex Sans"/>
              <a:buNone/>
            </a:pPr>
            <a:r>
              <a:t/>
            </a:r>
            <a:endParaRPr/>
          </a:p>
        </p:txBody>
      </p:sp>
      <p:sp>
        <p:nvSpPr>
          <p:cNvPr id="292" name="Google Shape;29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IBM Plex Sans"/>
              <a:buNone/>
            </a:pPr>
            <a:r>
              <a:t/>
            </a:r>
            <a:endParaRPr/>
          </a:p>
        </p:txBody>
      </p:sp>
      <p:sp>
        <p:nvSpPr>
          <p:cNvPr id="315" name="Google Shape;31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IBM Plex Sans"/>
              <a:buNone/>
            </a:pPr>
            <a:r>
              <a:t/>
            </a:r>
            <a:endParaRPr/>
          </a:p>
        </p:txBody>
      </p:sp>
      <p:sp>
        <p:nvSpPr>
          <p:cNvPr id="332" name="Google Shape;33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IBM Plex Sans"/>
              <a:buNone/>
            </a:pPr>
            <a:r>
              <a:t/>
            </a:r>
            <a:endParaRPr/>
          </a:p>
        </p:txBody>
      </p:sp>
      <p:sp>
        <p:nvSpPr>
          <p:cNvPr id="354" name="Google Shape;35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IBM Plex Sans"/>
              <a:buNone/>
            </a:pPr>
            <a:r>
              <a:t/>
            </a:r>
            <a:endParaRPr/>
          </a:p>
        </p:txBody>
      </p:sp>
      <p:sp>
        <p:nvSpPr>
          <p:cNvPr id="374" name="Google Shape;37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jp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jp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template">
  <p:cSld name="Intro template">
    <p:bg>
      <p:bgPr>
        <a:solidFill>
          <a:schemeClr val="lt1"/>
        </a:solidFill>
      </p:bgPr>
    </p:bg>
    <p:spTree>
      <p:nvGrpSpPr>
        <p:cNvPr id="15" name="Shape 15"/>
        <p:cNvGrpSpPr/>
        <p:nvPr/>
      </p:nvGrpSpPr>
      <p:grpSpPr>
        <a:xfrm>
          <a:off x="0" y="0"/>
          <a:ext cx="0" cy="0"/>
          <a:chOff x="0" y="0"/>
          <a:chExt cx="0" cy="0"/>
        </a:xfrm>
      </p:grpSpPr>
      <p:sp>
        <p:nvSpPr>
          <p:cNvPr id="16" name="Google Shape;16;p26"/>
          <p:cNvSpPr txBox="1"/>
          <p:nvPr>
            <p:ph idx="1" type="body"/>
          </p:nvPr>
        </p:nvSpPr>
        <p:spPr>
          <a:xfrm>
            <a:off x="508000" y="1015788"/>
            <a:ext cx="3513138" cy="5328285"/>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900"/>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26"/>
          <p:cNvSpPr txBox="1"/>
          <p:nvPr>
            <p:ph idx="2" type="body"/>
          </p:nvPr>
        </p:nvSpPr>
        <p:spPr>
          <a:xfrm>
            <a:off x="4338638" y="1015789"/>
            <a:ext cx="3513137" cy="5328284"/>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900"/>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6"/>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side med billedebaggrund">
  <p:cSld name="Forside med billedebaggrund">
    <p:bg>
      <p:bgPr>
        <a:blipFill>
          <a:blip r:embed="rId2">
            <a:alphaModFix/>
          </a:blip>
          <a:stretch>
            <a:fillRect/>
          </a:stretch>
        </a:blipFill>
      </p:bgPr>
    </p:bg>
    <p:spTree>
      <p:nvGrpSpPr>
        <p:cNvPr id="19" name="Shape 19"/>
        <p:cNvGrpSpPr/>
        <p:nvPr/>
      </p:nvGrpSpPr>
      <p:grpSpPr>
        <a:xfrm>
          <a:off x="0" y="0"/>
          <a:ext cx="0" cy="0"/>
          <a:chOff x="0" y="0"/>
          <a:chExt cx="0" cy="0"/>
        </a:xfrm>
      </p:grpSpPr>
      <p:pic>
        <p:nvPicPr>
          <p:cNvPr id="20" name="Google Shape;20;p27"/>
          <p:cNvPicPr preferRelativeResize="0"/>
          <p:nvPr/>
        </p:nvPicPr>
        <p:blipFill rotWithShape="1">
          <a:blip r:embed="rId3">
            <a:alphaModFix/>
          </a:blip>
          <a:srcRect b="0" l="0" r="0" t="0"/>
          <a:stretch/>
        </p:blipFill>
        <p:spPr>
          <a:xfrm>
            <a:off x="3422854" y="2136228"/>
            <a:ext cx="1394622" cy="2068689"/>
          </a:xfrm>
          <a:prstGeom prst="rect">
            <a:avLst/>
          </a:prstGeom>
          <a:noFill/>
          <a:ln>
            <a:noFill/>
          </a:ln>
        </p:spPr>
      </p:pic>
      <p:pic>
        <p:nvPicPr>
          <p:cNvPr id="21" name="Google Shape;21;p27"/>
          <p:cNvPicPr preferRelativeResize="0"/>
          <p:nvPr/>
        </p:nvPicPr>
        <p:blipFill rotWithShape="1">
          <a:blip r:embed="rId4">
            <a:alphaModFix/>
          </a:blip>
          <a:srcRect b="0" l="0" r="0" t="0"/>
          <a:stretch/>
        </p:blipFill>
        <p:spPr>
          <a:xfrm>
            <a:off x="7013220" y="2085593"/>
            <a:ext cx="1781124" cy="2156098"/>
          </a:xfrm>
          <a:prstGeom prst="rect">
            <a:avLst/>
          </a:prstGeom>
          <a:noFill/>
          <a:ln>
            <a:noFill/>
          </a:ln>
        </p:spPr>
      </p:pic>
      <p:pic>
        <p:nvPicPr>
          <p:cNvPr id="22" name="Google Shape;22;p27"/>
          <p:cNvPicPr preferRelativeResize="0"/>
          <p:nvPr/>
        </p:nvPicPr>
        <p:blipFill rotWithShape="1">
          <a:blip r:embed="rId5">
            <a:alphaModFix/>
          </a:blip>
          <a:srcRect b="0" l="0" r="0" t="0"/>
          <a:stretch/>
        </p:blipFill>
        <p:spPr>
          <a:xfrm>
            <a:off x="5103319" y="2085593"/>
            <a:ext cx="1658004" cy="2210671"/>
          </a:xfrm>
          <a:prstGeom prst="rect">
            <a:avLst/>
          </a:prstGeom>
          <a:noFill/>
          <a:ln>
            <a:noFill/>
          </a:ln>
        </p:spPr>
      </p:pic>
      <p:sp>
        <p:nvSpPr>
          <p:cNvPr id="23" name="Google Shape;23;p27"/>
          <p:cNvSpPr txBox="1"/>
          <p:nvPr>
            <p:ph idx="11" type="ftr"/>
          </p:nvPr>
        </p:nvSpPr>
        <p:spPr>
          <a:xfrm>
            <a:off x="3503727" y="4971382"/>
            <a:ext cx="5176690" cy="281214"/>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7"/>
          <p:cNvSpPr txBox="1"/>
          <p:nvPr>
            <p:ph type="title"/>
          </p:nvPr>
        </p:nvSpPr>
        <p:spPr>
          <a:xfrm>
            <a:off x="1079500" y="4619652"/>
            <a:ext cx="10033000" cy="182736"/>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Clr>
                <a:schemeClr val="lt1"/>
              </a:buClr>
              <a:buSzPts val="1100"/>
              <a:buFont typeface="IBM Plex Sans"/>
              <a:buNone/>
              <a:defRPr sz="11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SG opgørelse">
  <p:cSld name="ESG opgørelse">
    <p:bg>
      <p:bgPr>
        <a:solidFill>
          <a:schemeClr val="lt1"/>
        </a:solidFill>
      </p:bgPr>
    </p:bg>
    <p:spTree>
      <p:nvGrpSpPr>
        <p:cNvPr id="25" name="Shape 25"/>
        <p:cNvGrpSpPr/>
        <p:nvPr/>
      </p:nvGrpSpPr>
      <p:grpSpPr>
        <a:xfrm>
          <a:off x="0" y="0"/>
          <a:ext cx="0" cy="0"/>
          <a:chOff x="0" y="0"/>
          <a:chExt cx="0" cy="0"/>
        </a:xfrm>
      </p:grpSpPr>
      <p:sp>
        <p:nvSpPr>
          <p:cNvPr id="26" name="Google Shape;26;p28"/>
          <p:cNvSpPr txBox="1"/>
          <p:nvPr>
            <p:ph idx="1" type="body"/>
          </p:nvPr>
        </p:nvSpPr>
        <p:spPr>
          <a:xfrm>
            <a:off x="518599" y="985520"/>
            <a:ext cx="4558013" cy="5364480"/>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900"/>
              <a:buNone/>
              <a:defRPr sz="900">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8"/>
          <p:cNvSpPr txBox="1"/>
          <p:nvPr>
            <p:ph idx="2" type="body"/>
          </p:nvPr>
        </p:nvSpPr>
        <p:spPr>
          <a:xfrm>
            <a:off x="6472011" y="979593"/>
            <a:ext cx="4558013" cy="5364479"/>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900"/>
              <a:buNone/>
              <a:defRPr sz="900">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28"/>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8"/>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a-DK"/>
              <a:t>‹#›</a:t>
            </a:fld>
            <a:endParaRPr/>
          </a:p>
        </p:txBody>
      </p:sp>
      <p:sp>
        <p:nvSpPr>
          <p:cNvPr id="30" name="Google Shape;30;p28"/>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29"/>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9"/>
          <p:cNvSpPr txBox="1"/>
          <p:nvPr>
            <p:ph idx="10" type="dt"/>
          </p:nvPr>
        </p:nvSpPr>
        <p:spPr>
          <a:xfrm>
            <a:off x="268800" y="6450239"/>
            <a:ext cx="2743200" cy="153888"/>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9"/>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9"/>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slutningsslide">
  <p:cSld name="Afslutningsslide">
    <p:bg>
      <p:bgPr>
        <a:solidFill>
          <a:srgbClr val="1B4529"/>
        </a:solidFill>
      </p:bgPr>
    </p:bg>
    <p:spTree>
      <p:nvGrpSpPr>
        <p:cNvPr id="36" name="Shape 36"/>
        <p:cNvGrpSpPr/>
        <p:nvPr/>
      </p:nvGrpSpPr>
      <p:grpSpPr>
        <a:xfrm>
          <a:off x="0" y="0"/>
          <a:ext cx="0" cy="0"/>
          <a:chOff x="0" y="0"/>
          <a:chExt cx="0" cy="0"/>
        </a:xfrm>
      </p:grpSpPr>
      <p:sp>
        <p:nvSpPr>
          <p:cNvPr id="37" name="Google Shape;37;p30"/>
          <p:cNvSpPr txBox="1"/>
          <p:nvPr>
            <p:ph idx="1" type="body"/>
          </p:nvPr>
        </p:nvSpPr>
        <p:spPr>
          <a:xfrm>
            <a:off x="1079500" y="1587501"/>
            <a:ext cx="10033000" cy="1460499"/>
          </a:xfrm>
          <a:prstGeom prst="rect">
            <a:avLst/>
          </a:prstGeom>
          <a:solidFill>
            <a:srgbClr val="1B4529"/>
          </a:solidFill>
          <a:ln>
            <a:noFill/>
          </a:ln>
        </p:spPr>
        <p:txBody>
          <a:bodyPr anchorCtr="0" anchor="t" bIns="0" lIns="0" spcFirstLastPara="1" rIns="0" wrap="square" tIns="0">
            <a:normAutofit/>
          </a:bodyPr>
          <a:lstStyle>
            <a:lvl1pPr indent="-228600" lvl="0" marL="457200" algn="l">
              <a:lnSpc>
                <a:spcPct val="100000"/>
              </a:lnSpc>
              <a:spcBef>
                <a:spcPts val="200"/>
              </a:spcBef>
              <a:spcAft>
                <a:spcPts val="0"/>
              </a:spcAft>
              <a:buClr>
                <a:schemeClr val="lt1"/>
              </a:buClr>
              <a:buSzPts val="1100"/>
              <a:buFont typeface="IBM Plex Sans"/>
              <a:buNone/>
              <a:defRPr sz="1100">
                <a:solidFill>
                  <a:schemeClr val="lt1"/>
                </a:solidFill>
              </a:defRPr>
            </a:lvl1pPr>
            <a:lvl2pPr indent="-228600" lvl="1" marL="914400" algn="l">
              <a:lnSpc>
                <a:spcPct val="106000"/>
              </a:lnSpc>
              <a:spcBef>
                <a:spcPts val="0"/>
              </a:spcBef>
              <a:spcAft>
                <a:spcPts val="0"/>
              </a:spcAft>
              <a:buClr>
                <a:schemeClr val="lt1"/>
              </a:buClr>
              <a:buSzPts val="1100"/>
              <a:buFont typeface="IBM Plex Sans"/>
              <a:buNone/>
              <a:defRPr sz="1100">
                <a:solidFill>
                  <a:schemeClr val="lt1"/>
                </a:solidFill>
              </a:defRPr>
            </a:lvl2pPr>
            <a:lvl3pPr indent="-298450" lvl="2" marL="1371600" algn="l">
              <a:lnSpc>
                <a:spcPct val="106000"/>
              </a:lnSpc>
              <a:spcBef>
                <a:spcPts val="0"/>
              </a:spcBef>
              <a:spcAft>
                <a:spcPts val="0"/>
              </a:spcAft>
              <a:buClr>
                <a:schemeClr val="lt1"/>
              </a:buClr>
              <a:buSzPts val="1100"/>
              <a:buChar char="•"/>
              <a:defRPr sz="1100">
                <a:solidFill>
                  <a:schemeClr val="lt1"/>
                </a:solidFill>
              </a:defRPr>
            </a:lvl3pPr>
            <a:lvl4pPr indent="-298450" lvl="3" marL="1828800" algn="l">
              <a:lnSpc>
                <a:spcPct val="106000"/>
              </a:lnSpc>
              <a:spcBef>
                <a:spcPts val="0"/>
              </a:spcBef>
              <a:spcAft>
                <a:spcPts val="0"/>
              </a:spcAft>
              <a:buClr>
                <a:schemeClr val="lt1"/>
              </a:buClr>
              <a:buSzPts val="1100"/>
              <a:buChar char="•"/>
              <a:defRPr sz="1100">
                <a:solidFill>
                  <a:schemeClr val="lt1"/>
                </a:solidFill>
              </a:defRPr>
            </a:lvl4pPr>
            <a:lvl5pPr indent="-298450" lvl="4" marL="2286000" algn="l">
              <a:lnSpc>
                <a:spcPct val="106000"/>
              </a:lnSpc>
              <a:spcBef>
                <a:spcPts val="0"/>
              </a:spcBef>
              <a:spcAft>
                <a:spcPts val="0"/>
              </a:spcAft>
              <a:buClr>
                <a:schemeClr val="lt1"/>
              </a:buClr>
              <a:buSzPts val="1100"/>
              <a:buChar char="•"/>
              <a:defRPr sz="11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0"/>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1800"/>
              <a:buFont typeface="IBM Plex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0"/>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0"/>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algn="r">
              <a:spcBef>
                <a:spcPts val="0"/>
              </a:spcBef>
              <a:buNone/>
              <a:defRPr b="0" i="0" sz="1000" u="none" cap="none" strike="noStrike">
                <a:solidFill>
                  <a:schemeClr val="lt1"/>
                </a:solidFill>
                <a:latin typeface="IBM Plex Sans"/>
                <a:ea typeface="IBM Plex Sans"/>
                <a:cs typeface="IBM Plex Sans"/>
                <a:sym typeface="IBM Plex Sans"/>
              </a:defRPr>
            </a:lvl1pPr>
            <a:lvl2pPr indent="0" lvl="1" marL="0" algn="r">
              <a:spcBef>
                <a:spcPts val="0"/>
              </a:spcBef>
              <a:buNone/>
              <a:defRPr b="0" i="0" sz="1000" u="none" cap="none" strike="noStrike">
                <a:solidFill>
                  <a:schemeClr val="lt1"/>
                </a:solidFill>
                <a:latin typeface="IBM Plex Sans"/>
                <a:ea typeface="IBM Plex Sans"/>
                <a:cs typeface="IBM Plex Sans"/>
                <a:sym typeface="IBM Plex Sans"/>
              </a:defRPr>
            </a:lvl2pPr>
            <a:lvl3pPr indent="0" lvl="2" marL="0" algn="r">
              <a:spcBef>
                <a:spcPts val="0"/>
              </a:spcBef>
              <a:buNone/>
              <a:defRPr b="0" i="0" sz="1000" u="none" cap="none" strike="noStrike">
                <a:solidFill>
                  <a:schemeClr val="lt1"/>
                </a:solidFill>
                <a:latin typeface="IBM Plex Sans"/>
                <a:ea typeface="IBM Plex Sans"/>
                <a:cs typeface="IBM Plex Sans"/>
                <a:sym typeface="IBM Plex Sans"/>
              </a:defRPr>
            </a:lvl3pPr>
            <a:lvl4pPr indent="0" lvl="3" marL="0" algn="r">
              <a:spcBef>
                <a:spcPts val="0"/>
              </a:spcBef>
              <a:buNone/>
              <a:defRPr b="0" i="0" sz="1000" u="none" cap="none" strike="noStrike">
                <a:solidFill>
                  <a:schemeClr val="lt1"/>
                </a:solidFill>
                <a:latin typeface="IBM Plex Sans"/>
                <a:ea typeface="IBM Plex Sans"/>
                <a:cs typeface="IBM Plex Sans"/>
                <a:sym typeface="IBM Plex Sans"/>
              </a:defRPr>
            </a:lvl4pPr>
            <a:lvl5pPr indent="0" lvl="4" marL="0" algn="r">
              <a:spcBef>
                <a:spcPts val="0"/>
              </a:spcBef>
              <a:buNone/>
              <a:defRPr b="0" i="0" sz="1000" u="none" cap="none" strike="noStrike">
                <a:solidFill>
                  <a:schemeClr val="lt1"/>
                </a:solidFill>
                <a:latin typeface="IBM Plex Sans"/>
                <a:ea typeface="IBM Plex Sans"/>
                <a:cs typeface="IBM Plex Sans"/>
                <a:sym typeface="IBM Plex Sans"/>
              </a:defRPr>
            </a:lvl5pPr>
            <a:lvl6pPr indent="0" lvl="5" marL="0" algn="r">
              <a:spcBef>
                <a:spcPts val="0"/>
              </a:spcBef>
              <a:buNone/>
              <a:defRPr b="0" i="0" sz="1000" u="none" cap="none" strike="noStrike">
                <a:solidFill>
                  <a:schemeClr val="lt1"/>
                </a:solidFill>
                <a:latin typeface="IBM Plex Sans"/>
                <a:ea typeface="IBM Plex Sans"/>
                <a:cs typeface="IBM Plex Sans"/>
                <a:sym typeface="IBM Plex Sans"/>
              </a:defRPr>
            </a:lvl6pPr>
            <a:lvl7pPr indent="0" lvl="6" marL="0" algn="r">
              <a:spcBef>
                <a:spcPts val="0"/>
              </a:spcBef>
              <a:buNone/>
              <a:defRPr b="0" i="0" sz="1000" u="none" cap="none" strike="noStrike">
                <a:solidFill>
                  <a:schemeClr val="lt1"/>
                </a:solidFill>
                <a:latin typeface="IBM Plex Sans"/>
                <a:ea typeface="IBM Plex Sans"/>
                <a:cs typeface="IBM Plex Sans"/>
                <a:sym typeface="IBM Plex Sans"/>
              </a:defRPr>
            </a:lvl7pPr>
            <a:lvl8pPr indent="0" lvl="7" marL="0" algn="r">
              <a:spcBef>
                <a:spcPts val="0"/>
              </a:spcBef>
              <a:buNone/>
              <a:defRPr b="0" i="0" sz="1000" u="none" cap="none" strike="noStrike">
                <a:solidFill>
                  <a:schemeClr val="lt1"/>
                </a:solidFill>
                <a:latin typeface="IBM Plex Sans"/>
                <a:ea typeface="IBM Plex Sans"/>
                <a:cs typeface="IBM Plex Sans"/>
                <a:sym typeface="IBM Plex Sans"/>
              </a:defRPr>
            </a:lvl8pPr>
            <a:lvl9pPr indent="0" lvl="8" marL="0" algn="r">
              <a:spcBef>
                <a:spcPts val="0"/>
              </a:spcBef>
              <a:buNone/>
              <a:defRPr b="0" i="0" sz="10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7" name="Shape 47"/>
        <p:cNvGrpSpPr/>
        <p:nvPr/>
      </p:nvGrpSpPr>
      <p:grpSpPr>
        <a:xfrm>
          <a:off x="0" y="0"/>
          <a:ext cx="0" cy="0"/>
          <a:chOff x="0" y="0"/>
          <a:chExt cx="0" cy="0"/>
        </a:xfrm>
      </p:grpSpPr>
      <p:sp>
        <p:nvSpPr>
          <p:cNvPr id="48" name="Google Shape;48;p32"/>
          <p:cNvSpPr txBox="1"/>
          <p:nvPr>
            <p:ph type="title"/>
          </p:nvPr>
        </p:nvSpPr>
        <p:spPr>
          <a:xfrm>
            <a:off x="518600" y="513927"/>
            <a:ext cx="11165400" cy="2493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2"/>
          <p:cNvSpPr txBox="1"/>
          <p:nvPr>
            <p:ph idx="10" type="dt"/>
          </p:nvPr>
        </p:nvSpPr>
        <p:spPr>
          <a:xfrm>
            <a:off x="268800" y="6450239"/>
            <a:ext cx="2743200" cy="153900"/>
          </a:xfrm>
          <a:prstGeom prst="rect">
            <a:avLst/>
          </a:prstGeom>
          <a:noFill/>
          <a:ln>
            <a:noFill/>
          </a:ln>
        </p:spPr>
        <p:txBody>
          <a:bodyPr anchorCtr="0" anchor="t" bIns="0" lIns="0" spcFirstLastPara="1" rIns="0" wrap="square" tIns="0">
            <a:noAutofit/>
          </a:bodyPr>
          <a:lstStyle>
            <a:lvl1pPr lvl="0" algn="l">
              <a:spcBef>
                <a:spcPts val="0"/>
              </a:spcBef>
              <a:spcAft>
                <a:spcPts val="0"/>
              </a:spcAft>
              <a:buClr>
                <a:srgbClr val="5F7D69"/>
              </a:buClr>
              <a:buSzPts val="1400"/>
              <a:buFont typeface="IBM Plex Sans"/>
              <a:buNone/>
              <a:defRPr/>
            </a:lvl1pPr>
            <a:lvl2pPr lvl="1" algn="l">
              <a:spcBef>
                <a:spcPts val="0"/>
              </a:spcBef>
              <a:spcAft>
                <a:spcPts val="0"/>
              </a:spcAft>
              <a:buClr>
                <a:schemeClr val="dk1"/>
              </a:buClr>
              <a:buSzPts val="1400"/>
              <a:buFont typeface="IBM Plex Sans"/>
              <a:buNone/>
              <a:defRPr/>
            </a:lvl2pPr>
            <a:lvl3pPr lvl="2" algn="l">
              <a:spcBef>
                <a:spcPts val="0"/>
              </a:spcBef>
              <a:spcAft>
                <a:spcPts val="0"/>
              </a:spcAft>
              <a:buClr>
                <a:schemeClr val="dk1"/>
              </a:buClr>
              <a:buSzPts val="1400"/>
              <a:buFont typeface="IBM Plex Sans"/>
              <a:buNone/>
              <a:defRPr/>
            </a:lvl3pPr>
            <a:lvl4pPr lvl="3" algn="l">
              <a:spcBef>
                <a:spcPts val="0"/>
              </a:spcBef>
              <a:spcAft>
                <a:spcPts val="0"/>
              </a:spcAft>
              <a:buClr>
                <a:schemeClr val="dk1"/>
              </a:buClr>
              <a:buSzPts val="1400"/>
              <a:buFont typeface="IBM Plex Sans"/>
              <a:buNone/>
              <a:defRPr/>
            </a:lvl4pPr>
            <a:lvl5pPr lvl="4" algn="l">
              <a:spcBef>
                <a:spcPts val="0"/>
              </a:spcBef>
              <a:spcAft>
                <a:spcPts val="0"/>
              </a:spcAft>
              <a:buClr>
                <a:schemeClr val="dk1"/>
              </a:buClr>
              <a:buSzPts val="1400"/>
              <a:buFont typeface="IBM Plex Sans"/>
              <a:buNone/>
              <a:defRPr/>
            </a:lvl5pPr>
            <a:lvl6pPr lvl="5" algn="l">
              <a:spcBef>
                <a:spcPts val="0"/>
              </a:spcBef>
              <a:spcAft>
                <a:spcPts val="0"/>
              </a:spcAft>
              <a:buClr>
                <a:schemeClr val="dk1"/>
              </a:buClr>
              <a:buSzPts val="1400"/>
              <a:buFont typeface="IBM Plex Sans"/>
              <a:buNone/>
              <a:defRPr/>
            </a:lvl6pPr>
            <a:lvl7pPr lvl="6" algn="l">
              <a:spcBef>
                <a:spcPts val="0"/>
              </a:spcBef>
              <a:spcAft>
                <a:spcPts val="0"/>
              </a:spcAft>
              <a:buClr>
                <a:schemeClr val="dk1"/>
              </a:buClr>
              <a:buSzPts val="1400"/>
              <a:buFont typeface="IBM Plex Sans"/>
              <a:buNone/>
              <a:defRPr/>
            </a:lvl7pPr>
            <a:lvl8pPr lvl="7" algn="l">
              <a:spcBef>
                <a:spcPts val="0"/>
              </a:spcBef>
              <a:spcAft>
                <a:spcPts val="0"/>
              </a:spcAft>
              <a:buClr>
                <a:schemeClr val="dk1"/>
              </a:buClr>
              <a:buSzPts val="1400"/>
              <a:buFont typeface="IBM Plex Sans"/>
              <a:buNone/>
              <a:defRPr/>
            </a:lvl8pPr>
            <a:lvl9pPr lvl="8" algn="l">
              <a:spcBef>
                <a:spcPts val="0"/>
              </a:spcBef>
              <a:spcAft>
                <a:spcPts val="0"/>
              </a:spcAft>
              <a:buClr>
                <a:schemeClr val="dk1"/>
              </a:buClr>
              <a:buSzPts val="1400"/>
              <a:buFont typeface="IBM Plex Sans"/>
              <a:buNone/>
              <a:defRPr/>
            </a:lvl9pPr>
          </a:lstStyle>
          <a:p/>
        </p:txBody>
      </p:sp>
      <p:sp>
        <p:nvSpPr>
          <p:cNvPr id="50" name="Google Shape;50;p32"/>
          <p:cNvSpPr txBox="1"/>
          <p:nvPr>
            <p:ph idx="11" type="ftr"/>
          </p:nvPr>
        </p:nvSpPr>
        <p:spPr>
          <a:xfrm>
            <a:off x="8280504" y="224972"/>
            <a:ext cx="3642600" cy="153900"/>
          </a:xfrm>
          <a:prstGeom prst="rect">
            <a:avLst/>
          </a:prstGeom>
          <a:noFill/>
          <a:ln>
            <a:noFill/>
          </a:ln>
        </p:spPr>
        <p:txBody>
          <a:bodyPr anchorCtr="0" anchor="t" bIns="0" lIns="0" spcFirstLastPara="1" rIns="0" wrap="square" tIns="0">
            <a:noAutofit/>
          </a:bodyPr>
          <a:lstStyle>
            <a:lvl1pPr lvl="0" algn="r">
              <a:spcBef>
                <a:spcPts val="0"/>
              </a:spcBef>
              <a:spcAft>
                <a:spcPts val="0"/>
              </a:spcAft>
              <a:buClr>
                <a:srgbClr val="5F7D69"/>
              </a:buClr>
              <a:buSzPts val="1400"/>
              <a:buFont typeface="IBM Plex Sans"/>
              <a:buNone/>
              <a:defRPr/>
            </a:lvl1pPr>
            <a:lvl2pPr lvl="1" algn="l">
              <a:spcBef>
                <a:spcPts val="0"/>
              </a:spcBef>
              <a:spcAft>
                <a:spcPts val="0"/>
              </a:spcAft>
              <a:buClr>
                <a:schemeClr val="dk1"/>
              </a:buClr>
              <a:buSzPts val="1400"/>
              <a:buFont typeface="IBM Plex Sans"/>
              <a:buNone/>
              <a:defRPr/>
            </a:lvl2pPr>
            <a:lvl3pPr lvl="2" algn="l">
              <a:spcBef>
                <a:spcPts val="0"/>
              </a:spcBef>
              <a:spcAft>
                <a:spcPts val="0"/>
              </a:spcAft>
              <a:buClr>
                <a:schemeClr val="dk1"/>
              </a:buClr>
              <a:buSzPts val="1400"/>
              <a:buFont typeface="IBM Plex Sans"/>
              <a:buNone/>
              <a:defRPr/>
            </a:lvl3pPr>
            <a:lvl4pPr lvl="3" algn="l">
              <a:spcBef>
                <a:spcPts val="0"/>
              </a:spcBef>
              <a:spcAft>
                <a:spcPts val="0"/>
              </a:spcAft>
              <a:buClr>
                <a:schemeClr val="dk1"/>
              </a:buClr>
              <a:buSzPts val="1400"/>
              <a:buFont typeface="IBM Plex Sans"/>
              <a:buNone/>
              <a:defRPr/>
            </a:lvl4pPr>
            <a:lvl5pPr lvl="4" algn="l">
              <a:spcBef>
                <a:spcPts val="0"/>
              </a:spcBef>
              <a:spcAft>
                <a:spcPts val="0"/>
              </a:spcAft>
              <a:buClr>
                <a:schemeClr val="dk1"/>
              </a:buClr>
              <a:buSzPts val="1400"/>
              <a:buFont typeface="IBM Plex Sans"/>
              <a:buNone/>
              <a:defRPr/>
            </a:lvl5pPr>
            <a:lvl6pPr lvl="5" algn="l">
              <a:spcBef>
                <a:spcPts val="0"/>
              </a:spcBef>
              <a:spcAft>
                <a:spcPts val="0"/>
              </a:spcAft>
              <a:buClr>
                <a:schemeClr val="dk1"/>
              </a:buClr>
              <a:buSzPts val="1400"/>
              <a:buFont typeface="IBM Plex Sans"/>
              <a:buNone/>
              <a:defRPr/>
            </a:lvl6pPr>
            <a:lvl7pPr lvl="6" algn="l">
              <a:spcBef>
                <a:spcPts val="0"/>
              </a:spcBef>
              <a:spcAft>
                <a:spcPts val="0"/>
              </a:spcAft>
              <a:buClr>
                <a:schemeClr val="dk1"/>
              </a:buClr>
              <a:buSzPts val="1400"/>
              <a:buFont typeface="IBM Plex Sans"/>
              <a:buNone/>
              <a:defRPr/>
            </a:lvl7pPr>
            <a:lvl8pPr lvl="7" algn="l">
              <a:spcBef>
                <a:spcPts val="0"/>
              </a:spcBef>
              <a:spcAft>
                <a:spcPts val="0"/>
              </a:spcAft>
              <a:buClr>
                <a:schemeClr val="dk1"/>
              </a:buClr>
              <a:buSzPts val="1400"/>
              <a:buFont typeface="IBM Plex Sans"/>
              <a:buNone/>
              <a:defRPr/>
            </a:lvl8pPr>
            <a:lvl9pPr lvl="8" algn="l">
              <a:spcBef>
                <a:spcPts val="0"/>
              </a:spcBef>
              <a:spcAft>
                <a:spcPts val="0"/>
              </a:spcAft>
              <a:buClr>
                <a:schemeClr val="dk1"/>
              </a:buClr>
              <a:buSzPts val="1400"/>
              <a:buFont typeface="IBM Plex Sans"/>
              <a:buNone/>
              <a:defRPr/>
            </a:lvl9pPr>
          </a:lstStyle>
          <a:p/>
        </p:txBody>
      </p:sp>
      <p:sp>
        <p:nvSpPr>
          <p:cNvPr id="51" name="Google Shape;51;p32"/>
          <p:cNvSpPr txBox="1"/>
          <p:nvPr>
            <p:ph idx="12" type="sldNum"/>
          </p:nvPr>
        </p:nvSpPr>
        <p:spPr>
          <a:xfrm>
            <a:off x="9180000" y="6450239"/>
            <a:ext cx="2743200" cy="1539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1pPr>
            <a:lvl2pPr indent="0" lvl="1"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2pPr>
            <a:lvl3pPr indent="0" lvl="2"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3pPr>
            <a:lvl4pPr indent="0" lvl="3"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4pPr>
            <a:lvl5pPr indent="0" lvl="4"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5pPr>
            <a:lvl6pPr indent="0" lvl="5"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6pPr>
            <a:lvl7pPr indent="0" lvl="6"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7pPr>
            <a:lvl8pPr indent="0" lvl="7"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8pPr>
            <a:lvl9pPr indent="0" lvl="8"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template">
  <p:cSld name="Intro template">
    <p:bg>
      <p:bgPr>
        <a:solidFill>
          <a:schemeClr val="lt1"/>
        </a:solidFill>
      </p:bgPr>
    </p:bg>
    <p:spTree>
      <p:nvGrpSpPr>
        <p:cNvPr id="52" name="Shape 52"/>
        <p:cNvGrpSpPr/>
        <p:nvPr/>
      </p:nvGrpSpPr>
      <p:grpSpPr>
        <a:xfrm>
          <a:off x="0" y="0"/>
          <a:ext cx="0" cy="0"/>
          <a:chOff x="0" y="0"/>
          <a:chExt cx="0" cy="0"/>
        </a:xfrm>
      </p:grpSpPr>
      <p:sp>
        <p:nvSpPr>
          <p:cNvPr id="53" name="Google Shape;53;p33"/>
          <p:cNvSpPr txBox="1"/>
          <p:nvPr>
            <p:ph idx="1" type="body"/>
          </p:nvPr>
        </p:nvSpPr>
        <p:spPr>
          <a:xfrm>
            <a:off x="508000" y="1015788"/>
            <a:ext cx="3513000" cy="5328300"/>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900"/>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33"/>
          <p:cNvSpPr txBox="1"/>
          <p:nvPr>
            <p:ph idx="2" type="body"/>
          </p:nvPr>
        </p:nvSpPr>
        <p:spPr>
          <a:xfrm>
            <a:off x="4338638" y="1015789"/>
            <a:ext cx="3513000" cy="5328300"/>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900"/>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33"/>
          <p:cNvSpPr txBox="1"/>
          <p:nvPr>
            <p:ph type="title"/>
          </p:nvPr>
        </p:nvSpPr>
        <p:spPr>
          <a:xfrm>
            <a:off x="518600" y="513927"/>
            <a:ext cx="11165400" cy="2493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side med billedebaggrund">
  <p:cSld name="Forside med billedebaggrund">
    <p:bg>
      <p:bgPr>
        <a:blipFill>
          <a:blip r:embed="rId2">
            <a:alphaModFix/>
          </a:blip>
          <a:stretch>
            <a:fillRect/>
          </a:stretch>
        </a:blipFill>
      </p:bgPr>
    </p:bg>
    <p:spTree>
      <p:nvGrpSpPr>
        <p:cNvPr id="56" name="Shape 56"/>
        <p:cNvGrpSpPr/>
        <p:nvPr/>
      </p:nvGrpSpPr>
      <p:grpSpPr>
        <a:xfrm>
          <a:off x="0" y="0"/>
          <a:ext cx="0" cy="0"/>
          <a:chOff x="0" y="0"/>
          <a:chExt cx="0" cy="0"/>
        </a:xfrm>
      </p:grpSpPr>
      <p:pic>
        <p:nvPicPr>
          <p:cNvPr id="57" name="Google Shape;57;p34"/>
          <p:cNvPicPr preferRelativeResize="0"/>
          <p:nvPr/>
        </p:nvPicPr>
        <p:blipFill rotWithShape="1">
          <a:blip r:embed="rId3">
            <a:alphaModFix/>
          </a:blip>
          <a:srcRect b="0" l="0" r="0" t="0"/>
          <a:stretch/>
        </p:blipFill>
        <p:spPr>
          <a:xfrm>
            <a:off x="3422854" y="2136228"/>
            <a:ext cx="1394622" cy="2068689"/>
          </a:xfrm>
          <a:prstGeom prst="rect">
            <a:avLst/>
          </a:prstGeom>
          <a:noFill/>
          <a:ln>
            <a:noFill/>
          </a:ln>
        </p:spPr>
      </p:pic>
      <p:pic>
        <p:nvPicPr>
          <p:cNvPr id="58" name="Google Shape;58;p34"/>
          <p:cNvPicPr preferRelativeResize="0"/>
          <p:nvPr/>
        </p:nvPicPr>
        <p:blipFill rotWithShape="1">
          <a:blip r:embed="rId4">
            <a:alphaModFix/>
          </a:blip>
          <a:srcRect b="0" l="0" r="0" t="0"/>
          <a:stretch/>
        </p:blipFill>
        <p:spPr>
          <a:xfrm>
            <a:off x="7013220" y="2085593"/>
            <a:ext cx="1781124" cy="2156098"/>
          </a:xfrm>
          <a:prstGeom prst="rect">
            <a:avLst/>
          </a:prstGeom>
          <a:noFill/>
          <a:ln>
            <a:noFill/>
          </a:ln>
        </p:spPr>
      </p:pic>
      <p:pic>
        <p:nvPicPr>
          <p:cNvPr id="59" name="Google Shape;59;p34"/>
          <p:cNvPicPr preferRelativeResize="0"/>
          <p:nvPr/>
        </p:nvPicPr>
        <p:blipFill rotWithShape="1">
          <a:blip r:embed="rId5">
            <a:alphaModFix/>
          </a:blip>
          <a:srcRect b="0" l="0" r="0" t="0"/>
          <a:stretch/>
        </p:blipFill>
        <p:spPr>
          <a:xfrm>
            <a:off x="5103319" y="2085593"/>
            <a:ext cx="1658004" cy="2210670"/>
          </a:xfrm>
          <a:prstGeom prst="rect">
            <a:avLst/>
          </a:prstGeom>
          <a:noFill/>
          <a:ln>
            <a:noFill/>
          </a:ln>
        </p:spPr>
      </p:pic>
      <p:sp>
        <p:nvSpPr>
          <p:cNvPr id="60" name="Google Shape;60;p34"/>
          <p:cNvSpPr txBox="1"/>
          <p:nvPr>
            <p:ph idx="11" type="ftr"/>
          </p:nvPr>
        </p:nvSpPr>
        <p:spPr>
          <a:xfrm>
            <a:off x="3503727" y="4971382"/>
            <a:ext cx="5176800" cy="281100"/>
          </a:xfrm>
          <a:prstGeom prst="rect">
            <a:avLst/>
          </a:prstGeom>
          <a:noFill/>
          <a:ln>
            <a:noFill/>
          </a:ln>
        </p:spPr>
        <p:txBody>
          <a:bodyPr anchorCtr="0" anchor="t" bIns="0" lIns="0" spcFirstLastPara="1" rIns="0" wrap="square" tIns="0">
            <a:noAutofit/>
          </a:bodyPr>
          <a:lstStyle>
            <a:lvl1pPr lvl="0" algn="ctr">
              <a:spcBef>
                <a:spcPts val="0"/>
              </a:spcBef>
              <a:spcAft>
                <a:spcPts val="0"/>
              </a:spcAft>
              <a:buClr>
                <a:schemeClr val="lt1"/>
              </a:buClr>
              <a:buSzPts val="1400"/>
              <a:buFont typeface="IBM Plex Sans"/>
              <a:buNone/>
              <a:defRPr sz="1400">
                <a:solidFill>
                  <a:schemeClr val="lt1"/>
                </a:solidFill>
              </a:defRPr>
            </a:lvl1pPr>
            <a:lvl2pPr lvl="1" algn="l">
              <a:spcBef>
                <a:spcPts val="0"/>
              </a:spcBef>
              <a:spcAft>
                <a:spcPts val="0"/>
              </a:spcAft>
              <a:buClr>
                <a:schemeClr val="dk1"/>
              </a:buClr>
              <a:buSzPts val="1400"/>
              <a:buFont typeface="IBM Plex Sans"/>
              <a:buNone/>
              <a:defRPr/>
            </a:lvl2pPr>
            <a:lvl3pPr lvl="2" algn="l">
              <a:spcBef>
                <a:spcPts val="0"/>
              </a:spcBef>
              <a:spcAft>
                <a:spcPts val="0"/>
              </a:spcAft>
              <a:buClr>
                <a:schemeClr val="dk1"/>
              </a:buClr>
              <a:buSzPts val="1400"/>
              <a:buFont typeface="IBM Plex Sans"/>
              <a:buNone/>
              <a:defRPr/>
            </a:lvl3pPr>
            <a:lvl4pPr lvl="3" algn="l">
              <a:spcBef>
                <a:spcPts val="0"/>
              </a:spcBef>
              <a:spcAft>
                <a:spcPts val="0"/>
              </a:spcAft>
              <a:buClr>
                <a:schemeClr val="dk1"/>
              </a:buClr>
              <a:buSzPts val="1400"/>
              <a:buFont typeface="IBM Plex Sans"/>
              <a:buNone/>
              <a:defRPr/>
            </a:lvl4pPr>
            <a:lvl5pPr lvl="4" algn="l">
              <a:spcBef>
                <a:spcPts val="0"/>
              </a:spcBef>
              <a:spcAft>
                <a:spcPts val="0"/>
              </a:spcAft>
              <a:buClr>
                <a:schemeClr val="dk1"/>
              </a:buClr>
              <a:buSzPts val="1400"/>
              <a:buFont typeface="IBM Plex Sans"/>
              <a:buNone/>
              <a:defRPr/>
            </a:lvl5pPr>
            <a:lvl6pPr lvl="5" algn="l">
              <a:spcBef>
                <a:spcPts val="0"/>
              </a:spcBef>
              <a:spcAft>
                <a:spcPts val="0"/>
              </a:spcAft>
              <a:buClr>
                <a:schemeClr val="dk1"/>
              </a:buClr>
              <a:buSzPts val="1400"/>
              <a:buFont typeface="IBM Plex Sans"/>
              <a:buNone/>
              <a:defRPr/>
            </a:lvl6pPr>
            <a:lvl7pPr lvl="6" algn="l">
              <a:spcBef>
                <a:spcPts val="0"/>
              </a:spcBef>
              <a:spcAft>
                <a:spcPts val="0"/>
              </a:spcAft>
              <a:buClr>
                <a:schemeClr val="dk1"/>
              </a:buClr>
              <a:buSzPts val="1400"/>
              <a:buFont typeface="IBM Plex Sans"/>
              <a:buNone/>
              <a:defRPr/>
            </a:lvl7pPr>
            <a:lvl8pPr lvl="7" algn="l">
              <a:spcBef>
                <a:spcPts val="0"/>
              </a:spcBef>
              <a:spcAft>
                <a:spcPts val="0"/>
              </a:spcAft>
              <a:buClr>
                <a:schemeClr val="dk1"/>
              </a:buClr>
              <a:buSzPts val="1400"/>
              <a:buFont typeface="IBM Plex Sans"/>
              <a:buNone/>
              <a:defRPr/>
            </a:lvl8pPr>
            <a:lvl9pPr lvl="8" algn="l">
              <a:spcBef>
                <a:spcPts val="0"/>
              </a:spcBef>
              <a:spcAft>
                <a:spcPts val="0"/>
              </a:spcAft>
              <a:buClr>
                <a:schemeClr val="dk1"/>
              </a:buClr>
              <a:buSzPts val="1400"/>
              <a:buFont typeface="IBM Plex Sans"/>
              <a:buNone/>
              <a:defRPr/>
            </a:lvl9pPr>
          </a:lstStyle>
          <a:p/>
        </p:txBody>
      </p:sp>
      <p:sp>
        <p:nvSpPr>
          <p:cNvPr id="61" name="Google Shape;61;p34"/>
          <p:cNvSpPr txBox="1"/>
          <p:nvPr>
            <p:ph type="title"/>
          </p:nvPr>
        </p:nvSpPr>
        <p:spPr>
          <a:xfrm>
            <a:off x="1079500" y="4619652"/>
            <a:ext cx="10032900" cy="182700"/>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Clr>
                <a:schemeClr val="lt1"/>
              </a:buClr>
              <a:buSzPts val="1100"/>
              <a:buFont typeface="IBM Plex Sans"/>
              <a:buNone/>
              <a:defRPr sz="11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SG opgørelse">
  <p:cSld name="ESG opgørelse">
    <p:bg>
      <p:bgPr>
        <a:solidFill>
          <a:schemeClr val="lt1"/>
        </a:solidFill>
      </p:bgPr>
    </p:bg>
    <p:spTree>
      <p:nvGrpSpPr>
        <p:cNvPr id="62" name="Shape 62"/>
        <p:cNvGrpSpPr/>
        <p:nvPr/>
      </p:nvGrpSpPr>
      <p:grpSpPr>
        <a:xfrm>
          <a:off x="0" y="0"/>
          <a:ext cx="0" cy="0"/>
          <a:chOff x="0" y="0"/>
          <a:chExt cx="0" cy="0"/>
        </a:xfrm>
      </p:grpSpPr>
      <p:sp>
        <p:nvSpPr>
          <p:cNvPr id="63" name="Google Shape;63;p35"/>
          <p:cNvSpPr txBox="1"/>
          <p:nvPr>
            <p:ph idx="1" type="body"/>
          </p:nvPr>
        </p:nvSpPr>
        <p:spPr>
          <a:xfrm>
            <a:off x="518599" y="985520"/>
            <a:ext cx="4557900" cy="5364600"/>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900"/>
              <a:buNone/>
              <a:defRPr sz="900">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35"/>
          <p:cNvSpPr txBox="1"/>
          <p:nvPr>
            <p:ph idx="2" type="body"/>
          </p:nvPr>
        </p:nvSpPr>
        <p:spPr>
          <a:xfrm>
            <a:off x="6472011" y="979593"/>
            <a:ext cx="4557900" cy="5364600"/>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900"/>
              <a:buNone/>
              <a:defRPr sz="900">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5"/>
          <p:cNvSpPr txBox="1"/>
          <p:nvPr>
            <p:ph idx="11" type="ftr"/>
          </p:nvPr>
        </p:nvSpPr>
        <p:spPr>
          <a:xfrm>
            <a:off x="8280504" y="224972"/>
            <a:ext cx="3642600" cy="153900"/>
          </a:xfrm>
          <a:prstGeom prst="rect">
            <a:avLst/>
          </a:prstGeom>
          <a:noFill/>
          <a:ln>
            <a:noFill/>
          </a:ln>
        </p:spPr>
        <p:txBody>
          <a:bodyPr anchorCtr="0" anchor="t" bIns="0" lIns="0" spcFirstLastPara="1" rIns="0" wrap="square" tIns="0">
            <a:noAutofit/>
          </a:bodyPr>
          <a:lstStyle>
            <a:lvl1pPr lvl="0" algn="r">
              <a:spcBef>
                <a:spcPts val="0"/>
              </a:spcBef>
              <a:spcAft>
                <a:spcPts val="0"/>
              </a:spcAft>
              <a:buClr>
                <a:srgbClr val="5F7D69"/>
              </a:buClr>
              <a:buSzPts val="1400"/>
              <a:buFont typeface="IBM Plex Sans"/>
              <a:buNone/>
              <a:defRPr/>
            </a:lvl1pPr>
            <a:lvl2pPr lvl="1" algn="l">
              <a:spcBef>
                <a:spcPts val="0"/>
              </a:spcBef>
              <a:spcAft>
                <a:spcPts val="0"/>
              </a:spcAft>
              <a:buClr>
                <a:schemeClr val="dk1"/>
              </a:buClr>
              <a:buSzPts val="1400"/>
              <a:buFont typeface="IBM Plex Sans"/>
              <a:buNone/>
              <a:defRPr/>
            </a:lvl2pPr>
            <a:lvl3pPr lvl="2" algn="l">
              <a:spcBef>
                <a:spcPts val="0"/>
              </a:spcBef>
              <a:spcAft>
                <a:spcPts val="0"/>
              </a:spcAft>
              <a:buClr>
                <a:schemeClr val="dk1"/>
              </a:buClr>
              <a:buSzPts val="1400"/>
              <a:buFont typeface="IBM Plex Sans"/>
              <a:buNone/>
              <a:defRPr/>
            </a:lvl3pPr>
            <a:lvl4pPr lvl="3" algn="l">
              <a:spcBef>
                <a:spcPts val="0"/>
              </a:spcBef>
              <a:spcAft>
                <a:spcPts val="0"/>
              </a:spcAft>
              <a:buClr>
                <a:schemeClr val="dk1"/>
              </a:buClr>
              <a:buSzPts val="1400"/>
              <a:buFont typeface="IBM Plex Sans"/>
              <a:buNone/>
              <a:defRPr/>
            </a:lvl4pPr>
            <a:lvl5pPr lvl="4" algn="l">
              <a:spcBef>
                <a:spcPts val="0"/>
              </a:spcBef>
              <a:spcAft>
                <a:spcPts val="0"/>
              </a:spcAft>
              <a:buClr>
                <a:schemeClr val="dk1"/>
              </a:buClr>
              <a:buSzPts val="1400"/>
              <a:buFont typeface="IBM Plex Sans"/>
              <a:buNone/>
              <a:defRPr/>
            </a:lvl5pPr>
            <a:lvl6pPr lvl="5" algn="l">
              <a:spcBef>
                <a:spcPts val="0"/>
              </a:spcBef>
              <a:spcAft>
                <a:spcPts val="0"/>
              </a:spcAft>
              <a:buClr>
                <a:schemeClr val="dk1"/>
              </a:buClr>
              <a:buSzPts val="1400"/>
              <a:buFont typeface="IBM Plex Sans"/>
              <a:buNone/>
              <a:defRPr/>
            </a:lvl6pPr>
            <a:lvl7pPr lvl="6" algn="l">
              <a:spcBef>
                <a:spcPts val="0"/>
              </a:spcBef>
              <a:spcAft>
                <a:spcPts val="0"/>
              </a:spcAft>
              <a:buClr>
                <a:schemeClr val="dk1"/>
              </a:buClr>
              <a:buSzPts val="1400"/>
              <a:buFont typeface="IBM Plex Sans"/>
              <a:buNone/>
              <a:defRPr/>
            </a:lvl7pPr>
            <a:lvl8pPr lvl="7" algn="l">
              <a:spcBef>
                <a:spcPts val="0"/>
              </a:spcBef>
              <a:spcAft>
                <a:spcPts val="0"/>
              </a:spcAft>
              <a:buClr>
                <a:schemeClr val="dk1"/>
              </a:buClr>
              <a:buSzPts val="1400"/>
              <a:buFont typeface="IBM Plex Sans"/>
              <a:buNone/>
              <a:defRPr/>
            </a:lvl8pPr>
            <a:lvl9pPr lvl="8" algn="l">
              <a:spcBef>
                <a:spcPts val="0"/>
              </a:spcBef>
              <a:spcAft>
                <a:spcPts val="0"/>
              </a:spcAft>
              <a:buClr>
                <a:schemeClr val="dk1"/>
              </a:buClr>
              <a:buSzPts val="1400"/>
              <a:buFont typeface="IBM Plex Sans"/>
              <a:buNone/>
              <a:defRPr/>
            </a:lvl9pPr>
          </a:lstStyle>
          <a:p/>
        </p:txBody>
      </p:sp>
      <p:sp>
        <p:nvSpPr>
          <p:cNvPr id="66" name="Google Shape;66;p35"/>
          <p:cNvSpPr txBox="1"/>
          <p:nvPr>
            <p:ph idx="12" type="sldNum"/>
          </p:nvPr>
        </p:nvSpPr>
        <p:spPr>
          <a:xfrm>
            <a:off x="9180000" y="6450239"/>
            <a:ext cx="2743200" cy="1539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1pPr>
            <a:lvl2pPr indent="0" lvl="1"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2pPr>
            <a:lvl3pPr indent="0" lvl="2"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3pPr>
            <a:lvl4pPr indent="0" lvl="3"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4pPr>
            <a:lvl5pPr indent="0" lvl="4"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5pPr>
            <a:lvl6pPr indent="0" lvl="5"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6pPr>
            <a:lvl7pPr indent="0" lvl="6"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7pPr>
            <a:lvl8pPr indent="0" lvl="7"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8pPr>
            <a:lvl9pPr indent="0" lvl="8" marL="0" marR="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a-DK"/>
              <a:t>‹#›</a:t>
            </a:fld>
            <a:endParaRPr/>
          </a:p>
        </p:txBody>
      </p:sp>
      <p:sp>
        <p:nvSpPr>
          <p:cNvPr id="67" name="Google Shape;67;p35"/>
          <p:cNvSpPr txBox="1"/>
          <p:nvPr>
            <p:ph type="title"/>
          </p:nvPr>
        </p:nvSpPr>
        <p:spPr>
          <a:xfrm>
            <a:off x="518600" y="513927"/>
            <a:ext cx="11165400" cy="2493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slutningsslide">
  <p:cSld name="Afslutningsslide">
    <p:bg>
      <p:bgPr>
        <a:solidFill>
          <a:srgbClr val="1B4529"/>
        </a:solidFill>
      </p:bgPr>
    </p:bg>
    <p:spTree>
      <p:nvGrpSpPr>
        <p:cNvPr id="68" name="Shape 68"/>
        <p:cNvGrpSpPr/>
        <p:nvPr/>
      </p:nvGrpSpPr>
      <p:grpSpPr>
        <a:xfrm>
          <a:off x="0" y="0"/>
          <a:ext cx="0" cy="0"/>
          <a:chOff x="0" y="0"/>
          <a:chExt cx="0" cy="0"/>
        </a:xfrm>
      </p:grpSpPr>
      <p:sp>
        <p:nvSpPr>
          <p:cNvPr id="69" name="Google Shape;69;p36"/>
          <p:cNvSpPr txBox="1"/>
          <p:nvPr>
            <p:ph idx="1" type="body"/>
          </p:nvPr>
        </p:nvSpPr>
        <p:spPr>
          <a:xfrm>
            <a:off x="1079500" y="1587501"/>
            <a:ext cx="10032900" cy="1460400"/>
          </a:xfrm>
          <a:prstGeom prst="rect">
            <a:avLst/>
          </a:prstGeom>
          <a:solidFill>
            <a:srgbClr val="1B4529"/>
          </a:solidFill>
          <a:ln>
            <a:noFill/>
          </a:ln>
        </p:spPr>
        <p:txBody>
          <a:bodyPr anchorCtr="0" anchor="t" bIns="0" lIns="0" spcFirstLastPara="1" rIns="0" wrap="square" tIns="0">
            <a:normAutofit/>
          </a:bodyPr>
          <a:lstStyle>
            <a:lvl1pPr indent="-228600" lvl="0" marL="457200" algn="l">
              <a:lnSpc>
                <a:spcPct val="100000"/>
              </a:lnSpc>
              <a:spcBef>
                <a:spcPts val="200"/>
              </a:spcBef>
              <a:spcAft>
                <a:spcPts val="0"/>
              </a:spcAft>
              <a:buClr>
                <a:schemeClr val="lt1"/>
              </a:buClr>
              <a:buSzPts val="1100"/>
              <a:buFont typeface="IBM Plex Sans"/>
              <a:buNone/>
              <a:defRPr sz="1100">
                <a:solidFill>
                  <a:schemeClr val="lt1"/>
                </a:solidFill>
              </a:defRPr>
            </a:lvl1pPr>
            <a:lvl2pPr indent="-228600" lvl="1" marL="914400" algn="l">
              <a:lnSpc>
                <a:spcPct val="106000"/>
              </a:lnSpc>
              <a:spcBef>
                <a:spcPts val="0"/>
              </a:spcBef>
              <a:spcAft>
                <a:spcPts val="0"/>
              </a:spcAft>
              <a:buClr>
                <a:schemeClr val="lt1"/>
              </a:buClr>
              <a:buSzPts val="1100"/>
              <a:buFont typeface="IBM Plex Sans"/>
              <a:buNone/>
              <a:defRPr sz="1100">
                <a:solidFill>
                  <a:schemeClr val="lt1"/>
                </a:solidFill>
              </a:defRPr>
            </a:lvl2pPr>
            <a:lvl3pPr indent="-298450" lvl="2" marL="1371600" algn="l">
              <a:lnSpc>
                <a:spcPct val="106000"/>
              </a:lnSpc>
              <a:spcBef>
                <a:spcPts val="0"/>
              </a:spcBef>
              <a:spcAft>
                <a:spcPts val="0"/>
              </a:spcAft>
              <a:buClr>
                <a:schemeClr val="lt1"/>
              </a:buClr>
              <a:buSzPts val="1100"/>
              <a:buChar char="•"/>
              <a:defRPr sz="1100">
                <a:solidFill>
                  <a:schemeClr val="lt1"/>
                </a:solidFill>
              </a:defRPr>
            </a:lvl3pPr>
            <a:lvl4pPr indent="-298450" lvl="3" marL="1828800" algn="l">
              <a:lnSpc>
                <a:spcPct val="106000"/>
              </a:lnSpc>
              <a:spcBef>
                <a:spcPts val="0"/>
              </a:spcBef>
              <a:spcAft>
                <a:spcPts val="0"/>
              </a:spcAft>
              <a:buClr>
                <a:schemeClr val="lt1"/>
              </a:buClr>
              <a:buSzPts val="1100"/>
              <a:buChar char="•"/>
              <a:defRPr sz="1100">
                <a:solidFill>
                  <a:schemeClr val="lt1"/>
                </a:solidFill>
              </a:defRPr>
            </a:lvl4pPr>
            <a:lvl5pPr indent="-298450" lvl="4" marL="2286000" algn="l">
              <a:lnSpc>
                <a:spcPct val="106000"/>
              </a:lnSpc>
              <a:spcBef>
                <a:spcPts val="0"/>
              </a:spcBef>
              <a:spcAft>
                <a:spcPts val="0"/>
              </a:spcAft>
              <a:buClr>
                <a:schemeClr val="lt1"/>
              </a:buClr>
              <a:buSzPts val="1100"/>
              <a:buChar char="•"/>
              <a:defRPr sz="11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36"/>
          <p:cNvSpPr txBox="1"/>
          <p:nvPr>
            <p:ph type="title"/>
          </p:nvPr>
        </p:nvSpPr>
        <p:spPr>
          <a:xfrm>
            <a:off x="518600" y="513927"/>
            <a:ext cx="11165400" cy="2493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1800"/>
              <a:buFont typeface="IBM Plex Sans"/>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p:nvPr>
            <p:ph idx="11" type="ftr"/>
          </p:nvPr>
        </p:nvSpPr>
        <p:spPr>
          <a:xfrm>
            <a:off x="8280504" y="224972"/>
            <a:ext cx="3642600" cy="153900"/>
          </a:xfrm>
          <a:prstGeom prst="rect">
            <a:avLst/>
          </a:prstGeom>
          <a:noFill/>
          <a:ln>
            <a:noFill/>
          </a:ln>
        </p:spPr>
        <p:txBody>
          <a:bodyPr anchorCtr="0" anchor="t" bIns="0" lIns="0" spcFirstLastPara="1" rIns="0" wrap="square" tIns="0">
            <a:noAutofit/>
          </a:bodyPr>
          <a:lstStyle>
            <a:lvl1pPr lvl="0" algn="r">
              <a:spcBef>
                <a:spcPts val="0"/>
              </a:spcBef>
              <a:spcAft>
                <a:spcPts val="0"/>
              </a:spcAft>
              <a:buClr>
                <a:schemeClr val="lt1"/>
              </a:buClr>
              <a:buSzPts val="1400"/>
              <a:buFont typeface="IBM Plex Sans"/>
              <a:buNone/>
              <a:defRPr>
                <a:solidFill>
                  <a:schemeClr val="lt1"/>
                </a:solidFill>
              </a:defRPr>
            </a:lvl1pPr>
            <a:lvl2pPr lvl="1" algn="l">
              <a:spcBef>
                <a:spcPts val="0"/>
              </a:spcBef>
              <a:spcAft>
                <a:spcPts val="0"/>
              </a:spcAft>
              <a:buClr>
                <a:schemeClr val="dk1"/>
              </a:buClr>
              <a:buSzPts val="1400"/>
              <a:buFont typeface="IBM Plex Sans"/>
              <a:buNone/>
              <a:defRPr/>
            </a:lvl2pPr>
            <a:lvl3pPr lvl="2" algn="l">
              <a:spcBef>
                <a:spcPts val="0"/>
              </a:spcBef>
              <a:spcAft>
                <a:spcPts val="0"/>
              </a:spcAft>
              <a:buClr>
                <a:schemeClr val="dk1"/>
              </a:buClr>
              <a:buSzPts val="1400"/>
              <a:buFont typeface="IBM Plex Sans"/>
              <a:buNone/>
              <a:defRPr/>
            </a:lvl3pPr>
            <a:lvl4pPr lvl="3" algn="l">
              <a:spcBef>
                <a:spcPts val="0"/>
              </a:spcBef>
              <a:spcAft>
                <a:spcPts val="0"/>
              </a:spcAft>
              <a:buClr>
                <a:schemeClr val="dk1"/>
              </a:buClr>
              <a:buSzPts val="1400"/>
              <a:buFont typeface="IBM Plex Sans"/>
              <a:buNone/>
              <a:defRPr/>
            </a:lvl4pPr>
            <a:lvl5pPr lvl="4" algn="l">
              <a:spcBef>
                <a:spcPts val="0"/>
              </a:spcBef>
              <a:spcAft>
                <a:spcPts val="0"/>
              </a:spcAft>
              <a:buClr>
                <a:schemeClr val="dk1"/>
              </a:buClr>
              <a:buSzPts val="1400"/>
              <a:buFont typeface="IBM Plex Sans"/>
              <a:buNone/>
              <a:defRPr/>
            </a:lvl5pPr>
            <a:lvl6pPr lvl="5" algn="l">
              <a:spcBef>
                <a:spcPts val="0"/>
              </a:spcBef>
              <a:spcAft>
                <a:spcPts val="0"/>
              </a:spcAft>
              <a:buClr>
                <a:schemeClr val="dk1"/>
              </a:buClr>
              <a:buSzPts val="1400"/>
              <a:buFont typeface="IBM Plex Sans"/>
              <a:buNone/>
              <a:defRPr/>
            </a:lvl6pPr>
            <a:lvl7pPr lvl="6" algn="l">
              <a:spcBef>
                <a:spcPts val="0"/>
              </a:spcBef>
              <a:spcAft>
                <a:spcPts val="0"/>
              </a:spcAft>
              <a:buClr>
                <a:schemeClr val="dk1"/>
              </a:buClr>
              <a:buSzPts val="1400"/>
              <a:buFont typeface="IBM Plex Sans"/>
              <a:buNone/>
              <a:defRPr/>
            </a:lvl7pPr>
            <a:lvl8pPr lvl="7" algn="l">
              <a:spcBef>
                <a:spcPts val="0"/>
              </a:spcBef>
              <a:spcAft>
                <a:spcPts val="0"/>
              </a:spcAft>
              <a:buClr>
                <a:schemeClr val="dk1"/>
              </a:buClr>
              <a:buSzPts val="1400"/>
              <a:buFont typeface="IBM Plex Sans"/>
              <a:buNone/>
              <a:defRPr/>
            </a:lvl8pPr>
            <a:lvl9pPr lvl="8" algn="l">
              <a:spcBef>
                <a:spcPts val="0"/>
              </a:spcBef>
              <a:spcAft>
                <a:spcPts val="0"/>
              </a:spcAft>
              <a:buClr>
                <a:schemeClr val="dk1"/>
              </a:buClr>
              <a:buSzPts val="1400"/>
              <a:buFont typeface="IBM Plex Sans"/>
              <a:buNone/>
              <a:defRPr/>
            </a:lvl9pPr>
          </a:lstStyle>
          <a:p/>
        </p:txBody>
      </p:sp>
      <p:sp>
        <p:nvSpPr>
          <p:cNvPr id="72" name="Google Shape;72;p36"/>
          <p:cNvSpPr txBox="1"/>
          <p:nvPr>
            <p:ph idx="12" type="sldNum"/>
          </p:nvPr>
        </p:nvSpPr>
        <p:spPr>
          <a:xfrm>
            <a:off x="9180000" y="6450239"/>
            <a:ext cx="2743200" cy="1539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Clr>
                <a:schemeClr val="lt1"/>
              </a:buClr>
              <a:buSzPts val="1000"/>
              <a:buFont typeface="IBM Plex Sans"/>
              <a:buNone/>
              <a:defRPr b="0" i="0" sz="1000" u="none" cap="none" strike="noStrike">
                <a:solidFill>
                  <a:schemeClr val="lt1"/>
                </a:solidFill>
                <a:latin typeface="IBM Plex Sans"/>
                <a:ea typeface="IBM Plex Sans"/>
                <a:cs typeface="IBM Plex Sans"/>
                <a:sym typeface="IBM Plex Sans"/>
              </a:defRPr>
            </a:lvl1pPr>
            <a:lvl2pPr indent="0" lvl="1" marL="0" marR="0" algn="r">
              <a:spcBef>
                <a:spcPts val="0"/>
              </a:spcBef>
              <a:spcAft>
                <a:spcPts val="0"/>
              </a:spcAft>
              <a:buClr>
                <a:schemeClr val="lt1"/>
              </a:buClr>
              <a:buSzPts val="1000"/>
              <a:buFont typeface="IBM Plex Sans"/>
              <a:buNone/>
              <a:defRPr b="0" i="0" sz="1000" u="none" cap="none" strike="noStrike">
                <a:solidFill>
                  <a:schemeClr val="lt1"/>
                </a:solidFill>
                <a:latin typeface="IBM Plex Sans"/>
                <a:ea typeface="IBM Plex Sans"/>
                <a:cs typeface="IBM Plex Sans"/>
                <a:sym typeface="IBM Plex Sans"/>
              </a:defRPr>
            </a:lvl2pPr>
            <a:lvl3pPr indent="0" lvl="2" marL="0" marR="0" algn="r">
              <a:spcBef>
                <a:spcPts val="0"/>
              </a:spcBef>
              <a:spcAft>
                <a:spcPts val="0"/>
              </a:spcAft>
              <a:buClr>
                <a:schemeClr val="lt1"/>
              </a:buClr>
              <a:buSzPts val="1000"/>
              <a:buFont typeface="IBM Plex Sans"/>
              <a:buNone/>
              <a:defRPr b="0" i="0" sz="1000" u="none" cap="none" strike="noStrike">
                <a:solidFill>
                  <a:schemeClr val="lt1"/>
                </a:solidFill>
                <a:latin typeface="IBM Plex Sans"/>
                <a:ea typeface="IBM Plex Sans"/>
                <a:cs typeface="IBM Plex Sans"/>
                <a:sym typeface="IBM Plex Sans"/>
              </a:defRPr>
            </a:lvl3pPr>
            <a:lvl4pPr indent="0" lvl="3" marL="0" marR="0" algn="r">
              <a:spcBef>
                <a:spcPts val="0"/>
              </a:spcBef>
              <a:spcAft>
                <a:spcPts val="0"/>
              </a:spcAft>
              <a:buClr>
                <a:schemeClr val="lt1"/>
              </a:buClr>
              <a:buSzPts val="1000"/>
              <a:buFont typeface="IBM Plex Sans"/>
              <a:buNone/>
              <a:defRPr b="0" i="0" sz="1000" u="none" cap="none" strike="noStrike">
                <a:solidFill>
                  <a:schemeClr val="lt1"/>
                </a:solidFill>
                <a:latin typeface="IBM Plex Sans"/>
                <a:ea typeface="IBM Plex Sans"/>
                <a:cs typeface="IBM Plex Sans"/>
                <a:sym typeface="IBM Plex Sans"/>
              </a:defRPr>
            </a:lvl4pPr>
            <a:lvl5pPr indent="0" lvl="4" marL="0" marR="0" algn="r">
              <a:spcBef>
                <a:spcPts val="0"/>
              </a:spcBef>
              <a:spcAft>
                <a:spcPts val="0"/>
              </a:spcAft>
              <a:buClr>
                <a:schemeClr val="lt1"/>
              </a:buClr>
              <a:buSzPts val="1000"/>
              <a:buFont typeface="IBM Plex Sans"/>
              <a:buNone/>
              <a:defRPr b="0" i="0" sz="1000" u="none" cap="none" strike="noStrike">
                <a:solidFill>
                  <a:schemeClr val="lt1"/>
                </a:solidFill>
                <a:latin typeface="IBM Plex Sans"/>
                <a:ea typeface="IBM Plex Sans"/>
                <a:cs typeface="IBM Plex Sans"/>
                <a:sym typeface="IBM Plex Sans"/>
              </a:defRPr>
            </a:lvl5pPr>
            <a:lvl6pPr indent="0" lvl="5" marL="0" marR="0" algn="r">
              <a:spcBef>
                <a:spcPts val="0"/>
              </a:spcBef>
              <a:spcAft>
                <a:spcPts val="0"/>
              </a:spcAft>
              <a:buClr>
                <a:schemeClr val="lt1"/>
              </a:buClr>
              <a:buSzPts val="1000"/>
              <a:buFont typeface="IBM Plex Sans"/>
              <a:buNone/>
              <a:defRPr b="0" i="0" sz="1000" u="none" cap="none" strike="noStrike">
                <a:solidFill>
                  <a:schemeClr val="lt1"/>
                </a:solidFill>
                <a:latin typeface="IBM Plex Sans"/>
                <a:ea typeface="IBM Plex Sans"/>
                <a:cs typeface="IBM Plex Sans"/>
                <a:sym typeface="IBM Plex Sans"/>
              </a:defRPr>
            </a:lvl6pPr>
            <a:lvl7pPr indent="0" lvl="6" marL="0" marR="0" algn="r">
              <a:spcBef>
                <a:spcPts val="0"/>
              </a:spcBef>
              <a:spcAft>
                <a:spcPts val="0"/>
              </a:spcAft>
              <a:buClr>
                <a:schemeClr val="lt1"/>
              </a:buClr>
              <a:buSzPts val="1000"/>
              <a:buFont typeface="IBM Plex Sans"/>
              <a:buNone/>
              <a:defRPr b="0" i="0" sz="1000" u="none" cap="none" strike="noStrike">
                <a:solidFill>
                  <a:schemeClr val="lt1"/>
                </a:solidFill>
                <a:latin typeface="IBM Plex Sans"/>
                <a:ea typeface="IBM Plex Sans"/>
                <a:cs typeface="IBM Plex Sans"/>
                <a:sym typeface="IBM Plex Sans"/>
              </a:defRPr>
            </a:lvl7pPr>
            <a:lvl8pPr indent="0" lvl="7" marL="0" marR="0" algn="r">
              <a:spcBef>
                <a:spcPts val="0"/>
              </a:spcBef>
              <a:spcAft>
                <a:spcPts val="0"/>
              </a:spcAft>
              <a:buClr>
                <a:schemeClr val="lt1"/>
              </a:buClr>
              <a:buSzPts val="1000"/>
              <a:buFont typeface="IBM Plex Sans"/>
              <a:buNone/>
              <a:defRPr b="0" i="0" sz="1000" u="none" cap="none" strike="noStrike">
                <a:solidFill>
                  <a:schemeClr val="lt1"/>
                </a:solidFill>
                <a:latin typeface="IBM Plex Sans"/>
                <a:ea typeface="IBM Plex Sans"/>
                <a:cs typeface="IBM Plex Sans"/>
                <a:sym typeface="IBM Plex Sans"/>
              </a:defRPr>
            </a:lvl8pPr>
            <a:lvl9pPr indent="0" lvl="8" marL="0" marR="0" algn="r">
              <a:spcBef>
                <a:spcPts val="0"/>
              </a:spcBef>
              <a:spcAft>
                <a:spcPts val="0"/>
              </a:spcAft>
              <a:buClr>
                <a:schemeClr val="lt1"/>
              </a:buClr>
              <a:buSzPts val="1000"/>
              <a:buFont typeface="IBM Plex Sans"/>
              <a:buNone/>
              <a:defRPr b="0" i="0" sz="10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idx="1" type="body"/>
          </p:nvPr>
        </p:nvSpPr>
        <p:spPr>
          <a:xfrm>
            <a:off x="518599" y="1015999"/>
            <a:ext cx="11165399" cy="5328073"/>
          </a:xfrm>
          <a:prstGeom prst="rect">
            <a:avLst/>
          </a:prstGeom>
          <a:noFill/>
          <a:ln>
            <a:noFill/>
          </a:ln>
        </p:spPr>
        <p:txBody>
          <a:bodyPr anchorCtr="0" anchor="t" bIns="0" lIns="0" spcFirstLastPara="1" rIns="0" wrap="square" tIns="0">
            <a:noAutofit/>
          </a:bodyPr>
          <a:lstStyle>
            <a:lvl1pPr indent="-285750" lvl="0" marL="4572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1pPr>
            <a:lvl2pPr indent="-285750" lvl="1" marL="9144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2pPr>
            <a:lvl3pPr indent="-285750" lvl="2" marL="13716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3pPr>
            <a:lvl4pPr indent="-285750" lvl="3" marL="18288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4pPr>
            <a:lvl5pPr indent="-285750" lvl="4" marL="22860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9pPr>
          </a:lstStyle>
          <a:p/>
        </p:txBody>
      </p:sp>
      <p:sp>
        <p:nvSpPr>
          <p:cNvPr id="11" name="Google Shape;11;p25"/>
          <p:cNvSpPr txBox="1"/>
          <p:nvPr>
            <p:ph idx="10" type="dt"/>
          </p:nvPr>
        </p:nvSpPr>
        <p:spPr>
          <a:xfrm>
            <a:off x="268800" y="6450239"/>
            <a:ext cx="2743200" cy="153888"/>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000"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2" name="Google Shape;12;p25"/>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SzPts val="1400"/>
              <a:buNone/>
              <a:defRPr b="1" i="0" sz="1000"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3" name="Google Shape;13;p25"/>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1000" u="none" cap="none" strike="noStrike">
                <a:solidFill>
                  <a:schemeClr val="dk2"/>
                </a:solidFill>
                <a:latin typeface="IBM Plex Sans"/>
                <a:ea typeface="IBM Plex Sans"/>
                <a:cs typeface="IBM Plex Sans"/>
                <a:sym typeface="IBM Plex Sans"/>
              </a:defRPr>
            </a:lvl1pPr>
            <a:lvl2pPr indent="0" lvl="1" marL="0" marR="0" rtl="0" algn="r">
              <a:spcBef>
                <a:spcPts val="0"/>
              </a:spcBef>
              <a:buNone/>
              <a:defRPr b="0" i="0" sz="1000" u="none" cap="none" strike="noStrike">
                <a:solidFill>
                  <a:schemeClr val="dk2"/>
                </a:solidFill>
                <a:latin typeface="IBM Plex Sans"/>
                <a:ea typeface="IBM Plex Sans"/>
                <a:cs typeface="IBM Plex Sans"/>
                <a:sym typeface="IBM Plex Sans"/>
              </a:defRPr>
            </a:lvl2pPr>
            <a:lvl3pPr indent="0" lvl="2" marL="0" marR="0" rtl="0" algn="r">
              <a:spcBef>
                <a:spcPts val="0"/>
              </a:spcBef>
              <a:buNone/>
              <a:defRPr b="0" i="0" sz="1000" u="none" cap="none" strike="noStrike">
                <a:solidFill>
                  <a:schemeClr val="dk2"/>
                </a:solidFill>
                <a:latin typeface="IBM Plex Sans"/>
                <a:ea typeface="IBM Plex Sans"/>
                <a:cs typeface="IBM Plex Sans"/>
                <a:sym typeface="IBM Plex Sans"/>
              </a:defRPr>
            </a:lvl3pPr>
            <a:lvl4pPr indent="0" lvl="3" marL="0" marR="0" rtl="0" algn="r">
              <a:spcBef>
                <a:spcPts val="0"/>
              </a:spcBef>
              <a:buNone/>
              <a:defRPr b="0" i="0" sz="1000" u="none" cap="none" strike="noStrike">
                <a:solidFill>
                  <a:schemeClr val="dk2"/>
                </a:solidFill>
                <a:latin typeface="IBM Plex Sans"/>
                <a:ea typeface="IBM Plex Sans"/>
                <a:cs typeface="IBM Plex Sans"/>
                <a:sym typeface="IBM Plex Sans"/>
              </a:defRPr>
            </a:lvl4pPr>
            <a:lvl5pPr indent="0" lvl="4" marL="0" marR="0" rtl="0" algn="r">
              <a:spcBef>
                <a:spcPts val="0"/>
              </a:spcBef>
              <a:buNone/>
              <a:defRPr b="0" i="0" sz="1000" u="none" cap="none" strike="noStrike">
                <a:solidFill>
                  <a:schemeClr val="dk2"/>
                </a:solidFill>
                <a:latin typeface="IBM Plex Sans"/>
                <a:ea typeface="IBM Plex Sans"/>
                <a:cs typeface="IBM Plex Sans"/>
                <a:sym typeface="IBM Plex Sans"/>
              </a:defRPr>
            </a:lvl5pPr>
            <a:lvl6pPr indent="0" lvl="5" marL="0" marR="0" rtl="0" algn="r">
              <a:spcBef>
                <a:spcPts val="0"/>
              </a:spcBef>
              <a:buNone/>
              <a:defRPr b="0" i="0" sz="1000" u="none" cap="none" strike="noStrike">
                <a:solidFill>
                  <a:schemeClr val="dk2"/>
                </a:solidFill>
                <a:latin typeface="IBM Plex Sans"/>
                <a:ea typeface="IBM Plex Sans"/>
                <a:cs typeface="IBM Plex Sans"/>
                <a:sym typeface="IBM Plex Sans"/>
              </a:defRPr>
            </a:lvl6pPr>
            <a:lvl7pPr indent="0" lvl="6" marL="0" marR="0" rtl="0" algn="r">
              <a:spcBef>
                <a:spcPts val="0"/>
              </a:spcBef>
              <a:buNone/>
              <a:defRPr b="0" i="0" sz="1000" u="none" cap="none" strike="noStrike">
                <a:solidFill>
                  <a:schemeClr val="dk2"/>
                </a:solidFill>
                <a:latin typeface="IBM Plex Sans"/>
                <a:ea typeface="IBM Plex Sans"/>
                <a:cs typeface="IBM Plex Sans"/>
                <a:sym typeface="IBM Plex Sans"/>
              </a:defRPr>
            </a:lvl7pPr>
            <a:lvl8pPr indent="0" lvl="7" marL="0" marR="0" rtl="0" algn="r">
              <a:spcBef>
                <a:spcPts val="0"/>
              </a:spcBef>
              <a:buNone/>
              <a:defRPr b="0" i="0" sz="1000" u="none" cap="none" strike="noStrike">
                <a:solidFill>
                  <a:schemeClr val="dk2"/>
                </a:solidFill>
                <a:latin typeface="IBM Plex Sans"/>
                <a:ea typeface="IBM Plex Sans"/>
                <a:cs typeface="IBM Plex Sans"/>
                <a:sym typeface="IBM Plex Sans"/>
              </a:defRPr>
            </a:lvl8pPr>
            <a:lvl9pPr indent="0" lvl="8" marL="0" marR="0" rtl="0" algn="r">
              <a:spcBef>
                <a:spcPts val="0"/>
              </a:spcBef>
              <a:buNone/>
              <a:defRPr b="0" i="0" sz="1000" u="none" cap="none" strike="noStrike">
                <a:solidFill>
                  <a:schemeClr val="dk2"/>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a-DK"/>
              <a:t>‹#›</a:t>
            </a:fld>
            <a:endParaRPr/>
          </a:p>
        </p:txBody>
      </p:sp>
      <p:sp>
        <p:nvSpPr>
          <p:cNvPr id="14" name="Google Shape;14;p25"/>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chemeClr val="dk2"/>
              </a:buClr>
              <a:buSzPts val="1800"/>
              <a:buFont typeface="IBM Plex Sans"/>
              <a:buNone/>
              <a:defRPr b="1" i="0" sz="1800" u="none" cap="none" strike="noStrike">
                <a:solidFill>
                  <a:schemeClr val="dk2"/>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7680">
          <p15:clr>
            <a:srgbClr val="F26B43"/>
          </p15:clr>
        </p15:guide>
        <p15:guide id="3" pos="320">
          <p15:clr>
            <a:srgbClr val="F26B43"/>
          </p15:clr>
        </p15:guide>
        <p15:guide id="4" pos="2533">
          <p15:clr>
            <a:srgbClr val="F26B43"/>
          </p15:clr>
        </p15:guide>
        <p15:guide id="5" pos="2733">
          <p15:clr>
            <a:srgbClr val="F26B43"/>
          </p15:clr>
        </p15:guide>
        <p15:guide id="6" pos="4946">
          <p15:clr>
            <a:srgbClr val="F26B43"/>
          </p15:clr>
        </p15:guide>
        <p15:guide id="7" pos="5146">
          <p15:clr>
            <a:srgbClr val="F26B43"/>
          </p15:clr>
        </p15:guide>
        <p15:guide id="8" pos="7360">
          <p15:clr>
            <a:srgbClr val="F26B43"/>
          </p15:clr>
        </p15:guide>
        <p15:guide id="9" orient="horz">
          <p15:clr>
            <a:srgbClr val="F26B43"/>
          </p15:clr>
        </p15:guide>
        <p15:guide id="10" orient="horz" pos="4320">
          <p15:clr>
            <a:srgbClr val="F26B43"/>
          </p15:clr>
        </p15:guide>
        <p15:guide id="11" orient="horz" pos="320">
          <p15:clr>
            <a:srgbClr val="F26B43"/>
          </p15:clr>
        </p15:guide>
        <p15:guide id="12" orient="horz" pos="4000">
          <p15:clr>
            <a:srgbClr val="F26B43"/>
          </p15:clr>
        </p15:guide>
        <p15:guide id="13" orient="horz" pos="6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 name="Shape 41"/>
        <p:cNvGrpSpPr/>
        <p:nvPr/>
      </p:nvGrpSpPr>
      <p:grpSpPr>
        <a:xfrm>
          <a:off x="0" y="0"/>
          <a:ext cx="0" cy="0"/>
          <a:chOff x="0" y="0"/>
          <a:chExt cx="0" cy="0"/>
        </a:xfrm>
      </p:grpSpPr>
      <p:sp>
        <p:nvSpPr>
          <p:cNvPr id="42" name="Google Shape;42;p31"/>
          <p:cNvSpPr txBox="1"/>
          <p:nvPr>
            <p:ph idx="1" type="body"/>
          </p:nvPr>
        </p:nvSpPr>
        <p:spPr>
          <a:xfrm>
            <a:off x="518599" y="1015999"/>
            <a:ext cx="11165400" cy="5328000"/>
          </a:xfrm>
          <a:prstGeom prst="rect">
            <a:avLst/>
          </a:prstGeom>
          <a:noFill/>
          <a:ln>
            <a:noFill/>
          </a:ln>
        </p:spPr>
        <p:txBody>
          <a:bodyPr anchorCtr="0" anchor="t" bIns="0" lIns="0" spcFirstLastPara="1" rIns="0" wrap="square" tIns="0">
            <a:noAutofit/>
          </a:bodyPr>
          <a:lstStyle>
            <a:lvl1pPr indent="-285750" lvl="0" marL="4572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1pPr>
            <a:lvl2pPr indent="-285750" lvl="1" marL="9144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2pPr>
            <a:lvl3pPr indent="-285750" lvl="2" marL="13716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3pPr>
            <a:lvl4pPr indent="-285750" lvl="3" marL="18288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4pPr>
            <a:lvl5pPr indent="-285750" lvl="4" marL="22860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9pPr>
          </a:lstStyle>
          <a:p/>
        </p:txBody>
      </p:sp>
      <p:sp>
        <p:nvSpPr>
          <p:cNvPr id="43" name="Google Shape;43;p31"/>
          <p:cNvSpPr txBox="1"/>
          <p:nvPr>
            <p:ph idx="10" type="dt"/>
          </p:nvPr>
        </p:nvSpPr>
        <p:spPr>
          <a:xfrm>
            <a:off x="268800" y="6450239"/>
            <a:ext cx="2743200" cy="1539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Clr>
                <a:srgbClr val="5F7D69"/>
              </a:buClr>
              <a:buSzPts val="1400"/>
              <a:buFont typeface="IBM Plex Sans"/>
              <a:buNone/>
              <a:defRPr b="0" i="0" sz="1000"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9pPr>
          </a:lstStyle>
          <a:p/>
        </p:txBody>
      </p:sp>
      <p:sp>
        <p:nvSpPr>
          <p:cNvPr id="44" name="Google Shape;44;p31"/>
          <p:cNvSpPr txBox="1"/>
          <p:nvPr>
            <p:ph idx="11" type="ftr"/>
          </p:nvPr>
        </p:nvSpPr>
        <p:spPr>
          <a:xfrm>
            <a:off x="8280504" y="224972"/>
            <a:ext cx="3642600" cy="15390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5F7D69"/>
              </a:buClr>
              <a:buSzPts val="1400"/>
              <a:buFont typeface="IBM Plex Sans"/>
              <a:buNone/>
              <a:defRPr b="1" i="0" sz="1000"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Clr>
                <a:schemeClr val="dk1"/>
              </a:buClr>
              <a:buSzPts val="1400"/>
              <a:buFont typeface="IBM Plex Sans"/>
              <a:buNone/>
              <a:defRPr b="0" i="0" sz="1800" u="none" cap="none" strike="noStrike">
                <a:solidFill>
                  <a:schemeClr val="dk1"/>
                </a:solidFill>
                <a:latin typeface="IBM Plex Sans"/>
                <a:ea typeface="IBM Plex Sans"/>
                <a:cs typeface="IBM Plex Sans"/>
                <a:sym typeface="IBM Plex Sans"/>
              </a:defRPr>
            </a:lvl9pPr>
          </a:lstStyle>
          <a:p/>
        </p:txBody>
      </p:sp>
      <p:sp>
        <p:nvSpPr>
          <p:cNvPr id="45" name="Google Shape;45;p31"/>
          <p:cNvSpPr txBox="1"/>
          <p:nvPr>
            <p:ph idx="12" type="sldNum"/>
          </p:nvPr>
        </p:nvSpPr>
        <p:spPr>
          <a:xfrm>
            <a:off x="9180000" y="6450239"/>
            <a:ext cx="2743200" cy="1539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1pPr>
            <a:lvl2pPr indent="0" lvl="1" marL="0" marR="0" rtl="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2pPr>
            <a:lvl3pPr indent="0" lvl="2" marL="0" marR="0" rtl="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3pPr>
            <a:lvl4pPr indent="0" lvl="3" marL="0" marR="0" rtl="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4pPr>
            <a:lvl5pPr indent="0" lvl="4" marL="0" marR="0" rtl="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5pPr>
            <a:lvl6pPr indent="0" lvl="5" marL="0" marR="0" rtl="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6pPr>
            <a:lvl7pPr indent="0" lvl="6" marL="0" marR="0" rtl="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7pPr>
            <a:lvl8pPr indent="0" lvl="7" marL="0" marR="0" rtl="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8pPr>
            <a:lvl9pPr indent="0" lvl="8" marL="0" marR="0" rtl="0" algn="r">
              <a:spcBef>
                <a:spcPts val="0"/>
              </a:spcBef>
              <a:spcAft>
                <a:spcPts val="0"/>
              </a:spcAft>
              <a:buClr>
                <a:schemeClr val="dk2"/>
              </a:buClr>
              <a:buSzPts val="1000"/>
              <a:buFont typeface="IBM Plex Sans"/>
              <a:buNone/>
              <a:defRPr b="0" i="0" sz="1000" u="none" cap="none" strike="noStrike">
                <a:solidFill>
                  <a:schemeClr val="dk2"/>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a-DK"/>
              <a:t>‹#›</a:t>
            </a:fld>
            <a:endParaRPr/>
          </a:p>
        </p:txBody>
      </p:sp>
      <p:sp>
        <p:nvSpPr>
          <p:cNvPr id="46" name="Google Shape;46;p31"/>
          <p:cNvSpPr txBox="1"/>
          <p:nvPr>
            <p:ph type="title"/>
          </p:nvPr>
        </p:nvSpPr>
        <p:spPr>
          <a:xfrm>
            <a:off x="518600" y="513927"/>
            <a:ext cx="11165400" cy="249300"/>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chemeClr val="dk2"/>
              </a:buClr>
              <a:buSzPts val="1800"/>
              <a:buFont typeface="IBM Plex Sans"/>
              <a:buNone/>
              <a:defRPr b="1" i="0" sz="1800" u="none" cap="none" strike="noStrike">
                <a:solidFill>
                  <a:schemeClr val="dk2"/>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7680">
          <p15:clr>
            <a:srgbClr val="F26B43"/>
          </p15:clr>
        </p15:guide>
        <p15:guide id="3" pos="320">
          <p15:clr>
            <a:srgbClr val="F26B43"/>
          </p15:clr>
        </p15:guide>
        <p15:guide id="4" pos="2533">
          <p15:clr>
            <a:srgbClr val="F26B43"/>
          </p15:clr>
        </p15:guide>
        <p15:guide id="5" pos="2733">
          <p15:clr>
            <a:srgbClr val="F26B43"/>
          </p15:clr>
        </p15:guide>
        <p15:guide id="6" pos="4946">
          <p15:clr>
            <a:srgbClr val="F26B43"/>
          </p15:clr>
        </p15:guide>
        <p15:guide id="7" pos="5146">
          <p15:clr>
            <a:srgbClr val="F26B43"/>
          </p15:clr>
        </p15:guide>
        <p15:guide id="8" pos="7360">
          <p15:clr>
            <a:srgbClr val="F26B43"/>
          </p15:clr>
        </p15:guide>
        <p15:guide id="9" orient="horz">
          <p15:clr>
            <a:srgbClr val="F26B43"/>
          </p15:clr>
        </p15:guide>
        <p15:guide id="10" orient="horz" pos="4320">
          <p15:clr>
            <a:srgbClr val="F26B43"/>
          </p15:clr>
        </p15:guide>
        <p15:guide id="11" orient="horz" pos="320">
          <p15:clr>
            <a:srgbClr val="F26B43"/>
          </p15:clr>
        </p15:guide>
        <p15:guide id="12" orient="horz" pos="4000">
          <p15:clr>
            <a:srgbClr val="F26B43"/>
          </p15:clr>
        </p15:guide>
        <p15:guide id="13" orient="horz" pos="6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virksomhedsguiden.dk/content/temaer/baeredygtig-omstilling/ydelser/esg-opgoerelse-saadan-indsamler-og-opgoer-du-dine-data/7115a9ee-5891-46ac-b655-b9ba9258f7d9/" TargetMode="External"/><Relationship Id="rId4" Type="http://schemas.openxmlformats.org/officeDocument/2006/relationships/hyperlink" Target="https://virksomhedsguiden.dk/content/temaer/baeredygtig-omstilling/ydelser/esg-opgoerelse-saadan-indsamler-og-opgoer-du-dine-data/7115a9ee-5891-46ac-b655-b9ba9258f7d9/" TargetMode="External"/><Relationship Id="rId5" Type="http://schemas.openxmlformats.org/officeDocument/2006/relationships/hyperlink" Target="https://virksomhedsguiden.dk/content/temaer/baeredygtig-omstilling/ydelser/frivillig-standard-for-smvers-baeredygtighedsrapportering/768cdd80-f1ee-40e6-a620-19bc1742e2eb/" TargetMode="External"/><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23.png"/><Relationship Id="rId11" Type="http://schemas.openxmlformats.org/officeDocument/2006/relationships/image" Target="../media/image12.png"/><Relationship Id="rId10" Type="http://schemas.openxmlformats.org/officeDocument/2006/relationships/image" Target="../media/image10.png"/><Relationship Id="rId9" Type="http://schemas.openxmlformats.org/officeDocument/2006/relationships/hyperlink" Target="https://mst.dk/erhverv/groen-produktion-og-affald/groen-virksomhed/miljoeledelse/emas" TargetMode="External"/><Relationship Id="rId5" Type="http://schemas.openxmlformats.org/officeDocument/2006/relationships/hyperlink" Target="https://virksomhedsguiden.dk/content/ydelser/klimakompasset/a193cadc-ab0d-4161-a8cc-272f046acd38/" TargetMode="External"/><Relationship Id="rId6" Type="http://schemas.openxmlformats.org/officeDocument/2006/relationships/hyperlink" Target="https://virksomhedsguiden.dk/content/temaer/baeredygtig-omstilling/ydelser/hvordan-laver-du-et-klimaregnskab/748c2a94-627c-48b1-ad68-b3ef980162a9/" TargetMode="External"/><Relationship Id="rId7" Type="http://schemas.openxmlformats.org/officeDocument/2006/relationships/image" Target="../media/image22.png"/><Relationship Id="rId8" Type="http://schemas.openxmlformats.org/officeDocument/2006/relationships/image" Target="../media/image27.png"/></Relationships>
</file>

<file path=ppt/slides/_rels/slide21.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hyperlink" Target="https://eur-lex.europa.eu/legal-content/DA/TXT/PDF/?uri=CELEX:32018R2026" TargetMode="External"/><Relationship Id="rId13" Type="http://schemas.openxmlformats.org/officeDocument/2006/relationships/image" Target="../media/image8.png"/><Relationship Id="rId12" Type="http://schemas.openxmlformats.org/officeDocument/2006/relationships/image" Target="../media/image22.png"/><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3.png"/><Relationship Id="rId4" Type="http://schemas.openxmlformats.org/officeDocument/2006/relationships/hyperlink" Target="https://miljoegis.mim.dk/spatialmap?mapheight=833&amp;mapwidth=1925&amp;label=&amp;ignorefavorite=true&amp;profile=miljoegis-natura2000&amp;selectorgroups=Natura2000&amp;layers=theme-dtk_skaermkort_daempet_daf+theme-pg-natura_2000_omraader&amp;opacities=1+1&amp;mapext=204314.04810802249+6086627.673662573+1019279.2748968867+6438081.42771527&amp;maprotation=" TargetMode="External"/><Relationship Id="rId9" Type="http://schemas.openxmlformats.org/officeDocument/2006/relationships/hyperlink" Target="https://whc.unesco.org/en/list/" TargetMode="External"/><Relationship Id="rId5" Type="http://schemas.openxmlformats.org/officeDocument/2006/relationships/hyperlink" Target="https://natura2000.eea.europa.eu/" TargetMode="External"/><Relationship Id="rId6" Type="http://schemas.openxmlformats.org/officeDocument/2006/relationships/hyperlink" Target="https://mst.dk/erhverv/rig-natur/naturindsatser/natura-2000" TargetMode="External"/><Relationship Id="rId7" Type="http://schemas.openxmlformats.org/officeDocument/2006/relationships/hyperlink" Target="https://natura2000.eea.europa.eu/" TargetMode="External"/><Relationship Id="rId8" Type="http://schemas.openxmlformats.org/officeDocument/2006/relationships/hyperlink" Target="https://www.keybiodiversityareas.org/sites/search"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hyperlink" Target="https://www.wri.org/applications/aqueduct/water-risk-atlas/#/?advanced=false&amp;basemap=hydro&amp;indicator=w_awr_def_tot_cat&amp;lat=56.36525013685609&amp;lng=34.27734375000001&amp;mapMode=view&amp;month=1&amp;opacity=0.5&amp;ponderation=DEF&amp;predefined=false&amp;projection=absolute&amp;scenario=optimistic&amp;scope=baseline&amp;threshold&amp;timeScale=annual&amp;year=baseline&amp;zoom=3" TargetMode="External"/><Relationship Id="rId4" Type="http://schemas.openxmlformats.org/officeDocument/2006/relationships/image" Target="../media/image27.png"/><Relationship Id="rId9" Type="http://schemas.openxmlformats.org/officeDocument/2006/relationships/image" Target="../media/image15.png"/><Relationship Id="rId5" Type="http://schemas.openxmlformats.org/officeDocument/2006/relationships/image" Target="../media/image23.png"/><Relationship Id="rId6" Type="http://schemas.openxmlformats.org/officeDocument/2006/relationships/image" Target="../media/image22.png"/><Relationship Id="rId7" Type="http://schemas.openxmlformats.org/officeDocument/2006/relationships/hyperlink" Target="https://virksomhedsguiden.dk/content/temaer/baeredygtig-omstilling/ydelser/miljoe-og-klima/cc961752-3bfc-4610-92f4-d96e9964c6d1/#7c4cf5a3-e612-c3d7-b9ff-55cd55717c82" TargetMode="External"/><Relationship Id="rId8"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hyperlink" Target="https://at.dk/arbejdsmiljoe/arbejdsulykker/hvad-er-en-arbejdsulykke/" TargetMode="External"/><Relationship Id="rId5" Type="http://schemas.openxmlformats.org/officeDocument/2006/relationships/image" Target="../media/image27.png"/><Relationship Id="rId6" Type="http://schemas.openxmlformats.org/officeDocument/2006/relationships/image" Target="../media/image22.png"/><Relationship Id="rId7" Type="http://schemas.openxmlformats.org/officeDocument/2006/relationships/image" Target="../media/image25.png"/><Relationship Id="rId8"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3.png"/><Relationship Id="rId4" Type="http://schemas.openxmlformats.org/officeDocument/2006/relationships/image" Target="../media/image25.png"/><Relationship Id="rId5"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77" name="Shape 77"/>
        <p:cNvGrpSpPr/>
        <p:nvPr/>
      </p:nvGrpSpPr>
      <p:grpSpPr>
        <a:xfrm>
          <a:off x="0" y="0"/>
          <a:ext cx="0" cy="0"/>
          <a:chOff x="0" y="0"/>
          <a:chExt cx="0" cy="0"/>
        </a:xfrm>
      </p:grpSpPr>
      <p:sp>
        <p:nvSpPr>
          <p:cNvPr id="78" name="Google Shape;78;p1"/>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Om denne ESG-skabelon</a:t>
            </a:r>
            <a:endParaRPr/>
          </a:p>
        </p:txBody>
      </p:sp>
      <p:sp>
        <p:nvSpPr>
          <p:cNvPr id="79" name="Google Shape;79;p1"/>
          <p:cNvSpPr txBox="1"/>
          <p:nvPr>
            <p:ph idx="1" type="body"/>
          </p:nvPr>
        </p:nvSpPr>
        <p:spPr>
          <a:xfrm>
            <a:off x="508000" y="997712"/>
            <a:ext cx="3513138" cy="5327650"/>
          </a:xfrm>
          <a:prstGeom prst="rect">
            <a:avLst/>
          </a:prstGeom>
          <a:noFill/>
          <a:ln>
            <a:noFill/>
          </a:ln>
        </p:spPr>
        <p:txBody>
          <a:bodyPr anchorCtr="0" anchor="t" bIns="0" lIns="0" spcFirstLastPara="1" rIns="0" wrap="square" tIns="0">
            <a:noAutofit/>
          </a:bodyPr>
          <a:lstStyle/>
          <a:p>
            <a:pPr indent="0" lvl="0" marL="0" rtl="0" algn="l">
              <a:lnSpc>
                <a:spcPct val="106000"/>
              </a:lnSpc>
              <a:spcBef>
                <a:spcPts val="0"/>
              </a:spcBef>
              <a:spcAft>
                <a:spcPts val="0"/>
              </a:spcAft>
              <a:buClr>
                <a:schemeClr val="dk2"/>
              </a:buClr>
              <a:buSzPts val="1000"/>
              <a:buNone/>
            </a:pPr>
            <a:r>
              <a:rPr b="1" lang="da-DK" sz="1000"/>
              <a:t>SMV’ers basale ESG-oplysninger</a:t>
            </a:r>
            <a:r>
              <a:rPr lang="da-DK" sz="1000"/>
              <a:t> </a:t>
            </a:r>
            <a:endParaRPr/>
          </a:p>
          <a:p>
            <a:pPr indent="0" lvl="0" marL="0" rtl="0" algn="l">
              <a:lnSpc>
                <a:spcPct val="106000"/>
              </a:lnSpc>
              <a:spcBef>
                <a:spcPts val="600"/>
              </a:spcBef>
              <a:spcAft>
                <a:spcPts val="0"/>
              </a:spcAft>
              <a:buClr>
                <a:schemeClr val="dk2"/>
              </a:buClr>
              <a:buSzPts val="900"/>
              <a:buNone/>
            </a:pPr>
            <a:r>
              <a:rPr lang="da-DK"/>
              <a:t>Denne ESG-skabelon er udviklet af Erhvervsstyrelsen og er målrettet små og mellemstore virksomheder, der ikke er omfattet af lovkravene til bæredygtighedsrapportering, men som frivilligt kan vælge at dokumentere deres bæredygtighed. </a:t>
            </a:r>
            <a:endParaRPr/>
          </a:p>
          <a:p>
            <a:pPr indent="0" lvl="0" marL="0" rtl="0" algn="l">
              <a:lnSpc>
                <a:spcPct val="106000"/>
              </a:lnSpc>
              <a:spcBef>
                <a:spcPts val="0"/>
              </a:spcBef>
              <a:spcAft>
                <a:spcPts val="0"/>
              </a:spcAft>
              <a:buClr>
                <a:schemeClr val="dk2"/>
              </a:buClr>
              <a:buSzPts val="900"/>
              <a:buNone/>
            </a:pPr>
            <a:r>
              <a:rPr lang="da-DK"/>
              <a:t> </a:t>
            </a:r>
            <a:endParaRPr/>
          </a:p>
          <a:p>
            <a:pPr indent="0" lvl="0" marL="0" rtl="0" algn="l">
              <a:lnSpc>
                <a:spcPct val="106000"/>
              </a:lnSpc>
              <a:spcBef>
                <a:spcPts val="0"/>
              </a:spcBef>
              <a:spcAft>
                <a:spcPts val="0"/>
              </a:spcAft>
              <a:buClr>
                <a:schemeClr val="dk2"/>
              </a:buClr>
              <a:buSzPts val="900"/>
              <a:buNone/>
            </a:pPr>
            <a:r>
              <a:rPr lang="da-DK"/>
              <a:t>Skabelonen afspejler oplysningspunkterne i den fælleseuropæiske </a:t>
            </a:r>
            <a:r>
              <a:rPr b="1" lang="da-DK" u="sng"/>
              <a:t>frivillige</a:t>
            </a:r>
            <a:r>
              <a:rPr lang="da-DK"/>
              <a:t> standard for SMV’ers bæredygtighedsrapportering (VSME), der indeholder de mest efterspurgte ESG-oplysningspunkter på tværs af virksomheder. </a:t>
            </a:r>
            <a:endParaRPr/>
          </a:p>
          <a:p>
            <a:pPr indent="0" lvl="0" marL="0" rtl="0" algn="l">
              <a:lnSpc>
                <a:spcPct val="106000"/>
              </a:lnSpc>
              <a:spcBef>
                <a:spcPts val="0"/>
              </a:spcBef>
              <a:spcAft>
                <a:spcPts val="0"/>
              </a:spcAft>
              <a:buClr>
                <a:schemeClr val="dk2"/>
              </a:buClr>
              <a:buSzPts val="900"/>
              <a:buNone/>
            </a:pPr>
            <a:r>
              <a:t/>
            </a:r>
            <a:endParaRPr/>
          </a:p>
          <a:p>
            <a:pPr indent="0" lvl="0" marL="0" rtl="0" algn="l">
              <a:lnSpc>
                <a:spcPct val="106000"/>
              </a:lnSpc>
              <a:spcBef>
                <a:spcPts val="0"/>
              </a:spcBef>
              <a:spcAft>
                <a:spcPts val="0"/>
              </a:spcAft>
              <a:buClr>
                <a:schemeClr val="dk2"/>
              </a:buClr>
              <a:buSzPts val="900"/>
              <a:buNone/>
            </a:pPr>
            <a:r>
              <a:rPr lang="da-DK"/>
              <a:t>Den frivillige standard er opdelt i et ”Basismodul” og et ”Udvidet Modul”. Du kan se en oversigt over oplysningspunkterne i de to moduler på de næste sider.</a:t>
            </a:r>
            <a:endParaRPr/>
          </a:p>
          <a:p>
            <a:pPr indent="0" lvl="0" marL="0" rtl="0" algn="l">
              <a:lnSpc>
                <a:spcPct val="106000"/>
              </a:lnSpc>
              <a:spcBef>
                <a:spcPts val="0"/>
              </a:spcBef>
              <a:spcAft>
                <a:spcPts val="0"/>
              </a:spcAft>
              <a:buClr>
                <a:schemeClr val="dk2"/>
              </a:buClr>
              <a:buSzPts val="900"/>
              <a:buNone/>
            </a:pPr>
            <a:r>
              <a:t/>
            </a:r>
            <a:endParaRPr b="1"/>
          </a:p>
          <a:p>
            <a:pPr indent="0" lvl="0" marL="0" rtl="0" algn="l">
              <a:lnSpc>
                <a:spcPct val="106000"/>
              </a:lnSpc>
              <a:spcBef>
                <a:spcPts val="0"/>
              </a:spcBef>
              <a:spcAft>
                <a:spcPts val="0"/>
              </a:spcAft>
              <a:buClr>
                <a:schemeClr val="dk2"/>
              </a:buClr>
              <a:buSzPts val="1000"/>
              <a:buNone/>
            </a:pPr>
            <a:r>
              <a:rPr b="1" lang="da-DK" sz="1000"/>
              <a:t>Et godt råd til at komme i gang</a:t>
            </a:r>
            <a:endParaRPr/>
          </a:p>
          <a:p>
            <a:pPr indent="0" lvl="0" marL="0" rtl="0" algn="l">
              <a:lnSpc>
                <a:spcPct val="106000"/>
              </a:lnSpc>
              <a:spcBef>
                <a:spcPts val="600"/>
              </a:spcBef>
              <a:spcAft>
                <a:spcPts val="0"/>
              </a:spcAft>
              <a:buClr>
                <a:schemeClr val="dk2"/>
              </a:buClr>
              <a:buSzPts val="900"/>
              <a:buNone/>
            </a:pPr>
            <a:r>
              <a:rPr lang="da-DK"/>
              <a:t>Når du skal lave din ESG-opgørelse, er det er ikke altid muligt at indsamle alle data. Det behøver ikke at være perfekt. Det vigtigste er at komme i gang, der hvor det giver størst mulig forretningsmæssig værdi for netop din virksomhed. </a:t>
            </a:r>
            <a:endParaRPr/>
          </a:p>
          <a:p>
            <a:pPr indent="0" lvl="0" marL="0" rtl="0" algn="l">
              <a:lnSpc>
                <a:spcPct val="106000"/>
              </a:lnSpc>
              <a:spcBef>
                <a:spcPts val="0"/>
              </a:spcBef>
              <a:spcAft>
                <a:spcPts val="0"/>
              </a:spcAft>
              <a:buClr>
                <a:schemeClr val="dk2"/>
              </a:buClr>
              <a:buSzPts val="900"/>
              <a:buNone/>
            </a:pPr>
            <a:r>
              <a:t/>
            </a:r>
            <a:endParaRPr/>
          </a:p>
          <a:p>
            <a:pPr indent="0" lvl="0" marL="0" rtl="0" algn="l">
              <a:lnSpc>
                <a:spcPct val="106000"/>
              </a:lnSpc>
              <a:spcBef>
                <a:spcPts val="0"/>
              </a:spcBef>
              <a:spcAft>
                <a:spcPts val="0"/>
              </a:spcAft>
              <a:buClr>
                <a:schemeClr val="dk2"/>
              </a:buClr>
              <a:buSzPts val="900"/>
              <a:buNone/>
            </a:pPr>
            <a:r>
              <a:rPr lang="da-DK"/>
              <a:t>Du kan med fordel være åben om din proces med opgørelse af ESG-data overfor dine samarbejdspartnere, som efterspørger ESG-oplysninger om din virksomhed.</a:t>
            </a:r>
            <a:endParaRPr/>
          </a:p>
          <a:p>
            <a:pPr indent="0" lvl="0" marL="0" rtl="0" algn="l">
              <a:lnSpc>
                <a:spcPct val="106000"/>
              </a:lnSpc>
              <a:spcBef>
                <a:spcPts val="0"/>
              </a:spcBef>
              <a:spcAft>
                <a:spcPts val="0"/>
              </a:spcAft>
              <a:buClr>
                <a:schemeClr val="dk2"/>
              </a:buClr>
              <a:buSzPts val="900"/>
              <a:buNone/>
            </a:pPr>
            <a:r>
              <a:t/>
            </a:r>
            <a:endParaRPr/>
          </a:p>
          <a:p>
            <a:pPr indent="0" lvl="0" marL="0" rtl="0" algn="l">
              <a:lnSpc>
                <a:spcPct val="106000"/>
              </a:lnSpc>
              <a:spcBef>
                <a:spcPts val="0"/>
              </a:spcBef>
              <a:spcAft>
                <a:spcPts val="0"/>
              </a:spcAft>
              <a:buClr>
                <a:schemeClr val="dk2"/>
              </a:buClr>
              <a:buSzPts val="900"/>
              <a:buNone/>
            </a:pPr>
            <a:r>
              <a:rPr lang="da-DK"/>
              <a:t>Vær opmærksom på, at skabelonen kun er vejledende. Du har </a:t>
            </a:r>
            <a:br>
              <a:rPr lang="da-DK"/>
            </a:br>
            <a:r>
              <a:rPr lang="da-DK"/>
              <a:t>som virksomhed selv ansvar for dine data og øvrige oplysninger i skabelonen. </a:t>
            </a:r>
            <a:endParaRPr/>
          </a:p>
          <a:p>
            <a:pPr indent="0" lvl="0" marL="0" rtl="0" algn="l">
              <a:lnSpc>
                <a:spcPct val="106000"/>
              </a:lnSpc>
              <a:spcBef>
                <a:spcPts val="0"/>
              </a:spcBef>
              <a:spcAft>
                <a:spcPts val="0"/>
              </a:spcAft>
              <a:buClr>
                <a:schemeClr val="dk2"/>
              </a:buClr>
              <a:buSzPts val="900"/>
              <a:buNone/>
            </a:pPr>
            <a:r>
              <a:t/>
            </a:r>
            <a:endParaRPr u="sng">
              <a:solidFill>
                <a:schemeClr val="hlink"/>
              </a:solidFill>
              <a:hlinkClick r:id="rId3"/>
            </a:endParaRPr>
          </a:p>
          <a:p>
            <a:pPr indent="0" lvl="0" marL="0" rtl="0" algn="l">
              <a:lnSpc>
                <a:spcPct val="106000"/>
              </a:lnSpc>
              <a:spcBef>
                <a:spcPts val="0"/>
              </a:spcBef>
              <a:spcAft>
                <a:spcPts val="0"/>
              </a:spcAft>
              <a:buClr>
                <a:schemeClr val="dk2"/>
              </a:buClr>
              <a:buSzPts val="900"/>
              <a:buNone/>
            </a:pPr>
            <a:r>
              <a:rPr lang="da-DK" u="sng">
                <a:solidFill>
                  <a:schemeClr val="hlink"/>
                </a:solidFill>
                <a:hlinkClick r:id="rId4"/>
              </a:rPr>
              <a:t>Find hjælp til dit arbejde med ESG-opgørelse på Virksomhedsguiden</a:t>
            </a:r>
            <a:endParaRPr/>
          </a:p>
          <a:p>
            <a:pPr indent="0" lvl="0" marL="0" rtl="0" algn="l">
              <a:lnSpc>
                <a:spcPct val="106000"/>
              </a:lnSpc>
              <a:spcBef>
                <a:spcPts val="0"/>
              </a:spcBef>
              <a:spcAft>
                <a:spcPts val="0"/>
              </a:spcAft>
              <a:buClr>
                <a:schemeClr val="dk2"/>
              </a:buClr>
              <a:buSzPts val="900"/>
              <a:buNone/>
            </a:pPr>
            <a:r>
              <a:t/>
            </a:r>
            <a:endParaRPr/>
          </a:p>
          <a:p>
            <a:pPr indent="0" lvl="0" marL="0" rtl="0" algn="l">
              <a:lnSpc>
                <a:spcPct val="106000"/>
              </a:lnSpc>
              <a:spcBef>
                <a:spcPts val="0"/>
              </a:spcBef>
              <a:spcAft>
                <a:spcPts val="0"/>
              </a:spcAft>
              <a:buClr>
                <a:schemeClr val="dk2"/>
              </a:buClr>
              <a:buSzPts val="900"/>
              <a:buNone/>
            </a:pPr>
            <a:r>
              <a:t/>
            </a:r>
            <a:endParaRPr/>
          </a:p>
          <a:p>
            <a:pPr indent="0" lvl="0" marL="0" rtl="0" algn="l">
              <a:lnSpc>
                <a:spcPct val="106000"/>
              </a:lnSpc>
              <a:spcBef>
                <a:spcPts val="0"/>
              </a:spcBef>
              <a:spcAft>
                <a:spcPts val="0"/>
              </a:spcAft>
              <a:buClr>
                <a:schemeClr val="dk2"/>
              </a:buClr>
              <a:buSzPts val="900"/>
              <a:buNone/>
            </a:pPr>
            <a:r>
              <a:t/>
            </a:r>
            <a:endParaRPr/>
          </a:p>
          <a:p>
            <a:pPr indent="0" lvl="0" marL="0" rtl="0" algn="l">
              <a:lnSpc>
                <a:spcPct val="106000"/>
              </a:lnSpc>
              <a:spcBef>
                <a:spcPts val="0"/>
              </a:spcBef>
              <a:spcAft>
                <a:spcPts val="0"/>
              </a:spcAft>
              <a:buClr>
                <a:schemeClr val="dk2"/>
              </a:buClr>
              <a:buSzPts val="900"/>
              <a:buNone/>
            </a:pPr>
            <a:r>
              <a:t/>
            </a:r>
            <a:endParaRPr b="1"/>
          </a:p>
          <a:p>
            <a:pPr indent="0" lvl="0" marL="0" rtl="0" algn="l">
              <a:lnSpc>
                <a:spcPct val="106000"/>
              </a:lnSpc>
              <a:spcBef>
                <a:spcPts val="0"/>
              </a:spcBef>
              <a:spcAft>
                <a:spcPts val="0"/>
              </a:spcAft>
              <a:buClr>
                <a:schemeClr val="dk2"/>
              </a:buClr>
              <a:buSzPts val="900"/>
              <a:buNone/>
            </a:pPr>
            <a:r>
              <a:t/>
            </a:r>
            <a:endParaRPr b="1"/>
          </a:p>
          <a:p>
            <a:pPr indent="0" lvl="0" marL="0" rtl="0" algn="l">
              <a:lnSpc>
                <a:spcPct val="106000"/>
              </a:lnSpc>
              <a:spcBef>
                <a:spcPts val="0"/>
              </a:spcBef>
              <a:spcAft>
                <a:spcPts val="0"/>
              </a:spcAft>
              <a:buClr>
                <a:schemeClr val="dk2"/>
              </a:buClr>
              <a:buSzPts val="900"/>
              <a:buNone/>
            </a:pPr>
            <a:r>
              <a:t/>
            </a:r>
            <a:endParaRPr/>
          </a:p>
          <a:p>
            <a:pPr indent="0" lvl="0" marL="0" rtl="0" algn="l">
              <a:lnSpc>
                <a:spcPct val="106000"/>
              </a:lnSpc>
              <a:spcBef>
                <a:spcPts val="0"/>
              </a:spcBef>
              <a:spcAft>
                <a:spcPts val="0"/>
              </a:spcAft>
              <a:buClr>
                <a:schemeClr val="dk2"/>
              </a:buClr>
              <a:buSzPts val="900"/>
              <a:buNone/>
            </a:pPr>
            <a:r>
              <a:rPr lang="da-DK"/>
              <a:t> </a:t>
            </a:r>
            <a:endParaRPr/>
          </a:p>
        </p:txBody>
      </p:sp>
      <p:sp>
        <p:nvSpPr>
          <p:cNvPr id="80" name="Google Shape;80;p1"/>
          <p:cNvSpPr txBox="1"/>
          <p:nvPr>
            <p:ph idx="2" type="body"/>
          </p:nvPr>
        </p:nvSpPr>
        <p:spPr>
          <a:xfrm>
            <a:off x="4338638" y="1015683"/>
            <a:ext cx="3513137" cy="5328284"/>
          </a:xfrm>
          <a:prstGeom prst="rect">
            <a:avLst/>
          </a:prstGeom>
          <a:noFill/>
          <a:ln>
            <a:noFill/>
          </a:ln>
        </p:spPr>
        <p:txBody>
          <a:bodyPr anchorCtr="0" anchor="t" bIns="0" lIns="0" spcFirstLastPara="1" rIns="0" wrap="square" tIns="0">
            <a:noAutofit/>
          </a:bodyPr>
          <a:lstStyle/>
          <a:p>
            <a:pPr indent="0" lvl="0" marL="0" rtl="0" algn="l">
              <a:lnSpc>
                <a:spcPct val="106000"/>
              </a:lnSpc>
              <a:spcBef>
                <a:spcPts val="0"/>
              </a:spcBef>
              <a:spcAft>
                <a:spcPts val="0"/>
              </a:spcAft>
              <a:buClr>
                <a:schemeClr val="dk2"/>
              </a:buClr>
              <a:buSzPts val="1000"/>
              <a:buNone/>
            </a:pPr>
            <a:r>
              <a:rPr b="1" lang="da-DK" sz="1000"/>
              <a:t>Du kan bruge ESG-skabelonen på forskellige måder</a:t>
            </a:r>
            <a:r>
              <a:rPr lang="da-DK" sz="1000"/>
              <a:t> </a:t>
            </a:r>
            <a:endParaRPr/>
          </a:p>
          <a:p>
            <a:pPr indent="0" lvl="0" marL="0" rtl="0" algn="l">
              <a:lnSpc>
                <a:spcPct val="106000"/>
              </a:lnSpc>
              <a:spcBef>
                <a:spcPts val="0"/>
              </a:spcBef>
              <a:spcAft>
                <a:spcPts val="0"/>
              </a:spcAft>
              <a:buClr>
                <a:schemeClr val="dk2"/>
              </a:buClr>
              <a:buSzPts val="900"/>
              <a:buNone/>
            </a:pPr>
            <a:r>
              <a:rPr lang="da-DK"/>
              <a:t> </a:t>
            </a:r>
            <a:endParaRPr/>
          </a:p>
          <a:p>
            <a:pPr indent="-171450" lvl="0" marL="171450" rtl="0" algn="l">
              <a:lnSpc>
                <a:spcPct val="106000"/>
              </a:lnSpc>
              <a:spcBef>
                <a:spcPts val="0"/>
              </a:spcBef>
              <a:spcAft>
                <a:spcPts val="0"/>
              </a:spcAft>
              <a:buClr>
                <a:schemeClr val="dk2"/>
              </a:buClr>
              <a:buSzPts val="900"/>
              <a:buFont typeface="Arial"/>
              <a:buChar char="•"/>
            </a:pPr>
            <a:r>
              <a:rPr b="1" lang="da-DK">
                <a:latin typeface="IBM Plex Sans"/>
                <a:ea typeface="IBM Plex Sans"/>
                <a:cs typeface="IBM Plex Sans"/>
                <a:sym typeface="IBM Plex Sans"/>
              </a:rPr>
              <a:t>Hvis du vil have inspiration til indholdet i en bæredygtighedsrapport, </a:t>
            </a:r>
            <a:r>
              <a:rPr lang="da-DK"/>
              <a:t>kan du bruge denne skabelon til at se, hvilke ESG-datapunkter som det generelt forventes, at kunder og samarbejdspartnere vil kunne efterspørge fra SMV’er. Du kan frit slette og tilføje oplysningspunkter i ESG-skabelonen, alt efter hvad du vurderer vil give størst mulig forretningsmæssig værdi at opgøre for netop din virksomhed. Skabelonen kan anvendes både internt i virksomheden og ift. eksterne samarbejdspartnere. </a:t>
            </a:r>
            <a:endParaRPr/>
          </a:p>
          <a:p>
            <a:pPr indent="-114300" lvl="0" marL="171450" rtl="0" algn="l">
              <a:lnSpc>
                <a:spcPct val="106000"/>
              </a:lnSpc>
              <a:spcBef>
                <a:spcPts val="0"/>
              </a:spcBef>
              <a:spcAft>
                <a:spcPts val="0"/>
              </a:spcAft>
              <a:buClr>
                <a:schemeClr val="dk2"/>
              </a:buClr>
              <a:buSzPts val="900"/>
              <a:buFont typeface="Arial"/>
              <a:buNone/>
            </a:pPr>
            <a:r>
              <a:t/>
            </a:r>
            <a:endParaRPr>
              <a:latin typeface="IBM Plex Sans"/>
              <a:ea typeface="IBM Plex Sans"/>
              <a:cs typeface="IBM Plex Sans"/>
              <a:sym typeface="IBM Plex Sans"/>
            </a:endParaRPr>
          </a:p>
          <a:p>
            <a:pPr indent="-171450" lvl="0" marL="171450" rtl="0" algn="l">
              <a:lnSpc>
                <a:spcPct val="106000"/>
              </a:lnSpc>
              <a:spcBef>
                <a:spcPts val="0"/>
              </a:spcBef>
              <a:spcAft>
                <a:spcPts val="0"/>
              </a:spcAft>
              <a:buClr>
                <a:schemeClr val="dk2"/>
              </a:buClr>
              <a:buSzPts val="900"/>
              <a:buFont typeface="Arial"/>
              <a:buChar char="•"/>
            </a:pPr>
            <a:r>
              <a:rPr b="1" lang="da-DK">
                <a:latin typeface="IBM Plex Sans"/>
                <a:ea typeface="IBM Plex Sans"/>
                <a:cs typeface="IBM Plex Sans"/>
                <a:sym typeface="IBM Plex Sans"/>
              </a:rPr>
              <a:t>Hvis du ønsker at lave bæredygtighedsrapportering efter den frivillige SMV-standard, </a:t>
            </a:r>
            <a:r>
              <a:rPr lang="da-DK"/>
              <a:t>kan du bruge denne ESG-skabelon. Skabelonen indeholder alle oplysningspunkterne fra både Basismodulet og Udvidet Modul i den frivillige SMV-standard. Hvis du ønsker at lave en frivillig bæredygtighedsrapportering efter Basismodulet - og eventuelt Udvidet Modul - er der krav til form og udarbejdelse, som du bør overholde. Kravene er med til at sikre en ensartet brug af standarden. Konkret betyder det, at du skal følge informationen til hvert oplysningspunkt i skabelonen, der angiver, hvorvidt det enkelte punkt enten: ”skal”, ”kan” eller ”skal, hvis relevant”, oplyses. </a:t>
            </a:r>
            <a:endParaRPr/>
          </a:p>
          <a:p>
            <a:pPr indent="0" lvl="0" marL="0" rtl="0" algn="l">
              <a:lnSpc>
                <a:spcPct val="106000"/>
              </a:lnSpc>
              <a:spcBef>
                <a:spcPts val="0"/>
              </a:spcBef>
              <a:spcAft>
                <a:spcPts val="0"/>
              </a:spcAft>
              <a:buClr>
                <a:schemeClr val="dk2"/>
              </a:buClr>
              <a:buSzPts val="900"/>
              <a:buNone/>
            </a:pPr>
            <a:r>
              <a:rPr lang="da-DK"/>
              <a:t> </a:t>
            </a:r>
            <a:endParaRPr/>
          </a:p>
          <a:p>
            <a:pPr indent="-171450" lvl="0" marL="171450" rtl="0" algn="l">
              <a:lnSpc>
                <a:spcPct val="106000"/>
              </a:lnSpc>
              <a:spcBef>
                <a:spcPts val="0"/>
              </a:spcBef>
              <a:spcAft>
                <a:spcPts val="0"/>
              </a:spcAft>
              <a:buClr>
                <a:schemeClr val="dk2"/>
              </a:buClr>
              <a:buSzPts val="900"/>
              <a:buFont typeface="Arial"/>
              <a:buChar char="•"/>
            </a:pPr>
            <a:r>
              <a:rPr b="1" lang="da-DK">
                <a:latin typeface="IBM Plex Sans"/>
                <a:ea typeface="IBM Plex Sans"/>
                <a:cs typeface="IBM Plex Sans"/>
                <a:sym typeface="IBM Plex Sans"/>
              </a:rPr>
              <a:t>Hvis du ønsker at integrere din ESG-opgørelse i din årsrapport, </a:t>
            </a:r>
            <a:br>
              <a:rPr b="1" lang="da-DK">
                <a:solidFill>
                  <a:srgbClr val="8DA294"/>
                </a:solidFill>
              </a:rPr>
            </a:br>
            <a:r>
              <a:rPr lang="da-DK"/>
              <a:t>kan du vælge at inkludere ESG-opgørelsen i sin helhed eller udvælge de relevante, udtømmende data for det, du opgør. Der er ikke lovkrav til SMV’er om at integrere ESG-opgørelsen i årsrapporten, men der er mulighed for at gøre det på frivillig basis.</a:t>
            </a:r>
            <a:endParaRPr/>
          </a:p>
          <a:p>
            <a:pPr indent="0" lvl="0" marL="0" rtl="0" algn="l">
              <a:lnSpc>
                <a:spcPct val="106000"/>
              </a:lnSpc>
              <a:spcBef>
                <a:spcPts val="0"/>
              </a:spcBef>
              <a:spcAft>
                <a:spcPts val="0"/>
              </a:spcAft>
              <a:buClr>
                <a:schemeClr val="dk2"/>
              </a:buClr>
              <a:buSzPts val="900"/>
              <a:buNone/>
            </a:pPr>
            <a:r>
              <a:t/>
            </a:r>
            <a:endParaRPr/>
          </a:p>
        </p:txBody>
      </p:sp>
      <p:sp>
        <p:nvSpPr>
          <p:cNvPr id="81" name="Google Shape;81;p1"/>
          <p:cNvSpPr/>
          <p:nvPr/>
        </p:nvSpPr>
        <p:spPr>
          <a:xfrm>
            <a:off x="8169274" y="1015682"/>
            <a:ext cx="3514725" cy="2899093"/>
          </a:xfrm>
          <a:prstGeom prst="rect">
            <a:avLst/>
          </a:prstGeom>
          <a:solidFill>
            <a:srgbClr val="5F7D69"/>
          </a:solidFill>
          <a:ln>
            <a:noFill/>
          </a:ln>
        </p:spPr>
        <p:txBody>
          <a:bodyPr anchorCtr="0" anchor="t" bIns="144000" lIns="126000" spcFirstLastPara="1" rIns="108000" wrap="square" tIns="108000">
            <a:noAutofit/>
          </a:bodyPr>
          <a:lstStyle/>
          <a:p>
            <a:pPr indent="0" lvl="0" marL="0" marR="0" rtl="0" algn="l">
              <a:lnSpc>
                <a:spcPct val="106000"/>
              </a:lnSpc>
              <a:spcBef>
                <a:spcPts val="0"/>
              </a:spcBef>
              <a:spcAft>
                <a:spcPts val="0"/>
              </a:spcAft>
              <a:buNone/>
            </a:pPr>
            <a:r>
              <a:rPr b="1" i="0" lang="da-DK" sz="1000" u="none" cap="none" strike="noStrike">
                <a:solidFill>
                  <a:schemeClr val="lt1"/>
                </a:solidFill>
                <a:latin typeface="IBM Plex Sans"/>
                <a:ea typeface="IBM Plex Sans"/>
                <a:cs typeface="IBM Plex Sans"/>
                <a:sym typeface="IBM Plex Sans"/>
              </a:rPr>
              <a:t>Hvad er den frivillige SMV-standard?</a:t>
            </a:r>
            <a:endParaRPr/>
          </a:p>
          <a:p>
            <a:pPr indent="0" lvl="0" marL="0" marR="0" rtl="0" algn="l">
              <a:lnSpc>
                <a:spcPct val="106000"/>
              </a:lnSpc>
              <a:spcBef>
                <a:spcPts val="0"/>
              </a:spcBef>
              <a:spcAft>
                <a:spcPts val="0"/>
              </a:spcAft>
              <a:buNone/>
            </a:pPr>
            <a:r>
              <a:t/>
            </a:r>
            <a:endParaRPr b="1" i="0" sz="1000" u="none" cap="none" strike="noStrike">
              <a:solidFill>
                <a:schemeClr val="lt1"/>
              </a:solidFill>
              <a:latin typeface="IBM Plex Sans"/>
              <a:ea typeface="IBM Plex Sans"/>
              <a:cs typeface="IBM Plex Sans"/>
              <a:sym typeface="IBM Plex Sans"/>
            </a:endParaRPr>
          </a:p>
          <a:p>
            <a:pPr indent="0" lvl="0" marL="0" marR="0" rtl="0" algn="l">
              <a:lnSpc>
                <a:spcPct val="106000"/>
              </a:lnSpc>
              <a:spcBef>
                <a:spcPts val="0"/>
              </a:spcBef>
              <a:spcAft>
                <a:spcPts val="0"/>
              </a:spcAft>
              <a:buNone/>
            </a:pPr>
            <a:r>
              <a:rPr b="0" i="0" lang="da-DK" sz="900" u="none" cap="none" strike="noStrike">
                <a:solidFill>
                  <a:schemeClr val="lt1"/>
                </a:solidFill>
                <a:latin typeface="IBM Plex Sans"/>
                <a:ea typeface="IBM Plex Sans"/>
                <a:cs typeface="IBM Plex Sans"/>
                <a:sym typeface="IBM Plex Sans"/>
              </a:rPr>
              <a:t>EU har udarbejdet en standard for SMV’er, der </a:t>
            </a:r>
            <a:r>
              <a:rPr b="0" i="0" lang="da-DK" sz="900" u="sng" cap="none" strike="noStrike">
                <a:solidFill>
                  <a:schemeClr val="lt1"/>
                </a:solidFill>
                <a:latin typeface="IBM Plex Sans"/>
                <a:ea typeface="IBM Plex Sans"/>
                <a:cs typeface="IBM Plex Sans"/>
                <a:sym typeface="IBM Plex Sans"/>
              </a:rPr>
              <a:t>frivilligt</a:t>
            </a:r>
            <a:r>
              <a:rPr b="0" i="0" lang="da-DK" sz="900" u="none" cap="none" strike="noStrike">
                <a:solidFill>
                  <a:schemeClr val="lt1"/>
                </a:solidFill>
                <a:latin typeface="IBM Plex Sans"/>
                <a:ea typeface="IBM Plex Sans"/>
                <a:cs typeface="IBM Plex Sans"/>
                <a:sym typeface="IBM Plex Sans"/>
              </a:rPr>
              <a:t> ønsker at arbejde med bæredygtighedsrapportering. Formålet med den frivillige standard er at gøre SMV’er og deres samarbejdspartnere i stand til at spørge og svare på en ensartet og effektiv måde, når der skal deles bæredygtighedsdata mellem virksomheder. </a:t>
            </a:r>
            <a:endParaRPr/>
          </a:p>
          <a:p>
            <a:pPr indent="0" lvl="0" marL="0" marR="0" rtl="0" algn="l">
              <a:lnSpc>
                <a:spcPct val="106000"/>
              </a:lnSpc>
              <a:spcBef>
                <a:spcPts val="0"/>
              </a:spcBef>
              <a:spcAft>
                <a:spcPts val="0"/>
              </a:spcAft>
              <a:buNone/>
            </a:pPr>
            <a:r>
              <a:t/>
            </a:r>
            <a:endParaRPr b="0" i="0" sz="900" u="none" cap="none" strike="noStrike">
              <a:solidFill>
                <a:schemeClr val="lt1"/>
              </a:solidFill>
              <a:latin typeface="IBM Plex Sans"/>
              <a:ea typeface="IBM Plex Sans"/>
              <a:cs typeface="IBM Plex Sans"/>
              <a:sym typeface="IBM Plex Sans"/>
            </a:endParaRPr>
          </a:p>
          <a:p>
            <a:pPr indent="0" lvl="0" marL="0" marR="0" rtl="0" algn="l">
              <a:lnSpc>
                <a:spcPct val="106000"/>
              </a:lnSpc>
              <a:spcBef>
                <a:spcPts val="0"/>
              </a:spcBef>
              <a:spcAft>
                <a:spcPts val="0"/>
              </a:spcAft>
              <a:buNone/>
            </a:pPr>
            <a:r>
              <a:rPr b="0" i="0" lang="da-DK" sz="900" u="none" cap="none" strike="noStrike">
                <a:solidFill>
                  <a:schemeClr val="lt1"/>
                </a:solidFill>
                <a:latin typeface="IBM Plex Sans"/>
                <a:ea typeface="IBM Plex Sans"/>
                <a:cs typeface="IBM Plex Sans"/>
                <a:sym typeface="IBM Plex Sans"/>
              </a:rPr>
              <a:t>I ESG-skabelonen er der løbende henvisninger til de relevante oplysningspunkter i standardens originaltekst, hvis du har brug for at kende til det præcise tekststed, hvor oplysningspunktet stammer fra. Henvisningen i skabelonen er formuleret som   ”(pkt. x)”. </a:t>
            </a:r>
            <a:endParaRPr/>
          </a:p>
          <a:p>
            <a:pPr indent="0" lvl="0" marL="0" marR="0" rtl="0" algn="l">
              <a:lnSpc>
                <a:spcPct val="106000"/>
              </a:lnSpc>
              <a:spcBef>
                <a:spcPts val="0"/>
              </a:spcBef>
              <a:spcAft>
                <a:spcPts val="0"/>
              </a:spcAft>
              <a:buNone/>
            </a:pPr>
            <a:r>
              <a:t/>
            </a:r>
            <a:endParaRPr b="0" i="0" sz="900" u="none" cap="none" strike="noStrike">
              <a:solidFill>
                <a:schemeClr val="lt1"/>
              </a:solidFill>
              <a:latin typeface="IBM Plex Sans"/>
              <a:ea typeface="IBM Plex Sans"/>
              <a:cs typeface="IBM Plex Sans"/>
              <a:sym typeface="IBM Plex Sans"/>
            </a:endParaRPr>
          </a:p>
          <a:p>
            <a:pPr indent="0" lvl="1" marL="457200" marR="0" rtl="0" algn="l">
              <a:lnSpc>
                <a:spcPct val="106000"/>
              </a:lnSpc>
              <a:spcBef>
                <a:spcPts val="0"/>
              </a:spcBef>
              <a:spcAft>
                <a:spcPts val="0"/>
              </a:spcAft>
              <a:buNone/>
            </a:pPr>
            <a:r>
              <a:t/>
            </a:r>
            <a:endParaRPr b="0" i="0" sz="900" u="none" cap="none" strike="noStrike">
              <a:solidFill>
                <a:schemeClr val="lt1"/>
              </a:solidFill>
              <a:latin typeface="IBM Plex Sans"/>
              <a:ea typeface="IBM Plex Sans"/>
              <a:cs typeface="IBM Plex Sans"/>
              <a:sym typeface="IBM Plex Sans"/>
            </a:endParaRPr>
          </a:p>
          <a:p>
            <a:pPr indent="0" lvl="1" marL="457200" marR="0" rtl="0" algn="l">
              <a:lnSpc>
                <a:spcPct val="106000"/>
              </a:lnSpc>
              <a:spcBef>
                <a:spcPts val="0"/>
              </a:spcBef>
              <a:spcAft>
                <a:spcPts val="0"/>
              </a:spcAft>
              <a:buNone/>
            </a:pPr>
            <a:r>
              <a:rPr b="0" i="0" lang="da-DK" sz="900" u="sng" cap="none" strike="noStrike">
                <a:solidFill>
                  <a:schemeClr val="lt1"/>
                </a:solidFill>
                <a:latin typeface="IBM Plex Sans"/>
                <a:ea typeface="IBM Plex Sans"/>
                <a:cs typeface="IBM Plex Sans"/>
                <a:sym typeface="IBM Plex Sans"/>
                <a:hlinkClick r:id="rId5">
                  <a:extLst>
                    <a:ext uri="{A12FA001-AC4F-418D-AE19-62706E023703}">
                      <ahyp:hlinkClr val="tx"/>
                    </a:ext>
                  </a:extLst>
                </a:hlinkClick>
              </a:rPr>
              <a:t>Læs mere om den frivillige standard for SMV’ers bæredygtighedsrapportering på Virksomhedsguiden</a:t>
            </a:r>
            <a:endParaRPr b="0" i="0" sz="900" u="none" cap="none" strike="noStrike">
              <a:solidFill>
                <a:schemeClr val="lt1"/>
              </a:solidFill>
              <a:latin typeface="IBM Plex Sans"/>
              <a:ea typeface="IBM Plex Sans"/>
              <a:cs typeface="IBM Plex Sans"/>
              <a:sym typeface="IBM Plex Sans"/>
            </a:endParaRPr>
          </a:p>
          <a:p>
            <a:pPr indent="0" lvl="1" marL="457200" marR="0" rtl="0" algn="l">
              <a:lnSpc>
                <a:spcPct val="106000"/>
              </a:lnSpc>
              <a:spcBef>
                <a:spcPts val="0"/>
              </a:spcBef>
              <a:spcAft>
                <a:spcPts val="0"/>
              </a:spcAft>
              <a:buNone/>
            </a:pPr>
            <a:r>
              <a:t/>
            </a:r>
            <a:endParaRPr b="0" i="0" sz="900" u="none" cap="none" strike="noStrike">
              <a:solidFill>
                <a:schemeClr val="lt1"/>
              </a:solidFill>
              <a:latin typeface="IBM Plex Sans"/>
              <a:ea typeface="IBM Plex Sans"/>
              <a:cs typeface="IBM Plex Sans"/>
              <a:sym typeface="IBM Plex Sans"/>
            </a:endParaRPr>
          </a:p>
          <a:p>
            <a:pPr indent="0" lvl="1" marL="457200" marR="0" rtl="0" algn="l">
              <a:lnSpc>
                <a:spcPct val="106000"/>
              </a:lnSpc>
              <a:spcBef>
                <a:spcPts val="0"/>
              </a:spcBef>
              <a:spcAft>
                <a:spcPts val="0"/>
              </a:spcAft>
              <a:buNone/>
            </a:pPr>
            <a:r>
              <a:t/>
            </a:r>
            <a:endParaRPr b="0" i="0" sz="900" u="none" cap="none" strike="noStrike">
              <a:solidFill>
                <a:schemeClr val="lt1"/>
              </a:solidFill>
              <a:latin typeface="IBM Plex Sans"/>
              <a:ea typeface="IBM Plex Sans"/>
              <a:cs typeface="IBM Plex Sans"/>
              <a:sym typeface="IBM Plex Sans"/>
            </a:endParaRPr>
          </a:p>
          <a:p>
            <a:pPr indent="0" lvl="1" marL="457200" marR="0" rtl="0" algn="l">
              <a:lnSpc>
                <a:spcPct val="106000"/>
              </a:lnSpc>
              <a:spcBef>
                <a:spcPts val="0"/>
              </a:spcBef>
              <a:spcAft>
                <a:spcPts val="0"/>
              </a:spcAft>
              <a:buNone/>
            </a:pPr>
            <a:r>
              <a:t/>
            </a:r>
            <a:endParaRPr b="0" i="0" sz="900" u="none" cap="none" strike="noStrike">
              <a:solidFill>
                <a:schemeClr val="lt1"/>
              </a:solidFill>
              <a:latin typeface="IBM Plex Sans"/>
              <a:ea typeface="IBM Plex Sans"/>
              <a:cs typeface="IBM Plex Sans"/>
              <a:sym typeface="IBM Plex Sans"/>
            </a:endParaRPr>
          </a:p>
        </p:txBody>
      </p:sp>
      <p:sp>
        <p:nvSpPr>
          <p:cNvPr id="82" name="Google Shape;82;p1"/>
          <p:cNvSpPr/>
          <p:nvPr/>
        </p:nvSpPr>
        <p:spPr>
          <a:xfrm>
            <a:off x="8169273" y="4233906"/>
            <a:ext cx="3514725" cy="875726"/>
          </a:xfrm>
          <a:prstGeom prst="rect">
            <a:avLst/>
          </a:prstGeom>
          <a:solidFill>
            <a:srgbClr val="D1DAD4"/>
          </a:solidFill>
          <a:ln>
            <a:noFill/>
          </a:ln>
        </p:spPr>
        <p:txBody>
          <a:bodyPr anchorCtr="0" anchor="t" bIns="144000" lIns="126000" spcFirstLastPara="1" rIns="108000" wrap="square" tIns="108000">
            <a:noAutofit/>
          </a:bodyPr>
          <a:lstStyle/>
          <a:p>
            <a:pPr indent="0" lvl="0" marL="0" marR="0" rtl="0" algn="l">
              <a:lnSpc>
                <a:spcPct val="106000"/>
              </a:lnSpc>
              <a:spcBef>
                <a:spcPts val="0"/>
              </a:spcBef>
              <a:spcAft>
                <a:spcPts val="0"/>
              </a:spcAft>
              <a:buNone/>
            </a:pPr>
            <a:r>
              <a:rPr b="1" i="0" lang="da-DK" sz="1000" u="none" cap="none" strike="noStrike">
                <a:solidFill>
                  <a:srgbClr val="1B4529"/>
                </a:solidFill>
                <a:latin typeface="IBM Plex Sans"/>
                <a:ea typeface="IBM Plex Sans"/>
                <a:cs typeface="IBM Plex Sans"/>
                <a:sym typeface="IBM Plex Sans"/>
              </a:rPr>
              <a:t>Version 3.2 – september 2025</a:t>
            </a:r>
            <a:endParaRPr/>
          </a:p>
          <a:p>
            <a:pPr indent="0" lvl="0" marL="0" marR="0" rtl="0" algn="l">
              <a:lnSpc>
                <a:spcPct val="106000"/>
              </a:lnSpc>
              <a:spcBef>
                <a:spcPts val="0"/>
              </a:spcBef>
              <a:spcAft>
                <a:spcPts val="0"/>
              </a:spcAft>
              <a:buNone/>
            </a:pPr>
            <a:r>
              <a:rPr b="0" i="0" lang="da-DK" sz="900" u="none" cap="none" strike="noStrike">
                <a:solidFill>
                  <a:srgbClr val="1B4529"/>
                </a:solidFill>
                <a:latin typeface="IBM Plex Sans"/>
                <a:ea typeface="IBM Plex Sans"/>
                <a:cs typeface="IBM Plex Sans"/>
                <a:sym typeface="IBM Plex Sans"/>
              </a:rPr>
              <a:t>Skabelonen opdateres løbende, i takt med at den frivillige standard udvikler sig. </a:t>
            </a:r>
            <a:endParaRPr/>
          </a:p>
          <a:p>
            <a:pPr indent="0" lvl="0" marL="0" marR="0" rtl="0" algn="l">
              <a:lnSpc>
                <a:spcPct val="106000"/>
              </a:lnSpc>
              <a:spcBef>
                <a:spcPts val="0"/>
              </a:spcBef>
              <a:spcAft>
                <a:spcPts val="0"/>
              </a:spcAft>
              <a:buNone/>
            </a:pPr>
            <a:r>
              <a:t/>
            </a:r>
            <a:endParaRPr b="1" i="0" sz="900" u="none" cap="none" strike="noStrike">
              <a:solidFill>
                <a:srgbClr val="1B4529"/>
              </a:solidFill>
              <a:latin typeface="IBM Plex Sans"/>
              <a:ea typeface="IBM Plex Sans"/>
              <a:cs typeface="IBM Plex Sans"/>
              <a:sym typeface="IBM Plex Sans"/>
            </a:endParaRPr>
          </a:p>
        </p:txBody>
      </p:sp>
      <p:pic>
        <p:nvPicPr>
          <p:cNvPr id="83" name="Google Shape;83;p1"/>
          <p:cNvPicPr preferRelativeResize="0"/>
          <p:nvPr/>
        </p:nvPicPr>
        <p:blipFill rotWithShape="1">
          <a:blip r:embed="rId6">
            <a:alphaModFix/>
          </a:blip>
          <a:srcRect b="0" l="0" r="0" t="0"/>
          <a:stretch/>
        </p:blipFill>
        <p:spPr>
          <a:xfrm>
            <a:off x="8401036" y="3371310"/>
            <a:ext cx="204216" cy="2169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 name="Shape 87"/>
        <p:cNvGrpSpPr/>
        <p:nvPr/>
      </p:nvGrpSpPr>
      <p:grpSpPr>
        <a:xfrm>
          <a:off x="0" y="0"/>
          <a:ext cx="0" cy="0"/>
          <a:chOff x="0" y="0"/>
          <a:chExt cx="0" cy="0"/>
        </a:xfrm>
      </p:grpSpPr>
      <p:sp>
        <p:nvSpPr>
          <p:cNvPr id="88" name="Google Shape;88;p2"/>
          <p:cNvSpPr txBox="1"/>
          <p:nvPr>
            <p:ph type="title"/>
          </p:nvPr>
        </p:nvSpPr>
        <p:spPr>
          <a:xfrm>
            <a:off x="518600" y="453545"/>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Overblik over oplysningspunkter i </a:t>
            </a:r>
            <a:r>
              <a:rPr lang="da-DK" u="sng"/>
              <a:t>Basismodulet</a:t>
            </a:r>
            <a:r>
              <a:rPr lang="da-DK"/>
              <a:t> </a:t>
            </a:r>
            <a:endParaRPr/>
          </a:p>
        </p:txBody>
      </p:sp>
      <p:graphicFrame>
        <p:nvGraphicFramePr>
          <p:cNvPr id="89" name="Google Shape;89;p2"/>
          <p:cNvGraphicFramePr/>
          <p:nvPr/>
        </p:nvGraphicFramePr>
        <p:xfrm>
          <a:off x="8170863" y="1047365"/>
          <a:ext cx="3000000" cy="3000000"/>
        </p:xfrm>
        <a:graphic>
          <a:graphicData uri="http://schemas.openxmlformats.org/drawingml/2006/table">
            <a:tbl>
              <a:tblPr firstRow="1">
                <a:noFill/>
                <a:tableStyleId>{BAEAA23F-C412-4D4F-A7DF-F315DCF0D262}</a:tableStyleId>
              </a:tblPr>
              <a:tblGrid>
                <a:gridCol w="659100"/>
                <a:gridCol w="3048000"/>
              </a:tblGrid>
              <a:tr h="223775">
                <a:tc gridSpan="2">
                  <a:txBody>
                    <a:bodyPr/>
                    <a:lstStyle/>
                    <a:p>
                      <a:pPr indent="0" lvl="0" marL="0" marR="0" rtl="0" algn="l">
                        <a:spcBef>
                          <a:spcPts val="0"/>
                        </a:spcBef>
                        <a:spcAft>
                          <a:spcPts val="0"/>
                        </a:spcAft>
                        <a:buNone/>
                      </a:pPr>
                      <a:r>
                        <a:rPr b="1" lang="da-DK" sz="1200" u="none" cap="none" strike="noStrike">
                          <a:solidFill>
                            <a:schemeClr val="dk2"/>
                          </a:solidFill>
                          <a:latin typeface="IBM Plex Sans"/>
                          <a:ea typeface="IBM Plex Sans"/>
                          <a:cs typeface="IBM Plex Sans"/>
                          <a:sym typeface="IBM Plex Sans"/>
                        </a:rPr>
                        <a:t>S-data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BC7BF"/>
                    </a:solidFill>
                  </a:tcPr>
                </a:tc>
                <a:tc hMerge="1"/>
              </a:tr>
              <a:tr h="325925">
                <a:tc>
                  <a:txBody>
                    <a:bodyPr/>
                    <a:lstStyle/>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i="0" lang="da-DK" sz="900" u="none" cap="none" strike="noStrike">
                          <a:solidFill>
                            <a:schemeClr val="dk2"/>
                          </a:solidFill>
                        </a:rPr>
                        <a:t>Skal, hvis relevant</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i="0" lang="da-DK" sz="900" u="none" cap="none" strike="noStrike">
                          <a:solidFill>
                            <a:schemeClr val="dk2"/>
                          </a:solidFill>
                        </a:rPr>
                        <a:t>Skal, hvis relevant</a:t>
                      </a:r>
                      <a:endParaRPr b="0" sz="9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spcBef>
                          <a:spcPts val="0"/>
                        </a:spcBef>
                        <a:spcAft>
                          <a:spcPts val="0"/>
                        </a:spcAft>
                        <a:buClr>
                          <a:srgbClr val="1B4528"/>
                        </a:buClr>
                        <a:buSzPts val="900"/>
                        <a:buFont typeface="IBM Plex Sans"/>
                        <a:buNone/>
                      </a:pPr>
                      <a:r>
                        <a:rPr b="1" i="0" lang="da-DK" sz="900" u="none" cap="none" strike="noStrike">
                          <a:solidFill>
                            <a:srgbClr val="1B4528"/>
                          </a:solidFill>
                        </a:rPr>
                        <a:t>Egen arbejdsstyrke (B8)</a:t>
                      </a:r>
                      <a:endParaRPr/>
                    </a:p>
                    <a:p>
                      <a:pPr indent="-171450" lvl="0" marL="171450" marR="0" rtl="0" algn="l">
                        <a:spcBef>
                          <a:spcPts val="0"/>
                        </a:spcBef>
                        <a:spcAft>
                          <a:spcPts val="0"/>
                        </a:spcAft>
                        <a:buClr>
                          <a:srgbClr val="1B4528"/>
                        </a:buClr>
                        <a:buSzPts val="900"/>
                        <a:buFont typeface="Arial"/>
                        <a:buChar char="•"/>
                      </a:pPr>
                      <a:r>
                        <a:rPr b="0" i="0" lang="da-DK" sz="900" u="none" cap="none" strike="noStrike">
                          <a:solidFill>
                            <a:srgbClr val="1B4528"/>
                          </a:solidFill>
                        </a:rPr>
                        <a:t>Kontrakttype</a:t>
                      </a:r>
                      <a:endParaRPr/>
                    </a:p>
                    <a:p>
                      <a:pPr indent="-171450" lvl="0" marL="171450" marR="0" rtl="0" algn="l">
                        <a:spcBef>
                          <a:spcPts val="0"/>
                        </a:spcBef>
                        <a:spcAft>
                          <a:spcPts val="0"/>
                        </a:spcAft>
                        <a:buClr>
                          <a:srgbClr val="1B4528"/>
                        </a:buClr>
                        <a:buSzPts val="900"/>
                        <a:buFont typeface="Arial"/>
                        <a:buChar char="•"/>
                      </a:pPr>
                      <a:r>
                        <a:rPr b="0" i="0" lang="da-DK" sz="900" u="none" cap="none" strike="noStrike">
                          <a:solidFill>
                            <a:srgbClr val="1B4528"/>
                          </a:solidFill>
                          <a:latin typeface="IBM Plex Sans"/>
                          <a:ea typeface="IBM Plex Sans"/>
                          <a:cs typeface="IBM Plex Sans"/>
                          <a:sym typeface="IBM Plex Sans"/>
                        </a:rPr>
                        <a:t>Kønssammensætning</a:t>
                      </a:r>
                      <a:endParaRPr/>
                    </a:p>
                    <a:p>
                      <a:pPr indent="0" lvl="0" marL="0" marR="0" rtl="0" algn="l">
                        <a:spcBef>
                          <a:spcPts val="0"/>
                        </a:spcBef>
                        <a:spcAft>
                          <a:spcPts val="0"/>
                        </a:spcAft>
                        <a:buClr>
                          <a:schemeClr val="dk1"/>
                        </a:buClr>
                        <a:buSzPts val="900"/>
                        <a:buFont typeface="Arial"/>
                        <a:buNone/>
                      </a:pPr>
                      <a:r>
                        <a:t/>
                      </a:r>
                      <a:endParaRPr b="0" i="0" sz="900" u="none" cap="none" strike="noStrike">
                        <a:solidFill>
                          <a:srgbClr val="1B4528"/>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rgbClr val="1B4528"/>
                        </a:buClr>
                        <a:buSzPts val="900"/>
                        <a:buFont typeface="Arial"/>
                        <a:buChar char="•"/>
                      </a:pPr>
                      <a:r>
                        <a:rPr b="0" i="0" lang="da-DK" sz="900" u="none" cap="none" strike="noStrike">
                          <a:solidFill>
                            <a:srgbClr val="1B4528"/>
                          </a:solidFill>
                        </a:rPr>
                        <a:t>Ansættelseskontrakter i andre lande udover Danmark</a:t>
                      </a:r>
                      <a:endParaRPr/>
                    </a:p>
                    <a:p>
                      <a:pPr indent="-114300" lvl="0" marL="171450" marR="0" rtl="0" algn="l">
                        <a:lnSpc>
                          <a:spcPct val="100000"/>
                        </a:lnSpc>
                        <a:spcBef>
                          <a:spcPts val="0"/>
                        </a:spcBef>
                        <a:spcAft>
                          <a:spcPts val="0"/>
                        </a:spcAft>
                        <a:buClr>
                          <a:schemeClr val="dk1"/>
                        </a:buClr>
                        <a:buSzPts val="900"/>
                        <a:buFont typeface="Arial"/>
                        <a:buNone/>
                      </a:pPr>
                      <a:r>
                        <a:t/>
                      </a:r>
                      <a:endParaRPr b="0" i="0" sz="900" u="none" cap="none" strike="noStrike">
                        <a:solidFill>
                          <a:srgbClr val="1B4528"/>
                        </a:solidFill>
                      </a:endParaRPr>
                    </a:p>
                    <a:p>
                      <a:pPr indent="-114300" lvl="0" marL="171450" marR="0" rtl="0" algn="l">
                        <a:lnSpc>
                          <a:spcPct val="100000"/>
                        </a:lnSpc>
                        <a:spcBef>
                          <a:spcPts val="0"/>
                        </a:spcBef>
                        <a:spcAft>
                          <a:spcPts val="0"/>
                        </a:spcAft>
                        <a:buClr>
                          <a:schemeClr val="dk1"/>
                        </a:buClr>
                        <a:buSzPts val="900"/>
                        <a:buFont typeface="Arial"/>
                        <a:buNone/>
                      </a:pPr>
                      <a:r>
                        <a:t/>
                      </a:r>
                      <a:endParaRPr b="0" i="0" sz="900" u="none" cap="none" strike="noStrike">
                        <a:solidFill>
                          <a:srgbClr val="1B4528"/>
                        </a:solidFill>
                      </a:endParaRPr>
                    </a:p>
                    <a:p>
                      <a:pPr indent="-171450" lvl="0" marL="171450" marR="0" rtl="0" algn="l">
                        <a:lnSpc>
                          <a:spcPct val="100000"/>
                        </a:lnSpc>
                        <a:spcBef>
                          <a:spcPts val="0"/>
                        </a:spcBef>
                        <a:spcAft>
                          <a:spcPts val="0"/>
                        </a:spcAft>
                        <a:buClr>
                          <a:srgbClr val="1B4528"/>
                        </a:buClr>
                        <a:buSzPts val="900"/>
                        <a:buFont typeface="Arial"/>
                        <a:buChar char="•"/>
                      </a:pPr>
                      <a:r>
                        <a:rPr b="0" i="0" lang="da-DK" sz="900" u="none" cap="none" strike="noStrike">
                          <a:solidFill>
                            <a:srgbClr val="1B4528"/>
                          </a:solidFill>
                        </a:rPr>
                        <a:t>Medarbejderomsætning (oplyses kun ved mere end 50 ansatte)</a:t>
                      </a:r>
                      <a:endParaRPr sz="900" u="none" cap="none" strike="noStrike"/>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5925">
                <a:tc>
                  <a:txBody>
                    <a:bodyPr/>
                    <a:lstStyle/>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spcBef>
                          <a:spcPts val="0"/>
                        </a:spcBef>
                        <a:spcAft>
                          <a:spcPts val="0"/>
                        </a:spcAft>
                        <a:buClr>
                          <a:srgbClr val="1B4528"/>
                        </a:buClr>
                        <a:buSzPts val="900"/>
                        <a:buFont typeface="IBM Plex Sans"/>
                        <a:buNone/>
                      </a:pPr>
                      <a:r>
                        <a:rPr b="1" i="0" lang="da-DK" sz="900" u="none" cap="none" strike="noStrike">
                          <a:solidFill>
                            <a:srgbClr val="1B4528"/>
                          </a:solidFill>
                          <a:latin typeface="IBM Plex Sans"/>
                          <a:ea typeface="IBM Plex Sans"/>
                          <a:cs typeface="IBM Plex Sans"/>
                          <a:sym typeface="IBM Plex Sans"/>
                        </a:rPr>
                        <a:t>Sundhed og sikkerhed (B9)</a:t>
                      </a:r>
                      <a:endParaRPr/>
                    </a:p>
                    <a:p>
                      <a:pPr indent="-171450" lvl="0" marL="171450" marR="0" rtl="0" algn="l">
                        <a:lnSpc>
                          <a:spcPct val="100000"/>
                        </a:lnSpc>
                        <a:spcBef>
                          <a:spcPts val="0"/>
                        </a:spcBef>
                        <a:spcAft>
                          <a:spcPts val="0"/>
                        </a:spcAft>
                        <a:buClr>
                          <a:srgbClr val="1B4528"/>
                        </a:buClr>
                        <a:buSzPts val="900"/>
                        <a:buFont typeface="Arial"/>
                        <a:buChar char="•"/>
                      </a:pPr>
                      <a:r>
                        <a:rPr b="0" i="0" lang="da-DK" sz="900" u="none" cap="none" strike="noStrike">
                          <a:solidFill>
                            <a:srgbClr val="1B4528"/>
                          </a:solidFill>
                        </a:rPr>
                        <a:t>Egen arbejdsstyrke: Registrerede arbejdsulykker </a:t>
                      </a:r>
                      <a:endParaRPr/>
                    </a:p>
                    <a:p>
                      <a:pPr indent="-171450" lvl="0" marL="171450" marR="0" rtl="0" algn="l">
                        <a:lnSpc>
                          <a:spcPct val="100000"/>
                        </a:lnSpc>
                        <a:spcBef>
                          <a:spcPts val="0"/>
                        </a:spcBef>
                        <a:spcAft>
                          <a:spcPts val="0"/>
                        </a:spcAft>
                        <a:buClr>
                          <a:srgbClr val="1B4528"/>
                        </a:buClr>
                        <a:buSzPts val="900"/>
                        <a:buFont typeface="Arial"/>
                        <a:buChar char="•"/>
                      </a:pPr>
                      <a:r>
                        <a:rPr b="0" i="0" lang="da-DK" sz="900" u="none" cap="none" strike="noStrike">
                          <a:solidFill>
                            <a:srgbClr val="1B4528"/>
                          </a:solidFill>
                        </a:rPr>
                        <a:t>Egen arbejdsstyrke: Arbejdsrelaterede dødsfald </a:t>
                      </a:r>
                      <a:endParaRPr b="1" i="0" sz="900" u="none" cap="none" strike="noStrike">
                        <a:solidFill>
                          <a:srgbClr val="1B4528"/>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5925">
                <a:tc>
                  <a:txBody>
                    <a:bodyPr/>
                    <a:lstStyle/>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i="0" lang="da-DK" sz="900" u="none" cap="none" strike="noStrike">
                          <a:solidFill>
                            <a:schemeClr val="dk2"/>
                          </a:solidFill>
                        </a:rPr>
                        <a:t>Skal, hvis relevant</a:t>
                      </a:r>
                      <a:endParaRPr/>
                    </a:p>
                    <a:p>
                      <a:pPr indent="0" lvl="0" marL="0" marR="0" rtl="0" algn="l">
                        <a:spcBef>
                          <a:spcPts val="0"/>
                        </a:spcBef>
                        <a:spcAft>
                          <a:spcPts val="0"/>
                        </a:spcAft>
                        <a:buNone/>
                      </a:pPr>
                      <a:r>
                        <a:t/>
                      </a:r>
                      <a:endParaRPr b="0" i="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i="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t/>
                      </a:r>
                      <a:endParaRPr b="0" i="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i="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rgbClr val="1B4528"/>
                        </a:buClr>
                        <a:buSzPts val="900"/>
                        <a:buFont typeface="Arial"/>
                        <a:buNone/>
                      </a:pPr>
                      <a:r>
                        <a:rPr b="1" i="0" lang="da-DK" sz="900" u="none" cap="none" strike="noStrike">
                          <a:solidFill>
                            <a:srgbClr val="1B4528"/>
                          </a:solidFill>
                          <a:latin typeface="IBM Plex Sans"/>
                          <a:ea typeface="IBM Plex Sans"/>
                          <a:cs typeface="IBM Plex Sans"/>
                          <a:sym typeface="IBM Plex Sans"/>
                        </a:rPr>
                        <a:t>Vederlag, overenskomster og uddannelse (B10)</a:t>
                      </a:r>
                      <a:endParaRPr b="0" i="0" sz="900" u="none" cap="none" strike="noStrike">
                        <a:solidFill>
                          <a:srgbClr val="1B4528"/>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rgbClr val="1B4528"/>
                        </a:buClr>
                        <a:buSzPts val="900"/>
                        <a:buFont typeface="Arial"/>
                        <a:buChar char="•"/>
                      </a:pPr>
                      <a:r>
                        <a:rPr b="0" i="0" lang="da-DK" sz="900" u="none" cap="none" strike="noStrike">
                          <a:solidFill>
                            <a:srgbClr val="1B4528"/>
                          </a:solidFill>
                          <a:latin typeface="IBM Plex Sans"/>
                          <a:ea typeface="IBM Plex Sans"/>
                          <a:cs typeface="IBM Plex Sans"/>
                          <a:sym typeface="IBM Plex Sans"/>
                        </a:rPr>
                        <a:t>Oplysning om aflønning over/under minimumsløn</a:t>
                      </a:r>
                      <a:endParaRPr/>
                    </a:p>
                    <a:p>
                      <a:pPr indent="0" lvl="0" marL="0" marR="0" rtl="0" algn="l">
                        <a:lnSpc>
                          <a:spcPct val="100000"/>
                        </a:lnSpc>
                        <a:spcBef>
                          <a:spcPts val="0"/>
                        </a:spcBef>
                        <a:spcAft>
                          <a:spcPts val="0"/>
                        </a:spcAft>
                        <a:buClr>
                          <a:schemeClr val="dk1"/>
                        </a:buClr>
                        <a:buSzPts val="900"/>
                        <a:buFont typeface="Arial"/>
                        <a:buNone/>
                      </a:pPr>
                      <a:r>
                        <a:t/>
                      </a:r>
                      <a:endParaRPr b="0" i="0" sz="900" u="none" cap="none" strike="noStrike">
                        <a:solidFill>
                          <a:srgbClr val="1B4528"/>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Lønforskel mellem mandlige og kvindelige ansatte (oplyses kun ved over 150 ansatte)</a:t>
                      </a:r>
                      <a:endParaRPr/>
                    </a:p>
                    <a:p>
                      <a:pPr indent="-114300" lvl="0" marL="17145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Procentvis ansatte, der er dækket af en kollektiv overenskomst </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Uddannelsestimer i gennemsnit pr. ansat </a:t>
                      </a:r>
                      <a:endParaRPr b="0" i="0" sz="900" u="none" cap="none" strike="noStrike">
                        <a:solidFill>
                          <a:srgbClr val="1B4528"/>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90" name="Google Shape;90;p2"/>
          <p:cNvGraphicFramePr/>
          <p:nvPr/>
        </p:nvGraphicFramePr>
        <p:xfrm>
          <a:off x="8170862" y="4777041"/>
          <a:ext cx="3000000" cy="3000000"/>
        </p:xfrm>
        <a:graphic>
          <a:graphicData uri="http://schemas.openxmlformats.org/drawingml/2006/table">
            <a:tbl>
              <a:tblPr firstRow="1">
                <a:noFill/>
                <a:tableStyleId>{BAEAA23F-C412-4D4F-A7DF-F315DCF0D262}</a:tableStyleId>
              </a:tblPr>
              <a:tblGrid>
                <a:gridCol w="676000"/>
                <a:gridCol w="3031100"/>
              </a:tblGrid>
              <a:tr h="227875">
                <a:tc gridSpan="2">
                  <a:txBody>
                    <a:bodyPr/>
                    <a:lstStyle/>
                    <a:p>
                      <a:pPr indent="0" lvl="0" marL="0" marR="0" rtl="0" algn="l">
                        <a:spcBef>
                          <a:spcPts val="0"/>
                        </a:spcBef>
                        <a:spcAft>
                          <a:spcPts val="0"/>
                        </a:spcAft>
                        <a:buNone/>
                      </a:pPr>
                      <a:r>
                        <a:rPr b="1" lang="da-DK" sz="1200" u="none" cap="none" strike="noStrike">
                          <a:solidFill>
                            <a:schemeClr val="dk2"/>
                          </a:solidFill>
                          <a:latin typeface="IBM Plex Sans"/>
                          <a:ea typeface="IBM Plex Sans"/>
                          <a:cs typeface="IBM Plex Sans"/>
                          <a:sym typeface="IBM Plex Sans"/>
                        </a:rPr>
                        <a:t>G-data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BC7BF"/>
                    </a:solidFill>
                  </a:tcPr>
                </a:tc>
                <a:tc hMerge="1"/>
              </a:tr>
              <a:tr h="325925">
                <a:tc>
                  <a:txBody>
                    <a:bodyPr/>
                    <a:lstStyle/>
                    <a:p>
                      <a:pPr indent="0" lvl="0" marL="0" marR="0" rtl="0" algn="l">
                        <a:spcBef>
                          <a:spcPts val="0"/>
                        </a:spcBef>
                        <a:spcAft>
                          <a:spcPts val="0"/>
                        </a:spcAft>
                        <a:buClr>
                          <a:schemeClr val="dk2"/>
                        </a:buClr>
                        <a:buSzPts val="900"/>
                        <a:buFont typeface="IBM Plex Sans"/>
                        <a:buNone/>
                      </a:pPr>
                      <a:r>
                        <a:rPr b="0" i="0" lang="da-DK" sz="900" u="none" cap="none" strike="noStrike">
                          <a:solidFill>
                            <a:schemeClr val="dk2"/>
                          </a:solidFill>
                        </a:rPr>
                        <a:t>Skal, hvis relevant</a:t>
                      </a:r>
                      <a:endParaRPr sz="1800" u="none" cap="none" strike="noStrike"/>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spcBef>
                          <a:spcPts val="0"/>
                        </a:spcBef>
                        <a:spcAft>
                          <a:spcPts val="0"/>
                        </a:spcAft>
                        <a:buClr>
                          <a:srgbClr val="1B4528"/>
                        </a:buClr>
                        <a:buSzPts val="900"/>
                        <a:buFont typeface="IBM Plex Sans"/>
                        <a:buNone/>
                      </a:pPr>
                      <a:r>
                        <a:rPr b="1" i="0" lang="da-DK" sz="900" u="none" cap="none" strike="noStrike">
                          <a:solidFill>
                            <a:srgbClr val="1B4528"/>
                          </a:solidFill>
                        </a:rPr>
                        <a:t>Virksomhedsledelse (B11)</a:t>
                      </a:r>
                      <a:endParaRPr/>
                    </a:p>
                    <a:p>
                      <a:pPr indent="-171450" lvl="0" marL="171450" marR="0" rtl="0" algn="l">
                        <a:spcBef>
                          <a:spcPts val="0"/>
                        </a:spcBef>
                        <a:spcAft>
                          <a:spcPts val="0"/>
                        </a:spcAft>
                        <a:buClr>
                          <a:srgbClr val="1B4528"/>
                        </a:buClr>
                        <a:buSzPts val="900"/>
                        <a:buFont typeface="Arial"/>
                        <a:buChar char="•"/>
                      </a:pPr>
                      <a:r>
                        <a:rPr b="0" i="0" lang="da-DK" sz="900" u="none" cap="none" strike="noStrike">
                          <a:solidFill>
                            <a:srgbClr val="1B4528"/>
                          </a:solidFill>
                        </a:rPr>
                        <a:t>Antal domme og bøder i relation til korruption &amp; bestikkelse</a:t>
                      </a:r>
                      <a:endParaRPr sz="1800" u="none" cap="none" strike="noStrike"/>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91" name="Google Shape;91;p2"/>
          <p:cNvGraphicFramePr/>
          <p:nvPr/>
        </p:nvGraphicFramePr>
        <p:xfrm>
          <a:off x="4344731" y="1047365"/>
          <a:ext cx="3000000" cy="3000000"/>
        </p:xfrm>
        <a:graphic>
          <a:graphicData uri="http://schemas.openxmlformats.org/drawingml/2006/table">
            <a:tbl>
              <a:tblPr firstRow="1">
                <a:noFill/>
                <a:tableStyleId>{BAEAA23F-C412-4D4F-A7DF-F315DCF0D262}</a:tableStyleId>
              </a:tblPr>
              <a:tblGrid>
                <a:gridCol w="716800"/>
                <a:gridCol w="2983350"/>
              </a:tblGrid>
              <a:tr h="251000">
                <a:tc gridSpan="2">
                  <a:txBody>
                    <a:bodyPr/>
                    <a:lstStyle/>
                    <a:p>
                      <a:pPr indent="0" lvl="0" marL="0" marR="0" rtl="0" algn="l">
                        <a:spcBef>
                          <a:spcPts val="0"/>
                        </a:spcBef>
                        <a:spcAft>
                          <a:spcPts val="0"/>
                        </a:spcAft>
                        <a:buNone/>
                      </a:pPr>
                      <a:r>
                        <a:rPr b="1" lang="da-DK" sz="1200" u="none" cap="none" strike="noStrike">
                          <a:solidFill>
                            <a:schemeClr val="dk2"/>
                          </a:solidFill>
                          <a:latin typeface="IBM Plex Sans"/>
                          <a:ea typeface="IBM Plex Sans"/>
                          <a:cs typeface="IBM Plex Sans"/>
                          <a:sym typeface="IBM Plex Sans"/>
                        </a:rPr>
                        <a:t>E-data</a:t>
                      </a:r>
                      <a:r>
                        <a:rPr b="1" lang="da-DK" sz="900" u="none" cap="none" strike="noStrike">
                          <a:solidFill>
                            <a:schemeClr val="dk2"/>
                          </a:solidFill>
                          <a:latin typeface="IBM Plex Sans"/>
                          <a:ea typeface="IBM Plex Sans"/>
                          <a:cs typeface="IBM Plex Sans"/>
                          <a:sym typeface="IBM Plex Sans"/>
                        </a:rPr>
                        <a:t> </a:t>
                      </a:r>
                      <a:endParaRPr b="0" sz="9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BC7BF"/>
                    </a:solidFill>
                  </a:tcPr>
                </a:tc>
                <a:tc hMerge="1"/>
              </a:tr>
              <a:tr h="331475">
                <a:tc>
                  <a:txBody>
                    <a:bodyPr/>
                    <a:lstStyle/>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u="none" cap="none" strike="noStrike">
                          <a:solidFill>
                            <a:schemeClr val="dk2"/>
                          </a:solidFill>
                          <a:latin typeface="IBM Plex Sans"/>
                          <a:ea typeface="IBM Plex Sans"/>
                          <a:cs typeface="IBM Plex Sans"/>
                          <a:sym typeface="IBM Plex Sans"/>
                        </a:rPr>
                        <a:t>Energiforbrug (B3)</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Elektricitet: Vedvarende/Ikke-vedvarende</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Brændstoffer: Vedvarende/Ikke-vedvarende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1475">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Kan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u="none" cap="none" strike="noStrike">
                          <a:solidFill>
                            <a:schemeClr val="dk2"/>
                          </a:solidFill>
                        </a:rPr>
                        <a:t>CO₂e-udledninger (B3)</a:t>
                      </a:r>
                      <a:endParaRPr b="0" sz="900" u="none" cap="none" strike="noStrike">
                        <a:solidFill>
                          <a:schemeClr val="dk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Scope 1 CO₂e udledninger </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Scope 2 CO₂e udledninger</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CO₂e-intensitet </a:t>
                      </a:r>
                      <a:endParaRPr/>
                    </a:p>
                    <a:p>
                      <a:pPr indent="-114300" lvl="0" marL="17145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Scope 3 CO₂e udledninger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1475">
                <a:tc>
                  <a:txBody>
                    <a:bodyPr/>
                    <a:lstStyle/>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 hvis relevant</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u="none" cap="none" strike="noStrike">
                          <a:solidFill>
                            <a:schemeClr val="dk2"/>
                          </a:solidFill>
                          <a:latin typeface="IBM Plex Sans"/>
                          <a:ea typeface="IBM Plex Sans"/>
                          <a:cs typeface="IBM Plex Sans"/>
                          <a:sym typeface="IBM Plex Sans"/>
                        </a:rPr>
                        <a:t>Forurening af luft, vand og jord (B4)</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Kun et oplysningskrav, hvis din virksomhed i forvejen rapporterer om forurening som følge af lovkrav eller på frivilligt basis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1475">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 hvis relevant</a:t>
                      </a:r>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Kan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u="none" cap="none" strike="noStrike">
                          <a:solidFill>
                            <a:schemeClr val="dk2"/>
                          </a:solidFill>
                          <a:latin typeface="IBM Plex Sans"/>
                          <a:ea typeface="IBM Plex Sans"/>
                          <a:cs typeface="IBM Plex Sans"/>
                          <a:sym typeface="IBM Plex Sans"/>
                        </a:rPr>
                        <a:t>Biodiversitet (B5)</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Opgørelse af virksomhedens områder i nærheden af eller i 'biodiversitetsfølsomme områder’</a:t>
                      </a:r>
                      <a:endParaRPr/>
                    </a:p>
                    <a:p>
                      <a:pPr indent="-114300" lvl="0" marL="17145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Virksomhedens arealforbrug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1475">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 hvis relevant</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u="none" cap="none" strike="noStrike">
                          <a:solidFill>
                            <a:schemeClr val="dk2"/>
                          </a:solidFill>
                          <a:latin typeface="IBM Plex Sans"/>
                          <a:ea typeface="IBM Plex Sans"/>
                          <a:cs typeface="IBM Plex Sans"/>
                          <a:sym typeface="IBM Plex Sans"/>
                        </a:rPr>
                        <a:t>Vand (B6)</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Udtagning af vand</a:t>
                      </a:r>
                      <a:endParaRPr/>
                    </a:p>
                    <a:p>
                      <a:pPr indent="0" lvl="0" marL="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Vandforbrug </a:t>
                      </a:r>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1475">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 hvis relevant</a:t>
                      </a:r>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u="none" cap="none" strike="noStrike">
                          <a:solidFill>
                            <a:schemeClr val="dk2"/>
                          </a:solidFill>
                          <a:latin typeface="IBM Plex Sans"/>
                          <a:ea typeface="IBM Plex Sans"/>
                          <a:cs typeface="IBM Plex Sans"/>
                          <a:sym typeface="IBM Plex Sans"/>
                        </a:rPr>
                        <a:t>Ressourceforbrug, cirkulær økonomi og affaldshåndtering (B7)</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Anvendelse af principper fra cirkulær økonomi (JA/NEJ). </a:t>
                      </a:r>
                      <a:br>
                        <a:rPr b="0" lang="da-DK" sz="900" u="none" cap="none" strike="noStrike">
                          <a:solidFill>
                            <a:srgbClr val="1B4528"/>
                          </a:solidFill>
                          <a:latin typeface="IBM Plex Sans"/>
                          <a:ea typeface="IBM Plex Sans"/>
                          <a:cs typeface="IBM Plex Sans"/>
                          <a:sym typeface="IBM Plex Sans"/>
                        </a:rPr>
                      </a:br>
                      <a:r>
                        <a:rPr b="0" lang="da-DK" sz="900" u="none" cap="none" strike="noStrike">
                          <a:solidFill>
                            <a:schemeClr val="dk2"/>
                          </a:solidFill>
                          <a:latin typeface="IBM Plex Sans"/>
                          <a:ea typeface="IBM Plex Sans"/>
                          <a:cs typeface="IBM Plex Sans"/>
                          <a:sym typeface="IBM Plex Sans"/>
                        </a:rPr>
                        <a:t>Hvis JA: Beskrivelse af, hvordan der  arbejdes med principper fra cirkulær økonomi </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Total mængde affald årligt (farligt/ikke-farligt)</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Total mængde affald, der sendes til genbrug eller genanvendelse </a:t>
                      </a:r>
                      <a:endParaRPr/>
                    </a:p>
                    <a:p>
                      <a:pPr indent="-114300" lvl="0" marL="17145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Hvis din virksomhed opererer i en materialetung sektor, skal der oplyses om det årlige masse-flow for virksomhedens centrale materialer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92" name="Google Shape;92;p2"/>
          <p:cNvGraphicFramePr/>
          <p:nvPr/>
        </p:nvGraphicFramePr>
        <p:xfrm>
          <a:off x="518600" y="1047365"/>
          <a:ext cx="3000000" cy="3000000"/>
        </p:xfrm>
        <a:graphic>
          <a:graphicData uri="http://schemas.openxmlformats.org/drawingml/2006/table">
            <a:tbl>
              <a:tblPr firstRow="1">
                <a:noFill/>
                <a:tableStyleId>{BAEAA23F-C412-4D4F-A7DF-F315DCF0D262}</a:tableStyleId>
              </a:tblPr>
              <a:tblGrid>
                <a:gridCol w="654425"/>
                <a:gridCol w="3057225"/>
              </a:tblGrid>
              <a:tr h="245225">
                <a:tc gridSpan="2">
                  <a:txBody>
                    <a:bodyPr/>
                    <a:lstStyle/>
                    <a:p>
                      <a:pPr indent="0" lvl="0" marL="0" marR="0" rtl="0" algn="l">
                        <a:lnSpc>
                          <a:spcPct val="100000"/>
                        </a:lnSpc>
                        <a:spcBef>
                          <a:spcPts val="0"/>
                        </a:spcBef>
                        <a:spcAft>
                          <a:spcPts val="0"/>
                        </a:spcAft>
                        <a:buClr>
                          <a:schemeClr val="dk2"/>
                        </a:buClr>
                        <a:buSzPts val="1200"/>
                        <a:buFont typeface="IBM Plex Sans"/>
                        <a:buNone/>
                      </a:pPr>
                      <a:r>
                        <a:rPr b="1" lang="da-DK" sz="1200" u="none" cap="none" strike="noStrike">
                          <a:solidFill>
                            <a:schemeClr val="dk2"/>
                          </a:solidFill>
                          <a:latin typeface="IBM Plex Sans"/>
                          <a:ea typeface="IBM Plex Sans"/>
                          <a:cs typeface="IBM Plex Sans"/>
                          <a:sym typeface="IBM Plex Sans"/>
                        </a:rPr>
                        <a:t>Generelle oplysninger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2048675">
                <a:tc>
                  <a:txBody>
                    <a:bodyPr/>
                    <a:lstStyle/>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 hvis relevant</a:t>
                      </a:r>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 hvis relevant</a:t>
                      </a:r>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chemeClr val="dk2"/>
                        </a:buClr>
                        <a:buSzPts val="900"/>
                        <a:buFont typeface="Arial"/>
                        <a:buNone/>
                      </a:pPr>
                      <a:r>
                        <a:rPr b="1" lang="da-DK" sz="900" u="none" cap="none" strike="noStrike">
                          <a:solidFill>
                            <a:schemeClr val="dk2"/>
                          </a:solidFill>
                          <a:latin typeface="IBM Plex Sans"/>
                          <a:ea typeface="IBM Plex Sans"/>
                          <a:cs typeface="IBM Plex Sans"/>
                          <a:sym typeface="IBM Plex Sans"/>
                        </a:rPr>
                        <a:t>Grundlag for udarbejdelse (B1)</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Virksomhedens juridiske form</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NACE sektor kode(r)</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Balancesum</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Omsætning </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Antal ansatte </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Adresser og geolokation på væsentlige aktiver og anlæg, som virksomheden ejer, lejer eller kontrollerer</a:t>
                      </a:r>
                      <a:endParaRPr/>
                    </a:p>
                    <a:p>
                      <a:pPr indent="0" lvl="0" marL="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Eventuelle udeladelser grundet fortrolighed</a:t>
                      </a:r>
                      <a:endParaRPr/>
                    </a:p>
                    <a:p>
                      <a:pPr indent="-114300" lvl="0" marL="17145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Kort beskrivelse af din virksomheds eventuelle ESG-certifikat eller miljø)mærker</a:t>
                      </a:r>
                      <a:endParaRPr b="0" sz="900" u="none" cap="none" strike="noStrike">
                        <a:solidFill>
                          <a:schemeClr val="dk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993000">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 hvis relevant</a:t>
                      </a:r>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chemeClr val="dk2"/>
                        </a:buClr>
                        <a:buSzPts val="900"/>
                        <a:buFont typeface="Arial"/>
                        <a:buNone/>
                      </a:pPr>
                      <a:r>
                        <a:rPr b="1" lang="da-DK" sz="900" u="none" cap="none" strike="noStrike">
                          <a:solidFill>
                            <a:schemeClr val="dk2"/>
                          </a:solidFill>
                          <a:latin typeface="IBM Plex Sans"/>
                          <a:ea typeface="IBM Plex Sans"/>
                          <a:cs typeface="IBM Plex Sans"/>
                          <a:sym typeface="IBM Plex Sans"/>
                        </a:rPr>
                        <a:t>Indsatser, politikker og fremtidige initiativer for omstilling til en mere bæredygtig økonomi (B2)</a:t>
                      </a:r>
                      <a:endParaRPr b="0" sz="900" u="none" cap="none" strike="noStrike">
                        <a:solidFill>
                          <a:schemeClr val="dk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Hvis din virksomhed allerede har konkrete indsatser, politikker eller initiativer, der understøtter omstilling til en mere bæredygtig økonomi, skal dette oplyses ved at svare JA/NEJ i oplysningsskemaet 	</a:t>
                      </a:r>
                      <a:endParaRPr/>
                    </a:p>
                    <a:p>
                      <a:pPr indent="0" lvl="0" marL="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 name="Shape 96"/>
        <p:cNvGrpSpPr/>
        <p:nvPr/>
      </p:nvGrpSpPr>
      <p:grpSpPr>
        <a:xfrm>
          <a:off x="0" y="0"/>
          <a:ext cx="0" cy="0"/>
          <a:chOff x="0" y="0"/>
          <a:chExt cx="0" cy="0"/>
        </a:xfrm>
      </p:grpSpPr>
      <p:sp>
        <p:nvSpPr>
          <p:cNvPr id="97" name="Google Shape;97;p3"/>
          <p:cNvSpPr txBox="1"/>
          <p:nvPr>
            <p:ph type="title"/>
          </p:nvPr>
        </p:nvSpPr>
        <p:spPr>
          <a:xfrm>
            <a:off x="518600" y="459063"/>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Overblik over oplysningspunkter i </a:t>
            </a:r>
            <a:r>
              <a:rPr lang="da-DK" u="sng"/>
              <a:t>Udvidet Modul </a:t>
            </a:r>
            <a:endParaRPr/>
          </a:p>
        </p:txBody>
      </p:sp>
      <p:graphicFrame>
        <p:nvGraphicFramePr>
          <p:cNvPr id="98" name="Google Shape;98;p3"/>
          <p:cNvGraphicFramePr/>
          <p:nvPr/>
        </p:nvGraphicFramePr>
        <p:xfrm>
          <a:off x="8170863" y="1061509"/>
          <a:ext cx="3000000" cy="3000000"/>
        </p:xfrm>
        <a:graphic>
          <a:graphicData uri="http://schemas.openxmlformats.org/drawingml/2006/table">
            <a:tbl>
              <a:tblPr firstRow="1">
                <a:noFill/>
                <a:tableStyleId>{BAEAA23F-C412-4D4F-A7DF-F315DCF0D262}</a:tableStyleId>
              </a:tblPr>
              <a:tblGrid>
                <a:gridCol w="659100"/>
                <a:gridCol w="3048000"/>
              </a:tblGrid>
              <a:tr h="223775">
                <a:tc gridSpan="2">
                  <a:txBody>
                    <a:bodyPr/>
                    <a:lstStyle/>
                    <a:p>
                      <a:pPr indent="0" lvl="0" marL="0" marR="0" rtl="0" algn="l">
                        <a:spcBef>
                          <a:spcPts val="0"/>
                        </a:spcBef>
                        <a:spcAft>
                          <a:spcPts val="0"/>
                        </a:spcAft>
                        <a:buNone/>
                      </a:pPr>
                      <a:r>
                        <a:rPr b="1" lang="da-DK" sz="1200" u="none" cap="none" strike="noStrike">
                          <a:solidFill>
                            <a:schemeClr val="dk2"/>
                          </a:solidFill>
                          <a:latin typeface="IBM Plex Sans"/>
                          <a:ea typeface="IBM Plex Sans"/>
                          <a:cs typeface="IBM Plex Sans"/>
                          <a:sym typeface="IBM Plex Sans"/>
                        </a:rPr>
                        <a:t>S-data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BC7BF"/>
                    </a:solidFill>
                  </a:tcPr>
                </a:tc>
                <a:tc hMerge="1"/>
              </a:tr>
              <a:tr h="325925">
                <a:tc>
                  <a:txBody>
                    <a:bodyPr/>
                    <a:lstStyle/>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Kan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spcBef>
                          <a:spcPts val="0"/>
                        </a:spcBef>
                        <a:spcAft>
                          <a:spcPts val="0"/>
                        </a:spcAft>
                        <a:buClr>
                          <a:srgbClr val="1B4528"/>
                        </a:buClr>
                        <a:buSzPts val="900"/>
                        <a:buFont typeface="IBM Plex Sans"/>
                        <a:buNone/>
                      </a:pPr>
                      <a:r>
                        <a:rPr b="1" i="0" lang="da-DK" sz="900" u="none" cap="none" strike="noStrike">
                          <a:solidFill>
                            <a:srgbClr val="1B4528"/>
                          </a:solidFill>
                        </a:rPr>
                        <a:t>Supplerende (generelle) oplysninger om arbejdsstyrken (C5)</a:t>
                      </a:r>
                      <a:endParaRPr b="0" i="0" sz="900" u="none" cap="none" strike="noStrike">
                        <a:solidFill>
                          <a:srgbClr val="1B4528"/>
                        </a:solidFill>
                      </a:endParaRPr>
                    </a:p>
                    <a:p>
                      <a:pPr indent="-171450" lvl="0" marL="171450" marR="0" rtl="0" algn="l">
                        <a:spcBef>
                          <a:spcPts val="0"/>
                        </a:spcBef>
                        <a:spcAft>
                          <a:spcPts val="0"/>
                        </a:spcAft>
                        <a:buClr>
                          <a:schemeClr val="dk2"/>
                        </a:buClr>
                        <a:buSzPts val="900"/>
                        <a:buFont typeface="Arial"/>
                        <a:buChar char="•"/>
                      </a:pPr>
                      <a:r>
                        <a:rPr b="0" i="0" lang="da-DK" sz="900" u="none" cap="none" strike="noStrike">
                          <a:solidFill>
                            <a:schemeClr val="dk2"/>
                          </a:solidFill>
                        </a:rPr>
                        <a:t>Forholdet mellem kvinder og mænd på ledelsesniveau </a:t>
                      </a:r>
                      <a:endParaRPr/>
                    </a:p>
                    <a:p>
                      <a:pPr indent="-171450" lvl="0" marL="171450" marR="0" rtl="0" algn="l">
                        <a:spcBef>
                          <a:spcPts val="0"/>
                        </a:spcBef>
                        <a:spcAft>
                          <a:spcPts val="0"/>
                        </a:spcAft>
                        <a:buClr>
                          <a:schemeClr val="dk2"/>
                        </a:buClr>
                        <a:buSzPts val="900"/>
                        <a:buFont typeface="Arial"/>
                        <a:buChar char="•"/>
                      </a:pPr>
                      <a:r>
                        <a:rPr b="0" i="0" lang="da-DK" sz="900" u="none" cap="none" strike="noStrike">
                          <a:solidFill>
                            <a:schemeClr val="dk2"/>
                          </a:solidFill>
                        </a:rPr>
                        <a:t>Antal selvstændige, som arbejder for din virksomhed</a:t>
                      </a:r>
                      <a:endParaRPr/>
                    </a:p>
                    <a:p>
                      <a:pPr indent="-171450" lvl="0" marL="171450" marR="0" rtl="0" algn="l">
                        <a:spcBef>
                          <a:spcPts val="0"/>
                        </a:spcBef>
                        <a:spcAft>
                          <a:spcPts val="0"/>
                        </a:spcAft>
                        <a:buClr>
                          <a:schemeClr val="dk2"/>
                        </a:buClr>
                        <a:buSzPts val="900"/>
                        <a:buFont typeface="Arial"/>
                        <a:buChar char="•"/>
                      </a:pPr>
                      <a:r>
                        <a:rPr b="0" i="0" lang="da-DK" sz="900" u="none" cap="none" strike="noStrike">
                          <a:solidFill>
                            <a:schemeClr val="dk2"/>
                          </a:solidFill>
                        </a:rPr>
                        <a:t>Antal vikarer, som arbejder for din virksomhed </a:t>
                      </a:r>
                      <a:endParaRPr/>
                    </a:p>
                    <a:p>
                      <a:pPr indent="0" lvl="0" marL="0" marR="0" rtl="0" algn="l">
                        <a:spcBef>
                          <a:spcPts val="0"/>
                        </a:spcBef>
                        <a:spcAft>
                          <a:spcPts val="0"/>
                        </a:spcAft>
                        <a:buClr>
                          <a:schemeClr val="dk1"/>
                        </a:buClr>
                        <a:buSzPts val="900"/>
                        <a:buFont typeface="Arial"/>
                        <a:buNone/>
                      </a:pPr>
                      <a:r>
                        <a:t/>
                      </a:r>
                      <a:endParaRPr b="0" i="0" sz="900" u="none" cap="none" strike="noStrike">
                        <a:solidFill>
                          <a:schemeClr val="dk2"/>
                        </a:solidFill>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5925">
                <a:tc>
                  <a:txBody>
                    <a:bodyPr/>
                    <a:lstStyle/>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spcBef>
                          <a:spcPts val="0"/>
                        </a:spcBef>
                        <a:spcAft>
                          <a:spcPts val="0"/>
                        </a:spcAft>
                        <a:buClr>
                          <a:srgbClr val="1B4528"/>
                        </a:buClr>
                        <a:buSzPts val="900"/>
                        <a:buFont typeface="IBM Plex Sans"/>
                        <a:buNone/>
                      </a:pPr>
                      <a:r>
                        <a:rPr b="1" i="0" lang="da-DK" sz="900" u="none" cap="none" strike="noStrike">
                          <a:solidFill>
                            <a:srgbClr val="1B4528"/>
                          </a:solidFill>
                          <a:latin typeface="IBM Plex Sans"/>
                          <a:ea typeface="IBM Plex Sans"/>
                          <a:cs typeface="IBM Plex Sans"/>
                          <a:sym typeface="IBM Plex Sans"/>
                        </a:rPr>
                        <a:t>Egen arbejdsstyrke: Menneskerettighedspolitikker og processer (C6)</a:t>
                      </a:r>
                      <a:endParaRPr b="0" i="0" sz="900" u="none" cap="none" strike="noStrike">
                        <a:solidFill>
                          <a:srgbClr val="1B4528"/>
                        </a:solidFill>
                        <a:latin typeface="IBM Plex Sans"/>
                        <a:ea typeface="IBM Plex Sans"/>
                        <a:cs typeface="IBM Plex Sans"/>
                        <a:sym typeface="IBM Plex Sans"/>
                      </a:endParaRPr>
                    </a:p>
                    <a:p>
                      <a:pPr indent="-171450" lvl="0" marL="171450" marR="0" rtl="0" algn="l">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Oplysning om ”code of conduct” </a:t>
                      </a:r>
                      <a:r>
                        <a:rPr b="0" i="0" lang="da-DK" sz="900" u="none" cap="none" strike="noStrike">
                          <a:solidFill>
                            <a:schemeClr val="dk2"/>
                          </a:solidFill>
                          <a:latin typeface="IBM Plex Sans"/>
                          <a:ea typeface="IBM Plex Sans"/>
                          <a:cs typeface="IBM Plex Sans"/>
                          <a:sym typeface="IBM Plex Sans"/>
                        </a:rPr>
                        <a:t>eller</a:t>
                      </a:r>
                      <a:r>
                        <a:rPr b="0" lang="da-DK" sz="900" u="none" cap="none" strike="noStrike">
                          <a:solidFill>
                            <a:schemeClr val="dk2"/>
                          </a:solidFill>
                          <a:latin typeface="IBM Plex Sans"/>
                          <a:ea typeface="IBM Plex Sans"/>
                          <a:cs typeface="IBM Plex Sans"/>
                          <a:sym typeface="IBM Plex Sans"/>
                        </a:rPr>
                        <a:t> menneskerettighedspolitik for din virksomheds </a:t>
                      </a:r>
                      <a:r>
                        <a:rPr b="0" lang="da-DK" sz="900" u="sng" cap="none" strike="noStrike">
                          <a:solidFill>
                            <a:schemeClr val="dk2"/>
                          </a:solidFill>
                          <a:latin typeface="IBM Plex Sans"/>
                          <a:ea typeface="IBM Plex Sans"/>
                          <a:cs typeface="IBM Plex Sans"/>
                          <a:sym typeface="IBM Plex Sans"/>
                        </a:rPr>
                        <a:t>egen arbejdsstyrke</a:t>
                      </a:r>
                      <a:r>
                        <a:rPr b="0" lang="da-DK" sz="900" u="none" cap="none" strike="noStrike">
                          <a:solidFill>
                            <a:schemeClr val="dk2"/>
                          </a:solidFill>
                          <a:latin typeface="IBM Plex Sans"/>
                          <a:ea typeface="IBM Plex Sans"/>
                          <a:cs typeface="IBM Plex Sans"/>
                          <a:sym typeface="IBM Plex Sans"/>
                        </a:rPr>
                        <a:t> (JA/NEJ)</a:t>
                      </a:r>
                      <a:endParaRPr/>
                    </a:p>
                    <a:p>
                      <a:pPr indent="-171450" lvl="0" marL="171450" marR="0" rtl="0" algn="l">
                        <a:spcBef>
                          <a:spcPts val="0"/>
                        </a:spcBef>
                        <a:spcAft>
                          <a:spcPts val="0"/>
                        </a:spcAft>
                        <a:buClr>
                          <a:schemeClr val="dk2"/>
                        </a:buClr>
                        <a:buSzPts val="900"/>
                        <a:buFont typeface="Arial"/>
                        <a:buChar char="•"/>
                      </a:pPr>
                      <a:r>
                        <a:rPr b="0" lang="da-DK" sz="900" u="none" cap="none" strike="noStrike">
                          <a:solidFill>
                            <a:schemeClr val="dk2"/>
                          </a:solidFill>
                        </a:rPr>
                        <a:t>Oplysning om klagemekanisme for virksomhedens </a:t>
                      </a:r>
                      <a:r>
                        <a:rPr b="0" lang="da-DK" sz="900" u="sng" cap="none" strike="noStrike">
                          <a:solidFill>
                            <a:schemeClr val="dk2"/>
                          </a:solidFill>
                        </a:rPr>
                        <a:t>egne ansatte </a:t>
                      </a:r>
                      <a:r>
                        <a:rPr b="0" lang="da-DK" sz="900" u="none" cap="none" strike="noStrike">
                          <a:solidFill>
                            <a:schemeClr val="dk2"/>
                          </a:solidFill>
                        </a:rPr>
                        <a:t>(JA/NEJ)</a:t>
                      </a:r>
                      <a:endParaRPr/>
                    </a:p>
                    <a:p>
                      <a:pPr indent="0" lvl="0" marL="0" marR="0" rtl="0" algn="l">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5925">
                <a:tc>
                  <a:txBody>
                    <a:bodyPr/>
                    <a:lstStyle/>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Arial"/>
                        <a:buNone/>
                      </a:pPr>
                      <a:r>
                        <a:rPr b="0" i="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 hvis relevant</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rgbClr val="1B4528"/>
                        </a:buClr>
                        <a:buSzPts val="900"/>
                        <a:buFont typeface="Arial"/>
                        <a:buNone/>
                      </a:pPr>
                      <a:r>
                        <a:rPr b="1" i="0" lang="da-DK" sz="900" u="none" cap="none" strike="noStrike">
                          <a:solidFill>
                            <a:srgbClr val="1B4528"/>
                          </a:solidFill>
                          <a:latin typeface="IBM Plex Sans"/>
                          <a:ea typeface="IBM Plex Sans"/>
                          <a:cs typeface="IBM Plex Sans"/>
                          <a:sym typeface="IBM Plex Sans"/>
                        </a:rPr>
                        <a:t>Alvorlige negative menneskerettighedshændelser (egen arbejdsstyrke + værdikæde) (C7)</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Bekræftede negative menneskerettighedshændelser for din virksomheds </a:t>
                      </a:r>
                      <a:r>
                        <a:rPr b="0" lang="da-DK" sz="900" u="sng" cap="none" strike="noStrike">
                          <a:solidFill>
                            <a:schemeClr val="dk2"/>
                          </a:solidFill>
                          <a:latin typeface="IBM Plex Sans"/>
                          <a:ea typeface="IBM Plex Sans"/>
                          <a:cs typeface="IBM Plex Sans"/>
                          <a:sym typeface="IBM Plex Sans"/>
                        </a:rPr>
                        <a:t>egen arbejdsstyrke</a:t>
                      </a:r>
                      <a:r>
                        <a:rPr b="0" lang="da-DK" sz="900" u="none" cap="none" strike="noStrike">
                          <a:solidFill>
                            <a:schemeClr val="dk2"/>
                          </a:solidFill>
                          <a:latin typeface="IBM Plex Sans"/>
                          <a:ea typeface="IBM Plex Sans"/>
                          <a:cs typeface="IBM Plex Sans"/>
                          <a:sym typeface="IBM Plex Sans"/>
                        </a:rPr>
                        <a:t> </a:t>
                      </a:r>
                      <a:endParaRPr/>
                    </a:p>
                    <a:p>
                      <a:pPr indent="0" lvl="0" marL="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Bekræftede negative menneskerettighedshændelser i din virksomheds </a:t>
                      </a:r>
                      <a:r>
                        <a:rPr b="0" lang="da-DK" sz="900" u="sng" cap="none" strike="noStrike">
                          <a:solidFill>
                            <a:schemeClr val="dk2"/>
                          </a:solidFill>
                          <a:latin typeface="IBM Plex Sans"/>
                          <a:ea typeface="IBM Plex Sans"/>
                          <a:cs typeface="IBM Plex Sans"/>
                          <a:sym typeface="IBM Plex Sans"/>
                        </a:rPr>
                        <a:t>værdikæde</a:t>
                      </a:r>
                      <a:endParaRPr/>
                    </a:p>
                    <a:p>
                      <a:pPr indent="0" lvl="0" marL="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99" name="Google Shape;99;p3"/>
          <p:cNvGraphicFramePr/>
          <p:nvPr/>
        </p:nvGraphicFramePr>
        <p:xfrm>
          <a:off x="8170863" y="4801523"/>
          <a:ext cx="3000000" cy="3000000"/>
        </p:xfrm>
        <a:graphic>
          <a:graphicData uri="http://schemas.openxmlformats.org/drawingml/2006/table">
            <a:tbl>
              <a:tblPr firstRow="1">
                <a:noFill/>
                <a:tableStyleId>{BAEAA23F-C412-4D4F-A7DF-F315DCF0D262}</a:tableStyleId>
              </a:tblPr>
              <a:tblGrid>
                <a:gridCol w="676000"/>
                <a:gridCol w="3031100"/>
              </a:tblGrid>
              <a:tr h="227875">
                <a:tc gridSpan="2">
                  <a:txBody>
                    <a:bodyPr/>
                    <a:lstStyle/>
                    <a:p>
                      <a:pPr indent="0" lvl="0" marL="0" marR="0" rtl="0" algn="l">
                        <a:spcBef>
                          <a:spcPts val="0"/>
                        </a:spcBef>
                        <a:spcAft>
                          <a:spcPts val="0"/>
                        </a:spcAft>
                        <a:buNone/>
                      </a:pPr>
                      <a:r>
                        <a:rPr b="1" lang="da-DK" sz="1200" u="none" cap="none" strike="noStrike">
                          <a:solidFill>
                            <a:schemeClr val="dk2"/>
                          </a:solidFill>
                          <a:latin typeface="IBM Plex Sans"/>
                          <a:ea typeface="IBM Plex Sans"/>
                          <a:cs typeface="IBM Plex Sans"/>
                          <a:sym typeface="IBM Plex Sans"/>
                        </a:rPr>
                        <a:t>G-data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BC7BF"/>
                    </a:solidFill>
                  </a:tcPr>
                </a:tc>
                <a:tc hMerge="1"/>
              </a:tr>
              <a:tr h="325925">
                <a:tc>
                  <a:txBody>
                    <a:bodyPr/>
                    <a:lstStyle/>
                    <a:p>
                      <a:pPr indent="0" lvl="0" marL="0" marR="0" rtl="0" algn="l">
                        <a:spcBef>
                          <a:spcPts val="0"/>
                        </a:spcBef>
                        <a:spcAft>
                          <a:spcPts val="0"/>
                        </a:spcAft>
                        <a:buNone/>
                      </a:pPr>
                      <a:r>
                        <a:t/>
                      </a:r>
                      <a:endParaRPr b="0" sz="18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 hvis relevant</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spcBef>
                          <a:spcPts val="0"/>
                        </a:spcBef>
                        <a:spcAft>
                          <a:spcPts val="0"/>
                        </a:spcAft>
                        <a:buClr>
                          <a:srgbClr val="1B4528"/>
                        </a:buClr>
                        <a:buSzPts val="900"/>
                        <a:buFont typeface="IBM Plex Sans"/>
                        <a:buNone/>
                      </a:pPr>
                      <a:r>
                        <a:rPr b="1" i="0" lang="da-DK" sz="900" u="none" cap="none" strike="noStrike">
                          <a:solidFill>
                            <a:srgbClr val="1B4528"/>
                          </a:solidFill>
                        </a:rPr>
                        <a:t>Indtægter fra bestemte aktiviteter og udelukkelse fra EU-referencebenchmarks (C8)</a:t>
                      </a:r>
                      <a:endParaRPr/>
                    </a:p>
                    <a:p>
                      <a:pPr indent="-171450" lvl="0" marL="171450" marR="0" rtl="0" algn="l">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Indtægter fra udvalgte sektorer </a:t>
                      </a:r>
                      <a:endParaRPr/>
                    </a:p>
                    <a:p>
                      <a:pPr indent="-171450" lvl="0" marL="171450" marR="0" rtl="0" algn="l">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Overskridelse af EU-benchmarks i overensstemmelse med Parisaftalen </a:t>
                      </a:r>
                      <a:endParaRPr/>
                    </a:p>
                    <a:p>
                      <a:pPr indent="0" lvl="0" marL="0" marR="0" rtl="0" algn="l">
                        <a:spcBef>
                          <a:spcPts val="0"/>
                        </a:spcBef>
                        <a:spcAft>
                          <a:spcPts val="0"/>
                        </a:spcAft>
                        <a:buClr>
                          <a:schemeClr val="dk1"/>
                        </a:buClr>
                        <a:buSzPts val="900"/>
                        <a:buFont typeface="Arial"/>
                        <a:buNone/>
                      </a:pPr>
                      <a:r>
                        <a:t/>
                      </a:r>
                      <a:endParaRPr b="0" i="0" sz="900" u="none" cap="none" strike="noStrike">
                        <a:solidFill>
                          <a:srgbClr val="1B4528"/>
                        </a:solidFill>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5925">
                <a:tc>
                  <a:txBody>
                    <a:bodyPr/>
                    <a:lstStyle/>
                    <a:p>
                      <a:pPr indent="0" lvl="0" marL="0" marR="0" rtl="0" algn="l">
                        <a:lnSpc>
                          <a:spcPct val="100000"/>
                        </a:lnSpc>
                        <a:spcBef>
                          <a:spcPts val="0"/>
                        </a:spcBef>
                        <a:spcAft>
                          <a:spcPts val="0"/>
                        </a:spcAft>
                        <a:buClr>
                          <a:schemeClr val="dk1"/>
                        </a:buClr>
                        <a:buSzPts val="900"/>
                        <a:buFont typeface="Arial"/>
                        <a:buNone/>
                      </a:pPr>
                      <a:r>
                        <a:t/>
                      </a:r>
                      <a:endParaRPr b="0" i="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Arial"/>
                        <a:buNone/>
                      </a:pPr>
                      <a:r>
                        <a:rPr b="0" i="0" lang="da-DK" sz="900" u="none" cap="none" strike="noStrike">
                          <a:solidFill>
                            <a:schemeClr val="dk2"/>
                          </a:solidFill>
                          <a:latin typeface="IBM Plex Sans"/>
                          <a:ea typeface="IBM Plex Sans"/>
                          <a:cs typeface="IBM Plex Sans"/>
                          <a:sym typeface="IBM Plex Sans"/>
                        </a:rPr>
                        <a:t>Skal, hvis relevant</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rgbClr val="1B4528"/>
                        </a:buClr>
                        <a:buSzPts val="900"/>
                        <a:buFont typeface="IBM Plex Sans"/>
                        <a:buNone/>
                      </a:pPr>
                      <a:r>
                        <a:rPr b="1" i="0" lang="da-DK" sz="900" u="none" cap="none" strike="noStrike">
                          <a:solidFill>
                            <a:srgbClr val="1B4528"/>
                          </a:solidFill>
                        </a:rPr>
                        <a:t>Kønsfordeling i øverste ledelsesorgan </a:t>
                      </a:r>
                      <a:r>
                        <a:rPr b="1" i="0" lang="da-DK" sz="900" u="none" cap="none" strike="noStrike">
                          <a:solidFill>
                            <a:srgbClr val="1B4528"/>
                          </a:solidFill>
                          <a:latin typeface="IBM Plex Sans"/>
                          <a:ea typeface="IBM Plex Sans"/>
                          <a:cs typeface="IBM Plex Sans"/>
                          <a:sym typeface="IBM Plex Sans"/>
                        </a:rPr>
                        <a:t> (C9)</a:t>
                      </a:r>
                      <a:endParaRPr b="1" i="0" sz="900" u="none" cap="none" strike="noStrike">
                        <a:solidFill>
                          <a:schemeClr val="dk2"/>
                        </a:solidFill>
                      </a:endParaRPr>
                    </a:p>
                    <a:p>
                      <a:pPr indent="-171450" lvl="0" marL="171450" marR="0" rtl="0" algn="l">
                        <a:lnSpc>
                          <a:spcPct val="100000"/>
                        </a:lnSpc>
                        <a:spcBef>
                          <a:spcPts val="0"/>
                        </a:spcBef>
                        <a:spcAft>
                          <a:spcPts val="0"/>
                        </a:spcAft>
                        <a:buClr>
                          <a:schemeClr val="dk2"/>
                        </a:buClr>
                        <a:buSzPts val="900"/>
                        <a:buFont typeface="Arial"/>
                        <a:buChar char="•"/>
                      </a:pPr>
                      <a:r>
                        <a:rPr b="0" i="0" lang="da-DK" sz="900" u="none" cap="none" strike="noStrike">
                          <a:solidFill>
                            <a:schemeClr val="dk2"/>
                          </a:solidFill>
                        </a:rPr>
                        <a:t>Forholdet mellem kvinder og mænd</a:t>
                      </a:r>
                      <a:r>
                        <a:rPr b="0" lang="da-DK" sz="900" u="none" cap="none" strike="noStrike">
                          <a:solidFill>
                            <a:schemeClr val="dk2"/>
                          </a:solidFill>
                        </a:rPr>
                        <a:t> i det øverste ledelsesorgan </a:t>
                      </a:r>
                      <a:endParaRPr/>
                    </a:p>
                    <a:p>
                      <a:pPr indent="0" lvl="0" marL="0" marR="0" rtl="0" algn="l">
                        <a:lnSpc>
                          <a:spcPct val="100000"/>
                        </a:lnSpc>
                        <a:spcBef>
                          <a:spcPts val="0"/>
                        </a:spcBef>
                        <a:spcAft>
                          <a:spcPts val="0"/>
                        </a:spcAft>
                        <a:buClr>
                          <a:schemeClr val="dk1"/>
                        </a:buClr>
                        <a:buSzPts val="900"/>
                        <a:buFont typeface="Arial"/>
                        <a:buNone/>
                      </a:pPr>
                      <a:r>
                        <a:t/>
                      </a:r>
                      <a:endParaRPr b="0" i="0" sz="900" u="none" cap="none" strike="noStrike">
                        <a:solidFill>
                          <a:srgbClr val="1B4528"/>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100" name="Google Shape;100;p3"/>
          <p:cNvGraphicFramePr/>
          <p:nvPr/>
        </p:nvGraphicFramePr>
        <p:xfrm>
          <a:off x="4344731" y="1061509"/>
          <a:ext cx="3000000" cy="3000000"/>
        </p:xfrm>
        <a:graphic>
          <a:graphicData uri="http://schemas.openxmlformats.org/drawingml/2006/table">
            <a:tbl>
              <a:tblPr firstRow="1">
                <a:noFill/>
                <a:tableStyleId>{BAEAA23F-C412-4D4F-A7DF-F315DCF0D262}</a:tableStyleId>
              </a:tblPr>
              <a:tblGrid>
                <a:gridCol w="716800"/>
                <a:gridCol w="2983350"/>
              </a:tblGrid>
              <a:tr h="251000">
                <a:tc gridSpan="2">
                  <a:txBody>
                    <a:bodyPr/>
                    <a:lstStyle/>
                    <a:p>
                      <a:pPr indent="0" lvl="0" marL="0" marR="0" rtl="0" algn="l">
                        <a:spcBef>
                          <a:spcPts val="0"/>
                        </a:spcBef>
                        <a:spcAft>
                          <a:spcPts val="0"/>
                        </a:spcAft>
                        <a:buNone/>
                      </a:pPr>
                      <a:r>
                        <a:rPr b="1" lang="da-DK" sz="1200" u="none" cap="none" strike="noStrike">
                          <a:solidFill>
                            <a:schemeClr val="dk2"/>
                          </a:solidFill>
                          <a:latin typeface="IBM Plex Sans"/>
                          <a:ea typeface="IBM Plex Sans"/>
                          <a:cs typeface="IBM Plex Sans"/>
                          <a:sym typeface="IBM Plex Sans"/>
                        </a:rPr>
                        <a:t>E-data</a:t>
                      </a:r>
                      <a:r>
                        <a:rPr b="1" lang="da-DK" sz="900" u="none" cap="none" strike="noStrike">
                          <a:solidFill>
                            <a:schemeClr val="dk2"/>
                          </a:solidFill>
                          <a:latin typeface="IBM Plex Sans"/>
                          <a:ea typeface="IBM Plex Sans"/>
                          <a:cs typeface="IBM Plex Sans"/>
                          <a:sym typeface="IBM Plex Sans"/>
                        </a:rPr>
                        <a:t> </a:t>
                      </a:r>
                      <a:endParaRPr b="0" sz="9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BC7BF"/>
                    </a:solidFill>
                  </a:tcPr>
                </a:tc>
                <a:tc hMerge="1"/>
              </a:tr>
              <a:tr h="331475">
                <a:tc>
                  <a:txBody>
                    <a:bodyPr/>
                    <a:lstStyle/>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 hvis relevant</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u="none" cap="none" strike="noStrike">
                          <a:solidFill>
                            <a:schemeClr val="dk2"/>
                          </a:solidFill>
                          <a:latin typeface="IBM Plex Sans"/>
                          <a:ea typeface="IBM Plex Sans"/>
                          <a:cs typeface="IBM Plex Sans"/>
                          <a:sym typeface="IBM Plex Sans"/>
                        </a:rPr>
                        <a:t>Vurdér, om Scope 3 CO₂e-udledning er relevant at oplyse om for netop din virksomhed </a:t>
                      </a:r>
                      <a:endParaRPr b="0" sz="900" u="none" cap="none" strike="noStrike">
                        <a:solidFill>
                          <a:schemeClr val="dk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Scope 3 CO₂e-udledninger </a:t>
                      </a:r>
                      <a:endParaRPr/>
                    </a:p>
                    <a:p>
                      <a:pPr indent="0" lvl="0" marL="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1475">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 hvis relevant</a:t>
                      </a:r>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u="none" cap="none" strike="noStrike">
                          <a:solidFill>
                            <a:schemeClr val="dk2"/>
                          </a:solidFill>
                        </a:rPr>
                        <a:t>CO₂e-reduktionsmål og klimaomstilling (C3) </a:t>
                      </a:r>
                      <a:endParaRPr b="0" sz="900" u="none" cap="none" strike="noStrike">
                        <a:solidFill>
                          <a:schemeClr val="dk2"/>
                        </a:solidFill>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CO₂e</a:t>
                      </a:r>
                      <a:r>
                        <a:rPr b="0" lang="da-DK" sz="900" u="none" cap="none" strike="noStrike">
                          <a:solidFill>
                            <a:schemeClr val="dk2"/>
                          </a:solidFill>
                          <a:latin typeface="IBM Plex Sans"/>
                          <a:ea typeface="IBM Plex Sans"/>
                          <a:cs typeface="IBM Plex Sans"/>
                          <a:sym typeface="IBM Plex Sans"/>
                        </a:rPr>
                        <a:t>-reduktionsmål</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CO₂e</a:t>
                      </a:r>
                      <a:r>
                        <a:rPr b="0" lang="da-DK" sz="900" u="none" cap="none" strike="noStrike">
                          <a:solidFill>
                            <a:schemeClr val="dk2"/>
                          </a:solidFill>
                          <a:latin typeface="IBM Plex Sans"/>
                          <a:ea typeface="IBM Plex Sans"/>
                          <a:cs typeface="IBM Plex Sans"/>
                          <a:sym typeface="IBM Plex Sans"/>
                        </a:rPr>
                        <a:t>-udledning i baselineår</a:t>
                      </a:r>
                      <a:endParaRPr b="0" sz="900" u="none" cap="none" strike="noStrike">
                        <a:solidFill>
                          <a:schemeClr val="dk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Liste med de handlinger, der skal bidrage til at nå CO₂e-reduktionsmålene</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Omstillingsplan </a:t>
                      </a:r>
                      <a:r>
                        <a:rPr b="0" lang="da-DK" sz="900" u="none" cap="none" strike="noStrike">
                          <a:solidFill>
                            <a:schemeClr val="dk2"/>
                          </a:solidFill>
                        </a:rPr>
                        <a:t>for modvirkning af klimaforandringer </a:t>
                      </a:r>
                      <a:endParaRPr/>
                    </a:p>
                    <a:p>
                      <a:pPr indent="-114300" lvl="0" marL="17145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1475">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 hvis relevant</a:t>
                      </a:r>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Kan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u="none" cap="none" strike="noStrike">
                          <a:solidFill>
                            <a:schemeClr val="dk2"/>
                          </a:solidFill>
                          <a:latin typeface="IBM Plex Sans"/>
                          <a:ea typeface="IBM Plex Sans"/>
                          <a:cs typeface="IBM Plex Sans"/>
                          <a:sym typeface="IBM Plex Sans"/>
                        </a:rPr>
                        <a:t>Klimarisici (C4)</a:t>
                      </a:r>
                      <a:endParaRPr b="0" sz="900" u="none" cap="none" strike="noStrike">
                        <a:solidFill>
                          <a:schemeClr val="dk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Beskrivelse af klimarelaterede risici og/eller klimarelaterede omstillingsrisici </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E</a:t>
                      </a:r>
                      <a:r>
                        <a:rPr b="0" lang="da-DK" sz="900" u="none" cap="none" strike="noStrike">
                          <a:solidFill>
                            <a:schemeClr val="dk2"/>
                          </a:solidFill>
                        </a:rPr>
                        <a:t>ksponering og sårbarhed for virksomhedens </a:t>
                      </a:r>
                      <a:r>
                        <a:rPr b="0" lang="da-DK" sz="900" u="none" cap="none" strike="noStrike">
                          <a:solidFill>
                            <a:schemeClr val="dk2"/>
                          </a:solidFill>
                          <a:latin typeface="IBM Plex Sans"/>
                          <a:ea typeface="IBM Plex Sans"/>
                          <a:cs typeface="IBM Plex Sans"/>
                          <a:sym typeface="IBM Plex Sans"/>
                        </a:rPr>
                        <a:t>aktiver, aktiviteter og værdikæde </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Tidshorisont for, hvornår de klimarelaterede risici og </a:t>
                      </a:r>
                      <a:r>
                        <a:rPr b="0" lang="da-DK" sz="900" u="none" cap="none" strike="noStrike">
                          <a:solidFill>
                            <a:schemeClr val="dk2"/>
                          </a:solidFill>
                        </a:rPr>
                        <a:t>klimarelaterede omstillingsrisici forventes at få negativ indflydelse på virksomheden</a:t>
                      </a:r>
                      <a:endParaRPr b="0" sz="900" u="none" cap="none" strike="noStrike">
                        <a:solidFill>
                          <a:schemeClr val="accent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Oplysning om klimatilpasning (JA/NEJ)</a:t>
                      </a:r>
                      <a:endParaRPr/>
                    </a:p>
                    <a:p>
                      <a:pPr indent="0" lvl="0" marL="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Potentiel negativ påvirkning på virksomhedens finansielle præstation og forretningsdrift fra de oplistede klimarisici </a:t>
                      </a:r>
                      <a:endParaRPr/>
                    </a:p>
                    <a:p>
                      <a:pPr indent="0" lvl="0" marL="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101" name="Google Shape;101;p3"/>
          <p:cNvGraphicFramePr/>
          <p:nvPr/>
        </p:nvGraphicFramePr>
        <p:xfrm>
          <a:off x="518600" y="1061509"/>
          <a:ext cx="3000000" cy="3000000"/>
        </p:xfrm>
        <a:graphic>
          <a:graphicData uri="http://schemas.openxmlformats.org/drawingml/2006/table">
            <a:tbl>
              <a:tblPr firstRow="1">
                <a:noFill/>
                <a:tableStyleId>{BAEAA23F-C412-4D4F-A7DF-F315DCF0D262}</a:tableStyleId>
              </a:tblPr>
              <a:tblGrid>
                <a:gridCol w="654425"/>
                <a:gridCol w="3057225"/>
              </a:tblGrid>
              <a:tr h="223775">
                <a:tc gridSpan="2">
                  <a:txBody>
                    <a:bodyPr/>
                    <a:lstStyle/>
                    <a:p>
                      <a:pPr indent="0" lvl="0" marL="0" marR="0" rtl="0" algn="l">
                        <a:lnSpc>
                          <a:spcPct val="100000"/>
                        </a:lnSpc>
                        <a:spcBef>
                          <a:spcPts val="0"/>
                        </a:spcBef>
                        <a:spcAft>
                          <a:spcPts val="0"/>
                        </a:spcAft>
                        <a:buClr>
                          <a:schemeClr val="dk2"/>
                        </a:buClr>
                        <a:buSzPts val="1200"/>
                        <a:buFont typeface="IBM Plex Sans"/>
                        <a:buNone/>
                      </a:pPr>
                      <a:r>
                        <a:rPr b="1" lang="da-DK" sz="1200" u="none" cap="none" strike="noStrike">
                          <a:solidFill>
                            <a:schemeClr val="dk2"/>
                          </a:solidFill>
                          <a:latin typeface="IBM Plex Sans"/>
                          <a:ea typeface="IBM Plex Sans"/>
                          <a:cs typeface="IBM Plex Sans"/>
                          <a:sym typeface="IBM Plex Sans"/>
                        </a:rPr>
                        <a:t>Generelle oplysninger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325925">
                <a:tc>
                  <a:txBody>
                    <a:bodyPr/>
                    <a:lstStyle/>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a:t>
                      </a:r>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b="0" lang="da-DK" sz="900" u="none" cap="none" strike="noStrike">
                          <a:solidFill>
                            <a:schemeClr val="dk2"/>
                          </a:solidFill>
                          <a:latin typeface="IBM Plex Sans"/>
                          <a:ea typeface="IBM Plex Sans"/>
                          <a:cs typeface="IBM Plex Sans"/>
                          <a:sym typeface="IBM Plex Sans"/>
                        </a:rPr>
                        <a:t>Skal, hvis relevant</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chemeClr val="dk2"/>
                        </a:buClr>
                        <a:buSzPts val="900"/>
                        <a:buFont typeface="Arial"/>
                        <a:buNone/>
                      </a:pPr>
                      <a:r>
                        <a:rPr b="1" lang="da-DK" sz="900" u="none" cap="none" strike="noStrike">
                          <a:solidFill>
                            <a:schemeClr val="dk2"/>
                          </a:solidFill>
                          <a:latin typeface="IBM Plex Sans"/>
                          <a:ea typeface="IBM Plex Sans"/>
                          <a:cs typeface="IBM Plex Sans"/>
                          <a:sym typeface="IBM Plex Sans"/>
                        </a:rPr>
                        <a:t>Strategi: Forretningsmodel og bæredygtighedsrelaterede initiativer (C1)</a:t>
                      </a:r>
                      <a:endParaRPr b="0" sz="900" u="none" cap="none" strike="noStrike">
                        <a:solidFill>
                          <a:schemeClr val="dk2"/>
                        </a:solidFill>
                        <a:latin typeface="IBM Plex Sans"/>
                        <a:ea typeface="IBM Plex Sans"/>
                        <a:cs typeface="IBM Plex Sans"/>
                        <a:sym typeface="IBM Plex Sans"/>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Væsentlige grupper af produkter og/eller tjenesteydelser</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Væsentlige markeder</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rPr>
                        <a:t>Primære forretningsforbindelser </a:t>
                      </a:r>
                      <a:endParaRPr/>
                    </a:p>
                    <a:p>
                      <a:pPr indent="0" lvl="0" marL="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Centrale elementer fra virksomhedens</a:t>
                      </a:r>
                      <a:r>
                        <a:rPr b="0" lang="da-DK" sz="900" u="none" cap="none" strike="noStrike">
                          <a:solidFill>
                            <a:schemeClr val="dk2"/>
                          </a:solidFill>
                        </a:rPr>
                        <a:t> strategi, der er relateret til/påvirker bæredygtighedsspørgsmål </a:t>
                      </a:r>
                      <a:endParaRPr/>
                    </a:p>
                    <a:p>
                      <a:pPr indent="0" lvl="0" marL="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5925">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u="none" cap="none" strike="noStrike">
                          <a:solidFill>
                            <a:schemeClr val="dk2"/>
                          </a:solidFill>
                          <a:latin typeface="IBM Plex Sans"/>
                          <a:ea typeface="IBM Plex Sans"/>
                          <a:cs typeface="IBM Plex Sans"/>
                          <a:sym typeface="IBM Plex Sans"/>
                        </a:rPr>
                        <a:t>Skal, hvis relevant</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8ECEA"/>
                    </a:solidFill>
                  </a:tcPr>
                </a:tc>
                <a:tc>
                  <a:txBody>
                    <a:bodyPr/>
                    <a:lstStyle/>
                    <a:p>
                      <a:pPr indent="0" lvl="0" marL="0" marR="0" rtl="0" algn="l">
                        <a:lnSpc>
                          <a:spcPct val="100000"/>
                        </a:lnSpc>
                        <a:spcBef>
                          <a:spcPts val="0"/>
                        </a:spcBef>
                        <a:spcAft>
                          <a:spcPts val="0"/>
                        </a:spcAft>
                        <a:buClr>
                          <a:schemeClr val="dk2"/>
                        </a:buClr>
                        <a:buSzPts val="900"/>
                        <a:buFont typeface="Arial"/>
                        <a:buNone/>
                      </a:pPr>
                      <a:r>
                        <a:rPr b="1" lang="da-DK" sz="900" u="none" cap="none" strike="noStrike">
                          <a:solidFill>
                            <a:schemeClr val="dk2"/>
                          </a:solidFill>
                          <a:latin typeface="IBM Plex Sans"/>
                          <a:ea typeface="IBM Plex Sans"/>
                          <a:cs typeface="IBM Plex Sans"/>
                          <a:sym typeface="IBM Plex Sans"/>
                        </a:rPr>
                        <a:t>Beskrivelse af indsatser, politikker og fremtidige initiativer for omstilling til en mere bæredygtig økonomi (C2)</a:t>
                      </a:r>
                      <a:r>
                        <a:rPr b="0" lang="da-DK" sz="900" u="none" cap="none" strike="noStrike">
                          <a:solidFill>
                            <a:schemeClr val="dk2"/>
                          </a:solidFill>
                          <a:latin typeface="IBM Plex Sans"/>
                          <a:ea typeface="IBM Plex Sans"/>
                          <a:cs typeface="IBM Plex Sans"/>
                          <a:sym typeface="IBM Plex Sans"/>
                        </a:rPr>
                        <a:t>	</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Beskrivelse af </a:t>
                      </a:r>
                      <a:r>
                        <a:rPr b="0" lang="da-DK" sz="900" u="sng" cap="none" strike="noStrike">
                          <a:solidFill>
                            <a:schemeClr val="dk2"/>
                          </a:solidFill>
                          <a:latin typeface="IBM Plex Sans"/>
                          <a:ea typeface="IBM Plex Sans"/>
                          <a:cs typeface="IBM Plex Sans"/>
                          <a:sym typeface="IBM Plex Sans"/>
                        </a:rPr>
                        <a:t>eksisterende</a:t>
                      </a:r>
                      <a:r>
                        <a:rPr b="0" lang="da-DK" sz="900" u="none" cap="none" strike="noStrike">
                          <a:solidFill>
                            <a:schemeClr val="dk2"/>
                          </a:solidFill>
                          <a:latin typeface="IBM Plex Sans"/>
                          <a:ea typeface="IBM Plex Sans"/>
                          <a:cs typeface="IBM Plex Sans"/>
                          <a:sym typeface="IBM Plex Sans"/>
                        </a:rPr>
                        <a:t> praksisser/politikker/handlinger</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Beskrivelse af </a:t>
                      </a:r>
                      <a:r>
                        <a:rPr b="0" lang="da-DK" sz="900" u="sng" cap="none" strike="noStrike">
                          <a:solidFill>
                            <a:schemeClr val="dk2"/>
                          </a:solidFill>
                          <a:latin typeface="IBM Plex Sans"/>
                          <a:ea typeface="IBM Plex Sans"/>
                          <a:cs typeface="IBM Plex Sans"/>
                          <a:sym typeface="IBM Plex Sans"/>
                        </a:rPr>
                        <a:t>fremtidige</a:t>
                      </a:r>
                      <a:r>
                        <a:rPr b="0" lang="da-DK" sz="900" u="none" cap="none" strike="noStrike">
                          <a:solidFill>
                            <a:schemeClr val="dk2"/>
                          </a:solidFill>
                          <a:latin typeface="IBM Plex Sans"/>
                          <a:ea typeface="IBM Plex Sans"/>
                          <a:cs typeface="IBM Plex Sans"/>
                          <a:sym typeface="IBM Plex Sans"/>
                        </a:rPr>
                        <a:t> initiativer/målsætninger </a:t>
                      </a:r>
                      <a:endParaRPr/>
                    </a:p>
                    <a:p>
                      <a:pPr indent="-171450" lvl="0" marL="171450" marR="0" rtl="0" algn="l">
                        <a:lnSpc>
                          <a:spcPct val="100000"/>
                        </a:lnSpc>
                        <a:spcBef>
                          <a:spcPts val="0"/>
                        </a:spcBef>
                        <a:spcAft>
                          <a:spcPts val="0"/>
                        </a:spcAft>
                        <a:buClr>
                          <a:schemeClr val="dk2"/>
                        </a:buClr>
                        <a:buSzPts val="900"/>
                        <a:buFont typeface="Arial"/>
                        <a:buChar char="•"/>
                      </a:pPr>
                      <a:r>
                        <a:rPr b="0" lang="da-DK" sz="900" u="none" cap="none" strike="noStrike">
                          <a:solidFill>
                            <a:schemeClr val="dk2"/>
                          </a:solidFill>
                          <a:latin typeface="IBM Plex Sans"/>
                          <a:ea typeface="IBM Plex Sans"/>
                          <a:cs typeface="IBM Plex Sans"/>
                          <a:sym typeface="IBM Plex Sans"/>
                        </a:rPr>
                        <a:t>Angivelse af højeste ledelsesniveau i virksomheden, der er ansvarlig for implementering</a:t>
                      </a:r>
                      <a:endParaRPr b="0" sz="900" u="none" cap="none" strike="noStrike">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900"/>
                        <a:buFont typeface="Arial"/>
                        <a:buNone/>
                      </a:pPr>
                      <a:r>
                        <a:t/>
                      </a:r>
                      <a:endParaRPr b="0" sz="900" u="none" cap="none" strike="noStrike">
                        <a:solidFill>
                          <a:schemeClr val="dk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1079500" y="4619652"/>
            <a:ext cx="10033000" cy="304699"/>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lt1"/>
              </a:buClr>
              <a:buSzPts val="1100"/>
              <a:buFont typeface="IBM Plex Sans"/>
              <a:buNone/>
            </a:pPr>
            <a:r>
              <a:rPr lang="da-DK"/>
              <a:t>{{insert_year}}</a:t>
            </a:r>
            <a:br>
              <a:rPr lang="da-DK"/>
            </a:br>
            <a:endParaRPr/>
          </a:p>
        </p:txBody>
      </p:sp>
      <p:sp>
        <p:nvSpPr>
          <p:cNvPr id="107" name="Google Shape;107;p4"/>
          <p:cNvSpPr txBox="1"/>
          <p:nvPr>
            <p:ph idx="11" type="ftr"/>
          </p:nvPr>
        </p:nvSpPr>
        <p:spPr>
          <a:xfrm>
            <a:off x="3503727" y="4971382"/>
            <a:ext cx="5176690" cy="281214"/>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da-DK">
                <a:latin typeface="IBM Plex Sans"/>
                <a:ea typeface="IBM Plex Sans"/>
                <a:cs typeface="IBM Plex Sans"/>
                <a:sym typeface="IBM Plex Sans"/>
              </a:rPr>
              <a:t>{{</a:t>
            </a:r>
            <a:r>
              <a:rPr lang="da-DK"/>
              <a:t>COMPANY</a:t>
            </a:r>
            <a:r>
              <a:rPr lang="da-DK">
                <a:latin typeface="IBM Plex Sans"/>
                <a:ea typeface="IBM Plex Sans"/>
                <a:cs typeface="IBM Plex Sans"/>
                <a:sym typeface="IBM Plex Sans"/>
              </a:rPr>
              <a:t>_</a:t>
            </a:r>
            <a:r>
              <a:rPr lang="da-DK"/>
              <a:t>NAME</a:t>
            </a:r>
            <a:r>
              <a:rPr lang="da-DK">
                <a:latin typeface="IBM Plex Sans"/>
                <a:ea typeface="IBM Plex Sans"/>
                <a:cs typeface="IBM Plex Sans"/>
                <a:sym typeface="IBM Plex Sans"/>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ESG opgørelse</a:t>
            </a:r>
            <a:r>
              <a:rPr b="0" lang="da-DK">
                <a:solidFill>
                  <a:schemeClr val="accent2"/>
                </a:solidFill>
              </a:rPr>
              <a:t> </a:t>
            </a:r>
            <a:endParaRPr/>
          </a:p>
        </p:txBody>
      </p:sp>
      <p:sp>
        <p:nvSpPr>
          <p:cNvPr id="113" name="Google Shape;113;p5"/>
          <p:cNvSpPr txBox="1"/>
          <p:nvPr>
            <p:ph idx="1" type="body"/>
          </p:nvPr>
        </p:nvSpPr>
        <p:spPr>
          <a:xfrm>
            <a:off x="518597" y="985520"/>
            <a:ext cx="7845473" cy="536448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2"/>
              </a:buClr>
              <a:buSzPts val="1200"/>
              <a:buNone/>
            </a:pPr>
            <a:r>
              <a:t/>
            </a:r>
            <a:endParaRPr b="1" sz="1200">
              <a:latin typeface="IBM Plex Sans"/>
              <a:ea typeface="IBM Plex Sans"/>
              <a:cs typeface="IBM Plex Sans"/>
              <a:sym typeface="IBM Plex Sans"/>
            </a:endParaRPr>
          </a:p>
          <a:p>
            <a:pPr indent="0" lvl="0" marL="0" rtl="0" algn="l">
              <a:lnSpc>
                <a:spcPct val="150000"/>
              </a:lnSpc>
              <a:spcBef>
                <a:spcPts val="0"/>
              </a:spcBef>
              <a:spcAft>
                <a:spcPts val="0"/>
              </a:spcAft>
              <a:buClr>
                <a:schemeClr val="dk2"/>
              </a:buClr>
              <a:buSzPts val="1200"/>
              <a:buNone/>
            </a:pPr>
            <a:r>
              <a:t/>
            </a:r>
            <a:endParaRPr b="1"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a-DK" sz="1200">
                <a:latin typeface="IBM Plex Sans"/>
                <a:ea typeface="IBM Plex Sans"/>
                <a:cs typeface="IBM Plex Sans"/>
                <a:sym typeface="IBM Plex Sans"/>
              </a:rPr>
              <a:t>Generelle oplysninger				</a:t>
            </a:r>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a-DK" sz="1200">
                <a:solidFill>
                  <a:schemeClr val="dk2"/>
                </a:solidFill>
                <a:latin typeface="IBM Plex Sans"/>
                <a:ea typeface="IBM Plex Sans"/>
                <a:cs typeface="IBM Plex Sans"/>
                <a:sym typeface="IBM Plex Sans"/>
              </a:rPr>
              <a:t>Indsatser, politikker og initiativer for omstilling til en mere bæredygtig økonomi</a:t>
            </a:r>
            <a:endParaRPr b="1"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a-DK" sz="1200">
                <a:latin typeface="IBM Plex Sans"/>
                <a:ea typeface="IBM Plex Sans"/>
                <a:cs typeface="IBM Plex Sans"/>
                <a:sym typeface="IBM Plex Sans"/>
              </a:rPr>
              <a:t>Energiforbrug				</a:t>
            </a:r>
            <a:endParaRPr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a-DK" sz="1200">
                <a:latin typeface="IBM Plex Sans"/>
                <a:ea typeface="IBM Plex Sans"/>
                <a:cs typeface="IBM Plex Sans"/>
                <a:sym typeface="IBM Plex Sans"/>
              </a:rPr>
              <a:t>CO₂e udledning 				</a:t>
            </a:r>
            <a:endParaRPr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a-DK" sz="1200">
                <a:latin typeface="IBM Plex Sans"/>
                <a:ea typeface="IBM Plex Sans"/>
                <a:cs typeface="IBM Plex Sans"/>
                <a:sym typeface="IBM Plex Sans"/>
              </a:rPr>
              <a:t>Forurening af luft, vand og jord</a:t>
            </a:r>
            <a:r>
              <a:rPr lang="da-DK" sz="1200">
                <a:latin typeface="IBM Plex Sans"/>
                <a:ea typeface="IBM Plex Sans"/>
                <a:cs typeface="IBM Plex Sans"/>
                <a:sym typeface="IBM Plex Sans"/>
              </a:rPr>
              <a:t>				</a:t>
            </a:r>
            <a:endParaRPr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a-DK" sz="1200">
                <a:latin typeface="IBM Plex Sans"/>
                <a:ea typeface="IBM Plex Sans"/>
                <a:cs typeface="IBM Plex Sans"/>
                <a:sym typeface="IBM Plex Sans"/>
              </a:rPr>
              <a:t>Biodiversitet</a:t>
            </a:r>
            <a:r>
              <a:rPr lang="da-DK" sz="1200">
                <a:latin typeface="IBM Plex Sans"/>
                <a:ea typeface="IBM Plex Sans"/>
                <a:cs typeface="IBM Plex Sans"/>
                <a:sym typeface="IBM Plex Sans"/>
              </a:rPr>
              <a:t>				</a:t>
            </a:r>
            <a:endParaRPr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a-DK" sz="1200">
                <a:latin typeface="IBM Plex Sans"/>
                <a:ea typeface="IBM Plex Sans"/>
                <a:cs typeface="IBM Plex Sans"/>
                <a:sym typeface="IBM Plex Sans"/>
              </a:rPr>
              <a:t>Vand	</a:t>
            </a:r>
            <a:r>
              <a:rPr lang="da-DK" sz="1200">
                <a:latin typeface="IBM Plex Sans"/>
                <a:ea typeface="IBM Plex Sans"/>
                <a:cs typeface="IBM Plex Sans"/>
                <a:sym typeface="IBM Plex Sans"/>
              </a:rPr>
              <a:t> 			</a:t>
            </a:r>
            <a:endParaRPr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a-DK" sz="1200">
                <a:latin typeface="IBM Plex Sans"/>
                <a:ea typeface="IBM Plex Sans"/>
                <a:cs typeface="IBM Plex Sans"/>
                <a:sym typeface="IBM Plex Sans"/>
              </a:rPr>
              <a:t>Ressourceforbrug, cirkulær økonomi og affaldshåndtering</a:t>
            </a:r>
            <a:r>
              <a:rPr lang="da-DK"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a-DK" sz="1200">
                <a:latin typeface="IBM Plex Sans"/>
                <a:ea typeface="IBM Plex Sans"/>
                <a:cs typeface="IBM Plex Sans"/>
                <a:sym typeface="IBM Plex Sans"/>
              </a:rPr>
              <a:t>Egen arbejdsstyrke: Generelle karakteristika</a:t>
            </a:r>
            <a:r>
              <a:rPr lang="da-DK"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a-DK" sz="1200">
                <a:latin typeface="IBM Plex Sans"/>
                <a:ea typeface="IBM Plex Sans"/>
                <a:cs typeface="IBM Plex Sans"/>
                <a:sym typeface="IBM Plex Sans"/>
              </a:rPr>
              <a:t>Egen arbejdsstyrke: Sundhed og sikkerhed</a:t>
            </a:r>
            <a:r>
              <a:rPr lang="da-DK"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a-DK" sz="1200">
                <a:latin typeface="IBM Plex Sans"/>
                <a:ea typeface="IBM Plex Sans"/>
                <a:cs typeface="IBM Plex Sans"/>
                <a:sym typeface="IBM Plex Sans"/>
              </a:rPr>
              <a:t>Egen arbejdsstyrke: Vederlag, overenskomster og uddannelse</a:t>
            </a:r>
            <a:r>
              <a:rPr lang="da-DK"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a-DK" sz="1200">
                <a:latin typeface="IBM Plex Sans"/>
                <a:ea typeface="IBM Plex Sans"/>
                <a:cs typeface="IBM Plex Sans"/>
                <a:sym typeface="IBM Plex Sans"/>
              </a:rPr>
              <a:t>Virksomhedsadfærd</a:t>
            </a:r>
            <a:r>
              <a:rPr lang="da-DK" sz="1200">
                <a:latin typeface="IBM Plex Sans"/>
                <a:ea typeface="IBM Plex Sans"/>
                <a:cs typeface="IBM Plex Sans"/>
                <a:sym typeface="IBM Plex Sans"/>
              </a:rPr>
              <a:t>	 			</a:t>
            </a:r>
            <a:endParaRPr sz="1200">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1200"/>
              <a:buNone/>
            </a:pPr>
            <a:r>
              <a:t/>
            </a:r>
            <a:endParaRPr sz="1200">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1200"/>
              <a:buNone/>
            </a:pPr>
            <a:r>
              <a:t/>
            </a:r>
            <a:endParaRPr sz="1200">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900"/>
              <a:buNone/>
            </a:pPr>
            <a:r>
              <a:t/>
            </a:r>
            <a:endParaRPr>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900"/>
              <a:buNone/>
            </a:pPr>
            <a:r>
              <a:t/>
            </a:r>
            <a:endParaRPr>
              <a:latin typeface="IBM Plex Sans"/>
              <a:ea typeface="IBM Plex Sans"/>
              <a:cs typeface="IBM Plex Sans"/>
              <a:sym typeface="IBM Plex Sans"/>
            </a:endParaRPr>
          </a:p>
        </p:txBody>
      </p:sp>
      <p:sp>
        <p:nvSpPr>
          <p:cNvPr id="114" name="Google Shape;114;p5"/>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dk1"/>
              </a:buClr>
              <a:buSzPts val="1100"/>
              <a:buFont typeface="Arial"/>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None/>
            </a:pPr>
            <a:r>
              <a:t/>
            </a:r>
            <a:endParaRPr/>
          </a:p>
        </p:txBody>
      </p:sp>
      <p:sp>
        <p:nvSpPr>
          <p:cNvPr id="115" name="Google Shape;115;p5"/>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type="title"/>
          </p:nvPr>
        </p:nvSpPr>
        <p:spPr>
          <a:xfrm>
            <a:off x="863368" y="261409"/>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Grundlag for udarbejdelse</a:t>
            </a:r>
            <a:endParaRPr/>
          </a:p>
        </p:txBody>
      </p:sp>
      <p:sp>
        <p:nvSpPr>
          <p:cNvPr id="121" name="Google Shape;121;p6"/>
          <p:cNvSpPr txBox="1"/>
          <p:nvPr/>
        </p:nvSpPr>
        <p:spPr>
          <a:xfrm>
            <a:off x="508000" y="2965249"/>
            <a:ext cx="3513138" cy="171795"/>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chemeClr val="dk2"/>
              </a:buClr>
              <a:buSzPts val="900"/>
              <a:buFont typeface="Arial"/>
              <a:buNone/>
            </a:pPr>
            <a:r>
              <a:t/>
            </a:r>
            <a:endParaRPr b="0" i="0" sz="900" u="none" cap="none" strike="noStrike">
              <a:solidFill>
                <a:schemeClr val="accent2"/>
              </a:solidFill>
              <a:latin typeface="IBM Plex Sans"/>
              <a:ea typeface="IBM Plex Sans"/>
              <a:cs typeface="IBM Plex Sans"/>
              <a:sym typeface="IBM Plex Sans"/>
            </a:endParaRPr>
          </a:p>
        </p:txBody>
      </p:sp>
      <p:graphicFrame>
        <p:nvGraphicFramePr>
          <p:cNvPr id="122" name="Google Shape;122;p6"/>
          <p:cNvGraphicFramePr/>
          <p:nvPr/>
        </p:nvGraphicFramePr>
        <p:xfrm>
          <a:off x="507999" y="4299947"/>
          <a:ext cx="3000000" cy="3000000"/>
        </p:xfrm>
        <a:graphic>
          <a:graphicData uri="http://schemas.openxmlformats.org/drawingml/2006/table">
            <a:tbl>
              <a:tblPr firstRow="1">
                <a:noFill/>
                <a:tableStyleId>{BAEAA23F-C412-4D4F-A7DF-F315DCF0D262}</a:tableStyleId>
              </a:tblPr>
              <a:tblGrid>
                <a:gridCol w="3400875"/>
                <a:gridCol w="3953500"/>
              </a:tblGrid>
              <a:tr h="418825">
                <a:tc gridSpan="2">
                  <a:txBody>
                    <a:bodyPr/>
                    <a:lstStyle/>
                    <a:p>
                      <a:pPr indent="0" lvl="0" marL="0" marR="0" rtl="0" algn="l">
                        <a:spcBef>
                          <a:spcPts val="0"/>
                        </a:spcBef>
                        <a:spcAft>
                          <a:spcPts val="0"/>
                        </a:spcAft>
                        <a:buNone/>
                      </a:pPr>
                      <a:r>
                        <a:rPr b="1" lang="da-DK" sz="900" u="none" cap="none" strike="noStrike">
                          <a:solidFill>
                            <a:schemeClr val="dk2"/>
                          </a:solidFill>
                          <a:latin typeface="IBM Plex Sans"/>
                          <a:ea typeface="IBM Plex Sans"/>
                          <a:cs typeface="IBM Plex Sans"/>
                          <a:sym typeface="IBM Plex Sans"/>
                        </a:rPr>
                        <a:t>Oversigt over datterselskaber, der indgår i denne ESG-opgørelse </a:t>
                      </a:r>
                      <a:r>
                        <a:rPr b="0" lang="da-DK" sz="900" u="none" cap="none" strike="noStrike">
                          <a:solidFill>
                            <a:schemeClr val="dk2"/>
                          </a:solidFill>
                          <a:latin typeface="IBM Plex Sans"/>
                          <a:ea typeface="IBM Plex Sans"/>
                          <a:cs typeface="IBM Plex Sans"/>
                          <a:sym typeface="IBM Plex Sans"/>
                        </a:rPr>
                        <a:t>(pkt. 24d)</a:t>
                      </a:r>
                      <a:endParaRPr b="0" i="1" sz="9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29800">
                <a:tc>
                  <a:txBody>
                    <a:bodyPr/>
                    <a:lstStyle/>
                    <a:p>
                      <a:pPr indent="0" lvl="0" marL="0" marR="0" rtl="0" algn="l">
                        <a:spcBef>
                          <a:spcPts val="0"/>
                        </a:spcBef>
                        <a:spcAft>
                          <a:spcPts val="0"/>
                        </a:spcAft>
                        <a:buNone/>
                      </a:pPr>
                      <a:r>
                        <a:rPr b="1" lang="da-DK" sz="900" u="none" cap="none" strike="noStrike">
                          <a:solidFill>
                            <a:schemeClr val="dk2"/>
                          </a:solidFill>
                          <a:latin typeface="IBM Plex Sans"/>
                          <a:ea typeface="IBM Plex Sans"/>
                          <a:cs typeface="IBM Plex Sans"/>
                          <a:sym typeface="IBM Plex Sans"/>
                        </a:rPr>
                        <a:t>Navn på datterselskab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a-DK" sz="900" u="none" cap="none" strike="noStrike">
                          <a:solidFill>
                            <a:schemeClr val="dk2"/>
                          </a:solidFill>
                          <a:latin typeface="IBM Plex Sans"/>
                          <a:ea typeface="IBM Plex Sans"/>
                          <a:cs typeface="IBM Plex Sans"/>
                          <a:sym typeface="IBM Plex Sans"/>
                        </a:rPr>
                        <a:t>Adresse på datterselskab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4675">
                <a:tc>
                  <a:txBody>
                    <a:bodyPr/>
                    <a:lstStyle/>
                    <a:p>
                      <a:pPr indent="0" lvl="0" marL="0" rtl="0" algn="l">
                        <a:spcBef>
                          <a:spcPts val="0"/>
                        </a:spcBef>
                        <a:spcAft>
                          <a:spcPts val="0"/>
                        </a:spcAft>
                        <a:buClr>
                          <a:schemeClr val="accent2"/>
                        </a:buClr>
                        <a:buSzPts val="700"/>
                        <a:buFont typeface="IBM Plex Sans"/>
                        <a:buNone/>
                      </a:pPr>
                      <a:r>
                        <a:rPr lang="da-DK" sz="900">
                          <a:latin typeface="Inter"/>
                          <a:ea typeface="Inter"/>
                          <a:cs typeface="Inter"/>
                          <a:sym typeface="Inter"/>
                        </a:rPr>
                        <a:t>{{subsidiary}}</a:t>
                      </a:r>
                      <a:endParaRPr sz="900">
                        <a:solidFill>
                          <a:schemeClr val="accent2"/>
                        </a:solidFill>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accent2"/>
                        </a:buClr>
                        <a:buSzPts val="700"/>
                        <a:buFont typeface="IBM Plex Sans"/>
                        <a:buNone/>
                      </a:pPr>
                      <a:r>
                        <a:rPr lang="da-DK" sz="900">
                          <a:latin typeface="Inter"/>
                          <a:ea typeface="Inter"/>
                          <a:cs typeface="Inter"/>
                          <a:sym typeface="Inter"/>
                        </a:rPr>
                        <a:t>{{subsidiary_address}}</a:t>
                      </a:r>
                      <a:endParaRPr sz="900">
                        <a:latin typeface="Inter"/>
                        <a:ea typeface="Inter"/>
                        <a:cs typeface="Inter"/>
                        <a:sym typeface="Inter"/>
                      </a:endParaRPr>
                    </a:p>
                    <a:p>
                      <a:pPr indent="0" lvl="0" marL="0" marR="0" rtl="0" algn="l">
                        <a:lnSpc>
                          <a:spcPct val="100000"/>
                        </a:lnSpc>
                        <a:spcBef>
                          <a:spcPts val="0"/>
                        </a:spcBef>
                        <a:spcAft>
                          <a:spcPts val="0"/>
                        </a:spcAft>
                        <a:buClr>
                          <a:schemeClr val="accent2"/>
                        </a:buClr>
                        <a:buSzPts val="700"/>
                        <a:buFont typeface="IBM Plex Sans"/>
                        <a:buNone/>
                      </a:pPr>
                      <a:r>
                        <a:t/>
                      </a:r>
                      <a:endParaRPr sz="900">
                        <a:solidFill>
                          <a:schemeClr val="accent2"/>
                        </a:solidFill>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4675">
                <a:tc>
                  <a:txBody>
                    <a:bodyPr/>
                    <a:lstStyle/>
                    <a:p>
                      <a:pPr indent="0" lvl="0" marL="0" marR="0" rtl="0" algn="l">
                        <a:lnSpc>
                          <a:spcPct val="100000"/>
                        </a:lnSpc>
                        <a:spcBef>
                          <a:spcPts val="0"/>
                        </a:spcBef>
                        <a:spcAft>
                          <a:spcPts val="0"/>
                        </a:spcAft>
                        <a:buClr>
                          <a:schemeClr val="accent2"/>
                        </a:buClr>
                        <a:buSzPts val="700"/>
                        <a:buFont typeface="IBM Plex Sans"/>
                        <a:buNone/>
                      </a:pPr>
                      <a:r>
                        <a:t/>
                      </a:r>
                      <a:endParaRPr b="0" sz="700" u="none" cap="none" strike="noStrike">
                        <a:solidFill>
                          <a:srgbClr val="2D55FF"/>
                        </a:solidFill>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700"/>
                        <a:buFont typeface="IBM Plex Sans"/>
                        <a:buNone/>
                      </a:pPr>
                      <a:r>
                        <a:t/>
                      </a:r>
                      <a:endParaRPr b="0" sz="700" u="none" cap="none" strike="noStrike">
                        <a:solidFill>
                          <a:schemeClr val="accent2"/>
                        </a:solidFill>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4675">
                <a:tc>
                  <a:txBody>
                    <a:bodyPr/>
                    <a:lstStyle/>
                    <a:p>
                      <a:pPr indent="0" lvl="0" marL="0" marR="0" rtl="0" algn="l">
                        <a:lnSpc>
                          <a:spcPct val="100000"/>
                        </a:lnSpc>
                        <a:spcBef>
                          <a:spcPts val="0"/>
                        </a:spcBef>
                        <a:spcAft>
                          <a:spcPts val="0"/>
                        </a:spcAft>
                        <a:buClr>
                          <a:schemeClr val="accent2"/>
                        </a:buClr>
                        <a:buSzPts val="700"/>
                        <a:buFont typeface="IBM Plex Sans"/>
                        <a:buNone/>
                      </a:pPr>
                      <a:r>
                        <a:t/>
                      </a:r>
                      <a:endParaRPr b="0" sz="700" u="none" cap="none" strike="noStrike">
                        <a:solidFill>
                          <a:srgbClr val="2D55FF"/>
                        </a:solidFill>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700"/>
                        <a:buFont typeface="IBM Plex Sans"/>
                        <a:buNone/>
                      </a:pPr>
                      <a:r>
                        <a:t/>
                      </a:r>
                      <a:endParaRPr b="0" sz="700" u="none" cap="none" strike="noStrike">
                        <a:solidFill>
                          <a:schemeClr val="accent2"/>
                        </a:solidFill>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pic>
        <p:nvPicPr>
          <p:cNvPr id="123" name="Google Shape;123;p6"/>
          <p:cNvPicPr preferRelativeResize="0"/>
          <p:nvPr/>
        </p:nvPicPr>
        <p:blipFill rotWithShape="1">
          <a:blip r:embed="rId3">
            <a:alphaModFix/>
          </a:blip>
          <a:srcRect b="0" l="0" r="0" t="0"/>
          <a:stretch/>
        </p:blipFill>
        <p:spPr>
          <a:xfrm>
            <a:off x="638979" y="1108695"/>
            <a:ext cx="207455" cy="232601"/>
          </a:xfrm>
          <a:prstGeom prst="rect">
            <a:avLst/>
          </a:prstGeom>
          <a:noFill/>
          <a:ln>
            <a:noFill/>
          </a:ln>
        </p:spPr>
      </p:pic>
      <p:sp>
        <p:nvSpPr>
          <p:cNvPr id="124" name="Google Shape;124;p6"/>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25" name="Google Shape;125;p6"/>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dk1"/>
              </a:buClr>
              <a:buSzPts val="1100"/>
              <a:buFont typeface="Arial"/>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None/>
            </a:pPr>
            <a:r>
              <a:t/>
            </a:r>
            <a:endParaRPr/>
          </a:p>
        </p:txBody>
      </p:sp>
      <p:graphicFrame>
        <p:nvGraphicFramePr>
          <p:cNvPr id="126" name="Google Shape;126;p6"/>
          <p:cNvGraphicFramePr/>
          <p:nvPr/>
        </p:nvGraphicFramePr>
        <p:xfrm>
          <a:off x="518599" y="3013644"/>
          <a:ext cx="3000000" cy="3000000"/>
        </p:xfrm>
        <a:graphic>
          <a:graphicData uri="http://schemas.openxmlformats.org/drawingml/2006/table">
            <a:tbl>
              <a:tblPr firstRow="1">
                <a:noFill/>
                <a:tableStyleId>{BAEAA23F-C412-4D4F-A7DF-F315DCF0D262}</a:tableStyleId>
              </a:tblPr>
              <a:tblGrid>
                <a:gridCol w="5874525"/>
                <a:gridCol w="1479850"/>
              </a:tblGrid>
              <a:tr h="306000">
                <a:tc gridSpan="2">
                  <a:txBody>
                    <a:bodyPr/>
                    <a:lstStyle/>
                    <a:p>
                      <a:pPr indent="0" lvl="0" marL="0" marR="0" rtl="0" algn="l">
                        <a:spcBef>
                          <a:spcPts val="0"/>
                        </a:spcBef>
                        <a:spcAft>
                          <a:spcPts val="0"/>
                        </a:spcAft>
                        <a:buNone/>
                      </a:pPr>
                      <a:r>
                        <a:rPr b="1" lang="da-DK" sz="900" u="none" cap="none" strike="noStrike">
                          <a:solidFill>
                            <a:schemeClr val="dk2"/>
                          </a:solidFill>
                        </a:rPr>
                        <a:t>Individuel eller konsolideret rapportering</a:t>
                      </a:r>
                      <a:r>
                        <a:rPr b="0" lang="da-DK" sz="900" u="none" cap="none" strike="noStrike">
                          <a:solidFill>
                            <a:schemeClr val="dk2"/>
                          </a:solidFill>
                        </a:rPr>
                        <a:t> (pkt. 24c)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06000">
                <a:tc>
                  <a:txBody>
                    <a:bodyPr/>
                    <a:lstStyle/>
                    <a:p>
                      <a:pPr indent="0" lvl="0" marL="0" marR="0" rtl="0" algn="l">
                        <a:lnSpc>
                          <a:spcPct val="100000"/>
                        </a:lnSpc>
                        <a:spcBef>
                          <a:spcPts val="0"/>
                        </a:spcBef>
                        <a:spcAft>
                          <a:spcPts val="0"/>
                        </a:spcAft>
                        <a:buClr>
                          <a:schemeClr val="dk2"/>
                        </a:buClr>
                        <a:buSzPts val="900"/>
                        <a:buFont typeface="IBM Plex Sans"/>
                        <a:buNone/>
                      </a:pPr>
                      <a:r>
                        <a:rPr b="0" lang="da-DK" sz="900">
                          <a:solidFill>
                            <a:schemeClr val="dk2"/>
                          </a:solidFill>
                          <a:latin typeface="IBM Plex Sans"/>
                          <a:ea typeface="IBM Plex Sans"/>
                          <a:cs typeface="IBM Plex Sans"/>
                          <a:sym typeface="IBM Plex Sans"/>
                        </a:rPr>
                        <a:t>Opgørelsen er udarbejdet på </a:t>
                      </a:r>
                      <a:r>
                        <a:rPr b="1" lang="da-DK" sz="900">
                          <a:solidFill>
                            <a:schemeClr val="dk2"/>
                          </a:solidFill>
                          <a:latin typeface="IBM Plex Sans"/>
                          <a:ea typeface="IBM Plex Sans"/>
                          <a:cs typeface="IBM Plex Sans"/>
                          <a:sym typeface="IBM Plex Sans"/>
                        </a:rPr>
                        <a:t>individuel basis </a:t>
                      </a:r>
                      <a:r>
                        <a:rPr b="0" lang="da-DK" sz="900">
                          <a:solidFill>
                            <a:schemeClr val="dk2"/>
                          </a:solidFill>
                          <a:latin typeface="IBM Plex Sans"/>
                          <a:ea typeface="IBM Plex Sans"/>
                          <a:cs typeface="IBM Plex Sans"/>
                          <a:sym typeface="IBM Plex Sans"/>
                        </a:rPr>
                        <a:t>(dvs. opgørelsen dækker ikke eventuelle datterselskaber)</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accent2"/>
                        </a:buClr>
                        <a:buSzPts val="700"/>
                        <a:buFont typeface="IBM Plex Sans"/>
                        <a:buNone/>
                      </a:pPr>
                      <a:r>
                        <a:rPr lang="da-DK" sz="900">
                          <a:latin typeface="Inter"/>
                          <a:ea typeface="Inter"/>
                          <a:cs typeface="Inter"/>
                          <a:sym typeface="Inter"/>
                        </a:rPr>
                        <a:t>{{hest}}</a:t>
                      </a:r>
                      <a:endParaRPr sz="900">
                        <a:solidFill>
                          <a:schemeClr val="accent2"/>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6000">
                <a:tc>
                  <a:txBody>
                    <a:bodyPr/>
                    <a:lstStyle/>
                    <a:p>
                      <a:pPr indent="0" lvl="0" marL="0" marR="0" rtl="0" algn="l">
                        <a:lnSpc>
                          <a:spcPct val="100000"/>
                        </a:lnSpc>
                        <a:spcBef>
                          <a:spcPts val="0"/>
                        </a:spcBef>
                        <a:spcAft>
                          <a:spcPts val="0"/>
                        </a:spcAft>
                        <a:buClr>
                          <a:schemeClr val="dk2"/>
                        </a:buClr>
                        <a:buSzPts val="900"/>
                        <a:buFont typeface="IBM Plex Sans"/>
                        <a:buNone/>
                      </a:pPr>
                      <a:r>
                        <a:rPr b="0" lang="da-DK" sz="900">
                          <a:solidFill>
                            <a:schemeClr val="dk2"/>
                          </a:solidFill>
                          <a:latin typeface="IBM Plex Sans"/>
                          <a:ea typeface="IBM Plex Sans"/>
                          <a:cs typeface="IBM Plex Sans"/>
                          <a:sym typeface="IBM Plex Sans"/>
                        </a:rPr>
                        <a:t>Opgørelsen er udarbejdet på et </a:t>
                      </a:r>
                      <a:r>
                        <a:rPr b="1" lang="da-DK" sz="900">
                          <a:solidFill>
                            <a:schemeClr val="dk2"/>
                          </a:solidFill>
                          <a:latin typeface="IBM Plex Sans"/>
                          <a:ea typeface="IBM Plex Sans"/>
                          <a:cs typeface="IBM Plex Sans"/>
                          <a:sym typeface="IBM Plex Sans"/>
                        </a:rPr>
                        <a:t>konsolideret grundlag </a:t>
                      </a:r>
                      <a:r>
                        <a:rPr b="0" lang="da-DK" sz="900">
                          <a:solidFill>
                            <a:schemeClr val="dk2"/>
                          </a:solidFill>
                          <a:latin typeface="IBM Plex Sans"/>
                          <a:ea typeface="IBM Plex Sans"/>
                          <a:cs typeface="IBM Plex Sans"/>
                          <a:sym typeface="IBM Plex Sans"/>
                        </a:rPr>
                        <a:t>(dvs. opgørelsen omfatter virksomhedens datterselskaber) </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accent2"/>
                        </a:buClr>
                        <a:buSzPts val="700"/>
                        <a:buFont typeface="IBM Plex Sans"/>
                        <a:buNone/>
                      </a:pPr>
                      <a:r>
                        <a:rPr lang="da-DK" sz="900">
                          <a:latin typeface="Inter"/>
                          <a:ea typeface="Inter"/>
                          <a:cs typeface="Inter"/>
                          <a:sym typeface="Inter"/>
                        </a:rPr>
                        <a:t>{{no_subsidiary_no}}</a:t>
                      </a:r>
                      <a:endParaRPr sz="900">
                        <a:solidFill>
                          <a:schemeClr val="accent2"/>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27" name="Google Shape;127;p6"/>
          <p:cNvGraphicFramePr/>
          <p:nvPr/>
        </p:nvGraphicFramePr>
        <p:xfrm>
          <a:off x="518600" y="1660790"/>
          <a:ext cx="3000000" cy="3000000"/>
        </p:xfrm>
        <a:graphic>
          <a:graphicData uri="http://schemas.openxmlformats.org/drawingml/2006/table">
            <a:tbl>
              <a:tblPr firstRow="1">
                <a:noFill/>
                <a:tableStyleId>{BAEAA23F-C412-4D4F-A7DF-F315DCF0D262}</a:tableStyleId>
              </a:tblPr>
              <a:tblGrid>
                <a:gridCol w="5874525"/>
                <a:gridCol w="1479850"/>
              </a:tblGrid>
              <a:tr h="306000">
                <a:tc gridSpan="2">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Basismodul, eller Basismodul +</a:t>
                      </a:r>
                      <a:r>
                        <a:rPr b="0" lang="da-DK" sz="900">
                          <a:solidFill>
                            <a:schemeClr val="dk2"/>
                          </a:solidFill>
                          <a:latin typeface="IBM Plex Sans"/>
                          <a:ea typeface="IBM Plex Sans"/>
                          <a:cs typeface="IBM Plex Sans"/>
                          <a:sym typeface="IBM Plex Sans"/>
                        </a:rPr>
                        <a:t> </a:t>
                      </a:r>
                      <a:r>
                        <a:rPr b="1" lang="da-DK" sz="900">
                          <a:solidFill>
                            <a:schemeClr val="dk2"/>
                          </a:solidFill>
                          <a:latin typeface="IBM Plex Sans"/>
                          <a:ea typeface="IBM Plex Sans"/>
                          <a:cs typeface="IBM Plex Sans"/>
                          <a:sym typeface="IBM Plex Sans"/>
                        </a:rPr>
                        <a:t>Udvidet Modul </a:t>
                      </a:r>
                      <a:r>
                        <a:rPr b="0" lang="da-DK" sz="900">
                          <a:solidFill>
                            <a:schemeClr val="dk2"/>
                          </a:solidFill>
                          <a:latin typeface="IBM Plex Sans"/>
                          <a:ea typeface="IBM Plex Sans"/>
                          <a:cs typeface="IBM Plex Sans"/>
                          <a:sym typeface="IBM Plex Sans"/>
                        </a:rPr>
                        <a:t>(pkt. 24a)</a:t>
                      </a:r>
                      <a:r>
                        <a:rPr b="1" lang="da-DK" sz="900">
                          <a:solidFill>
                            <a:schemeClr val="dk2"/>
                          </a:solidFill>
                          <a:latin typeface="IBM Plex Sans"/>
                          <a:ea typeface="IBM Plex Sans"/>
                          <a:cs typeface="IBM Plex Sans"/>
                          <a:sym typeface="IBM Plex Sans"/>
                        </a:rPr>
                        <a:t> </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06000">
                <a:tc>
                  <a:txBody>
                    <a:bodyPr/>
                    <a:lstStyle/>
                    <a:p>
                      <a:pPr indent="0" lvl="0" marL="0" marR="0" rtl="0" algn="l">
                        <a:lnSpc>
                          <a:spcPct val="100000"/>
                        </a:lnSpc>
                        <a:spcBef>
                          <a:spcPts val="0"/>
                        </a:spcBef>
                        <a:spcAft>
                          <a:spcPts val="0"/>
                        </a:spcAft>
                        <a:buClr>
                          <a:schemeClr val="dk2"/>
                        </a:buClr>
                        <a:buSzPts val="900"/>
                        <a:buFont typeface="IBM Plex Sans"/>
                        <a:buNone/>
                      </a:pPr>
                      <a:r>
                        <a:rPr b="0" lang="da-DK" sz="900">
                          <a:solidFill>
                            <a:schemeClr val="dk2"/>
                          </a:solidFill>
                          <a:latin typeface="IBM Plex Sans"/>
                          <a:ea typeface="IBM Plex Sans"/>
                          <a:cs typeface="IBM Plex Sans"/>
                          <a:sym typeface="IBM Plex Sans"/>
                        </a:rPr>
                        <a:t>Opgørelsen er baseret på </a:t>
                      </a:r>
                      <a:r>
                        <a:rPr b="1" lang="da-DK" sz="900">
                          <a:solidFill>
                            <a:schemeClr val="dk2"/>
                          </a:solidFill>
                          <a:latin typeface="IBM Plex Sans"/>
                          <a:ea typeface="IBM Plex Sans"/>
                          <a:cs typeface="IBM Plex Sans"/>
                          <a:sym typeface="IBM Plex Sans"/>
                        </a:rPr>
                        <a:t>Basismodulet</a:t>
                      </a:r>
                      <a:r>
                        <a:rPr b="0" lang="da-DK" sz="900">
                          <a:solidFill>
                            <a:schemeClr val="dk2"/>
                          </a:solidFill>
                          <a:latin typeface="IBM Plex Sans"/>
                          <a:ea typeface="IBM Plex Sans"/>
                          <a:cs typeface="IBM Plex Sans"/>
                          <a:sym typeface="IBM Plex Sans"/>
                        </a:rPr>
                        <a:t> i den frivillige SMV-standard </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700"/>
                        <a:buFont typeface="IBM Plex Sans"/>
                        <a:buNone/>
                      </a:pPr>
                      <a:r>
                        <a:rPr lang="da-DK" sz="900">
                          <a:latin typeface="Inter"/>
                          <a:ea typeface="Inter"/>
                          <a:cs typeface="Inter"/>
                          <a:sym typeface="Inter"/>
                        </a:rPr>
                        <a:t>X</a:t>
                      </a:r>
                      <a:endParaRPr b="0" i="0"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6000">
                <a:tc>
                  <a:txBody>
                    <a:bodyPr/>
                    <a:lstStyle/>
                    <a:p>
                      <a:pPr indent="0" lvl="0" marL="0" marR="0" rtl="0" algn="l">
                        <a:lnSpc>
                          <a:spcPct val="100000"/>
                        </a:lnSpc>
                        <a:spcBef>
                          <a:spcPts val="0"/>
                        </a:spcBef>
                        <a:spcAft>
                          <a:spcPts val="0"/>
                        </a:spcAft>
                        <a:buClr>
                          <a:schemeClr val="dk2"/>
                        </a:buClr>
                        <a:buSzPts val="900"/>
                        <a:buFont typeface="IBM Plex Sans"/>
                        <a:buNone/>
                      </a:pPr>
                      <a:r>
                        <a:rPr b="0" lang="da-DK" sz="900">
                          <a:solidFill>
                            <a:schemeClr val="dk2"/>
                          </a:solidFill>
                          <a:latin typeface="IBM Plex Sans"/>
                          <a:ea typeface="IBM Plex Sans"/>
                          <a:cs typeface="IBM Plex Sans"/>
                          <a:sym typeface="IBM Plex Sans"/>
                        </a:rPr>
                        <a:t>Opgørelsen er baseret på </a:t>
                      </a:r>
                      <a:r>
                        <a:rPr b="1" lang="da-DK" sz="900">
                          <a:solidFill>
                            <a:schemeClr val="dk2"/>
                          </a:solidFill>
                          <a:latin typeface="IBM Plex Sans"/>
                          <a:ea typeface="IBM Plex Sans"/>
                          <a:cs typeface="IBM Plex Sans"/>
                          <a:sym typeface="IBM Plex Sans"/>
                        </a:rPr>
                        <a:t>Basismodulet</a:t>
                      </a:r>
                      <a:r>
                        <a:rPr b="0" lang="da-DK" sz="900">
                          <a:solidFill>
                            <a:schemeClr val="dk2"/>
                          </a:solidFill>
                          <a:latin typeface="IBM Plex Sans"/>
                          <a:ea typeface="IBM Plex Sans"/>
                          <a:cs typeface="IBM Plex Sans"/>
                          <a:sym typeface="IBM Plex Sans"/>
                        </a:rPr>
                        <a:t> og </a:t>
                      </a:r>
                      <a:r>
                        <a:rPr b="1" lang="da-DK" sz="900">
                          <a:solidFill>
                            <a:schemeClr val="dk2"/>
                          </a:solidFill>
                          <a:latin typeface="IBM Plex Sans"/>
                          <a:ea typeface="IBM Plex Sans"/>
                          <a:cs typeface="IBM Plex Sans"/>
                          <a:sym typeface="IBM Plex Sans"/>
                        </a:rPr>
                        <a:t>Udvidet Modul </a:t>
                      </a:r>
                      <a:r>
                        <a:rPr b="0" lang="da-DK" sz="900">
                          <a:solidFill>
                            <a:schemeClr val="dk2"/>
                          </a:solidFill>
                          <a:latin typeface="IBM Plex Sans"/>
                          <a:ea typeface="IBM Plex Sans"/>
                          <a:cs typeface="IBM Plex Sans"/>
                          <a:sym typeface="IBM Plex Sans"/>
                        </a:rPr>
                        <a:t>i den frivillige SMV-standard</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2"/>
                        </a:buClr>
                        <a:buSzPts val="700"/>
                        <a:buFont typeface="IBM Plex Sans"/>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pic>
        <p:nvPicPr>
          <p:cNvPr id="128" name="Google Shape;128;p6"/>
          <p:cNvPicPr preferRelativeResize="0"/>
          <p:nvPr/>
        </p:nvPicPr>
        <p:blipFill rotWithShape="1">
          <a:blip r:embed="rId4">
            <a:alphaModFix/>
          </a:blip>
          <a:srcRect b="0" l="0" r="0" t="0"/>
          <a:stretch/>
        </p:blipFill>
        <p:spPr>
          <a:xfrm>
            <a:off x="520522" y="264614"/>
            <a:ext cx="314325" cy="242888"/>
          </a:xfrm>
          <a:prstGeom prst="rect">
            <a:avLst/>
          </a:prstGeom>
          <a:noFill/>
          <a:ln>
            <a:noFill/>
          </a:ln>
        </p:spPr>
      </p:pic>
      <p:sp>
        <p:nvSpPr>
          <p:cNvPr id="129" name="Google Shape;129;p6"/>
          <p:cNvSpPr txBox="1"/>
          <p:nvPr/>
        </p:nvSpPr>
        <p:spPr>
          <a:xfrm>
            <a:off x="385156" y="697635"/>
            <a:ext cx="11165400" cy="96680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da-DK" sz="1000" u="none" cap="none" strike="noStrike">
                <a:solidFill>
                  <a:srgbClr val="25595D"/>
                </a:solidFill>
                <a:latin typeface="Inter"/>
                <a:ea typeface="Inter"/>
                <a:cs typeface="Inter"/>
                <a:sym typeface="Inter"/>
              </a:rPr>
              <a:t>Virksomheden har udarbejdet deres bæredygtighedsrapport gennem basismodulet, som følger en struktureret tilgang for at sikre, at de nødvendige oplysninger rapporteres korrekt og gennemsigtigt. Rapporten afspejles af de bæredygtighedsmoduler, der er udvalgt og dækket af virksomheden. Derudover er det angivet, om bæredygtighedsrapporten udarbejdes på individuel basis (kun virksomhedens egne data) eller på konsolideret basis. Dette afsnit indeholder grundlæggende oplysninger om virksomheden, f.eks. dens retlige form, NACE-sektorkode(r), balancestørrelse i euro, omsætning i euro, antal ansatte samt oplysninger om virksomhedens primære driftsland og placeringen af andre væsentlige aktiver. Relevante bæredygtighedscertificeringer eller -mærker er vedhæftet en kort beskrivelse af disse, herunder udsteder af certificeringen, dato og eventuel rating.</a:t>
            </a:r>
            <a:endParaRPr b="0" i="0" sz="1000" u="none" cap="none" strike="noStrike">
              <a:solidFill>
                <a:srgbClr val="25595D"/>
              </a:solidFill>
              <a:latin typeface="Inter"/>
              <a:ea typeface="Inter"/>
              <a:cs typeface="Inter"/>
              <a:sym typeface="Inter"/>
            </a:endParaRPr>
          </a:p>
        </p:txBody>
      </p:sp>
      <p:graphicFrame>
        <p:nvGraphicFramePr>
          <p:cNvPr id="130" name="Google Shape;130;p6"/>
          <p:cNvGraphicFramePr/>
          <p:nvPr/>
        </p:nvGraphicFramePr>
        <p:xfrm>
          <a:off x="8280504" y="1660790"/>
          <a:ext cx="3000000" cy="3000000"/>
        </p:xfrm>
        <a:graphic>
          <a:graphicData uri="http://schemas.openxmlformats.org/drawingml/2006/table">
            <a:tbl>
              <a:tblPr firstRow="1">
                <a:noFill/>
                <a:tableStyleId>{BAEAA23F-C412-4D4F-A7DF-F315DCF0D262}</a:tableStyleId>
              </a:tblPr>
              <a:tblGrid>
                <a:gridCol w="1446650"/>
                <a:gridCol w="1681750"/>
              </a:tblGrid>
              <a:tr h="243675">
                <a:tc gridSpan="2">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Grundlæggende informationer </a:t>
                      </a:r>
                      <a:r>
                        <a:rPr b="0" lang="da-DK" sz="900">
                          <a:solidFill>
                            <a:schemeClr val="dk2"/>
                          </a:solidFill>
                          <a:latin typeface="IBM Plex Sans"/>
                          <a:ea typeface="IBM Plex Sans"/>
                          <a:cs typeface="IBM Plex Sans"/>
                          <a:sym typeface="IBM Plex Sans"/>
                        </a:rPr>
                        <a:t>(pkt. 24e)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917975">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Virksomhedsform</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da-DK" sz="900">
                          <a:latin typeface="Inter"/>
                          <a:ea typeface="Inter"/>
                          <a:cs typeface="Inter"/>
                          <a:sym typeface="Inter"/>
                        </a:rPr>
                        <a:t>{{virksomhedstype321}} </a:t>
                      </a:r>
                      <a:r>
                        <a:rPr lang="da-DK" sz="900" u="none" cap="none" strike="noStrike">
                          <a:latin typeface="Inter"/>
                          <a:ea typeface="Inter"/>
                          <a:cs typeface="Inter"/>
                          <a:sym typeface="Inter"/>
                        </a:rPr>
                        <a:t>{{</a:t>
                      </a:r>
                      <a:r>
                        <a:rPr lang="da-DK" sz="900">
                          <a:latin typeface="Inter"/>
                          <a:ea typeface="Inter"/>
                          <a:cs typeface="Inter"/>
                          <a:sym typeface="Inter"/>
                        </a:rPr>
                        <a:t>virksomhedsform</a:t>
                      </a:r>
                      <a:r>
                        <a:rPr lang="da-DK" sz="900" u="none" cap="none" strike="noStrike">
                          <a:latin typeface="Inter"/>
                          <a:ea typeface="Inter"/>
                          <a:cs typeface="Inter"/>
                          <a:sym typeface="Inter"/>
                        </a:rPr>
                        <a:t>}}</a:t>
                      </a:r>
                      <a:r>
                        <a:rPr lang="da-DK" sz="900">
                          <a:latin typeface="Inter"/>
                          <a:ea typeface="Inter"/>
                          <a:cs typeface="Inter"/>
                          <a:sym typeface="Inter"/>
                        </a:rPr>
                        <a:t> </a:t>
                      </a:r>
                      <a:endParaRPr b="1" sz="900" u="none" cap="none" strike="noStrike">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63275">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a:solidFill>
                            <a:schemeClr val="dk2"/>
                          </a:solidFill>
                          <a:latin typeface="IBM Plex Sans"/>
                          <a:ea typeface="IBM Plex Sans"/>
                          <a:cs typeface="IBM Plex Sans"/>
                          <a:sym typeface="IBM Plex Sans"/>
                        </a:rPr>
                        <a:t>NACE sektor kode(r)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da-DK" sz="900" u="none" cap="none" strike="noStrike">
                          <a:latin typeface="Inter"/>
                          <a:ea typeface="Inter"/>
                          <a:cs typeface="Inter"/>
                          <a:sym typeface="Inter"/>
                        </a:rPr>
                        <a:t>{{</a:t>
                      </a:r>
                      <a:r>
                        <a:rPr lang="da-DK" sz="900">
                          <a:latin typeface="Inter"/>
                          <a:ea typeface="Inter"/>
                          <a:cs typeface="Inter"/>
                          <a:sym typeface="Inter"/>
                        </a:rPr>
                        <a:t>branchevirksomhed</a:t>
                      </a:r>
                      <a:r>
                        <a:rPr lang="da-DK" sz="900" u="none" cap="none" strike="noStrike">
                          <a:latin typeface="Inter"/>
                          <a:ea typeface="Inter"/>
                          <a:cs typeface="Inter"/>
                          <a:sym typeface="Inter"/>
                        </a:rPr>
                        <a:t>}}</a:t>
                      </a:r>
                      <a:endParaRPr b="1" sz="900" u="none" cap="none" strike="noStrike">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3675">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a:solidFill>
                            <a:schemeClr val="dk2"/>
                          </a:solidFill>
                          <a:latin typeface="IBM Plex Sans"/>
                          <a:ea typeface="IBM Plex Sans"/>
                          <a:cs typeface="IBM Plex Sans"/>
                          <a:sym typeface="IBM Plex Sans"/>
                        </a:rPr>
                        <a:t>Balancesum (i Euro)</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da-DK" sz="900" u="none" cap="none" strike="noStrike">
                          <a:latin typeface="Inter"/>
                          <a:ea typeface="Inter"/>
                          <a:cs typeface="Inter"/>
                          <a:sym typeface="Inter"/>
                        </a:rPr>
                        <a:t>{{balance}}</a:t>
                      </a:r>
                      <a:endParaRPr b="1" sz="900" u="none" cap="none" strike="noStrike">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7025">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Omsætning (i Euro)</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da-DK" sz="900" u="none" cap="none" strike="noStrike">
                          <a:latin typeface="Inter"/>
                          <a:ea typeface="Inter"/>
                          <a:cs typeface="Inter"/>
                          <a:sym typeface="Inter"/>
                        </a:rPr>
                        <a:t>{{revenue}}</a:t>
                      </a:r>
                      <a:endParaRPr b="1" sz="900" u="none" cap="none" strike="noStrike">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3675">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Antal ansatte </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da-DK" sz="900" u="none" cap="none" strike="noStrike">
                          <a:latin typeface="Inter"/>
                          <a:ea typeface="Inter"/>
                          <a:cs typeface="Inter"/>
                          <a:sym typeface="Inter"/>
                        </a:rPr>
                        <a:t>{{</a:t>
                      </a:r>
                      <a:r>
                        <a:rPr lang="da-DK" sz="900">
                          <a:latin typeface="Inter"/>
                          <a:ea typeface="Inter"/>
                          <a:cs typeface="Inter"/>
                          <a:sym typeface="Inter"/>
                        </a:rPr>
                        <a:t>total_employees</a:t>
                      </a:r>
                      <a:r>
                        <a:rPr lang="da-DK" sz="900" u="none" cap="none" strike="noStrike">
                          <a:latin typeface="Inter"/>
                          <a:ea typeface="Inter"/>
                          <a:cs typeface="Inter"/>
                          <a:sym typeface="Inter"/>
                        </a:rPr>
                        <a:t>}}</a:t>
                      </a:r>
                      <a:endParaRPr b="1" sz="900" u="none" cap="none" strike="noStrike">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131" name="Google Shape;131;p6"/>
          <p:cNvGraphicFramePr/>
          <p:nvPr/>
        </p:nvGraphicFramePr>
        <p:xfrm>
          <a:off x="8280504" y="4711279"/>
          <a:ext cx="3000000" cy="3000000"/>
        </p:xfrm>
        <a:graphic>
          <a:graphicData uri="http://schemas.openxmlformats.org/drawingml/2006/table">
            <a:tbl>
              <a:tblPr firstRow="1">
                <a:noFill/>
                <a:tableStyleId>{BAEAA23F-C412-4D4F-A7DF-F315DCF0D262}</a:tableStyleId>
              </a:tblPr>
              <a:tblGrid>
                <a:gridCol w="1446650"/>
                <a:gridCol w="1681750"/>
              </a:tblGrid>
              <a:tr h="114300">
                <a:tc gridSpan="2">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ESG-opgørelsen indeholder udeladelser grundet fortrolighed eller sensitiv forretningsinformation </a:t>
                      </a:r>
                      <a:r>
                        <a:rPr b="0" lang="da-DK" sz="900">
                          <a:solidFill>
                            <a:schemeClr val="dk2"/>
                          </a:solidFill>
                          <a:latin typeface="IBM Plex Sans"/>
                          <a:ea typeface="IBM Plex Sans"/>
                          <a:cs typeface="IBM Plex Sans"/>
                          <a:sym typeface="IBM Plex Sans"/>
                        </a:rPr>
                        <a:t>(pkt. 24b)</a:t>
                      </a:r>
                      <a:endParaRPr b="0" sz="9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114300">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900">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00"/>
                        <a:buFont typeface="IBM Plex Sans"/>
                        <a:buNone/>
                      </a:pPr>
                      <a:r>
                        <a:rPr b="0" lang="da-DK" sz="900">
                          <a:solidFill>
                            <a:schemeClr val="dk2"/>
                          </a:solidFill>
                          <a:latin typeface="IBM Plex Sans"/>
                          <a:ea typeface="IBM Plex Sans"/>
                          <a:cs typeface="IBM Plex Sans"/>
                          <a:sym typeface="IBM Plex Sans"/>
                        </a:rPr>
                        <a:t>Følgende oplysningspunkter er udeladt</a:t>
                      </a:r>
                      <a:endParaRPr/>
                    </a:p>
                    <a:p>
                      <a:pPr indent="0" lvl="0" marL="0" marR="0" rtl="0" algn="l">
                        <a:spcBef>
                          <a:spcPts val="0"/>
                        </a:spcBef>
                        <a:spcAft>
                          <a:spcPts val="0"/>
                        </a:spcAft>
                        <a:buNone/>
                      </a:pPr>
                      <a:r>
                        <a:t/>
                      </a:r>
                      <a:endParaRPr b="1" sz="9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rtl="0" algn="l">
                        <a:spcBef>
                          <a:spcPts val="0"/>
                        </a:spcBef>
                        <a:spcAft>
                          <a:spcPts val="0"/>
                        </a:spcAft>
                        <a:buClr>
                          <a:schemeClr val="dk1"/>
                        </a:buClr>
                        <a:buSzPts val="700"/>
                        <a:buFont typeface="Arial"/>
                        <a:buNone/>
                      </a:pPr>
                      <a:r>
                        <a:rPr lang="da-DK" sz="900">
                          <a:latin typeface="Inter"/>
                          <a:ea typeface="Inter"/>
                          <a:cs typeface="Inter"/>
                          <a:sym typeface="Inter"/>
                        </a:rPr>
                        <a:t>{{confidentiality_info}}</a:t>
                      </a:r>
                      <a:endParaRPr sz="900">
                        <a:solidFill>
                          <a:srgbClr val="2D55FF"/>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7"/>
          <p:cNvPicPr preferRelativeResize="0"/>
          <p:nvPr/>
        </p:nvPicPr>
        <p:blipFill rotWithShape="1">
          <a:blip r:embed="rId3">
            <a:alphaModFix/>
          </a:blip>
          <a:srcRect b="0" l="0" r="0" t="0"/>
          <a:stretch/>
        </p:blipFill>
        <p:spPr>
          <a:xfrm>
            <a:off x="638979" y="1108695"/>
            <a:ext cx="207455" cy="232601"/>
          </a:xfrm>
          <a:prstGeom prst="rect">
            <a:avLst/>
          </a:prstGeom>
          <a:noFill/>
          <a:ln>
            <a:noFill/>
          </a:ln>
        </p:spPr>
      </p:pic>
      <p:sp>
        <p:nvSpPr>
          <p:cNvPr id="137" name="Google Shape;137;p7"/>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38" name="Google Shape;138;p7"/>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dk1"/>
              </a:buClr>
              <a:buSzPts val="1100"/>
              <a:buFont typeface="Arial"/>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None/>
            </a:pPr>
            <a:r>
              <a:t/>
            </a:r>
            <a:endParaRPr/>
          </a:p>
        </p:txBody>
      </p:sp>
      <p:graphicFrame>
        <p:nvGraphicFramePr>
          <p:cNvPr id="139" name="Google Shape;139;p7"/>
          <p:cNvGraphicFramePr/>
          <p:nvPr/>
        </p:nvGraphicFramePr>
        <p:xfrm>
          <a:off x="481498" y="4119561"/>
          <a:ext cx="3000000" cy="3000000"/>
        </p:xfrm>
        <a:graphic>
          <a:graphicData uri="http://schemas.openxmlformats.org/drawingml/2006/table">
            <a:tbl>
              <a:tblPr firstRow="1">
                <a:noFill/>
                <a:tableStyleId>{BAEAA23F-C412-4D4F-A7DF-F315DCF0D262}</a:tableStyleId>
              </a:tblPr>
              <a:tblGrid>
                <a:gridCol w="2544675"/>
                <a:gridCol w="2442300"/>
                <a:gridCol w="1288275"/>
                <a:gridCol w="1126825"/>
              </a:tblGrid>
              <a:tr h="252000">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Navn på ESG-certifikat/miljømærke </a:t>
                      </a:r>
                      <a:r>
                        <a:rPr b="0" lang="da-DK" sz="900">
                          <a:solidFill>
                            <a:schemeClr val="dk2"/>
                          </a:solidFill>
                          <a:latin typeface="IBM Plex Sans"/>
                          <a:ea typeface="IBM Plex Sans"/>
                          <a:cs typeface="IBM Plex Sans"/>
                          <a:sym typeface="IBM Plex Sans"/>
                        </a:rPr>
                        <a:t>(pkt. 25)</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Kort beskrivelse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Dato for udstedelse/</a:t>
                      </a:r>
                      <a:endParaRPr/>
                    </a:p>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gyldighed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Evt. rating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52000">
                <a:tc>
                  <a:txBody>
                    <a:bodyPr/>
                    <a:lstStyle/>
                    <a:p>
                      <a:pPr indent="0" lvl="0" marL="0" marR="0" rtl="0" algn="l">
                        <a:lnSpc>
                          <a:spcPct val="100000"/>
                        </a:lnSpc>
                        <a:spcBef>
                          <a:spcPts val="0"/>
                        </a:spcBef>
                        <a:spcAft>
                          <a:spcPts val="0"/>
                        </a:spcAft>
                        <a:buClr>
                          <a:srgbClr val="000000"/>
                        </a:buClr>
                        <a:buSzPts val="700"/>
                        <a:buFont typeface="Arial"/>
                        <a:buNone/>
                      </a:pPr>
                      <a:r>
                        <a:rPr lang="da-DK" sz="900" u="none" cap="none" strike="noStrike">
                          <a:latin typeface="Inter"/>
                          <a:ea typeface="Inter"/>
                          <a:cs typeface="Inter"/>
                          <a:sym typeface="Inter"/>
                        </a:rPr>
                        <a:t>{{certificate</a:t>
                      </a:r>
                      <a:r>
                        <a:rPr lang="da-DK" sz="900">
                          <a:latin typeface="Inter"/>
                          <a:ea typeface="Inter"/>
                          <a:cs typeface="Inter"/>
                          <a:sym typeface="Inter"/>
                        </a:rPr>
                        <a:t>_</a:t>
                      </a:r>
                      <a:r>
                        <a:rPr lang="da-DK" sz="900" u="none" cap="none" strike="noStrike">
                          <a:latin typeface="Inter"/>
                          <a:ea typeface="Inter"/>
                          <a:cs typeface="Inter"/>
                          <a:sym typeface="Inter"/>
                        </a:rPr>
                        <a:t>or</a:t>
                      </a:r>
                      <a:r>
                        <a:rPr lang="da-DK" sz="900">
                          <a:latin typeface="Inter"/>
                          <a:ea typeface="Inter"/>
                          <a:cs typeface="Inter"/>
                          <a:sym typeface="Inter"/>
                        </a:rPr>
                        <a:t>_</a:t>
                      </a:r>
                      <a:r>
                        <a:rPr lang="da-DK" sz="900" u="none" cap="none" strike="noStrike">
                          <a:latin typeface="Inter"/>
                          <a:ea typeface="Inter"/>
                          <a:cs typeface="Inter"/>
                          <a:sym typeface="Inter"/>
                        </a:rPr>
                        <a:t>ecolabel}}</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900" u="none" cap="none" strike="noStrike">
                          <a:latin typeface="Inter"/>
                          <a:ea typeface="Inter"/>
                          <a:cs typeface="Inter"/>
                          <a:sym typeface="Inter"/>
                        </a:rPr>
                        <a:t>{{description</a:t>
                      </a:r>
                      <a:r>
                        <a:rPr lang="da-DK" sz="900">
                          <a:latin typeface="Inter"/>
                          <a:ea typeface="Inter"/>
                          <a:cs typeface="Inter"/>
                          <a:sym typeface="Inter"/>
                        </a:rPr>
                        <a:t>_certificate</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900" u="none" cap="none" strike="noStrike">
                          <a:latin typeface="Inter"/>
                          <a:ea typeface="Inter"/>
                          <a:cs typeface="Inter"/>
                          <a:sym typeface="Inter"/>
                        </a:rPr>
                        <a:t>{{date_certificate}}</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700"/>
                        <a:buFont typeface="IBM Plex Sans"/>
                        <a:buNone/>
                      </a:pPr>
                      <a:r>
                        <a:rPr lang="da-DK" sz="900" u="none" cap="none" strike="noStrike">
                          <a:latin typeface="Inter"/>
                          <a:ea typeface="Inter"/>
                          <a:cs typeface="Inter"/>
                          <a:sym typeface="Inter"/>
                        </a:rPr>
                        <a:t>{{certificate_possible_rating}}</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52000">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700"/>
                        <a:buFont typeface="IBM Plex Sans"/>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52000">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700"/>
                        <a:buFont typeface="IBM Plex Sans"/>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140" name="Google Shape;140;p7"/>
          <p:cNvGraphicFramePr/>
          <p:nvPr/>
        </p:nvGraphicFramePr>
        <p:xfrm>
          <a:off x="534503" y="1543540"/>
          <a:ext cx="3000000" cy="3000000"/>
        </p:xfrm>
        <a:graphic>
          <a:graphicData uri="http://schemas.openxmlformats.org/drawingml/2006/table">
            <a:tbl>
              <a:tblPr firstRow="1">
                <a:noFill/>
                <a:tableStyleId>{BAEAA23F-C412-4D4F-A7DF-F315DCF0D262}</a:tableStyleId>
              </a:tblPr>
              <a:tblGrid>
                <a:gridCol w="1342300"/>
                <a:gridCol w="1425375"/>
                <a:gridCol w="1089125"/>
                <a:gridCol w="1064375"/>
                <a:gridCol w="1179900"/>
                <a:gridCol w="1263900"/>
              </a:tblGrid>
              <a:tr h="324000">
                <a:tc gridSpan="6">
                  <a:txBody>
                    <a:bodyPr/>
                    <a:lstStyle/>
                    <a:p>
                      <a:pPr indent="0" lvl="0" marL="0" marR="0" rtl="0" algn="l">
                        <a:lnSpc>
                          <a:spcPct val="100000"/>
                        </a:lnSpc>
                        <a:spcBef>
                          <a:spcPts val="0"/>
                        </a:spcBef>
                        <a:spcAft>
                          <a:spcPts val="0"/>
                        </a:spcAft>
                        <a:buClr>
                          <a:schemeClr val="dk2"/>
                        </a:buClr>
                        <a:buSzPts val="900"/>
                        <a:buFont typeface="IBM Plex Sans"/>
                        <a:buNone/>
                      </a:pPr>
                      <a:r>
                        <a:rPr b="1" lang="da-DK" sz="900">
                          <a:solidFill>
                            <a:schemeClr val="dk2"/>
                          </a:solidFill>
                          <a:latin typeface="IBM Plex Sans"/>
                          <a:ea typeface="IBM Plex Sans"/>
                          <a:cs typeface="IBM Plex Sans"/>
                          <a:sym typeface="IBM Plex Sans"/>
                        </a:rPr>
                        <a:t>Adresser og geolokation på </a:t>
                      </a:r>
                      <a:r>
                        <a:rPr b="1" lang="da-DK" sz="900" u="none">
                          <a:solidFill>
                            <a:schemeClr val="dk2"/>
                          </a:solidFill>
                          <a:latin typeface="IBM Plex Sans"/>
                          <a:ea typeface="IBM Plex Sans"/>
                          <a:cs typeface="IBM Plex Sans"/>
                          <a:sym typeface="IBM Plex Sans"/>
                        </a:rPr>
                        <a:t>væsentlige</a:t>
                      </a:r>
                      <a:r>
                        <a:rPr b="1" lang="da-DK" sz="900">
                          <a:solidFill>
                            <a:schemeClr val="dk2"/>
                          </a:solidFill>
                          <a:latin typeface="IBM Plex Sans"/>
                          <a:ea typeface="IBM Plex Sans"/>
                          <a:cs typeface="IBM Plex Sans"/>
                          <a:sym typeface="IBM Plex Sans"/>
                        </a:rPr>
                        <a:t> aktiver og anlæg, som virksomheden ejer, lejer eller forvalter </a:t>
                      </a:r>
                      <a:r>
                        <a:rPr b="0" lang="da-DK" sz="900">
                          <a:solidFill>
                            <a:schemeClr val="dk2"/>
                          </a:solidFill>
                          <a:latin typeface="IBM Plex Sans"/>
                          <a:ea typeface="IBM Plex Sans"/>
                          <a:cs typeface="IBM Plex Sans"/>
                          <a:sym typeface="IBM Plex Sans"/>
                        </a:rPr>
                        <a:t>(pkt. 24e, vi, vii/pkt. 73-76)</a:t>
                      </a:r>
                      <a:endParaRPr/>
                    </a:p>
                    <a:p>
                      <a:pPr indent="0" lvl="0" marL="0" marR="0" rtl="0" algn="l">
                        <a:lnSpc>
                          <a:spcPct val="100000"/>
                        </a:lnSpc>
                        <a:spcBef>
                          <a:spcPts val="0"/>
                        </a:spcBef>
                        <a:spcAft>
                          <a:spcPts val="0"/>
                        </a:spcAft>
                        <a:buClr>
                          <a:schemeClr val="dk1"/>
                        </a:buClr>
                        <a:buSzPts val="900"/>
                        <a:buFont typeface="IBM Plex Sans"/>
                        <a:buNone/>
                      </a:pPr>
                      <a:r>
                        <a:t/>
                      </a:r>
                      <a:endParaRPr b="1" sz="900">
                        <a:solidFill>
                          <a:schemeClr val="dk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c hMerge="1"/>
                <a:tc hMerge="1"/>
              </a:tr>
              <a:tr h="324000">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Sted</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Adresse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Postnummer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By</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Land</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Geolokation (koordinater)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24000">
                <a:tc>
                  <a:txBody>
                    <a:bodyPr/>
                    <a:lstStyle/>
                    <a:p>
                      <a:pPr indent="0" lvl="0" marL="0" marR="0" rtl="0" algn="l">
                        <a:spcBef>
                          <a:spcPts val="0"/>
                        </a:spcBef>
                        <a:spcAft>
                          <a:spcPts val="0"/>
                        </a:spcAft>
                        <a:buClr>
                          <a:srgbClr val="2D55FF"/>
                        </a:buClr>
                        <a:buSzPts val="900"/>
                        <a:buFont typeface="Inter"/>
                        <a:buNone/>
                      </a:pPr>
                      <a:r>
                        <a:rPr b="0" i="0" lang="da-DK" sz="900" u="none" strike="noStrike">
                          <a:latin typeface="Inter"/>
                          <a:ea typeface="Inter"/>
                          <a:cs typeface="Inter"/>
                          <a:sym typeface="Inter"/>
                        </a:rPr>
                        <a:t>{{geolocation}}</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da-DK" sz="900">
                          <a:latin typeface="Inter"/>
                          <a:ea typeface="Inter"/>
                          <a:cs typeface="Inter"/>
                          <a:sym typeface="Inter"/>
                        </a:rPr>
                        <a:t>{{geolocation_address}}</a:t>
                      </a:r>
                      <a:endParaRPr sz="900">
                        <a:latin typeface="Inter"/>
                        <a:ea typeface="Inter"/>
                        <a:cs typeface="Inter"/>
                        <a:sym typeface="Inter"/>
                      </a:endParaRPr>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900"/>
                        <a:buFont typeface="Inter"/>
                        <a:buNone/>
                      </a:pPr>
                      <a:r>
                        <a:rPr b="0" i="0" lang="da-DK" sz="900" u="none" strike="noStrike">
                          <a:latin typeface="Inter"/>
                          <a:ea typeface="Inter"/>
                          <a:cs typeface="Inter"/>
                          <a:sym typeface="Inter"/>
                        </a:rPr>
                        <a:t>{{geolocation_postcode}}</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900"/>
                        <a:buFont typeface="Inter"/>
                        <a:buNone/>
                      </a:pPr>
                      <a:r>
                        <a:rPr b="0" i="0" lang="da-DK" sz="900" u="none" strike="noStrike">
                          <a:latin typeface="Inter"/>
                          <a:ea typeface="Inter"/>
                          <a:cs typeface="Inter"/>
                          <a:sym typeface="Inter"/>
                        </a:rPr>
                        <a:t>{{geolocation_city}}</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900"/>
                        <a:buFont typeface="Inter"/>
                        <a:buNone/>
                      </a:pPr>
                      <a:r>
                        <a:rPr b="0" i="0" lang="da-DK" sz="900" u="none" strike="noStrike">
                          <a:latin typeface="Inter"/>
                          <a:ea typeface="Inter"/>
                          <a:cs typeface="Inter"/>
                          <a:sym typeface="Inter"/>
                        </a:rPr>
                        <a:t>{{geolocation_country}}</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da-DK" sz="900">
                          <a:latin typeface="Inter"/>
                          <a:ea typeface="Inter"/>
                          <a:cs typeface="Inter"/>
                          <a:sym typeface="Inter"/>
                        </a:rPr>
                        <a:t>{{geolocation_coordinates}}</a:t>
                      </a:r>
                      <a:endParaRPr sz="900">
                        <a:latin typeface="Inter"/>
                        <a:ea typeface="Inter"/>
                        <a:cs typeface="Inter"/>
                        <a:sym typeface="Inter"/>
                      </a:endParaRPr>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4000">
                <a:tc>
                  <a:txBody>
                    <a:bodyPr/>
                    <a:lstStyle/>
                    <a:p>
                      <a:pPr indent="0" lvl="0" marL="0" marR="0" rtl="0" algn="l">
                        <a:spcBef>
                          <a:spcPts val="0"/>
                        </a:spcBef>
                        <a:spcAft>
                          <a:spcPts val="0"/>
                        </a:spcAft>
                        <a:buClr>
                          <a:srgbClr val="2D55FF"/>
                        </a:buClr>
                        <a:buSzPts val="900"/>
                        <a:buFont typeface="Inter"/>
                        <a:buNone/>
                      </a:pPr>
                      <a:r>
                        <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900"/>
                        <a:buFont typeface="Inter"/>
                        <a:buNone/>
                      </a:pPr>
                      <a:r>
                        <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900"/>
                        <a:buFont typeface="Inter"/>
                        <a:buNone/>
                      </a:pPr>
                      <a:r>
                        <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900"/>
                        <a:buFont typeface="Inter"/>
                        <a:buNone/>
                      </a:pPr>
                      <a:r>
                        <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900"/>
                        <a:buFont typeface="Inter"/>
                        <a:buNone/>
                      </a:pPr>
                      <a:r>
                        <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900"/>
                        <a:buFont typeface="Inter"/>
                        <a:buNone/>
                      </a:pPr>
                      <a:r>
                        <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4000">
                <a:tc>
                  <a:txBody>
                    <a:bodyPr/>
                    <a:lstStyle/>
                    <a:p>
                      <a:pPr indent="0" lvl="0" marL="0" marR="0" rtl="0" algn="l">
                        <a:spcBef>
                          <a:spcPts val="0"/>
                        </a:spcBef>
                        <a:spcAft>
                          <a:spcPts val="0"/>
                        </a:spcAft>
                        <a:buClr>
                          <a:srgbClr val="2D55FF"/>
                        </a:buClr>
                        <a:buSzPts val="900"/>
                        <a:buFont typeface="Inter"/>
                        <a:buNone/>
                      </a:pPr>
                      <a:r>
                        <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900"/>
                        <a:buFont typeface="Inter"/>
                        <a:buNone/>
                      </a:pPr>
                      <a:r>
                        <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900"/>
                        <a:buFont typeface="Inter"/>
                        <a:buNone/>
                      </a:pPr>
                      <a:r>
                        <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900"/>
                        <a:buFont typeface="Inter"/>
                        <a:buNone/>
                      </a:pPr>
                      <a:r>
                        <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900"/>
                        <a:buFont typeface="Inter"/>
                        <a:buNone/>
                      </a:pPr>
                      <a:r>
                        <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900"/>
                        <a:buFont typeface="Inter"/>
                        <a:buNone/>
                      </a:pPr>
                      <a:r>
                        <a:t/>
                      </a:r>
                      <a:endParaRPr b="0" sz="9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141" name="Google Shape;141;p7"/>
          <p:cNvSpPr txBox="1"/>
          <p:nvPr>
            <p:ph type="title"/>
          </p:nvPr>
        </p:nvSpPr>
        <p:spPr>
          <a:xfrm>
            <a:off x="851544" y="260458"/>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Grundlag for udarbejdelse - fortsat</a:t>
            </a:r>
            <a:endParaRPr/>
          </a:p>
        </p:txBody>
      </p:sp>
      <p:pic>
        <p:nvPicPr>
          <p:cNvPr id="142" name="Google Shape;142;p7"/>
          <p:cNvPicPr preferRelativeResize="0"/>
          <p:nvPr/>
        </p:nvPicPr>
        <p:blipFill rotWithShape="1">
          <a:blip r:embed="rId4">
            <a:alphaModFix/>
          </a:blip>
          <a:srcRect b="0" l="0" r="0" t="0"/>
          <a:stretch/>
        </p:blipFill>
        <p:spPr>
          <a:xfrm>
            <a:off x="512055" y="254384"/>
            <a:ext cx="314325" cy="242888"/>
          </a:xfrm>
          <a:prstGeom prst="rect">
            <a:avLst/>
          </a:prstGeom>
          <a:noFill/>
          <a:ln>
            <a:noFill/>
          </a:ln>
        </p:spPr>
      </p:pic>
      <p:sp>
        <p:nvSpPr>
          <p:cNvPr id="143" name="Google Shape;143;p7"/>
          <p:cNvSpPr txBox="1"/>
          <p:nvPr/>
        </p:nvSpPr>
        <p:spPr>
          <a:xfrm>
            <a:off x="496003" y="3782161"/>
            <a:ext cx="6097604" cy="258917"/>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da-DK" sz="1000" u="none" cap="none" strike="noStrike">
                <a:solidFill>
                  <a:srgbClr val="25595D"/>
                </a:solidFill>
                <a:latin typeface="Inter"/>
                <a:ea typeface="Inter"/>
                <a:cs typeface="Inter"/>
                <a:sym typeface="Inter"/>
              </a:rPr>
              <a:t>Virksomhedens certifikater og miljømærker er listet nedenfor.</a:t>
            </a:r>
            <a:endParaRPr b="0" i="0" sz="1000" u="none" cap="none" strike="noStrike">
              <a:solidFill>
                <a:srgbClr val="25595D"/>
              </a:solidFill>
              <a:latin typeface="Inter"/>
              <a:ea typeface="Inter"/>
              <a:cs typeface="Inter"/>
              <a:sym typeface="Inter"/>
            </a:endParaRPr>
          </a:p>
        </p:txBody>
      </p:sp>
      <p:sp>
        <p:nvSpPr>
          <p:cNvPr id="144" name="Google Shape;144;p7"/>
          <p:cNvSpPr txBox="1"/>
          <p:nvPr/>
        </p:nvSpPr>
        <p:spPr>
          <a:xfrm>
            <a:off x="444319" y="701698"/>
            <a:ext cx="7372869" cy="607849"/>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900"/>
              </a:spcBef>
              <a:spcAft>
                <a:spcPts val="0"/>
              </a:spcAft>
              <a:buClr>
                <a:srgbClr val="000000"/>
              </a:buClr>
              <a:buSzPts val="700"/>
              <a:buFont typeface="Arial"/>
              <a:buNone/>
            </a:pPr>
            <a:r>
              <a:rPr b="0" i="0" lang="da-DK" sz="1000" u="none" cap="none" strike="noStrike">
                <a:solidFill>
                  <a:srgbClr val="25595D"/>
                </a:solidFill>
                <a:latin typeface="Inter"/>
                <a:ea typeface="Inter"/>
                <a:cs typeface="Inter"/>
                <a:sym typeface="Inter"/>
              </a:rPr>
              <a:t>Nedenfor er en beskrivelse af virksomhedens geolokationer, samt hvor virksomheden opererer. Disse oplysninger kan anvendes til klimarelaterede risikozoner og giver oplysninger om virksomhedens anlæg, faciliteter og/eller hovedkvarter</a:t>
            </a:r>
            <a:endParaRPr b="0" i="0" sz="1000" u="none" cap="none" strike="noStrike">
              <a:solidFill>
                <a:srgbClr val="25595D"/>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8"/>
          <p:cNvSpPr txBox="1"/>
          <p:nvPr>
            <p:ph type="title"/>
          </p:nvPr>
        </p:nvSpPr>
        <p:spPr>
          <a:xfrm>
            <a:off x="891128" y="272818"/>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Indsatser, politikker og fremtidige initiativer for omstilling til en mere bæredygtig økonomi</a:t>
            </a:r>
            <a:endParaRPr/>
          </a:p>
        </p:txBody>
      </p:sp>
      <p:sp>
        <p:nvSpPr>
          <p:cNvPr id="150" name="Google Shape;150;p8"/>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51" name="Google Shape;151;p8"/>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dk1"/>
              </a:buClr>
              <a:buSzPts val="1100"/>
              <a:buFont typeface="Arial"/>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None/>
            </a:pPr>
            <a:r>
              <a:t/>
            </a:r>
            <a:endParaRPr/>
          </a:p>
        </p:txBody>
      </p:sp>
      <p:graphicFrame>
        <p:nvGraphicFramePr>
          <p:cNvPr id="152" name="Google Shape;152;p8"/>
          <p:cNvGraphicFramePr/>
          <p:nvPr/>
        </p:nvGraphicFramePr>
        <p:xfrm>
          <a:off x="640213" y="1549095"/>
          <a:ext cx="3000000" cy="3000000"/>
        </p:xfrm>
        <a:graphic>
          <a:graphicData uri="http://schemas.openxmlformats.org/drawingml/2006/table">
            <a:tbl>
              <a:tblPr firstRow="1">
                <a:noFill/>
                <a:tableStyleId>{BAEAA23F-C412-4D4F-A7DF-F315DCF0D262}</a:tableStyleId>
              </a:tblPr>
              <a:tblGrid>
                <a:gridCol w="2308800"/>
                <a:gridCol w="1753450"/>
                <a:gridCol w="1740350"/>
                <a:gridCol w="1873400"/>
              </a:tblGrid>
              <a:tr h="834400">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Område</a:t>
                      </a:r>
                      <a:endParaRPr/>
                    </a:p>
                    <a:p>
                      <a:pPr indent="0" lvl="0" marL="0" marR="0" rtl="0" algn="l">
                        <a:spcBef>
                          <a:spcPts val="0"/>
                        </a:spcBef>
                        <a:spcAft>
                          <a:spcPts val="0"/>
                        </a:spcAft>
                        <a:buNone/>
                      </a:pPr>
                      <a:r>
                        <a:rPr b="0" lang="da-DK" sz="900">
                          <a:solidFill>
                            <a:schemeClr val="dk2"/>
                          </a:solidFill>
                          <a:latin typeface="IBM Plex Sans"/>
                          <a:ea typeface="IBM Plex Sans"/>
                          <a:cs typeface="IBM Plex Sans"/>
                          <a:sym typeface="IBM Plex Sans"/>
                        </a:rPr>
                        <a:t>(pkt. 26 og 78)</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Virksomheden har en konkret politik/indsats på området (JA/NEJ)</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Er politikken/ indsatsen offentligt tilgængelig? (JA/NEJ)</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Indeholder politikken/indsatsen målsætninger eller fremtidige initiativer?</a:t>
                      </a:r>
                      <a:endParaRPr/>
                    </a:p>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(JA/NEJ)</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406550">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Klimaforandringer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{{climate_change_concrete}}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{{climate_change_publicly}}</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{{climate_change_future}}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825">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Forurening</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{{pollution_concrete}}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{{pollution_publicly}}</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da-DK" sz="700" u="none" cap="none" strike="noStrike">
                          <a:latin typeface="Inter"/>
                          <a:ea typeface="Inter"/>
                          <a:cs typeface="Inter"/>
                          <a:sym typeface="Inter"/>
                        </a:rPr>
                        <a:t>{{pollution_future}}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96775">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Vand -og Havressourcer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{{water_concrete}}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{{water_publicly}}</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{{water_future}}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96775">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Biodiversitet og Økosystemer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{{biodiversity_concrete}}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{{biodiversity_publicly}}</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da-DK" sz="700" u="none" cap="none" strike="noStrike">
                          <a:latin typeface="Inter"/>
                          <a:ea typeface="Inter"/>
                          <a:cs typeface="Inter"/>
                          <a:sym typeface="Inter"/>
                        </a:rPr>
                        <a:t>{{biodiversity_future}}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96775">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Cirkulær økonomi</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{{circular_concrete}}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{{circular_publicly}}</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{{circular_future}}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96775">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Egen arbejdsstyrke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{{workforce_concrete}}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{{workforce_publicly}}</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da-DK" sz="700" u="none" cap="none" strike="noStrike">
                          <a:latin typeface="Inter"/>
                          <a:ea typeface="Inter"/>
                          <a:cs typeface="Inter"/>
                          <a:sym typeface="Inter"/>
                        </a:rPr>
                        <a:t>{{workforce_future}}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96775">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Arbejdere i værdikæden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{{workers_concrete}}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a:t>
                      </a:r>
                      <a:r>
                        <a:rPr lang="da-DK" sz="700">
                          <a:latin typeface="Inter"/>
                          <a:ea typeface="Inter"/>
                          <a:cs typeface="Inter"/>
                          <a:sym typeface="Inter"/>
                        </a:rPr>
                        <a:t>workers_publicly</a:t>
                      </a:r>
                      <a:r>
                        <a:rPr lang="da-DK" sz="700" u="none" cap="none" strike="noStrike">
                          <a:latin typeface="Inter"/>
                          <a:ea typeface="Inter"/>
                          <a:cs typeface="Inter"/>
                          <a:sym typeface="Inter"/>
                        </a:rPr>
                        <a:t>}}</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{{workers_future}}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96775">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Berørte samfund</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{{communities_concrete}}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a:t>
                      </a:r>
                      <a:r>
                        <a:rPr lang="da-DK" sz="700">
                          <a:latin typeface="Inter"/>
                          <a:ea typeface="Inter"/>
                          <a:cs typeface="Inter"/>
                          <a:sym typeface="Inter"/>
                        </a:rPr>
                        <a:t>communities_publicly</a:t>
                      </a:r>
                      <a:r>
                        <a:rPr lang="da-DK" sz="700" u="none" cap="none" strike="noStrike">
                          <a:latin typeface="Inter"/>
                          <a:ea typeface="Inter"/>
                          <a:cs typeface="Inter"/>
                          <a:sym typeface="Inter"/>
                        </a:rPr>
                        <a:t>}}</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da-DK" sz="700" u="none" cap="none" strike="noStrike">
                          <a:latin typeface="Inter"/>
                          <a:ea typeface="Inter"/>
                          <a:cs typeface="Inter"/>
                          <a:sym typeface="Inter"/>
                        </a:rPr>
                        <a:t>{{communities_future}}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96775">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Forbrugere og slutbrugere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{{consumers_concrete}}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a:t>
                      </a:r>
                      <a:r>
                        <a:rPr lang="da-DK" sz="700">
                          <a:latin typeface="Inter"/>
                          <a:ea typeface="Inter"/>
                          <a:cs typeface="Inter"/>
                          <a:sym typeface="Inter"/>
                        </a:rPr>
                        <a:t>consumers_publicly</a:t>
                      </a:r>
                      <a:r>
                        <a:rPr lang="da-DK" sz="700" u="none" cap="none" strike="noStrike">
                          <a:latin typeface="Inter"/>
                          <a:ea typeface="Inter"/>
                          <a:cs typeface="Inter"/>
                          <a:sym typeface="Inter"/>
                        </a:rPr>
                        <a:t>}}</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da-DK" sz="700" u="none" cap="none" strike="noStrike">
                          <a:latin typeface="Inter"/>
                          <a:ea typeface="Inter"/>
                          <a:cs typeface="Inter"/>
                          <a:sym typeface="Inter"/>
                        </a:rPr>
                        <a:t>{{consumers_future}}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96775">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Virksomhedsledelse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{{governance_concrete}}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a:t>
                      </a:r>
                      <a:r>
                        <a:rPr lang="da-DK" sz="700">
                          <a:latin typeface="Inter"/>
                          <a:ea typeface="Inter"/>
                          <a:cs typeface="Inter"/>
                          <a:sym typeface="Inter"/>
                        </a:rPr>
                        <a:t>governance_publicly</a:t>
                      </a:r>
                      <a:r>
                        <a:rPr lang="da-DK" sz="700" u="none" cap="none" strike="noStrike">
                          <a:latin typeface="Inter"/>
                          <a:ea typeface="Inter"/>
                          <a:cs typeface="Inter"/>
                          <a:sym typeface="Inter"/>
                        </a:rPr>
                        <a:t>}}</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700"/>
                        <a:buFont typeface="IBM Plex Sans"/>
                        <a:buNone/>
                      </a:pPr>
                      <a:r>
                        <a:rPr lang="da-DK" sz="700" u="none" cap="none" strike="noStrike">
                          <a:latin typeface="Inter"/>
                          <a:ea typeface="Inter"/>
                          <a:cs typeface="Inter"/>
                          <a:sym typeface="Inter"/>
                        </a:rPr>
                        <a:t>{{governance_future}}</a:t>
                      </a:r>
                      <a:endParaRPr sz="700" u="none" cap="none" strike="noStrike">
                        <a:latin typeface="Inter"/>
                        <a:ea typeface="Inter"/>
                        <a:cs typeface="Inter"/>
                        <a:sym typeface="Inter"/>
                      </a:endParaRPr>
                    </a:p>
                  </a:txBody>
                  <a:tcPr marT="27000" marB="27000" marR="40500" marL="40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pic>
        <p:nvPicPr>
          <p:cNvPr id="153" name="Google Shape;153;p8"/>
          <p:cNvPicPr preferRelativeResize="0"/>
          <p:nvPr/>
        </p:nvPicPr>
        <p:blipFill rotWithShape="1">
          <a:blip r:embed="rId3">
            <a:alphaModFix/>
          </a:blip>
          <a:srcRect b="0" l="0" r="0" t="0"/>
          <a:stretch/>
        </p:blipFill>
        <p:spPr>
          <a:xfrm>
            <a:off x="515438" y="276023"/>
            <a:ext cx="335756" cy="242888"/>
          </a:xfrm>
          <a:prstGeom prst="rect">
            <a:avLst/>
          </a:prstGeom>
          <a:noFill/>
          <a:ln>
            <a:noFill/>
          </a:ln>
        </p:spPr>
      </p:pic>
      <p:graphicFrame>
        <p:nvGraphicFramePr>
          <p:cNvPr id="154" name="Google Shape;154;p8"/>
          <p:cNvGraphicFramePr/>
          <p:nvPr/>
        </p:nvGraphicFramePr>
        <p:xfrm>
          <a:off x="8855244" y="1517563"/>
          <a:ext cx="3000000" cy="3000000"/>
        </p:xfrm>
        <a:graphic>
          <a:graphicData uri="http://schemas.openxmlformats.org/drawingml/2006/table">
            <a:tbl>
              <a:tblPr>
                <a:noFill/>
                <a:tableStyleId>{78A6D804-A972-451D-A148-11AE6AC30977}</a:tableStyleId>
              </a:tblPr>
              <a:tblGrid>
                <a:gridCol w="1771375"/>
                <a:gridCol w="563225"/>
              </a:tblGrid>
              <a:tr h="850875">
                <a:tc gridSpan="2">
                  <a:txBody>
                    <a:bodyPr/>
                    <a:lstStyle/>
                    <a:p>
                      <a:pPr indent="0" lvl="0" marL="0" marR="0" rtl="0" algn="l">
                        <a:lnSpc>
                          <a:spcPct val="115000"/>
                        </a:lnSpc>
                        <a:spcBef>
                          <a:spcPts val="0"/>
                        </a:spcBef>
                        <a:spcAft>
                          <a:spcPts val="0"/>
                        </a:spcAft>
                        <a:buClr>
                          <a:srgbClr val="000000"/>
                        </a:buClr>
                        <a:buSzPts val="700"/>
                        <a:buFont typeface="Arial"/>
                        <a:buNone/>
                      </a:pPr>
                      <a:r>
                        <a:rPr b="1" lang="da-DK" sz="900" u="none" cap="none" strike="noStrike">
                          <a:solidFill>
                            <a:srgbClr val="25595D"/>
                          </a:solidFill>
                          <a:latin typeface="Inter"/>
                          <a:ea typeface="Inter"/>
                          <a:cs typeface="Inter"/>
                          <a:sym typeface="Inter"/>
                        </a:rPr>
                        <a:t>Referenceliste over praksisser, politikker og initiativer til støtte for og omstilling til en mere bæredygtig økonomi</a:t>
                      </a:r>
                      <a:endParaRPr b="1" sz="900" u="none" cap="none" strike="noStrike">
                        <a:solidFill>
                          <a:srgbClr val="25595D"/>
                        </a:solidFill>
                        <a:latin typeface="Inter"/>
                        <a:ea typeface="Inter"/>
                        <a:cs typeface="Inter"/>
                        <a:sym typeface="Inter"/>
                      </a:endParaRPr>
                    </a:p>
                  </a:txBody>
                  <a:tcPr marT="68575" marB="6857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hMerge="1"/>
              </a:tr>
              <a:tr h="3950125">
                <a:tc gridSpan="2">
                  <a:txBody>
                    <a:bodyPr/>
                    <a:lstStyle/>
                    <a:p>
                      <a:pPr indent="0" lvl="0" marL="0" marR="0" rtl="0" algn="l">
                        <a:lnSpc>
                          <a:spcPct val="106000"/>
                        </a:lnSpc>
                        <a:spcBef>
                          <a:spcPts val="0"/>
                        </a:spcBef>
                        <a:spcAft>
                          <a:spcPts val="0"/>
                        </a:spcAft>
                        <a:buClr>
                          <a:srgbClr val="000000"/>
                        </a:buClr>
                        <a:buSzPts val="700"/>
                        <a:buFont typeface="Arial"/>
                        <a:buNone/>
                      </a:pPr>
                      <a:r>
                        <a:rPr lang="da-DK" sz="700" u="none" cap="none" strike="noStrike">
                          <a:solidFill>
                            <a:schemeClr val="dk1"/>
                          </a:solidFill>
                          <a:latin typeface="Inter"/>
                          <a:ea typeface="Inter"/>
                          <a:cs typeface="Inter"/>
                          <a:sym typeface="Inter"/>
                        </a:rPr>
                        <a:t>{{documents</a:t>
                      </a:r>
                      <a:r>
                        <a:rPr lang="da-DK" sz="700">
                          <a:solidFill>
                            <a:schemeClr val="dk1"/>
                          </a:solidFill>
                          <a:latin typeface="Inter"/>
                          <a:ea typeface="Inter"/>
                          <a:cs typeface="Inter"/>
                          <a:sym typeface="Inter"/>
                        </a:rPr>
                        <a:t>_B</a:t>
                      </a:r>
                      <a:r>
                        <a:rPr lang="da-DK" sz="700" u="none" cap="none" strike="noStrike">
                          <a:solidFill>
                            <a:schemeClr val="dk1"/>
                          </a:solidFill>
                          <a:latin typeface="Inter"/>
                          <a:ea typeface="Inter"/>
                          <a:cs typeface="Inter"/>
                          <a:sym typeface="Inter"/>
                        </a:rPr>
                        <a:t>2}}</a:t>
                      </a:r>
                      <a:endParaRPr sz="700" u="none" cap="none" strike="noStrike">
                        <a:solidFill>
                          <a:schemeClr val="dk1"/>
                        </a:solidFill>
                        <a:latin typeface="Inter"/>
                        <a:ea typeface="Inter"/>
                        <a:cs typeface="Inter"/>
                        <a:sym typeface="Inter"/>
                      </a:endParaRPr>
                    </a:p>
                  </a:txBody>
                  <a:tcPr marT="68575" marB="6857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sp>
        <p:nvSpPr>
          <p:cNvPr id="155" name="Google Shape;155;p8"/>
          <p:cNvSpPr txBox="1"/>
          <p:nvPr/>
        </p:nvSpPr>
        <p:spPr>
          <a:xfrm>
            <a:off x="516600" y="694431"/>
            <a:ext cx="10717600" cy="78482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900"/>
              </a:spcBef>
              <a:spcAft>
                <a:spcPts val="0"/>
              </a:spcAft>
              <a:buNone/>
            </a:pPr>
            <a:r>
              <a:rPr b="0" i="0" lang="da-DK" sz="1000" u="none" cap="none" strike="noStrike">
                <a:solidFill>
                  <a:srgbClr val="25595D"/>
                </a:solidFill>
                <a:latin typeface="Inter"/>
                <a:ea typeface="Inter"/>
                <a:cs typeface="Inter"/>
                <a:sym typeface="Inter"/>
              </a:rPr>
              <a:t>Dette afsnit skitserer de praksisser, politikker og fremtidige initiativer, som virksomheden har implementeret for at understøtte en bæredygtig økonomi. Dette omfatter angivelse af, hvilke konkrete tiltag virksomheden har taget for at reducere negative miljøpåvirkninger, forbedre arbejdsforhold og ligebehandling. Virksomheden afslører her de politikker, der er implementeret for at adressere bæredygtighed, og om disse er offentligt tilgængelige.</a:t>
            </a:r>
            <a:endParaRPr b="0" i="0" sz="1000" u="none" cap="none" strike="noStrike">
              <a:solidFill>
                <a:srgbClr val="25595D"/>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9"/>
          <p:cNvSpPr txBox="1"/>
          <p:nvPr>
            <p:ph type="title"/>
          </p:nvPr>
        </p:nvSpPr>
        <p:spPr>
          <a:xfrm>
            <a:off x="876483" y="264351"/>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Energiforbrug</a:t>
            </a:r>
            <a:endParaRPr/>
          </a:p>
        </p:txBody>
      </p:sp>
      <p:graphicFrame>
        <p:nvGraphicFramePr>
          <p:cNvPr id="162" name="Google Shape;162;p9"/>
          <p:cNvGraphicFramePr/>
          <p:nvPr/>
        </p:nvGraphicFramePr>
        <p:xfrm>
          <a:off x="532506" y="1409570"/>
          <a:ext cx="3000000" cy="3000000"/>
        </p:xfrm>
        <a:graphic>
          <a:graphicData uri="http://schemas.openxmlformats.org/drawingml/2006/table">
            <a:tbl>
              <a:tblPr firstRow="1">
                <a:noFill/>
                <a:tableStyleId>{BAEAA23F-C412-4D4F-A7DF-F315DCF0D262}</a:tableStyleId>
              </a:tblPr>
              <a:tblGrid>
                <a:gridCol w="2878350"/>
                <a:gridCol w="2671800"/>
                <a:gridCol w="2817650"/>
                <a:gridCol w="2237875"/>
              </a:tblGrid>
              <a:tr h="306325">
                <a:tc gridSpan="4">
                  <a:txBody>
                    <a:bodyPr/>
                    <a:lstStyle/>
                    <a:p>
                      <a:pPr indent="0" lvl="0" marL="0" marR="0" rtl="0" algn="ctr">
                        <a:lnSpc>
                          <a:spcPct val="106000"/>
                        </a:lnSpc>
                        <a:spcBef>
                          <a:spcPts val="0"/>
                        </a:spcBef>
                        <a:spcAft>
                          <a:spcPts val="0"/>
                        </a:spcAft>
                        <a:buClr>
                          <a:schemeClr val="dk2"/>
                        </a:buClr>
                        <a:buSzPts val="900"/>
                        <a:buFont typeface="IBM Plex Sans"/>
                        <a:buNone/>
                      </a:pPr>
                      <a:r>
                        <a:rPr b="1" lang="da-DK" sz="900">
                          <a:solidFill>
                            <a:schemeClr val="dk2"/>
                          </a:solidFill>
                        </a:rPr>
                        <a:t>Energiforbrug i MWh </a:t>
                      </a:r>
                      <a:r>
                        <a:rPr b="0" lang="da-DK" sz="900">
                          <a:solidFill>
                            <a:schemeClr val="dk2"/>
                          </a:solidFill>
                        </a:rPr>
                        <a:t>(pkt. 29)</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06325">
                <a:tc>
                  <a:txBody>
                    <a:bodyPr/>
                    <a:lstStyle/>
                    <a:p>
                      <a:pPr indent="0" lvl="0" marL="0" marR="0" rtl="0" algn="l">
                        <a:lnSpc>
                          <a:spcPct val="106000"/>
                        </a:lnSpc>
                        <a:spcBef>
                          <a:spcPts val="0"/>
                        </a:spcBef>
                        <a:spcAft>
                          <a:spcPts val="0"/>
                        </a:spcAft>
                        <a:buNone/>
                      </a:pPr>
                      <a:r>
                        <a:t/>
                      </a:r>
                      <a:endParaRPr b="1"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da-DK" sz="900">
                          <a:solidFill>
                            <a:schemeClr val="dk2"/>
                          </a:solidFill>
                        </a:rPr>
                        <a:t>Vedvarende energiforbrug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da-DK" sz="900">
                          <a:solidFill>
                            <a:schemeClr val="dk2"/>
                          </a:solidFill>
                        </a:rPr>
                        <a:t>Ikke-vedvarende energiforbrug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900"/>
                        <a:buFont typeface="IBM Plex Sans"/>
                        <a:buNone/>
                      </a:pPr>
                      <a:r>
                        <a:rPr b="1" lang="da-DK" sz="900">
                          <a:solidFill>
                            <a:schemeClr val="dk2"/>
                          </a:solidFill>
                        </a:rPr>
                        <a:t>Total energiforbrug (MWh)</a:t>
                      </a:r>
                      <a:endParaRPr/>
                    </a:p>
                    <a:p>
                      <a:pPr indent="0" lvl="0" marL="0" rtl="0" algn="ctr">
                        <a:spcBef>
                          <a:spcPts val="0"/>
                        </a:spcBef>
                        <a:spcAft>
                          <a:spcPts val="0"/>
                        </a:spcAft>
                        <a:buClr>
                          <a:schemeClr val="dk2"/>
                        </a:buClr>
                        <a:buSzPts val="700"/>
                        <a:buFont typeface="IBM Plex Sans"/>
                        <a:buNone/>
                      </a:pPr>
                      <a:r>
                        <a:rPr b="1" lang="da-DK" sz="900">
                          <a:latin typeface="Inter"/>
                          <a:ea typeface="Inter"/>
                          <a:cs typeface="Inter"/>
                          <a:sym typeface="Inter"/>
                        </a:rPr>
                        <a:t>{{insert_year}}</a:t>
                      </a:r>
                      <a:endParaRPr b="1" sz="9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06325">
                <a:tc>
                  <a:txBody>
                    <a:bodyPr/>
                    <a:lstStyle/>
                    <a:p>
                      <a:pPr indent="0" lvl="0" marL="0" marR="0" rtl="0" algn="l">
                        <a:lnSpc>
                          <a:spcPct val="106000"/>
                        </a:lnSpc>
                        <a:spcBef>
                          <a:spcPts val="0"/>
                        </a:spcBef>
                        <a:spcAft>
                          <a:spcPts val="0"/>
                        </a:spcAft>
                        <a:buNone/>
                      </a:pPr>
                      <a:r>
                        <a:rPr b="1" lang="da-DK" sz="900">
                          <a:solidFill>
                            <a:schemeClr val="dk2"/>
                          </a:solidFill>
                        </a:rPr>
                        <a:t>Elektricitet </a:t>
                      </a:r>
                      <a:r>
                        <a:rPr b="0" lang="da-DK" sz="900">
                          <a:solidFill>
                            <a:schemeClr val="dk2"/>
                          </a:solidFill>
                        </a:rPr>
                        <a:t>(som det fremgår af virksomhedens forbrugsregninger)</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Clr>
                          <a:srgbClr val="2D55FF"/>
                        </a:buClr>
                        <a:buSzPts val="700"/>
                        <a:buFont typeface="IBM Plex Sans"/>
                        <a:buNone/>
                      </a:pPr>
                      <a:r>
                        <a:rPr lang="da-DK" sz="900" u="none" cap="none" strike="noStrike"/>
                        <a:t>{{electricity_renewable}}</a:t>
                      </a:r>
                      <a:endParaRPr sz="900" u="none" cap="none" strike="noStrike"/>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6000"/>
                        </a:lnSpc>
                        <a:spcBef>
                          <a:spcPts val="0"/>
                        </a:spcBef>
                        <a:spcAft>
                          <a:spcPts val="0"/>
                        </a:spcAft>
                        <a:buClr>
                          <a:schemeClr val="accent2"/>
                        </a:buClr>
                        <a:buSzPts val="700"/>
                        <a:buFont typeface="IBM Plex Sans"/>
                        <a:buNone/>
                      </a:pPr>
                      <a:r>
                        <a:rPr lang="da-DK" sz="900"/>
                        <a:t>{{kaffe}}</a:t>
                      </a:r>
                      <a:endParaRPr sz="900"/>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6000"/>
                        </a:lnSpc>
                        <a:spcBef>
                          <a:spcPts val="0"/>
                        </a:spcBef>
                        <a:spcAft>
                          <a:spcPts val="0"/>
                        </a:spcAft>
                        <a:buClr>
                          <a:srgbClr val="2D55FF"/>
                        </a:buClr>
                        <a:buSzPts val="700"/>
                        <a:buFont typeface="IBM Plex Sans"/>
                        <a:buNone/>
                      </a:pPr>
                      <a:r>
                        <a:rPr lang="da-DK" sz="900" u="none" cap="none" strike="noStrike"/>
                        <a:t>{{total_electricity}}</a:t>
                      </a:r>
                      <a:endParaRPr sz="900" u="none" cap="none" strike="noStrike"/>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6325">
                <a:tc>
                  <a:txBody>
                    <a:bodyPr/>
                    <a:lstStyle/>
                    <a:p>
                      <a:pPr indent="0" lvl="0" marL="0" marR="0" rtl="0" algn="l">
                        <a:lnSpc>
                          <a:spcPct val="106000"/>
                        </a:lnSpc>
                        <a:spcBef>
                          <a:spcPts val="0"/>
                        </a:spcBef>
                        <a:spcAft>
                          <a:spcPts val="0"/>
                        </a:spcAft>
                        <a:buNone/>
                      </a:pPr>
                      <a:r>
                        <a:rPr b="1" lang="da-DK" sz="900">
                          <a:solidFill>
                            <a:schemeClr val="dk2"/>
                          </a:solidFill>
                        </a:rPr>
                        <a:t>Brændstoffer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Clr>
                          <a:schemeClr val="accent2"/>
                        </a:buClr>
                        <a:buSzPts val="700"/>
                        <a:buFont typeface="IBM Plex Sans"/>
                        <a:buNone/>
                      </a:pPr>
                      <a:r>
                        <a:rPr lang="da-DK" sz="900" u="none" cap="none" strike="noStrike"/>
                        <a:t>{{fuel_renewable}}</a:t>
                      </a:r>
                      <a:endParaRPr sz="900" u="none" cap="none" strike="noStrike"/>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6000"/>
                        </a:lnSpc>
                        <a:spcBef>
                          <a:spcPts val="0"/>
                        </a:spcBef>
                        <a:spcAft>
                          <a:spcPts val="0"/>
                        </a:spcAft>
                        <a:buClr>
                          <a:schemeClr val="accent2"/>
                        </a:buClr>
                        <a:buSzPts val="700"/>
                        <a:buFont typeface="IBM Plex Sans"/>
                        <a:buNone/>
                      </a:pPr>
                      <a:r>
                        <a:rPr lang="da-DK" sz="900" u="none" cap="none" strike="noStrike"/>
                        <a:t>{{fuel_non_r</a:t>
                      </a:r>
                      <a:r>
                        <a:rPr lang="da-DK" sz="900"/>
                        <a:t>enewable</a:t>
                      </a:r>
                      <a:r>
                        <a:rPr lang="da-DK" sz="900" u="none" cap="none" strike="noStrike"/>
                        <a:t>}}</a:t>
                      </a:r>
                      <a:endParaRPr sz="900" u="none" cap="none" strike="noStrike"/>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lnSpc>
                          <a:spcPct val="106000"/>
                        </a:lnSpc>
                        <a:spcBef>
                          <a:spcPts val="0"/>
                        </a:spcBef>
                        <a:spcAft>
                          <a:spcPts val="0"/>
                        </a:spcAft>
                        <a:buClr>
                          <a:schemeClr val="accent2"/>
                        </a:buClr>
                        <a:buSzPts val="700"/>
                        <a:buFont typeface="IBM Plex Sans"/>
                        <a:buNone/>
                      </a:pPr>
                      <a:r>
                        <a:rPr lang="da-DK" sz="900"/>
                        <a:t>{{koslik}}</a:t>
                      </a:r>
                      <a:endParaRPr sz="900"/>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6325">
                <a:tc>
                  <a:txBody>
                    <a:bodyPr/>
                    <a:lstStyle/>
                    <a:p>
                      <a:pPr indent="0" lvl="0" marL="0" marR="0" rtl="0" algn="l">
                        <a:lnSpc>
                          <a:spcPct val="106000"/>
                        </a:lnSpc>
                        <a:spcBef>
                          <a:spcPts val="0"/>
                        </a:spcBef>
                        <a:spcAft>
                          <a:spcPts val="0"/>
                        </a:spcAft>
                        <a:buNone/>
                      </a:pPr>
                      <a:r>
                        <a:rPr b="1" lang="da-DK" sz="900">
                          <a:solidFill>
                            <a:schemeClr val="dk2"/>
                          </a:solidFill>
                        </a:rPr>
                        <a:t>Andet (fx fjernvarme)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Clr>
                          <a:srgbClr val="2D55FF"/>
                        </a:buClr>
                        <a:buSzPts val="700"/>
                        <a:buFont typeface="IBM Plex Sans"/>
                        <a:buNone/>
                      </a:pPr>
                      <a:r>
                        <a:rPr lang="da-DK" sz="900" u="none" cap="none" strike="noStrike"/>
                        <a:t>{{</a:t>
                      </a:r>
                      <a:r>
                        <a:rPr lang="da-DK" sz="900"/>
                        <a:t>district_heating_rewenable</a:t>
                      </a:r>
                      <a:r>
                        <a:rPr lang="da-DK" sz="900" u="none" cap="none" strike="noStrike"/>
                        <a:t>}}</a:t>
                      </a:r>
                      <a:endParaRPr sz="900" u="none" cap="none" strike="noStrike"/>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6000"/>
                        </a:lnSpc>
                        <a:spcBef>
                          <a:spcPts val="0"/>
                        </a:spcBef>
                        <a:spcAft>
                          <a:spcPts val="0"/>
                        </a:spcAft>
                        <a:buClr>
                          <a:srgbClr val="2D55FF"/>
                        </a:buClr>
                        <a:buSzPts val="700"/>
                        <a:buFont typeface="IBM Plex Sans"/>
                        <a:buNone/>
                      </a:pPr>
                      <a:r>
                        <a:rPr lang="da-DK" sz="900" u="none" cap="none" strike="noStrike"/>
                        <a:t>{{district_heating_non_re</a:t>
                      </a:r>
                      <a:r>
                        <a:rPr lang="da-DK" sz="900"/>
                        <a:t>new</a:t>
                      </a:r>
                      <a:r>
                        <a:rPr lang="da-DK" sz="900" u="none" cap="none" strike="noStrike"/>
                        <a:t>able}}</a:t>
                      </a:r>
                      <a:endParaRPr sz="900" u="none" cap="none" strike="noStrike"/>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6000"/>
                        </a:lnSpc>
                        <a:spcBef>
                          <a:spcPts val="0"/>
                        </a:spcBef>
                        <a:spcAft>
                          <a:spcPts val="0"/>
                        </a:spcAft>
                        <a:buClr>
                          <a:schemeClr val="accent2"/>
                        </a:buClr>
                        <a:buSzPts val="700"/>
                        <a:buFont typeface="IBM Plex Sans"/>
                        <a:buNone/>
                      </a:pPr>
                      <a:r>
                        <a:rPr lang="da-DK" sz="900" u="none" cap="none" strike="noStrike"/>
                        <a:t>{{total_district_heating}}</a:t>
                      </a:r>
                      <a:endParaRPr sz="900" u="none" cap="none" strike="noStrike"/>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6325">
                <a:tc>
                  <a:txBody>
                    <a:bodyPr/>
                    <a:lstStyle/>
                    <a:p>
                      <a:pPr indent="0" lvl="0" marL="0" marR="0" rtl="0" algn="l">
                        <a:lnSpc>
                          <a:spcPct val="106000"/>
                        </a:lnSpc>
                        <a:spcBef>
                          <a:spcPts val="0"/>
                        </a:spcBef>
                        <a:spcAft>
                          <a:spcPts val="0"/>
                        </a:spcAft>
                        <a:buNone/>
                      </a:pPr>
                      <a:r>
                        <a:rPr b="1" lang="da-DK" sz="900">
                          <a:solidFill>
                            <a:schemeClr val="dk2"/>
                          </a:solidFill>
                        </a:rPr>
                        <a:t>Total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Clr>
                          <a:srgbClr val="2D55FF"/>
                        </a:buClr>
                        <a:buSzPts val="700"/>
                        <a:buFont typeface="IBM Plex Sans"/>
                        <a:buNone/>
                      </a:pPr>
                      <a:r>
                        <a:rPr lang="da-DK" sz="900" u="none" cap="none" strike="noStrike"/>
                        <a:t>{{renewable_energy_total}}</a:t>
                      </a:r>
                      <a:endParaRPr sz="900" u="none" cap="none" strike="noStrike"/>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6000"/>
                        </a:lnSpc>
                        <a:spcBef>
                          <a:spcPts val="0"/>
                        </a:spcBef>
                        <a:spcAft>
                          <a:spcPts val="0"/>
                        </a:spcAft>
                        <a:buClr>
                          <a:srgbClr val="2D55FF"/>
                        </a:buClr>
                        <a:buSzPts val="700"/>
                        <a:buFont typeface="IBM Plex Sans"/>
                        <a:buNone/>
                      </a:pPr>
                      <a:r>
                        <a:rPr lang="da-DK" sz="900" u="none" cap="none" strike="noStrike"/>
                        <a:t>{{non_rewenable_energy_total}}</a:t>
                      </a:r>
                      <a:endParaRPr sz="900" u="none" cap="none" strike="noStrike"/>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6000"/>
                        </a:lnSpc>
                        <a:spcBef>
                          <a:spcPts val="0"/>
                        </a:spcBef>
                        <a:spcAft>
                          <a:spcPts val="0"/>
                        </a:spcAft>
                        <a:buClr>
                          <a:srgbClr val="2D55FF"/>
                        </a:buClr>
                        <a:buSzPts val="700"/>
                        <a:buFont typeface="IBM Plex Sans"/>
                        <a:buNone/>
                      </a:pPr>
                      <a:r>
                        <a:rPr lang="da-DK" sz="900" u="none" cap="none" strike="noStrike"/>
                        <a:t>{{total_energy_consumption}}</a:t>
                      </a:r>
                      <a:endParaRPr sz="900" u="none" cap="none" strike="noStrike"/>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63" name="Google Shape;163;p9"/>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64" name="Google Shape;164;p9"/>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dk1"/>
              </a:buClr>
              <a:buSzPts val="1100"/>
              <a:buFont typeface="Arial"/>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None/>
            </a:pPr>
            <a:r>
              <a:t/>
            </a:r>
            <a:endParaRPr/>
          </a:p>
        </p:txBody>
      </p:sp>
      <p:pic>
        <p:nvPicPr>
          <p:cNvPr id="165" name="Google Shape;165;p9" title="Frame 1000002375.png"/>
          <p:cNvPicPr preferRelativeResize="0"/>
          <p:nvPr/>
        </p:nvPicPr>
        <p:blipFill rotWithShape="1">
          <a:blip r:embed="rId3">
            <a:alphaModFix/>
          </a:blip>
          <a:srcRect b="0" l="0" r="0" t="0"/>
          <a:stretch/>
        </p:blipFill>
        <p:spPr>
          <a:xfrm>
            <a:off x="504563" y="267556"/>
            <a:ext cx="342900" cy="242888"/>
          </a:xfrm>
          <a:prstGeom prst="rect">
            <a:avLst/>
          </a:prstGeom>
          <a:noFill/>
          <a:ln>
            <a:noFill/>
          </a:ln>
        </p:spPr>
      </p:pic>
      <p:sp>
        <p:nvSpPr>
          <p:cNvPr id="166" name="Google Shape;166;p9"/>
          <p:cNvSpPr txBox="1"/>
          <p:nvPr/>
        </p:nvSpPr>
        <p:spPr>
          <a:xfrm>
            <a:off x="532506" y="3564202"/>
            <a:ext cx="734377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i="0" lang="da-DK" sz="1800" u="none" cap="none" strike="noStrike">
                <a:solidFill>
                  <a:schemeClr val="dk2"/>
                </a:solidFill>
                <a:latin typeface="IBM Plex Sans"/>
                <a:ea typeface="IBM Plex Sans"/>
                <a:cs typeface="IBM Plex Sans"/>
                <a:sym typeface="IBM Plex Sans"/>
              </a:rPr>
              <a:t>CO₂e-udledning </a:t>
            </a:r>
            <a:endParaRPr/>
          </a:p>
        </p:txBody>
      </p:sp>
      <p:graphicFrame>
        <p:nvGraphicFramePr>
          <p:cNvPr id="167" name="Google Shape;167;p9"/>
          <p:cNvGraphicFramePr/>
          <p:nvPr/>
        </p:nvGraphicFramePr>
        <p:xfrm>
          <a:off x="532506" y="4869198"/>
          <a:ext cx="3000000" cy="3000000"/>
        </p:xfrm>
        <a:graphic>
          <a:graphicData uri="http://schemas.openxmlformats.org/drawingml/2006/table">
            <a:tbl>
              <a:tblPr firstRow="1">
                <a:noFill/>
                <a:tableStyleId>{BAEAA23F-C412-4D4F-A7DF-F315DCF0D262}</a:tableStyleId>
              </a:tblPr>
              <a:tblGrid>
                <a:gridCol w="5737275"/>
                <a:gridCol w="1509175"/>
              </a:tblGrid>
              <a:tr h="306325">
                <a:tc>
                  <a:txBody>
                    <a:bodyPr/>
                    <a:lstStyle/>
                    <a:p>
                      <a:pPr indent="0" lvl="0" marL="0" marR="0" rtl="0" algn="l">
                        <a:lnSpc>
                          <a:spcPct val="106000"/>
                        </a:lnSpc>
                        <a:spcBef>
                          <a:spcPts val="0"/>
                        </a:spcBef>
                        <a:spcAft>
                          <a:spcPts val="0"/>
                        </a:spcAft>
                        <a:buNone/>
                      </a:pPr>
                      <a:r>
                        <a:rPr b="1" lang="da-DK" sz="900">
                          <a:solidFill>
                            <a:schemeClr val="dk2"/>
                          </a:solidFill>
                        </a:rPr>
                        <a:t>Udledning af drivhusgasser </a:t>
                      </a:r>
                      <a:r>
                        <a:rPr b="0" lang="da-DK" sz="900">
                          <a:solidFill>
                            <a:schemeClr val="dk2"/>
                          </a:solidFill>
                        </a:rPr>
                        <a:t>(pkt. 30)</a:t>
                      </a:r>
                      <a:endParaRPr b="1"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900"/>
                        <a:buFont typeface="IBM Plex Sans"/>
                        <a:buNone/>
                      </a:pPr>
                      <a:r>
                        <a:rPr b="1" lang="da-DK" sz="900">
                          <a:solidFill>
                            <a:schemeClr val="dk2"/>
                          </a:solidFill>
                        </a:rPr>
                        <a:t>År </a:t>
                      </a:r>
                      <a:r>
                        <a:rPr lang="da-DK" sz="900">
                          <a:solidFill>
                            <a:schemeClr val="dk1"/>
                          </a:solidFill>
                          <a:latin typeface="Inter"/>
                          <a:ea typeface="Inter"/>
                          <a:cs typeface="Inter"/>
                          <a:sym typeface="Inter"/>
                        </a:rPr>
                        <a:t>{{insert_year}}</a:t>
                      </a:r>
                      <a:endParaRPr b="1" sz="9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06325">
                <a:tc>
                  <a:txBody>
                    <a:bodyPr/>
                    <a:lstStyle/>
                    <a:p>
                      <a:pPr indent="0" lvl="0" marL="0" marR="0" rtl="0" algn="l">
                        <a:lnSpc>
                          <a:spcPct val="106000"/>
                        </a:lnSpc>
                        <a:spcBef>
                          <a:spcPts val="0"/>
                        </a:spcBef>
                        <a:spcAft>
                          <a:spcPts val="0"/>
                        </a:spcAft>
                        <a:buNone/>
                      </a:pPr>
                      <a:r>
                        <a:rPr b="1" lang="da-DK" sz="900">
                          <a:solidFill>
                            <a:schemeClr val="dk2"/>
                          </a:solidFill>
                        </a:rPr>
                        <a:t>Scope 1 CO₂e-udledninger</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lnSpc>
                          <a:spcPct val="106000"/>
                        </a:lnSpc>
                        <a:spcBef>
                          <a:spcPts val="0"/>
                        </a:spcBef>
                        <a:spcAft>
                          <a:spcPts val="0"/>
                        </a:spcAft>
                        <a:buClr>
                          <a:schemeClr val="accent2"/>
                        </a:buClr>
                        <a:buSzPts val="700"/>
                        <a:buFont typeface="IBM Plex Sans"/>
                        <a:buNone/>
                      </a:pPr>
                      <a:r>
                        <a:rPr lang="da-DK" sz="900">
                          <a:latin typeface="Inter"/>
                          <a:ea typeface="Inter"/>
                          <a:cs typeface="Inter"/>
                          <a:sym typeface="Inter"/>
                        </a:rPr>
                        <a:t>{{rundstykke}}</a:t>
                      </a:r>
                      <a:endParaRPr sz="900">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1375">
                <a:tc>
                  <a:txBody>
                    <a:bodyPr/>
                    <a:lstStyle/>
                    <a:p>
                      <a:pPr indent="0" lvl="0" marL="0" marR="0" rtl="0" algn="l">
                        <a:lnSpc>
                          <a:spcPct val="106000"/>
                        </a:lnSpc>
                        <a:spcBef>
                          <a:spcPts val="0"/>
                        </a:spcBef>
                        <a:spcAft>
                          <a:spcPts val="0"/>
                        </a:spcAft>
                        <a:buNone/>
                      </a:pPr>
                      <a:r>
                        <a:rPr b="1" lang="da-DK" sz="900">
                          <a:solidFill>
                            <a:schemeClr val="dk2"/>
                          </a:solidFill>
                        </a:rPr>
                        <a:t>Scope 2 CO₂e-udledninger (lokationsbaseret) </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Clr>
                          <a:srgbClr val="2D55FF"/>
                        </a:buClr>
                        <a:buSzPts val="700"/>
                        <a:buFont typeface="IBM Plex Sans"/>
                        <a:buNone/>
                      </a:pPr>
                      <a:r>
                        <a:rPr lang="da-DK" sz="900" u="none" cap="none" strike="noStrike">
                          <a:latin typeface="Inter"/>
                          <a:ea typeface="Inter"/>
                          <a:cs typeface="Inter"/>
                          <a:sym typeface="Inter"/>
                        </a:rPr>
                        <a:t>{{scope2}}</a:t>
                      </a:r>
                      <a:endParaRPr sz="14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1375">
                <a:tc>
                  <a:txBody>
                    <a:bodyPr/>
                    <a:lstStyle/>
                    <a:p>
                      <a:pPr indent="0" lvl="0" marL="0" marR="0" rtl="0" algn="l">
                        <a:lnSpc>
                          <a:spcPct val="106000"/>
                        </a:lnSpc>
                        <a:spcBef>
                          <a:spcPts val="0"/>
                        </a:spcBef>
                        <a:spcAft>
                          <a:spcPts val="0"/>
                        </a:spcAft>
                        <a:buNone/>
                      </a:pPr>
                      <a:r>
                        <a:rPr b="1" lang="da-DK" sz="900">
                          <a:solidFill>
                            <a:schemeClr val="dk2"/>
                          </a:solidFill>
                        </a:rPr>
                        <a:t>Total CO₂e-udledning fra scope 1 og scope 2 </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Clr>
                          <a:srgbClr val="2D55FF"/>
                        </a:buClr>
                        <a:buSzPts val="700"/>
                        <a:buFont typeface="IBM Plex Sans"/>
                        <a:buNone/>
                      </a:pPr>
                      <a:r>
                        <a:rPr lang="da-DK" sz="900" u="none" cap="none" strike="noStrike">
                          <a:latin typeface="Inter"/>
                          <a:ea typeface="Inter"/>
                          <a:cs typeface="Inter"/>
                          <a:sym typeface="Inter"/>
                        </a:rPr>
                        <a:t>{{total_scope}}</a:t>
                      </a:r>
                      <a:endParaRPr sz="14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68" name="Google Shape;168;p9"/>
          <p:cNvGraphicFramePr/>
          <p:nvPr/>
        </p:nvGraphicFramePr>
        <p:xfrm>
          <a:off x="8367484" y="4869198"/>
          <a:ext cx="3000000" cy="3000000"/>
        </p:xfrm>
        <a:graphic>
          <a:graphicData uri="http://schemas.openxmlformats.org/drawingml/2006/table">
            <a:tbl>
              <a:tblPr>
                <a:noFill/>
                <a:tableStyleId>{78A6D804-A972-451D-A148-11AE6AC30977}</a:tableStyleId>
              </a:tblPr>
              <a:tblGrid>
                <a:gridCol w="1141950"/>
                <a:gridCol w="1601250"/>
              </a:tblGrid>
              <a:tr h="852875">
                <a:tc rowSpan="2">
                  <a:txBody>
                    <a:bodyPr/>
                    <a:lstStyle/>
                    <a:p>
                      <a:pPr indent="0" lvl="0" marL="0" marR="0" rtl="0" algn="l">
                        <a:lnSpc>
                          <a:spcPct val="106000"/>
                        </a:lnSpc>
                        <a:spcBef>
                          <a:spcPts val="0"/>
                        </a:spcBef>
                        <a:spcAft>
                          <a:spcPts val="0"/>
                        </a:spcAft>
                        <a:buClr>
                          <a:srgbClr val="000000"/>
                        </a:buClr>
                        <a:buSzPts val="700"/>
                        <a:buFont typeface="Arial"/>
                        <a:buNone/>
                      </a:pPr>
                      <a:r>
                        <a:rPr b="1" lang="da-DK" sz="900" u="none" cap="none" strike="noStrike">
                          <a:solidFill>
                            <a:srgbClr val="25595D"/>
                          </a:solidFill>
                          <a:latin typeface="Inter"/>
                          <a:ea typeface="Inter"/>
                          <a:cs typeface="Inter"/>
                          <a:sym typeface="Inter"/>
                        </a:rPr>
                        <a:t>CO₂e inensitet </a:t>
                      </a:r>
                      <a:endParaRPr/>
                    </a:p>
                    <a:p>
                      <a:pPr indent="0" lvl="0" marL="0" marR="0" rtl="0" algn="l">
                        <a:lnSpc>
                          <a:spcPct val="106000"/>
                        </a:lnSpc>
                        <a:spcBef>
                          <a:spcPts val="0"/>
                        </a:spcBef>
                        <a:spcAft>
                          <a:spcPts val="0"/>
                        </a:spcAft>
                        <a:buClr>
                          <a:srgbClr val="000000"/>
                        </a:buClr>
                        <a:buSzPts val="700"/>
                        <a:buFont typeface="Arial"/>
                        <a:buNone/>
                      </a:pPr>
                      <a:r>
                        <a:rPr b="0" lang="da-DK" sz="900" u="none" cap="none" strike="noStrike">
                          <a:solidFill>
                            <a:srgbClr val="25595D"/>
                          </a:solidFill>
                          <a:latin typeface="Inter"/>
                          <a:ea typeface="Inter"/>
                          <a:cs typeface="Inter"/>
                          <a:sym typeface="Inter"/>
                        </a:rPr>
                        <a:t>(pkt. 31)</a:t>
                      </a:r>
                      <a:endParaRPr b="0" sz="900" u="none" cap="none" strike="noStrike">
                        <a:solidFill>
                          <a:srgbClr val="25595D"/>
                        </a:solidFill>
                        <a:latin typeface="Inter"/>
                        <a:ea typeface="Inter"/>
                        <a:cs typeface="Inter"/>
                        <a:sym typeface="Inter"/>
                      </a:endParaRPr>
                    </a:p>
                  </a:txBody>
                  <a:tcPr marT="27000" marB="27000" marR="40500" marL="40500" anchor="ctr">
                    <a:lnL cap="flat" cmpd="sng" w="9525">
                      <a:solidFill>
                        <a:srgbClr val="1B4528"/>
                      </a:solidFill>
                      <a:prstDash val="solid"/>
                      <a:round/>
                      <a:headEnd len="sm" w="sm" type="none"/>
                      <a:tailEnd len="sm" w="sm" type="none"/>
                    </a:lnL>
                    <a:lnR cap="flat" cmpd="sng" w="9525">
                      <a:solidFill>
                        <a:srgbClr val="1B4528"/>
                      </a:solidFill>
                      <a:prstDash val="solid"/>
                      <a:round/>
                      <a:headEnd len="sm" w="sm" type="none"/>
                      <a:tailEnd len="sm" w="sm" type="none"/>
                    </a:lnR>
                    <a:lnT cap="flat" cmpd="sng" w="9525">
                      <a:solidFill>
                        <a:srgbClr val="1B4528"/>
                      </a:solidFill>
                      <a:prstDash val="solid"/>
                      <a:round/>
                      <a:headEnd len="sm" w="sm" type="none"/>
                      <a:tailEnd len="sm" w="sm" type="none"/>
                    </a:lnT>
                    <a:lnB cap="flat" cmpd="sng" w="9525">
                      <a:solidFill>
                        <a:srgbClr val="1B4528"/>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rgbClr val="1B4528"/>
                        </a:buClr>
                        <a:buSzPts val="700"/>
                        <a:buFont typeface="IBM Plex Sans"/>
                        <a:buNone/>
                      </a:pPr>
                      <a:r>
                        <a:rPr b="1" lang="da-DK" sz="900" u="none" cap="none" strike="noStrike">
                          <a:solidFill>
                            <a:srgbClr val="1B4528"/>
                          </a:solidFill>
                          <a:latin typeface="Inter"/>
                          <a:ea typeface="Inter"/>
                          <a:cs typeface="Inter"/>
                          <a:sym typeface="Inter"/>
                        </a:rPr>
                        <a:t>År </a:t>
                      </a:r>
                      <a:r>
                        <a:rPr b="1" lang="da-DK" sz="900">
                          <a:solidFill>
                            <a:schemeClr val="dk1"/>
                          </a:solidFill>
                          <a:latin typeface="Inter"/>
                          <a:ea typeface="Inter"/>
                          <a:cs typeface="Inter"/>
                          <a:sym typeface="Inter"/>
                        </a:rPr>
                        <a:t>{{insert_year}}</a:t>
                      </a:r>
                      <a:endParaRPr b="1" sz="900" u="none" cap="none" strike="noStrike">
                        <a:solidFill>
                          <a:srgbClr val="2D55FF"/>
                        </a:solidFill>
                        <a:latin typeface="Inter"/>
                        <a:ea typeface="Inter"/>
                        <a:cs typeface="Inter"/>
                        <a:sym typeface="Inter"/>
                      </a:endParaRPr>
                    </a:p>
                  </a:txBody>
                  <a:tcPr marT="27000" marB="27000" marR="40500" marL="40500" anchor="ctr">
                    <a:lnL cap="flat" cmpd="sng" w="9525">
                      <a:solidFill>
                        <a:srgbClr val="1B4528"/>
                      </a:solidFill>
                      <a:prstDash val="solid"/>
                      <a:round/>
                      <a:headEnd len="sm" w="sm" type="none"/>
                      <a:tailEnd len="sm" w="sm" type="none"/>
                    </a:lnL>
                    <a:lnR cap="flat" cmpd="sng" w="9525">
                      <a:solidFill>
                        <a:srgbClr val="1B4528"/>
                      </a:solidFill>
                      <a:prstDash val="solid"/>
                      <a:round/>
                      <a:headEnd len="sm" w="sm" type="none"/>
                      <a:tailEnd len="sm" w="sm" type="none"/>
                    </a:lnR>
                    <a:lnT cap="flat" cmpd="sng" w="9525">
                      <a:solidFill>
                        <a:srgbClr val="1B4528"/>
                      </a:solidFill>
                      <a:prstDash val="solid"/>
                      <a:round/>
                      <a:headEnd len="sm" w="sm" type="none"/>
                      <a:tailEnd len="sm" w="sm" type="none"/>
                    </a:lnT>
                    <a:lnB cap="flat" cmpd="sng" w="9525">
                      <a:solidFill>
                        <a:srgbClr val="1B4528"/>
                      </a:solidFill>
                      <a:prstDash val="solid"/>
                      <a:round/>
                      <a:headEnd len="sm" w="sm" type="none"/>
                      <a:tailEnd len="sm" w="sm" type="none"/>
                    </a:lnB>
                    <a:solidFill>
                      <a:schemeClr val="lt2"/>
                    </a:solidFill>
                  </a:tcPr>
                </a:tc>
              </a:tr>
              <a:tr h="362550">
                <a:tc vMerge="1"/>
                <a:tc>
                  <a:txBody>
                    <a:bodyPr/>
                    <a:lstStyle/>
                    <a:p>
                      <a:pPr indent="0" lvl="0" marL="0" marR="0" rtl="0" algn="l">
                        <a:lnSpc>
                          <a:spcPct val="106000"/>
                        </a:lnSpc>
                        <a:spcBef>
                          <a:spcPts val="0"/>
                        </a:spcBef>
                        <a:spcAft>
                          <a:spcPts val="0"/>
                        </a:spcAft>
                        <a:buClr>
                          <a:srgbClr val="2D55FF"/>
                        </a:buClr>
                        <a:buSzPts val="700"/>
                        <a:buFont typeface="IBM Plex Sans"/>
                        <a:buNone/>
                      </a:pPr>
                      <a:r>
                        <a:rPr lang="da-DK" sz="900" u="none" cap="none" strike="noStrike">
                          <a:solidFill>
                            <a:schemeClr val="dk1"/>
                          </a:solidFill>
                          <a:latin typeface="Inter"/>
                          <a:ea typeface="Inter"/>
                          <a:cs typeface="Inter"/>
                          <a:sym typeface="Inter"/>
                        </a:rPr>
                        <a:t>{{</a:t>
                      </a:r>
                      <a:r>
                        <a:rPr lang="da-DK" sz="900">
                          <a:solidFill>
                            <a:schemeClr val="dk1"/>
                          </a:solidFill>
                          <a:latin typeface="Inter"/>
                          <a:ea typeface="Inter"/>
                          <a:cs typeface="Inter"/>
                          <a:sym typeface="Inter"/>
                        </a:rPr>
                        <a:t>Insert_CO2e_intensity</a:t>
                      </a:r>
                      <a:r>
                        <a:rPr lang="da-DK" sz="900" u="none" cap="none" strike="noStrike">
                          <a:solidFill>
                            <a:schemeClr val="dk1"/>
                          </a:solidFill>
                          <a:latin typeface="Inter"/>
                          <a:ea typeface="Inter"/>
                          <a:cs typeface="Inter"/>
                          <a:sym typeface="Inter"/>
                        </a:rPr>
                        <a:t>}}</a:t>
                      </a:r>
                      <a:endParaRPr sz="1400" u="none" cap="none" strike="noStrike">
                        <a:solidFill>
                          <a:schemeClr val="dk1"/>
                        </a:solidFill>
                        <a:latin typeface="Inter"/>
                        <a:ea typeface="Inter"/>
                        <a:cs typeface="Inter"/>
                        <a:sym typeface="Inter"/>
                      </a:endParaRPr>
                    </a:p>
                  </a:txBody>
                  <a:tcPr marT="27000" marB="27000" marR="40500" marL="40500" anchor="ctr">
                    <a:lnL cap="flat" cmpd="sng" w="9525">
                      <a:solidFill>
                        <a:srgbClr val="1B4528"/>
                      </a:solidFill>
                      <a:prstDash val="solid"/>
                      <a:round/>
                      <a:headEnd len="sm" w="sm" type="none"/>
                      <a:tailEnd len="sm" w="sm" type="none"/>
                    </a:lnL>
                    <a:lnR cap="flat" cmpd="sng" w="9525">
                      <a:solidFill>
                        <a:srgbClr val="1B4528"/>
                      </a:solidFill>
                      <a:prstDash val="solid"/>
                      <a:round/>
                      <a:headEnd len="sm" w="sm" type="none"/>
                      <a:tailEnd len="sm" w="sm" type="none"/>
                    </a:lnR>
                    <a:lnT cap="flat" cmpd="sng" w="9525">
                      <a:solidFill>
                        <a:srgbClr val="1B4528"/>
                      </a:solidFill>
                      <a:prstDash val="solid"/>
                      <a:round/>
                      <a:headEnd len="sm" w="sm" type="none"/>
                      <a:tailEnd len="sm" w="sm" type="none"/>
                    </a:lnT>
                    <a:lnB cap="flat" cmpd="sng" w="9525">
                      <a:solidFill>
                        <a:srgbClr val="1B4528"/>
                      </a:solidFill>
                      <a:prstDash val="solid"/>
                      <a:round/>
                      <a:headEnd len="sm" w="sm" type="none"/>
                      <a:tailEnd len="sm" w="sm" type="none"/>
                    </a:lnB>
                    <a:solidFill>
                      <a:srgbClr val="FFFFFF"/>
                    </a:solidFill>
                  </a:tcPr>
                </a:tc>
              </a:tr>
            </a:tbl>
          </a:graphicData>
        </a:graphic>
      </p:graphicFrame>
      <p:sp>
        <p:nvSpPr>
          <p:cNvPr id="169" name="Google Shape;169;p9"/>
          <p:cNvSpPr txBox="1"/>
          <p:nvPr/>
        </p:nvSpPr>
        <p:spPr>
          <a:xfrm>
            <a:off x="532506" y="3838124"/>
            <a:ext cx="10605667" cy="954097"/>
          </a:xfrm>
          <a:prstGeom prst="rect">
            <a:avLst/>
          </a:prstGeom>
          <a:noFill/>
          <a:ln>
            <a:noFill/>
          </a:ln>
        </p:spPr>
        <p:txBody>
          <a:bodyPr anchorCtr="0" anchor="t" bIns="68575" lIns="68575" spcFirstLastPara="1" rIns="68575" wrap="square" tIns="68575">
            <a:spAutoFit/>
          </a:bodyPr>
          <a:lstStyle/>
          <a:p>
            <a:pPr indent="0" lvl="0" marL="0" marR="0" rtl="0" algn="l">
              <a:lnSpc>
                <a:spcPct val="106000"/>
              </a:lnSpc>
              <a:spcBef>
                <a:spcPts val="0"/>
              </a:spcBef>
              <a:spcAft>
                <a:spcPts val="0"/>
              </a:spcAft>
              <a:buNone/>
            </a:pPr>
            <a:r>
              <a:rPr b="0" i="0" lang="da-DK" sz="1000" u="none" cap="none" strike="noStrike">
                <a:solidFill>
                  <a:srgbClr val="25595D"/>
                </a:solidFill>
                <a:latin typeface="Inter"/>
                <a:ea typeface="Inter"/>
                <a:cs typeface="Inter"/>
                <a:sym typeface="Inter"/>
              </a:rPr>
              <a:t>Pkt. 30 indeholder oplysninger om virksomhedens drivhusgasemissioner baseret på Scope 1- og Scope 2-emissioner. Scope 1 angiver de direkte drivhusgasemissioner og inkluderer emissioner fra kilder, som virksomheden ejer eller kontrollerer direkte. Dette omfatter for eksempel afbrænding af brændstof i firmakøretøjer eller opvarmning af bygninger med naturgas samt emissioner fra industrielle processer og lækager i systemer som f.eks. køling.</a:t>
            </a:r>
            <a:br>
              <a:rPr b="0" i="0" lang="da-DK" sz="1000" u="none" cap="none" strike="noStrike">
                <a:solidFill>
                  <a:srgbClr val="25595D"/>
                </a:solidFill>
                <a:latin typeface="Inter"/>
                <a:ea typeface="Inter"/>
                <a:cs typeface="Inter"/>
                <a:sym typeface="Inter"/>
              </a:rPr>
            </a:br>
            <a:r>
              <a:rPr b="0" i="0" lang="da-DK" sz="1000" u="none" cap="none" strike="noStrike">
                <a:solidFill>
                  <a:srgbClr val="25595D"/>
                </a:solidFill>
                <a:latin typeface="Inter"/>
                <a:ea typeface="Inter"/>
                <a:cs typeface="Inter"/>
                <a:sym typeface="Inter"/>
              </a:rPr>
              <a:t>Scope 2: Indirekte emissioner fra køb af elektricitet, som refererer til emissioner fra produktion af den el, damp, varme eller køling, som virksomheden køber og bruger. Selvom disse emissioner stammer fra energiproducenterne, tilskrives de virksomheden, fordi den forbruger energien. Virksomhedens CO₂e-intensitet er angivet.</a:t>
            </a:r>
            <a:endParaRPr b="0" i="0" sz="1000" u="none" cap="none" strike="noStrike">
              <a:solidFill>
                <a:srgbClr val="25595D"/>
              </a:solidFill>
              <a:latin typeface="Inter"/>
              <a:ea typeface="Inter"/>
              <a:cs typeface="Inter"/>
              <a:sym typeface="Inter"/>
            </a:endParaRPr>
          </a:p>
        </p:txBody>
      </p:sp>
      <p:sp>
        <p:nvSpPr>
          <p:cNvPr id="170" name="Google Shape;170;p9"/>
          <p:cNvSpPr txBox="1"/>
          <p:nvPr/>
        </p:nvSpPr>
        <p:spPr>
          <a:xfrm>
            <a:off x="479814" y="802818"/>
            <a:ext cx="10630870" cy="464733"/>
          </a:xfrm>
          <a:prstGeom prst="rect">
            <a:avLst/>
          </a:prstGeom>
          <a:noFill/>
          <a:ln>
            <a:noFill/>
          </a:ln>
        </p:spPr>
        <p:txBody>
          <a:bodyPr anchorCtr="0" anchor="t" bIns="68575" lIns="68575" spcFirstLastPara="1" rIns="68575" wrap="square" tIns="68575">
            <a:spAutoFit/>
          </a:bodyPr>
          <a:lstStyle/>
          <a:p>
            <a:pPr indent="0" lvl="0" marL="0" marR="0" rtl="0" algn="l">
              <a:lnSpc>
                <a:spcPct val="106000"/>
              </a:lnSpc>
              <a:spcBef>
                <a:spcPts val="0"/>
              </a:spcBef>
              <a:spcAft>
                <a:spcPts val="0"/>
              </a:spcAft>
              <a:buClr>
                <a:srgbClr val="000000"/>
              </a:buClr>
              <a:buSzPts val="700"/>
              <a:buFont typeface="Arial"/>
              <a:buNone/>
            </a:pPr>
            <a:r>
              <a:rPr b="0" i="0" lang="da-DK" sz="1000" u="none" cap="none" strike="noStrike">
                <a:solidFill>
                  <a:srgbClr val="25595D"/>
                </a:solidFill>
                <a:latin typeface="Inter"/>
                <a:ea typeface="Inter"/>
                <a:cs typeface="Inter"/>
                <a:sym typeface="Inter"/>
              </a:rPr>
              <a:t>Dette afsnit angiver virksomhedens CO2-udledning og er baseret på Scope 1 og Scope 2 defineret af GHG-protokollens definitioner af, hvad direkte og indirekte emissioner omfatter. Virksomhedens emissioner er baseret på fakturaer (upstream) fra virksomhedens økonomisystem og angiver forbruget i virksomheden.</a:t>
            </a:r>
            <a:endParaRPr b="0" i="0" sz="1000" u="none" cap="none" strike="noStrike">
              <a:solidFill>
                <a:srgbClr val="25595D"/>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0"/>
          <p:cNvSpPr txBox="1"/>
          <p:nvPr>
            <p:ph type="title"/>
          </p:nvPr>
        </p:nvSpPr>
        <p:spPr>
          <a:xfrm>
            <a:off x="882666" y="26033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Forurening af luft, vand og jord</a:t>
            </a:r>
            <a:endParaRPr/>
          </a:p>
        </p:txBody>
      </p:sp>
      <p:graphicFrame>
        <p:nvGraphicFramePr>
          <p:cNvPr id="176" name="Google Shape;176;p10"/>
          <p:cNvGraphicFramePr/>
          <p:nvPr/>
        </p:nvGraphicFramePr>
        <p:xfrm>
          <a:off x="519343" y="1734280"/>
          <a:ext cx="3000000" cy="3000000"/>
        </p:xfrm>
        <a:graphic>
          <a:graphicData uri="http://schemas.openxmlformats.org/drawingml/2006/table">
            <a:tbl>
              <a:tblPr firstRow="1">
                <a:noFill/>
                <a:tableStyleId>{BAEAA23F-C412-4D4F-A7DF-F315DCF0D262}</a:tableStyleId>
              </a:tblPr>
              <a:tblGrid>
                <a:gridCol w="3886425"/>
                <a:gridCol w="1717475"/>
                <a:gridCol w="1729275"/>
              </a:tblGrid>
              <a:tr h="305775">
                <a:tc gridSpan="3">
                  <a:txBody>
                    <a:bodyPr/>
                    <a:lstStyle/>
                    <a:p>
                      <a:pPr indent="0" lvl="0" marL="0" marR="0" rtl="0" algn="l">
                        <a:lnSpc>
                          <a:spcPct val="106000"/>
                        </a:lnSpc>
                        <a:spcBef>
                          <a:spcPts val="0"/>
                        </a:spcBef>
                        <a:spcAft>
                          <a:spcPts val="0"/>
                        </a:spcAft>
                        <a:buNone/>
                      </a:pPr>
                      <a:r>
                        <a:rPr b="1" lang="da-DK" sz="900">
                          <a:solidFill>
                            <a:schemeClr val="dk2"/>
                          </a:solidFill>
                        </a:rPr>
                        <a:t>Forurening af luft, vand og jord </a:t>
                      </a:r>
                      <a:r>
                        <a:rPr b="0" lang="da-DK" sz="900">
                          <a:solidFill>
                            <a:schemeClr val="dk2"/>
                          </a:solidFill>
                        </a:rPr>
                        <a:t>(pkt. 32) </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305775">
                <a:tc>
                  <a:txBody>
                    <a:bodyPr/>
                    <a:lstStyle/>
                    <a:p>
                      <a:pPr indent="0" lvl="0" marL="0" marR="0" rtl="0" algn="l">
                        <a:lnSpc>
                          <a:spcPct val="106000"/>
                        </a:lnSpc>
                        <a:spcBef>
                          <a:spcPts val="0"/>
                        </a:spcBef>
                        <a:spcAft>
                          <a:spcPts val="0"/>
                        </a:spcAft>
                        <a:buClr>
                          <a:schemeClr val="dk2"/>
                        </a:buClr>
                        <a:buSzPts val="900"/>
                        <a:buFont typeface="IBM Plex Sans"/>
                        <a:buNone/>
                      </a:pPr>
                      <a:r>
                        <a:rPr b="1" lang="da-DK" sz="900">
                          <a:solidFill>
                            <a:schemeClr val="dk2"/>
                          </a:solidFill>
                        </a:rPr>
                        <a:t>Type af forurening </a:t>
                      </a:r>
                      <a:r>
                        <a:rPr b="0" lang="da-DK" sz="900">
                          <a:solidFill>
                            <a:schemeClr val="dk2"/>
                          </a:solidFill>
                        </a:rPr>
                        <a:t>(fx stof)</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da-DK" sz="900">
                          <a:solidFill>
                            <a:schemeClr val="dk2"/>
                          </a:solidFill>
                        </a:rPr>
                        <a:t>Omfang</a:t>
                      </a:r>
                      <a:endParaRPr b="0" sz="9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da-DK" sz="900">
                          <a:solidFill>
                            <a:schemeClr val="dk2"/>
                          </a:solidFill>
                        </a:rPr>
                        <a:t>Hvor? </a:t>
                      </a:r>
                      <a:r>
                        <a:rPr b="0" lang="da-DK" sz="900">
                          <a:solidFill>
                            <a:schemeClr val="dk2"/>
                          </a:solidFill>
                        </a:rPr>
                        <a:t>(luft, vand, jord)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49200">
                <a:tc>
                  <a:txBody>
                    <a:bodyPr/>
                    <a:lstStyle/>
                    <a:p>
                      <a:pPr indent="0" lvl="0" marL="0" marR="0" rtl="0" algn="l">
                        <a:lnSpc>
                          <a:spcPct val="106000"/>
                        </a:lnSpc>
                        <a:spcBef>
                          <a:spcPts val="0"/>
                        </a:spcBef>
                        <a:spcAft>
                          <a:spcPts val="0"/>
                        </a:spcAft>
                        <a:buClr>
                          <a:srgbClr val="000000"/>
                        </a:buClr>
                        <a:buSzPts val="700"/>
                        <a:buFont typeface="Arial"/>
                        <a:buNone/>
                      </a:pPr>
                      <a:r>
                        <a:rPr b="0" lang="da-DK" sz="900" u="none" cap="none" strike="noStrike">
                          <a:latin typeface="Inter"/>
                          <a:ea typeface="Inter"/>
                          <a:cs typeface="Inter"/>
                          <a:sym typeface="Inter"/>
                        </a:rPr>
                        <a:t>{{</a:t>
                      </a:r>
                      <a:r>
                        <a:rPr lang="da-DK" sz="900">
                          <a:latin typeface="Inter"/>
                          <a:ea typeface="Inter"/>
                          <a:cs typeface="Inter"/>
                          <a:sym typeface="Inter"/>
                        </a:rPr>
                        <a:t>GIRO44</a:t>
                      </a:r>
                      <a:r>
                        <a:rPr b="0" lang="da-DK" sz="900" u="none" cap="none" strike="noStrike">
                          <a:latin typeface="Inter"/>
                          <a:ea typeface="Inter"/>
                          <a:cs typeface="Inter"/>
                          <a:sym typeface="Inter"/>
                        </a:rPr>
                        <a:t>}}</a:t>
                      </a:r>
                      <a:endParaRPr b="0"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accent2"/>
                        </a:buClr>
                        <a:buSzPts val="700"/>
                        <a:buFont typeface="IBM Plex Sans"/>
                        <a:buNone/>
                      </a:pPr>
                      <a:r>
                        <a:rPr lang="da-DK" sz="900" u="none" cap="none" strike="noStrike">
                          <a:latin typeface="Inter"/>
                          <a:ea typeface="Inter"/>
                          <a:cs typeface="Inter"/>
                          <a:sym typeface="Inter"/>
                        </a:rPr>
                        <a:t>{{scope_pollution}}</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Clr>
                          <a:srgbClr val="2D55FF"/>
                        </a:buClr>
                        <a:buSzPts val="700"/>
                        <a:buFont typeface="IBM Plex Sans"/>
                        <a:buNone/>
                      </a:pPr>
                      <a:r>
                        <a:rPr lang="da-DK" sz="900" u="none" cap="none" strike="noStrike">
                          <a:latin typeface="Inter"/>
                          <a:ea typeface="Inter"/>
                          <a:cs typeface="Inter"/>
                          <a:sym typeface="Inter"/>
                        </a:rPr>
                        <a:t>{{pollution_medium}}</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49200">
                <a:tc>
                  <a:txBody>
                    <a:bodyPr/>
                    <a:lstStyle/>
                    <a:p>
                      <a:pPr indent="0" lvl="0" marL="0" marR="0" rtl="0" algn="l">
                        <a:lnSpc>
                          <a:spcPct val="106000"/>
                        </a:lnSpc>
                        <a:spcBef>
                          <a:spcPts val="0"/>
                        </a:spcBef>
                        <a:spcAft>
                          <a:spcPts val="0"/>
                        </a:spcAft>
                        <a:buClr>
                          <a:srgbClr val="000000"/>
                        </a:buClr>
                        <a:buSzPts val="700"/>
                        <a:buFont typeface="Arial"/>
                        <a:buNone/>
                      </a:pPr>
                      <a:r>
                        <a:t/>
                      </a:r>
                      <a:endParaRPr b="0"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accent2"/>
                        </a:buClr>
                        <a:buSzPts val="700"/>
                        <a:buFont typeface="IBM Plex Sans"/>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Clr>
                          <a:srgbClr val="2D55FF"/>
                        </a:buClr>
                        <a:buSzPts val="700"/>
                        <a:buFont typeface="IBM Plex Sans"/>
                        <a:buNone/>
                      </a:pPr>
                      <a:r>
                        <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49200">
                <a:tc>
                  <a:txBody>
                    <a:bodyPr/>
                    <a:lstStyle/>
                    <a:p>
                      <a:pPr indent="0" lvl="0" marL="0" marR="0" rtl="0" algn="l">
                        <a:lnSpc>
                          <a:spcPct val="106000"/>
                        </a:lnSpc>
                        <a:spcBef>
                          <a:spcPts val="0"/>
                        </a:spcBef>
                        <a:spcAft>
                          <a:spcPts val="0"/>
                        </a:spcAft>
                        <a:buClr>
                          <a:srgbClr val="000000"/>
                        </a:buClr>
                        <a:buSzPts val="700"/>
                        <a:buFont typeface="Arial"/>
                        <a:buNone/>
                      </a:pPr>
                      <a:r>
                        <a:t/>
                      </a:r>
                      <a:endParaRPr b="0"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accent2"/>
                        </a:buClr>
                        <a:buSzPts val="700"/>
                        <a:buFont typeface="IBM Plex Sans"/>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6000"/>
                        </a:lnSpc>
                        <a:spcBef>
                          <a:spcPts val="0"/>
                        </a:spcBef>
                        <a:spcAft>
                          <a:spcPts val="0"/>
                        </a:spcAft>
                        <a:buClr>
                          <a:srgbClr val="2D55FF"/>
                        </a:buClr>
                        <a:buSzPts val="700"/>
                        <a:buFont typeface="IBM Plex Sans"/>
                        <a:buNone/>
                      </a:pPr>
                      <a:r>
                        <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77" name="Google Shape;177;p10"/>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78" name="Google Shape;178;p10"/>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dk1"/>
              </a:buClr>
              <a:buSzPts val="1100"/>
              <a:buFont typeface="Arial"/>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None/>
            </a:pPr>
            <a:r>
              <a:t/>
            </a:r>
            <a:endParaRPr/>
          </a:p>
        </p:txBody>
      </p:sp>
      <p:pic>
        <p:nvPicPr>
          <p:cNvPr id="179" name="Google Shape;179;p10" title="Frame 1000002375.png"/>
          <p:cNvPicPr preferRelativeResize="0"/>
          <p:nvPr/>
        </p:nvPicPr>
        <p:blipFill rotWithShape="1">
          <a:blip r:embed="rId3">
            <a:alphaModFix/>
          </a:blip>
          <a:srcRect b="0" l="0" r="0" t="0"/>
          <a:stretch/>
        </p:blipFill>
        <p:spPr>
          <a:xfrm>
            <a:off x="509465" y="263542"/>
            <a:ext cx="350044" cy="242888"/>
          </a:xfrm>
          <a:prstGeom prst="rect">
            <a:avLst/>
          </a:prstGeom>
          <a:noFill/>
          <a:ln>
            <a:noFill/>
          </a:ln>
        </p:spPr>
      </p:pic>
      <p:graphicFrame>
        <p:nvGraphicFramePr>
          <p:cNvPr id="180" name="Google Shape;180;p10"/>
          <p:cNvGraphicFramePr/>
          <p:nvPr/>
        </p:nvGraphicFramePr>
        <p:xfrm>
          <a:off x="538594" y="4831263"/>
          <a:ext cx="3000000" cy="3000000"/>
        </p:xfrm>
        <a:graphic>
          <a:graphicData uri="http://schemas.openxmlformats.org/drawingml/2006/table">
            <a:tbl>
              <a:tblPr>
                <a:noFill/>
                <a:tableStyleId>{78A6D804-A972-451D-A148-11AE6AC30977}</a:tableStyleId>
              </a:tblPr>
              <a:tblGrid>
                <a:gridCol w="7333175"/>
              </a:tblGrid>
              <a:tr h="114300">
                <a:tc>
                  <a:txBody>
                    <a:bodyPr/>
                    <a:lstStyle/>
                    <a:p>
                      <a:pPr indent="0" lvl="0" marL="0" marR="0" rtl="0" algn="l">
                        <a:lnSpc>
                          <a:spcPct val="115000"/>
                        </a:lnSpc>
                        <a:spcBef>
                          <a:spcPts val="0"/>
                        </a:spcBef>
                        <a:spcAft>
                          <a:spcPts val="0"/>
                        </a:spcAft>
                        <a:buClr>
                          <a:srgbClr val="000000"/>
                        </a:buClr>
                        <a:buSzPts val="700"/>
                        <a:buFont typeface="Arial"/>
                        <a:buNone/>
                      </a:pPr>
                      <a:r>
                        <a:rPr b="1" lang="da-DK" sz="900" u="none" cap="none" strike="noStrike">
                          <a:solidFill>
                            <a:srgbClr val="25595D"/>
                          </a:solidFill>
                          <a:latin typeface="Inter"/>
                          <a:ea typeface="Inter"/>
                          <a:cs typeface="Inter"/>
                          <a:sym typeface="Inter"/>
                        </a:rPr>
                        <a:t>EMAS reference</a:t>
                      </a:r>
                      <a:endParaRPr b="1" sz="900" u="none" cap="none" strike="noStrike">
                        <a:solidFill>
                          <a:srgbClr val="25595D"/>
                        </a:solidFill>
                        <a:latin typeface="Inter"/>
                        <a:ea typeface="Inter"/>
                        <a:cs typeface="Inter"/>
                        <a:sym typeface="Inter"/>
                      </a:endParaRPr>
                    </a:p>
                  </a:txBody>
                  <a:tcPr marT="68575" marB="6857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r>
              <a:tr h="607200">
                <a:tc>
                  <a:txBody>
                    <a:bodyPr/>
                    <a:lstStyle/>
                    <a:p>
                      <a:pPr indent="0" lvl="0" marL="0" marR="0" rtl="0" algn="l">
                        <a:lnSpc>
                          <a:spcPct val="106000"/>
                        </a:lnSpc>
                        <a:spcBef>
                          <a:spcPts val="0"/>
                        </a:spcBef>
                        <a:spcAft>
                          <a:spcPts val="0"/>
                        </a:spcAft>
                        <a:buClr>
                          <a:srgbClr val="000000"/>
                        </a:buClr>
                        <a:buSzPts val="700"/>
                        <a:buFont typeface="Arial"/>
                        <a:buNone/>
                      </a:pPr>
                      <a:r>
                        <a:rPr lang="da-DK" sz="900" cap="none" strike="noStrike">
                          <a:solidFill>
                            <a:schemeClr val="dk1"/>
                          </a:solidFill>
                          <a:latin typeface="Inter"/>
                          <a:ea typeface="Inter"/>
                          <a:cs typeface="Inter"/>
                          <a:sym typeface="Inter"/>
                        </a:rPr>
                        <a:t>{{</a:t>
                      </a:r>
                      <a:r>
                        <a:rPr lang="da-DK" sz="900">
                          <a:solidFill>
                            <a:schemeClr val="dk1"/>
                          </a:solidFill>
                          <a:latin typeface="Inter"/>
                          <a:ea typeface="Inter"/>
                          <a:cs typeface="Inter"/>
                          <a:sym typeface="Inter"/>
                        </a:rPr>
                        <a:t>uploaded_documents_B4</a:t>
                      </a:r>
                      <a:r>
                        <a:rPr lang="da-DK" sz="900" cap="none" strike="noStrike">
                          <a:solidFill>
                            <a:schemeClr val="dk1"/>
                          </a:solidFill>
                          <a:latin typeface="Inter"/>
                          <a:ea typeface="Inter"/>
                          <a:cs typeface="Inter"/>
                          <a:sym typeface="Inter"/>
                        </a:rPr>
                        <a:t>}}</a:t>
                      </a:r>
                      <a:endParaRPr sz="900" cap="none" strike="noStrike">
                        <a:solidFill>
                          <a:schemeClr val="dk1"/>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br>
                        <a:rPr lang="da-DK" sz="900" u="none" cap="none" strike="noStrike">
                          <a:solidFill>
                            <a:srgbClr val="2D55FF"/>
                          </a:solidFill>
                          <a:latin typeface="Inter"/>
                          <a:ea typeface="Inter"/>
                          <a:cs typeface="Inter"/>
                          <a:sym typeface="Inter"/>
                        </a:rPr>
                      </a:br>
                      <a:endParaRPr sz="900" u="none" cap="none" strike="noStrike">
                        <a:solidFill>
                          <a:srgbClr val="2D55FF"/>
                        </a:solidFill>
                        <a:latin typeface="Inter"/>
                        <a:ea typeface="Inter"/>
                        <a:cs typeface="Inter"/>
                        <a:sym typeface="Inter"/>
                      </a:endParaRPr>
                    </a:p>
                  </a:txBody>
                  <a:tcPr marT="68575" marB="6857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81" name="Google Shape;181;p10"/>
          <p:cNvSpPr txBox="1"/>
          <p:nvPr/>
        </p:nvSpPr>
        <p:spPr>
          <a:xfrm>
            <a:off x="538594" y="4113634"/>
            <a:ext cx="7542912" cy="660492"/>
          </a:xfrm>
          <a:prstGeom prst="rect">
            <a:avLst/>
          </a:prstGeom>
          <a:noFill/>
          <a:ln>
            <a:noFill/>
          </a:ln>
        </p:spPr>
        <p:txBody>
          <a:bodyPr anchorCtr="0" anchor="t" bIns="68575" lIns="68575" spcFirstLastPara="1" rIns="68575" wrap="square" tIns="68575">
            <a:spAutoFit/>
          </a:bodyPr>
          <a:lstStyle/>
          <a:p>
            <a:pPr indent="0" lvl="0" marL="0" marR="0" rtl="0" algn="l">
              <a:lnSpc>
                <a:spcPct val="106000"/>
              </a:lnSpc>
              <a:spcBef>
                <a:spcPts val="0"/>
              </a:spcBef>
              <a:spcAft>
                <a:spcPts val="0"/>
              </a:spcAft>
              <a:buNone/>
            </a:pPr>
            <a:r>
              <a:rPr b="1" i="0" lang="da-DK" sz="1200" u="none" cap="none" strike="noStrike">
                <a:solidFill>
                  <a:srgbClr val="25595D"/>
                </a:solidFill>
                <a:latin typeface="Inter"/>
                <a:ea typeface="Inter"/>
                <a:cs typeface="Inter"/>
                <a:sym typeface="Inter"/>
              </a:rPr>
              <a:t>EMAS</a:t>
            </a:r>
            <a:endParaRPr/>
          </a:p>
          <a:p>
            <a:pPr indent="0" lvl="0" marL="0" marR="0" rtl="0" algn="l">
              <a:lnSpc>
                <a:spcPct val="106000"/>
              </a:lnSpc>
              <a:spcBef>
                <a:spcPts val="0"/>
              </a:spcBef>
              <a:spcAft>
                <a:spcPts val="0"/>
              </a:spcAft>
              <a:buNone/>
            </a:pPr>
            <a:r>
              <a:rPr b="0" i="0" lang="da-DK" sz="1000" u="none" cap="none" strike="noStrike">
                <a:solidFill>
                  <a:srgbClr val="25595D"/>
                </a:solidFill>
                <a:latin typeface="Inter"/>
                <a:ea typeface="Inter"/>
                <a:cs typeface="Inter"/>
                <a:sym typeface="Inter"/>
              </a:rPr>
              <a:t>EMAS står for Eco-Management and Audit Scheme. Det er EU's frivillige miljøledelsesordning for alle typer virksomheder. Som certificeret virksomhed viser du dine kunder og omverdenen, at du lever op til EU's krav til miljøledelse.</a:t>
            </a:r>
            <a:endParaRPr b="0" i="0" sz="1000" u="none" cap="none" strike="noStrike">
              <a:solidFill>
                <a:srgbClr val="25595D"/>
              </a:solidFill>
              <a:latin typeface="Inter"/>
              <a:ea typeface="Inter"/>
              <a:cs typeface="Inter"/>
              <a:sym typeface="Inter"/>
            </a:endParaRPr>
          </a:p>
        </p:txBody>
      </p:sp>
      <p:sp>
        <p:nvSpPr>
          <p:cNvPr id="182" name="Google Shape;182;p10"/>
          <p:cNvSpPr txBox="1"/>
          <p:nvPr/>
        </p:nvSpPr>
        <p:spPr>
          <a:xfrm>
            <a:off x="533901" y="761486"/>
            <a:ext cx="7610048" cy="790976"/>
          </a:xfrm>
          <a:prstGeom prst="rect">
            <a:avLst/>
          </a:prstGeom>
          <a:noFill/>
          <a:ln>
            <a:noFill/>
          </a:ln>
        </p:spPr>
        <p:txBody>
          <a:bodyPr anchorCtr="0" anchor="t" bIns="68575" lIns="68575" spcFirstLastPara="1" rIns="68575" wrap="square" tIns="68575">
            <a:spAutoFit/>
          </a:bodyPr>
          <a:lstStyle/>
          <a:p>
            <a:pPr indent="0" lvl="0" marL="0" marR="0" rtl="0" algn="l">
              <a:lnSpc>
                <a:spcPct val="106000"/>
              </a:lnSpc>
              <a:spcBef>
                <a:spcPts val="0"/>
              </a:spcBef>
              <a:spcAft>
                <a:spcPts val="0"/>
              </a:spcAft>
              <a:buNone/>
            </a:pPr>
            <a:r>
              <a:rPr b="0" i="0" lang="da-DK" sz="1000" u="none" cap="none" strike="noStrike">
                <a:solidFill>
                  <a:srgbClr val="25595D"/>
                </a:solidFill>
                <a:latin typeface="Inter"/>
                <a:ea typeface="Inter"/>
                <a:cs typeface="Inter"/>
                <a:sym typeface="Inter"/>
              </a:rPr>
              <a:t>Virksomhedernes processer er reguleret af direktivet om industrielle emissioner (IED), som kræver, at virksomheder rapporterer den samlede mængde forurenende stoffer, der udledes fra alle deres anlæg. De fleste forureningsmålinger - der dækker luft, vand og jord - er oplysninger, som virksomheder allerede er lovmæssigt forpligtet til at indberette. Rapportering om specifikke forurenende stoffer og deres mængder, der udledes til luft, vand og jord, gælder dog muligvis ikke for alle virksomheder. Nedenfor er relevante typer af forurening rapporteret.</a:t>
            </a:r>
            <a:endParaRPr b="0" i="0" sz="1000" u="none" cap="none" strike="noStrike">
              <a:solidFill>
                <a:srgbClr val="25595D"/>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1"/>
          <p:cNvSpPr txBox="1"/>
          <p:nvPr>
            <p:ph type="title"/>
          </p:nvPr>
        </p:nvSpPr>
        <p:spPr>
          <a:xfrm>
            <a:off x="899598" y="259752"/>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Biodiversitet</a:t>
            </a:r>
            <a:endParaRPr/>
          </a:p>
        </p:txBody>
      </p:sp>
      <p:graphicFrame>
        <p:nvGraphicFramePr>
          <p:cNvPr id="189" name="Google Shape;189;p11"/>
          <p:cNvGraphicFramePr/>
          <p:nvPr/>
        </p:nvGraphicFramePr>
        <p:xfrm>
          <a:off x="518599" y="2110006"/>
          <a:ext cx="3000000" cy="3000000"/>
        </p:xfrm>
        <a:graphic>
          <a:graphicData uri="http://schemas.openxmlformats.org/drawingml/2006/table">
            <a:tbl>
              <a:tblPr firstRow="1">
                <a:noFill/>
                <a:tableStyleId>{BAEAA23F-C412-4D4F-A7DF-F315DCF0D262}</a:tableStyleId>
              </a:tblPr>
              <a:tblGrid>
                <a:gridCol w="1596625"/>
                <a:gridCol w="2398000"/>
                <a:gridCol w="2398000"/>
                <a:gridCol w="2398000"/>
              </a:tblGrid>
              <a:tr h="306000">
                <a:tc gridSpan="4">
                  <a:txBody>
                    <a:bodyPr/>
                    <a:lstStyle/>
                    <a:p>
                      <a:pPr indent="0" lvl="0" marL="0" marR="0" rtl="0" algn="l">
                        <a:spcBef>
                          <a:spcPts val="0"/>
                        </a:spcBef>
                        <a:spcAft>
                          <a:spcPts val="0"/>
                        </a:spcAft>
                        <a:buNone/>
                      </a:pPr>
                      <a:r>
                        <a:rPr b="1" lang="da-DK" sz="900">
                          <a:solidFill>
                            <a:schemeClr val="dk2"/>
                          </a:solidFill>
                        </a:rPr>
                        <a:t>Områder i nærheden af eller i 'biodiversitetsfølsomme områder’, som virksomheden a) ejer, b) lejer eller c) forvalter </a:t>
                      </a:r>
                      <a:r>
                        <a:rPr b="0" lang="da-DK" sz="900">
                          <a:solidFill>
                            <a:schemeClr val="dk2"/>
                          </a:solidFill>
                        </a:rPr>
                        <a:t>(pkt. 33)</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60000">
                <a:tc>
                  <a:txBody>
                    <a:bodyPr/>
                    <a:lstStyle/>
                    <a:p>
                      <a:pPr indent="0" lvl="0" marL="0" marR="0" rtl="0" algn="l">
                        <a:spcBef>
                          <a:spcPts val="0"/>
                        </a:spcBef>
                        <a:spcAft>
                          <a:spcPts val="0"/>
                        </a:spcAft>
                        <a:buNone/>
                      </a:pPr>
                      <a:r>
                        <a:rPr b="1" lang="da-DK" sz="900">
                          <a:solidFill>
                            <a:schemeClr val="dk2"/>
                          </a:solidFill>
                        </a:rPr>
                        <a:t>Lokation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00">
                          <a:solidFill>
                            <a:schemeClr val="dk2"/>
                          </a:solidFill>
                        </a:rPr>
                        <a:t>Areal opgjort i hektar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00">
                          <a:solidFill>
                            <a:schemeClr val="dk2"/>
                          </a:solidFill>
                        </a:rPr>
                        <a:t>Biodiversitetsfølsomt område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00">
                          <a:solidFill>
                            <a:schemeClr val="dk2"/>
                          </a:solidFill>
                        </a:rPr>
                        <a:t>Specifikation: I nærheden af eller i et biodiversitetsfølsomt område</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60000">
                <a:tc>
                  <a:txBody>
                    <a:bodyPr/>
                    <a:lstStyle/>
                    <a:p>
                      <a:pPr indent="0" lvl="0" marL="0" marR="0" rtl="0" algn="l">
                        <a:lnSpc>
                          <a:spcPct val="100000"/>
                        </a:lnSpc>
                        <a:spcBef>
                          <a:spcPts val="0"/>
                        </a:spcBef>
                        <a:spcAft>
                          <a:spcPts val="0"/>
                        </a:spcAft>
                        <a:buClr>
                          <a:srgbClr val="000000"/>
                        </a:buClr>
                        <a:buSzPts val="700"/>
                        <a:buFont typeface="Arial"/>
                        <a:buNone/>
                      </a:pPr>
                      <a:r>
                        <a:rPr lang="da-DK" sz="900" u="none" cap="none" strike="noStrike">
                          <a:latin typeface="Inter"/>
                          <a:ea typeface="Inter"/>
                          <a:cs typeface="Inter"/>
                          <a:sym typeface="Inter"/>
                        </a:rPr>
                        <a:t>{{country</a:t>
                      </a:r>
                      <a:r>
                        <a:rPr lang="da-DK" sz="900">
                          <a:latin typeface="Inter"/>
                          <a:ea typeface="Inter"/>
                          <a:cs typeface="Inter"/>
                          <a:sym typeface="Inter"/>
                        </a:rPr>
                        <a:t>_</a:t>
                      </a:r>
                      <a:r>
                        <a:rPr lang="da-DK" sz="900" u="none" cap="none" strike="noStrike">
                          <a:latin typeface="Inter"/>
                          <a:ea typeface="Inter"/>
                          <a:cs typeface="Inter"/>
                          <a:sym typeface="Inter"/>
                        </a:rPr>
                        <a:t>location}}</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700"/>
                        <a:buFont typeface="IBM Plex Sans"/>
                        <a:buNone/>
                      </a:pPr>
                      <a:r>
                        <a:rPr lang="da-DK" sz="900" u="none" cap="none" strike="noStrike">
                          <a:latin typeface="Inter"/>
                          <a:ea typeface="Inter"/>
                          <a:cs typeface="Inter"/>
                          <a:sym typeface="Inter"/>
                        </a:rPr>
                        <a:t> {{area</a:t>
                      </a:r>
                      <a:r>
                        <a:rPr lang="da-DK" sz="900">
                          <a:latin typeface="Inter"/>
                          <a:ea typeface="Inter"/>
                          <a:cs typeface="Inter"/>
                          <a:sym typeface="Inter"/>
                        </a:rPr>
                        <a:t>_</a:t>
                      </a:r>
                      <a:r>
                        <a:rPr lang="da-DK" sz="900" u="none" cap="none" strike="noStrike">
                          <a:latin typeface="Inter"/>
                          <a:ea typeface="Inter"/>
                          <a:cs typeface="Inter"/>
                          <a:sym typeface="Inter"/>
                        </a:rPr>
                        <a:t>hect}}</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accent2"/>
                        </a:buClr>
                        <a:buSzPts val="700"/>
                        <a:buFont typeface="IBM Plex Sans"/>
                        <a:buNone/>
                      </a:pPr>
                      <a:r>
                        <a:rPr lang="da-DK" sz="900" u="none" cap="none" strike="noStrike">
                          <a:latin typeface="Inter"/>
                          <a:ea typeface="Inter"/>
                          <a:cs typeface="Inter"/>
                          <a:sym typeface="Inter"/>
                        </a:rPr>
                        <a:t>{{area_name}}</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accent2"/>
                        </a:buClr>
                        <a:buSzPts val="700"/>
                        <a:buFont typeface="IBM Plex Sans"/>
                        <a:buNone/>
                      </a:pPr>
                      <a:r>
                        <a:rPr lang="da-DK" sz="900" u="none" cap="none" strike="noStrike">
                          <a:latin typeface="Inter"/>
                          <a:ea typeface="Inter"/>
                          <a:cs typeface="Inter"/>
                          <a:sym typeface="Inter"/>
                        </a:rPr>
                        <a:t>{{</a:t>
                      </a:r>
                      <a:r>
                        <a:rPr lang="da-DK" sz="900">
                          <a:latin typeface="Inter"/>
                          <a:ea typeface="Inter"/>
                          <a:cs typeface="Inter"/>
                          <a:sym typeface="Inter"/>
                        </a:rPr>
                        <a:t>biosensitive_area</a:t>
                      </a:r>
                      <a:r>
                        <a:rPr lang="da-DK" sz="900" u="none" cap="none" strike="noStrike">
                          <a:latin typeface="Inter"/>
                          <a:ea typeface="Inter"/>
                          <a:cs typeface="Inter"/>
                          <a:sym typeface="Inter"/>
                        </a:rPr>
                        <a:t>}}</a:t>
                      </a:r>
                      <a:endParaRPr i="0"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60000">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700"/>
                        <a:buFont typeface="IBM Plex Sans"/>
                        <a:buNone/>
                      </a:pPr>
                      <a:r>
                        <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accent2"/>
                        </a:buClr>
                        <a:buSzPts val="700"/>
                        <a:buFont typeface="IBM Plex Sans"/>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accent2"/>
                        </a:buClr>
                        <a:buSzPts val="700"/>
                        <a:buFont typeface="IBM Plex Sans"/>
                        <a:buNone/>
                      </a:pPr>
                      <a:r>
                        <a:t/>
                      </a:r>
                      <a:endParaRPr i="0"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60000">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700"/>
                        <a:buFont typeface="IBM Plex Sans"/>
                        <a:buNone/>
                      </a:pPr>
                      <a:r>
                        <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accent2"/>
                        </a:buClr>
                        <a:buSzPts val="700"/>
                        <a:buFont typeface="IBM Plex Sans"/>
                        <a:buNone/>
                      </a:pPr>
                      <a:r>
                        <a:t/>
                      </a:r>
                      <a:endParaRPr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accent2"/>
                        </a:buClr>
                        <a:buSzPts val="700"/>
                        <a:buFont typeface="IBM Plex Sans"/>
                        <a:buNone/>
                      </a:pPr>
                      <a:r>
                        <a:t/>
                      </a:r>
                      <a:endParaRPr i="0" sz="900" u="none" cap="none" strike="noStrike">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90" name="Google Shape;190;p11"/>
          <p:cNvGraphicFramePr/>
          <p:nvPr/>
        </p:nvGraphicFramePr>
        <p:xfrm>
          <a:off x="507994" y="4104054"/>
          <a:ext cx="3000000" cy="3000000"/>
        </p:xfrm>
        <a:graphic>
          <a:graphicData uri="http://schemas.openxmlformats.org/drawingml/2006/table">
            <a:tbl>
              <a:tblPr firstRow="1">
                <a:noFill/>
                <a:tableStyleId>{BAEAA23F-C412-4D4F-A7DF-F315DCF0D262}</a:tableStyleId>
              </a:tblPr>
              <a:tblGrid>
                <a:gridCol w="3849750"/>
                <a:gridCol w="1646975"/>
                <a:gridCol w="1646975"/>
                <a:gridCol w="1646975"/>
              </a:tblGrid>
              <a:tr h="309600">
                <a:tc gridSpan="4">
                  <a:txBody>
                    <a:bodyPr/>
                    <a:lstStyle/>
                    <a:p>
                      <a:pPr indent="0" lvl="0" marL="0" marR="0" rtl="0" algn="ctr">
                        <a:spcBef>
                          <a:spcPts val="0"/>
                        </a:spcBef>
                        <a:spcAft>
                          <a:spcPts val="0"/>
                        </a:spcAft>
                        <a:buNone/>
                      </a:pPr>
                      <a:r>
                        <a:rPr b="1" lang="da-DK" sz="900">
                          <a:solidFill>
                            <a:schemeClr val="dk2"/>
                          </a:solidFill>
                          <a:latin typeface="IBM Plex Sans"/>
                          <a:ea typeface="IBM Plex Sans"/>
                          <a:cs typeface="IBM Plex Sans"/>
                          <a:sym typeface="IBM Plex Sans"/>
                        </a:rPr>
                        <a:t>Arealforbrug </a:t>
                      </a:r>
                      <a:r>
                        <a:rPr b="0" i="0" lang="da-DK" sz="900" u="none" strike="noStrike">
                          <a:solidFill>
                            <a:schemeClr val="dk2"/>
                          </a:solidFill>
                          <a:latin typeface="IBM Plex Sans"/>
                          <a:ea typeface="IBM Plex Sans"/>
                          <a:cs typeface="IBM Plex Sans"/>
                          <a:sym typeface="IBM Plex Sans"/>
                        </a:rPr>
                        <a:t>(pkt. 34)</a:t>
                      </a:r>
                      <a:endParaRPr b="1" sz="9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09600">
                <a:tc rowSpan="2">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Type af arealforbrug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gridSpan="3">
                  <a:txBody>
                    <a:bodyPr/>
                    <a:lstStyle/>
                    <a:p>
                      <a:pPr indent="0" lvl="0" marL="0" marR="0" rtl="0" algn="ctr">
                        <a:spcBef>
                          <a:spcPts val="0"/>
                        </a:spcBef>
                        <a:spcAft>
                          <a:spcPts val="0"/>
                        </a:spcAft>
                        <a:buNone/>
                      </a:pPr>
                      <a:r>
                        <a:rPr b="1" lang="da-DK" sz="900">
                          <a:solidFill>
                            <a:schemeClr val="dk2"/>
                          </a:solidFill>
                          <a:latin typeface="IBM Plex Sans"/>
                          <a:ea typeface="IBM Plex Sans"/>
                          <a:cs typeface="IBM Plex Sans"/>
                          <a:sym typeface="IBM Plex Sans"/>
                        </a:rPr>
                        <a:t>Areal </a:t>
                      </a:r>
                      <a:r>
                        <a:rPr b="0" lang="da-DK" sz="900">
                          <a:solidFill>
                            <a:schemeClr val="dk2"/>
                          </a:solidFill>
                          <a:latin typeface="IBM Plex Sans"/>
                          <a:ea typeface="IBM Plex Sans"/>
                          <a:cs typeface="IBM Plex Sans"/>
                          <a:sym typeface="IBM Plex Sans"/>
                        </a:rPr>
                        <a:t>(hektar)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309600">
                <a:tc vMerge="1"/>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Foregående år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Rapporteringsår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 ændring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09600">
                <a:tc>
                  <a:txBody>
                    <a:bodyPr/>
                    <a:lstStyle/>
                    <a:p>
                      <a:pPr indent="0" lvl="0" marL="0" marR="0" rtl="0" algn="l">
                        <a:spcBef>
                          <a:spcPts val="0"/>
                        </a:spcBef>
                        <a:spcAft>
                          <a:spcPts val="0"/>
                        </a:spcAft>
                        <a:buNone/>
                      </a:pPr>
                      <a:r>
                        <a:rPr b="0" lang="da-DK" sz="900">
                          <a:solidFill>
                            <a:schemeClr val="dk2"/>
                          </a:solidFill>
                          <a:latin typeface="IBM Plex Sans"/>
                          <a:ea typeface="IBM Plex Sans"/>
                          <a:cs typeface="IBM Plex Sans"/>
                          <a:sym typeface="IBM Plex Sans"/>
                        </a:rPr>
                        <a:t>Samlet arealforbrug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2"/>
                        </a:buClr>
                        <a:buSzPts val="900"/>
                        <a:buFont typeface="IBM Plex Sans"/>
                        <a:buNone/>
                      </a:pPr>
                      <a:r>
                        <a:rPr lang="da-DK" sz="900" u="none" cap="none" strike="noStrike">
                          <a:latin typeface="Inter"/>
                          <a:ea typeface="Inter"/>
                          <a:cs typeface="Inter"/>
                          <a:sym typeface="Inter"/>
                        </a:rPr>
                        <a:t>{{</a:t>
                      </a:r>
                      <a:r>
                        <a:rPr lang="da-DK" sz="900">
                          <a:latin typeface="Inter"/>
                          <a:ea typeface="Inter"/>
                          <a:cs typeface="Inter"/>
                          <a:sym typeface="Inter"/>
                        </a:rPr>
                        <a:t>past_year_total_areause</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900"/>
                        <a:buFont typeface="IBM Plex Sans"/>
                        <a:buNone/>
                      </a:pPr>
                      <a:r>
                        <a:rPr lang="da-DK" sz="900" u="none" cap="none" strike="noStrike">
                          <a:latin typeface="Inter"/>
                          <a:ea typeface="Inter"/>
                          <a:cs typeface="Inter"/>
                          <a:sym typeface="Inter"/>
                        </a:rPr>
                        <a:t>{{current_year_areause}}</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900"/>
                        <a:buFont typeface="IBM Plex Sans"/>
                        <a:buNone/>
                      </a:pPr>
                      <a:r>
                        <a:rPr lang="da-DK" sz="900" u="none" cap="none" strike="noStrike">
                          <a:latin typeface="Inter"/>
                          <a:ea typeface="Inter"/>
                          <a:cs typeface="Inter"/>
                          <a:sym typeface="Inter"/>
                        </a:rPr>
                        <a:t>{{areause_difference}}</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9600">
                <a:tc>
                  <a:txBody>
                    <a:bodyPr/>
                    <a:lstStyle/>
                    <a:p>
                      <a:pPr indent="0" lvl="0" marL="0" marR="0" rtl="0" algn="l">
                        <a:spcBef>
                          <a:spcPts val="0"/>
                        </a:spcBef>
                        <a:spcAft>
                          <a:spcPts val="0"/>
                        </a:spcAft>
                        <a:buNone/>
                      </a:pPr>
                      <a:r>
                        <a:rPr b="0" lang="da-DK" sz="900">
                          <a:solidFill>
                            <a:schemeClr val="dk2"/>
                          </a:solidFill>
                          <a:latin typeface="IBM Plex Sans"/>
                          <a:ea typeface="IBM Plex Sans"/>
                          <a:cs typeface="IBM Plex Sans"/>
                          <a:sym typeface="IBM Plex Sans"/>
                        </a:rPr>
                        <a:t>Samlet befæstet område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2"/>
                        </a:buClr>
                        <a:buSzPts val="900"/>
                        <a:buFont typeface="IBM Plex Sans"/>
                        <a:buNone/>
                      </a:pPr>
                      <a:r>
                        <a:rPr lang="da-DK" sz="900" u="none" cap="none" strike="noStrike">
                          <a:latin typeface="Inter"/>
                          <a:ea typeface="Inter"/>
                          <a:cs typeface="Inter"/>
                          <a:sym typeface="Inter"/>
                        </a:rPr>
                        <a:t>{{</a:t>
                      </a:r>
                      <a:r>
                        <a:rPr lang="da-DK" sz="900">
                          <a:latin typeface="Inter"/>
                          <a:ea typeface="Inter"/>
                          <a:cs typeface="Inter"/>
                          <a:sym typeface="Inter"/>
                        </a:rPr>
                        <a:t>past_year_befastet</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900"/>
                        <a:buFont typeface="IBM Plex Sans"/>
                        <a:buNone/>
                      </a:pPr>
                      <a:r>
                        <a:rPr lang="da-DK" sz="900" u="none" cap="none" strike="noStrike">
                          <a:latin typeface="Inter"/>
                          <a:ea typeface="Inter"/>
                          <a:cs typeface="Inter"/>
                          <a:sym typeface="Inter"/>
                        </a:rPr>
                        <a:t>{{</a:t>
                      </a:r>
                      <a:r>
                        <a:rPr lang="da-DK" sz="900">
                          <a:latin typeface="Inter"/>
                          <a:ea typeface="Inter"/>
                          <a:cs typeface="Inter"/>
                          <a:sym typeface="Inter"/>
                        </a:rPr>
                        <a:t>current_year_befastet</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900"/>
                        <a:buFont typeface="IBM Plex Sans"/>
                        <a:buNone/>
                      </a:pPr>
                      <a:r>
                        <a:rPr lang="da-DK" sz="900" u="none" cap="none" strike="noStrike">
                          <a:latin typeface="Inter"/>
                          <a:ea typeface="Inter"/>
                          <a:cs typeface="Inter"/>
                          <a:sym typeface="Inter"/>
                        </a:rPr>
                        <a:t>{{</a:t>
                      </a:r>
                      <a:r>
                        <a:rPr lang="da-DK" sz="900">
                          <a:latin typeface="Inter"/>
                          <a:ea typeface="Inter"/>
                          <a:cs typeface="Inter"/>
                          <a:sym typeface="Inter"/>
                        </a:rPr>
                        <a:t>befastet_difference</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9600">
                <a:tc>
                  <a:txBody>
                    <a:bodyPr/>
                    <a:lstStyle/>
                    <a:p>
                      <a:pPr indent="0" lvl="0" marL="0" marR="0" rtl="0" algn="l">
                        <a:spcBef>
                          <a:spcPts val="0"/>
                        </a:spcBef>
                        <a:spcAft>
                          <a:spcPts val="0"/>
                        </a:spcAft>
                        <a:buNone/>
                      </a:pPr>
                      <a:r>
                        <a:rPr b="0" lang="da-DK" sz="900">
                          <a:solidFill>
                            <a:schemeClr val="dk2"/>
                          </a:solidFill>
                          <a:latin typeface="IBM Plex Sans"/>
                          <a:ea typeface="IBM Plex Sans"/>
                          <a:cs typeface="IBM Plex Sans"/>
                          <a:sym typeface="IBM Plex Sans"/>
                        </a:rPr>
                        <a:t>Samlet naturorienteret område </a:t>
                      </a:r>
                      <a:r>
                        <a:rPr b="0" lang="da-DK" sz="900" u="sng">
                          <a:solidFill>
                            <a:schemeClr val="dk2"/>
                          </a:solidFill>
                          <a:latin typeface="IBM Plex Sans"/>
                          <a:ea typeface="IBM Plex Sans"/>
                          <a:cs typeface="IBM Plex Sans"/>
                          <a:sym typeface="IBM Plex Sans"/>
                        </a:rPr>
                        <a:t>på anlægsområdet</a:t>
                      </a:r>
                      <a:endParaRPr b="0" sz="900" u="sng">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2"/>
                        </a:buClr>
                        <a:buSzPts val="900"/>
                        <a:buFont typeface="IBM Plex Sans"/>
                        <a:buNone/>
                      </a:pPr>
                      <a:r>
                        <a:rPr lang="da-DK" sz="900" u="none" cap="none" strike="noStrike">
                          <a:latin typeface="Inter"/>
                          <a:ea typeface="Inter"/>
                          <a:cs typeface="Inter"/>
                          <a:sym typeface="Inter"/>
                        </a:rPr>
                        <a:t>{{past_year_naturearea}}</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900"/>
                        <a:buFont typeface="IBM Plex Sans"/>
                        <a:buNone/>
                      </a:pPr>
                      <a:r>
                        <a:rPr lang="da-DK" sz="900" u="none" cap="none" strike="noStrike">
                          <a:latin typeface="Inter"/>
                          <a:ea typeface="Inter"/>
                          <a:cs typeface="Inter"/>
                          <a:sym typeface="Inter"/>
                        </a:rPr>
                        <a:t>{{current_year_naturearea}}</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900"/>
                        <a:buFont typeface="IBM Plex Sans"/>
                        <a:buNone/>
                      </a:pPr>
                      <a:r>
                        <a:rPr lang="da-DK" sz="900" u="none" cap="none" strike="noStrike">
                          <a:latin typeface="Inter"/>
                          <a:ea typeface="Inter"/>
                          <a:cs typeface="Inter"/>
                          <a:sym typeface="Inter"/>
                        </a:rPr>
                        <a:t>{{naturearea_difference}}</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9600">
                <a:tc>
                  <a:txBody>
                    <a:bodyPr/>
                    <a:lstStyle/>
                    <a:p>
                      <a:pPr indent="0" lvl="0" marL="0" marR="0" rtl="0" algn="l">
                        <a:spcBef>
                          <a:spcPts val="0"/>
                        </a:spcBef>
                        <a:spcAft>
                          <a:spcPts val="0"/>
                        </a:spcAft>
                        <a:buNone/>
                      </a:pPr>
                      <a:r>
                        <a:rPr b="0" lang="da-DK" sz="900">
                          <a:solidFill>
                            <a:schemeClr val="dk2"/>
                          </a:solidFill>
                          <a:latin typeface="IBM Plex Sans"/>
                          <a:ea typeface="IBM Plex Sans"/>
                          <a:cs typeface="IBM Plex Sans"/>
                          <a:sym typeface="IBM Plex Sans"/>
                        </a:rPr>
                        <a:t>Samlet naturorienteret område </a:t>
                      </a:r>
                      <a:r>
                        <a:rPr b="0" lang="da-DK" sz="900" u="sng">
                          <a:solidFill>
                            <a:schemeClr val="dk2"/>
                          </a:solidFill>
                          <a:latin typeface="IBM Plex Sans"/>
                          <a:ea typeface="IBM Plex Sans"/>
                          <a:cs typeface="IBM Plex Sans"/>
                          <a:sym typeface="IBM Plex Sans"/>
                        </a:rPr>
                        <a:t>uden for anlægsområdet</a:t>
                      </a:r>
                      <a:endParaRPr b="0" sz="900" u="sng">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2"/>
                        </a:buClr>
                        <a:buSzPts val="900"/>
                        <a:buFont typeface="IBM Plex Sans"/>
                        <a:buNone/>
                      </a:pPr>
                      <a:r>
                        <a:rPr lang="da-DK" sz="900" u="none" cap="none" strike="noStrike">
                          <a:latin typeface="Inter"/>
                          <a:ea typeface="Inter"/>
                          <a:cs typeface="Inter"/>
                          <a:sym typeface="Inter"/>
                        </a:rPr>
                        <a:t>{{</a:t>
                      </a:r>
                      <a:r>
                        <a:rPr lang="da-DK" sz="900">
                          <a:latin typeface="Inter"/>
                          <a:ea typeface="Inter"/>
                          <a:cs typeface="Inter"/>
                          <a:sym typeface="Inter"/>
                        </a:rPr>
                        <a:t>past_year_o_anlagsomrade</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900"/>
                        <a:buFont typeface="IBM Plex Sans"/>
                        <a:buNone/>
                      </a:pPr>
                      <a:r>
                        <a:rPr lang="da-DK" sz="900" u="none" cap="none" strike="noStrike">
                          <a:latin typeface="Inter"/>
                          <a:ea typeface="Inter"/>
                          <a:cs typeface="Inter"/>
                          <a:sym typeface="Inter"/>
                        </a:rPr>
                        <a:t>{{</a:t>
                      </a:r>
                      <a:r>
                        <a:rPr lang="da-DK" sz="900">
                          <a:latin typeface="Inter"/>
                          <a:ea typeface="Inter"/>
                          <a:cs typeface="Inter"/>
                          <a:sym typeface="Inter"/>
                        </a:rPr>
                        <a:t>current_year_o_anlagsomrade</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900"/>
                        <a:buFont typeface="IBM Plex Sans"/>
                        <a:buNone/>
                      </a:pPr>
                      <a:r>
                        <a:rPr lang="da-DK" sz="900" u="none" cap="none" strike="noStrike">
                          <a:latin typeface="Inter"/>
                          <a:ea typeface="Inter"/>
                          <a:cs typeface="Inter"/>
                          <a:sym typeface="Inter"/>
                        </a:rPr>
                        <a:t>{{</a:t>
                      </a:r>
                      <a:r>
                        <a:rPr lang="da-DK" sz="900">
                          <a:latin typeface="Inter"/>
                          <a:ea typeface="Inter"/>
                          <a:cs typeface="Inter"/>
                          <a:sym typeface="Inter"/>
                        </a:rPr>
                        <a:t>anlagsomrade_difference</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91" name="Google Shape;191;p11"/>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SzPts val="1100"/>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SzPts val="1100"/>
              <a:buNone/>
            </a:pPr>
            <a:r>
              <a:t/>
            </a:r>
            <a:endParaRPr sz="800">
              <a:solidFill>
                <a:schemeClr val="accent4"/>
              </a:solidFill>
              <a:latin typeface="Inter"/>
              <a:ea typeface="Inter"/>
              <a:cs typeface="Inter"/>
              <a:sym typeface="Inter"/>
            </a:endParaRPr>
          </a:p>
        </p:txBody>
      </p:sp>
      <p:pic>
        <p:nvPicPr>
          <p:cNvPr id="192" name="Google Shape;192;p11" title="Frame 1000002375.png"/>
          <p:cNvPicPr preferRelativeResize="0"/>
          <p:nvPr/>
        </p:nvPicPr>
        <p:blipFill rotWithShape="1">
          <a:blip r:embed="rId3">
            <a:alphaModFix/>
          </a:blip>
          <a:srcRect b="0" l="0" r="0" t="0"/>
          <a:stretch/>
        </p:blipFill>
        <p:spPr>
          <a:xfrm>
            <a:off x="517530" y="262957"/>
            <a:ext cx="342900" cy="242888"/>
          </a:xfrm>
          <a:prstGeom prst="rect">
            <a:avLst/>
          </a:prstGeom>
          <a:noFill/>
          <a:ln>
            <a:noFill/>
          </a:ln>
        </p:spPr>
      </p:pic>
      <p:sp>
        <p:nvSpPr>
          <p:cNvPr id="193" name="Google Shape;193;p11"/>
          <p:cNvSpPr txBox="1"/>
          <p:nvPr/>
        </p:nvSpPr>
        <p:spPr>
          <a:xfrm>
            <a:off x="518600" y="672820"/>
            <a:ext cx="8790653" cy="130804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900"/>
              </a:spcBef>
              <a:spcAft>
                <a:spcPts val="900"/>
              </a:spcAft>
              <a:buNone/>
            </a:pPr>
            <a:r>
              <a:rPr b="0" i="0" lang="da-DK" sz="1000" u="none" cap="none" strike="noStrike">
                <a:solidFill>
                  <a:srgbClr val="25595D"/>
                </a:solidFill>
                <a:latin typeface="Inter"/>
                <a:ea typeface="Inter"/>
                <a:cs typeface="Inter"/>
                <a:sym typeface="Inter"/>
              </a:rPr>
              <a:t>Virksomhedens oplysninger vedrører de steder, den opererer på, som er placeret i eller i nærheden af biodiversitetsfølsomme områder. Biodiversitetsfølsomme områder defineres som sådanne i særlige naturbeskyttelsesbestemmelser på europæisk eller internationalt plan. </a:t>
            </a:r>
            <a:br>
              <a:rPr b="0" i="0" lang="da-DK" sz="1000" u="none" cap="none" strike="noStrike">
                <a:solidFill>
                  <a:srgbClr val="25595D"/>
                </a:solidFill>
                <a:latin typeface="Inter"/>
                <a:ea typeface="Inter"/>
                <a:cs typeface="Inter"/>
                <a:sym typeface="Inter"/>
              </a:rPr>
            </a:br>
            <a:r>
              <a:rPr b="0" i="0" lang="da-DK" sz="1000" u="none" cap="none" strike="noStrike">
                <a:solidFill>
                  <a:srgbClr val="25595D"/>
                </a:solidFill>
                <a:latin typeface="Inter"/>
                <a:ea typeface="Inter"/>
                <a:cs typeface="Inter"/>
                <a:sym typeface="Inter"/>
              </a:rPr>
              <a:t>Dette omfatter områder, der tilhører Natura 2000, UNESCO og vigtige biodiversitetsområder (KBA'er) samt andre beskyttede områder. Arealanvendelse angiver den type jord, der udnyttes, lejes eller besiddes af virksomheden.</a:t>
            </a:r>
            <a:endParaRPr b="0" i="0" sz="1000" u="none" cap="none" strike="noStrike">
              <a:solidFill>
                <a:srgbClr val="25595D"/>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ph type="title"/>
          </p:nvPr>
        </p:nvSpPr>
        <p:spPr>
          <a:xfrm>
            <a:off x="891135" y="258103"/>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Vand</a:t>
            </a:r>
            <a:endParaRPr/>
          </a:p>
        </p:txBody>
      </p:sp>
      <p:graphicFrame>
        <p:nvGraphicFramePr>
          <p:cNvPr id="199" name="Google Shape;199;p12"/>
          <p:cNvGraphicFramePr/>
          <p:nvPr/>
        </p:nvGraphicFramePr>
        <p:xfrm>
          <a:off x="507272" y="1612885"/>
          <a:ext cx="3000000" cy="3000000"/>
        </p:xfrm>
        <a:graphic>
          <a:graphicData uri="http://schemas.openxmlformats.org/drawingml/2006/table">
            <a:tbl>
              <a:tblPr firstRow="1">
                <a:noFill/>
                <a:tableStyleId>{BAEAA23F-C412-4D4F-A7DF-F315DCF0D262}</a:tableStyleId>
              </a:tblPr>
              <a:tblGrid>
                <a:gridCol w="5534550"/>
                <a:gridCol w="1809225"/>
              </a:tblGrid>
              <a:tr h="114300">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a:solidFill>
                            <a:schemeClr val="dk2"/>
                          </a:solidFill>
                        </a:rPr>
                        <a:t>Vandudtag </a:t>
                      </a:r>
                      <a:r>
                        <a:rPr b="0" lang="da-DK" sz="900">
                          <a:solidFill>
                            <a:schemeClr val="dk2"/>
                          </a:solidFill>
                        </a:rPr>
                        <a:t>(pkt. 35)</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900"/>
                        <a:buFont typeface="IBM Plex Sans"/>
                        <a:buNone/>
                      </a:pPr>
                      <a:r>
                        <a:rPr b="1" lang="da-DK" sz="900">
                          <a:solidFill>
                            <a:schemeClr val="dk2"/>
                          </a:solidFill>
                        </a:rPr>
                        <a:t>År</a:t>
                      </a:r>
                      <a:r>
                        <a:rPr b="1" lang="da-DK" sz="900">
                          <a:solidFill>
                            <a:schemeClr val="accent2"/>
                          </a:solidFill>
                          <a:latin typeface="Calibri"/>
                          <a:ea typeface="Calibri"/>
                          <a:cs typeface="Calibri"/>
                          <a:sym typeface="Calibri"/>
                        </a:rPr>
                        <a:t> </a:t>
                      </a:r>
                      <a:r>
                        <a:rPr lang="da-DK" sz="900">
                          <a:solidFill>
                            <a:schemeClr val="dk1"/>
                          </a:solidFill>
                          <a:latin typeface="Inter"/>
                          <a:ea typeface="Inter"/>
                          <a:cs typeface="Inter"/>
                          <a:sym typeface="Inter"/>
                        </a:rPr>
                        <a:t>{{insert_year}}</a:t>
                      </a:r>
                      <a:endParaRPr b="1" sz="9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da-DK" sz="900">
                          <a:solidFill>
                            <a:schemeClr val="dk2"/>
                          </a:solidFill>
                        </a:rPr>
                        <a:t>Samlet for alle lokationer</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accent2"/>
                        </a:buClr>
                        <a:buSzPts val="700"/>
                        <a:buFont typeface="IBM Plex Sans"/>
                        <a:buNone/>
                      </a:pPr>
                      <a:r>
                        <a:rPr lang="da-DK" sz="900">
                          <a:latin typeface="Inter"/>
                          <a:ea typeface="Inter"/>
                          <a:cs typeface="Inter"/>
                          <a:sym typeface="Inter"/>
                        </a:rPr>
                        <a:t>{{total_withdrawal}} </a:t>
                      </a:r>
                      <a:r>
                        <a:rPr lang="da-DK" sz="900">
                          <a:highlight>
                            <a:schemeClr val="lt1"/>
                          </a:highlight>
                          <a:latin typeface="Inter"/>
                          <a:ea typeface="Inter"/>
                          <a:cs typeface="Inter"/>
                          <a:sym typeface="Inter"/>
                        </a:rPr>
                        <a:t>m³</a:t>
                      </a:r>
                      <a:endParaRPr sz="900">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da-DK" sz="900">
                          <a:solidFill>
                            <a:schemeClr val="dk2"/>
                          </a:solidFill>
                        </a:rPr>
                        <a:t>Fra lokationer i områder med mangel på vand (højt vandstress)</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accent2"/>
                        </a:buClr>
                        <a:buSzPts val="700"/>
                        <a:buFont typeface="IBM Plex Sans"/>
                        <a:buNone/>
                      </a:pPr>
                      <a:r>
                        <a:rPr lang="da-DK" sz="900">
                          <a:latin typeface="Inter"/>
                          <a:ea typeface="Inter"/>
                          <a:cs typeface="Inter"/>
                          <a:sym typeface="Inter"/>
                        </a:rPr>
                        <a:t>{{waterstress_withdrawal}} </a:t>
                      </a:r>
                      <a:r>
                        <a:rPr lang="da-DK" sz="900">
                          <a:highlight>
                            <a:schemeClr val="lt1"/>
                          </a:highlight>
                          <a:latin typeface="Inter"/>
                          <a:ea typeface="Inter"/>
                          <a:cs typeface="Inter"/>
                          <a:sym typeface="Inter"/>
                        </a:rPr>
                        <a:t>m³</a:t>
                      </a:r>
                      <a:endParaRPr sz="900">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00" name="Google Shape;200;p12"/>
          <p:cNvGraphicFramePr/>
          <p:nvPr/>
        </p:nvGraphicFramePr>
        <p:xfrm>
          <a:off x="507273" y="3488284"/>
          <a:ext cx="3000000" cy="3000000"/>
        </p:xfrm>
        <a:graphic>
          <a:graphicData uri="http://schemas.openxmlformats.org/drawingml/2006/table">
            <a:tbl>
              <a:tblPr firstRow="1">
                <a:noFill/>
                <a:tableStyleId>{BAEAA23F-C412-4D4F-A7DF-F315DCF0D262}</a:tableStyleId>
              </a:tblPr>
              <a:tblGrid>
                <a:gridCol w="5534550"/>
                <a:gridCol w="1809225"/>
              </a:tblGrid>
              <a:tr h="288000">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a:solidFill>
                            <a:schemeClr val="dk2"/>
                          </a:solidFill>
                        </a:rPr>
                        <a:t>Vandforbrug </a:t>
                      </a:r>
                      <a:r>
                        <a:rPr b="0" lang="da-DK" sz="900">
                          <a:solidFill>
                            <a:schemeClr val="dk2"/>
                          </a:solidFill>
                        </a:rPr>
                        <a:t>(pkt. 36)</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900"/>
                        <a:buFont typeface="IBM Plex Sans"/>
                        <a:buNone/>
                      </a:pPr>
                      <a:r>
                        <a:rPr b="1" lang="da-DK" sz="900">
                          <a:solidFill>
                            <a:schemeClr val="dk2"/>
                          </a:solidFill>
                        </a:rPr>
                        <a:t>År</a:t>
                      </a:r>
                      <a:r>
                        <a:rPr b="1" lang="da-DK" sz="900">
                          <a:solidFill>
                            <a:schemeClr val="accent2"/>
                          </a:solidFill>
                          <a:latin typeface="Calibri"/>
                          <a:ea typeface="Calibri"/>
                          <a:cs typeface="Calibri"/>
                          <a:sym typeface="Calibri"/>
                        </a:rPr>
                        <a:t> </a:t>
                      </a:r>
                      <a:r>
                        <a:rPr lang="da-DK" sz="900">
                          <a:solidFill>
                            <a:schemeClr val="dk1"/>
                          </a:solidFill>
                          <a:latin typeface="Inter"/>
                          <a:ea typeface="Inter"/>
                          <a:cs typeface="Inter"/>
                          <a:sym typeface="Inter"/>
                        </a:rPr>
                        <a:t>{{insert_year}}</a:t>
                      </a:r>
                      <a:endParaRPr b="1" sz="9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da-DK" sz="900">
                          <a:solidFill>
                            <a:schemeClr val="dk2"/>
                          </a:solidFill>
                        </a:rPr>
                        <a:t>Samlet for alle lokationer</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accent2"/>
                        </a:buClr>
                        <a:buSzPts val="700"/>
                        <a:buFont typeface="IBM Plex Sans"/>
                        <a:buNone/>
                      </a:pPr>
                      <a:r>
                        <a:rPr lang="da-DK" sz="900">
                          <a:latin typeface="Inter"/>
                          <a:ea typeface="Inter"/>
                          <a:cs typeface="Inter"/>
                          <a:sym typeface="Inter"/>
                        </a:rPr>
                        <a:t>{{consumption_total}} </a:t>
                      </a:r>
                      <a:r>
                        <a:rPr lang="da-DK" sz="900">
                          <a:highlight>
                            <a:schemeClr val="lt1"/>
                          </a:highlight>
                          <a:latin typeface="Inter"/>
                          <a:ea typeface="Inter"/>
                          <a:cs typeface="Inter"/>
                          <a:sym typeface="Inter"/>
                        </a:rPr>
                        <a:t>m³</a:t>
                      </a:r>
                      <a:endParaRPr sz="900">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lnSpc>
                          <a:spcPct val="100000"/>
                        </a:lnSpc>
                        <a:spcBef>
                          <a:spcPts val="0"/>
                        </a:spcBef>
                        <a:spcAft>
                          <a:spcPts val="0"/>
                        </a:spcAft>
                        <a:buClr>
                          <a:schemeClr val="dk2"/>
                        </a:buClr>
                        <a:buSzPts val="900"/>
                        <a:buFont typeface="IBM Plex Sans"/>
                        <a:buNone/>
                      </a:pPr>
                      <a:r>
                        <a:rPr b="0" lang="da-DK" sz="900">
                          <a:solidFill>
                            <a:schemeClr val="dk2"/>
                          </a:solidFill>
                        </a:rPr>
                        <a:t>Fra lokationer i områder med mangel på vand (højt vandstress)</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accent2"/>
                        </a:buClr>
                        <a:buSzPts val="700"/>
                        <a:buFont typeface="IBM Plex Sans"/>
                        <a:buNone/>
                      </a:pPr>
                      <a:r>
                        <a:rPr lang="da-DK" sz="900">
                          <a:latin typeface="Inter"/>
                          <a:ea typeface="Inter"/>
                          <a:cs typeface="Inter"/>
                          <a:sym typeface="Inter"/>
                        </a:rPr>
                        <a:t>{{consumption_waterstress}} </a:t>
                      </a:r>
                      <a:r>
                        <a:rPr lang="da-DK" sz="900">
                          <a:highlight>
                            <a:schemeClr val="lt1"/>
                          </a:highlight>
                          <a:latin typeface="Inter"/>
                          <a:ea typeface="Inter"/>
                          <a:cs typeface="Inter"/>
                          <a:sym typeface="Inter"/>
                        </a:rPr>
                        <a:t>m³</a:t>
                      </a:r>
                      <a:endParaRPr sz="900">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01" name="Google Shape;201;p12"/>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02" name="Google Shape;202;p12"/>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dk1"/>
              </a:buClr>
              <a:buSzPts val="1100"/>
              <a:buFont typeface="Arial"/>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None/>
            </a:pPr>
            <a:r>
              <a:t/>
            </a:r>
            <a:endParaRPr/>
          </a:p>
        </p:txBody>
      </p:sp>
      <p:pic>
        <p:nvPicPr>
          <p:cNvPr id="203" name="Google Shape;203;p12" title="Frame 1000002375.png"/>
          <p:cNvPicPr preferRelativeResize="0"/>
          <p:nvPr/>
        </p:nvPicPr>
        <p:blipFill rotWithShape="1">
          <a:blip r:embed="rId3">
            <a:alphaModFix/>
          </a:blip>
          <a:srcRect b="0" l="0" r="0" t="0"/>
          <a:stretch/>
        </p:blipFill>
        <p:spPr>
          <a:xfrm>
            <a:off x="517420" y="261308"/>
            <a:ext cx="342900" cy="242888"/>
          </a:xfrm>
          <a:prstGeom prst="rect">
            <a:avLst/>
          </a:prstGeom>
          <a:noFill/>
          <a:ln>
            <a:noFill/>
          </a:ln>
        </p:spPr>
      </p:pic>
      <p:sp>
        <p:nvSpPr>
          <p:cNvPr id="204" name="Google Shape;204;p12"/>
          <p:cNvSpPr txBox="1"/>
          <p:nvPr/>
        </p:nvSpPr>
        <p:spPr>
          <a:xfrm>
            <a:off x="507272" y="679191"/>
            <a:ext cx="7332238" cy="607849"/>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900"/>
              </a:spcBef>
              <a:spcAft>
                <a:spcPts val="0"/>
              </a:spcAft>
              <a:buNone/>
            </a:pPr>
            <a:r>
              <a:rPr b="0" i="0" lang="da-DK" sz="1000" u="none" cap="none" strike="noStrike">
                <a:solidFill>
                  <a:srgbClr val="25595D"/>
                </a:solidFill>
                <a:latin typeface="Inter"/>
                <a:ea typeface="Inter"/>
                <a:cs typeface="Inter"/>
                <a:sym typeface="Inter"/>
              </a:rPr>
              <a:t>Vandforbrug er den mængde vand, der anvendes af organisationen, som ikke udledes eller planlægges udledt tilbage til vandmiljøet eller til en tredjepart. I dette afsnit oplyses virksomhedens samlede vandforbrug.</a:t>
            </a:r>
            <a:endParaRPr b="0" i="0" sz="1000" u="none" cap="none" strike="noStrike">
              <a:solidFill>
                <a:srgbClr val="25595D"/>
              </a:solidFill>
              <a:latin typeface="Inter"/>
              <a:ea typeface="Inter"/>
              <a:cs typeface="Inter"/>
              <a:sym typeface="Inter"/>
            </a:endParaRPr>
          </a:p>
        </p:txBody>
      </p:sp>
      <p:sp>
        <p:nvSpPr>
          <p:cNvPr id="205" name="Google Shape;205;p12"/>
          <p:cNvSpPr txBox="1"/>
          <p:nvPr/>
        </p:nvSpPr>
        <p:spPr>
          <a:xfrm>
            <a:off x="507272" y="2680518"/>
            <a:ext cx="7231440" cy="607849"/>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900"/>
              </a:spcBef>
              <a:spcAft>
                <a:spcPts val="0"/>
              </a:spcAft>
              <a:buNone/>
            </a:pPr>
            <a:r>
              <a:rPr b="0" i="0" lang="da-DK" sz="1000" u="none" cap="none" strike="noStrike">
                <a:solidFill>
                  <a:srgbClr val="25595D"/>
                </a:solidFill>
                <a:latin typeface="Inter"/>
                <a:ea typeface="Inter"/>
                <a:cs typeface="Inter"/>
                <a:sym typeface="Inter"/>
              </a:rPr>
              <a:t>Virksomhedens produktionsprocesser, der forbruger betydelige mængder vand, er beskrevet nedenfor gennem vandforbrug, beregnet som forskellen mellem vandindvinding og vandudledning fra produktionsprocesserne.</a:t>
            </a:r>
            <a:endParaRPr b="0" i="0" sz="1000" u="none" cap="none" strike="noStrike">
              <a:solidFill>
                <a:srgbClr val="25595D"/>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3"/>
          <p:cNvSpPr txBox="1"/>
          <p:nvPr>
            <p:ph type="title"/>
          </p:nvPr>
        </p:nvSpPr>
        <p:spPr>
          <a:xfrm>
            <a:off x="874201" y="268530"/>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Ressourceforbrug, cirkulær økonomi og affaldshåndtering</a:t>
            </a:r>
            <a:endParaRPr/>
          </a:p>
        </p:txBody>
      </p:sp>
      <p:graphicFrame>
        <p:nvGraphicFramePr>
          <p:cNvPr id="211" name="Google Shape;211;p13"/>
          <p:cNvGraphicFramePr/>
          <p:nvPr/>
        </p:nvGraphicFramePr>
        <p:xfrm>
          <a:off x="518600" y="1666974"/>
          <a:ext cx="3000000" cy="3000000"/>
        </p:xfrm>
        <a:graphic>
          <a:graphicData uri="http://schemas.openxmlformats.org/drawingml/2006/table">
            <a:tbl>
              <a:tblPr firstRow="1">
                <a:noFill/>
                <a:tableStyleId>{BAEAA23F-C412-4D4F-A7DF-F315DCF0D262}</a:tableStyleId>
              </a:tblPr>
              <a:tblGrid>
                <a:gridCol w="3840750"/>
                <a:gridCol w="1668875"/>
                <a:gridCol w="1834150"/>
              </a:tblGrid>
              <a:tr h="306325">
                <a:tc gridSpan="3">
                  <a:txBody>
                    <a:bodyPr/>
                    <a:lstStyle/>
                    <a:p>
                      <a:pPr indent="0" lvl="0" marL="0" marR="0" rtl="0" algn="l">
                        <a:lnSpc>
                          <a:spcPct val="100000"/>
                        </a:lnSpc>
                        <a:spcBef>
                          <a:spcPts val="0"/>
                        </a:spcBef>
                        <a:spcAft>
                          <a:spcPts val="0"/>
                        </a:spcAft>
                        <a:buClr>
                          <a:schemeClr val="dk2"/>
                        </a:buClr>
                        <a:buSzPts val="900"/>
                        <a:buFont typeface="IBM Plex Sans"/>
                        <a:buNone/>
                      </a:pPr>
                      <a:r>
                        <a:rPr b="1" lang="da-DK" sz="900">
                          <a:solidFill>
                            <a:schemeClr val="dk2"/>
                          </a:solidFill>
                        </a:rPr>
                        <a:t>Oplysning om anvendelse af principper fra cirkulær økonomi </a:t>
                      </a:r>
                      <a:r>
                        <a:rPr b="0" lang="da-DK" sz="900">
                          <a:solidFill>
                            <a:schemeClr val="dk2"/>
                          </a:solidFill>
                        </a:rPr>
                        <a:t>(pkt. 37)</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306000">
                <a:tc rowSpan="2">
                  <a:txBody>
                    <a:bodyPr/>
                    <a:lstStyle/>
                    <a:p>
                      <a:pPr indent="0" lvl="0" marL="0" marR="0" rtl="0" algn="l">
                        <a:spcBef>
                          <a:spcPts val="0"/>
                        </a:spcBef>
                        <a:spcAft>
                          <a:spcPts val="0"/>
                        </a:spcAft>
                        <a:buNone/>
                      </a:pPr>
                      <a:r>
                        <a:rPr b="0" lang="da-DK" sz="900">
                          <a:solidFill>
                            <a:schemeClr val="dk2"/>
                          </a:solidFill>
                        </a:rPr>
                        <a:t>Min virksomhed anvender principper fra cirkulær økonomi</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900">
                          <a:solidFill>
                            <a:schemeClr val="dk2"/>
                          </a:solidFill>
                        </a:rPr>
                        <a:t>Ja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900">
                          <a:solidFill>
                            <a:schemeClr val="dk2"/>
                          </a:solidFill>
                        </a:rPr>
                        <a:t>Nej</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06000">
                <a:tc vMerge="1"/>
                <a:tc>
                  <a:txBody>
                    <a:bodyPr/>
                    <a:lstStyle/>
                    <a:p>
                      <a:pPr indent="0" lvl="0" marL="0" rtl="0" algn="ctr">
                        <a:spcBef>
                          <a:spcPts val="0"/>
                        </a:spcBef>
                        <a:spcAft>
                          <a:spcPts val="0"/>
                        </a:spcAft>
                        <a:buClr>
                          <a:schemeClr val="dk1"/>
                        </a:buClr>
                        <a:buSzPts val="700"/>
                        <a:buFont typeface="Arial"/>
                        <a:buNone/>
                      </a:pPr>
                      <a:r>
                        <a:rPr lang="da-DK" sz="900">
                          <a:latin typeface="Inter"/>
                          <a:ea typeface="Inter"/>
                          <a:cs typeface="Inter"/>
                          <a:sym typeface="Inter"/>
                        </a:rPr>
                        <a:t>{{circular_economy_principles_yes?}}</a:t>
                      </a:r>
                      <a:endParaRPr sz="900">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700"/>
                        <a:buFont typeface="Arial"/>
                        <a:buNone/>
                      </a:pPr>
                      <a:r>
                        <a:rPr lang="da-DK" sz="900">
                          <a:latin typeface="Inter"/>
                          <a:ea typeface="Inter"/>
                          <a:cs typeface="Inter"/>
                          <a:sym typeface="Inter"/>
                        </a:rPr>
                        <a:t>{{circular_economy_principles_no?}}</a:t>
                      </a:r>
                      <a:endParaRPr sz="900">
                        <a:solidFill>
                          <a:schemeClr val="accent2"/>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pic>
        <p:nvPicPr>
          <p:cNvPr id="212" name="Google Shape;212;p13"/>
          <p:cNvPicPr preferRelativeResize="0"/>
          <p:nvPr/>
        </p:nvPicPr>
        <p:blipFill rotWithShape="1">
          <a:blip r:embed="rId3">
            <a:alphaModFix/>
          </a:blip>
          <a:srcRect b="0" l="0" r="0" t="0"/>
          <a:stretch/>
        </p:blipFill>
        <p:spPr>
          <a:xfrm>
            <a:off x="601801" y="3100458"/>
            <a:ext cx="207455" cy="232601"/>
          </a:xfrm>
          <a:prstGeom prst="rect">
            <a:avLst/>
          </a:prstGeom>
          <a:noFill/>
          <a:ln>
            <a:noFill/>
          </a:ln>
        </p:spPr>
      </p:pic>
      <p:sp>
        <p:nvSpPr>
          <p:cNvPr id="213" name="Google Shape;213;p13"/>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14" name="Google Shape;214;p13"/>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dk1"/>
              </a:buClr>
              <a:buSzPts val="1100"/>
              <a:buFont typeface="Arial"/>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None/>
            </a:pPr>
            <a:r>
              <a:t/>
            </a:r>
            <a:endParaRPr/>
          </a:p>
        </p:txBody>
      </p:sp>
      <p:graphicFrame>
        <p:nvGraphicFramePr>
          <p:cNvPr id="215" name="Google Shape;215;p13"/>
          <p:cNvGraphicFramePr/>
          <p:nvPr/>
        </p:nvGraphicFramePr>
        <p:xfrm>
          <a:off x="518600" y="2749354"/>
          <a:ext cx="3000000" cy="3000000"/>
        </p:xfrm>
        <a:graphic>
          <a:graphicData uri="http://schemas.openxmlformats.org/drawingml/2006/table">
            <a:tbl>
              <a:tblPr firstRow="1">
                <a:noFill/>
                <a:tableStyleId>{BAEAA23F-C412-4D4F-A7DF-F315DCF0D262}</a:tableStyleId>
              </a:tblPr>
              <a:tblGrid>
                <a:gridCol w="7343775"/>
              </a:tblGrid>
              <a:tr h="278375">
                <a:tc>
                  <a:txBody>
                    <a:bodyPr/>
                    <a:lstStyle/>
                    <a:p>
                      <a:pPr indent="0" lvl="0" marL="0" marR="0" rtl="0" algn="l">
                        <a:spcBef>
                          <a:spcPts val="0"/>
                        </a:spcBef>
                        <a:spcAft>
                          <a:spcPts val="0"/>
                        </a:spcAft>
                        <a:buNone/>
                      </a:pPr>
                      <a:r>
                        <a:rPr b="1" lang="da-DK" sz="900">
                          <a:solidFill>
                            <a:schemeClr val="dk2"/>
                          </a:solidFill>
                        </a:rPr>
                        <a:t>Beskrivelse af, hvordan virksomheden arbejder med principper fra cirkulær økonomi </a:t>
                      </a:r>
                      <a:r>
                        <a:rPr b="0" lang="da-DK" sz="900">
                          <a:solidFill>
                            <a:schemeClr val="dk2"/>
                          </a:solidFill>
                        </a:rPr>
                        <a:t>(pkt. 37)</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635700">
                <a:tc>
                  <a:txBody>
                    <a:bodyPr/>
                    <a:lstStyle/>
                    <a:p>
                      <a:pPr indent="0" lvl="0" marL="0" rtl="0" algn="l">
                        <a:spcBef>
                          <a:spcPts val="0"/>
                        </a:spcBef>
                        <a:spcAft>
                          <a:spcPts val="0"/>
                        </a:spcAft>
                        <a:buClr>
                          <a:schemeClr val="dk1"/>
                        </a:buClr>
                        <a:buSzPts val="900"/>
                        <a:buFont typeface="Arial"/>
                        <a:buNone/>
                      </a:pPr>
                      <a:r>
                        <a:rPr lang="da-DK" sz="900">
                          <a:latin typeface="Inter"/>
                          <a:ea typeface="Inter"/>
                          <a:cs typeface="Inter"/>
                          <a:sym typeface="Inter"/>
                        </a:rPr>
                        <a:t>{{description_of_circular_economies}}</a:t>
                      </a:r>
                      <a:endParaRPr sz="900">
                        <a:solidFill>
                          <a:schemeClr val="accent2"/>
                        </a:solidFill>
                        <a:latin typeface="Inter"/>
                        <a:ea typeface="Inter"/>
                        <a:cs typeface="Inter"/>
                        <a:sym typeface="Inter"/>
                      </a:endParaRPr>
                    </a:p>
                    <a:p>
                      <a:pPr indent="0" lvl="0" marL="0" marR="0" rtl="0" algn="l">
                        <a:spcBef>
                          <a:spcPts val="0"/>
                        </a:spcBef>
                        <a:spcAft>
                          <a:spcPts val="0"/>
                        </a:spcAft>
                        <a:buNone/>
                      </a:pPr>
                      <a:r>
                        <a:t/>
                      </a:r>
                      <a:endParaRPr b="0" sz="900">
                        <a:solidFill>
                          <a:schemeClr val="accent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pic>
        <p:nvPicPr>
          <p:cNvPr id="216" name="Google Shape;216;p13" title="Frame 1000002375.png"/>
          <p:cNvPicPr preferRelativeResize="0"/>
          <p:nvPr/>
        </p:nvPicPr>
        <p:blipFill rotWithShape="1">
          <a:blip r:embed="rId4">
            <a:alphaModFix/>
          </a:blip>
          <a:srcRect b="0" l="0" r="0" t="0"/>
          <a:stretch/>
        </p:blipFill>
        <p:spPr>
          <a:xfrm>
            <a:off x="512525" y="264352"/>
            <a:ext cx="335756" cy="242888"/>
          </a:xfrm>
          <a:prstGeom prst="rect">
            <a:avLst/>
          </a:prstGeom>
          <a:noFill/>
          <a:ln>
            <a:noFill/>
          </a:ln>
        </p:spPr>
      </p:pic>
      <p:sp>
        <p:nvSpPr>
          <p:cNvPr id="217" name="Google Shape;217;p13"/>
          <p:cNvSpPr txBox="1"/>
          <p:nvPr/>
        </p:nvSpPr>
        <p:spPr>
          <a:xfrm>
            <a:off x="436322" y="691352"/>
            <a:ext cx="6770914" cy="627854"/>
          </a:xfrm>
          <a:prstGeom prst="rect">
            <a:avLst/>
          </a:prstGeom>
          <a:noFill/>
          <a:ln>
            <a:noFill/>
          </a:ln>
        </p:spPr>
        <p:txBody>
          <a:bodyPr anchorCtr="0" anchor="t" bIns="68575" lIns="68575" spcFirstLastPara="1" rIns="68575" wrap="square" tIns="68575">
            <a:spAutoFit/>
          </a:bodyPr>
          <a:lstStyle/>
          <a:p>
            <a:pPr indent="0" lvl="0" marL="0" marR="0" rtl="0" algn="l">
              <a:lnSpc>
                <a:spcPct val="106000"/>
              </a:lnSpc>
              <a:spcBef>
                <a:spcPts val="0"/>
              </a:spcBef>
              <a:spcAft>
                <a:spcPts val="0"/>
              </a:spcAft>
              <a:buNone/>
            </a:pPr>
            <a:r>
              <a:rPr b="0" i="0" lang="da-DK" sz="1000" u="none" cap="none" strike="noStrike">
                <a:solidFill>
                  <a:srgbClr val="25595D"/>
                </a:solidFill>
                <a:latin typeface="Inter"/>
                <a:ea typeface="Inter"/>
                <a:cs typeface="Inter"/>
                <a:sym typeface="Inter"/>
              </a:rPr>
              <a:t>Dette informationskrav angiver information om produkter, materialeforbrug og affaldshåndtering. Virksomheden har inkluderet information relateret til cirkulær økonomi. Virksomheden har beskrevet, hvordan den styrer ressourceforbrug og affaldshåndtering, og om den anvender principperne for cirkulær økonomi, hvis virksomheden arbejder med dette.</a:t>
            </a:r>
            <a:endParaRPr b="0" i="0" sz="1000" u="none" cap="none" strike="noStrike">
              <a:solidFill>
                <a:srgbClr val="25595D"/>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4"/>
          <p:cNvSpPr txBox="1"/>
          <p:nvPr>
            <p:ph type="title"/>
          </p:nvPr>
        </p:nvSpPr>
        <p:spPr>
          <a:xfrm>
            <a:off x="874198" y="269614"/>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Ressourceforbrug, cirkulær økonomi og affaldshåndtering – fortsat</a:t>
            </a:r>
            <a:endParaRPr/>
          </a:p>
        </p:txBody>
      </p:sp>
      <p:graphicFrame>
        <p:nvGraphicFramePr>
          <p:cNvPr id="224" name="Google Shape;224;p14"/>
          <p:cNvGraphicFramePr/>
          <p:nvPr/>
        </p:nvGraphicFramePr>
        <p:xfrm>
          <a:off x="436322" y="1403140"/>
          <a:ext cx="3000000" cy="3000000"/>
        </p:xfrm>
        <a:graphic>
          <a:graphicData uri="http://schemas.openxmlformats.org/drawingml/2006/table">
            <a:tbl>
              <a:tblPr firstRow="1">
                <a:noFill/>
                <a:tableStyleId>{BAEAA23F-C412-4D4F-A7DF-F315DCF0D262}</a:tableStyleId>
              </a:tblPr>
              <a:tblGrid>
                <a:gridCol w="2745075"/>
                <a:gridCol w="3067375"/>
                <a:gridCol w="3044850"/>
              </a:tblGrid>
              <a:tr h="366775">
                <a:tc gridSpan="3">
                  <a:txBody>
                    <a:bodyPr/>
                    <a:lstStyle/>
                    <a:p>
                      <a:pPr indent="0" lvl="0" marL="0" marR="0" rtl="0" algn="ctr">
                        <a:spcBef>
                          <a:spcPts val="0"/>
                        </a:spcBef>
                        <a:spcAft>
                          <a:spcPts val="0"/>
                        </a:spcAft>
                        <a:buNone/>
                      </a:pPr>
                      <a:r>
                        <a:rPr b="1" lang="da-DK" sz="900">
                          <a:solidFill>
                            <a:schemeClr val="dk2"/>
                          </a:solidFill>
                        </a:rPr>
                        <a:t>Samlet mængde affald årligt</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383550">
                <a:tc>
                  <a:txBody>
                    <a:bodyPr/>
                    <a:lstStyle/>
                    <a:p>
                      <a:pPr indent="0" lvl="0" marL="0" marR="0" rtl="0" algn="l">
                        <a:spcBef>
                          <a:spcPts val="0"/>
                        </a:spcBef>
                        <a:spcAft>
                          <a:spcPts val="0"/>
                        </a:spcAft>
                        <a:buNone/>
                      </a:pPr>
                      <a:r>
                        <a:t/>
                      </a:r>
                      <a:endParaRPr b="1"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00">
                          <a:solidFill>
                            <a:schemeClr val="dk2"/>
                          </a:solidFill>
                        </a:rPr>
                        <a:t>Samlet mængde affald </a:t>
                      </a:r>
                      <a:r>
                        <a:rPr b="0" lang="da-DK" sz="900">
                          <a:solidFill>
                            <a:schemeClr val="dk2"/>
                          </a:solidFill>
                        </a:rPr>
                        <a:t>(pkt. 38a)</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00">
                          <a:solidFill>
                            <a:schemeClr val="dk2"/>
                          </a:solidFill>
                        </a:rPr>
                        <a:t>Affald der omdirigeres til genanvendelse eller forberedelse mhp. genbrug </a:t>
                      </a:r>
                      <a:r>
                        <a:rPr b="0" lang="da-DK" sz="900">
                          <a:solidFill>
                            <a:schemeClr val="dk2"/>
                          </a:solidFill>
                        </a:rPr>
                        <a:t>(pkt. 38b)</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12075">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a:solidFill>
                            <a:schemeClr val="dk2"/>
                          </a:solidFill>
                        </a:rPr>
                        <a:t>Ikke-farligt affald </a:t>
                      </a:r>
                      <a:endParaRPr/>
                    </a:p>
                    <a:p>
                      <a:pPr indent="0" lvl="0" marL="0" marR="0" rtl="0" algn="l">
                        <a:lnSpc>
                          <a:spcPct val="100000"/>
                        </a:lnSpc>
                        <a:spcBef>
                          <a:spcPts val="0"/>
                        </a:spcBef>
                        <a:spcAft>
                          <a:spcPts val="0"/>
                        </a:spcAft>
                        <a:buClr>
                          <a:schemeClr val="dk2"/>
                        </a:buClr>
                        <a:buSzPts val="900"/>
                        <a:buFont typeface="IBM Plex Sans"/>
                        <a:buNone/>
                      </a:pPr>
                      <a:r>
                        <a:rPr b="0" i="1" lang="da-DK" sz="900">
                          <a:solidFill>
                            <a:schemeClr val="dk2"/>
                          </a:solidFill>
                        </a:rPr>
                        <a:t>(angives med EAK-koder)</a:t>
                      </a:r>
                      <a:endParaRPr/>
                    </a:p>
                    <a:p>
                      <a:pPr indent="0" lvl="0" marL="0" marR="0" rtl="0" algn="l">
                        <a:spcBef>
                          <a:spcPts val="0"/>
                        </a:spcBef>
                        <a:spcAft>
                          <a:spcPts val="0"/>
                        </a:spcAft>
                        <a:buNone/>
                      </a:pPr>
                      <a:r>
                        <a:t/>
                      </a:r>
                      <a:endParaRPr b="1"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60800">
                <a:tc>
                  <a:txBody>
                    <a:bodyPr/>
                    <a:lstStyle/>
                    <a:p>
                      <a:pPr indent="0" lvl="0" marL="0" marR="0" rtl="0" algn="l">
                        <a:lnSpc>
                          <a:spcPct val="100000"/>
                        </a:lnSpc>
                        <a:spcBef>
                          <a:spcPts val="0"/>
                        </a:spcBef>
                        <a:spcAft>
                          <a:spcPts val="0"/>
                        </a:spcAft>
                        <a:buClr>
                          <a:srgbClr val="000000"/>
                        </a:buClr>
                        <a:buSzPts val="700"/>
                        <a:buFont typeface="Arial"/>
                        <a:buNone/>
                      </a:pPr>
                      <a:r>
                        <a:rPr lang="da-DK" sz="900" u="none" cap="none" strike="noStrike">
                          <a:latin typeface="Inter"/>
                          <a:ea typeface="Inter"/>
                          <a:cs typeface="Inter"/>
                          <a:sym typeface="Inter"/>
                        </a:rPr>
                        <a:t>{{</a:t>
                      </a:r>
                      <a:r>
                        <a:rPr lang="da-DK" sz="900">
                          <a:latin typeface="Inter"/>
                          <a:ea typeface="Inter"/>
                          <a:cs typeface="Inter"/>
                          <a:sym typeface="Inter"/>
                        </a:rPr>
                        <a:t>Type_af_affald</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Clr>
                          <a:schemeClr val="dk1"/>
                        </a:buClr>
                        <a:buSzPts val="700"/>
                        <a:buFont typeface="Arial"/>
                        <a:buNone/>
                      </a:pPr>
                      <a:r>
                        <a:rPr lang="da-DK" sz="900">
                          <a:latin typeface="Inter"/>
                          <a:ea typeface="Inter"/>
                          <a:cs typeface="Inter"/>
                          <a:sym typeface="Inter"/>
                        </a:rPr>
                        <a:t>{{kg_tons_total}} T</a:t>
                      </a:r>
                      <a:endParaRPr sz="900">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da-DK" sz="900" u="none" cap="none" strike="noStrike">
                          <a:latin typeface="Inter"/>
                          <a:ea typeface="Inter"/>
                          <a:cs typeface="Inter"/>
                          <a:sym typeface="Inter"/>
                        </a:rPr>
                        <a:t>{{</a:t>
                      </a:r>
                      <a:r>
                        <a:rPr lang="da-DK" sz="900">
                          <a:latin typeface="Inter"/>
                          <a:ea typeface="Inter"/>
                          <a:cs typeface="Inter"/>
                          <a:sym typeface="Inter"/>
                        </a:rPr>
                        <a:t>genbrug_kg_tons</a:t>
                      </a:r>
                      <a:r>
                        <a:rPr lang="da-DK" sz="900" u="none" cap="none" strike="noStrike">
                          <a:latin typeface="Inter"/>
                          <a:ea typeface="Inter"/>
                          <a:cs typeface="Inter"/>
                          <a:sym typeface="Inter"/>
                        </a:rPr>
                        <a:t>}} </a:t>
                      </a:r>
                      <a:r>
                        <a:rPr lang="da-DK" sz="900">
                          <a:latin typeface="Inter"/>
                          <a:ea typeface="Inter"/>
                          <a:cs typeface="Inter"/>
                          <a:sym typeface="Inter"/>
                        </a:rPr>
                        <a:t>T</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0800">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solidFill>
                          <a:srgbClr val="1B4528"/>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0800">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solidFill>
                          <a:srgbClr val="1B4528"/>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83550">
                <a:tc>
                  <a:txBody>
                    <a:bodyPr/>
                    <a:lstStyle/>
                    <a:p>
                      <a:pPr indent="0" lvl="0" marL="0" marR="0" rtl="0" algn="l">
                        <a:spcBef>
                          <a:spcPts val="0"/>
                        </a:spcBef>
                        <a:spcAft>
                          <a:spcPts val="0"/>
                        </a:spcAft>
                        <a:buNone/>
                      </a:pPr>
                      <a:r>
                        <a:rPr b="1" lang="da-DK" sz="900">
                          <a:solidFill>
                            <a:schemeClr val="dk2"/>
                          </a:solidFill>
                        </a:rPr>
                        <a:t>Farligt affald</a:t>
                      </a:r>
                      <a:endParaRPr/>
                    </a:p>
                    <a:p>
                      <a:pPr indent="0" lvl="0" marL="0" marR="0" rtl="0" algn="l">
                        <a:spcBef>
                          <a:spcPts val="0"/>
                        </a:spcBef>
                        <a:spcAft>
                          <a:spcPts val="0"/>
                        </a:spcAft>
                        <a:buNone/>
                      </a:pPr>
                      <a:r>
                        <a:rPr b="0" i="1" lang="da-DK" sz="900">
                          <a:solidFill>
                            <a:schemeClr val="dk2"/>
                          </a:solidFill>
                        </a:rPr>
                        <a:t>(angives med EAK-koder)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60800">
                <a:tc>
                  <a:txBody>
                    <a:bodyPr/>
                    <a:lstStyle/>
                    <a:p>
                      <a:pPr indent="0" lvl="0" marL="0" marR="0" rtl="0" algn="l">
                        <a:lnSpc>
                          <a:spcPct val="100000"/>
                        </a:lnSpc>
                        <a:spcBef>
                          <a:spcPts val="0"/>
                        </a:spcBef>
                        <a:spcAft>
                          <a:spcPts val="0"/>
                        </a:spcAft>
                        <a:buClr>
                          <a:srgbClr val="000000"/>
                        </a:buClr>
                        <a:buSzPts val="700"/>
                        <a:buFont typeface="Arial"/>
                        <a:buNone/>
                      </a:pPr>
                      <a:r>
                        <a:rPr lang="da-DK" sz="900" u="none" cap="none" strike="noStrike">
                          <a:latin typeface="Inter"/>
                          <a:ea typeface="Inter"/>
                          <a:cs typeface="Inter"/>
                          <a:sym typeface="Inter"/>
                        </a:rPr>
                        <a:t>{{</a:t>
                      </a:r>
                      <a:r>
                        <a:rPr lang="da-DK" sz="900">
                          <a:latin typeface="Inter"/>
                          <a:ea typeface="Inter"/>
                          <a:cs typeface="Inter"/>
                          <a:sym typeface="Inter"/>
                        </a:rPr>
                        <a:t>Type_af_affald_farlig</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Clr>
                          <a:schemeClr val="dk1"/>
                        </a:buClr>
                        <a:buSzPts val="700"/>
                        <a:buFont typeface="Arial"/>
                        <a:buNone/>
                      </a:pPr>
                      <a:r>
                        <a:rPr lang="da-DK" sz="900">
                          <a:latin typeface="Inter"/>
                          <a:ea typeface="Inter"/>
                          <a:cs typeface="Inter"/>
                          <a:sym typeface="Inter"/>
                        </a:rPr>
                        <a:t>{{farlig_kg_tons}} T</a:t>
                      </a:r>
                      <a:endParaRPr sz="900">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da-DK" sz="900" u="none" cap="none" strike="noStrike">
                          <a:latin typeface="Inter"/>
                          <a:ea typeface="Inter"/>
                          <a:cs typeface="Inter"/>
                          <a:sym typeface="Inter"/>
                        </a:rPr>
                        <a:t>{{</a:t>
                      </a:r>
                      <a:r>
                        <a:rPr lang="da-DK" sz="900">
                          <a:latin typeface="Inter"/>
                          <a:ea typeface="Inter"/>
                          <a:cs typeface="Inter"/>
                          <a:sym typeface="Inter"/>
                        </a:rPr>
                        <a:t>farlig_genbrug_kg_tons</a:t>
                      </a:r>
                      <a:r>
                        <a:rPr lang="da-DK" sz="900" u="none" cap="none" strike="noStrike">
                          <a:latin typeface="Inter"/>
                          <a:ea typeface="Inter"/>
                          <a:cs typeface="Inter"/>
                          <a:sym typeface="Inter"/>
                        </a:rPr>
                        <a:t>}</a:t>
                      </a:r>
                      <a:r>
                        <a:rPr lang="da-DK" sz="900">
                          <a:latin typeface="Inter"/>
                          <a:ea typeface="Inter"/>
                          <a:cs typeface="Inter"/>
                          <a:sym typeface="Inter"/>
                        </a:rPr>
                        <a:t>} T</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0800">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solidFill>
                          <a:srgbClr val="1B4528"/>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0800">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solidFill>
                          <a:srgbClr val="1B4528"/>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Clr>
                          <a:schemeClr val="dk1"/>
                        </a:buClr>
                        <a:buSzPts val="700"/>
                        <a:buFont typeface="Arial"/>
                        <a:buNone/>
                      </a:pPr>
                      <a:r>
                        <a:t/>
                      </a:r>
                      <a:endParaRPr sz="900">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9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5" name="Google Shape;225;p14"/>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26" name="Google Shape;226;p14"/>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dk1"/>
              </a:buClr>
              <a:buSzPts val="1100"/>
              <a:buFont typeface="Arial"/>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None/>
            </a:pPr>
            <a:r>
              <a:t/>
            </a:r>
            <a:endParaRPr/>
          </a:p>
        </p:txBody>
      </p:sp>
      <p:pic>
        <p:nvPicPr>
          <p:cNvPr id="227" name="Google Shape;227;p14" title="Frame 1000002375.png"/>
          <p:cNvPicPr preferRelativeResize="0"/>
          <p:nvPr/>
        </p:nvPicPr>
        <p:blipFill rotWithShape="1">
          <a:blip r:embed="rId3">
            <a:alphaModFix/>
          </a:blip>
          <a:srcRect b="0" l="0" r="0" t="0"/>
          <a:stretch/>
        </p:blipFill>
        <p:spPr>
          <a:xfrm>
            <a:off x="512524" y="272820"/>
            <a:ext cx="335756" cy="242888"/>
          </a:xfrm>
          <a:prstGeom prst="rect">
            <a:avLst/>
          </a:prstGeom>
          <a:noFill/>
          <a:ln>
            <a:noFill/>
          </a:ln>
        </p:spPr>
      </p:pic>
      <p:graphicFrame>
        <p:nvGraphicFramePr>
          <p:cNvPr id="228" name="Google Shape;228;p14"/>
          <p:cNvGraphicFramePr/>
          <p:nvPr/>
        </p:nvGraphicFramePr>
        <p:xfrm>
          <a:off x="433155" y="5479829"/>
          <a:ext cx="3000000" cy="3000000"/>
        </p:xfrm>
        <a:graphic>
          <a:graphicData uri="http://schemas.openxmlformats.org/drawingml/2006/table">
            <a:tbl>
              <a:tblPr firstRow="1">
                <a:noFill/>
                <a:tableStyleId>{BAEAA23F-C412-4D4F-A7DF-F315DCF0D262}</a:tableStyleId>
              </a:tblPr>
              <a:tblGrid>
                <a:gridCol w="6389150"/>
                <a:gridCol w="2468150"/>
              </a:tblGrid>
              <a:tr h="260800">
                <a:tc>
                  <a:txBody>
                    <a:bodyPr/>
                    <a:lstStyle/>
                    <a:p>
                      <a:pPr indent="0" lvl="0" marL="0" marR="0" rtl="0" algn="l">
                        <a:spcBef>
                          <a:spcPts val="0"/>
                        </a:spcBef>
                        <a:spcAft>
                          <a:spcPts val="0"/>
                        </a:spcAft>
                        <a:buNone/>
                      </a:pPr>
                      <a:r>
                        <a:rPr b="1" lang="da-DK" sz="900">
                          <a:solidFill>
                            <a:schemeClr val="dk2"/>
                          </a:solidFill>
                        </a:rPr>
                        <a:t>Væsentlige materialer i </a:t>
                      </a:r>
                      <a:r>
                        <a:rPr lang="da-DK" sz="800">
                          <a:solidFill>
                            <a:schemeClr val="accent4"/>
                          </a:solidFill>
                          <a:latin typeface="Inter"/>
                          <a:ea typeface="Inter"/>
                          <a:cs typeface="Inter"/>
                          <a:sym typeface="Inter"/>
                        </a:rPr>
                        <a:t>{{COMPANY NAME}}</a:t>
                      </a:r>
                      <a:r>
                        <a:rPr b="1" lang="da-DK" sz="900">
                          <a:solidFill>
                            <a:schemeClr val="dk2"/>
                          </a:solidFill>
                        </a:rPr>
                        <a:t> </a:t>
                      </a:r>
                      <a:r>
                        <a:rPr b="0" lang="da-DK" sz="900">
                          <a:solidFill>
                            <a:schemeClr val="dk2"/>
                          </a:solidFill>
                        </a:rPr>
                        <a:t>(pkt. 38c)</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00">
                          <a:solidFill>
                            <a:schemeClr val="dk2"/>
                          </a:solidFill>
                        </a:rPr>
                        <a:t>Årligt masse-flow </a:t>
                      </a:r>
                      <a:r>
                        <a:rPr lang="da-DK" sz="900">
                          <a:solidFill>
                            <a:schemeClr val="dk1"/>
                          </a:solidFill>
                          <a:latin typeface="Inter"/>
                          <a:ea typeface="Inter"/>
                          <a:cs typeface="Inter"/>
                          <a:sym typeface="Inter"/>
                        </a:rPr>
                        <a:t>{{insert_year}}</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60800">
                <a:tc>
                  <a:txBody>
                    <a:bodyPr/>
                    <a:lstStyle/>
                    <a:p>
                      <a:pPr indent="0" lvl="0" marL="0" rtl="0" algn="l">
                        <a:spcBef>
                          <a:spcPts val="0"/>
                        </a:spcBef>
                        <a:spcAft>
                          <a:spcPts val="0"/>
                        </a:spcAft>
                        <a:buNone/>
                      </a:pPr>
                      <a:r>
                        <a:rPr lang="da-DK" sz="900">
                          <a:latin typeface="Calibri"/>
                          <a:ea typeface="Calibri"/>
                          <a:cs typeface="Calibri"/>
                          <a:sym typeface="Calibri"/>
                        </a:rPr>
                        <a:t>{{</a:t>
                      </a:r>
                      <a:r>
                        <a:rPr lang="da-DK" sz="900"/>
                        <a:t>Mass_Flow_Materials</a:t>
                      </a:r>
                      <a:r>
                        <a:rPr lang="da-DK" sz="900">
                          <a:latin typeface="Calibri"/>
                          <a:ea typeface="Calibri"/>
                          <a:cs typeface="Calibri"/>
                          <a:sym typeface="Calibri"/>
                        </a:rPr>
                        <a:t>}}</a:t>
                      </a:r>
                      <a:endParaRPr sz="900">
                        <a:solidFill>
                          <a:schemeClr val="accent2"/>
                        </a:solidFill>
                        <a:latin typeface="Calibri"/>
                        <a:ea typeface="Calibri"/>
                        <a:cs typeface="Calibri"/>
                        <a:sym typeface="Calibri"/>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da-DK" sz="900"/>
                        <a:t>{{Annual_Mass_Flow_Total}}</a:t>
                      </a:r>
                      <a:endParaRPr sz="9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0800">
                <a:tc>
                  <a:txBody>
                    <a:bodyPr/>
                    <a:lstStyle/>
                    <a:p>
                      <a:pPr indent="0" lvl="0" marL="0" marR="0" rtl="0" algn="l">
                        <a:lnSpc>
                          <a:spcPct val="100000"/>
                        </a:lnSpc>
                        <a:spcBef>
                          <a:spcPts val="0"/>
                        </a:spcBef>
                        <a:spcAft>
                          <a:spcPts val="0"/>
                        </a:spcAft>
                        <a:buClr>
                          <a:schemeClr val="accent2"/>
                        </a:buClr>
                        <a:buSzPts val="900"/>
                        <a:buFont typeface="Calibri"/>
                        <a:buNone/>
                      </a:pPr>
                      <a:r>
                        <a:t/>
                      </a:r>
                      <a:endParaRPr b="0" sz="9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0800">
                <a:tc>
                  <a:txBody>
                    <a:bodyPr/>
                    <a:lstStyle/>
                    <a:p>
                      <a:pPr indent="0" lvl="0" marL="0" marR="0" rtl="0" algn="l">
                        <a:lnSpc>
                          <a:spcPct val="100000"/>
                        </a:lnSpc>
                        <a:spcBef>
                          <a:spcPts val="0"/>
                        </a:spcBef>
                        <a:spcAft>
                          <a:spcPts val="0"/>
                        </a:spcAft>
                        <a:buClr>
                          <a:schemeClr val="accent2"/>
                        </a:buClr>
                        <a:buSzPts val="900"/>
                        <a:buFont typeface="Calibri"/>
                        <a:buNone/>
                      </a:pPr>
                      <a:r>
                        <a:t/>
                      </a:r>
                      <a:endParaRPr b="0" sz="9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9" name="Google Shape;229;p14"/>
          <p:cNvSpPr txBox="1"/>
          <p:nvPr/>
        </p:nvSpPr>
        <p:spPr>
          <a:xfrm>
            <a:off x="380999" y="689810"/>
            <a:ext cx="9048751" cy="464733"/>
          </a:xfrm>
          <a:prstGeom prst="rect">
            <a:avLst/>
          </a:prstGeom>
          <a:noFill/>
          <a:ln>
            <a:noFill/>
          </a:ln>
        </p:spPr>
        <p:txBody>
          <a:bodyPr anchorCtr="0" anchor="t" bIns="68575" lIns="68575" spcFirstLastPara="1" rIns="68575" wrap="square" tIns="68575">
            <a:spAutoFit/>
          </a:bodyPr>
          <a:lstStyle/>
          <a:p>
            <a:pPr indent="0" lvl="0" marL="0" marR="0" rtl="0" algn="l">
              <a:lnSpc>
                <a:spcPct val="106000"/>
              </a:lnSpc>
              <a:spcBef>
                <a:spcPts val="0"/>
              </a:spcBef>
              <a:spcAft>
                <a:spcPts val="0"/>
              </a:spcAft>
              <a:buNone/>
            </a:pPr>
            <a:r>
              <a:rPr b="0" i="0" lang="da-DK" sz="1000" u="none" cap="none" strike="noStrike">
                <a:solidFill>
                  <a:srgbClr val="25595D"/>
                </a:solidFill>
                <a:latin typeface="Inter"/>
                <a:ea typeface="Inter"/>
                <a:cs typeface="Inter"/>
                <a:sym typeface="Inter"/>
              </a:rPr>
              <a:t>Følgende oplysninger angives oplysninger om produkter, materialeforbrug og affaldshåndtering. Oplysningerne er relateret til cirkulær økonomi, og oplysningerne angiver virksomhedens samlede årlige affaldsproduktion (farligt/ikke-farligt).</a:t>
            </a:r>
            <a:endParaRPr b="0" i="0" sz="1000" u="none" cap="none" strike="noStrike">
              <a:solidFill>
                <a:srgbClr val="25595D"/>
              </a:solidFill>
              <a:latin typeface="Inter"/>
              <a:ea typeface="Inter"/>
              <a:cs typeface="Inter"/>
              <a:sym typeface="Inter"/>
            </a:endParaRPr>
          </a:p>
        </p:txBody>
      </p:sp>
      <p:sp>
        <p:nvSpPr>
          <p:cNvPr id="230" name="Google Shape;230;p14"/>
          <p:cNvSpPr txBox="1"/>
          <p:nvPr/>
        </p:nvSpPr>
        <p:spPr>
          <a:xfrm>
            <a:off x="380999" y="4868239"/>
            <a:ext cx="6146801" cy="427938"/>
          </a:xfrm>
          <a:prstGeom prst="rect">
            <a:avLst/>
          </a:prstGeom>
          <a:noFill/>
          <a:ln>
            <a:noFill/>
          </a:ln>
        </p:spPr>
        <p:txBody>
          <a:bodyPr anchorCtr="0" anchor="t" bIns="45700" lIns="91425" spcFirstLastPara="1" rIns="91425" wrap="square" tIns="45700">
            <a:spAutoFit/>
          </a:bodyPr>
          <a:lstStyle/>
          <a:p>
            <a:pPr indent="0" lvl="0" marL="0" marR="0" rtl="0" algn="l">
              <a:lnSpc>
                <a:spcPct val="106000"/>
              </a:lnSpc>
              <a:spcBef>
                <a:spcPts val="0"/>
              </a:spcBef>
              <a:spcAft>
                <a:spcPts val="0"/>
              </a:spcAft>
              <a:buNone/>
            </a:pPr>
            <a:r>
              <a:rPr b="1" i="0" lang="da-DK" sz="1100" u="none" cap="none" strike="noStrike">
                <a:solidFill>
                  <a:srgbClr val="25595D"/>
                </a:solidFill>
                <a:latin typeface="Inter"/>
                <a:ea typeface="Inter"/>
                <a:cs typeface="Inter"/>
                <a:sym typeface="Inter"/>
              </a:rPr>
              <a:t>Masseflow (materialeflow)</a:t>
            </a:r>
            <a:br>
              <a:rPr b="1" i="0" lang="da-DK" sz="1000" u="none" cap="none" strike="noStrike">
                <a:solidFill>
                  <a:srgbClr val="25595D"/>
                </a:solidFill>
                <a:latin typeface="Inter"/>
                <a:ea typeface="Inter"/>
                <a:cs typeface="Inter"/>
                <a:sym typeface="Inter"/>
              </a:rPr>
            </a:br>
            <a:r>
              <a:rPr b="0" i="0" lang="da-DK" sz="1000" u="none" cap="none" strike="noStrike">
                <a:solidFill>
                  <a:srgbClr val="25595D"/>
                </a:solidFill>
                <a:latin typeface="Inter"/>
                <a:ea typeface="Inter"/>
                <a:cs typeface="Inter"/>
                <a:sym typeface="Inter"/>
              </a:rPr>
              <a:t>Den årlige massestrøm illustrerer en virksomheds afhængighed af specifikke materialer er angivet nedenfor. </a:t>
            </a:r>
            <a:endParaRPr b="0" i="0" sz="1000" u="none" cap="none" strike="noStrike">
              <a:solidFill>
                <a:srgbClr val="25595D"/>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4" name="Shape 234"/>
        <p:cNvGrpSpPr/>
        <p:nvPr/>
      </p:nvGrpSpPr>
      <p:grpSpPr>
        <a:xfrm>
          <a:off x="0" y="0"/>
          <a:ext cx="0" cy="0"/>
          <a:chOff x="0" y="0"/>
          <a:chExt cx="0" cy="0"/>
        </a:xfrm>
      </p:grpSpPr>
      <p:sp>
        <p:nvSpPr>
          <p:cNvPr id="235" name="Google Shape;235;p15"/>
          <p:cNvSpPr txBox="1"/>
          <p:nvPr>
            <p:ph type="title"/>
          </p:nvPr>
        </p:nvSpPr>
        <p:spPr>
          <a:xfrm>
            <a:off x="891134" y="247421"/>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Egen arbejdsstyrke: Generelle karakteristika</a:t>
            </a:r>
            <a:endParaRPr/>
          </a:p>
        </p:txBody>
      </p:sp>
      <p:graphicFrame>
        <p:nvGraphicFramePr>
          <p:cNvPr id="236" name="Google Shape;236;p15"/>
          <p:cNvGraphicFramePr/>
          <p:nvPr/>
        </p:nvGraphicFramePr>
        <p:xfrm>
          <a:off x="507995" y="1608785"/>
          <a:ext cx="3000000" cy="3000000"/>
        </p:xfrm>
        <a:graphic>
          <a:graphicData uri="http://schemas.openxmlformats.org/drawingml/2006/table">
            <a:tbl>
              <a:tblPr firstRow="1">
                <a:noFill/>
                <a:tableStyleId>{BAEAA23F-C412-4D4F-A7DF-F315DCF0D262}</a:tableStyleId>
              </a:tblPr>
              <a:tblGrid>
                <a:gridCol w="3173425"/>
                <a:gridCol w="3173425"/>
              </a:tblGrid>
              <a:tr h="414200">
                <a:tc>
                  <a:txBody>
                    <a:bodyPr/>
                    <a:lstStyle/>
                    <a:p>
                      <a:pPr indent="0" lvl="0" marL="0" marR="0" rtl="0" algn="l">
                        <a:spcBef>
                          <a:spcPts val="0"/>
                        </a:spcBef>
                        <a:spcAft>
                          <a:spcPts val="0"/>
                        </a:spcAft>
                        <a:buNone/>
                      </a:pPr>
                      <a:r>
                        <a:rPr b="1" lang="da-DK" sz="900">
                          <a:solidFill>
                            <a:schemeClr val="dk2"/>
                          </a:solidFill>
                        </a:rPr>
                        <a:t>Kontrakttype </a:t>
                      </a:r>
                      <a:r>
                        <a:rPr b="0" lang="da-DK" sz="900">
                          <a:solidFill>
                            <a:schemeClr val="dk2"/>
                          </a:solidFill>
                        </a:rPr>
                        <a:t>(pkt. 39a)</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00">
                          <a:solidFill>
                            <a:schemeClr val="dk2"/>
                          </a:solidFill>
                        </a:rPr>
                        <a:t>Antal ansatte (antal personer eller fuldtidsækvivalenter)</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14200">
                <a:tc>
                  <a:txBody>
                    <a:bodyPr/>
                    <a:lstStyle/>
                    <a:p>
                      <a:pPr indent="0" lvl="0" marL="0" marR="0" rtl="0" algn="l">
                        <a:spcBef>
                          <a:spcPts val="0"/>
                        </a:spcBef>
                        <a:spcAft>
                          <a:spcPts val="0"/>
                        </a:spcAft>
                        <a:buNone/>
                      </a:pPr>
                      <a:r>
                        <a:rPr b="0" lang="da-DK" sz="900">
                          <a:solidFill>
                            <a:schemeClr val="dk2"/>
                          </a:solidFill>
                        </a:rPr>
                        <a:t>Midlertidig ansættelse</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900"/>
                        <a:buFont typeface="Arial"/>
                        <a:buNone/>
                      </a:pPr>
                      <a:r>
                        <a:rPr lang="da-DK" sz="900" u="none" cap="none" strike="noStrike">
                          <a:latin typeface="Inter"/>
                          <a:ea typeface="Inter"/>
                          <a:cs typeface="Inter"/>
                          <a:sym typeface="Inter"/>
                        </a:rPr>
                        <a:t>{{temporary}}</a:t>
                      </a:r>
                      <a:endParaRPr sz="900" u="none" cap="none" strike="noStrike">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14200">
                <a:tc>
                  <a:txBody>
                    <a:bodyPr/>
                    <a:lstStyle/>
                    <a:p>
                      <a:pPr indent="0" lvl="0" marL="0" marR="0" rtl="0" algn="l">
                        <a:spcBef>
                          <a:spcPts val="0"/>
                        </a:spcBef>
                        <a:spcAft>
                          <a:spcPts val="0"/>
                        </a:spcAft>
                        <a:buNone/>
                      </a:pPr>
                      <a:r>
                        <a:rPr b="0" lang="da-DK" sz="900">
                          <a:solidFill>
                            <a:schemeClr val="dk2"/>
                          </a:solidFill>
                        </a:rPr>
                        <a:t>Fastansættelse</a:t>
                      </a:r>
                      <a:endParaRPr b="0" sz="900">
                        <a:solidFill>
                          <a:schemeClr val="dk2"/>
                        </a:solidFill>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900"/>
                        <a:buFont typeface="Arial"/>
                        <a:buNone/>
                      </a:pPr>
                      <a:r>
                        <a:rPr lang="da-DK" sz="900" u="none" cap="none" strike="noStrike">
                          <a:latin typeface="Inter"/>
                          <a:ea typeface="Inter"/>
                          <a:cs typeface="Inter"/>
                          <a:sym typeface="Inter"/>
                        </a:rPr>
                        <a:t>{{fulltime}}</a:t>
                      </a:r>
                      <a:endParaRPr sz="900" u="none" cap="none" strike="noStrike">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14200">
                <a:tc>
                  <a:txBody>
                    <a:bodyPr/>
                    <a:lstStyle/>
                    <a:p>
                      <a:pPr indent="0" lvl="0" marL="0" marR="0" rtl="0" algn="l">
                        <a:spcBef>
                          <a:spcPts val="0"/>
                        </a:spcBef>
                        <a:spcAft>
                          <a:spcPts val="0"/>
                        </a:spcAft>
                        <a:buNone/>
                      </a:pPr>
                      <a:r>
                        <a:rPr b="0" lang="da-DK" sz="900">
                          <a:solidFill>
                            <a:schemeClr val="dk2"/>
                          </a:solidFill>
                        </a:rPr>
                        <a:t>Totalt antal ansatte</a:t>
                      </a:r>
                      <a:endParaRPr b="0" sz="900">
                        <a:solidFill>
                          <a:schemeClr val="dk2"/>
                        </a:solidFill>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900"/>
                        <a:buFont typeface="Arial"/>
                        <a:buNone/>
                      </a:pPr>
                      <a:r>
                        <a:rPr lang="da-DK" sz="900" u="none" cap="none" strike="noStrike">
                          <a:latin typeface="Inter"/>
                          <a:ea typeface="Inter"/>
                          <a:cs typeface="Inter"/>
                          <a:sym typeface="Inter"/>
                        </a:rPr>
                        <a:t>{{total_employees}}</a:t>
                      </a:r>
                      <a:endParaRPr sz="900" u="none" cap="none" strike="noStrike">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37" name="Google Shape;237;p15"/>
          <p:cNvGraphicFramePr/>
          <p:nvPr/>
        </p:nvGraphicFramePr>
        <p:xfrm>
          <a:off x="507995" y="3772229"/>
          <a:ext cx="3000000" cy="3000000"/>
        </p:xfrm>
        <a:graphic>
          <a:graphicData uri="http://schemas.openxmlformats.org/drawingml/2006/table">
            <a:tbl>
              <a:tblPr firstRow="1">
                <a:noFill/>
                <a:tableStyleId>{BAEAA23F-C412-4D4F-A7DF-F315DCF0D262}</a:tableStyleId>
              </a:tblPr>
              <a:tblGrid>
                <a:gridCol w="3173425"/>
                <a:gridCol w="3173425"/>
              </a:tblGrid>
              <a:tr h="357100">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Køn</a:t>
                      </a:r>
                      <a:r>
                        <a:rPr b="0" lang="da-DK" sz="900">
                          <a:solidFill>
                            <a:schemeClr val="dk2"/>
                          </a:solidFill>
                          <a:latin typeface="IBM Plex Sans"/>
                          <a:ea typeface="IBM Plex Sans"/>
                          <a:cs typeface="IBM Plex Sans"/>
                          <a:sym typeface="IBM Plex Sans"/>
                        </a:rPr>
                        <a:t> </a:t>
                      </a:r>
                      <a:r>
                        <a:rPr b="0" lang="da-DK" sz="900">
                          <a:solidFill>
                            <a:schemeClr val="dk2"/>
                          </a:solidFill>
                        </a:rPr>
                        <a:t>(pkt. 39b)</a:t>
                      </a:r>
                      <a:endParaRPr b="0" sz="900">
                        <a:solidFill>
                          <a:schemeClr val="dk2"/>
                        </a:solidFill>
                        <a:latin typeface="IBM Plex Sans"/>
                        <a:ea typeface="IBM Plex Sans"/>
                        <a:cs typeface="IBM Plex Sans"/>
                        <a:sym typeface="IBM Plex Sans"/>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00">
                          <a:solidFill>
                            <a:schemeClr val="dk2"/>
                          </a:solidFill>
                          <a:latin typeface="IBM Plex Sans"/>
                          <a:ea typeface="IBM Plex Sans"/>
                          <a:cs typeface="IBM Plex Sans"/>
                          <a:sym typeface="IBM Plex Sans"/>
                        </a:rPr>
                        <a:t>Antal ansatte </a:t>
                      </a:r>
                      <a:r>
                        <a:rPr b="1" lang="da-DK" sz="900">
                          <a:solidFill>
                            <a:schemeClr val="dk2"/>
                          </a:solidFill>
                        </a:rPr>
                        <a:t>(antal personer eller fuldtidsækvivalenter)</a:t>
                      </a:r>
                      <a:endParaRPr b="1" sz="900">
                        <a:solidFill>
                          <a:schemeClr val="dk2"/>
                        </a:solidFill>
                        <a:latin typeface="IBM Plex Sans"/>
                        <a:ea typeface="IBM Plex Sans"/>
                        <a:cs typeface="IBM Plex Sans"/>
                        <a:sym typeface="IBM Plex Sans"/>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57100">
                <a:tc>
                  <a:txBody>
                    <a:bodyPr/>
                    <a:lstStyle/>
                    <a:p>
                      <a:pPr indent="0" lvl="0" marL="0" marR="0" rtl="0" algn="l">
                        <a:spcBef>
                          <a:spcPts val="0"/>
                        </a:spcBef>
                        <a:spcAft>
                          <a:spcPts val="0"/>
                        </a:spcAft>
                        <a:buNone/>
                      </a:pPr>
                      <a:r>
                        <a:rPr b="0" lang="da-DK" sz="900">
                          <a:solidFill>
                            <a:schemeClr val="dk2"/>
                          </a:solidFill>
                          <a:latin typeface="IBM Plex Sans"/>
                          <a:ea typeface="IBM Plex Sans"/>
                          <a:cs typeface="IBM Plex Sans"/>
                          <a:sym typeface="IBM Plex Sans"/>
                        </a:rPr>
                        <a:t>Mand</a:t>
                      </a:r>
                      <a:endParaRPr b="0" sz="900">
                        <a:solidFill>
                          <a:schemeClr val="dk2"/>
                        </a:solidFill>
                        <a:latin typeface="IBM Plex Sans"/>
                        <a:ea typeface="IBM Plex Sans"/>
                        <a:cs typeface="IBM Plex Sans"/>
                        <a:sym typeface="IBM Plex Sans"/>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da-DK" sz="900" u="none" cap="none" strike="noStrike">
                          <a:latin typeface="Inter"/>
                          <a:ea typeface="Inter"/>
                          <a:cs typeface="Inter"/>
                          <a:sym typeface="Inter"/>
                        </a:rPr>
                        <a:t>{{</a:t>
                      </a:r>
                      <a:r>
                        <a:rPr lang="da-DK" sz="900">
                          <a:latin typeface="Inter"/>
                          <a:ea typeface="Inter"/>
                          <a:cs typeface="Inter"/>
                          <a:sym typeface="Inter"/>
                        </a:rPr>
                        <a:t>MOOG</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57100">
                <a:tc>
                  <a:txBody>
                    <a:bodyPr/>
                    <a:lstStyle/>
                    <a:p>
                      <a:pPr indent="0" lvl="0" marL="0" marR="0" rtl="0" algn="l">
                        <a:spcBef>
                          <a:spcPts val="0"/>
                        </a:spcBef>
                        <a:spcAft>
                          <a:spcPts val="0"/>
                        </a:spcAft>
                        <a:buNone/>
                      </a:pPr>
                      <a:r>
                        <a:rPr b="0" lang="da-DK" sz="900">
                          <a:solidFill>
                            <a:schemeClr val="dk2"/>
                          </a:solidFill>
                          <a:latin typeface="IBM Plex Sans"/>
                          <a:ea typeface="IBM Plex Sans"/>
                          <a:cs typeface="IBM Plex Sans"/>
                          <a:sym typeface="IBM Plex Sans"/>
                        </a:rPr>
                        <a:t>Kvinde</a:t>
                      </a:r>
                      <a:endParaRPr b="0" sz="900">
                        <a:solidFill>
                          <a:schemeClr val="dk2"/>
                        </a:solidFill>
                        <a:latin typeface="IBM Plex Sans"/>
                        <a:ea typeface="IBM Plex Sans"/>
                        <a:cs typeface="IBM Plex Sans"/>
                        <a:sym typeface="IBM Plex Sans"/>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700"/>
                        <a:buFont typeface="Arial"/>
                        <a:buNone/>
                      </a:pPr>
                      <a:r>
                        <a:rPr lang="da-DK" sz="900" u="none" cap="none" strike="noStrike">
                          <a:latin typeface="Inter"/>
                          <a:ea typeface="Inter"/>
                          <a:cs typeface="Inter"/>
                          <a:sym typeface="Inter"/>
                        </a:rPr>
                        <a:t>{{women}}</a:t>
                      </a:r>
                      <a:endParaRPr sz="900" u="none" cap="none" strike="noStrike">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57100">
                <a:tc>
                  <a:txBody>
                    <a:bodyPr/>
                    <a:lstStyle/>
                    <a:p>
                      <a:pPr indent="0" lvl="0" marL="0" marR="0" rtl="0" algn="l">
                        <a:spcBef>
                          <a:spcPts val="0"/>
                        </a:spcBef>
                        <a:spcAft>
                          <a:spcPts val="0"/>
                        </a:spcAft>
                        <a:buNone/>
                      </a:pPr>
                      <a:r>
                        <a:rPr b="0" lang="da-DK" sz="900">
                          <a:solidFill>
                            <a:schemeClr val="dk2"/>
                          </a:solidFill>
                          <a:latin typeface="IBM Plex Sans"/>
                          <a:ea typeface="IBM Plex Sans"/>
                          <a:cs typeface="IBM Plex Sans"/>
                          <a:sym typeface="IBM Plex Sans"/>
                        </a:rPr>
                        <a:t>Andet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700"/>
                        <a:buFont typeface="Arial"/>
                        <a:buNone/>
                      </a:pPr>
                      <a:r>
                        <a:rPr lang="da-DK" sz="900" u="none" cap="none" strike="noStrike">
                          <a:latin typeface="Inter"/>
                          <a:ea typeface="Inter"/>
                          <a:cs typeface="Inter"/>
                          <a:sym typeface="Inter"/>
                        </a:rPr>
                        <a:t>{{others}}</a:t>
                      </a:r>
                      <a:endParaRPr sz="900" u="none" cap="none" strike="noStrike">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57100">
                <a:tc>
                  <a:txBody>
                    <a:bodyPr/>
                    <a:lstStyle/>
                    <a:p>
                      <a:pPr indent="0" lvl="0" marL="0" marR="0" rtl="0" algn="l">
                        <a:spcBef>
                          <a:spcPts val="0"/>
                        </a:spcBef>
                        <a:spcAft>
                          <a:spcPts val="0"/>
                        </a:spcAft>
                        <a:buNone/>
                      </a:pPr>
                      <a:r>
                        <a:rPr b="0" lang="da-DK" sz="900">
                          <a:solidFill>
                            <a:schemeClr val="dk2"/>
                          </a:solidFill>
                          <a:latin typeface="IBM Plex Sans"/>
                          <a:ea typeface="IBM Plex Sans"/>
                          <a:cs typeface="IBM Plex Sans"/>
                          <a:sym typeface="IBM Plex Sans"/>
                        </a:rPr>
                        <a:t>Ikke registreret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700"/>
                        <a:buFont typeface="Arial"/>
                        <a:buNone/>
                      </a:pPr>
                      <a:r>
                        <a:rPr lang="da-DK" sz="900" u="none" cap="none" strike="noStrike">
                          <a:latin typeface="Inter"/>
                          <a:ea typeface="Inter"/>
                          <a:cs typeface="Inter"/>
                          <a:sym typeface="Inter"/>
                        </a:rPr>
                        <a:t>{{</a:t>
                      </a:r>
                      <a:r>
                        <a:rPr lang="da-DK" sz="900">
                          <a:latin typeface="Inter"/>
                          <a:ea typeface="Inter"/>
                          <a:cs typeface="Inter"/>
                          <a:sym typeface="Inter"/>
                        </a:rPr>
                        <a:t>not_registeret</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57100">
                <a:tc>
                  <a:txBody>
                    <a:bodyPr/>
                    <a:lstStyle/>
                    <a:p>
                      <a:pPr indent="0" lvl="0" marL="0" marR="0" rtl="0" algn="l">
                        <a:spcBef>
                          <a:spcPts val="0"/>
                        </a:spcBef>
                        <a:spcAft>
                          <a:spcPts val="0"/>
                        </a:spcAft>
                        <a:buNone/>
                      </a:pPr>
                      <a:r>
                        <a:rPr b="0" lang="da-DK" sz="900">
                          <a:solidFill>
                            <a:schemeClr val="dk2"/>
                          </a:solidFill>
                          <a:latin typeface="IBM Plex Sans"/>
                          <a:ea typeface="IBM Plex Sans"/>
                          <a:cs typeface="IBM Plex Sans"/>
                          <a:sym typeface="IBM Plex Sans"/>
                        </a:rPr>
                        <a:t>Totalt antal ansatte</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900"/>
                        <a:buFont typeface="Arial"/>
                        <a:buNone/>
                      </a:pPr>
                      <a:r>
                        <a:rPr lang="da-DK" sz="900" u="none" cap="none" strike="noStrike">
                          <a:latin typeface="Inter"/>
                          <a:ea typeface="Inter"/>
                          <a:cs typeface="Inter"/>
                          <a:sym typeface="Inter"/>
                        </a:rPr>
                        <a:t>{{total_employees}}</a:t>
                      </a:r>
                      <a:endParaRPr sz="900" u="none" cap="none" strike="noStrike">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38" name="Google Shape;238;p15"/>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39" name="Google Shape;239;p15"/>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dk1"/>
              </a:buClr>
              <a:buSzPts val="1100"/>
              <a:buFont typeface="Arial"/>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None/>
            </a:pPr>
            <a:r>
              <a:t/>
            </a:r>
            <a:endParaRPr/>
          </a:p>
        </p:txBody>
      </p:sp>
      <p:pic>
        <p:nvPicPr>
          <p:cNvPr id="240" name="Google Shape;240;p15" title="Frame 1000002375.png"/>
          <p:cNvPicPr preferRelativeResize="0"/>
          <p:nvPr/>
        </p:nvPicPr>
        <p:blipFill rotWithShape="1">
          <a:blip r:embed="rId3">
            <a:alphaModFix/>
          </a:blip>
          <a:srcRect b="0" l="0" r="0" t="0"/>
          <a:stretch/>
        </p:blipFill>
        <p:spPr>
          <a:xfrm>
            <a:off x="522820" y="247421"/>
            <a:ext cx="342900" cy="242888"/>
          </a:xfrm>
          <a:prstGeom prst="rect">
            <a:avLst/>
          </a:prstGeom>
          <a:noFill/>
          <a:ln>
            <a:noFill/>
          </a:ln>
        </p:spPr>
      </p:pic>
      <p:graphicFrame>
        <p:nvGraphicFramePr>
          <p:cNvPr id="241" name="Google Shape;241;p15"/>
          <p:cNvGraphicFramePr/>
          <p:nvPr/>
        </p:nvGraphicFramePr>
        <p:xfrm>
          <a:off x="7249099" y="3747067"/>
          <a:ext cx="3000000" cy="3000000"/>
        </p:xfrm>
        <a:graphic>
          <a:graphicData uri="http://schemas.openxmlformats.org/drawingml/2006/table">
            <a:tbl>
              <a:tblPr firstRow="1">
                <a:noFill/>
                <a:tableStyleId>{BAEAA23F-C412-4D4F-A7DF-F315DCF0D262}</a:tableStyleId>
              </a:tblPr>
              <a:tblGrid>
                <a:gridCol w="2291500"/>
                <a:gridCol w="2033225"/>
              </a:tblGrid>
              <a:tr h="288000">
                <a:tc rowSpan="2">
                  <a:txBody>
                    <a:bodyPr/>
                    <a:lstStyle/>
                    <a:p>
                      <a:pPr indent="0" lvl="0" marL="0" marR="0" rtl="0" algn="l">
                        <a:spcBef>
                          <a:spcPts val="0"/>
                        </a:spcBef>
                        <a:spcAft>
                          <a:spcPts val="0"/>
                        </a:spcAft>
                        <a:buNone/>
                      </a:pPr>
                      <a:r>
                        <a:rPr b="1" lang="da-DK" sz="900">
                          <a:solidFill>
                            <a:schemeClr val="dk2"/>
                          </a:solidFill>
                        </a:rPr>
                        <a:t>Medarbejderomsætning </a:t>
                      </a:r>
                      <a:r>
                        <a:rPr b="0" lang="da-DK" sz="900">
                          <a:solidFill>
                            <a:schemeClr val="dk2"/>
                          </a:solidFill>
                        </a:rPr>
                        <a:t>(pkt. 40)</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Clr>
                          <a:schemeClr val="dk2"/>
                        </a:buClr>
                        <a:buSzPts val="700"/>
                        <a:buFont typeface="IBM Plex Sans"/>
                        <a:buNone/>
                      </a:pPr>
                      <a:r>
                        <a:rPr lang="da-DK" sz="900">
                          <a:solidFill>
                            <a:schemeClr val="dk1"/>
                          </a:solidFill>
                          <a:latin typeface="Inter"/>
                          <a:ea typeface="Inter"/>
                          <a:cs typeface="Inter"/>
                          <a:sym typeface="Inter"/>
                        </a:rPr>
                        <a:t>{{insert_year}}</a:t>
                      </a:r>
                      <a:endParaRPr sz="900" u="none" cap="none" strike="noStrike">
                        <a:solidFill>
                          <a:srgbClr val="1B4528"/>
                        </a:solidFill>
                        <a:latin typeface="Inter"/>
                        <a:ea typeface="Inter"/>
                        <a:cs typeface="Inter"/>
                        <a:sym typeface="Inte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vMerge="1"/>
                <a:tc>
                  <a:txBody>
                    <a:bodyPr/>
                    <a:lstStyle/>
                    <a:p>
                      <a:pPr indent="0" lvl="0" marL="0" marR="0" rtl="0" algn="l">
                        <a:lnSpc>
                          <a:spcPct val="100000"/>
                        </a:lnSpc>
                        <a:spcBef>
                          <a:spcPts val="0"/>
                        </a:spcBef>
                        <a:spcAft>
                          <a:spcPts val="0"/>
                        </a:spcAft>
                        <a:buClr>
                          <a:schemeClr val="dk1"/>
                        </a:buClr>
                        <a:buSzPts val="900"/>
                        <a:buFont typeface="Arial"/>
                        <a:buNone/>
                      </a:pPr>
                      <a:r>
                        <a:rPr lang="da-DK" sz="900" u="none" cap="none" strike="noStrike">
                          <a:latin typeface="Inter"/>
                          <a:ea typeface="Inter"/>
                          <a:cs typeface="Inter"/>
                          <a:sym typeface="Inter"/>
                        </a:rPr>
                        <a:t>{{</a:t>
                      </a:r>
                      <a:r>
                        <a:rPr lang="da-DK" sz="900">
                          <a:latin typeface="Inter"/>
                          <a:ea typeface="Inter"/>
                          <a:cs typeface="Inter"/>
                          <a:sym typeface="Inter"/>
                        </a:rPr>
                        <a:t>omsatningsrate</a:t>
                      </a:r>
                      <a:r>
                        <a:rPr lang="da-DK" sz="900" u="none" cap="none" strike="noStrike">
                          <a:latin typeface="Inter"/>
                          <a:ea typeface="Inter"/>
                          <a:cs typeface="Inter"/>
                          <a:sym typeface="Inter"/>
                        </a:rPr>
                        <a:t>}}</a:t>
                      </a:r>
                      <a:endParaRPr sz="700" u="none" cap="none" strike="noStrike">
                        <a:latin typeface="Inter"/>
                        <a:ea typeface="Inter"/>
                        <a:cs typeface="Inter"/>
                        <a:sym typeface="Inte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42" name="Google Shape;242;p15"/>
          <p:cNvGraphicFramePr/>
          <p:nvPr/>
        </p:nvGraphicFramePr>
        <p:xfrm>
          <a:off x="7249099" y="1671127"/>
          <a:ext cx="3000000" cy="3000000"/>
        </p:xfrm>
        <a:graphic>
          <a:graphicData uri="http://schemas.openxmlformats.org/drawingml/2006/table">
            <a:tbl>
              <a:tblPr firstRow="1">
                <a:noFill/>
                <a:tableStyleId>{BAEAA23F-C412-4D4F-A7DF-F315DCF0D262}</a:tableStyleId>
              </a:tblPr>
              <a:tblGrid>
                <a:gridCol w="2311900"/>
                <a:gridCol w="2012825"/>
              </a:tblGrid>
              <a:tr h="288000">
                <a:tc>
                  <a:txBody>
                    <a:bodyPr/>
                    <a:lstStyle/>
                    <a:p>
                      <a:pPr indent="0" lvl="0" marL="0" marR="0" rtl="0" algn="l">
                        <a:spcBef>
                          <a:spcPts val="0"/>
                        </a:spcBef>
                        <a:spcAft>
                          <a:spcPts val="0"/>
                        </a:spcAft>
                        <a:buNone/>
                      </a:pPr>
                      <a:r>
                        <a:rPr b="1" lang="da-DK" sz="900">
                          <a:solidFill>
                            <a:schemeClr val="dk2"/>
                          </a:solidFill>
                        </a:rPr>
                        <a:t>Land (hvor ansættelseskontrakten er indgået) </a:t>
                      </a:r>
                      <a:r>
                        <a:rPr b="0" lang="da-DK" sz="900">
                          <a:solidFill>
                            <a:schemeClr val="dk2"/>
                          </a:solidFill>
                        </a:rPr>
                        <a:t>(pkt. 39c)</a:t>
                      </a:r>
                      <a:endParaRPr b="0" sz="900">
                        <a:solidFill>
                          <a:schemeClr val="dk2"/>
                        </a:solidFill>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00">
                          <a:solidFill>
                            <a:schemeClr val="dk2"/>
                          </a:solidFill>
                        </a:rPr>
                        <a:t>Antal ansatte (antal personer eller fuldtidsækvivalenter)</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da-DK" sz="900">
                          <a:solidFill>
                            <a:schemeClr val="dk2"/>
                          </a:solidFill>
                        </a:rPr>
                        <a:t>Danmark</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900"/>
                        <a:buFont typeface="Arial"/>
                        <a:buNone/>
                      </a:pPr>
                      <a:r>
                        <a:rPr lang="da-DK" sz="900" u="none" cap="none" strike="noStrike">
                          <a:latin typeface="Inter"/>
                          <a:ea typeface="Inter"/>
                          <a:cs typeface="Inter"/>
                          <a:sym typeface="Inter"/>
                        </a:rPr>
                        <a:t>{{</a:t>
                      </a:r>
                      <a:r>
                        <a:rPr lang="da-DK" sz="900">
                          <a:latin typeface="Inter"/>
                          <a:ea typeface="Inter"/>
                          <a:cs typeface="Inter"/>
                          <a:sym typeface="Inter"/>
                        </a:rPr>
                        <a:t>Denmark</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lnSpc>
                          <a:spcPct val="100000"/>
                        </a:lnSpc>
                        <a:spcBef>
                          <a:spcPts val="0"/>
                        </a:spcBef>
                        <a:spcAft>
                          <a:spcPts val="0"/>
                        </a:spcAft>
                        <a:buClr>
                          <a:srgbClr val="000000"/>
                        </a:buClr>
                        <a:buSzPts val="700"/>
                        <a:buFont typeface="Arial"/>
                        <a:buNone/>
                      </a:pPr>
                      <a:r>
                        <a:rPr lang="da-DK" sz="900" u="none" cap="none" strike="noStrike">
                          <a:latin typeface="Inter"/>
                          <a:ea typeface="Inter"/>
                          <a:cs typeface="Inter"/>
                          <a:sym typeface="Inter"/>
                        </a:rPr>
                        <a:t>{{</a:t>
                      </a:r>
                      <a:r>
                        <a:rPr lang="da-DK" sz="900">
                          <a:latin typeface="Inter"/>
                          <a:ea typeface="Inter"/>
                          <a:cs typeface="Inter"/>
                          <a:sym typeface="Inter"/>
                        </a:rPr>
                        <a:t>Land_b</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da-DK" sz="900">
                          <a:latin typeface="Inter"/>
                          <a:ea typeface="Inter"/>
                          <a:cs typeface="Inter"/>
                          <a:sym typeface="Inter"/>
                        </a:rPr>
                        <a:t>{{Workersincountries}}</a:t>
                      </a:r>
                      <a:endParaRPr sz="900">
                        <a:solidFill>
                          <a:schemeClr val="accent2"/>
                        </a:solidFill>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rtl="0" algn="l">
                        <a:spcBef>
                          <a:spcPts val="0"/>
                        </a:spcBef>
                        <a:spcAft>
                          <a:spcPts val="0"/>
                        </a:spcAft>
                        <a:buClr>
                          <a:schemeClr val="dk1"/>
                        </a:buClr>
                        <a:buSzPts val="700"/>
                        <a:buFont typeface="Arial"/>
                        <a:buNone/>
                      </a:pPr>
                      <a:r>
                        <a:rPr lang="da-DK" sz="900">
                          <a:latin typeface="Inter"/>
                          <a:ea typeface="Inter"/>
                          <a:cs typeface="Inter"/>
                          <a:sym typeface="Inter"/>
                        </a:rPr>
                        <a:t>{{Land_c}}</a:t>
                      </a:r>
                      <a:endParaRPr sz="900" u="none" cap="none" strike="noStrike">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da-DK" sz="900">
                          <a:latin typeface="Inter"/>
                          <a:ea typeface="Inter"/>
                          <a:cs typeface="Inter"/>
                          <a:sym typeface="Inter"/>
                        </a:rPr>
                        <a:t>{{FTE_land_c}}</a:t>
                      </a:r>
                      <a:endParaRPr sz="900">
                        <a:solidFill>
                          <a:srgbClr val="2D55FF"/>
                        </a:solidFill>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da-DK" sz="900">
                          <a:solidFill>
                            <a:schemeClr val="dk2"/>
                          </a:solidFill>
                        </a:rPr>
                        <a:t>Totalt antal ansatte</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Clr>
                          <a:schemeClr val="dk1"/>
                        </a:buClr>
                        <a:buSzPts val="900"/>
                        <a:buFont typeface="Arial"/>
                        <a:buNone/>
                      </a:pPr>
                      <a:r>
                        <a:rPr lang="da-DK" sz="900">
                          <a:latin typeface="Inter"/>
                          <a:ea typeface="Inter"/>
                          <a:cs typeface="Inter"/>
                          <a:sym typeface="Inter"/>
                        </a:rPr>
                        <a:t>{{total_employees}}</a:t>
                      </a:r>
                      <a:endParaRPr sz="900">
                        <a:latin typeface="Inter"/>
                        <a:ea typeface="Inter"/>
                        <a:cs typeface="Inter"/>
                        <a:sym typeface="Inter"/>
                      </a:endParaRPr>
                    </a:p>
                  </a:txBody>
                  <a:tcPr marT="16200" marB="162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43" name="Google Shape;243;p15"/>
          <p:cNvSpPr txBox="1"/>
          <p:nvPr/>
        </p:nvSpPr>
        <p:spPr>
          <a:xfrm>
            <a:off x="448018" y="679790"/>
            <a:ext cx="8267241" cy="627854"/>
          </a:xfrm>
          <a:prstGeom prst="rect">
            <a:avLst/>
          </a:prstGeom>
          <a:noFill/>
          <a:ln>
            <a:noFill/>
          </a:ln>
        </p:spPr>
        <p:txBody>
          <a:bodyPr anchorCtr="0" anchor="t" bIns="68575" lIns="68575" spcFirstLastPara="1" rIns="68575" wrap="square" tIns="68575">
            <a:spAutoFit/>
          </a:bodyPr>
          <a:lstStyle/>
          <a:p>
            <a:pPr indent="0" lvl="0" marL="0" marR="0" rtl="0" algn="l">
              <a:lnSpc>
                <a:spcPct val="106000"/>
              </a:lnSpc>
              <a:spcBef>
                <a:spcPts val="0"/>
              </a:spcBef>
              <a:spcAft>
                <a:spcPts val="0"/>
              </a:spcAft>
              <a:buNone/>
            </a:pPr>
            <a:r>
              <a:rPr b="0" i="0" lang="da-DK" sz="1000" u="none" cap="none" strike="noStrike">
                <a:solidFill>
                  <a:srgbClr val="25595D"/>
                </a:solidFill>
                <a:latin typeface="Inter"/>
                <a:ea typeface="Inter"/>
                <a:cs typeface="Inter"/>
                <a:sym typeface="Inter"/>
              </a:rPr>
              <a:t>Virksomheden har oplyst antallet af medarbejdere for følgende specifikationer: Type ansættelseskontrakt, hvor medarbejderne er opdelt i midlertidige og faste kontrakter; Køn, som giver indsigt i kønsfordelingen blandt medarbejderne; og ansættelseskontraktens land, hvilket er relevant, hvis virksomheden opererer i flere lande.</a:t>
            </a:r>
            <a:endParaRPr b="0" i="0" sz="1000" u="none" cap="none" strike="noStrike">
              <a:solidFill>
                <a:schemeClr val="accent2"/>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6"/>
          <p:cNvSpPr txBox="1"/>
          <p:nvPr>
            <p:ph type="title"/>
          </p:nvPr>
        </p:nvSpPr>
        <p:spPr>
          <a:xfrm>
            <a:off x="899599" y="261308"/>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Egen arbejdsstyrke: Sundhed og sikkerhed</a:t>
            </a:r>
            <a:endParaRPr/>
          </a:p>
        </p:txBody>
      </p:sp>
      <p:graphicFrame>
        <p:nvGraphicFramePr>
          <p:cNvPr id="250" name="Google Shape;250;p16"/>
          <p:cNvGraphicFramePr/>
          <p:nvPr/>
        </p:nvGraphicFramePr>
        <p:xfrm>
          <a:off x="481808" y="1642504"/>
          <a:ext cx="3000000" cy="3000000"/>
        </p:xfrm>
        <a:graphic>
          <a:graphicData uri="http://schemas.openxmlformats.org/drawingml/2006/table">
            <a:tbl>
              <a:tblPr firstRow="1">
                <a:noFill/>
                <a:tableStyleId>{BAEAA23F-C412-4D4F-A7DF-F315DCF0D262}</a:tableStyleId>
              </a:tblPr>
              <a:tblGrid>
                <a:gridCol w="5727150"/>
                <a:gridCol w="1616625"/>
              </a:tblGrid>
              <a:tr h="288000">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a:solidFill>
                            <a:schemeClr val="dk2"/>
                          </a:solidFill>
                        </a:rPr>
                        <a:t>Registrerede arbejdsulykker </a:t>
                      </a:r>
                      <a:r>
                        <a:rPr b="0" lang="da-DK" sz="900">
                          <a:solidFill>
                            <a:schemeClr val="dk2"/>
                          </a:solidFill>
                        </a:rPr>
                        <a:t>(pkt. 41a)</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900"/>
                        <a:buFont typeface="IBM Plex Sans"/>
                        <a:buNone/>
                      </a:pPr>
                      <a:r>
                        <a:rPr b="1" lang="da-DK" sz="900">
                          <a:solidFill>
                            <a:schemeClr val="dk1"/>
                          </a:solidFill>
                        </a:rPr>
                        <a:t>År</a:t>
                      </a:r>
                      <a:r>
                        <a:rPr b="1" lang="da-DK" sz="900">
                          <a:solidFill>
                            <a:schemeClr val="dk1"/>
                          </a:solidFill>
                          <a:latin typeface="Calibri"/>
                          <a:ea typeface="Calibri"/>
                          <a:cs typeface="Calibri"/>
                          <a:sym typeface="Calibri"/>
                        </a:rPr>
                        <a:t> </a:t>
                      </a:r>
                      <a:r>
                        <a:rPr lang="da-DK" sz="900">
                          <a:solidFill>
                            <a:schemeClr val="dk1"/>
                          </a:solidFill>
                          <a:latin typeface="Inter"/>
                          <a:ea typeface="Inter"/>
                          <a:cs typeface="Inter"/>
                          <a:sym typeface="Inter"/>
                        </a:rPr>
                        <a:t>{{insert_year}}</a:t>
                      </a:r>
                      <a:endParaRPr b="1" sz="900">
                        <a:solidFill>
                          <a:schemeClr val="dk1"/>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da-DK" sz="900">
                          <a:solidFill>
                            <a:schemeClr val="dk2"/>
                          </a:solidFill>
                        </a:rPr>
                        <a:t>Antal</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accent2"/>
                        </a:buClr>
                        <a:buSzPts val="900"/>
                        <a:buFont typeface="IBM Plex Sans"/>
                        <a:buNone/>
                      </a:pPr>
                      <a:r>
                        <a:rPr lang="da-DK" sz="900">
                          <a:latin typeface="Inter"/>
                          <a:ea typeface="Inter"/>
                          <a:cs typeface="Inter"/>
                          <a:sym typeface="Inter"/>
                        </a:rPr>
                        <a:t>{{indsat_antal_accidents}}</a:t>
                      </a:r>
                      <a:endParaRPr sz="900">
                        <a:solidFill>
                          <a:srgbClr val="2D55FF"/>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da-DK" sz="900">
                          <a:solidFill>
                            <a:schemeClr val="dk2"/>
                          </a:solidFill>
                        </a:rPr>
                        <a:t>Frekvens</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accent2"/>
                        </a:buClr>
                        <a:buSzPts val="900"/>
                        <a:buFont typeface="IBM Plex Sans"/>
                        <a:buNone/>
                      </a:pPr>
                      <a:r>
                        <a:rPr lang="da-DK" sz="900">
                          <a:latin typeface="Inter"/>
                          <a:ea typeface="Inter"/>
                          <a:cs typeface="Inter"/>
                          <a:sym typeface="Inter"/>
                        </a:rPr>
                        <a:t>{{indsat_accidents_frequents}}</a:t>
                      </a:r>
                      <a:endParaRPr sz="900">
                        <a:solidFill>
                          <a:srgbClr val="2D55FF"/>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51" name="Google Shape;251;p16"/>
          <p:cNvGraphicFramePr/>
          <p:nvPr/>
        </p:nvGraphicFramePr>
        <p:xfrm>
          <a:off x="481808" y="2740120"/>
          <a:ext cx="3000000" cy="3000000"/>
        </p:xfrm>
        <a:graphic>
          <a:graphicData uri="http://schemas.openxmlformats.org/drawingml/2006/table">
            <a:tbl>
              <a:tblPr firstRow="1">
                <a:noFill/>
                <a:tableStyleId>{BAEAA23F-C412-4D4F-A7DF-F315DCF0D262}</a:tableStyleId>
              </a:tblPr>
              <a:tblGrid>
                <a:gridCol w="5727150"/>
                <a:gridCol w="1616625"/>
              </a:tblGrid>
              <a:tr h="288000">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a:solidFill>
                            <a:schemeClr val="dk2"/>
                          </a:solidFill>
                        </a:rPr>
                        <a:t>Arbejdsrelaterede dødsfald </a:t>
                      </a:r>
                      <a:r>
                        <a:rPr b="0" lang="da-DK" sz="900">
                          <a:solidFill>
                            <a:schemeClr val="dk2"/>
                          </a:solidFill>
                        </a:rPr>
                        <a:t>(pkt. 41b)</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900"/>
                        <a:buFont typeface="IBM Plex Sans"/>
                        <a:buNone/>
                      </a:pPr>
                      <a:r>
                        <a:rPr b="1" lang="da-DK" sz="900">
                          <a:solidFill>
                            <a:schemeClr val="dk1"/>
                          </a:solidFill>
                        </a:rPr>
                        <a:t>År</a:t>
                      </a:r>
                      <a:r>
                        <a:rPr b="1" lang="da-DK" sz="900">
                          <a:solidFill>
                            <a:schemeClr val="dk1"/>
                          </a:solidFill>
                          <a:latin typeface="Calibri"/>
                          <a:ea typeface="Calibri"/>
                          <a:cs typeface="Calibri"/>
                          <a:sym typeface="Calibri"/>
                        </a:rPr>
                        <a:t> </a:t>
                      </a:r>
                      <a:r>
                        <a:rPr lang="da-DK" sz="900">
                          <a:solidFill>
                            <a:schemeClr val="dk1"/>
                          </a:solidFill>
                          <a:latin typeface="Inter"/>
                          <a:ea typeface="Inter"/>
                          <a:cs typeface="Inter"/>
                          <a:sym typeface="Inter"/>
                        </a:rPr>
                        <a:t>{{insert_year}}</a:t>
                      </a:r>
                      <a:endParaRPr b="1" sz="900">
                        <a:solidFill>
                          <a:schemeClr val="dk1"/>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da-DK" sz="900">
                          <a:solidFill>
                            <a:schemeClr val="dk2"/>
                          </a:solidFill>
                        </a:rPr>
                        <a:t>Som følge af arbejdsskade/-ulykke</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accent2"/>
                        </a:buClr>
                        <a:buSzPts val="900"/>
                        <a:buFont typeface="IBM Plex Sans"/>
                        <a:buNone/>
                      </a:pPr>
                      <a:r>
                        <a:rPr lang="da-DK" sz="900">
                          <a:latin typeface="Inter"/>
                          <a:ea typeface="Inter"/>
                          <a:cs typeface="Inter"/>
                          <a:sym typeface="Inter"/>
                        </a:rPr>
                        <a:t>{{deaths_by_accidents}}</a:t>
                      </a:r>
                      <a:endParaRPr sz="900">
                        <a:solidFill>
                          <a:srgbClr val="2D55FF"/>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da-DK" sz="900">
                          <a:solidFill>
                            <a:schemeClr val="dk2"/>
                          </a:solidFill>
                        </a:rPr>
                        <a:t>Som følge af arbejdsrelateret dårligt helbred</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accent2"/>
                        </a:buClr>
                        <a:buSzPts val="900"/>
                        <a:buFont typeface="IBM Plex Sans"/>
                        <a:buNone/>
                      </a:pPr>
                      <a:r>
                        <a:rPr lang="da-DK" sz="900">
                          <a:latin typeface="Inter"/>
                          <a:ea typeface="Inter"/>
                          <a:cs typeface="Inter"/>
                          <a:sym typeface="Inter"/>
                        </a:rPr>
                        <a:t>{{deaths_by_health}}</a:t>
                      </a:r>
                      <a:endParaRPr sz="900">
                        <a:solidFill>
                          <a:srgbClr val="2D55FF"/>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52" name="Google Shape;252;p16"/>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53" name="Google Shape;253;p16"/>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dk1"/>
              </a:buClr>
              <a:buSzPts val="1100"/>
              <a:buFont typeface="Arial"/>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None/>
            </a:pPr>
            <a:r>
              <a:t/>
            </a:r>
            <a:endParaRPr/>
          </a:p>
        </p:txBody>
      </p:sp>
      <p:pic>
        <p:nvPicPr>
          <p:cNvPr id="254" name="Google Shape;254;p16" title="Frame 1000002375.png"/>
          <p:cNvPicPr preferRelativeResize="0"/>
          <p:nvPr/>
        </p:nvPicPr>
        <p:blipFill rotWithShape="1">
          <a:blip r:embed="rId3">
            <a:alphaModFix/>
          </a:blip>
          <a:srcRect b="0" l="0" r="0" t="0"/>
          <a:stretch/>
        </p:blipFill>
        <p:spPr>
          <a:xfrm>
            <a:off x="526166" y="255884"/>
            <a:ext cx="342900" cy="242888"/>
          </a:xfrm>
          <a:prstGeom prst="rect">
            <a:avLst/>
          </a:prstGeom>
          <a:noFill/>
          <a:ln>
            <a:noFill/>
          </a:ln>
        </p:spPr>
      </p:pic>
      <p:sp>
        <p:nvSpPr>
          <p:cNvPr id="255" name="Google Shape;255;p16"/>
          <p:cNvSpPr txBox="1"/>
          <p:nvPr/>
        </p:nvSpPr>
        <p:spPr>
          <a:xfrm>
            <a:off x="481808" y="694652"/>
            <a:ext cx="6993412" cy="627854"/>
          </a:xfrm>
          <a:prstGeom prst="rect">
            <a:avLst/>
          </a:prstGeom>
          <a:noFill/>
          <a:ln>
            <a:noFill/>
          </a:ln>
        </p:spPr>
        <p:txBody>
          <a:bodyPr anchorCtr="0" anchor="t" bIns="68575" lIns="68575" spcFirstLastPara="1" rIns="68575" wrap="square" tIns="68575">
            <a:spAutoFit/>
          </a:bodyPr>
          <a:lstStyle/>
          <a:p>
            <a:pPr indent="0" lvl="0" marL="0" marR="0" rtl="0" algn="l">
              <a:lnSpc>
                <a:spcPct val="106000"/>
              </a:lnSpc>
              <a:spcBef>
                <a:spcPts val="0"/>
              </a:spcBef>
              <a:spcAft>
                <a:spcPts val="0"/>
              </a:spcAft>
              <a:buNone/>
            </a:pPr>
            <a:r>
              <a:rPr b="0" i="0" lang="da-DK" sz="1000" u="none" cap="none" strike="noStrike">
                <a:solidFill>
                  <a:srgbClr val="25595D"/>
                </a:solidFill>
                <a:latin typeface="Inter"/>
                <a:ea typeface="Inter"/>
                <a:cs typeface="Inter"/>
                <a:sym typeface="Inter"/>
              </a:rPr>
              <a:t>Virksomheden har givet oplysninger om antallet af registrerede arbejdsulykker og arbejdsrelaterede dødsfald for følgende specifikationer: Antal og hyppighed. Derudover, om arbejdsrelaterede dødsfald skyldes arbejdsskader/arbejdsulykker eller dårligt helbred.</a:t>
            </a:r>
            <a:endParaRPr b="0" i="0" sz="1000" u="none" cap="none" strike="noStrike">
              <a:solidFill>
                <a:srgbClr val="25595D"/>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7"/>
          <p:cNvSpPr txBox="1"/>
          <p:nvPr>
            <p:ph type="title"/>
          </p:nvPr>
        </p:nvSpPr>
        <p:spPr>
          <a:xfrm>
            <a:off x="984265" y="259454"/>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Egen arbejdsstyrke: Vederlag, overenskomster og uddannelse</a:t>
            </a:r>
            <a:endParaRPr/>
          </a:p>
        </p:txBody>
      </p:sp>
      <p:graphicFrame>
        <p:nvGraphicFramePr>
          <p:cNvPr id="261" name="Google Shape;261;p17"/>
          <p:cNvGraphicFramePr/>
          <p:nvPr/>
        </p:nvGraphicFramePr>
        <p:xfrm>
          <a:off x="7139944" y="1806956"/>
          <a:ext cx="3000000" cy="3000000"/>
        </p:xfrm>
        <a:graphic>
          <a:graphicData uri="http://schemas.openxmlformats.org/drawingml/2006/table">
            <a:tbl>
              <a:tblPr firstRow="1">
                <a:noFill/>
                <a:tableStyleId>{BAEAA23F-C412-4D4F-A7DF-F315DCF0D262}</a:tableStyleId>
              </a:tblPr>
              <a:tblGrid>
                <a:gridCol w="3546525"/>
                <a:gridCol w="997525"/>
              </a:tblGrid>
              <a:tr h="174800">
                <a:tc rowSpan="2">
                  <a:txBody>
                    <a:bodyPr/>
                    <a:lstStyle/>
                    <a:p>
                      <a:pPr indent="0" lvl="0" marL="0" marR="0" rtl="0" algn="l">
                        <a:lnSpc>
                          <a:spcPct val="100000"/>
                        </a:lnSpc>
                        <a:spcBef>
                          <a:spcPts val="0"/>
                        </a:spcBef>
                        <a:spcAft>
                          <a:spcPts val="0"/>
                        </a:spcAft>
                        <a:buClr>
                          <a:schemeClr val="dk2"/>
                        </a:buClr>
                        <a:buSzPts val="900"/>
                        <a:buFont typeface="IBM Plex Sans"/>
                        <a:buNone/>
                      </a:pPr>
                      <a:r>
                        <a:rPr b="1" lang="da-DK" sz="900">
                          <a:solidFill>
                            <a:schemeClr val="dk2"/>
                          </a:solidFill>
                        </a:rPr>
                        <a:t>Lønforskel mellem mandlige og kvindelige ansatte </a:t>
                      </a:r>
                      <a:r>
                        <a:rPr b="0" lang="da-DK" sz="900">
                          <a:solidFill>
                            <a:schemeClr val="dk2"/>
                          </a:solidFill>
                        </a:rPr>
                        <a:t>(pkt. 42b)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900"/>
                        <a:buFont typeface="IBM Plex Sans"/>
                        <a:buNone/>
                      </a:pPr>
                      <a:r>
                        <a:rPr b="1" lang="da-DK" sz="900">
                          <a:solidFill>
                            <a:schemeClr val="dk1"/>
                          </a:solidFill>
                        </a:rPr>
                        <a:t>År</a:t>
                      </a:r>
                      <a:r>
                        <a:rPr b="1" lang="da-DK" sz="900">
                          <a:solidFill>
                            <a:schemeClr val="dk1"/>
                          </a:solidFill>
                          <a:latin typeface="Calibri"/>
                          <a:ea typeface="Calibri"/>
                          <a:cs typeface="Calibri"/>
                          <a:sym typeface="Calibri"/>
                        </a:rPr>
                        <a:t> </a:t>
                      </a:r>
                      <a:r>
                        <a:rPr lang="da-DK" sz="900" u="none" cap="none" strike="noStrike">
                          <a:solidFill>
                            <a:schemeClr val="dk1"/>
                          </a:solidFill>
                          <a:latin typeface="Inter"/>
                          <a:ea typeface="Inter"/>
                          <a:cs typeface="Inter"/>
                          <a:sym typeface="Inter"/>
                        </a:rPr>
                        <a:t>{{insert</a:t>
                      </a:r>
                      <a:r>
                        <a:rPr lang="da-DK" sz="900">
                          <a:solidFill>
                            <a:schemeClr val="dk1"/>
                          </a:solidFill>
                          <a:latin typeface="Inter"/>
                          <a:ea typeface="Inter"/>
                          <a:cs typeface="Inter"/>
                          <a:sym typeface="Inter"/>
                        </a:rPr>
                        <a:t>_</a:t>
                      </a:r>
                      <a:r>
                        <a:rPr lang="da-DK" sz="900" u="none" cap="none" strike="noStrike">
                          <a:solidFill>
                            <a:schemeClr val="dk1"/>
                          </a:solidFill>
                          <a:latin typeface="Inter"/>
                          <a:ea typeface="Inter"/>
                          <a:cs typeface="Inter"/>
                          <a:sym typeface="Inter"/>
                        </a:rPr>
                        <a:t>year}}</a:t>
                      </a:r>
                      <a:endParaRPr b="1" sz="900">
                        <a:solidFill>
                          <a:schemeClr val="dk1"/>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vMerge="1"/>
                <a:tc>
                  <a:txBody>
                    <a:bodyPr/>
                    <a:lstStyle/>
                    <a:p>
                      <a:pPr indent="0" lvl="0" marL="0" marR="0" rtl="0" algn="ctr">
                        <a:lnSpc>
                          <a:spcPct val="100000"/>
                        </a:lnSpc>
                        <a:spcBef>
                          <a:spcPts val="0"/>
                        </a:spcBef>
                        <a:spcAft>
                          <a:spcPts val="0"/>
                        </a:spcAft>
                        <a:buClr>
                          <a:srgbClr val="000000"/>
                        </a:buClr>
                        <a:buSzPts val="700"/>
                        <a:buFont typeface="Arial"/>
                        <a:buNone/>
                      </a:pPr>
                      <a:r>
                        <a:rPr lang="da-DK" sz="900" u="none" cap="none" strike="noStrike">
                          <a:latin typeface="Inter"/>
                          <a:ea typeface="Inter"/>
                          <a:cs typeface="Inter"/>
                          <a:sym typeface="Inter"/>
                        </a:rPr>
                        <a:t>{{</a:t>
                      </a:r>
                      <a:r>
                        <a:rPr lang="da-DK" sz="900">
                          <a:latin typeface="Inter"/>
                          <a:ea typeface="Inter"/>
                          <a:cs typeface="Inter"/>
                          <a:sym typeface="Inter"/>
                        </a:rPr>
                        <a:t>indsat_procentvise_lonforskel</a:t>
                      </a:r>
                      <a:r>
                        <a:rPr lang="da-DK" sz="900" u="none" cap="none" strike="noStrike">
                          <a:latin typeface="Inter"/>
                          <a:ea typeface="Inter"/>
                          <a:cs typeface="Inter"/>
                          <a:sym typeface="Inter"/>
                        </a:rPr>
                        <a:t>}}</a:t>
                      </a:r>
                      <a:endParaRPr sz="900" u="none" cap="none" strike="noStrike">
                        <a:latin typeface="Inter"/>
                        <a:ea typeface="Inter"/>
                        <a:cs typeface="Inter"/>
                        <a:sym typeface="Inter"/>
                      </a:endParaRPr>
                    </a:p>
                  </a:txBody>
                  <a:tcPr marT="36000" marB="36000" marR="36000" marL="36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62" name="Google Shape;262;p17"/>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63" name="Google Shape;263;p17"/>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dk1"/>
              </a:buClr>
              <a:buSzPts val="1100"/>
              <a:buFont typeface="Arial"/>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None/>
            </a:pPr>
            <a:r>
              <a:t/>
            </a:r>
            <a:endParaRPr/>
          </a:p>
        </p:txBody>
      </p:sp>
      <p:graphicFrame>
        <p:nvGraphicFramePr>
          <p:cNvPr id="264" name="Google Shape;264;p17"/>
          <p:cNvGraphicFramePr/>
          <p:nvPr/>
        </p:nvGraphicFramePr>
        <p:xfrm>
          <a:off x="530324" y="1806956"/>
          <a:ext cx="3000000" cy="3000000"/>
        </p:xfrm>
        <a:graphic>
          <a:graphicData uri="http://schemas.openxmlformats.org/drawingml/2006/table">
            <a:tbl>
              <a:tblPr firstRow="1">
                <a:noFill/>
                <a:tableStyleId>{BAEAA23F-C412-4D4F-A7DF-F315DCF0D262}</a:tableStyleId>
              </a:tblPr>
              <a:tblGrid>
                <a:gridCol w="3555500"/>
                <a:gridCol w="1500125"/>
                <a:gridCol w="1420100"/>
              </a:tblGrid>
              <a:tr h="314475">
                <a:tc>
                  <a:txBody>
                    <a:bodyPr/>
                    <a:lstStyle/>
                    <a:p>
                      <a:pPr indent="0" lvl="0" marL="0" marR="0" rtl="0" algn="l">
                        <a:spcBef>
                          <a:spcPts val="0"/>
                        </a:spcBef>
                        <a:spcAft>
                          <a:spcPts val="0"/>
                        </a:spcAft>
                        <a:buNone/>
                      </a:pPr>
                      <a:r>
                        <a:rPr b="1" lang="da-DK" sz="900">
                          <a:solidFill>
                            <a:schemeClr val="dk2"/>
                          </a:solidFill>
                        </a:rPr>
                        <a:t>Oplysninger om minimumsløn </a:t>
                      </a:r>
                      <a:r>
                        <a:rPr b="0" lang="da-DK" sz="900">
                          <a:solidFill>
                            <a:schemeClr val="dk2"/>
                          </a:solidFill>
                        </a:rPr>
                        <a:t>(42a)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900">
                          <a:solidFill>
                            <a:schemeClr val="dk2"/>
                          </a:solidFill>
                        </a:rPr>
                        <a:t>Ja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900">
                          <a:solidFill>
                            <a:schemeClr val="dk2"/>
                          </a:solidFill>
                        </a:rPr>
                        <a:t>Nej</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8150">
                <a:tc>
                  <a:txBody>
                    <a:bodyPr/>
                    <a:lstStyle/>
                    <a:p>
                      <a:pPr indent="0" lvl="0" marL="0" marR="0" rtl="0" algn="l">
                        <a:spcBef>
                          <a:spcPts val="0"/>
                        </a:spcBef>
                        <a:spcAft>
                          <a:spcPts val="0"/>
                        </a:spcAft>
                        <a:buNone/>
                      </a:pPr>
                      <a:r>
                        <a:rPr b="0" lang="da-DK" sz="900">
                          <a:solidFill>
                            <a:schemeClr val="dk2"/>
                          </a:solidFill>
                        </a:rPr>
                        <a:t>I virksomheden modtager alle ansatte en løn, der som minimum er på niveau med minimumslønnen </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lang="da-DK" sz="900" u="none" cap="none" strike="noStrike">
                          <a:latin typeface="Inter"/>
                          <a:ea typeface="Inter"/>
                          <a:cs typeface="Inter"/>
                          <a:sym typeface="Inter"/>
                        </a:rPr>
                        <a:t>{{</a:t>
                      </a:r>
                      <a:r>
                        <a:rPr lang="da-DK" sz="900">
                          <a:latin typeface="Inter"/>
                          <a:ea typeface="Inter"/>
                          <a:cs typeface="Inter"/>
                          <a:sym typeface="Inter"/>
                        </a:rPr>
                        <a:t>minumum_wage_yes</a:t>
                      </a:r>
                      <a:r>
                        <a:rPr lang="da-DK" sz="900" u="none" cap="none" strike="noStrike">
                          <a:latin typeface="Inter"/>
                          <a:ea typeface="Inter"/>
                          <a:cs typeface="Inter"/>
                          <a:sym typeface="Inter"/>
                        </a:rPr>
                        <a:t>?}}</a:t>
                      </a:r>
                      <a:endParaRPr sz="1400" u="none" cap="none" strike="noStrike">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accent2"/>
                        </a:buClr>
                        <a:buSzPts val="700"/>
                        <a:buFont typeface="IBM Plex Sans"/>
                        <a:buNone/>
                      </a:pPr>
                      <a:r>
                        <a:rPr lang="da-DK" sz="900">
                          <a:latin typeface="Inter"/>
                          <a:ea typeface="Inter"/>
                          <a:cs typeface="Inter"/>
                          <a:sym typeface="Inter"/>
                        </a:rPr>
                        <a:t>{{minimum_wage_no?}}</a:t>
                      </a:r>
                      <a:endParaRPr sz="900">
                        <a:solidFill>
                          <a:srgbClr val="2D55FF"/>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pic>
        <p:nvPicPr>
          <p:cNvPr id="265" name="Google Shape;265;p17" title="Frame 1000002375.png"/>
          <p:cNvPicPr preferRelativeResize="0"/>
          <p:nvPr/>
        </p:nvPicPr>
        <p:blipFill rotWithShape="1">
          <a:blip r:embed="rId3">
            <a:alphaModFix/>
          </a:blip>
          <a:srcRect b="0" l="0" r="0" t="0"/>
          <a:stretch/>
        </p:blipFill>
        <p:spPr>
          <a:xfrm>
            <a:off x="518274" y="264351"/>
            <a:ext cx="435769" cy="242888"/>
          </a:xfrm>
          <a:prstGeom prst="rect">
            <a:avLst/>
          </a:prstGeom>
          <a:noFill/>
          <a:ln>
            <a:noFill/>
          </a:ln>
        </p:spPr>
      </p:pic>
      <p:graphicFrame>
        <p:nvGraphicFramePr>
          <p:cNvPr id="266" name="Google Shape;266;p17"/>
          <p:cNvGraphicFramePr/>
          <p:nvPr/>
        </p:nvGraphicFramePr>
        <p:xfrm>
          <a:off x="530324" y="3721487"/>
          <a:ext cx="3000000" cy="3000000"/>
        </p:xfrm>
        <a:graphic>
          <a:graphicData uri="http://schemas.openxmlformats.org/drawingml/2006/table">
            <a:tbl>
              <a:tblPr firstRow="1">
                <a:noFill/>
                <a:tableStyleId>{BAEAA23F-C412-4D4F-A7DF-F315DCF0D262}</a:tableStyleId>
              </a:tblPr>
              <a:tblGrid>
                <a:gridCol w="4181375"/>
                <a:gridCol w="1892300"/>
              </a:tblGrid>
              <a:tr h="513725">
                <a:tc>
                  <a:txBody>
                    <a:bodyPr/>
                    <a:lstStyle/>
                    <a:p>
                      <a:pPr indent="0" lvl="0" marL="0" marR="0" rtl="0" algn="l">
                        <a:lnSpc>
                          <a:spcPct val="100000"/>
                        </a:lnSpc>
                        <a:spcBef>
                          <a:spcPts val="0"/>
                        </a:spcBef>
                        <a:spcAft>
                          <a:spcPts val="0"/>
                        </a:spcAft>
                        <a:buClr>
                          <a:schemeClr val="dk2"/>
                        </a:buClr>
                        <a:buSzPts val="900"/>
                        <a:buFont typeface="IBM Plex Sans"/>
                        <a:buNone/>
                      </a:pPr>
                      <a:r>
                        <a:rPr b="1" lang="da-DK" sz="900">
                          <a:solidFill>
                            <a:schemeClr val="dk2"/>
                          </a:solidFill>
                        </a:rPr>
                        <a:t>Kollektiv overenskomst </a:t>
                      </a:r>
                      <a:r>
                        <a:rPr b="0" lang="da-DK" sz="900">
                          <a:solidFill>
                            <a:schemeClr val="dk2"/>
                          </a:solidFill>
                        </a:rPr>
                        <a:t>(pkt. 42c)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900"/>
                        <a:buFont typeface="IBM Plex Sans"/>
                        <a:buNone/>
                      </a:pPr>
                      <a:r>
                        <a:rPr b="1" lang="da-DK" sz="900">
                          <a:solidFill>
                            <a:schemeClr val="dk2"/>
                          </a:solidFill>
                        </a:rPr>
                        <a:t>År</a:t>
                      </a:r>
                      <a:r>
                        <a:rPr b="1" lang="da-DK" sz="900">
                          <a:solidFill>
                            <a:schemeClr val="accent2"/>
                          </a:solidFill>
                          <a:latin typeface="Calibri"/>
                          <a:ea typeface="Calibri"/>
                          <a:cs typeface="Calibri"/>
                          <a:sym typeface="Calibri"/>
                        </a:rPr>
                        <a:t> </a:t>
                      </a:r>
                      <a:r>
                        <a:rPr lang="da-DK" sz="900">
                          <a:solidFill>
                            <a:schemeClr val="dk1"/>
                          </a:solidFill>
                          <a:latin typeface="Inter"/>
                          <a:ea typeface="Inter"/>
                          <a:cs typeface="Inter"/>
                          <a:sym typeface="Inter"/>
                        </a:rPr>
                        <a:t>{{insert_year}}</a:t>
                      </a:r>
                      <a:endParaRPr b="1" sz="9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725100">
                <a:tc>
                  <a:txBody>
                    <a:bodyPr/>
                    <a:lstStyle/>
                    <a:p>
                      <a:pPr indent="0" lvl="0" marL="0" marR="0" rtl="0" algn="l">
                        <a:lnSpc>
                          <a:spcPct val="100000"/>
                        </a:lnSpc>
                        <a:spcBef>
                          <a:spcPts val="0"/>
                        </a:spcBef>
                        <a:spcAft>
                          <a:spcPts val="0"/>
                        </a:spcAft>
                        <a:buClr>
                          <a:schemeClr val="dk2"/>
                        </a:buClr>
                        <a:buSzPts val="900"/>
                        <a:buFont typeface="IBM Plex Sans"/>
                        <a:buNone/>
                      </a:pPr>
                      <a:r>
                        <a:rPr b="0" lang="da-DK" sz="900">
                          <a:solidFill>
                            <a:schemeClr val="dk2"/>
                          </a:solidFill>
                        </a:rPr>
                        <a:t>Procentvis ansatte, der er dækket af en kollektiv overenskomst</a:t>
                      </a:r>
                      <a:endParaRPr b="0" i="0" sz="900" u="none" cap="none" strike="noStrike">
                        <a:solidFill>
                          <a:srgbClr val="2D55FF"/>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rgbClr val="2D55FF"/>
                        </a:buClr>
                        <a:buSzPts val="700"/>
                        <a:buFont typeface="IBM Plex Sans"/>
                        <a:buNone/>
                      </a:pPr>
                      <a:r>
                        <a:rPr lang="da-DK" sz="900" u="none" cap="none" strike="noStrike">
                          <a:latin typeface="Inter"/>
                          <a:ea typeface="Inter"/>
                          <a:cs typeface="Inter"/>
                          <a:sym typeface="Inter"/>
                        </a:rPr>
                        <a:t>{{</a:t>
                      </a:r>
                      <a:r>
                        <a:rPr lang="da-DK" sz="900">
                          <a:latin typeface="Inter"/>
                          <a:ea typeface="Inter"/>
                          <a:cs typeface="Inter"/>
                          <a:sym typeface="Inter"/>
                        </a:rPr>
                        <a:t>indsat_procentvis_ansatte</a:t>
                      </a:r>
                      <a:r>
                        <a:rPr lang="da-DK" sz="900" u="none" cap="none" strike="noStrike">
                          <a:latin typeface="Inter"/>
                          <a:ea typeface="Inter"/>
                          <a:cs typeface="Inter"/>
                          <a:sym typeface="Inter"/>
                        </a:rPr>
                        <a:t>}</a:t>
                      </a:r>
                      <a:r>
                        <a:rPr lang="da-DK" sz="900">
                          <a:latin typeface="Inter"/>
                          <a:ea typeface="Inter"/>
                          <a:cs typeface="Inter"/>
                          <a:sym typeface="Inter"/>
                        </a:rPr>
                        <a:t>}</a:t>
                      </a:r>
                      <a:endParaRPr sz="1400" u="none" cap="none" strike="noStrike">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67" name="Google Shape;267;p17"/>
          <p:cNvGraphicFramePr/>
          <p:nvPr/>
        </p:nvGraphicFramePr>
        <p:xfrm>
          <a:off x="6797698" y="3721487"/>
          <a:ext cx="3000000" cy="3000000"/>
        </p:xfrm>
        <a:graphic>
          <a:graphicData uri="http://schemas.openxmlformats.org/drawingml/2006/table">
            <a:tbl>
              <a:tblPr firstRow="1">
                <a:noFill/>
                <a:tableStyleId>{BAEAA23F-C412-4D4F-A7DF-F315DCF0D262}</a:tableStyleId>
              </a:tblPr>
              <a:tblGrid>
                <a:gridCol w="3714300"/>
                <a:gridCol w="1050300"/>
              </a:tblGrid>
              <a:tr h="253850">
                <a:tc>
                  <a:txBody>
                    <a:bodyPr/>
                    <a:lstStyle/>
                    <a:p>
                      <a:pPr indent="0" lvl="0" marL="0" marR="0" rtl="0" algn="l">
                        <a:spcBef>
                          <a:spcPts val="0"/>
                        </a:spcBef>
                        <a:spcAft>
                          <a:spcPts val="0"/>
                        </a:spcAft>
                        <a:buNone/>
                      </a:pPr>
                      <a:r>
                        <a:rPr b="1" lang="da-DK" sz="900">
                          <a:solidFill>
                            <a:schemeClr val="dk2"/>
                          </a:solidFill>
                        </a:rPr>
                        <a:t>Uddannelsestimer i gennemsnit pr. ansat </a:t>
                      </a:r>
                      <a:r>
                        <a:rPr b="0" lang="da-DK" sz="900">
                          <a:solidFill>
                            <a:schemeClr val="dk2"/>
                          </a:solidFill>
                        </a:rPr>
                        <a:t>(pkt. 42d)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900"/>
                        <a:buFont typeface="IBM Plex Sans"/>
                        <a:buNone/>
                      </a:pPr>
                      <a:r>
                        <a:rPr b="1" lang="da-DK" sz="900">
                          <a:solidFill>
                            <a:schemeClr val="dk1"/>
                          </a:solidFill>
                        </a:rPr>
                        <a:t>År</a:t>
                      </a:r>
                      <a:r>
                        <a:rPr b="1" lang="da-DK" sz="900">
                          <a:solidFill>
                            <a:schemeClr val="dk1"/>
                          </a:solidFill>
                          <a:latin typeface="Calibri"/>
                          <a:ea typeface="Calibri"/>
                          <a:cs typeface="Calibri"/>
                          <a:sym typeface="Calibri"/>
                        </a:rPr>
                        <a:t> </a:t>
                      </a:r>
                      <a:r>
                        <a:rPr lang="da-DK" sz="900" u="none" cap="none" strike="noStrike">
                          <a:solidFill>
                            <a:schemeClr val="dk1"/>
                          </a:solidFill>
                          <a:latin typeface="Inter"/>
                          <a:ea typeface="Inter"/>
                          <a:cs typeface="Inter"/>
                          <a:sym typeface="Inter"/>
                        </a:rPr>
                        <a:t>{{insert</a:t>
                      </a:r>
                      <a:r>
                        <a:rPr lang="da-DK" sz="900">
                          <a:solidFill>
                            <a:schemeClr val="dk1"/>
                          </a:solidFill>
                          <a:latin typeface="Inter"/>
                          <a:ea typeface="Inter"/>
                          <a:cs typeface="Inter"/>
                          <a:sym typeface="Inter"/>
                        </a:rPr>
                        <a:t>_</a:t>
                      </a:r>
                      <a:r>
                        <a:rPr lang="da-DK" sz="900" u="none" cap="none" strike="noStrike">
                          <a:solidFill>
                            <a:schemeClr val="dk1"/>
                          </a:solidFill>
                          <a:latin typeface="Inter"/>
                          <a:ea typeface="Inter"/>
                          <a:cs typeface="Inter"/>
                          <a:sym typeface="Inter"/>
                        </a:rPr>
                        <a:t>year}}</a:t>
                      </a:r>
                      <a:endParaRPr b="1" sz="900">
                        <a:solidFill>
                          <a:schemeClr val="dk1"/>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72375">
                <a:tc>
                  <a:txBody>
                    <a:bodyPr/>
                    <a:lstStyle/>
                    <a:p>
                      <a:pPr indent="0" lvl="0" marL="0" marR="0" rtl="0" algn="l">
                        <a:spcBef>
                          <a:spcPts val="0"/>
                        </a:spcBef>
                        <a:spcAft>
                          <a:spcPts val="0"/>
                        </a:spcAft>
                        <a:buNone/>
                      </a:pPr>
                      <a:r>
                        <a:rPr b="0" lang="da-DK" sz="900">
                          <a:solidFill>
                            <a:schemeClr val="dk2"/>
                          </a:solidFill>
                        </a:rPr>
                        <a:t>Mandlige ansatte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700"/>
                        <a:buFont typeface="IBM Plex Sans"/>
                        <a:buNone/>
                      </a:pPr>
                      <a:r>
                        <a:rPr lang="da-DK" sz="900" u="none" cap="none" strike="noStrike">
                          <a:latin typeface="Inter"/>
                          <a:ea typeface="Inter"/>
                          <a:cs typeface="Inter"/>
                          <a:sym typeface="Inter"/>
                        </a:rPr>
                        <a:t>{{</a:t>
                      </a:r>
                      <a:r>
                        <a:rPr lang="da-DK" sz="900">
                          <a:latin typeface="Inter"/>
                          <a:ea typeface="Inter"/>
                          <a:cs typeface="Inter"/>
                          <a:sym typeface="Inter"/>
                        </a:rPr>
                        <a:t>men_gennemsnitstimer</a:t>
                      </a:r>
                      <a:r>
                        <a:rPr lang="da-DK" sz="900" u="none" cap="none" strike="noStrike">
                          <a:latin typeface="Inter"/>
                          <a:ea typeface="Inter"/>
                          <a:cs typeface="Inter"/>
                          <a:sym typeface="Inter"/>
                        </a:rPr>
                        <a:t>}</a:t>
                      </a:r>
                      <a:r>
                        <a:rPr lang="da-DK" sz="900">
                          <a:latin typeface="Inter"/>
                          <a:ea typeface="Inter"/>
                          <a:cs typeface="Inter"/>
                          <a:sym typeface="Inter"/>
                        </a:rPr>
                        <a:t>}</a:t>
                      </a:r>
                      <a:endParaRPr sz="1400" u="none" cap="none" strike="noStrike">
                        <a:latin typeface="Inter"/>
                        <a:ea typeface="Inter"/>
                        <a:cs typeface="Inter"/>
                        <a:sym typeface="Inter"/>
                      </a:endParaRPr>
                    </a:p>
                  </a:txBody>
                  <a:tcPr marT="27000" marB="27000" marR="27000" marL="27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72375">
                <a:tc>
                  <a:txBody>
                    <a:bodyPr/>
                    <a:lstStyle/>
                    <a:p>
                      <a:pPr indent="0" lvl="0" marL="0" marR="0" rtl="0" algn="l">
                        <a:spcBef>
                          <a:spcPts val="0"/>
                        </a:spcBef>
                        <a:spcAft>
                          <a:spcPts val="0"/>
                        </a:spcAft>
                        <a:buNone/>
                      </a:pPr>
                      <a:r>
                        <a:rPr b="0" lang="da-DK" sz="900">
                          <a:solidFill>
                            <a:schemeClr val="dk2"/>
                          </a:solidFill>
                        </a:rPr>
                        <a:t>Kvindelige ansatte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700"/>
                        <a:buFont typeface="IBM Plex Sans"/>
                        <a:buNone/>
                      </a:pPr>
                      <a:r>
                        <a:rPr lang="da-DK" sz="900" u="none" cap="none" strike="noStrike">
                          <a:latin typeface="Inter"/>
                          <a:ea typeface="Inter"/>
                          <a:cs typeface="Inter"/>
                          <a:sym typeface="Inter"/>
                        </a:rPr>
                        <a:t>{{</a:t>
                      </a:r>
                      <a:r>
                        <a:rPr lang="da-DK" sz="900">
                          <a:latin typeface="Inter"/>
                          <a:ea typeface="Inter"/>
                          <a:cs typeface="Inter"/>
                          <a:sym typeface="Inter"/>
                        </a:rPr>
                        <a:t>women_gennemsnitstimer</a:t>
                      </a:r>
                      <a:r>
                        <a:rPr lang="da-DK" sz="900" u="none" cap="none" strike="noStrike">
                          <a:latin typeface="Inter"/>
                          <a:ea typeface="Inter"/>
                          <a:cs typeface="Inter"/>
                          <a:sym typeface="Inter"/>
                        </a:rPr>
                        <a:t>}}</a:t>
                      </a:r>
                      <a:endParaRPr sz="1400" u="none" cap="none" strike="noStrike">
                        <a:latin typeface="Inter"/>
                        <a:ea typeface="Inter"/>
                        <a:cs typeface="Inter"/>
                        <a:sym typeface="Inter"/>
                      </a:endParaRPr>
                    </a:p>
                  </a:txBody>
                  <a:tcPr marT="27000" marB="27000" marR="27000" marL="27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72375">
                <a:tc>
                  <a:txBody>
                    <a:bodyPr/>
                    <a:lstStyle/>
                    <a:p>
                      <a:pPr indent="0" lvl="0" marL="0" marR="0" rtl="0" algn="l">
                        <a:spcBef>
                          <a:spcPts val="0"/>
                        </a:spcBef>
                        <a:spcAft>
                          <a:spcPts val="0"/>
                        </a:spcAft>
                        <a:buNone/>
                      </a:pPr>
                      <a:r>
                        <a:rPr b="0" lang="da-DK" sz="900">
                          <a:solidFill>
                            <a:schemeClr val="dk2"/>
                          </a:solidFill>
                        </a:rPr>
                        <a:t>Andre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700"/>
                        <a:buFont typeface="IBM Plex Sans"/>
                        <a:buNone/>
                      </a:pPr>
                      <a:r>
                        <a:rPr lang="da-DK" sz="900" u="none" cap="none" strike="noStrike">
                          <a:latin typeface="Inter"/>
                          <a:ea typeface="Inter"/>
                          <a:cs typeface="Inter"/>
                          <a:sym typeface="Inter"/>
                        </a:rPr>
                        <a:t>{{</a:t>
                      </a:r>
                      <a:r>
                        <a:rPr lang="da-DK" sz="900">
                          <a:latin typeface="Inter"/>
                          <a:ea typeface="Inter"/>
                          <a:cs typeface="Inter"/>
                          <a:sym typeface="Inter"/>
                        </a:rPr>
                        <a:t>other_gennemsnitstimer</a:t>
                      </a:r>
                      <a:r>
                        <a:rPr lang="da-DK" sz="900" u="none" cap="none" strike="noStrike">
                          <a:latin typeface="Inter"/>
                          <a:ea typeface="Inter"/>
                          <a:cs typeface="Inter"/>
                          <a:sym typeface="Inter"/>
                        </a:rPr>
                        <a:t>}</a:t>
                      </a:r>
                      <a:r>
                        <a:rPr lang="da-DK" sz="900">
                          <a:latin typeface="Inter"/>
                          <a:ea typeface="Inter"/>
                          <a:cs typeface="Inter"/>
                          <a:sym typeface="Inter"/>
                        </a:rPr>
                        <a:t>}</a:t>
                      </a:r>
                      <a:endParaRPr sz="1400" u="none" cap="none" strike="noStrike">
                        <a:latin typeface="Inter"/>
                        <a:ea typeface="Inter"/>
                        <a:cs typeface="Inter"/>
                        <a:sym typeface="Inter"/>
                      </a:endParaRPr>
                    </a:p>
                  </a:txBody>
                  <a:tcPr marT="27000" marB="27000" marR="27000" marL="27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68" name="Google Shape;268;p17"/>
          <p:cNvSpPr txBox="1"/>
          <p:nvPr/>
        </p:nvSpPr>
        <p:spPr>
          <a:xfrm>
            <a:off x="530324" y="688449"/>
            <a:ext cx="8015218" cy="78482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900"/>
              </a:spcBef>
              <a:spcAft>
                <a:spcPts val="0"/>
              </a:spcAft>
              <a:buNone/>
            </a:pPr>
            <a:r>
              <a:rPr b="0" i="0" lang="da-DK" sz="1000" u="none" cap="none" strike="noStrike">
                <a:solidFill>
                  <a:srgbClr val="25595D"/>
                </a:solidFill>
                <a:latin typeface="Inter"/>
                <a:ea typeface="Inter"/>
                <a:cs typeface="Inter"/>
                <a:sym typeface="Inter"/>
              </a:rPr>
              <a:t>Disse data giver et detaljeret overblik over virksomhedens lønstruktur, ligestilling og medarbejderudvikling. Virksomheden har givet følgende oplysninger om medarbejderforhold: For det første om medarbejderne modtager lønninger, der svarer til eller er højere end den gældende mindsteløn i det land, hvor indberetningen finder sted, som er fastsat enten gennem mindstelønslovgivningen eller en kollektiv overenskomst.</a:t>
            </a:r>
            <a:endParaRPr b="0" i="0" sz="1000" u="none" cap="none" strike="noStrike">
              <a:solidFill>
                <a:srgbClr val="25595D"/>
              </a:solidFill>
              <a:latin typeface="Inter"/>
              <a:ea typeface="Inter"/>
              <a:cs typeface="Inter"/>
              <a:sym typeface="Inter"/>
            </a:endParaRPr>
          </a:p>
        </p:txBody>
      </p:sp>
      <p:sp>
        <p:nvSpPr>
          <p:cNvPr id="269" name="Google Shape;269;p17"/>
          <p:cNvSpPr txBox="1"/>
          <p:nvPr/>
        </p:nvSpPr>
        <p:spPr>
          <a:xfrm>
            <a:off x="530324" y="2766903"/>
            <a:ext cx="7014277" cy="607849"/>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900"/>
              </a:spcBef>
              <a:spcAft>
                <a:spcPts val="0"/>
              </a:spcAft>
              <a:buNone/>
            </a:pPr>
            <a:r>
              <a:rPr b="0" i="0" lang="da-DK" sz="1000" u="none" cap="none" strike="noStrike">
                <a:solidFill>
                  <a:srgbClr val="25595D"/>
                </a:solidFill>
                <a:latin typeface="Inter"/>
                <a:ea typeface="Inter"/>
                <a:cs typeface="Inter"/>
                <a:sym typeface="Inter"/>
              </a:rPr>
              <a:t>Virksomheden har også oplyst procentdelen af medarbejdere, der er omfattet af kollektive overenskomster, og det gennemsnitlige antal uddannelsestimer pr. medarbejder pr. år, opdelt efter køn.</a:t>
            </a:r>
            <a:endParaRPr b="0" i="0" sz="2000" u="none" cap="none" strike="noStrike">
              <a:solidFill>
                <a:srgbClr val="25595D"/>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8"/>
          <p:cNvSpPr txBox="1"/>
          <p:nvPr>
            <p:ph type="title"/>
          </p:nvPr>
        </p:nvSpPr>
        <p:spPr>
          <a:xfrm>
            <a:off x="950397" y="258105"/>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t>Virksomhedsadfærd: Antal domme og bøder i relation til korruption &amp; bestikkelse</a:t>
            </a:r>
            <a:endParaRPr/>
          </a:p>
        </p:txBody>
      </p:sp>
      <p:graphicFrame>
        <p:nvGraphicFramePr>
          <p:cNvPr id="275" name="Google Shape;275;p18"/>
          <p:cNvGraphicFramePr/>
          <p:nvPr/>
        </p:nvGraphicFramePr>
        <p:xfrm>
          <a:off x="507999" y="1637681"/>
          <a:ext cx="3000000" cy="3000000"/>
        </p:xfrm>
        <a:graphic>
          <a:graphicData uri="http://schemas.openxmlformats.org/drawingml/2006/table">
            <a:tbl>
              <a:tblPr firstRow="1">
                <a:noFill/>
                <a:tableStyleId>{BAEAA23F-C412-4D4F-A7DF-F315DCF0D262}</a:tableStyleId>
              </a:tblPr>
              <a:tblGrid>
                <a:gridCol w="2447925"/>
                <a:gridCol w="2447925"/>
                <a:gridCol w="2447925"/>
              </a:tblGrid>
              <a:tr h="306000">
                <a:tc rowSpan="2">
                  <a:txBody>
                    <a:bodyPr/>
                    <a:lstStyle/>
                    <a:p>
                      <a:pPr indent="0" lvl="0" marL="0" marR="0" rtl="0" algn="l">
                        <a:spcBef>
                          <a:spcPts val="0"/>
                        </a:spcBef>
                        <a:spcAft>
                          <a:spcPts val="0"/>
                        </a:spcAft>
                        <a:buNone/>
                      </a:pPr>
                      <a:r>
                        <a:rPr b="1" lang="da-DK" sz="900">
                          <a:solidFill>
                            <a:schemeClr val="dk2"/>
                          </a:solidFill>
                        </a:rPr>
                        <a:t>Korruption og bestikkelse </a:t>
                      </a:r>
                      <a:r>
                        <a:rPr b="0" lang="da-DK" sz="900">
                          <a:solidFill>
                            <a:schemeClr val="dk2"/>
                          </a:solidFill>
                        </a:rPr>
                        <a:t>(pkt. 43)</a:t>
                      </a:r>
                      <a:endParaRPr b="0" sz="9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None/>
                      </a:pPr>
                      <a:r>
                        <a:rPr b="1" lang="da-DK" sz="900">
                          <a:solidFill>
                            <a:schemeClr val="dk2"/>
                          </a:solidFill>
                        </a:rPr>
                        <a:t>Antal domme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900">
                          <a:solidFill>
                            <a:schemeClr val="dk2"/>
                          </a:solidFill>
                        </a:rPr>
                        <a:t>Samlede bødestørrelse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06000">
                <a:tc vMerge="1"/>
                <a:tc>
                  <a:txBody>
                    <a:bodyPr/>
                    <a:lstStyle/>
                    <a:p>
                      <a:pPr indent="0" lvl="0" marL="0" marR="0" rtl="0" algn="ctr">
                        <a:lnSpc>
                          <a:spcPct val="100000"/>
                        </a:lnSpc>
                        <a:spcBef>
                          <a:spcPts val="0"/>
                        </a:spcBef>
                        <a:spcAft>
                          <a:spcPts val="0"/>
                        </a:spcAft>
                        <a:buClr>
                          <a:schemeClr val="dk1"/>
                        </a:buClr>
                        <a:buSzPts val="900"/>
                        <a:buFont typeface="Arial"/>
                        <a:buNone/>
                      </a:pPr>
                      <a:r>
                        <a:rPr lang="da-DK" sz="700" u="none" cap="none" strike="noStrike">
                          <a:latin typeface="Inter"/>
                          <a:ea typeface="Inter"/>
                          <a:cs typeface="Inter"/>
                          <a:sym typeface="Inter"/>
                        </a:rPr>
                        <a:t>{{domme}}</a:t>
                      </a:r>
                      <a:endParaRPr sz="500" u="none" cap="none" strike="noStrike"/>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900"/>
                        <a:buFont typeface="Arial"/>
                        <a:buNone/>
                      </a:pPr>
                      <a:r>
                        <a:rPr lang="da-DK" sz="700">
                          <a:latin typeface="Inter"/>
                          <a:ea typeface="Inter"/>
                          <a:cs typeface="Inter"/>
                          <a:sym typeface="Inter"/>
                        </a:rPr>
                        <a:t>{{samlet_bodestorrelse}}</a:t>
                      </a:r>
                      <a:endParaRPr sz="700">
                        <a:solidFill>
                          <a:schemeClr val="accent2"/>
                        </a:solidFill>
                        <a:latin typeface="Inter"/>
                        <a:ea typeface="Inter"/>
                        <a:cs typeface="Inter"/>
                        <a:sym typeface="Inter"/>
                      </a:endParaRPr>
                    </a:p>
                  </a:txBody>
                  <a:tcPr marT="27000" marB="27000" marR="40500" marL="40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6" name="Google Shape;276;p18"/>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77" name="Google Shape;277;p18"/>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dk1"/>
              </a:buClr>
              <a:buSzPts val="1100"/>
              <a:buFont typeface="Arial"/>
              <a:buNone/>
            </a:pPr>
            <a:r>
              <a:rPr lang="da-DK" sz="800">
                <a:solidFill>
                  <a:schemeClr val="accent4"/>
                </a:solidFill>
                <a:latin typeface="Inter"/>
                <a:ea typeface="Inter"/>
                <a:cs typeface="Inter"/>
                <a:sym typeface="Inter"/>
              </a:rPr>
              <a:t>{{COMPANY NAME}}</a:t>
            </a:r>
            <a:endParaRPr b="0" sz="700">
              <a:solidFill>
                <a:schemeClr val="accent4"/>
              </a:solidFill>
              <a:latin typeface="Inter"/>
              <a:ea typeface="Inter"/>
              <a:cs typeface="Inter"/>
              <a:sym typeface="Inter"/>
            </a:endParaRPr>
          </a:p>
          <a:p>
            <a:pPr indent="0" lvl="0" marL="0" rtl="0" algn="r">
              <a:spcBef>
                <a:spcPts val="0"/>
              </a:spcBef>
              <a:spcAft>
                <a:spcPts val="0"/>
              </a:spcAft>
              <a:buNone/>
            </a:pPr>
            <a:r>
              <a:t/>
            </a:r>
            <a:endParaRPr/>
          </a:p>
        </p:txBody>
      </p:sp>
      <p:pic>
        <p:nvPicPr>
          <p:cNvPr id="278" name="Google Shape;278;p18" title="Frame 1000002375.png"/>
          <p:cNvPicPr preferRelativeResize="0"/>
          <p:nvPr/>
        </p:nvPicPr>
        <p:blipFill rotWithShape="1">
          <a:blip r:embed="rId3">
            <a:alphaModFix/>
          </a:blip>
          <a:srcRect b="0" l="0" r="0" t="0"/>
          <a:stretch/>
        </p:blipFill>
        <p:spPr>
          <a:xfrm>
            <a:off x="521984" y="261310"/>
            <a:ext cx="400050" cy="242888"/>
          </a:xfrm>
          <a:prstGeom prst="rect">
            <a:avLst/>
          </a:prstGeom>
          <a:noFill/>
          <a:ln>
            <a:noFill/>
          </a:ln>
        </p:spPr>
      </p:pic>
      <p:sp>
        <p:nvSpPr>
          <p:cNvPr id="279" name="Google Shape;279;p18"/>
          <p:cNvSpPr txBox="1"/>
          <p:nvPr/>
        </p:nvSpPr>
        <p:spPr>
          <a:xfrm>
            <a:off x="505050" y="677179"/>
            <a:ext cx="6780197" cy="725830"/>
          </a:xfrm>
          <a:prstGeom prst="rect">
            <a:avLst/>
          </a:prstGeom>
          <a:noFill/>
          <a:ln>
            <a:noFill/>
          </a:ln>
        </p:spPr>
        <p:txBody>
          <a:bodyPr anchorCtr="0" anchor="t" bIns="68575" lIns="68575" spcFirstLastPara="1" rIns="68575" wrap="square" tIns="68575">
            <a:spAutoFit/>
          </a:bodyPr>
          <a:lstStyle/>
          <a:p>
            <a:pPr indent="0" lvl="0" marL="0" marR="0" rtl="0" algn="l">
              <a:lnSpc>
                <a:spcPct val="106000"/>
              </a:lnSpc>
              <a:spcBef>
                <a:spcPts val="0"/>
              </a:spcBef>
              <a:spcAft>
                <a:spcPts val="0"/>
              </a:spcAft>
              <a:buNone/>
            </a:pPr>
            <a:r>
              <a:rPr b="0" i="0" lang="da-DK" sz="900" u="none" cap="none" strike="noStrike">
                <a:solidFill>
                  <a:srgbClr val="25595D"/>
                </a:solidFill>
                <a:latin typeface="Inter"/>
                <a:ea typeface="Inter"/>
                <a:cs typeface="Inter"/>
                <a:sym typeface="Inter"/>
              </a:rPr>
              <a:t>Virksomheden har angivet overtrædelser af anti-korruptions- og anti-bestikkelseslove i den rapporterede periode. Hvis virksomheden har været involveret i domme eller bøder for overtrædelse af disse love, er følgende oplysninger blevet offentliggjort: Antallet af domme og det samlede bødebeløb, der er pålagt som følge af overtrædelserne. Disse oplysninger vedrører virksomhedens forretningsetik og bæredygtighed, især i forhold til håndtering af korruption og bestikkelse.</a:t>
            </a:r>
            <a:endParaRPr b="0" i="0" sz="900" u="none" cap="none" strike="noStrike">
              <a:solidFill>
                <a:srgbClr val="25595D"/>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g3ca2c3f9127_0_0"/>
          <p:cNvPicPr preferRelativeResize="0"/>
          <p:nvPr/>
        </p:nvPicPr>
        <p:blipFill rotWithShape="1">
          <a:blip r:embed="rId3">
            <a:alphaModFix/>
          </a:blip>
          <a:srcRect b="3670" l="0" r="0" t="0"/>
          <a:stretch/>
        </p:blipFill>
        <p:spPr>
          <a:xfrm>
            <a:off x="0" y="1074"/>
            <a:ext cx="12192000" cy="6856924"/>
          </a:xfrm>
          <a:prstGeom prst="rect">
            <a:avLst/>
          </a:prstGeom>
          <a:noFill/>
          <a:ln>
            <a:noFill/>
          </a:ln>
        </p:spPr>
      </p:pic>
      <p:sp>
        <p:nvSpPr>
          <p:cNvPr id="285" name="Google Shape;285;g3ca2c3f9127_0_0"/>
          <p:cNvSpPr/>
          <p:nvPr/>
        </p:nvSpPr>
        <p:spPr>
          <a:xfrm>
            <a:off x="871268" y="828136"/>
            <a:ext cx="3882000" cy="1958100"/>
          </a:xfrm>
          <a:prstGeom prst="rect">
            <a:avLst/>
          </a:prstGeom>
          <a:solidFill>
            <a:srgbClr val="1B45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IBM Plex Sans"/>
              <a:ea typeface="IBM Plex Sans"/>
              <a:cs typeface="IBM Plex Sans"/>
              <a:sym typeface="IBM Plex Sans"/>
            </a:endParaRPr>
          </a:p>
        </p:txBody>
      </p:sp>
      <p:sp>
        <p:nvSpPr>
          <p:cNvPr id="286" name="Google Shape;286;g3ca2c3f9127_0_0"/>
          <p:cNvSpPr txBox="1"/>
          <p:nvPr>
            <p:ph type="title"/>
          </p:nvPr>
        </p:nvSpPr>
        <p:spPr>
          <a:xfrm>
            <a:off x="1079500" y="1079500"/>
            <a:ext cx="3449700" cy="498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lt1"/>
              </a:buClr>
              <a:buSzPts val="1800"/>
              <a:buFont typeface="IBM Plex Sans"/>
              <a:buNone/>
            </a:pPr>
            <a:r>
              <a:rPr lang="da-DK"/>
              <a:t>Tak for at læse med</a:t>
            </a:r>
            <a:endParaRPr/>
          </a:p>
        </p:txBody>
      </p:sp>
      <p:sp>
        <p:nvSpPr>
          <p:cNvPr id="287" name="Google Shape;287;g3ca2c3f9127_0_0"/>
          <p:cNvSpPr txBox="1"/>
          <p:nvPr>
            <p:ph idx="1" type="body"/>
          </p:nvPr>
        </p:nvSpPr>
        <p:spPr>
          <a:xfrm>
            <a:off x="1079500" y="1587500"/>
            <a:ext cx="3449700" cy="10344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200"/>
              </a:spcBef>
              <a:spcAft>
                <a:spcPts val="0"/>
              </a:spcAft>
              <a:buClr>
                <a:schemeClr val="lt1"/>
              </a:buClr>
              <a:buSzPts val="1100"/>
              <a:buFont typeface="IBM Plex Sans"/>
              <a:buNone/>
            </a:pPr>
            <a:r>
              <a:rPr lang="da-DK"/>
              <a:t>{{Name}} </a:t>
            </a:r>
            <a:endParaRPr/>
          </a:p>
          <a:p>
            <a:pPr indent="0" lvl="0" marL="0" rtl="0" algn="l">
              <a:lnSpc>
                <a:spcPct val="100000"/>
              </a:lnSpc>
              <a:spcBef>
                <a:spcPts val="200"/>
              </a:spcBef>
              <a:spcAft>
                <a:spcPts val="0"/>
              </a:spcAft>
              <a:buClr>
                <a:schemeClr val="lt1"/>
              </a:buClr>
              <a:buSzPts val="1100"/>
              <a:buFont typeface="IBM Plex Sans"/>
              <a:buNone/>
            </a:pPr>
            <a:r>
              <a:rPr lang="da-DK"/>
              <a:t>{{CVR number}}</a:t>
            </a:r>
            <a:endParaRPr/>
          </a:p>
          <a:p>
            <a:pPr indent="0" lvl="0" marL="0" rtl="0" algn="l">
              <a:lnSpc>
                <a:spcPct val="100000"/>
              </a:lnSpc>
              <a:spcBef>
                <a:spcPts val="200"/>
              </a:spcBef>
              <a:spcAft>
                <a:spcPts val="0"/>
              </a:spcAft>
              <a:buClr>
                <a:schemeClr val="lt1"/>
              </a:buClr>
              <a:buSzPts val="1100"/>
              <a:buFont typeface="IBM Plex Sans"/>
              <a:buNone/>
            </a:pPr>
            <a:r>
              <a:rPr lang="da-DK"/>
              <a:t>{{Address}} </a:t>
            </a:r>
            <a:endParaRPr/>
          </a:p>
          <a:p>
            <a:pPr indent="0" lvl="0" marL="0" rtl="0" algn="l">
              <a:lnSpc>
                <a:spcPct val="100000"/>
              </a:lnSpc>
              <a:spcBef>
                <a:spcPts val="200"/>
              </a:spcBef>
              <a:spcAft>
                <a:spcPts val="0"/>
              </a:spcAft>
              <a:buClr>
                <a:schemeClr val="lt1"/>
              </a:buClr>
              <a:buSzPts val="1100"/>
              <a:buFont typeface="IBM Plex Sans"/>
              <a:buNone/>
            </a:pPr>
            <a:r>
              <a:rPr lang="da-DK"/>
              <a:t>{{</a:t>
            </a:r>
            <a:r>
              <a:rPr lang="da-DK"/>
              <a:t>Contact_person_responsible</a:t>
            </a:r>
            <a:r>
              <a:rPr lang="da-DK"/>
              <a:t>}}</a:t>
            </a:r>
            <a:endParaRPr/>
          </a:p>
        </p:txBody>
      </p:sp>
      <p:sp>
        <p:nvSpPr>
          <p:cNvPr id="288" name="Google Shape;288;g3ca2c3f9127_0_0"/>
          <p:cNvSpPr txBox="1"/>
          <p:nvPr>
            <p:ph idx="12" type="sldNum"/>
          </p:nvPr>
        </p:nvSpPr>
        <p:spPr>
          <a:xfrm>
            <a:off x="9180000" y="6450239"/>
            <a:ext cx="2743200" cy="153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da-DK"/>
              <a:t>‹#›</a:t>
            </a:fld>
            <a:endParaRPr/>
          </a:p>
        </p:txBody>
      </p:sp>
      <p:sp>
        <p:nvSpPr>
          <p:cNvPr id="289" name="Google Shape;289;g3ca2c3f9127_0_0"/>
          <p:cNvSpPr txBox="1"/>
          <p:nvPr>
            <p:ph idx="11" type="ftr"/>
          </p:nvPr>
        </p:nvSpPr>
        <p:spPr>
          <a:xfrm>
            <a:off x="8280504" y="224972"/>
            <a:ext cx="3642600" cy="153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a:p>
          <a:p>
            <a:pPr indent="0" lvl="0" marL="0" rtl="0" algn="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0"/>
          <p:cNvSpPr txBox="1"/>
          <p:nvPr>
            <p:ph idx="12" type="sldNum"/>
          </p:nvPr>
        </p:nvSpPr>
        <p:spPr>
          <a:xfrm>
            <a:off x="9180000" y="6450239"/>
            <a:ext cx="2743200" cy="1539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da-DK" sz="1000" u="none" cap="none" strike="noStrike">
                <a:solidFill>
                  <a:srgbClr val="1B4528"/>
                </a:solidFill>
                <a:latin typeface="IBM Plex Sans"/>
                <a:ea typeface="IBM Plex Sans"/>
                <a:cs typeface="IBM Plex Sans"/>
                <a:sym typeface="IBM Plex Sans"/>
              </a:rPr>
              <a:t>‹#›</a:t>
            </a:fld>
            <a:endParaRPr b="0" i="0" sz="1000" u="none" cap="none" strike="noStrike">
              <a:solidFill>
                <a:srgbClr val="1B4528"/>
              </a:solidFill>
              <a:latin typeface="IBM Plex Sans"/>
              <a:ea typeface="IBM Plex Sans"/>
              <a:cs typeface="IBM Plex Sans"/>
              <a:sym typeface="IBM Plex Sans"/>
            </a:endParaRPr>
          </a:p>
        </p:txBody>
      </p:sp>
      <p:sp>
        <p:nvSpPr>
          <p:cNvPr id="295" name="Google Shape;295;p20"/>
          <p:cNvSpPr txBox="1"/>
          <p:nvPr>
            <p:ph idx="11" type="ftr"/>
          </p:nvPr>
        </p:nvSpPr>
        <p:spPr>
          <a:xfrm>
            <a:off x="8280504" y="224972"/>
            <a:ext cx="3642600" cy="1539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1" i="0" lang="da-DK" sz="1000" u="none" cap="none" strike="noStrike">
                <a:solidFill>
                  <a:srgbClr val="1B4528"/>
                </a:solidFill>
                <a:latin typeface="Inter"/>
                <a:ea typeface="Inter"/>
                <a:cs typeface="Inter"/>
                <a:sym typeface="Inter"/>
              </a:rPr>
              <a:t>Company’s name</a:t>
            </a:r>
            <a:endParaRPr b="1" i="0" sz="1000" u="none" cap="none" strike="noStrike">
              <a:solidFill>
                <a:srgbClr val="1B4528"/>
              </a:solidFill>
              <a:latin typeface="Inter"/>
              <a:ea typeface="Inter"/>
              <a:cs typeface="Inter"/>
              <a:sym typeface="Inter"/>
            </a:endParaRPr>
          </a:p>
        </p:txBody>
      </p:sp>
      <p:sp>
        <p:nvSpPr>
          <p:cNvPr id="296" name="Google Shape;296;p20"/>
          <p:cNvSpPr/>
          <p:nvPr/>
        </p:nvSpPr>
        <p:spPr>
          <a:xfrm>
            <a:off x="508000" y="1016000"/>
            <a:ext cx="2601900" cy="1657500"/>
          </a:xfrm>
          <a:prstGeom prst="rect">
            <a:avLst/>
          </a:prstGeom>
          <a:solidFill>
            <a:srgbClr val="FFFFFF">
              <a:alpha val="0"/>
            </a:srgbClr>
          </a:solidFill>
          <a:ln>
            <a:noFill/>
          </a:ln>
        </p:spPr>
        <p:txBody>
          <a:bodyPr anchorCtr="0" anchor="t" bIns="144000" lIns="396000" spcFirstLastPara="1" rIns="108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Regneprincipper</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none" cap="none" strike="noStrike">
                <a:solidFill>
                  <a:srgbClr val="1B4528"/>
                </a:solidFill>
                <a:latin typeface="Inter"/>
                <a:ea typeface="Inter"/>
                <a:cs typeface="Inter"/>
                <a:sym typeface="Inter"/>
              </a:rPr>
              <a:t>Vedvarende energi: Opgøres ud fra andelen af vedvarende energi ifølge miljødeklaration. Denne kan erstattes af oplysninger om den vedvarende energiandel i Energinets miljødeklaration for Danmark.</a:t>
            </a:r>
            <a:endParaRPr b="0" i="0" sz="900" u="none" cap="none" strike="noStrike">
              <a:solidFill>
                <a:srgbClr val="1B4528"/>
              </a:solidFill>
              <a:latin typeface="Inter"/>
              <a:ea typeface="Inter"/>
              <a:cs typeface="Inter"/>
              <a:sym typeface="Inter"/>
            </a:endParaRPr>
          </a:p>
        </p:txBody>
      </p:sp>
      <p:sp>
        <p:nvSpPr>
          <p:cNvPr id="297" name="Google Shape;297;p20"/>
          <p:cNvSpPr/>
          <p:nvPr/>
        </p:nvSpPr>
        <p:spPr>
          <a:xfrm>
            <a:off x="3038425" y="1016000"/>
            <a:ext cx="5153700" cy="28944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0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Begrebsforklaringer</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60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CO₂e </a:t>
            </a:r>
            <a:r>
              <a:rPr b="0" i="0" lang="da-DK" sz="900" u="none" cap="none" strike="noStrike">
                <a:solidFill>
                  <a:srgbClr val="1B4528"/>
                </a:solidFill>
                <a:latin typeface="Inter"/>
                <a:ea typeface="Inter"/>
                <a:cs typeface="Inter"/>
                <a:sym typeface="Inter"/>
              </a:rPr>
              <a:t>står for CO₂-ækvivalenter. CO₂-udledninger måles og rapporteres som CO₂e under tre forskellige typer udslip, refereret til som scope 1, 2 og 3. </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40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Scope 1 </a:t>
            </a:r>
            <a:r>
              <a:rPr b="0" i="0" lang="da-DK" sz="900" u="none" cap="none" strike="noStrike">
                <a:solidFill>
                  <a:srgbClr val="1B4528"/>
                </a:solidFill>
                <a:latin typeface="Inter"/>
                <a:ea typeface="Inter"/>
                <a:cs typeface="Inter"/>
                <a:sym typeface="Inter"/>
              </a:rPr>
              <a:t>er de direkte udledninger fra aktiviteter, som virksomheden selv kontrollerer. Det er altså emissioner </a:t>
            </a:r>
            <a:br>
              <a:rPr b="0" i="0" lang="da-DK" sz="900" u="none" cap="none" strike="noStrike">
                <a:solidFill>
                  <a:srgbClr val="1B4528"/>
                </a:solidFill>
                <a:latin typeface="Inter"/>
                <a:ea typeface="Inter"/>
                <a:cs typeface="Inter"/>
                <a:sym typeface="Inter"/>
              </a:rPr>
            </a:br>
            <a:r>
              <a:rPr b="0" i="0" lang="da-DK" sz="900" u="none" cap="none" strike="noStrike">
                <a:solidFill>
                  <a:srgbClr val="1B4528"/>
                </a:solidFill>
                <a:latin typeface="Inter"/>
                <a:ea typeface="Inter"/>
                <a:cs typeface="Inter"/>
                <a:sym typeface="Inter"/>
              </a:rPr>
              <a:t>fra egne køretøjer og egne anlæg til varme- og energiproduktion, fx naturgasanlæg.</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40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Scope 2 </a:t>
            </a:r>
            <a:r>
              <a:rPr b="0" i="0" lang="da-DK" sz="900" u="none" cap="none" strike="noStrike">
                <a:solidFill>
                  <a:srgbClr val="1B4528"/>
                </a:solidFill>
                <a:latin typeface="Inter"/>
                <a:ea typeface="Inter"/>
                <a:cs typeface="Inter"/>
                <a:sym typeface="Inter"/>
              </a:rPr>
              <a:t>er de indirekte udledninger fra forsynet energi, herunder elektricitet og fjernvarme. Her sker udledningen et andet sted, fx på dit lokale kraftvarme- eller fjernvarmeværk. </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40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Lokationsbaseret CO₂e </a:t>
            </a:r>
            <a:r>
              <a:rPr b="0" i="0" lang="da-DK" sz="900" u="none" cap="none" strike="noStrike">
                <a:solidFill>
                  <a:srgbClr val="1B4528"/>
                </a:solidFill>
                <a:latin typeface="Inter"/>
                <a:ea typeface="Inter"/>
                <a:cs typeface="Inter"/>
                <a:sym typeface="Inter"/>
              </a:rPr>
              <a:t>vil sige, at der opgøres den </a:t>
            </a:r>
            <a:br>
              <a:rPr b="0" i="0" lang="da-DK" sz="900" u="none" cap="none" strike="noStrike">
                <a:solidFill>
                  <a:srgbClr val="1B4528"/>
                </a:solidFill>
                <a:latin typeface="Inter"/>
                <a:ea typeface="Inter"/>
                <a:cs typeface="Inter"/>
                <a:sym typeface="Inter"/>
              </a:rPr>
            </a:br>
            <a:r>
              <a:rPr b="0" i="0" lang="da-DK" sz="900" u="none" cap="none" strike="noStrike">
                <a:solidFill>
                  <a:srgbClr val="1B4528"/>
                </a:solidFill>
                <a:latin typeface="Inter"/>
                <a:ea typeface="Inter"/>
                <a:cs typeface="Inter"/>
                <a:sym typeface="Inter"/>
              </a:rPr>
              <a:t>faktiske udledning forbundet med produktion af den </a:t>
            </a:r>
            <a:br>
              <a:rPr b="0" i="0" lang="da-DK" sz="900" u="none" cap="none" strike="noStrike">
                <a:solidFill>
                  <a:srgbClr val="1B4528"/>
                </a:solidFill>
                <a:latin typeface="Inter"/>
                <a:ea typeface="Inter"/>
                <a:cs typeface="Inter"/>
                <a:sym typeface="Inter"/>
              </a:rPr>
            </a:br>
            <a:r>
              <a:rPr b="0" i="0" lang="da-DK" sz="900" u="none" cap="none" strike="noStrike">
                <a:solidFill>
                  <a:srgbClr val="1B4528"/>
                </a:solidFill>
                <a:latin typeface="Inter"/>
                <a:ea typeface="Inter"/>
                <a:cs typeface="Inter"/>
                <a:sym typeface="Inter"/>
              </a:rPr>
              <a:t>strøm, der kommer ud af stikkontakten. Det er kun de lokationsbaserede scope 2 udledninger, du “skal” oplyse, når du følger den frivillige SMV-standard.</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40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Markedsbaseret CO₂e </a:t>
            </a:r>
            <a:r>
              <a:rPr b="0" i="0" lang="da-DK" sz="900" u="none" cap="none" strike="noStrike">
                <a:solidFill>
                  <a:srgbClr val="1B4528"/>
                </a:solidFill>
                <a:latin typeface="Inter"/>
                <a:ea typeface="Inter"/>
                <a:cs typeface="Inter"/>
                <a:sym typeface="Inter"/>
              </a:rPr>
              <a:t>kan du evt. vælge at supplere med. Det er især relevant, hvis din virksomhed køber såkaldte oprindelsesgarantier, dvs. certifikater for grøn strøm. </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40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Greenhouse gas </a:t>
            </a:r>
            <a:r>
              <a:rPr b="0" i="0" lang="da-DK" sz="900" u="none" cap="none" strike="noStrike">
                <a:solidFill>
                  <a:srgbClr val="1B4528"/>
                </a:solidFill>
                <a:latin typeface="Inter"/>
                <a:ea typeface="Inter"/>
                <a:cs typeface="Inter"/>
                <a:sym typeface="Inter"/>
              </a:rPr>
              <a:t>(GHG)-protokollen er en internationalt anerkendt standard for virksomheders opgørelse af </a:t>
            </a:r>
            <a:br>
              <a:rPr b="0" i="0" lang="da-DK" sz="900" u="none" cap="none" strike="noStrike">
                <a:solidFill>
                  <a:srgbClr val="1B4528"/>
                </a:solidFill>
                <a:latin typeface="Inter"/>
                <a:ea typeface="Inter"/>
                <a:cs typeface="Inter"/>
                <a:sym typeface="Inter"/>
              </a:rPr>
            </a:br>
            <a:r>
              <a:rPr b="0" i="0" lang="da-DK" sz="900" u="none" cap="none" strike="noStrike">
                <a:solidFill>
                  <a:srgbClr val="1B4528"/>
                </a:solidFill>
                <a:latin typeface="Inter"/>
                <a:ea typeface="Inter"/>
                <a:cs typeface="Inter"/>
                <a:sym typeface="Inter"/>
              </a:rPr>
              <a:t>CO₂-udledning, som anbefales af EU-Kommissionen. Beregningsmodellen i Klimakompasset bygger på denne standard. </a:t>
            </a:r>
            <a:endParaRPr b="0" i="0" sz="900" u="none" cap="none" strike="noStrike">
              <a:solidFill>
                <a:srgbClr val="1B4528"/>
              </a:solidFill>
              <a:latin typeface="Inter"/>
              <a:ea typeface="Inter"/>
              <a:cs typeface="Inter"/>
              <a:sym typeface="Inter"/>
            </a:endParaRPr>
          </a:p>
        </p:txBody>
      </p:sp>
      <p:pic>
        <p:nvPicPr>
          <p:cNvPr id="298" name="Google Shape;298;p20"/>
          <p:cNvPicPr preferRelativeResize="0"/>
          <p:nvPr/>
        </p:nvPicPr>
        <p:blipFill rotWithShape="1">
          <a:blip r:embed="rId3">
            <a:alphaModFix/>
          </a:blip>
          <a:srcRect b="0" l="0" r="0" t="0"/>
          <a:stretch/>
        </p:blipFill>
        <p:spPr>
          <a:xfrm>
            <a:off x="606761" y="1106047"/>
            <a:ext cx="207454" cy="232601"/>
          </a:xfrm>
          <a:prstGeom prst="rect">
            <a:avLst/>
          </a:prstGeom>
          <a:noFill/>
          <a:ln>
            <a:noFill/>
          </a:ln>
        </p:spPr>
      </p:pic>
      <p:pic>
        <p:nvPicPr>
          <p:cNvPr id="299" name="Google Shape;299;p20"/>
          <p:cNvPicPr preferRelativeResize="0"/>
          <p:nvPr/>
        </p:nvPicPr>
        <p:blipFill rotWithShape="1">
          <a:blip r:embed="rId4">
            <a:alphaModFix/>
          </a:blip>
          <a:srcRect b="0" l="0" r="0" t="0"/>
          <a:stretch/>
        </p:blipFill>
        <p:spPr>
          <a:xfrm>
            <a:off x="3112039" y="1102048"/>
            <a:ext cx="257747" cy="232600"/>
          </a:xfrm>
          <a:prstGeom prst="rect">
            <a:avLst/>
          </a:prstGeom>
          <a:noFill/>
          <a:ln>
            <a:noFill/>
          </a:ln>
        </p:spPr>
      </p:pic>
      <p:sp>
        <p:nvSpPr>
          <p:cNvPr id="300" name="Google Shape;300;p20"/>
          <p:cNvSpPr txBox="1"/>
          <p:nvPr>
            <p:ph type="title"/>
          </p:nvPr>
        </p:nvSpPr>
        <p:spPr>
          <a:xfrm>
            <a:off x="1011450" y="513925"/>
            <a:ext cx="10672500" cy="249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solidFill>
                  <a:schemeClr val="dk2"/>
                </a:solidFill>
                <a:latin typeface="Inter"/>
                <a:ea typeface="Inter"/>
                <a:cs typeface="Inter"/>
                <a:sym typeface="Inter"/>
              </a:rPr>
              <a:t>Energi og CO₂e udledning</a:t>
            </a:r>
            <a:endParaRPr>
              <a:solidFill>
                <a:schemeClr val="dk2"/>
              </a:solidFill>
              <a:latin typeface="Inter"/>
              <a:ea typeface="Inter"/>
              <a:cs typeface="Inter"/>
              <a:sym typeface="Inter"/>
            </a:endParaRPr>
          </a:p>
        </p:txBody>
      </p:sp>
      <p:sp>
        <p:nvSpPr>
          <p:cNvPr id="301" name="Google Shape;301;p20"/>
          <p:cNvSpPr/>
          <p:nvPr/>
        </p:nvSpPr>
        <p:spPr>
          <a:xfrm>
            <a:off x="8169275" y="1016000"/>
            <a:ext cx="3514800" cy="18813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Datakilder (Kilde: Erhvervsstyrelsen)</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none" cap="none" strike="noStrike">
                <a:solidFill>
                  <a:srgbClr val="1B4528"/>
                </a:solidFill>
                <a:latin typeface="Inter"/>
                <a:ea typeface="Inter"/>
                <a:cs typeface="Inter"/>
                <a:sym typeface="Inter"/>
              </a:rPr>
              <a:t>Info om brug af elektricitet aflæses på opgørelser fra egne forsyningsselskaber</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sng" cap="none" strike="noStrike">
                <a:solidFill>
                  <a:srgbClr val="1B4528"/>
                </a:solidFill>
                <a:latin typeface="Inter"/>
                <a:ea typeface="Inter"/>
                <a:cs typeface="Inter"/>
                <a:sym typeface="Inter"/>
                <a:hlinkClick r:id="rId5">
                  <a:extLst>
                    <a:ext uri="{A12FA001-AC4F-418D-AE19-62706E023703}">
                      <ahyp:hlinkClr val="tx"/>
                    </a:ext>
                  </a:extLst>
                </a:hlinkClick>
              </a:rPr>
              <a:t>Brug evt. det gratis værktøj, Klimakompasset, til at udregne din scope 1 og 2 udledning</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sng" cap="none" strike="noStrike">
                <a:solidFill>
                  <a:srgbClr val="1B4528"/>
                </a:solidFill>
                <a:latin typeface="Inter"/>
                <a:ea typeface="Inter"/>
                <a:cs typeface="Inter"/>
                <a:sym typeface="Inter"/>
                <a:hlinkClick r:id="rId6">
                  <a:extLst>
                    <a:ext uri="{A12FA001-AC4F-418D-AE19-62706E023703}">
                      <ahyp:hlinkClr val="tx"/>
                    </a:ext>
                  </a:extLst>
                </a:hlinkClick>
              </a:rPr>
              <a:t>Få vejledning om, hvordan du laver et klimaregnskab på Virksomhedsguiden</a:t>
            </a:r>
            <a:endParaRPr b="0" i="0" sz="900" u="none" cap="none" strike="noStrike">
              <a:solidFill>
                <a:srgbClr val="1B4528"/>
              </a:solidFill>
              <a:latin typeface="Inter"/>
              <a:ea typeface="Inter"/>
              <a:cs typeface="Inter"/>
              <a:sym typeface="Inter"/>
            </a:endParaRPr>
          </a:p>
        </p:txBody>
      </p:sp>
      <p:pic>
        <p:nvPicPr>
          <p:cNvPr id="302" name="Google Shape;302;p20"/>
          <p:cNvPicPr preferRelativeResize="0"/>
          <p:nvPr/>
        </p:nvPicPr>
        <p:blipFill rotWithShape="1">
          <a:blip r:embed="rId7">
            <a:alphaModFix/>
          </a:blip>
          <a:srcRect b="0" l="0" r="0" t="0"/>
          <a:stretch/>
        </p:blipFill>
        <p:spPr>
          <a:xfrm>
            <a:off x="8330477" y="2368496"/>
            <a:ext cx="83482" cy="88700"/>
          </a:xfrm>
          <a:prstGeom prst="rect">
            <a:avLst/>
          </a:prstGeom>
          <a:noFill/>
          <a:ln>
            <a:noFill/>
          </a:ln>
        </p:spPr>
      </p:pic>
      <p:pic>
        <p:nvPicPr>
          <p:cNvPr id="303" name="Google Shape;303;p20"/>
          <p:cNvPicPr preferRelativeResize="0"/>
          <p:nvPr/>
        </p:nvPicPr>
        <p:blipFill rotWithShape="1">
          <a:blip r:embed="rId8">
            <a:alphaModFix/>
          </a:blip>
          <a:srcRect b="0" l="0" r="0" t="0"/>
          <a:stretch/>
        </p:blipFill>
        <p:spPr>
          <a:xfrm>
            <a:off x="8250183" y="1093974"/>
            <a:ext cx="226314" cy="226314"/>
          </a:xfrm>
          <a:prstGeom prst="rect">
            <a:avLst/>
          </a:prstGeom>
          <a:noFill/>
          <a:ln>
            <a:noFill/>
          </a:ln>
        </p:spPr>
      </p:pic>
      <p:pic>
        <p:nvPicPr>
          <p:cNvPr id="304" name="Google Shape;304;p20"/>
          <p:cNvPicPr preferRelativeResize="0"/>
          <p:nvPr/>
        </p:nvPicPr>
        <p:blipFill rotWithShape="1">
          <a:blip r:embed="rId7">
            <a:alphaModFix/>
          </a:blip>
          <a:srcRect b="0" l="0" r="0" t="0"/>
          <a:stretch/>
        </p:blipFill>
        <p:spPr>
          <a:xfrm>
            <a:off x="8330477" y="1927148"/>
            <a:ext cx="83482" cy="88700"/>
          </a:xfrm>
          <a:prstGeom prst="rect">
            <a:avLst/>
          </a:prstGeom>
          <a:noFill/>
          <a:ln>
            <a:noFill/>
          </a:ln>
        </p:spPr>
      </p:pic>
      <p:sp>
        <p:nvSpPr>
          <p:cNvPr id="305" name="Google Shape;305;p20"/>
          <p:cNvSpPr txBox="1"/>
          <p:nvPr>
            <p:ph type="title"/>
          </p:nvPr>
        </p:nvSpPr>
        <p:spPr>
          <a:xfrm>
            <a:off x="1006175" y="4538250"/>
            <a:ext cx="10672500" cy="249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solidFill>
                  <a:schemeClr val="dk2"/>
                </a:solidFill>
                <a:latin typeface="Inter"/>
                <a:ea typeface="Inter"/>
                <a:cs typeface="Inter"/>
                <a:sym typeface="Inter"/>
              </a:rPr>
              <a:t>Forurening af luft, vand og jord	 </a:t>
            </a:r>
            <a:endParaRPr>
              <a:solidFill>
                <a:schemeClr val="dk2"/>
              </a:solidFill>
              <a:latin typeface="Inter"/>
              <a:ea typeface="Inter"/>
              <a:cs typeface="Inter"/>
              <a:sym typeface="Inter"/>
            </a:endParaRPr>
          </a:p>
        </p:txBody>
      </p:sp>
      <p:sp>
        <p:nvSpPr>
          <p:cNvPr id="306" name="Google Shape;306;p20"/>
          <p:cNvSpPr/>
          <p:nvPr/>
        </p:nvSpPr>
        <p:spPr>
          <a:xfrm>
            <a:off x="3109900" y="5109250"/>
            <a:ext cx="4688100" cy="13314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Begrebsforklaringer</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EMAS:</a:t>
            </a:r>
            <a:r>
              <a:rPr b="0" i="0" lang="da-DK" sz="900" u="none" cap="none" strike="noStrike">
                <a:solidFill>
                  <a:srgbClr val="1B4528"/>
                </a:solidFill>
                <a:latin typeface="Inter"/>
                <a:ea typeface="Inter"/>
                <a:cs typeface="Inter"/>
                <a:sym typeface="Inter"/>
              </a:rPr>
              <a:t> EMAS står for “Eco-Management and Audit Scheme”. Det er EU’s miljøledelsesordning, som er frivillig og henvender sig til alle typer virksomheder. Som certificeret virksomhed viser man sine kunder og omverdenen, at man lever op til EU’s krav om miljøledelse.</a:t>
            </a:r>
            <a:endParaRPr b="0" i="0" sz="900" u="none" cap="none" strike="noStrike">
              <a:solidFill>
                <a:srgbClr val="1B4528"/>
              </a:solidFill>
              <a:latin typeface="Inter"/>
              <a:ea typeface="Inter"/>
              <a:cs typeface="Inter"/>
              <a:sym typeface="Inter"/>
            </a:endParaRPr>
          </a:p>
        </p:txBody>
      </p:sp>
      <p:sp>
        <p:nvSpPr>
          <p:cNvPr id="307" name="Google Shape;307;p20"/>
          <p:cNvSpPr/>
          <p:nvPr/>
        </p:nvSpPr>
        <p:spPr>
          <a:xfrm>
            <a:off x="8330475" y="5040322"/>
            <a:ext cx="3514800" cy="11286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Mulige datakilder (Kilde: Erhvervsstyrelsen)</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sng" cap="none" strike="noStrike">
                <a:solidFill>
                  <a:srgbClr val="1B4528"/>
                </a:solidFill>
                <a:latin typeface="Inter"/>
                <a:ea typeface="Inter"/>
                <a:cs typeface="Inter"/>
                <a:sym typeface="Inter"/>
                <a:hlinkClick r:id="rId9">
                  <a:extLst>
                    <a:ext uri="{A12FA001-AC4F-418D-AE19-62706E023703}">
                      <ahyp:hlinkClr val="tx"/>
                    </a:ext>
                  </a:extLst>
                </a:hlinkClick>
              </a:rPr>
              <a:t>Læs mere om EMAS på Miljøstyrelsens hjemmeside</a:t>
            </a:r>
            <a:endParaRPr b="0" i="0" sz="900" u="none" cap="none" strike="noStrike">
              <a:solidFill>
                <a:srgbClr val="1B4528"/>
              </a:solidFill>
              <a:latin typeface="Inter"/>
              <a:ea typeface="Inter"/>
              <a:cs typeface="Inter"/>
              <a:sym typeface="Inter"/>
            </a:endParaRPr>
          </a:p>
        </p:txBody>
      </p:sp>
      <p:pic>
        <p:nvPicPr>
          <p:cNvPr id="308" name="Google Shape;308;p20"/>
          <p:cNvPicPr preferRelativeResize="0"/>
          <p:nvPr/>
        </p:nvPicPr>
        <p:blipFill rotWithShape="1">
          <a:blip r:embed="rId8">
            <a:alphaModFix/>
          </a:blip>
          <a:srcRect b="0" l="0" r="0" t="0"/>
          <a:stretch/>
        </p:blipFill>
        <p:spPr>
          <a:xfrm>
            <a:off x="8420774" y="5109246"/>
            <a:ext cx="226314" cy="226314"/>
          </a:xfrm>
          <a:prstGeom prst="rect">
            <a:avLst/>
          </a:prstGeom>
          <a:noFill/>
          <a:ln>
            <a:noFill/>
          </a:ln>
        </p:spPr>
      </p:pic>
      <p:pic>
        <p:nvPicPr>
          <p:cNvPr id="309" name="Google Shape;309;p20"/>
          <p:cNvPicPr preferRelativeResize="0"/>
          <p:nvPr/>
        </p:nvPicPr>
        <p:blipFill rotWithShape="1">
          <a:blip r:embed="rId4">
            <a:alphaModFix/>
          </a:blip>
          <a:srcRect b="0" l="0" r="0" t="0"/>
          <a:stretch/>
        </p:blipFill>
        <p:spPr>
          <a:xfrm>
            <a:off x="3173883" y="5197292"/>
            <a:ext cx="257747" cy="232600"/>
          </a:xfrm>
          <a:prstGeom prst="rect">
            <a:avLst/>
          </a:prstGeom>
          <a:noFill/>
          <a:ln>
            <a:noFill/>
          </a:ln>
        </p:spPr>
      </p:pic>
      <p:pic>
        <p:nvPicPr>
          <p:cNvPr id="310" name="Google Shape;310;p20"/>
          <p:cNvPicPr preferRelativeResize="0"/>
          <p:nvPr/>
        </p:nvPicPr>
        <p:blipFill rotWithShape="1">
          <a:blip r:embed="rId7">
            <a:alphaModFix/>
          </a:blip>
          <a:srcRect b="0" l="0" r="0" t="0"/>
          <a:stretch/>
        </p:blipFill>
        <p:spPr>
          <a:xfrm>
            <a:off x="8502277" y="5473477"/>
            <a:ext cx="83482" cy="88700"/>
          </a:xfrm>
          <a:prstGeom prst="rect">
            <a:avLst/>
          </a:prstGeom>
          <a:noFill/>
          <a:ln>
            <a:noFill/>
          </a:ln>
        </p:spPr>
      </p:pic>
      <p:pic>
        <p:nvPicPr>
          <p:cNvPr id="311" name="Google Shape;311;p20" title="Frame 1000002375.png"/>
          <p:cNvPicPr preferRelativeResize="0"/>
          <p:nvPr/>
        </p:nvPicPr>
        <p:blipFill rotWithShape="1">
          <a:blip r:embed="rId10">
            <a:alphaModFix/>
          </a:blip>
          <a:srcRect b="0" l="0" r="0" t="0"/>
          <a:stretch/>
        </p:blipFill>
        <p:spPr>
          <a:xfrm>
            <a:off x="606761" y="509692"/>
            <a:ext cx="342900" cy="242888"/>
          </a:xfrm>
          <a:prstGeom prst="rect">
            <a:avLst/>
          </a:prstGeom>
          <a:noFill/>
          <a:ln>
            <a:noFill/>
          </a:ln>
        </p:spPr>
      </p:pic>
      <p:pic>
        <p:nvPicPr>
          <p:cNvPr id="312" name="Google Shape;312;p20" title="Frame 1000002375.png"/>
          <p:cNvPicPr preferRelativeResize="0"/>
          <p:nvPr/>
        </p:nvPicPr>
        <p:blipFill rotWithShape="1">
          <a:blip r:embed="rId11">
            <a:alphaModFix/>
          </a:blip>
          <a:srcRect b="0" l="0" r="0" t="0"/>
          <a:stretch/>
        </p:blipFill>
        <p:spPr>
          <a:xfrm>
            <a:off x="599617" y="4534017"/>
            <a:ext cx="350044" cy="24288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1"/>
          <p:cNvSpPr txBox="1"/>
          <p:nvPr>
            <p:ph idx="12" type="sldNum"/>
          </p:nvPr>
        </p:nvSpPr>
        <p:spPr>
          <a:xfrm>
            <a:off x="9180000" y="6450239"/>
            <a:ext cx="2743200" cy="1539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da-DK" sz="1000" u="none" cap="none" strike="noStrike">
                <a:solidFill>
                  <a:srgbClr val="1B4528"/>
                </a:solidFill>
                <a:latin typeface="IBM Plex Sans"/>
                <a:ea typeface="IBM Plex Sans"/>
                <a:cs typeface="IBM Plex Sans"/>
                <a:sym typeface="IBM Plex Sans"/>
              </a:rPr>
              <a:t>‹#›</a:t>
            </a:fld>
            <a:endParaRPr b="0" i="0" sz="1000" u="none" cap="none" strike="noStrike">
              <a:solidFill>
                <a:srgbClr val="1B4528"/>
              </a:solidFill>
              <a:latin typeface="IBM Plex Sans"/>
              <a:ea typeface="IBM Plex Sans"/>
              <a:cs typeface="IBM Plex Sans"/>
              <a:sym typeface="IBM Plex Sans"/>
            </a:endParaRPr>
          </a:p>
        </p:txBody>
      </p:sp>
      <p:sp>
        <p:nvSpPr>
          <p:cNvPr id="318" name="Google Shape;318;p21"/>
          <p:cNvSpPr txBox="1"/>
          <p:nvPr>
            <p:ph idx="11" type="ftr"/>
          </p:nvPr>
        </p:nvSpPr>
        <p:spPr>
          <a:xfrm>
            <a:off x="8280504" y="224972"/>
            <a:ext cx="3642600" cy="1539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1" i="0" lang="da-DK" sz="1000" u="none" cap="none" strike="noStrike">
                <a:solidFill>
                  <a:srgbClr val="1B4528"/>
                </a:solidFill>
                <a:latin typeface="Inter"/>
                <a:ea typeface="Inter"/>
                <a:cs typeface="Inter"/>
                <a:sym typeface="Inter"/>
              </a:rPr>
              <a:t>Company’s name</a:t>
            </a:r>
            <a:endParaRPr b="1" i="0" sz="1000" u="none" cap="none" strike="noStrike">
              <a:solidFill>
                <a:srgbClr val="1B4528"/>
              </a:solidFill>
              <a:latin typeface="Inter"/>
              <a:ea typeface="Inter"/>
              <a:cs typeface="Inter"/>
              <a:sym typeface="Inter"/>
            </a:endParaRPr>
          </a:p>
        </p:txBody>
      </p:sp>
      <p:sp>
        <p:nvSpPr>
          <p:cNvPr id="319" name="Google Shape;319;p21"/>
          <p:cNvSpPr txBox="1"/>
          <p:nvPr>
            <p:ph type="title"/>
          </p:nvPr>
        </p:nvSpPr>
        <p:spPr>
          <a:xfrm>
            <a:off x="1011450" y="513925"/>
            <a:ext cx="10672500" cy="249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solidFill>
                  <a:schemeClr val="dk2"/>
                </a:solidFill>
                <a:latin typeface="Inter"/>
                <a:ea typeface="Inter"/>
                <a:cs typeface="Inter"/>
                <a:sym typeface="Inter"/>
              </a:rPr>
              <a:t>Biodiversitet</a:t>
            </a:r>
            <a:endParaRPr>
              <a:solidFill>
                <a:schemeClr val="dk2"/>
              </a:solidFill>
              <a:latin typeface="Inter"/>
              <a:ea typeface="Inter"/>
              <a:cs typeface="Inter"/>
              <a:sym typeface="Inter"/>
            </a:endParaRPr>
          </a:p>
        </p:txBody>
      </p:sp>
      <p:sp>
        <p:nvSpPr>
          <p:cNvPr id="320" name="Google Shape;320;p21"/>
          <p:cNvSpPr/>
          <p:nvPr/>
        </p:nvSpPr>
        <p:spPr>
          <a:xfrm>
            <a:off x="518600" y="1016000"/>
            <a:ext cx="6767400" cy="38925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Begrebsforklaringer </a:t>
            </a:r>
            <a:endParaRPr b="1"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Et biodiversitetsfølsomt område </a:t>
            </a:r>
            <a:r>
              <a:rPr b="0" i="0" lang="da-DK" sz="900" u="none" cap="none" strike="noStrike">
                <a:solidFill>
                  <a:srgbClr val="1B4528"/>
                </a:solidFill>
                <a:latin typeface="Inter"/>
                <a:ea typeface="Inter"/>
                <a:cs typeface="Inter"/>
                <a:sym typeface="Inter"/>
              </a:rPr>
              <a:t>er defineret af naturbeskyttelseslovgivning på EU-niveau eller internationalt niveau. Det kan for eksempel være områder, der hører til Natura 2000-netværket, UNESCO World Heritage eller Key Biodiversity Areas. </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80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Lokation</a:t>
            </a:r>
            <a:r>
              <a:rPr b="0" i="0" lang="da-DK" sz="900" u="none" cap="none" strike="noStrike">
                <a:solidFill>
                  <a:srgbClr val="1B4528"/>
                </a:solidFill>
                <a:latin typeface="Inter"/>
                <a:ea typeface="Inter"/>
                <a:cs typeface="Inter"/>
                <a:sym typeface="Inter"/>
              </a:rPr>
              <a:t> dækker over alle områder, som din virksomhed enten: a) ejer, b) lejer eller c) kontrollerer (dvs. virksomheden kontrollerer driften af lokationen).</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80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“I nærheden af” </a:t>
            </a:r>
            <a:r>
              <a:rPr b="0" i="0" lang="da-DK" sz="900" u="none" cap="none" strike="noStrike">
                <a:solidFill>
                  <a:srgbClr val="1B4528"/>
                </a:solidFill>
                <a:latin typeface="Inter"/>
                <a:ea typeface="Inter"/>
                <a:cs typeface="Inter"/>
                <a:sym typeface="Inter"/>
              </a:rPr>
              <a:t>betyder i denne sammenhæng et område, der (delvist) overlapper eller støder op til (=nabo til) et biodiversitetsfølsomt område.</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80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Et befæstet område </a:t>
            </a:r>
            <a:r>
              <a:rPr b="0" i="0" lang="da-DK" sz="900" u="none" cap="none" strike="noStrike">
                <a:solidFill>
                  <a:srgbClr val="1B4528"/>
                </a:solidFill>
                <a:latin typeface="Inter"/>
                <a:ea typeface="Inter"/>
                <a:cs typeface="Inter"/>
                <a:sym typeface="Inter"/>
              </a:rPr>
              <a:t>er et hvilket som helst område, hvor den oprindelige jord er blevet dækket til (såsom veje) for at gøre den uigennemtrængelig. Denne uigennemtrængelighed kan påvirke miljøet.</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80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Et naturorienteret område </a:t>
            </a:r>
            <a:r>
              <a:rPr b="0" i="0" lang="da-DK" sz="900" u="none" cap="none" strike="noStrike">
                <a:solidFill>
                  <a:srgbClr val="1B4528"/>
                </a:solidFill>
                <a:latin typeface="Inter"/>
                <a:ea typeface="Inter"/>
                <a:cs typeface="Inter"/>
                <a:sym typeface="Inter"/>
              </a:rPr>
              <a:t>er et område, der primært anvendes til naturbevarelse eller naturgenopretning. Naturorienterede områder kan være beliggende på et anlægsområde og omfatte tage, facader, dræningssystemer og andre elementer, som er udformet, tilpasset eller forvaltet med henblik på at fremme biodiversitet. Naturorienterede områder kan også være beliggende uden for organisationens anlægsområde, forudsat at området er ejet eller forvaltet af organisationen og primært anvendes til at fremme biodiversitet. Samforvaltede områder, der anvendes til at fremme biodiversitet, kan også inkluderes, forudsat at omfanget af den fælles forvaltning er klart fastlagt.</a:t>
            </a:r>
            <a:endParaRPr b="0" i="0" sz="900" u="none" cap="none" strike="noStrike">
              <a:solidFill>
                <a:srgbClr val="1B4528"/>
              </a:solidFill>
              <a:latin typeface="Inter"/>
              <a:ea typeface="Inter"/>
              <a:cs typeface="Inter"/>
              <a:sym typeface="Inter"/>
            </a:endParaRPr>
          </a:p>
        </p:txBody>
      </p:sp>
      <p:pic>
        <p:nvPicPr>
          <p:cNvPr id="321" name="Google Shape;321;p21"/>
          <p:cNvPicPr preferRelativeResize="0"/>
          <p:nvPr/>
        </p:nvPicPr>
        <p:blipFill rotWithShape="1">
          <a:blip r:embed="rId3">
            <a:alphaModFix/>
          </a:blip>
          <a:srcRect b="0" l="0" r="0" t="0"/>
          <a:stretch/>
        </p:blipFill>
        <p:spPr>
          <a:xfrm>
            <a:off x="582583" y="1104042"/>
            <a:ext cx="257747" cy="232600"/>
          </a:xfrm>
          <a:prstGeom prst="rect">
            <a:avLst/>
          </a:prstGeom>
          <a:noFill/>
          <a:ln>
            <a:noFill/>
          </a:ln>
        </p:spPr>
      </p:pic>
      <p:sp>
        <p:nvSpPr>
          <p:cNvPr id="322" name="Google Shape;322;p21"/>
          <p:cNvSpPr/>
          <p:nvPr/>
        </p:nvSpPr>
        <p:spPr>
          <a:xfrm>
            <a:off x="8169275" y="1016000"/>
            <a:ext cx="3514800" cy="27309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Mulige datakilder (Kilde: Erhvervsstyrelsen)</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sng" cap="none" strike="noStrike">
                <a:solidFill>
                  <a:srgbClr val="1B4528"/>
                </a:solidFill>
                <a:latin typeface="Inter"/>
                <a:ea typeface="Inter"/>
                <a:cs typeface="Inter"/>
                <a:sym typeface="Inter"/>
                <a:hlinkClick r:id="rId4">
                  <a:extLst>
                    <a:ext uri="{A12FA001-AC4F-418D-AE19-62706E023703}">
                      <ahyp:hlinkClr val="tx"/>
                    </a:ext>
                  </a:extLst>
                </a:hlinkClick>
              </a:rPr>
              <a:t>Se kort over Natura 2000-områder i Danmark</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sng" cap="none" strike="noStrike">
              <a:solidFill>
                <a:srgbClr val="1B4528"/>
              </a:solidFill>
              <a:latin typeface="Inter"/>
              <a:ea typeface="Inter"/>
              <a:cs typeface="Inter"/>
              <a:sym typeface="Inter"/>
              <a:hlinkClick r:id="rId5">
                <a:extLst>
                  <a:ext uri="{A12FA001-AC4F-418D-AE19-62706E023703}">
                    <ahyp:hlinkClr val="tx"/>
                  </a:ext>
                </a:extLst>
              </a:hlinkClick>
            </a:endParaRPr>
          </a:p>
          <a:p>
            <a:pPr indent="0" lvl="0" marL="0" marR="0" rtl="0" algn="l">
              <a:lnSpc>
                <a:spcPct val="106000"/>
              </a:lnSpc>
              <a:spcBef>
                <a:spcPts val="0"/>
              </a:spcBef>
              <a:spcAft>
                <a:spcPts val="0"/>
              </a:spcAft>
              <a:buClr>
                <a:srgbClr val="000000"/>
              </a:buClr>
              <a:buSzPts val="900"/>
              <a:buFont typeface="Arial"/>
              <a:buNone/>
            </a:pPr>
            <a:r>
              <a:rPr b="0" i="0" lang="da-DK" sz="900" u="sng" cap="none" strike="noStrike">
                <a:solidFill>
                  <a:srgbClr val="1B4528"/>
                </a:solidFill>
                <a:latin typeface="Inter"/>
                <a:ea typeface="Inter"/>
                <a:cs typeface="Inter"/>
                <a:sym typeface="Inter"/>
                <a:hlinkClick r:id="rId6">
                  <a:extLst>
                    <a:ext uri="{A12FA001-AC4F-418D-AE19-62706E023703}">
                      <ahyp:hlinkClr val="tx"/>
                    </a:ext>
                  </a:extLst>
                </a:hlinkClick>
              </a:rPr>
              <a:t>Læs mere om Natura 2000-områder hos Miljøstyrelsen</a:t>
            </a:r>
            <a:endParaRPr b="0" i="0" sz="900" u="sng" cap="none" strike="noStrike">
              <a:solidFill>
                <a:srgbClr val="1B4528"/>
              </a:solidFill>
              <a:latin typeface="Inter"/>
              <a:ea typeface="Inter"/>
              <a:cs typeface="Inter"/>
              <a:sym typeface="Inter"/>
              <a:hlinkClick r:id="rId7">
                <a:extLst>
                  <a:ext uri="{A12FA001-AC4F-418D-AE19-62706E023703}">
                    <ahyp:hlinkClr val="tx"/>
                  </a:ext>
                </a:extLst>
              </a:hlinkClick>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sng" cap="none" strike="noStrike">
                <a:solidFill>
                  <a:srgbClr val="1B4528"/>
                </a:solidFill>
                <a:latin typeface="Inter"/>
                <a:ea typeface="Inter"/>
                <a:cs typeface="Inter"/>
                <a:sym typeface="Inter"/>
                <a:hlinkClick r:id="rId8">
                  <a:extLst>
                    <a:ext uri="{A12FA001-AC4F-418D-AE19-62706E023703}">
                      <ahyp:hlinkClr val="tx"/>
                    </a:ext>
                  </a:extLst>
                </a:hlinkClick>
              </a:rPr>
              <a:t>Se kort over biodiversitetsfølsomme områder på hjemmesiden Key Biodiversity Areas (siden er på engelsk)</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sng" cap="none" strike="noStrike">
                <a:solidFill>
                  <a:srgbClr val="1B4528"/>
                </a:solidFill>
                <a:latin typeface="Inter"/>
                <a:ea typeface="Inter"/>
                <a:cs typeface="Inter"/>
                <a:sym typeface="Inter"/>
                <a:hlinkClick r:id="rId9">
                  <a:extLst>
                    <a:ext uri="{A12FA001-AC4F-418D-AE19-62706E023703}">
                      <ahyp:hlinkClr val="tx"/>
                    </a:ext>
                  </a:extLst>
                </a:hlinkClick>
              </a:rPr>
              <a:t>Se UNESCO’s verdensarvsliste på UNESCO’s hjemmeside (siden er på engelsk)</a:t>
            </a:r>
            <a:r>
              <a:rPr b="0" i="0" lang="da-DK" sz="900" u="none" cap="none" strike="noStrike">
                <a:solidFill>
                  <a:srgbClr val="1B4528"/>
                </a:solidFill>
                <a:latin typeface="Inter"/>
                <a:ea typeface="Inter"/>
                <a:cs typeface="Inter"/>
                <a:sym typeface="Inter"/>
              </a:rPr>
              <a:t> </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sng" cap="none" strike="noStrike">
                <a:solidFill>
                  <a:srgbClr val="1B4528"/>
                </a:solidFill>
                <a:latin typeface="Inter"/>
                <a:ea typeface="Inter"/>
                <a:cs typeface="Inter"/>
                <a:sym typeface="Inter"/>
                <a:hlinkClick r:id="rId10">
                  <a:extLst>
                    <a:ext uri="{A12FA001-AC4F-418D-AE19-62706E023703}">
                      <ahyp:hlinkClr val="tx"/>
                    </a:ext>
                  </a:extLst>
                </a:hlinkClick>
              </a:rPr>
              <a:t>Læs EMAS-forordningen på EU-Kommissionens hjemmeside (pdf)</a:t>
            </a:r>
            <a:endParaRPr b="0" i="0" sz="900" u="none" cap="none" strike="noStrike">
              <a:solidFill>
                <a:srgbClr val="1B4528"/>
              </a:solidFill>
              <a:latin typeface="Inter"/>
              <a:ea typeface="Inter"/>
              <a:cs typeface="Inter"/>
              <a:sym typeface="Inter"/>
            </a:endParaRPr>
          </a:p>
        </p:txBody>
      </p:sp>
      <p:pic>
        <p:nvPicPr>
          <p:cNvPr id="323" name="Google Shape;323;p21"/>
          <p:cNvPicPr preferRelativeResize="0"/>
          <p:nvPr/>
        </p:nvPicPr>
        <p:blipFill rotWithShape="1">
          <a:blip r:embed="rId11">
            <a:alphaModFix/>
          </a:blip>
          <a:srcRect b="0" l="0" r="0" t="0"/>
          <a:stretch/>
        </p:blipFill>
        <p:spPr>
          <a:xfrm>
            <a:off x="8250183" y="1093974"/>
            <a:ext cx="226314" cy="226314"/>
          </a:xfrm>
          <a:prstGeom prst="rect">
            <a:avLst/>
          </a:prstGeom>
          <a:noFill/>
          <a:ln>
            <a:noFill/>
          </a:ln>
        </p:spPr>
      </p:pic>
      <p:pic>
        <p:nvPicPr>
          <p:cNvPr id="324" name="Google Shape;324;p21"/>
          <p:cNvPicPr preferRelativeResize="0"/>
          <p:nvPr/>
        </p:nvPicPr>
        <p:blipFill rotWithShape="1">
          <a:blip r:embed="rId12">
            <a:alphaModFix/>
          </a:blip>
          <a:srcRect b="0" l="0" r="0" t="0"/>
          <a:stretch/>
        </p:blipFill>
        <p:spPr>
          <a:xfrm>
            <a:off x="8330477" y="1577891"/>
            <a:ext cx="83482" cy="88700"/>
          </a:xfrm>
          <a:prstGeom prst="rect">
            <a:avLst/>
          </a:prstGeom>
          <a:noFill/>
          <a:ln>
            <a:noFill/>
          </a:ln>
        </p:spPr>
      </p:pic>
      <p:pic>
        <p:nvPicPr>
          <p:cNvPr id="325" name="Google Shape;325;p21"/>
          <p:cNvPicPr preferRelativeResize="0"/>
          <p:nvPr/>
        </p:nvPicPr>
        <p:blipFill rotWithShape="1">
          <a:blip r:embed="rId12">
            <a:alphaModFix/>
          </a:blip>
          <a:srcRect b="0" l="0" r="0" t="0"/>
          <a:stretch/>
        </p:blipFill>
        <p:spPr>
          <a:xfrm>
            <a:off x="8330477" y="2192617"/>
            <a:ext cx="83482" cy="88700"/>
          </a:xfrm>
          <a:prstGeom prst="rect">
            <a:avLst/>
          </a:prstGeom>
          <a:noFill/>
          <a:ln>
            <a:noFill/>
          </a:ln>
        </p:spPr>
      </p:pic>
      <p:pic>
        <p:nvPicPr>
          <p:cNvPr id="326" name="Google Shape;326;p21"/>
          <p:cNvPicPr preferRelativeResize="0"/>
          <p:nvPr/>
        </p:nvPicPr>
        <p:blipFill rotWithShape="1">
          <a:blip r:embed="rId12">
            <a:alphaModFix/>
          </a:blip>
          <a:srcRect b="0" l="0" r="0" t="0"/>
          <a:stretch/>
        </p:blipFill>
        <p:spPr>
          <a:xfrm>
            <a:off x="8330477" y="2627620"/>
            <a:ext cx="83482" cy="88700"/>
          </a:xfrm>
          <a:prstGeom prst="rect">
            <a:avLst/>
          </a:prstGeom>
          <a:noFill/>
          <a:ln>
            <a:noFill/>
          </a:ln>
        </p:spPr>
      </p:pic>
      <p:pic>
        <p:nvPicPr>
          <p:cNvPr id="327" name="Google Shape;327;p21"/>
          <p:cNvPicPr preferRelativeResize="0"/>
          <p:nvPr/>
        </p:nvPicPr>
        <p:blipFill rotWithShape="1">
          <a:blip r:embed="rId12">
            <a:alphaModFix/>
          </a:blip>
          <a:srcRect b="0" l="0" r="0" t="0"/>
          <a:stretch/>
        </p:blipFill>
        <p:spPr>
          <a:xfrm>
            <a:off x="8330477" y="3062623"/>
            <a:ext cx="83482" cy="88700"/>
          </a:xfrm>
          <a:prstGeom prst="rect">
            <a:avLst/>
          </a:prstGeom>
          <a:noFill/>
          <a:ln>
            <a:noFill/>
          </a:ln>
        </p:spPr>
      </p:pic>
      <p:pic>
        <p:nvPicPr>
          <p:cNvPr id="328" name="Google Shape;328;p21"/>
          <p:cNvPicPr preferRelativeResize="0"/>
          <p:nvPr/>
        </p:nvPicPr>
        <p:blipFill rotWithShape="1">
          <a:blip r:embed="rId12">
            <a:alphaModFix/>
          </a:blip>
          <a:srcRect b="0" l="0" r="0" t="0"/>
          <a:stretch/>
        </p:blipFill>
        <p:spPr>
          <a:xfrm>
            <a:off x="8333365" y="1899621"/>
            <a:ext cx="83482" cy="88700"/>
          </a:xfrm>
          <a:prstGeom prst="rect">
            <a:avLst/>
          </a:prstGeom>
          <a:noFill/>
          <a:ln>
            <a:noFill/>
          </a:ln>
        </p:spPr>
      </p:pic>
      <p:pic>
        <p:nvPicPr>
          <p:cNvPr id="329" name="Google Shape;329;p21" title="Frame 1000002375.png"/>
          <p:cNvPicPr preferRelativeResize="0"/>
          <p:nvPr/>
        </p:nvPicPr>
        <p:blipFill rotWithShape="1">
          <a:blip r:embed="rId13">
            <a:alphaModFix/>
          </a:blip>
          <a:srcRect b="0" l="0" r="0" t="0"/>
          <a:stretch/>
        </p:blipFill>
        <p:spPr>
          <a:xfrm>
            <a:off x="582583" y="500831"/>
            <a:ext cx="342900" cy="24288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2"/>
          <p:cNvSpPr txBox="1"/>
          <p:nvPr>
            <p:ph idx="12" type="sldNum"/>
          </p:nvPr>
        </p:nvSpPr>
        <p:spPr>
          <a:xfrm>
            <a:off x="9180000" y="6450239"/>
            <a:ext cx="2743200" cy="1539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da-DK" sz="1000" u="none" cap="none" strike="noStrike">
                <a:solidFill>
                  <a:srgbClr val="1B4528"/>
                </a:solidFill>
                <a:latin typeface="IBM Plex Sans"/>
                <a:ea typeface="IBM Plex Sans"/>
                <a:cs typeface="IBM Plex Sans"/>
                <a:sym typeface="IBM Plex Sans"/>
              </a:rPr>
              <a:t>‹#›</a:t>
            </a:fld>
            <a:endParaRPr b="0" i="0" sz="1000" u="none" cap="none" strike="noStrike">
              <a:solidFill>
                <a:srgbClr val="1B4528"/>
              </a:solidFill>
              <a:latin typeface="IBM Plex Sans"/>
              <a:ea typeface="IBM Plex Sans"/>
              <a:cs typeface="IBM Plex Sans"/>
              <a:sym typeface="IBM Plex Sans"/>
            </a:endParaRPr>
          </a:p>
        </p:txBody>
      </p:sp>
      <p:sp>
        <p:nvSpPr>
          <p:cNvPr id="335" name="Google Shape;335;p22"/>
          <p:cNvSpPr txBox="1"/>
          <p:nvPr>
            <p:ph idx="11" type="ftr"/>
          </p:nvPr>
        </p:nvSpPr>
        <p:spPr>
          <a:xfrm>
            <a:off x="8280504" y="224972"/>
            <a:ext cx="3642600" cy="1539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1" i="0" lang="da-DK" sz="1000" u="none" cap="none" strike="noStrike">
                <a:solidFill>
                  <a:srgbClr val="1B4528"/>
                </a:solidFill>
                <a:latin typeface="Inter"/>
                <a:ea typeface="Inter"/>
                <a:cs typeface="Inter"/>
                <a:sym typeface="Inter"/>
              </a:rPr>
              <a:t>Company’s name</a:t>
            </a:r>
            <a:endParaRPr b="1" i="0" sz="1000" u="none" cap="none" strike="noStrike">
              <a:solidFill>
                <a:srgbClr val="1B4528"/>
              </a:solidFill>
              <a:latin typeface="Inter"/>
              <a:ea typeface="Inter"/>
              <a:cs typeface="Inter"/>
              <a:sym typeface="Inter"/>
            </a:endParaRPr>
          </a:p>
        </p:txBody>
      </p:sp>
      <p:sp>
        <p:nvSpPr>
          <p:cNvPr id="336" name="Google Shape;336;p22"/>
          <p:cNvSpPr txBox="1"/>
          <p:nvPr>
            <p:ph type="title"/>
          </p:nvPr>
        </p:nvSpPr>
        <p:spPr>
          <a:xfrm>
            <a:off x="1011450" y="513925"/>
            <a:ext cx="10672500" cy="249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solidFill>
                  <a:schemeClr val="dk2"/>
                </a:solidFill>
                <a:latin typeface="Inter"/>
                <a:ea typeface="Inter"/>
                <a:cs typeface="Inter"/>
                <a:sym typeface="Inter"/>
              </a:rPr>
              <a:t>Vandforbrug</a:t>
            </a:r>
            <a:endParaRPr>
              <a:solidFill>
                <a:schemeClr val="dk2"/>
              </a:solidFill>
              <a:latin typeface="Inter"/>
              <a:ea typeface="Inter"/>
              <a:cs typeface="Inter"/>
              <a:sym typeface="Inter"/>
            </a:endParaRPr>
          </a:p>
        </p:txBody>
      </p:sp>
      <p:sp>
        <p:nvSpPr>
          <p:cNvPr id="337" name="Google Shape;337;p22"/>
          <p:cNvSpPr/>
          <p:nvPr/>
        </p:nvSpPr>
        <p:spPr>
          <a:xfrm>
            <a:off x="508000" y="1016000"/>
            <a:ext cx="6441300" cy="20676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Begrebsforklaringer</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Vandstress: </a:t>
            </a:r>
            <a:r>
              <a:rPr b="0" i="0" lang="da-DK" sz="900" u="none" cap="none" strike="noStrike">
                <a:solidFill>
                  <a:srgbClr val="1B4528"/>
                </a:solidFill>
                <a:latin typeface="Inter"/>
                <a:ea typeface="Inter"/>
                <a:cs typeface="Inter"/>
                <a:sym typeface="Inter"/>
              </a:rPr>
              <a:t>Område med mangel på vand (højt vandstress): Du kan bruge offentligt tilgængelige værktøjer, der har kortlagt vandmangel på globalt plan som fx WRI’s Aqueduct Risiko Atlas.</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none" cap="none" strike="noStrike">
                <a:solidFill>
                  <a:srgbClr val="1B4528"/>
                </a:solidFill>
                <a:latin typeface="Inter"/>
                <a:ea typeface="Inter"/>
                <a:cs typeface="Inter"/>
                <a:sym typeface="Inter"/>
              </a:rPr>
              <a:t>Der er pt. ingen områder i Danmark, der er markeret af WRI som områder med mangel på vand. </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Vandforbrug</a:t>
            </a:r>
            <a:r>
              <a:rPr b="0" i="0" lang="da-DK" sz="900" u="none" cap="none" strike="noStrike">
                <a:solidFill>
                  <a:srgbClr val="1B4528"/>
                </a:solidFill>
                <a:latin typeface="Inter"/>
                <a:ea typeface="Inter"/>
                <a:cs typeface="Inter"/>
                <a:sym typeface="Inter"/>
              </a:rPr>
              <a:t> refererer til: a) Vand, der er fordampet - fx i termiske energiprocesser som tørring eller strømproduktion, b) Vand indlejret i produkter – fx i fødevareproduktion eller, c) Vand til kunstvandingsformål – fx brugt i landbruget eller til vanding af virksomhedens områder.</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Lokationer</a:t>
            </a:r>
            <a:r>
              <a:rPr b="0" i="0" lang="da-DK" sz="900" u="none" cap="none" strike="noStrike">
                <a:solidFill>
                  <a:srgbClr val="1B4528"/>
                </a:solidFill>
                <a:latin typeface="Inter"/>
                <a:ea typeface="Inter"/>
                <a:cs typeface="Inter"/>
                <a:sym typeface="Inter"/>
              </a:rPr>
              <a:t> dækker over din virksomheds egne områder og anlæg (dvs. ikke værdikæden).</a:t>
            </a:r>
            <a:endParaRPr b="0" i="0" sz="1400" u="none" cap="none" strike="noStrike">
              <a:solidFill>
                <a:srgbClr val="1B4528"/>
              </a:solidFill>
              <a:latin typeface="Inter"/>
              <a:ea typeface="Inter"/>
              <a:cs typeface="Inter"/>
              <a:sym typeface="Inter"/>
            </a:endParaRPr>
          </a:p>
        </p:txBody>
      </p:sp>
      <p:sp>
        <p:nvSpPr>
          <p:cNvPr id="338" name="Google Shape;338;p22"/>
          <p:cNvSpPr/>
          <p:nvPr/>
        </p:nvSpPr>
        <p:spPr>
          <a:xfrm>
            <a:off x="8040649" y="1651001"/>
            <a:ext cx="3514800" cy="8280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Mulige datakilder (Kilde: Erhvervsstyrelsen)</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sng" cap="none" strike="noStrike">
                <a:solidFill>
                  <a:srgbClr val="1B4528"/>
                </a:solidFill>
                <a:latin typeface="Inter"/>
                <a:ea typeface="Inter"/>
                <a:cs typeface="Inter"/>
                <a:sym typeface="Inter"/>
                <a:hlinkClick r:id="rId3">
                  <a:extLst>
                    <a:ext uri="{A12FA001-AC4F-418D-AE19-62706E023703}">
                      <ahyp:hlinkClr val="tx"/>
                    </a:ext>
                  </a:extLst>
                </a:hlinkClick>
              </a:rPr>
              <a:t>Find WRI’s Aqueduct Water Risk Atlas på wri.org (siden er på engelsk) </a:t>
            </a:r>
            <a:endParaRPr b="0" i="0" sz="900" u="none" cap="none" strike="noStrike">
              <a:solidFill>
                <a:srgbClr val="1B4528"/>
              </a:solidFill>
              <a:latin typeface="Inter"/>
              <a:ea typeface="Inter"/>
              <a:cs typeface="Inter"/>
              <a:sym typeface="Inter"/>
            </a:endParaRPr>
          </a:p>
        </p:txBody>
      </p:sp>
      <p:pic>
        <p:nvPicPr>
          <p:cNvPr id="339" name="Google Shape;339;p22"/>
          <p:cNvPicPr preferRelativeResize="0"/>
          <p:nvPr/>
        </p:nvPicPr>
        <p:blipFill rotWithShape="1">
          <a:blip r:embed="rId4">
            <a:alphaModFix/>
          </a:blip>
          <a:srcRect b="0" l="0" r="0" t="0"/>
          <a:stretch/>
        </p:blipFill>
        <p:spPr>
          <a:xfrm>
            <a:off x="8040649" y="1768373"/>
            <a:ext cx="226314" cy="226314"/>
          </a:xfrm>
          <a:prstGeom prst="rect">
            <a:avLst/>
          </a:prstGeom>
          <a:noFill/>
          <a:ln>
            <a:noFill/>
          </a:ln>
        </p:spPr>
      </p:pic>
      <p:pic>
        <p:nvPicPr>
          <p:cNvPr id="340" name="Google Shape;340;p22"/>
          <p:cNvPicPr preferRelativeResize="0"/>
          <p:nvPr/>
        </p:nvPicPr>
        <p:blipFill rotWithShape="1">
          <a:blip r:embed="rId5">
            <a:alphaModFix/>
          </a:blip>
          <a:srcRect b="0" l="0" r="0" t="0"/>
          <a:stretch/>
        </p:blipFill>
        <p:spPr>
          <a:xfrm>
            <a:off x="571983" y="1104042"/>
            <a:ext cx="257747" cy="232600"/>
          </a:xfrm>
          <a:prstGeom prst="rect">
            <a:avLst/>
          </a:prstGeom>
          <a:noFill/>
          <a:ln>
            <a:noFill/>
          </a:ln>
        </p:spPr>
      </p:pic>
      <p:pic>
        <p:nvPicPr>
          <p:cNvPr id="341" name="Google Shape;341;p22"/>
          <p:cNvPicPr preferRelativeResize="0"/>
          <p:nvPr/>
        </p:nvPicPr>
        <p:blipFill rotWithShape="1">
          <a:blip r:embed="rId6">
            <a:alphaModFix/>
          </a:blip>
          <a:srcRect b="0" l="0" r="0" t="0"/>
          <a:stretch/>
        </p:blipFill>
        <p:spPr>
          <a:xfrm>
            <a:off x="8040649" y="2126495"/>
            <a:ext cx="83482" cy="88700"/>
          </a:xfrm>
          <a:prstGeom prst="rect">
            <a:avLst/>
          </a:prstGeom>
          <a:noFill/>
          <a:ln>
            <a:noFill/>
          </a:ln>
        </p:spPr>
      </p:pic>
      <p:sp>
        <p:nvSpPr>
          <p:cNvPr id="342" name="Google Shape;342;p22"/>
          <p:cNvSpPr txBox="1"/>
          <p:nvPr>
            <p:ph type="title"/>
          </p:nvPr>
        </p:nvSpPr>
        <p:spPr>
          <a:xfrm>
            <a:off x="1011450" y="3409525"/>
            <a:ext cx="10672500" cy="249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solidFill>
                  <a:schemeClr val="dk2"/>
                </a:solidFill>
                <a:latin typeface="Inter"/>
                <a:ea typeface="Inter"/>
                <a:cs typeface="Inter"/>
                <a:sym typeface="Inter"/>
              </a:rPr>
              <a:t>Ressourceforbrug, cirkulærøkonomi og håndtering af affald</a:t>
            </a:r>
            <a:endParaRPr>
              <a:solidFill>
                <a:schemeClr val="dk2"/>
              </a:solidFill>
              <a:latin typeface="Inter"/>
              <a:ea typeface="Inter"/>
              <a:cs typeface="Inter"/>
              <a:sym typeface="Inter"/>
            </a:endParaRPr>
          </a:p>
        </p:txBody>
      </p:sp>
      <p:sp>
        <p:nvSpPr>
          <p:cNvPr id="343" name="Google Shape;343;p22"/>
          <p:cNvSpPr/>
          <p:nvPr/>
        </p:nvSpPr>
        <p:spPr>
          <a:xfrm>
            <a:off x="518600" y="3911599"/>
            <a:ext cx="3514800" cy="31893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Begrebsforklaringer</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Cirkulær økonomi </a:t>
            </a:r>
            <a:r>
              <a:rPr b="0" i="0" lang="da-DK" sz="900" u="none" cap="none" strike="noStrike">
                <a:solidFill>
                  <a:srgbClr val="1B4528"/>
                </a:solidFill>
                <a:latin typeface="Inter"/>
                <a:ea typeface="Inter"/>
                <a:cs typeface="Inter"/>
                <a:sym typeface="Inter"/>
              </a:rPr>
              <a:t>handler om at udnytte ressourcer </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none" cap="none" strike="noStrike">
                <a:solidFill>
                  <a:srgbClr val="1B4528"/>
                </a:solidFill>
                <a:latin typeface="Inter"/>
                <a:ea typeface="Inter"/>
                <a:cs typeface="Inter"/>
                <a:sym typeface="Inter"/>
              </a:rPr>
              <a:t>og materialer bedre, så dine produkter holder længere, </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none" cap="none" strike="noStrike">
                <a:solidFill>
                  <a:srgbClr val="1B4528"/>
                </a:solidFill>
                <a:latin typeface="Inter"/>
                <a:ea typeface="Inter"/>
                <a:cs typeface="Inter"/>
                <a:sym typeface="Inter"/>
              </a:rPr>
              <a:t>og så de nemmere kan repareres og genanvendes.</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”Principper for cirkulær økonomi”</a:t>
            </a:r>
            <a:r>
              <a:rPr b="0" i="0" lang="da-DK" sz="900" u="none" cap="none" strike="noStrike">
                <a:solidFill>
                  <a:srgbClr val="1B4528"/>
                </a:solidFill>
                <a:latin typeface="Inter"/>
                <a:ea typeface="Inter"/>
                <a:cs typeface="Inter"/>
                <a:sym typeface="Inter"/>
              </a:rPr>
              <a:t>,</a:t>
            </a:r>
            <a:r>
              <a:rPr b="1" i="0" lang="da-DK" sz="900" u="none" cap="none" strike="noStrike">
                <a:solidFill>
                  <a:srgbClr val="1B4528"/>
                </a:solidFill>
                <a:latin typeface="Inter"/>
                <a:ea typeface="Inter"/>
                <a:cs typeface="Inter"/>
                <a:sym typeface="Inter"/>
              </a:rPr>
              <a:t> </a:t>
            </a:r>
            <a:r>
              <a:rPr b="0" i="0" lang="da-DK" sz="900" u="none" cap="none" strike="noStrike">
                <a:solidFill>
                  <a:srgbClr val="1B4528"/>
                </a:solidFill>
                <a:latin typeface="Inter"/>
                <a:ea typeface="Inter"/>
                <a:cs typeface="Inter"/>
                <a:sym typeface="Inter"/>
              </a:rPr>
              <a:t>som din virksomhed kan anvende er fx at understøtte dine produkters genanvendelighed og reparerbarhed samt designe dine produkter, så de let kan adskilles og fx indgå i nye produkter.</a:t>
            </a:r>
            <a:endParaRPr b="0" i="0" sz="1400" u="none" cap="none" strike="noStrike">
              <a:solidFill>
                <a:srgbClr val="1B4528"/>
              </a:solidFill>
              <a:latin typeface="Inter"/>
              <a:ea typeface="Inter"/>
              <a:cs typeface="Inter"/>
              <a:sym typeface="Inter"/>
            </a:endParaRPr>
          </a:p>
        </p:txBody>
      </p:sp>
      <p:sp>
        <p:nvSpPr>
          <p:cNvPr id="344" name="Google Shape;344;p22"/>
          <p:cNvSpPr/>
          <p:nvPr/>
        </p:nvSpPr>
        <p:spPr>
          <a:xfrm>
            <a:off x="8040649" y="4546599"/>
            <a:ext cx="3514800" cy="8562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Mulige datakilder (Kilde: Erhvervsstyrelsen)</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sng" cap="none" strike="noStrike">
                <a:solidFill>
                  <a:srgbClr val="1B4528"/>
                </a:solidFill>
                <a:latin typeface="Inter"/>
                <a:ea typeface="Inter"/>
                <a:cs typeface="Inter"/>
                <a:sym typeface="Inter"/>
                <a:hlinkClick r:id="rId7">
                  <a:extLst>
                    <a:ext uri="{A12FA001-AC4F-418D-AE19-62706E023703}">
                      <ahyp:hlinkClr val="tx"/>
                    </a:ext>
                  </a:extLst>
                </a:hlinkClick>
              </a:rPr>
              <a:t>Find vejledning om cirkulær økonomi på Virksomhedsguiden</a:t>
            </a:r>
            <a:endParaRPr b="0" i="0" sz="900" u="none" cap="none" strike="noStrike">
              <a:solidFill>
                <a:srgbClr val="1B4528"/>
              </a:solidFill>
              <a:latin typeface="Inter"/>
              <a:ea typeface="Inter"/>
              <a:cs typeface="Inter"/>
              <a:sym typeface="Inter"/>
            </a:endParaRPr>
          </a:p>
        </p:txBody>
      </p:sp>
      <p:pic>
        <p:nvPicPr>
          <p:cNvPr id="345" name="Google Shape;345;p22"/>
          <p:cNvPicPr preferRelativeResize="0"/>
          <p:nvPr/>
        </p:nvPicPr>
        <p:blipFill rotWithShape="1">
          <a:blip r:embed="rId4">
            <a:alphaModFix/>
          </a:blip>
          <a:srcRect b="0" l="0" r="0" t="0"/>
          <a:stretch/>
        </p:blipFill>
        <p:spPr>
          <a:xfrm>
            <a:off x="8040649" y="4625493"/>
            <a:ext cx="226314" cy="226314"/>
          </a:xfrm>
          <a:prstGeom prst="rect">
            <a:avLst/>
          </a:prstGeom>
          <a:noFill/>
          <a:ln>
            <a:noFill/>
          </a:ln>
        </p:spPr>
      </p:pic>
      <p:pic>
        <p:nvPicPr>
          <p:cNvPr id="346" name="Google Shape;346;p22"/>
          <p:cNvPicPr preferRelativeResize="0"/>
          <p:nvPr/>
        </p:nvPicPr>
        <p:blipFill rotWithShape="1">
          <a:blip r:embed="rId5">
            <a:alphaModFix/>
          </a:blip>
          <a:srcRect b="0" l="0" r="0" t="0"/>
          <a:stretch/>
        </p:blipFill>
        <p:spPr>
          <a:xfrm>
            <a:off x="571983" y="3984692"/>
            <a:ext cx="257747" cy="232600"/>
          </a:xfrm>
          <a:prstGeom prst="rect">
            <a:avLst/>
          </a:prstGeom>
          <a:noFill/>
          <a:ln>
            <a:noFill/>
          </a:ln>
        </p:spPr>
      </p:pic>
      <p:pic>
        <p:nvPicPr>
          <p:cNvPr id="347" name="Google Shape;347;p22"/>
          <p:cNvPicPr preferRelativeResize="0"/>
          <p:nvPr/>
        </p:nvPicPr>
        <p:blipFill rotWithShape="1">
          <a:blip r:embed="rId6">
            <a:alphaModFix/>
          </a:blip>
          <a:srcRect b="0" l="0" r="0" t="0"/>
          <a:stretch/>
        </p:blipFill>
        <p:spPr>
          <a:xfrm>
            <a:off x="8040649" y="4984947"/>
            <a:ext cx="83482" cy="88700"/>
          </a:xfrm>
          <a:prstGeom prst="rect">
            <a:avLst/>
          </a:prstGeom>
          <a:noFill/>
          <a:ln>
            <a:noFill/>
          </a:ln>
        </p:spPr>
      </p:pic>
      <p:sp>
        <p:nvSpPr>
          <p:cNvPr id="348" name="Google Shape;348;p22"/>
          <p:cNvSpPr/>
          <p:nvPr/>
        </p:nvSpPr>
        <p:spPr>
          <a:xfrm>
            <a:off x="4338600" y="3911600"/>
            <a:ext cx="3103800" cy="39342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Begrebsforklaringer</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Eksempler på farligt affald </a:t>
            </a:r>
            <a:r>
              <a:rPr b="0" i="0" lang="da-DK" sz="900" u="none" cap="none" strike="noStrike">
                <a:solidFill>
                  <a:srgbClr val="1B4528"/>
                </a:solidFill>
                <a:latin typeface="Inter"/>
                <a:ea typeface="Inter"/>
                <a:cs typeface="Inter"/>
                <a:sym typeface="Inter"/>
              </a:rPr>
              <a:t>er i denne sammenhæng fx brugte batterier, olier, pesticider, kviksølvholdigt udstyr og lysstofrør. For alle typer farligt affald gælder, at du kan nøjes med at oplyse om de mængder, som du har en særlig afhentningsaftale på. Det kan fx gøre sig gældende, hvis du har farligt affald som led i din produktion. Du behøver således ikke at oplyse om fx almindelige batterier fra din brandalarm, som du afleverer til genbrug.</a:t>
            </a:r>
            <a:endParaRPr b="0" i="0" sz="1400" u="none" cap="none" strike="noStrike">
              <a:solidFill>
                <a:srgbClr val="1B4528"/>
              </a:solidFill>
              <a:latin typeface="Inter"/>
              <a:ea typeface="Inter"/>
              <a:cs typeface="Inter"/>
              <a:sym typeface="Inter"/>
            </a:endParaRPr>
          </a:p>
        </p:txBody>
      </p:sp>
      <p:pic>
        <p:nvPicPr>
          <p:cNvPr id="349" name="Google Shape;349;p22"/>
          <p:cNvPicPr preferRelativeResize="0"/>
          <p:nvPr/>
        </p:nvPicPr>
        <p:blipFill rotWithShape="1">
          <a:blip r:embed="rId5">
            <a:alphaModFix/>
          </a:blip>
          <a:srcRect b="0" l="0" r="0" t="0"/>
          <a:stretch/>
        </p:blipFill>
        <p:spPr>
          <a:xfrm>
            <a:off x="4365283" y="3984742"/>
            <a:ext cx="257747" cy="232600"/>
          </a:xfrm>
          <a:prstGeom prst="rect">
            <a:avLst/>
          </a:prstGeom>
          <a:noFill/>
          <a:ln>
            <a:noFill/>
          </a:ln>
        </p:spPr>
      </p:pic>
      <p:pic>
        <p:nvPicPr>
          <p:cNvPr id="350" name="Google Shape;350;p22" title="Frame 1000002375.png"/>
          <p:cNvPicPr preferRelativeResize="0"/>
          <p:nvPr/>
        </p:nvPicPr>
        <p:blipFill rotWithShape="1">
          <a:blip r:embed="rId8">
            <a:alphaModFix/>
          </a:blip>
          <a:srcRect b="0" l="0" r="0" t="0"/>
          <a:stretch/>
        </p:blipFill>
        <p:spPr>
          <a:xfrm>
            <a:off x="597134" y="513925"/>
            <a:ext cx="342900" cy="242888"/>
          </a:xfrm>
          <a:prstGeom prst="rect">
            <a:avLst/>
          </a:prstGeom>
          <a:noFill/>
          <a:ln>
            <a:noFill/>
          </a:ln>
        </p:spPr>
      </p:pic>
      <p:pic>
        <p:nvPicPr>
          <p:cNvPr id="351" name="Google Shape;351;p22" title="Frame 1000002375.png"/>
          <p:cNvPicPr preferRelativeResize="0"/>
          <p:nvPr/>
        </p:nvPicPr>
        <p:blipFill rotWithShape="1">
          <a:blip r:embed="rId9">
            <a:alphaModFix/>
          </a:blip>
          <a:srcRect b="0" l="0" r="0" t="0"/>
          <a:stretch/>
        </p:blipFill>
        <p:spPr>
          <a:xfrm>
            <a:off x="604278" y="3412731"/>
            <a:ext cx="335756" cy="24288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3"/>
          <p:cNvSpPr txBox="1"/>
          <p:nvPr>
            <p:ph idx="12" type="sldNum"/>
          </p:nvPr>
        </p:nvSpPr>
        <p:spPr>
          <a:xfrm>
            <a:off x="9180000" y="6450239"/>
            <a:ext cx="2743200" cy="1539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da-DK" sz="1000" u="none" cap="none" strike="noStrike">
                <a:solidFill>
                  <a:srgbClr val="1B4528"/>
                </a:solidFill>
                <a:latin typeface="IBM Plex Sans"/>
                <a:ea typeface="IBM Plex Sans"/>
                <a:cs typeface="IBM Plex Sans"/>
                <a:sym typeface="IBM Plex Sans"/>
              </a:rPr>
              <a:t>‹#›</a:t>
            </a:fld>
            <a:endParaRPr b="0" i="0" sz="1000" u="none" cap="none" strike="noStrike">
              <a:solidFill>
                <a:srgbClr val="1B4528"/>
              </a:solidFill>
              <a:latin typeface="IBM Plex Sans"/>
              <a:ea typeface="IBM Plex Sans"/>
              <a:cs typeface="IBM Plex Sans"/>
              <a:sym typeface="IBM Plex Sans"/>
            </a:endParaRPr>
          </a:p>
        </p:txBody>
      </p:sp>
      <p:sp>
        <p:nvSpPr>
          <p:cNvPr id="357" name="Google Shape;357;p23"/>
          <p:cNvSpPr txBox="1"/>
          <p:nvPr>
            <p:ph idx="11" type="ftr"/>
          </p:nvPr>
        </p:nvSpPr>
        <p:spPr>
          <a:xfrm>
            <a:off x="8280504" y="224972"/>
            <a:ext cx="3642600" cy="1539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1" i="0" lang="da-DK" sz="1000" u="none" cap="none" strike="noStrike">
                <a:solidFill>
                  <a:srgbClr val="1B4528"/>
                </a:solidFill>
                <a:latin typeface="Inter"/>
                <a:ea typeface="Inter"/>
                <a:cs typeface="Inter"/>
                <a:sym typeface="Inter"/>
              </a:rPr>
              <a:t>Company’s name</a:t>
            </a:r>
            <a:endParaRPr b="1" i="0" sz="1000" u="none" cap="none" strike="noStrike">
              <a:solidFill>
                <a:srgbClr val="1B4528"/>
              </a:solidFill>
              <a:latin typeface="Inter"/>
              <a:ea typeface="Inter"/>
              <a:cs typeface="Inter"/>
              <a:sym typeface="Inter"/>
            </a:endParaRPr>
          </a:p>
        </p:txBody>
      </p:sp>
      <p:sp>
        <p:nvSpPr>
          <p:cNvPr id="358" name="Google Shape;358;p23"/>
          <p:cNvSpPr/>
          <p:nvPr/>
        </p:nvSpPr>
        <p:spPr>
          <a:xfrm>
            <a:off x="508000" y="1016000"/>
            <a:ext cx="6949500" cy="12330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Begrebsforklaringer</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Full-time equivalent </a:t>
            </a:r>
            <a:r>
              <a:rPr b="0" i="0" lang="da-DK" sz="900" u="none" cap="none" strike="noStrike">
                <a:solidFill>
                  <a:srgbClr val="1B4528"/>
                </a:solidFill>
                <a:latin typeface="Inter"/>
                <a:ea typeface="Inter"/>
                <a:cs typeface="Inter"/>
                <a:sym typeface="Inter"/>
              </a:rPr>
              <a:t>(FTE) er en enhed, som angiver arbejdsbyrden for en ansat på en måde, der gør arbejdsbyrder sammenlignelige i forskellige sammenhænge. En FTE på 1.0 svarer til en fuldtidsstilling.</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p:txBody>
      </p:sp>
      <p:pic>
        <p:nvPicPr>
          <p:cNvPr id="359" name="Google Shape;359;p23"/>
          <p:cNvPicPr preferRelativeResize="0"/>
          <p:nvPr/>
        </p:nvPicPr>
        <p:blipFill rotWithShape="1">
          <a:blip r:embed="rId3">
            <a:alphaModFix/>
          </a:blip>
          <a:srcRect b="0" l="0" r="0" t="0"/>
          <a:stretch/>
        </p:blipFill>
        <p:spPr>
          <a:xfrm>
            <a:off x="571983" y="1104042"/>
            <a:ext cx="257747" cy="232600"/>
          </a:xfrm>
          <a:prstGeom prst="rect">
            <a:avLst/>
          </a:prstGeom>
          <a:noFill/>
          <a:ln>
            <a:noFill/>
          </a:ln>
        </p:spPr>
      </p:pic>
      <p:sp>
        <p:nvSpPr>
          <p:cNvPr id="360" name="Google Shape;360;p23"/>
          <p:cNvSpPr txBox="1"/>
          <p:nvPr>
            <p:ph type="title"/>
          </p:nvPr>
        </p:nvSpPr>
        <p:spPr>
          <a:xfrm>
            <a:off x="1011450" y="513925"/>
            <a:ext cx="10672500" cy="4986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solidFill>
                  <a:schemeClr val="dk2"/>
                </a:solidFill>
                <a:latin typeface="Inter"/>
                <a:ea typeface="Inter"/>
                <a:cs typeface="Inter"/>
                <a:sym typeface="Inter"/>
              </a:rPr>
              <a:t>Egen arbejdsstyrke: Generelle karakteristika</a:t>
            </a:r>
            <a:endParaRPr>
              <a:solidFill>
                <a:schemeClr val="dk2"/>
              </a:solidFill>
              <a:latin typeface="Inter"/>
              <a:ea typeface="Inter"/>
              <a:cs typeface="Inter"/>
              <a:sym typeface="Inter"/>
            </a:endParaRPr>
          </a:p>
          <a:p>
            <a:pPr indent="0" lvl="0" marL="0" rtl="0" algn="l">
              <a:lnSpc>
                <a:spcPct val="90000"/>
              </a:lnSpc>
              <a:spcBef>
                <a:spcPts val="0"/>
              </a:spcBef>
              <a:spcAft>
                <a:spcPts val="0"/>
              </a:spcAft>
              <a:buClr>
                <a:schemeClr val="dk2"/>
              </a:buClr>
              <a:buSzPts val="1800"/>
              <a:buFont typeface="IBM Plex Sans"/>
              <a:buNone/>
            </a:pPr>
            <a:r>
              <a:t/>
            </a:r>
            <a:endParaRPr>
              <a:solidFill>
                <a:schemeClr val="dk2"/>
              </a:solidFill>
              <a:latin typeface="Inter"/>
              <a:ea typeface="Inter"/>
              <a:cs typeface="Inter"/>
              <a:sym typeface="Inter"/>
            </a:endParaRPr>
          </a:p>
        </p:txBody>
      </p:sp>
      <p:sp>
        <p:nvSpPr>
          <p:cNvPr id="361" name="Google Shape;361;p23"/>
          <p:cNvSpPr txBox="1"/>
          <p:nvPr>
            <p:ph type="title"/>
          </p:nvPr>
        </p:nvSpPr>
        <p:spPr>
          <a:xfrm>
            <a:off x="1011450" y="2114125"/>
            <a:ext cx="10672500" cy="249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solidFill>
                  <a:schemeClr val="dk2"/>
                </a:solidFill>
                <a:latin typeface="Inter"/>
                <a:ea typeface="Inter"/>
                <a:cs typeface="Inter"/>
                <a:sym typeface="Inter"/>
              </a:rPr>
              <a:t>Egen arbejdsstyrke: Sundhed og sikkerhed</a:t>
            </a:r>
            <a:endParaRPr>
              <a:solidFill>
                <a:schemeClr val="dk2"/>
              </a:solidFill>
              <a:latin typeface="Inter"/>
              <a:ea typeface="Inter"/>
              <a:cs typeface="Inter"/>
              <a:sym typeface="Inter"/>
            </a:endParaRPr>
          </a:p>
        </p:txBody>
      </p:sp>
      <p:sp>
        <p:nvSpPr>
          <p:cNvPr id="362" name="Google Shape;362;p23"/>
          <p:cNvSpPr/>
          <p:nvPr/>
        </p:nvSpPr>
        <p:spPr>
          <a:xfrm>
            <a:off x="518600" y="2616200"/>
            <a:ext cx="3514800" cy="41673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Begrebsforklaringer</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Arbejdsulykker - Frekvens </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none" cap="none" strike="noStrike">
                <a:solidFill>
                  <a:srgbClr val="1B4528"/>
                </a:solidFill>
                <a:latin typeface="Inter"/>
                <a:ea typeface="Inter"/>
                <a:cs typeface="Inter"/>
                <a:sym typeface="Inter"/>
              </a:rPr>
              <a:t>Frekvensen angiver antallet af arbejdsrelaterede ulykker pr. 100 fuldtidsansatte pr. år.</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Arbejdsrelaterede dødsfald – Dårligt helbred</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none" cap="none" strike="noStrike">
                <a:solidFill>
                  <a:srgbClr val="1B4528"/>
                </a:solidFill>
                <a:latin typeface="Inter"/>
                <a:ea typeface="Inter"/>
                <a:cs typeface="Inter"/>
                <a:sym typeface="Inter"/>
              </a:rPr>
              <a:t>Sundhedsproblemer som følge af rygning, stof- og alkoholmisbrug, fysisk inaktivitet, usunde kostvaner og psykosociale faktorer, der ikke er forbundet med arbejde, betragtes ikke som arbejdsrelateret.</a:t>
            </a:r>
            <a:endParaRPr b="0" i="0" sz="1400" u="none" cap="none" strike="noStrike">
              <a:solidFill>
                <a:srgbClr val="1B4528"/>
              </a:solidFill>
              <a:latin typeface="Inter"/>
              <a:ea typeface="Inter"/>
              <a:cs typeface="Inter"/>
              <a:sym typeface="Inter"/>
            </a:endParaRPr>
          </a:p>
        </p:txBody>
      </p:sp>
      <p:sp>
        <p:nvSpPr>
          <p:cNvPr id="363" name="Google Shape;363;p23"/>
          <p:cNvSpPr/>
          <p:nvPr/>
        </p:nvSpPr>
        <p:spPr>
          <a:xfrm>
            <a:off x="4590300" y="5583550"/>
            <a:ext cx="3514800" cy="9729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Mulige datakilder (Kilde: Erhvervsstyrelsen)</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sng" cap="none" strike="noStrike">
                <a:solidFill>
                  <a:srgbClr val="1B4528"/>
                </a:solidFill>
                <a:latin typeface="Inter"/>
                <a:ea typeface="Inter"/>
                <a:cs typeface="Inter"/>
                <a:sym typeface="Inter"/>
                <a:hlinkClick r:id="rId4">
                  <a:extLst>
                    <a:ext uri="{A12FA001-AC4F-418D-AE19-62706E023703}">
                      <ahyp:hlinkClr val="tx"/>
                    </a:ext>
                  </a:extLst>
                </a:hlinkClick>
              </a:rPr>
              <a:t>Læs mere om arbejdsulykker på Arbejdstilsynets hjemmeside</a:t>
            </a:r>
            <a:endParaRPr b="0" i="0" sz="900" u="none" cap="none" strike="noStrike">
              <a:solidFill>
                <a:srgbClr val="1B4528"/>
              </a:solidFill>
              <a:latin typeface="Inter"/>
              <a:ea typeface="Inter"/>
              <a:cs typeface="Inter"/>
              <a:sym typeface="Inter"/>
            </a:endParaRPr>
          </a:p>
        </p:txBody>
      </p:sp>
      <p:pic>
        <p:nvPicPr>
          <p:cNvPr id="364" name="Google Shape;364;p23"/>
          <p:cNvPicPr preferRelativeResize="0"/>
          <p:nvPr/>
        </p:nvPicPr>
        <p:blipFill rotWithShape="1">
          <a:blip r:embed="rId5">
            <a:alphaModFix/>
          </a:blip>
          <a:srcRect b="0" l="0" r="0" t="0"/>
          <a:stretch/>
        </p:blipFill>
        <p:spPr>
          <a:xfrm>
            <a:off x="4654283" y="5721711"/>
            <a:ext cx="226314" cy="226314"/>
          </a:xfrm>
          <a:prstGeom prst="rect">
            <a:avLst/>
          </a:prstGeom>
          <a:noFill/>
          <a:ln>
            <a:noFill/>
          </a:ln>
        </p:spPr>
      </p:pic>
      <p:pic>
        <p:nvPicPr>
          <p:cNvPr id="365" name="Google Shape;365;p23"/>
          <p:cNvPicPr preferRelativeResize="0"/>
          <p:nvPr/>
        </p:nvPicPr>
        <p:blipFill rotWithShape="1">
          <a:blip r:embed="rId3">
            <a:alphaModFix/>
          </a:blip>
          <a:srcRect b="0" l="0" r="0" t="0"/>
          <a:stretch/>
        </p:blipFill>
        <p:spPr>
          <a:xfrm>
            <a:off x="582583" y="2704242"/>
            <a:ext cx="257747" cy="232600"/>
          </a:xfrm>
          <a:prstGeom prst="rect">
            <a:avLst/>
          </a:prstGeom>
          <a:noFill/>
          <a:ln>
            <a:noFill/>
          </a:ln>
        </p:spPr>
      </p:pic>
      <p:pic>
        <p:nvPicPr>
          <p:cNvPr id="366" name="Google Shape;366;p23"/>
          <p:cNvPicPr preferRelativeResize="0"/>
          <p:nvPr/>
        </p:nvPicPr>
        <p:blipFill rotWithShape="1">
          <a:blip r:embed="rId6">
            <a:alphaModFix/>
          </a:blip>
          <a:srcRect b="0" l="0" r="0" t="0"/>
          <a:stretch/>
        </p:blipFill>
        <p:spPr>
          <a:xfrm>
            <a:off x="4751502" y="6061106"/>
            <a:ext cx="83482" cy="88700"/>
          </a:xfrm>
          <a:prstGeom prst="rect">
            <a:avLst/>
          </a:prstGeom>
          <a:noFill/>
          <a:ln>
            <a:noFill/>
          </a:ln>
        </p:spPr>
      </p:pic>
      <p:sp>
        <p:nvSpPr>
          <p:cNvPr id="367" name="Google Shape;367;p23"/>
          <p:cNvSpPr/>
          <p:nvPr/>
        </p:nvSpPr>
        <p:spPr>
          <a:xfrm>
            <a:off x="4338600" y="2775075"/>
            <a:ext cx="7343700" cy="22824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Vejledning til udfyldelse af oplysningspunkt</a:t>
            </a:r>
            <a:endParaRPr b="1" i="0" sz="900" u="none" cap="none" strike="noStrike">
              <a:solidFill>
                <a:srgbClr val="1B452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00"/>
              <a:buFont typeface="Arial"/>
              <a:buNone/>
            </a:pPr>
            <a:r>
              <a:rPr b="0" i="0" lang="da-DK" sz="900" u="none" cap="none" strike="noStrike">
                <a:solidFill>
                  <a:srgbClr val="1B4528"/>
                </a:solidFill>
                <a:latin typeface="Inter"/>
                <a:ea typeface="Inter"/>
                <a:cs typeface="Inter"/>
                <a:sym typeface="Inter"/>
              </a:rPr>
              <a:t>Frekvensen af arbejdsulykker (pkt. 35a) skal opgøres ved hjælp af følgende formel:</a:t>
            </a:r>
            <a:endParaRPr b="0" i="0" sz="1400" u="none" cap="none" strike="noStrike">
              <a:solidFill>
                <a:srgbClr val="1B452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00"/>
              <a:buFont typeface="Arial"/>
              <a:buNone/>
            </a:pPr>
            <a:r>
              <a:rPr b="0" i="0" lang="da-DK" sz="900" u="none" cap="none" strike="noStrike">
                <a:solidFill>
                  <a:srgbClr val="1B4528"/>
                </a:solidFill>
                <a:latin typeface="Inter"/>
                <a:ea typeface="Inter"/>
                <a:cs typeface="Inter"/>
                <a:sym typeface="Inter"/>
              </a:rPr>
              <a:t>Eksempel på opgørelse af frekvens: Virksomhed A har 40 ansatte som vi hver antager arbejder 2000 timer årligt = 80.000 timer. </a:t>
            </a:r>
            <a:endParaRPr b="0" i="0" sz="1400" u="none" cap="none" strike="noStrike">
              <a:solidFill>
                <a:srgbClr val="1B452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00"/>
              <a:buFont typeface="Arial"/>
              <a:buNone/>
            </a:pPr>
            <a:r>
              <a:rPr b="0" i="0" lang="da-DK" sz="900" u="none" cap="none" strike="noStrike">
                <a:solidFill>
                  <a:srgbClr val="1B4528"/>
                </a:solidFill>
                <a:latin typeface="Inter"/>
                <a:ea typeface="Inter"/>
                <a:cs typeface="Inter"/>
                <a:sym typeface="Inter"/>
              </a:rPr>
              <a:t>Hvis der er registreret 3 arbejdsrelateret ulykker i det givne år, vil deres frekvens være: </a:t>
            </a:r>
            <a:endParaRPr b="0" i="0" sz="1400" u="none" cap="none" strike="noStrike">
              <a:solidFill>
                <a:srgbClr val="1B452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00"/>
              <a:buFont typeface="Arial"/>
              <a:buNone/>
            </a:pPr>
            <a:r>
              <a:rPr b="0" i="0" lang="da-DK" sz="900" u="none" cap="none" strike="noStrike">
                <a:solidFill>
                  <a:srgbClr val="1B4528"/>
                </a:solidFill>
                <a:latin typeface="Inter"/>
                <a:ea typeface="Inter"/>
                <a:cs typeface="Inter"/>
                <a:sym typeface="Inter"/>
              </a:rPr>
              <a:t>3/80000*200000 = 7,5 ulykker pr. 100 FTE ansatte i det år.</a:t>
            </a:r>
            <a:endParaRPr b="0" i="0" sz="1400" u="none" cap="none" strike="noStrike">
              <a:solidFill>
                <a:srgbClr val="1B452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00"/>
              <a:buFont typeface="Arial"/>
              <a:buNone/>
            </a:pPr>
            <a:r>
              <a:rPr b="0" i="0" lang="da-DK" sz="900" u="none" cap="none" strike="noStrike">
                <a:solidFill>
                  <a:srgbClr val="1B4528"/>
                </a:solidFill>
                <a:latin typeface="Inter"/>
                <a:ea typeface="Inter"/>
                <a:cs typeface="Inter"/>
                <a:sym typeface="Inter"/>
              </a:rPr>
              <a:t>Frekvensen opgøres ud fra en fælles europæisk antagelse om, at et fuldtids arbejdsår består af 2000 timer om året, hvilket er et højere timetal på årsbasis, end der ofte regnes med i dansk sammenhæng. For at kunne sammenligne frekvensen for arbejdsulykker på tværs af virksomheder i EU, skal der derfor ganges med 200.000.</a:t>
            </a:r>
            <a:endParaRPr b="0" i="0" sz="1400" u="none" cap="none" strike="noStrike">
              <a:solidFill>
                <a:srgbClr val="1B452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p:txBody>
      </p:sp>
      <p:graphicFrame>
        <p:nvGraphicFramePr>
          <p:cNvPr id="368" name="Google Shape;368;p23"/>
          <p:cNvGraphicFramePr/>
          <p:nvPr/>
        </p:nvGraphicFramePr>
        <p:xfrm>
          <a:off x="4701885" y="3344172"/>
          <a:ext cx="3000000" cy="3000000"/>
        </p:xfrm>
        <a:graphic>
          <a:graphicData uri="http://schemas.openxmlformats.org/drawingml/2006/table">
            <a:tbl>
              <a:tblPr>
                <a:noFill/>
                <a:tableStyleId>{78A6D804-A972-451D-A148-11AE6AC30977}</a:tableStyleId>
              </a:tblPr>
              <a:tblGrid>
                <a:gridCol w="3568500"/>
                <a:gridCol w="881300"/>
              </a:tblGrid>
              <a:tr h="156725">
                <a:tc>
                  <a:txBody>
                    <a:bodyPr/>
                    <a:lstStyle/>
                    <a:p>
                      <a:pPr indent="0" lvl="0" marL="0" marR="0" rtl="0" algn="ctr">
                        <a:lnSpc>
                          <a:spcPct val="100000"/>
                        </a:lnSpc>
                        <a:spcBef>
                          <a:spcPts val="0"/>
                        </a:spcBef>
                        <a:spcAft>
                          <a:spcPts val="0"/>
                        </a:spcAft>
                        <a:buClr>
                          <a:srgbClr val="000000"/>
                        </a:buClr>
                        <a:buSzPts val="900"/>
                        <a:buFont typeface="Arial"/>
                        <a:buNone/>
                      </a:pPr>
                      <a:r>
                        <a:rPr lang="da-DK" sz="900" u="none" cap="none" strike="noStrike">
                          <a:solidFill>
                            <a:schemeClr val="dk2"/>
                          </a:solidFill>
                          <a:latin typeface="Inter"/>
                          <a:ea typeface="Inter"/>
                          <a:cs typeface="Inter"/>
                          <a:sym typeface="Inter"/>
                        </a:rPr>
                        <a:t>antallet af arbejdsrelaterede ulykker i rapporteringsåret</a:t>
                      </a:r>
                      <a:endParaRPr sz="900" u="none" cap="none" strike="noStrike">
                        <a:solidFill>
                          <a:schemeClr val="dk2"/>
                        </a:solidFill>
                        <a:latin typeface="Inter"/>
                        <a:ea typeface="Inter"/>
                        <a:cs typeface="Inter"/>
                        <a:sym typeface="Inter"/>
                      </a:endParaRPr>
                    </a:p>
                  </a:txBody>
                  <a:tcPr marT="28800" marB="28800" marR="36000" marL="36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alpha val="0"/>
                      </a:srgbClr>
                    </a:solidFill>
                  </a:tcPr>
                </a:tc>
                <a:tc rowSpan="2">
                  <a:txBody>
                    <a:bodyPr/>
                    <a:lstStyle/>
                    <a:p>
                      <a:pPr indent="0" lvl="0" marL="0" marR="0" rtl="0" algn="l">
                        <a:lnSpc>
                          <a:spcPct val="100000"/>
                        </a:lnSpc>
                        <a:spcBef>
                          <a:spcPts val="0"/>
                        </a:spcBef>
                        <a:spcAft>
                          <a:spcPts val="0"/>
                        </a:spcAft>
                        <a:buClr>
                          <a:srgbClr val="000000"/>
                        </a:buClr>
                        <a:buSzPts val="900"/>
                        <a:buFont typeface="Arial"/>
                        <a:buNone/>
                      </a:pPr>
                      <a:r>
                        <a:rPr lang="da-DK" sz="900" u="none" cap="none" strike="noStrike">
                          <a:solidFill>
                            <a:schemeClr val="dk2"/>
                          </a:solidFill>
                          <a:latin typeface="Inter"/>
                          <a:ea typeface="Inter"/>
                          <a:cs typeface="Inter"/>
                          <a:sym typeface="Inter"/>
                        </a:rPr>
                        <a:t>x 200.000</a:t>
                      </a:r>
                      <a:endParaRPr sz="1400" u="none" cap="none" strike="noStrike">
                        <a:latin typeface="Inter"/>
                        <a:ea typeface="Inter"/>
                        <a:cs typeface="Inter"/>
                        <a:sym typeface="Inter"/>
                      </a:endParaRPr>
                    </a:p>
                  </a:txBody>
                  <a:tcPr marT="28800" marB="28800" marR="36000" marL="54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alpha val="0"/>
                      </a:srgbClr>
                    </a:solidFill>
                  </a:tcPr>
                </a:tc>
              </a:tr>
              <a:tr h="156725">
                <a:tc>
                  <a:txBody>
                    <a:bodyPr/>
                    <a:lstStyle/>
                    <a:p>
                      <a:pPr indent="0" lvl="0" marL="0" marR="0" rtl="0" algn="ctr">
                        <a:lnSpc>
                          <a:spcPct val="100000"/>
                        </a:lnSpc>
                        <a:spcBef>
                          <a:spcPts val="0"/>
                        </a:spcBef>
                        <a:spcAft>
                          <a:spcPts val="0"/>
                        </a:spcAft>
                        <a:buClr>
                          <a:srgbClr val="000000"/>
                        </a:buClr>
                        <a:buSzPts val="900"/>
                        <a:buFont typeface="Arial"/>
                        <a:buNone/>
                      </a:pPr>
                      <a:r>
                        <a:rPr lang="da-DK" sz="900" u="none" cap="none" strike="noStrike">
                          <a:solidFill>
                            <a:schemeClr val="dk2"/>
                          </a:solidFill>
                          <a:latin typeface="Inter"/>
                          <a:ea typeface="Inter"/>
                          <a:cs typeface="Inter"/>
                          <a:sym typeface="Inter"/>
                        </a:rPr>
                        <a:t>antal arbejdstimer for alle ansatte sammenlagt for rapporteringsåret</a:t>
                      </a:r>
                      <a:endParaRPr sz="1400" u="none" cap="none" strike="noStrike">
                        <a:latin typeface="Inter"/>
                        <a:ea typeface="Inter"/>
                        <a:cs typeface="Inter"/>
                        <a:sym typeface="Inter"/>
                      </a:endParaRPr>
                    </a:p>
                  </a:txBody>
                  <a:tcPr marT="28800" marB="28800" marR="36000" marL="36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alpha val="0"/>
                      </a:srgbClr>
                    </a:solidFill>
                  </a:tcPr>
                </a:tc>
                <a:tc vMerge="1"/>
              </a:tr>
            </a:tbl>
          </a:graphicData>
        </a:graphic>
      </p:graphicFrame>
      <p:pic>
        <p:nvPicPr>
          <p:cNvPr id="369" name="Google Shape;369;p23"/>
          <p:cNvPicPr preferRelativeResize="0"/>
          <p:nvPr/>
        </p:nvPicPr>
        <p:blipFill rotWithShape="1">
          <a:blip r:embed="rId7">
            <a:alphaModFix/>
          </a:blip>
          <a:srcRect b="0" l="0" r="0" t="0"/>
          <a:stretch/>
        </p:blipFill>
        <p:spPr>
          <a:xfrm>
            <a:off x="4419788" y="2866388"/>
            <a:ext cx="207455" cy="232601"/>
          </a:xfrm>
          <a:prstGeom prst="rect">
            <a:avLst/>
          </a:prstGeom>
          <a:noFill/>
          <a:ln>
            <a:noFill/>
          </a:ln>
        </p:spPr>
      </p:pic>
      <p:pic>
        <p:nvPicPr>
          <p:cNvPr id="370" name="Google Shape;370;p23" title="Frame 1000002375.png"/>
          <p:cNvPicPr preferRelativeResize="0"/>
          <p:nvPr/>
        </p:nvPicPr>
        <p:blipFill rotWithShape="1">
          <a:blip r:embed="rId8">
            <a:alphaModFix/>
          </a:blip>
          <a:srcRect b="0" l="0" r="0" t="0"/>
          <a:stretch/>
        </p:blipFill>
        <p:spPr>
          <a:xfrm>
            <a:off x="582583" y="513925"/>
            <a:ext cx="342900" cy="242888"/>
          </a:xfrm>
          <a:prstGeom prst="rect">
            <a:avLst/>
          </a:prstGeom>
          <a:noFill/>
          <a:ln>
            <a:noFill/>
          </a:ln>
        </p:spPr>
      </p:pic>
      <p:pic>
        <p:nvPicPr>
          <p:cNvPr id="371" name="Google Shape;371;p23" title="Frame 1000002375.png"/>
          <p:cNvPicPr preferRelativeResize="0"/>
          <p:nvPr/>
        </p:nvPicPr>
        <p:blipFill rotWithShape="1">
          <a:blip r:embed="rId8">
            <a:alphaModFix/>
          </a:blip>
          <a:srcRect b="0" l="0" r="0" t="0"/>
          <a:stretch/>
        </p:blipFill>
        <p:spPr>
          <a:xfrm>
            <a:off x="582583" y="2114125"/>
            <a:ext cx="342900" cy="24288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4"/>
          <p:cNvSpPr txBox="1"/>
          <p:nvPr>
            <p:ph idx="12" type="sldNum"/>
          </p:nvPr>
        </p:nvSpPr>
        <p:spPr>
          <a:xfrm>
            <a:off x="9180000" y="6450239"/>
            <a:ext cx="2743200" cy="1539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da-DK" sz="1000" u="none" cap="none" strike="noStrike">
                <a:solidFill>
                  <a:srgbClr val="1B4528"/>
                </a:solidFill>
                <a:latin typeface="IBM Plex Sans"/>
                <a:ea typeface="IBM Plex Sans"/>
                <a:cs typeface="IBM Plex Sans"/>
                <a:sym typeface="IBM Plex Sans"/>
              </a:rPr>
              <a:t>‹#›</a:t>
            </a:fld>
            <a:endParaRPr b="0" i="0" sz="1000" u="none" cap="none" strike="noStrike">
              <a:solidFill>
                <a:srgbClr val="1B4528"/>
              </a:solidFill>
              <a:latin typeface="IBM Plex Sans"/>
              <a:ea typeface="IBM Plex Sans"/>
              <a:cs typeface="IBM Plex Sans"/>
              <a:sym typeface="IBM Plex Sans"/>
            </a:endParaRPr>
          </a:p>
        </p:txBody>
      </p:sp>
      <p:sp>
        <p:nvSpPr>
          <p:cNvPr id="377" name="Google Shape;377;p24"/>
          <p:cNvSpPr txBox="1"/>
          <p:nvPr>
            <p:ph idx="11" type="ftr"/>
          </p:nvPr>
        </p:nvSpPr>
        <p:spPr>
          <a:xfrm>
            <a:off x="8280504" y="224972"/>
            <a:ext cx="3642600" cy="1539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1" i="0" lang="da-DK" sz="1000" u="none" cap="none" strike="noStrike">
                <a:solidFill>
                  <a:srgbClr val="1B4528"/>
                </a:solidFill>
                <a:latin typeface="Inter"/>
                <a:ea typeface="Inter"/>
                <a:cs typeface="Inter"/>
                <a:sym typeface="Inter"/>
              </a:rPr>
              <a:t>Company’s name</a:t>
            </a:r>
            <a:endParaRPr b="1" i="0" sz="1000" u="none" cap="none" strike="noStrike">
              <a:solidFill>
                <a:srgbClr val="1B4528"/>
              </a:solidFill>
              <a:latin typeface="Inter"/>
              <a:ea typeface="Inter"/>
              <a:cs typeface="Inter"/>
              <a:sym typeface="Inter"/>
            </a:endParaRPr>
          </a:p>
        </p:txBody>
      </p:sp>
      <p:sp>
        <p:nvSpPr>
          <p:cNvPr id="378" name="Google Shape;378;p24"/>
          <p:cNvSpPr txBox="1"/>
          <p:nvPr>
            <p:ph type="title"/>
          </p:nvPr>
        </p:nvSpPr>
        <p:spPr>
          <a:xfrm>
            <a:off x="1079639" y="513925"/>
            <a:ext cx="10672500" cy="249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a-DK">
                <a:solidFill>
                  <a:schemeClr val="dk2"/>
                </a:solidFill>
                <a:latin typeface="Inter"/>
                <a:ea typeface="Inter"/>
                <a:cs typeface="Inter"/>
                <a:sym typeface="Inter"/>
              </a:rPr>
              <a:t>Egen arbejdsstyrke: Vederlag, overenskomster og uddannelse</a:t>
            </a:r>
            <a:endParaRPr>
              <a:solidFill>
                <a:schemeClr val="dk2"/>
              </a:solidFill>
              <a:latin typeface="Inter"/>
              <a:ea typeface="Inter"/>
              <a:cs typeface="Inter"/>
              <a:sym typeface="Inter"/>
            </a:endParaRPr>
          </a:p>
        </p:txBody>
      </p:sp>
      <p:sp>
        <p:nvSpPr>
          <p:cNvPr id="379" name="Google Shape;379;p24"/>
          <p:cNvSpPr/>
          <p:nvPr/>
        </p:nvSpPr>
        <p:spPr>
          <a:xfrm>
            <a:off x="539575" y="1016000"/>
            <a:ext cx="5160900" cy="32517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Begrebsforklaringer</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Startløn</a:t>
            </a:r>
            <a:r>
              <a:rPr b="0" i="0" lang="da-DK" sz="900" u="none" cap="none" strike="noStrike">
                <a:solidFill>
                  <a:srgbClr val="1B4528"/>
                </a:solidFill>
                <a:latin typeface="Inter"/>
                <a:ea typeface="Inter"/>
                <a:cs typeface="Inter"/>
                <a:sym typeface="Inter"/>
              </a:rPr>
              <a:t> refererer til fuldtidslønnen i den lavest lønnede medarbejderkategori.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Minimumsløn</a:t>
            </a:r>
            <a:r>
              <a:rPr b="0" i="0" lang="da-DK" sz="900" u="none" cap="none" strike="noStrike">
                <a:solidFill>
                  <a:srgbClr val="1B4528"/>
                </a:solidFill>
                <a:latin typeface="Inter"/>
                <a:ea typeface="Inter"/>
                <a:cs typeface="Inter"/>
                <a:sym typeface="Inter"/>
              </a:rPr>
              <a:t> refererer til den overenskomstbestemte mindsteløn, hvor den findes.</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Bruttoløn</a:t>
            </a:r>
            <a:r>
              <a:rPr b="0" i="0" lang="da-DK" sz="900" u="none" cap="none" strike="noStrike">
                <a:solidFill>
                  <a:srgbClr val="1B4528"/>
                </a:solidFill>
                <a:latin typeface="Inter"/>
                <a:ea typeface="Inter"/>
                <a:cs typeface="Inter"/>
                <a:sym typeface="Inter"/>
              </a:rPr>
              <a:t> dækker over alle aflønningselementer som fx:  basisløn, bonusudbetaling, kontant løntillæg, fri bil, forsikringer og sundhedsprogrammer.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Den gennemsnitlige bruttotimeløn </a:t>
            </a:r>
            <a:r>
              <a:rPr b="0" i="0" lang="da-DK" sz="900" u="none" cap="none" strike="noStrike">
                <a:solidFill>
                  <a:srgbClr val="1B4528"/>
                </a:solidFill>
                <a:latin typeface="Inter"/>
                <a:ea typeface="Inter"/>
                <a:cs typeface="Inter"/>
                <a:sym typeface="Inter"/>
              </a:rPr>
              <a:t>er den ugentlige/årlige bruttoløn divideret med det gennemsnitlige antal timerarbejde om ugen/år.</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Procentdelen af ansatte, der er dækket af kollektive overenskomster </a:t>
            </a:r>
            <a:r>
              <a:rPr b="0" i="0" lang="da-DK" sz="900" u="none" cap="none" strike="noStrike">
                <a:solidFill>
                  <a:srgbClr val="1B4528"/>
                </a:solidFill>
                <a:latin typeface="Inter"/>
                <a:ea typeface="Inter"/>
                <a:cs typeface="Inter"/>
                <a:sym typeface="Inter"/>
              </a:rPr>
              <a:t>kan være højere end andelen af de ansatte, der er medlem af en fagforening, hvis overenskomstdækningen gælder for både medlemmer </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0" i="0" lang="da-DK" sz="900" u="none" cap="none" strike="noStrike">
                <a:solidFill>
                  <a:srgbClr val="1B4528"/>
                </a:solidFill>
                <a:latin typeface="Inter"/>
                <a:ea typeface="Inter"/>
                <a:cs typeface="Inter"/>
                <a:sym typeface="Inter"/>
              </a:rPr>
              <a:t>og ikke-medlemmer af en fagforening.</a:t>
            </a:r>
            <a:endParaRPr b="0" i="0" sz="14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t/>
            </a:r>
            <a:endParaRPr b="0" i="0" sz="900" u="none" cap="none" strike="noStrike">
              <a:solidFill>
                <a:srgbClr val="1B4528"/>
              </a:solidFill>
              <a:latin typeface="Inter"/>
              <a:ea typeface="Inter"/>
              <a:cs typeface="Inter"/>
              <a:sym typeface="Inter"/>
            </a:endParaRPr>
          </a:p>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Uddannelsestimer</a:t>
            </a:r>
            <a:r>
              <a:rPr b="0" i="0" lang="da-DK" sz="900" u="none" cap="none" strike="noStrike">
                <a:solidFill>
                  <a:srgbClr val="1B4528"/>
                </a:solidFill>
                <a:latin typeface="Inter"/>
                <a:ea typeface="Inter"/>
                <a:cs typeface="Inter"/>
                <a:sym typeface="Inter"/>
              </a:rPr>
              <a:t> refererer til udvikling af færdigheder og kompetencer (både formelt, fx i form af kurser, og uformelt, fx i form af sidemandsoplæring). Opgørelse kan baseres på estimater.</a:t>
            </a:r>
            <a:endParaRPr b="0" i="0" sz="1400" u="none" cap="none" strike="noStrike">
              <a:solidFill>
                <a:srgbClr val="1B4528"/>
              </a:solidFill>
              <a:latin typeface="Inter"/>
              <a:ea typeface="Inter"/>
              <a:cs typeface="Inter"/>
              <a:sym typeface="Inter"/>
            </a:endParaRPr>
          </a:p>
        </p:txBody>
      </p:sp>
      <p:pic>
        <p:nvPicPr>
          <p:cNvPr id="380" name="Google Shape;380;p24"/>
          <p:cNvPicPr preferRelativeResize="0"/>
          <p:nvPr/>
        </p:nvPicPr>
        <p:blipFill rotWithShape="1">
          <a:blip r:embed="rId3">
            <a:alphaModFix/>
          </a:blip>
          <a:srcRect b="0" l="0" r="0" t="0"/>
          <a:stretch/>
        </p:blipFill>
        <p:spPr>
          <a:xfrm>
            <a:off x="592221" y="1079229"/>
            <a:ext cx="249189" cy="232600"/>
          </a:xfrm>
          <a:prstGeom prst="rect">
            <a:avLst/>
          </a:prstGeom>
          <a:noFill/>
          <a:ln>
            <a:noFill/>
          </a:ln>
        </p:spPr>
      </p:pic>
      <p:sp>
        <p:nvSpPr>
          <p:cNvPr id="381" name="Google Shape;381;p24"/>
          <p:cNvSpPr/>
          <p:nvPr/>
        </p:nvSpPr>
        <p:spPr>
          <a:xfrm>
            <a:off x="5980525" y="1088476"/>
            <a:ext cx="7343700" cy="7674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Forholdet mellem startløn og mindsteløn: </a:t>
            </a:r>
            <a:endParaRPr b="0" i="0" sz="1400" u="none" cap="none" strike="noStrike">
              <a:solidFill>
                <a:srgbClr val="1B4528"/>
              </a:solidFill>
              <a:latin typeface="Inter"/>
              <a:ea typeface="Inter"/>
              <a:cs typeface="Inter"/>
              <a:sym typeface="Inter"/>
            </a:endParaRPr>
          </a:p>
        </p:txBody>
      </p:sp>
      <p:graphicFrame>
        <p:nvGraphicFramePr>
          <p:cNvPr id="382" name="Google Shape;382;p24"/>
          <p:cNvGraphicFramePr/>
          <p:nvPr/>
        </p:nvGraphicFramePr>
        <p:xfrm>
          <a:off x="6132937" y="1604546"/>
          <a:ext cx="3000000" cy="3000000"/>
        </p:xfrm>
        <a:graphic>
          <a:graphicData uri="http://schemas.openxmlformats.org/drawingml/2006/table">
            <a:tbl>
              <a:tblPr>
                <a:noFill/>
                <a:tableStyleId>{78A6D804-A972-451D-A148-11AE6AC30977}</a:tableStyleId>
              </a:tblPr>
              <a:tblGrid>
                <a:gridCol w="719600"/>
                <a:gridCol w="883600"/>
              </a:tblGrid>
              <a:tr h="156725">
                <a:tc rowSpan="2">
                  <a:txBody>
                    <a:bodyPr/>
                    <a:lstStyle/>
                    <a:p>
                      <a:pPr indent="0" lvl="0" marL="0" marR="0" rtl="0" algn="ctr">
                        <a:lnSpc>
                          <a:spcPct val="100000"/>
                        </a:lnSpc>
                        <a:spcBef>
                          <a:spcPts val="0"/>
                        </a:spcBef>
                        <a:spcAft>
                          <a:spcPts val="0"/>
                        </a:spcAft>
                        <a:buClr>
                          <a:srgbClr val="000000"/>
                        </a:buClr>
                        <a:buSzPts val="900"/>
                        <a:buFont typeface="Arial"/>
                        <a:buNone/>
                      </a:pPr>
                      <a:r>
                        <a:rPr lang="da-DK" sz="900" u="none" cap="none" strike="noStrike">
                          <a:solidFill>
                            <a:schemeClr val="dk2"/>
                          </a:solidFill>
                          <a:latin typeface="Inter"/>
                          <a:ea typeface="Inter"/>
                          <a:cs typeface="Inter"/>
                          <a:sym typeface="Inter"/>
                        </a:rPr>
                        <a:t>Forholdet =</a:t>
                      </a:r>
                      <a:endParaRPr sz="1400" u="none" cap="none" strike="noStrike">
                        <a:latin typeface="Inter"/>
                        <a:ea typeface="Inter"/>
                        <a:cs typeface="Inter"/>
                        <a:sym typeface="Inter"/>
                      </a:endParaRPr>
                    </a:p>
                  </a:txBody>
                  <a:tcPr marT="28800" marB="28800" marR="36000" marL="36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da-DK" sz="900" u="none" cap="none" strike="noStrike">
                          <a:solidFill>
                            <a:schemeClr val="dk2"/>
                          </a:solidFill>
                          <a:latin typeface="Inter"/>
                          <a:ea typeface="Inter"/>
                          <a:cs typeface="Inter"/>
                          <a:sym typeface="Inter"/>
                        </a:rPr>
                        <a:t>Startløn*</a:t>
                      </a:r>
                      <a:endParaRPr sz="900" u="none" cap="none" strike="noStrike">
                        <a:solidFill>
                          <a:schemeClr val="dk2"/>
                        </a:solidFill>
                        <a:latin typeface="Inter"/>
                        <a:ea typeface="Inter"/>
                        <a:cs typeface="Inter"/>
                        <a:sym typeface="Inter"/>
                      </a:endParaRPr>
                    </a:p>
                  </a:txBody>
                  <a:tcPr marT="28800" marB="28800" marR="36000" marL="36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56725">
                <a:tc vMerge="1"/>
                <a:tc>
                  <a:txBody>
                    <a:bodyPr/>
                    <a:lstStyle/>
                    <a:p>
                      <a:pPr indent="0" lvl="0" marL="0" marR="0" rtl="0" algn="ctr">
                        <a:lnSpc>
                          <a:spcPct val="100000"/>
                        </a:lnSpc>
                        <a:spcBef>
                          <a:spcPts val="0"/>
                        </a:spcBef>
                        <a:spcAft>
                          <a:spcPts val="0"/>
                        </a:spcAft>
                        <a:buClr>
                          <a:srgbClr val="000000"/>
                        </a:buClr>
                        <a:buSzPts val="900"/>
                        <a:buFont typeface="Arial"/>
                        <a:buNone/>
                      </a:pPr>
                      <a:r>
                        <a:rPr lang="da-DK" sz="900" u="none" cap="none" strike="noStrike">
                          <a:solidFill>
                            <a:schemeClr val="dk2"/>
                          </a:solidFill>
                          <a:latin typeface="Inter"/>
                          <a:ea typeface="Inter"/>
                          <a:cs typeface="Inter"/>
                          <a:sym typeface="Inter"/>
                        </a:rPr>
                        <a:t>Minimumsløn*</a:t>
                      </a:r>
                      <a:endParaRPr sz="1400" u="none" cap="none" strike="noStrike">
                        <a:latin typeface="Inter"/>
                        <a:ea typeface="Inter"/>
                        <a:cs typeface="Inter"/>
                        <a:sym typeface="Inter"/>
                      </a:endParaRPr>
                    </a:p>
                  </a:txBody>
                  <a:tcPr marT="28800" marB="28800" marR="36000" marL="36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83" name="Google Shape;383;p24"/>
          <p:cNvSpPr/>
          <p:nvPr/>
        </p:nvSpPr>
        <p:spPr>
          <a:xfrm>
            <a:off x="5980525" y="2269350"/>
            <a:ext cx="6317700" cy="9495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0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Procentvis lønforskel mellem mandlige og kvindelige ansatte: </a:t>
            </a:r>
            <a:endParaRPr b="0" i="0" sz="1400" u="none" cap="none" strike="noStrike">
              <a:solidFill>
                <a:srgbClr val="1B4528"/>
              </a:solidFill>
              <a:latin typeface="Inter"/>
              <a:ea typeface="Inter"/>
              <a:cs typeface="Inter"/>
              <a:sym typeface="Inter"/>
            </a:endParaRPr>
          </a:p>
        </p:txBody>
      </p:sp>
      <p:graphicFrame>
        <p:nvGraphicFramePr>
          <p:cNvPr id="384" name="Google Shape;384;p24"/>
          <p:cNvGraphicFramePr/>
          <p:nvPr/>
        </p:nvGraphicFramePr>
        <p:xfrm>
          <a:off x="6214128" y="2992158"/>
          <a:ext cx="3000000" cy="3000000"/>
        </p:xfrm>
        <a:graphic>
          <a:graphicData uri="http://schemas.openxmlformats.org/drawingml/2006/table">
            <a:tbl>
              <a:tblPr>
                <a:noFill/>
                <a:tableStyleId>{78A6D804-A972-451D-A148-11AE6AC30977}</a:tableStyleId>
              </a:tblPr>
              <a:tblGrid>
                <a:gridCol w="3179675"/>
                <a:gridCol w="396925"/>
                <a:gridCol w="1396550"/>
              </a:tblGrid>
              <a:tr h="156725">
                <a:tc>
                  <a:txBody>
                    <a:bodyPr/>
                    <a:lstStyle/>
                    <a:p>
                      <a:pPr indent="0" lvl="0" marL="0" marR="0" rtl="0" algn="ctr">
                        <a:lnSpc>
                          <a:spcPct val="100000"/>
                        </a:lnSpc>
                        <a:spcBef>
                          <a:spcPts val="0"/>
                        </a:spcBef>
                        <a:spcAft>
                          <a:spcPts val="0"/>
                        </a:spcAft>
                        <a:buClr>
                          <a:srgbClr val="000000"/>
                        </a:buClr>
                        <a:buSzPts val="900"/>
                        <a:buFont typeface="Arial"/>
                        <a:buNone/>
                      </a:pPr>
                      <a:r>
                        <a:rPr b="0" lang="da-DK" sz="900" u="none" cap="none" strike="noStrike">
                          <a:solidFill>
                            <a:schemeClr val="dk2"/>
                          </a:solidFill>
                        </a:rPr>
                        <a:t>(Gennemsnits bruttotimeløn* for alle mandlige ansatte </a:t>
                      </a:r>
                      <a:br>
                        <a:rPr b="0" lang="da-DK" sz="900" u="none" cap="none" strike="noStrike">
                          <a:solidFill>
                            <a:schemeClr val="dk2"/>
                          </a:solidFill>
                        </a:rPr>
                      </a:br>
                      <a:r>
                        <a:rPr b="0" lang="da-DK" sz="900" u="none" cap="none" strike="noStrike">
                          <a:solidFill>
                            <a:schemeClr val="dk2"/>
                          </a:solidFill>
                        </a:rPr>
                        <a:t>– gennemsnits bruttotimeløn* for alle kvindelige ansatte)</a:t>
                      </a:r>
                      <a:endParaRPr b="0" sz="900" u="none" cap="none" strike="noStrike">
                        <a:solidFill>
                          <a:schemeClr val="dk2"/>
                        </a:solidFill>
                      </a:endParaRPr>
                    </a:p>
                  </a:txBody>
                  <a:tcPr marT="28800" marB="28800" marR="36000" marL="36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900"/>
                        <a:buFont typeface="Arial"/>
                        <a:buNone/>
                      </a:pPr>
                      <a:r>
                        <a:rPr b="0" lang="da-DK" sz="900" u="none" cap="none" strike="noStrike">
                          <a:solidFill>
                            <a:schemeClr val="dk2"/>
                          </a:solidFill>
                        </a:rPr>
                        <a:t>x 100</a:t>
                      </a:r>
                      <a:endParaRPr sz="1400" u="none" cap="none" strike="noStrike"/>
                    </a:p>
                  </a:txBody>
                  <a:tcPr marT="108000" marB="28800" marR="36000" marL="54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900"/>
                        <a:buFont typeface="Arial"/>
                        <a:buNone/>
                      </a:pPr>
                      <a:r>
                        <a:rPr b="0" lang="da-DK" sz="900" u="none" cap="none" strike="noStrike">
                          <a:solidFill>
                            <a:schemeClr val="dk2"/>
                          </a:solidFill>
                        </a:rPr>
                        <a:t>= Procentvise lønforskel </a:t>
                      </a:r>
                      <a:endParaRPr sz="1400" u="none" cap="none" strike="noStrike"/>
                    </a:p>
                  </a:txBody>
                  <a:tcPr marT="108000" marB="28800" marR="36000" marL="54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56725">
                <a:tc>
                  <a:txBody>
                    <a:bodyPr/>
                    <a:lstStyle/>
                    <a:p>
                      <a:pPr indent="0" lvl="0" marL="0" marR="0" rtl="0" algn="ctr">
                        <a:lnSpc>
                          <a:spcPct val="100000"/>
                        </a:lnSpc>
                        <a:spcBef>
                          <a:spcPts val="0"/>
                        </a:spcBef>
                        <a:spcAft>
                          <a:spcPts val="0"/>
                        </a:spcAft>
                        <a:buClr>
                          <a:srgbClr val="000000"/>
                        </a:buClr>
                        <a:buSzPts val="900"/>
                        <a:buFont typeface="Arial"/>
                        <a:buNone/>
                      </a:pPr>
                      <a:r>
                        <a:rPr b="0" lang="da-DK" sz="900" u="none" cap="none" strike="noStrike">
                          <a:solidFill>
                            <a:schemeClr val="dk2"/>
                          </a:solidFill>
                        </a:rPr>
                        <a:t>Gennemsnits bruttotimeløn for alle mandlige ansatte</a:t>
                      </a:r>
                      <a:endParaRPr sz="1400" u="none" cap="none" strike="noStrike"/>
                    </a:p>
                  </a:txBody>
                  <a:tcPr marT="28800" marB="28800" marR="36000" marL="36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bl>
          </a:graphicData>
        </a:graphic>
      </p:graphicFrame>
      <p:pic>
        <p:nvPicPr>
          <p:cNvPr id="385" name="Google Shape;385;p24"/>
          <p:cNvPicPr preferRelativeResize="0"/>
          <p:nvPr/>
        </p:nvPicPr>
        <p:blipFill rotWithShape="1">
          <a:blip r:embed="rId4">
            <a:alphaModFix/>
          </a:blip>
          <a:srcRect b="0" l="0" r="0" t="0"/>
          <a:stretch/>
        </p:blipFill>
        <p:spPr>
          <a:xfrm>
            <a:off x="6074326" y="1216209"/>
            <a:ext cx="207455" cy="232601"/>
          </a:xfrm>
          <a:prstGeom prst="rect">
            <a:avLst/>
          </a:prstGeom>
          <a:noFill/>
          <a:ln>
            <a:noFill/>
          </a:ln>
        </p:spPr>
      </p:pic>
      <p:pic>
        <p:nvPicPr>
          <p:cNvPr id="386" name="Google Shape;386;p24"/>
          <p:cNvPicPr preferRelativeResize="0"/>
          <p:nvPr/>
        </p:nvPicPr>
        <p:blipFill rotWithShape="1">
          <a:blip r:embed="rId4">
            <a:alphaModFix/>
          </a:blip>
          <a:srcRect b="0" l="0" r="0" t="0"/>
          <a:stretch/>
        </p:blipFill>
        <p:spPr>
          <a:xfrm>
            <a:off x="6069648" y="2413255"/>
            <a:ext cx="207455" cy="232601"/>
          </a:xfrm>
          <a:prstGeom prst="rect">
            <a:avLst/>
          </a:prstGeom>
          <a:noFill/>
          <a:ln>
            <a:noFill/>
          </a:ln>
        </p:spPr>
      </p:pic>
      <p:sp>
        <p:nvSpPr>
          <p:cNvPr id="387" name="Google Shape;387;p24"/>
          <p:cNvSpPr/>
          <p:nvPr/>
        </p:nvSpPr>
        <p:spPr>
          <a:xfrm>
            <a:off x="5980525" y="3971700"/>
            <a:ext cx="4695000" cy="988200"/>
          </a:xfrm>
          <a:prstGeom prst="rect">
            <a:avLst/>
          </a:prstGeom>
          <a:solidFill>
            <a:srgbClr val="FFFFFF">
              <a:alpha val="0"/>
            </a:srgbClr>
          </a:solidFill>
          <a:ln>
            <a:noFill/>
          </a:ln>
        </p:spPr>
        <p:txBody>
          <a:bodyPr anchorCtr="0" anchor="t" bIns="144000" lIns="396000" spcFirstLastPara="1" rIns="144000" wrap="square" tIns="108000">
            <a:noAutofit/>
          </a:bodyPr>
          <a:lstStyle/>
          <a:p>
            <a:pPr indent="0" lvl="0" marL="0" marR="0" rtl="0" algn="l">
              <a:lnSpc>
                <a:spcPct val="106000"/>
              </a:lnSpc>
              <a:spcBef>
                <a:spcPts val="0"/>
              </a:spcBef>
              <a:spcAft>
                <a:spcPts val="0"/>
              </a:spcAft>
              <a:buClr>
                <a:srgbClr val="000000"/>
              </a:buClr>
              <a:buSzPts val="900"/>
              <a:buFont typeface="Arial"/>
              <a:buNone/>
            </a:pPr>
            <a:r>
              <a:rPr b="1" i="0" lang="da-DK" sz="900" u="none" cap="none" strike="noStrike">
                <a:solidFill>
                  <a:srgbClr val="1B4528"/>
                </a:solidFill>
                <a:latin typeface="Inter"/>
                <a:ea typeface="Inter"/>
                <a:cs typeface="Inter"/>
                <a:sym typeface="Inter"/>
              </a:rPr>
              <a:t>Individer dækket af overenskomst (procentandel):</a:t>
            </a:r>
            <a:endParaRPr b="0" i="0" sz="1400" u="none" cap="none" strike="noStrike">
              <a:solidFill>
                <a:srgbClr val="1B4528"/>
              </a:solidFill>
              <a:latin typeface="Inter"/>
              <a:ea typeface="Inter"/>
              <a:cs typeface="Inter"/>
              <a:sym typeface="Inter"/>
            </a:endParaRPr>
          </a:p>
        </p:txBody>
      </p:sp>
      <p:graphicFrame>
        <p:nvGraphicFramePr>
          <p:cNvPr id="388" name="Google Shape;388;p24"/>
          <p:cNvGraphicFramePr/>
          <p:nvPr/>
        </p:nvGraphicFramePr>
        <p:xfrm>
          <a:off x="6238285" y="4588891"/>
          <a:ext cx="3000000" cy="3000000"/>
        </p:xfrm>
        <a:graphic>
          <a:graphicData uri="http://schemas.openxmlformats.org/drawingml/2006/table">
            <a:tbl>
              <a:tblPr>
                <a:noFill/>
                <a:tableStyleId>{78A6D804-A972-451D-A148-11AE6AC30977}</a:tableStyleId>
              </a:tblPr>
              <a:tblGrid>
                <a:gridCol w="2398200"/>
                <a:gridCol w="405325"/>
                <a:gridCol w="2179600"/>
              </a:tblGrid>
              <a:tr h="156725">
                <a:tc>
                  <a:txBody>
                    <a:bodyPr/>
                    <a:lstStyle/>
                    <a:p>
                      <a:pPr indent="0" lvl="0" marL="0" marR="0" rtl="0" algn="ctr">
                        <a:lnSpc>
                          <a:spcPct val="100000"/>
                        </a:lnSpc>
                        <a:spcBef>
                          <a:spcPts val="0"/>
                        </a:spcBef>
                        <a:spcAft>
                          <a:spcPts val="0"/>
                        </a:spcAft>
                        <a:buClr>
                          <a:srgbClr val="000000"/>
                        </a:buClr>
                        <a:buSzPts val="900"/>
                        <a:buFont typeface="Arial"/>
                        <a:buNone/>
                      </a:pPr>
                      <a:r>
                        <a:rPr lang="da-DK" sz="900" u="none" cap="none" strike="noStrike">
                          <a:solidFill>
                            <a:schemeClr val="dk2"/>
                          </a:solidFill>
                          <a:latin typeface="Inter"/>
                          <a:ea typeface="Inter"/>
                          <a:cs typeface="Inter"/>
                          <a:sym typeface="Inter"/>
                        </a:rPr>
                        <a:t>Antal ansatte, dækket af en overenskomst*</a:t>
                      </a:r>
                      <a:endParaRPr sz="900" u="none" cap="none" strike="noStrike">
                        <a:solidFill>
                          <a:schemeClr val="dk2"/>
                        </a:solidFill>
                        <a:latin typeface="Inter"/>
                        <a:ea typeface="Inter"/>
                        <a:cs typeface="Inter"/>
                        <a:sym typeface="Inter"/>
                      </a:endParaRPr>
                    </a:p>
                  </a:txBody>
                  <a:tcPr marT="28800" marB="28800" marR="36000" marL="36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900"/>
                        <a:buFont typeface="Arial"/>
                        <a:buNone/>
                      </a:pPr>
                      <a:r>
                        <a:rPr lang="da-DK" sz="900" u="none" cap="none" strike="noStrike">
                          <a:solidFill>
                            <a:schemeClr val="dk2"/>
                          </a:solidFill>
                          <a:latin typeface="Inter"/>
                          <a:ea typeface="Inter"/>
                          <a:cs typeface="Inter"/>
                          <a:sym typeface="Inter"/>
                        </a:rPr>
                        <a:t>x 100</a:t>
                      </a:r>
                      <a:endParaRPr sz="1400" u="none" cap="none" strike="noStrike">
                        <a:latin typeface="Inter"/>
                        <a:ea typeface="Inter"/>
                        <a:cs typeface="Inter"/>
                        <a:sym typeface="Inter"/>
                      </a:endParaRPr>
                    </a:p>
                  </a:txBody>
                  <a:tcPr marT="28800" marB="28800" marR="36000" marL="54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900"/>
                        <a:buFont typeface="Arial"/>
                        <a:buNone/>
                      </a:pPr>
                      <a:r>
                        <a:rPr lang="da-DK" sz="900" u="none" cap="none" strike="noStrike">
                          <a:solidFill>
                            <a:schemeClr val="dk2"/>
                          </a:solidFill>
                          <a:latin typeface="Inter"/>
                          <a:ea typeface="Inter"/>
                          <a:cs typeface="Inter"/>
                          <a:sym typeface="Inter"/>
                        </a:rPr>
                        <a:t>= Procentvis ansatte, </a:t>
                      </a:r>
                      <a:br>
                        <a:rPr lang="da-DK" sz="900" u="none" cap="none" strike="noStrike">
                          <a:solidFill>
                            <a:schemeClr val="dk2"/>
                          </a:solidFill>
                          <a:latin typeface="Inter"/>
                          <a:ea typeface="Inter"/>
                          <a:cs typeface="Inter"/>
                          <a:sym typeface="Inter"/>
                        </a:rPr>
                      </a:br>
                      <a:r>
                        <a:rPr lang="da-DK" sz="900" u="none" cap="none" strike="noStrike">
                          <a:solidFill>
                            <a:schemeClr val="dk2"/>
                          </a:solidFill>
                          <a:latin typeface="Inter"/>
                          <a:ea typeface="Inter"/>
                          <a:cs typeface="Inter"/>
                          <a:sym typeface="Inter"/>
                        </a:rPr>
                        <a:t>dækket af overenskomst</a:t>
                      </a:r>
                      <a:endParaRPr sz="1400" u="none" cap="none" strike="noStrike">
                        <a:latin typeface="Inter"/>
                        <a:ea typeface="Inter"/>
                        <a:cs typeface="Inter"/>
                        <a:sym typeface="Inter"/>
                      </a:endParaRPr>
                    </a:p>
                  </a:txBody>
                  <a:tcPr marT="28800" marB="28800" marR="36000" marL="54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00000">
                <a:tc>
                  <a:txBody>
                    <a:bodyPr/>
                    <a:lstStyle/>
                    <a:p>
                      <a:pPr indent="0" lvl="0" marL="0" marR="0" rtl="0" algn="ctr">
                        <a:lnSpc>
                          <a:spcPct val="100000"/>
                        </a:lnSpc>
                        <a:spcBef>
                          <a:spcPts val="0"/>
                        </a:spcBef>
                        <a:spcAft>
                          <a:spcPts val="0"/>
                        </a:spcAft>
                        <a:buClr>
                          <a:srgbClr val="000000"/>
                        </a:buClr>
                        <a:buSzPts val="900"/>
                        <a:buFont typeface="Arial"/>
                        <a:buNone/>
                      </a:pPr>
                      <a:r>
                        <a:rPr lang="da-DK" sz="900" u="none" cap="none" strike="noStrike">
                          <a:solidFill>
                            <a:schemeClr val="dk2"/>
                          </a:solidFill>
                          <a:latin typeface="Inter"/>
                          <a:ea typeface="Inter"/>
                          <a:cs typeface="Inter"/>
                          <a:sym typeface="Inter"/>
                        </a:rPr>
                        <a:t>Antal ansatte i alt</a:t>
                      </a:r>
                      <a:endParaRPr sz="1400" u="none" cap="none" strike="noStrike">
                        <a:latin typeface="Inter"/>
                        <a:ea typeface="Inter"/>
                        <a:cs typeface="Inter"/>
                        <a:sym typeface="Inter"/>
                      </a:endParaRPr>
                    </a:p>
                  </a:txBody>
                  <a:tcPr marT="28800" marB="28800" marR="36000" marL="36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bl>
          </a:graphicData>
        </a:graphic>
      </p:graphicFrame>
      <p:pic>
        <p:nvPicPr>
          <p:cNvPr id="389" name="Google Shape;389;p24"/>
          <p:cNvPicPr preferRelativeResize="0"/>
          <p:nvPr/>
        </p:nvPicPr>
        <p:blipFill rotWithShape="1">
          <a:blip r:embed="rId4">
            <a:alphaModFix/>
          </a:blip>
          <a:srcRect b="0" l="0" r="0" t="0"/>
          <a:stretch/>
        </p:blipFill>
        <p:spPr>
          <a:xfrm>
            <a:off x="6061713" y="4039764"/>
            <a:ext cx="207455" cy="232601"/>
          </a:xfrm>
          <a:prstGeom prst="rect">
            <a:avLst/>
          </a:prstGeom>
          <a:noFill/>
          <a:ln>
            <a:noFill/>
          </a:ln>
        </p:spPr>
      </p:pic>
      <p:pic>
        <p:nvPicPr>
          <p:cNvPr id="390" name="Google Shape;390;p24" title="Frame 1000002375.png"/>
          <p:cNvPicPr preferRelativeResize="0"/>
          <p:nvPr/>
        </p:nvPicPr>
        <p:blipFill rotWithShape="1">
          <a:blip r:embed="rId5">
            <a:alphaModFix/>
          </a:blip>
          <a:srcRect b="0" l="0" r="0" t="0"/>
          <a:stretch/>
        </p:blipFill>
        <p:spPr>
          <a:xfrm>
            <a:off x="578046" y="496666"/>
            <a:ext cx="435769" cy="24288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t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2025-02-28T18:51:17Z</dcterms:created>
  <dc:creator>Amanda Simonsen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0x010100BB27490456EC474DABC986E034D72C53</vt:lpwstr>
  </property>
  <property fmtid="{D5CDD505-2E9C-101B-9397-08002B2CF9AE}" pid="3" name="MediaServiceImageTags">
    <vt:lpwstr/>
  </property>
</Properties>
</file>