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07" r:id="rId13"/>
    <p:sldId id="335" r:id="rId14"/>
    <p:sldId id="334" r:id="rId15"/>
    <p:sldId id="337" r:id="rId16"/>
    <p:sldId id="339" r:id="rId17"/>
    <p:sldId id="352" r:id="rId18"/>
    <p:sldId id="356" r:id="rId19"/>
    <p:sldId id="345" r:id="rId20"/>
    <p:sldId id="342" r:id="rId21"/>
    <p:sldId id="348" r:id="rId22"/>
    <p:sldId id="272" r:id="rId23"/>
  </p:sldIdLst>
  <p:sldSz cx="7559675" cy="1069181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fr-FR"/>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fr-FR" smtClean="0"/>
              <a:pPr/>
              <a:t>12/08/2026</a:t>
            </a:fld>
            <a:endParaRPr lang="fr-FR"/>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Click to edit Master text styles</a:t>
            </a:r>
          </a:p>
          <a:p>
            <a:pPr lvl="1"/>
            <a:r>
              <a:rPr lang="fr-FR"/>
              <a:t xml:space="preserve">Deuxième niveau</a:t>
            </a:r>
          </a:p>
          <a:p>
            <a:pPr lvl="2"/>
            <a:r>
              <a:rPr lang="fr-FR"/>
              <a:t xml:space="preserve">Troisième niveau</a:t>
            </a:r>
          </a:p>
          <a:p>
            <a:pPr lvl="3"/>
            <a:r>
              <a:rPr lang="fr-FR"/>
              <a:t xml:space="preserve">Quatrième niveau</a:t>
            </a:r>
          </a:p>
          <a:p>
            <a:pPr lvl="4"/>
            <a:r>
              <a:rPr lang="fr-FR"/>
              <a:t xml:space="preserve">Cinquième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fr-FR"/>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fr-FR" smtClean="0"/>
              <a:pPr/>
              <a:t>‹nr.›</a:t>
            </a:fld>
            <a:endParaRPr lang="fr-FR"/>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a:t>
            </a:fld>
            <a:endParaRPr lang="fr-FR"/>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2</a:t>
            </a:fld>
            <a:endParaRPr lang="fr-FR"/>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3</a:t>
            </a:fld>
            <a:endParaRPr lang="fr-FR"/>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fr-FR"/>
              <a:t xml:space="preserve">Supprimé: </a:t>
            </a:r>
            <a:r>
              <a:rPr lang="fr-FR" sz="1200" b="0" i="0" u="none" strike="noStrike" kern="1200">
                <a:solidFill>
                  <a:schemeClr val="tx1"/>
                </a:solidFill>
                <a:effectLst/>
                <a:latin typeface="IBM Plex Sans" panose="020B0503050203000203" pitchFamily="34" charset="0"/>
                <a:ea typeface="+mn-ea"/>
                <a:cs typeface="+mn-cs"/>
              </a:rPr>
              <a:t>{{documents_B2}}</a:t>
            </a:r>
          </a:p>
          <a:p>
            <a:r>
              <a:rPr lang="fr-FR" sz="1200" b="0" i="0" u="none" strike="noStrike" kern="1200">
                <a:solidFill>
                  <a:schemeClr val="tx1"/>
                </a:solidFill>
                <a:effectLst/>
                <a:latin typeface="IBM Plex Sans" panose="020B0503050203000203" pitchFamily="34" charset="0"/>
                <a:ea typeface="+mn-ea"/>
                <a:cs typeface="+mn-cs"/>
              </a:rPr>
              <a:t xml:space="preserve">Ajouté: colonne sur le suivi</a:t>
            </a:r>
            <a:r>
              <a:rPr lang="fr-FR" sz="1200" b="0" i="0" u="none" strike="noStrike" kern="1200">
                <a:solidFill>
                  <a:schemeClr val="tx1"/>
                </a:solidFill>
                <a:effectLst/>
                <a:latin typeface="IBM Plex Sans" panose="020B0503050203000203" pitchFamily="34" charset="0"/>
                <a:ea typeface="+mn-ea"/>
                <a:cs typeface="+mn-cs"/>
              </a:rPr>
              <a:t xml:space="preserve"/>
            </a:r>
            <a:r>
              <a:rPr lang="fr-FR" sz="1200" b="0" i="0" u="none" strike="noStrike" kern="1200">
                <a:solidFill>
                  <a:schemeClr val="tx1"/>
                </a:solidFill>
                <a:effectLst/>
                <a:latin typeface="IBM Plex Sans" panose="020B0503050203000203" pitchFamily="34" charset="0"/>
                <a:ea typeface="+mn-ea"/>
                <a:cs typeface="+mn-cs"/>
              </a:rPr>
              <a:t xml:space="preserve"/>
            </a:r>
            <a:r>
              <a:rPr lang="fr-FR" sz="1200" b="0" i="0" u="none" strike="noStrike" kern="1200">
                <a:solidFill>
                  <a:schemeClr val="tx1"/>
                </a:solidFill>
                <a:effectLst/>
                <a:latin typeface="IBM Plex Sans" panose="020B0503050203000203" pitchFamily="34" charset="0"/>
                <a:ea typeface="+mn-ea"/>
                <a:cs typeface="+mn-cs"/>
              </a:rPr>
              <a:t xml:space="preserve"/>
            </a:r>
            <a:r>
              <a:rPr lang="fr-FR" sz="1200" b="0" i="0" u="none" strike="noStrike" kern="1200">
                <a:solidFill>
                  <a:schemeClr val="tx1"/>
                </a:solidFill>
                <a:effectLst/>
                <a:latin typeface="IBM Plex Sans" panose="020B0503050203000203" pitchFamily="34" charset="0"/>
                <a:ea typeface="+mn-ea"/>
                <a:cs typeface="+mn-cs"/>
              </a:rPr>
              <a:t xml:space="preserve"/>
            </a:r>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4</a:t>
            </a:fld>
            <a:endParaRPr lang="fr-FR"/>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fr-FR"/>
          </a:p>
        </p:txBody>
      </p:sp>
      <p:sp>
        <p:nvSpPr>
          <p:cNvPr id="3" name="Pladsholder til noter 2"/>
          <p:cNvSpPr>
            <a:spLocks noGrp="1"/>
          </p:cNvSpPr>
          <p:nvPr>
            <p:ph type="body" idx="1"/>
          </p:nvPr>
        </p:nvSpPr>
        <p:spPr/>
        <p:txBody>
          <a:bodyPr/>
          <a:lstStyle/>
          <a:p>
            <a:pPr rtl="0"/>
            <a:r>
              <a:rPr lang="fr-FR"/>
              <a:t xml:space="preserve">Supprimé: </a:t>
            </a:r>
            <a:r>
              <a:rPr lang="fr-FR" sz="1200" b="0" i="0" u="none" strike="noStrike" kern="1200">
                <a:solidFill>
                  <a:schemeClr val="tx1"/>
                </a:solidFill>
                <a:effectLst/>
                <a:latin typeface="IBM Plex Sans" panose="020B0503050203000203" pitchFamily="34" charset="0"/>
                <a:ea typeface="+mn-ea"/>
                <a:cs typeface="+mn-cs"/>
              </a:rPr>
              <a:t>{{Insert_CO2e_intensity}}</a:t>
            </a:r>
            <a:endParaRPr lang="fr-F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5</a:t>
            </a:fld>
            <a:endParaRPr lang="fr-FR"/>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fr-FR"/>
              <a:t xml:space="preserve">Supprimé: </a:t>
            </a:r>
            <a:r>
              <a:rPr lang="fr-FR" sz="1200" b="0" i="0" u="none" strike="noStrike" kern="1200">
                <a:solidFill>
                  <a:schemeClr val="tx1"/>
                </a:solidFill>
                <a:effectLst/>
                <a:latin typeface="IBM Plex Sans" panose="020B0503050203000203" pitchFamily="34" charset="0"/>
                <a:ea typeface="+mn-ea"/>
                <a:cs typeface="+mn-cs"/>
              </a:rPr>
              <a:t>{{uploaded_documents_B4}}</a:t>
            </a:r>
            <a:endParaRPr lang="fr-F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6</a:t>
            </a:fld>
            <a:endParaRPr lang="fr-FR"/>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fr-FR"/>
          </a:p>
        </p:txBody>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7</a:t>
            </a:fld>
            <a:endParaRPr lang="fr-FR"/>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fr-FR"/>
              <a:t xml:space="preserve">Supprimé: </a:t>
            </a:r>
            <a:r>
              <a:rPr lang="fr-FR" sz="1200" b="0" i="0" u="none" strike="noStrike" kern="1200">
                <a:solidFill>
                  <a:schemeClr val="tx1"/>
                </a:solidFill>
                <a:effectLst/>
                <a:latin typeface="IBM Plex Sans" panose="020B0503050203000203" pitchFamily="34" charset="0"/>
                <a:ea typeface="+mn-ea"/>
                <a:cs typeface="+mn-cs"/>
              </a:rPr>
              <a:t>{{</a:t>
            </a:r>
            <a:r>
              <a:rPr lang="fr-FR" sz="1200" b="0" i="0" u="none" strike="noStrike" kern="1200">
                <a:solidFill>
                  <a:schemeClr val="tx1"/>
                </a:solidFill>
                <a:effectLst/>
                <a:latin typeface="IBM Plex Sans" panose="020B0503050203000203" pitchFamily="34" charset="0"/>
                <a:ea typeface="+mn-ea"/>
                <a:cs typeface="+mn-cs"/>
              </a:rPr>
              <a:t>omsatningsrate</a:t>
            </a:r>
            <a:r>
              <a:rPr lang="fr-FR" sz="1200" b="0" i="0" u="none" strike="noStrike" kern="1200">
                <a:solidFill>
                  <a:schemeClr val="tx1"/>
                </a:solidFill>
                <a:effectLst/>
                <a:latin typeface="IBM Plex Sans" panose="020B0503050203000203" pitchFamily="34" charset="0"/>
                <a:ea typeface="+mn-ea"/>
                <a:cs typeface="+mn-cs"/>
              </a:rPr>
              <a:t>}}</a:t>
            </a:r>
            <a:endParaRPr lang="fr-F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8</a:t>
            </a:fld>
            <a:endParaRPr lang="fr-FR"/>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9</a:t>
            </a:fld>
            <a:endParaRPr lang="fr-FR"/>
          </a:p>
        </p:txBody>
      </p:sp>
    </p:spTree>
    <p:extLst>
      <p:ext uri="{BB962C8B-B14F-4D97-AF65-F5344CB8AC3E}">
        <p14:creationId xmlns:p14="http://schemas.microsoft.com/office/powerpoint/2010/main" val="30612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10</a:t>
            </a:fld>
            <a:endParaRPr lang="fr-FR"/>
          </a:p>
        </p:txBody>
      </p:sp>
    </p:spTree>
    <p:extLst>
      <p:ext uri="{BB962C8B-B14F-4D97-AF65-F5344CB8AC3E}">
        <p14:creationId xmlns:p14="http://schemas.microsoft.com/office/powerpoint/2010/main" val="322291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11</a:t>
            </a:fld>
            <a:endParaRPr lang="fr-FR"/>
          </a:p>
        </p:txBody>
      </p:sp>
    </p:spTree>
    <p:extLst>
      <p:ext uri="{BB962C8B-B14F-4D97-AF65-F5344CB8AC3E}">
        <p14:creationId xmlns:p14="http://schemas.microsoft.com/office/powerpoint/2010/main" val="1923064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12</a:t>
            </a:fld>
            <a:endParaRPr lang="fr-FR"/>
          </a:p>
        </p:txBody>
      </p:sp>
    </p:spTree>
    <p:extLst>
      <p:ext uri="{BB962C8B-B14F-4D97-AF65-F5344CB8AC3E}">
        <p14:creationId xmlns:p14="http://schemas.microsoft.com/office/powerpoint/2010/main" val="3125204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13</a:t>
            </a:fld>
            <a:endParaRPr lang="fr-FR"/>
          </a:p>
        </p:txBody>
      </p:sp>
    </p:spTree>
    <p:extLst>
      <p:ext uri="{BB962C8B-B14F-4D97-AF65-F5344CB8AC3E}">
        <p14:creationId xmlns:p14="http://schemas.microsoft.com/office/powerpoint/2010/main" val="3658062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fr-FR"/>
          </a:p>
        </p:txBody>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14</a:t>
            </a:fld>
            <a:endParaRPr lang="fr-FR"/>
          </a:p>
        </p:txBody>
      </p:sp>
    </p:spTree>
    <p:extLst>
      <p:ext uri="{BB962C8B-B14F-4D97-AF65-F5344CB8AC3E}">
        <p14:creationId xmlns:p14="http://schemas.microsoft.com/office/powerpoint/2010/main" val="2976547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fr-FR"/>
          </a:p>
        </p:txBody>
      </p:sp>
      <p:sp>
        <p:nvSpPr>
          <p:cNvPr id="3" name="Pladsholder til noter 2"/>
          <p:cNvSpPr>
            <a:spLocks noGrp="1"/>
          </p:cNvSpPr>
          <p:nvPr>
            <p:ph type="body" idx="1"/>
          </p:nvPr>
        </p:nvSpPr>
        <p:spPr/>
        <p:txBody>
          <a:bodyPr/>
          <a:lstStyle/>
          <a:p>
            <a:endParaRPr lang="fr-FR"/>
          </a:p>
        </p:txBody>
      </p:sp>
      <p:sp>
        <p:nvSpPr>
          <p:cNvPr id="4" name="Pladsholder til slidenummer 3"/>
          <p:cNvSpPr>
            <a:spLocks noGrp="1"/>
          </p:cNvSpPr>
          <p:nvPr>
            <p:ph type="sldNum" sz="quarter" idx="5"/>
          </p:nvPr>
        </p:nvSpPr>
        <p:spPr/>
        <p:txBody>
          <a:bodyPr/>
          <a:lstStyle/>
          <a:p>
            <a:fld id="{45BFCFCE-5A78-CB4C-8592-F27D9484E3BD}" type="slidenum">
              <a:rPr lang="fr-FR" smtClean="0"/>
              <a:pPr/>
              <a:t>15</a:t>
            </a:fld>
            <a:endParaRPr lang="fr-FR"/>
          </a:p>
        </p:txBody>
      </p:sp>
    </p:spTree>
    <p:extLst>
      <p:ext uri="{BB962C8B-B14F-4D97-AF65-F5344CB8AC3E}">
        <p14:creationId xmlns:p14="http://schemas.microsoft.com/office/powerpoint/2010/main" val="2976547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fr-FR"/>
              <a:t xml:space="preserve">Ajouté depuis B8: </a:t>
            </a:r>
            <a:r>
              <a:rPr lang="fr-FR" sz="1200" b="0" i="0" u="none" strike="noStrike" kern="1200">
                <a:solidFill>
                  <a:schemeClr val="tx1"/>
                </a:solidFill>
                <a:effectLst/>
                <a:latin typeface="IBM Plex Sans" panose="020B0503050203000203" pitchFamily="34" charset="0"/>
                <a:ea typeface="+mn-ea"/>
                <a:cs typeface="+mn-cs"/>
              </a:rPr>
              <a:t>{{</a:t>
            </a:r>
            <a:r>
              <a:rPr lang="fr-FR" sz="1200" b="0" i="0" u="none" strike="noStrike" kern="1200">
                <a:solidFill>
                  <a:schemeClr val="tx1"/>
                </a:solidFill>
                <a:effectLst/>
                <a:latin typeface="IBM Plex Sans" panose="020B0503050203000203" pitchFamily="34" charset="0"/>
                <a:ea typeface="+mn-ea"/>
                <a:cs typeface="+mn-cs"/>
              </a:rPr>
              <a:t>omsatningsrate</a:t>
            </a:r>
            <a:r>
              <a:rPr lang="fr-FR" sz="1200" b="0" i="0" u="none" strike="noStrike" kern="1200">
                <a:solidFill>
                  <a:schemeClr val="tx1"/>
                </a:solidFill>
                <a:effectLst/>
                <a:latin typeface="IBM Plex Sans" panose="020B0503050203000203" pitchFamily="34" charset="0"/>
                <a:ea typeface="+mn-ea"/>
                <a:cs typeface="+mn-cs"/>
              </a:rPr>
              <a:t>}}</a:t>
            </a:r>
            <a:endParaRPr lang="fr-FR"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fr-FR" smtClean="0"/>
              <a:pPr/>
              <a:t>16</a:t>
            </a:fld>
            <a:endParaRPr lang="fr-FR"/>
          </a:p>
        </p:txBody>
      </p:sp>
    </p:spTree>
    <p:extLst>
      <p:ext uri="{BB962C8B-B14F-4D97-AF65-F5344CB8AC3E}">
        <p14:creationId xmlns:p14="http://schemas.microsoft.com/office/powerpoint/2010/main" val="3942370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fr-FR" noProof="0"/>
              <a:t>Click</a:t>
            </a:r>
            <a:r>
              <a:rPr lang="fr-FR" noProof="0"/>
              <a:t> to </a:t>
            </a:r>
            <a:r>
              <a:rPr lang="fr-FR" noProof="0"/>
              <a:t>edit</a:t>
            </a:r>
            <a:r>
              <a:rPr lang="fr-FR" noProof="0"/>
              <a:t> Master </a:t>
            </a:r>
            <a:r>
              <a:rPr lang="fr-FR" noProof="0"/>
              <a:t>text</a:t>
            </a:r>
            <a:r>
              <a:rPr lang="fr-FR"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fr-FR" noProof="0"/>
              <a:t>Click</a:t>
            </a:r>
            <a:r>
              <a:rPr lang="fr-FR" noProof="0"/>
              <a:t> to </a:t>
            </a:r>
            <a:r>
              <a:rPr lang="fr-FR" noProof="0"/>
              <a:t>edit</a:t>
            </a:r>
            <a:r>
              <a:rPr lang="fr-FR" noProof="0"/>
              <a:t> Master </a:t>
            </a:r>
            <a:r>
              <a:rPr lang="fr-FR" noProof="0"/>
              <a:t>text</a:t>
            </a:r>
            <a:r>
              <a:rPr lang="fr-FR"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fr-FR"/>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2537424"/>
            <a:ext cx="6828155" cy="2228341"/>
          </a:xfrm>
          <a:prstGeom prst="rect">
            <a:avLst/>
          </a:prstGeom>
          <a:noFill/>
        </p:spPr>
        <p:txBody>
          <a:bodyPr wrap="square" lIns="0" tIns="0" rIns="0" bIns="0" anchor="ctr">
            <a:noAutofit/>
          </a:bodyPr>
          <a:lstStyle/>
          <a:p>
            <a:pPr algn="ctr"/>
            <a:r>
              <a:rPr lang="en-GB" sz="12900" b="1" spc="-322" dirty="0">
                <a:solidFill>
                  <a:srgbClr val="FFFFFF"/>
                </a:solidFill>
                <a:latin typeface="+mn-lt"/>
              </a:rPr>
              <a:t>ESG</a:t>
            </a:r>
            <a:endParaRPr lang="en-GB" sz="12900" b="1" spc="-322"/>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fr-FR"/>
              <a:t xml:space="preserve">CLIQUEZ POUR INSÉRER LE NOM DE L’ENTREPRISE</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fr-FR"/>
              <a:t xml:space="preserve">INSÉRER LE TITRE</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fr-FR" noProof="0"/>
              <a:t>Click</a:t>
            </a:r>
            <a:r>
              <a:rPr lang="fr-FR" noProof="0"/>
              <a:t> to </a:t>
            </a:r>
            <a:r>
              <a:rPr lang="fr-FR" noProof="0"/>
              <a:t>edit</a:t>
            </a:r>
            <a:r>
              <a:rPr lang="fr-FR" noProof="0"/>
              <a:t> Master </a:t>
            </a:r>
            <a:r>
              <a:rPr lang="fr-FR" noProof="0"/>
              <a:t>text</a:t>
            </a:r>
            <a:r>
              <a:rPr lang="fr-FR"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fr-FR" noProof="0"/>
              <a:t>Click</a:t>
            </a:r>
            <a:r>
              <a:rPr lang="fr-FR" noProof="0"/>
              <a:t> to </a:t>
            </a:r>
            <a:r>
              <a:rPr lang="fr-FR" noProof="0"/>
              <a:t>edit</a:t>
            </a:r>
            <a:r>
              <a:rPr lang="fr-FR" noProof="0"/>
              <a:t> Master </a:t>
            </a:r>
            <a:r>
              <a:rPr lang="fr-FR" noProof="0"/>
              <a:t>text</a:t>
            </a:r>
            <a:r>
              <a:rPr lang="fr-FR"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fr-FR"/>
              <a:t xml:space="preserve">CLIQUEZ POUR INSÉRER LE NOM DE L’ENTREPRISE</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fr-FR" smtClean="0"/>
              <a:pPr/>
              <a:t>‹nr.›</a:t>
            </a:fld>
            <a:endParaRPr lang="fr-FR"/>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fr-FR"/>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fr-FR" noProof="0"/>
              <a:t>Click</a:t>
            </a:r>
            <a:r>
              <a:rPr lang="fr-FR" noProof="0"/>
              <a:t> to </a:t>
            </a:r>
            <a:r>
              <a:rPr lang="fr-FR" noProof="0"/>
              <a:t>edit</a:t>
            </a:r>
            <a:r>
              <a:rPr lang="fr-FR" noProof="0"/>
              <a:t> Master </a:t>
            </a:r>
            <a:r>
              <a:rPr lang="fr-FR" noProof="0"/>
              <a:t>title</a:t>
            </a:r>
            <a:r>
              <a:rPr lang="fr-FR"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fr-FR"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fr-FR" noProof="0"/>
              <a:t xml:space="preserve">CLIQUEZ POUR INSÉRER LE NOM DE L’ENTREPRISE</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fr-FR" noProof="0" smtClean="0"/>
              <a:pPr/>
              <a:t>‹nr.›</a:t>
            </a:fld>
            <a:endParaRPr lang="fr-FR"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fr-FR" noProof="0"/>
              <a:t xml:space="preserve">Insérer les informations sur l’entreprise</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fr-FR" noProof="0"/>
              <a:t>Click</a:t>
            </a:r>
            <a:r>
              <a:rPr lang="fr-FR" noProof="0"/>
              <a:t> to </a:t>
            </a:r>
            <a:r>
              <a:rPr lang="fr-FR" noProof="0"/>
              <a:t>edit</a:t>
            </a:r>
            <a:r>
              <a:rPr lang="fr-FR" noProof="0"/>
              <a:t> Master </a:t>
            </a:r>
            <a:r>
              <a:rPr lang="fr-FR" noProof="0"/>
              <a:t>title</a:t>
            </a:r>
            <a:r>
              <a:rPr lang="fr-FR"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fr-FR" noProof="0"/>
              <a:t xml:space="preserve">CLIQUEZ POUR INSÉRER LE NOM DE L’ENTREPRISE</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fr-FR" noProof="0" smtClean="0"/>
              <a:pPr/>
              <a:t>‹nr.›</a:t>
            </a:fld>
            <a:endParaRPr lang="fr-FR"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fr-FR" noProof="0"/>
              <a:t>Click to edit Master text styles</a:t>
            </a:r>
          </a:p>
          <a:p>
            <a:pPr lvl="1"/>
            <a:r>
              <a:rPr lang="fr-FR" noProof="0"/>
              <a:t xml:space="preserve">Deuxième niveau</a:t>
            </a:r>
          </a:p>
          <a:p>
            <a:pPr lvl="2"/>
            <a:r>
              <a:rPr lang="fr-FR" noProof="0"/>
              <a:t xml:space="preserve">Troisième niveau</a:t>
            </a:r>
          </a:p>
          <a:p>
            <a:pPr lvl="3"/>
            <a:r>
              <a:rPr lang="fr-FR" noProof="0"/>
              <a:t xml:space="preserve">Quatrième niveau</a:t>
            </a:r>
          </a:p>
          <a:p>
            <a:pPr lvl="4"/>
            <a:r>
              <a:rPr lang="fr-FR" noProof="0"/>
              <a:t xml:space="preserve">Cinquième niveau</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fr-FR"/>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fr-FR"/>
              <a:t xml:space="preserve">CLIQUEZ POUR INSÉRER LE NOM DE L’ENTREPRISE</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fr-FR" smtClean="0"/>
              <a:pPr/>
              <a:t>‹nr.›</a:t>
            </a:fld>
            <a:endParaRPr lang="fr-FR"/>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fr-FR"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fr-FR"/>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fr-FR" noProof="0"/>
              <a:t xml:space="preserve">RAPPORT ESG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fr-FR" noProof="0"/>
              <a:t>{{company_name}}</a:t>
            </a:r>
            <a:endParaRPr lang="fr-FR"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fr-FR" noProof="0"/>
              <a:t xml:space="preserve">Rapport ESG</a:t>
            </a:r>
            <a:r>
              <a:rPr lang="fr-FR" b="0" noProof="0">
                <a:solidFill>
                  <a:srgbClr val="1B4528"/>
                </a:solidFill>
                <a:ea typeface="+mn-ea"/>
                <a:cs typeface="+mn-cs"/>
              </a:rPr>
              <a:t> </a:t>
            </a:r>
            <a:br>
              <a:rPr lang="fr-FR" b="0" noProof="0">
                <a:solidFill>
                  <a:srgbClr val="1B4528"/>
                </a:solidFill>
                <a:ea typeface="+mn-ea"/>
                <a:cs typeface="+mn-cs"/>
              </a:rPr>
            </a:br>
            <a:endParaRPr lang="fr-FR"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fr-FR" sz="975" b="1" noProof="0" dirty="0">
              <a:latin typeface="+mj-lt"/>
            </a:endParaRPr>
          </a:p>
          <a:p>
            <a:pPr>
              <a:lnSpc>
                <a:spcPct val="150000"/>
              </a:lnSpc>
              <a:tabLst>
                <a:tab pos="239439" algn="l"/>
                <a:tab pos="388922" algn="l"/>
                <a:tab pos="3737091" algn="r"/>
              </a:tabLst>
            </a:pPr>
            <a:endParaRPr lang="fr-FR" sz="975" b="1" noProof="0" dirty="0">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Informations générales				</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kern="1200" spc="-10" noProof="0">
                <a:solidFill>
                  <a:schemeClr val="tx2"/>
                </a:solidFill>
                <a:latin typeface="+mn-lt"/>
                <a:ea typeface="+mn-ea"/>
                <a:cs typeface="+mn-cs"/>
              </a:rPr>
              <a:t xml:space="preserve">Pratiques, politiques et initiatives pour une économie plus durable	</a:t>
            </a:r>
            <a:endParaRPr lang="fr-FR" sz="975" b="1" noProof="0" dirty="0">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Consommation d’énergie				</a:t>
            </a:r>
            <a:endParaRPr lang="fr-FR" sz="975" noProof="0" dirty="0">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Émissions de CO₂e 				</a:t>
            </a:r>
            <a:endParaRPr lang="fr-FR" sz="975" noProof="0" dirty="0">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Pollution de l’air, de l’eau et des sols</a:t>
            </a:r>
            <a:r>
              <a:rPr lang="fr-FR" sz="975" noProof="0">
                <a:latin typeface="+mj-lt"/>
              </a:rPr>
              <a:t>				</a:t>
            </a: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Biodiversité</a:t>
            </a:r>
            <a:r>
              <a:rPr lang="fr-FR" sz="975" noProof="0">
                <a:latin typeface="+mj-lt"/>
              </a:rPr>
              <a:t>				</a:t>
            </a: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Eau	</a:t>
            </a:r>
            <a:r>
              <a:rPr lang="fr-FR" sz="975" noProof="0">
                <a:latin typeface="+mj-lt"/>
              </a:rPr>
              <a:t> 			</a:t>
            </a: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Utilisation des ressources, économie circulaire et gestion des déchets</a:t>
            </a:r>
            <a:r>
              <a:rPr lang="fr-FR" sz="975" noProof="0">
                <a:latin typeface="+mj-lt"/>
              </a:rPr>
              <a:t>				</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Personnel : caractéristiques générales</a:t>
            </a:r>
            <a:r>
              <a:rPr lang="fr-FR" sz="975" noProof="0">
                <a:latin typeface="+mj-lt"/>
              </a:rPr>
              <a:t>				</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Personnel : santé et sécurité</a:t>
            </a:r>
            <a:r>
              <a:rPr lang="fr-FR" sz="975" noProof="0">
                <a:latin typeface="+mj-lt"/>
              </a:rPr>
              <a:t>				</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Personnel : rémunération, négociation collective et formation</a:t>
            </a:r>
            <a:r>
              <a:rPr lang="fr-FR" sz="975" noProof="0">
                <a:latin typeface="+mj-lt"/>
              </a:rPr>
              <a:t>		</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Conduite des affaires</a:t>
            </a:r>
            <a:r>
              <a:rPr lang="fr-FR" sz="975" noProof="0">
                <a:latin typeface="+mj-lt"/>
              </a:rPr>
              <a:t>	 			</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Stratégie : modèle d’entreprise et initiatives liées à la durabilité</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Pratiques, politiques et initiatives futures en vue de la transition vers une économie plus durable</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Cibles de réduction des émissions de CO₂e</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Transition climatique</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Risques climatiques</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Caractéristiques supplémentaires (générales) du personnel</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Politiques et procédures en matière de droits de l’homme</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Incidents graves en matière de droits de l’homme</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Chiffre d’affaires de certaines activités</a:t>
            </a:r>
            <a:endParaRPr lang="fr-FR"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fr-FR" sz="975" b="1" noProof="0">
                <a:latin typeface="+mj-lt"/>
              </a:rPr>
              <a:t xml:space="preserve">Ratio de mixité au sein de l’organe de gouvernance</a:t>
            </a:r>
            <a:endParaRPr lang="fr-FR" sz="975" noProof="0" dirty="0">
              <a:solidFill>
                <a:srgbClr val="1B4528"/>
              </a:solidFill>
              <a:latin typeface="+mj-lt"/>
            </a:endParaRPr>
          </a:p>
          <a:p>
            <a:pPr>
              <a:tabLst>
                <a:tab pos="239439" algn="l"/>
                <a:tab pos="388922" algn="l"/>
                <a:tab pos="3737091" algn="r"/>
              </a:tabLst>
            </a:pPr>
            <a:endParaRPr lang="fr-FR" sz="975"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fr-FR"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fr-FR" noProof="0" smtClean="0"/>
              <a:pPr/>
              <a:t>2</a:t>
            </a:fld>
            <a:endParaRPr lang="fr-FR"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fr-FR" noProof="0"/>
              <a:t xml:space="preserve">Base de préparation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fr-FR"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409544"/>
          <a:ext cx="3295368" cy="904691"/>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399039">
                <a:tc gridSpan="2">
                  <a:txBody>
                    <a:bodyPr/>
                    <a:lstStyle/>
                    <a:p>
                      <a:pPr marL="0" algn="l" defTabSz="914400" rtl="0" eaLnBrk="1" latinLnBrk="0" hangingPunct="1"/>
                      <a:r>
                        <a:rPr lang="fr-FR" sz="975" b="1" kern="1200" spc="-10" noProof="0">
                          <a:solidFill>
                            <a:schemeClr val="tx2"/>
                          </a:solidFill>
                          <a:latin typeface="+mn-lt"/>
                          <a:ea typeface="+mn-ea"/>
                          <a:cs typeface="+mn-cs"/>
                        </a:rPr>
                        <a:t xml:space="preserve">Liste des filiales faisant l’objet du présent rapport ESG </a:t>
                      </a:r>
                      <a:r>
                        <a:rPr lang="fr-FR" sz="975" b="0" kern="1200" spc="-10" noProof="0">
                          <a:solidFill>
                            <a:schemeClr val="tx2"/>
                          </a:solidFill>
                          <a:latin typeface="+mn-lt"/>
                          <a:ea typeface="+mn-ea"/>
                          <a:cs typeface="+mn-cs"/>
                        </a:rPr>
                        <a:t xml:space="preserve">(par. 27d)</a:t>
                      </a:r>
                      <a:endParaRPr lang="fr-FR"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a:p>
                  </a:txBody>
                  <a:tcPr/>
                </a:tc>
                <a:extLst>
                  <a:ext uri="{0D108BD9-81ED-4DB2-BD59-A6C34878D82A}">
                    <a16:rowId xmlns:a16="http://schemas.microsoft.com/office/drawing/2014/main" val="625231048"/>
                  </a:ext>
                </a:extLst>
              </a:tr>
              <a:tr h="252826">
                <a:tc>
                  <a:txBody>
                    <a:bodyPr/>
                    <a:lstStyle/>
                    <a:p>
                      <a:pPr algn="l"/>
                      <a:r>
                        <a:rPr lang="fr-FR" sz="975" b="1" kern="1200" spc="-10" noProof="0">
                          <a:solidFill>
                            <a:schemeClr val="tx2"/>
                          </a:solidFill>
                          <a:latin typeface="+mn-lt"/>
                          <a:ea typeface="+mn-ea"/>
                          <a:cs typeface="+mn-cs"/>
                        </a:rPr>
                        <a:t xml:space="preserve">Nom de la filiale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975" b="1" kern="1200" spc="-10" noProof="0">
                          <a:solidFill>
                            <a:schemeClr val="tx2"/>
                          </a:solidFill>
                          <a:latin typeface="+mn-lt"/>
                          <a:ea typeface="+mn-ea"/>
                          <a:cs typeface="+mn-cs"/>
                        </a:rPr>
                        <a:t xml:space="preserve">Adresse de la filiale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52826">
                <a:tc>
                  <a:txBody>
                    <a:bodyPr/>
                    <a:lstStyle/>
                    <a:p>
                      <a:pPr rtl="0" fontAlgn="t" algn="l">
                        <a:buNone/>
                      </a:pPr>
                      <a:r>
                        <a:rPr lang="fr-FR" sz="975" b="0" i="0" u="none" strike="noStrike" noProof="0">
                          <a:solidFill>
                            <a:srgbClr val="1B4528"/>
                          </a:solidFill>
                          <a:effectLst/>
                          <a:latin typeface="Inter"/>
                        </a:rPr>
                        <a:t>{{subsidiary}}</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subsidiary_address</a:t>
                      </a:r>
                      <a:r>
                        <a:rPr lang="fr-FR" sz="975" b="0" i="0" u="none" strike="noStrike" noProof="0">
                          <a:solidFill>
                            <a:srgbClr val="1B4528"/>
                          </a:solidFill>
                          <a:effectLst/>
                          <a:latin typeface="Inter"/>
                        </a:rPr>
                        <a:t>}}</a:t>
                      </a:r>
                      <a:endParaRPr lang="fr-FR"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fr-FR" noProof="0" smtClean="0"/>
              <a:pPr/>
              <a:t>3</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fr-FR" noProof="0"/>
              <a:t>{{company_name}}</a:t>
            </a:r>
            <a:endParaRPr lang="fr-FR" b="0" noProof="0"/>
          </a:p>
          <a:p>
            <a:br>
              <a:rPr lang="fr-FR" noProof="0"/>
            </a:br>
            <a:endParaRPr lang="fr-FR"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279362"/>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219319">
                <a:tc gridSpan="2">
                  <a:txBody>
                    <a:bodyPr/>
                    <a:lstStyle/>
                    <a:p>
                      <a:r>
                        <a:rPr lang="fr-FR" sz="975" b="1" noProof="0">
                          <a:solidFill>
                            <a:schemeClr val="tx2"/>
                          </a:solidFill>
                        </a:rPr>
                        <a:t xml:space="preserve">Rapport individuel ou consolidé</a:t>
                      </a:r>
                      <a:r>
                        <a:rPr lang="fr-FR" sz="975" b="0" noProof="0">
                          <a:solidFill>
                            <a:schemeClr val="tx2"/>
                          </a:solidFill>
                        </a:rPr>
                        <a:t xml:space="preserve"> (par.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43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 rapport a été établi sur une </a:t>
                      </a:r>
                      <a:r>
                        <a:rPr lang="fr-FR" sz="975" b="1" kern="1200" spc="-10" noProof="0">
                          <a:solidFill>
                            <a:schemeClr val="tx2"/>
                          </a:solidFill>
                          <a:latin typeface="+mn-lt"/>
                          <a:ea typeface="+mn-ea"/>
                          <a:cs typeface="+mn-cs"/>
                        </a:rPr>
                        <a:t xml:space="preserve">base individuelle </a:t>
                      </a:r>
                      <a:r>
                        <a:rPr lang="fr-FR" sz="975" b="0" kern="1200" spc="-10" noProof="0">
                          <a:solidFill>
                            <a:schemeClr val="tx2"/>
                          </a:solidFill>
                          <a:latin typeface="+mn-lt"/>
                          <a:ea typeface="+mn-ea"/>
                          <a:cs typeface="+mn-cs"/>
                        </a:rPr>
                        <a:t xml:space="preserve">(c’est-à-dire qu’il ne couvre aucune filiale)</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975" b="0" i="0" u="none" strike="noStrike" noProof="0">
                          <a:solidFill>
                            <a:srgbClr val="1B4528"/>
                          </a:solidFill>
                          <a:effectLst/>
                          <a:latin typeface="Inter"/>
                        </a:rPr>
                        <a:t>{{yes_subsidiary?}}</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757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 rapport a été établi sur une </a:t>
                      </a:r>
                      <a:r>
                        <a:rPr lang="fr-FR" sz="975" b="1" kern="1200" spc="-10" noProof="0">
                          <a:solidFill>
                            <a:schemeClr val="tx2"/>
                          </a:solidFill>
                          <a:latin typeface="+mn-lt"/>
                          <a:ea typeface="+mn-ea"/>
                          <a:cs typeface="+mn-cs"/>
                        </a:rPr>
                        <a:t xml:space="preserve">base consolidée </a:t>
                      </a:r>
                      <a:r>
                        <a:rPr lang="fr-FR" sz="975" b="0" kern="1200" spc="-10" noProof="0">
                          <a:solidFill>
                            <a:schemeClr val="tx2"/>
                          </a:solidFill>
                          <a:latin typeface="+mn-lt"/>
                          <a:ea typeface="+mn-ea"/>
                          <a:cs typeface="+mn-cs"/>
                        </a:rPr>
                        <a:t xml:space="preserve">(c’est-à-dire qu’il comprend les filiales de l’entreprise)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975" b="0" i="0" u="none" strike="noStrike" noProof="0">
                          <a:solidFill>
                            <a:srgbClr val="1B4528"/>
                          </a:solidFill>
                          <a:effectLst/>
                          <a:latin typeface="Inter"/>
                        </a:rPr>
                        <a:t>{{no_subsidiary?}}</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434714"/>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92947">
                <a:tc gridSpan="2">
                  <a:txBody>
                    <a:bodyPr/>
                    <a:lstStyle/>
                    <a:p>
                      <a:r>
                        <a:rPr lang="fr-FR" sz="975" b="1" kern="1200" spc="-10" noProof="0">
                          <a:solidFill>
                            <a:schemeClr val="tx2"/>
                          </a:solidFill>
                          <a:latin typeface="+mn-lt"/>
                          <a:ea typeface="+mn-ea"/>
                          <a:cs typeface="+mn-cs"/>
                        </a:rPr>
                        <a:t xml:space="preserve">Module de base, ou module de base +</a:t>
                      </a:r>
                      <a:r>
                        <a:rPr lang="fr-FR" sz="975" b="0" kern="1200" spc="-10" noProof="0">
                          <a:solidFill>
                            <a:schemeClr val="tx2"/>
                          </a:solidFill>
                          <a:latin typeface="+mn-lt"/>
                          <a:ea typeface="+mn-ea"/>
                          <a:cs typeface="+mn-cs"/>
                        </a:rPr>
                        <a:t> </a:t>
                      </a:r>
                      <a:r>
                        <a:rPr lang="fr-FR" sz="975" b="1" kern="1200" spc="-10" noProof="0">
                          <a:solidFill>
                            <a:schemeClr val="tx2"/>
                          </a:solidFill>
                          <a:latin typeface="+mn-lt"/>
                          <a:ea typeface="+mn-ea"/>
                          <a:cs typeface="+mn-cs"/>
                        </a:rPr>
                        <a:t xml:space="preserve">module complet </a:t>
                      </a:r>
                      <a:r>
                        <a:rPr lang="fr-FR" sz="975" b="0" kern="1200" spc="-10" noProof="0">
                          <a:solidFill>
                            <a:schemeClr val="tx2"/>
                          </a:solidFill>
                          <a:latin typeface="+mn-lt"/>
                          <a:ea typeface="+mn-ea"/>
                          <a:cs typeface="+mn-cs"/>
                        </a:rPr>
                        <a:t xml:space="preserve">(par. 27a)</a:t>
                      </a:r>
                      <a:r>
                        <a:rPr lang="fr-FR" sz="975" b="1" kern="1200" spc="-10" noProof="0">
                          <a:solidFill>
                            <a:schemeClr val="tx2"/>
                          </a:solidFill>
                          <a:latin typeface="+mn-lt"/>
                          <a:ea typeface="+mn-ea"/>
                          <a:cs typeface="+mn-cs"/>
                        </a:rPr>
                        <a:t>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026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 rapport est fondé sur le </a:t>
                      </a:r>
                      <a:r>
                        <a:rPr lang="fr-FR" sz="975" b="1" kern="1200" spc="-10" noProof="0">
                          <a:solidFill>
                            <a:schemeClr val="tx2"/>
                          </a:solidFill>
                          <a:latin typeface="+mn-lt"/>
                          <a:ea typeface="+mn-ea"/>
                          <a:cs typeface="+mn-cs"/>
                        </a:rPr>
                        <a:t xml:space="preserve">module de base</a:t>
                      </a:r>
                      <a:r>
                        <a:rPr lang="fr-FR" sz="975" b="0" kern="1200" spc="-10" noProof="0">
                          <a:solidFill>
                            <a:schemeClr val="tx2"/>
                          </a:solidFill>
                          <a:latin typeface="+mn-lt"/>
                          <a:ea typeface="+mn-ea"/>
                          <a:cs typeface="+mn-cs"/>
                        </a:rPr>
                        <a:t xml:space="preserve"> de la norme volontaire pour les PME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975" b="0" i="0" u="none" strike="noStrike" noProof="0">
                          <a:solidFill>
                            <a:srgbClr val="1B4528"/>
                          </a:solidFill>
                          <a:effectLst/>
                          <a:latin typeface="Inter"/>
                        </a:rPr>
                        <a:t>{{basic_module?}}</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 rapport est fondé sur le </a:t>
                      </a:r>
                      <a:r>
                        <a:rPr lang="fr-FR" sz="975" b="1" kern="1200" spc="-10" noProof="0">
                          <a:solidFill>
                            <a:schemeClr val="tx2"/>
                          </a:solidFill>
                          <a:latin typeface="+mn-lt"/>
                          <a:ea typeface="+mn-ea"/>
                          <a:cs typeface="+mn-cs"/>
                        </a:rPr>
                        <a:t xml:space="preserve">module de base</a:t>
                      </a:r>
                      <a:r>
                        <a:rPr lang="fr-FR" sz="975" b="0" kern="1200" spc="-10" noProof="0">
                          <a:solidFill>
                            <a:schemeClr val="tx2"/>
                          </a:solidFill>
                          <a:latin typeface="+mn-lt"/>
                          <a:ea typeface="+mn-ea"/>
                          <a:cs typeface="+mn-cs"/>
                        </a:rPr>
                        <a:t xml:space="preserve"> et le </a:t>
                      </a:r>
                      <a:r>
                        <a:rPr lang="fr-FR" sz="975" b="1" kern="1200" spc="-10" noProof="0">
                          <a:solidFill>
                            <a:schemeClr val="tx2"/>
                          </a:solidFill>
                          <a:latin typeface="+mn-lt"/>
                          <a:ea typeface="+mn-ea"/>
                          <a:cs typeface="+mn-cs"/>
                        </a:rPr>
                        <a:t xml:space="preserve">module complet </a:t>
                      </a:r>
                      <a:r>
                        <a:rPr lang="fr-FR" sz="975" b="0" kern="1200" spc="-10" noProof="0">
                          <a:solidFill>
                            <a:schemeClr val="tx2"/>
                          </a:solidFill>
                          <a:latin typeface="+mn-lt"/>
                          <a:ea typeface="+mn-ea"/>
                          <a:cs typeface="+mn-cs"/>
                        </a:rPr>
                        <a:t xml:space="preserve">de la norme volontaire pour les PME</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975" b="0" i="0" u="none" strike="noStrike" noProof="0">
                          <a:solidFill>
                            <a:srgbClr val="1B4528"/>
                          </a:solidFill>
                          <a:effectLst/>
                          <a:latin typeface="Inter"/>
                        </a:rPr>
                        <a:t>{{comprehensive?}}</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établi son rapport de durabilité selon la norme VSME, qui suit une approche structurée afin de garantir que les informations requises sont communiquées de manière standardisée et transparente. Le rapport reflète les modules de durabilité retenus et couverts par l’entreprise. Il est en outre précisé si le rapport de durabilité est établi sur une base individuelle (données propres à l’entreprise uniquement) ou sur une base consolidée. Cette section contient des informations de base sur l’entreprise, par exemple sa forme juridique, ses codes NACE, le total du bilan et le chiffre d’affaires, le nombre de salariés, ainsi que le pays où sont exercées ses activités principales et la localisation d’autres actifs significatifs.</a:t>
            </a:r>
            <a:endParaRPr lang="fr-FR"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222977"/>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80579">
                <a:tc gridSpan="2">
                  <a:txBody>
                    <a:bodyPr/>
                    <a:lstStyle/>
                    <a:p>
                      <a:pPr algn="l"/>
                      <a:r>
                        <a:rPr lang="fr-FR" sz="975" b="1" kern="1200" spc="-10" noProof="0">
                          <a:solidFill>
                            <a:schemeClr val="tx2"/>
                          </a:solidFill>
                          <a:latin typeface="+mn-lt"/>
                          <a:ea typeface="+mn-ea"/>
                          <a:cs typeface="+mn-cs"/>
                        </a:rPr>
                        <a:t xml:space="preserve">Informations de base sur l’entreprise</a:t>
                      </a:r>
                      <a:r>
                        <a:rPr lang="fr-FR" sz="975" b="0" kern="1200" spc="-10" noProof="0">
                          <a:solidFill>
                            <a:schemeClr val="tx2"/>
                          </a:solidFill>
                          <a:latin typeface="+mn-lt"/>
                          <a:ea typeface="+mn-ea"/>
                          <a:cs typeface="+mn-cs"/>
                        </a:rPr>
                        <a:t xml:space="preserve"> (par.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417739">
                <a:tc>
                  <a:txBody>
                    <a:bodyPr/>
                    <a:lstStyle/>
                    <a:p>
                      <a:pPr algn="l"/>
                      <a:r>
                        <a:rPr lang="fr-FR" sz="975" b="1" kern="1200" spc="-10" noProof="0">
                          <a:solidFill>
                            <a:schemeClr val="tx2"/>
                          </a:solidFill>
                          <a:latin typeface="+mn-lt"/>
                          <a:ea typeface="+mn-ea"/>
                          <a:cs typeface="+mn-cs"/>
                        </a:rPr>
                        <a:t xml:space="preserve">Forme juridique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975" b="0" i="0" u="none" strike="noStrike" noProof="0">
                          <a:solidFill>
                            <a:srgbClr val="1B4528"/>
                          </a:solidFill>
                          <a:effectLst/>
                          <a:latin typeface="Inter"/>
                        </a:rPr>
                        <a:t>{{branchekode}}</a:t>
                      </a:r>
                      <a:endParaRPr lang="fr-FR"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177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Code(s) NACE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975" b="0" i="0" u="none" strike="noStrike" noProof="0">
                          <a:solidFill>
                            <a:srgbClr val="1B4528"/>
                          </a:solidFill>
                          <a:effectLst/>
                          <a:latin typeface="Inter"/>
                        </a:rPr>
                        <a:t>{{NACE}}</a:t>
                      </a:r>
                      <a:endParaRPr lang="fr-F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086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Total du bilan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975" b="0" i="0" u="none" strike="noStrike" noProof="0">
                          <a:solidFill>
                            <a:srgbClr val="1B4528"/>
                          </a:solidFill>
                          <a:effectLst/>
                          <a:latin typeface="Inter"/>
                        </a:rPr>
                        <a:t>{{balance}}</a:t>
                      </a:r>
                      <a:endParaRPr lang="fr-F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17739">
                <a:tc>
                  <a:txBody>
                    <a:bodyPr/>
                    <a:lstStyle/>
                    <a:p>
                      <a:pPr algn="l"/>
                      <a:r>
                        <a:rPr lang="fr-FR" sz="975" b="1" kern="1200" spc="-10" noProof="0">
                          <a:solidFill>
                            <a:schemeClr val="tx2"/>
                          </a:solidFill>
                          <a:latin typeface="+mn-lt"/>
                          <a:ea typeface="+mn-ea"/>
                          <a:cs typeface="+mn-cs"/>
                        </a:rPr>
                        <a:t xml:space="preserve">Chiffre d’affaires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975" b="0" i="0" u="none" strike="noStrike" noProof="0">
                          <a:solidFill>
                            <a:srgbClr val="1B4528"/>
                          </a:solidFill>
                          <a:effectLst/>
                          <a:latin typeface="Inter"/>
                        </a:rPr>
                        <a:t>{{revenue}}</a:t>
                      </a:r>
                      <a:endParaRPr lang="fr-F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80579">
                <a:tc>
                  <a:txBody>
                    <a:bodyPr/>
                    <a:lstStyle/>
                    <a:p>
                      <a:pPr algn="l"/>
                      <a:r>
                        <a:rPr lang="fr-FR" sz="975" b="1" kern="1200" spc="-10" noProof="0">
                          <a:solidFill>
                            <a:schemeClr val="tx2"/>
                          </a:solidFill>
                          <a:latin typeface="+mn-lt"/>
                          <a:ea typeface="+mn-ea"/>
                          <a:cs typeface="+mn-cs"/>
                        </a:rPr>
                        <a:t xml:space="preserve">Nb de salariés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fr-FR" sz="975" b="0" i="0" u="none" strike="noStrike" noProof="0">
                          <a:solidFill>
                            <a:srgbClr val="1B4528"/>
                          </a:solidFill>
                          <a:effectLst/>
                          <a:latin typeface="Inter"/>
                        </a:rPr>
                        <a:t>{{total_employees}}</a:t>
                      </a:r>
                      <a:endParaRPr lang="fr-FR"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430994"/>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563887">
                <a:tc gridSpan="2">
                  <a:txBody>
                    <a:bodyPr/>
                    <a:lstStyle/>
                    <a:p>
                      <a:pPr algn="l"/>
                      <a:r>
                        <a:rPr lang="fr-FR" sz="975" b="1" kern="1200" spc="-10" noProof="0">
                          <a:solidFill>
                            <a:schemeClr val="tx2"/>
                          </a:solidFill>
                          <a:latin typeface="+mn-lt"/>
                          <a:ea typeface="+mn-ea"/>
                          <a:cs typeface="+mn-cs"/>
                        </a:rPr>
                        <a:t xml:space="preserve">Le rapport ESG comporte des omissions pour cause d’informations commerciales sensibles </a:t>
                      </a:r>
                      <a:r>
                        <a:rPr lang="fr-FR" sz="975" b="0" kern="1200" spc="-10" noProof="0">
                          <a:solidFill>
                            <a:schemeClr val="tx2"/>
                          </a:solidFill>
                          <a:latin typeface="+mn-lt"/>
                          <a:ea typeface="+mn-ea"/>
                          <a:cs typeface="+mn-cs"/>
                        </a:rPr>
                        <a:t xml:space="preserve">(par.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671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kern="1200" spc="-10" noProof="0">
                          <a:solidFill>
                            <a:schemeClr val="tx2"/>
                          </a:solidFill>
                          <a:latin typeface="+mn-lt"/>
                          <a:ea typeface="+mn-ea"/>
                          <a:cs typeface="+mn-cs"/>
                        </a:rPr>
                        <a:t xml:space="preserve">Les informations suivantes ont été omises</a:t>
                      </a:r>
                    </a:p>
                    <a:p>
                      <a:pPr algn="l"/>
                      <a:endParaRPr lang="fr-FR"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fr-FR" sz="975" noProof="0">
                          <a:solidFill>
                            <a:srgbClr val="1B4528"/>
                          </a:solidFill>
                          <a:latin typeface="+mn-lt"/>
                          <a:cs typeface="Calibri" panose="020F0502020204030204" pitchFamily="34" charset="0"/>
                        </a:rPr>
                        <a:t>{{</a:t>
                      </a:r>
                      <a:r>
                        <a:rPr lang="fr-FR" sz="975" noProof="0">
                          <a:solidFill>
                            <a:srgbClr val="1B4528"/>
                          </a:solidFill>
                          <a:latin typeface="+mn-lt"/>
                          <a:cs typeface="Calibri" panose="020F0502020204030204" pitchFamily="34" charset="0"/>
                        </a:rPr>
                        <a:t>confidentiality_info</a:t>
                      </a:r>
                      <a:r>
                        <a:rPr lang="fr-FR" sz="975" noProof="0">
                          <a:solidFill>
                            <a:srgbClr val="1B4528"/>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507074"/>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144051"/>
          <a:ext cx="6737040" cy="68610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fr-FR" sz="975" b="1" kern="1200" spc="-10" noProof="0">
                          <a:solidFill>
                            <a:schemeClr val="tx2"/>
                          </a:solidFill>
                          <a:latin typeface="+mn-lt"/>
                          <a:ea typeface="+mn-ea"/>
                          <a:cs typeface="+mn-cs"/>
                        </a:rPr>
                        <a:t xml:space="preserve">Nom du certificat ESG/label environnemental </a:t>
                      </a:r>
                      <a:r>
                        <a:rPr lang="fr-FR" sz="975" b="0" kern="1200" spc="-10" noProof="0">
                          <a:solidFill>
                            <a:schemeClr val="tx2"/>
                          </a:solidFill>
                          <a:latin typeface="+mn-lt"/>
                          <a:ea typeface="+mn-ea"/>
                          <a:cs typeface="+mn-cs"/>
                        </a:rPr>
                        <a:t xml:space="preserve">(par.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975" b="1" kern="1200" spc="-10" noProof="0">
                          <a:solidFill>
                            <a:schemeClr val="tx2"/>
                          </a:solidFill>
                          <a:latin typeface="+mn-lt"/>
                          <a:ea typeface="+mn-ea"/>
                          <a:cs typeface="+mn-cs"/>
                        </a:rPr>
                        <a:t xml:space="preserve">Brève description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975" b="1" kern="1200" spc="-10" noProof="0">
                          <a:solidFill>
                            <a:schemeClr val="tx2"/>
                          </a:solidFill>
                          <a:latin typeface="+mn-lt"/>
                          <a:ea typeface="+mn-ea"/>
                          <a:cs typeface="+mn-cs"/>
                        </a:rPr>
                        <a:t xml:space="preserve">Date de délivrance/</a:t>
                      </a:r>
                    </a:p>
                    <a:p>
                      <a:pPr algn="l"/>
                      <a:r>
                        <a:rPr lang="fr-FR" sz="975" b="1" kern="1200" spc="-10" noProof="0">
                          <a:solidFill>
                            <a:schemeClr val="tx2"/>
                          </a:solidFill>
                          <a:latin typeface="+mn-lt"/>
                          <a:ea typeface="+mn-ea"/>
                          <a:cs typeface="+mn-cs"/>
                        </a:rPr>
                        <a:t xml:space="preserve">validité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fr-FR" sz="975" b="1" kern="1200" spc="-10" noProof="0">
                          <a:solidFill>
                            <a:schemeClr val="tx2"/>
                          </a:solidFill>
                          <a:latin typeface="+mn-lt"/>
                          <a:ea typeface="+mn-ea"/>
                          <a:cs typeface="+mn-cs"/>
                        </a:rPr>
                        <a:t xml:space="preserve">Notation éventuelle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lgn="l">
                        <a:buNone/>
                      </a:pPr>
                      <a:r>
                        <a:rPr lang="fr-FR" sz="975" b="0" i="0" u="none" strike="noStrike" noProof="0">
                          <a:solidFill>
                            <a:srgbClr val="1B4528"/>
                          </a:solidFill>
                          <a:effectLst/>
                          <a:latin typeface="Inter"/>
                        </a:rPr>
                        <a:t>{{certificate_or_ecolabel}}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fr-FR" sz="975" b="0" i="0" u="none" strike="noStrike" noProof="0">
                          <a:solidFill>
                            <a:srgbClr val="1B4528"/>
                          </a:solidFill>
                          <a:effectLst/>
                          <a:latin typeface="Inter"/>
                        </a:rPr>
                        <a:t>{{description_certificate}}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date_certicate</a:t>
                      </a:r>
                      <a:r>
                        <a:rPr lang="fr-FR" sz="975" b="0" i="0" u="none" strike="noStrike" noProof="0">
                          <a:solidFill>
                            <a:srgbClr val="1B4528"/>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certiciate_possible_rating</a:t>
                      </a:r>
                      <a:r>
                        <a:rPr lang="fr-FR" sz="975" b="0" i="0" u="none" strike="noStrike" noProof="0">
                          <a:solidFill>
                            <a:srgbClr val="1B4528"/>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251210"/>
          <a:ext cx="6737040" cy="118129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Adresses et géolocalisation des </a:t>
                      </a:r>
                      <a:r>
                        <a:rPr lang="fr-FR" sz="975" b="1" u="none" kern="1200" spc="-10" noProof="0">
                          <a:solidFill>
                            <a:schemeClr val="tx2"/>
                          </a:solidFill>
                          <a:latin typeface="+mn-lt"/>
                          <a:ea typeface="+mn-ea"/>
                          <a:cs typeface="+mn-cs"/>
                        </a:rPr>
                        <a:t xml:space="preserve">actifs</a:t>
                      </a:r>
                      <a:r>
                        <a:rPr lang="fr-FR" sz="975" b="1" kern="1200" spc="-10" noProof="0">
                          <a:solidFill>
                            <a:schemeClr val="tx2"/>
                          </a:solidFill>
                          <a:latin typeface="+mn-lt"/>
                          <a:ea typeface="+mn-ea"/>
                          <a:cs typeface="+mn-cs"/>
                        </a:rPr>
                        <a:t xml:space="preserve"> et sites significatifs que l’entreprise</a:t>
                      </a:r>
                      <a:r>
                        <a:rPr lang="fr-FR" sz="975" b="0" kern="1200" spc="-10" noProof="0">
                          <a:solidFill>
                            <a:schemeClr val="tx2"/>
                          </a:solidFill>
                          <a:latin typeface="+mn-lt"/>
                          <a:ea typeface="+mn-ea"/>
                          <a:cs typeface="+mn-cs"/>
                        </a:rPr>
                        <a:t> </a:t>
                      </a:r>
                      <a:r>
                        <a:rPr lang="fr-FR" sz="975" b="1" kern="1200" spc="-10" noProof="0">
                          <a:solidFill>
                            <a:schemeClr val="tx2"/>
                          </a:solidFill>
                          <a:latin typeface="+mn-lt"/>
                          <a:ea typeface="+mn-ea"/>
                          <a:cs typeface="+mn-cs"/>
                        </a:rPr>
                        <a:t xml:space="preserve">détient, loue ou gère </a:t>
                      </a:r>
                      <a:r>
                        <a:rPr lang="fr-FR" sz="975" b="0" kern="1200" spc="-10" noProof="0">
                          <a:solidFill>
                            <a:schemeClr val="tx2"/>
                          </a:solidFill>
                          <a:latin typeface="+mn-lt"/>
                          <a:ea typeface="+mn-ea"/>
                          <a:cs typeface="+mn-cs"/>
                        </a:rPr>
                        <a:t xml:space="preserve">(par.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fr-FR" sz="975" b="1" kern="1200" spc="-10" noProof="0">
                          <a:solidFill>
                            <a:schemeClr val="tx2"/>
                          </a:solidFill>
                          <a:latin typeface="+mn-lt"/>
                          <a:ea typeface="+mn-ea"/>
                          <a:cs typeface="+mn-cs"/>
                        </a:rPr>
                        <a:t>Site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Adresse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Code postal</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Ville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Pays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Géolocalisation (coordonnées)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lgn="l">
                        <a:buNone/>
                      </a:pPr>
                      <a:r>
                        <a:rPr lang="fr-FR" sz="975" b="0" i="0" u="none" strike="noStrike" noProof="0">
                          <a:solidFill>
                            <a:srgbClr val="1B4528"/>
                          </a:solidFill>
                          <a:effectLst/>
                          <a:latin typeface="Inter"/>
                        </a:rPr>
                        <a:t>{{geolocation}}</a:t>
                      </a:r>
                      <a:endParaRPr lang="fr-F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geolocation_adress</a:t>
                      </a:r>
                      <a:r>
                        <a:rPr lang="fr-FR" sz="975" b="0" i="0" u="none" strike="noStrike" noProof="0">
                          <a:solidFill>
                            <a:srgbClr val="1B4528"/>
                          </a:solidFill>
                          <a:effectLst/>
                          <a:latin typeface="Inter"/>
                        </a:rPr>
                        <a:t>}}</a:t>
                      </a:r>
                      <a:endParaRPr lang="fr-FR"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975" b="0" i="0" u="none" strike="noStrike" noProof="0">
                          <a:solidFill>
                            <a:srgbClr val="1B4528"/>
                          </a:solidFill>
                          <a:effectLst/>
                          <a:latin typeface="Inter"/>
                        </a:rPr>
                        <a:t>{{geolocation_postcode}}</a:t>
                      </a:r>
                      <a:endParaRPr lang="fr-F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975" b="0" i="0" u="none" strike="noStrike" noProof="0">
                          <a:solidFill>
                            <a:srgbClr val="1B4528"/>
                          </a:solidFill>
                          <a:effectLst/>
                          <a:latin typeface="Inter"/>
                        </a:rPr>
                        <a:t>{{geolocation_city}}</a:t>
                      </a:r>
                      <a:endParaRPr lang="fr-F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975" b="0" i="0" u="none" strike="noStrike" noProof="0">
                          <a:solidFill>
                            <a:srgbClr val="1B4528"/>
                          </a:solidFill>
                          <a:effectLst/>
                          <a:latin typeface="Inter"/>
                        </a:rPr>
                        <a:t>{{geolocation_country}}</a:t>
                      </a:r>
                      <a:endParaRPr lang="fr-FR"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geolocation_coordinates</a:t>
                      </a:r>
                      <a:r>
                        <a:rPr lang="fr-FR" sz="975" b="0" i="0" u="none" strike="noStrike" noProof="0">
                          <a:solidFill>
                            <a:srgbClr val="1B4528"/>
                          </a:solidFill>
                          <a:effectLst/>
                          <a:latin typeface="Inter"/>
                        </a:rPr>
                        <a:t>}}</a:t>
                      </a:r>
                      <a:endParaRPr lang="fr-FR"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538989"/>
            <a:ext cx="6737040" cy="538588"/>
          </a:xfrm>
          <a:prstGeom prst="rect">
            <a:avLst/>
          </a:prstGeom>
          <a:noFill/>
        </p:spPr>
        <p:txBody>
          <a:bodyPr wrap="square">
            <a:spAutoFit/>
          </a:bodyPr>
          <a:lstStyle/>
          <a:p>
            <a:pPr>
              <a:spcBef>
                <a:spcPts val="750"/>
              </a:spcBef>
            </a:pPr>
            <a:r>
              <a:rPr lang="fr-FR" sz="975" b="0" i="0" u="none" strike="noStrike" noProof="0">
                <a:solidFill>
                  <a:schemeClr val="tx2"/>
                </a:solidFill>
                <a:effectLst/>
                <a:latin typeface="Inter"/>
              </a:rPr>
              <a:t xml:space="preserve">Ci-dessous figure une description des géolocalisations de l’entreprise et des lieux où elle opère. Ces informations peuvent servir pour les zones de risque climatique et renseignent sur les installations, sites et/ou le siège de l’entreprise</a:t>
            </a:r>
            <a:r>
              <a:rPr lang="fr-FR" sz="975" noProof="0">
                <a:solidFill>
                  <a:schemeClr val="tx2"/>
                </a:solidFill>
                <a:latin typeface="Inter"/>
              </a:rPr>
              <a:t xml:space="preserve">. Les certifications ou labels de durabilité pertinents sont également indiqués, y compris l’organisme émetteur, la date et la notation éventuelle.</a:t>
            </a:r>
            <a:endParaRPr lang="fr-FR"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706648"/>
            <a:ext cx="6737040" cy="230823"/>
          </a:xfrm>
          <a:prstGeom prst="rect">
            <a:avLst/>
          </a:prstGeom>
          <a:noFill/>
        </p:spPr>
        <p:txBody>
          <a:bodyPr wrap="square">
            <a:spAutoFit/>
          </a:bodyPr>
          <a:lstStyle/>
          <a:p>
            <a:r>
              <a:rPr lang="fr-FR" sz="975" noProof="0">
                <a:solidFill>
                  <a:srgbClr val="487477"/>
                </a:solidFill>
                <a:latin typeface="Inter"/>
              </a:rPr>
              <a:t xml:space="preserve">Les certificats et labels environnementaux de l’entreprise sont énumérés ci-dessous.</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fr-FR" noProof="0"/>
              <a:t xml:space="preserve">Pratiques, politiques et initiatives futures en vue de la transition vers une économie plus durable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endParaRPr lang="fr-F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fr-FR" sz="975" b="1" kern="1200" spc="-10" noProof="0">
                          <a:solidFill>
                            <a:schemeClr val="tx2"/>
                          </a:solidFill>
                          <a:latin typeface="+mn-lt"/>
                          <a:ea typeface="+mn-ea"/>
                          <a:cs typeface="+mn-cs"/>
                        </a:rPr>
                        <a:t xml:space="preserve">Domaine</a:t>
                      </a:r>
                    </a:p>
                    <a:p>
                      <a:r>
                        <a:rPr lang="fr-FR" sz="975" b="0" kern="1200" spc="-10" noProof="0">
                          <a:solidFill>
                            <a:schemeClr val="tx2"/>
                          </a:solidFill>
                          <a:latin typeface="+mn-lt"/>
                          <a:ea typeface="+mn-ea"/>
                          <a:cs typeface="+mn-cs"/>
                        </a:rPr>
                        <a:t xml:space="preserve">(par.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Pratique ou politique concrète en place dans ce domaine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La politique est-elle accessible au public?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L’entreprise a des initiatives et plans futurs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Cibles concrètes de suivi de la mise en œuvre des pratiques et politiques?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fr-FR" sz="975" b="1" kern="1200" spc="-10" noProof="0">
                          <a:solidFill>
                            <a:schemeClr val="tx2"/>
                          </a:solidFill>
                          <a:latin typeface="+mn-lt"/>
                          <a:ea typeface="+mn-ea"/>
                          <a:cs typeface="+mn-cs"/>
                        </a:rPr>
                        <a:t xml:space="preserve">Changement climatique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{{climate_change_concrete}}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{{climate_change_publicly}}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{{climate_change_future}}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{{climate_change_plan}}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fr-FR" sz="975" b="1" kern="1200" spc="-10" noProof="0">
                          <a:solidFill>
                            <a:schemeClr val="tx2"/>
                          </a:solidFill>
                          <a:latin typeface="+mn-lt"/>
                          <a:ea typeface="+mn-ea"/>
                          <a:cs typeface="+mn-cs"/>
                        </a:rPr>
                        <a:t>Pollution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{{pollution_concrete}}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{{pollution_publicly}}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{{pollution_future}}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{{pollution_plan}}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fr-FR" sz="975" b="1" kern="1200" spc="-10" noProof="0">
                          <a:solidFill>
                            <a:schemeClr val="tx2"/>
                          </a:solidFill>
                          <a:latin typeface="+mn-lt"/>
                          <a:ea typeface="+mn-ea"/>
                          <a:cs typeface="+mn-cs"/>
                        </a:rPr>
                        <a:t xml:space="preserve">Ressources hydriques et marines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{{water_concrete}}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{{water_publicly}}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{{water_future}}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{{water_plan}}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fr-FR" sz="975" b="1" kern="1200" spc="-10" noProof="0">
                          <a:solidFill>
                            <a:schemeClr val="tx2"/>
                          </a:solidFill>
                          <a:latin typeface="+mn-lt"/>
                          <a:ea typeface="+mn-ea"/>
                          <a:cs typeface="+mn-cs"/>
                        </a:rPr>
                        <a:t xml:space="preserve">Biodiversité et écosystèmes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{{biodiversity_concrete}}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{{biodiversity_publicly}}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{{biodiversity_future}}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{{biodiversity_plan}}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fr-FR" sz="975" b="1" kern="1200" spc="-10" noProof="0">
                          <a:solidFill>
                            <a:schemeClr val="tx2"/>
                          </a:solidFill>
                          <a:latin typeface="+mn-lt"/>
                          <a:ea typeface="+mn-ea"/>
                          <a:cs typeface="+mn-cs"/>
                        </a:rPr>
                        <a:t xml:space="preserve">Économie circulaire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{{circular_concrete}}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{{circular_publicly}}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{{circular_future}}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{{circular_plan}}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fr-FR" sz="975" b="1" kern="1200" spc="-10" noProof="0">
                          <a:solidFill>
                            <a:schemeClr val="tx2"/>
                          </a:solidFill>
                          <a:latin typeface="+mn-lt"/>
                          <a:ea typeface="+mn-ea"/>
                          <a:cs typeface="+mn-cs"/>
                        </a:rPr>
                        <a:t xml:space="preserve">Personnel de l’entreprise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{{workforce_concrete}}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{{workforce_publicly}}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{{workforce_future}}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{{workforce_plan}}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fr-FR" sz="975" b="1" kern="1200" spc="-10" noProof="0">
                          <a:solidFill>
                            <a:schemeClr val="tx2"/>
                          </a:solidFill>
                          <a:latin typeface="+mn-lt"/>
                          <a:ea typeface="+mn-ea"/>
                          <a:cs typeface="+mn-cs"/>
                        </a:rPr>
                        <a:t xml:space="preserve">Travailleurs de la chaîne de valeur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{{workers_concrete}}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{{workers_publicly}}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{{workers_future}}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{{workers_plan}}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fr-FR" sz="975" b="1" kern="1200" spc="-10" noProof="0">
                          <a:solidFill>
                            <a:schemeClr val="tx2"/>
                          </a:solidFill>
                          <a:latin typeface="+mn-lt"/>
                          <a:ea typeface="+mn-ea"/>
                          <a:cs typeface="+mn-cs"/>
                        </a:rPr>
                        <a:t xml:space="preserve">Communautés affectées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{{communities_concrete}}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{{communities_publicly}}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{{communities_future}}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{{communities_plan}}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fr-FR" sz="975" b="1" kern="1200" spc="-10" noProof="0">
                          <a:solidFill>
                            <a:schemeClr val="tx2"/>
                          </a:solidFill>
                          <a:latin typeface="+mn-lt"/>
                          <a:ea typeface="+mn-ea"/>
                          <a:cs typeface="+mn-cs"/>
                        </a:rPr>
                        <a:t xml:space="preserve">Consommateurs et utilisateurs finaux</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{{consumers_concrete}}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{{consumers_publicly}}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{{consumers_future}}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{{consumers_plan}}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fr-FR" sz="975" b="1" kern="1200" spc="-10" noProof="0">
                          <a:solidFill>
                            <a:schemeClr val="tx2"/>
                          </a:solidFill>
                          <a:latin typeface="+mn-lt"/>
                          <a:ea typeface="+mn-ea"/>
                          <a:cs typeface="+mn-cs"/>
                        </a:rPr>
                        <a:t xml:space="preserve">Conduite des affaires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{{governance_concrete}}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{{governance_publicly}}</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{{governance_future}}</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latin typeface="Inter"/>
                        </a:rPr>
                        <a:t>{{governance_plan}}</a:t>
                      </a:r>
                      <a:endParaRPr lang="fr-FR">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fr-FR" sz="975" b="0" i="0" u="none" strike="noStrike" noProof="0">
                <a:solidFill>
                  <a:schemeClr val="tx2"/>
                </a:solidFill>
                <a:effectLst/>
                <a:latin typeface="Inter"/>
              </a:rPr>
              <a:t xml:space="preserve">Cette section présente les pratiques, politiques et initiatives futures que l’entreprise a mises en place pour soutenir une économie durable. Elle précise notamment quelles mesures concrètes l’entreprise a prises pour réduire ses impacts négatifs sur l’environnement et améliorer les conditions de travail et l’égalité de traitement (OUI/NON).</a:t>
            </a:r>
            <a:br>
              <a:rPr lang="fr-FR" sz="975" noProof="0">
                <a:solidFill>
                  <a:schemeClr val="tx2"/>
                </a:solidFill>
              </a:rPr>
            </a:br>
            <a:endParaRPr lang="fr-FR"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fr-FR" noProof="0" smtClean="0"/>
              <a:pPr/>
              <a:t>4</a:t>
            </a:fld>
            <a:endParaRPr lang="fr-FR"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Consommation d’énergie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196846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975" b="1" noProof="0">
                          <a:solidFill>
                            <a:schemeClr val="tx2"/>
                          </a:solidFill>
                        </a:rPr>
                        <a:t xml:space="preserve">Consommation d’énergie en MWh </a:t>
                      </a:r>
                      <a:r>
                        <a:rPr lang="fr-FR" sz="975" b="0" noProof="0">
                          <a:solidFill>
                            <a:schemeClr val="tx2"/>
                          </a:solidFill>
                        </a:rPr>
                        <a:t xml:space="preserve">(par.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fr-F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fr-FR"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fr-FR" sz="72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fr-FR" sz="975" b="1" noProof="0">
                          <a:solidFill>
                            <a:schemeClr val="tx2"/>
                          </a:solidFill>
                        </a:rPr>
                        <a:t xml:space="preserve">Consommation renouvelable</a:t>
                      </a:r>
                      <a:r>
                        <a:rPr lang="fr-FR"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fr-FR" sz="975" b="1" noProof="0">
                          <a:solidFill>
                            <a:schemeClr val="tx2"/>
                          </a:solidFill>
                        </a:rPr>
                        <a:t xml:space="preserve">Consommation non renouvelable</a:t>
                      </a:r>
                      <a:r>
                        <a:rPr lang="fr-FR"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975" b="1" noProof="0">
                          <a:solidFill>
                            <a:schemeClr val="tx2"/>
                          </a:solidFill>
                        </a:rPr>
                        <a:t xml:space="preserve">Consommation totale (MWh)</a:t>
                      </a:r>
                    </a:p>
                    <a:p>
                      <a:pPr marL="0" marR="0" lvl="0" indent="0" algn="r" defTabSz="914400" rtl="0" eaLnBrk="1" fontAlgn="auto" latinLnBrk="0" hangingPunct="1">
                        <a:lnSpc>
                          <a:spcPct val="106000"/>
                        </a:lnSpc>
                        <a:spcBef>
                          <a:spcPts val="0"/>
                        </a:spcBef>
                        <a:spcAft>
                          <a:spcPts val="0"/>
                        </a:spcAft>
                        <a:buClrTx/>
                        <a:buSzTx/>
                        <a:buFontTx/>
                        <a:buNone/>
                        <a:tabLst/>
                        <a:defRPr/>
                      </a:pPr>
                      <a:r>
                        <a:rPr lang="fr-FR"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fr-FR" sz="975" b="1" noProof="0">
                          <a:solidFill>
                            <a:schemeClr val="tx2"/>
                          </a:solidFill>
                        </a:rPr>
                        <a:t xml:space="preserve">Électricité </a:t>
                      </a:r>
                      <a:r>
                        <a:rPr lang="fr-FR" sz="975" b="0" noProof="0">
                          <a:solidFill>
                            <a:schemeClr val="tx2"/>
                          </a:solidFill>
                        </a:rPr>
                        <a:t xml:space="preserve">(telle qu’indiquée sur les factures de consommation)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{{electricity_renewable}}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{{electricity_non_rewenable}}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{{total_electricity}}</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fr-FR" sz="975" b="1" noProof="0">
                          <a:solidFill>
                            <a:schemeClr val="tx2"/>
                          </a:solidFill>
                        </a:rPr>
                        <a:t xml:space="preserve">Combustibles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{{fuel_renewable}}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{{fuel_non_rewenable}}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{{total_fuel}}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fr-FR" sz="975" b="1" noProof="0">
                          <a:solidFill>
                            <a:schemeClr val="tx2"/>
                          </a:solidFill>
                        </a:rPr>
                        <a:t xml:space="preserve">Autre (p. ex. réseau de chaleur)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{{district_heating_rewenable}}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{{district_heating_non_rewenable}}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{{total_district_heating}}</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fr-FR" sz="975" b="1" noProof="0">
                          <a:solidFill>
                            <a:schemeClr val="tx2"/>
                          </a:solidFill>
                        </a:rPr>
                        <a:t>Total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{{renewable_energy_total}}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{{non_rewenable_energy_total}}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BM Plex Sans" panose="020B0503050203000203" pitchFamily="34" charset="0"/>
                        </a:rPr>
                        <a:t>{{total_energy_consumption}}</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5</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fr-FR" sz="975" b="0" i="0" u="none" strike="noStrike" noProof="0">
                <a:solidFill>
                  <a:schemeClr val="tx2"/>
                </a:solidFill>
                <a:effectLst/>
                <a:latin typeface="Inter"/>
              </a:rPr>
              <a:t xml:space="preserve">Cette section indique les émissions de CO2 liées à la consommation d’énergie, en distinguant consommation renouvelable et non renouvelable. </a:t>
            </a:r>
            <a:r>
              <a:rPr lang="fr-FR" sz="975" noProof="0">
                <a:solidFill>
                  <a:schemeClr val="tx2"/>
                </a:solidFill>
                <a:latin typeface="Inter"/>
              </a:rPr>
              <a:t xml:space="preserve">Les émissions sont publiées selon </a:t>
            </a:r>
            <a:r>
              <a:rPr lang="fr-FR" sz="975" b="0" i="0" u="none" strike="noStrike" noProof="0">
                <a:solidFill>
                  <a:schemeClr val="tx2"/>
                </a:solidFill>
                <a:effectLst/>
                <a:latin typeface="Inter"/>
              </a:rPr>
              <a:t xml:space="preserve">les définitions du protocole des GES des émissions directes et indirectes. </a:t>
            </a:r>
            <a:br>
              <a:rPr lang="fr-FR" sz="975" b="0" i="0" u="none" strike="noStrike" noProof="0" dirty="0">
                <a:effectLst/>
                <a:latin typeface="Inter"/>
              </a:rPr>
            </a:br>
            <a:br>
              <a:rPr lang="fr-FR" sz="975" dirty="0">
                <a:latin typeface="Inter"/>
              </a:rPr>
            </a:br>
            <a:r>
              <a:rPr lang="fr-FR" sz="650" b="0" i="0" u="none" strike="noStrike" noProof="0">
                <a:solidFill>
                  <a:schemeClr val="tx2"/>
                </a:solidFill>
                <a:effectLst/>
                <a:latin typeface="Inter"/>
              </a:rPr>
              <a:t> </a:t>
            </a:r>
            <a:endParaRPr lang="fr-FR" sz="975" b="0" i="0" u="none" strike="noStrike" noProof="0" dirty="0">
              <a:solidFill>
                <a:schemeClr val="tx2"/>
              </a:solidFill>
              <a:effectLst/>
              <a:latin typeface="Inter"/>
            </a:endParaRPr>
          </a:p>
          <a:p>
            <a:pPr rtl="0">
              <a:buNone/>
            </a:pPr>
            <a:endParaRPr lang="fr-FR" sz="975" b="0" noProof="0">
              <a:solidFill>
                <a:schemeClr val="tx2"/>
              </a:solidFill>
              <a:effectLst/>
              <a:latin typeface="Inter"/>
            </a:endParaRPr>
          </a:p>
          <a:p>
            <a:pPr>
              <a:buNone/>
            </a:pPr>
            <a:endParaRPr lang="fr-FR" b="0" noProof="0">
              <a:solidFill>
                <a:schemeClr val="tx2"/>
              </a:solidFill>
              <a:effectLst/>
              <a:latin typeface="Inter"/>
            </a:endParaRPr>
          </a:p>
          <a:p>
            <a:pPr>
              <a:buNone/>
            </a:pPr>
            <a:endParaRPr lang="fr-FR" sz="1325" noProof="0">
              <a:solidFill>
                <a:schemeClr val="tx2"/>
              </a:solidFill>
              <a:latin typeface="Inter"/>
            </a:endParaRPr>
          </a:p>
          <a:p>
            <a:pPr>
              <a:buNone/>
            </a:pPr>
            <a:endParaRPr lang="fr-FR" sz="1325" b="0" noProof="0">
              <a:solidFill>
                <a:schemeClr val="tx2"/>
              </a:solidFill>
              <a:effectLst/>
              <a:latin typeface="Inter"/>
            </a:endParaRPr>
          </a:p>
          <a:p>
            <a:pPr>
              <a:buNone/>
            </a:pPr>
            <a:endParaRPr lang="fr-FR" sz="1325" noProof="0">
              <a:solidFill>
                <a:schemeClr val="tx2"/>
              </a:solidFill>
              <a:latin typeface="Inter"/>
            </a:endParaRPr>
          </a:p>
          <a:p>
            <a:pPr>
              <a:buNone/>
            </a:pPr>
            <a:endParaRPr lang="fr-FR" sz="1325" b="0" noProof="0">
              <a:solidFill>
                <a:schemeClr val="tx2"/>
              </a:solidFill>
              <a:effectLst/>
              <a:latin typeface="Inter"/>
            </a:endParaRPr>
          </a:p>
          <a:p>
            <a:endParaRPr lang="fr-FR"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fr-FR" sz="975" b="1" noProof="0">
                          <a:solidFill>
                            <a:schemeClr val="tx2"/>
                          </a:solidFill>
                        </a:rPr>
                        <a:t xml:space="preserve">Émissions de gaz à effet de serre </a:t>
                      </a:r>
                      <a:r>
                        <a:rPr lang="fr-FR" sz="975" b="0" noProof="0">
                          <a:solidFill>
                            <a:schemeClr val="tx2"/>
                          </a:solidFill>
                        </a:rPr>
                        <a:t xml:space="preserve">(par. 33)</a:t>
                      </a:r>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975" b="1" noProof="0">
                          <a:solidFill>
                            <a:schemeClr val="tx2"/>
                          </a:solidFill>
                        </a:rPr>
                        <a:t xml:space="preserve">Année </a:t>
                      </a:r>
                      <a:r>
                        <a:rPr lang="fr-FR" sz="975" b="1" noProof="0">
                          <a:solidFill>
                            <a:srgbClr val="1B4528"/>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fr-FR" sz="975" b="1" noProof="0">
                          <a:solidFill>
                            <a:schemeClr val="tx2"/>
                          </a:solidFill>
                        </a:rPr>
                        <a:t xml:space="preserve">Émissions de CO₂e du scope 1</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{{scope1}}</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fr-FR" sz="975" b="1" noProof="0">
                          <a:solidFill>
                            <a:schemeClr val="tx2"/>
                          </a:solidFill>
                        </a:rPr>
                        <a:t xml:space="preserve">Émissions de CO₂e du scope 2 (basées sur la localisation)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{{scope2}}</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fr-FR" sz="975" b="1" noProof="0">
                          <a:solidFill>
                            <a:schemeClr val="tx2"/>
                          </a:solidFill>
                        </a:rPr>
                        <a:t xml:space="preserve">Émissions totales de CO₂e des scopes 1 et 2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{{total_scope}}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13" name="B3 market-based (voluntary)"/>
          <p:cNvGraphicFramePr>
            <a:graphicFrameLocks noGrp="1"/>
          </p:cNvGraphicFramePr>
          <p:nvPr>
            <p:extLst>
              <p:ext uri="{D42A27DB-BD31-4B8C-83A1-F6EECF244321}">
                <p14:modId xmlns:p14="http://schemas.microsoft.com/office/powerpoint/2010/main" val="4106924491"/>
              </p:ext>
            </p:extLst>
          </p:nvPr>
        </p:nvGraphicFramePr>
        <p:xfrm>
          <a:off x="411480" y="7630596"/>
          <a:ext cx="6737040" cy="451312"/>
        </p:xfrm>
        <a:graphic>
          <a:graphicData uri="http://schemas.openxmlformats.org/drawingml/2006/table">
            <a:tbl>
              <a:tblPr firstRow="0">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5656">
                <a:tc>
                  <a:txBody>
                    <a:bodyPr/>
                    <a:lstStyle/>
                    <a:p>
                      <a:pPr>
                        <a:lnSpc>
                          <a:spcPct val="106000"/>
                        </a:lnSpc>
                      </a:pPr>
                      <a:r>
                        <a:rPr lang="fr-FR" sz="975" b="1" noProof="0">
                          <a:solidFill>
                            <a:schemeClr val="tx2"/>
                          </a:solidFill>
                        </a:rPr>
                        <a:t xml:space="preserve">Émissions de CO₂e du scope 2 (basées sur le marché) (facultatif)</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{{scope1_marked}}</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fr-FR" sz="975" b="1" noProof="0">
                          <a:solidFill>
                            <a:schemeClr val="tx2"/>
                          </a:solidFill>
                        </a:rPr>
                        <a:t xml:space="preserve">Émissions totales de CO₂e des scopes 1 et 2 (basées sur le marché) (facultatif)</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{{scope2_marked}}</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fr-FR" b="1" dirty="0">
                <a:latin typeface="+mj-lt"/>
              </a:rPr>
            </a:br>
            <a:r>
              <a:rPr lang="fr-FR" b="1" i="0" u="none" strike="noStrike" noProof="0">
                <a:solidFill>
                  <a:schemeClr val="tx2"/>
                </a:solidFill>
                <a:effectLst/>
                <a:latin typeface="+mj-lt"/>
              </a:rPr>
              <a:t xml:space="preserve">Émissions de CO₂e (B3)</a:t>
            </a:r>
            <a:endParaRPr lang="fr-FR" noProof="0">
              <a:solidFill>
                <a:schemeClr val="tx2"/>
              </a:solidFill>
              <a:effectLst/>
              <a:latin typeface="+mj-lt"/>
            </a:endParaRPr>
          </a:p>
          <a:p>
            <a:r>
              <a:rPr lang="fr-FR" sz="650">
                <a:latin typeface="Inter"/>
              </a:rPr>
              <a:t> </a:t>
            </a:r>
            <a:br>
              <a:rPr lang="fr-FR" sz="975" dirty="0">
                <a:solidFill>
                  <a:schemeClr val="tx2"/>
                </a:solidFill>
                <a:latin typeface="Inter"/>
              </a:rPr>
            </a:br>
            <a:r>
              <a:rPr lang="fr-FR" sz="975" b="0" i="0" u="none" strike="noStrike" noProof="0">
                <a:solidFill>
                  <a:schemeClr val="tx2"/>
                </a:solidFill>
                <a:effectLst/>
                <a:latin typeface="Inter"/>
              </a:rPr>
              <a:t xml:space="preserve">Le par. 33 contient des informations sur les émissions de GES de l’entreprise, sur la base des émissions des scopes 1 et 2. Le scope 1 désigne les émissions directes de GES provenant de sources détenues ou directement contrôlées par l’entreprise, par exemple la combustion de carburant dans les véhicules de société, le chauffage des bâtiments au gaz naturel, ainsi que les émissions des procédés industriels et les fuites dans des systèmes tels que le froid.</a:t>
            </a:r>
            <a:r>
              <a:rPr lang="fr-FR" sz="975" noProof="0">
                <a:solidFill>
                  <a:schemeClr val="tx2"/>
                </a:solidFill>
                <a:latin typeface="Inter"/>
              </a:rPr>
              <a:t> </a:t>
            </a:r>
            <a:r>
              <a:rPr lang="fr-FR" sz="975" b="0" i="0" u="none" strike="noStrike" noProof="0">
                <a:solidFill>
                  <a:schemeClr val="tx2"/>
                </a:solidFill>
                <a:effectLst/>
                <a:latin typeface="Inter"/>
              </a:rPr>
              <a:t xml:space="preserve">Le scope 2</a:t>
            </a:r>
            <a:r>
              <a:rPr lang="fr-FR" sz="975" noProof="0">
                <a:solidFill>
                  <a:schemeClr val="tx2"/>
                </a:solidFill>
                <a:latin typeface="Inter"/>
              </a:rPr>
              <a:t xml:space="preserve"> désigne les émissions i</a:t>
            </a:r>
            <a:r>
              <a:rPr lang="fr-FR" sz="975" b="0" i="0" u="none" strike="noStrike" noProof="0">
                <a:solidFill>
                  <a:schemeClr val="tx2"/>
                </a:solidFill>
                <a:effectLst/>
                <a:latin typeface="Inter"/>
              </a:rPr>
              <a:t xml:space="preserve">ndirectes liées à l’électricité achetée : émissions résultant de la production de l’électricité, de la vapeur, de la chaleur ou du froid achetés et utilisés par l’entreprise. Bien qu’elles proviennent des producteurs d’énergie, elles sont attribuées à l’entreprise, car c’est elle qui consomme l’énergie.</a:t>
            </a:r>
            <a:endParaRPr lang="fr-FR"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Pollution de l’air, de l’eau et des sols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fr-FR" sz="806" b="1" noProof="0">
                          <a:solidFill>
                            <a:schemeClr val="tx2"/>
                          </a:solidFill>
                        </a:rPr>
                        <a:t xml:space="preserve">Pollution de l’air, de l’eau et des sols </a:t>
                      </a:r>
                      <a:r>
                        <a:rPr lang="fr-FR" sz="806" b="0" noProof="0">
                          <a:solidFill>
                            <a:schemeClr val="tx2"/>
                          </a:solidFill>
                        </a:rPr>
                        <a:t xml:space="preserve">(par.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fr-FR" sz="806" b="1" noProof="0">
                          <a:solidFill>
                            <a:schemeClr val="tx2"/>
                          </a:solidFill>
                        </a:rPr>
                        <a:t xml:space="preserve">Type de pollution </a:t>
                      </a:r>
                      <a:r>
                        <a:rPr lang="fr-FR" sz="806" b="0" noProof="0">
                          <a:solidFill>
                            <a:schemeClr val="tx2"/>
                          </a:solidFill>
                        </a:rPr>
                        <a:t xml:space="preserve">(p. ex. substance)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fr-FR" sz="806" b="1" noProof="0">
                          <a:solidFill>
                            <a:schemeClr val="tx2"/>
                          </a:solidFill>
                        </a:rPr>
                        <a:t xml:space="preserve">Où? </a:t>
                      </a:r>
                      <a:r>
                        <a:rPr lang="fr-FR" sz="806" b="0" noProof="0">
                          <a:solidFill>
                            <a:schemeClr val="tx2"/>
                          </a:solidFill>
                        </a:rPr>
                        <a:t xml:space="preserve">(air, eau, sol)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fr-FR" sz="806" b="1" noProof="0">
                          <a:solidFill>
                            <a:schemeClr val="tx2"/>
                          </a:solidFill>
                        </a:rPr>
                        <a:t xml:space="preserve">Quantité</a:t>
                      </a:r>
                      <a:endParaRPr lang="fr-FR" sz="806"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lgn="l">
                        <a:buNone/>
                      </a:pPr>
                      <a:r>
                        <a:rPr lang="fr-FR" sz="806" b="0" i="0" u="none" strike="noStrike" noProof="0">
                          <a:solidFill>
                            <a:srgbClr val="1B4528"/>
                          </a:solidFill>
                          <a:effectLst/>
                          <a:latin typeface="Inter"/>
                        </a:rPr>
                        <a:t>{{type_of_pollution}}</a:t>
                      </a:r>
                      <a:endParaRPr lang="fr-FR" sz="806"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fr-FR" sz="806" b="0" i="0" u="none" strike="noStrike" noProof="0">
                          <a:solidFill>
                            <a:srgbClr val="1B4528"/>
                          </a:solidFill>
                          <a:effectLst/>
                          <a:latin typeface="Inter"/>
                        </a:rPr>
                        <a:t>{{scope_pollution}}</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fr-FR" sz="806" b="0" i="0" u="none" strike="noStrike" noProof="0">
                          <a:solidFill>
                            <a:srgbClr val="1B4528"/>
                          </a:solidFill>
                          <a:effectLst/>
                          <a:latin typeface="Inter"/>
                        </a:rPr>
                        <a:t>{{</a:t>
                      </a:r>
                      <a:r>
                        <a:rPr lang="fr-FR" sz="806" b="0" i="0" u="none" strike="noStrike" noProof="0">
                          <a:solidFill>
                            <a:srgbClr val="1B4528"/>
                          </a:solidFill>
                          <a:effectLst/>
                          <a:latin typeface="Inter"/>
                        </a:rPr>
                        <a:t>pollution_medium</a:t>
                      </a:r>
                      <a:r>
                        <a:rPr lang="fr-FR" sz="806" b="0" i="0" u="none" strike="noStrike" noProof="0">
                          <a:solidFill>
                            <a:srgbClr val="1B4528"/>
                          </a:solidFill>
                          <a:effectLst/>
                          <a:latin typeface="Inter"/>
                        </a:rPr>
                        <a:t>}}</a:t>
                      </a:r>
                      <a:endParaRPr lang="fr-FR"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fr-FR" sz="806" b="0" i="0" u="none" strike="noStrike" noProof="0">
                <a:solidFill>
                  <a:schemeClr val="tx2"/>
                </a:solidFill>
                <a:effectLst/>
                <a:latin typeface="Inter"/>
              </a:rPr>
              <a:t xml:space="preserve">L’entreprise déclare la quantité totale de polluants rejetés par ses installations. Les polluants spécifiques et leurs quantités rejetées dans l’air, l’eau et le sol</a:t>
            </a:r>
            <a:r>
              <a:rPr lang="fr-FR" sz="806" noProof="0">
                <a:solidFill>
                  <a:schemeClr val="tx2"/>
                </a:solidFill>
                <a:latin typeface="Inter"/>
              </a:rPr>
              <a:t xml:space="preserve"> sont indiqués ci-dessous.</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fr-FR" noProof="0"/>
              <a:t xml:space="preserve">Biodiversité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92106"/>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fr-FR" sz="806" b="1" noProof="0">
                          <a:solidFill>
                            <a:schemeClr val="tx2"/>
                          </a:solidFill>
                        </a:rPr>
                        <a:t xml:space="preserve">Sites situés dans ou à proximité de « zones sensibles sur le plan de la biodiversité » que l’entreprise détient, loue ou gère </a:t>
                      </a:r>
                      <a:r>
                        <a:rPr lang="fr-FR" sz="806" b="0" noProof="0">
                          <a:solidFill>
                            <a:schemeClr val="tx2"/>
                          </a:solidFill>
                        </a:rPr>
                        <a:t xml:space="preserve">(par.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fr-FR" sz="806" b="1" noProof="0">
                          <a:solidFill>
                            <a:schemeClr val="tx2"/>
                          </a:solidFill>
                        </a:rPr>
                        <a:t xml:space="preserve">Localisation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806" b="1" noProof="0">
                          <a:solidFill>
                            <a:schemeClr val="tx2"/>
                          </a:solidFill>
                        </a:rPr>
                        <a:t xml:space="preserve">Superficie en hectares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806" b="1" noProof="0">
                          <a:solidFill>
                            <a:schemeClr val="tx2"/>
                          </a:solidFill>
                        </a:rPr>
                        <a:t xml:space="preserve">Zone sensible pour la biodiversité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806" b="1" noProof="0">
                          <a:solidFill>
                            <a:schemeClr val="tx2"/>
                          </a:solidFill>
                        </a:rPr>
                        <a:t xml:space="preserve">Précision : dans ou à proximité d’une zone sensible pour la biodiversité</a:t>
                      </a:r>
                      <a:endParaRPr lang="fr-FR"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lgn="l">
                        <a:buNone/>
                      </a:pPr>
                      <a:r>
                        <a:rPr lang="fr-FR" sz="806" b="0" i="0" u="none" strike="noStrike" noProof="0">
                          <a:solidFill>
                            <a:srgbClr val="1B4528"/>
                          </a:solidFill>
                          <a:effectLst/>
                          <a:latin typeface="Inter"/>
                        </a:rPr>
                        <a:t>{{country_location}}</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fr-FR" sz="806" b="0" i="0" u="none" strike="noStrike" noProof="0">
                          <a:solidFill>
                            <a:srgbClr val="1B4528"/>
                          </a:solidFill>
                          <a:effectLst/>
                          <a:latin typeface="Inter"/>
                        </a:rPr>
                        <a:t> {{area_hect}}</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806" b="0" i="0" u="none" strike="noStrike" noProof="0">
                          <a:solidFill>
                            <a:srgbClr val="1B4528"/>
                          </a:solidFill>
                          <a:effectLst/>
                          <a:latin typeface="Inter"/>
                        </a:rPr>
                        <a:t>{{area_name}}</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806" b="0" i="0" u="none" strike="noStrike" noProof="0">
                          <a:solidFill>
                            <a:srgbClr val="1B4528"/>
                          </a:solidFill>
                          <a:effectLst/>
                          <a:latin typeface="Inter"/>
                        </a:rPr>
                        <a:t>{{</a:t>
                      </a:r>
                      <a:r>
                        <a:rPr lang="fr-FR" sz="806" b="0" i="0" u="none" strike="noStrike" noProof="0">
                          <a:solidFill>
                            <a:srgbClr val="1B4528"/>
                          </a:solidFill>
                          <a:effectLst/>
                          <a:latin typeface="Inter"/>
                        </a:rPr>
                        <a:t>biosensitive_area</a:t>
                      </a:r>
                      <a:r>
                        <a:rPr lang="fr-FR" sz="806" b="0" i="0" u="none" strike="noStrike" noProof="0">
                          <a:solidFill>
                            <a:srgbClr val="1B4528"/>
                          </a:solidFill>
                          <a:effectLst/>
                          <a:latin typeface="Inter"/>
                        </a:rPr>
                        <a:t>}}</a:t>
                      </a:r>
                      <a:endParaRPr lang="fr-FR"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fr-FR" sz="806" b="0" i="0" u="none" strike="noStrike" noProof="0">
                <a:solidFill>
                  <a:schemeClr val="tx2"/>
                </a:solidFill>
                <a:effectLst/>
                <a:latin typeface="Inter"/>
              </a:rPr>
              <a:t xml:space="preserve">Les informations de l’entreprise concernent les sites où elle opère qui se situent dans ou à proximité de zones sensibles sur le plan de la biodiversité. Ces zones sont définies comme telles par des dispositions particulières de protection de la nature au niveau européen ou international. Il s’agit notamment des zones Natura 2000, des sites de l’UNESCO et des zones clés pour la biodiversité (KBA), ainsi que d’autres aires protégées.</a:t>
            </a:r>
            <a:endParaRPr lang="fr-FR" sz="806"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665436"/>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fr-FR"/>
              <a:t xml:space="preserve">Eau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674180"/>
          <a:ext cx="3295368" cy="1108866"/>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5590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6" b="1" noProof="0">
                          <a:solidFill>
                            <a:schemeClr val="tx2"/>
                          </a:solidFill>
                        </a:rPr>
                        <a:t xml:space="preserve">Prélèvements d’eau </a:t>
                      </a:r>
                      <a:r>
                        <a:rPr lang="fr-FR" sz="806" b="0" noProof="0">
                          <a:solidFill>
                            <a:schemeClr val="tx2"/>
                          </a:solidFill>
                        </a:rPr>
                        <a:t xml:space="preserve">(par.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806" b="1" noProof="0">
                          <a:solidFill>
                            <a:schemeClr val="tx2"/>
                          </a:solidFill>
                        </a:rPr>
                        <a:t xml:space="preserve">Année </a:t>
                      </a:r>
                      <a:r>
                        <a:rPr lang="fr-FR" sz="806"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49864">
                <a:tc>
                  <a:txBody>
                    <a:bodyPr/>
                    <a:lstStyle/>
                    <a:p>
                      <a:r>
                        <a:rPr lang="fr-FR" sz="806" b="0" noProof="0">
                          <a:solidFill>
                            <a:schemeClr val="tx2"/>
                          </a:solidFill>
                        </a:rPr>
                        <a:t xml:space="preserve">Total pour tous les sites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806" b="0" i="0" u="none" strike="noStrike" kern="1200" cap="none" spc="0" normalizeH="0" baseline="0" noProof="0">
                          <a:ln>
                            <a:noFill/>
                          </a:ln>
                          <a:solidFill>
                            <a:srgbClr val="1B4528"/>
                          </a:solidFill>
                          <a:effectLst/>
                          <a:uLnTx/>
                          <a:uFillTx/>
                          <a:latin typeface="+mn-lt"/>
                          <a:ea typeface="+mn-ea"/>
                          <a:cs typeface="+mn-cs"/>
                        </a:rPr>
                        <a:t>{{</a:t>
                      </a:r>
                      <a:r>
                        <a:rPr kumimoji="0" lang="fr-FR" sz="806" b="0" i="0" u="none" strike="noStrike" kern="1200" cap="none" spc="0" normalizeH="0" baseline="0" noProof="0">
                          <a:ln>
                            <a:noFill/>
                          </a:ln>
                          <a:solidFill>
                            <a:srgbClr val="1B4528"/>
                          </a:solidFill>
                          <a:effectLst/>
                          <a:uLnTx/>
                          <a:uFillTx/>
                          <a:latin typeface="+mn-lt"/>
                          <a:ea typeface="+mn-ea"/>
                          <a:cs typeface="+mn-cs"/>
                        </a:rPr>
                        <a:t>total_withdrawal</a:t>
                      </a:r>
                      <a:r>
                        <a:rPr kumimoji="0" lang="fr-FR" sz="806" b="0" i="0" u="none" strike="noStrike" kern="1200" cap="none" spc="0" normalizeH="0" baseline="0" noProof="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674180"/>
          <a:ext cx="3295368" cy="1108866"/>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4570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6" b="1" noProof="0">
                          <a:solidFill>
                            <a:schemeClr val="tx2"/>
                          </a:solidFill>
                        </a:rPr>
                        <a:t xml:space="preserve">Consommation d’eau </a:t>
                      </a:r>
                      <a:r>
                        <a:rPr lang="fr-FR" sz="806" b="0" noProof="0">
                          <a:solidFill>
                            <a:schemeClr val="tx2"/>
                          </a:solidFill>
                        </a:rPr>
                        <a:t xml:space="preserve">(par.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806" b="1" noProof="0">
                          <a:solidFill>
                            <a:schemeClr val="tx2"/>
                          </a:solidFill>
                        </a:rPr>
                        <a:t xml:space="preserve">Année </a:t>
                      </a:r>
                      <a:r>
                        <a:rPr lang="fr-FR" sz="806"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16794">
                <a:tc>
                  <a:txBody>
                    <a:bodyPr/>
                    <a:lstStyle/>
                    <a:p>
                      <a:r>
                        <a:rPr lang="fr-FR" sz="806" b="0" noProof="0">
                          <a:solidFill>
                            <a:schemeClr val="tx2"/>
                          </a:solidFill>
                        </a:rPr>
                        <a:t xml:space="preserve">Total pour tous les sites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06" b="0" i="0" u="none" strike="noStrike" noProof="0">
                          <a:solidFill>
                            <a:srgbClr val="1B4528"/>
                          </a:solidFill>
                          <a:effectLst/>
                          <a:latin typeface="Inter"/>
                        </a:rPr>
                        <a:t>{{consumption_total}}</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350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6" b="0" noProof="0">
                          <a:solidFill>
                            <a:schemeClr val="tx2"/>
                          </a:solidFill>
                        </a:rPr>
                        <a:t xml:space="preserve">Sites situés dans des zones de pénurie d’eau (stress hydrique élevé)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06" b="0" i="0" u="none" strike="noStrike" noProof="0">
                          <a:solidFill>
                            <a:srgbClr val="1B4528"/>
                          </a:solidFill>
                          <a:effectLst/>
                          <a:latin typeface="Inter"/>
                        </a:rPr>
                        <a:t>{{</a:t>
                      </a:r>
                      <a:r>
                        <a:rPr lang="fr-FR" sz="806" b="0" i="0" u="none" strike="noStrike" noProof="0">
                          <a:solidFill>
                            <a:srgbClr val="1B4528"/>
                          </a:solidFill>
                          <a:effectLst/>
                          <a:latin typeface="Inter"/>
                        </a:rPr>
                        <a:t>consumption_waterstress</a:t>
                      </a:r>
                      <a:r>
                        <a:rPr lang="fr-FR" sz="806" b="0" i="0" u="none" strike="noStrike" noProof="0">
                          <a:solidFill>
                            <a:srgbClr val="1B4528"/>
                          </a:solidFill>
                          <a:effectLst/>
                          <a:latin typeface="Inter"/>
                        </a:rPr>
                        <a:t>}}</a:t>
                      </a:r>
                      <a:endParaRPr lang="fr-FR"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4996139"/>
            <a:ext cx="6737040" cy="384705"/>
          </a:xfrm>
          <a:prstGeom prst="rect">
            <a:avLst/>
          </a:prstGeom>
          <a:noFill/>
        </p:spPr>
        <p:txBody>
          <a:bodyPr wrap="square">
            <a:spAutoFit/>
          </a:bodyPr>
          <a:lstStyle/>
          <a:p>
            <a:pPr rtl="0">
              <a:spcBef>
                <a:spcPts val="750"/>
              </a:spcBef>
              <a:buNone/>
            </a:pPr>
            <a:r>
              <a:rPr lang="fr-FR" sz="806" b="0" i="0" u="none" strike="noStrike" noProof="0">
                <a:solidFill>
                  <a:schemeClr val="tx2"/>
                </a:solidFill>
                <a:effectLst/>
                <a:latin typeface="Inter"/>
              </a:rPr>
              <a:t xml:space="preserve">Le prélèvement d’eau est la quantité d’eau utilisée par l’entreprise, dont </a:t>
            </a:r>
            <a:r>
              <a:rPr lang="fr-FR" sz="806" noProof="0">
                <a:solidFill>
                  <a:schemeClr val="tx2"/>
                </a:solidFill>
                <a:latin typeface="Inter"/>
              </a:rPr>
              <a:t xml:space="preserve">la consommation désigne l’eau qui </a:t>
            </a:r>
            <a:r>
              <a:rPr lang="fr-FR" sz="806" b="0" i="0" u="none" strike="noStrike" noProof="0">
                <a:solidFill>
                  <a:schemeClr val="tx2"/>
                </a:solidFill>
                <a:effectLst/>
                <a:latin typeface="Inter"/>
              </a:rPr>
              <a:t xml:space="preserve">n’est pas rejetée, ni destinée à l’être, dans le milieu aquatique ou vers un tiers. Cette section indique le total des prélèvements d’eau. La consommation d’eau</a:t>
            </a:r>
            <a:r>
              <a:rPr lang="fr-FR" sz="806" noProof="0">
                <a:solidFill>
                  <a:schemeClr val="tx2"/>
                </a:solidFill>
                <a:latin typeface="Inter"/>
              </a:rPr>
              <a:t> </a:t>
            </a:r>
            <a:r>
              <a:rPr lang="fr-FR" sz="806" b="0" i="0" u="none" strike="noStrike" noProof="0">
                <a:solidFill>
                  <a:schemeClr val="tx2"/>
                </a:solidFill>
                <a:effectLst/>
                <a:latin typeface="Inter"/>
              </a:rPr>
              <a:t xml:space="preserve">et les rejets d’eau provenant de zones à stress hydrique élevé sont indiqués ci-dessous.</a:t>
            </a:r>
            <a:endParaRPr lang="fr-FR" sz="806"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06670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fr-FR" noProof="0"/>
              <a:t xml:space="preserve">Utilisation des ressources, économie circulaire et gestion des déchets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487219"/>
          <a:ext cx="3295368" cy="910441"/>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6" b="1" noProof="0">
                          <a:solidFill>
                            <a:schemeClr val="tx2"/>
                          </a:solidFill>
                        </a:rPr>
                        <a:t xml:space="preserve">Application des principes de l’économie circulaire </a:t>
                      </a:r>
                      <a:r>
                        <a:rPr lang="fr-FR" sz="806" b="0" noProof="0">
                          <a:solidFill>
                            <a:schemeClr val="tx2"/>
                          </a:solidFill>
                        </a:rPr>
                        <a:t xml:space="preserve">(par.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fr-FR"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fr-FR" sz="806" b="0" noProof="0">
                          <a:solidFill>
                            <a:schemeClr val="tx2"/>
                          </a:solidFill>
                        </a:rPr>
                        <a:t xml:space="preserve">Mon entreprise applique les principes de l’économie circulaire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806" b="1" noProof="0">
                          <a:solidFill>
                            <a:schemeClr val="tx2"/>
                          </a:solidFill>
                        </a:rPr>
                        <a:t xml:space="preserve">Oui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806" b="1" noProof="0">
                          <a:solidFill>
                            <a:schemeClr val="tx2"/>
                          </a:solidFill>
                        </a:rPr>
                        <a:t xml:space="preserve">Non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06" b="0" i="0" u="none" strike="noStrike" noProof="0">
                          <a:solidFill>
                            <a:srgbClr val="1B4528"/>
                          </a:solidFill>
                          <a:effectLst/>
                          <a:latin typeface="Inter"/>
                        </a:rPr>
                        <a:t>{{circular_economy_princples_yes}}</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fr-FR" sz="806" b="0" i="0" u="none" strike="noStrike" noProof="0">
                          <a:solidFill>
                            <a:srgbClr val="1B4528"/>
                          </a:solidFill>
                          <a:effectLst/>
                          <a:latin typeface="Inter"/>
                        </a:rPr>
                        <a:t>{{circular_economy_princples_no?}}</a:t>
                      </a:r>
                      <a:endParaRPr lang="fr-FR"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470197"/>
            <a:ext cx="3295368" cy="692470"/>
          </a:xfrm>
          <a:prstGeom prst="rect">
            <a:avLst/>
          </a:prstGeom>
          <a:noFill/>
        </p:spPr>
        <p:txBody>
          <a:bodyPr wrap="square" lIns="76197" tIns="38098" rIns="76197" bIns="38098" anchor="t">
            <a:spAutoFit/>
          </a:bodyPr>
          <a:lstStyle/>
          <a:p>
            <a:pPr rtl="0">
              <a:buNone/>
            </a:pPr>
            <a:r>
              <a:rPr lang="fr-FR" sz="806" b="0" i="0" u="none" strike="noStrike" noProof="0">
                <a:solidFill>
                  <a:schemeClr val="tx2"/>
                </a:solidFill>
                <a:effectLst/>
                <a:latin typeface="Inter"/>
              </a:rPr>
              <a:t xml:space="preserve">Cette exigence de publication indique si l’entreprise</a:t>
            </a:r>
            <a:r>
              <a:rPr lang="fr-FR" sz="806" noProof="0">
                <a:solidFill>
                  <a:schemeClr val="tx2"/>
                </a:solidFill>
                <a:latin typeface="Inter"/>
              </a:rPr>
              <a:t xml:space="preserve"> applique les principes de l’économie circulaire, notamment des principes de réduction des déchets et de la pollution ainsi qu’une attention portée aux produits et matières circulaires.</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8598462"/>
          <a:ext cx="6737040" cy="995218"/>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fr-FR" sz="806" b="1" noProof="0">
                          <a:solidFill>
                            <a:schemeClr val="tx2"/>
                          </a:solidFill>
                        </a:rPr>
                        <a:t xml:space="preserve">Description de la manière dont l’entreprise applique les principes de l’économie circulaire </a:t>
                      </a:r>
                      <a:r>
                        <a:rPr lang="fr-FR" sz="806" b="0" noProof="0">
                          <a:solidFill>
                            <a:schemeClr val="tx2"/>
                          </a:solidFill>
                        </a:rPr>
                        <a:t xml:space="preserve">(par. 38 suite)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fr-FR" sz="806" b="0" kern="1200" noProof="0">
                          <a:solidFill>
                            <a:srgbClr val="1B4528"/>
                          </a:solidFill>
                          <a:latin typeface="+mn-lt"/>
                          <a:ea typeface="+mn-ea"/>
                          <a:cs typeface="+mn-cs"/>
                        </a:rPr>
                        <a:t>{{</a:t>
                      </a:r>
                      <a:r>
                        <a:rPr lang="fr-FR" sz="806" b="0" kern="1200" noProof="0">
                          <a:solidFill>
                            <a:srgbClr val="1B4528"/>
                          </a:solidFill>
                          <a:latin typeface="+mn-lt"/>
                          <a:ea typeface="+mn-ea"/>
                          <a:cs typeface="+mn-cs"/>
                        </a:rPr>
                        <a:t>description_of_circular_economies</a:t>
                      </a:r>
                      <a:r>
                        <a:rPr lang="fr-FR" sz="806" b="0" kern="1200" noProof="0">
                          <a:solidFill>
                            <a:srgbClr val="1B4528"/>
                          </a:solidFill>
                          <a:latin typeface="+mn-lt"/>
                          <a:ea typeface="+mn-ea"/>
                          <a:cs typeface="+mn-cs"/>
                        </a:rPr>
                        <a:t>}}</a:t>
                      </a:r>
                    </a:p>
                    <a:p>
                      <a:pPr algn="l"/>
                      <a:endParaRPr lang="fr-FR" sz="806" b="0" kern="1200" noProof="0" dirty="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fr-FR" noProof="0" smtClean="0"/>
              <a:pPr/>
              <a:t>6</a:t>
            </a:fld>
            <a:endParaRPr lang="fr-FR"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Utilisation des ressources, économie circulaire et gestion des déchets (B7) – suite</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46669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fr-FR" sz="975" b="1" noProof="0">
                          <a:solidFill>
                            <a:schemeClr val="tx2"/>
                          </a:solidFill>
                        </a:rPr>
                        <a:t xml:space="preserve">Quantité annuelle totale de déchets</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fr-FR"/>
                    </a:p>
                  </a:txBody>
                  <a:tcPr/>
                </a:tc>
                <a:extLst>
                  <a:ext uri="{0D108BD9-81ED-4DB2-BD59-A6C34878D82A}">
                    <a16:rowId xmlns:a16="http://schemas.microsoft.com/office/drawing/2014/main" val="625231048"/>
                  </a:ext>
                </a:extLst>
              </a:tr>
              <a:tr h="286343">
                <a:tc>
                  <a:txBody>
                    <a:bodyPr/>
                    <a:lstStyle/>
                    <a:p>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975" b="1" noProof="0">
                          <a:solidFill>
                            <a:schemeClr val="tx2"/>
                          </a:solidFill>
                        </a:rPr>
                        <a:t xml:space="preserve">Quantité totale de déchets </a:t>
                      </a:r>
                      <a:r>
                        <a:rPr lang="fr-FR" sz="975" b="0" noProof="0">
                          <a:solidFill>
                            <a:schemeClr val="tx2"/>
                          </a:solidFill>
                        </a:rPr>
                        <a:t xml:space="preserve">(par.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975" b="1" noProof="0">
                          <a:solidFill>
                            <a:schemeClr val="tx2"/>
                          </a:solidFill>
                        </a:rPr>
                        <a:t xml:space="preserve">Déchets destinés au recyclage ou à la préparation en vue du réemploi </a:t>
                      </a:r>
                      <a:r>
                        <a:rPr lang="fr-FR" sz="975" b="0" noProof="0">
                          <a:solidFill>
                            <a:schemeClr val="tx2"/>
                          </a:solidFill>
                        </a:rPr>
                        <a:t xml:space="preserve">(par.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Déchets non dangereux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lgn="l">
                        <a:buNone/>
                      </a:pPr>
                      <a:r>
                        <a:rPr lang="fr-FR" sz="975" b="0" i="0" u="none" strike="noStrike" noProof="0">
                          <a:solidFill>
                            <a:srgbClr val="1B4528"/>
                          </a:solidFill>
                          <a:effectLst/>
                          <a:latin typeface="Inter"/>
                        </a:rPr>
                        <a:t>{{Type_af_affald}}</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{{kg_tons_total}}</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nter"/>
                        </a:rPr>
                        <a:t>{{genbrug_kg_tons}}</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fr-FR" sz="975" b="1" noProof="0">
                          <a:solidFill>
                            <a:schemeClr val="tx2"/>
                          </a:solidFill>
                        </a:rPr>
                        <a:t xml:space="preserve">Déchets dangereux</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lgn="l">
                        <a:buNone/>
                      </a:pPr>
                      <a:r>
                        <a:rPr lang="fr-FR" sz="975" b="0" i="0" u="none" strike="noStrike" noProof="0">
                          <a:solidFill>
                            <a:srgbClr val="1B4528"/>
                          </a:solidFill>
                          <a:effectLst/>
                          <a:latin typeface="Inter"/>
                        </a:rPr>
                        <a:t>{{Type_af_affald_farlig}}</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{{farlig_kg_tons}}</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farlig_genbrug_kg_tons</a:t>
                      </a:r>
                      <a:r>
                        <a:rPr lang="fr-FR" sz="975" b="0" i="0" u="none" strike="noStrike" noProof="0">
                          <a:solidFill>
                            <a:srgbClr val="1B4528"/>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7</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La section suivante fournit des informations sur l’utilisation des matières et la gestion des déchets. Ces informations relèvent de l’économie circulaire et présentent la ventilation de la production annuelle totale de déchets de l’entreprise (dangereux/non dangereux) ainsi que les quantités de matières importantes. </a:t>
            </a:r>
            <a:endParaRPr lang="fr-FR"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23976" y="3974380"/>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fr-FR" sz="975" b="1" noProof="0">
                          <a:solidFill>
                            <a:schemeClr val="tx2"/>
                          </a:solidFill>
                        </a:rPr>
                        <a:t xml:space="preserve">Matières importantes </a:t>
                      </a:r>
                      <a:r>
                        <a:rPr lang="fr-FR" sz="975" b="0" noProof="0">
                          <a:solidFill>
                            <a:schemeClr val="tx2"/>
                          </a:solidFill>
                        </a:rPr>
                        <a:t xml:space="preserve">(par.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fr-FR" sz="975" b="1" noProof="0">
                          <a:solidFill>
                            <a:schemeClr val="tx2"/>
                          </a:solidFill>
                        </a:rPr>
                        <a:t xml:space="preserve">Flux massique annuel </a:t>
                      </a:r>
                      <a:r>
                        <a:rPr lang="fr-FR" sz="975" b="1" noProof="0">
                          <a:solidFill>
                            <a:srgbClr val="1B4528"/>
                          </a:solidFill>
                        </a:rPr>
                        <a:t>{{insert_year}}</a:t>
                      </a: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pPr algn="l"/>
                      <a:r>
                        <a:rPr lang="fr-FR" sz="975" b="0" i="0" u="none" strike="noStrike" noProof="0">
                          <a:solidFill>
                            <a:srgbClr val="1B4528"/>
                          </a:solidFill>
                          <a:latin typeface="Inter"/>
                        </a:rPr>
                        <a:t>{{significant_material}}</a:t>
                      </a:r>
                      <a:endParaRPr lang="fr-FR" sz="975" b="0" noProof="0">
                        <a:solidFill>
                          <a:srgbClr val="1B4528"/>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fr-FR" sz="975" b="0" i="0" u="none" strike="noStrike" noProof="0">
                          <a:solidFill>
                            <a:srgbClr val="1B4528"/>
                          </a:solidFill>
                          <a:latin typeface="Inter"/>
                        </a:rPr>
                        <a:t>{{</a:t>
                      </a:r>
                      <a:r>
                        <a:rPr lang="fr-FR" sz="975" b="0" i="0" u="none" strike="noStrike" noProof="0">
                          <a:solidFill>
                            <a:srgbClr val="1B4528"/>
                          </a:solidFill>
                          <a:latin typeface="Inter"/>
                        </a:rPr>
                        <a:t>significant_material_unit</a:t>
                      </a:r>
                      <a:r>
                        <a:rPr lang="fr-FR" sz="975" b="0" i="0" u="none" strike="noStrike" noProof="0">
                          <a:solidFill>
                            <a:srgbClr val="1B4528"/>
                          </a:solidFill>
                          <a:latin typeface="Inter"/>
                        </a:rPr>
                        <a:t>}}</a:t>
                      </a:r>
                      <a:endParaRPr lang="fr-FR"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Personnel de l’entreprise : caractéristiques générales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720837"/>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648893">
                <a:tc>
                  <a:txBody>
                    <a:bodyPr/>
                    <a:lstStyle/>
                    <a:p>
                      <a:r>
                        <a:rPr lang="fr-FR" sz="975" b="1" noProof="0">
                          <a:solidFill>
                            <a:schemeClr val="tx2"/>
                          </a:solidFill>
                        </a:rPr>
                        <a:t xml:space="preserve">Type de contrat </a:t>
                      </a:r>
                      <a:r>
                        <a:rPr lang="fr-FR" sz="975" b="0" noProof="0">
                          <a:solidFill>
                            <a:schemeClr val="tx2"/>
                          </a:solidFill>
                        </a:rPr>
                        <a:t xml:space="preserve">(par.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975" b="1" noProof="0">
                          <a:solidFill>
                            <a:schemeClr val="tx2"/>
                          </a:solidFill>
                        </a:rPr>
                        <a:t xml:space="preserve">Nombre de salariés (effectifs ou équivalents temps plein)</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54269">
                <a:tc>
                  <a:txBody>
                    <a:bodyPr/>
                    <a:lstStyle/>
                    <a:p>
                      <a:r>
                        <a:rPr lang="fr-FR" sz="975" b="0" noProof="0">
                          <a:solidFill>
                            <a:schemeClr val="tx2"/>
                          </a:solidFill>
                        </a:rPr>
                        <a:t xml:space="preserve">Emploi temporaire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{{temporary}}</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63407">
                <a:tc>
                  <a:txBody>
                    <a:bodyPr/>
                    <a:lstStyle/>
                    <a:p>
                      <a:r>
                        <a:rPr lang="fr-FR" sz="975" b="0" noProof="0">
                          <a:solidFill>
                            <a:schemeClr val="tx2"/>
                          </a:solidFill>
                        </a:rPr>
                        <a:t xml:space="preserve">Emploi permanent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{{fulltime}}</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4269">
                <a:tc>
                  <a:txBody>
                    <a:bodyPr/>
                    <a:lstStyle/>
                    <a:p>
                      <a:r>
                        <a:rPr lang="fr-FR" sz="975" b="0" noProof="0">
                          <a:solidFill>
                            <a:schemeClr val="tx2"/>
                          </a:solidFill>
                        </a:rPr>
                        <a:t xml:space="preserve">Nombre total de salariés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{{total_employees}}</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72083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20883">
                <a:tc>
                  <a:txBody>
                    <a:bodyPr/>
                    <a:lstStyle/>
                    <a:p>
                      <a:r>
                        <a:rPr lang="fr-FR" sz="975" b="1" noProof="0">
                          <a:solidFill>
                            <a:schemeClr val="tx2"/>
                          </a:solidFill>
                          <a:latin typeface="+mn-lt"/>
                        </a:rPr>
                        <a:t xml:space="preserve">Genre</a:t>
                      </a:r>
                      <a:r>
                        <a:rPr lang="fr-FR" sz="975" b="0" noProof="0">
                          <a:solidFill>
                            <a:schemeClr val="tx2"/>
                          </a:solidFill>
                          <a:latin typeface="+mn-lt"/>
                        </a:rPr>
                        <a:t xml:space="preserve"> (par.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975" b="1" noProof="0">
                          <a:solidFill>
                            <a:schemeClr val="tx2"/>
                          </a:solidFill>
                          <a:latin typeface="+mn-lt"/>
                        </a:rPr>
                        <a:t xml:space="preserve">Nombre de salariés (effectifs ou équivalents temps plein)</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fr-FR" sz="975" b="0" noProof="0">
                          <a:solidFill>
                            <a:schemeClr val="tx2"/>
                          </a:solidFill>
                          <a:latin typeface="+mn-lt"/>
                        </a:rPr>
                        <a:t xml:space="preserve">Homme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{{men}}</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fr-FR" sz="975" b="0" noProof="0">
                          <a:solidFill>
                            <a:schemeClr val="tx2"/>
                          </a:solidFill>
                          <a:latin typeface="+mn-lt"/>
                        </a:rPr>
                        <a:t xml:space="preserve">Femme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{{women}}</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fr-FR" sz="975" b="0" noProof="0">
                          <a:solidFill>
                            <a:schemeClr val="tx2"/>
                          </a:solidFill>
                          <a:latin typeface="+mn-lt"/>
                        </a:rPr>
                        <a:t xml:space="preserve">Autre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{{others}}</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fr-FR" sz="975" b="0" noProof="0">
                          <a:solidFill>
                            <a:schemeClr val="tx2"/>
                          </a:solidFill>
                          <a:latin typeface="+mn-lt"/>
                        </a:rPr>
                        <a:t xml:space="preserve">Non renseigné</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{{not_registeret}}</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fr-FR" sz="975" b="0" noProof="0">
                          <a:solidFill>
                            <a:schemeClr val="tx2"/>
                          </a:solidFill>
                          <a:latin typeface="+mn-lt"/>
                        </a:rPr>
                        <a:t xml:space="preserve">Nombre total de salariés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{{total_employees}}</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8</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fr-FR" sz="975" b="0" i="0" u="none" strike="noStrike" noProof="0">
                <a:solidFill>
                  <a:srgbClr val="25595D"/>
                </a:solidFill>
                <a:effectLst/>
                <a:latin typeface="Inter"/>
              </a:rPr>
              <a:t xml:space="preserve">L’entreprise a indiqué le nombre de salariés selon les ventilations suivantes : le type de contrat de travail, les salariés étant répartis entre contrats temporaires et permanents; le genre, qui renseigne sur la répartition par genre des salariés; et le pays du contrat de travail, pertinent si l’entreprise exerce ses activités dans plusieurs pays.</a:t>
            </a:r>
            <a:endParaRPr lang="fr-FR" sz="975" b="0" noProof="0">
              <a:effectLst/>
              <a:latin typeface="Inter"/>
            </a:endParaRPr>
          </a:p>
          <a:p>
            <a:pPr>
              <a:buNone/>
            </a:pPr>
            <a:br>
              <a:rPr lang="fr-FR" sz="975" noProof="0">
                <a:latin typeface="Inter"/>
              </a:rPr>
            </a:br>
            <a:endParaRPr lang="fr-FR"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fr-FR" sz="975" b="1" noProof="0">
                          <a:solidFill>
                            <a:schemeClr val="tx2"/>
                          </a:solidFill>
                        </a:rPr>
                        <a:t xml:space="preserve">Pays (où le contrat de travail a été conclu) </a:t>
                      </a:r>
                      <a:r>
                        <a:rPr lang="fr-FR" sz="975" b="0" noProof="0">
                          <a:solidFill>
                            <a:schemeClr val="tx2"/>
                          </a:solidFill>
                        </a:rPr>
                        <a:t xml:space="preserve">(par.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975" b="1" noProof="0">
                          <a:solidFill>
                            <a:schemeClr val="tx2"/>
                          </a:solidFill>
                        </a:rPr>
                        <a:t xml:space="preserve">Nombre de salariés (effectifs ou équivalents temps plein)</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fr-FR" sz="975" b="0" noProof="0">
                          <a:solidFill>
                            <a:schemeClr val="tx2"/>
                          </a:solidFill>
                        </a:rPr>
                        <a:t xml:space="preserve">Danemark</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fr-FR" sz="975" b="0" i="0" u="none" strike="noStrike" noProof="0">
                          <a:solidFill>
                            <a:srgbClr val="1B4528"/>
                          </a:solidFill>
                          <a:effectLst/>
                          <a:latin typeface="Inter"/>
                        </a:rPr>
                        <a:t>{{Denmark}}</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lgn="l">
                        <a:buNone/>
                      </a:pPr>
                      <a:r>
                        <a:rPr lang="fr-FR" sz="975" b="0" i="0" u="none" strike="noStrike" noProof="0">
                          <a:solidFill>
                            <a:srgbClr val="1B4528"/>
                          </a:solidFill>
                          <a:effectLst/>
                          <a:latin typeface="Inter"/>
                        </a:rPr>
                        <a:t>{{Land_b}}</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fr-FR" sz="975" b="0" i="0" u="none" strike="noStrike" noProof="0">
                          <a:solidFill>
                            <a:srgbClr val="1B4528"/>
                          </a:solidFill>
                          <a:effectLst/>
                          <a:latin typeface="Inter"/>
                        </a:rPr>
                        <a:t>{{</a:t>
                      </a:r>
                      <a:r>
                        <a:rPr lang="fr-FR" sz="975" b="0" i="0" u="none" strike="noStrike" noProof="0">
                          <a:solidFill>
                            <a:srgbClr val="1B4528"/>
                          </a:solidFill>
                          <a:effectLst/>
                        </a:rPr>
                        <a:t>FTE_eller_antal_personer_land_b</a:t>
                      </a:r>
                      <a:r>
                        <a:rPr lang="fr-FR" sz="975" b="0" i="0" u="none" strike="noStrike" noProof="0">
                          <a:solidFill>
                            <a:srgbClr val="1B4528"/>
                          </a:solidFill>
                          <a:effectLst/>
                          <a:latin typeface="Inter"/>
                        </a:rPr>
                        <a:t>}}</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fr-FR" sz="975" b="0" noProof="0">
                          <a:solidFill>
                            <a:schemeClr val="tx2"/>
                          </a:solidFill>
                        </a:rPr>
                        <a:t xml:space="preserve">Nombre total de salariés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975" b="0" i="0" u="none" strike="noStrike" noProof="0">
                          <a:solidFill>
                            <a:srgbClr val="1B4528"/>
                          </a:solidFill>
                          <a:effectLst/>
                          <a:latin typeface="Inter"/>
                        </a:rPr>
                        <a:t>{{Total_out_of_countries}}</a:t>
                      </a:r>
                      <a:endParaRPr lang="fr-FR"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
        <p:nvSpPr>
          <p:cNvPr id="2" name="Title 3">
            <a:extLst>
              <a:ext uri="{FF2B5EF4-FFF2-40B4-BE49-F238E27FC236}">
                <a16:creationId xmlns:a16="http://schemas.microsoft.com/office/drawing/2014/main" id="{24772E10-4DDD-1F7B-7401-B85CC016A6A5}"/>
              </a:ext>
            </a:extLst>
          </p:cNvPr>
          <p:cNvSpPr txBox="1">
            <a:spLocks/>
          </p:cNvSpPr>
          <p:nvPr/>
        </p:nvSpPr>
        <p:spPr>
          <a:xfrm>
            <a:off x="423976" y="5693490"/>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fr-FR"/>
              <a:t xml:space="preserve">Personnel : rémunération, négociation collective et formation (B10)</a:t>
            </a:r>
            <a:endParaRPr lang="fr-FR" dirty="0"/>
          </a:p>
        </p:txBody>
      </p:sp>
      <p:graphicFrame>
        <p:nvGraphicFramePr>
          <p:cNvPr id="7" name="Table 14">
            <a:extLst>
              <a:ext uri="{FF2B5EF4-FFF2-40B4-BE49-F238E27FC236}">
                <a16:creationId xmlns:a16="http://schemas.microsoft.com/office/drawing/2014/main" id="{0C7C0513-162A-A2C4-1F7F-C0CD906CAB1F}"/>
              </a:ext>
            </a:extLst>
          </p:cNvPr>
          <p:cNvGraphicFramePr>
            <a:graphicFrameLocks noGrp="1"/>
          </p:cNvGraphicFramePr>
          <p:nvPr>
            <p:extLst>
              <p:ext uri="{D42A27DB-BD31-4B8C-83A1-F6EECF244321}">
                <p14:modId xmlns:p14="http://schemas.microsoft.com/office/powerpoint/2010/main" val="4145423573"/>
              </p:ext>
            </p:extLst>
          </p:nvPr>
        </p:nvGraphicFramePr>
        <p:xfrm>
          <a:off x="3853152" y="6867207"/>
          <a:ext cx="3295368" cy="1078322"/>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80852">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Écart de rémunération entre salariés masculins et féminins </a:t>
                      </a:r>
                      <a:r>
                        <a:rPr lang="fr-FR" sz="975" b="0" noProof="0">
                          <a:solidFill>
                            <a:schemeClr val="tx2"/>
                          </a:solidFill>
                        </a:rPr>
                        <a:t xml:space="preserve">(par.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Year</a:t>
                      </a:r>
                      <a:r>
                        <a:rPr lang="fr-FR" sz="975" b="1" noProof="0">
                          <a:solidFill>
                            <a:srgbClr val="1B4528"/>
                          </a:solidFill>
                          <a:latin typeface="Calibri" panose="020F0502020204030204" pitchFamily="34" charset="0"/>
                          <a:cs typeface="Calibri" panose="020F0502020204030204" pitchFamily="34" charset="0"/>
                        </a:rPr>
                        <a:t> </a:t>
                      </a:r>
                      <a:r>
                        <a:rPr lang="fr-FR"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97470">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fr-FR" sz="975" b="0" noProof="0">
                          <a:solidFill>
                            <a:srgbClr val="1B4528"/>
                          </a:solidFill>
                        </a:rPr>
                        <a:t>{{</a:t>
                      </a:r>
                      <a:r>
                        <a:rPr lang="fr-FR" sz="975" b="0" noProof="0">
                          <a:solidFill>
                            <a:srgbClr val="1B4528"/>
                          </a:solidFill>
                        </a:rPr>
                        <a:t>indsat_procentvise_lonforskel</a:t>
                      </a:r>
                      <a:r>
                        <a:rPr lang="fr-FR" sz="975" b="0" noProof="0">
                          <a:solidFill>
                            <a:srgbClr val="1B4528"/>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0" name="Tabel 9">
            <a:extLst>
              <a:ext uri="{FF2B5EF4-FFF2-40B4-BE49-F238E27FC236}">
                <a16:creationId xmlns:a16="http://schemas.microsoft.com/office/drawing/2014/main" id="{84CAF6AE-5821-23BB-F517-5C5C31B0641F}"/>
              </a:ext>
            </a:extLst>
          </p:cNvPr>
          <p:cNvGraphicFramePr>
            <a:graphicFrameLocks noGrp="1"/>
          </p:cNvGraphicFramePr>
          <p:nvPr>
            <p:extLst>
              <p:ext uri="{D42A27DB-BD31-4B8C-83A1-F6EECF244321}">
                <p14:modId xmlns:p14="http://schemas.microsoft.com/office/powerpoint/2010/main" val="3609318665"/>
              </p:ext>
            </p:extLst>
          </p:nvPr>
        </p:nvGraphicFramePr>
        <p:xfrm>
          <a:off x="411480" y="6867210"/>
          <a:ext cx="3295368" cy="1078319"/>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466053">
                <a:tc>
                  <a:txBody>
                    <a:bodyPr/>
                    <a:lstStyle/>
                    <a:p>
                      <a:r>
                        <a:rPr lang="fr-FR" sz="975" b="1" noProof="0">
                          <a:solidFill>
                            <a:schemeClr val="tx2"/>
                          </a:solidFill>
                        </a:rPr>
                        <a:t xml:space="preserve">Informations sur le salaire minimal </a:t>
                      </a:r>
                      <a:r>
                        <a:rPr lang="fr-FR"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975" b="1" noProof="0">
                          <a:solidFill>
                            <a:schemeClr val="tx2"/>
                          </a:solidFill>
                        </a:rPr>
                        <a:t xml:space="preserve">Oui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975" b="1" noProof="0">
                          <a:solidFill>
                            <a:schemeClr val="tx2"/>
                          </a:solidFill>
                        </a:rPr>
                        <a:t xml:space="preserve">Non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612266">
                <a:tc>
                  <a:txBody>
                    <a:bodyPr/>
                    <a:lstStyle/>
                    <a:p>
                      <a:r>
                        <a:rPr lang="fr-FR" sz="975" b="0" noProof="0">
                          <a:solidFill>
                            <a:schemeClr val="tx2"/>
                          </a:solidFill>
                        </a:rPr>
                        <a:t xml:space="preserve">Dans l’entreprise, tous les salariés perçoivent au moins le salaire minimal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975" b="0" i="0" u="none" strike="noStrike" noProof="0">
                          <a:solidFill>
                            <a:srgbClr val="1B4528"/>
                          </a:solidFill>
                          <a:effectLst/>
                          <a:latin typeface="Inter"/>
                        </a:rPr>
                        <a:t>{{minumum_wage_yes?}}</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fr-FR" sz="975" b="0" i="0" u="none" strike="noStrike" noProof="0">
                          <a:solidFill>
                            <a:srgbClr val="1B4528"/>
                          </a:solidFill>
                          <a:effectLst/>
                          <a:latin typeface="Inter"/>
                        </a:rPr>
                        <a:t>{{minimum_wage_no?}}</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11" name="Table 16">
            <a:extLst>
              <a:ext uri="{FF2B5EF4-FFF2-40B4-BE49-F238E27FC236}">
                <a16:creationId xmlns:a16="http://schemas.microsoft.com/office/drawing/2014/main" id="{38A9DB6D-6A2A-85D4-0695-C590EC6B32FF}"/>
              </a:ext>
            </a:extLst>
          </p:cNvPr>
          <p:cNvGraphicFramePr>
            <a:graphicFrameLocks noGrp="1"/>
          </p:cNvGraphicFramePr>
          <p:nvPr>
            <p:extLst>
              <p:ext uri="{D42A27DB-BD31-4B8C-83A1-F6EECF244321}">
                <p14:modId xmlns:p14="http://schemas.microsoft.com/office/powerpoint/2010/main" val="1361838199"/>
              </p:ext>
            </p:extLst>
          </p:nvPr>
        </p:nvGraphicFramePr>
        <p:xfrm>
          <a:off x="411480" y="8226419"/>
          <a:ext cx="3295368" cy="965966"/>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454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Convention collective </a:t>
                      </a:r>
                      <a:r>
                        <a:rPr lang="fr-FR" sz="975" b="0" noProof="0">
                          <a:solidFill>
                            <a:schemeClr val="tx2"/>
                          </a:solidFill>
                        </a:rPr>
                        <a:t xml:space="preserve">(par.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Year</a:t>
                      </a:r>
                      <a:r>
                        <a:rPr lang="fr-FR" sz="975" b="1" noProof="0">
                          <a:solidFill>
                            <a:srgbClr val="1B4528"/>
                          </a:solidFill>
                          <a:latin typeface="Calibri" panose="020F0502020204030204" pitchFamily="34" charset="0"/>
                          <a:cs typeface="Calibri" panose="020F0502020204030204" pitchFamily="34" charset="0"/>
                        </a:rPr>
                        <a:t> {{insert_year}}</a:t>
                      </a:r>
                      <a:endParaRPr lang="fr-FR" sz="97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117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0" noProof="0">
                          <a:solidFill>
                            <a:schemeClr val="tx2"/>
                          </a:solidFill>
                        </a:rPr>
                        <a:t xml:space="preserve">Pourcentage de salariés couverts par une convention collective</a:t>
                      </a:r>
                      <a:endParaRPr kumimoji="0" lang="fr-FR" sz="975" b="0" i="0" u="none" strike="noStrike" kern="1200" cap="none" spc="0" normalizeH="0" baseline="0" noProof="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975" b="0" i="0" u="none" strike="noStrike" kern="1200" cap="none" spc="0" normalizeH="0" baseline="0" noProof="0">
                          <a:ln>
                            <a:noFill/>
                          </a:ln>
                          <a:solidFill>
                            <a:srgbClr val="1B4528"/>
                          </a:solidFill>
                          <a:effectLst/>
                          <a:uLnTx/>
                          <a:uFillTx/>
                          <a:latin typeface="+mn-lt"/>
                          <a:ea typeface="+mn-ea"/>
                          <a:cs typeface="+mn-cs"/>
                        </a:rPr>
                        <a:t>{{indsat_procentvis_ansatte}}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2" name="Table 19">
            <a:extLst>
              <a:ext uri="{FF2B5EF4-FFF2-40B4-BE49-F238E27FC236}">
                <a16:creationId xmlns:a16="http://schemas.microsoft.com/office/drawing/2014/main" id="{2EC4274B-57F6-8036-8EA2-C2FF27F03BD7}"/>
              </a:ext>
            </a:extLst>
          </p:cNvPr>
          <p:cNvGraphicFramePr>
            <a:graphicFrameLocks noGrp="1"/>
          </p:cNvGraphicFramePr>
          <p:nvPr>
            <p:extLst>
              <p:ext uri="{D42A27DB-BD31-4B8C-83A1-F6EECF244321}">
                <p14:modId xmlns:p14="http://schemas.microsoft.com/office/powerpoint/2010/main" val="325568891"/>
              </p:ext>
            </p:extLst>
          </p:nvPr>
        </p:nvGraphicFramePr>
        <p:xfrm>
          <a:off x="3853152" y="8226417"/>
          <a:ext cx="3295368" cy="965968"/>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447560">
                <a:tc>
                  <a:txBody>
                    <a:bodyPr/>
                    <a:lstStyle/>
                    <a:p>
                      <a:r>
                        <a:rPr lang="fr-FR" sz="975" b="1" noProof="0">
                          <a:solidFill>
                            <a:schemeClr val="tx2"/>
                          </a:solidFill>
                        </a:rPr>
                        <a:t xml:space="preserve">Heures de formation moyennes par salarié </a:t>
                      </a:r>
                      <a:r>
                        <a:rPr lang="fr-FR" sz="975" b="0" noProof="0">
                          <a:solidFill>
                            <a:schemeClr val="tx2"/>
                          </a:solidFill>
                        </a:rPr>
                        <a:t xml:space="preserve">(par.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Year</a:t>
                      </a:r>
                      <a:r>
                        <a:rPr lang="fr-FR"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18408">
                <a:tc>
                  <a:txBody>
                    <a:bodyPr/>
                    <a:lstStyle/>
                    <a:p>
                      <a:r>
                        <a:rPr lang="fr-FR" sz="975" b="0" noProof="0">
                          <a:solidFill>
                            <a:schemeClr val="tx2"/>
                          </a:solidFill>
                        </a:rPr>
                        <a:t xml:space="preserve">Heure(s) par salarié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gennemsnitstimer</a:t>
                      </a:r>
                      <a:r>
                        <a:rPr lang="fr-FR" sz="975" b="0" i="0" u="none" strike="noStrike" noProof="0">
                          <a:solidFill>
                            <a:srgbClr val="1B4528"/>
                          </a:solidFill>
                          <a:effectLst/>
                          <a:latin typeface="Inter"/>
                        </a:rPr>
                        <a:t>}}</a:t>
                      </a:r>
                      <a:endParaRPr lang="fr-FR" sz="975" b="0" noProof="0" dirty="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14" name="Tekstfelt 13">
            <a:extLst>
              <a:ext uri="{FF2B5EF4-FFF2-40B4-BE49-F238E27FC236}">
                <a16:creationId xmlns:a16="http://schemas.microsoft.com/office/drawing/2014/main" id="{91C95227-E2BB-1C05-1C40-EB20A1C1BCA2}"/>
              </a:ext>
            </a:extLst>
          </p:cNvPr>
          <p:cNvSpPr txBox="1"/>
          <p:nvPr/>
        </p:nvSpPr>
        <p:spPr>
          <a:xfrm>
            <a:off x="411480" y="6050028"/>
            <a:ext cx="6737040" cy="846352"/>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communiqué des informations sur le salaire minimal ainsi que le pourcentage de salariés couverts par des conventions collectives et le nombre moyen d’heures de formation par salarié et par an, ventilé par genre. Si l’entreprise est déjà tenue, en vertu de la législation de l’UE 8 ou d’autres dispositions nationales, de déclarer l’écart de rémunération en pourcentage entre ses salariés féminins et masculins, elle l’indique.</a:t>
            </a:r>
          </a:p>
          <a:p>
            <a:pPr>
              <a:buNone/>
            </a:pPr>
            <a:br>
              <a:rPr lang="fr-FR" sz="975" noProof="0">
                <a:solidFill>
                  <a:schemeClr val="tx2"/>
                </a:solidFill>
                <a:latin typeface="Inter"/>
              </a:rPr>
            </a:br>
            <a:endParaRPr lang="fr-FR" sz="975" noProof="0">
              <a:solidFill>
                <a:schemeClr val="tx2"/>
              </a:solidFill>
              <a:latin typeface="Inter"/>
            </a:endParaRPr>
          </a:p>
        </p:txBody>
      </p:sp>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fr-FR" noProof="0"/>
              <a:t xml:space="preserve">Conduite des affaires : condamnations et amendes pour corruption &amp; pots-de-vin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fr-FR" sz="975" b="1" noProof="0">
                          <a:solidFill>
                            <a:schemeClr val="tx2"/>
                          </a:solidFill>
                        </a:rPr>
                        <a:t xml:space="preserve">Corruption et pots-de-vin </a:t>
                      </a:r>
                      <a:r>
                        <a:rPr lang="fr-FR" sz="975" b="0" noProof="0">
                          <a:solidFill>
                            <a:schemeClr val="tx2"/>
                          </a:solidFill>
                        </a:rPr>
                        <a:t xml:space="preserve">(par.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fr-FR" sz="975" b="1" noProof="0">
                          <a:solidFill>
                            <a:schemeClr val="tx2"/>
                          </a:solidFill>
                        </a:rPr>
                        <a:t xml:space="preserve">Nombre de condamnations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fr-FR" sz="975" b="1" noProof="0">
                          <a:solidFill>
                            <a:schemeClr val="tx2"/>
                          </a:solidFill>
                        </a:rPr>
                        <a:t xml:space="preserve">Montant total des amendes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fr-FR" sz="725"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fr-FR" sz="975" b="0" i="0" u="none" strike="noStrike" noProof="0">
                          <a:solidFill>
                            <a:srgbClr val="1B4528"/>
                          </a:solidFill>
                          <a:effectLst/>
                          <a:latin typeface="Inter"/>
                        </a:rPr>
                        <a:t>{{domme}}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fr-FR" sz="975" b="0" i="0" u="none" strike="noStrike" noProof="0">
                          <a:solidFill>
                            <a:srgbClr val="1B4528"/>
                          </a:solidFill>
                          <a:effectLst/>
                          <a:latin typeface="Inter"/>
                        </a:rPr>
                        <a:t>{{samlet_bodestorrelse}}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9</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endParaRPr lang="fr-FR"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indiqué les infractions à la législation sur la lutte contre la corruption au cours de la période de référence. Si l’entreprise a fait l’objet de condamnations ou d’amendes pour de telles infractions, les informations suivantes ont été publiées : le nombre de condamnations et le montant total des amendes infligées. Ces informations concernent l’éthique des affaires et la durabilité de l’entreprise, en particulier la gestion de la corruption, et sont indiquées ci-dessous.</a:t>
            </a:r>
            <a:endParaRPr lang="fr-FR" sz="975" b="0" noProof="0">
              <a:solidFill>
                <a:schemeClr val="tx2"/>
              </a:solidFill>
              <a:effectLst/>
              <a:latin typeface="Inter"/>
            </a:endParaRPr>
          </a:p>
          <a:p>
            <a:pPr>
              <a:buNone/>
            </a:pPr>
            <a:br>
              <a:rPr lang="fr-FR" sz="975" noProof="0">
                <a:solidFill>
                  <a:schemeClr val="tx2"/>
                </a:solidFill>
                <a:latin typeface="Inter"/>
              </a:rPr>
            </a:br>
            <a:endParaRPr lang="fr-FR"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411480" y="3671027"/>
            <a:ext cx="6737040" cy="1217034"/>
          </a:xfrm>
        </p:spPr>
        <p:txBody>
          <a:bodyPr>
            <a:normAutofit/>
          </a:bodyPr>
          <a:lstStyle/>
          <a:p>
            <a:r>
              <a:rPr lang="fr-FR" sz="3325" b="1" noProof="0"/>
              <a:t xml:space="preserve">Informations du module complet</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fr-FR" noProof="0" smtClean="0"/>
              <a:pPr/>
              <a:t>10</a:t>
            </a:fld>
            <a:endParaRPr lang="fr-FR" noProof="0"/>
          </a:p>
        </p:txBody>
      </p:sp>
    </p:spTree>
    <p:extLst>
      <p:ext uri="{BB962C8B-B14F-4D97-AF65-F5344CB8AC3E}">
        <p14:creationId xmlns:p14="http://schemas.microsoft.com/office/powerpoint/2010/main" val="95963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776625"/>
            <a:ext cx="6737040" cy="213511"/>
          </a:xfrm>
        </p:spPr>
        <p:txBody>
          <a:bodyPr/>
          <a:lstStyle/>
          <a:p>
            <a:pPr marL="0" algn="l" rtl="0" eaLnBrk="1" fontAlgn="t" latinLnBrk="0" hangingPunct="1">
              <a:spcBef>
                <a:spcPts val="0"/>
              </a:spcBef>
              <a:spcAft>
                <a:spcPts val="0"/>
              </a:spcAft>
            </a:pPr>
            <a:r>
              <a:rPr lang="fr-FR" sz="1475" b="1" i="0" u="none" strike="noStrike" kern="1200" spc="-10" noProof="0">
                <a:solidFill>
                  <a:srgbClr val="1B4528"/>
                </a:solidFill>
                <a:effectLst/>
                <a:latin typeface="IBM Plex Sans" panose="020B0503050203000203" pitchFamily="34" charset="0"/>
              </a:rPr>
              <a:t xml:space="preserve">Stratégie : modèle d’entreprise et initiatives liées à la durabilité (C1)</a:t>
            </a:r>
            <a:endParaRPr lang="fr-FR"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097918"/>
            <a:ext cx="6737040" cy="193826"/>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11</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996372857"/>
              </p:ext>
            </p:extLst>
          </p:nvPr>
        </p:nvGraphicFramePr>
        <p:xfrm>
          <a:off x="411480" y="2946305"/>
          <a:ext cx="6737040" cy="653339"/>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9985">
                <a:tc>
                  <a:txBody>
                    <a:bodyPr/>
                    <a:lstStyle/>
                    <a:p>
                      <a:r>
                        <a:rPr lang="fr-FR" sz="975" b="1" noProof="0">
                          <a:solidFill>
                            <a:schemeClr val="tx2"/>
                          </a:solidFill>
                        </a:rPr>
                        <a:t xml:space="preserve">Description des grands groupes de produits et/ou services que </a:t>
                      </a:r>
                      <a:r>
                        <a:rPr lang="fr-FR" sz="975" b="1" kern="1200" noProof="0">
                          <a:solidFill>
                            <a:srgbClr val="1B4528"/>
                          </a:solidFill>
                          <a:latin typeface="+mn-lt"/>
                          <a:ea typeface="+mn-ea"/>
                          <a:cs typeface="+mn-cs"/>
                        </a:rPr>
                        <a:t>{{company_name}} </a:t>
                      </a:r>
                      <a:r>
                        <a:rPr lang="fr-FR" sz="975" b="1" kern="1200" noProof="0">
                          <a:solidFill>
                            <a:schemeClr val="tx2"/>
                          </a:solidFill>
                          <a:latin typeface="+mn-lt"/>
                          <a:ea typeface="+mn-ea"/>
                          <a:cs typeface="+mn-cs"/>
                        </a:rPr>
                        <a:t xml:space="preserve">propose</a:t>
                      </a:r>
                      <a:r>
                        <a:rPr lang="fr-FR" sz="975" b="1" noProof="0">
                          <a:solidFill>
                            <a:schemeClr val="tx2"/>
                          </a:solidFill>
                        </a:rPr>
                        <a:t> </a:t>
                      </a:r>
                      <a:r>
                        <a:rPr lang="fr-FR" sz="975" b="0" noProof="0">
                          <a:solidFill>
                            <a:schemeClr val="tx2"/>
                          </a:solidFill>
                        </a:rPr>
                        <a:t xml:space="preserve">(par. 46a)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44751">
                <a:tc>
                  <a:txBody>
                    <a:bodyPr/>
                    <a:lstStyle/>
                    <a:p>
                      <a:pPr algn="l"/>
                      <a:r>
                        <a:rPr lang="fr-FR" sz="975" b="0" noProof="0">
                          <a:solidFill>
                            <a:srgbClr val="1B4528"/>
                          </a:solidFill>
                        </a:rPr>
                        <a:t>{{markets_description}}</a:t>
                      </a:r>
                      <a:endParaRPr lang="fr-FR" sz="975" b="0" kern="1200" noProof="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425849860"/>
              </p:ext>
            </p:extLst>
          </p:nvPr>
        </p:nvGraphicFramePr>
        <p:xfrm>
          <a:off x="411480" y="3785752"/>
          <a:ext cx="6737040" cy="85281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62320">
                <a:tc>
                  <a:txBody>
                    <a:bodyPr/>
                    <a:lstStyle/>
                    <a:p>
                      <a:r>
                        <a:rPr lang="fr-FR" sz="975" b="1" noProof="0">
                          <a:solidFill>
                            <a:schemeClr val="tx2"/>
                          </a:solidFill>
                        </a:rPr>
                        <a:t xml:space="preserve">Description des grands marchés sur lesquels </a:t>
                      </a:r>
                      <a:r>
                        <a:rPr lang="fr-FR" sz="975" b="1" kern="1200" noProof="0">
                          <a:solidFill>
                            <a:srgbClr val="1B4528"/>
                          </a:solidFill>
                          <a:latin typeface="+mn-lt"/>
                          <a:ea typeface="+mn-ea"/>
                          <a:cs typeface="+mn-cs"/>
                        </a:rPr>
                        <a:t>{{company_name}} </a:t>
                      </a:r>
                      <a:r>
                        <a:rPr lang="fr-FR" sz="975" b="1" noProof="0">
                          <a:solidFill>
                            <a:schemeClr val="tx2"/>
                          </a:solidFill>
                        </a:rPr>
                        <a:t xml:space="preserve">exerce ses activités </a:t>
                      </a:r>
                      <a:r>
                        <a:rPr lang="fr-FR" sz="975" b="0" noProof="0">
                          <a:solidFill>
                            <a:schemeClr val="tx2"/>
                          </a:solidFill>
                        </a:rPr>
                        <a:t xml:space="preserve">(par. 46b)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44229">
                <a:tc>
                  <a:txBody>
                    <a:bodyPr/>
                    <a:lstStyle/>
                    <a:p>
                      <a:pPr algn="l"/>
                      <a:r>
                        <a:rPr lang="fr-FR" sz="975" b="0" noProof="0">
                          <a:solidFill>
                            <a:srgbClr val="1B4528"/>
                          </a:solidFill>
                        </a:rPr>
                        <a:t>{{business_relationships}}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1582199989"/>
              </p:ext>
            </p:extLst>
          </p:nvPr>
        </p:nvGraphicFramePr>
        <p:xfrm>
          <a:off x="411480" y="4837656"/>
          <a:ext cx="6737040" cy="831730"/>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8215">
                <a:tc>
                  <a:txBody>
                    <a:bodyPr/>
                    <a:lstStyle/>
                    <a:p>
                      <a:r>
                        <a:rPr lang="fr-FR" sz="975" b="1" noProof="0">
                          <a:solidFill>
                            <a:schemeClr val="tx2"/>
                          </a:solidFill>
                        </a:rPr>
                        <a:t xml:space="preserve">Description des principales relations d’affaires de </a:t>
                      </a:r>
                      <a:r>
                        <a:rPr lang="fr-FR" sz="975" b="1" kern="1200" noProof="0">
                          <a:solidFill>
                            <a:srgbClr val="1B4528"/>
                          </a:solidFill>
                          <a:latin typeface="+mn-lt"/>
                          <a:ea typeface="+mn-ea"/>
                          <a:cs typeface="+mn-cs"/>
                        </a:rPr>
                        <a:t>{{company_name}}</a:t>
                      </a:r>
                      <a:r>
                        <a:rPr lang="fr-FR" sz="975" b="1" kern="1200" noProof="0">
                          <a:solidFill>
                            <a:schemeClr val="accent1"/>
                          </a:solidFill>
                          <a:latin typeface="+mn-lt"/>
                          <a:ea typeface="+mn-ea"/>
                          <a:cs typeface="+mn-cs"/>
                        </a:rPr>
                        <a:t xml:space="preserve"/>
                      </a:r>
                      <a:r>
                        <a:rPr lang="fr-FR" sz="975" b="1" kern="1200" noProof="0">
                          <a:solidFill>
                            <a:srgbClr val="1B4528"/>
                          </a:solidFill>
                          <a:latin typeface="+mn-lt"/>
                          <a:ea typeface="+mn-ea"/>
                          <a:cs typeface="+mn-cs"/>
                        </a:rPr>
                        <a:t> </a:t>
                      </a:r>
                      <a:r>
                        <a:rPr lang="fr-FR" sz="975" b="1" noProof="0">
                          <a:solidFill>
                            <a:schemeClr val="tx2"/>
                          </a:solidFill>
                        </a:rPr>
                        <a:t xml:space="preserve"/>
                      </a:r>
                      <a:r>
                        <a:rPr lang="fr-FR" sz="975" b="0" noProof="0">
                          <a:solidFill>
                            <a:schemeClr val="tx2"/>
                          </a:solidFill>
                        </a:rPr>
                        <a:t xml:space="preserve">(par. 46c)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23142">
                <a:tc>
                  <a:txBody>
                    <a:bodyPr/>
                    <a:lstStyle/>
                    <a:p>
                      <a:pPr algn="l"/>
                      <a:r>
                        <a:rPr lang="fr-FR" sz="975" b="0" noProof="0">
                          <a:solidFill>
                            <a:srgbClr val="1B4528"/>
                          </a:solidFill>
                        </a:rPr>
                        <a:t>{{strategy}}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411480" y="2222174"/>
          <a:ext cx="6737040" cy="568614"/>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5752">
                <a:tc>
                  <a:txBody>
                    <a:bodyPr/>
                    <a:lstStyle/>
                    <a:p>
                      <a:r>
                        <a:rPr lang="fr-FR" sz="975" b="1" noProof="0">
                          <a:solidFill>
                            <a:schemeClr val="tx2"/>
                          </a:solidFill>
                        </a:rPr>
                        <a:t xml:space="preserve">Description du modèle d’entreprise et de la stratégie globaux </a:t>
                      </a:r>
                      <a:r>
                        <a:rPr lang="fr-FR" sz="975" b="0" noProof="0">
                          <a:solidFill>
                            <a:schemeClr val="tx2"/>
                          </a:solidFill>
                        </a:rPr>
                        <a:t xml:space="preserve">(par. 46)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60026">
                <a:tc>
                  <a:txBody>
                    <a:bodyPr/>
                    <a:lstStyle/>
                    <a:p>
                      <a:pPr algn="l"/>
                      <a:r>
                        <a:rPr lang="fr-FR" sz="975" b="0" noProof="0">
                          <a:solidFill>
                            <a:srgbClr val="1B4528"/>
                          </a:solidFill>
                        </a:rPr>
                        <a:t>{{products_description}}</a:t>
                      </a:r>
                    </a:p>
                    <a:p>
                      <a:pPr algn="l"/>
                      <a:endParaRPr lang="fr-FR" sz="975" b="0" kern="1200" noProof="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1922068697"/>
              </p:ext>
            </p:extLst>
          </p:nvPr>
        </p:nvGraphicFramePr>
        <p:xfrm>
          <a:off x="411480" y="5866371"/>
          <a:ext cx="6737040" cy="808203"/>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26152">
                <a:tc>
                  <a:txBody>
                    <a:bodyPr/>
                    <a:lstStyle/>
                    <a:p>
                      <a:r>
                        <a:rPr lang="fr-FR" sz="975" b="1" noProof="0">
                          <a:solidFill>
                            <a:schemeClr val="tx2"/>
                          </a:solidFill>
                        </a:rPr>
                        <a:t xml:space="preserve">Description des éléments de la stratégie et du modèle d’entreprise de </a:t>
                      </a:r>
                      <a:r>
                        <a:rPr lang="fr-FR" sz="975" b="1" kern="1200" noProof="0">
                          <a:solidFill>
                            <a:srgbClr val="1B4528"/>
                          </a:solidFill>
                          <a:latin typeface="+mn-lt"/>
                          <a:ea typeface="+mn-ea"/>
                          <a:cs typeface="+mn-cs"/>
                        </a:rPr>
                        <a:t>{{company_name}}</a:t>
                      </a:r>
                      <a:r>
                        <a:rPr lang="fr-FR" sz="975" b="1" kern="1200" noProof="0">
                          <a:solidFill>
                            <a:schemeClr val="accent1"/>
                          </a:solidFill>
                          <a:latin typeface="+mn-lt"/>
                          <a:ea typeface="+mn-ea"/>
                          <a:cs typeface="+mn-cs"/>
                        </a:rPr>
                        <a:t xml:space="preserve"> qui se rattachent à des enjeux de durabilité </a:t>
                      </a:r>
                      <a:r>
                        <a:rPr lang="fr-FR" sz="975" b="0" noProof="0">
                          <a:solidFill>
                            <a:schemeClr val="tx2"/>
                          </a:solidFill>
                        </a:rPr>
                        <a:t xml:space="preserve">(par. 46d)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51025">
                <a:tc>
                  <a:txBody>
                    <a:bodyPr/>
                    <a:lstStyle/>
                    <a:p>
                      <a:pPr lvl="0" algn="l">
                        <a:buNone/>
                      </a:pPr>
                      <a:r>
                        <a:rPr lang="fr-FR" sz="975" b="0" noProof="0">
                          <a:solidFill>
                            <a:srgbClr val="1B4528"/>
                          </a:solidFill>
                        </a:rPr>
                        <a:t>{{business_model}}</a:t>
                      </a:r>
                      <a:endParaRPr lang="fr-F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411480" y="1426739"/>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décrit son modèle d’entreprise et sa stratégie globaux, ses produits et/ou services, ses marchés et ses relations d’affaires, et a indiqué si son modèle d’entreprise comporte des éléments liés à la durabilité. </a:t>
            </a:r>
            <a:endParaRPr lang="fr-FR" sz="975"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8089"/>
            <a:ext cx="6737040" cy="207741"/>
          </a:xfrm>
        </p:spPr>
        <p:txBody>
          <a:bodyPr/>
          <a:lstStyle/>
          <a:p>
            <a:r>
              <a:rPr lang="fr-FR" noProof="0">
                <a:latin typeface="+mn-lt"/>
                <a:ea typeface="+mn-ea"/>
                <a:cs typeface="+mn-cs"/>
              </a:rPr>
              <a:t>P</a:t>
            </a:r>
            <a:r>
              <a:rPr lang="fr-FR" sz="1475" b="1" kern="1200" spc="-10" noProof="0">
                <a:solidFill>
                  <a:schemeClr val="tx2"/>
                </a:solidFill>
                <a:latin typeface="+mn-lt"/>
                <a:ea typeface="+mn-ea"/>
                <a:cs typeface="+mn-cs"/>
              </a:rPr>
              <a:t xml:space="preserve">ratiques, politiques et initiatives futures en vue de la transition vers une économie plus durable (C2)</a:t>
            </a:r>
            <a:endParaRPr lang="fr-F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12</a:t>
            </a:fld>
            <a:endParaRPr lang="fr-F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411480" y="2664954"/>
          <a:ext cx="6737040" cy="4496570"/>
        </p:xfrm>
        <a:graphic>
          <a:graphicData uri="http://schemas.openxmlformats.org/drawingml/2006/table">
            <a:tbl>
              <a:tblPr firstRow="1">
                <a:tableStyleId>{2A488322-F2BA-4B5B-9748-0D474271808F}</a:tableStyleId>
              </a:tblPr>
              <a:tblGrid>
                <a:gridCol w="1156593">
                  <a:extLst>
                    <a:ext uri="{9D8B030D-6E8A-4147-A177-3AD203B41FA5}">
                      <a16:colId xmlns:a16="http://schemas.microsoft.com/office/drawing/2014/main" val="1902117154"/>
                    </a:ext>
                  </a:extLst>
                </a:gridCol>
                <a:gridCol w="1860149">
                  <a:extLst>
                    <a:ext uri="{9D8B030D-6E8A-4147-A177-3AD203B41FA5}">
                      <a16:colId xmlns:a16="http://schemas.microsoft.com/office/drawing/2014/main" val="1904521774"/>
                    </a:ext>
                  </a:extLst>
                </a:gridCol>
                <a:gridCol w="1860149">
                  <a:extLst>
                    <a:ext uri="{9D8B030D-6E8A-4147-A177-3AD203B41FA5}">
                      <a16:colId xmlns:a16="http://schemas.microsoft.com/office/drawing/2014/main" val="3164053669"/>
                    </a:ext>
                  </a:extLst>
                </a:gridCol>
                <a:gridCol w="1860149">
                  <a:extLst>
                    <a:ext uri="{9D8B030D-6E8A-4147-A177-3AD203B41FA5}">
                      <a16:colId xmlns:a16="http://schemas.microsoft.com/office/drawing/2014/main" val="1484983729"/>
                    </a:ext>
                  </a:extLst>
                </a:gridCol>
              </a:tblGrid>
              <a:tr h="291342">
                <a:tc rowSpan="2">
                  <a:txBody>
                    <a:bodyPr/>
                    <a:lstStyle/>
                    <a:p>
                      <a:pPr algn="l"/>
                      <a:r>
                        <a:rPr lang="fr-FR" sz="975" b="1" kern="1200" spc="-10" noProof="0">
                          <a:solidFill>
                            <a:schemeClr val="tx2"/>
                          </a:solidFill>
                          <a:latin typeface="+mn-lt"/>
                          <a:ea typeface="+mn-ea"/>
                          <a:cs typeface="+mn-cs"/>
                        </a:rPr>
                        <a:t xml:space="preserve">Domaine</a:t>
                      </a:r>
                    </a:p>
                    <a:p>
                      <a:pPr algn="l"/>
                      <a:r>
                        <a:rPr lang="fr-FR" sz="975" b="0" kern="1200" spc="-10" noProof="0">
                          <a:solidFill>
                            <a:schemeClr val="tx2"/>
                          </a:solidFill>
                          <a:latin typeface="+mn-lt"/>
                          <a:ea typeface="+mn-ea"/>
                          <a:cs typeface="+mn-cs"/>
                        </a:rPr>
                        <a:t xml:space="preserve">(par. 47)</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fr-FR" sz="975" b="1" kern="1200" spc="-10" noProof="0">
                          <a:solidFill>
                            <a:schemeClr val="tx2"/>
                          </a:solidFill>
                          <a:latin typeface="+mn-lt"/>
                          <a:ea typeface="+mn-ea"/>
                          <a:cs typeface="+mn-cs"/>
                        </a:rPr>
                        <a:t xml:space="preserve">Brève description </a:t>
                      </a:r>
                      <a:r>
                        <a:rPr lang="fr-FR" sz="975" b="1" u="none" kern="1200" spc="-10" noProof="0">
                          <a:solidFill>
                            <a:schemeClr val="tx2"/>
                          </a:solidFill>
                          <a:latin typeface="+mn-lt"/>
                          <a:ea typeface="+mn-ea"/>
                          <a:cs typeface="+mn-cs"/>
                        </a:rPr>
                        <a:t xml:space="preserve">des </a:t>
                      </a:r>
                      <a:r>
                        <a:rPr lang="fr-FR" sz="975" b="1" kern="1200" spc="-10" noProof="0">
                          <a:solidFill>
                            <a:schemeClr val="tx2"/>
                          </a:solidFill>
                          <a:latin typeface="+mn-lt"/>
                          <a:ea typeface="+mn-ea"/>
                          <a:cs typeface="+mn-cs"/>
                        </a:rPr>
                        <a:t xml:space="preserve">pratiques/politiques/actions existantes (cf. point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fr-FR" sz="975" b="1" kern="1200" spc="-10" noProof="0">
                          <a:solidFill>
                            <a:schemeClr val="tx2"/>
                          </a:solidFill>
                          <a:latin typeface="+mn-lt"/>
                          <a:ea typeface="+mn-ea"/>
                          <a:cs typeface="+mn-cs"/>
                        </a:rPr>
                        <a:t xml:space="preserve">Brève description des </a:t>
                      </a:r>
                      <a:r>
                        <a:rPr lang="fr-FR" sz="975" b="1" u="none" kern="1200" spc="-10" noProof="0">
                          <a:solidFill>
                            <a:schemeClr val="tx2"/>
                          </a:solidFill>
                          <a:latin typeface="+mn-lt"/>
                          <a:ea typeface="+mn-ea"/>
                          <a:cs typeface="+mn-cs"/>
                        </a:rPr>
                        <a:t xml:space="preserve">cibles</a:t>
                      </a:r>
                      <a:r>
                        <a:rPr lang="fr-FR" sz="975" b="1" kern="1200" spc="-10" noProof="0">
                          <a:solidFill>
                            <a:schemeClr val="tx2"/>
                          </a:solidFill>
                          <a:latin typeface="+mn-lt"/>
                          <a:ea typeface="+mn-ea"/>
                          <a:cs typeface="+mn-cs"/>
                        </a:rPr>
                        <a:t xml:space="preserve"> futures éventuelles (cf. point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spc="-10" noProof="0">
                          <a:solidFill>
                            <a:schemeClr val="bg1"/>
                          </a:solidFill>
                        </a:rPr>
                        <a:t xml:space="preserve">Information </a:t>
                      </a:r>
                      <a:r>
                        <a:rPr lang="fr-FR" sz="975" b="1" spc="-10" noProof="0">
                          <a:solidFill>
                            <a:schemeClr val="bg1"/>
                          </a:solidFill>
                        </a:rPr>
                        <a:t xml:space="preserve">facultative</a:t>
                      </a:r>
                      <a:endParaRPr lang="fr-FR" sz="975" spc="-10" noProof="0">
                        <a:solidFill>
                          <a:schemeClr val="bg1"/>
                        </a:solidFill>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477218">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Niveau hiérarchique le plus élevé responsable de la mise en œuvre </a:t>
                      </a:r>
                      <a:r>
                        <a:rPr lang="fr-FR" sz="975" b="0" kern="1200" spc="-10" noProof="0">
                          <a:solidFill>
                            <a:schemeClr val="tx2"/>
                          </a:solidFill>
                          <a:latin typeface="+mn-lt"/>
                          <a:ea typeface="+mn-ea"/>
                          <a:cs typeface="+mn-cs"/>
                        </a:rPr>
                        <a:t xml:space="preserve">(par. 48)</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291263">
                <a:tc>
                  <a:txBody>
                    <a:bodyPr/>
                    <a:lstStyle/>
                    <a:p>
                      <a:pPr algn="l"/>
                      <a:r>
                        <a:rPr lang="fr-FR" sz="975" b="1" kern="1200" spc="-10" noProof="0">
                          <a:solidFill>
                            <a:schemeClr val="tx2"/>
                          </a:solidFill>
                          <a:latin typeface="+mn-lt"/>
                          <a:ea typeface="+mn-ea"/>
                          <a:cs typeface="+mn-cs"/>
                        </a:rPr>
                        <a:t xml:space="preserve">Changement climatique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Climate_C2_Description_Existing_Practices</a:t>
                      </a:r>
                      <a:r>
                        <a:rPr lang="fr-FR" sz="975" b="0" i="0" u="none" strike="noStrike" noProof="0">
                          <a:solidFill>
                            <a:srgbClr val="1B4528"/>
                          </a:solidFill>
                          <a:effectLst/>
                          <a:latin typeface="Inter"/>
                        </a:rPr>
                        <a:t>}}</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Climate_C2_Future_Practices</a:t>
                      </a:r>
                      <a:r>
                        <a:rPr lang="fr-FR" sz="975" b="0" i="0" u="none" strike="noStrike" noProof="0">
                          <a:solidFill>
                            <a:srgbClr val="1B4528"/>
                          </a:solidFill>
                          <a:effectLst/>
                          <a:latin typeface="Inter"/>
                        </a:rPr>
                        <a:t>}}</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Climate_C2_Management_Level</a:t>
                      </a:r>
                      <a:r>
                        <a:rPr lang="fr-FR" sz="975" b="0" i="0" u="none" strike="noStrike" noProof="0">
                          <a:solidFill>
                            <a:srgbClr val="1B4528"/>
                          </a:solidFill>
                          <a:effectLst/>
                          <a:latin typeface="Inter"/>
                        </a:rPr>
                        <a:t>}}</a:t>
                      </a:r>
                      <a:endParaRPr lang="fr-FR"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76403">
                <a:tc>
                  <a:txBody>
                    <a:bodyPr/>
                    <a:lstStyle/>
                    <a:p>
                      <a:pPr algn="l"/>
                      <a:r>
                        <a:rPr lang="fr-FR" sz="975" b="1" kern="1200" spc="-10" noProof="0">
                          <a:solidFill>
                            <a:schemeClr val="tx2"/>
                          </a:solidFill>
                          <a:latin typeface="+mn-lt"/>
                          <a:ea typeface="+mn-ea"/>
                          <a:cs typeface="+mn-cs"/>
                        </a:rPr>
                        <a:t>Pollution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Pollution_C2_Description_Existing_Practices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Pollution_C2_Future_Practices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Pollution_C2_Management_Level</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4254">
                <a:tc>
                  <a:txBody>
                    <a:bodyPr/>
                    <a:lstStyle/>
                    <a:p>
                      <a:pPr algn="l"/>
                      <a:r>
                        <a:rPr lang="fr-FR" sz="975" b="1" kern="1200" spc="-10" noProof="0">
                          <a:solidFill>
                            <a:schemeClr val="tx2"/>
                          </a:solidFill>
                          <a:latin typeface="+mn-lt"/>
                          <a:ea typeface="+mn-ea"/>
                          <a:cs typeface="+mn-cs"/>
                        </a:rPr>
                        <a:t xml:space="preserve">Ressources hydriques et marines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Water_C2_Description_Existing_Practices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Water_C2_Future_Practices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BM Plex Sans"/>
                        </a:rPr>
                        <a:t>Water_C2_Management_Level</a:t>
                      </a:r>
                      <a:r>
                        <a:rPr lang="fr-FR" sz="975" b="0" i="0" u="none" strike="noStrike" noProof="0">
                          <a:solidFill>
                            <a:srgbClr val="1B4528"/>
                          </a:solidFill>
                          <a:effectLst/>
                          <a:latin typeface="Inter"/>
                        </a:rPr>
                        <a:t>}}</a:t>
                      </a:r>
                      <a:endParaRPr lang="fr-FR" sz="975" b="0" i="0" u="none" strike="noStrike" noProof="0">
                        <a:solidFill>
                          <a:srgbClr val="000000"/>
                        </a:solidFill>
                        <a:effectLst/>
                        <a:latin typeface="Inter"/>
                      </a:endParaRPr>
                    </a:p>
                    <a:p>
                      <a:pPr lvl="0">
                        <a:buNone/>
                      </a:pPr>
                      <a:endParaRPr lang="fr-FR" sz="975" b="0" i="0" u="none" strike="noStrike" noProof="0">
                        <a:solidFill>
                          <a:srgbClr val="1B4528"/>
                        </a:solidFill>
                        <a:effectLst/>
                        <a:latin typeface="Inter"/>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36600">
                <a:tc>
                  <a:txBody>
                    <a:bodyPr/>
                    <a:lstStyle/>
                    <a:p>
                      <a:pPr algn="l"/>
                      <a:r>
                        <a:rPr lang="fr-FR" sz="975" b="1" kern="1200" spc="-10" noProof="0">
                          <a:solidFill>
                            <a:schemeClr val="tx2"/>
                          </a:solidFill>
                          <a:latin typeface="+mn-lt"/>
                          <a:ea typeface="+mn-ea"/>
                          <a:cs typeface="+mn-cs"/>
                        </a:rPr>
                        <a:t xml:space="preserve">Biodiversité et écosystèmes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Bio_C2_Description_Existing_Practices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Bio_C2_Future_Practices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Bio_C2_Management_Level</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4254">
                <a:tc>
                  <a:txBody>
                    <a:bodyPr/>
                    <a:lstStyle/>
                    <a:p>
                      <a:pPr algn="l"/>
                      <a:r>
                        <a:rPr lang="fr-FR" sz="975" b="1" kern="1200" spc="-10" noProof="0">
                          <a:solidFill>
                            <a:schemeClr val="tx2"/>
                          </a:solidFill>
                          <a:latin typeface="+mn-lt"/>
                          <a:ea typeface="+mn-ea"/>
                          <a:cs typeface="+mn-cs"/>
                        </a:rPr>
                        <a:t xml:space="preserve">Économie circulaire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Circular_C2_Description_Existing_Practices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Circular_C2_Future_Practices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Circular_C2_Management_Level</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4254">
                <a:tc>
                  <a:txBody>
                    <a:bodyPr/>
                    <a:lstStyle/>
                    <a:p>
                      <a:pPr algn="l"/>
                      <a:r>
                        <a:rPr lang="fr-FR" sz="975" b="1" kern="1200" spc="-10" noProof="0">
                          <a:solidFill>
                            <a:schemeClr val="tx2"/>
                          </a:solidFill>
                          <a:latin typeface="+mn-lt"/>
                          <a:ea typeface="+mn-ea"/>
                          <a:cs typeface="+mn-cs"/>
                        </a:rPr>
                        <a:t xml:space="preserve">Personnel de l’entreprise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Own_Workforce_C2_Description_Existing_Practices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Own_Workforce_C2_Future_Practices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Own_Workforce_C2_Management_Level</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84254">
                <a:tc>
                  <a:txBody>
                    <a:bodyPr/>
                    <a:lstStyle/>
                    <a:p>
                      <a:pPr algn="l"/>
                      <a:r>
                        <a:rPr lang="fr-FR" sz="975" b="1" kern="1200" spc="-10" noProof="0">
                          <a:solidFill>
                            <a:schemeClr val="tx2"/>
                          </a:solidFill>
                          <a:latin typeface="+mn-lt"/>
                          <a:ea typeface="+mn-ea"/>
                          <a:cs typeface="+mn-cs"/>
                        </a:rPr>
                        <a:t xml:space="preserve">Travailleurs de la chaîne de valeur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Workers_Value_Chain_C2_Description_Existing_Practices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Workers_Value_Chain_C2_Future_Practices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Workers_Value_Chain_C2_Management_Level</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84254">
                <a:tc>
                  <a:txBody>
                    <a:bodyPr/>
                    <a:lstStyle/>
                    <a:p>
                      <a:pPr algn="l"/>
                      <a:r>
                        <a:rPr lang="fr-FR" sz="975" b="1" kern="1200" spc="-10" noProof="0">
                          <a:solidFill>
                            <a:schemeClr val="tx2"/>
                          </a:solidFill>
                          <a:latin typeface="+mn-lt"/>
                          <a:ea typeface="+mn-ea"/>
                          <a:cs typeface="+mn-cs"/>
                        </a:rPr>
                        <a:t xml:space="preserve">Communautés affectées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Affected_C2_Description_Existing_Practices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Affected_C2_Future_Practices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Affected_C2_Management_Level</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36600">
                <a:tc>
                  <a:txBody>
                    <a:bodyPr/>
                    <a:lstStyle/>
                    <a:p>
                      <a:pPr algn="l"/>
                      <a:r>
                        <a:rPr lang="fr-FR" sz="975" b="1" kern="1200" spc="-10" noProof="0">
                          <a:solidFill>
                            <a:schemeClr val="tx2"/>
                          </a:solidFill>
                          <a:latin typeface="+mn-lt"/>
                          <a:ea typeface="+mn-ea"/>
                          <a:cs typeface="+mn-cs"/>
                        </a:rPr>
                        <a:t xml:space="preserve">Consommateurs et utilisateurs finaux</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Consumers_C2_Description_Existing_Practices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Consumers_C2_Future_Practices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Consumers_C2_Management_Level</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84254">
                <a:tc>
                  <a:txBody>
                    <a:bodyPr/>
                    <a:lstStyle/>
                    <a:p>
                      <a:pPr algn="l"/>
                      <a:r>
                        <a:rPr lang="fr-FR" sz="975" b="1" kern="1200" spc="-10" noProof="0">
                          <a:solidFill>
                            <a:schemeClr val="tx2"/>
                          </a:solidFill>
                          <a:latin typeface="+mn-lt"/>
                          <a:ea typeface="+mn-ea"/>
                          <a:cs typeface="+mn-cs"/>
                        </a:rPr>
                        <a:t xml:space="preserve">Conduite des affaires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Governance_C2_Description_Existing_Practices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Governance_C2_Future_Practices</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fr-FR" sz="975" b="0" i="0" u="none" strike="noStrike" noProof="0">
                          <a:solidFill>
                            <a:srgbClr val="1B4528"/>
                          </a:solidFill>
                          <a:effectLst/>
                          <a:latin typeface="Inter"/>
                        </a:rPr>
                        <a:t>{{</a:t>
                      </a:r>
                      <a:r>
                        <a:rPr lang="fr-FR" sz="975" b="0" i="0" u="none" strike="noStrike" noProof="0">
                          <a:solidFill>
                            <a:srgbClr val="1B4528"/>
                          </a:solidFill>
                          <a:effectLst/>
                        </a:rPr>
                        <a:t>Governance_C2_Management_Level</a:t>
                      </a:r>
                      <a:r>
                        <a:rPr lang="fr-FR" sz="975" b="0" i="0" u="none" strike="noStrike" noProof="0">
                          <a:solidFill>
                            <a:srgbClr val="1B4528"/>
                          </a:solidFill>
                          <a:effectLst/>
                          <a:latin typeface="Inter"/>
                        </a:rPr>
                        <a:t>}}</a:t>
                      </a:r>
                      <a:endParaRPr lang="fr-FR"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411480" y="1525700"/>
            <a:ext cx="6737040" cy="538588"/>
          </a:xfrm>
          <a:prstGeom prst="rect">
            <a:avLst/>
          </a:prstGeom>
          <a:noFill/>
        </p:spPr>
        <p:txBody>
          <a:bodyPr wrap="square">
            <a:spAutoFit/>
          </a:bodyPr>
          <a:lstStyle/>
          <a:p>
            <a:r>
              <a:rPr lang="fr-FR" sz="975" noProof="0">
                <a:solidFill>
                  <a:schemeClr val="tx2"/>
                </a:solidFill>
              </a:rPr>
              <a:t xml:space="preserve">Le tableau ci-dessous a été complété car l’entreprise a déjà mis en place des pratiques, politiques ou initiatives concrètes contribuant à la transition vers une économie plus durable. L’entreprise a répondu « OUI » à une ou plusieurs informations du point B2 du module de base. Ce qui suit présente de manière plus complète les politiques, initiatives et pratiques engagées dans l’entreprise en vue de la transition vers une économie plus durable</a:t>
            </a:r>
          </a:p>
        </p:txBody>
      </p:sp>
    </p:spTree>
    <p:extLst>
      <p:ext uri="{BB962C8B-B14F-4D97-AF65-F5344CB8AC3E}">
        <p14:creationId xmlns:p14="http://schemas.microsoft.com/office/powerpoint/2010/main" val="97247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75467"/>
            <a:ext cx="6737040" cy="207741"/>
          </a:xfrm>
        </p:spPr>
        <p:txBody>
          <a:bodyPr/>
          <a:lstStyle/>
          <a:p>
            <a:r>
              <a:rPr lang="fr-FR" noProof="0">
                <a:solidFill>
                  <a:srgbClr val="1B4528"/>
                </a:solidFill>
                <a:latin typeface="IBM Plex Sans" panose="020B0503050203000203" pitchFamily="34" charset="0"/>
              </a:rPr>
              <a:t xml:space="preserve">Émissions de CO₂e au titre du point B3 du module de base</a:t>
            </a:r>
            <a:endParaRPr lang="fr-FR"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13</a:t>
            </a:fld>
            <a:endParaRPr lang="fr-F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endParaRPr lang="fr-F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3547307555"/>
              </p:ext>
            </p:extLst>
          </p:nvPr>
        </p:nvGraphicFramePr>
        <p:xfrm>
          <a:off x="411480" y="3688800"/>
          <a:ext cx="6737040" cy="1456344"/>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1902117154"/>
                    </a:ext>
                  </a:extLst>
                </a:gridCol>
                <a:gridCol w="2245680">
                  <a:extLst>
                    <a:ext uri="{9D8B030D-6E8A-4147-A177-3AD203B41FA5}">
                      <a16:colId xmlns:a16="http://schemas.microsoft.com/office/drawing/2014/main" val="1904521774"/>
                    </a:ext>
                  </a:extLst>
                </a:gridCol>
                <a:gridCol w="2245680">
                  <a:extLst>
                    <a:ext uri="{9D8B030D-6E8A-4147-A177-3AD203B41FA5}">
                      <a16:colId xmlns:a16="http://schemas.microsoft.com/office/drawing/2014/main" val="2605332690"/>
                    </a:ext>
                  </a:extLst>
                </a:gridCol>
              </a:tblGrid>
              <a:tr h="233402">
                <a:tc gridSpan="3">
                  <a:txBody>
                    <a:bodyPr/>
                    <a:lstStyle/>
                    <a:p>
                      <a:r>
                        <a:rPr lang="fr-FR" sz="975" b="1" kern="1200" spc="-10" noProof="0">
                          <a:solidFill>
                            <a:schemeClr val="tx2"/>
                          </a:solidFill>
                          <a:latin typeface="+mn-lt"/>
                          <a:ea typeface="+mn-ea"/>
                          <a:cs typeface="+mn-cs"/>
                        </a:rPr>
                        <a:t xml:space="preserve">Cibles de réduction des émissions de CO₂e </a:t>
                      </a:r>
                      <a:r>
                        <a:rPr lang="fr-FR" sz="975" b="0" kern="1200" spc="-10" noProof="0">
                          <a:solidFill>
                            <a:schemeClr val="tx2"/>
                          </a:solidFill>
                          <a:latin typeface="+mn-lt"/>
                          <a:ea typeface="+mn-ea"/>
                          <a:cs typeface="+mn-cs"/>
                        </a:rPr>
                        <a:t xml:space="preserve">(par. 53 a–d)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72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288588">
                <a:tc>
                  <a:txBody>
                    <a:bodyPr/>
                    <a:lstStyle/>
                    <a:p>
                      <a:pPr algn="l"/>
                      <a:endParaRPr lang="fr-FR"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fr-FR" sz="975" b="1" kern="1200" spc="-10" noProof="0">
                          <a:solidFill>
                            <a:schemeClr val="tx2"/>
                          </a:solidFill>
                          <a:latin typeface="+mn-lt"/>
                          <a:ea typeface="+mn-ea"/>
                          <a:cs typeface="+mn-cs"/>
                        </a:rPr>
                        <a:t xml:space="preserve">Cible pour l’année </a:t>
                      </a:r>
                      <a:r>
                        <a:rPr lang="fr-FR" sz="975" b="1" kern="1200" spc="-10" noProof="0">
                          <a:solidFill>
                            <a:srgbClr val="1B4528"/>
                          </a:solidFill>
                          <a:latin typeface="+mn-lt"/>
                          <a:ea typeface="+mn-ea"/>
                          <a:cs typeface="+mn-cs"/>
                        </a:rPr>
                        <a:t>{{baseline_year-1}}</a:t>
                      </a:r>
                      <a:endParaRPr lang="fr-FR" sz="975" b="0" kern="1200" spc="-10" noProof="0">
                        <a:solidFill>
                          <a:srgbClr val="1B4528"/>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Émissions de CO₂e de l’année de base :</a:t>
                      </a:r>
                      <a:r>
                        <a:rPr lang="fr-FR" sz="975" b="0" kern="1200" spc="-10" noProof="0">
                          <a:solidFill>
                            <a:schemeClr val="tx2"/>
                          </a:solidFill>
                          <a:latin typeface="+mn-lt"/>
                          <a:ea typeface="+mn-ea"/>
                          <a:cs typeface="+mn-cs"/>
                        </a:rPr>
                        <a:t> </a:t>
                      </a:r>
                      <a:r>
                        <a:rPr lang="fr-FR" sz="975" b="1" kern="1200" spc="-10" noProof="0">
                          <a:solidFill>
                            <a:srgbClr val="1B4528"/>
                          </a:solidFill>
                          <a:latin typeface="+mn-lt"/>
                          <a:ea typeface="+mn-ea"/>
                          <a:cs typeface="+mn-cs"/>
                        </a:rPr>
                        <a:t>{{Insert baseline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Scope 1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fr-FR" sz="975" b="0" i="0" u="none" strike="noStrike" noProof="0">
                          <a:solidFill>
                            <a:srgbClr val="1B4528"/>
                          </a:solidFill>
                          <a:effectLst/>
                          <a:latin typeface="Inter"/>
                        </a:rPr>
                        <a:t>{{scope1_target}}</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fr-FR" sz="975" b="0" i="0" u="none" strike="noStrike" noProof="0">
                          <a:solidFill>
                            <a:srgbClr val="1B4528"/>
                          </a:solidFill>
                          <a:effectLst/>
                          <a:latin typeface="Inter"/>
                        </a:rPr>
                        <a:t>{{scope1_baseline}}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Scope 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fr-FR" sz="975" b="0" i="0" u="none" strike="noStrike" noProof="0">
                          <a:solidFill>
                            <a:srgbClr val="1B4528"/>
                          </a:solidFill>
                          <a:effectLst/>
                          <a:latin typeface="Inter"/>
                        </a:rPr>
                        <a:t>{{scope2_target}}</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fr-FR" sz="975" b="0" i="0" u="none" strike="noStrike" noProof="0">
                          <a:solidFill>
                            <a:srgbClr val="1B4528"/>
                          </a:solidFill>
                          <a:effectLst/>
                          <a:latin typeface="Inter"/>
                        </a:rPr>
                        <a:t>{{scope2_baseline}}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288588">
                <a:tc>
                  <a:txBody>
                    <a:bodyPr/>
                    <a:lstStyle/>
                    <a:p>
                      <a:pPr algn="l"/>
                      <a:r>
                        <a:rPr lang="fr-FR" sz="975" b="1" kern="1200" spc="-10" noProof="0">
                          <a:solidFill>
                            <a:schemeClr val="tx2"/>
                          </a:solidFill>
                          <a:latin typeface="+mn-lt"/>
                          <a:ea typeface="+mn-ea"/>
                          <a:cs typeface="+mn-cs"/>
                        </a:rPr>
                        <a:t>Scope 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fr-FR" sz="975" b="0" i="0" u="none" strike="noStrike" noProof="0">
                          <a:solidFill>
                            <a:srgbClr val="1B4528"/>
                          </a:solidFill>
                          <a:effectLst/>
                          <a:latin typeface="Inter"/>
                        </a:rPr>
                        <a:t>{{scope3_target}}</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fr-FR" sz="975" b="0" i="0" u="none" strike="noStrike" noProof="0">
                          <a:solidFill>
                            <a:srgbClr val="1B4528"/>
                          </a:solidFill>
                          <a:effectLst/>
                          <a:latin typeface="Inter"/>
                        </a:rPr>
                        <a:t>{{scope3_baseline}}</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2496809021"/>
              </p:ext>
            </p:extLst>
          </p:nvPr>
        </p:nvGraphicFramePr>
        <p:xfrm>
          <a:off x="411480" y="5261327"/>
          <a:ext cx="6737040" cy="633415"/>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75299">
                <a:tc>
                  <a:txBody>
                    <a:bodyPr/>
                    <a:lstStyle/>
                    <a:p>
                      <a:pPr marL="0" algn="l" defTabSz="914400" rtl="0" eaLnBrk="1" latinLnBrk="0" hangingPunct="1"/>
                      <a:r>
                        <a:rPr lang="fr-FR" sz="975" b="1" kern="1200" spc="-10" noProof="0">
                          <a:solidFill>
                            <a:schemeClr val="tx2"/>
                          </a:solidFill>
                          <a:latin typeface="+mn-lt"/>
                          <a:ea typeface="+mn-ea"/>
                          <a:cs typeface="+mn-cs"/>
                        </a:rPr>
                        <a:t xml:space="preserve">Liste des principales actions que </a:t>
                      </a:r>
                      <a:r>
                        <a:rPr lang="fr-FR" sz="975" b="1" kern="1200" noProof="0">
                          <a:solidFill>
                            <a:srgbClr val="1B4528"/>
                          </a:solidFill>
                          <a:latin typeface="+mn-lt"/>
                          <a:ea typeface="+mn-ea"/>
                          <a:cs typeface="+mn-cs"/>
                        </a:rPr>
                        <a:t>{{Company name}} </a:t>
                      </a:r>
                      <a:r>
                        <a:rPr lang="fr-FR" sz="975" b="0" kern="1200" noProof="0">
                          <a:solidFill>
                            <a:srgbClr val="1B4528"/>
                          </a:solidFill>
                          <a:latin typeface="+mn-lt"/>
                          <a:ea typeface="+mn-ea"/>
                          <a:cs typeface="+mn-cs"/>
                        </a:rPr>
                        <a:t> </a:t>
                      </a:r>
                      <a:r>
                        <a:rPr lang="fr-FR" sz="975" b="1" kern="1200" spc="-10" noProof="0">
                          <a:solidFill>
                            <a:schemeClr val="tx2"/>
                          </a:solidFill>
                          <a:latin typeface="+mn-lt"/>
                          <a:ea typeface="+mn-ea"/>
                          <a:cs typeface="+mn-cs"/>
                        </a:rPr>
                        <a:t xml:space="preserve">met en œuvre pour atteindre les cibles de réduction des émissions de CO₂e </a:t>
                      </a:r>
                      <a:r>
                        <a:rPr lang="fr-FR" sz="975" b="0" kern="1200" spc="-10" noProof="0">
                          <a:solidFill>
                            <a:schemeClr val="tx2"/>
                          </a:solidFill>
                          <a:latin typeface="+mn-lt"/>
                          <a:ea typeface="+mn-ea"/>
                          <a:cs typeface="+mn-cs"/>
                        </a:rPr>
                        <a:t xml:space="preserve">(par. 53e)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116">
                <a:tc>
                  <a:txBody>
                    <a:bodyPr/>
                    <a:lstStyle/>
                    <a:p>
                      <a:pPr algn="l"/>
                      <a:r>
                        <a:rPr lang="fr-FR" sz="975" b="0" noProof="0">
                          <a:solidFill>
                            <a:srgbClr val="1B4528"/>
                          </a:solidFill>
                        </a:rPr>
                        <a:t>{{</a:t>
                      </a:r>
                      <a:r>
                        <a:rPr lang="fr-FR" sz="975" b="0" noProof="0">
                          <a:solidFill>
                            <a:srgbClr val="1B4528"/>
                          </a:solidFill>
                        </a:rPr>
                        <a:t>mainaction</a:t>
                      </a:r>
                      <a:r>
                        <a:rPr lang="fr-FR" sz="975" b="0" noProof="0">
                          <a:solidFill>
                            <a:srgbClr val="1B4528"/>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411480" y="328158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fr-FR" noProof="0"/>
              <a:t xml:space="preserve">Cibles de réduction des émissions de CO₂e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3697670750"/>
              </p:ext>
            </p:extLst>
          </p:nvPr>
        </p:nvGraphicFramePr>
        <p:xfrm>
          <a:off x="411480" y="1974320"/>
          <a:ext cx="6737040" cy="1067237"/>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39271">
                <a:tc>
                  <a:txBody>
                    <a:bodyPr/>
                    <a:lstStyle/>
                    <a:p>
                      <a:pPr>
                        <a:lnSpc>
                          <a:spcPct val="106000"/>
                        </a:lnSpc>
                      </a:pPr>
                      <a:r>
                        <a:rPr lang="fr-FR" sz="975" b="1" noProof="0">
                          <a:solidFill>
                            <a:schemeClr val="tx2"/>
                          </a:solidFill>
                        </a:rPr>
                        <a:t xml:space="preserve">Émissions de gaz à effet de serre –</a:t>
                      </a:r>
                      <a:r>
                        <a:rPr lang="fr-FR" sz="975" b="0" noProof="0">
                          <a:solidFill>
                            <a:schemeClr val="tx2"/>
                          </a:solidFill>
                        </a:rPr>
                        <a:t xml:space="preserve"> (ajout au par. 33)</a:t>
                      </a:r>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fr-FR" sz="975" b="1" noProof="0">
                          <a:solidFill>
                            <a:schemeClr val="tx2"/>
                          </a:solidFill>
                        </a:rPr>
                        <a:t xml:space="preserve">Année </a:t>
                      </a:r>
                      <a:r>
                        <a:rPr lang="fr-FR" sz="975" b="1" noProof="0">
                          <a:solidFill>
                            <a:srgbClr val="1B4528"/>
                          </a:solidFill>
                          <a:latin typeface="Calibri"/>
                          <a:cs typeface="Calibri"/>
                        </a:rPr>
                        <a:t>{{Insert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4791">
                <a:tc>
                  <a:txBody>
                    <a:bodyPr/>
                    <a:lstStyle/>
                    <a:p>
                      <a:pPr lvl="0" algn="r">
                        <a:lnSpc>
                          <a:spcPct val="100000"/>
                        </a:lnSpc>
                        <a:spcBef>
                          <a:spcPts val="0"/>
                        </a:spcBef>
                        <a:spcAft>
                          <a:spcPts val="0"/>
                        </a:spcAft>
                        <a:buNone/>
                      </a:pPr>
                      <a:r>
                        <a:rPr lang="fr-FR" sz="975" b="0" i="0" u="none" strike="noStrike" kern="1200" noProof="0">
                          <a:solidFill>
                            <a:srgbClr val="1B4528"/>
                          </a:solidFill>
                          <a:latin typeface="IBM Plex Sans"/>
                          <a:ea typeface="+mn-ea"/>
                          <a:cs typeface="+mn-cs"/>
                        </a:rPr>
                        <a:t>{{scope3_description_table}}</a:t>
                      </a:r>
                      <a:endParaRPr lang="fr-FR" dirty="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r">
                        <a:lnSpc>
                          <a:spcPct val="100000"/>
                        </a:lnSpc>
                        <a:spcBef>
                          <a:spcPts val="0"/>
                        </a:spcBef>
                        <a:spcAft>
                          <a:spcPts val="0"/>
                        </a:spcAft>
                        <a:buNone/>
                      </a:pPr>
                      <a:r>
                        <a:rPr lang="fr-FR" sz="975" b="0" i="0" u="none" strike="noStrike" kern="1200" cap="none" spc="0" normalizeH="0" baseline="0" noProof="0">
                          <a:ln>
                            <a:noFill/>
                          </a:ln>
                          <a:solidFill>
                            <a:srgbClr val="1B4528"/>
                          </a:solidFill>
                          <a:effectLst/>
                          <a:uLnTx/>
                          <a:uFillTx/>
                          <a:latin typeface="IBM Plex Sans"/>
                          <a:ea typeface="+mn-ea"/>
                          <a:cs typeface="+mn-cs"/>
                        </a:rPr>
                        <a:t>{{scope3_emissions_table}}</a:t>
                      </a:r>
                      <a:endParaRPr lang="fr-FR"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235394">
                <a:tc>
                  <a:txBody>
                    <a:bodyPr/>
                    <a:lstStyle/>
                    <a:p>
                      <a:pPr>
                        <a:lnSpc>
                          <a:spcPct val="106000"/>
                        </a:lnSpc>
                      </a:pPr>
                      <a:r>
                        <a:rPr lang="fr-FR" sz="975" b="1" noProof="0">
                          <a:solidFill>
                            <a:schemeClr val="tx2"/>
                          </a:solidFill>
                        </a:rPr>
                        <a:t xml:space="preserve">Émissions totales de CO₂e du scope 3 (basées sur la localisation)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r">
                        <a:lnSpc>
                          <a:spcPct val="100000"/>
                        </a:lnSpc>
                        <a:spcBef>
                          <a:spcPts val="0"/>
                        </a:spcBef>
                        <a:spcAft>
                          <a:spcPts val="0"/>
                        </a:spcAft>
                        <a:buNone/>
                      </a:pPr>
                      <a:r>
                        <a:rPr lang="fr-FR" sz="975" b="0" i="0" u="none" strike="noStrike" kern="1200" cap="none" spc="0" normalizeH="0" baseline="0" noProof="0">
                          <a:ln>
                            <a:noFill/>
                          </a:ln>
                          <a:solidFill>
                            <a:srgbClr val="1B4528"/>
                          </a:solidFill>
                          <a:effectLst/>
                          <a:uLnTx/>
                          <a:uFillTx/>
                          <a:latin typeface="IBM Plex Sans"/>
                          <a:ea typeface="+mn-ea"/>
                          <a:cs typeface="+mn-cs"/>
                        </a:rPr>
                        <a:t>{{scope3}}</a:t>
                      </a:r>
                      <a:endParaRPr lang="fr-FR"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235394">
                <a:tc>
                  <a:txBody>
                    <a:bodyPr/>
                    <a:lstStyle/>
                    <a:p>
                      <a:pPr>
                        <a:lnSpc>
                          <a:spcPct val="106000"/>
                        </a:lnSpc>
                      </a:pPr>
                      <a:r>
                        <a:rPr lang="fr-FR" sz="975" b="1" noProof="0">
                          <a:solidFill>
                            <a:schemeClr val="tx2"/>
                          </a:solidFill>
                        </a:rPr>
                        <a:t xml:space="preserve">Émissions totales de CO₂e des scopes 1, 2 et 3   </a:t>
                      </a:r>
                      <a:endParaRPr lang="fr-FR"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6000"/>
                        </a:lnSpc>
                        <a:spcBef>
                          <a:spcPts val="0"/>
                        </a:spcBef>
                        <a:spcAft>
                          <a:spcPts val="0"/>
                        </a:spcAft>
                        <a:buClrTx/>
                        <a:buSzTx/>
                        <a:buFontTx/>
                        <a:buNone/>
                        <a:tabLst/>
                        <a:defRPr/>
                      </a:pPr>
                      <a:r>
                        <a:rPr kumimoji="0" lang="fr-FR" sz="975" b="0" i="0" u="none" strike="noStrike" kern="1200" cap="none" spc="0" normalizeH="0" baseline="0" noProof="0">
                          <a:ln>
                            <a:noFill/>
                          </a:ln>
                          <a:solidFill>
                            <a:srgbClr val="1B4528"/>
                          </a:solidFill>
                          <a:effectLst/>
                          <a:uLnTx/>
                          <a:uFillTx/>
                          <a:latin typeface="+mn-lt"/>
                          <a:ea typeface="+mn-ea"/>
                          <a:cs typeface="+mn-cs"/>
                        </a:rPr>
                        <a:t>{{</a:t>
                      </a:r>
                      <a:r>
                        <a:rPr kumimoji="0" lang="fr-FR" sz="975" b="0" i="0" u="none" strike="noStrike" kern="1200" cap="none" spc="0" normalizeH="0" baseline="0" noProof="0">
                          <a:ln>
                            <a:noFill/>
                          </a:ln>
                          <a:solidFill>
                            <a:srgbClr val="1B4528"/>
                          </a:solidFill>
                          <a:effectLst/>
                          <a:uLnTx/>
                          <a:uFillTx/>
                          <a:latin typeface="+mn-lt"/>
                          <a:ea typeface="+mn-ea"/>
                          <a:cs typeface="+mn-cs"/>
                        </a:rPr>
                        <a:t>total_all_scopes</a:t>
                      </a:r>
                      <a:r>
                        <a:rPr kumimoji="0" lang="fr-FR" sz="975" b="0" i="0" u="none" strike="noStrike" kern="1200" cap="none" spc="0" normalizeH="0" baseline="0" noProof="0">
                          <a:ln>
                            <a:noFill/>
                          </a:ln>
                          <a:solidFill>
                            <a:srgbClr val="1B4528"/>
                          </a:solidFill>
                          <a:effectLst/>
                          <a:uLnTx/>
                          <a:uFillTx/>
                          <a:latin typeface="+mn-lt"/>
                          <a:ea typeface="+mn-ea"/>
                          <a:cs typeface="+mn-cs"/>
                        </a:rPr>
                        <a:t>}}</a:t>
                      </a:r>
                      <a:endParaRPr kumimoji="0" lang="fr-FR" sz="975" b="0" i="0" u="none" strike="noStrike" kern="1200" cap="none" spc="0" normalizeH="0" baseline="0" noProof="0" dirty="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411480" y="1204244"/>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présenté un aperçu des émissions de GES du scope 3 conformément au protocole des GES. Elle indique les émissions totales et les émissions du scope 3 basées sur la localisation. Les cibles de réduction des émissions de CO₂e de l’entreprise sont indiquées, ainsi que ses principales actions pour atteindre ces cible</a:t>
            </a:r>
            <a:r>
              <a:rPr lang="fr-FR" sz="975" noProof="0">
                <a:solidFill>
                  <a:schemeClr val="tx2"/>
                </a:solidFill>
                <a:latin typeface="Inter"/>
              </a:rPr>
              <a:t>s.</a:t>
            </a:r>
          </a:p>
        </p:txBody>
      </p:sp>
      <p:sp>
        <p:nvSpPr>
          <p:cNvPr id="4" name="Title 2">
            <a:extLst>
              <a:ext uri="{FF2B5EF4-FFF2-40B4-BE49-F238E27FC236}">
                <a16:creationId xmlns:a16="http://schemas.microsoft.com/office/drawing/2014/main" id="{FBB97B4D-08D8-D90C-1409-BA753C4F4AD8}"/>
              </a:ext>
            </a:extLst>
          </p:cNvPr>
          <p:cNvSpPr txBox="1">
            <a:spLocks/>
          </p:cNvSpPr>
          <p:nvPr/>
        </p:nvSpPr>
        <p:spPr>
          <a:xfrm>
            <a:off x="411480" y="614155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fr-FR"/>
              <a:t xml:space="preserve">Transition climatique (C3)</a:t>
            </a:r>
          </a:p>
        </p:txBody>
      </p:sp>
      <p:graphicFrame>
        <p:nvGraphicFramePr>
          <p:cNvPr id="6" name="Table 21">
            <a:extLst>
              <a:ext uri="{FF2B5EF4-FFF2-40B4-BE49-F238E27FC236}">
                <a16:creationId xmlns:a16="http://schemas.microsoft.com/office/drawing/2014/main" id="{2DE6B17C-F4B0-464A-05E7-A58062EF922E}"/>
              </a:ext>
            </a:extLst>
          </p:cNvPr>
          <p:cNvGraphicFramePr>
            <a:graphicFrameLocks noGrp="1"/>
          </p:cNvGraphicFramePr>
          <p:nvPr>
            <p:extLst>
              <p:ext uri="{D42A27DB-BD31-4B8C-83A1-F6EECF244321}">
                <p14:modId xmlns:p14="http://schemas.microsoft.com/office/powerpoint/2010/main" val="572220017"/>
              </p:ext>
            </p:extLst>
          </p:nvPr>
        </p:nvGraphicFramePr>
        <p:xfrm>
          <a:off x="411480" y="8896659"/>
          <a:ext cx="6737040" cy="1020741"/>
        </p:xfrm>
        <a:graphic>
          <a:graphicData uri="http://schemas.openxmlformats.org/drawingml/2006/table">
            <a:tbl>
              <a:tblPr firstRow="1">
                <a:tableStyleId>{2A488322-F2BA-4B5B-9748-0D474271808F}</a:tableStyleId>
              </a:tblPr>
              <a:tblGrid>
                <a:gridCol w="3368520">
                  <a:extLst>
                    <a:ext uri="{9D8B030D-6E8A-4147-A177-3AD203B41FA5}">
                      <a16:colId xmlns:a16="http://schemas.microsoft.com/office/drawing/2014/main" val="2119413191"/>
                    </a:ext>
                  </a:extLst>
                </a:gridCol>
                <a:gridCol w="3368520">
                  <a:extLst>
                    <a:ext uri="{9D8B030D-6E8A-4147-A177-3AD203B41FA5}">
                      <a16:colId xmlns:a16="http://schemas.microsoft.com/office/drawing/2014/main" val="970155923"/>
                    </a:ext>
                  </a:extLst>
                </a:gridCol>
              </a:tblGrid>
              <a:tr h="272971">
                <a:tc gridSpan="2">
                  <a:txBody>
                    <a:bodyPr/>
                    <a:lstStyle/>
                    <a:p>
                      <a:r>
                        <a:rPr lang="fr-FR" sz="975" b="1" kern="1200" spc="-10" noProof="0">
                          <a:solidFill>
                            <a:schemeClr val="tx2"/>
                          </a:solidFill>
                          <a:latin typeface="+mn-lt"/>
                          <a:ea typeface="+mn-ea"/>
                          <a:cs typeface="+mn-cs"/>
                        </a:rPr>
                        <a:t xml:space="preserve">Plan de transition à venir </a:t>
                      </a:r>
                      <a:r>
                        <a:rPr lang="fr-FR" sz="975" b="0" kern="1200" spc="-10" noProof="0">
                          <a:solidFill>
                            <a:schemeClr val="tx2"/>
                          </a:solidFill>
                          <a:latin typeface="+mn-lt"/>
                          <a:ea typeface="+mn-ea"/>
                          <a:cs typeface="+mn-cs"/>
                        </a:rPr>
                        <a:t xml:space="preserve">(par. 55)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fr-FR" sz="72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73885">
                <a:tc>
                  <a:txBody>
                    <a:bodyPr/>
                    <a:lstStyle/>
                    <a:p>
                      <a:pPr algn="l"/>
                      <a:r>
                        <a:rPr lang="fr-FR" sz="975" b="1" kern="1200" noProof="0">
                          <a:solidFill>
                            <a:srgbClr val="1B4528"/>
                          </a:solidFill>
                          <a:latin typeface="+mn-lt"/>
                          <a:ea typeface="+mn-ea"/>
                          <a:cs typeface="+mn-cs"/>
                        </a:rPr>
                        <a:t>{{company_name}} </a:t>
                      </a:r>
                      <a:r>
                        <a:rPr lang="fr-FR" sz="975" b="1" kern="1200" noProof="0">
                          <a:solidFill>
                            <a:schemeClr val="tx2"/>
                          </a:solidFill>
                          <a:latin typeface="+mn-lt"/>
                          <a:ea typeface="+mn-ea"/>
                          <a:cs typeface="+mn-cs"/>
                        </a:rPr>
                        <a:t xml:space="preserve">adoptera un plan de transition concret </a:t>
                      </a:r>
                      <a:r>
                        <a:rPr lang="fr-FR" sz="975" b="1" noProof="0">
                          <a:solidFill>
                            <a:schemeClr val="tx2"/>
                          </a:solidFill>
                        </a:rPr>
                        <a:t xml:space="preserve">pour l’atténuation du changement climatique</a:t>
                      </a:r>
                      <a:endParaRPr lang="fr-FR" sz="975"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fr-FR" sz="975" b="0" i="0" u="none" strike="noStrike" noProof="0">
                          <a:solidFill>
                            <a:srgbClr val="1B4528"/>
                          </a:solidFill>
                          <a:effectLst/>
                          <a:latin typeface="Inter"/>
                        </a:rPr>
                        <a:t>{{transition_plan?}}</a:t>
                      </a:r>
                      <a:endParaRPr lang="fr-FR"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3885">
                <a:tc>
                  <a:txBody>
                    <a:bodyPr/>
                    <a:lstStyle/>
                    <a:p>
                      <a:pPr algn="l"/>
                      <a:r>
                        <a:rPr lang="fr-FR" sz="975" b="1" kern="1200" noProof="0">
                          <a:solidFill>
                            <a:schemeClr val="tx2"/>
                          </a:solidFill>
                          <a:latin typeface="+mn-lt"/>
                          <a:ea typeface="+mn-ea"/>
                          <a:cs typeface="+mn-cs"/>
                        </a:rPr>
                        <a:t xml:space="preserve">Date d’adoption du plan de transition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transition_plan_date</a:t>
                      </a:r>
                      <a:r>
                        <a:rPr lang="fr-FR" sz="975" b="0" i="0" u="none" strike="noStrike" noProof="0">
                          <a:solidFill>
                            <a:srgbClr val="1B4528"/>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8" name="Table 21">
            <a:extLst>
              <a:ext uri="{FF2B5EF4-FFF2-40B4-BE49-F238E27FC236}">
                <a16:creationId xmlns:a16="http://schemas.microsoft.com/office/drawing/2014/main" id="{E6BB71D4-7167-ADE5-0F8F-5DCD2A18B1DD}"/>
              </a:ext>
            </a:extLst>
          </p:cNvPr>
          <p:cNvGraphicFramePr>
            <a:graphicFrameLocks noGrp="1"/>
          </p:cNvGraphicFramePr>
          <p:nvPr>
            <p:extLst>
              <p:ext uri="{D42A27DB-BD31-4B8C-83A1-F6EECF244321}">
                <p14:modId xmlns:p14="http://schemas.microsoft.com/office/powerpoint/2010/main" val="480748797"/>
              </p:ext>
            </p:extLst>
          </p:nvPr>
        </p:nvGraphicFramePr>
        <p:xfrm>
          <a:off x="411480" y="7128927"/>
          <a:ext cx="6737040" cy="116946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21082">
                <a:tc>
                  <a:txBody>
                    <a:bodyPr/>
                    <a:lstStyle/>
                    <a:p>
                      <a:r>
                        <a:rPr lang="fr-FR" sz="975" b="1" kern="1200" spc="-10" noProof="0">
                          <a:solidFill>
                            <a:schemeClr val="tx2"/>
                          </a:solidFill>
                          <a:latin typeface="+mn-lt"/>
                          <a:ea typeface="+mn-ea"/>
                          <a:cs typeface="+mn-cs"/>
                        </a:rPr>
                        <a:t xml:space="preserve">Plan de transition pour l’atténuation du changement climatique </a:t>
                      </a:r>
                      <a:r>
                        <a:rPr lang="fr-FR" sz="975" b="0" kern="1200" spc="-10" noProof="0">
                          <a:solidFill>
                            <a:schemeClr val="tx2"/>
                          </a:solidFill>
                          <a:latin typeface="+mn-lt"/>
                          <a:ea typeface="+mn-ea"/>
                          <a:cs typeface="+mn-cs"/>
                        </a:rPr>
                        <a:t xml:space="preserve">(par. 54)</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948385">
                <a:tc>
                  <a:txBody>
                    <a:bodyPr/>
                    <a:lstStyle/>
                    <a:p>
                      <a:pPr algn="l"/>
                      <a:r>
                        <a:rPr lang="fr-FR" sz="975" b="0" noProof="0">
                          <a:solidFill>
                            <a:srgbClr val="1B4528"/>
                          </a:solidFill>
                        </a:rPr>
                        <a:t>{{</a:t>
                      </a:r>
                      <a:r>
                        <a:rPr lang="fr-FR" sz="975" b="0" noProof="0">
                          <a:solidFill>
                            <a:srgbClr val="1B4528"/>
                          </a:solidFill>
                        </a:rPr>
                        <a:t>transition_plan</a:t>
                      </a:r>
                      <a:r>
                        <a:rPr lang="fr-FR" sz="975" b="0" noProof="0">
                          <a:solidFill>
                            <a:srgbClr val="1B4528"/>
                          </a:solidFill>
                        </a:rPr>
                        <a:t>}}</a:t>
                      </a:r>
                    </a:p>
                    <a:p>
                      <a:pPr algn="l"/>
                      <a:endParaRPr lang="fr-FR" sz="975" b="0" noProof="0" dirty="0">
                        <a:solidFill>
                          <a:srgbClr val="1B4528"/>
                        </a:solidFill>
                      </a:endParaRPr>
                    </a:p>
                    <a:p>
                      <a:pPr algn="l"/>
                      <a:endParaRPr lang="fr-FR" sz="975" b="0" noProof="0" dirty="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9" name="Tekstfelt 8">
            <a:extLst>
              <a:ext uri="{FF2B5EF4-FFF2-40B4-BE49-F238E27FC236}">
                <a16:creationId xmlns:a16="http://schemas.microsoft.com/office/drawing/2014/main" id="{D30F6DC8-D978-CF00-7945-B9B1AF621669}"/>
              </a:ext>
            </a:extLst>
          </p:cNvPr>
          <p:cNvSpPr txBox="1"/>
          <p:nvPr/>
        </p:nvSpPr>
        <p:spPr>
          <a:xfrm>
            <a:off x="411480" y="6594415"/>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Les informations ci-dessous concernent le plan de transition de l’entreprise pour l’atténuation du changement climatique. La transition est liée aux cibles de réduction des émissions de CO₂e de l’entreprise.</a:t>
            </a:r>
          </a:p>
        </p:txBody>
      </p:sp>
      <p:sp>
        <p:nvSpPr>
          <p:cNvPr id="10" name="Tekstfelt 9">
            <a:extLst>
              <a:ext uri="{FF2B5EF4-FFF2-40B4-BE49-F238E27FC236}">
                <a16:creationId xmlns:a16="http://schemas.microsoft.com/office/drawing/2014/main" id="{24B5A55D-2C44-16CE-514E-9715833483A7}"/>
              </a:ext>
            </a:extLst>
          </p:cNvPr>
          <p:cNvSpPr txBox="1"/>
          <p:nvPr/>
        </p:nvSpPr>
        <p:spPr>
          <a:xfrm>
            <a:off x="411480" y="8386928"/>
            <a:ext cx="6737040" cy="230823"/>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Cette information a été complétée car l’entreprise a indiqué qu’elle adoptera un plan de transition concret, ainsi que la date d’adoption.</a:t>
            </a:r>
            <a:endParaRPr lang="fr-FR" noProof="0">
              <a:solidFill>
                <a:schemeClr val="tx2"/>
              </a:solidFill>
            </a:endParaRPr>
          </a:p>
        </p:txBody>
      </p:sp>
    </p:spTree>
    <p:extLst>
      <p:ext uri="{BB962C8B-B14F-4D97-AF65-F5344CB8AC3E}">
        <p14:creationId xmlns:p14="http://schemas.microsoft.com/office/powerpoint/2010/main" val="312394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31222"/>
            <a:ext cx="6737040" cy="207741"/>
          </a:xfrm>
        </p:spPr>
        <p:txBody>
          <a:bodyPr/>
          <a:lstStyle/>
          <a:p>
            <a:r>
              <a:rPr lang="fr-FR" noProof="0"/>
              <a:t xml:space="preserve">R</a:t>
            </a:r>
            <a:r>
              <a:rPr lang="fr-FR" sz="1475" b="1" noProof="0">
                <a:solidFill>
                  <a:schemeClr val="tx2"/>
                </a:solidFill>
              </a:rPr>
              <a:t xml:space="preserve">isques climatiques (C4)</a:t>
            </a:r>
            <a:endParaRPr lang="fr-F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4855421"/>
            <a:ext cx="6737040" cy="193826"/>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649259"/>
            <a:ext cx="6737040" cy="193826"/>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411480" y="2041628"/>
          <a:ext cx="6737040" cy="3977161"/>
        </p:xfrm>
        <a:graphic>
          <a:graphicData uri="http://schemas.openxmlformats.org/drawingml/2006/table">
            <a:tbl>
              <a:tblPr firstRow="1">
                <a:tableStyleId>{2A488322-F2BA-4B5B-9748-0D474271808F}</a:tableStyleId>
              </a:tblPr>
              <a:tblGrid>
                <a:gridCol w="914400">
                  <a:extLst>
                    <a:ext uri="{9D8B030D-6E8A-4147-A177-3AD203B41FA5}">
                      <a16:colId xmlns:a16="http://schemas.microsoft.com/office/drawing/2014/main" val="1904521774"/>
                    </a:ext>
                  </a:extLst>
                </a:gridCol>
                <a:gridCol w="914400">
                  <a:extLst>
                    <a:ext uri="{9D8B030D-6E8A-4147-A177-3AD203B41FA5}">
                      <a16:colId xmlns:a16="http://schemas.microsoft.com/office/drawing/2014/main" val="3691300808"/>
                    </a:ext>
                  </a:extLst>
                </a:gridCol>
                <a:gridCol w="1097312">
                  <a:extLst>
                    <a:ext uri="{9D8B030D-6E8A-4147-A177-3AD203B41FA5}">
                      <a16:colId xmlns:a16="http://schemas.microsoft.com/office/drawing/2014/main" val="1169754581"/>
                    </a:ext>
                  </a:extLst>
                </a:gridCol>
                <a:gridCol w="1034845">
                  <a:extLst>
                    <a:ext uri="{9D8B030D-6E8A-4147-A177-3AD203B41FA5}">
                      <a16:colId xmlns:a16="http://schemas.microsoft.com/office/drawing/2014/main" val="519320573"/>
                    </a:ext>
                  </a:extLst>
                </a:gridCol>
                <a:gridCol w="947283">
                  <a:extLst>
                    <a:ext uri="{9D8B030D-6E8A-4147-A177-3AD203B41FA5}">
                      <a16:colId xmlns:a16="http://schemas.microsoft.com/office/drawing/2014/main" val="43798019"/>
                    </a:ext>
                  </a:extLst>
                </a:gridCol>
                <a:gridCol w="914400">
                  <a:extLst>
                    <a:ext uri="{9D8B030D-6E8A-4147-A177-3AD203B41FA5}">
                      <a16:colId xmlns:a16="http://schemas.microsoft.com/office/drawing/2014/main" val="3164053669"/>
                    </a:ext>
                  </a:extLst>
                </a:gridCol>
                <a:gridCol w="914400">
                  <a:extLst>
                    <a:ext uri="{9D8B030D-6E8A-4147-A177-3AD203B41FA5}">
                      <a16:colId xmlns:a16="http://schemas.microsoft.com/office/drawing/2014/main" val="1484983729"/>
                    </a:ext>
                  </a:extLst>
                </a:gridCol>
              </a:tblGrid>
              <a:tr h="186792">
                <a:tc gridSpan="3">
                  <a:txBody>
                    <a:bodyPr/>
                    <a:lstStyle/>
                    <a:p>
                      <a:r>
                        <a:rPr lang="fr-FR" sz="825" b="0" kern="1200" noProof="0">
                          <a:solidFill>
                            <a:schemeClr val="tx2"/>
                          </a:solidFill>
                          <a:latin typeface="+mn-lt"/>
                          <a:ea typeface="+mn-ea"/>
                          <a:cs typeface="+mn-cs"/>
                        </a:rPr>
                        <a:t xml:space="preserve">(par. 56a)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600"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fr-FR" sz="825" b="0" kern="1200" noProof="0">
                          <a:solidFill>
                            <a:schemeClr val="tx2"/>
                          </a:solidFill>
                          <a:latin typeface="+mn-lt"/>
                          <a:ea typeface="+mn-ea"/>
                          <a:cs typeface="+mn-cs"/>
                        </a:rPr>
                        <a:t xml:space="preserve">(par. 56b)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600"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fr-FR" sz="825" b="0" kern="1200" noProof="0">
                          <a:solidFill>
                            <a:schemeClr val="tx2"/>
                          </a:solidFill>
                          <a:latin typeface="+mn-lt"/>
                          <a:ea typeface="+mn-ea"/>
                          <a:cs typeface="+mn-cs"/>
                        </a:rPr>
                        <a:t xml:space="preserve">(par. 56c)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fr-FR" sz="825" b="0" kern="1200" noProof="0">
                          <a:solidFill>
                            <a:schemeClr val="tx2"/>
                          </a:solidFill>
                          <a:latin typeface="+mn-lt"/>
                          <a:ea typeface="+mn-ea"/>
                          <a:cs typeface="+mn-cs"/>
                        </a:rPr>
                        <a:t xml:space="preserve">(par. 56d)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548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Risques climatiques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Où</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Brève description des risques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Exposition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noProof="0">
                          <a:solidFill>
                            <a:schemeClr val="tx2"/>
                          </a:solidFill>
                        </a:rPr>
                        <a:t xml:space="preserve">(faible/moyen/élevé)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Sensibilité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noProof="0">
                          <a:solidFill>
                            <a:schemeClr val="tx2"/>
                          </a:solidFill>
                        </a:rPr>
                        <a:t xml:space="preserve">(faible/moyen/élevé)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Horizon temporel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i="0" noProof="0">
                          <a:solidFill>
                            <a:schemeClr val="tx2"/>
                          </a:solidFill>
                        </a:rPr>
                        <a:t xml:space="preserve">(0-1/2-5/&gt;5 ans)</a:t>
                      </a:r>
                      <a:endParaRPr lang="fr-FR" sz="825" b="0" i="0" noProof="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Adaptation engagée </a:t>
                      </a:r>
                      <a:r>
                        <a:rPr lang="fr-FR" sz="825" b="0" noProof="0">
                          <a:solidFill>
                            <a:schemeClr val="tx2"/>
                          </a:solidFill>
                        </a:rPr>
                        <a:t xml:space="preserve">(OUI/NON)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noProof="0">
                          <a:solidFill>
                            <a:schemeClr val="tx2"/>
                          </a:solidFill>
                        </a:rPr>
                        <a:t xml:space="preserve">Aléas chroniques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Actifs</a:t>
                      </a:r>
                      <a:endParaRPr lang="fr-F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rPr>
                        <a:t>{{chronic_aktiver_description}}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{{chronic_aktiver_eksponerning}}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{{chronic_aktiver_sårbarhed}}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{{chronic_aktiver_time}}</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{{chronic_aktiver_tilpasning}}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Activités</a:t>
                      </a:r>
                      <a:endParaRPr lang="fr-F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{{chronic_aktiveter_description}}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rPr>
                        <a:t>{{chronic_aktivteter_eksponerning}}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{{chronic_aktivteter_sårbarhed}}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{{chronic_aktivteter_time}}</a:t>
                      </a:r>
                      <a:endParaRPr lang="fr-FR"/>
                    </a:p>
                    <a:p>
                      <a:pPr lvl="0" algn="ctr">
                        <a:lnSpc>
                          <a:spcPct val="100000"/>
                        </a:lnSpc>
                        <a:spcBef>
                          <a:spcPts val="0"/>
                        </a:spcBef>
                        <a:spcAft>
                          <a:spcPts val="0"/>
                        </a:spcAft>
                        <a:buNone/>
                      </a:pP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{{chronic_aktivteter_tilpasning}}</a:t>
                      </a:r>
                      <a:endParaRPr lang="fr-FR"/>
                    </a:p>
                    <a:p>
                      <a:pPr marL="0" marR="0" lvl="0" indent="0" algn="ctr">
                        <a:lnSpc>
                          <a:spcPct val="100000"/>
                        </a:lnSpc>
                        <a:spcBef>
                          <a:spcPts val="0"/>
                        </a:spcBef>
                        <a:spcAft>
                          <a:spcPts val="0"/>
                        </a:spcAft>
                        <a:buClrTx/>
                        <a:buSzTx/>
                        <a:buFontTx/>
                        <a:buNone/>
                      </a:pPr>
                      <a:endParaRPr lang="fr-F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Chaîne de valeur</a:t>
                      </a:r>
                      <a:endParaRPr lang="fr-F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rPr>
                        <a:t>{{chronic_value_description}}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{{chronic_value_eksponerning}}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{{chronic_value_sårbarhed}}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{{chronic_value_time}}</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{{chronic_value_tilpasning}}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kern="1200" noProof="0">
                          <a:solidFill>
                            <a:schemeClr val="tx2"/>
                          </a:solidFill>
                          <a:latin typeface="+mn-lt"/>
                          <a:ea typeface="+mn-ea"/>
                          <a:cs typeface="+mn-cs"/>
                        </a:rPr>
                        <a:t xml:space="preserve">Aléas aigus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Actifs</a:t>
                      </a:r>
                      <a:endParaRPr lang="fr-F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rPr>
                        <a:t>{{akut_aktiver_description}}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{{akut_aktiver_eksponering}}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{{akut_aktiver_sårbarhed}}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{{akut_aktiver_tidshorisont}}</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{{akut_aktiver_tilpasning}}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Activités</a:t>
                      </a:r>
                      <a:endParaRPr lang="fr-F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rPr>
                        <a:t>{{akut_aktiviteter_description}}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{{akut_aktiviteter_eksponering}}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{{akut_aktiviteter_sårbarhed}}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{{akut_aktiviteter_tidshorisont}}</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{{akut_aktiviteter_tilpasning}}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Chaîne de valeur</a:t>
                      </a:r>
                      <a:endParaRPr lang="fr-F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rPr>
                        <a:t>{{akut_værdikæde_description}}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{{akut_værdikæde_eksponering}}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{{akut_værdikæde_sårbarhed}}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{{akut_værdikæde_tidshorisont}}</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{{akut_værdikæde_tilpasning}}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1" kern="1200" noProof="0">
                          <a:solidFill>
                            <a:schemeClr val="tx2"/>
                          </a:solidFill>
                          <a:latin typeface="+mn-lt"/>
                          <a:ea typeface="+mn-ea"/>
                          <a:cs typeface="+mn-cs"/>
                        </a:rPr>
                        <a:t xml:space="preserve">Événement de transition</a:t>
                      </a:r>
                      <a:endParaRPr lang="fr-F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Actifs</a:t>
                      </a:r>
                      <a:endParaRPr lang="fr-F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rPr>
                        <a:t>{{omstilling_aktiver_description}}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{{omstilling_aktiver_eksponering}}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{{omstilling_aktiver_sårbarhed}}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{{omstilling_aktiver_tidshorisont}}</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{{omstilling_aktiver_tilpasning}}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Activités</a:t>
                      </a:r>
                      <a:endParaRPr lang="fr-F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rPr>
                        <a:t>{{omstilling_aktiviteter_description}}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{{omstilling_aktiviteter_eksponering}}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{{omstilling_aktiviteter_sårbarhed}}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{{omstilling_aktiviteter_tidshorisont}}</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{{omstilling_aktiviteter_tilpasning}}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25" b="0" kern="1200" noProof="0">
                          <a:solidFill>
                            <a:schemeClr val="tx2"/>
                          </a:solidFill>
                          <a:latin typeface="+mn-lt"/>
                          <a:ea typeface="+mn-ea"/>
                          <a:cs typeface="+mn-cs"/>
                        </a:rPr>
                        <a:t xml:space="preserve">Chaîne de valeur</a:t>
                      </a:r>
                      <a:endParaRPr lang="fr-FR"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rPr>
                        <a:t>{{omstilling_værdikæde_description}}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{{omstilling_værdikæde_eksponering}}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{{omstilling_værdikæde_sårbarhed}}</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{{omstilling_værdikæde_tidshorisont}}</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825" b="0" i="0" u="none" strike="noStrike" noProof="0">
                          <a:solidFill>
                            <a:srgbClr val="1B4528"/>
                          </a:solidFill>
                          <a:latin typeface="IBM Plex Sans"/>
                        </a:rPr>
                        <a:t>{{omstilling_værdikæde_tilpasning}}</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4702451B-F4AF-4B05-87B1-F468C54F2952}" type="slidenum">
              <a:rPr lang="fr-FR" dirty="0">
                <a:solidFill>
                  <a:srgbClr val="1B4528">
                    <a:alpha val="70000"/>
                  </a:srgbClr>
                </a:solidFill>
              </a:rPr>
              <a:t>14</a:t>
            </a:fld>
            <a:endParaRPr lang="fr-FR"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411480" y="1201922"/>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présenté un aperçu des risques climatiques, en précisant s’ils sont chroniques, aigus ou liés à la transition et où ils se situent (actifs, activités ou chaîne de valeur de l’entreprise). </a:t>
            </a:r>
            <a:endParaRPr lang="fr-FR" sz="975"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3182"/>
            <a:ext cx="6737040" cy="207741"/>
          </a:xfrm>
        </p:spPr>
        <p:txBody>
          <a:bodyPr/>
          <a:lstStyle/>
          <a:p>
            <a:r>
              <a:rPr lang="fr-FR" noProof="0"/>
              <a:t xml:space="preserve">R</a:t>
            </a:r>
            <a:r>
              <a:rPr lang="fr-FR" sz="1475" b="1" noProof="0">
                <a:solidFill>
                  <a:schemeClr val="tx2"/>
                </a:solidFill>
              </a:rPr>
              <a:t xml:space="preserve">isques climatiques (C4) - suite</a:t>
            </a:r>
            <a:endParaRPr lang="fr-F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15</a:t>
            </a:fld>
            <a:endParaRPr lang="fr-F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11480" y="2093980"/>
          <a:ext cx="6737040" cy="2933624"/>
        </p:xfrm>
        <a:graphic>
          <a:graphicData uri="http://schemas.openxmlformats.org/drawingml/2006/table">
            <a:tbl>
              <a:tblPr firstRow="1">
                <a:tableStyleId>{2A488322-F2BA-4B5B-9748-0D474271808F}</a:tableStyleId>
              </a:tblPr>
              <a:tblGrid>
                <a:gridCol w="1712972">
                  <a:extLst>
                    <a:ext uri="{9D8B030D-6E8A-4147-A177-3AD203B41FA5}">
                      <a16:colId xmlns:a16="http://schemas.microsoft.com/office/drawing/2014/main" val="1904521774"/>
                    </a:ext>
                  </a:extLst>
                </a:gridCol>
                <a:gridCol w="3196433">
                  <a:extLst>
                    <a:ext uri="{9D8B030D-6E8A-4147-A177-3AD203B41FA5}">
                      <a16:colId xmlns:a16="http://schemas.microsoft.com/office/drawing/2014/main" val="3164053669"/>
                    </a:ext>
                  </a:extLst>
                </a:gridCol>
                <a:gridCol w="987084">
                  <a:extLst>
                    <a:ext uri="{9D8B030D-6E8A-4147-A177-3AD203B41FA5}">
                      <a16:colId xmlns:a16="http://schemas.microsoft.com/office/drawing/2014/main" val="1263457420"/>
                    </a:ext>
                  </a:extLst>
                </a:gridCol>
                <a:gridCol w="840551">
                  <a:extLst>
                    <a:ext uri="{9D8B030D-6E8A-4147-A177-3AD203B41FA5}">
                      <a16:colId xmlns:a16="http://schemas.microsoft.com/office/drawing/2014/main" val="1484983729"/>
                    </a:ext>
                  </a:extLst>
                </a:gridCol>
              </a:tblGrid>
              <a:tr h="145927">
                <a:tc gridSpan="4">
                  <a:txBody>
                    <a:bodyPr/>
                    <a:lstStyle/>
                    <a:p>
                      <a:r>
                        <a:rPr lang="fr-FR" sz="975" b="0" kern="1200" noProof="0">
                          <a:solidFill>
                            <a:schemeClr val="tx2"/>
                          </a:solidFill>
                          <a:latin typeface="+mn-lt"/>
                          <a:ea typeface="+mn-ea"/>
                          <a:cs typeface="+mn-cs"/>
                        </a:rPr>
                        <a:t xml:space="preserve">(par. 57)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725" b="0" kern="120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725" b="0" i="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234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Impact négatif potentiel </a:t>
                      </a:r>
                      <a:r>
                        <a:rPr lang="fr-FR" sz="975" b="1" kern="1200" noProof="0">
                          <a:solidFill>
                            <a:schemeClr val="tx2"/>
                          </a:solidFill>
                          <a:latin typeface="+mn-lt"/>
                          <a:ea typeface="+mn-ea"/>
                          <a:cs typeface="+mn-cs"/>
                        </a:rPr>
                        <a:t xml:space="preserve">sur les performances financières et les activités de l’entreprise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kern="1200" noProof="0">
                          <a:solidFill>
                            <a:schemeClr val="tx2"/>
                          </a:solidFill>
                          <a:latin typeface="+mn-lt"/>
                          <a:ea typeface="+mn-ea"/>
                          <a:cs typeface="+mn-cs"/>
                        </a:rPr>
                        <a:t xml:space="preserve">Risque financier</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0" kern="1200" noProof="0">
                          <a:solidFill>
                            <a:schemeClr val="tx2"/>
                          </a:solidFill>
                          <a:latin typeface="+mn-lt"/>
                          <a:ea typeface="+mn-ea"/>
                          <a:cs typeface="+mn-cs"/>
                        </a:rPr>
                        <a:t xml:space="preserve">(faible/moyen/élevé)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noProof="0">
                          <a:solidFill>
                            <a:schemeClr val="tx2"/>
                          </a:solidFill>
                        </a:rPr>
                        <a:t xml:space="preserve">Horizon temporel</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0" i="0" noProof="0">
                          <a:solidFill>
                            <a:schemeClr val="tx2"/>
                          </a:solidFill>
                        </a:rPr>
                        <a:t xml:space="preserve">(0-1/2-5/&gt;5 ans)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noProof="0">
                          <a:solidFill>
                            <a:schemeClr val="tx2"/>
                          </a:solidFill>
                          <a:latin typeface="+mn-lt"/>
                          <a:ea typeface="+mn-ea"/>
                          <a:cs typeface="+mn-cs"/>
                        </a:rPr>
                        <a:t xml:space="preserve">Aléas chroniques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198656">
                <a:tc>
                  <a:txBody>
                    <a:bodyPr/>
                    <a:lstStyle/>
                    <a:p>
                      <a:pPr lvl="0" algn="l">
                        <a:lnSpc>
                          <a:spcPct val="100000"/>
                        </a:lnSpc>
                        <a:spcBef>
                          <a:spcPts val="0"/>
                        </a:spcBef>
                        <a:spcAft>
                          <a:spcPts val="0"/>
                        </a:spcAft>
                        <a:buNone/>
                      </a:pPr>
                      <a:r>
                        <a:rPr lang="fr-FR" sz="975" b="0" i="0" u="none" strike="noStrike" noProof="0">
                          <a:solidFill>
                            <a:srgbClr val="1B4528"/>
                          </a:solidFill>
                        </a:rPr>
                        <a:t>{{chronic_hazards}}</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rgbClr val="1B4528"/>
                          </a:solidFill>
                          <a:latin typeface="IBM Plex Sans"/>
                        </a:rPr>
                        <a:t>{{chronic connection financial </a:t>
                      </a:r>
                      <a:r>
                        <a:rPr lang="fr-FR" sz="975" b="0" i="0" u="none" strike="noStrike" noProof="0">
                          <a:solidFill>
                            <a:srgbClr val="1B4528"/>
                          </a:solidFill>
                          <a:latin typeface="IBM Plex Sans"/>
                          <a:ea typeface="+mn-ea"/>
                          <a:cs typeface="+mn-cs"/>
                        </a:rPr>
                        <a:t>and operations}}</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rgbClr val="1B4528"/>
                          </a:solidFill>
                          <a:latin typeface="IBM Plex Sans"/>
                        </a:rPr>
                        <a:t>{{chronic_financial_risk}}</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rgbClr val="1B4528"/>
                          </a:solidFill>
                          <a:latin typeface="IBM Plex Sans"/>
                        </a:rPr>
                        <a:t>{{chronic_time_horizon}}</a:t>
                      </a:r>
                      <a:endParaRPr lang="fr-FR"/>
                    </a:p>
                    <a:p>
                      <a:pPr marL="0" marR="0" lvl="0" indent="0" algn="ctr" defTabSz="914400">
                        <a:lnSpc>
                          <a:spcPct val="100000"/>
                        </a:lnSpc>
                        <a:spcBef>
                          <a:spcPts val="0"/>
                        </a:spcBef>
                        <a:spcAft>
                          <a:spcPts val="0"/>
                        </a:spcAft>
                        <a:buClrTx/>
                        <a:buSzTx/>
                        <a:buFontTx/>
                        <a:buNone/>
                        <a:tabLst/>
                        <a:defRPr/>
                      </a:pP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noProof="0">
                          <a:solidFill>
                            <a:schemeClr val="tx2"/>
                          </a:solidFill>
                          <a:latin typeface="+mn-lt"/>
                          <a:ea typeface="+mn-ea"/>
                          <a:cs typeface="+mn-cs"/>
                        </a:rPr>
                        <a:t xml:space="preserve">Aléas aigus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198656">
                <a:tc>
                  <a:txBody>
                    <a:bodyPr/>
                    <a:lstStyle/>
                    <a:p>
                      <a:pPr lvl="0" algn="l">
                        <a:lnSpc>
                          <a:spcPct val="100000"/>
                        </a:lnSpc>
                        <a:spcBef>
                          <a:spcPts val="0"/>
                        </a:spcBef>
                        <a:spcAft>
                          <a:spcPts val="0"/>
                        </a:spcAft>
                        <a:buNone/>
                      </a:pPr>
                      <a:r>
                        <a:rPr lang="fr-FR" sz="975" b="0" i="0" u="none" strike="noStrike" noProof="0">
                          <a:solidFill>
                            <a:srgbClr val="1B4528"/>
                          </a:solidFill>
                        </a:rPr>
                        <a:t>{{acute_hazards}}</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rgbClr val="1B4528"/>
                          </a:solidFill>
                          <a:latin typeface="IBM Plex Sans"/>
                        </a:rPr>
                        <a:t>{{acute connection </a:t>
                      </a:r>
                      <a:r>
                        <a:rPr lang="fr-FR" sz="975" b="0" i="0" u="none" strike="noStrike" noProof="0">
                          <a:solidFill>
                            <a:srgbClr val="1B4528"/>
                          </a:solidFill>
                          <a:latin typeface="IBM Plex Sans"/>
                          <a:ea typeface="+mn-ea"/>
                          <a:cs typeface="+mn-cs"/>
                        </a:rPr>
                        <a:t>financial and operations}}</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rgbClr val="1B4528"/>
                          </a:solidFill>
                          <a:latin typeface="IBM Plex Sans"/>
                        </a:rPr>
                        <a:t>{{acute_financial_risk}}</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rgbClr val="1B4528"/>
                          </a:solidFill>
                          <a:latin typeface="IBM Plex Sans"/>
                        </a:rPr>
                        <a:t>{{acute_time_horizon}}</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75" b="1" kern="1200" noProof="0">
                          <a:solidFill>
                            <a:schemeClr val="tx2"/>
                          </a:solidFill>
                          <a:latin typeface="+mn-lt"/>
                          <a:ea typeface="+mn-ea"/>
                          <a:cs typeface="+mn-cs"/>
                        </a:rPr>
                        <a:t xml:space="preserve">Risques de transition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198656">
                <a:tc>
                  <a:txBody>
                    <a:bodyPr/>
                    <a:lstStyle/>
                    <a:p>
                      <a:pPr lvl="0" algn="l">
                        <a:lnSpc>
                          <a:spcPct val="100000"/>
                        </a:lnSpc>
                        <a:spcBef>
                          <a:spcPts val="0"/>
                        </a:spcBef>
                        <a:spcAft>
                          <a:spcPts val="0"/>
                        </a:spcAft>
                        <a:buNone/>
                      </a:pPr>
                      <a:r>
                        <a:rPr lang="fr-FR" sz="975" b="0" i="0" u="none" strike="noStrike" noProof="0">
                          <a:solidFill>
                            <a:srgbClr val="1B4528"/>
                          </a:solidFill>
                        </a:rPr>
                        <a:t>{{climate_related}}</a:t>
                      </a:r>
                      <a:endParaRPr lang="fr-FR"/>
                    </a:p>
                    <a:p>
                      <a:pPr lvl="0" algn="l">
                        <a:lnSpc>
                          <a:spcPct val="100000"/>
                        </a:lnSpc>
                        <a:spcBef>
                          <a:spcPts val="0"/>
                        </a:spcBef>
                        <a:spcAft>
                          <a:spcPts val="0"/>
                        </a:spcAft>
                        <a:buNone/>
                      </a:pPr>
                      <a:endParaRPr lang="fr-FR" sz="975" b="0" i="0" u="none" strike="noStrike" noProof="0">
                        <a:solidFill>
                          <a:srgbClr val="1B4528"/>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rgbClr val="1B4528"/>
                          </a:solidFill>
                          <a:latin typeface="IBM Plex Sans"/>
                        </a:rPr>
                        <a:t>{{climate connection financial </a:t>
                      </a:r>
                      <a:r>
                        <a:rPr lang="fr-FR" sz="975" b="0" i="0" u="none" strike="noStrike" noProof="0">
                          <a:solidFill>
                            <a:srgbClr val="1B4528"/>
                          </a:solidFill>
                          <a:latin typeface="IBM Plex Sans"/>
                          <a:ea typeface="+mn-ea"/>
                          <a:cs typeface="+mn-cs"/>
                        </a:rPr>
                        <a:t>and operations}}</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rgbClr val="1B4528"/>
                          </a:solidFill>
                          <a:latin typeface="IBM Plex Sans"/>
                        </a:rPr>
                        <a:t>{{climate_related_risk}}</a:t>
                      </a:r>
                      <a:endParaRPr lang="fr-FR"/>
                    </a:p>
                    <a:p>
                      <a:pPr lvl="0" algn="ctr">
                        <a:lnSpc>
                          <a:spcPct val="100000"/>
                        </a:lnSpc>
                        <a:spcBef>
                          <a:spcPts val="0"/>
                        </a:spcBef>
                        <a:spcAft>
                          <a:spcPts val="0"/>
                        </a:spcAft>
                        <a:buNone/>
                      </a:pP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fr-FR" sz="975" b="0" i="0" u="none" strike="noStrike" noProof="0">
                          <a:solidFill>
                            <a:srgbClr val="1B4528"/>
                          </a:solidFill>
                          <a:latin typeface="IBM Plex Sans"/>
                        </a:rPr>
                        <a:t>{{climate_time_horizon}}</a:t>
                      </a:r>
                      <a:endParaRPr lang="fr-FR"/>
                    </a:p>
                    <a:p>
                      <a:pPr marL="0" marR="0" lvl="0" indent="0" algn="ctr" defTabSz="914400">
                        <a:lnSpc>
                          <a:spcPct val="100000"/>
                        </a:lnSpc>
                        <a:spcBef>
                          <a:spcPts val="0"/>
                        </a:spcBef>
                        <a:spcAft>
                          <a:spcPts val="0"/>
                        </a:spcAft>
                        <a:buClrTx/>
                        <a:buSzTx/>
                        <a:buFontTx/>
                        <a:buNone/>
                        <a:tabLst/>
                        <a:defRPr/>
                      </a:pPr>
                      <a:endParaRPr lang="fr-FR"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411480" y="1290340"/>
            <a:ext cx="6737040" cy="384705"/>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L’entreprise a présenté un aperçu des risques climatiques, en précisant s’ils sont chroniques, aigus ou liés à la transition et s’ils peuvent affecter ses performances financières et ses activités.</a:t>
            </a:r>
            <a:endParaRPr lang="fr-FR" sz="975"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32321"/>
            <a:ext cx="6737040" cy="207741"/>
          </a:xfrm>
        </p:spPr>
        <p:txBody>
          <a:bodyPr/>
          <a:lstStyle/>
          <a:p>
            <a:r>
              <a:rPr lang="fr-FR" sz="1327" b="1" i="0" u="none" strike="noStrike" kern="1200" spc="-10" noProof="0">
                <a:solidFill>
                  <a:srgbClr val="1B4528"/>
                </a:solidFill>
              </a:rPr>
              <a:t xml:space="preserve">Caractéristiques supplémentaires (générales) du personnel (C5)</a:t>
            </a:r>
            <a:endParaRPr lang="fr-FR"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16</a:t>
            </a:fld>
            <a:endParaRPr lang="fr-FR"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br>
              <a:rPr lang="fr-FR" noProof="0"/>
            </a:br>
            <a:endParaRPr lang="fr-FR"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3853152" y="2024224"/>
          <a:ext cx="3295368" cy="790373"/>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395186">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77" b="1" i="0" noProof="0">
                          <a:solidFill>
                            <a:schemeClr val="tx2"/>
                          </a:solidFill>
                        </a:rPr>
                        <a:t xml:space="preserve">Ratio femmes/hommes au niveau de l’encadrement </a:t>
                      </a:r>
                      <a:r>
                        <a:rPr lang="fr-FR" sz="877" b="0" i="0" noProof="0">
                          <a:solidFill>
                            <a:schemeClr val="tx2"/>
                          </a:solidFill>
                        </a:rPr>
                        <a:t xml:space="preserve">(par. 59)</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877" b="1" i="0" u="none" strike="noStrike" noProof="0">
                          <a:solidFill>
                            <a:srgbClr val="1B4528"/>
                          </a:solidFill>
                          <a:effectLst/>
                          <a:latin typeface="IBM Plex Sans" panose="020B0503050203000203" pitchFamily="34" charset="0"/>
                        </a:rPr>
                        <a:t xml:space="preserve">Année </a:t>
                      </a:r>
                      <a:r>
                        <a:rPr lang="fr-FR" sz="877" b="1" i="0" u="none" strike="noStrike" noProof="0">
                          <a:solidFill>
                            <a:srgbClr val="1B4528"/>
                          </a:solidFill>
                          <a:effectLst/>
                          <a:latin typeface="IBM Plex Sans" panose="020B0503050203000203" pitchFamily="34" charset="0"/>
                        </a:rPr>
                        <a:t>{{Insert year}}</a:t>
                      </a:r>
                      <a:endParaRPr lang="fr-FR" sz="877"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95186">
                <a:tc vMerge="1">
                  <a:txBody>
                    <a:bodyPr/>
                    <a:lstStyle/>
                    <a:p>
                      <a:endParaRPr lang="fr-FR"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877" b="0" i="0" u="none" strike="noStrike" noProof="0">
                          <a:solidFill>
                            <a:srgbClr val="1B4528"/>
                          </a:solidFill>
                          <a:effectLst/>
                          <a:latin typeface="IBM Plex Sans" panose="020B0503050203000203" pitchFamily="34" charset="0"/>
                        </a:rPr>
                        <a:t>{{gender_balance}}</a:t>
                      </a:r>
                      <a:endParaRPr lang="fr-FR" sz="877"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411480" y="2024224"/>
          <a:ext cx="3295368" cy="790373"/>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395186">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77" b="1" i="0" noProof="0">
                          <a:solidFill>
                            <a:schemeClr val="tx2"/>
                          </a:solidFill>
                        </a:rPr>
                        <a:t xml:space="preserve">Rotation du personnel sur l’année de référence </a:t>
                      </a:r>
                      <a:r>
                        <a:rPr lang="fr-FR" sz="877" b="0" i="0" noProof="0">
                          <a:solidFill>
                            <a:schemeClr val="tx2"/>
                          </a:solidFill>
                        </a:rPr>
                        <a:t xml:space="preserve">(par. 58)</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fr-FR" sz="877" b="1" i="0" u="none" strike="noStrike" noProof="0">
                          <a:solidFill>
                            <a:srgbClr val="1B4528"/>
                          </a:solidFill>
                          <a:effectLst/>
                          <a:latin typeface="IBM Plex Sans" panose="020B0503050203000203" pitchFamily="34" charset="0"/>
                        </a:rPr>
                        <a:t xml:space="preserve">Année </a:t>
                      </a:r>
                      <a:r>
                        <a:rPr lang="fr-FR" sz="877" b="1" i="0" u="none" strike="noStrike" noProof="0">
                          <a:solidFill>
                            <a:srgbClr val="1B4528"/>
                          </a:solidFill>
                          <a:effectLst/>
                          <a:latin typeface="IBM Plex Sans" panose="020B0503050203000203" pitchFamily="34" charset="0"/>
                        </a:rPr>
                        <a:t>{{Insert year}}</a:t>
                      </a:r>
                      <a:endParaRPr lang="fr-FR" sz="877"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95186">
                <a:tc vMerge="1">
                  <a:txBody>
                    <a:bodyPr/>
                    <a:lstStyle/>
                    <a:p>
                      <a:endParaRPr lang="fr-FR"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fr-FR" sz="877" b="0" i="0" u="none" strike="noStrike" noProof="0">
                          <a:solidFill>
                            <a:srgbClr val="1B4528"/>
                          </a:solidFill>
                          <a:effectLst/>
                          <a:latin typeface="IBM Plex Sans" panose="020B0503050203000203" pitchFamily="34" charset="0"/>
                        </a:rPr>
                        <a:t>{{omsatningsrate}}</a:t>
                      </a: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411480" y="1317755"/>
            <a:ext cx="6737040" cy="692470"/>
          </a:xfrm>
          <a:prstGeom prst="rect">
            <a:avLst/>
          </a:prstGeom>
          <a:noFill/>
        </p:spPr>
        <p:txBody>
          <a:bodyPr wrap="square">
            <a:spAutoFit/>
          </a:bodyPr>
          <a:lstStyle/>
          <a:p>
            <a:pPr rtl="0">
              <a:buNone/>
            </a:pPr>
            <a:r>
              <a:rPr lang="fr-FR" sz="877" b="0" i="0" u="none" strike="noStrike" noProof="0">
                <a:solidFill>
                  <a:schemeClr val="tx2"/>
                </a:solidFill>
                <a:effectLst/>
                <a:latin typeface="Inter"/>
              </a:rPr>
              <a:t xml:space="preserve">Les informations ci-dessous complètent les autres informations sur le personnel de l’entreprise, notamment la répartition entre hommes et femmes au niveau de l’encadrement.</a:t>
            </a:r>
            <a:endParaRPr lang="fr-FR" sz="877" b="0" noProof="0">
              <a:solidFill>
                <a:schemeClr val="tx2"/>
              </a:solidFill>
              <a:effectLst/>
              <a:latin typeface="Inter"/>
            </a:endParaRPr>
          </a:p>
          <a:p>
            <a:pPr>
              <a:buNone/>
            </a:pPr>
            <a:br>
              <a:rPr lang="fr-FR" sz="877" noProof="0">
                <a:solidFill>
                  <a:schemeClr val="tx2"/>
                </a:solidFill>
                <a:latin typeface="Inter"/>
              </a:rPr>
            </a:br>
            <a:endParaRPr lang="fr-FR" sz="877"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032068852"/>
              </p:ext>
            </p:extLst>
          </p:nvPr>
        </p:nvGraphicFramePr>
        <p:xfrm>
          <a:off x="411480" y="3646198"/>
          <a:ext cx="6737040" cy="959960"/>
        </p:xfrm>
        <a:graphic>
          <a:graphicData uri="http://schemas.openxmlformats.org/drawingml/2006/table">
            <a:tbl>
              <a:tblPr firstRow="1">
                <a:tableStyleId>{2A488322-F2BA-4B5B-9748-0D474271808F}</a:tableStyleId>
              </a:tblPr>
              <a:tblGrid>
                <a:gridCol w="4993574">
                  <a:extLst>
                    <a:ext uri="{9D8B030D-6E8A-4147-A177-3AD203B41FA5}">
                      <a16:colId xmlns:a16="http://schemas.microsoft.com/office/drawing/2014/main" val="2698153288"/>
                    </a:ext>
                  </a:extLst>
                </a:gridCol>
                <a:gridCol w="1743466">
                  <a:extLst>
                    <a:ext uri="{9D8B030D-6E8A-4147-A177-3AD203B41FA5}">
                      <a16:colId xmlns:a16="http://schemas.microsoft.com/office/drawing/2014/main" val="2119413191"/>
                    </a:ext>
                  </a:extLst>
                </a:gridCol>
              </a:tblGrid>
              <a:tr h="2399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77" b="1" kern="1200" noProof="0">
                          <a:solidFill>
                            <a:schemeClr val="tx2"/>
                          </a:solidFill>
                          <a:latin typeface="+mn-lt"/>
                          <a:ea typeface="+mn-ea"/>
                          <a:cs typeface="+mn-cs"/>
                        </a:rPr>
                        <a:t xml:space="preserve">Travailleurs indépendants et salariés temporaires </a:t>
                      </a:r>
                      <a:r>
                        <a:rPr lang="fr-FR" sz="877" b="0" noProof="0">
                          <a:solidFill>
                            <a:schemeClr val="tx2"/>
                          </a:solidFill>
                        </a:rPr>
                        <a:t xml:space="preserve">(par. 60)</a:t>
                      </a:r>
                      <a:endParaRPr lang="fr-FR" sz="877"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39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877"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77" b="1" kern="1200" noProof="0">
                          <a:solidFill>
                            <a:schemeClr val="tx2"/>
                          </a:solidFill>
                          <a:latin typeface="+mn-lt"/>
                          <a:ea typeface="+mn-ea"/>
                          <a:cs typeface="+mn-cs"/>
                        </a:rPr>
                        <a:t xml:space="preserve">Nombre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9990">
                <a:tc>
                  <a:txBody>
                    <a:bodyPr/>
                    <a:lstStyle/>
                    <a:p>
                      <a:r>
                        <a:rPr lang="fr-FR" sz="877" b="1" noProof="0">
                          <a:solidFill>
                            <a:schemeClr val="tx2"/>
                          </a:solidFill>
                        </a:rPr>
                        <a:t xml:space="preserve">Travailleurs indépendants (sans personnel)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77" b="0" i="0" u="none" strike="noStrike" noProof="0">
                          <a:solidFill>
                            <a:srgbClr val="1B4528"/>
                          </a:solidFill>
                          <a:effectLst/>
                          <a:latin typeface="Inter"/>
                        </a:rPr>
                        <a:t>{{self-employeed}}</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fr-FR" sz="877" b="1" noProof="0">
                          <a:solidFill>
                            <a:schemeClr val="tx2"/>
                          </a:solidFill>
                        </a:rPr>
                        <a:t xml:space="preserve">Salariés temporaires (mis à disposition par une agence d’intérim) </a:t>
                      </a:r>
                      <a:endParaRPr lang="fr-FR" sz="877"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77" b="0" i="0" u="none" strike="noStrike" noProof="0">
                          <a:solidFill>
                            <a:srgbClr val="1B4528"/>
                          </a:solidFill>
                          <a:effectLst/>
                          <a:latin typeface="Inter"/>
                        </a:rPr>
                        <a:t>{{</a:t>
                      </a:r>
                      <a:r>
                        <a:rPr lang="fr-FR" sz="877" b="0" i="0" u="none" strike="noStrike" noProof="0">
                          <a:solidFill>
                            <a:srgbClr val="1B4528"/>
                          </a:solidFill>
                          <a:effectLst/>
                          <a:latin typeface="Inter"/>
                        </a:rPr>
                        <a:t>temp_workers</a:t>
                      </a:r>
                      <a:r>
                        <a:rPr lang="fr-FR" sz="877" b="0" i="0" u="none" strike="noStrike" noProof="0">
                          <a:solidFill>
                            <a:srgbClr val="1B4528"/>
                          </a:solidFill>
                          <a:effectLst/>
                          <a:latin typeface="Inter"/>
                        </a:rPr>
                        <a:t>}}</a:t>
                      </a:r>
                      <a:endParaRPr lang="fr-FR" sz="877"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411480" y="3114838"/>
            <a:ext cx="6737040" cy="230823"/>
          </a:xfrm>
          <a:prstGeom prst="rect">
            <a:avLst/>
          </a:prstGeom>
          <a:noFill/>
        </p:spPr>
        <p:txBody>
          <a:bodyPr wrap="square">
            <a:spAutoFit/>
          </a:bodyPr>
          <a:lstStyle/>
          <a:p>
            <a:pPr rtl="0">
              <a:buNone/>
            </a:pPr>
            <a:r>
              <a:rPr lang="fr-FR" sz="877" b="0" i="0" u="none" strike="noStrike" noProof="0">
                <a:solidFill>
                  <a:schemeClr val="tx2"/>
                </a:solidFill>
                <a:effectLst/>
                <a:latin typeface="Inter"/>
              </a:rPr>
              <a:t xml:space="preserve">Les informations ci-dessous ont été complétées afin d’indiquer le nombre de travailleurs indépendants et de salariés temporaires de l’entreprise.</a:t>
            </a:r>
            <a:endParaRPr lang="fr-FR" sz="877" b="0" noProof="0">
              <a:solidFill>
                <a:schemeClr val="tx2"/>
              </a:solidFill>
              <a:effectLst/>
              <a:latin typeface="Inter"/>
            </a:endParaRPr>
          </a:p>
        </p:txBody>
      </p:sp>
      <p:sp>
        <p:nvSpPr>
          <p:cNvPr id="3" name="Title 2">
            <a:extLst>
              <a:ext uri="{FF2B5EF4-FFF2-40B4-BE49-F238E27FC236}">
                <a16:creationId xmlns:a16="http://schemas.microsoft.com/office/drawing/2014/main" id="{60DB9D9C-F7AE-1DD2-71CF-81E689C1070F}"/>
              </a:ext>
            </a:extLst>
          </p:cNvPr>
          <p:cNvSpPr txBox="1">
            <a:spLocks/>
          </p:cNvSpPr>
          <p:nvPr/>
        </p:nvSpPr>
        <p:spPr>
          <a:xfrm>
            <a:off x="411480" y="5020235"/>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327" b="1" kern="1200" spc="-10" baseline="0">
                <a:solidFill>
                  <a:schemeClr val="tx2"/>
                </a:solidFill>
                <a:latin typeface="+mj-lt"/>
                <a:ea typeface="+mj-ea"/>
                <a:cs typeface="+mj-cs"/>
              </a:defRPr>
            </a:lvl1pPr>
          </a:lstStyle>
          <a:p>
            <a:r>
              <a:rPr lang="fr-FR">
                <a:solidFill>
                  <a:srgbClr val="1B4528"/>
                </a:solidFill>
                <a:latin typeface="+mn-lt"/>
                <a:ea typeface="+mn-ea"/>
                <a:cs typeface="+mn-cs"/>
              </a:rPr>
              <a:t xml:space="preserve">Politiques et procédures en matière de droits de l’homme (C6</a:t>
            </a:r>
            <a:r>
              <a:rPr lang="fr-FR"/>
              <a:t xml:space="preserve">) - Personnel</a:t>
            </a:r>
          </a:p>
        </p:txBody>
      </p:sp>
      <p:graphicFrame>
        <p:nvGraphicFramePr>
          <p:cNvPr id="7" name="Table 12">
            <a:extLst>
              <a:ext uri="{FF2B5EF4-FFF2-40B4-BE49-F238E27FC236}">
                <a16:creationId xmlns:a16="http://schemas.microsoft.com/office/drawing/2014/main" id="{EFD90793-89B1-1051-40D4-976350EF00EF}"/>
              </a:ext>
            </a:extLst>
          </p:cNvPr>
          <p:cNvGraphicFramePr>
            <a:graphicFrameLocks noGrp="1"/>
          </p:cNvGraphicFramePr>
          <p:nvPr>
            <p:extLst>
              <p:ext uri="{D42A27DB-BD31-4B8C-83A1-F6EECF244321}">
                <p14:modId xmlns:p14="http://schemas.microsoft.com/office/powerpoint/2010/main" val="2276300516"/>
              </p:ext>
            </p:extLst>
          </p:nvPr>
        </p:nvGraphicFramePr>
        <p:xfrm>
          <a:off x="411480" y="5968203"/>
          <a:ext cx="6737040" cy="2876437"/>
        </p:xfrm>
        <a:graphic>
          <a:graphicData uri="http://schemas.openxmlformats.org/drawingml/2006/table">
            <a:tbl>
              <a:tblPr firstRow="1">
                <a:tableStyleId>{2A488322-F2BA-4B5B-9748-0D474271808F}</a:tableStyleId>
              </a:tblPr>
              <a:tblGrid>
                <a:gridCol w="5179030">
                  <a:extLst>
                    <a:ext uri="{9D8B030D-6E8A-4147-A177-3AD203B41FA5}">
                      <a16:colId xmlns:a16="http://schemas.microsoft.com/office/drawing/2014/main" val="2698153288"/>
                    </a:ext>
                  </a:extLst>
                </a:gridCol>
                <a:gridCol w="1558010">
                  <a:extLst>
                    <a:ext uri="{9D8B030D-6E8A-4147-A177-3AD203B41FA5}">
                      <a16:colId xmlns:a16="http://schemas.microsoft.com/office/drawing/2014/main" val="2119413191"/>
                    </a:ext>
                  </a:extLst>
                </a:gridCol>
              </a:tblGrid>
              <a:tr h="4265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77" b="1" kern="1200" noProof="0">
                          <a:solidFill>
                            <a:srgbClr val="1B4528"/>
                          </a:solidFill>
                          <a:latin typeface="+mn-lt"/>
                          <a:ea typeface="+mn-ea"/>
                          <a:cs typeface="+mn-cs"/>
                        </a:rPr>
                        <a:t>{{company_name}}</a:t>
                      </a:r>
                      <a:r>
                        <a:rPr lang="fr-FR" sz="877" b="1" noProof="0">
                          <a:solidFill>
                            <a:schemeClr val="tx2"/>
                          </a:solidFill>
                        </a:rPr>
                        <a:t xml:space="preserve"> dispose d’</a:t>
                      </a:r>
                      <a:r>
                        <a:rPr lang="fr-FR" sz="877" b="1" kern="1200" spc="-10" noProof="0">
                          <a:solidFill>
                            <a:schemeClr val="tx2"/>
                          </a:solidFill>
                          <a:latin typeface="+mn-lt"/>
                          <a:ea typeface="+mn-ea"/>
                          <a:cs typeface="+mn-cs"/>
                        </a:rPr>
                        <a:t xml:space="preserve">un code de conduite </a:t>
                      </a:r>
                      <a:r>
                        <a:rPr lang="fr-FR" sz="877" b="1" i="1" kern="1200" spc="-10" noProof="0">
                          <a:solidFill>
                            <a:schemeClr val="tx2"/>
                          </a:solidFill>
                          <a:latin typeface="+mn-lt"/>
                          <a:ea typeface="+mn-ea"/>
                          <a:cs typeface="+mn-cs"/>
                        </a:rPr>
                        <a:t xml:space="preserve">et/ou</a:t>
                      </a:r>
                      <a:r>
                        <a:rPr lang="fr-FR" sz="877" b="1" kern="1200" spc="-10" noProof="0">
                          <a:solidFill>
                            <a:schemeClr val="tx2"/>
                          </a:solidFill>
                          <a:latin typeface="+mn-lt"/>
                          <a:ea typeface="+mn-ea"/>
                          <a:cs typeface="+mn-cs"/>
                        </a:rPr>
                        <a:t xml:space="preserve"> d’une politique en matière de droits de l’homme pour notre </a:t>
                      </a:r>
                      <a:r>
                        <a:rPr lang="fr-FR" sz="877" b="1" u="sng" kern="1200" spc="-10" noProof="0">
                          <a:solidFill>
                            <a:schemeClr val="tx2"/>
                          </a:solidFill>
                          <a:latin typeface="+mn-lt"/>
                          <a:ea typeface="+mn-ea"/>
                          <a:cs typeface="+mn-cs"/>
                        </a:rPr>
                        <a:t xml:space="preserve">personnel</a:t>
                      </a:r>
                      <a:r>
                        <a:rPr lang="fr-FR" sz="877" b="0" u="none" kern="1200" spc="-10" noProof="0">
                          <a:solidFill>
                            <a:schemeClr val="tx2"/>
                          </a:solidFill>
                          <a:latin typeface="+mn-lt"/>
                          <a:ea typeface="+mn-ea"/>
                          <a:cs typeface="+mn-cs"/>
                        </a:rPr>
                        <a:t xml:space="preserve"> (par. 61a)</a:t>
                      </a:r>
                      <a:endParaRPr lang="fr-FR" sz="877" b="0" u="none"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FR" sz="877" b="0" noProof="0">
                          <a:solidFill>
                            <a:srgbClr val="1B4528"/>
                          </a:solidFill>
                          <a:latin typeface="+mn-lt"/>
                          <a:cs typeface="Calibri"/>
                        </a:rPr>
                        <a:t>{{human_rights_policy?}}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19389">
                <a:tc gridSpan="2">
                  <a:txBody>
                    <a:bodyPr/>
                    <a:lstStyle/>
                    <a:p>
                      <a:r>
                        <a:rPr lang="fr-FR" sz="877" b="1" kern="1200" noProof="0">
                          <a:solidFill>
                            <a:schemeClr val="tx1"/>
                          </a:solidFill>
                          <a:latin typeface="+mn-lt"/>
                          <a:ea typeface="+mn-ea"/>
                          <a:cs typeface="+mn-cs"/>
                        </a:rPr>
                        <a:t xml:space="preserve">Le code de conduite ou la politique droits de l’homme couvre les thèmes suivants : </a:t>
                      </a:r>
                      <a:r>
                        <a:rPr lang="fr-FR" sz="877" b="0" u="none" kern="1200" spc="-10" noProof="0">
                          <a:solidFill>
                            <a:schemeClr val="tx2"/>
                          </a:solidFill>
                          <a:latin typeface="+mn-lt"/>
                          <a:ea typeface="+mn-ea"/>
                          <a:cs typeface="+mn-cs"/>
                        </a:rPr>
                        <a:t xml:space="preserve">(par. 61b)</a:t>
                      </a:r>
                      <a:endParaRPr lang="fr-FR" sz="877" b="0" noProof="0">
                        <a:solidFill>
                          <a:schemeClr val="tx1"/>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75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19389">
                <a:tc>
                  <a:txBody>
                    <a:bodyPr/>
                    <a:lstStyle/>
                    <a:p>
                      <a:pPr lvl="1"/>
                      <a:r>
                        <a:rPr lang="fr-FR" sz="877" b="0" noProof="0">
                          <a:solidFill>
                            <a:schemeClr val="tx2"/>
                          </a:solidFill>
                        </a:rPr>
                        <a:t xml:space="preserve">Travail des enfants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77" b="0" i="0" u="none" strike="noStrike" noProof="0">
                          <a:solidFill>
                            <a:srgbClr val="1B4528"/>
                          </a:solidFill>
                          <a:effectLst/>
                          <a:latin typeface="Inter"/>
                        </a:rPr>
                        <a:t>{{child_labour_polict?}}</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19389">
                <a:tc>
                  <a:txBody>
                    <a:bodyPr/>
                    <a:lstStyle/>
                    <a:p>
                      <a:pPr lvl="1"/>
                      <a:r>
                        <a:rPr lang="fr-FR" sz="877" b="0" noProof="0">
                          <a:solidFill>
                            <a:schemeClr val="tx2"/>
                          </a:solidFill>
                        </a:rPr>
                        <a:t xml:space="preserve">Travail forcé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77" b="0" i="0" u="none" strike="noStrike" noProof="0">
                          <a:solidFill>
                            <a:srgbClr val="1B4528"/>
                          </a:solidFill>
                          <a:effectLst/>
                          <a:latin typeface="Inter"/>
                        </a:rPr>
                        <a:t>{{forced_labour_policy?}}</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19389">
                <a:tc>
                  <a:txBody>
                    <a:bodyPr/>
                    <a:lstStyle/>
                    <a:p>
                      <a:pPr lvl="1"/>
                      <a:r>
                        <a:rPr lang="fr-FR" sz="877" b="0" noProof="0">
                          <a:solidFill>
                            <a:schemeClr val="tx2"/>
                          </a:solidFill>
                        </a:rPr>
                        <a:t xml:space="preserve">Traite des êtres humains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77" b="0" i="0" u="none" strike="noStrike" noProof="0">
                          <a:solidFill>
                            <a:srgbClr val="1B4528"/>
                          </a:solidFill>
                          <a:effectLst/>
                          <a:latin typeface="Inter"/>
                        </a:rPr>
                        <a:t>{{human_policy?}}</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19389">
                <a:tc>
                  <a:txBody>
                    <a:bodyPr/>
                    <a:lstStyle/>
                    <a:p>
                      <a:pPr lvl="1"/>
                      <a:r>
                        <a:rPr lang="fr-FR" sz="877" b="0" noProof="0">
                          <a:solidFill>
                            <a:schemeClr val="tx2"/>
                          </a:solidFill>
                        </a:rPr>
                        <a:t>Discrimination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77" b="0" i="0" u="none" strike="noStrike" noProof="0">
                          <a:solidFill>
                            <a:srgbClr val="1B4528"/>
                          </a:solidFill>
                          <a:effectLst/>
                          <a:latin typeface="Inter"/>
                        </a:rPr>
                        <a:t>{{discrimanation_policy?}}</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19389">
                <a:tc>
                  <a:txBody>
                    <a:bodyPr/>
                    <a:lstStyle/>
                    <a:p>
                      <a:pPr lvl="1"/>
                      <a:r>
                        <a:rPr lang="fr-FR" sz="877" b="0" noProof="0">
                          <a:solidFill>
                            <a:schemeClr val="tx2"/>
                          </a:solidFill>
                        </a:rPr>
                        <a:t xml:space="preserve">Sécurité et prévention des accidents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77" b="0" i="0" u="none" strike="noStrike" noProof="0">
                          <a:solidFill>
                            <a:srgbClr val="1B4528"/>
                          </a:solidFill>
                          <a:effectLst/>
                          <a:latin typeface="Inter"/>
                        </a:rPr>
                        <a:t>{{safety_policy?}}</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19389">
                <a:tc>
                  <a:txBody>
                    <a:bodyPr/>
                    <a:lstStyle/>
                    <a:p>
                      <a:pPr lvl="1"/>
                      <a:r>
                        <a:rPr lang="fr-FR" sz="877" b="0" noProof="0">
                          <a:solidFill>
                            <a:schemeClr val="tx2"/>
                          </a:solidFill>
                        </a:rPr>
                        <a:t xml:space="preserve">Autre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fr-FR" sz="877" b="0" i="0" u="none" strike="noStrike" noProof="0">
                          <a:solidFill>
                            <a:srgbClr val="1B4528"/>
                          </a:solidFill>
                          <a:effectLst/>
                          <a:latin typeface="Inter"/>
                        </a:rPr>
                        <a:t>{{other_policy?}}</a:t>
                      </a:r>
                      <a:endParaRPr lang="fr-FR"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19389">
                <a:tc gridSpan="2">
                  <a:txBody>
                    <a:bodyPr/>
                    <a:lstStyle/>
                    <a:p>
                      <a:r>
                        <a:rPr lang="fr-FR" sz="877" b="1" noProof="0">
                          <a:solidFill>
                            <a:schemeClr val="tx2"/>
                          </a:solidFill>
                        </a:rPr>
                        <a:t xml:space="preserve">Si oui pour « Autre », veuillez préciser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750" b="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694735">
                <a:tc gridSpan="2">
                  <a:txBody>
                    <a:bodyPr/>
                    <a:lstStyle/>
                    <a:p>
                      <a:endParaRPr lang="fr-FR" sz="877" b="0" noProof="0" dirty="0">
                        <a:solidFill>
                          <a:schemeClr val="tx2"/>
                        </a:solidFill>
                      </a:endParaRPr>
                    </a:p>
                    <a:p>
                      <a:pPr lvl="0" algn="r">
                        <a:lnSpc>
                          <a:spcPct val="100000"/>
                        </a:lnSpc>
                        <a:spcBef>
                          <a:spcPts val="0"/>
                        </a:spcBef>
                        <a:spcAft>
                          <a:spcPts val="0"/>
                        </a:spcAft>
                        <a:buNone/>
                      </a:pPr>
                      <a:r>
                        <a:rPr lang="fr-FR" sz="877" b="0" i="0" u="none" strike="noStrike" kern="1200" noProof="0">
                          <a:solidFill>
                            <a:srgbClr val="1B4528"/>
                          </a:solidFill>
                          <a:latin typeface="Inter"/>
                          <a:ea typeface="+mn-ea"/>
                          <a:cs typeface="+mn-cs"/>
                        </a:rPr>
                        <a:t>{{C6_other_description}}</a:t>
                      </a:r>
                      <a:endParaRPr lang="fr-FR" sz="877" b="0" i="0" u="none" strike="noStrike" kern="1200" noProof="0" dirty="0">
                        <a:solidFill>
                          <a:srgbClr val="000000"/>
                        </a:solidFill>
                        <a:latin typeface="Inter"/>
                        <a:ea typeface="+mn-ea"/>
                        <a:cs typeface="+mn-cs"/>
                      </a:endParaRPr>
                    </a:p>
                    <a:p>
                      <a:endParaRPr lang="fr-FR" sz="877" b="0" noProof="0" dirty="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750" b="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9" name="Table 12">
            <a:extLst>
              <a:ext uri="{FF2B5EF4-FFF2-40B4-BE49-F238E27FC236}">
                <a16:creationId xmlns:a16="http://schemas.microsoft.com/office/drawing/2014/main" id="{EF31CA8D-F773-B7A0-BF4B-230DDB5D05E2}"/>
              </a:ext>
            </a:extLst>
          </p:cNvPr>
          <p:cNvGraphicFramePr>
            <a:graphicFrameLocks noGrp="1"/>
          </p:cNvGraphicFramePr>
          <p:nvPr>
            <p:extLst>
              <p:ext uri="{D42A27DB-BD31-4B8C-83A1-F6EECF244321}">
                <p14:modId xmlns:p14="http://schemas.microsoft.com/office/powerpoint/2010/main" val="4186352873"/>
              </p:ext>
            </p:extLst>
          </p:nvPr>
        </p:nvGraphicFramePr>
        <p:xfrm>
          <a:off x="411480" y="9055675"/>
          <a:ext cx="6737040" cy="721700"/>
        </p:xfrm>
        <a:graphic>
          <a:graphicData uri="http://schemas.openxmlformats.org/drawingml/2006/table">
            <a:tbl>
              <a:tblPr firstRow="1">
                <a:tableStyleId>{2A488322-F2BA-4B5B-9748-0D474271808F}</a:tableStyleId>
              </a:tblPr>
              <a:tblGrid>
                <a:gridCol w="5179031">
                  <a:extLst>
                    <a:ext uri="{9D8B030D-6E8A-4147-A177-3AD203B41FA5}">
                      <a16:colId xmlns:a16="http://schemas.microsoft.com/office/drawing/2014/main" val="2698153288"/>
                    </a:ext>
                  </a:extLst>
                </a:gridCol>
                <a:gridCol w="1558009">
                  <a:extLst>
                    <a:ext uri="{9D8B030D-6E8A-4147-A177-3AD203B41FA5}">
                      <a16:colId xmlns:a16="http://schemas.microsoft.com/office/drawing/2014/main" val="2119413191"/>
                    </a:ext>
                  </a:extLst>
                </a:gridCol>
              </a:tblGrid>
              <a:tr h="721700">
                <a:tc>
                  <a:txBody>
                    <a:bodyPr/>
                    <a:lstStyle/>
                    <a:p>
                      <a:r>
                        <a:rPr lang="fr-FR" sz="877" b="1" noProof="0">
                          <a:solidFill>
                            <a:schemeClr val="tx2"/>
                          </a:solidFill>
                        </a:rPr>
                        <a:t xml:space="preserve">L’entreprise dispose d’un mécanisme de traitement des plaintes pour notre </a:t>
                      </a:r>
                      <a:r>
                        <a:rPr lang="fr-FR" sz="877" b="1" u="sng" noProof="0">
                          <a:solidFill>
                            <a:schemeClr val="tx2"/>
                          </a:solidFill>
                        </a:rPr>
                        <a:t xml:space="preserve">personnel</a:t>
                      </a:r>
                      <a:r>
                        <a:rPr lang="fr-FR" sz="877" b="0" u="sng" noProof="0">
                          <a:solidFill>
                            <a:schemeClr val="tx2"/>
                          </a:solidFill>
                        </a:rPr>
                        <a:t> </a:t>
                      </a:r>
                      <a:r>
                        <a:rPr lang="fr-FR" sz="877" b="0" noProof="0">
                          <a:solidFill>
                            <a:schemeClr val="tx2"/>
                          </a:solidFill>
                        </a:rPr>
                        <a:t xml:space="preserve">(par. 61c)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FR" sz="877" b="0" noProof="0">
                          <a:solidFill>
                            <a:srgbClr val="1B4528"/>
                          </a:solidFill>
                          <a:latin typeface="+mn-lt"/>
                          <a:cs typeface="Calibri"/>
                        </a:rPr>
                        <a:t>{{whistleblower?}}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0" name="Tekstfelt 9">
            <a:extLst>
              <a:ext uri="{FF2B5EF4-FFF2-40B4-BE49-F238E27FC236}">
                <a16:creationId xmlns:a16="http://schemas.microsoft.com/office/drawing/2014/main" id="{DE98A347-CF52-AA6C-DDC5-06292C717A69}"/>
              </a:ext>
            </a:extLst>
          </p:cNvPr>
          <p:cNvSpPr txBox="1"/>
          <p:nvPr/>
        </p:nvSpPr>
        <p:spPr>
          <a:xfrm>
            <a:off x="411480" y="5321206"/>
            <a:ext cx="6737040" cy="384705"/>
          </a:xfrm>
          <a:prstGeom prst="rect">
            <a:avLst/>
          </a:prstGeom>
          <a:noFill/>
        </p:spPr>
        <p:txBody>
          <a:bodyPr wrap="square">
            <a:spAutoFit/>
          </a:bodyPr>
          <a:lstStyle/>
          <a:p>
            <a:pPr>
              <a:spcBef>
                <a:spcPts val="750"/>
              </a:spcBef>
            </a:pPr>
            <a:r>
              <a:rPr lang="fr-FR" sz="877" b="0" i="0" u="none" strike="noStrike" noProof="0">
                <a:solidFill>
                  <a:schemeClr val="tx2"/>
                </a:solidFill>
                <a:effectLst/>
                <a:latin typeface="Inter"/>
              </a:rPr>
              <a:t xml:space="preserve">Ci-dessous figurent des </a:t>
            </a:r>
            <a:r>
              <a:rPr lang="fr-FR" sz="877" noProof="0">
                <a:solidFill>
                  <a:schemeClr val="tx2"/>
                </a:solidFill>
                <a:latin typeface="Inter"/>
              </a:rPr>
              <a:t xml:space="preserve">informations sur </a:t>
            </a:r>
            <a:r>
              <a:rPr lang="fr-FR" sz="877" b="0" i="0" u="none" strike="noStrike" noProof="0">
                <a:solidFill>
                  <a:schemeClr val="tx2"/>
                </a:solidFill>
                <a:effectLst/>
                <a:latin typeface="Inter"/>
              </a:rPr>
              <a:t xml:space="preserve">le code de conduite et/ou la politique en matière de droits de l’homme de l’entreprise couvrant son personne</a:t>
            </a:r>
            <a:r>
              <a:rPr lang="fr-FR" sz="877" noProof="0">
                <a:solidFill>
                  <a:schemeClr val="tx2"/>
                </a:solidFill>
                <a:latin typeface="Inter"/>
              </a:rPr>
              <a:t xml:space="preserve">l. Il est également indiqué si l’entreprise dispose d’un mécanisme de traitement des plaintes permettant aux salariés de signaler des faits liés à des violations des droits de l’homme, des discriminations, du harcèlement ou d’autres agissements répréhensibles.</a:t>
            </a:r>
          </a:p>
        </p:txBody>
      </p:sp>
    </p:spTree>
    <p:extLst>
      <p:ext uri="{BB962C8B-B14F-4D97-AF65-F5344CB8AC3E}">
        <p14:creationId xmlns:p14="http://schemas.microsoft.com/office/powerpoint/2010/main" val="1095913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32321"/>
            <a:ext cx="6737040" cy="207741"/>
          </a:xfrm>
        </p:spPr>
        <p:txBody>
          <a:bodyPr/>
          <a:lstStyle/>
          <a:p>
            <a:r>
              <a:rPr lang="fr-FR" sz="1475" b="1" i="0" u="none" strike="noStrike" kern="1200" spc="-10" noProof="0">
                <a:solidFill>
                  <a:srgbClr val="1B4528"/>
                </a:solidFill>
                <a:latin typeface="+mn-lt"/>
                <a:ea typeface="+mn-ea"/>
                <a:cs typeface="+mn-cs"/>
              </a:rPr>
              <a:t xml:space="preserve">Incidents graves en matière de droits de l’homme (C7</a:t>
            </a:r>
            <a:r>
              <a:rPr lang="fr-FR" noProof="0"/>
              <a:t xml:space="preserve">) – Personnel de l’entreprise</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17</a:t>
            </a:fld>
            <a:endParaRPr lang="fr-F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endParaRPr lang="fr-F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411480" y="2153762"/>
          <a:ext cx="6737040" cy="2579984"/>
        </p:xfrm>
        <a:graphic>
          <a:graphicData uri="http://schemas.openxmlformats.org/drawingml/2006/table">
            <a:tbl>
              <a:tblPr firstRow="1">
                <a:tableStyleId>{2A488322-F2BA-4B5B-9748-0D474271808F}</a:tableStyleId>
              </a:tblPr>
              <a:tblGrid>
                <a:gridCol w="2364547">
                  <a:extLst>
                    <a:ext uri="{9D8B030D-6E8A-4147-A177-3AD203B41FA5}">
                      <a16:colId xmlns:a16="http://schemas.microsoft.com/office/drawing/2014/main" val="1902117154"/>
                    </a:ext>
                  </a:extLst>
                </a:gridCol>
                <a:gridCol w="4372493">
                  <a:extLst>
                    <a:ext uri="{9D8B030D-6E8A-4147-A177-3AD203B41FA5}">
                      <a16:colId xmlns:a16="http://schemas.microsoft.com/office/drawing/2014/main" val="1904521774"/>
                    </a:ext>
                  </a:extLst>
                </a:gridCol>
              </a:tblGrid>
              <a:tr h="272122">
                <a:tc gridSpan="2">
                  <a:txBody>
                    <a:bodyPr/>
                    <a:lstStyle/>
                    <a:p>
                      <a:pPr algn="l"/>
                      <a:r>
                        <a:rPr lang="fr-FR" sz="975" b="1" kern="1200" spc="-10" noProof="0">
                          <a:solidFill>
                            <a:schemeClr val="tx2"/>
                          </a:solidFill>
                          <a:latin typeface="+mn-lt"/>
                          <a:ea typeface="+mn-ea"/>
                          <a:cs typeface="+mn-cs"/>
                        </a:rPr>
                        <a:t xml:space="preserve">Existe-t-il, pour le </a:t>
                      </a:r>
                      <a:r>
                        <a:rPr lang="fr-FR" sz="975" b="1" u="sng" kern="1200" spc="-10" noProof="0">
                          <a:solidFill>
                            <a:schemeClr val="tx2"/>
                          </a:solidFill>
                          <a:latin typeface="+mn-lt"/>
                          <a:ea typeface="+mn-ea"/>
                          <a:cs typeface="+mn-cs"/>
                        </a:rPr>
                        <a:t xml:space="preserve">personnel de l’entreprise</a:t>
                      </a:r>
                      <a:r>
                        <a:rPr lang="fr-FR" sz="975" b="1" u="none" kern="1200" spc="-10" noProof="0">
                          <a:solidFill>
                            <a:schemeClr val="tx2"/>
                          </a:solidFill>
                          <a:latin typeface="+mn-lt"/>
                          <a:ea typeface="+mn-ea"/>
                          <a:cs typeface="+mn-cs"/>
                        </a:rPr>
                        <a:t>, </a:t>
                      </a:r>
                      <a:r>
                        <a:rPr lang="fr-FR" sz="975" b="1" kern="1200" spc="-10" noProof="0">
                          <a:solidFill>
                            <a:schemeClr val="tx2"/>
                          </a:solidFill>
                          <a:latin typeface="+mn-lt"/>
                          <a:ea typeface="+mn-ea"/>
                          <a:cs typeface="+mn-cs"/>
                        </a:rPr>
                        <a:t xml:space="preserve">des incidents négatifs confirmés liés aux points suivants </a:t>
                      </a:r>
                      <a:r>
                        <a:rPr lang="fr-FR" sz="975" b="0" kern="1200" spc="-10" noProof="0">
                          <a:solidFill>
                            <a:schemeClr val="tx2"/>
                          </a:solidFill>
                          <a:latin typeface="+mn-lt"/>
                          <a:ea typeface="+mn-ea"/>
                          <a:cs typeface="+mn-cs"/>
                        </a:rPr>
                        <a:t xml:space="preserve">(par. 62a-b)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87671">
                <a:tc>
                  <a:txBody>
                    <a:bodyPr/>
                    <a:lstStyle/>
                    <a:p>
                      <a:pPr algn="l"/>
                      <a:r>
                        <a:rPr lang="fr-FR" sz="975" b="1" kern="1200" spc="-10" noProof="0">
                          <a:solidFill>
                            <a:schemeClr val="tx2"/>
                          </a:solidFill>
                          <a:latin typeface="+mn-lt"/>
                          <a:ea typeface="+mn-ea"/>
                          <a:cs typeface="+mn-cs"/>
                        </a:rPr>
                        <a:t xml:space="preserve">Travail des enfants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fr-FR" sz="975" b="0" i="0" u="none" strike="noStrike" noProof="0">
                          <a:solidFill>
                            <a:srgbClr val="1B4528"/>
                          </a:solidFill>
                        </a:rPr>
                        <a:t>{{child_labour_yes?}}</a:t>
                      </a:r>
                      <a:endParaRPr lang="fr-FR"/>
                    </a:p>
                    <a:p>
                      <a:pPr lvl="0" algn="l">
                        <a:lnSpc>
                          <a:spcPct val="100000"/>
                        </a:lnSpc>
                        <a:spcBef>
                          <a:spcPts val="0"/>
                        </a:spcBef>
                        <a:spcAft>
                          <a:spcPts val="0"/>
                        </a:spcAft>
                        <a:buNone/>
                      </a:pPr>
                      <a:r>
                        <a:rPr lang="fr-FR" sz="975" b="0" i="0" u="none" strike="noStrike" noProof="0">
                          <a:solidFill>
                            <a:srgbClr val="1B4528"/>
                          </a:solidFill>
                        </a:rPr>
                        <a:t>{{child_labour_desc}}</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87671">
                <a:tc>
                  <a:txBody>
                    <a:bodyPr/>
                    <a:lstStyle/>
                    <a:p>
                      <a:pPr algn="l"/>
                      <a:r>
                        <a:rPr lang="fr-FR" sz="975" b="1" kern="1200" spc="-10" noProof="0">
                          <a:solidFill>
                            <a:schemeClr val="tx2"/>
                          </a:solidFill>
                          <a:latin typeface="+mn-lt"/>
                          <a:ea typeface="+mn-ea"/>
                          <a:cs typeface="+mn-cs"/>
                        </a:rPr>
                        <a:t xml:space="preserve">Travail forcé</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fr-FR" sz="975" b="0" i="0" u="none" strike="noStrike" noProof="0">
                          <a:solidFill>
                            <a:srgbClr val="1B4528"/>
                          </a:solidFill>
                        </a:rPr>
                        <a:t>{{forced_labour_yes?}}</a:t>
                      </a:r>
                      <a:endParaRPr lang="fr-FR"/>
                    </a:p>
                    <a:p>
                      <a:pPr lvl="0" algn="l" defTabSz="914400">
                        <a:lnSpc>
                          <a:spcPct val="100000"/>
                        </a:lnSpc>
                        <a:spcBef>
                          <a:spcPts val="0"/>
                        </a:spcBef>
                        <a:spcAft>
                          <a:spcPts val="0"/>
                        </a:spcAft>
                        <a:buNone/>
                        <a:tabLst/>
                        <a:defRPr/>
                      </a:pPr>
                      <a:r>
                        <a:rPr lang="fr-FR" sz="975" b="0" i="0" u="none" strike="noStrike" noProof="0">
                          <a:solidFill>
                            <a:srgbClr val="1B4528"/>
                          </a:solidFill>
                        </a:rPr>
                        <a:t>{{forced_labour_desc}}</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87671">
                <a:tc>
                  <a:txBody>
                    <a:bodyPr/>
                    <a:lstStyle/>
                    <a:p>
                      <a:pPr algn="l"/>
                      <a:r>
                        <a:rPr lang="fr-FR" sz="975" b="1" kern="1200" spc="-10" noProof="0">
                          <a:solidFill>
                            <a:schemeClr val="tx2"/>
                          </a:solidFill>
                          <a:latin typeface="+mn-lt"/>
                          <a:ea typeface="+mn-ea"/>
                          <a:cs typeface="+mn-cs"/>
                        </a:rPr>
                        <a:t xml:space="preserve">Traite des êtres humains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fr-FR" sz="975" b="0" i="0" u="none" strike="noStrike" noProof="0">
                          <a:solidFill>
                            <a:srgbClr val="1B4528"/>
                          </a:solidFill>
                        </a:rPr>
                        <a:t>{{human_trafficking_yes?}}</a:t>
                      </a:r>
                      <a:endParaRPr lang="fr-FR"/>
                    </a:p>
                    <a:p>
                      <a:pPr lvl="0" algn="l" defTabSz="914400">
                        <a:lnSpc>
                          <a:spcPct val="100000"/>
                        </a:lnSpc>
                        <a:spcBef>
                          <a:spcPts val="0"/>
                        </a:spcBef>
                        <a:spcAft>
                          <a:spcPts val="0"/>
                        </a:spcAft>
                        <a:buNone/>
                        <a:tabLst/>
                        <a:defRPr/>
                      </a:pPr>
                      <a:r>
                        <a:rPr lang="fr-FR" sz="975" b="0" i="0" u="none" strike="noStrike" noProof="0">
                          <a:solidFill>
                            <a:srgbClr val="1B4528"/>
                          </a:solidFill>
                        </a:rPr>
                        <a:t>{{human_trafficking_desc}}</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87671">
                <a:tc>
                  <a:txBody>
                    <a:bodyPr/>
                    <a:lstStyle/>
                    <a:p>
                      <a:pPr algn="l"/>
                      <a:r>
                        <a:rPr lang="fr-FR" sz="975" b="1" kern="1200" spc="-10" noProof="0">
                          <a:solidFill>
                            <a:schemeClr val="tx2"/>
                          </a:solidFill>
                          <a:latin typeface="+mn-lt"/>
                          <a:ea typeface="+mn-ea"/>
                          <a:cs typeface="+mn-cs"/>
                        </a:rPr>
                        <a:t>Discrimination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fr-FR" sz="975" b="0" i="0" u="none" strike="noStrike" noProof="0">
                          <a:solidFill>
                            <a:srgbClr val="1B4528"/>
                          </a:solidFill>
                        </a:rPr>
                        <a:t>{{discrimination_yes?}}</a:t>
                      </a:r>
                      <a:endParaRPr lang="fr-FR"/>
                    </a:p>
                    <a:p>
                      <a:pPr lvl="0" algn="l" defTabSz="914400">
                        <a:lnSpc>
                          <a:spcPct val="100000"/>
                        </a:lnSpc>
                        <a:spcBef>
                          <a:spcPts val="0"/>
                        </a:spcBef>
                        <a:spcAft>
                          <a:spcPts val="0"/>
                        </a:spcAft>
                        <a:buNone/>
                        <a:tabLst/>
                        <a:defRPr/>
                      </a:pPr>
                      <a:r>
                        <a:rPr lang="fr-FR" sz="975" b="0" i="0" u="none" strike="noStrike" noProof="0">
                          <a:solidFill>
                            <a:srgbClr val="1B4528"/>
                          </a:solidFill>
                        </a:rPr>
                        <a:t>{{discrimination_desc}}</a:t>
                      </a:r>
                      <a:endParaRPr lang="fr-F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972">
                <a:tc>
                  <a:txBody>
                    <a:bodyPr/>
                    <a:lstStyle/>
                    <a:p>
                      <a:pPr lvl="0" algn="l">
                        <a:buNone/>
                      </a:pPr>
                      <a:r>
                        <a:rPr lang="fr-FR" sz="975" b="1" kern="1200" spc="-10" noProof="0">
                          <a:solidFill>
                            <a:schemeClr val="tx2"/>
                          </a:solidFill>
                          <a:latin typeface="+mn-lt"/>
                          <a:ea typeface="+mn-ea"/>
                          <a:cs typeface="+mn-cs"/>
                        </a:rPr>
                        <a:t xml:space="preserve">Autre </a:t>
                      </a:r>
                      <a:endParaRPr lang="fr-FR" b="1">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fr-FR" sz="975" b="0" i="0" u="none" strike="noStrike" noProof="0">
                          <a:solidFill>
                            <a:srgbClr val="1B4528"/>
                          </a:solidFill>
                          <a:latin typeface="IBM Plex Sans"/>
                          <a:cs typeface="Calibri"/>
                        </a:rPr>
                        <a:t>{{other</a:t>
                      </a:r>
                      <a:r>
                        <a:rPr lang="fr-FR" sz="975" b="0" i="0" u="none" strike="noStrike" noProof="0">
                          <a:solidFill>
                            <a:srgbClr val="1B4528"/>
                          </a:solidFill>
                          <a:latin typeface="IBM Plex Sans"/>
                        </a:rPr>
                        <a:t>_yes?}}</a:t>
                      </a:r>
                      <a:endParaRPr lang="fr-FR" sz="975"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fr-FR" sz="975" b="0" i="0" u="none" strike="noStrike" noProof="0">
                          <a:solidFill>
                            <a:srgbClr val="1B4528"/>
                          </a:solidFill>
                          <a:latin typeface="IBM Plex Sans"/>
                        </a:rPr>
                        <a:t>{{other_desc}}</a:t>
                      </a:r>
                      <a:endParaRPr lang="fr-FR" sz="975" b="0" i="0" u="none" strike="noStrike" noProof="0">
                        <a:solidFill>
                          <a:srgbClr val="000000"/>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411480" y="1317755"/>
            <a:ext cx="6737040" cy="692470"/>
          </a:xfrm>
          <a:prstGeom prst="rect">
            <a:avLst/>
          </a:prstGeom>
          <a:noFill/>
        </p:spPr>
        <p:txBody>
          <a:bodyPr wrap="square">
            <a:spAutoFit/>
          </a:bodyPr>
          <a:lstStyle/>
          <a:p>
            <a:pPr rtl="0">
              <a:buNone/>
            </a:pPr>
            <a:r>
              <a:rPr lang="fr-FR" sz="975" b="0" i="0" u="none" strike="noStrike" noProof="0">
                <a:solidFill>
                  <a:schemeClr val="tx2"/>
                </a:solidFill>
                <a:effectLst/>
                <a:latin typeface="Inter"/>
              </a:rPr>
              <a:t xml:space="preserve">Les exigences de publication suivantes concernent la déclaration par l’entreprise des incidents négatifs liés au travail des enfants, au travail forcé, à la traite des êtres humains et à la discrimination. Dans cette section, l’entreprise indique si ce qui précède concerne son personnel.</a:t>
            </a:r>
            <a:endParaRPr lang="fr-FR" sz="975" b="0" noProof="0">
              <a:solidFill>
                <a:schemeClr val="tx2"/>
              </a:solidFill>
              <a:effectLst/>
              <a:latin typeface="Inter"/>
            </a:endParaRPr>
          </a:p>
          <a:p>
            <a:pPr>
              <a:buNone/>
            </a:pPr>
            <a:br>
              <a:rPr lang="fr-FR" sz="975" noProof="0">
                <a:solidFill>
                  <a:schemeClr val="tx2"/>
                </a:solidFill>
                <a:latin typeface="Inter"/>
              </a:rPr>
            </a:br>
            <a:endParaRPr lang="fr-FR" sz="975" noProof="0">
              <a:solidFill>
                <a:schemeClr val="tx2"/>
              </a:solidFill>
              <a:latin typeface="Inter"/>
            </a:endParaRPr>
          </a:p>
        </p:txBody>
      </p:sp>
      <p:sp>
        <p:nvSpPr>
          <p:cNvPr id="4" name="Title 2">
            <a:extLst>
              <a:ext uri="{FF2B5EF4-FFF2-40B4-BE49-F238E27FC236}">
                <a16:creationId xmlns:a16="http://schemas.microsoft.com/office/drawing/2014/main" id="{41F3A84E-89CC-12F3-053B-7720F7BEBDF4}"/>
              </a:ext>
            </a:extLst>
          </p:cNvPr>
          <p:cNvSpPr txBox="1">
            <a:spLocks/>
          </p:cNvSpPr>
          <p:nvPr/>
        </p:nvSpPr>
        <p:spPr>
          <a:xfrm>
            <a:off x="411480" y="518663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fr-FR">
                <a:solidFill>
                  <a:srgbClr val="1B4528"/>
                </a:solidFill>
                <a:latin typeface="+mn-lt"/>
                <a:ea typeface="+mn-ea"/>
                <a:cs typeface="+mn-cs"/>
              </a:rPr>
              <a:t xml:space="preserve">Incidents graves en matière de droits de l’homme (C7</a:t>
            </a:r>
            <a:r>
              <a:rPr lang="fr-FR"/>
              <a:t xml:space="preserve">) – Dans la chaîne de valeur</a:t>
            </a:r>
          </a:p>
        </p:txBody>
      </p:sp>
      <p:graphicFrame>
        <p:nvGraphicFramePr>
          <p:cNvPr id="6" name="Table 2">
            <a:extLst>
              <a:ext uri="{FF2B5EF4-FFF2-40B4-BE49-F238E27FC236}">
                <a16:creationId xmlns:a16="http://schemas.microsoft.com/office/drawing/2014/main" id="{C2849829-EDEC-28FD-0347-B091216B259D}"/>
              </a:ext>
            </a:extLst>
          </p:cNvPr>
          <p:cNvGraphicFramePr>
            <a:graphicFrameLocks noGrp="1"/>
          </p:cNvGraphicFramePr>
          <p:nvPr>
            <p:extLst>
              <p:ext uri="{D42A27DB-BD31-4B8C-83A1-F6EECF244321}">
                <p14:modId xmlns:p14="http://schemas.microsoft.com/office/powerpoint/2010/main" val="445969331"/>
              </p:ext>
            </p:extLst>
          </p:nvPr>
        </p:nvGraphicFramePr>
        <p:xfrm>
          <a:off x="411480" y="6039725"/>
          <a:ext cx="6737040" cy="1658137"/>
        </p:xfrm>
        <a:graphic>
          <a:graphicData uri="http://schemas.openxmlformats.org/drawingml/2006/table">
            <a:tbl>
              <a:tblPr firstRow="1">
                <a:tableStyleId>{2A488322-F2BA-4B5B-9748-0D474271808F}</a:tableStyleId>
              </a:tblPr>
              <a:tblGrid>
                <a:gridCol w="1486246">
                  <a:extLst>
                    <a:ext uri="{9D8B030D-6E8A-4147-A177-3AD203B41FA5}">
                      <a16:colId xmlns:a16="http://schemas.microsoft.com/office/drawing/2014/main" val="1902117154"/>
                    </a:ext>
                  </a:extLst>
                </a:gridCol>
                <a:gridCol w="5250794">
                  <a:extLst>
                    <a:ext uri="{9D8B030D-6E8A-4147-A177-3AD203B41FA5}">
                      <a16:colId xmlns:a16="http://schemas.microsoft.com/office/drawing/2014/main" val="1904521774"/>
                    </a:ext>
                  </a:extLst>
                </a:gridCol>
              </a:tblGrid>
              <a:tr h="251982">
                <a:tc gridSpan="2">
                  <a:txBody>
                    <a:bodyPr/>
                    <a:lstStyle/>
                    <a:p>
                      <a:pPr algn="l"/>
                      <a:r>
                        <a:rPr lang="fr-FR" sz="975" b="1" kern="1200" spc="-10" noProof="0">
                          <a:solidFill>
                            <a:schemeClr val="tx2"/>
                          </a:solidFill>
                          <a:latin typeface="+mn-lt"/>
                          <a:ea typeface="+mn-ea"/>
                          <a:cs typeface="+mn-cs"/>
                        </a:rPr>
                        <a:t xml:space="preserve">L’entreprise a-t-elle connaissance d’incidents négatifs confirmés en matière de droits de l’homme dans la chaîne de valeur de </a:t>
                      </a:r>
                      <a:r>
                        <a:rPr lang="fr-FR" sz="975" b="1" kern="1200" noProof="0">
                          <a:solidFill>
                            <a:srgbClr val="1B4528"/>
                          </a:solidFill>
                          <a:latin typeface="+mn-lt"/>
                          <a:ea typeface="+mn-ea"/>
                          <a:cs typeface="+mn-cs"/>
                        </a:rPr>
                        <a:t xml:space="preserve">{{company_name}}</a:t>
                      </a:r>
                      <a:r>
                        <a:rPr lang="fr-FR" sz="975" b="1" kern="1200" noProof="0">
                          <a:solidFill>
                            <a:schemeClr val="tx2"/>
                          </a:solidFill>
                          <a:latin typeface="+mn-lt"/>
                          <a:ea typeface="+mn-ea"/>
                          <a:cs typeface="+mn-cs"/>
                        </a:rPr>
                        <a:t> </a:t>
                      </a:r>
                      <a:r>
                        <a:rPr lang="fr-FR" sz="975" b="1" kern="1200" spc="-10" noProof="0">
                          <a:solidFill>
                            <a:schemeClr val="tx2"/>
                          </a:solidFill>
                          <a:latin typeface="+mn-lt"/>
                          <a:ea typeface="+mn-ea"/>
                          <a:cs typeface="+mn-cs"/>
                        </a:rPr>
                        <a:t xml:space="preserve"/>
                      </a:r>
                      <a:r>
                        <a:rPr lang="fr-FR" sz="975" b="0" kern="1200" spc="-10" noProof="0">
                          <a:solidFill>
                            <a:schemeClr val="tx2"/>
                          </a:solidFill>
                          <a:latin typeface="+mn-lt"/>
                          <a:ea typeface="+mn-ea"/>
                          <a:cs typeface="+mn-cs"/>
                        </a:rPr>
                        <a:t xml:space="preserve">(par. 62c)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fr-FR"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33653">
                <a:tc>
                  <a:txBody>
                    <a:bodyPr/>
                    <a:lstStyle/>
                    <a:p>
                      <a:pPr algn="l"/>
                      <a:r>
                        <a:rPr lang="fr-FR" sz="975" b="1" kern="1200" spc="-10" noProof="0">
                          <a:solidFill>
                            <a:schemeClr val="tx2"/>
                          </a:solidFill>
                          <a:latin typeface="+mn-lt"/>
                          <a:ea typeface="+mn-ea"/>
                          <a:cs typeface="+mn-cs"/>
                        </a:rPr>
                        <a:t xml:space="preserve">Travailleurs de la chaîne de valeur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fr-FR" sz="975" b="0" i="0" u="none" strike="noStrike" noProof="0">
                          <a:solidFill>
                            <a:srgbClr val="1B4528"/>
                          </a:solidFill>
                          <a:effectLst/>
                          <a:latin typeface="Inter"/>
                        </a:rPr>
                        <a:t>{{incidents_workers_value_chain}}</a:t>
                      </a:r>
                      <a:endParaRPr lang="fr-FR" sz="975" noProof="0">
                        <a:solidFill>
                          <a:srgbClr val="1B4528"/>
                        </a:solidFill>
                        <a:latin typeface="+mn-lt"/>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3653">
                <a:tc>
                  <a:txBody>
                    <a:bodyPr/>
                    <a:lstStyle/>
                    <a:p>
                      <a:pPr algn="l"/>
                      <a:r>
                        <a:rPr lang="fr-FR" sz="975" b="1" kern="1200" spc="-10" noProof="0">
                          <a:solidFill>
                            <a:schemeClr val="tx2"/>
                          </a:solidFill>
                          <a:latin typeface="+mn-lt"/>
                          <a:ea typeface="+mn-ea"/>
                          <a:cs typeface="+mn-cs"/>
                        </a:rPr>
                        <a:t xml:space="preserve">Communautés affectées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fr-FR" sz="975" b="0" i="0" u="none" strike="noStrike" noProof="0">
                          <a:solidFill>
                            <a:srgbClr val="1B4528"/>
                          </a:solidFill>
                          <a:effectLst/>
                          <a:latin typeface="Inter"/>
                        </a:rPr>
                        <a:t>{{incidents_affected_communities}}</a:t>
                      </a:r>
                      <a:endParaRPr lang="fr-FR" sz="975" kern="1200" noProof="0">
                        <a:solidFill>
                          <a:srgbClr val="1B4528"/>
                        </a:solidFill>
                        <a:latin typeface="+mn-lt"/>
                        <a:ea typeface="+mn-ea"/>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33653">
                <a:tc>
                  <a:txBody>
                    <a:bodyPr/>
                    <a:lstStyle/>
                    <a:p>
                      <a:pPr algn="l"/>
                      <a:r>
                        <a:rPr lang="fr-FR" sz="975" b="1" kern="1200" spc="-10" noProof="0">
                          <a:solidFill>
                            <a:schemeClr val="tx2"/>
                          </a:solidFill>
                          <a:latin typeface="+mn-lt"/>
                          <a:ea typeface="+mn-ea"/>
                          <a:cs typeface="+mn-cs"/>
                        </a:rPr>
                        <a:t xml:space="preserve">Consommateurs et utilisateurs finaux</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fr-FR" sz="975" b="0" i="0" u="none" strike="noStrike" noProof="0">
                          <a:solidFill>
                            <a:srgbClr val="1B4528"/>
                          </a:solidFill>
                          <a:effectLst/>
                          <a:latin typeface="Inter"/>
                        </a:rPr>
                        <a:t>{{</a:t>
                      </a:r>
                      <a:r>
                        <a:rPr lang="fr-FR" sz="975" b="0" i="0" u="none" strike="noStrike" noProof="0">
                          <a:solidFill>
                            <a:srgbClr val="1B4528"/>
                          </a:solidFill>
                          <a:effectLst/>
                          <a:latin typeface="Inter"/>
                        </a:rPr>
                        <a:t>incidents_consumers</a:t>
                      </a:r>
                      <a:r>
                        <a:rPr lang="fr-FR" sz="975" b="0" i="0" u="none" strike="noStrike" noProof="0">
                          <a:solidFill>
                            <a:srgbClr val="1B4528"/>
                          </a:solidFill>
                          <a:effectLst/>
                          <a:latin typeface="Inter"/>
                        </a:rPr>
                        <a:t>}}</a:t>
                      </a:r>
                      <a:endParaRPr lang="fr-FR"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7" name="Tekstfelt 6">
            <a:extLst>
              <a:ext uri="{FF2B5EF4-FFF2-40B4-BE49-F238E27FC236}">
                <a16:creationId xmlns:a16="http://schemas.microsoft.com/office/drawing/2014/main" id="{D86CEC8F-33AD-EB43-97CC-8C565BD2D1E9}"/>
              </a:ext>
            </a:extLst>
          </p:cNvPr>
          <p:cNvSpPr txBox="1"/>
          <p:nvPr/>
        </p:nvSpPr>
        <p:spPr>
          <a:xfrm>
            <a:off x="411480" y="5538666"/>
            <a:ext cx="6737040" cy="230823"/>
          </a:xfrm>
          <a:prstGeom prst="rect">
            <a:avLst/>
          </a:prstGeom>
          <a:noFill/>
        </p:spPr>
        <p:txBody>
          <a:bodyPr wrap="square">
            <a:spAutoFit/>
          </a:bodyPr>
          <a:lstStyle/>
          <a:p>
            <a:pPr>
              <a:spcBef>
                <a:spcPts val="750"/>
              </a:spcBef>
            </a:pPr>
            <a:r>
              <a:rPr lang="fr-FR" sz="975" b="0" i="0" u="none" strike="noStrike" noProof="0">
                <a:solidFill>
                  <a:schemeClr val="tx2"/>
                </a:solidFill>
                <a:effectLst/>
                <a:latin typeface="Inter"/>
              </a:rPr>
              <a:t xml:space="preserve">Ci-dessous figurent des </a:t>
            </a:r>
            <a:r>
              <a:rPr lang="fr-FR" sz="975" noProof="0">
                <a:solidFill>
                  <a:schemeClr val="tx2"/>
                </a:solidFill>
                <a:latin typeface="Inter"/>
              </a:rPr>
              <a:t xml:space="preserve">informations sur </a:t>
            </a:r>
            <a:r>
              <a:rPr lang="fr-FR" sz="975" b="0" i="0" u="none" strike="noStrike" noProof="0">
                <a:solidFill>
                  <a:schemeClr val="tx2"/>
                </a:solidFill>
                <a:effectLst/>
                <a:latin typeface="Inter"/>
              </a:rPr>
              <a:t xml:space="preserve">la connaissance par l’entreprise d’incidents négatifs confirmés en matière de droits de l’homme dans sa chaîne de valeur.</a:t>
            </a:r>
          </a:p>
        </p:txBody>
      </p:sp>
    </p:spTree>
    <p:extLst>
      <p:ext uri="{BB962C8B-B14F-4D97-AF65-F5344CB8AC3E}">
        <p14:creationId xmlns:p14="http://schemas.microsoft.com/office/powerpoint/2010/main" val="3705068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88246"/>
            <a:ext cx="6737040" cy="207741"/>
          </a:xfrm>
        </p:spPr>
        <p:txBody>
          <a:bodyPr/>
          <a:lstStyle/>
          <a:p>
            <a:r>
              <a:rPr lang="fr-FR" sz="1475" b="1" i="0" u="none" strike="noStrike" kern="1200" spc="-10" noProof="0">
                <a:solidFill>
                  <a:srgbClr val="1B4528"/>
                </a:solidFill>
              </a:rPr>
              <a:t xml:space="preserve">Chiffre d’affaires de certaines activités (C8)</a:t>
            </a:r>
            <a:endParaRPr lang="fr-FR"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fr-FR" noProof="0" smtClean="0"/>
              <a:pPr/>
              <a:t>18</a:t>
            </a:fld>
            <a:endParaRPr lang="fr-FR"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fr-FR" noProof="0"/>
              <a:t>{{company_name}}</a:t>
            </a:r>
            <a:endParaRPr lang="fr-FR" b="0" noProof="0"/>
          </a:p>
          <a:p>
            <a:endParaRPr lang="fr-FR"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411480" y="1792933"/>
          <a:ext cx="6737040" cy="2504114"/>
        </p:xfrm>
        <a:graphic>
          <a:graphicData uri="http://schemas.openxmlformats.org/drawingml/2006/table">
            <a:tbl>
              <a:tblPr firstRow="1">
                <a:tableStyleId>{2A488322-F2BA-4B5B-9748-0D474271808F}</a:tableStyleId>
              </a:tblPr>
              <a:tblGrid>
                <a:gridCol w="4617489">
                  <a:extLst>
                    <a:ext uri="{9D8B030D-6E8A-4147-A177-3AD203B41FA5}">
                      <a16:colId xmlns:a16="http://schemas.microsoft.com/office/drawing/2014/main" val="1902117154"/>
                    </a:ext>
                  </a:extLst>
                </a:gridCol>
                <a:gridCol w="2119551">
                  <a:extLst>
                    <a:ext uri="{9D8B030D-6E8A-4147-A177-3AD203B41FA5}">
                      <a16:colId xmlns:a16="http://schemas.microsoft.com/office/drawing/2014/main" val="1904521774"/>
                    </a:ext>
                  </a:extLst>
                </a:gridCol>
              </a:tblGrid>
              <a:tr h="2865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75" b="1" kern="1200" spc="-10" noProof="0">
                          <a:solidFill>
                            <a:schemeClr val="tx2"/>
                          </a:solidFill>
                          <a:latin typeface="+mn-lt"/>
                          <a:ea typeface="+mn-ea"/>
                          <a:cs typeface="+mn-cs"/>
                        </a:rPr>
                        <a:t xml:space="preserve">Chiffre d’affaires de certains secteurs</a:t>
                      </a:r>
                      <a:r>
                        <a:rPr lang="fr-FR" sz="975" b="0" kern="1200" spc="-10" noProof="0">
                          <a:solidFill>
                            <a:schemeClr val="tx2"/>
                          </a:solidFill>
                          <a:latin typeface="+mn-lt"/>
                          <a:ea typeface="+mn-ea"/>
                          <a:cs typeface="+mn-cs"/>
                        </a:rPr>
                        <a:t xml:space="preserve"> (par. 63 a-d)</a:t>
                      </a:r>
                    </a:p>
                    <a:p>
                      <a:pPr algn="l"/>
                      <a:endParaRPr lang="fr-FR"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725"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286516">
                <a:tc>
                  <a:txBody>
                    <a:bodyPr/>
                    <a:lstStyle/>
                    <a:p>
                      <a:pPr algn="l"/>
                      <a:endParaRPr lang="fr-FR"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fr-FR" sz="975" b="1" i="0" u="none" strike="noStrike" noProof="0">
                          <a:solidFill>
                            <a:srgbClr val="1B4528"/>
                          </a:solidFill>
                          <a:effectLst/>
                          <a:latin typeface="IBM Plex Sans" panose="020B0503050203000203" pitchFamily="34" charset="0"/>
                        </a:rPr>
                        <a:t xml:space="preserve">Chiffre d’affaires de l’année </a:t>
                      </a:r>
                      <a:r>
                        <a:rPr lang="fr-FR" sz="975" b="1" i="0" u="none" strike="noStrike" noProof="0">
                          <a:solidFill>
                            <a:srgbClr val="1B4528"/>
                          </a:solidFill>
                          <a:effectLst/>
                          <a:latin typeface="Inter"/>
                        </a:rPr>
                        <a:t>{{Insert year}}</a:t>
                      </a:r>
                      <a:endParaRPr lang="fr-FR" sz="975" noProof="0">
                        <a:effectLst/>
                      </a:endParaRPr>
                    </a:p>
                  </a:txBody>
                  <a:tcPr marL="31749" marR="31749" marT="21166" marB="2116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286516">
                <a:tc>
                  <a:txBody>
                    <a:bodyPr/>
                    <a:lstStyle/>
                    <a:p>
                      <a:pPr algn="l"/>
                      <a:r>
                        <a:rPr lang="fr-FR" sz="975" b="1" kern="1200" spc="-10" noProof="0">
                          <a:solidFill>
                            <a:schemeClr val="tx2"/>
                          </a:solidFill>
                          <a:latin typeface="+mn-lt"/>
                          <a:ea typeface="+mn-ea"/>
                          <a:cs typeface="+mn-cs"/>
                        </a:rPr>
                        <a:t xml:space="preserve">Armes controversées (mines antipersonnel, armes à sous-munitions, armes chimiques et biologiques)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fr-FR" sz="975" b="0" i="0" u="none" strike="noStrike" noProof="0">
                          <a:solidFill>
                            <a:srgbClr val="1B4528"/>
                          </a:solidFill>
                          <a:effectLst/>
                          <a:latin typeface="Inter"/>
                        </a:rPr>
                        <a:t>{{revenue_weapons}}</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6516">
                <a:tc>
                  <a:txBody>
                    <a:bodyPr/>
                    <a:lstStyle/>
                    <a:p>
                      <a:pPr algn="l"/>
                      <a:r>
                        <a:rPr lang="fr-FR" sz="975" b="1" kern="1200" spc="-10" noProof="0">
                          <a:solidFill>
                            <a:schemeClr val="tx2"/>
                          </a:solidFill>
                          <a:latin typeface="+mn-lt"/>
                          <a:ea typeface="+mn-ea"/>
                          <a:cs typeface="+mn-cs"/>
                        </a:rPr>
                        <a:t xml:space="preserve">Culture et/ou production de tabac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fr-FR" sz="975" b="0" i="0" u="none" strike="noStrike" noProof="0">
                          <a:solidFill>
                            <a:srgbClr val="1B4528"/>
                          </a:solidFill>
                          <a:effectLst/>
                          <a:latin typeface="Inter"/>
                        </a:rPr>
                        <a:t>{{revenue_cultivation}}</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6516">
                <a:tc>
                  <a:txBody>
                    <a:bodyPr/>
                    <a:lstStyle/>
                    <a:p>
                      <a:pPr algn="l"/>
                      <a:r>
                        <a:rPr lang="fr-FR" sz="975" b="1" kern="1200" spc="-10" noProof="0">
                          <a:solidFill>
                            <a:schemeClr val="tx2"/>
                          </a:solidFill>
                          <a:latin typeface="+mn-lt"/>
                          <a:ea typeface="+mn-ea"/>
                          <a:cs typeface="+mn-cs"/>
                        </a:rPr>
                        <a:t xml:space="preserve">Combustibles fossiles : charbon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fr-FR" sz="975" b="0" i="0" u="none" strike="noStrike" noProof="0">
                          <a:solidFill>
                            <a:srgbClr val="1B4528"/>
                          </a:solidFill>
                          <a:effectLst/>
                          <a:latin typeface="Inter"/>
                        </a:rPr>
                        <a:t>{{revenue_coal}}</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86516">
                <a:tc>
                  <a:txBody>
                    <a:bodyPr/>
                    <a:lstStyle/>
                    <a:p>
                      <a:pPr algn="l"/>
                      <a:r>
                        <a:rPr lang="fr-FR" sz="975" b="1" kern="1200" spc="-10" noProof="0">
                          <a:solidFill>
                            <a:schemeClr val="tx2"/>
                          </a:solidFill>
                          <a:latin typeface="+mn-lt"/>
                          <a:ea typeface="+mn-ea"/>
                          <a:cs typeface="+mn-cs"/>
                        </a:rPr>
                        <a:t xml:space="preserve">Combustibles fossiles : pétrole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fr-FR" sz="975" b="0" i="0" u="none" strike="noStrike" noProof="0">
                          <a:solidFill>
                            <a:srgbClr val="1B4528"/>
                          </a:solidFill>
                          <a:effectLst/>
                          <a:latin typeface="Inter"/>
                        </a:rPr>
                        <a:t>{{revenue_oil}}</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6516">
                <a:tc>
                  <a:txBody>
                    <a:bodyPr/>
                    <a:lstStyle/>
                    <a:p>
                      <a:pPr algn="l"/>
                      <a:r>
                        <a:rPr lang="fr-FR" sz="975" b="1" kern="1200" spc="-10" noProof="0">
                          <a:solidFill>
                            <a:schemeClr val="tx2"/>
                          </a:solidFill>
                          <a:latin typeface="+mn-lt"/>
                          <a:ea typeface="+mn-ea"/>
                          <a:cs typeface="+mn-cs"/>
                        </a:rPr>
                        <a:t xml:space="preserve">Combustibles fossiles : gaz/gaz naturel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fr-FR" sz="975" b="0" i="0" u="none" strike="noStrike" noProof="0">
                          <a:solidFill>
                            <a:srgbClr val="1B4528"/>
                          </a:solidFill>
                          <a:effectLst/>
                          <a:latin typeface="Inter"/>
                        </a:rPr>
                        <a:t>{{revenue_gas}}</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6516">
                <a:tc>
                  <a:txBody>
                    <a:bodyPr/>
                    <a:lstStyle/>
                    <a:p>
                      <a:pPr algn="l"/>
                      <a:r>
                        <a:rPr lang="fr-FR" sz="975" b="1" kern="1200" spc="-10" noProof="0">
                          <a:solidFill>
                            <a:schemeClr val="tx2"/>
                          </a:solidFill>
                          <a:latin typeface="+mn-lt"/>
                          <a:ea typeface="+mn-ea"/>
                          <a:cs typeface="+mn-cs"/>
                        </a:rPr>
                        <a:t xml:space="preserve">Production de produits chimiques destinés aux pesticides et autres produits agrochimiques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fr-FR" sz="975" b="0" i="0" u="none" strike="noStrike" noProof="0">
                          <a:solidFill>
                            <a:srgbClr val="1B4528"/>
                          </a:solidFill>
                          <a:effectLst/>
                          <a:latin typeface="Inter"/>
                        </a:rPr>
                        <a:t>{{revenue_chemichal}}</a:t>
                      </a:r>
                      <a:endParaRPr lang="fr-FR"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411480" y="1266643"/>
            <a:ext cx="6737040" cy="230823"/>
          </a:xfrm>
          <a:prstGeom prst="rect">
            <a:avLst/>
          </a:prstGeom>
          <a:noFill/>
        </p:spPr>
        <p:txBody>
          <a:bodyPr wrap="square">
            <a:spAutoFit/>
          </a:bodyPr>
          <a:lstStyle/>
          <a:p>
            <a:pPr rtl="0">
              <a:buNone/>
            </a:pPr>
            <a:r>
              <a:rPr lang="fr-FR" sz="975" noProof="0">
                <a:solidFill>
                  <a:schemeClr val="tx2"/>
                </a:solidFill>
                <a:latin typeface="Inter"/>
              </a:rPr>
              <a:t xml:space="preserve">L</a:t>
            </a:r>
            <a:r>
              <a:rPr lang="fr-FR" sz="975" b="0" i="0" u="none" strike="noStrike" noProof="0">
                <a:solidFill>
                  <a:schemeClr val="tx2"/>
                </a:solidFill>
                <a:effectLst/>
                <a:latin typeface="Inter"/>
              </a:rPr>
              <a:t xml:space="preserve">’entreprise a indiqué le chiffre d’affaires de certains secteurs et les montants de ces activités.</a:t>
            </a:r>
            <a:endParaRPr lang="fr-FR"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411480" y="468638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fr-FR" noProof="0">
                <a:solidFill>
                  <a:srgbClr val="1B4528"/>
                </a:solidFill>
              </a:rPr>
              <a:t xml:space="preserve">Ratio de mixité au sein de l’organe de gouvernance (C9)</a:t>
            </a:r>
            <a:endParaRPr lang="fr-FR"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411480" y="5679204"/>
          <a:ext cx="6737040" cy="479980"/>
        </p:xfrm>
        <a:graphic>
          <a:graphicData uri="http://schemas.openxmlformats.org/drawingml/2006/table">
            <a:tbl>
              <a:tblPr firstRow="1">
                <a:tableStyleId>{2A488322-F2BA-4B5B-9748-0D474271808F}</a:tableStyleId>
              </a:tblPr>
              <a:tblGrid>
                <a:gridCol w="4648693">
                  <a:extLst>
                    <a:ext uri="{9D8B030D-6E8A-4147-A177-3AD203B41FA5}">
                      <a16:colId xmlns:a16="http://schemas.microsoft.com/office/drawing/2014/main" val="2698153288"/>
                    </a:ext>
                  </a:extLst>
                </a:gridCol>
                <a:gridCol w="2088347">
                  <a:extLst>
                    <a:ext uri="{9D8B030D-6E8A-4147-A177-3AD203B41FA5}">
                      <a16:colId xmlns:a16="http://schemas.microsoft.com/office/drawing/2014/main" val="2119413191"/>
                    </a:ext>
                  </a:extLst>
                </a:gridCol>
              </a:tblGrid>
              <a:tr h="239990">
                <a:tc rowSpan="2">
                  <a:txBody>
                    <a:bodyPr/>
                    <a:lstStyle/>
                    <a:p>
                      <a:r>
                        <a:rPr lang="fr-FR" sz="975" b="1" kern="1200" spc="-10" noProof="0">
                          <a:solidFill>
                            <a:schemeClr val="tx2"/>
                          </a:solidFill>
                          <a:latin typeface="+mj-lt"/>
                          <a:ea typeface="+mn-ea"/>
                          <a:cs typeface="+mn-cs"/>
                        </a:rPr>
                        <a:t xml:space="preserve">Ratio de femmes par rapport aux hommes au sein de l’organe de gouvernance (</a:t>
                      </a:r>
                      <a:r>
                        <a:rPr lang="fr-FR" sz="975" b="0" kern="1200" spc="-10" noProof="0">
                          <a:solidFill>
                            <a:schemeClr val="tx2"/>
                          </a:solidFill>
                          <a:latin typeface="+mj-lt"/>
                          <a:ea typeface="+mn-ea"/>
                          <a:cs typeface="+mn-cs"/>
                        </a:rPr>
                        <a:t xml:space="preserve">par. 64</a:t>
                      </a:r>
                      <a:r>
                        <a:rPr lang="fr-FR" sz="975" b="1" kern="1200" spc="-10" noProof="0">
                          <a:solidFill>
                            <a:schemeClr val="tx2"/>
                          </a:solidFill>
                          <a:latin typeface="+mj-lt"/>
                          <a:ea typeface="+mn-ea"/>
                          <a:cs typeface="+mn-cs"/>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fr-FR" sz="975" b="1" noProof="0">
                          <a:solidFill>
                            <a:schemeClr val="tx2"/>
                          </a:solidFill>
                        </a:rPr>
                        <a:t xml:space="preserve">Année </a:t>
                      </a:r>
                      <a:r>
                        <a:rPr lang="fr-FR" sz="975" b="1" i="0" u="none" strike="noStrike" noProof="0">
                          <a:solidFill>
                            <a:srgbClr val="1B4528"/>
                          </a:solidFill>
                          <a:effectLst/>
                          <a:latin typeface="Inter"/>
                        </a:rPr>
                        <a:t>{{Insert year}}</a:t>
                      </a:r>
                      <a:endParaRPr lang="fr-FR" sz="975" b="1"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fr-FR"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a:r>
                        <a:rPr lang="fr-FR" sz="975" b="0" noProof="0">
                          <a:solidFill>
                            <a:srgbClr val="1B4528"/>
                          </a:solidFill>
                        </a:rPr>
                        <a:t>{{</a:t>
                      </a:r>
                      <a:r>
                        <a:rPr lang="fr-FR" sz="975" b="0" i="0" u="none" strike="noStrike" noProof="0">
                          <a:solidFill>
                            <a:srgbClr val="1B4528"/>
                          </a:solidFill>
                          <a:latin typeface="IBM Plex Sans"/>
                        </a:rPr>
                        <a:t>gender_supreme_body</a:t>
                      </a:r>
                      <a:r>
                        <a:rPr lang="fr-FR" sz="975" b="0" noProof="0">
                          <a:solidFill>
                            <a:srgbClr val="1B4528"/>
                          </a:solidFill>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411480" y="2493514"/>
            <a:ext cx="6737040" cy="307764"/>
          </a:xfrm>
          <a:prstGeom prst="rect">
            <a:avLst/>
          </a:prstGeom>
          <a:noFill/>
        </p:spPr>
        <p:txBody>
          <a:bodyPr wrap="square">
            <a:spAutoFit/>
          </a:bodyPr>
          <a:lstStyle/>
          <a:p>
            <a:r>
              <a:rPr lang="fr-FR" b="0" noProof="0">
                <a:effectLst/>
              </a:rPr>
              <a:t> </a:t>
            </a:r>
            <a:endParaRPr lang="fr-FR"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411480" y="5139662"/>
            <a:ext cx="6737040" cy="230823"/>
          </a:xfrm>
          <a:prstGeom prst="rect">
            <a:avLst/>
          </a:prstGeom>
          <a:noFill/>
        </p:spPr>
        <p:txBody>
          <a:bodyPr wrap="square">
            <a:spAutoFit/>
          </a:bodyPr>
          <a:lstStyle/>
          <a:p>
            <a:pPr rtl="0">
              <a:buNone/>
            </a:pPr>
            <a:r>
              <a:rPr lang="fr-FR" sz="975" noProof="0">
                <a:solidFill>
                  <a:schemeClr val="tx2"/>
                </a:solidFill>
                <a:latin typeface="Inter"/>
              </a:rPr>
              <a:t xml:space="preserve">L</a:t>
            </a:r>
            <a:r>
              <a:rPr lang="fr-FR" sz="975" b="0" i="0" u="none" strike="noStrike" noProof="0">
                <a:solidFill>
                  <a:schemeClr val="tx2"/>
                </a:solidFill>
                <a:effectLst/>
                <a:latin typeface="Inter"/>
              </a:rPr>
              <a:t xml:space="preserve">’entreprise a indiqué le ratio de femmes par rapport aux hommes au sein de l’organe de gouvernance.</a:t>
            </a:r>
          </a:p>
        </p:txBody>
      </p:sp>
    </p:spTree>
    <p:extLst>
      <p:ext uri="{BB962C8B-B14F-4D97-AF65-F5344CB8AC3E}">
        <p14:creationId xmlns:p14="http://schemas.microsoft.com/office/powerpoint/2010/main" val="37398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fr-FR" sz="1475" b="1" noProof="0">
                <a:solidFill>
                  <a:srgbClr val="FFFFFF"/>
                </a:solidFill>
                <a:latin typeface="IBM Plex Sans" panose="020B0503050203000203" pitchFamily="34" charset="0"/>
              </a:rPr>
              <a:t>{{company_name}}</a:t>
            </a:r>
          </a:p>
          <a:p>
            <a:pPr algn="ctr"/>
            <a:r>
              <a:rPr lang="fr-FR" sz="1475" b="1" noProof="0">
                <a:solidFill>
                  <a:srgbClr val="FFFFFF"/>
                </a:solidFill>
                <a:latin typeface="IBM Plex Sans" panose="020B0503050203000203" pitchFamily="34" charset="0"/>
              </a:rPr>
              <a:t>{{insert_year}}</a:t>
            </a:r>
            <a:br>
              <a:rPr lang="fr-FR" sz="1475" b="1" noProof="0">
                <a:solidFill>
                  <a:srgbClr val="FFFFFF"/>
                </a:solidFill>
                <a:latin typeface="IBM Plex Sans" panose="020B0503050203000203" pitchFamily="34" charset="0"/>
              </a:rPr>
            </a:br>
            <a:endParaRPr lang="fr-FR"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fr-FR" noProof="0" smtClean="0"/>
              <a:pPr/>
              <a:t>19</a:t>
            </a:fld>
            <a:endParaRPr lang="fr-FR"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