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custom-properties+xml" PartName="/docProps/custom.xml"/>
  <Override ContentType="application/binary" PartName="/ppt/metadata"/>
  <Override ContentType="application/vnd.openxmlformats-officedocument.presentationml.notesMaster+xml" PartName="/ppt/notesMasters/notesMaster1.xml"/>
  <Override ContentType="application/vnd.openxmlformats-officedocument.presentationml.presProps+xml" PartName="/ppt/presProps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0692000" cy="7560000" type="A4"/>
  <p:notesSz cx="6858000" cy="9144000"/>
  <p:embeddedFontLst>
    <p:embeddedFont>
      <p:font typeface="IBM Plex Sans"/>
      <p:regular r:id="rId32"/>
      <p:bold r:id="rId33"/>
      <p:italic r:id="rId34"/>
      <p:boldItalic r:id="rId35"/>
    </p:embeddedFont>
    <p:embeddedFont>
      <p:font typeface="Inter"/>
      <p:regular r:id="rId36"/>
      <p:bold r:id="rId37"/>
      <p:italic r:id="rId38"/>
      <p:boldItalic r:id="rId3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2D200454-40CA-4A62-9FC3-DE9A4176ACB9}">
      <p15:notesGuideLst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  <p:ext uri="GoogleSlidesCustomDataVersion2">
      <go:slidesCustomData xmlns:go="http://customooxmlschemas.google.com/" r:id="rId40" roundtripDataSignature="AMtx7mimRi0JdRCpJoyaOTCQ3UUSYG5+n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4A76372-1D77-4638-8BC6-133FC8FB7DB3}">
  <a:tblStyle styleId="{A4A76372-1D77-4638-8BC6-133FC8FB7DB3}" styleName="Table_0">
    <a:wholeTbl>
      <a:tcTxStyle b="off" i="off">
        <a:font>
          <a:latin typeface="IBM Plex Sans"/>
          <a:ea typeface="IBM Plex Sans"/>
          <a:cs typeface="IBM Plex Sans"/>
        </a:font>
        <a:schemeClr val="dk1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254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254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chemeClr val="lt1"/>
          </a:solidFill>
        </a:fill>
      </a:tcStyle>
    </a:wholeTbl>
    <a:band1H>
      <a:tcTxStyle/>
      <a:tcStyle>
        <a:fill>
          <a:solidFill>
            <a:srgbClr val="E6E6E6"/>
          </a:solidFill>
        </a:fill>
      </a:tcStyle>
    </a:band1H>
    <a:band2H>
      <a:tcTxStyle/>
    </a:band2H>
    <a:band1V>
      <a:tcTxStyle/>
      <a:tcStyle>
        <a:fill>
          <a:solidFill>
            <a:srgbClr val="E6E6E6"/>
          </a:solidFill>
        </a:fill>
      </a:tcStyle>
    </a:band1V>
    <a:band2V>
      <a:tcTxStyle/>
    </a:band2V>
    <a:lastCol>
      <a:tcTxStyle b="on" i="off">
        <a:font>
          <a:latin typeface="IBM Plex Sans"/>
          <a:ea typeface="IBM Plex Sans"/>
          <a:cs typeface="IBM Plex Sans"/>
        </a:font>
        <a:schemeClr val="lt1"/>
      </a:tcTxStyle>
      <a:tcStyle>
        <a:fill>
          <a:solidFill>
            <a:schemeClr val="accent6"/>
          </a:solidFill>
        </a:fill>
      </a:tcStyle>
    </a:lastCol>
    <a:firstCol>
      <a:tcTxStyle b="on" i="off">
        <a:font>
          <a:latin typeface="IBM Plex Sans"/>
          <a:ea typeface="IBM Plex Sans"/>
          <a:cs typeface="IBM Plex Sans"/>
        </a:font>
        <a:schemeClr val="lt1"/>
      </a:tcTxStyle>
      <a:tcStyle>
        <a:fill>
          <a:solidFill>
            <a:schemeClr val="accent6"/>
          </a:solidFill>
        </a:fill>
      </a:tcStyle>
    </a:firstCol>
    <a:lastRow>
      <a:tcTxStyle b="on" i="off"/>
      <a:tcStyle>
        <a:tcBdr>
          <a:top>
            <a:ln cap="flat" cmpd="sng" w="508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lt1"/>
          </a:solidFill>
        </a:fill>
      </a:tcStyle>
    </a:lastRow>
    <a:seCell>
      <a:tcTxStyle b="on" i="off">
        <a:font>
          <a:latin typeface="IBM Plex Sans"/>
          <a:ea typeface="IBM Plex Sans"/>
          <a:cs typeface="IBM Plex Sans"/>
        </a:font>
        <a:schemeClr val="dk1"/>
      </a:tcTxStyle>
    </a:seCell>
    <a:swCell>
      <a:tcTxStyle b="on" i="off">
        <a:font>
          <a:latin typeface="IBM Plex Sans"/>
          <a:ea typeface="IBM Plex Sans"/>
          <a:cs typeface="IBM Plex Sans"/>
        </a:font>
        <a:schemeClr val="dk1"/>
      </a:tcTxStyle>
    </a:swCell>
    <a:firstRow>
      <a:tcTxStyle b="on" i="off">
        <a:font>
          <a:latin typeface="IBM Plex Sans"/>
          <a:ea typeface="IBM Plex Sans"/>
          <a:cs typeface="IBM Plex Sans"/>
        </a:font>
        <a:schemeClr val="lt1"/>
      </a:tcTxStyle>
      <a:tcStyle>
        <a:tcBdr>
          <a:bottom>
            <a:ln cap="flat" cmpd="sng" w="254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6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notesViewPr>
    <p:cSldViewPr snapToGrid="0">
      <p:cViewPr varScale="1">
        <p:scale>
          <a:sx n="100" d="100"/>
          <a:sy n="100" d="100"/>
        </p:scale>
        <p:origin x="0" y="0"/>
      </p:cViewPr>
      <p:guideLst>
        <p:guide pos="2880" orient="horz"/>
        <p:guide pos="2160"/>
      </p:guideLst>
    </p:cSldViewPr>
  </p:notesViewPr>
</p:viewPr>
</file>

<file path=ppt/_rels/presentation.xml.rels><?xml version="1.0" encoding="UTF-8" standalone="yes"?><Relationships xmlns="http://schemas.openxmlformats.org/package/2006/relationships"><Relationship Id="rId40" Type="http://customschemas.google.com/relationships/presentationmetadata" Target="metadata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font" Target="fonts/IBMPlexSans-bold.fntdata"/><Relationship Id="rId10" Type="http://schemas.openxmlformats.org/officeDocument/2006/relationships/slide" Target="slides/slide4.xml"/><Relationship Id="rId32" Type="http://schemas.openxmlformats.org/officeDocument/2006/relationships/font" Target="fonts/IBMPlexSans-regular.fntdata"/><Relationship Id="rId13" Type="http://schemas.openxmlformats.org/officeDocument/2006/relationships/slide" Target="slides/slide7.xml"/><Relationship Id="rId35" Type="http://schemas.openxmlformats.org/officeDocument/2006/relationships/font" Target="fonts/IBMPlexSans-boldItalic.fntdata"/><Relationship Id="rId12" Type="http://schemas.openxmlformats.org/officeDocument/2006/relationships/slide" Target="slides/slide6.xml"/><Relationship Id="rId34" Type="http://schemas.openxmlformats.org/officeDocument/2006/relationships/font" Target="fonts/IBMPlexSans-italic.fntdata"/><Relationship Id="rId15" Type="http://schemas.openxmlformats.org/officeDocument/2006/relationships/slide" Target="slides/slide9.xml"/><Relationship Id="rId37" Type="http://schemas.openxmlformats.org/officeDocument/2006/relationships/font" Target="fonts/Inter-bold.fntdata"/><Relationship Id="rId14" Type="http://schemas.openxmlformats.org/officeDocument/2006/relationships/slide" Target="slides/slide8.xml"/><Relationship Id="rId36" Type="http://schemas.openxmlformats.org/officeDocument/2006/relationships/font" Target="fonts/Inter-regular.fntdata"/><Relationship Id="rId17" Type="http://schemas.openxmlformats.org/officeDocument/2006/relationships/slide" Target="slides/slide11.xml"/><Relationship Id="rId39" Type="http://schemas.openxmlformats.org/officeDocument/2006/relationships/font" Target="fonts/Inter-boldItalic.fntdata"/><Relationship Id="rId16" Type="http://schemas.openxmlformats.org/officeDocument/2006/relationships/slide" Target="slides/slide10.xml"/><Relationship Id="rId38" Type="http://schemas.openxmlformats.org/officeDocument/2006/relationships/font" Target="fonts/Inter-italic.fntdata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it-IT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" name="Google Shape;4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" name="Google Shape;4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" name="Google Shape;50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" name="Google Shape;59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" name="Google Shape;74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Rimosso: </a:t>
            </a:r>
            <a:r>
              <a:rPr b="0" i="0" lang="it-IT" sz="1200" u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{{documents_B2}}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it-IT" sz="1200" u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Aggiunto: colonna sul monitoraggio</a:t>
            </a:r>
            <a:endParaRPr/>
          </a:p>
        </p:txBody>
      </p:sp>
      <p:sp>
        <p:nvSpPr>
          <p:cNvPr id="88" name="Google Shape;88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Rimosso: </a:t>
            </a:r>
            <a:r>
              <a:rPr b="0" i="0" lang="it-IT" sz="1200" u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{{Insert_CO2e_intensity}}</a:t>
            </a:r>
            <a:endParaRPr b="0"/>
          </a:p>
        </p:txBody>
      </p:sp>
      <p:sp>
        <p:nvSpPr>
          <p:cNvPr id="98" name="Google Shape;98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8" name="Google Shape;10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Rimosso: </a:t>
            </a:r>
            <a:r>
              <a:rPr b="0" i="0" lang="it-IT" sz="1200" u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{{uploaded_documents_B4}}</a:t>
            </a:r>
            <a:endParaRPr b="0"/>
          </a:p>
        </p:txBody>
      </p:sp>
      <p:sp>
        <p:nvSpPr>
          <p:cNvPr id="109" name="Google Shape;109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1" name="Google Shape;121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Rimosso: </a:t>
            </a:r>
            <a:r>
              <a:rPr b="0" i="0" lang="it-IT" sz="1200" u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{{waterstress_withdrawal}}</a:t>
            </a:r>
            <a:endParaRPr b="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it-IT"/>
            </a:br>
            <a:endParaRPr/>
          </a:p>
        </p:txBody>
      </p:sp>
      <p:sp>
        <p:nvSpPr>
          <p:cNvPr id="122" name="Google Shape;122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6" name="Google Shape;13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7" name="Google Shape;147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Rimosso: </a:t>
            </a:r>
            <a:r>
              <a:rPr b="0" i="0" lang="it-IT" sz="1200" u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{{omsatningsrate}}</a:t>
            </a:r>
            <a:endParaRPr b="0"/>
          </a:p>
        </p:txBody>
      </p:sp>
      <p:sp>
        <p:nvSpPr>
          <p:cNvPr id="148" name="Google Shape;148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9" name="Google Shape;159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it-IT"/>
              <a:t>Rimosso: </a:t>
            </a:r>
            <a:r>
              <a:rPr b="0" i="0" lang="it-IT" sz="1200" u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{{men_gennemsnitstimer}}</a:t>
            </a:r>
            <a:endParaRPr b="0" i="0" sz="1200" u="none" strike="noStrike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it-IT" sz="1200" u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{{women_gennemsnitstimer}}</a:t>
            </a:r>
            <a:endParaRPr b="0" i="0" sz="1200" u="none" strike="noStrike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it-IT" sz="1200" u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{{other_gennemsnitstimer}}</a:t>
            </a:r>
            <a:endParaRPr b="0" i="0" sz="1200" u="none" strike="noStrike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/>
          </a:p>
        </p:txBody>
      </p:sp>
      <p:sp>
        <p:nvSpPr>
          <p:cNvPr id="160" name="Google Shape;160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6" name="Google Shape;176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6" name="Google Shape;18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8" name="Google Shape;208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8" name="Google Shape;21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1" name="Google Shape;23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3" name="Google Shape;243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1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5" name="Google Shape;255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5" name="Google Shape;265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Aggiunto da B8: </a:t>
            </a:r>
            <a:r>
              <a:rPr b="0" i="0" lang="it-IT" sz="1200" u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{{omsatningsrate}}</a:t>
            </a:r>
            <a:endParaRPr b="0"/>
          </a:p>
        </p:txBody>
      </p:sp>
      <p:sp>
        <p:nvSpPr>
          <p:cNvPr id="266" name="Google Shape;266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8" name="Google Shape;278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8" name="Google Shape;288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7" name="Google Shape;29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Rimosso: EU benchmark exclusion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Rimosso: </a:t>
            </a:r>
            <a:endParaRPr/>
          </a:p>
        </p:txBody>
      </p:sp>
      <p:sp>
        <p:nvSpPr>
          <p:cNvPr id="298" name="Google Shape;298;p2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1" name="Google Shape;321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rside med billedebaggrund">
  <p:cSld name="Forside med billedebaggrund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7"/>
          <p:cNvSpPr/>
          <p:nvPr/>
        </p:nvSpPr>
        <p:spPr>
          <a:xfrm>
            <a:off x="3001735" y="1873405"/>
            <a:ext cx="1223040" cy="1814175"/>
          </a:xfrm>
          <a:prstGeom prst="rect">
            <a:avLst/>
          </a:prstGeom>
          <a:noFill/>
          <a:ln>
            <a:noFill/>
          </a:ln>
        </p:spPr>
      </p:sp>
      <p:sp>
        <p:nvSpPr>
          <p:cNvPr id="17" name="Google Shape;17;p27"/>
          <p:cNvSpPr/>
          <p:nvPr/>
        </p:nvSpPr>
        <p:spPr>
          <a:xfrm>
            <a:off x="6150373" y="1828999"/>
            <a:ext cx="1561990" cy="1890830"/>
          </a:xfrm>
          <a:prstGeom prst="rect">
            <a:avLst/>
          </a:prstGeom>
          <a:noFill/>
          <a:ln>
            <a:noFill/>
          </a:ln>
        </p:spPr>
      </p:sp>
      <p:sp>
        <p:nvSpPr>
          <p:cNvPr id="18" name="Google Shape;18;p27"/>
          <p:cNvSpPr/>
          <p:nvPr/>
        </p:nvSpPr>
        <p:spPr>
          <a:xfrm>
            <a:off x="4475450" y="1828999"/>
            <a:ext cx="1454017" cy="1938689"/>
          </a:xfrm>
          <a:prstGeom prst="rect">
            <a:avLst/>
          </a:prstGeom>
          <a:noFill/>
          <a:ln>
            <a:noFill/>
          </a:ln>
        </p:spPr>
      </p:sp>
      <p:sp>
        <p:nvSpPr>
          <p:cNvPr id="19" name="Google Shape;19;p27"/>
          <p:cNvSpPr txBox="1"/>
          <p:nvPr>
            <p:ph idx="11" type="ftr"/>
          </p:nvPr>
        </p:nvSpPr>
        <p:spPr>
          <a:xfrm>
            <a:off x="3072658" y="4359745"/>
            <a:ext cx="4539794" cy="2466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225"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7"/>
          <p:cNvSpPr txBox="1"/>
          <p:nvPr>
            <p:ph type="title"/>
          </p:nvPr>
        </p:nvSpPr>
        <p:spPr>
          <a:xfrm>
            <a:off x="946688" y="4051289"/>
            <a:ext cx="8798625" cy="16025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BM Plex Sans"/>
              <a:buNone/>
              <a:defRPr sz="95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ESG wordmark"/>
          <p:cNvSpPr txBox="1"/>
          <p:nvPr/>
        </p:nvSpPr>
        <p:spPr>
          <a:xfrm>
            <a:off x="365760" y="1043948"/>
            <a:ext cx="9960480" cy="350879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GB" sz="15600" b="1" spc="-390" dirty="0">
                <a:solidFill>
                  <a:srgbClr val="FFFFFF"/>
                </a:solidFill>
                <a:latin typeface="+mn-lt"/>
              </a:rPr>
              <a:t>ESG</a:t>
            </a:r>
            <a:endParaRPr lang="en-GB" sz="15600" b="1" spc="-39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SG opgørelse">
  <p:cSld name="ESG opgørelse">
    <p:bg>
      <p:bgPr>
        <a:solidFill>
          <a:schemeClr val="lt1"/>
        </a:solid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8"/>
          <p:cNvSpPr txBox="1"/>
          <p:nvPr>
            <p:ph idx="1" type="body"/>
          </p:nvPr>
        </p:nvSpPr>
        <p:spPr>
          <a:xfrm>
            <a:off x="454795" y="864270"/>
            <a:ext cx="3997234" cy="4704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00475" lvl="0" marL="400950" algn="l">
              <a:lnSpc>
                <a:spcPct val="129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None/>
              <a:defRPr sz="775">
                <a:solidFill>
                  <a:schemeClr val="dk2"/>
                </a:solidFill>
              </a:defRPr>
            </a:lvl1pPr>
            <a:lvl2pPr indent="-300712" lvl="1" marL="80190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2pPr>
            <a:lvl3pPr indent="-300712" lvl="2" marL="120285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3pPr>
            <a:lvl4pPr indent="-300712" lvl="3" marL="160380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4pPr>
            <a:lvl5pPr indent="-300712" lvl="4" marL="200475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5pPr>
            <a:lvl6pPr indent="-300712" lvl="5" marL="2405700" algn="l">
              <a:lnSpc>
                <a:spcPct val="90000"/>
              </a:lnSpc>
              <a:spcBef>
                <a:spcPts val="438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00712" lvl="6" marL="2806650" algn="l">
              <a:lnSpc>
                <a:spcPct val="90000"/>
              </a:lnSpc>
              <a:spcBef>
                <a:spcPts val="438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00712" lvl="7" marL="3207600" algn="l">
              <a:lnSpc>
                <a:spcPct val="90000"/>
              </a:lnSpc>
              <a:spcBef>
                <a:spcPts val="438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00712" lvl="8" marL="3608550" algn="l">
              <a:lnSpc>
                <a:spcPct val="90000"/>
              </a:lnSpc>
              <a:spcBef>
                <a:spcPts val="438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3" name="Google Shape;23;p28"/>
          <p:cNvSpPr txBox="1"/>
          <p:nvPr>
            <p:ph idx="2" type="body"/>
          </p:nvPr>
        </p:nvSpPr>
        <p:spPr>
          <a:xfrm>
            <a:off x="5675750" y="859072"/>
            <a:ext cx="3997234" cy="470447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00475" lvl="0" marL="400950" algn="l">
              <a:lnSpc>
                <a:spcPct val="129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None/>
              <a:defRPr sz="775">
                <a:solidFill>
                  <a:schemeClr val="dk2"/>
                </a:solidFill>
              </a:defRPr>
            </a:lvl1pPr>
            <a:lvl2pPr indent="-300712" lvl="1" marL="80190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2pPr>
            <a:lvl3pPr indent="-300712" lvl="2" marL="120285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3pPr>
            <a:lvl4pPr indent="-300712" lvl="3" marL="160380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4pPr>
            <a:lvl5pPr indent="-300712" lvl="4" marL="200475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5pPr>
            <a:lvl6pPr indent="-300712" lvl="5" marL="2405700" algn="l">
              <a:lnSpc>
                <a:spcPct val="90000"/>
              </a:lnSpc>
              <a:spcBef>
                <a:spcPts val="438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00712" lvl="6" marL="2806650" algn="l">
              <a:lnSpc>
                <a:spcPct val="90000"/>
              </a:lnSpc>
              <a:spcBef>
                <a:spcPts val="438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00712" lvl="7" marL="3207600" algn="l">
              <a:lnSpc>
                <a:spcPct val="90000"/>
              </a:lnSpc>
              <a:spcBef>
                <a:spcPts val="438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00712" lvl="8" marL="3608550" algn="l">
              <a:lnSpc>
                <a:spcPct val="90000"/>
              </a:lnSpc>
              <a:spcBef>
                <a:spcPts val="438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28"/>
          <p:cNvSpPr txBox="1"/>
          <p:nvPr>
            <p:ph idx="11" type="ftr"/>
          </p:nvPr>
        </p:nvSpPr>
        <p:spPr>
          <a:xfrm>
            <a:off x="7261741" y="197293"/>
            <a:ext cx="3194529" cy="1349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8"/>
          <p:cNvSpPr txBox="1"/>
          <p:nvPr>
            <p:ph idx="12" type="sldNum"/>
          </p:nvPr>
        </p:nvSpPr>
        <p:spPr>
          <a:xfrm>
            <a:off x="8050571" y="7202406"/>
            <a:ext cx="2405700" cy="1349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  <p:sp>
        <p:nvSpPr>
          <p:cNvPr id="26" name="Google Shape;26;p28"/>
          <p:cNvSpPr txBox="1"/>
          <p:nvPr>
            <p:ph type="title"/>
          </p:nvPr>
        </p:nvSpPr>
        <p:spPr>
          <a:xfrm>
            <a:off x="454796" y="450698"/>
            <a:ext cx="9791704" cy="2186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9"/>
          <p:cNvSpPr txBox="1"/>
          <p:nvPr>
            <p:ph type="title"/>
          </p:nvPr>
        </p:nvSpPr>
        <p:spPr>
          <a:xfrm>
            <a:off x="454796" y="450698"/>
            <a:ext cx="9791704" cy="2186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9"/>
          <p:cNvSpPr txBox="1"/>
          <p:nvPr>
            <p:ph idx="10" type="dt"/>
          </p:nvPr>
        </p:nvSpPr>
        <p:spPr>
          <a:xfrm>
            <a:off x="235729" y="7202406"/>
            <a:ext cx="2405700" cy="1349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29"/>
          <p:cNvSpPr txBox="1"/>
          <p:nvPr>
            <p:ph idx="11" type="ftr"/>
          </p:nvPr>
        </p:nvSpPr>
        <p:spPr>
          <a:xfrm>
            <a:off x="7261741" y="197293"/>
            <a:ext cx="3194529" cy="1349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9"/>
          <p:cNvSpPr txBox="1"/>
          <p:nvPr>
            <p:ph idx="12" type="sldNum"/>
          </p:nvPr>
        </p:nvSpPr>
        <p:spPr>
          <a:xfrm>
            <a:off x="8050571" y="7202406"/>
            <a:ext cx="2405700" cy="1349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fslutningsslide">
  <p:cSld name="Afslutningsslide">
    <p:bg>
      <p:bgPr>
        <a:solidFill>
          <a:srgbClr val="1B4529"/>
        </a:solidFill>
      </p:bgPr>
    </p:bg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30"/>
          <p:cNvSpPr txBox="1"/>
          <p:nvPr>
            <p:ph idx="1" type="body"/>
          </p:nvPr>
        </p:nvSpPr>
        <p:spPr>
          <a:xfrm>
            <a:off x="946688" y="1392188"/>
            <a:ext cx="8798625" cy="1280812"/>
          </a:xfrm>
          <a:prstGeom prst="rect">
            <a:avLst/>
          </a:prstGeom>
          <a:solidFill>
            <a:srgbClr val="1B4529"/>
          </a:solidFill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00475" lvl="0" marL="400950" algn="l">
              <a:lnSpc>
                <a:spcPct val="100000"/>
              </a:lnSpc>
              <a:spcBef>
                <a:spcPts val="175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BM Plex Sans"/>
              <a:buNone/>
              <a:defRPr sz="950">
                <a:solidFill>
                  <a:schemeClr val="lt1"/>
                </a:solidFill>
              </a:defRPr>
            </a:lvl1pPr>
            <a:lvl2pPr indent="-200475" lvl="1" marL="80190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BM Plex Sans"/>
              <a:buNone/>
              <a:defRPr sz="950">
                <a:solidFill>
                  <a:schemeClr val="lt1"/>
                </a:solidFill>
              </a:defRPr>
            </a:lvl2pPr>
            <a:lvl3pPr indent="-261731" lvl="2" marL="120285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•"/>
              <a:defRPr sz="950">
                <a:solidFill>
                  <a:schemeClr val="lt1"/>
                </a:solidFill>
              </a:defRPr>
            </a:lvl3pPr>
            <a:lvl4pPr indent="-261731" lvl="3" marL="160380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•"/>
              <a:defRPr sz="950">
                <a:solidFill>
                  <a:schemeClr val="lt1"/>
                </a:solidFill>
              </a:defRPr>
            </a:lvl4pPr>
            <a:lvl5pPr indent="-261731" lvl="4" marL="200475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•"/>
              <a:defRPr sz="950">
                <a:solidFill>
                  <a:schemeClr val="lt1"/>
                </a:solidFill>
              </a:defRPr>
            </a:lvl5pPr>
            <a:lvl6pPr indent="-300712" lvl="5" marL="2405700" algn="l">
              <a:lnSpc>
                <a:spcPct val="90000"/>
              </a:lnSpc>
              <a:spcBef>
                <a:spcPts val="438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00712" lvl="6" marL="2806650" algn="l">
              <a:lnSpc>
                <a:spcPct val="90000"/>
              </a:lnSpc>
              <a:spcBef>
                <a:spcPts val="438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00712" lvl="7" marL="3207600" algn="l">
              <a:lnSpc>
                <a:spcPct val="90000"/>
              </a:lnSpc>
              <a:spcBef>
                <a:spcPts val="438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00712" lvl="8" marL="3608550" algn="l">
              <a:lnSpc>
                <a:spcPct val="90000"/>
              </a:lnSpc>
              <a:spcBef>
                <a:spcPts val="438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" name="Google Shape;34;p30"/>
          <p:cNvSpPr txBox="1"/>
          <p:nvPr>
            <p:ph type="title"/>
          </p:nvPr>
        </p:nvSpPr>
        <p:spPr>
          <a:xfrm>
            <a:off x="454796" y="450698"/>
            <a:ext cx="9791704" cy="2186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BM Plex Sans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30"/>
          <p:cNvSpPr txBox="1"/>
          <p:nvPr>
            <p:ph idx="11" type="ftr"/>
          </p:nvPr>
        </p:nvSpPr>
        <p:spPr>
          <a:xfrm>
            <a:off x="7261741" y="197293"/>
            <a:ext cx="3194529" cy="1349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30"/>
          <p:cNvSpPr txBox="1"/>
          <p:nvPr>
            <p:ph idx="12" type="sldNum"/>
          </p:nvPr>
        </p:nvSpPr>
        <p:spPr>
          <a:xfrm>
            <a:off x="8050571" y="7202406"/>
            <a:ext cx="2405700" cy="1349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algn="r">
              <a:spcBef>
                <a:spcPts val="0"/>
              </a:spcBef>
              <a:buNone/>
              <a:defRPr sz="875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indent="0" lvl="1" marL="0" algn="r">
              <a:spcBef>
                <a:spcPts val="0"/>
              </a:spcBef>
              <a:buNone/>
              <a:defRPr sz="875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indent="0" lvl="2" marL="0" algn="r">
              <a:spcBef>
                <a:spcPts val="0"/>
              </a:spcBef>
              <a:buNone/>
              <a:defRPr sz="875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indent="0" lvl="3" marL="0" algn="r">
              <a:spcBef>
                <a:spcPts val="0"/>
              </a:spcBef>
              <a:buNone/>
              <a:defRPr sz="875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indent="0" lvl="4" marL="0" algn="r">
              <a:spcBef>
                <a:spcPts val="0"/>
              </a:spcBef>
              <a:buNone/>
              <a:defRPr sz="875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indent="0" lvl="5" marL="0" algn="r">
              <a:spcBef>
                <a:spcPts val="0"/>
              </a:spcBef>
              <a:buNone/>
              <a:defRPr sz="875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indent="0" lvl="6" marL="0" algn="r">
              <a:spcBef>
                <a:spcPts val="0"/>
              </a:spcBef>
              <a:buNone/>
              <a:defRPr sz="875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indent="0" lvl="7" marL="0" algn="r">
              <a:spcBef>
                <a:spcPts val="0"/>
              </a:spcBef>
              <a:buNone/>
              <a:defRPr sz="875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indent="0" lvl="8" marL="0" algn="r">
              <a:spcBef>
                <a:spcPts val="0"/>
              </a:spcBef>
              <a:buNone/>
              <a:defRPr sz="875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tro template">
  <p:cSld name="Intro template">
    <p:bg>
      <p:bgPr>
        <a:solidFill>
          <a:schemeClr val="lt1"/>
        </a:solidFill>
      </p:bgPr>
    </p:bg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31"/>
          <p:cNvSpPr txBox="1"/>
          <p:nvPr>
            <p:ph idx="1" type="body"/>
          </p:nvPr>
        </p:nvSpPr>
        <p:spPr>
          <a:xfrm>
            <a:off x="445500" y="890814"/>
            <a:ext cx="3080911" cy="46727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00475" lvl="0" marL="40095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None/>
              <a:defRPr/>
            </a:lvl1pPr>
            <a:lvl2pPr indent="-300712" lvl="1" marL="80190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2pPr>
            <a:lvl3pPr indent="-300712" lvl="2" marL="120285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3pPr>
            <a:lvl4pPr indent="-300712" lvl="3" marL="160380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4pPr>
            <a:lvl5pPr indent="-300712" lvl="4" marL="200475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5pPr>
            <a:lvl6pPr indent="-300712" lvl="5" marL="2405700" algn="l">
              <a:lnSpc>
                <a:spcPct val="90000"/>
              </a:lnSpc>
              <a:spcBef>
                <a:spcPts val="438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00712" lvl="6" marL="2806650" algn="l">
              <a:lnSpc>
                <a:spcPct val="90000"/>
              </a:lnSpc>
              <a:spcBef>
                <a:spcPts val="438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00712" lvl="7" marL="3207600" algn="l">
              <a:lnSpc>
                <a:spcPct val="90000"/>
              </a:lnSpc>
              <a:spcBef>
                <a:spcPts val="438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00712" lvl="8" marL="3608550" algn="l">
              <a:lnSpc>
                <a:spcPct val="90000"/>
              </a:lnSpc>
              <a:spcBef>
                <a:spcPts val="438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" name="Google Shape;39;p31"/>
          <p:cNvSpPr txBox="1"/>
          <p:nvPr>
            <p:ph idx="2" type="body"/>
          </p:nvPr>
        </p:nvSpPr>
        <p:spPr>
          <a:xfrm>
            <a:off x="3804849" y="890815"/>
            <a:ext cx="3080910" cy="46727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00475" lvl="0" marL="40095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None/>
              <a:defRPr/>
            </a:lvl1pPr>
            <a:lvl2pPr indent="-300712" lvl="1" marL="80190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2pPr>
            <a:lvl3pPr indent="-300712" lvl="2" marL="120285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3pPr>
            <a:lvl4pPr indent="-300712" lvl="3" marL="160380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4pPr>
            <a:lvl5pPr indent="-300712" lvl="4" marL="200475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5pPr>
            <a:lvl6pPr indent="-300712" lvl="5" marL="2405700" algn="l">
              <a:lnSpc>
                <a:spcPct val="90000"/>
              </a:lnSpc>
              <a:spcBef>
                <a:spcPts val="438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00712" lvl="6" marL="2806650" algn="l">
              <a:lnSpc>
                <a:spcPct val="90000"/>
              </a:lnSpc>
              <a:spcBef>
                <a:spcPts val="438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00712" lvl="7" marL="3207600" algn="l">
              <a:lnSpc>
                <a:spcPct val="90000"/>
              </a:lnSpc>
              <a:spcBef>
                <a:spcPts val="438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00712" lvl="8" marL="3608550" algn="l">
              <a:lnSpc>
                <a:spcPct val="90000"/>
              </a:lnSpc>
              <a:spcBef>
                <a:spcPts val="438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31"/>
          <p:cNvSpPr txBox="1"/>
          <p:nvPr>
            <p:ph type="title"/>
          </p:nvPr>
        </p:nvSpPr>
        <p:spPr>
          <a:xfrm>
            <a:off x="454796" y="450698"/>
            <a:ext cx="9791704" cy="2186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6"/>
          <p:cNvSpPr txBox="1"/>
          <p:nvPr>
            <p:ph idx="1" type="body"/>
          </p:nvPr>
        </p:nvSpPr>
        <p:spPr>
          <a:xfrm>
            <a:off x="454795" y="890999"/>
            <a:ext cx="9791703" cy="46725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50594" lvl="0" marL="40095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Arial"/>
              <a:buChar char="•"/>
              <a:defRPr b="0" i="0" sz="775" u="none" cap="none" strike="noStrike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indent="-250594" lvl="1" marL="80190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Arial"/>
              <a:buChar char="•"/>
              <a:defRPr b="0" i="0" sz="775" u="none" cap="none" strike="noStrike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indent="-250594" lvl="2" marL="120285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Arial"/>
              <a:buChar char="•"/>
              <a:defRPr b="0" i="0" sz="775" u="none" cap="none" strike="noStrike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indent="-250594" lvl="3" marL="160380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Arial"/>
              <a:buChar char="•"/>
              <a:defRPr b="0" i="0" sz="775" u="none" cap="none" strike="noStrike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indent="-250594" lvl="4" marL="200475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Arial"/>
              <a:buChar char="•"/>
              <a:defRPr b="0" i="0" sz="775" u="none" cap="none" strike="noStrike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indent="-300712" lvl="5" marL="2405700" marR="0" rtl="0" algn="l">
              <a:lnSpc>
                <a:spcPct val="90000"/>
              </a:lnSpc>
              <a:spcBef>
                <a:spcPts val="438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575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indent="-300712" lvl="6" marL="2806650" marR="0" rtl="0" algn="l">
              <a:lnSpc>
                <a:spcPct val="90000"/>
              </a:lnSpc>
              <a:spcBef>
                <a:spcPts val="438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575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indent="-300712" lvl="7" marL="3207600" marR="0" rtl="0" algn="l">
              <a:lnSpc>
                <a:spcPct val="90000"/>
              </a:lnSpc>
              <a:spcBef>
                <a:spcPts val="438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575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indent="-300712" lvl="8" marL="3608550" marR="0" rtl="0" algn="l">
              <a:lnSpc>
                <a:spcPct val="90000"/>
              </a:lnSpc>
              <a:spcBef>
                <a:spcPts val="438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575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/>
        </p:txBody>
      </p:sp>
      <p:sp>
        <p:nvSpPr>
          <p:cNvPr id="11" name="Google Shape;11;p26"/>
          <p:cNvSpPr txBox="1"/>
          <p:nvPr>
            <p:ph idx="10" type="dt"/>
          </p:nvPr>
        </p:nvSpPr>
        <p:spPr>
          <a:xfrm>
            <a:off x="235729" y="7202406"/>
            <a:ext cx="2405700" cy="1349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875" u="none" cap="none" strike="noStrike">
                <a:solidFill>
                  <a:srgbClr val="5F7D69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575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575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575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575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575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575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575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575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/>
        </p:txBody>
      </p:sp>
      <p:sp>
        <p:nvSpPr>
          <p:cNvPr id="12" name="Google Shape;12;p26"/>
          <p:cNvSpPr txBox="1"/>
          <p:nvPr>
            <p:ph idx="11" type="ftr"/>
          </p:nvPr>
        </p:nvSpPr>
        <p:spPr>
          <a:xfrm>
            <a:off x="7261741" y="197293"/>
            <a:ext cx="3194529" cy="1349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875" u="none" cap="none" strike="noStrike">
                <a:solidFill>
                  <a:srgbClr val="5F7D69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575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575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575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575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575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575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575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575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/>
        </p:txBody>
      </p:sp>
      <p:sp>
        <p:nvSpPr>
          <p:cNvPr id="13" name="Google Shape;13;p26"/>
          <p:cNvSpPr txBox="1"/>
          <p:nvPr>
            <p:ph idx="12" type="sldNum"/>
          </p:nvPr>
        </p:nvSpPr>
        <p:spPr>
          <a:xfrm>
            <a:off x="8050571" y="7202406"/>
            <a:ext cx="2405700" cy="1349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75" u="none" cap="none" strike="noStrike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75" u="none" cap="none" strike="noStrike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75" u="none" cap="none" strike="noStrike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75" u="none" cap="none" strike="noStrike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75" u="none" cap="none" strike="noStrike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75" u="none" cap="none" strike="noStrike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75" u="none" cap="none" strike="noStrike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75" u="none" cap="none" strike="noStrike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75" u="none" cap="none" strike="noStrike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  <p:sp>
        <p:nvSpPr>
          <p:cNvPr id="14" name="Google Shape;14;p26"/>
          <p:cNvSpPr txBox="1"/>
          <p:nvPr>
            <p:ph type="title"/>
          </p:nvPr>
        </p:nvSpPr>
        <p:spPr>
          <a:xfrm>
            <a:off x="454796" y="450698"/>
            <a:ext cx="9791704" cy="2186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  <a:defRPr b="1" i="0" sz="1575" u="none" cap="none" strike="noStrike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575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575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575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575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575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575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575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575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225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225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225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225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225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225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225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225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225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225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225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225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225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225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225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225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225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225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225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225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225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225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225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225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225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225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225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>
          <p15:clr>
            <a:srgbClr val="F26B43"/>
          </p15:clr>
        </p15:guide>
        <p15:guide id="2" pos="7680">
          <p15:clr>
            <a:srgbClr val="F26B43"/>
          </p15:clr>
        </p15:guide>
        <p15:guide id="3" pos="320">
          <p15:clr>
            <a:srgbClr val="F26B43"/>
          </p15:clr>
        </p15:guide>
        <p15:guide id="4" pos="2533">
          <p15:clr>
            <a:srgbClr val="F26B43"/>
          </p15:clr>
        </p15:guide>
        <p15:guide id="5" pos="2733">
          <p15:clr>
            <a:srgbClr val="F26B43"/>
          </p15:clr>
        </p15:guide>
        <p15:guide id="6" pos="4946">
          <p15:clr>
            <a:srgbClr val="F26B43"/>
          </p15:clr>
        </p15:guide>
        <p15:guide id="7" pos="5146">
          <p15:clr>
            <a:srgbClr val="F26B43"/>
          </p15:clr>
        </p15:guide>
        <p15:guide id="8" pos="7360">
          <p15:clr>
            <a:srgbClr val="F26B43"/>
          </p15:clr>
        </p15:guide>
        <p15:guide id="9" orient="horz">
          <p15:clr>
            <a:srgbClr val="F26B43"/>
          </p15:clr>
        </p15:guide>
        <p15:guide id="10" orient="horz" pos="4320">
          <p15:clr>
            <a:srgbClr val="F26B43"/>
          </p15:clr>
        </p15:guide>
        <p15:guide id="11" orient="horz" pos="320">
          <p15:clr>
            <a:srgbClr val="F26B43"/>
          </p15:clr>
        </p15:guide>
        <p15:guide id="12" orient="horz" pos="4000">
          <p15:clr>
            <a:srgbClr val="F26B43"/>
          </p15:clr>
        </p15:guide>
        <p15:guide id="13" orient="horz" pos="6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"/>
          <p:cNvSpPr txBox="1"/>
          <p:nvPr>
            <p:ph type="title"/>
          </p:nvPr>
        </p:nvSpPr>
        <p:spPr>
          <a:xfrm>
            <a:off x="946688" y="4051289"/>
            <a:ext cx="8798625" cy="1336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BM Plex Sans"/>
              <a:buNone/>
            </a:pPr>
            <a:r>
              <a:rPr lang="it-IT"/>
              <a:t>RELAZIONE ESG {{insert_year}}</a:t>
            </a:r>
            <a:endParaRPr/>
          </a:p>
        </p:txBody>
      </p:sp>
      <p:sp>
        <p:nvSpPr>
          <p:cNvPr id="47" name="Google Shape;47;p1"/>
          <p:cNvSpPr txBox="1"/>
          <p:nvPr>
            <p:ph idx="11" type="ftr"/>
          </p:nvPr>
        </p:nvSpPr>
        <p:spPr>
          <a:xfrm>
            <a:off x="3072658" y="4359745"/>
            <a:ext cx="4539794" cy="2466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{{company_name}}</a:t>
            </a:r>
            <a:endParaRPr b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"/>
          <p:cNvSpPr txBox="1"/>
          <p:nvPr>
            <p:ph type="title"/>
          </p:nvPr>
        </p:nvSpPr>
        <p:spPr>
          <a:xfrm>
            <a:off x="454796" y="450698"/>
            <a:ext cx="9791704" cy="4372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</a:pPr>
            <a:r>
              <a:rPr lang="it-IT"/>
              <a:t>Relazione ESG</a:t>
            </a:r>
            <a:r>
              <a:rPr b="0" lang="it-IT">
                <a:solidFill>
                  <a:srgbClr val="1B4528"/>
                </a:solidFill>
              </a:rPr>
              <a:t> </a:t>
            </a:r>
            <a:br>
              <a:rPr b="0" lang="it-IT">
                <a:solidFill>
                  <a:srgbClr val="1B4528"/>
                </a:solidFill>
              </a:rPr>
            </a:br>
            <a:endParaRPr b="0">
              <a:solidFill>
                <a:srgbClr val="1B4528"/>
              </a:solidFill>
            </a:endParaRPr>
          </a:p>
        </p:txBody>
      </p:sp>
      <p:sp>
        <p:nvSpPr>
          <p:cNvPr id="54" name="Google Shape;54;p2"/>
          <p:cNvSpPr txBox="1"/>
          <p:nvPr>
            <p:ph idx="1" type="body"/>
          </p:nvPr>
        </p:nvSpPr>
        <p:spPr>
          <a:xfrm>
            <a:off x="454793" y="864270"/>
            <a:ext cx="6880233" cy="4704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None/>
            </a:pPr>
            <a:r>
              <a:t/>
            </a:r>
            <a:endParaRPr b="1" sz="105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None/>
            </a:pPr>
            <a:r>
              <a:t/>
            </a:r>
            <a:endParaRPr b="1" sz="105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200475" lvl="0" marL="200475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BM Plex Sans"/>
              <a:buAutoNum type="arabicPeriod"/>
            </a:pPr>
            <a:r>
              <a:rPr b="1" lang="it-IT" sz="1050">
                <a:latin typeface="IBM Plex Sans"/>
                <a:ea typeface="IBM Plex Sans"/>
                <a:cs typeface="IBM Plex Sans"/>
                <a:sym typeface="IBM Plex Sans"/>
              </a:rPr>
              <a:t>Informazioni generali				</a:t>
            </a:r>
            <a:endParaRPr sz="1050">
              <a:solidFill>
                <a:srgbClr val="1B4528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200475" lvl="0" marL="200475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BM Plex Sans"/>
              <a:buAutoNum type="arabicPeriod"/>
            </a:pPr>
            <a:r>
              <a:rPr b="1" lang="it-IT" sz="1050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rPr>
              <a:t>Pratiche, politiche e iniziative per un’economia più sostenibile	</a:t>
            </a:r>
            <a:endParaRPr b="1" sz="105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200475" lvl="0" marL="200475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BM Plex Sans"/>
              <a:buAutoNum type="arabicPeriod"/>
            </a:pPr>
            <a:r>
              <a:rPr b="1" lang="it-IT" sz="1050">
                <a:latin typeface="IBM Plex Sans"/>
                <a:ea typeface="IBM Plex Sans"/>
                <a:cs typeface="IBM Plex Sans"/>
                <a:sym typeface="IBM Plex Sans"/>
              </a:rPr>
              <a:t>Consumo di energia				</a:t>
            </a:r>
            <a:endParaRPr sz="105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200475" lvl="0" marL="200475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BM Plex Sans"/>
              <a:buAutoNum type="arabicPeriod"/>
            </a:pPr>
            <a:r>
              <a:rPr b="1" lang="it-IT" sz="1050">
                <a:latin typeface="IBM Plex Sans"/>
                <a:ea typeface="IBM Plex Sans"/>
                <a:cs typeface="IBM Plex Sans"/>
                <a:sym typeface="IBM Plex Sans"/>
              </a:rPr>
              <a:t>Emissioni di CO₂e 				</a:t>
            </a:r>
            <a:endParaRPr sz="105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200475" lvl="0" marL="200475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BM Plex Sans"/>
              <a:buAutoNum type="arabicPeriod"/>
            </a:pPr>
            <a:r>
              <a:rPr b="1" lang="it-IT" sz="1050">
                <a:latin typeface="IBM Plex Sans"/>
                <a:ea typeface="IBM Plex Sans"/>
                <a:cs typeface="IBM Plex Sans"/>
                <a:sym typeface="IBM Plex Sans"/>
              </a:rPr>
              <a:t>Inquinamento di aria, acqua e suolo</a:t>
            </a:r>
            <a:r>
              <a:rPr lang="it-IT" sz="1050">
                <a:latin typeface="IBM Plex Sans"/>
                <a:ea typeface="IBM Plex Sans"/>
                <a:cs typeface="IBM Plex Sans"/>
                <a:sym typeface="IBM Plex Sans"/>
              </a:rPr>
              <a:t>				</a:t>
            </a:r>
            <a:endParaRPr/>
          </a:p>
          <a:p>
            <a:pPr indent="-200475" lvl="0" marL="200475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BM Plex Sans"/>
              <a:buAutoNum type="arabicPeriod"/>
            </a:pPr>
            <a:r>
              <a:rPr b="1" lang="it-IT" sz="1050">
                <a:latin typeface="IBM Plex Sans"/>
                <a:ea typeface="IBM Plex Sans"/>
                <a:cs typeface="IBM Plex Sans"/>
                <a:sym typeface="IBM Plex Sans"/>
              </a:rPr>
              <a:t>Biodiversità</a:t>
            </a:r>
            <a:r>
              <a:rPr lang="it-IT" sz="1050">
                <a:latin typeface="IBM Plex Sans"/>
                <a:ea typeface="IBM Plex Sans"/>
                <a:cs typeface="IBM Plex Sans"/>
                <a:sym typeface="IBM Plex Sans"/>
              </a:rPr>
              <a:t>				</a:t>
            </a:r>
            <a:endParaRPr/>
          </a:p>
          <a:p>
            <a:pPr indent="-200475" lvl="0" marL="200475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BM Plex Sans"/>
              <a:buAutoNum type="arabicPeriod"/>
            </a:pPr>
            <a:r>
              <a:rPr b="1" lang="it-IT" sz="1050">
                <a:latin typeface="IBM Plex Sans"/>
                <a:ea typeface="IBM Plex Sans"/>
                <a:cs typeface="IBM Plex Sans"/>
                <a:sym typeface="IBM Plex Sans"/>
              </a:rPr>
              <a:t>Acque	</a:t>
            </a:r>
            <a:r>
              <a:rPr lang="it-IT" sz="1050">
                <a:latin typeface="IBM Plex Sans"/>
                <a:ea typeface="IBM Plex Sans"/>
                <a:cs typeface="IBM Plex Sans"/>
                <a:sym typeface="IBM Plex Sans"/>
              </a:rPr>
              <a:t> 			</a:t>
            </a:r>
            <a:endParaRPr/>
          </a:p>
          <a:p>
            <a:pPr indent="-200475" lvl="0" marL="200475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BM Plex Sans"/>
              <a:buAutoNum type="arabicPeriod"/>
            </a:pPr>
            <a:r>
              <a:rPr b="1" lang="it-IT" sz="1050">
                <a:latin typeface="IBM Plex Sans"/>
                <a:ea typeface="IBM Plex Sans"/>
                <a:cs typeface="IBM Plex Sans"/>
                <a:sym typeface="IBM Plex Sans"/>
              </a:rPr>
              <a:t>Uso delle risorse, economia circolare e gestione dei rifiuti</a:t>
            </a:r>
            <a:r>
              <a:rPr lang="it-IT" sz="1050">
                <a:latin typeface="IBM Plex Sans"/>
                <a:ea typeface="IBM Plex Sans"/>
                <a:cs typeface="IBM Plex Sans"/>
                <a:sym typeface="IBM Plex Sans"/>
              </a:rPr>
              <a:t>				</a:t>
            </a:r>
            <a:endParaRPr sz="1050">
              <a:solidFill>
                <a:srgbClr val="1B4528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200475" lvl="0" marL="200475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BM Plex Sans"/>
              <a:buAutoNum type="arabicPeriod"/>
            </a:pPr>
            <a:r>
              <a:rPr b="1" lang="it-IT" sz="1050">
                <a:latin typeface="IBM Plex Sans"/>
                <a:ea typeface="IBM Plex Sans"/>
                <a:cs typeface="IBM Plex Sans"/>
                <a:sym typeface="IBM Plex Sans"/>
              </a:rPr>
              <a:t>Forza lavoro propria: caratteristiche generali</a:t>
            </a:r>
            <a:r>
              <a:rPr lang="it-IT" sz="1050">
                <a:latin typeface="IBM Plex Sans"/>
                <a:ea typeface="IBM Plex Sans"/>
                <a:cs typeface="IBM Plex Sans"/>
                <a:sym typeface="IBM Plex Sans"/>
              </a:rPr>
              <a:t>				</a:t>
            </a:r>
            <a:endParaRPr sz="1050">
              <a:solidFill>
                <a:srgbClr val="1B4528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200475" lvl="0" marL="200475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BM Plex Sans"/>
              <a:buAutoNum type="arabicPeriod"/>
            </a:pPr>
            <a:r>
              <a:rPr b="1" lang="it-IT" sz="1050">
                <a:latin typeface="IBM Plex Sans"/>
                <a:ea typeface="IBM Plex Sans"/>
                <a:cs typeface="IBM Plex Sans"/>
                <a:sym typeface="IBM Plex Sans"/>
              </a:rPr>
              <a:t>Forza lavoro propria: salute e sicurezza</a:t>
            </a:r>
            <a:r>
              <a:rPr lang="it-IT" sz="1050">
                <a:latin typeface="IBM Plex Sans"/>
                <a:ea typeface="IBM Plex Sans"/>
                <a:cs typeface="IBM Plex Sans"/>
                <a:sym typeface="IBM Plex Sans"/>
              </a:rPr>
              <a:t>				</a:t>
            </a:r>
            <a:endParaRPr sz="1050">
              <a:solidFill>
                <a:srgbClr val="1B4528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200475" lvl="0" marL="200475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BM Plex Sans"/>
              <a:buAutoNum type="arabicPeriod"/>
            </a:pPr>
            <a:r>
              <a:rPr b="1" lang="it-IT" sz="1050">
                <a:latin typeface="IBM Plex Sans"/>
                <a:ea typeface="IBM Plex Sans"/>
                <a:cs typeface="IBM Plex Sans"/>
                <a:sym typeface="IBM Plex Sans"/>
              </a:rPr>
              <a:t>Forza lavoro: retribuzione, contrattazione collettiva e formazione</a:t>
            </a:r>
            <a:r>
              <a:rPr lang="it-IT" sz="1050">
                <a:latin typeface="IBM Plex Sans"/>
                <a:ea typeface="IBM Plex Sans"/>
                <a:cs typeface="IBM Plex Sans"/>
                <a:sym typeface="IBM Plex Sans"/>
              </a:rPr>
              <a:t>		</a:t>
            </a:r>
            <a:endParaRPr sz="1050">
              <a:solidFill>
                <a:srgbClr val="1B4528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200475" lvl="0" marL="200475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BM Plex Sans"/>
              <a:buAutoNum type="arabicPeriod"/>
            </a:pPr>
            <a:r>
              <a:rPr b="1" lang="it-IT" sz="1050">
                <a:latin typeface="IBM Plex Sans"/>
                <a:ea typeface="IBM Plex Sans"/>
                <a:cs typeface="IBM Plex Sans"/>
                <a:sym typeface="IBM Plex Sans"/>
              </a:rPr>
              <a:t>Condotta delle imprese</a:t>
            </a:r>
            <a:r>
              <a:rPr lang="it-IT" sz="1050">
                <a:latin typeface="IBM Plex Sans"/>
                <a:ea typeface="IBM Plex Sans"/>
                <a:cs typeface="IBM Plex Sans"/>
                <a:sym typeface="IBM Plex Sans"/>
              </a:rPr>
              <a:t>	 			</a:t>
            </a:r>
            <a:endParaRPr sz="1050">
              <a:solidFill>
                <a:srgbClr val="1B4528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200475" lvl="0" marL="200475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BM Plex Sans"/>
              <a:buAutoNum type="arabicPeriod"/>
            </a:pPr>
            <a:r>
              <a:rPr b="1" lang="it-IT" sz="1050">
                <a:latin typeface="IBM Plex Sans"/>
                <a:ea typeface="IBM Plex Sans"/>
                <a:cs typeface="IBM Plex Sans"/>
                <a:sym typeface="IBM Plex Sans"/>
              </a:rPr>
              <a:t>Strategia: modello aziendale e iniziative connesse alla sostenibilità</a:t>
            </a:r>
            <a:endParaRPr sz="1050">
              <a:solidFill>
                <a:srgbClr val="1B4528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200475" lvl="0" marL="200475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BM Plex Sans"/>
              <a:buAutoNum type="arabicPeriod"/>
            </a:pPr>
            <a:r>
              <a:rPr b="1" lang="it-IT" sz="1050">
                <a:latin typeface="IBM Plex Sans"/>
                <a:ea typeface="IBM Plex Sans"/>
                <a:cs typeface="IBM Plex Sans"/>
                <a:sym typeface="IBM Plex Sans"/>
              </a:rPr>
              <a:t>Pratiche, politiche e iniziative future per la transizione verso un’economia più sostenibile</a:t>
            </a:r>
            <a:endParaRPr sz="1050">
              <a:solidFill>
                <a:srgbClr val="1B4528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200475" lvl="0" marL="200475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BM Plex Sans"/>
              <a:buAutoNum type="arabicPeriod"/>
            </a:pPr>
            <a:r>
              <a:rPr b="1" lang="it-IT" sz="1050">
                <a:latin typeface="IBM Plex Sans"/>
                <a:ea typeface="IBM Plex Sans"/>
                <a:cs typeface="IBM Plex Sans"/>
                <a:sym typeface="IBM Plex Sans"/>
              </a:rPr>
              <a:t>Obiettivi di riduzione delle emissioni di CO₂e</a:t>
            </a:r>
            <a:endParaRPr sz="1050">
              <a:solidFill>
                <a:srgbClr val="1B4528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200475" lvl="0" marL="200475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BM Plex Sans"/>
              <a:buAutoNum type="arabicPeriod"/>
            </a:pPr>
            <a:r>
              <a:rPr b="1" lang="it-IT" sz="1050">
                <a:latin typeface="IBM Plex Sans"/>
                <a:ea typeface="IBM Plex Sans"/>
                <a:cs typeface="IBM Plex Sans"/>
                <a:sym typeface="IBM Plex Sans"/>
              </a:rPr>
              <a:t>Transizione climatica</a:t>
            </a:r>
            <a:endParaRPr sz="1050">
              <a:solidFill>
                <a:srgbClr val="1B4528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200475" lvl="0" marL="200475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BM Plex Sans"/>
              <a:buAutoNum type="arabicPeriod"/>
            </a:pPr>
            <a:r>
              <a:rPr b="1" lang="it-IT" sz="1050">
                <a:latin typeface="IBM Plex Sans"/>
                <a:ea typeface="IBM Plex Sans"/>
                <a:cs typeface="IBM Plex Sans"/>
                <a:sym typeface="IBM Plex Sans"/>
              </a:rPr>
              <a:t>Rischi climatici</a:t>
            </a:r>
            <a:endParaRPr sz="1050">
              <a:solidFill>
                <a:srgbClr val="1B4528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200475" lvl="0" marL="200475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BM Plex Sans"/>
              <a:buAutoNum type="arabicPeriod"/>
            </a:pPr>
            <a:r>
              <a:rPr b="1" lang="it-IT" sz="1050">
                <a:latin typeface="IBM Plex Sans"/>
                <a:ea typeface="IBM Plex Sans"/>
                <a:cs typeface="IBM Plex Sans"/>
                <a:sym typeface="IBM Plex Sans"/>
              </a:rPr>
              <a:t>Altre caratteristiche (generali) della forza lavoro</a:t>
            </a:r>
            <a:endParaRPr sz="1050">
              <a:solidFill>
                <a:srgbClr val="1B4528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200475" lvl="0" marL="200475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BM Plex Sans"/>
              <a:buAutoNum type="arabicPeriod"/>
            </a:pPr>
            <a:r>
              <a:rPr b="1" lang="it-IT" sz="1050">
                <a:latin typeface="IBM Plex Sans"/>
                <a:ea typeface="IBM Plex Sans"/>
                <a:cs typeface="IBM Plex Sans"/>
                <a:sym typeface="IBM Plex Sans"/>
              </a:rPr>
              <a:t>Politiche e procedure in materia di diritti umani</a:t>
            </a:r>
            <a:endParaRPr sz="1050">
              <a:solidFill>
                <a:srgbClr val="1B4528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200475" lvl="0" marL="200475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BM Plex Sans"/>
              <a:buAutoNum type="arabicPeriod"/>
            </a:pPr>
            <a:r>
              <a:rPr b="1" lang="it-IT" sz="1050">
                <a:latin typeface="IBM Plex Sans"/>
                <a:ea typeface="IBM Plex Sans"/>
                <a:cs typeface="IBM Plex Sans"/>
                <a:sym typeface="IBM Plex Sans"/>
              </a:rPr>
              <a:t>Incidenti gravi in materia di diritti umani</a:t>
            </a:r>
            <a:endParaRPr sz="1050">
              <a:solidFill>
                <a:srgbClr val="1B4528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200475" lvl="0" marL="200475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BM Plex Sans"/>
              <a:buAutoNum type="arabicPeriod"/>
            </a:pPr>
            <a:r>
              <a:rPr b="1" lang="it-IT" sz="1050">
                <a:latin typeface="IBM Plex Sans"/>
                <a:ea typeface="IBM Plex Sans"/>
                <a:cs typeface="IBM Plex Sans"/>
                <a:sym typeface="IBM Plex Sans"/>
              </a:rPr>
              <a:t>Ricavi da determinate attività</a:t>
            </a:r>
            <a:endParaRPr sz="1050">
              <a:solidFill>
                <a:srgbClr val="1B4528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200475" lvl="0" marL="200475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BM Plex Sans"/>
              <a:buAutoNum type="arabicPeriod"/>
            </a:pPr>
            <a:r>
              <a:rPr b="1" lang="it-IT" sz="1050">
                <a:latin typeface="IBM Plex Sans"/>
                <a:ea typeface="IBM Plex Sans"/>
                <a:cs typeface="IBM Plex Sans"/>
                <a:sym typeface="IBM Plex Sans"/>
              </a:rPr>
              <a:t>Diversità di genere nell’organo di governance</a:t>
            </a:r>
            <a:endParaRPr sz="1050">
              <a:solidFill>
                <a:srgbClr val="1B4528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rtl="0" algn="l">
              <a:lnSpc>
                <a:spcPct val="129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None/>
            </a:pPr>
            <a:r>
              <a:t/>
            </a:r>
            <a:endParaRPr sz="105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55" name="Google Shape;55;p2"/>
          <p:cNvSpPr txBox="1"/>
          <p:nvPr>
            <p:ph idx="11" type="ftr"/>
          </p:nvPr>
        </p:nvSpPr>
        <p:spPr>
          <a:xfrm>
            <a:off x="7261741" y="197293"/>
            <a:ext cx="3194529" cy="1349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{{company_name}}</a:t>
            </a:r>
            <a:endParaRPr/>
          </a:p>
        </p:txBody>
      </p:sp>
      <p:sp>
        <p:nvSpPr>
          <p:cNvPr id="56" name="Google Shape;56;p2"/>
          <p:cNvSpPr txBox="1"/>
          <p:nvPr>
            <p:ph idx="12" type="sldNum"/>
          </p:nvPr>
        </p:nvSpPr>
        <p:spPr>
          <a:xfrm>
            <a:off x="8050571" y="7202406"/>
            <a:ext cx="2405700" cy="1349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"/>
          <p:cNvSpPr txBox="1"/>
          <p:nvPr>
            <p:ph type="title"/>
          </p:nvPr>
        </p:nvSpPr>
        <p:spPr>
          <a:xfrm>
            <a:off x="454796" y="450698"/>
            <a:ext cx="9791704" cy="2186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</a:pPr>
            <a:r>
              <a:rPr lang="it-IT"/>
              <a:t>Criteri per la redazione (B1) </a:t>
            </a:r>
            <a:endParaRPr/>
          </a:p>
        </p:txBody>
      </p:sp>
      <p:sp>
        <p:nvSpPr>
          <p:cNvPr id="63" name="Google Shape;63;p3"/>
          <p:cNvSpPr txBox="1"/>
          <p:nvPr/>
        </p:nvSpPr>
        <p:spPr>
          <a:xfrm>
            <a:off x="445500" y="2600430"/>
            <a:ext cx="3080911" cy="1506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0"/>
              <a:buFont typeface="Arial"/>
              <a:buNone/>
            </a:pPr>
            <a:r>
              <a:t/>
            </a:r>
            <a:endParaRPr b="0" i="0" sz="775" u="none" cap="none" strike="noStrike">
              <a:solidFill>
                <a:srgbClr val="1B4528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graphicFrame>
        <p:nvGraphicFramePr>
          <p:cNvPr id="64" name="Google Shape;64;p3"/>
          <p:cNvGraphicFramePr/>
          <p:nvPr/>
        </p:nvGraphicFramePr>
        <p:xfrm>
          <a:off x="454795" y="4463906"/>
          <a:ext cx="2630906" cy="1286082"/>
        </p:xfrm>
        <a:graphic>
          <a:graphicData uri="http://schemas.openxmlformats.org/drawingml/2006/table">
            <a:tbl>
              <a:tblPr firstRow="1">
                <a:noFill/>
                <a:tableStyleId>{A4A76372-1D77-4638-8BC6-133FC8FB7DB3}</a:tableStyleId>
              </a:tblPr>
              <a:tblGrid>
                <a:gridCol w="2982460"/>
                <a:gridCol w="3467095"/>
              </a:tblGrid>
              <a:tr h="460121">
                <a:tc gridSpan="2"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 u="none" cap="none" strike="noStrike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Elenco delle filiazioni incluse nella presente relazione ESG </a:t>
                      </a:r>
                      <a:r>
                        <a:rPr b="0" lang="it-IT" sz="1050" u="none" cap="none" strike="noStrike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(punto 27d)</a:t>
                      </a:r>
                      <a:endParaRPr b="0" i="1" sz="1050" u="none" cap="none" strike="noStrike">
                        <a:solidFill>
                          <a:schemeClr val="dk2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 hMerge="1"/>
              </a:tr>
              <a:tr h="42355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 u="none" cap="none" strike="noStrike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Denominazione della filiazione 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 u="none" cap="none" strike="noStrike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Sede legale della filiazione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050738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cap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{{subsidiary}}</a:t>
                      </a:r>
                      <a:endParaRPr sz="1050" u="none" cap="none" strike="noStrike"/>
                    </a:p>
                  </a:txBody>
                  <a:tcPr marT="16706" marB="16706" marR="22275" marL="2227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cap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{{subsidiary_address}}</a:t>
                      </a:r>
                      <a:endParaRPr sz="1050" u="none" cap="none" strike="noStrike"/>
                    </a:p>
                  </a:txBody>
                  <a:tcPr marT="16706" marB="16706" marR="22275" marL="2227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65" name="Google Shape;65;p3"/>
          <p:cNvSpPr txBox="1"/>
          <p:nvPr>
            <p:ph idx="12" type="sldNum"/>
          </p:nvPr>
        </p:nvSpPr>
        <p:spPr>
          <a:xfrm>
            <a:off x="8050571" y="7202406"/>
            <a:ext cx="2405700" cy="1349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  <p:sp>
        <p:nvSpPr>
          <p:cNvPr id="66" name="Google Shape;66;p3"/>
          <p:cNvSpPr txBox="1"/>
          <p:nvPr>
            <p:ph idx="11" type="ftr"/>
          </p:nvPr>
        </p:nvSpPr>
        <p:spPr>
          <a:xfrm>
            <a:off x="7261741" y="197293"/>
            <a:ext cx="3194529" cy="1349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{{company_name}}</a:t>
            </a:r>
            <a:endParaRPr b="0"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br>
              <a:rPr lang="it-IT"/>
            </a:br>
            <a:endParaRPr/>
          </a:p>
        </p:txBody>
      </p:sp>
      <p:graphicFrame>
        <p:nvGraphicFramePr>
          <p:cNvPr id="67" name="Google Shape;67;p3"/>
          <p:cNvGraphicFramePr/>
          <p:nvPr/>
        </p:nvGraphicFramePr>
        <p:xfrm>
          <a:off x="454795" y="3387189"/>
          <a:ext cx="2630906" cy="2630906"/>
        </p:xfrm>
        <a:graphic>
          <a:graphicData uri="http://schemas.openxmlformats.org/drawingml/2006/table">
            <a:tbl>
              <a:tblPr firstRow="1">
                <a:noFill/>
                <a:tableStyleId>{A4A76372-1D77-4638-8BC6-133FC8FB7DB3}</a:tableStyleId>
              </a:tblPr>
              <a:tblGrid>
                <a:gridCol w="5432316"/>
                <a:gridCol w="1017240"/>
              </a:tblGrid>
              <a:tr h="180392">
                <a:tc gridSpan="2"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 u="none" cap="none" strike="noStrike">
                          <a:solidFill>
                            <a:schemeClr val="dk2"/>
                          </a:solidFill>
                        </a:rPr>
                        <a:t>Relazione individuale o consolidata</a:t>
                      </a:r>
                      <a:r>
                        <a:rPr b="0" lang="it-IT" sz="1050" u="none" cap="none" strike="noStrike">
                          <a:solidFill>
                            <a:schemeClr val="dk2"/>
                          </a:solidFill>
                        </a:rPr>
                        <a:t> (punto 27c)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 hMerge="1"/>
              </a:tr>
              <a:tr h="25807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La relazione è stata redatta su </a:t>
                      </a: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base individuale </a:t>
                      </a:r>
                      <a:r>
                        <a:rPr b="0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(ossia non copre eventuali filiazioni)</a:t>
                      </a:r>
                      <a:endParaRPr b="0" sz="1050">
                        <a:solidFill>
                          <a:schemeClr val="dk2"/>
                        </a:solidFill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{{yes_subsidiary?}}</a:t>
                      </a:r>
                      <a:endParaRPr sz="1050"/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5807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La relazione è stata redatta su </a:t>
                      </a: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base consolidata </a:t>
                      </a:r>
                      <a:r>
                        <a:rPr b="0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(ossia include le filiazioni dell’impresa) </a:t>
                      </a:r>
                      <a:endParaRPr b="0" sz="1050">
                        <a:solidFill>
                          <a:schemeClr val="dk2"/>
                        </a:solidFill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{{no_subsidiary?}}</a:t>
                      </a:r>
                      <a:endParaRPr sz="1050"/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8" name="Google Shape;68;p3"/>
          <p:cNvGraphicFramePr/>
          <p:nvPr/>
        </p:nvGraphicFramePr>
        <p:xfrm>
          <a:off x="454796" y="2003380"/>
          <a:ext cx="2630906" cy="2630906"/>
        </p:xfrm>
        <a:graphic>
          <a:graphicData uri="http://schemas.openxmlformats.org/drawingml/2006/table">
            <a:tbl>
              <a:tblPr firstRow="1">
                <a:noFill/>
                <a:tableStyleId>{A4A76372-1D77-4638-8BC6-133FC8FB7DB3}</a:tableStyleId>
              </a:tblPr>
              <a:tblGrid>
                <a:gridCol w="5442094"/>
                <a:gridCol w="1007461"/>
              </a:tblGrid>
              <a:tr h="343070">
                <a:tc gridSpan="2"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Modulo base, o modulo base +</a:t>
                      </a:r>
                      <a:r>
                        <a:rPr b="0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 </a:t>
                      </a: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modulo onnicomprensivo </a:t>
                      </a:r>
                      <a:r>
                        <a:rPr b="0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(punto 27a)</a:t>
                      </a: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 </a:t>
                      </a:r>
                      <a:endParaRPr b="0" sz="1050">
                        <a:solidFill>
                          <a:schemeClr val="dk2"/>
                        </a:solidFill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 hMerge="1"/>
              </a:tr>
              <a:tr h="358549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La relazione è basata sul </a:t>
                      </a: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modulo base</a:t>
                      </a:r>
                      <a:r>
                        <a:rPr b="0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 del principio volontario per le PMI </a:t>
                      </a:r>
                      <a:endParaRPr b="0" sz="1050">
                        <a:solidFill>
                          <a:schemeClr val="dk2"/>
                        </a:solidFill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{{basic_module?}}</a:t>
                      </a:r>
                      <a:endParaRPr sz="1050"/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65933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La relazione è basata sul </a:t>
                      </a: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modulo base</a:t>
                      </a:r>
                      <a:r>
                        <a:rPr b="0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 e sul </a:t>
                      </a: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modulo onnicomprensivo </a:t>
                      </a:r>
                      <a:r>
                        <a:rPr b="0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del principio volontario per le PMI</a:t>
                      </a:r>
                      <a:endParaRPr b="0" sz="1050">
                        <a:solidFill>
                          <a:schemeClr val="dk2"/>
                        </a:solidFill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{{comprehensive?}}</a:t>
                      </a:r>
                      <a:endParaRPr sz="1050"/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69" name="Google Shape;69;p3"/>
          <p:cNvSpPr txBox="1"/>
          <p:nvPr/>
        </p:nvSpPr>
        <p:spPr>
          <a:xfrm>
            <a:off x="445500" y="891000"/>
            <a:ext cx="9791704" cy="890704"/>
          </a:xfrm>
          <a:prstGeom prst="rect">
            <a:avLst/>
          </a:prstGeom>
          <a:noFill/>
          <a:ln>
            <a:noFill/>
          </a:ln>
        </p:spPr>
        <p:txBody>
          <a:bodyPr anchorCtr="0" anchor="t" bIns="40077" lIns="80177" spcFirstLastPara="1" rIns="80177" wrap="square" tIns="40077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None/>
            </a:pPr>
            <a:r>
              <a:rPr b="0" i="0" lang="it-IT" sz="1050" u="none" cap="none" strike="noStrik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  <a:t>L’impresa ha redatto la propria relazione sulla sostenibilità secondo il principio VSME, che segue un approccio strutturato per garantire che le informazioni necessarie siano comunicate in modo standardizzato e trasparente. La relazione rispecchia i moduli di sostenibilità selezionati e applicati dall’impresa. Si indica inoltre se la relazione sulla sostenibilità è redatta su base individuale (soli dati dell’impresa) o su base consolidata. La presente sezione contiene informazioni di base sull’impresa, ad esempio la forma giuridica, i codici NACE, l’entità dello stato patrimoniale e i ricavi, il numero di dipendenti, nonché il paese delle operazioni primarie e l’ubicazione di altri attivi significativi.</a:t>
            </a:r>
            <a:endParaRPr b="0" i="0" sz="1050" u="none" cap="none" strike="noStrike">
              <a:solidFill>
                <a:schemeClr val="dk2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graphicFrame>
        <p:nvGraphicFramePr>
          <p:cNvPr id="70" name="Google Shape;70;p3"/>
          <p:cNvGraphicFramePr/>
          <p:nvPr/>
        </p:nvGraphicFramePr>
        <p:xfrm>
          <a:off x="7164197" y="3387189"/>
          <a:ext cx="2630906" cy="2630906"/>
        </p:xfrm>
        <a:graphic>
          <a:graphicData uri="http://schemas.openxmlformats.org/drawingml/2006/table">
            <a:tbl>
              <a:tblPr firstRow="1">
                <a:noFill/>
                <a:tableStyleId>{A4A76372-1D77-4638-8BC6-133FC8FB7DB3}</a:tableStyleId>
              </a:tblPr>
              <a:tblGrid>
                <a:gridCol w="1421040"/>
                <a:gridCol w="1651967"/>
              </a:tblGrid>
              <a:tr h="217422">
                <a:tc gridSpan="2"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Informazioni di base sull’impresa</a:t>
                      </a:r>
                      <a:r>
                        <a:rPr b="0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 (punto 27e, i-v)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 hMerge="1"/>
              </a:tr>
              <a:tr h="616443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Forma giuridica</a:t>
                      </a:r>
                      <a:endParaRPr/>
                    </a:p>
                  </a:txBody>
                  <a:tcPr marT="31571" marB="31571" marR="47356" marL="47356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{{branchekode}}</a:t>
                      </a:r>
                      <a:endParaRPr b="0" sz="1050"/>
                    </a:p>
                  </a:txBody>
                  <a:tcPr marT="22275" marB="22275" marR="33412" marL="33412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78258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Codice/i NACE</a:t>
                      </a:r>
                      <a:endParaRPr/>
                    </a:p>
                  </a:txBody>
                  <a:tcPr marT="31571" marB="31571" marR="47356" marL="47356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{{NACE}}</a:t>
                      </a:r>
                      <a:endParaRPr sz="1050"/>
                    </a:p>
                  </a:txBody>
                  <a:tcPr marT="22275" marB="22275" marR="33412" marL="33412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73413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Totale attivo (EUR)</a:t>
                      </a:r>
                      <a:endParaRPr/>
                    </a:p>
                  </a:txBody>
                  <a:tcPr marT="31571" marB="31571" marR="47356" marL="47356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{{balance}}</a:t>
                      </a:r>
                      <a:endParaRPr sz="1050"/>
                    </a:p>
                  </a:txBody>
                  <a:tcPr marT="22275" marB="22275" marR="33412" marL="33412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73413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Ricavi (EUR)</a:t>
                      </a:r>
                      <a:endParaRPr/>
                    </a:p>
                  </a:txBody>
                  <a:tcPr marT="31571" marB="31571" marR="47356" marL="47356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{{revenue}}</a:t>
                      </a:r>
                      <a:endParaRPr sz="1050"/>
                    </a:p>
                  </a:txBody>
                  <a:tcPr marT="22275" marB="22275" marR="33412" marL="33412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1742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N. di dipendenti </a:t>
                      </a:r>
                      <a:endParaRPr/>
                    </a:p>
                  </a:txBody>
                  <a:tcPr marT="31571" marB="31571" marR="47356" marL="47356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{{total_employees}}</a:t>
                      </a:r>
                      <a:endParaRPr sz="1050"/>
                    </a:p>
                  </a:txBody>
                  <a:tcPr marT="22275" marB="22275" marR="33412" marL="33412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aphicFrame>
        <p:nvGraphicFramePr>
          <p:cNvPr id="71" name="Google Shape;71;p3"/>
          <p:cNvGraphicFramePr/>
          <p:nvPr/>
        </p:nvGraphicFramePr>
        <p:xfrm>
          <a:off x="7164197" y="2005523"/>
          <a:ext cx="2630906" cy="2630906"/>
        </p:xfrm>
        <a:graphic>
          <a:graphicData uri="http://schemas.openxmlformats.org/drawingml/2006/table">
            <a:tbl>
              <a:tblPr firstRow="1">
                <a:noFill/>
                <a:tableStyleId>{A4A76372-1D77-4638-8BC6-133FC8FB7DB3}</a:tableStyleId>
              </a:tblPr>
              <a:tblGrid>
                <a:gridCol w="1421040"/>
                <a:gridCol w="1651967"/>
              </a:tblGrid>
              <a:tr h="437300">
                <a:tc gridSpan="2"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La relazione ESG contiene omissioni dovute a informazioni commerciali sensibili </a:t>
                      </a:r>
                      <a:r>
                        <a:rPr b="0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(punto 27b)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 hMerge="1"/>
              </a:tr>
              <a:tr h="73023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IBM Plex Sans"/>
                        <a:buNone/>
                      </a:pPr>
                      <a:r>
                        <a:t/>
                      </a:r>
                      <a:endParaRPr b="0" sz="775">
                        <a:solidFill>
                          <a:schemeClr val="dk2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Le informative seguenti sono state omesse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775">
                        <a:solidFill>
                          <a:schemeClr val="dk2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1050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{{confidentiality_info}}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4"/>
          <p:cNvSpPr txBox="1"/>
          <p:nvPr>
            <p:ph type="title"/>
          </p:nvPr>
        </p:nvSpPr>
        <p:spPr>
          <a:xfrm>
            <a:off x="454796" y="450698"/>
            <a:ext cx="9791704" cy="2186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</a:pPr>
            <a:r>
              <a:rPr lang="it-IT"/>
              <a:t>Criteri per la redazione (B1) - continua</a:t>
            </a:r>
            <a:endParaRPr/>
          </a:p>
        </p:txBody>
      </p:sp>
      <p:sp>
        <p:nvSpPr>
          <p:cNvPr id="78" name="Google Shape;78;p4"/>
          <p:cNvSpPr/>
          <p:nvPr/>
        </p:nvSpPr>
        <p:spPr>
          <a:xfrm>
            <a:off x="560364" y="972291"/>
            <a:ext cx="181932" cy="203984"/>
          </a:xfrm>
          <a:prstGeom prst="rect">
            <a:avLst/>
          </a:prstGeom>
          <a:noFill/>
          <a:ln>
            <a:noFill/>
          </a:ln>
        </p:spPr>
      </p:sp>
      <p:sp>
        <p:nvSpPr>
          <p:cNvPr id="79" name="Google Shape;79;p4"/>
          <p:cNvSpPr txBox="1"/>
          <p:nvPr>
            <p:ph idx="12" type="sldNum"/>
          </p:nvPr>
        </p:nvSpPr>
        <p:spPr>
          <a:xfrm>
            <a:off x="8050571" y="7202406"/>
            <a:ext cx="2405700" cy="1349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  <p:sp>
        <p:nvSpPr>
          <p:cNvPr id="80" name="Google Shape;80;p4"/>
          <p:cNvSpPr txBox="1"/>
          <p:nvPr>
            <p:ph idx="11" type="ftr"/>
          </p:nvPr>
        </p:nvSpPr>
        <p:spPr>
          <a:xfrm>
            <a:off x="7261741" y="197293"/>
            <a:ext cx="3194529" cy="1349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{{company_name}}</a:t>
            </a:r>
            <a:endParaRPr b="0"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aphicFrame>
        <p:nvGraphicFramePr>
          <p:cNvPr id="81" name="Google Shape;81;p4"/>
          <p:cNvGraphicFramePr/>
          <p:nvPr/>
        </p:nvGraphicFramePr>
        <p:xfrm>
          <a:off x="452474" y="4486588"/>
          <a:ext cx="2630906" cy="2630906"/>
        </p:xfrm>
        <a:graphic>
          <a:graphicData uri="http://schemas.openxmlformats.org/drawingml/2006/table">
            <a:tbl>
              <a:tblPr firstRow="1">
                <a:noFill/>
                <a:tableStyleId>{A4A76372-1D77-4638-8BC6-133FC8FB7DB3}</a:tableStyleId>
              </a:tblPr>
              <a:tblGrid>
                <a:gridCol w="3375890"/>
                <a:gridCol w="3240092"/>
                <a:gridCol w="1709102"/>
                <a:gridCol w="1494924"/>
              </a:tblGrid>
              <a:tr h="220996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Denominazione del certificato ESG/marchio ambientale </a:t>
                      </a:r>
                      <a:r>
                        <a:rPr b="0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(punto 28)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Breve descrizione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Data di rilascio/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validità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Eventuale punteggio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20996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{{certificate_or_ecolabel}}</a:t>
                      </a:r>
                      <a:endParaRPr b="0" sz="1050"/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{{description_certificate}}</a:t>
                      </a:r>
                      <a:endParaRPr b="0" sz="1050"/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{{date_certicate}}</a:t>
                      </a:r>
                      <a:endParaRPr b="0" sz="1050"/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{{certiciate_possible_rating}}</a:t>
                      </a:r>
                      <a:endParaRPr b="0" sz="1050"/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aphicFrame>
        <p:nvGraphicFramePr>
          <p:cNvPr id="82" name="Google Shape;82;p4"/>
          <p:cNvGraphicFramePr/>
          <p:nvPr/>
        </p:nvGraphicFramePr>
        <p:xfrm>
          <a:off x="468741" y="1568148"/>
          <a:ext cx="2630906" cy="2630906"/>
        </p:xfrm>
        <a:graphic>
          <a:graphicData uri="http://schemas.openxmlformats.org/drawingml/2006/table">
            <a:tbl>
              <a:tblPr firstRow="1">
                <a:noFill/>
                <a:tableStyleId>{A4A76372-1D77-4638-8BC6-133FC8FB7DB3}</a:tableStyleId>
              </a:tblPr>
              <a:tblGrid>
                <a:gridCol w="1780750"/>
                <a:gridCol w="1890985"/>
                <a:gridCol w="1444893"/>
                <a:gridCol w="1412051"/>
                <a:gridCol w="1565301"/>
                <a:gridCol w="1676764"/>
              </a:tblGrid>
              <a:tr h="284138">
                <a:tc gridSpan="6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Indirizzi e geolocalizzazione degli </a:t>
                      </a:r>
                      <a:r>
                        <a:rPr b="1" lang="it-IT" sz="1050" u="none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attivi</a:t>
                      </a: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 e dei siti significativi che l’impresa</a:t>
                      </a:r>
                      <a:r>
                        <a:rPr b="0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 </a:t>
                      </a: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possiede, ha in locazione o gestisce </a:t>
                      </a:r>
                      <a:r>
                        <a:rPr b="0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(punto 27e, vi, vii)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IBM Plex Sans"/>
                        <a:buNone/>
                      </a:pPr>
                      <a:r>
                        <a:t/>
                      </a:r>
                      <a:endParaRPr b="1" sz="1050">
                        <a:solidFill>
                          <a:schemeClr val="dk2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T="31571" marB="31571" marR="47356" marL="47356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 hMerge="1"/>
                <a:tc hMerge="1"/>
                <a:tc hMerge="1"/>
                <a:tc hMerge="1"/>
                <a:tc hMerge="1"/>
              </a:tr>
              <a:tr h="284138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Sito</a:t>
                      </a:r>
                      <a:endParaRPr/>
                    </a:p>
                  </a:txBody>
                  <a:tcPr marT="31571" marB="31571" marR="47356" marL="47356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Indirizzo</a:t>
                      </a:r>
                      <a:endParaRPr/>
                    </a:p>
                  </a:txBody>
                  <a:tcPr marT="31571" marB="31571" marR="47356" marL="47356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CAP</a:t>
                      </a:r>
                      <a:endParaRPr/>
                    </a:p>
                  </a:txBody>
                  <a:tcPr marT="31571" marB="31571" marR="47356" marL="47356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Città</a:t>
                      </a:r>
                      <a:endParaRPr/>
                    </a:p>
                  </a:txBody>
                  <a:tcPr marT="31571" marB="31571" marR="47356" marL="47356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Paese</a:t>
                      </a:r>
                      <a:endParaRPr/>
                    </a:p>
                  </a:txBody>
                  <a:tcPr marT="31571" marB="31571" marR="47356" marL="47356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Geolocalizzazione (coordinate)</a:t>
                      </a:r>
                      <a:endParaRPr/>
                    </a:p>
                  </a:txBody>
                  <a:tcPr marT="31571" marB="31571" marR="47356" marL="47356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</a:tr>
              <a:tr h="284138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{{geolocation}}</a:t>
                      </a:r>
                      <a:endParaRPr b="0" sz="1050"/>
                    </a:p>
                  </a:txBody>
                  <a:tcPr marT="11138" marB="11138" marR="16706" marL="16706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{{geolocation_adress}}</a:t>
                      </a:r>
                      <a:endParaRPr b="0" sz="1050"/>
                    </a:p>
                  </a:txBody>
                  <a:tcPr marT="11138" marB="11138" marR="16706" marL="16706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{{geolocation_postcode}}</a:t>
                      </a:r>
                      <a:endParaRPr b="0" sz="1050"/>
                    </a:p>
                  </a:txBody>
                  <a:tcPr marT="11138" marB="11138" marR="16706" marL="16706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{{geolocation_city}}</a:t>
                      </a:r>
                      <a:endParaRPr b="0" sz="1050"/>
                    </a:p>
                  </a:txBody>
                  <a:tcPr marT="11138" marB="11138" marR="16706" marL="16706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{{geolocation_country}}</a:t>
                      </a:r>
                      <a:endParaRPr b="0" sz="1050"/>
                    </a:p>
                  </a:txBody>
                  <a:tcPr marT="11138" marB="11138" marR="16706" marL="16706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{{geolocation_coordinates}}</a:t>
                      </a:r>
                      <a:endParaRPr b="0" sz="1050"/>
                    </a:p>
                  </a:txBody>
                  <a:tcPr marT="11138" marB="11138" marR="16706" marL="16706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83" name="Google Shape;83;p4"/>
          <p:cNvSpPr txBox="1"/>
          <p:nvPr/>
        </p:nvSpPr>
        <p:spPr>
          <a:xfrm>
            <a:off x="452474" y="891000"/>
            <a:ext cx="9794026" cy="566812"/>
          </a:xfrm>
          <a:prstGeom prst="rect">
            <a:avLst/>
          </a:prstGeom>
          <a:noFill/>
          <a:ln>
            <a:noFill/>
          </a:ln>
        </p:spPr>
        <p:txBody>
          <a:bodyPr anchorCtr="0" anchor="t" bIns="40077" lIns="80177" spcFirstLastPara="1" rIns="80177" wrap="square" tIns="40077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it-IT" sz="1050" u="none" cap="none" strike="noStrik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  <a:t>Di seguito è descritta la geolocalizzazione dell’impresa e i luoghi in cui essa opera. Tali informazioni possono essere utilizzate per le zone di rischio climatico e forniscono indicazioni sugli impianti, sui siti e/o sulla sede dell’impresa. Sono inoltre indicate le certificazioni o i marchi di sostenibilità pertinenti, compresi il soggetto che li ha rilasciati, la data e l’eventuale punteggio.</a:t>
            </a:r>
            <a:endParaRPr b="0" i="0" sz="1050" u="none" cap="none" strike="noStrike">
              <a:solidFill>
                <a:schemeClr val="dk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4" name="Google Shape;84;p4"/>
          <p:cNvSpPr txBox="1"/>
          <p:nvPr/>
        </p:nvSpPr>
        <p:spPr>
          <a:xfrm>
            <a:off x="452474" y="4181436"/>
            <a:ext cx="7174107" cy="242919"/>
          </a:xfrm>
          <a:prstGeom prst="rect">
            <a:avLst/>
          </a:prstGeom>
          <a:noFill/>
          <a:ln>
            <a:noFill/>
          </a:ln>
        </p:spPr>
        <p:txBody>
          <a:bodyPr anchorCtr="0" anchor="t" bIns="40077" lIns="80177" spcFirstLastPara="1" rIns="80177" wrap="square" tIns="40077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it-IT" sz="1050" u="none" cap="none" strike="noStrike">
                <a:solidFill>
                  <a:srgbClr val="487477"/>
                </a:solidFill>
                <a:latin typeface="Inter"/>
                <a:ea typeface="Inter"/>
                <a:cs typeface="Inter"/>
                <a:sym typeface="Inter"/>
              </a:rPr>
              <a:t>I certificati e i marchi ambientali dell’impresa sono elencati di seguito.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5"/>
          <p:cNvSpPr txBox="1"/>
          <p:nvPr>
            <p:ph type="title"/>
          </p:nvPr>
        </p:nvSpPr>
        <p:spPr>
          <a:xfrm>
            <a:off x="454796" y="450698"/>
            <a:ext cx="9791704" cy="2186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</a:pPr>
            <a:r>
              <a:rPr lang="it-IT"/>
              <a:t>Pratiche, politiche e iniziative future per la transizione verso un’economia più sostenibile (B2)</a:t>
            </a:r>
            <a:endParaRPr/>
          </a:p>
        </p:txBody>
      </p:sp>
      <p:sp>
        <p:nvSpPr>
          <p:cNvPr id="91" name="Google Shape;91;p5"/>
          <p:cNvSpPr txBox="1"/>
          <p:nvPr>
            <p:ph idx="11" type="ftr"/>
          </p:nvPr>
        </p:nvSpPr>
        <p:spPr>
          <a:xfrm>
            <a:off x="7261741" y="197293"/>
            <a:ext cx="3194529" cy="1349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{{company_name}}</a:t>
            </a:r>
            <a:endParaRPr b="0"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aphicFrame>
        <p:nvGraphicFramePr>
          <p:cNvPr id="92" name="Google Shape;92;p5"/>
          <p:cNvGraphicFramePr/>
          <p:nvPr/>
        </p:nvGraphicFramePr>
        <p:xfrm>
          <a:off x="454796" y="1501175"/>
          <a:ext cx="2630906" cy="2630906"/>
        </p:xfrm>
        <a:graphic>
          <a:graphicData uri="http://schemas.openxmlformats.org/drawingml/2006/table">
            <a:tbl>
              <a:tblPr firstRow="1">
                <a:noFill/>
                <a:tableStyleId>{A4A76372-1D77-4638-8BC6-133FC8FB7DB3}</a:tableStyleId>
              </a:tblPr>
              <a:tblGrid>
                <a:gridCol w="1750429"/>
                <a:gridCol w="1848825"/>
                <a:gridCol w="1447875"/>
                <a:gridCol w="2027025"/>
                <a:gridCol w="2717550"/>
              </a:tblGrid>
              <a:tr h="417678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Ambito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(punto 29a-d)</a:t>
                      </a:r>
                      <a:endParaRPr/>
                    </a:p>
                  </a:txBody>
                  <a:tcPr marT="31571" marB="31571" marR="47356" marL="47356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L’impresa ha una pratica o politica concreta in materia</a:t>
                      </a:r>
                      <a:endParaRPr/>
                    </a:p>
                  </a:txBody>
                  <a:tcPr marT="31571" marB="31571" marR="47356" marL="47356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La politica è pubblicamente disponibile? </a:t>
                      </a:r>
                      <a:endParaRPr/>
                    </a:p>
                  </a:txBody>
                  <a:tcPr marT="31571" marB="31571" marR="47356" marL="47356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L’impresa ha iniziative e piani futuri</a:t>
                      </a:r>
                      <a:endParaRPr/>
                    </a:p>
                  </a:txBody>
                  <a:tcPr marT="31571" marB="31571" marR="47356" marL="47356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L’impresa ha obiettivi concreti per monitorare l’attuazione di pratiche e politiche?</a:t>
                      </a:r>
                      <a:endParaRPr/>
                    </a:p>
                  </a:txBody>
                  <a:tcPr marT="31571" marB="31571" marR="47356" marL="47356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</a:tr>
              <a:tr h="267037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Cambiamenti climatici</a:t>
                      </a:r>
                      <a:endParaRPr/>
                    </a:p>
                  </a:txBody>
                  <a:tcPr marT="31571" marB="31571" marR="47356" marL="47356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{{climate_change_concrete}}</a:t>
                      </a:r>
                      <a:endParaRPr b="0" sz="1050"/>
                    </a:p>
                  </a:txBody>
                  <a:tcPr marT="16706" marB="16706" marR="22275" marL="2227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{{climate_change_publicly}}</a:t>
                      </a:r>
                      <a:endParaRPr b="0" sz="1050"/>
                    </a:p>
                  </a:txBody>
                  <a:tcPr marT="16706" marB="16706" marR="22275" marL="2227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{{climate_change_future}}</a:t>
                      </a:r>
                      <a:endParaRPr b="0" sz="1050"/>
                    </a:p>
                  </a:txBody>
                  <a:tcPr marT="16706" marB="16706" marR="22275" marL="2227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{{climate_change_plan}}</a:t>
                      </a:r>
                      <a:endParaRPr sz="1575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1571" marB="31571" marR="47356" marL="47356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342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Inquinamento</a:t>
                      </a:r>
                      <a:endParaRPr/>
                    </a:p>
                  </a:txBody>
                  <a:tcPr marT="31571" marB="31571" marR="47356" marL="47356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{{pollution_concrete}}</a:t>
                      </a:r>
                      <a:endParaRPr b="0" sz="1050"/>
                    </a:p>
                  </a:txBody>
                  <a:tcPr marT="16706" marB="16706" marR="22275" marL="2227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{{pollution_publicly}}</a:t>
                      </a:r>
                      <a:endParaRPr b="0" sz="1050"/>
                    </a:p>
                  </a:txBody>
                  <a:tcPr marT="16706" marB="16706" marR="22275" marL="2227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{{pollution_future}}</a:t>
                      </a:r>
                      <a:endParaRPr b="0" sz="1050"/>
                    </a:p>
                  </a:txBody>
                  <a:tcPr marT="16706" marB="16706" marR="22275" marL="2227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{{pollution_plan}}</a:t>
                      </a:r>
                      <a:endParaRPr sz="1575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1571" marB="31571" marR="47356" marL="47356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60613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Acque e risorse marine</a:t>
                      </a:r>
                      <a:endParaRPr/>
                    </a:p>
                  </a:txBody>
                  <a:tcPr marT="31571" marB="31571" marR="47356" marL="47356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{{water_concrete}}</a:t>
                      </a:r>
                      <a:endParaRPr b="0" sz="1050"/>
                    </a:p>
                  </a:txBody>
                  <a:tcPr marT="16706" marB="16706" marR="22275" marL="2227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{{water_publicly}}</a:t>
                      </a:r>
                      <a:endParaRPr b="0" sz="1050"/>
                    </a:p>
                  </a:txBody>
                  <a:tcPr marT="16706" marB="16706" marR="22275" marL="2227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{{water_future}}</a:t>
                      </a:r>
                      <a:endParaRPr b="0" sz="1050"/>
                    </a:p>
                  </a:txBody>
                  <a:tcPr marT="16706" marB="16706" marR="22275" marL="2227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{{water_plan}}</a:t>
                      </a:r>
                      <a:endParaRPr sz="1575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1571" marB="31571" marR="47356" marL="47356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60613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Biodiversità ed ecosistemi</a:t>
                      </a:r>
                      <a:endParaRPr/>
                    </a:p>
                  </a:txBody>
                  <a:tcPr marT="31571" marB="31571" marR="47356" marL="47356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{{biodiversity_concrete}}</a:t>
                      </a:r>
                      <a:endParaRPr b="0" sz="1050"/>
                    </a:p>
                  </a:txBody>
                  <a:tcPr marT="16706" marB="16706" marR="22275" marL="2227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{{biodiversity_publicly}}</a:t>
                      </a:r>
                      <a:endParaRPr b="0" sz="1050"/>
                    </a:p>
                  </a:txBody>
                  <a:tcPr marT="16706" marB="16706" marR="22275" marL="2227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{{biodiversity_future}}</a:t>
                      </a:r>
                      <a:endParaRPr b="0" sz="1050"/>
                    </a:p>
                  </a:txBody>
                  <a:tcPr marT="16706" marB="16706" marR="22275" marL="2227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{{biodiversity_plan}}</a:t>
                      </a:r>
                      <a:endParaRPr sz="1575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1571" marB="31571" marR="47356" marL="47356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60613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Economia circolare</a:t>
                      </a:r>
                      <a:endParaRPr/>
                    </a:p>
                  </a:txBody>
                  <a:tcPr marT="31571" marB="31571" marR="47356" marL="47356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{{circular_concrete}}</a:t>
                      </a:r>
                      <a:endParaRPr b="0" sz="1050"/>
                    </a:p>
                  </a:txBody>
                  <a:tcPr marT="16706" marB="16706" marR="22275" marL="2227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{{circular_publicly}}</a:t>
                      </a:r>
                      <a:endParaRPr b="0" sz="1050"/>
                    </a:p>
                  </a:txBody>
                  <a:tcPr marT="16706" marB="16706" marR="22275" marL="2227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{{circular_future}}</a:t>
                      </a:r>
                      <a:endParaRPr b="0" sz="1050"/>
                    </a:p>
                  </a:txBody>
                  <a:tcPr marT="16706" marB="16706" marR="22275" marL="2227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{{circular_plan}}</a:t>
                      </a:r>
                      <a:endParaRPr sz="1575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1571" marB="31571" marR="47356" marL="47356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60613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Forza lavoro propria</a:t>
                      </a:r>
                      <a:endParaRPr/>
                    </a:p>
                  </a:txBody>
                  <a:tcPr marT="31571" marB="31571" marR="47356" marL="47356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{{workforce_concrete}}</a:t>
                      </a:r>
                      <a:endParaRPr b="0" sz="1050"/>
                    </a:p>
                  </a:txBody>
                  <a:tcPr marT="16706" marB="16706" marR="22275" marL="2227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{{workforce_publicly}}</a:t>
                      </a:r>
                      <a:endParaRPr b="0" sz="1050"/>
                    </a:p>
                  </a:txBody>
                  <a:tcPr marT="16706" marB="16706" marR="22275" marL="2227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{{workforce_future}}</a:t>
                      </a:r>
                      <a:endParaRPr b="0" sz="1050"/>
                    </a:p>
                  </a:txBody>
                  <a:tcPr marT="16706" marB="16706" marR="22275" marL="2227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{{workforce_plan}}</a:t>
                      </a:r>
                      <a:endParaRPr sz="1575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1571" marB="31571" marR="47356" marL="47356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60613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Lavoratori nella catena del valore</a:t>
                      </a:r>
                      <a:endParaRPr/>
                    </a:p>
                  </a:txBody>
                  <a:tcPr marT="31571" marB="31571" marR="47356" marL="47356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{{workers_concrete}}</a:t>
                      </a:r>
                      <a:endParaRPr b="0" sz="1050"/>
                    </a:p>
                  </a:txBody>
                  <a:tcPr marT="16706" marB="16706" marR="22275" marL="2227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{{workers_publicly}}</a:t>
                      </a:r>
                      <a:endParaRPr b="0" sz="1050"/>
                    </a:p>
                  </a:txBody>
                  <a:tcPr marT="16706" marB="16706" marR="22275" marL="2227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{{workers_future}}</a:t>
                      </a:r>
                      <a:endParaRPr b="0" sz="1050"/>
                    </a:p>
                  </a:txBody>
                  <a:tcPr marT="16706" marB="16706" marR="22275" marL="2227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{{workers_plan}}</a:t>
                      </a:r>
                      <a:endParaRPr sz="1575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1571" marB="31571" marR="47356" marL="47356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60613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Comunità interessate</a:t>
                      </a:r>
                      <a:endParaRPr/>
                    </a:p>
                  </a:txBody>
                  <a:tcPr marT="31571" marB="31571" marR="47356" marL="47356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{{communities_concrete}}</a:t>
                      </a:r>
                      <a:endParaRPr b="0" sz="1050"/>
                    </a:p>
                  </a:txBody>
                  <a:tcPr marT="16706" marB="16706" marR="22275" marL="2227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{{communities_publicly}}</a:t>
                      </a:r>
                      <a:endParaRPr b="0" sz="1050"/>
                    </a:p>
                  </a:txBody>
                  <a:tcPr marT="16706" marB="16706" marR="22275" marL="2227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{{communities_future}}</a:t>
                      </a:r>
                      <a:endParaRPr b="0" sz="1050"/>
                    </a:p>
                  </a:txBody>
                  <a:tcPr marT="16706" marB="16706" marR="22275" marL="2227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{{communities_plan}}</a:t>
                      </a:r>
                      <a:endParaRPr sz="1575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1571" marB="31571" marR="47356" marL="47356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60613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Consumatori e utilizzatori finali</a:t>
                      </a:r>
                      <a:endParaRPr/>
                    </a:p>
                  </a:txBody>
                  <a:tcPr marT="31571" marB="31571" marR="47356" marL="47356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{{consumers_concrete}}</a:t>
                      </a:r>
                      <a:endParaRPr b="0" sz="1050"/>
                    </a:p>
                  </a:txBody>
                  <a:tcPr marT="16706" marB="16706" marR="22275" marL="2227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{{consumers_publicly}}</a:t>
                      </a:r>
                      <a:endParaRPr b="0" sz="1050"/>
                    </a:p>
                  </a:txBody>
                  <a:tcPr marT="16706" marB="16706" marR="22275" marL="2227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{{consumers_future}}</a:t>
                      </a:r>
                      <a:endParaRPr b="0" sz="1050"/>
                    </a:p>
                  </a:txBody>
                  <a:tcPr marT="16706" marB="16706" marR="22275" marL="2227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{{consumers_plan}}</a:t>
                      </a:r>
                      <a:endParaRPr sz="1575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1571" marB="31571" marR="47356" marL="47356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60613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Condotta delle imprese</a:t>
                      </a:r>
                      <a:endParaRPr/>
                    </a:p>
                  </a:txBody>
                  <a:tcPr marT="31571" marB="31571" marR="47356" marL="47356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{{governance_concrete}}</a:t>
                      </a:r>
                      <a:endParaRPr b="0" sz="1050"/>
                    </a:p>
                  </a:txBody>
                  <a:tcPr marT="16706" marB="16706" marR="22275" marL="2227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{{governance_publicly}}</a:t>
                      </a:r>
                      <a:endParaRPr b="0" sz="1050"/>
                    </a:p>
                  </a:txBody>
                  <a:tcPr marT="16706" marB="16706" marR="22275" marL="2227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{{governance_future}}</a:t>
                      </a:r>
                      <a:endParaRPr b="0" sz="1050"/>
                    </a:p>
                  </a:txBody>
                  <a:tcPr marT="16706" marB="16706" marR="22275" marL="2227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{{governance_plan}}</a:t>
                      </a:r>
                      <a:endParaRPr sz="1575"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1571" marB="31571" marR="47356" marL="47356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93" name="Google Shape;93;p5"/>
          <p:cNvSpPr txBox="1"/>
          <p:nvPr/>
        </p:nvSpPr>
        <p:spPr>
          <a:xfrm>
            <a:off x="454796" y="891000"/>
            <a:ext cx="9782408" cy="566812"/>
          </a:xfrm>
          <a:prstGeom prst="rect">
            <a:avLst/>
          </a:prstGeom>
          <a:noFill/>
          <a:ln>
            <a:noFill/>
          </a:ln>
        </p:spPr>
        <p:txBody>
          <a:bodyPr anchorCtr="0" anchor="t" bIns="40077" lIns="80177" spcFirstLastPara="1" rIns="80177" wrap="square" tIns="40077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None/>
            </a:pPr>
            <a:r>
              <a:rPr b="0" i="0" lang="it-IT" sz="1050" u="none" strike="noStrik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  <a:t>La presente sezione illustra le pratiche, le politiche e le iniziative future che l’impresa ha attuato per sostenere un’economia sostenibile. Vi si indica quali misure concrete l’impresa ha adottato per ridurre gli impatti ambientali negativi e migliorare le condizioni di lavoro e la parità di trattamento (SÌ/NO).</a:t>
            </a:r>
            <a:br>
              <a:rPr lang="it-IT" sz="1050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rPr>
            </a:br>
            <a:endParaRPr sz="1050">
              <a:solidFill>
                <a:schemeClr val="dk2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94" name="Google Shape;94;p5"/>
          <p:cNvSpPr txBox="1"/>
          <p:nvPr>
            <p:ph idx="12" type="sldNum"/>
          </p:nvPr>
        </p:nvSpPr>
        <p:spPr>
          <a:xfrm>
            <a:off x="8050571" y="7202406"/>
            <a:ext cx="2405700" cy="1349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6"/>
          <p:cNvSpPr txBox="1"/>
          <p:nvPr>
            <p:ph type="title"/>
          </p:nvPr>
        </p:nvSpPr>
        <p:spPr>
          <a:xfrm>
            <a:off x="454796" y="450698"/>
            <a:ext cx="9791704" cy="2186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</a:pPr>
            <a:r>
              <a:rPr lang="it-IT"/>
              <a:t>Consumo di energia (B3)</a:t>
            </a:r>
            <a:endParaRPr/>
          </a:p>
        </p:txBody>
      </p:sp>
      <p:graphicFrame>
        <p:nvGraphicFramePr>
          <p:cNvPr id="101" name="Google Shape;101;p6"/>
          <p:cNvGraphicFramePr/>
          <p:nvPr/>
        </p:nvGraphicFramePr>
        <p:xfrm>
          <a:off x="443369" y="1359604"/>
          <a:ext cx="2630906" cy="2630906"/>
        </p:xfrm>
        <a:graphic>
          <a:graphicData uri="http://schemas.openxmlformats.org/drawingml/2006/table">
            <a:tbl>
              <a:tblPr firstRow="1">
                <a:noFill/>
                <a:tableStyleId>{A4A76372-1D77-4638-8BC6-133FC8FB7DB3}</a:tableStyleId>
              </a:tblPr>
              <a:tblGrid>
                <a:gridCol w="2660547"/>
                <a:gridCol w="2469631"/>
                <a:gridCol w="2604421"/>
                <a:gridCol w="2068528"/>
              </a:tblGrid>
              <a:tr h="218606">
                <a:tc gridSpan="4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Consumo di energia in MWh </a:t>
                      </a:r>
                      <a:r>
                        <a:rPr b="0" lang="it-IT" sz="1050">
                          <a:solidFill>
                            <a:schemeClr val="dk2"/>
                          </a:solidFill>
                        </a:rPr>
                        <a:t>(punto 32)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 hMerge="1"/>
                <a:tc hMerge="1"/>
                <a:tc hMerge="1"/>
              </a:tr>
              <a:tr h="34756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050">
                        <a:solidFill>
                          <a:schemeClr val="dk2"/>
                        </a:solidFill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Consumo rinnovabile</a:t>
                      </a: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 (MWh)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Consumo non rinnovabile</a:t>
                      </a: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 (MWh)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Consumo totale (MWh)</a:t>
                      </a:r>
                      <a:endParaRPr/>
                    </a:p>
                    <a:p>
                      <a:pPr indent="0" lvl="0" marL="0" marR="0" rtl="0" algn="r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1" lang="it-IT" sz="1050">
                          <a:solidFill>
                            <a:srgbClr val="1B4528"/>
                          </a:solidFill>
                        </a:rPr>
                        <a:t>{{insert_year}}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</a:tr>
              <a:tr h="34756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Energia elettrica </a:t>
                      </a:r>
                      <a:r>
                        <a:rPr b="0" lang="it-IT" sz="1050">
                          <a:solidFill>
                            <a:schemeClr val="dk2"/>
                          </a:solidFill>
                        </a:rPr>
                        <a:t>(secondo quanto risulta dalle bollette)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{{electricity_renewable}}</a:t>
                      </a:r>
                      <a:endParaRPr b="0" sz="1050"/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{{electricity_non_rewenable}}</a:t>
                      </a:r>
                      <a:endParaRPr b="0" sz="1050"/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{{total_electricity}}</a:t>
                      </a:r>
                      <a:endParaRPr b="0" sz="1050"/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18606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Combustibili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{{fuel_renewable}}</a:t>
                      </a:r>
                      <a:endParaRPr b="0" sz="1050"/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{{fuel_non_rewenable}}</a:t>
                      </a:r>
                      <a:endParaRPr b="0" sz="1050"/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{{total_fuel}}</a:t>
                      </a:r>
                      <a:endParaRPr b="0" sz="1050"/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18606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Altro (ad es. teleriscaldamento)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{{district_heating_rewenable}}</a:t>
                      </a:r>
                      <a:endParaRPr b="0" sz="1050"/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{{district_heating_non_rewenable}}</a:t>
                      </a:r>
                      <a:endParaRPr b="0" sz="1050"/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{{total_district_heating}}</a:t>
                      </a:r>
                      <a:endParaRPr b="0" sz="1050"/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18606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Totale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{{renewable_energy_total}}</a:t>
                      </a:r>
                      <a:endParaRPr b="0" sz="1050"/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{{non_rewenable_energy_total}}</a:t>
                      </a:r>
                      <a:endParaRPr b="0" sz="1050"/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{{total_energy_consumption}}</a:t>
                      </a:r>
                      <a:endParaRPr b="0" sz="1050"/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2" name="Google Shape;102;p6"/>
          <p:cNvSpPr txBox="1"/>
          <p:nvPr>
            <p:ph idx="12" type="sldNum"/>
          </p:nvPr>
        </p:nvSpPr>
        <p:spPr>
          <a:xfrm>
            <a:off x="8050571" y="7751046"/>
            <a:ext cx="2405700" cy="1349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  <p:sp>
        <p:nvSpPr>
          <p:cNvPr id="103" name="Google Shape;103;p6"/>
          <p:cNvSpPr txBox="1"/>
          <p:nvPr>
            <p:ph idx="11" type="ftr"/>
          </p:nvPr>
        </p:nvSpPr>
        <p:spPr>
          <a:xfrm>
            <a:off x="7261741" y="197293"/>
            <a:ext cx="3194529" cy="1349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{{company_name}}</a:t>
            </a:r>
            <a:endParaRPr b="0"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br>
              <a:rPr lang="it-IT"/>
            </a:br>
            <a:endParaRPr/>
          </a:p>
        </p:txBody>
      </p:sp>
      <p:sp>
        <p:nvSpPr>
          <p:cNvPr id="104" name="Google Shape;104;p6"/>
          <p:cNvSpPr txBox="1"/>
          <p:nvPr/>
        </p:nvSpPr>
        <p:spPr>
          <a:xfrm>
            <a:off x="443369" y="898217"/>
            <a:ext cx="9803131" cy="3616799"/>
          </a:xfrm>
          <a:prstGeom prst="rect">
            <a:avLst/>
          </a:prstGeom>
          <a:noFill/>
          <a:ln>
            <a:noFill/>
          </a:ln>
        </p:spPr>
        <p:txBody>
          <a:bodyPr anchorCtr="0" anchor="t" bIns="40077" lIns="80177" spcFirstLastPara="1" rIns="80177" wrap="square" tIns="40077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it-IT" sz="1050" u="none" strike="noStrik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  <a:t>La presente sezione indica le emissioni di CO2 dell’impresa derivanti dal consumo di energia, distinguendo consumo rinnovabile e non rinnovabile. </a:t>
            </a:r>
            <a:r>
              <a:rPr lang="it-IT" sz="105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  <a:t>Le emissioni sono comunicate in base </a:t>
            </a:r>
            <a:r>
              <a:rPr b="0" i="0" lang="it-IT" sz="1050" u="none" strike="noStrik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  <a:t>alle definizioni del GHG Protocol di emissioni dirette e indirette. </a:t>
            </a:r>
            <a:br>
              <a:rPr b="0" i="0" lang="it-IT" sz="1050" u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</a:br>
            <a:br>
              <a:rPr lang="it-IT" sz="105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</a:br>
            <a:r>
              <a:rPr b="0" i="0" lang="it-IT" sz="700" u="none" strike="noStrik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endParaRPr b="0" i="0" sz="1050" u="none" strike="noStrike">
              <a:solidFill>
                <a:schemeClr val="dk2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BM Plex Sans"/>
              <a:buNone/>
            </a:pPr>
            <a:r>
              <a:t/>
            </a:r>
            <a:endParaRPr b="0" sz="1050">
              <a:solidFill>
                <a:schemeClr val="dk2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IBM Plex Sans"/>
              <a:buNone/>
            </a:pPr>
            <a:r>
              <a:t/>
            </a:r>
            <a:endParaRPr b="0" sz="1575">
              <a:solidFill>
                <a:schemeClr val="dk2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IBM Plex Sans"/>
              <a:buNone/>
            </a:pPr>
            <a:r>
              <a:t/>
            </a:r>
            <a:endParaRPr sz="1400">
              <a:solidFill>
                <a:schemeClr val="dk2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IBM Plex Sans"/>
              <a:buNone/>
            </a:pPr>
            <a:r>
              <a:t/>
            </a:r>
            <a:endParaRPr b="0" sz="1400">
              <a:solidFill>
                <a:schemeClr val="dk2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IBM Plex Sans"/>
              <a:buNone/>
            </a:pPr>
            <a:r>
              <a:t/>
            </a:r>
            <a:endParaRPr sz="1400">
              <a:solidFill>
                <a:schemeClr val="dk2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IBM Plex Sans"/>
              <a:buNone/>
            </a:pPr>
            <a:r>
              <a:t/>
            </a:r>
            <a:endParaRPr b="0" sz="1400">
              <a:solidFill>
                <a:schemeClr val="dk2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b="1" lang="it-IT" sz="1575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</a:br>
            <a:r>
              <a:rPr b="1" i="0" lang="it-IT" sz="1575" u="none" strike="noStrike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rPr>
              <a:t>Emissioni di CO₂e (B3)</a:t>
            </a:r>
            <a:endParaRPr sz="1575">
              <a:solidFill>
                <a:schemeClr val="dk2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7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br>
              <a:rPr lang="it-IT" sz="105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</a:br>
            <a:r>
              <a:rPr b="0" i="0" lang="it-IT" sz="1050" u="none" strike="noStrik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  <a:t>Il punto 33 contiene informazioni sulle emissioni di gas a effetto serra dell’impresa, sulla base delle emissioni di ambito 1 e 2. L’ambito 1 indica le emissioni dirette provenienti da fonti di proprietà o sotto il controllo diretto dell’impresa: ad esempio la combustione di carburante nei veicoli aziendali, il riscaldamento degli edifici a gas naturale, nonché le emissioni dei processi industriali e le perdite in sistemi quali la refrigerazione.</a:t>
            </a:r>
            <a:r>
              <a:rPr lang="it-IT" sz="105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b="0" i="0" lang="it-IT" sz="1050" u="none" strike="noStrik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  <a:t>L’ambito 2</a:t>
            </a:r>
            <a:r>
              <a:rPr lang="it-IT" sz="105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  <a:t> indica le emissioni i</a:t>
            </a:r>
            <a:r>
              <a:rPr b="0" i="0" lang="it-IT" sz="1050" u="none" strike="noStrik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  <a:t>ndirette derivanti dall’energia elettrica acquistata, ossia le emissioni prodotte dalla generazione dell’energia elettrica, del vapore, del calore o del raffrescamento che l’impresa acquista e utilizza. Pur originando presso i produttori di energia, tali emissioni sono attribuite all’impresa, che consuma l’energia.</a:t>
            </a:r>
            <a:endParaRPr b="0" sz="1050">
              <a:solidFill>
                <a:schemeClr val="dk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aphicFrame>
        <p:nvGraphicFramePr>
          <p:cNvPr id="105" name="Google Shape;105;p6"/>
          <p:cNvGraphicFramePr/>
          <p:nvPr/>
        </p:nvGraphicFramePr>
        <p:xfrm>
          <a:off x="445491" y="5125324"/>
          <a:ext cx="2630906" cy="2630906"/>
        </p:xfrm>
        <a:graphic>
          <a:graphicData uri="http://schemas.openxmlformats.org/drawingml/2006/table">
            <a:tbl>
              <a:tblPr firstRow="1">
                <a:noFill/>
                <a:tableStyleId>{A4A76372-1D77-4638-8BC6-133FC8FB7DB3}</a:tableStyleId>
              </a:tblPr>
              <a:tblGrid>
                <a:gridCol w="7759812"/>
                <a:gridCol w="2041188"/>
              </a:tblGrid>
              <a:tr h="238492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Emissioni di gas a effetto serra </a:t>
                      </a:r>
                      <a:r>
                        <a:rPr b="0" lang="it-IT" sz="1050">
                          <a:solidFill>
                            <a:schemeClr val="dk2"/>
                          </a:solidFill>
                        </a:rPr>
                        <a:t>(punto 33)</a:t>
                      </a:r>
                      <a:endParaRPr b="1" sz="1050">
                        <a:solidFill>
                          <a:schemeClr val="dk2"/>
                        </a:solidFill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Anno </a:t>
                      </a:r>
                      <a:r>
                        <a:rPr b="1" lang="it-IT" sz="1050">
                          <a:solidFill>
                            <a:srgbClr val="1B45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{{insert_year}}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</a:tr>
              <a:tr h="237483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Emissioni di CO₂e di ambito 1</a:t>
                      </a:r>
                      <a:endParaRPr b="0" sz="1050">
                        <a:solidFill>
                          <a:schemeClr val="dk2"/>
                        </a:solidFill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{{scope1}}</a:t>
                      </a:r>
                      <a:endParaRPr b="0" sz="1050"/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7483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Emissioni di CO₂e di ambito 2 (basate sulla posizione) </a:t>
                      </a:r>
                      <a:endParaRPr b="0" sz="1050">
                        <a:solidFill>
                          <a:schemeClr val="dk2"/>
                        </a:solidFill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{{scope2}}</a:t>
                      </a:r>
                      <a:endParaRPr b="0" sz="1050"/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7483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Emissioni totali di CO₂e di ambito 1 e 2 </a:t>
                      </a:r>
                      <a:endParaRPr b="0" sz="1050">
                        <a:solidFill>
                          <a:schemeClr val="dk2"/>
                        </a:solidFill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{{total_scope}}</a:t>
                      </a:r>
                      <a:endParaRPr b="0" sz="1050"/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7"/>
          <p:cNvSpPr txBox="1"/>
          <p:nvPr>
            <p:ph type="title"/>
          </p:nvPr>
        </p:nvSpPr>
        <p:spPr>
          <a:xfrm>
            <a:off x="454796" y="450698"/>
            <a:ext cx="9791704" cy="2186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</a:pPr>
            <a:r>
              <a:rPr lang="it-IT"/>
              <a:t>Inquinamento di aria, acqua e suolo (B4)</a:t>
            </a:r>
            <a:endParaRPr/>
          </a:p>
        </p:txBody>
      </p:sp>
      <p:graphicFrame>
        <p:nvGraphicFramePr>
          <p:cNvPr id="112" name="Google Shape;112;p7"/>
          <p:cNvGraphicFramePr/>
          <p:nvPr/>
        </p:nvGraphicFramePr>
        <p:xfrm>
          <a:off x="445498" y="1458651"/>
          <a:ext cx="2630906" cy="2630906"/>
        </p:xfrm>
        <a:graphic>
          <a:graphicData uri="http://schemas.openxmlformats.org/drawingml/2006/table">
            <a:tbl>
              <a:tblPr firstRow="1">
                <a:noFill/>
                <a:tableStyleId>{A4A76372-1D77-4638-8BC6-133FC8FB7DB3}</a:tableStyleId>
              </a:tblPr>
              <a:tblGrid>
                <a:gridCol w="3099842"/>
                <a:gridCol w="2988796"/>
                <a:gridCol w="3695918"/>
              </a:tblGrid>
              <a:tr h="245047">
                <a:tc gridSpan="3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Inquinamento di aria, acqua e suolo </a:t>
                      </a:r>
                      <a:r>
                        <a:rPr b="0" lang="it-IT" sz="1050">
                          <a:solidFill>
                            <a:schemeClr val="dk2"/>
                          </a:solidFill>
                        </a:rPr>
                        <a:t>(punto 34) 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 hMerge="1"/>
                <a:tc hMerge="1"/>
              </a:tr>
              <a:tr h="245047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Tipo di inquinamento </a:t>
                      </a:r>
                      <a:r>
                        <a:rPr b="0" lang="it-IT" sz="1050">
                          <a:solidFill>
                            <a:schemeClr val="dk2"/>
                          </a:solidFill>
                        </a:rPr>
                        <a:t>(ad es. sostanza)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Dove? </a:t>
                      </a:r>
                      <a:r>
                        <a:rPr b="0" lang="it-IT" sz="1050">
                          <a:solidFill>
                            <a:schemeClr val="dk2"/>
                          </a:solidFill>
                        </a:rPr>
                        <a:t>(aria, acqua, suolo)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Quantità</a:t>
                      </a:r>
                      <a:endParaRPr b="0" sz="1050">
                        <a:solidFill>
                          <a:srgbClr val="1B4528"/>
                        </a:solidFill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</a:tr>
              <a:tr h="211459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{{type_of_pollution}}</a:t>
                      </a:r>
                      <a:endParaRPr sz="1050"/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{{scope_pollution}}</a:t>
                      </a:r>
                      <a:endParaRPr b="0" sz="1050"/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{{pollution_medium}}</a:t>
                      </a:r>
                      <a:endParaRPr b="0" sz="1050"/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13" name="Google Shape;113;p7"/>
          <p:cNvSpPr txBox="1"/>
          <p:nvPr>
            <p:ph idx="12" type="sldNum"/>
          </p:nvPr>
        </p:nvSpPr>
        <p:spPr>
          <a:xfrm>
            <a:off x="8050571" y="7202406"/>
            <a:ext cx="2405700" cy="1349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  <p:sp>
        <p:nvSpPr>
          <p:cNvPr id="114" name="Google Shape;114;p7"/>
          <p:cNvSpPr txBox="1"/>
          <p:nvPr>
            <p:ph idx="11" type="ftr"/>
          </p:nvPr>
        </p:nvSpPr>
        <p:spPr>
          <a:xfrm>
            <a:off x="7261741" y="197293"/>
            <a:ext cx="3194529" cy="1349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{{company_name}}</a:t>
            </a:r>
            <a:endParaRPr b="0"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br>
              <a:rPr lang="it-IT"/>
            </a:br>
            <a:endParaRPr/>
          </a:p>
        </p:txBody>
      </p:sp>
      <p:sp>
        <p:nvSpPr>
          <p:cNvPr id="115" name="Google Shape;115;p7"/>
          <p:cNvSpPr txBox="1"/>
          <p:nvPr/>
        </p:nvSpPr>
        <p:spPr>
          <a:xfrm>
            <a:off x="461968" y="891000"/>
            <a:ext cx="9784532" cy="404866"/>
          </a:xfrm>
          <a:prstGeom prst="rect">
            <a:avLst/>
          </a:prstGeom>
          <a:noFill/>
          <a:ln>
            <a:noFill/>
          </a:ln>
        </p:spPr>
        <p:txBody>
          <a:bodyPr anchorCtr="0" anchor="t" bIns="40077" lIns="80177" spcFirstLastPara="1" rIns="80177" wrap="square" tIns="40077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None/>
            </a:pPr>
            <a:r>
              <a:rPr b="0" i="0" lang="it-IT" sz="1050" u="none" strike="noStrik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  <a:t>L’impresa comunica la quantità totale di inquinanti emessi dai propri impianti. Gli inquinanti specifici e i relativi quantitativi emessi in aria, acqua e suolo</a:t>
            </a:r>
            <a:r>
              <a:rPr lang="it-IT" sz="105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  <a:t> sono indicati di seguito.</a:t>
            </a:r>
            <a:endParaRPr/>
          </a:p>
        </p:txBody>
      </p:sp>
      <p:sp>
        <p:nvSpPr>
          <p:cNvPr id="116" name="Google Shape;116;p7"/>
          <p:cNvSpPr txBox="1"/>
          <p:nvPr/>
        </p:nvSpPr>
        <p:spPr>
          <a:xfrm>
            <a:off x="454796" y="2945868"/>
            <a:ext cx="9791704" cy="2186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</a:pPr>
            <a:r>
              <a:rPr b="1" lang="it-IT" sz="1575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rPr>
              <a:t>Biodiversità (B5) </a:t>
            </a:r>
            <a:endParaRPr/>
          </a:p>
        </p:txBody>
      </p:sp>
      <p:graphicFrame>
        <p:nvGraphicFramePr>
          <p:cNvPr id="117" name="Google Shape;117;p7"/>
          <p:cNvGraphicFramePr/>
          <p:nvPr/>
        </p:nvGraphicFramePr>
        <p:xfrm>
          <a:off x="454795" y="4100380"/>
          <a:ext cx="2630906" cy="2630906"/>
        </p:xfrm>
        <a:graphic>
          <a:graphicData uri="http://schemas.openxmlformats.org/drawingml/2006/table">
            <a:tbl>
              <a:tblPr firstRow="1">
                <a:noFill/>
                <a:tableStyleId>{A4A76372-1D77-4638-8BC6-133FC8FB7DB3}</a:tableStyleId>
              </a:tblPr>
              <a:tblGrid>
                <a:gridCol w="1778426"/>
                <a:gridCol w="2671093"/>
                <a:gridCol w="2671093"/>
                <a:gridCol w="2671093"/>
              </a:tblGrid>
              <a:tr h="202470">
                <a:tc gridSpan="4"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Siti all’interno o in prossimità di «aree sensibili sotto il profilo della biodiversità» che l’impresa possiede, ha in locazione o gestisce </a:t>
                      </a:r>
                      <a:r>
                        <a:rPr b="0" lang="it-IT" sz="1050">
                          <a:solidFill>
                            <a:schemeClr val="dk2"/>
                          </a:solidFill>
                        </a:rPr>
                        <a:t>(punto 35)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 hMerge="1"/>
                <a:tc hMerge="1"/>
                <a:tc hMerge="1"/>
              </a:tr>
              <a:tr h="302751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Ubicazione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Superficie in ettari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Area sensibile per la biodiversità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Specifica: all’interno o in prossimità di un’area sensibile per la biodiversità</a:t>
                      </a:r>
                      <a:endParaRPr b="0" sz="1050">
                        <a:solidFill>
                          <a:schemeClr val="dk2"/>
                        </a:solidFill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</a:tr>
              <a:tr h="238207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{{country_location}}</a:t>
                      </a:r>
                      <a:endParaRPr b="0" sz="1050"/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 {{area_hect}}</a:t>
                      </a:r>
                      <a:endParaRPr b="0" sz="1050"/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{{area_name}}</a:t>
                      </a:r>
                      <a:endParaRPr b="0" sz="1050"/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{{biosensitive_area}}</a:t>
                      </a:r>
                      <a:endParaRPr b="0" sz="1050"/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18" name="Google Shape;118;p7"/>
          <p:cNvSpPr txBox="1"/>
          <p:nvPr/>
        </p:nvSpPr>
        <p:spPr>
          <a:xfrm>
            <a:off x="445499" y="3291561"/>
            <a:ext cx="9791703" cy="566812"/>
          </a:xfrm>
          <a:prstGeom prst="rect">
            <a:avLst/>
          </a:prstGeom>
          <a:noFill/>
          <a:ln>
            <a:noFill/>
          </a:ln>
        </p:spPr>
        <p:txBody>
          <a:bodyPr anchorCtr="0" anchor="t" bIns="40077" lIns="80177" spcFirstLastPara="1" rIns="80177" wrap="square" tIns="40077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None/>
            </a:pPr>
            <a:r>
              <a:rPr b="0" i="0" lang="it-IT" sz="1050" u="none" strike="noStrik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  <a:t>Le informazioni dell’impresa riguardano i siti in cui essa opera che si trovano all’interno o in prossimità di aree sensibili sotto il profilo della biodiversità. Tali aree sono definite come tali da specifiche disposizioni di protezione della natura a livello europeo o internazionale. Vi rientrano le zone Natura 2000, i siti UNESCO e le aree chiave per la biodiversità (KBA), nonché altre aree protette.</a:t>
            </a:r>
            <a:endParaRPr sz="1050">
              <a:solidFill>
                <a:schemeClr val="dk2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8"/>
          <p:cNvSpPr txBox="1"/>
          <p:nvPr>
            <p:ph type="title"/>
          </p:nvPr>
        </p:nvSpPr>
        <p:spPr>
          <a:xfrm>
            <a:off x="454796" y="450698"/>
            <a:ext cx="9791704" cy="2186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</a:pPr>
            <a:r>
              <a:rPr lang="it-IT"/>
              <a:t>Acque (B6)</a:t>
            </a:r>
            <a:endParaRPr/>
          </a:p>
        </p:txBody>
      </p:sp>
      <p:graphicFrame>
        <p:nvGraphicFramePr>
          <p:cNvPr id="125" name="Google Shape;125;p8"/>
          <p:cNvGraphicFramePr/>
          <p:nvPr/>
        </p:nvGraphicFramePr>
        <p:xfrm>
          <a:off x="454796" y="1505077"/>
          <a:ext cx="2630906" cy="1100243"/>
        </p:xfrm>
        <a:graphic>
          <a:graphicData uri="http://schemas.openxmlformats.org/drawingml/2006/table">
            <a:tbl>
              <a:tblPr firstRow="1">
                <a:noFill/>
                <a:tableStyleId>{A4A76372-1D77-4638-8BC6-133FC8FB7DB3}</a:tableStyleId>
              </a:tblPr>
              <a:tblGrid>
                <a:gridCol w="2707421"/>
                <a:gridCol w="1513012"/>
              </a:tblGrid>
              <a:tr h="562201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Prelievo idrico </a:t>
                      </a:r>
                      <a:r>
                        <a:rPr b="0" lang="it-IT" sz="1050">
                          <a:solidFill>
                            <a:schemeClr val="dk2"/>
                          </a:solidFill>
                        </a:rPr>
                        <a:t>(punto 36)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Anno </a:t>
                      </a:r>
                      <a:r>
                        <a:rPr b="1" lang="it-IT" sz="1050">
                          <a:solidFill>
                            <a:srgbClr val="1B4528"/>
                          </a:solidFill>
                        </a:rPr>
                        <a:t>{{insert_year}}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</a:tr>
              <a:tr h="543918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it-IT" sz="1050">
                          <a:solidFill>
                            <a:schemeClr val="dk2"/>
                          </a:solidFill>
                        </a:rPr>
                        <a:t>Totale per tutti i siti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cap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{{total_withdrawal}}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6" name="Google Shape;126;p8"/>
          <p:cNvGraphicFramePr/>
          <p:nvPr/>
        </p:nvGraphicFramePr>
        <p:xfrm>
          <a:off x="4856790" y="1505077"/>
          <a:ext cx="2630906" cy="2630906"/>
        </p:xfrm>
        <a:graphic>
          <a:graphicData uri="http://schemas.openxmlformats.org/drawingml/2006/table">
            <a:tbl>
              <a:tblPr firstRow="1">
                <a:noFill/>
                <a:tableStyleId>{A4A76372-1D77-4638-8BC6-133FC8FB7DB3}</a:tableStyleId>
              </a:tblPr>
              <a:tblGrid>
                <a:gridCol w="4061899"/>
                <a:gridCol w="1327818"/>
              </a:tblGrid>
              <a:tr h="252567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Consumo idrico </a:t>
                      </a:r>
                      <a:r>
                        <a:rPr b="0" lang="it-IT" sz="1050">
                          <a:solidFill>
                            <a:schemeClr val="dk2"/>
                          </a:solidFill>
                        </a:rPr>
                        <a:t>(punto 37)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Anno </a:t>
                      </a:r>
                      <a:r>
                        <a:rPr b="1" lang="it-IT" sz="1050">
                          <a:solidFill>
                            <a:srgbClr val="1B4528"/>
                          </a:solidFill>
                        </a:rPr>
                        <a:t>{{insert_year}}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</a:tr>
              <a:tr h="252567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it-IT" sz="1050">
                          <a:solidFill>
                            <a:schemeClr val="dk2"/>
                          </a:solidFill>
                        </a:rPr>
                        <a:t>Totale per tutti i siti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{{consumption_total}}</a:t>
                      </a:r>
                      <a:endParaRPr b="0" sz="1050"/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52567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lang="it-IT" sz="1050">
                          <a:solidFill>
                            <a:schemeClr val="dk2"/>
                          </a:solidFill>
                        </a:rPr>
                        <a:t>Da siti in aree con scarsità d’acqua (elevato stress idrico)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{{consumption_waterstress}}</a:t>
                      </a:r>
                      <a:endParaRPr sz="1050"/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27" name="Google Shape;127;p8"/>
          <p:cNvSpPr txBox="1"/>
          <p:nvPr>
            <p:ph idx="12" type="sldNum"/>
          </p:nvPr>
        </p:nvSpPr>
        <p:spPr>
          <a:xfrm>
            <a:off x="8050571" y="7202406"/>
            <a:ext cx="2405700" cy="1349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  <p:sp>
        <p:nvSpPr>
          <p:cNvPr id="128" name="Google Shape;128;p8"/>
          <p:cNvSpPr txBox="1"/>
          <p:nvPr>
            <p:ph idx="11" type="ftr"/>
          </p:nvPr>
        </p:nvSpPr>
        <p:spPr>
          <a:xfrm>
            <a:off x="7261741" y="197293"/>
            <a:ext cx="3194529" cy="1349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{{company_name}}</a:t>
            </a:r>
            <a:endParaRPr b="0"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br>
              <a:rPr lang="it-IT"/>
            </a:br>
            <a:endParaRPr/>
          </a:p>
        </p:txBody>
      </p:sp>
      <p:sp>
        <p:nvSpPr>
          <p:cNvPr id="129" name="Google Shape;129;p8"/>
          <p:cNvSpPr txBox="1"/>
          <p:nvPr/>
        </p:nvSpPr>
        <p:spPr>
          <a:xfrm>
            <a:off x="445500" y="901932"/>
            <a:ext cx="9800999" cy="404866"/>
          </a:xfrm>
          <a:prstGeom prst="rect">
            <a:avLst/>
          </a:prstGeom>
          <a:noFill/>
          <a:ln>
            <a:noFill/>
          </a:ln>
        </p:spPr>
        <p:txBody>
          <a:bodyPr anchorCtr="0" anchor="t" bIns="40077" lIns="80177" spcFirstLastPara="1" rIns="80177" wrap="square" tIns="40077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None/>
            </a:pPr>
            <a:r>
              <a:rPr b="0" i="0" lang="it-IT" sz="1050" u="none" strike="noStrik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  <a:t>Il prelievo idrico è la quantità di acqua utilizzata dall’impresa, di cui </a:t>
            </a:r>
            <a:r>
              <a:rPr lang="it-IT" sz="105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  <a:t>il consumo indica l’acqua che </a:t>
            </a:r>
            <a:r>
              <a:rPr b="0" i="0" lang="it-IT" sz="1050" u="none" strike="noStrik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  <a:t>non è scaricata, né destinata a esserlo, nell’ambiente idrico o a terzi. La presente sezione indica il prelievo idrico totale dell’impresa. Il consumo idrico</a:t>
            </a:r>
            <a:r>
              <a:rPr lang="it-IT" sz="105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b="0" i="0" lang="it-IT" sz="1050" u="none" strike="noStrik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  <a:t>e lo scarico di acque da aree a elevato stress idrico sono indicati di seguito.</a:t>
            </a:r>
            <a:endParaRPr b="0" sz="1050">
              <a:solidFill>
                <a:schemeClr val="dk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0" name="Google Shape;130;p8"/>
          <p:cNvSpPr txBox="1"/>
          <p:nvPr/>
        </p:nvSpPr>
        <p:spPr>
          <a:xfrm>
            <a:off x="454796" y="2733336"/>
            <a:ext cx="9791704" cy="2186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</a:pPr>
            <a:r>
              <a:rPr b="1" lang="it-IT" sz="1575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rPr>
              <a:t>Uso delle risorse, economia circolare e gestione dei rifiuti (B7) </a:t>
            </a:r>
            <a:endParaRPr/>
          </a:p>
        </p:txBody>
      </p:sp>
      <p:graphicFrame>
        <p:nvGraphicFramePr>
          <p:cNvPr id="131" name="Google Shape;131;p8"/>
          <p:cNvGraphicFramePr/>
          <p:nvPr/>
        </p:nvGraphicFramePr>
        <p:xfrm>
          <a:off x="4856790" y="3128095"/>
          <a:ext cx="2630906" cy="1378652"/>
        </p:xfrm>
        <a:graphic>
          <a:graphicData uri="http://schemas.openxmlformats.org/drawingml/2006/table">
            <a:tbl>
              <a:tblPr firstRow="1">
                <a:noFill/>
                <a:tableStyleId>{A4A76372-1D77-4638-8BC6-133FC8FB7DB3}</a:tableStyleId>
              </a:tblPr>
              <a:tblGrid>
                <a:gridCol w="2128534"/>
                <a:gridCol w="1654028"/>
                <a:gridCol w="1597859"/>
              </a:tblGrid>
              <a:tr h="356518">
                <a:tc gridSpan="3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Applicazione dei principi dell’economia circolare </a:t>
                      </a:r>
                      <a:r>
                        <a:rPr b="0" lang="it-IT" sz="1050">
                          <a:solidFill>
                            <a:schemeClr val="dk2"/>
                          </a:solidFill>
                        </a:rPr>
                        <a:t>(punto 38)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 hMerge="1"/>
                <a:tc hMerge="1"/>
              </a:tr>
              <a:tr h="703894">
                <a:tc rowSpan="2"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it-IT" sz="1050">
                          <a:solidFill>
                            <a:schemeClr val="dk2"/>
                          </a:solidFill>
                        </a:rPr>
                        <a:t>La mia impresa applica i principi dell’economia circolare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Sì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No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</a:tr>
              <a:tr h="319952">
                <a:tc vMerge="1"/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{{circular_economy_princples_yes}}</a:t>
                      </a:r>
                      <a:endParaRPr b="0" sz="1050"/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{{circular_economy_princples_no?}}</a:t>
                      </a:r>
                      <a:endParaRPr b="0" sz="1050"/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2" name="Google Shape;132;p8"/>
          <p:cNvGraphicFramePr/>
          <p:nvPr/>
        </p:nvGraphicFramePr>
        <p:xfrm>
          <a:off x="445498" y="4065422"/>
          <a:ext cx="2630906" cy="2630906"/>
        </p:xfrm>
        <a:graphic>
          <a:graphicData uri="http://schemas.openxmlformats.org/drawingml/2006/table">
            <a:tbl>
              <a:tblPr firstRow="1">
                <a:noFill/>
                <a:tableStyleId>{A4A76372-1D77-4638-8BC6-133FC8FB7DB3}</a:tableStyleId>
              </a:tblPr>
              <a:tblGrid>
                <a:gridCol w="9791704"/>
              </a:tblGrid>
              <a:tr h="256667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Descrizione delle modalità con cui l’impresa applica i principi dell’economia circolare </a:t>
                      </a:r>
                      <a:r>
                        <a:rPr b="0" lang="it-IT" sz="1050">
                          <a:solidFill>
                            <a:schemeClr val="dk2"/>
                          </a:solidFill>
                        </a:rPr>
                        <a:t>(punto 38 continua)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</a:tr>
              <a:tr h="129322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it-IT" sz="1050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{{description_of_circular_economies}}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sz="1050">
                        <a:solidFill>
                          <a:srgbClr val="1B4528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T="31571" marB="31571" marR="47356" marL="47356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33" name="Google Shape;133;p8"/>
          <p:cNvSpPr txBox="1"/>
          <p:nvPr/>
        </p:nvSpPr>
        <p:spPr>
          <a:xfrm>
            <a:off x="445765" y="3138802"/>
            <a:ext cx="4247524" cy="728758"/>
          </a:xfrm>
          <a:prstGeom prst="rect">
            <a:avLst/>
          </a:prstGeom>
          <a:noFill/>
          <a:ln>
            <a:noFill/>
          </a:ln>
        </p:spPr>
        <p:txBody>
          <a:bodyPr anchorCtr="0" anchor="t" bIns="40077" lIns="80177" spcFirstLastPara="1" rIns="80177" wrap="square" tIns="40077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None/>
            </a:pPr>
            <a:r>
              <a:rPr b="0" i="0" lang="it-IT" sz="1050" u="none" strike="noStrik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  <a:t>La presente informativa indica se l’impresa</a:t>
            </a:r>
            <a:r>
              <a:rPr lang="it-IT" sz="105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  <a:t> applica i principi dell’economia circolare, compresi i principi di riduzione dei rifiuti e dell’inquinamento e l’attenzione a prodotti e materiali circolari.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9"/>
          <p:cNvSpPr txBox="1"/>
          <p:nvPr>
            <p:ph type="title"/>
          </p:nvPr>
        </p:nvSpPr>
        <p:spPr>
          <a:xfrm>
            <a:off x="454796" y="450698"/>
            <a:ext cx="9791704" cy="2186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</a:pPr>
            <a:r>
              <a:rPr lang="it-IT"/>
              <a:t>Uso delle risorse, economia circolare e gestione dei rifiuti (B7) – continua</a:t>
            </a:r>
            <a:endParaRPr/>
          </a:p>
        </p:txBody>
      </p:sp>
      <p:graphicFrame>
        <p:nvGraphicFramePr>
          <p:cNvPr id="140" name="Google Shape;140;p9"/>
          <p:cNvGraphicFramePr/>
          <p:nvPr/>
        </p:nvGraphicFramePr>
        <p:xfrm>
          <a:off x="445499" y="1442996"/>
          <a:ext cx="2630906" cy="2630906"/>
        </p:xfrm>
        <a:graphic>
          <a:graphicData uri="http://schemas.openxmlformats.org/drawingml/2006/table">
            <a:tbl>
              <a:tblPr firstRow="1">
                <a:noFill/>
                <a:tableStyleId>{A4A76372-1D77-4638-8BC6-133FC8FB7DB3}</a:tableStyleId>
              </a:tblPr>
              <a:tblGrid>
                <a:gridCol w="1995980"/>
                <a:gridCol w="2230328"/>
                <a:gridCol w="2213951"/>
              </a:tblGrid>
              <a:tr h="288172">
                <a:tc gridSpan="3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Produzione annua totale di rifiuti</a:t>
                      </a:r>
                      <a:endParaRPr b="0" sz="1050">
                        <a:solidFill>
                          <a:schemeClr val="dk2"/>
                        </a:solidFill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 hMerge="1"/>
                <a:tc hMerge="1"/>
              </a:tr>
              <a:tr h="301348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050">
                        <a:solidFill>
                          <a:schemeClr val="dk2"/>
                        </a:solidFill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Quantità totale di rifiuti </a:t>
                      </a:r>
                      <a:r>
                        <a:rPr b="0" lang="it-IT" sz="1050">
                          <a:solidFill>
                            <a:schemeClr val="dk2"/>
                          </a:solidFill>
                        </a:rPr>
                        <a:t>(punto 39a)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Rifiuti reindirizzati al riciclaggio o alla preparazione per il riutilizzo </a:t>
                      </a:r>
                      <a:r>
                        <a:rPr b="0" lang="it-IT" sz="1050">
                          <a:solidFill>
                            <a:schemeClr val="dk2"/>
                          </a:solidFill>
                        </a:rPr>
                        <a:t>(punto 39b)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</a:tr>
              <a:tr h="301348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Rifiuti non pericolosi 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sz="1050">
                        <a:solidFill>
                          <a:schemeClr val="dk2"/>
                        </a:solidFill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sz="1050">
                        <a:solidFill>
                          <a:schemeClr val="dk2"/>
                        </a:solidFill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</a:tr>
              <a:tr h="204926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{{Type_af_affald}}</a:t>
                      </a:r>
                      <a:endParaRPr b="0" sz="1050"/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{{kg_tons_total}}</a:t>
                      </a:r>
                      <a:endParaRPr b="0" sz="1050"/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{{genbrug_kg_tons}}</a:t>
                      </a:r>
                      <a:endParaRPr b="0" sz="1050"/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01348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Rifiuti pericolosi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sz="1050">
                        <a:solidFill>
                          <a:schemeClr val="dk2"/>
                        </a:solidFill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sz="1050">
                        <a:solidFill>
                          <a:schemeClr val="dk2"/>
                        </a:solidFill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</a:tr>
              <a:tr h="204926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{{Type_af_affald_farlig}}</a:t>
                      </a:r>
                      <a:endParaRPr b="0" sz="1050"/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{{farlig_kg_tons}}</a:t>
                      </a:r>
                      <a:endParaRPr b="0" sz="1050"/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{{farlig_genbrug_kg_tons}}</a:t>
                      </a:r>
                      <a:endParaRPr b="0" sz="1050"/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41" name="Google Shape;141;p9"/>
          <p:cNvSpPr txBox="1"/>
          <p:nvPr>
            <p:ph idx="12" type="sldNum"/>
          </p:nvPr>
        </p:nvSpPr>
        <p:spPr>
          <a:xfrm>
            <a:off x="8050571" y="7202406"/>
            <a:ext cx="2405700" cy="1349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  <p:sp>
        <p:nvSpPr>
          <p:cNvPr id="142" name="Google Shape;142;p9"/>
          <p:cNvSpPr txBox="1"/>
          <p:nvPr>
            <p:ph idx="11" type="ftr"/>
          </p:nvPr>
        </p:nvSpPr>
        <p:spPr>
          <a:xfrm>
            <a:off x="7261741" y="197293"/>
            <a:ext cx="3194529" cy="1349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{{company_name}}</a:t>
            </a:r>
            <a:endParaRPr b="0"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br>
              <a:rPr lang="it-IT"/>
            </a:br>
            <a:endParaRPr/>
          </a:p>
        </p:txBody>
      </p:sp>
      <p:sp>
        <p:nvSpPr>
          <p:cNvPr id="143" name="Google Shape;143;p9"/>
          <p:cNvSpPr txBox="1"/>
          <p:nvPr/>
        </p:nvSpPr>
        <p:spPr>
          <a:xfrm>
            <a:off x="454796" y="891000"/>
            <a:ext cx="9791704" cy="404866"/>
          </a:xfrm>
          <a:prstGeom prst="rect">
            <a:avLst/>
          </a:prstGeom>
          <a:noFill/>
          <a:ln>
            <a:noFill/>
          </a:ln>
        </p:spPr>
        <p:txBody>
          <a:bodyPr anchorCtr="0" anchor="t" bIns="40077" lIns="80177" spcFirstLastPara="1" rIns="80177" wrap="square" tIns="40077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None/>
            </a:pPr>
            <a:r>
              <a:rPr b="0" i="0" lang="it-IT" sz="1050" u="none" strike="noStrik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  <a:t>La sezione seguente fornisce informazioni sull’uso dei materiali e sulla gestione dei rifiuti. Le informazioni riguardano l’economia circolare e indicano la ripartizione della produzione annua totale di rifiuti dell’impresa (pericolosi/non pericolosi) nonché i quantitativi dei materiali pertinenti. </a:t>
            </a:r>
            <a:endParaRPr sz="1050">
              <a:solidFill>
                <a:schemeClr val="dk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aphicFrame>
        <p:nvGraphicFramePr>
          <p:cNvPr id="144" name="Google Shape;144;p9"/>
          <p:cNvGraphicFramePr/>
          <p:nvPr/>
        </p:nvGraphicFramePr>
        <p:xfrm>
          <a:off x="7156908" y="1473478"/>
          <a:ext cx="2630906" cy="2036848"/>
        </p:xfrm>
        <a:graphic>
          <a:graphicData uri="http://schemas.openxmlformats.org/drawingml/2006/table">
            <a:tbl>
              <a:tblPr firstRow="1">
                <a:noFill/>
                <a:tableStyleId>{A4A76372-1D77-4638-8BC6-133FC8FB7DB3}</a:tableStyleId>
              </a:tblPr>
              <a:tblGrid>
                <a:gridCol w="1976314"/>
                <a:gridCol w="1103994"/>
              </a:tblGrid>
              <a:tr h="1101548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Materiali pertinenti </a:t>
                      </a:r>
                      <a:r>
                        <a:rPr b="0" lang="it-IT" sz="1050">
                          <a:solidFill>
                            <a:schemeClr val="dk2"/>
                          </a:solidFill>
                        </a:rPr>
                        <a:t>(punto 39c)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Flusso di massa annuo </a:t>
                      </a:r>
                      <a:r>
                        <a:rPr b="1" lang="it-IT" sz="1050">
                          <a:solidFill>
                            <a:srgbClr val="1B4528"/>
                          </a:solidFill>
                        </a:rPr>
                        <a:t>{{insert_year}}</a:t>
                      </a:r>
                      <a:endParaRPr b="0" sz="1050">
                        <a:solidFill>
                          <a:srgbClr val="1B4528"/>
                        </a:solidFill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</a:tr>
              <a:tr h="937001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{{significant_material}}</a:t>
                      </a:r>
                      <a:endParaRPr b="0" sz="1050">
                        <a:solidFill>
                          <a:srgbClr val="1B4528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{{significant_material_unit}}</a:t>
                      </a:r>
                      <a:endParaRPr b="0" i="0" sz="1050" u="none" strike="noStrike">
                        <a:solidFill>
                          <a:srgbClr val="000000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0"/>
          <p:cNvSpPr txBox="1"/>
          <p:nvPr>
            <p:ph type="title"/>
          </p:nvPr>
        </p:nvSpPr>
        <p:spPr>
          <a:xfrm>
            <a:off x="454796" y="450698"/>
            <a:ext cx="9791704" cy="2186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</a:pPr>
            <a:r>
              <a:rPr lang="it-IT"/>
              <a:t>Forza lavoro propria: caratteristiche generali (B8) </a:t>
            </a:r>
            <a:endParaRPr/>
          </a:p>
        </p:txBody>
      </p:sp>
      <p:graphicFrame>
        <p:nvGraphicFramePr>
          <p:cNvPr id="151" name="Google Shape;151;p10"/>
          <p:cNvGraphicFramePr/>
          <p:nvPr/>
        </p:nvGraphicFramePr>
        <p:xfrm>
          <a:off x="445493" y="1520475"/>
          <a:ext cx="2630906" cy="2630906"/>
        </p:xfrm>
        <a:graphic>
          <a:graphicData uri="http://schemas.openxmlformats.org/drawingml/2006/table">
            <a:tbl>
              <a:tblPr firstRow="1">
                <a:noFill/>
                <a:tableStyleId>{A4A76372-1D77-4638-8BC6-133FC8FB7DB3}</a:tableStyleId>
              </a:tblPr>
              <a:tblGrid>
                <a:gridCol w="2182950"/>
                <a:gridCol w="2182950"/>
              </a:tblGrid>
              <a:tr h="405379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Tipo di contratto </a:t>
                      </a:r>
                      <a:r>
                        <a:rPr b="0" lang="it-IT" sz="1050">
                          <a:solidFill>
                            <a:schemeClr val="dk2"/>
                          </a:solidFill>
                        </a:rPr>
                        <a:t>(punto 40a)</a:t>
                      </a:r>
                      <a:endParaRPr/>
                    </a:p>
                  </a:txBody>
                  <a:tcPr marT="18943" marB="18943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Numero di dipendenti (effettivi o equivalenti a tempo pieno)</a:t>
                      </a:r>
                      <a:endParaRPr/>
                    </a:p>
                  </a:txBody>
                  <a:tcPr marT="18943" marB="18943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</a:tr>
              <a:tr h="405379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it-IT" sz="1050">
                          <a:solidFill>
                            <a:schemeClr val="dk2"/>
                          </a:solidFill>
                        </a:rPr>
                        <a:t>Contratto temporaneo</a:t>
                      </a:r>
                      <a:endParaRPr/>
                    </a:p>
                  </a:txBody>
                  <a:tcPr marT="18943" marB="18943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{{temporary}}</a:t>
                      </a:r>
                      <a:endParaRPr b="0" sz="1050"/>
                    </a:p>
                  </a:txBody>
                  <a:tcPr marT="11138" marB="11138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05379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it-IT" sz="1050">
                          <a:solidFill>
                            <a:schemeClr val="dk2"/>
                          </a:solidFill>
                        </a:rPr>
                        <a:t>Contratto permanente</a:t>
                      </a:r>
                      <a:endParaRPr/>
                    </a:p>
                  </a:txBody>
                  <a:tcPr marT="18943" marB="18943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{{fulltime}}</a:t>
                      </a:r>
                      <a:endParaRPr b="0" sz="1050"/>
                    </a:p>
                  </a:txBody>
                  <a:tcPr marT="11138" marB="11138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05379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it-IT" sz="1050">
                          <a:solidFill>
                            <a:schemeClr val="dk2"/>
                          </a:solidFill>
                        </a:rPr>
                        <a:t>Numero totale di dipendenti</a:t>
                      </a:r>
                      <a:endParaRPr/>
                    </a:p>
                  </a:txBody>
                  <a:tcPr marT="18943" marB="18943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{{total_employees}}</a:t>
                      </a:r>
                      <a:endParaRPr b="0" sz="1050"/>
                    </a:p>
                  </a:txBody>
                  <a:tcPr marT="11138" marB="11138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2" name="Google Shape;152;p10"/>
          <p:cNvGraphicFramePr/>
          <p:nvPr/>
        </p:nvGraphicFramePr>
        <p:xfrm>
          <a:off x="5008093" y="1520477"/>
          <a:ext cx="2630906" cy="2630906"/>
        </p:xfrm>
        <a:graphic>
          <a:graphicData uri="http://schemas.openxmlformats.org/drawingml/2006/table">
            <a:tbl>
              <a:tblPr firstRow="1">
                <a:noFill/>
                <a:tableStyleId>{A4A76372-1D77-4638-8BC6-133FC8FB7DB3}</a:tableStyleId>
              </a:tblPr>
              <a:tblGrid>
                <a:gridCol w="2619198"/>
                <a:gridCol w="2619198"/>
              </a:tblGrid>
              <a:tr h="252567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Genere</a:t>
                      </a:r>
                      <a:r>
                        <a:rPr b="0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 (punto 40b)</a:t>
                      </a:r>
                      <a:endParaRPr b="0" sz="1050">
                        <a:solidFill>
                          <a:schemeClr val="dk2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T="18943" marB="18943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Numero di dipendenti (effettivi o equivalenti a tempo pieno)</a:t>
                      </a:r>
                      <a:endParaRPr b="1" sz="1050">
                        <a:solidFill>
                          <a:schemeClr val="dk2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T="18943" marB="18943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</a:tr>
              <a:tr h="252567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Uomo</a:t>
                      </a:r>
                      <a:endParaRPr/>
                    </a:p>
                  </a:txBody>
                  <a:tcPr marT="18943" marB="18943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{{men}}</a:t>
                      </a:r>
                      <a:endParaRPr b="0" sz="1050"/>
                    </a:p>
                  </a:txBody>
                  <a:tcPr marT="11138" marB="11138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52567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Donna</a:t>
                      </a:r>
                      <a:endParaRPr/>
                    </a:p>
                  </a:txBody>
                  <a:tcPr marT="18943" marB="18943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{{women}}</a:t>
                      </a:r>
                      <a:endParaRPr b="0" sz="1050"/>
                    </a:p>
                  </a:txBody>
                  <a:tcPr marT="11138" marB="11138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52567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Altro</a:t>
                      </a:r>
                      <a:endParaRPr/>
                    </a:p>
                  </a:txBody>
                  <a:tcPr marT="18943" marB="18943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{{others}}</a:t>
                      </a:r>
                      <a:endParaRPr b="0" sz="1050"/>
                    </a:p>
                  </a:txBody>
                  <a:tcPr marT="11138" marB="11138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52567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Non registrato</a:t>
                      </a:r>
                      <a:endParaRPr/>
                    </a:p>
                  </a:txBody>
                  <a:tcPr marT="18943" marB="18943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{{not_registeret}}</a:t>
                      </a:r>
                      <a:endParaRPr b="0" sz="1050"/>
                    </a:p>
                  </a:txBody>
                  <a:tcPr marT="11138" marB="11138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52567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Numero totale di dipendenti</a:t>
                      </a:r>
                      <a:endParaRPr/>
                    </a:p>
                  </a:txBody>
                  <a:tcPr marT="18943" marB="18943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{{total_employees}}</a:t>
                      </a:r>
                      <a:endParaRPr b="0" sz="1050"/>
                    </a:p>
                  </a:txBody>
                  <a:tcPr marT="11138" marB="11138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53" name="Google Shape;153;p10"/>
          <p:cNvSpPr txBox="1"/>
          <p:nvPr>
            <p:ph idx="12" type="sldNum"/>
          </p:nvPr>
        </p:nvSpPr>
        <p:spPr>
          <a:xfrm>
            <a:off x="8050571" y="7202406"/>
            <a:ext cx="2405700" cy="1349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  <p:sp>
        <p:nvSpPr>
          <p:cNvPr id="154" name="Google Shape;154;p10"/>
          <p:cNvSpPr txBox="1"/>
          <p:nvPr>
            <p:ph idx="11" type="ftr"/>
          </p:nvPr>
        </p:nvSpPr>
        <p:spPr>
          <a:xfrm>
            <a:off x="7261741" y="197293"/>
            <a:ext cx="3194529" cy="1349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{{company_name}}</a:t>
            </a:r>
            <a:endParaRPr b="0"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br>
              <a:rPr lang="it-IT"/>
            </a:br>
            <a:endParaRPr/>
          </a:p>
        </p:txBody>
      </p:sp>
      <p:sp>
        <p:nvSpPr>
          <p:cNvPr id="155" name="Google Shape;155;p10"/>
          <p:cNvSpPr txBox="1"/>
          <p:nvPr/>
        </p:nvSpPr>
        <p:spPr>
          <a:xfrm>
            <a:off x="454796" y="913284"/>
            <a:ext cx="9791704" cy="728758"/>
          </a:xfrm>
          <a:prstGeom prst="rect">
            <a:avLst/>
          </a:prstGeom>
          <a:noFill/>
          <a:ln>
            <a:noFill/>
          </a:ln>
        </p:spPr>
        <p:txBody>
          <a:bodyPr anchorCtr="0" anchor="t" bIns="40077" lIns="80177" spcFirstLastPara="1" rIns="80177" wrap="square" tIns="40077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5595D"/>
              </a:buClr>
              <a:buSzPts val="1200"/>
              <a:buFont typeface="Inter"/>
              <a:buNone/>
            </a:pPr>
            <a:r>
              <a:rPr b="0" i="0" lang="it-IT" sz="1050" u="none" strike="noStrike">
                <a:solidFill>
                  <a:srgbClr val="25595D"/>
                </a:solidFill>
                <a:latin typeface="Inter"/>
                <a:ea typeface="Inter"/>
                <a:cs typeface="Inter"/>
                <a:sym typeface="Inter"/>
              </a:rPr>
              <a:t>L’impresa ha indicato il numero di dipendenti per le ripartizioni seguenti: tipo di contratto di lavoro, con dipendenti suddivisi tra contratti temporanei e permanenti; genere, che dà conto della distribuzione di genere tra i dipendenti; e paese del contratto di lavoro, rilevante se l’impresa opera in più paesi.</a:t>
            </a:r>
            <a:endParaRPr b="0" sz="105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Inter"/>
              <a:buNone/>
            </a:pPr>
            <a:br>
              <a:rPr lang="it-IT" sz="105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</a:br>
            <a:endParaRPr sz="105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aphicFrame>
        <p:nvGraphicFramePr>
          <p:cNvPr id="156" name="Google Shape;156;p10"/>
          <p:cNvGraphicFramePr/>
          <p:nvPr/>
        </p:nvGraphicFramePr>
        <p:xfrm>
          <a:off x="447022" y="3446606"/>
          <a:ext cx="2630906" cy="2630906"/>
        </p:xfrm>
        <a:graphic>
          <a:graphicData uri="http://schemas.openxmlformats.org/drawingml/2006/table">
            <a:tbl>
              <a:tblPr firstRow="1">
                <a:noFill/>
                <a:tableStyleId>{A4A76372-1D77-4638-8BC6-133FC8FB7DB3}</a:tableStyleId>
              </a:tblPr>
              <a:tblGrid>
                <a:gridCol w="5233595"/>
                <a:gridCol w="4556575"/>
              </a:tblGrid>
              <a:tr h="252567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Paese (in cui è stato stipulato il contratto) </a:t>
                      </a:r>
                      <a:r>
                        <a:rPr b="0" lang="it-IT" sz="1050">
                          <a:solidFill>
                            <a:schemeClr val="dk2"/>
                          </a:solidFill>
                        </a:rPr>
                        <a:t>(punto 40c)</a:t>
                      </a:r>
                      <a:endParaRPr/>
                    </a:p>
                  </a:txBody>
                  <a:tcPr marT="18943" marB="18943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Numero di dipendenti (effettivi o equivalenti a tempo pieno)</a:t>
                      </a:r>
                      <a:endParaRPr/>
                    </a:p>
                  </a:txBody>
                  <a:tcPr marT="18943" marB="18943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</a:tr>
              <a:tr h="252567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it-IT" sz="1050">
                          <a:solidFill>
                            <a:schemeClr val="dk2"/>
                          </a:solidFill>
                        </a:rPr>
                        <a:t>Danimarca</a:t>
                      </a:r>
                      <a:endParaRPr/>
                    </a:p>
                  </a:txBody>
                  <a:tcPr marT="18943" marB="18943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{{Denmark}}</a:t>
                      </a:r>
                      <a:endParaRPr b="0" sz="1050"/>
                    </a:p>
                  </a:txBody>
                  <a:tcPr marT="11138" marB="11138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52567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{{Land_b}}</a:t>
                      </a:r>
                      <a:endParaRPr b="0" sz="1050"/>
                    </a:p>
                  </a:txBody>
                  <a:tcPr marT="11138" marB="11138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</a:t>
                      </a: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</a:rPr>
                        <a:t>FTE_eller_antal_personer_land_b</a:t>
                      </a: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}}</a:t>
                      </a:r>
                      <a:endParaRPr b="0" sz="1050"/>
                    </a:p>
                  </a:txBody>
                  <a:tcPr marT="11138" marB="11138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52567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it-IT" sz="1050">
                          <a:solidFill>
                            <a:schemeClr val="dk2"/>
                          </a:solidFill>
                        </a:rPr>
                        <a:t>Numero totale di dipendenti</a:t>
                      </a:r>
                      <a:endParaRPr/>
                    </a:p>
                  </a:txBody>
                  <a:tcPr marT="18943" marB="18943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{{Total_out_of_countries}}</a:t>
                      </a:r>
                      <a:endParaRPr b="0" sz="1050"/>
                    </a:p>
                  </a:txBody>
                  <a:tcPr marT="11138" marB="11138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1"/>
          <p:cNvSpPr txBox="1"/>
          <p:nvPr>
            <p:ph type="title"/>
          </p:nvPr>
        </p:nvSpPr>
        <p:spPr>
          <a:xfrm>
            <a:off x="454796" y="450698"/>
            <a:ext cx="9791704" cy="2186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</a:pPr>
            <a:r>
              <a:rPr lang="it-IT"/>
              <a:t>Forza lavoro propria: salute e sicurezza (B9)</a:t>
            </a:r>
            <a:endParaRPr/>
          </a:p>
        </p:txBody>
      </p:sp>
      <p:graphicFrame>
        <p:nvGraphicFramePr>
          <p:cNvPr id="163" name="Google Shape;163;p11"/>
          <p:cNvGraphicFramePr/>
          <p:nvPr/>
        </p:nvGraphicFramePr>
        <p:xfrm>
          <a:off x="445500" y="1509220"/>
          <a:ext cx="2630906" cy="2630906"/>
        </p:xfrm>
        <a:graphic>
          <a:graphicData uri="http://schemas.openxmlformats.org/drawingml/2006/table">
            <a:tbl>
              <a:tblPr firstRow="1">
                <a:noFill/>
                <a:tableStyleId>{A4A76372-1D77-4638-8BC6-133FC8FB7DB3}</a:tableStyleId>
              </a:tblPr>
              <a:tblGrid>
                <a:gridCol w="2656184"/>
                <a:gridCol w="2140373"/>
              </a:tblGrid>
              <a:tr h="2963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Infortuni registrabili connessi al lavoro </a:t>
                      </a:r>
                      <a:r>
                        <a:rPr b="0" lang="it-IT" sz="1050">
                          <a:solidFill>
                            <a:schemeClr val="dk2"/>
                          </a:solidFill>
                        </a:rPr>
                        <a:t>(punto 41a)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Anno</a:t>
                      </a:r>
                      <a:r>
                        <a:rPr b="1" lang="it-IT" sz="1050">
                          <a:solidFill>
                            <a:srgbClr val="1B45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{{insert_year}}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</a:tr>
              <a:tr h="296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it-IT" sz="1050">
                          <a:solidFill>
                            <a:schemeClr val="dk2"/>
                          </a:solidFill>
                        </a:rPr>
                        <a:t>Numero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cap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{{indsat_antal_accidents}}</a:t>
                      </a:r>
                      <a:endParaRPr b="0" i="0" sz="1050" u="none" cap="none" strike="noStrike">
                        <a:solidFill>
                          <a:srgbClr val="1B4528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96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it-IT" sz="1050">
                          <a:solidFill>
                            <a:schemeClr val="dk2"/>
                          </a:solidFill>
                        </a:rPr>
                        <a:t>Tasso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cap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{{indsat_accidents_frequents}}</a:t>
                      </a:r>
                      <a:endParaRPr b="0" i="0" sz="1050" u="none" cap="none" strike="noStrike">
                        <a:solidFill>
                          <a:srgbClr val="1B4528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4" name="Google Shape;164;p11"/>
          <p:cNvGraphicFramePr/>
          <p:nvPr/>
        </p:nvGraphicFramePr>
        <p:xfrm>
          <a:off x="5440653" y="1509221"/>
          <a:ext cx="2630906" cy="2630906"/>
        </p:xfrm>
        <a:graphic>
          <a:graphicData uri="http://schemas.openxmlformats.org/drawingml/2006/table">
            <a:tbl>
              <a:tblPr firstRow="1">
                <a:noFill/>
                <a:tableStyleId>{A4A76372-1D77-4638-8BC6-133FC8FB7DB3}</a:tableStyleId>
              </a:tblPr>
              <a:tblGrid>
                <a:gridCol w="3313428"/>
                <a:gridCol w="1483129"/>
              </a:tblGrid>
              <a:tr h="29128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Decessi connessi al lavoro </a:t>
                      </a:r>
                      <a:r>
                        <a:rPr b="0" lang="it-IT" sz="1050">
                          <a:solidFill>
                            <a:schemeClr val="dk2"/>
                          </a:solidFill>
                        </a:rPr>
                        <a:t>(punto 41b)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Anno</a:t>
                      </a:r>
                      <a:r>
                        <a:rPr b="1" lang="it-IT" sz="1050">
                          <a:solidFill>
                            <a:srgbClr val="1B45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{{insert_year}}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</a:tr>
              <a:tr h="29128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it-IT" sz="1050">
                          <a:solidFill>
                            <a:schemeClr val="dk2"/>
                          </a:solidFill>
                        </a:rPr>
                        <a:t>Dovuti a lesioni/infortuni sul lavoro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cap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{{deaths_by_accidents}}</a:t>
                      </a:r>
                      <a:endParaRPr b="0" i="0" sz="1050" u="none" cap="none" strike="noStrike">
                        <a:solidFill>
                          <a:srgbClr val="1B4528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9128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it-IT" sz="1050">
                          <a:solidFill>
                            <a:schemeClr val="dk2"/>
                          </a:solidFill>
                        </a:rPr>
                        <a:t>Dovuti a malattie connesse al lavoro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cap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{{deaths_by_health}}</a:t>
                      </a:r>
                      <a:endParaRPr b="0" i="0" sz="1050" u="none" cap="none" strike="noStrike">
                        <a:solidFill>
                          <a:srgbClr val="1B4528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65" name="Google Shape;165;p11"/>
          <p:cNvSpPr txBox="1"/>
          <p:nvPr>
            <p:ph idx="12" type="sldNum"/>
          </p:nvPr>
        </p:nvSpPr>
        <p:spPr>
          <a:xfrm>
            <a:off x="8050571" y="7458438"/>
            <a:ext cx="2405700" cy="1349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  <p:sp>
        <p:nvSpPr>
          <p:cNvPr id="166" name="Google Shape;166;p11"/>
          <p:cNvSpPr txBox="1"/>
          <p:nvPr>
            <p:ph idx="11" type="ftr"/>
          </p:nvPr>
        </p:nvSpPr>
        <p:spPr>
          <a:xfrm>
            <a:off x="7261741" y="197293"/>
            <a:ext cx="3194529" cy="1349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{{company_name}}</a:t>
            </a:r>
            <a:endParaRPr b="0"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br>
              <a:rPr lang="it-IT"/>
            </a:br>
            <a:endParaRPr/>
          </a:p>
        </p:txBody>
      </p:sp>
      <p:sp>
        <p:nvSpPr>
          <p:cNvPr id="167" name="Google Shape;167;p11"/>
          <p:cNvSpPr txBox="1"/>
          <p:nvPr/>
        </p:nvSpPr>
        <p:spPr>
          <a:xfrm>
            <a:off x="454796" y="873256"/>
            <a:ext cx="9791704" cy="728758"/>
          </a:xfrm>
          <a:prstGeom prst="rect">
            <a:avLst/>
          </a:prstGeom>
          <a:noFill/>
          <a:ln>
            <a:noFill/>
          </a:ln>
        </p:spPr>
        <p:txBody>
          <a:bodyPr anchorCtr="0" anchor="t" bIns="40077" lIns="80177" spcFirstLastPara="1" rIns="80177" wrap="square" tIns="40077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None/>
            </a:pPr>
            <a:r>
              <a:rPr b="0" i="0" lang="it-IT" sz="1050" u="none" strike="noStrik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  <a:t>L’impresa ha comunicato informazioni sul numero di infortuni registrabili connessi al lavoro e di decessi connessi al lavoro per le ripartizioni seguenti: numero e tasso. Indica inoltre se i decessi connessi al lavoro sono dovuti a lesioni/infortuni o a malattie.</a:t>
            </a:r>
            <a:endParaRPr b="0" sz="1050">
              <a:solidFill>
                <a:schemeClr val="dk2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None/>
            </a:pPr>
            <a:br>
              <a:rPr lang="it-IT" sz="105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</a:br>
            <a:endParaRPr sz="1050">
              <a:solidFill>
                <a:schemeClr val="dk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8" name="Google Shape;168;p11"/>
          <p:cNvSpPr txBox="1"/>
          <p:nvPr/>
        </p:nvSpPr>
        <p:spPr>
          <a:xfrm>
            <a:off x="454796" y="2676156"/>
            <a:ext cx="9791704" cy="2186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</a:pPr>
            <a:r>
              <a:rPr b="1" lang="it-IT" sz="1575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rPr>
              <a:t>Forza lavoro: retribuzione, contrattazione collettiva e formazione (B10)</a:t>
            </a:r>
            <a:endParaRPr/>
          </a:p>
        </p:txBody>
      </p:sp>
      <p:graphicFrame>
        <p:nvGraphicFramePr>
          <p:cNvPr id="169" name="Google Shape;169;p11"/>
          <p:cNvGraphicFramePr/>
          <p:nvPr/>
        </p:nvGraphicFramePr>
        <p:xfrm>
          <a:off x="5449949" y="3922747"/>
          <a:ext cx="2630906" cy="2630906"/>
        </p:xfrm>
        <a:graphic>
          <a:graphicData uri="http://schemas.openxmlformats.org/drawingml/2006/table">
            <a:tbl>
              <a:tblPr firstRow="1">
                <a:noFill/>
                <a:tableStyleId>{A4A76372-1D77-4638-8BC6-133FC8FB7DB3}</a:tableStyleId>
              </a:tblPr>
              <a:tblGrid>
                <a:gridCol w="3337545"/>
                <a:gridCol w="1459012"/>
              </a:tblGrid>
              <a:tr h="293938">
                <a:tc rowSpan="2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Divario retributivo tra dipendenti di sesso maschile e femminile </a:t>
                      </a:r>
                      <a:r>
                        <a:rPr b="0" lang="it-IT" sz="1050">
                          <a:solidFill>
                            <a:schemeClr val="dk2"/>
                          </a:solidFill>
                        </a:rPr>
                        <a:t>(punto 42b)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Anno</a:t>
                      </a:r>
                      <a:r>
                        <a:rPr b="1" lang="it-IT" sz="1050">
                          <a:solidFill>
                            <a:srgbClr val="1B45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b="1" lang="it-IT" sz="1050">
                          <a:solidFill>
                            <a:srgbClr val="1B4528"/>
                          </a:solidFill>
                        </a:rPr>
                        <a:t>{{insert_year}}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</a:tr>
              <a:tr h="473870">
                <a:tc vMerge="1"/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it-IT" sz="1050">
                          <a:solidFill>
                            <a:srgbClr val="1B4528"/>
                          </a:solidFill>
                        </a:rPr>
                        <a:t>{{indsat_procentvise_lonforskel}}</a:t>
                      </a:r>
                      <a:endParaRPr/>
                    </a:p>
                  </a:txBody>
                  <a:tcPr marT="31571" marB="31571" marR="31571" marL="31571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0" name="Google Shape;170;p11"/>
          <p:cNvGraphicFramePr/>
          <p:nvPr/>
        </p:nvGraphicFramePr>
        <p:xfrm>
          <a:off x="445496" y="3922749"/>
          <a:ext cx="2630906" cy="2630906"/>
        </p:xfrm>
        <a:graphic>
          <a:graphicData uri="http://schemas.openxmlformats.org/drawingml/2006/table">
            <a:tbl>
              <a:tblPr firstRow="1">
                <a:noFill/>
                <a:tableStyleId>{A4A76372-1D77-4638-8BC6-133FC8FB7DB3}</a:tableStyleId>
              </a:tblPr>
              <a:tblGrid>
                <a:gridCol w="2633558"/>
                <a:gridCol w="1111141"/>
                <a:gridCol w="1055585"/>
              </a:tblGrid>
              <a:tr h="181094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Informazioni sul salario minimo </a:t>
                      </a:r>
                      <a:r>
                        <a:rPr b="0" lang="it-IT" sz="1050">
                          <a:solidFill>
                            <a:schemeClr val="dk2"/>
                          </a:solidFill>
                        </a:rPr>
                        <a:t>(42a)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Sì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No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</a:tr>
              <a:tr h="44096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it-IT" sz="1050">
                          <a:solidFill>
                            <a:schemeClr val="dk2"/>
                          </a:solidFill>
                        </a:rPr>
                        <a:t>Nell’impresa tutti i dipendenti percepiscono una retribuzione almeno pari al salario minimo 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{{minumum_wage_yes?}}</a:t>
                      </a:r>
                      <a:endParaRPr b="0" sz="1050"/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{{minimum_wage_no?}}</a:t>
                      </a:r>
                      <a:endParaRPr b="0" sz="1050"/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1" name="Google Shape;171;p11"/>
          <p:cNvGraphicFramePr/>
          <p:nvPr/>
        </p:nvGraphicFramePr>
        <p:xfrm>
          <a:off x="445498" y="4814802"/>
          <a:ext cx="2630906" cy="2630906"/>
        </p:xfrm>
        <a:graphic>
          <a:graphicData uri="http://schemas.openxmlformats.org/drawingml/2006/table">
            <a:tbl>
              <a:tblPr firstRow="1">
                <a:noFill/>
                <a:tableStyleId>{A4A76372-1D77-4638-8BC6-133FC8FB7DB3}</a:tableStyleId>
              </a:tblPr>
              <a:tblGrid>
                <a:gridCol w="2650725"/>
                <a:gridCol w="2145832"/>
              </a:tblGrid>
              <a:tr h="478014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Contratto collettivo </a:t>
                      </a:r>
                      <a:r>
                        <a:rPr b="0" lang="it-IT" sz="1050">
                          <a:solidFill>
                            <a:schemeClr val="dk2"/>
                          </a:solidFill>
                        </a:rPr>
                        <a:t>(punto 42c)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Anno</a:t>
                      </a:r>
                      <a:r>
                        <a:rPr b="1" lang="it-IT" sz="1050">
                          <a:solidFill>
                            <a:srgbClr val="1B45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{{insert_year}}</a:t>
                      </a:r>
                      <a:endParaRPr b="1" sz="1050">
                        <a:solidFill>
                          <a:srgbClr val="1B4528"/>
                        </a:solidFill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</a:tr>
              <a:tr h="439778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lang="it-IT" sz="1050">
                          <a:solidFill>
                            <a:schemeClr val="dk2"/>
                          </a:solidFill>
                        </a:rPr>
                        <a:t>Percentuale di dipendenti coperti da un contratto collettivo</a:t>
                      </a:r>
                      <a:endParaRPr b="0" i="0" sz="1050" u="none" cap="none" strike="noStrike">
                        <a:solidFill>
                          <a:srgbClr val="1B4528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cap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{{indsat_procentvis_ansatte}}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2" name="Google Shape;172;p11"/>
          <p:cNvGraphicFramePr/>
          <p:nvPr/>
        </p:nvGraphicFramePr>
        <p:xfrm>
          <a:off x="5448102" y="4814801"/>
          <a:ext cx="2630906" cy="2630906"/>
        </p:xfrm>
        <a:graphic>
          <a:graphicData uri="http://schemas.openxmlformats.org/drawingml/2006/table">
            <a:tbl>
              <a:tblPr firstRow="1">
                <a:noFill/>
                <a:tableStyleId>{A4A76372-1D77-4638-8BC6-133FC8FB7DB3}</a:tableStyleId>
              </a:tblPr>
              <a:tblGrid>
                <a:gridCol w="3339386"/>
                <a:gridCol w="1457171"/>
              </a:tblGrid>
              <a:tr h="376943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Ore medie di formazione per dipendente </a:t>
                      </a:r>
                      <a:r>
                        <a:rPr b="0" lang="it-IT" sz="1050">
                          <a:solidFill>
                            <a:schemeClr val="dk2"/>
                          </a:solidFill>
                        </a:rPr>
                        <a:t>(punto 42d)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Anno</a:t>
                      </a:r>
                      <a:r>
                        <a:rPr b="1" lang="it-IT" sz="1050">
                          <a:solidFill>
                            <a:srgbClr val="1B45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{{insert_year}}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</a:tr>
              <a:tr h="538503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it-IT" sz="1050">
                          <a:solidFill>
                            <a:schemeClr val="dk2"/>
                          </a:solidFill>
                        </a:rPr>
                        <a:t>Ora/e per dipendente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{{gennemsnitstimer}}</a:t>
                      </a:r>
                      <a:endParaRPr b="0" sz="1050"/>
                    </a:p>
                  </a:txBody>
                  <a:tcPr marT="16706" marB="16706" marR="16706" marL="1670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73" name="Google Shape;173;p11"/>
          <p:cNvSpPr txBox="1"/>
          <p:nvPr/>
        </p:nvSpPr>
        <p:spPr>
          <a:xfrm>
            <a:off x="465933" y="3022746"/>
            <a:ext cx="9791704" cy="890704"/>
          </a:xfrm>
          <a:prstGeom prst="rect">
            <a:avLst/>
          </a:prstGeom>
          <a:noFill/>
          <a:ln>
            <a:noFill/>
          </a:ln>
        </p:spPr>
        <p:txBody>
          <a:bodyPr anchorCtr="0" anchor="t" bIns="40077" lIns="80177" spcFirstLastPara="1" rIns="80177" wrap="square" tIns="40077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None/>
            </a:pPr>
            <a:r>
              <a:rPr b="0" i="0" lang="it-IT" sz="1050" u="none" strike="noStrik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  <a:t>L’impresa ha comunicato informazioni sul salario minimo, la percentuale di dipendenti coperti da contratti collettivi e il numero medio annuo di ore di formazione per dipendente, ripartito per genere. Se l’impresa è già tenuta, in forza della normativa UE 8 o di altre disposizioni nazionali, a comunicare la percentuale del divario retributivo tra dipendenti di sesso femminile e maschile, deve indicarla.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None/>
            </a:pPr>
            <a:br>
              <a:rPr lang="it-IT" sz="105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</a:br>
            <a:endParaRPr sz="1050">
              <a:solidFill>
                <a:schemeClr val="dk2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12"/>
          <p:cNvSpPr txBox="1"/>
          <p:nvPr>
            <p:ph type="title"/>
          </p:nvPr>
        </p:nvSpPr>
        <p:spPr>
          <a:xfrm>
            <a:off x="454796" y="450698"/>
            <a:ext cx="9791704" cy="2186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</a:pPr>
            <a:r>
              <a:rPr lang="it-IT"/>
              <a:t>Condotta delle imprese: condanne e ammende per corruzione attiva &amp; passiva (B11) </a:t>
            </a:r>
            <a:endParaRPr/>
          </a:p>
        </p:txBody>
      </p:sp>
      <p:graphicFrame>
        <p:nvGraphicFramePr>
          <p:cNvPr id="180" name="Google Shape;180;p12"/>
          <p:cNvGraphicFramePr/>
          <p:nvPr/>
        </p:nvGraphicFramePr>
        <p:xfrm>
          <a:off x="445498" y="1706309"/>
          <a:ext cx="2630906" cy="2630906"/>
        </p:xfrm>
        <a:graphic>
          <a:graphicData uri="http://schemas.openxmlformats.org/drawingml/2006/table">
            <a:tbl>
              <a:tblPr firstRow="1">
                <a:noFill/>
                <a:tableStyleId>{A4A76372-1D77-4638-8BC6-133FC8FB7DB3}</a:tableStyleId>
              </a:tblPr>
              <a:tblGrid>
                <a:gridCol w="3263901"/>
                <a:gridCol w="3263901"/>
                <a:gridCol w="3263901"/>
              </a:tblGrid>
              <a:tr h="268352">
                <a:tc rowSpan="2"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Corruzione attiva e passiva </a:t>
                      </a:r>
                      <a:r>
                        <a:rPr b="0" lang="it-IT" sz="1050">
                          <a:solidFill>
                            <a:schemeClr val="dk2"/>
                          </a:solidFill>
                        </a:rPr>
                        <a:t>(punto 43)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Numero di condanne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Importo complessivo delle ammende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</a:tr>
              <a:tr h="268352">
                <a:tc vMerge="1"/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{{domme}}</a:t>
                      </a:r>
                      <a:endParaRPr b="0" sz="1050"/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{{samlet_bodestorrelse}}</a:t>
                      </a:r>
                      <a:endParaRPr b="0" sz="1050"/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81" name="Google Shape;181;p12"/>
          <p:cNvSpPr txBox="1"/>
          <p:nvPr>
            <p:ph idx="12" type="sldNum"/>
          </p:nvPr>
        </p:nvSpPr>
        <p:spPr>
          <a:xfrm>
            <a:off x="8050571" y="7202406"/>
            <a:ext cx="2405700" cy="1349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  <p:sp>
        <p:nvSpPr>
          <p:cNvPr id="182" name="Google Shape;182;p12"/>
          <p:cNvSpPr txBox="1"/>
          <p:nvPr>
            <p:ph idx="11" type="ftr"/>
          </p:nvPr>
        </p:nvSpPr>
        <p:spPr>
          <a:xfrm>
            <a:off x="7261741" y="197293"/>
            <a:ext cx="3194529" cy="1349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{{company_name}}</a:t>
            </a:r>
            <a:endParaRPr b="0"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12"/>
          <p:cNvSpPr txBox="1"/>
          <p:nvPr/>
        </p:nvSpPr>
        <p:spPr>
          <a:xfrm>
            <a:off x="454796" y="891000"/>
            <a:ext cx="9869667" cy="890704"/>
          </a:xfrm>
          <a:prstGeom prst="rect">
            <a:avLst/>
          </a:prstGeom>
          <a:noFill/>
          <a:ln>
            <a:noFill/>
          </a:ln>
        </p:spPr>
        <p:txBody>
          <a:bodyPr anchorCtr="0" anchor="t" bIns="40077" lIns="80177" spcFirstLastPara="1" rIns="80177" wrap="square" tIns="40077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None/>
            </a:pPr>
            <a:r>
              <a:rPr b="0" i="0" lang="it-IT" sz="1050" u="none" strike="noStrik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  <a:t>L’impresa ha indicato le violazioni delle leggi in materia di lotta alla corruzione nel periodo di riferimento. Se l’impresa è stata oggetto di condanne o ammende per tali violazioni, sono state comunicate le informazioni seguenti: il numero di condanne e l’importo complessivo delle ammende irrogate. Tali informazioni riguardano l’etica aziendale e la sostenibilità dell’impresa, in particolare la gestione della corruzione, e sono indicate di seguito.</a:t>
            </a:r>
            <a:endParaRPr b="0" sz="1050">
              <a:solidFill>
                <a:schemeClr val="dk2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None/>
            </a:pPr>
            <a:br>
              <a:rPr lang="it-IT" sz="105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</a:br>
            <a:endParaRPr sz="1050">
              <a:solidFill>
                <a:schemeClr val="dk2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"/>
          <p:cNvSpPr txBox="1"/>
          <p:nvPr>
            <p:ph idx="1" type="body"/>
          </p:nvPr>
        </p:nvSpPr>
        <p:spPr>
          <a:xfrm>
            <a:off x="842440" y="2366719"/>
            <a:ext cx="8798625" cy="1280812"/>
          </a:xfrm>
          <a:prstGeom prst="rect">
            <a:avLst/>
          </a:prstGeom>
          <a:solidFill>
            <a:srgbClr val="1B4529"/>
          </a:solidFill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IBM Plex Sans"/>
              <a:buNone/>
            </a:pPr>
            <a:r>
              <a:rPr b="1" lang="it-IT" sz="3500"/>
              <a:t>Informative del modulo onnicomprensivo</a:t>
            </a:r>
            <a:endParaRPr/>
          </a:p>
        </p:txBody>
      </p:sp>
      <p:sp>
        <p:nvSpPr>
          <p:cNvPr id="190" name="Google Shape;190;p13"/>
          <p:cNvSpPr txBox="1"/>
          <p:nvPr>
            <p:ph idx="12" type="sldNum"/>
          </p:nvPr>
        </p:nvSpPr>
        <p:spPr>
          <a:xfrm>
            <a:off x="8050571" y="7202406"/>
            <a:ext cx="2405700" cy="1349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14"/>
          <p:cNvSpPr txBox="1"/>
          <p:nvPr>
            <p:ph type="title"/>
          </p:nvPr>
        </p:nvSpPr>
        <p:spPr>
          <a:xfrm>
            <a:off x="454796" y="450698"/>
            <a:ext cx="9791704" cy="224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B4528"/>
              </a:buClr>
              <a:buSzPts val="1800"/>
              <a:buFont typeface="IBM Plex Sans"/>
              <a:buNone/>
            </a:pPr>
            <a:r>
              <a:rPr b="1" i="0" lang="it-IT" sz="1575" u="none" strike="noStrike">
                <a:solidFill>
                  <a:srgbClr val="1B4528"/>
                </a:solidFill>
                <a:latin typeface="IBM Plex Sans"/>
                <a:ea typeface="IBM Plex Sans"/>
                <a:cs typeface="IBM Plex Sans"/>
                <a:sym typeface="IBM Plex Sans"/>
              </a:rPr>
              <a:t>Strategia: modello aziendale e iniziative connesse alla sostenibilità (C1)</a:t>
            </a:r>
            <a:endParaRPr/>
          </a:p>
        </p:txBody>
      </p:sp>
      <p:sp>
        <p:nvSpPr>
          <p:cNvPr id="197" name="Google Shape;197;p14"/>
          <p:cNvSpPr/>
          <p:nvPr/>
        </p:nvSpPr>
        <p:spPr>
          <a:xfrm>
            <a:off x="537056" y="4129657"/>
            <a:ext cx="181932" cy="203984"/>
          </a:xfrm>
          <a:prstGeom prst="rect">
            <a:avLst/>
          </a:prstGeom>
          <a:noFill/>
          <a:ln>
            <a:noFill/>
          </a:ln>
        </p:spPr>
      </p:sp>
      <p:sp>
        <p:nvSpPr>
          <p:cNvPr id="198" name="Google Shape;198;p14"/>
          <p:cNvSpPr txBox="1"/>
          <p:nvPr>
            <p:ph idx="12" type="sldNum"/>
          </p:nvPr>
        </p:nvSpPr>
        <p:spPr>
          <a:xfrm>
            <a:off x="8050571" y="7202406"/>
            <a:ext cx="2405700" cy="1349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  <p:sp>
        <p:nvSpPr>
          <p:cNvPr id="199" name="Google Shape;199;p14"/>
          <p:cNvSpPr txBox="1"/>
          <p:nvPr>
            <p:ph idx="11" type="ftr"/>
          </p:nvPr>
        </p:nvSpPr>
        <p:spPr>
          <a:xfrm>
            <a:off x="7261741" y="197293"/>
            <a:ext cx="3194529" cy="1349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{{company_name}}</a:t>
            </a:r>
            <a:endParaRPr b="0"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br>
              <a:rPr lang="it-IT"/>
            </a:br>
            <a:endParaRPr/>
          </a:p>
        </p:txBody>
      </p:sp>
      <p:graphicFrame>
        <p:nvGraphicFramePr>
          <p:cNvPr id="200" name="Google Shape;200;p14"/>
          <p:cNvGraphicFramePr/>
          <p:nvPr/>
        </p:nvGraphicFramePr>
        <p:xfrm>
          <a:off x="464093" y="2080389"/>
          <a:ext cx="2630906" cy="2630906"/>
        </p:xfrm>
        <a:graphic>
          <a:graphicData uri="http://schemas.openxmlformats.org/drawingml/2006/table">
            <a:tbl>
              <a:tblPr firstRow="1">
                <a:noFill/>
                <a:tableStyleId>{A4A76372-1D77-4638-8BC6-133FC8FB7DB3}</a:tableStyleId>
              </a:tblPr>
              <a:tblGrid>
                <a:gridCol w="9791704"/>
              </a:tblGrid>
              <a:tr h="157854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Descrizione dei gruppi significativi di prodotti e/o servizi che </a:t>
                      </a:r>
                      <a:r>
                        <a:rPr b="1" lang="it-IT" sz="1050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{{company_name}} </a:t>
                      </a: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offre</a:t>
                      </a: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 </a:t>
                      </a:r>
                      <a:r>
                        <a:rPr b="0" lang="it-IT" sz="1050">
                          <a:solidFill>
                            <a:schemeClr val="dk2"/>
                          </a:solidFill>
                        </a:rPr>
                        <a:t>(punto 46a)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</a:tr>
              <a:tr h="46806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it-IT" sz="1050">
                          <a:solidFill>
                            <a:srgbClr val="1B4528"/>
                          </a:solidFill>
                        </a:rPr>
                        <a:t>{{markets_description}}</a:t>
                      </a:r>
                      <a:endParaRPr b="0" sz="1050">
                        <a:solidFill>
                          <a:srgbClr val="1B4528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T="31571" marB="31571" marR="47356" marL="47356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aphicFrame>
        <p:nvGraphicFramePr>
          <p:cNvPr id="201" name="Google Shape;201;p14"/>
          <p:cNvGraphicFramePr/>
          <p:nvPr/>
        </p:nvGraphicFramePr>
        <p:xfrm>
          <a:off x="464093" y="2891378"/>
          <a:ext cx="2630906" cy="2630906"/>
        </p:xfrm>
        <a:graphic>
          <a:graphicData uri="http://schemas.openxmlformats.org/drawingml/2006/table">
            <a:tbl>
              <a:tblPr firstRow="1">
                <a:noFill/>
                <a:tableStyleId>{A4A76372-1D77-4638-8BC6-133FC8FB7DB3}</a:tableStyleId>
              </a:tblPr>
              <a:tblGrid>
                <a:gridCol w="9791704"/>
              </a:tblGrid>
              <a:tr h="170833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Descrizione dei mercati significativi in cui </a:t>
                      </a:r>
                      <a:r>
                        <a:rPr b="1" lang="it-IT" sz="1050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{{company_name}} </a:t>
                      </a: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opera </a:t>
                      </a:r>
                      <a:r>
                        <a:rPr b="0" lang="it-IT" sz="1050">
                          <a:solidFill>
                            <a:schemeClr val="dk2"/>
                          </a:solidFill>
                        </a:rPr>
                        <a:t>(punto 46b)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</a:tr>
              <a:tr h="677984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it-IT" sz="1050">
                          <a:solidFill>
                            <a:srgbClr val="1B4528"/>
                          </a:solidFill>
                        </a:rPr>
                        <a:t>{{business_relationships}}</a:t>
                      </a:r>
                      <a:endParaRPr/>
                    </a:p>
                  </a:txBody>
                  <a:tcPr marT="31571" marB="31571" marR="47356" marL="47356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aphicFrame>
        <p:nvGraphicFramePr>
          <p:cNvPr id="202" name="Google Shape;202;p14"/>
          <p:cNvGraphicFramePr/>
          <p:nvPr/>
        </p:nvGraphicFramePr>
        <p:xfrm>
          <a:off x="464093" y="3890345"/>
          <a:ext cx="2630906" cy="2630906"/>
        </p:xfrm>
        <a:graphic>
          <a:graphicData uri="http://schemas.openxmlformats.org/drawingml/2006/table">
            <a:tbl>
              <a:tblPr firstRow="1">
                <a:noFill/>
                <a:tableStyleId>{A4A76372-1D77-4638-8BC6-133FC8FB7DB3}</a:tableStyleId>
              </a:tblPr>
              <a:tblGrid>
                <a:gridCol w="9791704"/>
              </a:tblGrid>
              <a:tr h="155991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Descrizione dei principali rapporti commerciali di </a:t>
                      </a:r>
                      <a:r>
                        <a:rPr b="1" lang="it-IT" sz="1050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{{company_name}} </a:t>
                      </a:r>
                      <a:r>
                        <a:rPr b="0" lang="it-IT" sz="1050">
                          <a:solidFill>
                            <a:schemeClr val="dk2"/>
                          </a:solidFill>
                        </a:rPr>
                        <a:t>(punto 46c)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</a:tr>
              <a:tr h="655797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it-IT" sz="1050">
                          <a:solidFill>
                            <a:srgbClr val="1B4528"/>
                          </a:solidFill>
                        </a:rPr>
                        <a:t>{{strategy}}</a:t>
                      </a:r>
                      <a:endParaRPr/>
                    </a:p>
                  </a:txBody>
                  <a:tcPr marT="31571" marB="31571" marR="47356" marL="47356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aphicFrame>
        <p:nvGraphicFramePr>
          <p:cNvPr id="203" name="Google Shape;203;p14"/>
          <p:cNvGraphicFramePr/>
          <p:nvPr/>
        </p:nvGraphicFramePr>
        <p:xfrm>
          <a:off x="454796" y="1387112"/>
          <a:ext cx="2630906" cy="2630906"/>
        </p:xfrm>
        <a:graphic>
          <a:graphicData uri="http://schemas.openxmlformats.org/drawingml/2006/table">
            <a:tbl>
              <a:tblPr firstRow="1">
                <a:noFill/>
                <a:tableStyleId>{A4A76372-1D77-4638-8BC6-133FC8FB7DB3}</a:tableStyleId>
              </a:tblPr>
              <a:tblGrid>
                <a:gridCol w="9791704"/>
              </a:tblGrid>
              <a:tr h="16390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Descrizione del modello aziendale e della strategia complessivi </a:t>
                      </a:r>
                      <a:r>
                        <a:rPr b="0" lang="it-IT" sz="1050">
                          <a:solidFill>
                            <a:schemeClr val="dk2"/>
                          </a:solidFill>
                        </a:rPr>
                        <a:t>(punto 46)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</a:tr>
              <a:tr h="378894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it-IT" sz="1050">
                          <a:solidFill>
                            <a:srgbClr val="1B4528"/>
                          </a:solidFill>
                        </a:rPr>
                        <a:t>{{products_description}}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sz="1050">
                        <a:solidFill>
                          <a:srgbClr val="1B4528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T="31571" marB="31571" marR="47356" marL="47356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aphicFrame>
        <p:nvGraphicFramePr>
          <p:cNvPr id="204" name="Google Shape;204;p14"/>
          <p:cNvGraphicFramePr/>
          <p:nvPr/>
        </p:nvGraphicFramePr>
        <p:xfrm>
          <a:off x="454794" y="4868397"/>
          <a:ext cx="2630906" cy="2630906"/>
        </p:xfrm>
        <a:graphic>
          <a:graphicData uri="http://schemas.openxmlformats.org/drawingml/2006/table">
            <a:tbl>
              <a:tblPr firstRow="1">
                <a:noFill/>
                <a:tableStyleId>{A4A76372-1D77-4638-8BC6-133FC8FB7DB3}</a:tableStyleId>
              </a:tblPr>
              <a:tblGrid>
                <a:gridCol w="9791704"/>
              </a:tblGrid>
              <a:tr h="132773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Descrizione degli elementi della strategia e del modello aziendale di </a:t>
                      </a:r>
                      <a:r>
                        <a:rPr b="1" lang="it-IT" sz="1050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{{company_name}}</a:t>
                      </a:r>
                      <a:r>
                        <a:rPr b="1" lang="it-IT" sz="1050">
                          <a:solidFill>
                            <a:schemeClr val="accent1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 connessi alla sostenibilità </a:t>
                      </a:r>
                      <a:r>
                        <a:rPr b="0" lang="it-IT" sz="1050">
                          <a:solidFill>
                            <a:schemeClr val="dk2"/>
                          </a:solidFill>
                        </a:rPr>
                        <a:t>(punto 46d)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</a:tr>
              <a:tr h="474659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lang="it-IT" sz="1050">
                          <a:solidFill>
                            <a:srgbClr val="1B4528"/>
                          </a:solidFill>
                        </a:rPr>
                        <a:t>{{business_model}}</a:t>
                      </a:r>
                      <a:endParaRPr sz="1575"/>
                    </a:p>
                  </a:txBody>
                  <a:tcPr marT="31571" marB="31571" marR="47356" marL="47356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205" name="Google Shape;205;p14"/>
          <p:cNvSpPr txBox="1"/>
          <p:nvPr/>
        </p:nvSpPr>
        <p:spPr>
          <a:xfrm>
            <a:off x="454796" y="891000"/>
            <a:ext cx="9869667" cy="404866"/>
          </a:xfrm>
          <a:prstGeom prst="rect">
            <a:avLst/>
          </a:prstGeom>
          <a:noFill/>
          <a:ln>
            <a:noFill/>
          </a:ln>
        </p:spPr>
        <p:txBody>
          <a:bodyPr anchorCtr="0" anchor="t" bIns="40077" lIns="80177" spcFirstLastPara="1" rIns="80177" wrap="square" tIns="40077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None/>
            </a:pPr>
            <a:r>
              <a:rPr b="0" i="0" lang="it-IT" sz="1050" u="none" strike="noStrik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  <a:t>L’impresa ha descritto il modello aziendale e la strategia complessivi, i prodotti e/o servizi, i mercati e i rapporti commerciali, indicando se il modello aziendale presenta elementi connessi alla sostenibilità. </a:t>
            </a:r>
            <a:endParaRPr sz="1050">
              <a:solidFill>
                <a:schemeClr val="dk2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5"/>
          <p:cNvSpPr txBox="1"/>
          <p:nvPr>
            <p:ph type="title"/>
          </p:nvPr>
        </p:nvSpPr>
        <p:spPr>
          <a:xfrm>
            <a:off x="454796" y="450698"/>
            <a:ext cx="9791704" cy="2186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</a:pPr>
            <a:r>
              <a:rPr lang="it-IT">
                <a:latin typeface="IBM Plex Sans"/>
                <a:ea typeface="IBM Plex Sans"/>
                <a:cs typeface="IBM Plex Sans"/>
                <a:sym typeface="IBM Plex Sans"/>
              </a:rPr>
              <a:t>P</a:t>
            </a:r>
            <a:r>
              <a:rPr b="1" lang="it-IT" sz="1575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rPr>
              <a:t>ratiche, politiche e iniziative future per la transizione verso un’economia più sostenibile (C2)</a:t>
            </a:r>
            <a:endParaRPr/>
          </a:p>
        </p:txBody>
      </p:sp>
      <p:sp>
        <p:nvSpPr>
          <p:cNvPr id="212" name="Google Shape;212;p15"/>
          <p:cNvSpPr txBox="1"/>
          <p:nvPr>
            <p:ph idx="12" type="sldNum"/>
          </p:nvPr>
        </p:nvSpPr>
        <p:spPr>
          <a:xfrm>
            <a:off x="8050571" y="7458438"/>
            <a:ext cx="2405700" cy="1349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  <p:sp>
        <p:nvSpPr>
          <p:cNvPr id="213" name="Google Shape;213;p15"/>
          <p:cNvSpPr txBox="1"/>
          <p:nvPr>
            <p:ph idx="11" type="ftr"/>
          </p:nvPr>
        </p:nvSpPr>
        <p:spPr>
          <a:xfrm>
            <a:off x="7261741" y="197293"/>
            <a:ext cx="3194529" cy="1349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{{company_name}}</a:t>
            </a:r>
            <a:endParaRPr b="0"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br>
              <a:rPr lang="it-IT"/>
            </a:br>
            <a:endParaRPr/>
          </a:p>
        </p:txBody>
      </p:sp>
      <p:graphicFrame>
        <p:nvGraphicFramePr>
          <p:cNvPr id="214" name="Google Shape;214;p15"/>
          <p:cNvGraphicFramePr/>
          <p:nvPr/>
        </p:nvGraphicFramePr>
        <p:xfrm>
          <a:off x="454797" y="1793460"/>
          <a:ext cx="2630906" cy="2630906"/>
        </p:xfrm>
        <a:graphic>
          <a:graphicData uri="http://schemas.openxmlformats.org/drawingml/2006/table">
            <a:tbl>
              <a:tblPr firstRow="1">
                <a:noFill/>
                <a:tableStyleId>{A4A76372-1D77-4638-8BC6-133FC8FB7DB3}</a:tableStyleId>
              </a:tblPr>
              <a:tblGrid>
                <a:gridCol w="1681017"/>
                <a:gridCol w="2703562"/>
                <a:gridCol w="2703562"/>
                <a:gridCol w="2703562"/>
              </a:tblGrid>
              <a:tr h="306610">
                <a:tc rowSpan="2"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Ambito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(punto 47)</a:t>
                      </a:r>
                      <a:endParaRPr/>
                    </a:p>
                  </a:txBody>
                  <a:tcPr marT="31571" marB="31571" marR="47356" marL="47356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 rowSpan="2"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Breve descrizione </a:t>
                      </a:r>
                      <a:r>
                        <a:rPr b="1" lang="it-IT" sz="1050" u="none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delle </a:t>
                      </a: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pratiche/politiche/azioni esistenti (cfr. informativa B2)</a:t>
                      </a:r>
                      <a:endParaRPr/>
                    </a:p>
                  </a:txBody>
                  <a:tcPr marT="31571" marB="31571" marR="47356" marL="47356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 rowSpan="2"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Breve descrizione degli </a:t>
                      </a:r>
                      <a:r>
                        <a:rPr b="1" lang="it-IT" sz="1050" u="none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obiettivi</a:t>
                      </a: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 futuri eventuali (cfr. informativa B2)</a:t>
                      </a:r>
                      <a:endParaRPr/>
                    </a:p>
                  </a:txBody>
                  <a:tcPr marT="31571" marB="31571" marR="47356" marL="47356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IBM Plex Sans"/>
                        <a:buNone/>
                      </a:pPr>
                      <a:r>
                        <a:rPr lang="it-IT" sz="1050">
                          <a:solidFill>
                            <a:schemeClr val="lt1"/>
                          </a:solidFill>
                        </a:rPr>
                        <a:t>Informativa </a:t>
                      </a:r>
                      <a:r>
                        <a:rPr b="1" lang="it-IT" sz="1050">
                          <a:solidFill>
                            <a:schemeClr val="lt1"/>
                          </a:solidFill>
                        </a:rPr>
                        <a:t>facoltativa</a:t>
                      </a:r>
                      <a:endParaRPr sz="1050">
                        <a:solidFill>
                          <a:schemeClr val="lt1"/>
                        </a:solidFill>
                      </a:endParaRPr>
                    </a:p>
                  </a:txBody>
                  <a:tcPr marT="31571" marB="31571" marR="47356" marL="47356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B4529"/>
                    </a:solidFill>
                  </a:tcPr>
                </a:tc>
              </a:tr>
              <a:tr h="502218">
                <a:tc vMerge="1"/>
                <a:tc vMerge="1"/>
                <a:tc vMerge="1"/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Livello gerarchico più elevato responsabile dell’attuazione </a:t>
                      </a:r>
                      <a:r>
                        <a:rPr b="0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(punto 48)</a:t>
                      </a:r>
                      <a:endParaRPr/>
                    </a:p>
                  </a:txBody>
                  <a:tcPr marT="31571" marB="31571" marR="47356" marL="47356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</a:tr>
              <a:tr h="306522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Cambiamenti climatici</a:t>
                      </a:r>
                      <a:endParaRPr/>
                    </a:p>
                  </a:txBody>
                  <a:tcPr marT="31571" marB="31571" marR="47356" marL="47356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</a:t>
                      </a: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</a:rPr>
                        <a:t>Climate_C2_Description_Existing_Practices</a:t>
                      </a: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}}</a:t>
                      </a:r>
                      <a:endParaRPr b="0" sz="1050"/>
                    </a:p>
                  </a:txBody>
                  <a:tcPr marT="16706" marB="16706" marR="22275" marL="2227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</a:t>
                      </a: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</a:rPr>
                        <a:t>Climate_C2_Future_Practices</a:t>
                      </a: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}}</a:t>
                      </a:r>
                      <a:endParaRPr b="0" sz="1050"/>
                    </a:p>
                  </a:txBody>
                  <a:tcPr marT="16706" marB="16706" marR="22275" marL="2227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</a:t>
                      </a: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</a:rPr>
                        <a:t>Climate_C2_Management_Level</a:t>
                      </a: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}}</a:t>
                      </a:r>
                      <a:endParaRPr b="0" sz="1050"/>
                    </a:p>
                  </a:txBody>
                  <a:tcPr marT="16706" marB="16706" marR="22275" marL="2227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089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Inquinamento</a:t>
                      </a:r>
                      <a:endParaRPr/>
                    </a:p>
                  </a:txBody>
                  <a:tcPr marT="31571" marB="31571" marR="47356" marL="47356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</a:t>
                      </a: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</a:rPr>
                        <a:t>Pollution_C2_Description_Existing_Practices</a:t>
                      </a: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}}</a:t>
                      </a:r>
                      <a:endParaRPr sz="1050"/>
                    </a:p>
                  </a:txBody>
                  <a:tcPr marT="16706" marB="16706" marR="22275" marL="2227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</a:t>
                      </a: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</a:rPr>
                        <a:t>Pollution_C2_Future_Practices</a:t>
                      </a: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}}</a:t>
                      </a:r>
                      <a:endParaRPr sz="1050"/>
                    </a:p>
                  </a:txBody>
                  <a:tcPr marT="16706" marB="16706" marR="22275" marL="2227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</a:t>
                      </a: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</a:rPr>
                        <a:t>Pollution_C2_Management_Level</a:t>
                      </a: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}}</a:t>
                      </a:r>
                      <a:endParaRPr sz="1050"/>
                    </a:p>
                  </a:txBody>
                  <a:tcPr marT="16706" marB="16706" marR="22275" marL="2227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9156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Acque e risorse marine</a:t>
                      </a:r>
                      <a:endParaRPr/>
                    </a:p>
                  </a:txBody>
                  <a:tcPr marT="31571" marB="31571" marR="47356" marL="47356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</a:t>
                      </a: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</a:rPr>
                        <a:t>Water_C2_Description_Existing_Practices</a:t>
                      </a: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}}</a:t>
                      </a:r>
                      <a:endParaRPr sz="1050"/>
                    </a:p>
                  </a:txBody>
                  <a:tcPr marT="16706" marB="16706" marR="22275" marL="2227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</a:t>
                      </a: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</a:rPr>
                        <a:t>Water_C2_Future_Practices</a:t>
                      </a: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}}</a:t>
                      </a:r>
                      <a:endParaRPr sz="1050"/>
                    </a:p>
                  </a:txBody>
                  <a:tcPr marT="16706" marB="16706" marR="22275" marL="2227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</a:t>
                      </a: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Water_C2_Management_Level</a:t>
                      </a: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}}</a:t>
                      </a:r>
                      <a:endParaRPr b="0" i="0" sz="1050" u="none" strike="noStrike">
                        <a:solidFill>
                          <a:srgbClr val="000000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IBM Plex Sans"/>
                        <a:buNone/>
                      </a:pPr>
                      <a:r>
                        <a:t/>
                      </a:r>
                      <a:endParaRPr b="0" i="0" sz="1050" u="none" strike="noStrike">
                        <a:solidFill>
                          <a:srgbClr val="1B4528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16706" marB="16706" marR="22275" marL="2227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5423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Biodiversità ed ecosistemi</a:t>
                      </a:r>
                      <a:endParaRPr/>
                    </a:p>
                  </a:txBody>
                  <a:tcPr marT="31571" marB="31571" marR="47356" marL="47356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</a:t>
                      </a: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</a:rPr>
                        <a:t>Bio_C2_Description_Existing_Practices</a:t>
                      </a: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}}</a:t>
                      </a:r>
                      <a:endParaRPr sz="1050"/>
                    </a:p>
                  </a:txBody>
                  <a:tcPr marT="16706" marB="16706" marR="22275" marL="2227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</a:t>
                      </a: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</a:rPr>
                        <a:t>Bio_C2_Future_Practices</a:t>
                      </a: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}}</a:t>
                      </a:r>
                      <a:endParaRPr sz="1050"/>
                    </a:p>
                  </a:txBody>
                  <a:tcPr marT="16706" marB="16706" marR="22275" marL="2227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</a:t>
                      </a: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</a:rPr>
                        <a:t>Bio_C2_Management_Level</a:t>
                      </a: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}}</a:t>
                      </a:r>
                      <a:endParaRPr sz="1050"/>
                    </a:p>
                  </a:txBody>
                  <a:tcPr marT="16706" marB="16706" marR="22275" marL="2227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9156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Economia circolare</a:t>
                      </a:r>
                      <a:endParaRPr/>
                    </a:p>
                  </a:txBody>
                  <a:tcPr marT="31571" marB="31571" marR="47356" marL="47356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</a:t>
                      </a: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</a:rPr>
                        <a:t>Circular_C2_Description_Existing_Practices</a:t>
                      </a: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}}</a:t>
                      </a:r>
                      <a:endParaRPr sz="1050"/>
                    </a:p>
                  </a:txBody>
                  <a:tcPr marT="16706" marB="16706" marR="22275" marL="2227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</a:t>
                      </a: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</a:rPr>
                        <a:t>Circular_C2_Future_Practices</a:t>
                      </a: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}}</a:t>
                      </a:r>
                      <a:endParaRPr sz="1050"/>
                    </a:p>
                  </a:txBody>
                  <a:tcPr marT="16706" marB="16706" marR="22275" marL="2227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</a:t>
                      </a: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</a:rPr>
                        <a:t>Circular_C2_Management_Level</a:t>
                      </a: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}}</a:t>
                      </a:r>
                      <a:endParaRPr sz="1050"/>
                    </a:p>
                  </a:txBody>
                  <a:tcPr marT="16706" marB="16706" marR="22275" marL="2227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9156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Forza lavoro propria</a:t>
                      </a:r>
                      <a:endParaRPr/>
                    </a:p>
                  </a:txBody>
                  <a:tcPr marT="31571" marB="31571" marR="47356" marL="47356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</a:t>
                      </a: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</a:rPr>
                        <a:t>Own_Workforce_C2_Description_Existing_Practices</a:t>
                      </a: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}}</a:t>
                      </a:r>
                      <a:endParaRPr sz="1050"/>
                    </a:p>
                  </a:txBody>
                  <a:tcPr marT="16706" marB="16706" marR="22275" marL="2227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</a:t>
                      </a: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</a:rPr>
                        <a:t>Own_Workforce_C2_Future_Practices</a:t>
                      </a: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}}</a:t>
                      </a:r>
                      <a:endParaRPr sz="1050"/>
                    </a:p>
                  </a:txBody>
                  <a:tcPr marT="16706" marB="16706" marR="22275" marL="2227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</a:t>
                      </a: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</a:rPr>
                        <a:t>Own_Workforce_C2_Management_Level</a:t>
                      </a: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}}</a:t>
                      </a:r>
                      <a:endParaRPr sz="1050"/>
                    </a:p>
                  </a:txBody>
                  <a:tcPr marT="16706" marB="16706" marR="22275" marL="2227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9156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Lavoratori nella catena del valore</a:t>
                      </a:r>
                      <a:endParaRPr/>
                    </a:p>
                  </a:txBody>
                  <a:tcPr marT="31571" marB="31571" marR="47356" marL="47356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</a:t>
                      </a: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</a:rPr>
                        <a:t>Workers_Value_Chain_C2_Description_Existing_Practices</a:t>
                      </a: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}}</a:t>
                      </a:r>
                      <a:endParaRPr sz="1050"/>
                    </a:p>
                  </a:txBody>
                  <a:tcPr marT="16706" marB="16706" marR="22275" marL="2227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</a:t>
                      </a: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</a:rPr>
                        <a:t>Workers_Value_Chain_C2_Future_Practices</a:t>
                      </a: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}}</a:t>
                      </a:r>
                      <a:endParaRPr sz="1050"/>
                    </a:p>
                  </a:txBody>
                  <a:tcPr marT="16706" marB="16706" marR="22275" marL="2227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</a:t>
                      </a: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</a:rPr>
                        <a:t>Workers_Value_Chain_C2_Management_Level</a:t>
                      </a: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}}</a:t>
                      </a:r>
                      <a:endParaRPr sz="1050"/>
                    </a:p>
                  </a:txBody>
                  <a:tcPr marT="16706" marB="16706" marR="22275" marL="2227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9156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Comunità interessate</a:t>
                      </a:r>
                      <a:endParaRPr/>
                    </a:p>
                  </a:txBody>
                  <a:tcPr marT="31571" marB="31571" marR="47356" marL="47356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</a:t>
                      </a: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</a:rPr>
                        <a:t>Affected_C2_Description_Existing_Practices</a:t>
                      </a: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}}</a:t>
                      </a:r>
                      <a:endParaRPr sz="1050"/>
                    </a:p>
                  </a:txBody>
                  <a:tcPr marT="16706" marB="16706" marR="22275" marL="2227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</a:t>
                      </a: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</a:rPr>
                        <a:t>Affected_C2_Future_Practices</a:t>
                      </a: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}}</a:t>
                      </a:r>
                      <a:endParaRPr sz="1050"/>
                    </a:p>
                  </a:txBody>
                  <a:tcPr marT="16706" marB="16706" marR="22275" marL="2227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</a:t>
                      </a: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</a:rPr>
                        <a:t>Affected_C2_Management_Level</a:t>
                      </a: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}}</a:t>
                      </a:r>
                      <a:endParaRPr sz="1050"/>
                    </a:p>
                  </a:txBody>
                  <a:tcPr marT="16706" marB="16706" marR="22275" marL="2227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5423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Consumatori e utilizzatori finali</a:t>
                      </a:r>
                      <a:endParaRPr/>
                    </a:p>
                  </a:txBody>
                  <a:tcPr marT="31571" marB="31571" marR="47356" marL="47356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</a:t>
                      </a: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</a:rPr>
                        <a:t>Consumers_C2_Description_Existing_Practices</a:t>
                      </a: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}}</a:t>
                      </a:r>
                      <a:endParaRPr sz="1050"/>
                    </a:p>
                  </a:txBody>
                  <a:tcPr marT="16706" marB="16706" marR="22275" marL="2227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</a:t>
                      </a: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</a:rPr>
                        <a:t>Consumers_C2_Future_Practices</a:t>
                      </a: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}}</a:t>
                      </a:r>
                      <a:endParaRPr sz="1050"/>
                    </a:p>
                  </a:txBody>
                  <a:tcPr marT="16706" marB="16706" marR="22275" marL="2227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</a:t>
                      </a: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</a:rPr>
                        <a:t>Consumers_C2_Management_Level</a:t>
                      </a: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}}</a:t>
                      </a:r>
                      <a:endParaRPr sz="1050"/>
                    </a:p>
                  </a:txBody>
                  <a:tcPr marT="16706" marB="16706" marR="22275" marL="2227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9156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Condotta delle imprese</a:t>
                      </a:r>
                      <a:endParaRPr/>
                    </a:p>
                  </a:txBody>
                  <a:tcPr marT="31571" marB="31571" marR="47356" marL="47356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</a:t>
                      </a: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</a:rPr>
                        <a:t>Governance_C2_Description_Existing_Practices</a:t>
                      </a: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}}</a:t>
                      </a:r>
                      <a:endParaRPr sz="1050"/>
                    </a:p>
                  </a:txBody>
                  <a:tcPr marT="16706" marB="16706" marR="22275" marL="2227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</a:t>
                      </a: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</a:rPr>
                        <a:t>Governance_C2_Future_Practices</a:t>
                      </a: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}}</a:t>
                      </a:r>
                      <a:endParaRPr sz="1050"/>
                    </a:p>
                  </a:txBody>
                  <a:tcPr marT="16706" marB="16706" marR="22275" marL="2227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</a:t>
                      </a: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</a:rPr>
                        <a:t>Governance_C2_Management_Level</a:t>
                      </a: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}}</a:t>
                      </a:r>
                      <a:endParaRPr sz="1050"/>
                    </a:p>
                  </a:txBody>
                  <a:tcPr marT="16706" marB="16706" marR="22275" marL="22275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215" name="Google Shape;215;p15"/>
          <p:cNvSpPr txBox="1"/>
          <p:nvPr/>
        </p:nvSpPr>
        <p:spPr>
          <a:xfrm>
            <a:off x="469926" y="903083"/>
            <a:ext cx="9776573" cy="566812"/>
          </a:xfrm>
          <a:prstGeom prst="rect">
            <a:avLst/>
          </a:prstGeom>
          <a:noFill/>
          <a:ln>
            <a:noFill/>
          </a:ln>
        </p:spPr>
        <p:txBody>
          <a:bodyPr anchorCtr="0" anchor="t" bIns="40077" lIns="80177" spcFirstLastPara="1" rIns="80177" wrap="square" tIns="40077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050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rPr>
              <a:t>La tabella seguente è stata compilata perché l’impresa ha già predisposto pratiche, politiche o iniziative concrete che contribuiscono alla transizione verso un’economia più sostenibile. L’impresa ha risposto ”SÌ” a una o più informative del punto B2 del modulo base. Di seguito si dà conto in modo più completo delle politiche, iniziative e pratiche avviate nell’impresa per la transizione verso un’economia più sostenibile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6"/>
          <p:cNvSpPr txBox="1"/>
          <p:nvPr>
            <p:ph type="title"/>
          </p:nvPr>
        </p:nvSpPr>
        <p:spPr>
          <a:xfrm>
            <a:off x="454796" y="450698"/>
            <a:ext cx="9791704" cy="2186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B4528"/>
              </a:buClr>
              <a:buSzPts val="1800"/>
              <a:buFont typeface="IBM Plex Sans"/>
              <a:buNone/>
            </a:pPr>
            <a:r>
              <a:rPr lang="it-IT">
                <a:solidFill>
                  <a:srgbClr val="1B4528"/>
                </a:solidFill>
                <a:latin typeface="IBM Plex Sans"/>
                <a:ea typeface="IBM Plex Sans"/>
                <a:cs typeface="IBM Plex Sans"/>
                <a:sym typeface="IBM Plex Sans"/>
              </a:rPr>
              <a:t>Emissioni di CO₂e di cui alla sezione B3 del modulo base</a:t>
            </a:r>
            <a:endParaRPr b="0"/>
          </a:p>
        </p:txBody>
      </p:sp>
      <p:sp>
        <p:nvSpPr>
          <p:cNvPr id="222" name="Google Shape;222;p16"/>
          <p:cNvSpPr txBox="1"/>
          <p:nvPr>
            <p:ph idx="12" type="sldNum"/>
          </p:nvPr>
        </p:nvSpPr>
        <p:spPr>
          <a:xfrm>
            <a:off x="8050571" y="7458438"/>
            <a:ext cx="2405700" cy="1349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  <p:sp>
        <p:nvSpPr>
          <p:cNvPr id="223" name="Google Shape;223;p16"/>
          <p:cNvSpPr txBox="1"/>
          <p:nvPr>
            <p:ph idx="11" type="ftr"/>
          </p:nvPr>
        </p:nvSpPr>
        <p:spPr>
          <a:xfrm>
            <a:off x="7261741" y="197293"/>
            <a:ext cx="3194529" cy="1349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{{company_name}}</a:t>
            </a:r>
            <a:endParaRPr b="0"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aphicFrame>
        <p:nvGraphicFramePr>
          <p:cNvPr id="224" name="Google Shape;224;p16"/>
          <p:cNvGraphicFramePr/>
          <p:nvPr/>
        </p:nvGraphicFramePr>
        <p:xfrm>
          <a:off x="454795" y="3510858"/>
          <a:ext cx="2630906" cy="2630906"/>
        </p:xfrm>
        <a:graphic>
          <a:graphicData uri="http://schemas.openxmlformats.org/drawingml/2006/table">
            <a:tbl>
              <a:tblPr firstRow="1">
                <a:noFill/>
                <a:tableStyleId>{A4A76372-1D77-4638-8BC6-133FC8FB7DB3}</a:tableStyleId>
              </a:tblPr>
              <a:tblGrid>
                <a:gridCol w="3263901"/>
                <a:gridCol w="3263901"/>
                <a:gridCol w="3263901"/>
              </a:tblGrid>
              <a:tr h="245639">
                <a:tc gridSpan="3"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Obiettivi di riduzione delle emissioni di CO₂e </a:t>
                      </a:r>
                      <a:r>
                        <a:rPr b="0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(punto 53 a–d)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 hMerge="1"/>
                <a:tc hMerge="1"/>
              </a:tr>
              <a:tr h="303716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sz="1050">
                        <a:solidFill>
                          <a:schemeClr val="dk2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Obiettivo per l’anno </a:t>
                      </a:r>
                      <a:r>
                        <a:rPr b="1" lang="it-IT" sz="1050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{{baseline_year-1}}</a:t>
                      </a:r>
                      <a:endParaRPr b="0" sz="1050">
                        <a:solidFill>
                          <a:srgbClr val="1B4528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Emissioni di CO₂e nell’anno base:</a:t>
                      </a:r>
                      <a:r>
                        <a:rPr b="0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 </a:t>
                      </a:r>
                      <a:r>
                        <a:rPr b="1" lang="it-IT" sz="1050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{{Insert baseline year}}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</a:tr>
              <a:tr h="303716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Ambito 1 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{{scope1-2_target}}</a:t>
                      </a:r>
                      <a:endParaRPr b="0" sz="1050"/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{{scope1-2_baseline}}</a:t>
                      </a:r>
                      <a:endParaRPr b="0" sz="1050"/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03716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Ambito 2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{{scope1-2_target}}</a:t>
                      </a:r>
                      <a:endParaRPr b="0" sz="1050"/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{{scope1-2_baseline}}</a:t>
                      </a:r>
                      <a:endParaRPr b="0" sz="1050"/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03716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Ambito 3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{{scope3_target}}</a:t>
                      </a:r>
                      <a:endParaRPr b="0" sz="1050"/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{{scope3_baseline}}</a:t>
                      </a:r>
                      <a:endParaRPr b="0" sz="1050"/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aphicFrame>
        <p:nvGraphicFramePr>
          <p:cNvPr id="225" name="Google Shape;225;p16"/>
          <p:cNvGraphicFramePr/>
          <p:nvPr/>
        </p:nvGraphicFramePr>
        <p:xfrm>
          <a:off x="454794" y="5178656"/>
          <a:ext cx="2630906" cy="2630906"/>
        </p:xfrm>
        <a:graphic>
          <a:graphicData uri="http://schemas.openxmlformats.org/drawingml/2006/table">
            <a:tbl>
              <a:tblPr firstRow="1">
                <a:noFill/>
                <a:tableStyleId>{A4A76372-1D77-4638-8BC6-133FC8FB7DB3}</a:tableStyleId>
              </a:tblPr>
              <a:tblGrid>
                <a:gridCol w="9791704"/>
              </a:tblGrid>
              <a:tr h="289728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Elenco delle principali azioni che </a:t>
                      </a:r>
                      <a:r>
                        <a:rPr b="1" lang="it-IT" sz="1050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{{Company name}} </a:t>
                      </a:r>
                      <a:r>
                        <a:rPr b="0" lang="it-IT" sz="1050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 </a:t>
                      </a: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attua per conseguire gli obiettivi di riduzione delle emissioni di CO₂e </a:t>
                      </a:r>
                      <a:r>
                        <a:rPr b="0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(punto 53e)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</a:tr>
              <a:tr h="376877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it-IT" sz="1050">
                          <a:solidFill>
                            <a:srgbClr val="1B4528"/>
                          </a:solidFill>
                        </a:rPr>
                        <a:t>{{mainaction}}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26" name="Google Shape;226;p16"/>
          <p:cNvSpPr txBox="1"/>
          <p:nvPr/>
        </p:nvSpPr>
        <p:spPr>
          <a:xfrm>
            <a:off x="454796" y="3119083"/>
            <a:ext cx="9791704" cy="2186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</a:pPr>
            <a:r>
              <a:rPr b="1" lang="it-IT" sz="1575">
                <a:solidFill>
                  <a:schemeClr val="dk2"/>
                </a:solidFill>
                <a:latin typeface="IBM Plex Sans"/>
                <a:ea typeface="IBM Plex Sans"/>
                <a:cs typeface="IBM Plex Sans"/>
                <a:sym typeface="IBM Plex Sans"/>
              </a:rPr>
              <a:t>Obiettivi di riduzione delle emissioni di CO₂e (C3)</a:t>
            </a:r>
            <a:endParaRPr/>
          </a:p>
        </p:txBody>
      </p:sp>
      <p:graphicFrame>
        <p:nvGraphicFramePr>
          <p:cNvPr id="227" name="Google Shape;227;p16"/>
          <p:cNvGraphicFramePr/>
          <p:nvPr/>
        </p:nvGraphicFramePr>
        <p:xfrm>
          <a:off x="454795" y="1623325"/>
          <a:ext cx="2630906" cy="2630906"/>
        </p:xfrm>
        <a:graphic>
          <a:graphicData uri="http://schemas.openxmlformats.org/drawingml/2006/table">
            <a:tbl>
              <a:tblPr firstRow="1">
                <a:noFill/>
                <a:tableStyleId>{A4A76372-1D77-4638-8BC6-133FC8FB7DB3}</a:tableStyleId>
              </a:tblPr>
              <a:tblGrid>
                <a:gridCol w="7745101"/>
                <a:gridCol w="2037307"/>
              </a:tblGrid>
              <a:tr h="268637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Emissioni di gas a effetto serra –</a:t>
                      </a:r>
                      <a:r>
                        <a:rPr b="0" lang="it-IT" sz="1050">
                          <a:solidFill>
                            <a:schemeClr val="dk2"/>
                          </a:solidFill>
                        </a:rPr>
                        <a:t> (integrazione del punto 33)</a:t>
                      </a:r>
                      <a:endParaRPr b="1" sz="1050">
                        <a:solidFill>
                          <a:schemeClr val="dk2"/>
                        </a:solidFill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Anno </a:t>
                      </a:r>
                      <a:r>
                        <a:rPr b="1" lang="it-IT" sz="1050">
                          <a:solidFill>
                            <a:srgbClr val="1B45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{{Insert year}}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</a:tr>
              <a:tr h="264296"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{{scope3_description_table}}</a:t>
                      </a:r>
                      <a:endParaRPr sz="1575"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cap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{{scope3_emissions_table}}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64296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Emissioni totali di CO₂e di ambito 3 (basate sulla posizione) </a:t>
                      </a:r>
                      <a:endParaRPr b="0" sz="1050">
                        <a:solidFill>
                          <a:schemeClr val="dk2"/>
                        </a:solidFill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cap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{{scope3}}</a:t>
                      </a:r>
                      <a:endParaRPr b="0" i="0" sz="1050" u="none" cap="none" strike="noStrike">
                        <a:solidFill>
                          <a:srgbClr val="000000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64296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Emissioni totali di CO₂e di ambito 1, 2 e 3   </a:t>
                      </a:r>
                      <a:endParaRPr b="0" sz="1050">
                        <a:solidFill>
                          <a:schemeClr val="dk2"/>
                        </a:solidFill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cap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{{total_all_scopes}}</a:t>
                      </a:r>
                      <a:endParaRPr b="0" i="0" sz="1050" u="none" cap="none" strike="noStrike">
                        <a:solidFill>
                          <a:srgbClr val="1B4528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28" name="Google Shape;228;p16"/>
          <p:cNvSpPr txBox="1"/>
          <p:nvPr/>
        </p:nvSpPr>
        <p:spPr>
          <a:xfrm>
            <a:off x="454796" y="891000"/>
            <a:ext cx="9869667" cy="404866"/>
          </a:xfrm>
          <a:prstGeom prst="rect">
            <a:avLst/>
          </a:prstGeom>
          <a:noFill/>
          <a:ln>
            <a:noFill/>
          </a:ln>
        </p:spPr>
        <p:txBody>
          <a:bodyPr anchorCtr="0" anchor="t" bIns="40077" lIns="80177" spcFirstLastPara="1" rIns="80177" wrap="square" tIns="40077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None/>
            </a:pPr>
            <a:r>
              <a:rPr b="0" i="0" lang="it-IT" sz="1050" u="none" strike="noStrik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  <a:t>L’impresa ha fornito un quadro delle emissioni di gas a effetto serra di ambito 3 secondo il GHG Protocol, indicando le emissioni totali e quelle di ambito 3 basate sulla posizione. Sono riportati gli obiettivi di riduzione delle emissioni di CO₂e dell’impresa e le principali azioni per conseguire gli obiettiv</a:t>
            </a:r>
            <a:r>
              <a:rPr lang="it-IT" sz="105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  <a:t>i.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17"/>
          <p:cNvSpPr txBox="1"/>
          <p:nvPr>
            <p:ph type="title"/>
          </p:nvPr>
        </p:nvSpPr>
        <p:spPr>
          <a:xfrm>
            <a:off x="454796" y="450698"/>
            <a:ext cx="9791704" cy="2186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</a:pPr>
            <a:r>
              <a:rPr lang="it-IT"/>
              <a:t>T</a:t>
            </a:r>
            <a:r>
              <a:rPr b="1" lang="it-IT" sz="1575">
                <a:solidFill>
                  <a:schemeClr val="dk2"/>
                </a:solidFill>
              </a:rPr>
              <a:t>ransizione climatica (C3)</a:t>
            </a:r>
            <a:endParaRPr/>
          </a:p>
        </p:txBody>
      </p:sp>
      <p:sp>
        <p:nvSpPr>
          <p:cNvPr id="235" name="Google Shape;235;p17"/>
          <p:cNvSpPr txBox="1"/>
          <p:nvPr>
            <p:ph idx="12" type="sldNum"/>
          </p:nvPr>
        </p:nvSpPr>
        <p:spPr>
          <a:xfrm>
            <a:off x="8050571" y="7202406"/>
            <a:ext cx="2405700" cy="1349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  <p:sp>
        <p:nvSpPr>
          <p:cNvPr id="236" name="Google Shape;236;p17"/>
          <p:cNvSpPr txBox="1"/>
          <p:nvPr>
            <p:ph idx="11" type="ftr"/>
          </p:nvPr>
        </p:nvSpPr>
        <p:spPr>
          <a:xfrm>
            <a:off x="7261741" y="197293"/>
            <a:ext cx="3194529" cy="1349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{{company_name}}</a:t>
            </a:r>
            <a:endParaRPr b="0"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br>
              <a:rPr lang="it-IT"/>
            </a:br>
            <a:endParaRPr/>
          </a:p>
        </p:txBody>
      </p:sp>
      <p:graphicFrame>
        <p:nvGraphicFramePr>
          <p:cNvPr id="237" name="Google Shape;237;p17"/>
          <p:cNvGraphicFramePr/>
          <p:nvPr/>
        </p:nvGraphicFramePr>
        <p:xfrm>
          <a:off x="454789" y="3862731"/>
          <a:ext cx="2630906" cy="2630906"/>
        </p:xfrm>
        <a:graphic>
          <a:graphicData uri="http://schemas.openxmlformats.org/drawingml/2006/table">
            <a:tbl>
              <a:tblPr firstRow="1">
                <a:noFill/>
                <a:tableStyleId>{A4A76372-1D77-4638-8BC6-133FC8FB7DB3}</a:tableStyleId>
              </a:tblPr>
              <a:tblGrid>
                <a:gridCol w="4900500"/>
                <a:gridCol w="4900500"/>
              </a:tblGrid>
              <a:tr h="287273">
                <a:tc gridSpan="2"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Futuro piano di transizione </a:t>
                      </a:r>
                      <a:r>
                        <a:rPr b="0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(punto 55)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 hMerge="1"/>
              </a:tr>
              <a:tr h="393474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{{company_name}} </a:t>
                      </a: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adotterà un piano di transizione concreto </a:t>
                      </a: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per la mitigazione dei cambiamenti climatici</a:t>
                      </a:r>
                      <a:endParaRPr b="1" sz="1050">
                        <a:solidFill>
                          <a:schemeClr val="dk2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{{transition_plan?}}</a:t>
                      </a:r>
                      <a:endParaRPr b="0" sz="1050"/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93474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Data di adozione del piano di transizione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{{transition_plan_date}}</a:t>
                      </a:r>
                      <a:endParaRPr b="0" sz="1050"/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8" name="Google Shape;238;p17"/>
          <p:cNvGraphicFramePr/>
          <p:nvPr/>
        </p:nvGraphicFramePr>
        <p:xfrm>
          <a:off x="454789" y="1466441"/>
          <a:ext cx="2630906" cy="2630906"/>
        </p:xfrm>
        <a:graphic>
          <a:graphicData uri="http://schemas.openxmlformats.org/drawingml/2006/table">
            <a:tbl>
              <a:tblPr firstRow="1">
                <a:noFill/>
                <a:tableStyleId>{A4A76372-1D77-4638-8BC6-133FC8FB7DB3}</a:tableStyleId>
              </a:tblPr>
              <a:tblGrid>
                <a:gridCol w="9801000"/>
              </a:tblGrid>
              <a:tr h="322988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Piano di transizione per la mitigazione dei cambiamenti climatici </a:t>
                      </a:r>
                      <a:r>
                        <a:rPr b="0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(punto 54)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</a:tr>
              <a:tr h="1385501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it-IT" sz="1050">
                          <a:solidFill>
                            <a:srgbClr val="1B4528"/>
                          </a:solidFill>
                        </a:rPr>
                        <a:t>{{transition_plan}}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sz="1050">
                        <a:solidFill>
                          <a:srgbClr val="1B4528"/>
                        </a:solidFill>
                      </a:endParaRPr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sz="1050">
                        <a:solidFill>
                          <a:srgbClr val="1B4528"/>
                        </a:solidFill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39" name="Google Shape;239;p17"/>
          <p:cNvSpPr txBox="1"/>
          <p:nvPr/>
        </p:nvSpPr>
        <p:spPr>
          <a:xfrm>
            <a:off x="445500" y="891000"/>
            <a:ext cx="9801000" cy="404866"/>
          </a:xfrm>
          <a:prstGeom prst="rect">
            <a:avLst/>
          </a:prstGeom>
          <a:noFill/>
          <a:ln>
            <a:noFill/>
          </a:ln>
        </p:spPr>
        <p:txBody>
          <a:bodyPr anchorCtr="0" anchor="t" bIns="40077" lIns="80177" spcFirstLastPara="1" rIns="80177" wrap="square" tIns="40077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None/>
            </a:pPr>
            <a:r>
              <a:rPr b="0" i="0" lang="it-IT" sz="1050" u="none" strike="noStrik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  <a:t>Le informazioni seguenti riguardano il piano di transizione dell’impresa per la mitigazione dei cambiamenti climatici. La transizione è collegata agli obiettivi di riduzione delle emissioni di CO₂e dell’impresa.</a:t>
            </a:r>
            <a:endParaRPr/>
          </a:p>
        </p:txBody>
      </p:sp>
      <p:sp>
        <p:nvSpPr>
          <p:cNvPr id="240" name="Google Shape;240;p17"/>
          <p:cNvSpPr txBox="1"/>
          <p:nvPr/>
        </p:nvSpPr>
        <p:spPr>
          <a:xfrm>
            <a:off x="436211" y="3379961"/>
            <a:ext cx="9800998" cy="242919"/>
          </a:xfrm>
          <a:prstGeom prst="rect">
            <a:avLst/>
          </a:prstGeom>
          <a:noFill/>
          <a:ln>
            <a:noFill/>
          </a:ln>
        </p:spPr>
        <p:txBody>
          <a:bodyPr anchorCtr="0" anchor="t" bIns="40077" lIns="80177" spcFirstLastPara="1" rIns="80177" wrap="square" tIns="40077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None/>
            </a:pPr>
            <a:r>
              <a:rPr b="0" i="0" lang="it-IT" sz="1050" u="none" strike="noStrik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  <a:t>La presente informativa è stata compilata perché l’impresa ha indicato che adotterà un piano di transizione concreto, con la relativa data di adozione.</a:t>
            </a:r>
            <a:endParaRPr sz="1575">
              <a:solidFill>
                <a:schemeClr val="dk2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18"/>
          <p:cNvSpPr txBox="1"/>
          <p:nvPr>
            <p:ph type="title"/>
          </p:nvPr>
        </p:nvSpPr>
        <p:spPr>
          <a:xfrm>
            <a:off x="454796" y="450698"/>
            <a:ext cx="9791704" cy="2186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</a:pPr>
            <a:r>
              <a:rPr lang="it-IT"/>
              <a:t>R</a:t>
            </a:r>
            <a:r>
              <a:rPr b="1" lang="it-IT" sz="1575">
                <a:solidFill>
                  <a:schemeClr val="dk2"/>
                </a:solidFill>
              </a:rPr>
              <a:t>ischi climatici (C4)</a:t>
            </a:r>
            <a:endParaRPr/>
          </a:p>
        </p:txBody>
      </p:sp>
      <p:sp>
        <p:nvSpPr>
          <p:cNvPr id="247" name="Google Shape;247;p18"/>
          <p:cNvSpPr txBox="1"/>
          <p:nvPr>
            <p:ph idx="11" type="ftr"/>
          </p:nvPr>
        </p:nvSpPr>
        <p:spPr>
          <a:xfrm>
            <a:off x="7261741" y="197293"/>
            <a:ext cx="3194529" cy="1349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{{company_name}}</a:t>
            </a:r>
            <a:endParaRPr b="0"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br>
              <a:rPr lang="it-IT"/>
            </a:br>
            <a:endParaRPr/>
          </a:p>
        </p:txBody>
      </p:sp>
      <p:sp>
        <p:nvSpPr>
          <p:cNvPr id="248" name="Google Shape;248;p18"/>
          <p:cNvSpPr/>
          <p:nvPr/>
        </p:nvSpPr>
        <p:spPr>
          <a:xfrm>
            <a:off x="527761" y="3310338"/>
            <a:ext cx="181932" cy="203984"/>
          </a:xfrm>
          <a:prstGeom prst="rect">
            <a:avLst/>
          </a:prstGeom>
          <a:noFill/>
          <a:ln>
            <a:noFill/>
          </a:ln>
        </p:spPr>
      </p:sp>
      <p:sp>
        <p:nvSpPr>
          <p:cNvPr id="249" name="Google Shape;249;p18"/>
          <p:cNvSpPr/>
          <p:nvPr/>
        </p:nvSpPr>
        <p:spPr>
          <a:xfrm>
            <a:off x="527761" y="3860770"/>
            <a:ext cx="181932" cy="203984"/>
          </a:xfrm>
          <a:prstGeom prst="rect">
            <a:avLst/>
          </a:prstGeom>
          <a:noFill/>
          <a:ln>
            <a:noFill/>
          </a:ln>
        </p:spPr>
      </p:sp>
      <p:graphicFrame>
        <p:nvGraphicFramePr>
          <p:cNvPr id="250" name="Google Shape;250;p18"/>
          <p:cNvGraphicFramePr/>
          <p:nvPr/>
        </p:nvGraphicFramePr>
        <p:xfrm>
          <a:off x="454794" y="1359308"/>
          <a:ext cx="2630906" cy="2630906"/>
        </p:xfrm>
        <a:graphic>
          <a:graphicData uri="http://schemas.openxmlformats.org/drawingml/2006/table">
            <a:tbl>
              <a:tblPr firstRow="1">
                <a:noFill/>
                <a:tableStyleId>{A4A76372-1D77-4638-8BC6-133FC8FB7DB3}</a:tableStyleId>
              </a:tblPr>
              <a:tblGrid>
                <a:gridCol w="1172266"/>
                <a:gridCol w="883458"/>
                <a:gridCol w="2774049"/>
                <a:gridCol w="1504067"/>
                <a:gridCol w="1376797"/>
                <a:gridCol w="1064421"/>
                <a:gridCol w="1016692"/>
              </a:tblGrid>
              <a:tr h="196572">
                <a:tc gridSpan="3"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(punto 56a)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 hMerge="1"/>
                <a:tc hMerge="1"/>
                <a:tc gridSpan="2"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(punto 56b)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 hMerge="1"/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(punto 56c)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(punto 56d)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</a:tr>
              <a:tr h="478671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Rischi climatici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Dove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Breve descrizione dei rischi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Esposizione 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lang="it-IT" sz="1050">
                          <a:solidFill>
                            <a:schemeClr val="dk2"/>
                          </a:solidFill>
                        </a:rPr>
                        <a:t>(basso/medio/elevato)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Sensibilità 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lang="it-IT" sz="1050">
                          <a:solidFill>
                            <a:schemeClr val="dk2"/>
                          </a:solidFill>
                        </a:rPr>
                        <a:t>(basso/medio/elevato)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Orizzonte temporale 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>
                          <a:solidFill>
                            <a:schemeClr val="dk2"/>
                          </a:solidFill>
                        </a:rPr>
                        <a:t>(0-1/2-5/&gt;5 anni)</a:t>
                      </a:r>
                      <a:endParaRPr b="0" i="0" sz="1050"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Adatta­mento </a:t>
                      </a:r>
                      <a:r>
                        <a:rPr b="0" lang="it-IT" sz="1050">
                          <a:solidFill>
                            <a:schemeClr val="dk2"/>
                          </a:solidFill>
                        </a:rPr>
                        <a:t>(SÌ/NO)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</a:tr>
              <a:tr h="337633">
                <a:tc rowSpan="3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Pericoli cronici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Attivi</a:t>
                      </a:r>
                      <a:endParaRPr b="0" sz="1050">
                        <a:solidFill>
                          <a:srgbClr val="1B4528"/>
                        </a:solidFill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</a:rPr>
                        <a:t>{{chronic_aktiver_description}}</a:t>
                      </a:r>
                      <a:endParaRPr sz="1575"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{{chronic_aktiver_eksponerning}}</a:t>
                      </a:r>
                      <a:endParaRPr sz="1575"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{{chronic_aktiver_sårbarhed}}</a:t>
                      </a:r>
                      <a:endParaRPr sz="1575"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{{chronic_aktiver_time}}</a:t>
                      </a:r>
                      <a:endParaRPr sz="1575"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{{chronic_aktiver_tilpasning}}</a:t>
                      </a:r>
                      <a:endParaRPr sz="1575"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7633">
                <a:tc vMerge="1"/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Attività</a:t>
                      </a:r>
                      <a:endParaRPr b="0" sz="1050">
                        <a:solidFill>
                          <a:srgbClr val="1B4528"/>
                        </a:solidFill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{{chronic_aktiveter_description}}</a:t>
                      </a:r>
                      <a:endParaRPr sz="1575"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</a:rPr>
                        <a:t>{{chronic_aktivteter_eksponerning}}</a:t>
                      </a:r>
                      <a:endParaRPr sz="1575"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{{chronic_aktivteter_sårbarhed}}</a:t>
                      </a:r>
                      <a:endParaRPr sz="1575"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{{chronic_aktivteter_time}}</a:t>
                      </a:r>
                      <a:endParaRPr sz="1575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IBM Plex Sans"/>
                        <a:buNone/>
                      </a:pPr>
                      <a:r>
                        <a:t/>
                      </a:r>
                      <a:endParaRPr sz="1575"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{{chronic_aktivteter_tilpasning}}</a:t>
                      </a:r>
                      <a:endParaRPr sz="1575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IBM Plex Sans"/>
                        <a:buNone/>
                      </a:pPr>
                      <a:r>
                        <a:t/>
                      </a:r>
                      <a:endParaRPr b="0" sz="1050">
                        <a:solidFill>
                          <a:srgbClr val="1B4528"/>
                        </a:solidFill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7633">
                <a:tc vMerge="1"/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Catena del valore</a:t>
                      </a:r>
                      <a:endParaRPr b="0" sz="1050">
                        <a:solidFill>
                          <a:srgbClr val="1B4528"/>
                        </a:solidFill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</a:rPr>
                        <a:t>{{chronic_value_description}}</a:t>
                      </a:r>
                      <a:endParaRPr sz="1575"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{{chronic_value_eksponerning}}</a:t>
                      </a:r>
                      <a:endParaRPr sz="1575"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{{chronic_value_sårbarhed}}</a:t>
                      </a:r>
                      <a:endParaRPr sz="1575"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{{chronic_value_time}}</a:t>
                      </a:r>
                      <a:endParaRPr sz="1575"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{{chronic_value_tilpasning}}</a:t>
                      </a:r>
                      <a:endParaRPr sz="1575"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7633">
                <a:tc rowSpan="3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Pericoli acuti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Attivi</a:t>
                      </a:r>
                      <a:endParaRPr b="0" sz="1050">
                        <a:solidFill>
                          <a:srgbClr val="1B4528"/>
                        </a:solidFill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</a:rPr>
                        <a:t>{{akut_aktiver_description}}</a:t>
                      </a:r>
                      <a:endParaRPr sz="1575"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{{akut_aktiver_eksponering}}</a:t>
                      </a:r>
                      <a:endParaRPr sz="1575"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{{akut_aktiver_sårbarhed}}</a:t>
                      </a:r>
                      <a:endParaRPr sz="1575"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{{akut_aktiver_tidshorisont}}</a:t>
                      </a:r>
                      <a:endParaRPr sz="1575"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{{akut_aktiver_tilpasning}}</a:t>
                      </a:r>
                      <a:endParaRPr sz="1575"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7633">
                <a:tc vMerge="1"/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Attività</a:t>
                      </a:r>
                      <a:endParaRPr b="0" sz="1050">
                        <a:solidFill>
                          <a:srgbClr val="1B4528"/>
                        </a:solidFill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</a:rPr>
                        <a:t>{{akut_aktiviteter_description}}</a:t>
                      </a:r>
                      <a:endParaRPr sz="1575"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{{akut_aktiviteter_eksponering}}</a:t>
                      </a:r>
                      <a:endParaRPr sz="1575"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{{akut_aktiviteter_sårbarhed}}</a:t>
                      </a:r>
                      <a:endParaRPr sz="1575"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{{akut_aktiviteter_tidshorisont}}</a:t>
                      </a:r>
                      <a:endParaRPr sz="1575"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{{akut_aktiviteter_tilpasning}}</a:t>
                      </a:r>
                      <a:endParaRPr sz="1575"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7633">
                <a:tc vMerge="1"/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Catena del valore</a:t>
                      </a:r>
                      <a:endParaRPr b="0" sz="1050">
                        <a:solidFill>
                          <a:srgbClr val="1B4528"/>
                        </a:solidFill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</a:rPr>
                        <a:t>{{akut_værdikæde_description}}</a:t>
                      </a:r>
                      <a:endParaRPr sz="1575"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{{akut_værdikæde_eksponering}}</a:t>
                      </a:r>
                      <a:endParaRPr sz="1575"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{{akut_værdikæde_sårbarhed}}</a:t>
                      </a:r>
                      <a:endParaRPr sz="1575"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{{akut_værdikæde_tidshorisont}}</a:t>
                      </a:r>
                      <a:endParaRPr sz="1575"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{{akut_værdikæde_tilpasning}}</a:t>
                      </a:r>
                      <a:endParaRPr sz="1575"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7633">
                <a:tc rowSpan="3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Evento di transizione</a:t>
                      </a:r>
                      <a:endParaRPr b="0" sz="1050">
                        <a:solidFill>
                          <a:srgbClr val="1B4528"/>
                        </a:solidFill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Attivi</a:t>
                      </a:r>
                      <a:endParaRPr b="0" sz="1050">
                        <a:solidFill>
                          <a:srgbClr val="1B4528"/>
                        </a:solidFill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</a:rPr>
                        <a:t>{{omstilling_aktiver_description}}</a:t>
                      </a:r>
                      <a:endParaRPr sz="1575"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{{omstilling_aktiver_eksponering}}</a:t>
                      </a:r>
                      <a:endParaRPr sz="1575"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{{omstilling_aktiver_sårbarhed}}</a:t>
                      </a:r>
                      <a:endParaRPr sz="1575"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{{omstilling_aktiver_tidshorisont}}</a:t>
                      </a:r>
                      <a:endParaRPr sz="1575"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{{omstilling_aktiver_tilpasning}}</a:t>
                      </a:r>
                      <a:endParaRPr sz="1575"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7633">
                <a:tc vMerge="1"/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Attività</a:t>
                      </a:r>
                      <a:endParaRPr b="0" sz="1050">
                        <a:solidFill>
                          <a:srgbClr val="1B4528"/>
                        </a:solidFill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</a:rPr>
                        <a:t>{{omstilling_aktiviteter_description}}</a:t>
                      </a:r>
                      <a:endParaRPr sz="1575"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{{omstilling_aktiviteter_eksponering}}</a:t>
                      </a:r>
                      <a:endParaRPr sz="1575"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{{omstilling_aktiviteter_sårbarhed}}</a:t>
                      </a:r>
                      <a:endParaRPr sz="1575"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{{omstilling_aktiviteter_tidshorisont}}</a:t>
                      </a:r>
                      <a:endParaRPr sz="1575"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{{omstilling_aktiviteter_tilpasning}}</a:t>
                      </a:r>
                      <a:endParaRPr sz="1575"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7633">
                <a:tc vMerge="1"/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Catena del valore</a:t>
                      </a:r>
                      <a:endParaRPr b="0" sz="1050">
                        <a:solidFill>
                          <a:srgbClr val="1B4528"/>
                        </a:solidFill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</a:rPr>
                        <a:t>{{omstilling_værdikæde_description}}</a:t>
                      </a:r>
                      <a:endParaRPr sz="1575"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{{omstilling_værdikæde_eksponering}}</a:t>
                      </a:r>
                      <a:endParaRPr sz="1575"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{{omstilling_værdikæde_sårbarhed}}</a:t>
                      </a:r>
                      <a:endParaRPr sz="1575"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{{omstilling_værdikæde_tidshorisont}}</a:t>
                      </a:r>
                      <a:endParaRPr sz="1575"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{{omstilling_værdikæde_tilpasning}}</a:t>
                      </a:r>
                      <a:endParaRPr sz="1575"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251" name="Google Shape;251;p18"/>
          <p:cNvSpPr txBox="1"/>
          <p:nvPr>
            <p:ph idx="12" type="sldNum"/>
          </p:nvPr>
        </p:nvSpPr>
        <p:spPr>
          <a:xfrm>
            <a:off x="8050571" y="7202406"/>
            <a:ext cx="2405700" cy="1349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>
                <a:solidFill>
                  <a:srgbClr val="1B4528"/>
                </a:solidFill>
              </a:rPr>
              <a:t>‹#›</a:t>
            </a:fld>
            <a:endParaRPr>
              <a:solidFill>
                <a:srgbClr val="1B4528"/>
              </a:solidFill>
            </a:endParaRPr>
          </a:p>
        </p:txBody>
      </p:sp>
      <p:sp>
        <p:nvSpPr>
          <p:cNvPr id="252" name="Google Shape;252;p18"/>
          <p:cNvSpPr txBox="1"/>
          <p:nvPr/>
        </p:nvSpPr>
        <p:spPr>
          <a:xfrm>
            <a:off x="454796" y="891000"/>
            <a:ext cx="9869667" cy="404866"/>
          </a:xfrm>
          <a:prstGeom prst="rect">
            <a:avLst/>
          </a:prstGeom>
          <a:noFill/>
          <a:ln>
            <a:noFill/>
          </a:ln>
        </p:spPr>
        <p:txBody>
          <a:bodyPr anchorCtr="0" anchor="t" bIns="40077" lIns="80177" spcFirstLastPara="1" rIns="80177" wrap="square" tIns="40077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None/>
            </a:pPr>
            <a:r>
              <a:rPr b="0" i="0" lang="it-IT" sz="1050" u="none" strike="noStrik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  <a:t>L’impresa ha fornito un quadro dei rischi climatici, precisando se sono cronici, acuti o connessi alla transizione e dove si collocano (attivi, attività o catena del valore dell’impresa). </a:t>
            </a:r>
            <a:endParaRPr sz="1050">
              <a:solidFill>
                <a:schemeClr val="dk2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9"/>
          <p:cNvSpPr txBox="1"/>
          <p:nvPr>
            <p:ph type="title"/>
          </p:nvPr>
        </p:nvSpPr>
        <p:spPr>
          <a:xfrm>
            <a:off x="454796" y="450698"/>
            <a:ext cx="9791704" cy="2186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BM Plex Sans"/>
              <a:buNone/>
            </a:pPr>
            <a:r>
              <a:rPr lang="it-IT"/>
              <a:t>R</a:t>
            </a:r>
            <a:r>
              <a:rPr b="1" lang="it-IT" sz="1575">
                <a:solidFill>
                  <a:schemeClr val="dk2"/>
                </a:solidFill>
              </a:rPr>
              <a:t>ischi climatici (C4) - continua</a:t>
            </a:r>
            <a:endParaRPr/>
          </a:p>
        </p:txBody>
      </p:sp>
      <p:sp>
        <p:nvSpPr>
          <p:cNvPr id="259" name="Google Shape;259;p19"/>
          <p:cNvSpPr txBox="1"/>
          <p:nvPr>
            <p:ph idx="12" type="sldNum"/>
          </p:nvPr>
        </p:nvSpPr>
        <p:spPr>
          <a:xfrm>
            <a:off x="8050571" y="7202406"/>
            <a:ext cx="2405700" cy="1349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  <p:sp>
        <p:nvSpPr>
          <p:cNvPr id="260" name="Google Shape;260;p19"/>
          <p:cNvSpPr txBox="1"/>
          <p:nvPr>
            <p:ph idx="11" type="ftr"/>
          </p:nvPr>
        </p:nvSpPr>
        <p:spPr>
          <a:xfrm>
            <a:off x="7261741" y="197293"/>
            <a:ext cx="3194529" cy="1349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{{company_name}}</a:t>
            </a:r>
            <a:endParaRPr b="0"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br>
              <a:rPr lang="it-IT"/>
            </a:br>
            <a:endParaRPr/>
          </a:p>
        </p:txBody>
      </p:sp>
      <p:graphicFrame>
        <p:nvGraphicFramePr>
          <p:cNvPr id="261" name="Google Shape;261;p19"/>
          <p:cNvGraphicFramePr/>
          <p:nvPr/>
        </p:nvGraphicFramePr>
        <p:xfrm>
          <a:off x="437364" y="1339390"/>
          <a:ext cx="2630906" cy="2630906"/>
        </p:xfrm>
        <a:graphic>
          <a:graphicData uri="http://schemas.openxmlformats.org/drawingml/2006/table">
            <a:tbl>
              <a:tblPr firstRow="1">
                <a:noFill/>
                <a:tableStyleId>{A4A76372-1D77-4638-8BC6-133FC8FB7DB3}</a:tableStyleId>
              </a:tblPr>
              <a:tblGrid>
                <a:gridCol w="2489648"/>
                <a:gridCol w="4645741"/>
                <a:gridCol w="1434633"/>
                <a:gridCol w="1221661"/>
              </a:tblGrid>
              <a:tr h="153579">
                <a:tc gridSpan="4"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(punto 57)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 hMerge="1"/>
                <a:tc hMerge="1"/>
                <a:tc hMerge="1"/>
              </a:tr>
              <a:tr h="340417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IBM Plex Sans"/>
                        <a:buNone/>
                      </a:pPr>
                      <a:r>
                        <a:t/>
                      </a:r>
                      <a:endParaRPr b="1" sz="1050">
                        <a:solidFill>
                          <a:schemeClr val="dk2"/>
                        </a:solidFill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Potenziale effetto negativo </a:t>
                      </a: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sui risultati finanziari e sulle operazioni aziendali dell’impresa 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Rischio finanziario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(basso/medio/elevato)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Orizzonte temporale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>
                          <a:solidFill>
                            <a:schemeClr val="dk2"/>
                          </a:solidFill>
                        </a:rPr>
                        <a:t>(0-1/2-5/&gt;5 anni)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</a:tr>
              <a:tr h="209069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Pericoli cronici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EE5E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IBM Plex Sans"/>
                        <a:buNone/>
                      </a:pPr>
                      <a:r>
                        <a:t/>
                      </a:r>
                      <a:endParaRPr b="0" sz="1050">
                        <a:solidFill>
                          <a:srgbClr val="1B4528"/>
                        </a:solidFill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EE5E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IBM Plex Sans"/>
                        <a:buNone/>
                      </a:pPr>
                      <a:r>
                        <a:t/>
                      </a:r>
                      <a:endParaRPr b="0" sz="1050">
                        <a:solidFill>
                          <a:srgbClr val="1B4528"/>
                        </a:solidFill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EE5E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IBM Plex Sans"/>
                        <a:buNone/>
                      </a:pPr>
                      <a:r>
                        <a:t/>
                      </a:r>
                      <a:endParaRPr b="0" sz="1050">
                        <a:solidFill>
                          <a:srgbClr val="1B4528"/>
                        </a:solidFill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EE5E0"/>
                    </a:solidFill>
                  </a:tcPr>
                </a:tc>
              </a:tr>
              <a:tr h="209069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</a:rPr>
                        <a:t>{{chronic_hazards}}</a:t>
                      </a:r>
                      <a:endParaRPr sz="1575"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{{chronic connection financial and operations}}</a:t>
                      </a:r>
                      <a:endParaRPr sz="1575"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{{chronic_financial_risk}}</a:t>
                      </a:r>
                      <a:endParaRPr sz="1575"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{{chronic_time_horizon}}</a:t>
                      </a:r>
                      <a:endParaRPr sz="1575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IBM Plex Sans"/>
                        <a:buNone/>
                      </a:pPr>
                      <a:r>
                        <a:t/>
                      </a:r>
                      <a:endParaRPr b="0" sz="1050">
                        <a:solidFill>
                          <a:srgbClr val="1B4528"/>
                        </a:solidFill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09069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Pericoli acuti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EE5E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IBM Plex Sans"/>
                        <a:buNone/>
                      </a:pPr>
                      <a:r>
                        <a:t/>
                      </a:r>
                      <a:endParaRPr b="0" sz="1050">
                        <a:solidFill>
                          <a:srgbClr val="1B4528"/>
                        </a:solidFill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EE5E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IBM Plex Sans"/>
                        <a:buNone/>
                      </a:pPr>
                      <a:r>
                        <a:t/>
                      </a:r>
                      <a:endParaRPr b="0" sz="1050">
                        <a:solidFill>
                          <a:srgbClr val="1B4528"/>
                        </a:solidFill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EE5E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IBM Plex Sans"/>
                        <a:buNone/>
                      </a:pPr>
                      <a:r>
                        <a:t/>
                      </a:r>
                      <a:endParaRPr b="0" sz="1050">
                        <a:solidFill>
                          <a:srgbClr val="1B4528"/>
                        </a:solidFill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EE5E0"/>
                    </a:solidFill>
                  </a:tcPr>
                </a:tc>
              </a:tr>
              <a:tr h="209069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</a:rPr>
                        <a:t>{{acute_hazards}}</a:t>
                      </a:r>
                      <a:endParaRPr sz="1575"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{{acute connection financial and operations}}</a:t>
                      </a:r>
                      <a:endParaRPr sz="1575"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{{acute_financial_risk}}</a:t>
                      </a:r>
                      <a:endParaRPr sz="1575"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{{acute_time_horizon}}</a:t>
                      </a:r>
                      <a:endParaRPr sz="1575"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09069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Rischi di transizione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EE5E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IBM Plex Sans"/>
                        <a:buNone/>
                      </a:pPr>
                      <a:r>
                        <a:t/>
                      </a:r>
                      <a:endParaRPr b="0" sz="1050">
                        <a:solidFill>
                          <a:srgbClr val="1B4528"/>
                        </a:solidFill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EE5E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IBM Plex Sans"/>
                        <a:buNone/>
                      </a:pPr>
                      <a:r>
                        <a:t/>
                      </a:r>
                      <a:endParaRPr b="0" sz="1050">
                        <a:solidFill>
                          <a:srgbClr val="1B4528"/>
                        </a:solidFill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EE5E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IBM Plex Sans"/>
                        <a:buNone/>
                      </a:pPr>
                      <a:r>
                        <a:t/>
                      </a:r>
                      <a:endParaRPr b="0" sz="1050">
                        <a:solidFill>
                          <a:srgbClr val="1B4528"/>
                        </a:solidFill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EE5E0"/>
                    </a:solidFill>
                  </a:tcPr>
                </a:tc>
              </a:tr>
              <a:tr h="209069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</a:rPr>
                        <a:t>{{climate_related}}</a:t>
                      </a:r>
                      <a:endParaRPr sz="1575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IBM Plex Sans"/>
                        <a:buNone/>
                      </a:pPr>
                      <a:r>
                        <a:t/>
                      </a:r>
                      <a:endParaRPr b="0" i="0" sz="1050" u="none" strike="noStrike">
                        <a:solidFill>
                          <a:srgbClr val="1B4528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{{climate connection financial and operations}}</a:t>
                      </a:r>
                      <a:endParaRPr sz="1575"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{{climate_related_risk}}</a:t>
                      </a:r>
                      <a:endParaRPr sz="1575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IBM Plex Sans"/>
                        <a:buNone/>
                      </a:pPr>
                      <a:r>
                        <a:t/>
                      </a:r>
                      <a:endParaRPr sz="1575"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{{climate_time_horizon}}</a:t>
                      </a:r>
                      <a:endParaRPr sz="1575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IBM Plex Sans"/>
                        <a:buNone/>
                      </a:pPr>
                      <a:r>
                        <a:t/>
                      </a:r>
                      <a:endParaRPr b="0" sz="1050">
                        <a:solidFill>
                          <a:srgbClr val="1B4528"/>
                        </a:solidFill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262" name="Google Shape;262;p19"/>
          <p:cNvSpPr txBox="1"/>
          <p:nvPr/>
        </p:nvSpPr>
        <p:spPr>
          <a:xfrm>
            <a:off x="454796" y="891000"/>
            <a:ext cx="9869667" cy="404866"/>
          </a:xfrm>
          <a:prstGeom prst="rect">
            <a:avLst/>
          </a:prstGeom>
          <a:noFill/>
          <a:ln>
            <a:noFill/>
          </a:ln>
        </p:spPr>
        <p:txBody>
          <a:bodyPr anchorCtr="0" anchor="t" bIns="40077" lIns="80177" spcFirstLastPara="1" rIns="80177" wrap="square" tIns="40077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None/>
            </a:pPr>
            <a:r>
              <a:rPr b="0" i="0" lang="it-IT" sz="1050" u="none" strike="noStrik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  <a:t>L’impresa ha fornito un quadro dei rischi climatici, precisando se sono cronici, acuti o connessi alla transizione e se possono incidere negativamente sui risultati finanziari e sulle operazioni aziendali.</a:t>
            </a:r>
            <a:endParaRPr sz="1050">
              <a:solidFill>
                <a:schemeClr val="dk2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20"/>
          <p:cNvSpPr txBox="1"/>
          <p:nvPr>
            <p:ph type="title"/>
          </p:nvPr>
        </p:nvSpPr>
        <p:spPr>
          <a:xfrm>
            <a:off x="454796" y="450698"/>
            <a:ext cx="9791704" cy="2186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B4528"/>
              </a:buClr>
              <a:buSzPts val="1800"/>
              <a:buFont typeface="IBM Plex Sans"/>
              <a:buNone/>
            </a:pPr>
            <a:r>
              <a:rPr b="1" i="0" lang="it-IT" sz="1575" u="none" strike="noStrike">
                <a:solidFill>
                  <a:srgbClr val="1B4528"/>
                </a:solidFill>
              </a:rPr>
              <a:t>Altre caratteristiche (generali) della forza lavoro (C5)</a:t>
            </a:r>
            <a:endParaRPr/>
          </a:p>
        </p:txBody>
      </p:sp>
      <p:sp>
        <p:nvSpPr>
          <p:cNvPr id="269" name="Google Shape;269;p20"/>
          <p:cNvSpPr txBox="1"/>
          <p:nvPr>
            <p:ph idx="12" type="sldNum"/>
          </p:nvPr>
        </p:nvSpPr>
        <p:spPr>
          <a:xfrm>
            <a:off x="8050571" y="7202406"/>
            <a:ext cx="2405700" cy="1349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  <p:sp>
        <p:nvSpPr>
          <p:cNvPr id="270" name="Google Shape;270;p20"/>
          <p:cNvSpPr txBox="1"/>
          <p:nvPr>
            <p:ph idx="11" type="ftr"/>
          </p:nvPr>
        </p:nvSpPr>
        <p:spPr>
          <a:xfrm>
            <a:off x="7261741" y="197293"/>
            <a:ext cx="3194529" cy="1349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{{company_name}}</a:t>
            </a:r>
            <a:endParaRPr b="0"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br>
              <a:rPr lang="it-IT"/>
            </a:br>
            <a:endParaRPr/>
          </a:p>
        </p:txBody>
      </p:sp>
      <p:graphicFrame>
        <p:nvGraphicFramePr>
          <p:cNvPr id="271" name="Google Shape;271;p20"/>
          <p:cNvGraphicFramePr/>
          <p:nvPr/>
        </p:nvGraphicFramePr>
        <p:xfrm>
          <a:off x="5469788" y="1447652"/>
          <a:ext cx="2630906" cy="2630906"/>
        </p:xfrm>
        <a:graphic>
          <a:graphicData uri="http://schemas.openxmlformats.org/drawingml/2006/table">
            <a:tbl>
              <a:tblPr firstRow="1">
                <a:noFill/>
                <a:tableStyleId>{A4A76372-1D77-4638-8BC6-133FC8FB7DB3}</a:tableStyleId>
              </a:tblPr>
              <a:tblGrid>
                <a:gridCol w="3708481"/>
                <a:gridCol w="1068235"/>
              </a:tblGrid>
              <a:tr h="252567">
                <a:tc rowSpan="2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1" i="0" lang="it-IT" sz="1050">
                          <a:solidFill>
                            <a:schemeClr val="dk2"/>
                          </a:solidFill>
                        </a:rPr>
                        <a:t>Rapporto tra donne e uomini a livello dirigenziale </a:t>
                      </a:r>
                      <a:r>
                        <a:rPr b="0" i="0" lang="it-IT" sz="1050">
                          <a:solidFill>
                            <a:schemeClr val="dk2"/>
                          </a:solidFill>
                        </a:rPr>
                        <a:t>(punto 59)</a:t>
                      </a:r>
                      <a:endParaRPr/>
                    </a:p>
                  </a:txBody>
                  <a:tcPr marT="18943" marB="18943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1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Anno </a:t>
                      </a:r>
                      <a:r>
                        <a:rPr b="1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{{Insert year}}</a:t>
                      </a:r>
                      <a:endParaRPr sz="1050"/>
                    </a:p>
                  </a:txBody>
                  <a:tcPr marT="11138" marB="11138" marR="33412" marL="33412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</a:tr>
              <a:tr h="252567">
                <a:tc vMerge="1"/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{{gender_balance}}</a:t>
                      </a:r>
                      <a:endParaRPr sz="1050"/>
                    </a:p>
                  </a:txBody>
                  <a:tcPr marT="11138" marB="11138" marR="33412" marL="33412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2" name="Google Shape;272;p20"/>
          <p:cNvGraphicFramePr/>
          <p:nvPr/>
        </p:nvGraphicFramePr>
        <p:xfrm>
          <a:off x="443203" y="1447652"/>
          <a:ext cx="2630906" cy="2630906"/>
        </p:xfrm>
        <a:graphic>
          <a:graphicData uri="http://schemas.openxmlformats.org/drawingml/2006/table">
            <a:tbl>
              <a:tblPr firstRow="1">
                <a:noFill/>
                <a:tableStyleId>{A4A76372-1D77-4638-8BC6-133FC8FB7DB3}</a:tableStyleId>
              </a:tblPr>
              <a:tblGrid>
                <a:gridCol w="3708481"/>
                <a:gridCol w="1068235"/>
              </a:tblGrid>
              <a:tr h="252567">
                <a:tc rowSpan="2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1" i="0" lang="it-IT" sz="1050">
                          <a:solidFill>
                            <a:schemeClr val="dk2"/>
                          </a:solidFill>
                        </a:rPr>
                        <a:t>Avvicendamento dei dipendenti nell’anno di riferimento </a:t>
                      </a:r>
                      <a:r>
                        <a:rPr b="0" i="0" lang="it-IT" sz="1050">
                          <a:solidFill>
                            <a:schemeClr val="dk2"/>
                          </a:solidFill>
                        </a:rPr>
                        <a:t>(punto 58)</a:t>
                      </a:r>
                      <a:endParaRPr/>
                    </a:p>
                  </a:txBody>
                  <a:tcPr marT="18943" marB="18943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1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Anno </a:t>
                      </a:r>
                      <a:r>
                        <a:rPr b="1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{{Insert year}}</a:t>
                      </a:r>
                      <a:endParaRPr sz="1050"/>
                    </a:p>
                  </a:txBody>
                  <a:tcPr marT="11138" marB="11138" marR="33412" marL="33412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</a:tr>
              <a:tr h="252567">
                <a:tc vMerge="1"/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{{omsatningsrate}}</a:t>
                      </a:r>
                      <a:endParaRPr/>
                    </a:p>
                  </a:txBody>
                  <a:tcPr marT="11138" marB="11138" marR="33412" marL="33412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73" name="Google Shape;273;p20"/>
          <p:cNvSpPr txBox="1"/>
          <p:nvPr/>
        </p:nvSpPr>
        <p:spPr>
          <a:xfrm>
            <a:off x="445500" y="891000"/>
            <a:ext cx="9791704" cy="728758"/>
          </a:xfrm>
          <a:prstGeom prst="rect">
            <a:avLst/>
          </a:prstGeom>
          <a:noFill/>
          <a:ln>
            <a:noFill/>
          </a:ln>
        </p:spPr>
        <p:txBody>
          <a:bodyPr anchorCtr="0" anchor="t" bIns="40077" lIns="80177" spcFirstLastPara="1" rIns="80177" wrap="square" tIns="40077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None/>
            </a:pPr>
            <a:r>
              <a:rPr b="0" i="0" lang="it-IT" sz="1050" u="none" strike="noStrik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  <a:t>Le informazioni seguenti integrano le altre informative sulla forza lavoro dell’impresa, tra cui la distribuzione tra uomini e donne a livello dirigenziale.</a:t>
            </a:r>
            <a:endParaRPr b="0" sz="1050">
              <a:solidFill>
                <a:schemeClr val="dk2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None/>
            </a:pPr>
            <a:br>
              <a:rPr lang="it-IT" sz="105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</a:br>
            <a:endParaRPr sz="1050">
              <a:solidFill>
                <a:schemeClr val="dk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aphicFrame>
        <p:nvGraphicFramePr>
          <p:cNvPr id="274" name="Google Shape;274;p20"/>
          <p:cNvGraphicFramePr/>
          <p:nvPr/>
        </p:nvGraphicFramePr>
        <p:xfrm>
          <a:off x="445499" y="2882760"/>
          <a:ext cx="2630906" cy="2630906"/>
        </p:xfrm>
        <a:graphic>
          <a:graphicData uri="http://schemas.openxmlformats.org/drawingml/2006/table">
            <a:tbl>
              <a:tblPr firstRow="1">
                <a:noFill/>
                <a:tableStyleId>{A4A76372-1D77-4638-8BC6-133FC8FB7DB3}</a:tableStyleId>
              </a:tblPr>
              <a:tblGrid>
                <a:gridCol w="7257726"/>
                <a:gridCol w="2533979"/>
              </a:tblGrid>
              <a:tr h="252567"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Lavoratori autonomi e lavoratori temporanei </a:t>
                      </a:r>
                      <a:r>
                        <a:rPr b="0" lang="it-IT" sz="1050">
                          <a:solidFill>
                            <a:schemeClr val="dk2"/>
                          </a:solidFill>
                        </a:rPr>
                        <a:t>(punto 60)</a:t>
                      </a:r>
                      <a:endParaRPr b="1" sz="1050">
                        <a:solidFill>
                          <a:schemeClr val="dk2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 hMerge="1"/>
              </a:tr>
              <a:tr h="252567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IBM Plex Sans"/>
                        <a:buNone/>
                      </a:pPr>
                      <a:r>
                        <a:t/>
                      </a:r>
                      <a:endParaRPr b="1" sz="1050">
                        <a:solidFill>
                          <a:schemeClr val="dk2"/>
                        </a:solidFill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Numero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</a:tr>
              <a:tr h="252567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Lavoratori autonomi (senza personale)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{{self-employeed}}</a:t>
                      </a:r>
                      <a:endParaRPr b="0" sz="1050"/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52567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Lavoratori temporanei (forniti da un’agenzia per il lavoro) </a:t>
                      </a:r>
                      <a:endParaRPr b="0" sz="1050">
                        <a:solidFill>
                          <a:schemeClr val="dk2"/>
                        </a:solidFill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{{temp_workers}}</a:t>
                      </a:r>
                      <a:endParaRPr sz="1050"/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75" name="Google Shape;275;p20"/>
          <p:cNvSpPr txBox="1"/>
          <p:nvPr/>
        </p:nvSpPr>
        <p:spPr>
          <a:xfrm>
            <a:off x="454795" y="2430996"/>
            <a:ext cx="9782407" cy="242919"/>
          </a:xfrm>
          <a:prstGeom prst="rect">
            <a:avLst/>
          </a:prstGeom>
          <a:noFill/>
          <a:ln>
            <a:noFill/>
          </a:ln>
        </p:spPr>
        <p:txBody>
          <a:bodyPr anchorCtr="0" anchor="t" bIns="40077" lIns="80177" spcFirstLastPara="1" rIns="80177" wrap="square" tIns="40077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None/>
            </a:pPr>
            <a:r>
              <a:rPr b="0" i="0" lang="it-IT" sz="1050" u="none" strike="noStrik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  <a:t>Le informazioni seguenti sono state compilate per indicare il numero di lavoratori autonomi e temporanei dell’impresa.</a:t>
            </a:r>
            <a:endParaRPr b="0" sz="1050">
              <a:solidFill>
                <a:schemeClr val="dk2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21"/>
          <p:cNvSpPr txBox="1"/>
          <p:nvPr>
            <p:ph type="title"/>
          </p:nvPr>
        </p:nvSpPr>
        <p:spPr>
          <a:xfrm>
            <a:off x="454796" y="450698"/>
            <a:ext cx="9791704" cy="2186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B4528"/>
              </a:buClr>
              <a:buSzPts val="1800"/>
              <a:buFont typeface="IBM Plex Sans"/>
              <a:buNone/>
            </a:pPr>
            <a:r>
              <a:rPr b="1" i="0" lang="it-IT" sz="1575" u="none" strike="noStrike">
                <a:solidFill>
                  <a:srgbClr val="1B4528"/>
                </a:solidFill>
                <a:latin typeface="IBM Plex Sans"/>
                <a:ea typeface="IBM Plex Sans"/>
                <a:cs typeface="IBM Plex Sans"/>
                <a:sym typeface="IBM Plex Sans"/>
              </a:rPr>
              <a:t>Politiche e procedure in materia di diritti umani (C6</a:t>
            </a:r>
            <a:r>
              <a:rPr lang="it-IT"/>
              <a:t>) - Forza lavoro propria</a:t>
            </a:r>
            <a:endParaRPr/>
          </a:p>
        </p:txBody>
      </p:sp>
      <p:sp>
        <p:nvSpPr>
          <p:cNvPr id="281" name="Google Shape;281;p21"/>
          <p:cNvSpPr txBox="1"/>
          <p:nvPr>
            <p:ph idx="12" type="sldNum"/>
          </p:nvPr>
        </p:nvSpPr>
        <p:spPr>
          <a:xfrm>
            <a:off x="8050571" y="7202406"/>
            <a:ext cx="2405700" cy="1349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  <p:sp>
        <p:nvSpPr>
          <p:cNvPr id="282" name="Google Shape;282;p21"/>
          <p:cNvSpPr txBox="1"/>
          <p:nvPr>
            <p:ph idx="11" type="ftr"/>
          </p:nvPr>
        </p:nvSpPr>
        <p:spPr>
          <a:xfrm>
            <a:off x="7261741" y="197293"/>
            <a:ext cx="3194529" cy="1349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{{company_name}}</a:t>
            </a:r>
            <a:endParaRPr b="0"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br>
              <a:rPr lang="it-IT"/>
            </a:br>
            <a:endParaRPr/>
          </a:p>
        </p:txBody>
      </p:sp>
      <p:graphicFrame>
        <p:nvGraphicFramePr>
          <p:cNvPr id="283" name="Google Shape;283;p21"/>
          <p:cNvGraphicFramePr/>
          <p:nvPr/>
        </p:nvGraphicFramePr>
        <p:xfrm>
          <a:off x="454796" y="1615123"/>
          <a:ext cx="2630906" cy="2630906"/>
        </p:xfrm>
        <a:graphic>
          <a:graphicData uri="http://schemas.openxmlformats.org/drawingml/2006/table">
            <a:tbl>
              <a:tblPr firstRow="1">
                <a:noFill/>
                <a:tableStyleId>{A4A76372-1D77-4638-8BC6-133FC8FB7DB3}</a:tableStyleId>
              </a:tblPr>
              <a:tblGrid>
                <a:gridCol w="7527262"/>
                <a:gridCol w="2264442"/>
              </a:tblGrid>
              <a:tr h="448942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1" lang="it-IT" sz="1050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{{company_name}}</a:t>
                      </a: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 dispone di </a:t>
                      </a: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un codice di condotta </a:t>
                      </a:r>
                      <a:r>
                        <a:rPr b="1" i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e/o</a:t>
                      </a: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 di una politica in materia di diritti umani per la nostra </a:t>
                      </a:r>
                      <a:r>
                        <a:rPr b="1" lang="it-IT" sz="1050" u="sng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forza lavoro</a:t>
                      </a:r>
                      <a:r>
                        <a:rPr b="0" lang="it-IT" sz="1050" u="none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 (punto 61a)</a:t>
                      </a:r>
                      <a:endParaRPr b="0" sz="1050" u="none">
                        <a:solidFill>
                          <a:schemeClr val="dk2"/>
                        </a:solidFill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lang="it-IT" sz="1050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{{human_rights_policy?}}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0884">
                <a:tc gridSpan="2"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1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Il codice di condotta o la politica sui diritti umani riguarda i temi seguenti: </a:t>
                      </a:r>
                      <a:r>
                        <a:rPr b="0" lang="it-IT" sz="1050" u="none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(punto 61b)</a:t>
                      </a:r>
                      <a:endParaRPr b="0" sz="1050">
                        <a:solidFill>
                          <a:schemeClr val="dk1"/>
                        </a:solidFill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 hMerge="1"/>
              </a:tr>
              <a:tr h="230884">
                <a:tc>
                  <a:txBody>
                    <a:bodyPr/>
                    <a:lstStyle/>
                    <a:p>
                      <a:pPr indent="0" lvl="1" marL="40095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it-IT" sz="1050" u="none" cap="none" strike="noStrike">
                          <a:solidFill>
                            <a:schemeClr val="dk2"/>
                          </a:solidFill>
                        </a:rPr>
                        <a:t>Lavoro minorile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{{child_labour_polict?}}</a:t>
                      </a:r>
                      <a:endParaRPr b="0" sz="1050"/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0884">
                <a:tc>
                  <a:txBody>
                    <a:bodyPr/>
                    <a:lstStyle/>
                    <a:p>
                      <a:pPr indent="0" lvl="1" marL="40095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it-IT" sz="1050" u="none" cap="none" strike="noStrike">
                          <a:solidFill>
                            <a:schemeClr val="dk2"/>
                          </a:solidFill>
                        </a:rPr>
                        <a:t>Lavoro forzato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{{forced_labour_policy?}}</a:t>
                      </a:r>
                      <a:endParaRPr b="0" sz="1050"/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0884">
                <a:tc>
                  <a:txBody>
                    <a:bodyPr/>
                    <a:lstStyle/>
                    <a:p>
                      <a:pPr indent="0" lvl="1" marL="40095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it-IT" sz="1050" u="none" cap="none" strike="noStrike">
                          <a:solidFill>
                            <a:schemeClr val="dk2"/>
                          </a:solidFill>
                        </a:rPr>
                        <a:t>Tratta di esseri umani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{{human_policy?}}</a:t>
                      </a:r>
                      <a:endParaRPr b="0" sz="1050"/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0884">
                <a:tc>
                  <a:txBody>
                    <a:bodyPr/>
                    <a:lstStyle/>
                    <a:p>
                      <a:pPr indent="0" lvl="1" marL="40095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it-IT" sz="1050" u="none" cap="none" strike="noStrike">
                          <a:solidFill>
                            <a:schemeClr val="dk2"/>
                          </a:solidFill>
                        </a:rPr>
                        <a:t>Discriminazione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{{discrimanation_policy?}}</a:t>
                      </a:r>
                      <a:endParaRPr b="0" sz="1050"/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0884">
                <a:tc>
                  <a:txBody>
                    <a:bodyPr/>
                    <a:lstStyle/>
                    <a:p>
                      <a:pPr indent="0" lvl="1" marL="40095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it-IT" sz="1050" u="none" cap="none" strike="noStrike">
                          <a:solidFill>
                            <a:schemeClr val="dk2"/>
                          </a:solidFill>
                        </a:rPr>
                        <a:t>Sicurezza e prevenzione degli infortuni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{{safety_policy?}}</a:t>
                      </a:r>
                      <a:endParaRPr b="0" sz="1050"/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0884">
                <a:tc>
                  <a:txBody>
                    <a:bodyPr/>
                    <a:lstStyle/>
                    <a:p>
                      <a:pPr indent="0" lvl="1" marL="40095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it-IT" sz="1050" u="none" cap="none" strike="noStrike">
                          <a:solidFill>
                            <a:schemeClr val="dk2"/>
                          </a:solidFill>
                        </a:rPr>
                        <a:t>Altro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{{other_policy?}}</a:t>
                      </a:r>
                      <a:endParaRPr b="0" sz="1050"/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0884">
                <a:tc gridSpan="2"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Se sì per ”Altro”, precisare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 hMerge="1"/>
              </a:tr>
              <a:tr h="731151">
                <a:tc gridSpan="2"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sz="1050">
                        <a:solidFill>
                          <a:schemeClr val="dk2"/>
                        </a:solidFill>
                      </a:endParaRPr>
                    </a:p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{{C6_other_description}}</a:t>
                      </a:r>
                      <a:endParaRPr b="0" i="0" sz="1050" u="none" strike="noStrike">
                        <a:solidFill>
                          <a:srgbClr val="000000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sz="1050">
                        <a:solidFill>
                          <a:schemeClr val="dk2"/>
                        </a:solidFill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</a:tbl>
          </a:graphicData>
        </a:graphic>
      </p:graphicFrame>
      <p:graphicFrame>
        <p:nvGraphicFramePr>
          <p:cNvPr id="284" name="Google Shape;284;p21"/>
          <p:cNvGraphicFramePr/>
          <p:nvPr/>
        </p:nvGraphicFramePr>
        <p:xfrm>
          <a:off x="445499" y="4809230"/>
          <a:ext cx="2630906" cy="2630906"/>
        </p:xfrm>
        <a:graphic>
          <a:graphicData uri="http://schemas.openxmlformats.org/drawingml/2006/table">
            <a:tbl>
              <a:tblPr firstRow="1">
                <a:noFill/>
                <a:tableStyleId>{A4A76372-1D77-4638-8BC6-133FC8FB7DB3}</a:tableStyleId>
              </a:tblPr>
              <a:tblGrid>
                <a:gridCol w="7538114"/>
                <a:gridCol w="2267687"/>
              </a:tblGrid>
              <a:tr h="75952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L’impresa dispone di un meccanismo di trattamento delle denunce per la nostra </a:t>
                      </a:r>
                      <a:r>
                        <a:rPr b="1" lang="it-IT" sz="1050" u="sng">
                          <a:solidFill>
                            <a:schemeClr val="dk2"/>
                          </a:solidFill>
                        </a:rPr>
                        <a:t>forza lavoro</a:t>
                      </a:r>
                      <a:r>
                        <a:rPr b="0" lang="it-IT" sz="1050" u="sng">
                          <a:solidFill>
                            <a:schemeClr val="dk2"/>
                          </a:solidFill>
                        </a:rPr>
                        <a:t> </a:t>
                      </a:r>
                      <a:r>
                        <a:rPr b="0" lang="it-IT" sz="1050">
                          <a:solidFill>
                            <a:schemeClr val="dk2"/>
                          </a:solidFill>
                        </a:rPr>
                        <a:t>(punto 61c)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lang="it-IT" sz="1050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{{whistleblower?}}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5" name="Google Shape;285;p21"/>
          <p:cNvSpPr txBox="1"/>
          <p:nvPr/>
        </p:nvSpPr>
        <p:spPr>
          <a:xfrm>
            <a:off x="452474" y="891000"/>
            <a:ext cx="9794026" cy="404866"/>
          </a:xfrm>
          <a:prstGeom prst="rect">
            <a:avLst/>
          </a:prstGeom>
          <a:noFill/>
          <a:ln>
            <a:noFill/>
          </a:ln>
        </p:spPr>
        <p:txBody>
          <a:bodyPr anchorCtr="0" anchor="t" bIns="40077" lIns="80177" spcFirstLastPara="1" rIns="80177" wrap="square" tIns="40077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it-IT" sz="1050" u="none" strike="noStrik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  <a:t>Di seguito sono </a:t>
            </a:r>
            <a:r>
              <a:rPr lang="it-IT" sz="105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  <a:t>indicate informazioni sul </a:t>
            </a:r>
            <a:r>
              <a:rPr b="0" i="0" lang="it-IT" sz="1050" u="none" strike="noStrik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  <a:t>codice di condotta e/o sulla politica in materia di diritti umani dell’impresa per la forza lavoro propri</a:t>
            </a:r>
            <a:r>
              <a:rPr lang="it-IT" sz="105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  <a:t>a. Si indica inoltre se l’impresa dispone di un meccanismo di trattamento delle denunce che consenta ai dipendenti di segnalare fatti connessi a violazioni dei diritti umani, discriminazioni, molestie o altre condotte censurabili.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22"/>
          <p:cNvSpPr txBox="1"/>
          <p:nvPr>
            <p:ph type="title"/>
          </p:nvPr>
        </p:nvSpPr>
        <p:spPr>
          <a:xfrm>
            <a:off x="454796" y="450698"/>
            <a:ext cx="9791704" cy="2186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B4528"/>
              </a:buClr>
              <a:buSzPts val="1800"/>
              <a:buFont typeface="IBM Plex Sans"/>
              <a:buNone/>
            </a:pPr>
            <a:r>
              <a:rPr b="1" i="0" lang="it-IT" sz="1575" u="none" strike="noStrike">
                <a:solidFill>
                  <a:srgbClr val="1B4528"/>
                </a:solidFill>
                <a:latin typeface="IBM Plex Sans"/>
                <a:ea typeface="IBM Plex Sans"/>
                <a:cs typeface="IBM Plex Sans"/>
                <a:sym typeface="IBM Plex Sans"/>
              </a:rPr>
              <a:t>Incidenti gravi in materia di diritti umani (C7</a:t>
            </a:r>
            <a:r>
              <a:rPr lang="it-IT"/>
              <a:t>) – Forza lavoro propria</a:t>
            </a:r>
            <a:endParaRPr/>
          </a:p>
        </p:txBody>
      </p:sp>
      <p:sp>
        <p:nvSpPr>
          <p:cNvPr id="291" name="Google Shape;291;p22"/>
          <p:cNvSpPr txBox="1"/>
          <p:nvPr>
            <p:ph idx="12" type="sldNum"/>
          </p:nvPr>
        </p:nvSpPr>
        <p:spPr>
          <a:xfrm>
            <a:off x="8050571" y="7202406"/>
            <a:ext cx="2405700" cy="1349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  <p:sp>
        <p:nvSpPr>
          <p:cNvPr id="292" name="Google Shape;292;p22"/>
          <p:cNvSpPr txBox="1"/>
          <p:nvPr>
            <p:ph idx="11" type="ftr"/>
          </p:nvPr>
        </p:nvSpPr>
        <p:spPr>
          <a:xfrm>
            <a:off x="7261741" y="197293"/>
            <a:ext cx="3194529" cy="1349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{{company_name}}</a:t>
            </a:r>
            <a:endParaRPr b="0"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aphicFrame>
        <p:nvGraphicFramePr>
          <p:cNvPr id="293" name="Google Shape;293;p22"/>
          <p:cNvGraphicFramePr/>
          <p:nvPr/>
        </p:nvGraphicFramePr>
        <p:xfrm>
          <a:off x="454794" y="1470645"/>
          <a:ext cx="2630906" cy="2630906"/>
        </p:xfrm>
        <a:graphic>
          <a:graphicData uri="http://schemas.openxmlformats.org/drawingml/2006/table">
            <a:tbl>
              <a:tblPr firstRow="1">
                <a:noFill/>
                <a:tableStyleId>{A4A76372-1D77-4638-8BC6-133FC8FB7DB3}</a:tableStyleId>
              </a:tblPr>
              <a:tblGrid>
                <a:gridCol w="3436664"/>
                <a:gridCol w="6355040"/>
              </a:tblGrid>
              <a:tr h="286374">
                <a:tc gridSpan="2"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Si sono verificati, nella </a:t>
                      </a:r>
                      <a:r>
                        <a:rPr b="1" lang="it-IT" sz="1050" u="sng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forza lavoro propria</a:t>
                      </a:r>
                      <a:r>
                        <a:rPr b="1" lang="it-IT" sz="1050" u="none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, </a:t>
                      </a: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incidenti negativi confermati relativi a quanto segue </a:t>
                      </a:r>
                      <a:r>
                        <a:rPr b="0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(punto 62a-b)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 hMerge="1"/>
              </a:tr>
              <a:tr h="513224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Lavoro minorile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</a:rPr>
                        <a:t>{{child_labour_yes?}}</a:t>
                      </a:r>
                      <a:endParaRPr sz="1575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</a:rPr>
                        <a:t>{{child_labour_desc}}</a:t>
                      </a:r>
                      <a:endParaRPr sz="1575"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13224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Lavoro forzato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</a:rPr>
                        <a:t>{{forced_labour_yes?}}</a:t>
                      </a:r>
                      <a:endParaRPr sz="1575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</a:rPr>
                        <a:t>{{forced_labour_desc}}</a:t>
                      </a:r>
                      <a:endParaRPr sz="1575"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13224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Tratta di esseri umani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</a:rPr>
                        <a:t>{{human_trafficking_yes?}}</a:t>
                      </a:r>
                      <a:endParaRPr sz="1575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</a:rPr>
                        <a:t>{{human_trafficking_desc}}</a:t>
                      </a:r>
                      <a:endParaRPr sz="1575"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13224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Discriminazione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</a:rPr>
                        <a:t>{{discrimination_yes?}}</a:t>
                      </a:r>
                      <a:endParaRPr sz="1575"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</a:rPr>
                        <a:t>{{discrimination_desc}}</a:t>
                      </a:r>
                      <a:endParaRPr sz="1575"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1991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Altro </a:t>
                      </a:r>
                      <a:endParaRPr b="1" sz="1575"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{{other_yes?}}</a:t>
                      </a:r>
                      <a:endParaRPr b="0" i="0" sz="1050" u="none" strike="noStrike">
                        <a:solidFill>
                          <a:srgbClr val="000000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{{other_desc}}</a:t>
                      </a:r>
                      <a:endParaRPr b="0" i="0" sz="1050" u="none" strike="noStrike">
                        <a:solidFill>
                          <a:srgbClr val="000000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294" name="Google Shape;294;p22"/>
          <p:cNvSpPr txBox="1"/>
          <p:nvPr/>
        </p:nvSpPr>
        <p:spPr>
          <a:xfrm>
            <a:off x="445499" y="891000"/>
            <a:ext cx="9791703" cy="728758"/>
          </a:xfrm>
          <a:prstGeom prst="rect">
            <a:avLst/>
          </a:prstGeom>
          <a:noFill/>
          <a:ln>
            <a:noFill/>
          </a:ln>
        </p:spPr>
        <p:txBody>
          <a:bodyPr anchorCtr="0" anchor="t" bIns="40077" lIns="80177" spcFirstLastPara="1" rIns="80177" wrap="square" tIns="40077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None/>
            </a:pPr>
            <a:r>
              <a:rPr b="0" i="0" lang="it-IT" sz="1050" u="none" strike="noStrik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  <a:t>Le informative seguenti riguardano la comunicazione da parte dell’impresa di incidenti negativi connessi a lavoro minorile, lavoro forzato, tratta di esseri umani e discriminazione. In questa sezione l’impresa indica se quanto precede riguarda la forza lavoro propria.</a:t>
            </a:r>
            <a:endParaRPr b="0" sz="1050">
              <a:solidFill>
                <a:schemeClr val="dk2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None/>
            </a:pPr>
            <a:br>
              <a:rPr lang="it-IT" sz="105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</a:br>
            <a:endParaRPr sz="1050">
              <a:solidFill>
                <a:schemeClr val="dk2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23"/>
          <p:cNvSpPr txBox="1"/>
          <p:nvPr>
            <p:ph type="title"/>
          </p:nvPr>
        </p:nvSpPr>
        <p:spPr>
          <a:xfrm>
            <a:off x="454796" y="450698"/>
            <a:ext cx="9791704" cy="2186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B4528"/>
              </a:buClr>
              <a:buSzPts val="1800"/>
              <a:buFont typeface="IBM Plex Sans"/>
              <a:buNone/>
            </a:pPr>
            <a:r>
              <a:rPr b="1" i="0" lang="it-IT" sz="1575" u="none" strike="noStrike">
                <a:solidFill>
                  <a:srgbClr val="1B4528"/>
                </a:solidFill>
                <a:latin typeface="IBM Plex Sans"/>
                <a:ea typeface="IBM Plex Sans"/>
                <a:cs typeface="IBM Plex Sans"/>
                <a:sym typeface="IBM Plex Sans"/>
              </a:rPr>
              <a:t>Incidenti gravi in materia di diritti umani (C7</a:t>
            </a:r>
            <a:r>
              <a:rPr lang="it-IT"/>
              <a:t>) – Nella catena del valore</a:t>
            </a:r>
            <a:endParaRPr/>
          </a:p>
        </p:txBody>
      </p:sp>
      <p:sp>
        <p:nvSpPr>
          <p:cNvPr id="301" name="Google Shape;301;p23"/>
          <p:cNvSpPr txBox="1"/>
          <p:nvPr>
            <p:ph idx="12" type="sldNum"/>
          </p:nvPr>
        </p:nvSpPr>
        <p:spPr>
          <a:xfrm>
            <a:off x="8050571" y="7202406"/>
            <a:ext cx="2405700" cy="1349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  <p:sp>
        <p:nvSpPr>
          <p:cNvPr id="302" name="Google Shape;302;p23"/>
          <p:cNvSpPr txBox="1"/>
          <p:nvPr>
            <p:ph idx="11" type="ftr"/>
          </p:nvPr>
        </p:nvSpPr>
        <p:spPr>
          <a:xfrm>
            <a:off x="7261741" y="197293"/>
            <a:ext cx="3194529" cy="1349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{{company_name}}</a:t>
            </a:r>
            <a:endParaRPr b="0"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23"/>
          <p:cNvSpPr/>
          <p:nvPr/>
        </p:nvSpPr>
        <p:spPr>
          <a:xfrm>
            <a:off x="527761" y="4029576"/>
            <a:ext cx="181932" cy="203984"/>
          </a:xfrm>
          <a:prstGeom prst="rect">
            <a:avLst/>
          </a:prstGeom>
          <a:noFill/>
          <a:ln>
            <a:noFill/>
          </a:ln>
        </p:spPr>
      </p:sp>
      <p:graphicFrame>
        <p:nvGraphicFramePr>
          <p:cNvPr id="304" name="Google Shape;304;p23"/>
          <p:cNvGraphicFramePr/>
          <p:nvPr/>
        </p:nvGraphicFramePr>
        <p:xfrm>
          <a:off x="454795" y="1436935"/>
          <a:ext cx="2630906" cy="2630906"/>
        </p:xfrm>
        <a:graphic>
          <a:graphicData uri="http://schemas.openxmlformats.org/drawingml/2006/table">
            <a:tbl>
              <a:tblPr firstRow="1">
                <a:noFill/>
                <a:tableStyleId>{A4A76372-1D77-4638-8BC6-133FC8FB7DB3}</a:tableStyleId>
              </a:tblPr>
              <a:tblGrid>
                <a:gridCol w="2160127"/>
                <a:gridCol w="7631577"/>
              </a:tblGrid>
              <a:tr h="265195">
                <a:tc gridSpan="2"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L’impresa è a conoscenza di incidenti negativi confermati in materia di diritti umani nella catena del valore di </a:t>
                      </a:r>
                      <a:r>
                        <a:rPr b="1" lang="it-IT" sz="1050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{{company_name}}</a:t>
                      </a: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 </a:t>
                      </a:r>
                      <a:r>
                        <a:rPr b="0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(punto 62c)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 hMerge="1"/>
              </a:tr>
              <a:tr h="456374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Lavoratori nella catena del valore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{{incidents_workers_value_chain}}</a:t>
                      </a:r>
                      <a:endParaRPr sz="1050">
                        <a:solidFill>
                          <a:srgbClr val="1B4528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56374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Comunità interessate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{{incidents_affected_communities}}</a:t>
                      </a:r>
                      <a:endParaRPr sz="1050">
                        <a:solidFill>
                          <a:srgbClr val="1B4528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56374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Consumatori e utilizzatori finali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{{incidents_consumers}}</a:t>
                      </a:r>
                      <a:endParaRPr b="0" sz="1050"/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305" name="Google Shape;305;p23"/>
          <p:cNvSpPr txBox="1"/>
          <p:nvPr/>
        </p:nvSpPr>
        <p:spPr>
          <a:xfrm>
            <a:off x="452474" y="891000"/>
            <a:ext cx="9794026" cy="242919"/>
          </a:xfrm>
          <a:prstGeom prst="rect">
            <a:avLst/>
          </a:prstGeom>
          <a:noFill/>
          <a:ln>
            <a:noFill/>
          </a:ln>
        </p:spPr>
        <p:txBody>
          <a:bodyPr anchorCtr="0" anchor="t" bIns="40077" lIns="80177" spcFirstLastPara="1" rIns="80177" wrap="square" tIns="40077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it-IT" sz="1050" u="none" strike="noStrik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  <a:t>Di seguito sono </a:t>
            </a:r>
            <a:r>
              <a:rPr lang="it-IT" sz="105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  <a:t>indicate informazioni sulla </a:t>
            </a:r>
            <a:r>
              <a:rPr b="0" i="0" lang="it-IT" sz="1050" u="none" strike="noStrik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  <a:t>conoscenza da parte dell’impresa di incidenti negativi confermati in materia di diritti umani nella propria catena del valore.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24"/>
          <p:cNvSpPr txBox="1"/>
          <p:nvPr>
            <p:ph type="title"/>
          </p:nvPr>
        </p:nvSpPr>
        <p:spPr>
          <a:xfrm>
            <a:off x="454796" y="450698"/>
            <a:ext cx="9791704" cy="2186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B4528"/>
              </a:buClr>
              <a:buSzPts val="1800"/>
              <a:buFont typeface="IBM Plex Sans"/>
              <a:buNone/>
            </a:pPr>
            <a:r>
              <a:rPr b="1" i="0" lang="it-IT" sz="1575" u="none" strike="noStrike">
                <a:solidFill>
                  <a:srgbClr val="1B4528"/>
                </a:solidFill>
              </a:rPr>
              <a:t>Ricavi da determinate attività (C8)</a:t>
            </a:r>
            <a:endParaRPr/>
          </a:p>
        </p:txBody>
      </p:sp>
      <p:sp>
        <p:nvSpPr>
          <p:cNvPr id="311" name="Google Shape;311;p24"/>
          <p:cNvSpPr txBox="1"/>
          <p:nvPr>
            <p:ph idx="12" type="sldNum"/>
          </p:nvPr>
        </p:nvSpPr>
        <p:spPr>
          <a:xfrm>
            <a:off x="8050571" y="7202406"/>
            <a:ext cx="2405700" cy="1349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  <p:sp>
        <p:nvSpPr>
          <p:cNvPr id="312" name="Google Shape;312;p24"/>
          <p:cNvSpPr txBox="1"/>
          <p:nvPr>
            <p:ph idx="11" type="ftr"/>
          </p:nvPr>
        </p:nvSpPr>
        <p:spPr>
          <a:xfrm>
            <a:off x="7261741" y="197293"/>
            <a:ext cx="3194529" cy="1349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{{company_name}}</a:t>
            </a:r>
            <a:endParaRPr b="0"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aphicFrame>
        <p:nvGraphicFramePr>
          <p:cNvPr id="313" name="Google Shape;313;p24"/>
          <p:cNvGraphicFramePr/>
          <p:nvPr/>
        </p:nvGraphicFramePr>
        <p:xfrm>
          <a:off x="454794" y="1250404"/>
          <a:ext cx="2630906" cy="2630906"/>
        </p:xfrm>
        <a:graphic>
          <a:graphicData uri="http://schemas.openxmlformats.org/drawingml/2006/table">
            <a:tbl>
              <a:tblPr firstRow="1">
                <a:noFill/>
                <a:tableStyleId>{A4A76372-1D77-4638-8BC6-133FC8FB7DB3}</a:tableStyleId>
              </a:tblPr>
              <a:tblGrid>
                <a:gridCol w="6711111"/>
                <a:gridCol w="3080593"/>
              </a:tblGrid>
              <a:tr h="301524"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2"/>
                        </a:buClr>
                        <a:buSzPts val="1200"/>
                        <a:buFont typeface="IBM Plex Sans"/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Ricavi da determinati settori</a:t>
                      </a:r>
                      <a:r>
                        <a:rPr b="0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 (punto 63 a-d)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sz="1050">
                        <a:solidFill>
                          <a:schemeClr val="dk2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 hMerge="1"/>
              </a:tr>
              <a:tr h="301524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sz="1050">
                        <a:solidFill>
                          <a:schemeClr val="dk2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BM Plex Sans"/>
                        <a:buNone/>
                      </a:pPr>
                      <a:r>
                        <a:rPr b="1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Ricavi nell’anno </a:t>
                      </a:r>
                      <a:r>
                        <a:rPr b="1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{{Insert year}}</a:t>
                      </a:r>
                      <a:endParaRPr sz="1050"/>
                    </a:p>
                  </a:txBody>
                  <a:tcPr marT="22275" marB="22275" marR="33412" marL="33412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</a:tr>
              <a:tr h="301524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Armi controverse (mine antiuomo, munizioni a grappolo, armi chimiche e biologiche)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{{revenue_weapons}}</a:t>
                      </a:r>
                      <a:endParaRPr sz="1050"/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01524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Coltivazione e/o produzione di tabacco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{{revenue_cultivation}}</a:t>
                      </a:r>
                      <a:endParaRPr sz="1050"/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01524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Combustibili fossili: carbone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{{revenue_coal}}</a:t>
                      </a:r>
                      <a:endParaRPr sz="1050"/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01524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Combustibili fossili: petrolio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{{revenue_oil}}</a:t>
                      </a:r>
                      <a:endParaRPr sz="1050"/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01524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Combustibili fossili: gas/gas naturale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{{revenue_gas}}</a:t>
                      </a:r>
                      <a:endParaRPr sz="1050"/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01524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Produzione di sostanze chimiche per pesticidi e altri prodotti chimici per l’agricoltura</a:t>
                      </a:r>
                      <a:endParaRPr/>
                    </a:p>
                  </a:txBody>
                  <a:tcPr marT="31571" marB="31571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4528"/>
                        </a:buClr>
                        <a:buSzPts val="1200"/>
                        <a:buFont typeface="Inter"/>
                        <a:buNone/>
                      </a:pP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{{revenue_chemichal}}</a:t>
                      </a:r>
                      <a:endParaRPr sz="1050"/>
                    </a:p>
                  </a:txBody>
                  <a:tcPr marT="16706" marB="16706" marR="22275" marL="22275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314" name="Google Shape;314;p24"/>
          <p:cNvSpPr txBox="1"/>
          <p:nvPr/>
        </p:nvSpPr>
        <p:spPr>
          <a:xfrm>
            <a:off x="454794" y="891000"/>
            <a:ext cx="9791705" cy="242919"/>
          </a:xfrm>
          <a:prstGeom prst="rect">
            <a:avLst/>
          </a:prstGeom>
          <a:noFill/>
          <a:ln>
            <a:noFill/>
          </a:ln>
        </p:spPr>
        <p:txBody>
          <a:bodyPr anchorCtr="0" anchor="t" bIns="40077" lIns="80177" spcFirstLastPara="1" rIns="80177" wrap="square" tIns="40077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None/>
            </a:pPr>
            <a:r>
              <a:rPr lang="it-IT" sz="105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  <a:t>L</a:t>
            </a:r>
            <a:r>
              <a:rPr b="0" i="0" lang="it-IT" sz="1050" u="none" strike="noStrik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  <a:t>’impresa ha indicato i ricavi da determinati settori e gli importi derivanti da tali attività.</a:t>
            </a:r>
            <a:endParaRPr sz="1575">
              <a:solidFill>
                <a:schemeClr val="dk2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315" name="Google Shape;315;p24"/>
          <p:cNvSpPr txBox="1"/>
          <p:nvPr/>
        </p:nvSpPr>
        <p:spPr>
          <a:xfrm>
            <a:off x="454796" y="4164232"/>
            <a:ext cx="9791704" cy="2186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B4528"/>
              </a:buClr>
              <a:buSzPts val="1800"/>
              <a:buFont typeface="IBM Plex Sans"/>
              <a:buNone/>
            </a:pPr>
            <a:r>
              <a:rPr b="1" lang="it-IT" sz="1575">
                <a:solidFill>
                  <a:srgbClr val="1B4528"/>
                </a:solidFill>
                <a:latin typeface="IBM Plex Sans"/>
                <a:ea typeface="IBM Plex Sans"/>
                <a:cs typeface="IBM Plex Sans"/>
                <a:sym typeface="IBM Plex Sans"/>
              </a:rPr>
              <a:t>Diversità di genere nell’organo di governance (C9)</a:t>
            </a:r>
            <a:endParaRPr b="1" sz="1575">
              <a:solidFill>
                <a:schemeClr val="dk2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graphicFrame>
        <p:nvGraphicFramePr>
          <p:cNvPr id="316" name="Google Shape;316;p24"/>
          <p:cNvGraphicFramePr/>
          <p:nvPr/>
        </p:nvGraphicFramePr>
        <p:xfrm>
          <a:off x="445498" y="4923932"/>
          <a:ext cx="2630906" cy="2630906"/>
        </p:xfrm>
        <a:graphic>
          <a:graphicData uri="http://schemas.openxmlformats.org/drawingml/2006/table">
            <a:tbl>
              <a:tblPr firstRow="1">
                <a:noFill/>
                <a:tableStyleId>{A4A76372-1D77-4638-8BC6-133FC8FB7DB3}</a:tableStyleId>
              </a:tblPr>
              <a:tblGrid>
                <a:gridCol w="6756472"/>
                <a:gridCol w="3035232"/>
              </a:tblGrid>
              <a:tr h="252567">
                <a:tc rowSpan="2"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Rapporto tra donne e uomini nell’organo di governance (</a:t>
                      </a:r>
                      <a:r>
                        <a:rPr b="0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punto 64</a:t>
                      </a:r>
                      <a:r>
                        <a:rPr b="1" lang="it-IT" sz="1050">
                          <a:solidFill>
                            <a:schemeClr val="dk2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)</a:t>
                      </a:r>
                      <a:endParaRPr/>
                    </a:p>
                  </a:txBody>
                  <a:tcPr marT="18943" marB="18943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it-IT" sz="1050">
                          <a:solidFill>
                            <a:schemeClr val="dk2"/>
                          </a:solidFill>
                        </a:rPr>
                        <a:t>Anno </a:t>
                      </a:r>
                      <a:r>
                        <a:rPr b="1" i="0" lang="it-IT" sz="1050" u="none" strike="noStrike">
                          <a:solidFill>
                            <a:srgbClr val="1B452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{{Insert year}}</a:t>
                      </a:r>
                      <a:endParaRPr b="1" sz="1050">
                        <a:solidFill>
                          <a:schemeClr val="dk2"/>
                        </a:solidFill>
                      </a:endParaRPr>
                    </a:p>
                  </a:txBody>
                  <a:tcPr marT="18943" marB="18943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</a:tr>
              <a:tr h="252567">
                <a:tc vMerge="1"/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it-IT" sz="1050">
                          <a:solidFill>
                            <a:srgbClr val="1B4528"/>
                          </a:solidFill>
                        </a:rPr>
                        <a:t>{{</a:t>
                      </a:r>
                      <a:r>
                        <a:rPr b="0" i="0" lang="it-IT" sz="1050" u="none" strike="noStrike">
                          <a:solidFill>
                            <a:srgbClr val="1B4528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gender_supreme_body</a:t>
                      </a:r>
                      <a:r>
                        <a:rPr b="0" lang="it-IT" sz="1050">
                          <a:solidFill>
                            <a:srgbClr val="1B4528"/>
                          </a:solidFill>
                        </a:rPr>
                        <a:t>}}</a:t>
                      </a:r>
                      <a:endParaRPr/>
                    </a:p>
                  </a:txBody>
                  <a:tcPr marT="18943" marB="18943" marR="47356" marL="47356" anchor="ctr">
                    <a:lnL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17" name="Google Shape;317;p24"/>
          <p:cNvSpPr txBox="1"/>
          <p:nvPr/>
        </p:nvSpPr>
        <p:spPr>
          <a:xfrm>
            <a:off x="2674261" y="2848961"/>
            <a:ext cx="5348520" cy="323893"/>
          </a:xfrm>
          <a:prstGeom prst="rect">
            <a:avLst/>
          </a:prstGeom>
          <a:noFill/>
          <a:ln>
            <a:noFill/>
          </a:ln>
        </p:spPr>
        <p:txBody>
          <a:bodyPr anchorCtr="0" anchor="t" bIns="40077" lIns="80177" spcFirstLastPara="1" rIns="80177" wrap="square" tIns="40077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it-IT" sz="1575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 </a:t>
            </a:r>
            <a:endParaRPr sz="1575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318" name="Google Shape;318;p24"/>
          <p:cNvSpPr txBox="1"/>
          <p:nvPr/>
        </p:nvSpPr>
        <p:spPr>
          <a:xfrm>
            <a:off x="461316" y="4496286"/>
            <a:ext cx="9791705" cy="242919"/>
          </a:xfrm>
          <a:prstGeom prst="rect">
            <a:avLst/>
          </a:prstGeom>
          <a:noFill/>
          <a:ln>
            <a:noFill/>
          </a:ln>
        </p:spPr>
        <p:txBody>
          <a:bodyPr anchorCtr="0" anchor="t" bIns="40077" lIns="80177" spcFirstLastPara="1" rIns="80177" wrap="square" tIns="40077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None/>
            </a:pPr>
            <a:r>
              <a:rPr lang="it-IT" sz="105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  <a:t>L</a:t>
            </a:r>
            <a:r>
              <a:rPr b="0" i="0" lang="it-IT" sz="1050" u="none" strike="noStrik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  <a:t>’impresa ha indicato il rapporto tra donne e uomini nell’organo di governance.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5"/>
          <p:cNvSpPr txBox="1"/>
          <p:nvPr>
            <p:ph idx="1" type="body"/>
          </p:nvPr>
        </p:nvSpPr>
        <p:spPr>
          <a:xfrm>
            <a:off x="3860535" y="3900259"/>
            <a:ext cx="3025224" cy="9070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</a:pPr>
            <a:r>
              <a:rPr b="1" lang="it-IT" sz="1575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{{company_name}}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175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</a:pPr>
            <a:r>
              <a:rPr b="1" lang="it-IT" sz="1575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{{insert_year}}</a:t>
            </a:r>
            <a:br>
              <a:rPr b="1" lang="it-IT" sz="1575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</a:br>
            <a:endParaRPr sz="1575"/>
          </a:p>
        </p:txBody>
      </p:sp>
      <p:sp>
        <p:nvSpPr>
          <p:cNvPr id="324" name="Google Shape;324;p25"/>
          <p:cNvSpPr txBox="1"/>
          <p:nvPr>
            <p:ph idx="12" type="sldNum"/>
          </p:nvPr>
        </p:nvSpPr>
        <p:spPr>
          <a:xfrm>
            <a:off x="8050571" y="7202406"/>
            <a:ext cx="2405700" cy="1349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a ESG skabelon 2023">
  <a:themeElements>
    <a:clrScheme name="Custom 63">
      <a:dk1>
        <a:srgbClr val="000000"/>
      </a:dk1>
      <a:lt1>
        <a:srgbClr val="FFFFFF"/>
      </a:lt1>
      <a:dk2>
        <a:srgbClr val="1B4528"/>
      </a:dk2>
      <a:lt2>
        <a:srgbClr val="D1DAD4"/>
      </a:lt2>
      <a:accent1>
        <a:srgbClr val="1B4528"/>
      </a:accent1>
      <a:accent2>
        <a:srgbClr val="2D55FF"/>
      </a:accent2>
      <a:accent3>
        <a:srgbClr val="FCFC95"/>
      </a:accent3>
      <a:accent4>
        <a:srgbClr val="5F7D69"/>
      </a:accent4>
      <a:accent5>
        <a:srgbClr val="8DA294"/>
      </a:accent5>
      <a:accent6>
        <a:srgbClr val="BBC7BF"/>
      </a:accent6>
      <a:hlink>
        <a:srgbClr val="00A65A"/>
      </a:hlink>
      <a:folHlink>
        <a:srgbClr val="A6A6A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-tema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2025-02-28T18:51:17Z</dcterms:creat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0x0101004C5C98558ED72C4BBCB756F8247CFA4C</vt:lpwstr>
  </property>
  <property fmtid="{D5CDD505-2E9C-101B-9397-08002B2CF9AE}" pid="3" name="MediaServiceImageTags">
    <vt:lpwstr/>
  </property>
</Properties>
</file>