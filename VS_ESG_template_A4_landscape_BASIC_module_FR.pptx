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30"/>
  </p:notesMasterIdLst>
  <p:sldIdLst>
    <p:sldId id="258" r:id="rId5"/>
    <p:sldId id="331" r:id="rId6"/>
    <p:sldId id="355" r:id="rId7"/>
    <p:sldId id="326" r:id="rId8"/>
    <p:sldId id="314" r:id="rId9"/>
    <p:sldId id="327" r:id="rId10"/>
    <p:sldId id="316" r:id="rId11"/>
    <p:sldId id="297" r:id="rId12"/>
    <p:sldId id="300" r:id="rId13"/>
    <p:sldId id="301" r:id="rId14"/>
    <p:sldId id="302" r:id="rId15"/>
    <p:sldId id="307" r:id="rId16"/>
    <p:sldId id="272" r:id="rId29"/>
  </p:sldIdLst>
  <p:sldSz cx="10692000" cy="7560000" type="A4"/>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383CF3-0F17-4DA7-AC5F-396DF6463070}" v="36" dt="2026-08-04T20:47:23.299"/>
    <p1510:client id="{9CB8CBE5-AFE3-AE0A-C576-FD9E7262F5DA}" v="153" dt="2026-08-05T15:04:12.209"/>
    <p1510:client id="{9F9C41D0-6860-4C95-9D1A-3405FEFCCBF5}" v="56" dt="2026-08-06T18:34:10.3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9.xml"/><Relationship Id="rId3" Type="http://schemas.openxmlformats.org/officeDocument/2006/relationships/customXml" Target="../customXml/item3.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36" Type="http://schemas.microsoft.com/office/2018/10/relationships/authors" Target="authors.xml"/><Relationship Id="rId10" Type="http://schemas.openxmlformats.org/officeDocument/2006/relationships/slide" Target="slides/slide6.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fr-FR"/>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fr-FR" smtClean="0"/>
              <a:pPr/>
              <a:t xml:space="preserve">06-08-2026</a:t>
            </a:fld>
            <a:endParaRPr lang="fr-FR"/>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 xml:space="preserve">Cliquez pour modifier les styles du texte du masque</a:t>
            </a:r>
          </a:p>
          <a:p>
            <a:pPr lvl="1"/>
            <a:r>
              <a:rPr lang="fr-FR"/>
              <a:t xml:space="preserve">Deuxième niveau</a:t>
            </a:r>
          </a:p>
          <a:p>
            <a:pPr lvl="2"/>
            <a:r>
              <a:rPr lang="fr-FR"/>
              <a:t xml:space="preserve">Troisième niveau</a:t>
            </a:r>
          </a:p>
          <a:p>
            <a:pPr lvl="3"/>
            <a:r>
              <a:rPr lang="fr-FR"/>
              <a:t xml:space="preserve">Quatrième niveau</a:t>
            </a:r>
          </a:p>
          <a:p>
            <a:pPr lvl="4"/>
            <a:r>
              <a:rPr lang="fr-FR"/>
              <a:t xml:space="preserve">Cinquième niveau</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fr-FR"/>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fr-FR" smtClean="0"/>
              <a:pPr/>
              <a:t xml:space="preserve">‹#›</a:t>
            </a:fld>
            <a:endParaRPr lang="fr-FR"/>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1</a:t>
            </a:fld>
            <a:endParaRPr lang="fr-FR"/>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2</a:t>
            </a:fld>
            <a:endParaRPr lang="fr-FR"/>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3</a:t>
            </a:fld>
            <a:endParaRPr lang="fr-FR"/>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4</a:t>
            </a:fld>
            <a:endParaRPr lang="fr-FR"/>
          </a:p>
        </p:txBody>
      </p:sp>
    </p:spTree>
    <p:extLst>
      <p:ext uri="{BB962C8B-B14F-4D97-AF65-F5344CB8AC3E}">
        <p14:creationId xmlns:p14="http://schemas.microsoft.com/office/powerpoint/2010/main" val="3385997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fr-FR"/>
              <a:t xml:space="preserve">Supprimé: </a:t>
            </a:r>
            <a:r>
              <a:rPr lang="en-GB" sz="1200" b="0" i="0" u="none" strike="noStrike" kern="1200">
                <a:solidFill>
                  <a:schemeClr val="tx1"/>
                </a:solidFill>
                <a:effectLst/>
                <a:latin typeface="IBM Plex Sans" panose="020B0503050203000203" pitchFamily="34" charset="0"/>
                <a:ea typeface="+mn-ea"/>
                <a:cs typeface="+mn-cs"/>
              </a:rPr>
              <a:t xml:space="preserve">{{documents_B2}}</a:t>
            </a:r>
          </a:p>
          <a:p>
            <a:r>
              <a:rPr lang="en-GB" sz="1200" b="0" i="0" u="none" strike="noStrike" kern="1200" err="1">
                <a:solidFill>
                  <a:schemeClr val="tx1"/>
                </a:solidFill>
                <a:effectLst/>
                <a:latin typeface="IBM Plex Sans" panose="020B0503050203000203" pitchFamily="34" charset="0"/>
                <a:ea typeface="+mn-ea"/>
                <a:cs typeface="+mn-cs"/>
              </a:rPr>
              <a:t xml:space="preserve">Ajouté</a:t>
            </a:r>
            <a:r>
              <a:rPr lang="en-GB" sz="1200" b="0" i="0" u="none" strike="noStrike" kern="1200">
                <a:solidFill>
                  <a:schemeClr val="tx1"/>
                </a:solidFill>
                <a:effectLst/>
                <a:latin typeface="IBM Plex Sans" panose="020B0503050203000203" pitchFamily="34" charset="0"/>
                <a:ea typeface="+mn-ea"/>
                <a:cs typeface="+mn-cs"/>
              </a:rPr>
              <a:t xml:space="preserve">: </a:t>
            </a:r>
            <a:r>
              <a:rPr lang="en-GB" sz="1200" b="0" i="0" u="none" strike="noStrike" kern="1200" err="1">
                <a:solidFill>
                  <a:schemeClr val="tx1"/>
                </a:solidFill>
                <a:effectLst/>
                <a:latin typeface="IBM Plex Sans" panose="020B0503050203000203" pitchFamily="34" charset="0"/>
                <a:ea typeface="+mn-ea"/>
                <a:cs typeface="+mn-cs"/>
              </a:rPr>
              <a:t xml:space="preserve">colonne</a:t>
            </a:r>
            <a:r>
              <a:rPr lang="en-GB" sz="1200" b="0" i="0" u="none" strike="noStrike" kern="1200">
                <a:solidFill>
                  <a:schemeClr val="tx1"/>
                </a:solidFill>
                <a:effectLst/>
                <a:latin typeface="IBM Plex Sans" panose="020B0503050203000203" pitchFamily="34" charset="0"/>
                <a:ea typeface="+mn-ea"/>
                <a:cs typeface="+mn-cs"/>
              </a:rPr>
              <a:t xml:space="preserve"> sur le </a:t>
            </a:r>
            <a:r>
              <a:rPr lang="en-GB" sz="1200" b="0" i="0" u="none" strike="noStrike" kern="1200" err="1">
                <a:solidFill>
                  <a:schemeClr val="tx1"/>
                </a:solidFill>
                <a:effectLst/>
                <a:latin typeface="IBM Plex Sans" panose="020B0503050203000203" pitchFamily="34" charset="0"/>
                <a:ea typeface="+mn-ea"/>
                <a:cs typeface="+mn-cs"/>
              </a:rPr>
              <a:t xml:space="preserve">suivi</a:t>
            </a:r>
            <a:endParaRPr lang="en-GB"/>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5</a:t>
            </a:fld>
            <a:endParaRPr lang="fr-FR"/>
          </a:p>
        </p:txBody>
      </p:sp>
    </p:spTree>
    <p:extLst>
      <p:ext uri="{BB962C8B-B14F-4D97-AF65-F5344CB8AC3E}">
        <p14:creationId xmlns:p14="http://schemas.microsoft.com/office/powerpoint/2010/main" val="3400092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fr-FR"/>
          </a:p>
        </p:txBody>
      </p:sp>
      <p:sp>
        <p:nvSpPr>
          <p:cNvPr id="3" name="Pladsholder til noter 2"/>
          <p:cNvSpPr>
            <a:spLocks noGrp="1"/>
          </p:cNvSpPr>
          <p:nvPr>
            <p:ph type="body" idx="1"/>
          </p:nvPr>
        </p:nvSpPr>
        <p:spPr/>
        <p:txBody>
          <a:bodyPr/>
          <a:lstStyle/>
          <a:p>
            <a:pPr rtl="0"/>
            <a:r>
              <a:rPr lang="fr-FR"/>
              <a:t xml:space="preserve">Supprimé: </a:t>
            </a:r>
            <a:r>
              <a:rPr lang="en-GB" sz="1200" b="0" i="0" u="none" strike="noStrike" kern="1200">
                <a:solidFill>
                  <a:schemeClr val="tx1"/>
                </a:solidFill>
                <a:effectLst/>
                <a:latin typeface="IBM Plex Sans" panose="020B0503050203000203" pitchFamily="34" charset="0"/>
                <a:ea typeface="+mn-ea"/>
                <a:cs typeface="+mn-cs"/>
              </a:rPr>
              <a:t xml:space="preserve">{{Insert_CO2e_intensity}}</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6</a:t>
            </a:fld>
            <a:endParaRPr lang="fr-FR"/>
          </a:p>
        </p:txBody>
      </p:sp>
    </p:spTree>
    <p:extLst>
      <p:ext uri="{BB962C8B-B14F-4D97-AF65-F5344CB8AC3E}">
        <p14:creationId xmlns:p14="http://schemas.microsoft.com/office/powerpoint/2010/main" val="3098348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fr-FR"/>
              <a:t xml:space="preserve">Supprimé: </a:t>
            </a:r>
            <a:r>
              <a:rPr lang="en-GB" sz="1200" b="0" i="0" u="none" strike="noStrike" kern="1200">
                <a:solidFill>
                  <a:schemeClr val="tx1"/>
                </a:solidFill>
                <a:effectLst/>
                <a:latin typeface="IBM Plex Sans" panose="020B0503050203000203" pitchFamily="34" charset="0"/>
                <a:ea typeface="+mn-ea"/>
                <a:cs typeface="+mn-cs"/>
              </a:rPr>
              <a:t xml:space="preserve">{{uploaded_documents_B4}}</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7</a:t>
            </a:fld>
            <a:endParaRPr lang="fr-FR"/>
          </a:p>
        </p:txBody>
      </p:sp>
    </p:spTree>
    <p:extLst>
      <p:ext uri="{BB962C8B-B14F-4D97-AF65-F5344CB8AC3E}">
        <p14:creationId xmlns:p14="http://schemas.microsoft.com/office/powerpoint/2010/main" val="247428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fr-FR"/>
              <a:t xml:space="preserve">Supprimé: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waterstress_withdrawal</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a:p>
            <a:br>
              <a:rPr lang="en-GB"/>
            </a:br>
            <a:endParaRPr lang="en-GB"/>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8</a:t>
            </a:fld>
            <a:endParaRPr lang="fr-FR"/>
          </a:p>
        </p:txBody>
      </p:sp>
    </p:spTree>
    <p:extLst>
      <p:ext uri="{BB962C8B-B14F-4D97-AF65-F5344CB8AC3E}">
        <p14:creationId xmlns:p14="http://schemas.microsoft.com/office/powerpoint/2010/main" val="311205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fr-FR"/>
          </a:p>
        </p:txBody>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9</a:t>
            </a:fld>
            <a:endParaRPr lang="fr-FR"/>
          </a:p>
        </p:txBody>
      </p:sp>
    </p:spTree>
    <p:extLst>
      <p:ext uri="{BB962C8B-B14F-4D97-AF65-F5344CB8AC3E}">
        <p14:creationId xmlns:p14="http://schemas.microsoft.com/office/powerpoint/2010/main" val="2243809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fr-FR"/>
              <a:t xml:space="preserve">Supprimé: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omsatningsrate</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10</a:t>
            </a:fld>
            <a:endParaRPr lang="fr-FR"/>
          </a:p>
        </p:txBody>
      </p:sp>
    </p:spTree>
    <p:extLst>
      <p:ext uri="{BB962C8B-B14F-4D97-AF65-F5344CB8AC3E}">
        <p14:creationId xmlns:p14="http://schemas.microsoft.com/office/powerpoint/2010/main" val="40643826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fr-FR"/>
          </a:p>
        </p:txBody>
      </p:sp>
      <p:sp>
        <p:nvSpPr>
          <p:cNvPr id="3" name="Pladsholder til noter 2"/>
          <p:cNvSpPr>
            <a:spLocks noGrp="1"/>
          </p:cNvSpPr>
          <p:nvPr>
            <p:ph type="body" idx="1"/>
          </p:nvPr>
        </p:nvSpPr>
        <p:spPr/>
        <p:txBody>
          <a:bodyPr/>
          <a:lstStyle/>
          <a:p>
            <a:pPr rtl="0" eaLnBrk="1" fontAlgn="ctr" latinLnBrk="0" hangingPunct="1"/>
            <a:r>
              <a:rPr lang="fr-FR" b="0">
                <a:effectLst/>
              </a:rPr>
              <a:t xml:space="preserve">Supprimé: </a:t>
            </a:r>
            <a:r>
              <a:rPr lang="fr-FR" sz="1200" b="0" i="0" u="none" strike="noStrike" kern="1200">
                <a:solidFill>
                  <a:schemeClr val="tx1"/>
                </a:solidFill>
                <a:effectLst/>
                <a:latin typeface="IBM Plex Sans" panose="020B0503050203000203" pitchFamily="34" charset="0"/>
                <a:ea typeface="+mn-ea"/>
                <a:cs typeface="+mn-cs"/>
              </a:rPr>
              <a:t xml:space="preserve">{{</a:t>
            </a:r>
            <a:r>
              <a:rPr lang="fr-FR" sz="1200" b="0" i="0" u="none" strike="noStrike" kern="1200" err="1">
                <a:solidFill>
                  <a:schemeClr val="tx1"/>
                </a:solidFill>
                <a:effectLst/>
                <a:latin typeface="IBM Plex Sans" panose="020B0503050203000203" pitchFamily="34" charset="0"/>
                <a:ea typeface="+mn-ea"/>
                <a:cs typeface="+mn-cs"/>
              </a:rPr>
              <a:t xml:space="preserve">men_gennemsnitstimer</a:t>
            </a:r>
            <a:r>
              <a:rPr lang="fr-FR"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fr-FR" sz="1200" b="0" i="0" u="none" strike="noStrike" kern="1200">
                <a:solidFill>
                  <a:schemeClr val="tx1"/>
                </a:solidFill>
                <a:effectLst/>
                <a:latin typeface="IBM Plex Sans" panose="020B0503050203000203" pitchFamily="34" charset="0"/>
                <a:ea typeface="+mn-ea"/>
                <a:cs typeface="+mn-cs"/>
              </a:rPr>
              <a:t xml:space="preserve">{{</a:t>
            </a:r>
            <a:r>
              <a:rPr lang="fr-FR" sz="1200" b="0" i="0" u="none" strike="noStrike" kern="1200" err="1">
                <a:solidFill>
                  <a:schemeClr val="tx1"/>
                </a:solidFill>
                <a:effectLst/>
                <a:latin typeface="IBM Plex Sans" panose="020B0503050203000203" pitchFamily="34" charset="0"/>
                <a:ea typeface="+mn-ea"/>
                <a:cs typeface="+mn-cs"/>
              </a:rPr>
              <a:t xml:space="preserve">women_gennemsnitstimer</a:t>
            </a:r>
            <a:r>
              <a:rPr lang="fr-FR"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fr-FR" sz="1200" b="0" i="0" u="none" strike="noStrike" kern="1200">
                <a:solidFill>
                  <a:schemeClr val="tx1"/>
                </a:solidFill>
                <a:effectLst/>
                <a:latin typeface="IBM Plex Sans" panose="020B0503050203000203" pitchFamily="34" charset="0"/>
                <a:ea typeface="+mn-ea"/>
                <a:cs typeface="+mn-cs"/>
              </a:rPr>
              <a:t xml:space="preserve">{{</a:t>
            </a:r>
            <a:r>
              <a:rPr lang="fr-FR" sz="1200" b="0" i="0" u="none" strike="noStrike" kern="1200" err="1">
                <a:solidFill>
                  <a:schemeClr val="tx1"/>
                </a:solidFill>
                <a:effectLst/>
                <a:latin typeface="IBM Plex Sans" panose="020B0503050203000203" pitchFamily="34" charset="0"/>
                <a:ea typeface="+mn-ea"/>
                <a:cs typeface="+mn-cs"/>
              </a:rPr>
              <a:t xml:space="preserve">other_gennemsnitstimer</a:t>
            </a:r>
            <a:r>
              <a:rPr lang="fr-FR"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11</a:t>
            </a:fld>
            <a:endParaRPr lang="fr-FR"/>
          </a:p>
        </p:txBody>
      </p:sp>
    </p:spTree>
    <p:extLst>
      <p:ext uri="{BB962C8B-B14F-4D97-AF65-F5344CB8AC3E}">
        <p14:creationId xmlns:p14="http://schemas.microsoft.com/office/powerpoint/2010/main" val="3599874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12</a:t>
            </a:fld>
            <a:endParaRPr lang="fr-FR"/>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45500" y="890814"/>
            <a:ext cx="3080911" cy="4672738"/>
          </a:xfrm>
        </p:spPr>
        <p:txBody>
          <a:bodyPr/>
          <a:lstStyle>
            <a:lvl1pPr marL="0" indent="0">
              <a:buNone/>
              <a:defRPr/>
            </a:lvl1pPr>
          </a:lstStyle>
          <a:p>
            <a:pPr lvl="0"/>
            <a:r>
              <a:rPr lang="fr-FR" noProof="0" err="1"/>
              <a:t xml:space="preserve">Click</a:t>
            </a:r>
            <a:r>
              <a:rPr lang="fr-FR" noProof="0"/>
              <a:t xml:space="preserve"> to </a:t>
            </a:r>
            <a:r>
              <a:rPr lang="fr-FR" noProof="0" err="1"/>
              <a:t xml:space="preserve">edit</a:t>
            </a:r>
            <a:r>
              <a:rPr lang="fr-FR" noProof="0"/>
              <a:t xml:space="preserve"> Master </a:t>
            </a:r>
            <a:r>
              <a:rPr lang="fr-FR" noProof="0" err="1"/>
              <a:t xml:space="preserve">text</a:t>
            </a:r>
            <a:r>
              <a:rPr lang="fr-FR" noProof="0"/>
              <a:t xml:space="preserve">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3804849" y="890815"/>
            <a:ext cx="3080910" cy="4672737"/>
          </a:xfrm>
        </p:spPr>
        <p:txBody>
          <a:bodyPr/>
          <a:lstStyle>
            <a:lvl1pPr marL="0" indent="0">
              <a:buNone/>
              <a:defRPr/>
            </a:lvl1pPr>
          </a:lstStyle>
          <a:p>
            <a:pPr lvl="0"/>
            <a:r>
              <a:rPr lang="fr-FR" noProof="0" err="1"/>
              <a:t xml:space="preserve">Click</a:t>
            </a:r>
            <a:r>
              <a:rPr lang="fr-FR" noProof="0"/>
              <a:t xml:space="preserve"> to </a:t>
            </a:r>
            <a:r>
              <a:rPr lang="fr-FR" noProof="0" err="1"/>
              <a:t xml:space="preserve">edit</a:t>
            </a:r>
            <a:r>
              <a:rPr lang="fr-FR" noProof="0"/>
              <a:t xml:space="preserve"> Master </a:t>
            </a:r>
            <a:r>
              <a:rPr lang="fr-FR" noProof="0" err="1"/>
              <a:t xml:space="preserve">text</a:t>
            </a:r>
            <a:r>
              <a:rPr lang="fr-FR" noProof="0"/>
              <a:t xml:space="preserve">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ESG wordmark"/>
          <p:cNvSpPr txBox="1"/>
          <p:nvPr/>
        </p:nvSpPr>
        <p:spPr>
          <a:xfrm>
            <a:off x="365760" y="1043948"/>
            <a:ext cx="9960480" cy="3508791"/>
          </a:xfrm>
          <a:prstGeom prst="rect">
            <a:avLst/>
          </a:prstGeom>
          <a:noFill/>
        </p:spPr>
        <p:txBody>
          <a:bodyPr wrap="square" lIns="0" tIns="0" rIns="0" bIns="0" anchor="ctr">
            <a:noAutofit/>
          </a:bodyPr>
          <a:lstStyle/>
          <a:p>
            <a:pPr algn="ctr"/>
            <a:r>
              <a:rPr lang="en-GB" sz="20400" b="1" spc="-510" dirty="0">
                <a:solidFill>
                  <a:srgbClr val="FFFFFF"/>
                </a:solidFill>
                <a:latin typeface="+mn-lt"/>
              </a:rPr>
              <a:t>ESG</a:t>
            </a:r>
            <a:endParaRPr lang="en-GB" sz="20400" b="1" spc="-510"/>
          </a:p>
        </p:txBody>
      </p:sp>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3072658" y="4359745"/>
            <a:ext cx="4539794" cy="246616"/>
          </a:xfrm>
        </p:spPr>
        <p:txBody>
          <a:bodyPr/>
          <a:lstStyle>
            <a:lvl1pPr algn="ctr">
              <a:defRPr sz="1225">
                <a:solidFill>
                  <a:schemeClr val="bg1"/>
                </a:solidFill>
              </a:defRPr>
            </a:lvl1pPr>
          </a:lstStyle>
          <a:p>
            <a:r>
              <a:rPr lang="fr-FR"/>
              <a:t xml:space="preserve">CLIQUEZ POUR INSÉRER LE NOM DE L’ENTREPRISE</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946688" y="4051289"/>
            <a:ext cx="8798625" cy="160254"/>
          </a:xfrm>
        </p:spPr>
        <p:txBody>
          <a:bodyPr/>
          <a:lstStyle>
            <a:lvl1pPr algn="ctr">
              <a:defRPr sz="950" spc="300">
                <a:solidFill>
                  <a:schemeClr val="bg1"/>
                </a:solidFill>
              </a:defRPr>
            </a:lvl1pPr>
          </a:lstStyle>
          <a:p>
            <a:r>
              <a:rPr lang="fr-FR"/>
              <a:t xml:space="preserve">INSÉRER LE TITRE</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54795" y="864270"/>
            <a:ext cx="3997234" cy="4704480"/>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fr-FR" noProof="0" err="1"/>
              <a:t xml:space="preserve">Click</a:t>
            </a:r>
            <a:r>
              <a:rPr lang="fr-FR" noProof="0"/>
              <a:t xml:space="preserve"> to </a:t>
            </a:r>
            <a:r>
              <a:rPr lang="fr-FR" noProof="0" err="1"/>
              <a:t xml:space="preserve">edit</a:t>
            </a:r>
            <a:r>
              <a:rPr lang="fr-FR" noProof="0"/>
              <a:t xml:space="preserve"> Master </a:t>
            </a:r>
            <a:r>
              <a:rPr lang="fr-FR" noProof="0" err="1"/>
              <a:t xml:space="preserve">text</a:t>
            </a:r>
            <a:r>
              <a:rPr lang="fr-FR" noProof="0"/>
              <a:t xml:space="preserve">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5675750" y="859072"/>
            <a:ext cx="3997234" cy="4704479"/>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fr-FR" noProof="0" err="1"/>
              <a:t xml:space="preserve">Click</a:t>
            </a:r>
            <a:r>
              <a:rPr lang="fr-FR" noProof="0"/>
              <a:t xml:space="preserve"> to </a:t>
            </a:r>
            <a:r>
              <a:rPr lang="fr-FR" noProof="0" err="1"/>
              <a:t xml:space="preserve">edit</a:t>
            </a:r>
            <a:r>
              <a:rPr lang="fr-FR" noProof="0"/>
              <a:t xml:space="preserve"> Master </a:t>
            </a:r>
            <a:r>
              <a:rPr lang="fr-FR" noProof="0" err="1"/>
              <a:t xml:space="preserve">text</a:t>
            </a:r>
            <a:r>
              <a:rPr lang="fr-FR" noProof="0"/>
              <a:t xml:space="preserve">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fr-FR"/>
              <a:t xml:space="preserve">CLIQUEZ POUR INSÉRER LE NOM DE L’ENTREPRISE</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fr-FR" smtClean="0"/>
              <a:pPr/>
              <a:t xml:space="preserve">‹#›</a:t>
            </a:fld>
            <a:endParaRPr lang="fr-FR"/>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fr-FR" noProof="0" err="1"/>
              <a:t xml:space="preserve">Click</a:t>
            </a:r>
            <a:r>
              <a:rPr lang="fr-FR" noProof="0"/>
              <a:t xml:space="preserve"> to </a:t>
            </a:r>
            <a:r>
              <a:rPr lang="fr-FR" noProof="0" err="1"/>
              <a:t xml:space="preserve">edit</a:t>
            </a:r>
            <a:r>
              <a:rPr lang="fr-FR" noProof="0"/>
              <a:t xml:space="preserve"> Master </a:t>
            </a:r>
            <a:r>
              <a:rPr lang="fr-FR" noProof="0" err="1"/>
              <a:t xml:space="preserve">title</a:t>
            </a:r>
            <a:r>
              <a:rPr lang="fr-FR" noProof="0"/>
              <a:t xml:space="preserve">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fr-FR"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fr-FR" noProof="0"/>
              <a:t xml:space="preserve">CLIQUEZ POUR INSÉRER LE NOM DE L’ENTREPRISE</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fr-FR" noProof="0" smtClean="0"/>
              <a:pPr/>
              <a:t xml:space="preserve">‹#›</a:t>
            </a:fld>
            <a:endParaRPr lang="fr-FR"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946688" y="1392188"/>
            <a:ext cx="8798625" cy="1280812"/>
          </a:xfrm>
          <a:solidFill>
            <a:srgbClr val="1B4529"/>
          </a:solidFill>
        </p:spPr>
        <p:txBody>
          <a:bodyPr>
            <a:normAutofit/>
          </a:bodyPr>
          <a:lstStyle>
            <a:lvl1pPr marL="0" indent="0">
              <a:lnSpc>
                <a:spcPct val="100000"/>
              </a:lnSpc>
              <a:spcBef>
                <a:spcPts val="175"/>
              </a:spcBef>
              <a:buFontTx/>
              <a:buNone/>
              <a:defRPr sz="950">
                <a:solidFill>
                  <a:schemeClr val="bg1"/>
                </a:solidFill>
              </a:defRPr>
            </a:lvl1pPr>
            <a:lvl2pPr marL="157854" indent="0">
              <a:buFontTx/>
              <a:buNone/>
              <a:defRPr sz="950">
                <a:solidFill>
                  <a:schemeClr val="bg1"/>
                </a:solidFill>
              </a:defRPr>
            </a:lvl2pPr>
            <a:lvl3pPr marL="441992" indent="-142069">
              <a:defRPr sz="950">
                <a:solidFill>
                  <a:schemeClr val="bg1"/>
                </a:solidFill>
              </a:defRPr>
            </a:lvl3pPr>
            <a:lvl4pPr marL="615632" indent="-142069">
              <a:defRPr sz="950">
                <a:solidFill>
                  <a:schemeClr val="bg1"/>
                </a:solidFill>
              </a:defRPr>
            </a:lvl4pPr>
            <a:lvl5pPr marL="757701" indent="-142069">
              <a:defRPr sz="950">
                <a:solidFill>
                  <a:schemeClr val="bg1"/>
                </a:solidFill>
              </a:defRPr>
            </a:lvl5pPr>
          </a:lstStyle>
          <a:p>
            <a:pPr lvl="0"/>
            <a:r>
              <a:rPr lang="fr-FR" noProof="0"/>
              <a:t xml:space="preserve">Insérer les informations sur l’entreprise</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fr-FR" noProof="0" err="1"/>
              <a:t xml:space="preserve">Click</a:t>
            </a:r>
            <a:r>
              <a:rPr lang="fr-FR" noProof="0"/>
              <a:t xml:space="preserve"> to </a:t>
            </a:r>
            <a:r>
              <a:rPr lang="fr-FR" noProof="0" err="1"/>
              <a:t xml:space="preserve">edit</a:t>
            </a:r>
            <a:r>
              <a:rPr lang="fr-FR" noProof="0"/>
              <a:t xml:space="preserve"> Master </a:t>
            </a:r>
            <a:r>
              <a:rPr lang="fr-FR" noProof="0" err="1"/>
              <a:t xml:space="preserve">title</a:t>
            </a:r>
            <a:r>
              <a:rPr lang="fr-FR" noProof="0"/>
              <a:t xml:space="preserve">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fr-FR" noProof="0"/>
              <a:t xml:space="preserve">CLIQUEZ POUR INSÉRER LE NOM DE L’ENTREPRISE</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fr-FR" noProof="0" smtClean="0"/>
              <a:pPr/>
              <a:t xml:space="preserve">‹#›</a:t>
            </a:fld>
            <a:endParaRPr lang="fr-FR"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54795" y="890999"/>
            <a:ext cx="9791703" cy="4672552"/>
          </a:xfrm>
          <a:prstGeom prst="rect">
            <a:avLst/>
          </a:prstGeom>
        </p:spPr>
        <p:txBody>
          <a:bodyPr vert="horz" lIns="0" tIns="0" rIns="0" bIns="0" rtlCol="0">
            <a:noAutofit/>
          </a:bodyPr>
          <a:lstStyle/>
          <a:p>
            <a:pPr lvl="0"/>
            <a:r>
              <a:rPr lang="fr-FR" noProof="0"/>
              <a:t xml:space="preserve">Cliquez pour modifier les styles du texte du masque</a:t>
            </a:r>
          </a:p>
          <a:p>
            <a:pPr lvl="1"/>
            <a:r>
              <a:rPr lang="fr-FR" noProof="0"/>
              <a:t xml:space="preserve">Deuxième niveau</a:t>
            </a:r>
          </a:p>
          <a:p>
            <a:pPr lvl="2"/>
            <a:r>
              <a:rPr lang="fr-FR" noProof="0"/>
              <a:t xml:space="preserve">Troisième niveau</a:t>
            </a:r>
          </a:p>
          <a:p>
            <a:pPr lvl="3"/>
            <a:r>
              <a:rPr lang="fr-FR" noProof="0"/>
              <a:t xml:space="preserve">Quatrième niveau</a:t>
            </a:r>
          </a:p>
          <a:p>
            <a:pPr lvl="4"/>
            <a:r>
              <a:rPr lang="fr-FR" noProof="0"/>
              <a:t xml:space="preserve">Cinquième niveau</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35729" y="7202406"/>
            <a:ext cx="2405700" cy="134955"/>
          </a:xfrm>
          <a:prstGeom prst="rect">
            <a:avLst/>
          </a:prstGeom>
        </p:spPr>
        <p:txBody>
          <a:bodyPr vert="horz" lIns="0" tIns="0" rIns="0" bIns="0" rtlCol="0" anchor="t" anchorCtr="0">
            <a:noAutofit/>
          </a:bodyPr>
          <a:lstStyle>
            <a:lvl1pPr algn="l">
              <a:defRPr sz="875">
                <a:solidFill>
                  <a:srgbClr val="5F7D69"/>
                </a:solidFill>
                <a:latin typeface="IBM Plex Sans" panose="020B0503050203000203" pitchFamily="34" charset="0"/>
              </a:defRPr>
            </a:lvl1pPr>
          </a:lstStyle>
          <a:p>
            <a:endParaRPr lang="fr-FR"/>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7261741" y="197293"/>
            <a:ext cx="3194529" cy="134955"/>
          </a:xfrm>
          <a:prstGeom prst="rect">
            <a:avLst/>
          </a:prstGeom>
        </p:spPr>
        <p:txBody>
          <a:bodyPr vert="horz" lIns="0" tIns="0" rIns="0" bIns="0" rtlCol="0" anchor="t" anchorCtr="0">
            <a:noAutofit/>
          </a:bodyPr>
          <a:lstStyle>
            <a:lvl1pPr algn="r">
              <a:defRPr sz="875" b="1">
                <a:solidFill>
                  <a:srgbClr val="5F7D69"/>
                </a:solidFill>
                <a:latin typeface="IBM Plex Sans" panose="020B0503050203000203" pitchFamily="34" charset="0"/>
              </a:defRPr>
            </a:lvl1pPr>
          </a:lstStyle>
          <a:p>
            <a:r>
              <a:rPr lang="fr-FR"/>
              <a:t xml:space="preserve">CLIQUEZ POUR INSÉRER LE NOM DE L’ENTREPRISE</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8050571" y="7202406"/>
            <a:ext cx="2405700" cy="134955"/>
          </a:xfrm>
          <a:prstGeom prst="rect">
            <a:avLst/>
          </a:prstGeom>
        </p:spPr>
        <p:txBody>
          <a:bodyPr vert="horz" lIns="0" tIns="0" rIns="0" bIns="0" rtlCol="0" anchor="t" anchorCtr="0">
            <a:noAutofit/>
          </a:bodyPr>
          <a:lstStyle>
            <a:lvl1pPr algn="r">
              <a:defRPr sz="875">
                <a:solidFill>
                  <a:schemeClr val="tx2">
                    <a:alpha val="70000"/>
                  </a:schemeClr>
                </a:solidFill>
                <a:latin typeface="IBM Plex Sans" panose="020B0503050203000203" pitchFamily="34" charset="0"/>
              </a:defRPr>
            </a:lvl1pPr>
          </a:lstStyle>
          <a:p>
            <a:fld id="{5A0D23CF-C5A3-5445-819D-C647D180BB4B}" type="slidenum">
              <a:rPr lang="fr-FR" smtClean="0"/>
              <a:pPr/>
              <a:t xml:space="preserve">‹#›</a:t>
            </a:fld>
            <a:endParaRPr lang="fr-FR"/>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54796" y="450698"/>
            <a:ext cx="9791704" cy="218627"/>
          </a:xfrm>
          <a:prstGeom prst="rect">
            <a:avLst/>
          </a:prstGeom>
        </p:spPr>
        <p:txBody>
          <a:bodyPr vert="horz" wrap="square" lIns="0" tIns="0" rIns="0" bIns="0" rtlCol="0" anchor="t" anchorCtr="0">
            <a:spAutoFit/>
          </a:bodyPr>
          <a:lstStyle/>
          <a:p>
            <a:r>
              <a:rPr lang="fr-FR" noProof="0"/>
              <a:t xml:space="preserve">Cliquez pour modifier le style du titre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p:titleStyle>
    <p:body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p:bodyStyle>
    <p:otherStyle>
      <a:defPPr>
        <a:defRPr lang="fr-FR"/>
      </a:defPPr>
      <a:lvl1pPr marL="0" algn="l" defTabSz="914400" rtl="0" eaLnBrk="1" latinLnBrk="0" hangingPunct="1">
        <a:defRPr sz="1575" kern="1200">
          <a:solidFill>
            <a:schemeClr val="tx1"/>
          </a:solidFill>
          <a:latin typeface="+mn-lt"/>
          <a:ea typeface="+mn-ea"/>
          <a:cs typeface="+mn-cs"/>
        </a:defRPr>
      </a:lvl1pPr>
      <a:lvl2pPr marL="400950" algn="l" defTabSz="914400" rtl="0" eaLnBrk="1" latinLnBrk="0" hangingPunct="1">
        <a:defRPr sz="1575" kern="1200">
          <a:solidFill>
            <a:schemeClr val="tx1"/>
          </a:solidFill>
          <a:latin typeface="+mn-lt"/>
          <a:ea typeface="+mn-ea"/>
          <a:cs typeface="+mn-cs"/>
        </a:defRPr>
      </a:lvl2pPr>
      <a:lvl3pPr marL="801900" algn="l" defTabSz="914400" rtl="0" eaLnBrk="1" latinLnBrk="0" hangingPunct="1">
        <a:defRPr sz="1575" kern="1200">
          <a:solidFill>
            <a:schemeClr val="tx1"/>
          </a:solidFill>
          <a:latin typeface="+mn-lt"/>
          <a:ea typeface="+mn-ea"/>
          <a:cs typeface="+mn-cs"/>
        </a:defRPr>
      </a:lvl3pPr>
      <a:lvl4pPr marL="1202850" algn="l" defTabSz="914400" rtl="0" eaLnBrk="1" latinLnBrk="0" hangingPunct="1">
        <a:defRPr sz="1575" kern="1200">
          <a:solidFill>
            <a:schemeClr val="tx1"/>
          </a:solidFill>
          <a:latin typeface="+mn-lt"/>
          <a:ea typeface="+mn-ea"/>
          <a:cs typeface="+mn-cs"/>
        </a:defRPr>
      </a:lvl4pPr>
      <a:lvl5pPr marL="1603800" algn="l" defTabSz="914400" rtl="0" eaLnBrk="1" latinLnBrk="0" hangingPunct="1">
        <a:defRPr sz="1575" kern="1200">
          <a:solidFill>
            <a:schemeClr val="tx1"/>
          </a:solidFill>
          <a:latin typeface="+mn-lt"/>
          <a:ea typeface="+mn-ea"/>
          <a:cs typeface="+mn-cs"/>
        </a:defRPr>
      </a:lvl5pPr>
      <a:lvl6pPr marL="2004750" algn="l" defTabSz="914400" rtl="0" eaLnBrk="1" latinLnBrk="0" hangingPunct="1">
        <a:defRPr sz="1575" kern="1200">
          <a:solidFill>
            <a:schemeClr val="tx1"/>
          </a:solidFill>
          <a:latin typeface="+mn-lt"/>
          <a:ea typeface="+mn-ea"/>
          <a:cs typeface="+mn-cs"/>
        </a:defRPr>
      </a:lvl6pPr>
      <a:lvl7pPr marL="2405700" algn="l" defTabSz="914400" rtl="0" eaLnBrk="1" latinLnBrk="0" hangingPunct="1">
        <a:defRPr sz="1575" kern="1200">
          <a:solidFill>
            <a:schemeClr val="tx1"/>
          </a:solidFill>
          <a:latin typeface="+mn-lt"/>
          <a:ea typeface="+mn-ea"/>
          <a:cs typeface="+mn-cs"/>
        </a:defRPr>
      </a:lvl7pPr>
      <a:lvl8pPr marL="2806650" algn="l" defTabSz="914400" rtl="0" eaLnBrk="1" latinLnBrk="0" hangingPunct="1">
        <a:defRPr sz="1575" kern="1200">
          <a:solidFill>
            <a:schemeClr val="tx1"/>
          </a:solidFill>
          <a:latin typeface="+mn-lt"/>
          <a:ea typeface="+mn-ea"/>
          <a:cs typeface="+mn-cs"/>
        </a:defRPr>
      </a:lvl8pPr>
      <a:lvl9pPr marL="3207600" algn="l" defTabSz="914400" rtl="0" eaLnBrk="1" latinLnBrk="0" hangingPunct="1">
        <a:defRPr sz="15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946688" y="4051289"/>
            <a:ext cx="8798625" cy="133605"/>
          </a:xfrm>
        </p:spPr>
        <p:txBody>
          <a:bodyPr/>
          <a:lstStyle/>
          <a:p>
            <a:r>
              <a:rPr lang="fr-FR" noProof="0"/>
              <a:t xml:space="preserve">RAPPORT ESG {{insert_year}}</a:t>
            </a:r>
            <a:r>
              <a:rPr lang="fr-FR" noProof="0"/>
              <a:t xml:space="preserve"/>
            </a:r>
            <a:r>
              <a:rPr lang="fr-FR" noProof="0"/>
              <a:t xml:space="preserve"/>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3072658" y="4359745"/>
            <a:ext cx="4539794" cy="246616"/>
          </a:xfrm>
        </p:spPr>
        <p:txBody>
          <a:bodyPr/>
          <a:lstStyle/>
          <a:p>
            <a:r>
              <a:rPr lang="fr-FR" noProof="0"/>
              <a:t>{{</a:t>
            </a:r>
            <a:r>
              <a:rPr lang="fr-FR" noProof="0"/>
              <a:t>company_name</a:t>
            </a:r>
            <a:r>
              <a:rPr lang="fr-FR" noProof="0"/>
              <a:t>}}</a:t>
            </a:r>
            <a:endParaRPr lang="fr-FR"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54796" y="450698"/>
            <a:ext cx="9791704" cy="437255"/>
          </a:xfrm>
        </p:spPr>
        <p:txBody>
          <a:bodyPr/>
          <a:lstStyle/>
          <a:p>
            <a:r>
              <a:rPr lang="fr-FR" noProof="0"/>
              <a:t xml:space="preserve">Rapport ESG</a:t>
            </a:r>
            <a:r>
              <a:rPr lang="fr-FR" b="0" noProof="0">
                <a:solidFill>
                  <a:srgbClr val="1B4528"/>
                </a:solidFill>
                <a:ea typeface="+mn-ea"/>
                <a:cs typeface="+mn-cs"/>
              </a:rPr>
              <a:t> </a:t>
            </a:r>
            <a:br>
              <a:rPr lang="fr-FR" b="0" noProof="0">
                <a:solidFill>
                  <a:srgbClr val="1B4528"/>
                </a:solidFill>
                <a:ea typeface="+mn-ea"/>
                <a:cs typeface="+mn-cs"/>
              </a:rPr>
            </a:br>
            <a:endParaRPr lang="fr-FR" b="0" noProof="0">
              <a:solidFill>
                <a:srgbClr val="1B4528"/>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54793" y="864270"/>
            <a:ext cx="6880233" cy="4704480"/>
          </a:xfrm>
        </p:spPr>
        <p:txBody>
          <a:bodyPr/>
          <a:lstStyle/>
          <a:p>
            <a:pPr>
              <a:lnSpc>
                <a:spcPct val="150000"/>
              </a:lnSpc>
              <a:tabLst>
                <a:tab pos="251986" algn="l"/>
                <a:tab pos="409303" algn="l"/>
                <a:tab pos="3932930" algn="r"/>
              </a:tabLst>
            </a:pPr>
            <a:endParaRPr lang="fr-FR" sz="1050" b="1" noProof="0">
              <a:latin typeface="+mj-lt"/>
            </a:endParaRPr>
          </a:p>
          <a:p>
            <a:pPr>
              <a:lnSpc>
                <a:spcPct val="150000"/>
              </a:lnSpc>
              <a:tabLst>
                <a:tab pos="251986" algn="l"/>
                <a:tab pos="409303" algn="l"/>
                <a:tab pos="3932930" algn="r"/>
              </a:tabLst>
            </a:pPr>
            <a:endParaRPr lang="fr-FR" sz="1050" b="1" noProof="0">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Informations générales				</a:t>
            </a:r>
            <a:endParaRPr lang="fr-F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fr-FR" sz="1050" b="1" kern="1200" spc="-10" noProof="0">
                <a:solidFill>
                  <a:schemeClr val="tx2"/>
                </a:solidFill>
                <a:latin typeface="+mn-lt"/>
                <a:ea typeface="+mn-ea"/>
                <a:cs typeface="+mn-cs"/>
              </a:rPr>
              <a:t xml:space="preserve">Pratiques, politiques et initiatives pour une économie plus durable	</a:t>
            </a:r>
            <a:endParaRPr lang="fr-FR" sz="1050" b="1" noProof="0">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Consommation d’énergie				</a:t>
            </a:r>
            <a:endParaRPr lang="fr-FR" sz="1050" noProof="0">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Émissions de CO₂e 				</a:t>
            </a:r>
            <a:r>
              <a:rPr lang="fr-FR" sz="1050" b="1" noProof="0">
                <a:latin typeface="+mj-lt"/>
              </a:rPr>
              <a:t xml:space="preserve"/>
            </a:r>
            <a:endParaRPr lang="fr-FR" sz="1050" noProof="0">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Pollution de l’air, de l’eau et des sols</a:t>
            </a:r>
            <a:r>
              <a:rPr lang="fr-FR" sz="1050" noProof="0">
                <a:latin typeface="+mj-lt"/>
              </a:rPr>
              <a:t>				</a:t>
            </a: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Biodiversité</a:t>
            </a:r>
            <a:r>
              <a:rPr lang="fr-FR" sz="1050" noProof="0">
                <a:latin typeface="+mj-lt"/>
              </a:rPr>
              <a:t>				</a:t>
            </a: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Eau	</a:t>
            </a:r>
            <a:r>
              <a:rPr lang="fr-FR" sz="1050" noProof="0">
                <a:latin typeface="+mj-lt"/>
              </a:rPr>
              <a:t> 			</a:t>
            </a: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Utilisation des ressources, économie circulaire et gestion des déchets</a:t>
            </a:r>
            <a:r>
              <a:rPr lang="fr-FR" sz="1050" noProof="0">
                <a:latin typeface="+mj-lt"/>
              </a:rPr>
              <a:t>				</a:t>
            </a:r>
            <a:endParaRPr lang="fr-F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Personnel : caractéristiques générales</a:t>
            </a:r>
            <a:r>
              <a:rPr lang="fr-FR" sz="1050" noProof="0">
                <a:latin typeface="+mj-lt"/>
              </a:rPr>
              <a:t>				</a:t>
            </a:r>
            <a:endParaRPr lang="fr-F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Personnel : santé et sécurité</a:t>
            </a:r>
            <a:r>
              <a:rPr lang="fr-FR" sz="1050" noProof="0">
                <a:latin typeface="+mj-lt"/>
              </a:rPr>
              <a:t>				</a:t>
            </a:r>
            <a:endParaRPr lang="fr-F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Personnel : rémunération, négociation collective et formation</a:t>
            </a:r>
            <a:r>
              <a:rPr lang="fr-FR" sz="1050" noProof="0">
                <a:latin typeface="+mj-lt"/>
              </a:rPr>
              <a:t>		</a:t>
            </a:r>
            <a:endParaRPr lang="fr-FR"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Conduite des affaires</a:t>
            </a:r>
            <a:r>
              <a:rPr lang="fr-FR" sz="1050" noProof="0">
                <a:latin typeface="+mj-lt"/>
              </a:rPr>
              <a:t>	 			</a:t>
            </a:r>
            <a:endParaRPr lang="fr-FR" sz="1050" noProof="0">
              <a:solidFill>
                <a:srgbClr val="1B4528"/>
              </a:solidFill>
              <a:latin typeface="+mj-lt"/>
            </a:endParaRPr>
          </a:p>
          <a:p>
            <a:pPr>
              <a:tabLst>
                <a:tab pos="251986" algn="l"/>
                <a:tab pos="409303" algn="l"/>
                <a:tab pos="3932930" algn="r"/>
              </a:tabLst>
            </a:pPr>
            <a:endParaRPr lang="fr-FR" sz="1050" noProof="0">
              <a:latin typeface="+mj-lt"/>
            </a:endParaRPr>
          </a:p>
          <a:p>
            <a:pPr>
              <a:tabLst>
                <a:tab pos="251986" algn="l"/>
                <a:tab pos="409303" algn="l"/>
                <a:tab pos="3932930" algn="r"/>
              </a:tabLst>
            </a:pPr>
            <a:endParaRPr lang="fr-FR" sz="1050" noProof="0">
              <a:latin typeface="+mj-lt"/>
            </a:endParaRPr>
          </a:p>
          <a:p>
            <a:pPr>
              <a:tabLst>
                <a:tab pos="251986" algn="l"/>
                <a:tab pos="409303" algn="l"/>
                <a:tab pos="3932930" algn="r"/>
              </a:tabLst>
            </a:pPr>
            <a:endParaRPr lang="fr-FR" noProof="0">
              <a:latin typeface="+mj-lt"/>
            </a:endParaRPr>
          </a:p>
          <a:p>
            <a:pPr>
              <a:tabLst>
                <a:tab pos="251986" algn="l"/>
                <a:tab pos="409303" algn="l"/>
                <a:tab pos="3932930" algn="r"/>
              </a:tabLst>
            </a:pPr>
            <a:endParaRPr lang="fr-FR" noProof="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7261741" y="197293"/>
            <a:ext cx="3194529" cy="134955"/>
          </a:xfrm>
        </p:spPr>
        <p:txBody>
          <a:bodyPr/>
          <a:lstStyle/>
          <a:p>
            <a:r>
              <a:rPr lang="fr-FR" noProof="0"/>
              <a:t>{{</a:t>
            </a:r>
            <a:r>
              <a:rPr lang="fr-FR" noProof="0"/>
              <a:t>company_name</a:t>
            </a:r>
            <a:r>
              <a:rPr lang="fr-FR" noProof="0"/>
              <a:t>}}</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8050571" y="7202406"/>
            <a:ext cx="2405700" cy="134955"/>
          </a:xfrm>
        </p:spPr>
        <p:txBody>
          <a:bodyPr/>
          <a:lstStyle/>
          <a:p>
            <a:fld id="{5A0D23CF-C5A3-5445-819D-C647D180BB4B}" type="slidenum">
              <a:rPr lang="fr-FR" noProof="0" smtClean="0"/>
              <a:pPr/>
              <a:t>2</a:t>
            </a:fld>
            <a:endParaRPr lang="fr-FR"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fr-FR" noProof="0"/>
              <a:t xml:space="preserve">Base de préparation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45500" y="2600430"/>
            <a:ext cx="3080911" cy="150659"/>
          </a:xfrm>
          <a:prstGeom prst="rect">
            <a:avLst/>
          </a:prstGeom>
        </p:spPr>
        <p:txBody>
          <a:bodyPr lIns="0" tIns="0" rIns="0" bIns="0"/>
          <a:lst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a:lstStyle>
          <a:p>
            <a:pPr marL="0" indent="0">
              <a:buNone/>
            </a:pPr>
            <a:endParaRPr lang="fr-FR" noProof="0">
              <a:solidFill>
                <a:srgbClr val="1B4528"/>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3677333342"/>
              </p:ext>
            </p:extLst>
          </p:nvPr>
        </p:nvGraphicFramePr>
        <p:xfrm>
          <a:off x="454795" y="4463906"/>
          <a:ext cx="6449555" cy="1295223"/>
        </p:xfrm>
        <a:graphic>
          <a:graphicData uri="http://schemas.openxmlformats.org/drawingml/2006/table">
            <a:tbl>
              <a:tblPr firstRow="1">
                <a:tableStyleId>{2A488322-F2BA-4B5B-9748-0D474271808F}</a:tableStyleId>
              </a:tblPr>
              <a:tblGrid>
                <a:gridCol w="2982453">
                  <a:extLst>
                    <a:ext uri="{9D8B030D-6E8A-4147-A177-3AD203B41FA5}">
                      <a16:colId xmlns:a16="http://schemas.microsoft.com/office/drawing/2014/main" val="1902117154"/>
                    </a:ext>
                  </a:extLst>
                </a:gridCol>
                <a:gridCol w="3467102">
                  <a:extLst>
                    <a:ext uri="{9D8B030D-6E8A-4147-A177-3AD203B41FA5}">
                      <a16:colId xmlns:a16="http://schemas.microsoft.com/office/drawing/2014/main" val="1904521774"/>
                    </a:ext>
                  </a:extLst>
                </a:gridCol>
              </a:tblGrid>
              <a:tr h="463168">
                <a:tc gridSpan="2">
                  <a:txBody>
                    <a:bodyPr/>
                    <a:lstStyle/>
                    <a:p>
                      <a:pPr marL="0" algn="l" defTabSz="914400" rtl="0" eaLnBrk="1" latinLnBrk="0" hangingPunct="1"/>
                      <a:r>
                        <a:rPr lang="fr-FR" sz="1050" b="1" kern="1200" spc="-10" noProof="0">
                          <a:solidFill>
                            <a:schemeClr val="tx2"/>
                          </a:solidFill>
                          <a:latin typeface="+mn-lt"/>
                          <a:ea typeface="+mn-ea"/>
                          <a:cs typeface="+mn-cs"/>
                        </a:rPr>
                        <a:t xml:space="preserve">Liste des filiales faisant l’objet du présent rapport ESG </a:t>
                      </a:r>
                      <a:r>
                        <a:rPr lang="fr-FR" sz="1050" b="0" kern="1200" spc="-10" noProof="0">
                          <a:solidFill>
                            <a:schemeClr val="tx2"/>
                          </a:solidFill>
                          <a:latin typeface="+mn-lt"/>
                          <a:ea typeface="+mn-ea"/>
                          <a:cs typeface="+mn-cs"/>
                        </a:rPr>
                        <a:t xml:space="preserve">(par. 27d)</a:t>
                      </a:r>
                      <a:endParaRPr lang="fr-FR" sz="1050" b="0" i="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417461">
                <a:tc>
                  <a:txBody>
                    <a:bodyPr/>
                    <a:lstStyle/>
                    <a:p>
                      <a:pPr algn="l"/>
                      <a:r>
                        <a:rPr lang="fr-FR" sz="1050" b="1" kern="1200" spc="-10" noProof="0">
                          <a:solidFill>
                            <a:schemeClr val="tx2"/>
                          </a:solidFill>
                          <a:latin typeface="+mn-lt"/>
                          <a:ea typeface="+mn-ea"/>
                          <a:cs typeface="+mn-cs"/>
                        </a:rPr>
                        <a:t xml:space="preserve">Nom de la filiale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1050" b="1" kern="1200" spc="-10" noProof="0">
                          <a:solidFill>
                            <a:schemeClr val="tx2"/>
                          </a:solidFill>
                          <a:latin typeface="+mn-lt"/>
                          <a:ea typeface="+mn-ea"/>
                          <a:cs typeface="+mn-cs"/>
                        </a:rPr>
                        <a:t xml:space="preserve">Adresse de la filiale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417461">
                <a:tc>
                  <a:txBody>
                    <a:bodyPr/>
                    <a:lstStyle/>
                    <a:p>
                      <a:pPr rtl="0" fontAlgn="t" algn="l">
                        <a:buNone/>
                      </a:pPr>
                      <a:r>
                        <a:rPr lang="fr-FR" sz="1050" b="0" i="0" u="none" strike="noStrike" noProof="0">
                          <a:solidFill>
                            <a:srgbClr val="1B4528"/>
                          </a:solidFill>
                          <a:effectLst/>
                          <a:latin typeface="Inter"/>
                        </a:rPr>
                        <a:t>{{subsidiary}}</a:t>
                      </a:r>
                      <a:endParaRPr lang="fr-F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r">
                        <a:buNone/>
                      </a:pPr>
                      <a:r>
                        <a:rPr lang="fr-FR" sz="1050" b="0" i="0" u="none" strike="noStrike" noProof="0">
                          <a:solidFill>
                            <a:srgbClr val="1B4528"/>
                          </a:solidFill>
                          <a:effectLst/>
                          <a:latin typeface="Inter"/>
                        </a:rPr>
                        <a:t>{{subsidiary_address}}</a:t>
                      </a:r>
                      <a:endParaRPr lang="fr-F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fr-FR" noProof="0" smtClean="0"/>
              <a:pPr/>
              <a:t>3</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fr-FR" noProof="0"/>
              <a:t>{{</a:t>
            </a:r>
            <a:r>
              <a:rPr lang="fr-FR" noProof="0"/>
              <a:t>company_name</a:t>
            </a:r>
            <a:r>
              <a:rPr lang="fr-FR" noProof="0"/>
              <a:t>}}</a:t>
            </a:r>
            <a:endParaRPr lang="fr-FR" b="0" noProof="0"/>
          </a:p>
          <a:p>
            <a:br>
              <a:rPr lang="fr-FR" noProof="0"/>
            </a:br>
            <a:endParaRPr lang="fr-FR"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3344848158"/>
              </p:ext>
            </p:extLst>
          </p:nvPr>
        </p:nvGraphicFramePr>
        <p:xfrm>
          <a:off x="454795" y="3387189"/>
          <a:ext cx="6449555" cy="991325"/>
        </p:xfrm>
        <a:graphic>
          <a:graphicData uri="http://schemas.openxmlformats.org/drawingml/2006/table">
            <a:tbl>
              <a:tblPr firstRow="1">
                <a:tableStyleId>{2A488322-F2BA-4B5B-9748-0D474271808F}</a:tableStyleId>
              </a:tblPr>
              <a:tblGrid>
                <a:gridCol w="5432324">
                  <a:extLst>
                    <a:ext uri="{9D8B030D-6E8A-4147-A177-3AD203B41FA5}">
                      <a16:colId xmlns:a16="http://schemas.microsoft.com/office/drawing/2014/main" val="2698153288"/>
                    </a:ext>
                  </a:extLst>
                </a:gridCol>
                <a:gridCol w="1017231">
                  <a:extLst>
                    <a:ext uri="{9D8B030D-6E8A-4147-A177-3AD203B41FA5}">
                      <a16:colId xmlns:a16="http://schemas.microsoft.com/office/drawing/2014/main" val="2119413191"/>
                    </a:ext>
                  </a:extLst>
                </a:gridCol>
              </a:tblGrid>
              <a:tr h="180387">
                <a:tc gridSpan="2">
                  <a:txBody>
                    <a:bodyPr/>
                    <a:lstStyle/>
                    <a:p>
                      <a:r>
                        <a:rPr lang="fr-FR" sz="1050" b="1" noProof="0">
                          <a:solidFill>
                            <a:schemeClr val="tx2"/>
                          </a:solidFill>
                        </a:rPr>
                        <a:t xml:space="preserve">Rapport individuel ou consolidé</a:t>
                      </a:r>
                      <a:r>
                        <a:rPr lang="fr-FR" sz="1050" b="0" noProof="0">
                          <a:solidFill>
                            <a:schemeClr val="tx2"/>
                          </a:solidFill>
                        </a:rPr>
                        <a:t xml:space="preserve"> (par. 27c)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0" kern="1200" spc="-10" noProof="0">
                          <a:solidFill>
                            <a:schemeClr val="tx2"/>
                          </a:solidFill>
                          <a:latin typeface="+mn-lt"/>
                          <a:ea typeface="+mn-ea"/>
                          <a:cs typeface="+mn-cs"/>
                        </a:rPr>
                        <a:t xml:space="preserve">Le rapport a été établi sur une </a:t>
                      </a:r>
                      <a:r>
                        <a:rPr lang="fr-FR" sz="1050" b="1" kern="1200" spc="-10" noProof="0">
                          <a:solidFill>
                            <a:schemeClr val="tx2"/>
                          </a:solidFill>
                          <a:latin typeface="+mn-lt"/>
                          <a:ea typeface="+mn-ea"/>
                          <a:cs typeface="+mn-cs"/>
                        </a:rPr>
                        <a:t xml:space="preserve">base individuelle </a:t>
                      </a:r>
                      <a:r>
                        <a:rPr lang="fr-FR" sz="1050" b="0" kern="1200" spc="-10" noProof="0">
                          <a:solidFill>
                            <a:schemeClr val="tx2"/>
                          </a:solidFill>
                          <a:latin typeface="+mn-lt"/>
                          <a:ea typeface="+mn-ea"/>
                          <a:cs typeface="+mn-cs"/>
                        </a:rPr>
                        <a:t xml:space="preserve">(c’est-à-dire qu’il ne couvre aucune filiale)</a:t>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yes_subsidiary</a:t>
                      </a:r>
                      <a:r>
                        <a:rPr lang="fr-FR" sz="1050" b="0" i="0" u="none" strike="noStrike" noProof="0">
                          <a:solidFill>
                            <a:srgbClr val="1B4528"/>
                          </a:solidFill>
                          <a:effectLst/>
                          <a:latin typeface="Inter"/>
                        </a:rPr>
                        <a:t>?}}</a:t>
                      </a:r>
                      <a:endParaRPr lang="fr-F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0" kern="1200" spc="-10" noProof="0">
                          <a:solidFill>
                            <a:schemeClr val="tx2"/>
                          </a:solidFill>
                          <a:latin typeface="+mn-lt"/>
                          <a:ea typeface="+mn-ea"/>
                          <a:cs typeface="+mn-cs"/>
                        </a:rPr>
                        <a:t xml:space="preserve">Le rapport a été établi sur une </a:t>
                      </a:r>
                      <a:r>
                        <a:rPr lang="fr-FR" sz="1050" b="1" kern="1200" spc="-10" noProof="0">
                          <a:solidFill>
                            <a:schemeClr val="tx2"/>
                          </a:solidFill>
                          <a:latin typeface="+mn-lt"/>
                          <a:ea typeface="+mn-ea"/>
                          <a:cs typeface="+mn-cs"/>
                        </a:rPr>
                        <a:t xml:space="preserve">base consolidée </a:t>
                      </a:r>
                      <a:r>
                        <a:rPr lang="fr-FR" sz="1050" b="0" kern="1200" spc="-10" noProof="0">
                          <a:solidFill>
                            <a:schemeClr val="tx2"/>
                          </a:solidFill>
                          <a:latin typeface="+mn-lt"/>
                          <a:ea typeface="+mn-ea"/>
                          <a:cs typeface="+mn-cs"/>
                        </a:rPr>
                        <a:t xml:space="preserve">(c’est-à-dire qu’il comprend les filiales de l’entreprise) </a:t>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no_subsidiary</a:t>
                      </a:r>
                      <a:r>
                        <a:rPr lang="fr-FR" sz="1050" b="0" i="0" u="none" strike="noStrike" noProof="0">
                          <a:solidFill>
                            <a:srgbClr val="1B4528"/>
                          </a:solidFill>
                          <a:effectLst/>
                          <a:latin typeface="Inter"/>
                        </a:rPr>
                        <a:t>?}}</a:t>
                      </a:r>
                      <a:endParaRPr lang="fr-F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1534085072"/>
              </p:ext>
            </p:extLst>
          </p:nvPr>
        </p:nvGraphicFramePr>
        <p:xfrm>
          <a:off x="454796" y="2003380"/>
          <a:ext cx="6449555" cy="1167535"/>
        </p:xfrm>
        <a:graphic>
          <a:graphicData uri="http://schemas.openxmlformats.org/drawingml/2006/table">
            <a:tbl>
              <a:tblPr firstRow="1">
                <a:tableStyleId>{2A488322-F2BA-4B5B-9748-0D474271808F}</a:tableStyleId>
              </a:tblPr>
              <a:tblGrid>
                <a:gridCol w="5442103">
                  <a:extLst>
                    <a:ext uri="{9D8B030D-6E8A-4147-A177-3AD203B41FA5}">
                      <a16:colId xmlns:a16="http://schemas.microsoft.com/office/drawing/2014/main" val="2698153288"/>
                    </a:ext>
                  </a:extLst>
                </a:gridCol>
                <a:gridCol w="1007453">
                  <a:extLst>
                    <a:ext uri="{9D8B030D-6E8A-4147-A177-3AD203B41FA5}">
                      <a16:colId xmlns:a16="http://schemas.microsoft.com/office/drawing/2014/main" val="2119413191"/>
                    </a:ext>
                  </a:extLst>
                </a:gridCol>
              </a:tblGrid>
              <a:tr h="343061">
                <a:tc gridSpan="2">
                  <a:txBody>
                    <a:bodyPr/>
                    <a:lstStyle/>
                    <a:p>
                      <a:r>
                        <a:rPr lang="fr-FR" sz="1050" b="1" kern="1200" spc="-10" noProof="0">
                          <a:solidFill>
                            <a:schemeClr val="tx2"/>
                          </a:solidFill>
                          <a:latin typeface="+mn-lt"/>
                          <a:ea typeface="+mn-ea"/>
                          <a:cs typeface="+mn-cs"/>
                        </a:rPr>
                        <a:t xml:space="preserve">Module de base, ou module de base +</a:t>
                      </a:r>
                      <a:r>
                        <a:rPr lang="fr-FR" sz="1050" b="1" kern="1200" spc="-10" noProof="0">
                          <a:solidFill>
                            <a:schemeClr val="tx2"/>
                          </a:solidFill>
                          <a:latin typeface="+mn-lt"/>
                          <a:ea typeface="+mn-ea"/>
                          <a:cs typeface="+mn-cs"/>
                        </a:rPr>
                        <a:t xml:space="preserve"/>
                      </a:r>
                      <a:r>
                        <a:rPr lang="fr-FR" sz="1050" b="1" kern="1200" spc="-10" noProof="0">
                          <a:solidFill>
                            <a:schemeClr val="tx2"/>
                          </a:solidFill>
                          <a:latin typeface="+mn-lt"/>
                          <a:ea typeface="+mn-ea"/>
                          <a:cs typeface="+mn-cs"/>
                        </a:rPr>
                        <a:t xml:space="preserve"/>
                      </a:r>
                      <a:r>
                        <a:rPr lang="fr-FR" sz="1050" b="1" kern="1200" spc="-10" noProof="0">
                          <a:solidFill>
                            <a:schemeClr val="tx2"/>
                          </a:solidFill>
                          <a:latin typeface="+mn-lt"/>
                          <a:ea typeface="+mn-ea"/>
                          <a:cs typeface="+mn-cs"/>
                        </a:rPr>
                        <a:t xml:space="preserve"/>
                      </a:r>
                      <a:r>
                        <a:rPr lang="fr-FR" sz="1050" b="0" kern="1200" spc="-10" noProof="0">
                          <a:solidFill>
                            <a:schemeClr val="tx2"/>
                          </a:solidFill>
                          <a:latin typeface="+mn-lt"/>
                          <a:ea typeface="+mn-ea"/>
                          <a:cs typeface="+mn-cs"/>
                        </a:rPr>
                        <a:t> </a:t>
                      </a:r>
                      <a:r>
                        <a:rPr lang="fr-FR" sz="1050" b="1" kern="1200" spc="-10" noProof="0">
                          <a:solidFill>
                            <a:schemeClr val="tx2"/>
                          </a:solidFill>
                          <a:latin typeface="+mn-lt"/>
                          <a:ea typeface="+mn-ea"/>
                          <a:cs typeface="+mn-cs"/>
                        </a:rPr>
                        <a:t xml:space="preserve">module complet </a:t>
                      </a:r>
                      <a:r>
                        <a:rPr lang="fr-FR" sz="1050" b="0" kern="1200" spc="-10" noProof="0">
                          <a:solidFill>
                            <a:schemeClr val="tx2"/>
                          </a:solidFill>
                          <a:latin typeface="+mn-lt"/>
                          <a:ea typeface="+mn-ea"/>
                          <a:cs typeface="+mn-cs"/>
                        </a:rPr>
                        <a:t xml:space="preserve">(par. 27a)</a:t>
                      </a:r>
                      <a:r>
                        <a:rPr lang="fr-FR" sz="1050" b="1" kern="1200" spc="-10" noProof="0">
                          <a:solidFill>
                            <a:schemeClr val="tx2"/>
                          </a:solidFill>
                          <a:latin typeface="+mn-lt"/>
                          <a:ea typeface="+mn-ea"/>
                          <a:cs typeface="+mn-cs"/>
                        </a:rPr>
                        <a:t> </a:t>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5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0" kern="1200" spc="-10" noProof="0">
                          <a:solidFill>
                            <a:schemeClr val="tx2"/>
                          </a:solidFill>
                          <a:latin typeface="+mn-lt"/>
                          <a:ea typeface="+mn-ea"/>
                          <a:cs typeface="+mn-cs"/>
                        </a:rPr>
                        <a:t xml:space="preserve">Le rapport est fondé sur le </a:t>
                      </a:r>
                      <a:r>
                        <a:rPr lang="fr-FR" sz="1050" b="1" kern="1200" spc="-10" noProof="0">
                          <a:solidFill>
                            <a:schemeClr val="tx2"/>
                          </a:solidFill>
                          <a:latin typeface="+mn-lt"/>
                          <a:ea typeface="+mn-ea"/>
                          <a:cs typeface="+mn-cs"/>
                        </a:rPr>
                        <a:t xml:space="preserve">module de base</a:t>
                      </a:r>
                      <a:r>
                        <a:rPr lang="fr-FR" sz="1050" b="0" kern="1200" spc="-10" noProof="0">
                          <a:solidFill>
                            <a:schemeClr val="tx2"/>
                          </a:solidFill>
                          <a:latin typeface="+mn-lt"/>
                          <a:ea typeface="+mn-ea"/>
                          <a:cs typeface="+mn-cs"/>
                        </a:rPr>
                        <a:t xml:space="preserve"> de la norme volontaire pour les PME </a:t>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basic_module</a:t>
                      </a:r>
                      <a:r>
                        <a:rPr lang="fr-FR" sz="1050" b="0" i="0" u="none" strike="noStrike" noProof="0">
                          <a:solidFill>
                            <a:srgbClr val="1B4528"/>
                          </a:solidFill>
                          <a:effectLst/>
                          <a:latin typeface="Inter"/>
                        </a:rPr>
                        <a:t>?}}</a:t>
                      </a:r>
                      <a:endParaRPr lang="fr-F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465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0" kern="1200" spc="-10" noProof="0">
                          <a:solidFill>
                            <a:schemeClr val="tx2"/>
                          </a:solidFill>
                          <a:latin typeface="+mn-lt"/>
                          <a:ea typeface="+mn-ea"/>
                          <a:cs typeface="+mn-cs"/>
                        </a:rPr>
                        <a:t xml:space="preserve">Le rapport est fondé sur le </a:t>
                      </a:r>
                      <a:r>
                        <a:rPr lang="fr-FR" sz="1050" b="1" kern="1200" spc="-10" noProof="0">
                          <a:solidFill>
                            <a:schemeClr val="tx2"/>
                          </a:solidFill>
                          <a:latin typeface="+mn-lt"/>
                          <a:ea typeface="+mn-ea"/>
                          <a:cs typeface="+mn-cs"/>
                        </a:rPr>
                        <a:t xml:space="preserve">module de base</a:t>
                      </a:r>
                      <a:r>
                        <a:rPr lang="fr-FR" sz="1050" b="0" kern="1200" spc="-10" noProof="0">
                          <a:solidFill>
                            <a:schemeClr val="tx2"/>
                          </a:solidFill>
                          <a:latin typeface="+mn-lt"/>
                          <a:ea typeface="+mn-ea"/>
                          <a:cs typeface="+mn-cs"/>
                        </a:rPr>
                        <a:t xml:space="preserve"> et le </a:t>
                      </a:r>
                      <a:r>
                        <a:rPr lang="fr-FR" sz="1050" b="1" kern="1200" spc="-10" noProof="0">
                          <a:solidFill>
                            <a:schemeClr val="tx2"/>
                          </a:solidFill>
                          <a:latin typeface="+mn-lt"/>
                          <a:ea typeface="+mn-ea"/>
                          <a:cs typeface="+mn-cs"/>
                        </a:rPr>
                        <a:t xml:space="preserve">module complet </a:t>
                      </a:r>
                      <a:r>
                        <a:rPr lang="fr-FR" sz="1050" b="0" kern="1200" spc="-10" noProof="0">
                          <a:solidFill>
                            <a:schemeClr val="tx2"/>
                          </a:solidFill>
                          <a:latin typeface="+mn-lt"/>
                          <a:ea typeface="+mn-ea"/>
                          <a:cs typeface="+mn-cs"/>
                        </a:rPr>
                        <a:t xml:space="preserve">de la norme volontaire pour les PME</a:t>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comprehensive</a:t>
                      </a:r>
                      <a:r>
                        <a:rPr lang="fr-FR" sz="1050" b="0" i="0" u="none" strike="noStrike" noProof="0">
                          <a:solidFill>
                            <a:srgbClr val="1B4528"/>
                          </a:solidFill>
                          <a:effectLst/>
                          <a:latin typeface="Inter"/>
                        </a:rPr>
                        <a:t>?}}</a:t>
                      </a:r>
                      <a:endParaRPr lang="fr-F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45500" y="891000"/>
            <a:ext cx="9791704" cy="890704"/>
          </a:xfrm>
          <a:prstGeom prst="rect">
            <a:avLst/>
          </a:prstGeom>
          <a:noFill/>
        </p:spPr>
        <p:txBody>
          <a:bodyPr wrap="square">
            <a:spAutoFit/>
          </a:bodyPr>
          <a:lstStyle/>
          <a:p>
            <a:pPr rtl="0">
              <a:buNone/>
            </a:pPr>
            <a:r>
              <a:rPr lang="fr-FR" sz="1050" b="0" i="0" u="none" strike="noStrike" noProof="0">
                <a:solidFill>
                  <a:schemeClr val="tx2"/>
                </a:solidFill>
                <a:effectLst/>
                <a:latin typeface="Inter"/>
              </a:rPr>
              <a:t xml:space="preserve">L’entreprise a établi son rapport de durabilité selon la norme VSME, qui suit une approche structurée afin de garantir que les informations requises sont communiquées de manière standardisée et transparente. Le rapport reflète les modules de durabilité retenus et couverts par l’entreprise. Il est en outre précisé si le rapport de durabilité est établi sur une base individuelle (données propres à l’entreprise uniquement) ou sur une base consolidée. Cette section contient des informations de base sur l’entreprise, par exemple sa forme juridique, ses codes NACE, le total du bilan et le chiffre d’affaires, le nombre de salariés, ainsi que le pays où sont exercées ses activités principales et la localisation d’autres actifs significatifs.</a:t>
            </a:r>
            <a:endParaRPr lang="fr-FR" sz="1050"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1997386540"/>
              </p:ext>
            </p:extLst>
          </p:nvPr>
        </p:nvGraphicFramePr>
        <p:xfrm>
          <a:off x="7164197" y="3387189"/>
          <a:ext cx="3073007" cy="2209548"/>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1902117154"/>
                    </a:ext>
                  </a:extLst>
                </a:gridCol>
                <a:gridCol w="1651963">
                  <a:extLst>
                    <a:ext uri="{9D8B030D-6E8A-4147-A177-3AD203B41FA5}">
                      <a16:colId xmlns:a16="http://schemas.microsoft.com/office/drawing/2014/main" val="1904521774"/>
                    </a:ext>
                  </a:extLst>
                </a:gridCol>
              </a:tblGrid>
              <a:tr h="217416">
                <a:tc gridSpan="2">
                  <a:txBody>
                    <a:bodyPr/>
                    <a:lstStyle/>
                    <a:p>
                      <a:pPr algn="l"/>
                      <a:r>
                        <a:rPr lang="fr-FR" sz="1050" b="1" kern="1200" spc="-10" noProof="0">
                          <a:solidFill>
                            <a:schemeClr val="tx2"/>
                          </a:solidFill>
                          <a:latin typeface="+mn-lt"/>
                          <a:ea typeface="+mn-ea"/>
                          <a:cs typeface="+mn-cs"/>
                        </a:rPr>
                        <a:t xml:space="preserve">Informations de base sur l’entreprise</a:t>
                      </a:r>
                      <a:r>
                        <a:rPr lang="fr-FR" sz="1050" b="0" kern="1200" spc="-10" noProof="0">
                          <a:solidFill>
                            <a:schemeClr val="tx2"/>
                          </a:solidFill>
                          <a:latin typeface="+mn-lt"/>
                          <a:ea typeface="+mn-ea"/>
                          <a:cs typeface="+mn-cs"/>
                        </a:rPr>
                        <a:t xml:space="preserve"> (par. 27e, i-v)</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616454">
                <a:tc>
                  <a:txBody>
                    <a:bodyPr/>
                    <a:lstStyle/>
                    <a:p>
                      <a:pPr algn="l"/>
                      <a:r>
                        <a:rPr lang="fr-FR" sz="1050" b="1" kern="1200" spc="-10" noProof="0">
                          <a:solidFill>
                            <a:schemeClr val="tx2"/>
                          </a:solidFill>
                          <a:latin typeface="+mn-lt"/>
                          <a:ea typeface="+mn-ea"/>
                          <a:cs typeface="+mn-cs"/>
                        </a:rPr>
                        <a:t xml:space="preserve">Forme juridique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fr-FR" sz="1050" b="0" i="0" u="none" strike="noStrike" noProof="0">
                          <a:solidFill>
                            <a:srgbClr val="1B4528"/>
                          </a:solidFill>
                          <a:effectLst/>
                          <a:latin typeface="Inter"/>
                        </a:rPr>
                        <a:t>{{branchekode}}</a:t>
                      </a:r>
                      <a:endParaRPr lang="fr-FR" sz="1050" b="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782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kern="1200" spc="-10" noProof="0">
                          <a:solidFill>
                            <a:schemeClr val="tx2"/>
                          </a:solidFill>
                          <a:latin typeface="+mn-lt"/>
                          <a:ea typeface="+mn-ea"/>
                          <a:cs typeface="+mn-cs"/>
                        </a:rPr>
                        <a:t xml:space="preserve">Code(s) NACE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fr-FR" sz="1050" b="0" i="0" u="none" strike="noStrike" noProof="0">
                          <a:solidFill>
                            <a:srgbClr val="1B4528"/>
                          </a:solidFill>
                          <a:effectLst/>
                          <a:latin typeface="Inter"/>
                        </a:rPr>
                        <a:t>{{NACE}}</a:t>
                      </a:r>
                      <a:endParaRPr lang="fr-F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7341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kern="1200" spc="-10" noProof="0">
                          <a:solidFill>
                            <a:schemeClr val="tx2"/>
                          </a:solidFill>
                          <a:latin typeface="+mn-lt"/>
                          <a:ea typeface="+mn-ea"/>
                          <a:cs typeface="+mn-cs"/>
                        </a:rPr>
                        <a:t xml:space="preserve">Total du bilan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fr-FR" sz="1050" b="0" i="0" u="none" strike="noStrike" noProof="0">
                          <a:solidFill>
                            <a:srgbClr val="1B4528"/>
                          </a:solidFill>
                          <a:effectLst/>
                          <a:latin typeface="Inter"/>
                        </a:rPr>
                        <a:t>{{balance}}</a:t>
                      </a:r>
                      <a:endParaRPr lang="fr-F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73415">
                <a:tc>
                  <a:txBody>
                    <a:bodyPr/>
                    <a:lstStyle/>
                    <a:p>
                      <a:pPr algn="l"/>
                      <a:r>
                        <a:rPr lang="fr-FR" sz="1050" b="1" kern="1200" spc="-10" noProof="0">
                          <a:solidFill>
                            <a:schemeClr val="tx2"/>
                          </a:solidFill>
                          <a:latin typeface="+mn-lt"/>
                          <a:ea typeface="+mn-ea"/>
                          <a:cs typeface="+mn-cs"/>
                        </a:rPr>
                        <a:t xml:space="preserve">Chiffre d’affaires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fr-FR" sz="1050" b="0" i="0" u="none" strike="noStrike" noProof="0">
                          <a:solidFill>
                            <a:srgbClr val="1B4528"/>
                          </a:solidFill>
                          <a:effectLst/>
                          <a:latin typeface="Inter"/>
                        </a:rPr>
                        <a:t>{{revenue}}</a:t>
                      </a:r>
                      <a:endParaRPr lang="fr-F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17416">
                <a:tc>
                  <a:txBody>
                    <a:bodyPr/>
                    <a:lstStyle/>
                    <a:p>
                      <a:pPr algn="l"/>
                      <a:r>
                        <a:rPr lang="fr-FR" sz="1050" b="1" kern="1200" spc="-10" noProof="0">
                          <a:solidFill>
                            <a:schemeClr val="tx2"/>
                          </a:solidFill>
                          <a:latin typeface="+mn-lt"/>
                          <a:ea typeface="+mn-ea"/>
                          <a:cs typeface="+mn-cs"/>
                        </a:rPr>
                        <a:t xml:space="preserve">Nb de salariés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fr-FR" sz="1050" b="0" i="0" u="none" strike="noStrike" noProof="0">
                          <a:solidFill>
                            <a:srgbClr val="1B4528"/>
                          </a:solidFill>
                          <a:effectLst/>
                          <a:latin typeface="Inter"/>
                        </a:rPr>
                        <a:t>{{total_employees}}</a:t>
                      </a:r>
                      <a:endParaRPr lang="fr-F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169491624"/>
              </p:ext>
            </p:extLst>
          </p:nvPr>
        </p:nvGraphicFramePr>
        <p:xfrm>
          <a:off x="7164197" y="2005523"/>
          <a:ext cx="3073007" cy="1167534"/>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613205895"/>
                    </a:ext>
                  </a:extLst>
                </a:gridCol>
                <a:gridCol w="1651963">
                  <a:extLst>
                    <a:ext uri="{9D8B030D-6E8A-4147-A177-3AD203B41FA5}">
                      <a16:colId xmlns:a16="http://schemas.microsoft.com/office/drawing/2014/main" val="2415866723"/>
                    </a:ext>
                  </a:extLst>
                </a:gridCol>
              </a:tblGrid>
              <a:tr h="437299">
                <a:tc gridSpan="2">
                  <a:txBody>
                    <a:bodyPr/>
                    <a:lstStyle/>
                    <a:p>
                      <a:pPr algn="l"/>
                      <a:r>
                        <a:rPr lang="fr-FR" sz="1050" b="1" kern="1200" spc="-10" noProof="0">
                          <a:solidFill>
                            <a:schemeClr val="tx2"/>
                          </a:solidFill>
                          <a:latin typeface="+mn-lt"/>
                          <a:ea typeface="+mn-ea"/>
                          <a:cs typeface="+mn-cs"/>
                        </a:rPr>
                        <a:t xml:space="preserve">Le rapport ESG comporte des omissions pour cause d’informations commerciales sensibles </a:t>
                      </a:r>
                      <a:r>
                        <a:rPr lang="fr-FR" sz="1050" b="0" kern="1200" spc="-10" noProof="0">
                          <a:solidFill>
                            <a:schemeClr val="tx2"/>
                          </a:solidFill>
                          <a:latin typeface="+mn-lt"/>
                          <a:ea typeface="+mn-ea"/>
                          <a:cs typeface="+mn-cs"/>
                        </a:rPr>
                        <a:t xml:space="preserve">(par. 27b)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7302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775" b="0" kern="1200" spc="-10" noProof="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sz="1050" b="0" kern="1200" spc="-10" noProof="0">
                          <a:solidFill>
                            <a:schemeClr val="tx2"/>
                          </a:solidFill>
                          <a:latin typeface="+mn-lt"/>
                          <a:ea typeface="+mn-ea"/>
                          <a:cs typeface="+mn-cs"/>
                        </a:rPr>
                        <a:t xml:space="preserve">Les informations suivantes ont été omises</a:t>
                      </a:r>
                    </a:p>
                    <a:p>
                      <a:pPr algn="l"/>
                      <a:endParaRPr lang="fr-FR" sz="775" b="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fr-FR" sz="1050" noProof="0">
                          <a:solidFill>
                            <a:srgbClr val="1B4528"/>
                          </a:solidFill>
                          <a:latin typeface="+mn-lt"/>
                          <a:cs typeface="Calibri" panose="020F0502020204030204" pitchFamily="34" charset="0"/>
                        </a:rPr>
                        <a:t>{{</a:t>
                      </a:r>
                      <a:r>
                        <a:rPr lang="fr-FR" sz="1050" noProof="0">
                          <a:solidFill>
                            <a:srgbClr val="1B4528"/>
                          </a:solidFill>
                          <a:latin typeface="+mn-lt"/>
                          <a:cs typeface="Calibri" panose="020F0502020204030204" pitchFamily="34" charset="0"/>
                        </a:rPr>
                        <a:t>confidentiality_info</a:t>
                      </a:r>
                      <a:r>
                        <a:rPr lang="fr-FR" sz="1050" noProof="0">
                          <a:solidFill>
                            <a:srgbClr val="1B4528"/>
                          </a:solidFill>
                          <a:latin typeface="+mn-lt"/>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fr-FR" noProof="0"/>
              <a:t xml:space="preserve">Base de préparation (B1) - suite</a:t>
            </a:r>
          </a:p>
        </p:txBody>
      </p:sp>
      <p:pic>
        <p:nvPicPr>
          <p:cNvPr id="11" name="Graphic 10">
            <a:extLst>
              <a:ext uri="{FF2B5EF4-FFF2-40B4-BE49-F238E27FC236}">
                <a16:creationId xmlns:a16="http://schemas.microsoft.com/office/drawing/2014/main" id="{EC0A4FD9-CD66-4681-595B-4557A461B42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0364" y="972291"/>
            <a:ext cx="181932" cy="203984"/>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fr-FR" noProof="0" smtClean="0"/>
              <a:pPr/>
              <a:t>4</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fr-FR" noProof="0"/>
              <a:t>{{</a:t>
            </a:r>
            <a:r>
              <a:rPr lang="fr-FR" noProof="0"/>
              <a:t>company_name</a:t>
            </a:r>
            <a:r>
              <a:rPr lang="fr-FR" noProof="0"/>
              <a:t>}}</a:t>
            </a:r>
            <a:endParaRPr lang="fr-FR" b="0" noProof="0"/>
          </a:p>
          <a:p>
            <a:endParaRPr lang="fr-FR" noProof="0"/>
          </a:p>
        </p:txBody>
      </p:sp>
      <p:graphicFrame>
        <p:nvGraphicFramePr>
          <p:cNvPr id="2" name="Tabel 1">
            <a:extLst>
              <a:ext uri="{FF2B5EF4-FFF2-40B4-BE49-F238E27FC236}">
                <a16:creationId xmlns:a16="http://schemas.microsoft.com/office/drawing/2014/main" id="{7A907455-9CB7-376B-6B21-2E615B3A35EE}"/>
              </a:ext>
            </a:extLst>
          </p:cNvPr>
          <p:cNvGraphicFramePr>
            <a:graphicFrameLocks noGrp="1"/>
          </p:cNvGraphicFramePr>
          <p:nvPr>
            <p:extLst>
              <p:ext uri="{D42A27DB-BD31-4B8C-83A1-F6EECF244321}">
                <p14:modId xmlns:p14="http://schemas.microsoft.com/office/powerpoint/2010/main" val="748584387"/>
              </p:ext>
            </p:extLst>
          </p:nvPr>
        </p:nvGraphicFramePr>
        <p:xfrm>
          <a:off x="452474" y="4486588"/>
          <a:ext cx="9820006" cy="738074"/>
        </p:xfrm>
        <a:graphic>
          <a:graphicData uri="http://schemas.openxmlformats.org/drawingml/2006/table">
            <a:tbl>
              <a:tblPr firstRow="1">
                <a:tableStyleId>{2A488322-F2BA-4B5B-9748-0D474271808F}</a:tableStyleId>
              </a:tblPr>
              <a:tblGrid>
                <a:gridCol w="3375900">
                  <a:extLst>
                    <a:ext uri="{9D8B030D-6E8A-4147-A177-3AD203B41FA5}">
                      <a16:colId xmlns:a16="http://schemas.microsoft.com/office/drawing/2014/main" val="3746818765"/>
                    </a:ext>
                  </a:extLst>
                </a:gridCol>
                <a:gridCol w="3240094">
                  <a:extLst>
                    <a:ext uri="{9D8B030D-6E8A-4147-A177-3AD203B41FA5}">
                      <a16:colId xmlns:a16="http://schemas.microsoft.com/office/drawing/2014/main" val="465692987"/>
                    </a:ext>
                  </a:extLst>
                </a:gridCol>
                <a:gridCol w="1709097">
                  <a:extLst>
                    <a:ext uri="{9D8B030D-6E8A-4147-A177-3AD203B41FA5}">
                      <a16:colId xmlns:a16="http://schemas.microsoft.com/office/drawing/2014/main" val="857047578"/>
                    </a:ext>
                  </a:extLst>
                </a:gridCol>
                <a:gridCol w="1494915">
                  <a:extLst>
                    <a:ext uri="{9D8B030D-6E8A-4147-A177-3AD203B41FA5}">
                      <a16:colId xmlns:a16="http://schemas.microsoft.com/office/drawing/2014/main" val="1742107540"/>
                    </a:ext>
                  </a:extLst>
                </a:gridCol>
              </a:tblGrid>
              <a:tr h="220996">
                <a:tc>
                  <a:txBody>
                    <a:bodyPr/>
                    <a:lstStyle/>
                    <a:p>
                      <a:r>
                        <a:rPr lang="fr-FR" sz="1050" b="1" kern="1200" spc="-10" noProof="0">
                          <a:solidFill>
                            <a:schemeClr val="tx2"/>
                          </a:solidFill>
                          <a:latin typeface="+mn-lt"/>
                          <a:ea typeface="+mn-ea"/>
                          <a:cs typeface="+mn-cs"/>
                        </a:rPr>
                        <a:t xml:space="preserve">Nom du certificat ESG/label environnemental </a:t>
                      </a:r>
                      <a:r>
                        <a:rPr lang="fr-FR" sz="1050" b="0" kern="1200" spc="-10" noProof="0">
                          <a:solidFill>
                            <a:schemeClr val="tx2"/>
                          </a:solidFill>
                          <a:latin typeface="+mn-lt"/>
                          <a:ea typeface="+mn-ea"/>
                          <a:cs typeface="+mn-cs"/>
                        </a:rPr>
                        <a:t xml:space="preserve">(par. 28)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1050" b="1" kern="1200" spc="-10" noProof="0">
                          <a:solidFill>
                            <a:schemeClr val="tx2"/>
                          </a:solidFill>
                          <a:latin typeface="+mn-lt"/>
                          <a:ea typeface="+mn-ea"/>
                          <a:cs typeface="+mn-cs"/>
                        </a:rPr>
                        <a:t xml:space="preserve">Brève description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1050" b="1" kern="1200" spc="-10" noProof="0">
                          <a:solidFill>
                            <a:schemeClr val="tx2"/>
                          </a:solidFill>
                          <a:latin typeface="+mn-lt"/>
                          <a:ea typeface="+mn-ea"/>
                          <a:cs typeface="+mn-cs"/>
                        </a:rPr>
                        <a:t xml:space="preserve">Date de délivrance/</a:t>
                      </a:r>
                    </a:p>
                    <a:p>
                      <a:pPr algn="l"/>
                      <a:r>
                        <a:rPr lang="fr-FR" sz="1050" b="1" kern="1200" spc="-10" noProof="0">
                          <a:solidFill>
                            <a:schemeClr val="tx2"/>
                          </a:solidFill>
                          <a:latin typeface="+mn-lt"/>
                          <a:ea typeface="+mn-ea"/>
                          <a:cs typeface="+mn-cs"/>
                        </a:rPr>
                        <a:t xml:space="preserve">validité</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1050" b="1" kern="1200" spc="-10" noProof="0">
                          <a:solidFill>
                            <a:schemeClr val="tx2"/>
                          </a:solidFill>
                          <a:latin typeface="+mn-lt"/>
                          <a:ea typeface="+mn-ea"/>
                          <a:cs typeface="+mn-cs"/>
                        </a:rPr>
                        <a:t xml:space="preserve">Notation éventuelle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20996">
                <a:tc>
                  <a:txBody>
                    <a:bodyPr/>
                    <a:lstStyle/>
                    <a:p>
                      <a:pPr rtl="0" fontAlgn="ctr" algn="l">
                        <a:buNone/>
                      </a:pPr>
                      <a:r>
                        <a:rPr lang="fr-FR" sz="1050" b="0" i="0" u="none" strike="noStrike" noProof="0">
                          <a:solidFill>
                            <a:srgbClr val="1B4528"/>
                          </a:solidFill>
                          <a:effectLst/>
                          <a:latin typeface="Inter"/>
                        </a:rPr>
                        <a:t>{{certificate_or_ecolabel}}</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fr-FR" sz="1050" b="0" i="0" u="none" strike="noStrike" noProof="0">
                          <a:solidFill>
                            <a:srgbClr val="1B4528"/>
                          </a:solidFill>
                          <a:effectLst/>
                          <a:latin typeface="Inter"/>
                        </a:rPr>
                        <a:t>{{description_certificate}}</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fr-FR" sz="1050" b="0" i="0" u="none" strike="noStrike" noProof="0">
                          <a:solidFill>
                            <a:srgbClr val="1B4528"/>
                          </a:solidFill>
                          <a:effectLst/>
                          <a:latin typeface="Inter"/>
                        </a:rPr>
                        <a:t>{{date_certicate}}</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fr-FR" sz="1050" b="0" i="0" u="none" strike="noStrike" noProof="0">
                          <a:solidFill>
                            <a:srgbClr val="1B4528"/>
                          </a:solidFill>
                          <a:effectLst/>
                          <a:latin typeface="Inter"/>
                        </a:rPr>
                        <a:t>{{certiciate_possible_rating}}</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0" name="Tabel 9">
            <a:extLst>
              <a:ext uri="{FF2B5EF4-FFF2-40B4-BE49-F238E27FC236}">
                <a16:creationId xmlns:a16="http://schemas.microsoft.com/office/drawing/2014/main" id="{AA9D6142-7148-BA87-D929-D03B1323ACFD}"/>
              </a:ext>
            </a:extLst>
          </p:cNvPr>
          <p:cNvGraphicFramePr>
            <a:graphicFrameLocks noGrp="1"/>
          </p:cNvGraphicFramePr>
          <p:nvPr>
            <p:extLst>
              <p:ext uri="{D42A27DB-BD31-4B8C-83A1-F6EECF244321}">
                <p14:modId xmlns:p14="http://schemas.microsoft.com/office/powerpoint/2010/main" val="2461615557"/>
              </p:ext>
            </p:extLst>
          </p:nvPr>
        </p:nvGraphicFramePr>
        <p:xfrm>
          <a:off x="468741" y="1568148"/>
          <a:ext cx="9770785" cy="1051941"/>
        </p:xfrm>
        <a:graphic>
          <a:graphicData uri="http://schemas.openxmlformats.org/drawingml/2006/table">
            <a:tbl>
              <a:tblPr firstRow="1">
                <a:tableStyleId>{2A488322-F2BA-4B5B-9748-0D474271808F}</a:tableStyleId>
              </a:tblPr>
              <a:tblGrid>
                <a:gridCol w="1780760">
                  <a:extLst>
                    <a:ext uri="{9D8B030D-6E8A-4147-A177-3AD203B41FA5}">
                      <a16:colId xmlns:a16="http://schemas.microsoft.com/office/drawing/2014/main" val="2041236584"/>
                    </a:ext>
                  </a:extLst>
                </a:gridCol>
                <a:gridCol w="1890996">
                  <a:extLst>
                    <a:ext uri="{9D8B030D-6E8A-4147-A177-3AD203B41FA5}">
                      <a16:colId xmlns:a16="http://schemas.microsoft.com/office/drawing/2014/main" val="2637180759"/>
                    </a:ext>
                  </a:extLst>
                </a:gridCol>
                <a:gridCol w="1444903">
                  <a:extLst>
                    <a:ext uri="{9D8B030D-6E8A-4147-A177-3AD203B41FA5}">
                      <a16:colId xmlns:a16="http://schemas.microsoft.com/office/drawing/2014/main" val="1126871569"/>
                    </a:ext>
                  </a:extLst>
                </a:gridCol>
                <a:gridCol w="1412061">
                  <a:extLst>
                    <a:ext uri="{9D8B030D-6E8A-4147-A177-3AD203B41FA5}">
                      <a16:colId xmlns:a16="http://schemas.microsoft.com/office/drawing/2014/main" val="573454477"/>
                    </a:ext>
                  </a:extLst>
                </a:gridCol>
                <a:gridCol w="1565312">
                  <a:extLst>
                    <a:ext uri="{9D8B030D-6E8A-4147-A177-3AD203B41FA5}">
                      <a16:colId xmlns:a16="http://schemas.microsoft.com/office/drawing/2014/main" val="3277283369"/>
                    </a:ext>
                  </a:extLst>
                </a:gridCol>
                <a:gridCol w="1676753">
                  <a:extLst>
                    <a:ext uri="{9D8B030D-6E8A-4147-A177-3AD203B41FA5}">
                      <a16:colId xmlns:a16="http://schemas.microsoft.com/office/drawing/2014/main" val="3975353283"/>
                    </a:ext>
                  </a:extLst>
                </a:gridCol>
              </a:tblGrid>
              <a:tr h="284138">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kern="1200" spc="-10" noProof="0">
                          <a:solidFill>
                            <a:schemeClr val="tx2"/>
                          </a:solidFill>
                          <a:latin typeface="+mn-lt"/>
                          <a:ea typeface="+mn-ea"/>
                          <a:cs typeface="+mn-cs"/>
                        </a:rPr>
                        <a:t xml:space="preserve">Adresses et géolocalisation des </a:t>
                      </a:r>
                      <a:r>
                        <a:rPr lang="fr-FR" sz="1050" b="1" u="none" kern="1200" spc="-10" noProof="0">
                          <a:solidFill>
                            <a:schemeClr val="tx2"/>
                          </a:solidFill>
                          <a:latin typeface="+mn-lt"/>
                          <a:ea typeface="+mn-ea"/>
                          <a:cs typeface="+mn-cs"/>
                        </a:rPr>
                        <a:t xml:space="preserve">actifs</a:t>
                      </a:r>
                      <a:r>
                        <a:rPr lang="fr-FR" sz="1050" b="1" kern="1200" spc="-10" noProof="0">
                          <a:solidFill>
                            <a:schemeClr val="tx2"/>
                          </a:solidFill>
                          <a:latin typeface="+mn-lt"/>
                          <a:ea typeface="+mn-ea"/>
                          <a:cs typeface="+mn-cs"/>
                        </a:rPr>
                        <a:t xml:space="preserve"> et sites significatifs que l’entreprise</a:t>
                      </a:r>
                      <a:r>
                        <a:rPr lang="fr-FR" sz="1050" b="0" kern="1200" spc="-10" noProof="0">
                          <a:solidFill>
                            <a:schemeClr val="tx2"/>
                          </a:solidFill>
                          <a:latin typeface="+mn-lt"/>
                          <a:ea typeface="+mn-ea"/>
                          <a:cs typeface="+mn-cs"/>
                        </a:rPr>
                        <a:t> </a:t>
                      </a:r>
                      <a:r>
                        <a:rPr lang="fr-FR" sz="1050" b="1" kern="1200" spc="-10" noProof="0">
                          <a:solidFill>
                            <a:schemeClr val="tx2"/>
                          </a:solidFill>
                          <a:latin typeface="+mn-lt"/>
                          <a:ea typeface="+mn-ea"/>
                          <a:cs typeface="+mn-cs"/>
                        </a:rPr>
                        <a:t xml:space="preserve">détient, loue ou gère </a:t>
                      </a:r>
                      <a:r>
                        <a:rPr lang="fr-FR" sz="1050" b="0" kern="1200" spc="-10" noProof="0">
                          <a:solidFill>
                            <a:schemeClr val="tx2"/>
                          </a:solidFill>
                          <a:latin typeface="+mn-lt"/>
                          <a:ea typeface="+mn-ea"/>
                          <a:cs typeface="+mn-cs"/>
                        </a:rPr>
                        <a:t xml:space="preserve">(par.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050"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84138">
                <a:tc>
                  <a:txBody>
                    <a:bodyPr/>
                    <a:lstStyle/>
                    <a:p>
                      <a:pPr algn="l"/>
                      <a:r>
                        <a:rPr lang="fr-FR" sz="1050" b="1" kern="1200" spc="-10" noProof="0">
                          <a:solidFill>
                            <a:schemeClr val="tx2"/>
                          </a:solidFill>
                          <a:latin typeface="+mn-lt"/>
                          <a:ea typeface="+mn-ea"/>
                          <a:cs typeface="+mn-cs"/>
                        </a:rPr>
                        <a:t xml:space="preserve">Site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Adresse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Code postal</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Ville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Pays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Géolocalisation (coordonnées)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84138">
                <a:tc>
                  <a:txBody>
                    <a:bodyPr/>
                    <a:lstStyle/>
                    <a:p>
                      <a:pPr rtl="0" fontAlgn="t" algn="l">
                        <a:buNone/>
                      </a:pPr>
                      <a:r>
                        <a:rPr lang="fr-FR" sz="1050" b="0" i="0" u="none" strike="noStrike" noProof="0">
                          <a:solidFill>
                            <a:srgbClr val="1B4528"/>
                          </a:solidFill>
                          <a:effectLst/>
                          <a:latin typeface="Inter"/>
                        </a:rPr>
                        <a:t>{{geolocation}}</a:t>
                      </a:r>
                      <a:endParaRPr lang="fr-F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fr-FR" sz="1050" b="0" i="0" u="none" strike="noStrike" noProof="0">
                          <a:solidFill>
                            <a:srgbClr val="1B4528"/>
                          </a:solidFill>
                          <a:effectLst/>
                          <a:latin typeface="Inter"/>
                        </a:rPr>
                        <a:t>{{geolocation_adress}}</a:t>
                      </a:r>
                      <a:endParaRPr lang="fr-F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fr-FR" sz="1050" b="0" i="0" u="none" strike="noStrike" noProof="0">
                          <a:solidFill>
                            <a:srgbClr val="1B4528"/>
                          </a:solidFill>
                          <a:effectLst/>
                          <a:latin typeface="Inter"/>
                        </a:rPr>
                        <a:t>{{geolocation_postcode}}</a:t>
                      </a:r>
                      <a:endParaRPr lang="fr-F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fr-FR" sz="1050" b="0" i="0" u="none" strike="noStrike" noProof="0">
                          <a:solidFill>
                            <a:srgbClr val="1B4528"/>
                          </a:solidFill>
                          <a:effectLst/>
                          <a:latin typeface="Inter"/>
                        </a:rPr>
                        <a:t>{{geolocation_city}}</a:t>
                      </a:r>
                      <a:endParaRPr lang="fr-F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fr-FR" sz="1050" b="0" i="0" u="none" strike="noStrike" noProof="0">
                          <a:solidFill>
                            <a:srgbClr val="1B4528"/>
                          </a:solidFill>
                          <a:effectLst/>
                          <a:latin typeface="Inter"/>
                        </a:rPr>
                        <a:t>{{geolocation_country}}</a:t>
                      </a:r>
                      <a:endParaRPr lang="fr-F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fr-FR" sz="1050" b="0" i="0" u="none" strike="noStrike" noProof="0">
                          <a:solidFill>
                            <a:srgbClr val="1B4528"/>
                          </a:solidFill>
                          <a:effectLst/>
                          <a:latin typeface="Inter"/>
                        </a:rPr>
                        <a:t>{{geolocation_coordinates}}</a:t>
                      </a:r>
                      <a:endParaRPr lang="fr-F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8" name="Tekstfelt 7">
            <a:extLst>
              <a:ext uri="{FF2B5EF4-FFF2-40B4-BE49-F238E27FC236}">
                <a16:creationId xmlns:a16="http://schemas.microsoft.com/office/drawing/2014/main" id="{8424FC7C-5277-3C04-10E3-491713542923}"/>
              </a:ext>
            </a:extLst>
          </p:cNvPr>
          <p:cNvSpPr txBox="1"/>
          <p:nvPr/>
        </p:nvSpPr>
        <p:spPr>
          <a:xfrm>
            <a:off x="452474" y="891000"/>
            <a:ext cx="9794026" cy="566812"/>
          </a:xfrm>
          <a:prstGeom prst="rect">
            <a:avLst/>
          </a:prstGeom>
          <a:noFill/>
        </p:spPr>
        <p:txBody>
          <a:bodyPr wrap="square">
            <a:spAutoFit/>
          </a:bodyPr>
          <a:lstStyle/>
          <a:p>
            <a:pPr>
              <a:spcBef>
                <a:spcPts val="789"/>
              </a:spcBef>
            </a:pPr>
            <a:r>
              <a:rPr lang="fr-FR" sz="1050" b="0" i="0" u="none" strike="noStrike" noProof="0">
                <a:solidFill>
                  <a:schemeClr val="tx2"/>
                </a:solidFill>
                <a:effectLst/>
                <a:latin typeface="Inter"/>
              </a:rPr>
              <a:t xml:space="preserve">Ci-dessous figure une description des géolocalisations de l’entreprise et des lieux où elle opère. Ces informations peuvent servir pour les zones de risque climatique et renseignent sur les installations, sites et/ou le siège de l’entreprise</a:t>
            </a:r>
            <a:r>
              <a:rPr lang="fr-FR" sz="1050" noProof="0">
                <a:solidFill>
                  <a:schemeClr val="tx2"/>
                </a:solidFill>
                <a:latin typeface="Inter"/>
              </a:rPr>
              <a:t xml:space="preserve">. Les certifications ou labels de durabilité pertinents sont également indiqués, y compris l’organisme émetteur, la date et la notation éventuelle.</a:t>
            </a:r>
            <a:endParaRPr lang="fr-FR" sz="1050" b="0" noProof="0">
              <a:solidFill>
                <a:schemeClr val="tx2"/>
              </a:solidFill>
              <a:effectLst/>
              <a:latin typeface="Inter"/>
            </a:endParaRPr>
          </a:p>
        </p:txBody>
      </p:sp>
      <p:sp>
        <p:nvSpPr>
          <p:cNvPr id="20" name="Tekstfelt 19">
            <a:extLst>
              <a:ext uri="{FF2B5EF4-FFF2-40B4-BE49-F238E27FC236}">
                <a16:creationId xmlns:a16="http://schemas.microsoft.com/office/drawing/2014/main" id="{EE6CA221-E8CE-159D-7634-30A647F356B9}"/>
              </a:ext>
            </a:extLst>
          </p:cNvPr>
          <p:cNvSpPr txBox="1"/>
          <p:nvPr/>
        </p:nvSpPr>
        <p:spPr>
          <a:xfrm>
            <a:off x="452474" y="4181436"/>
            <a:ext cx="7174107" cy="242919"/>
          </a:xfrm>
          <a:prstGeom prst="rect">
            <a:avLst/>
          </a:prstGeom>
          <a:noFill/>
        </p:spPr>
        <p:txBody>
          <a:bodyPr wrap="square">
            <a:spAutoFit/>
          </a:bodyPr>
          <a:lstStyle/>
          <a:p>
            <a:r>
              <a:rPr lang="fr-FR" sz="1050" noProof="0">
                <a:solidFill>
                  <a:srgbClr val="487477"/>
                </a:solidFill>
                <a:latin typeface="Inter"/>
              </a:rPr>
              <a:t xml:space="preserve">Les certificats et labels environnementaux de l’entreprise sont énumérés ci-dessous.</a:t>
            </a:r>
          </a:p>
        </p:txBody>
      </p:sp>
    </p:spTree>
    <p:extLst>
      <p:ext uri="{BB962C8B-B14F-4D97-AF65-F5344CB8AC3E}">
        <p14:creationId xmlns:p14="http://schemas.microsoft.com/office/powerpoint/2010/main" val="34395824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fr-FR" noProof="0"/>
              <a:t xml:space="preserve">Pratiques, politiques et initiatives futures en vue de la transition vers une économie plus durable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endParaRPr lang="fr-F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54796" y="1501175"/>
          <a:ext cx="9791705" cy="3360057"/>
        </p:xfrm>
        <a:graphic>
          <a:graphicData uri="http://schemas.openxmlformats.org/drawingml/2006/table">
            <a:tbl>
              <a:tblPr firstRow="1">
                <a:tableStyleId>{2A488322-F2BA-4B5B-9748-0D474271808F}</a:tableStyleId>
              </a:tblPr>
              <a:tblGrid>
                <a:gridCol w="1750429">
                  <a:extLst>
                    <a:ext uri="{9D8B030D-6E8A-4147-A177-3AD203B41FA5}">
                      <a16:colId xmlns:a16="http://schemas.microsoft.com/office/drawing/2014/main" val="1902117154"/>
                    </a:ext>
                  </a:extLst>
                </a:gridCol>
                <a:gridCol w="1848825">
                  <a:extLst>
                    <a:ext uri="{9D8B030D-6E8A-4147-A177-3AD203B41FA5}">
                      <a16:colId xmlns:a16="http://schemas.microsoft.com/office/drawing/2014/main" val="1904521774"/>
                    </a:ext>
                  </a:extLst>
                </a:gridCol>
                <a:gridCol w="1447875">
                  <a:extLst>
                    <a:ext uri="{9D8B030D-6E8A-4147-A177-3AD203B41FA5}">
                      <a16:colId xmlns:a16="http://schemas.microsoft.com/office/drawing/2014/main" val="3164053669"/>
                    </a:ext>
                  </a:extLst>
                </a:gridCol>
                <a:gridCol w="2027025">
                  <a:extLst>
                    <a:ext uri="{9D8B030D-6E8A-4147-A177-3AD203B41FA5}">
                      <a16:colId xmlns:a16="http://schemas.microsoft.com/office/drawing/2014/main" val="1484983729"/>
                    </a:ext>
                  </a:extLst>
                </a:gridCol>
                <a:gridCol w="2717551">
                  <a:extLst>
                    <a:ext uri="{9D8B030D-6E8A-4147-A177-3AD203B41FA5}">
                      <a16:colId xmlns:a16="http://schemas.microsoft.com/office/drawing/2014/main" val="3920544300"/>
                    </a:ext>
                  </a:extLst>
                </a:gridCol>
              </a:tblGrid>
              <a:tr h="417684">
                <a:tc>
                  <a:txBody>
                    <a:bodyPr/>
                    <a:lstStyle/>
                    <a:p>
                      <a:r>
                        <a:rPr lang="fr-FR" sz="1050" b="1" kern="1200" spc="-10" noProof="0">
                          <a:solidFill>
                            <a:schemeClr val="tx2"/>
                          </a:solidFill>
                          <a:latin typeface="+mn-lt"/>
                          <a:ea typeface="+mn-ea"/>
                          <a:cs typeface="+mn-cs"/>
                        </a:rPr>
                        <a:t xml:space="preserve">Domaine</a:t>
                      </a:r>
                    </a:p>
                    <a:p>
                      <a:r>
                        <a:rPr lang="fr-FR" sz="1050" b="0" kern="1200" spc="-10" noProof="0">
                          <a:solidFill>
                            <a:schemeClr val="tx2"/>
                          </a:solidFill>
                          <a:latin typeface="+mn-lt"/>
                          <a:ea typeface="+mn-ea"/>
                          <a:cs typeface="+mn-cs"/>
                        </a:rPr>
                        <a:t xml:space="preserve">(par. 29a-d)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Pratique ou politique concrète en place dans ce domaine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La politique est-elle accessible au public?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L’entreprise a des initiatives et plans futurs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Cibles concrètes de suivi de la mise en œuvre des pratiques et politiques?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67040">
                <a:tc>
                  <a:txBody>
                    <a:bodyPr/>
                    <a:lstStyle/>
                    <a:p>
                      <a:pPr algn="l"/>
                      <a:r>
                        <a:rPr lang="fr-FR" sz="1050" b="1" kern="1200" spc="-10" noProof="0">
                          <a:solidFill>
                            <a:schemeClr val="tx2"/>
                          </a:solidFill>
                          <a:latin typeface="+mn-lt"/>
                          <a:ea typeface="+mn-ea"/>
                          <a:cs typeface="+mn-cs"/>
                        </a:rPr>
                        <a:t xml:space="preserve">Changement climatique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1050" b="0" i="0" u="none" strike="noStrike" noProof="0">
                          <a:solidFill>
                            <a:srgbClr val="1B4528"/>
                          </a:solidFill>
                          <a:effectLst/>
                          <a:latin typeface="Inter"/>
                        </a:rPr>
                        <a:t>{{climate_change_concrete}}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{{climate_change_publicly}}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{{climate_change_future}}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1050" b="0" i="0" u="none" strike="noStrike" noProof="0">
                          <a:solidFill>
                            <a:srgbClr val="1B4528"/>
                          </a:solidFill>
                          <a:latin typeface="Inter"/>
                        </a:rPr>
                        <a:t>{{climate_change_plan}}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53415">
                <a:tc>
                  <a:txBody>
                    <a:bodyPr/>
                    <a:lstStyle/>
                    <a:p>
                      <a:pPr algn="l"/>
                      <a:r>
                        <a:rPr lang="fr-FR" sz="1050" b="1" kern="1200" spc="-10" noProof="0">
                          <a:solidFill>
                            <a:schemeClr val="tx2"/>
                          </a:solidFill>
                          <a:latin typeface="+mn-lt"/>
                          <a:ea typeface="+mn-ea"/>
                          <a:cs typeface="+mn-cs"/>
                        </a:rPr>
                        <a:t xml:space="preserve">Pollution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1050" b="0" i="0" u="none" strike="noStrike" noProof="0">
                          <a:solidFill>
                            <a:srgbClr val="1B4528"/>
                          </a:solidFill>
                          <a:effectLst/>
                          <a:latin typeface="Inter"/>
                        </a:rPr>
                        <a:t>{{pollution_concrete}}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{{pollution_publicly}}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{{pollution_future}}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1050" b="0" i="0" u="none" strike="noStrike" noProof="0">
                          <a:solidFill>
                            <a:srgbClr val="1B4528"/>
                          </a:solidFill>
                          <a:latin typeface="Inter"/>
                        </a:rPr>
                        <a:t>{{pollution_plan}}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60612">
                <a:tc>
                  <a:txBody>
                    <a:bodyPr/>
                    <a:lstStyle/>
                    <a:p>
                      <a:pPr algn="l"/>
                      <a:r>
                        <a:rPr lang="fr-FR" sz="1050" b="1" kern="1200" spc="-10" noProof="0">
                          <a:solidFill>
                            <a:schemeClr val="tx2"/>
                          </a:solidFill>
                          <a:latin typeface="+mn-lt"/>
                          <a:ea typeface="+mn-ea"/>
                          <a:cs typeface="+mn-cs"/>
                        </a:rPr>
                        <a:t xml:space="preserve">Ressources hydriques et marines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1050" b="0" i="0" u="none" strike="noStrike" noProof="0">
                          <a:solidFill>
                            <a:srgbClr val="1B4528"/>
                          </a:solidFill>
                          <a:effectLst/>
                          <a:latin typeface="Inter"/>
                        </a:rPr>
                        <a:t>{{water_concrete}}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{{water_publicly}}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{{water_future}}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1050" b="0" i="0" u="none" strike="noStrike" noProof="0">
                          <a:solidFill>
                            <a:srgbClr val="1B4528"/>
                          </a:solidFill>
                          <a:latin typeface="Inter"/>
                        </a:rPr>
                        <a:t>{{water_plan}}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60612">
                <a:tc>
                  <a:txBody>
                    <a:bodyPr/>
                    <a:lstStyle/>
                    <a:p>
                      <a:pPr algn="l"/>
                      <a:r>
                        <a:rPr lang="fr-FR" sz="1050" b="1" kern="1200" spc="-10" noProof="0">
                          <a:solidFill>
                            <a:schemeClr val="tx2"/>
                          </a:solidFill>
                          <a:latin typeface="+mn-lt"/>
                          <a:ea typeface="+mn-ea"/>
                          <a:cs typeface="+mn-cs"/>
                        </a:rPr>
                        <a:t xml:space="preserve">Biodiversité et écosystèmes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1050" b="0" i="0" u="none" strike="noStrike" noProof="0">
                          <a:solidFill>
                            <a:srgbClr val="1B4528"/>
                          </a:solidFill>
                          <a:effectLst/>
                          <a:latin typeface="Inter"/>
                        </a:rPr>
                        <a:t>{{biodiversity_concrete}}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{{biodiversity_publicly}}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{{biodiversity_future}}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1050" b="0" i="0" u="none" strike="noStrike" noProof="0">
                          <a:solidFill>
                            <a:srgbClr val="1B4528"/>
                          </a:solidFill>
                          <a:latin typeface="Inter"/>
                        </a:rPr>
                        <a:t>{{biodiversity_plan}}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60612">
                <a:tc>
                  <a:txBody>
                    <a:bodyPr/>
                    <a:lstStyle/>
                    <a:p>
                      <a:pPr algn="l"/>
                      <a:r>
                        <a:rPr lang="fr-FR" sz="1050" b="1" kern="1200" spc="-10" noProof="0">
                          <a:solidFill>
                            <a:schemeClr val="tx2"/>
                          </a:solidFill>
                          <a:latin typeface="+mn-lt"/>
                          <a:ea typeface="+mn-ea"/>
                          <a:cs typeface="+mn-cs"/>
                        </a:rPr>
                        <a:t xml:space="preserve">Économie circulaire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1050" b="0" i="0" u="none" strike="noStrike" noProof="0">
                          <a:solidFill>
                            <a:srgbClr val="1B4528"/>
                          </a:solidFill>
                          <a:effectLst/>
                          <a:latin typeface="Inter"/>
                        </a:rPr>
                        <a:t>{{circular_concrete}}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{{circular_publicly}}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{{circular_future}}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1050" b="0" i="0" u="none" strike="noStrike" noProof="0">
                          <a:solidFill>
                            <a:srgbClr val="1B4528"/>
                          </a:solidFill>
                          <a:latin typeface="Inter"/>
                        </a:rPr>
                        <a:t>{{circular_plan}}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60612">
                <a:tc>
                  <a:txBody>
                    <a:bodyPr/>
                    <a:lstStyle/>
                    <a:p>
                      <a:pPr algn="l"/>
                      <a:r>
                        <a:rPr lang="fr-FR" sz="1050" b="1" kern="1200" spc="-10" noProof="0">
                          <a:solidFill>
                            <a:schemeClr val="tx2"/>
                          </a:solidFill>
                          <a:latin typeface="+mn-lt"/>
                          <a:ea typeface="+mn-ea"/>
                          <a:cs typeface="+mn-cs"/>
                        </a:rPr>
                        <a:t xml:space="preserve">Personnel de l’entreprise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1050" b="0" i="0" u="none" strike="noStrike" noProof="0">
                          <a:solidFill>
                            <a:srgbClr val="1B4528"/>
                          </a:solidFill>
                          <a:effectLst/>
                          <a:latin typeface="Inter"/>
                        </a:rPr>
                        <a:t>{{workforce_concrete}}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{{workforce_publicly}}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{{workforce_future}}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1050" b="0" i="0" u="none" strike="noStrike" noProof="0">
                          <a:solidFill>
                            <a:srgbClr val="1B4528"/>
                          </a:solidFill>
                          <a:latin typeface="Inter"/>
                        </a:rPr>
                        <a:t>{{workforce_plan}}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60612">
                <a:tc>
                  <a:txBody>
                    <a:bodyPr/>
                    <a:lstStyle/>
                    <a:p>
                      <a:pPr algn="l"/>
                      <a:r>
                        <a:rPr lang="fr-FR" sz="1050" b="1" kern="1200" spc="-10" noProof="0">
                          <a:solidFill>
                            <a:schemeClr val="tx2"/>
                          </a:solidFill>
                          <a:latin typeface="+mn-lt"/>
                          <a:ea typeface="+mn-ea"/>
                          <a:cs typeface="+mn-cs"/>
                        </a:rPr>
                        <a:t xml:space="preserve">Travailleurs de la chaîne de valeur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1050" b="0" i="0" u="none" strike="noStrike" noProof="0">
                          <a:solidFill>
                            <a:srgbClr val="1B4528"/>
                          </a:solidFill>
                          <a:effectLst/>
                          <a:latin typeface="Inter"/>
                        </a:rPr>
                        <a:t>{{workers_concrete}}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{{workers_publicly}}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{{workers_future}}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1050" b="0" i="0" u="none" strike="noStrike" noProof="0">
                          <a:solidFill>
                            <a:srgbClr val="1B4528"/>
                          </a:solidFill>
                          <a:latin typeface="Inter"/>
                        </a:rPr>
                        <a:t>{{workers_plan}}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60612">
                <a:tc>
                  <a:txBody>
                    <a:bodyPr/>
                    <a:lstStyle/>
                    <a:p>
                      <a:pPr algn="l"/>
                      <a:r>
                        <a:rPr lang="fr-FR" sz="1050" b="1" kern="1200" spc="-10" noProof="0">
                          <a:solidFill>
                            <a:schemeClr val="tx2"/>
                          </a:solidFill>
                          <a:latin typeface="+mn-lt"/>
                          <a:ea typeface="+mn-ea"/>
                          <a:cs typeface="+mn-cs"/>
                        </a:rPr>
                        <a:t xml:space="preserve">Communautés affectées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1050" b="0" i="0" u="none" strike="noStrike" noProof="0">
                          <a:solidFill>
                            <a:srgbClr val="1B4528"/>
                          </a:solidFill>
                          <a:effectLst/>
                          <a:latin typeface="Inter"/>
                        </a:rPr>
                        <a:t>{{communities_concrete}}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{{communities_publicly}}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{{communities_future}}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1050" b="0" i="0" u="none" strike="noStrike" noProof="0">
                          <a:solidFill>
                            <a:srgbClr val="1B4528"/>
                          </a:solidFill>
                          <a:latin typeface="Inter"/>
                        </a:rPr>
                        <a:t>{{communities_plan}}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60612">
                <a:tc>
                  <a:txBody>
                    <a:bodyPr/>
                    <a:lstStyle/>
                    <a:p>
                      <a:pPr algn="l"/>
                      <a:r>
                        <a:rPr lang="fr-FR" sz="1050" b="1" kern="1200" spc="-10" noProof="0">
                          <a:solidFill>
                            <a:schemeClr val="tx2"/>
                          </a:solidFill>
                          <a:latin typeface="+mn-lt"/>
                          <a:ea typeface="+mn-ea"/>
                          <a:cs typeface="+mn-cs"/>
                        </a:rPr>
                        <a:t xml:space="preserve">Consommateurs et utilisateurs finaux</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1050" b="0" i="0" u="none" strike="noStrike" noProof="0">
                          <a:solidFill>
                            <a:srgbClr val="1B4528"/>
                          </a:solidFill>
                          <a:effectLst/>
                          <a:latin typeface="Inter"/>
                        </a:rPr>
                        <a:t>{{consumers_concrete}}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{{consumers_publicly}}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{{consumers_future}}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1050" b="0" i="0" u="none" strike="noStrike" noProof="0">
                          <a:solidFill>
                            <a:srgbClr val="1B4528"/>
                          </a:solidFill>
                          <a:latin typeface="Inter"/>
                        </a:rPr>
                        <a:t>{{consumers_plan}}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60612">
                <a:tc>
                  <a:txBody>
                    <a:bodyPr/>
                    <a:lstStyle/>
                    <a:p>
                      <a:pPr algn="l"/>
                      <a:r>
                        <a:rPr lang="fr-FR" sz="1050" b="1" kern="1200" spc="-10" noProof="0">
                          <a:solidFill>
                            <a:schemeClr val="tx2"/>
                          </a:solidFill>
                          <a:latin typeface="+mn-lt"/>
                          <a:ea typeface="+mn-ea"/>
                          <a:cs typeface="+mn-cs"/>
                        </a:rPr>
                        <a:t xml:space="preserve">Conduite des affaires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1050" b="0" i="0" u="none" strike="noStrike" noProof="0">
                          <a:solidFill>
                            <a:srgbClr val="1B4528"/>
                          </a:solidFill>
                          <a:effectLst/>
                          <a:latin typeface="Inter"/>
                        </a:rPr>
                        <a:t>{{governance_concrete}}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{{governance_publicly}}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1050" b="0" i="0" u="none" strike="noStrike" noProof="0">
                          <a:solidFill>
                            <a:srgbClr val="1B4528"/>
                          </a:solidFill>
                          <a:effectLst/>
                          <a:latin typeface="Inter"/>
                        </a:rPr>
                        <a:t>{{governance_future}}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1050" b="0" i="0" u="none" strike="noStrike" noProof="0">
                          <a:solidFill>
                            <a:srgbClr val="1B4528"/>
                          </a:solidFill>
                          <a:latin typeface="Inter"/>
                        </a:rPr>
                        <a:t>{{governance_plan}}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54796" y="891000"/>
            <a:ext cx="9782408" cy="566812"/>
          </a:xfrm>
          <a:prstGeom prst="rect">
            <a:avLst/>
          </a:prstGeom>
          <a:noFill/>
        </p:spPr>
        <p:txBody>
          <a:bodyPr wrap="square">
            <a:spAutoFit/>
          </a:bodyPr>
          <a:lstStyle/>
          <a:p>
            <a:pPr rtl="0">
              <a:spcBef>
                <a:spcPts val="789"/>
              </a:spcBef>
              <a:buNone/>
            </a:pPr>
            <a:r>
              <a:rPr lang="fr-FR" sz="1050" b="0" i="0" u="none" strike="noStrike" noProof="0">
                <a:solidFill>
                  <a:schemeClr val="tx2"/>
                </a:solidFill>
                <a:effectLst/>
                <a:latin typeface="Inter"/>
              </a:rPr>
              <a:t xml:space="preserve">Cette section présente les pratiques, politiques et initiatives futures que l’entreprise a mises en place pour soutenir une économie durable. Elle précise notamment quelles mesures concrètes l’entreprise a prises pour réduire ses impacts négatifs sur l’environnement et améliorer les conditions de travail et l’égalité de traitement (OUI/NON).</a:t>
            </a:r>
            <a:br>
              <a:rPr lang="fr-FR" sz="1050" noProof="0">
                <a:solidFill>
                  <a:schemeClr val="tx2"/>
                </a:solidFill>
              </a:rPr>
            </a:br>
            <a:endParaRPr lang="fr-FR" sz="1050"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fr-FR" noProof="0" smtClean="0"/>
              <a:pPr/>
              <a:t>5</a:t>
            </a:fld>
            <a:endParaRPr lang="fr-FR" noProof="0"/>
          </a:p>
        </p:txBody>
      </p:sp>
    </p:spTree>
    <p:extLst>
      <p:ext uri="{BB962C8B-B14F-4D97-AF65-F5344CB8AC3E}">
        <p14:creationId xmlns:p14="http://schemas.microsoft.com/office/powerpoint/2010/main" val="2000975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Consommation d’énergie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43369" y="1359604"/>
          <a:ext cx="9803131" cy="1687508"/>
        </p:xfrm>
        <a:graphic>
          <a:graphicData uri="http://schemas.openxmlformats.org/drawingml/2006/table">
            <a:tbl>
              <a:tblPr firstRow="1">
                <a:tableStyleId>{2A488322-F2BA-4B5B-9748-0D474271808F}</a:tableStyleId>
              </a:tblPr>
              <a:tblGrid>
                <a:gridCol w="2660545">
                  <a:extLst>
                    <a:ext uri="{9D8B030D-6E8A-4147-A177-3AD203B41FA5}">
                      <a16:colId xmlns:a16="http://schemas.microsoft.com/office/drawing/2014/main" val="2698153288"/>
                    </a:ext>
                  </a:extLst>
                </a:gridCol>
                <a:gridCol w="2469635">
                  <a:extLst>
                    <a:ext uri="{9D8B030D-6E8A-4147-A177-3AD203B41FA5}">
                      <a16:colId xmlns:a16="http://schemas.microsoft.com/office/drawing/2014/main" val="1451447067"/>
                    </a:ext>
                  </a:extLst>
                </a:gridCol>
                <a:gridCol w="2604428">
                  <a:extLst>
                    <a:ext uri="{9D8B030D-6E8A-4147-A177-3AD203B41FA5}">
                      <a16:colId xmlns:a16="http://schemas.microsoft.com/office/drawing/2014/main" val="2943870936"/>
                    </a:ext>
                  </a:extLst>
                </a:gridCol>
                <a:gridCol w="2068523">
                  <a:extLst>
                    <a:ext uri="{9D8B030D-6E8A-4147-A177-3AD203B41FA5}">
                      <a16:colId xmlns:a16="http://schemas.microsoft.com/office/drawing/2014/main" val="656209149"/>
                    </a:ext>
                  </a:extLst>
                </a:gridCol>
              </a:tblGrid>
              <a:tr h="218608">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1050" b="1" noProof="0">
                          <a:solidFill>
                            <a:schemeClr val="tx2"/>
                          </a:solidFill>
                        </a:rPr>
                        <a:t xml:space="preserve">Consommation d’énergie en MWh </a:t>
                      </a:r>
                      <a:r>
                        <a:rPr lang="fr-FR" sz="1050" b="0" noProof="0">
                          <a:solidFill>
                            <a:schemeClr val="tx2"/>
                          </a:solidFill>
                        </a:rPr>
                        <a:t xml:space="preserve">(par. 32)</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fr-FR" sz="775" b="1"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47564">
                <a:tc>
                  <a:txBody>
                    <a:bodyPr/>
                    <a:lstStyle/>
                    <a:p>
                      <a:pPr>
                        <a:lnSpc>
                          <a:spcPct val="106000"/>
                        </a:lnSpc>
                      </a:pPr>
                      <a:endParaRPr lang="fr-F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fr-FR" sz="1050" b="1" noProof="0">
                          <a:solidFill>
                            <a:schemeClr val="tx2"/>
                          </a:solidFill>
                        </a:rPr>
                        <a:t xml:space="preserve">Consommation renouvelable</a:t>
                      </a:r>
                      <a:r>
                        <a:rPr lang="fr-FR" sz="1050" b="1" noProof="0">
                          <a:solidFill>
                            <a:schemeClr val="tx2"/>
                          </a:solidFill>
                        </a:rPr>
                        <a:t xml:space="preserve"> (MWh)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fr-FR" sz="1050" b="1" noProof="0">
                          <a:solidFill>
                            <a:schemeClr val="tx2"/>
                          </a:solidFill>
                        </a:rPr>
                        <a:t xml:space="preserve">Consommation non renouvelable</a:t>
                      </a:r>
                      <a:r>
                        <a:rPr lang="fr-FR" sz="1050" b="1" noProof="0">
                          <a:solidFill>
                            <a:schemeClr val="tx2"/>
                          </a:solidFill>
                        </a:rPr>
                        <a:t xml:space="preserve"> (MWh)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1050" b="1" noProof="0">
                          <a:solidFill>
                            <a:schemeClr val="tx2"/>
                          </a:solidFill>
                        </a:rPr>
                        <a:t xml:space="preserve">Consommation totale (MWh)</a:t>
                      </a:r>
                    </a:p>
                    <a:p>
                      <a:pPr marL="0" marR="0" lvl="0" indent="0" algn="r" defTabSz="914400" rtl="0" eaLnBrk="1" fontAlgn="auto" latinLnBrk="0" hangingPunct="1">
                        <a:lnSpc>
                          <a:spcPct val="106000"/>
                        </a:lnSpc>
                        <a:spcBef>
                          <a:spcPts val="0"/>
                        </a:spcBef>
                        <a:spcAft>
                          <a:spcPts val="0"/>
                        </a:spcAft>
                        <a:buClrTx/>
                        <a:buSzTx/>
                        <a:buFontTx/>
                        <a:buNone/>
                        <a:tabLst/>
                        <a:defRPr/>
                      </a:pPr>
                      <a:r>
                        <a:rPr lang="fr-FR" sz="1050" b="1" noProof="0">
                          <a:solidFill>
                            <a:srgbClr val="1B4528"/>
                          </a:solidFill>
                        </a:rPr>
                        <a:t>{{</a:t>
                      </a:r>
                      <a:r>
                        <a:rPr lang="fr-FR" sz="1050" b="1" noProof="0">
                          <a:solidFill>
                            <a:srgbClr val="1B4528"/>
                          </a:solidFill>
                        </a:rPr>
                        <a:t>insert_year</a:t>
                      </a:r>
                      <a:r>
                        <a:rPr lang="fr-FR"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47564">
                <a:tc>
                  <a:txBody>
                    <a:bodyPr/>
                    <a:lstStyle/>
                    <a:p>
                      <a:pPr>
                        <a:lnSpc>
                          <a:spcPct val="106000"/>
                        </a:lnSpc>
                      </a:pPr>
                      <a:r>
                        <a:rPr lang="fr-FR" sz="1050" b="1" noProof="0">
                          <a:solidFill>
                            <a:schemeClr val="tx2"/>
                          </a:solidFill>
                        </a:rPr>
                        <a:t xml:space="preserve">Électricité </a:t>
                      </a:r>
                      <a:r>
                        <a:rPr lang="fr-FR" sz="1050" b="0" noProof="0">
                          <a:solidFill>
                            <a:schemeClr val="tx2"/>
                          </a:solidFill>
                        </a:rPr>
                        <a:t xml:space="preserve">(telle qu’indiquée sur les factures de consommation)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BM Plex Sans" panose="020B0503050203000203" pitchFamily="34" charset="0"/>
                        </a:rPr>
                        <a:t>{{</a:t>
                      </a:r>
                      <a:r>
                        <a:rPr lang="fr-FR" sz="1050" b="0" i="0" u="none" strike="noStrike" noProof="0">
                          <a:solidFill>
                            <a:srgbClr val="1B4528"/>
                          </a:solidFill>
                          <a:effectLst/>
                          <a:latin typeface="IBM Plex Sans" panose="020B0503050203000203" pitchFamily="34" charset="0"/>
                        </a:rPr>
                        <a:t>electricity_renewable</a:t>
                      </a:r>
                      <a:r>
                        <a:rPr lang="fr-FR" sz="1050" b="0" i="0" u="none" strike="noStrike" noProof="0">
                          <a:solidFill>
                            <a:srgbClr val="1B4528"/>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1050" b="0" i="0" u="none" strike="noStrike" noProof="0">
                          <a:solidFill>
                            <a:srgbClr val="1B4528"/>
                          </a:solidFill>
                          <a:effectLst/>
                          <a:latin typeface="IBM Plex Sans" panose="020B0503050203000203" pitchFamily="34" charset="0"/>
                        </a:rPr>
                        <a:t>{{</a:t>
                      </a:r>
                      <a:r>
                        <a:rPr lang="fr-FR" sz="1050" b="0" i="0" u="none" strike="noStrike" noProof="0">
                          <a:solidFill>
                            <a:srgbClr val="1B4528"/>
                          </a:solidFill>
                          <a:effectLst/>
                          <a:latin typeface="IBM Plex Sans" panose="020B0503050203000203" pitchFamily="34" charset="0"/>
                        </a:rPr>
                        <a:t>electricity_non_rewenable</a:t>
                      </a:r>
                      <a:r>
                        <a:rPr lang="fr-FR" sz="1050" b="0" i="0" u="none" strike="noStrike" noProof="0">
                          <a:solidFill>
                            <a:srgbClr val="1B4528"/>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1050" b="0" i="0" u="none" strike="noStrike" noProof="0">
                          <a:solidFill>
                            <a:srgbClr val="1B4528"/>
                          </a:solidFill>
                          <a:effectLst/>
                          <a:latin typeface="IBM Plex Sans" panose="020B0503050203000203" pitchFamily="34" charset="0"/>
                        </a:rPr>
                        <a:t>{{</a:t>
                      </a:r>
                      <a:r>
                        <a:rPr lang="fr-FR" sz="1050" b="0" i="0" u="none" strike="noStrike" noProof="0">
                          <a:solidFill>
                            <a:srgbClr val="1B4528"/>
                          </a:solidFill>
                          <a:effectLst/>
                          <a:latin typeface="IBM Plex Sans" panose="020B0503050203000203" pitchFamily="34" charset="0"/>
                        </a:rPr>
                        <a:t>total_electricity</a:t>
                      </a:r>
                      <a:r>
                        <a:rPr lang="fr-FR" sz="1050" b="0" i="0" u="none" strike="noStrike" noProof="0">
                          <a:solidFill>
                            <a:srgbClr val="1B4528"/>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18608">
                <a:tc>
                  <a:txBody>
                    <a:bodyPr/>
                    <a:lstStyle/>
                    <a:p>
                      <a:pPr>
                        <a:lnSpc>
                          <a:spcPct val="106000"/>
                        </a:lnSpc>
                      </a:pPr>
                      <a:r>
                        <a:rPr lang="fr-FR" sz="1050" b="1" noProof="0">
                          <a:solidFill>
                            <a:schemeClr val="tx2"/>
                          </a:solidFill>
                        </a:rPr>
                        <a:t xml:space="preserve">Combustibles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BM Plex Sans" panose="020B0503050203000203" pitchFamily="34" charset="0"/>
                        </a:rPr>
                        <a:t>{{</a:t>
                      </a:r>
                      <a:r>
                        <a:rPr lang="fr-FR" sz="1050" b="0" i="0" u="none" strike="noStrike" noProof="0">
                          <a:solidFill>
                            <a:srgbClr val="1B4528"/>
                          </a:solidFill>
                          <a:effectLst/>
                          <a:latin typeface="IBM Plex Sans" panose="020B0503050203000203" pitchFamily="34" charset="0"/>
                        </a:rPr>
                        <a:t>fuel_renewable</a:t>
                      </a:r>
                      <a:r>
                        <a:rPr lang="fr-FR" sz="1050" b="0" i="0" u="none" strike="noStrike" noProof="0">
                          <a:solidFill>
                            <a:srgbClr val="1B4528"/>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1050" b="0" i="0" u="none" strike="noStrike" noProof="0">
                          <a:solidFill>
                            <a:srgbClr val="1B4528"/>
                          </a:solidFill>
                          <a:effectLst/>
                          <a:latin typeface="IBM Plex Sans" panose="020B0503050203000203" pitchFamily="34" charset="0"/>
                        </a:rPr>
                        <a:t>{{</a:t>
                      </a:r>
                      <a:r>
                        <a:rPr lang="fr-FR" sz="1050" b="0" i="0" u="none" strike="noStrike" noProof="0">
                          <a:solidFill>
                            <a:srgbClr val="1B4528"/>
                          </a:solidFill>
                          <a:effectLst/>
                          <a:latin typeface="IBM Plex Sans" panose="020B0503050203000203" pitchFamily="34" charset="0"/>
                        </a:rPr>
                        <a:t>fuel_non_rewenable</a:t>
                      </a:r>
                      <a:r>
                        <a:rPr lang="fr-FR" sz="1050" b="0" i="0" u="none" strike="noStrike" noProof="0">
                          <a:solidFill>
                            <a:srgbClr val="1B4528"/>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1050" b="0" i="0" u="none" strike="noStrike" noProof="0">
                          <a:solidFill>
                            <a:srgbClr val="1B4528"/>
                          </a:solidFill>
                          <a:effectLst/>
                          <a:latin typeface="IBM Plex Sans" panose="020B0503050203000203" pitchFamily="34" charset="0"/>
                        </a:rPr>
                        <a:t>{{</a:t>
                      </a:r>
                      <a:r>
                        <a:rPr lang="fr-FR" sz="1050" b="0" i="0" u="none" strike="noStrike" noProof="0">
                          <a:solidFill>
                            <a:srgbClr val="1B4528"/>
                          </a:solidFill>
                          <a:effectLst/>
                          <a:latin typeface="IBM Plex Sans" panose="020B0503050203000203" pitchFamily="34" charset="0"/>
                        </a:rPr>
                        <a:t>total_fuel</a:t>
                      </a:r>
                      <a:r>
                        <a:rPr lang="fr-FR" sz="1050" b="0" i="0" u="none" strike="noStrike" noProof="0">
                          <a:solidFill>
                            <a:srgbClr val="1B4528"/>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18608">
                <a:tc>
                  <a:txBody>
                    <a:bodyPr/>
                    <a:lstStyle/>
                    <a:p>
                      <a:pPr>
                        <a:lnSpc>
                          <a:spcPct val="106000"/>
                        </a:lnSpc>
                      </a:pPr>
                      <a:r>
                        <a:rPr lang="fr-FR" sz="1050" b="1" noProof="0">
                          <a:solidFill>
                            <a:schemeClr val="tx2"/>
                          </a:solidFill>
                        </a:rPr>
                        <a:t xml:space="preserve">Autre (p. ex. réseau de chaleur)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BM Plex Sans" panose="020B0503050203000203" pitchFamily="34" charset="0"/>
                        </a:rPr>
                        <a:t>{{</a:t>
                      </a:r>
                      <a:r>
                        <a:rPr lang="fr-FR" sz="1050" b="0" i="0" u="none" strike="noStrike" noProof="0">
                          <a:solidFill>
                            <a:srgbClr val="1B4528"/>
                          </a:solidFill>
                          <a:effectLst/>
                          <a:latin typeface="IBM Plex Sans" panose="020B0503050203000203" pitchFamily="34" charset="0"/>
                        </a:rPr>
                        <a:t>district_heating_rewenable</a:t>
                      </a:r>
                      <a:r>
                        <a:rPr lang="fr-FR" sz="1050" b="0" i="0" u="none" strike="noStrike" noProof="0">
                          <a:solidFill>
                            <a:srgbClr val="1B4528"/>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1050" b="0" i="0" u="none" strike="noStrike" noProof="0">
                          <a:solidFill>
                            <a:srgbClr val="1B4528"/>
                          </a:solidFill>
                          <a:effectLst/>
                          <a:latin typeface="IBM Plex Sans" panose="020B0503050203000203" pitchFamily="34" charset="0"/>
                        </a:rPr>
                        <a:t>{{</a:t>
                      </a:r>
                      <a:r>
                        <a:rPr lang="fr-FR" sz="1050" b="0" i="0" u="none" strike="noStrike" noProof="0">
                          <a:solidFill>
                            <a:srgbClr val="1B4528"/>
                          </a:solidFill>
                          <a:effectLst/>
                          <a:latin typeface="IBM Plex Sans" panose="020B0503050203000203" pitchFamily="34" charset="0"/>
                        </a:rPr>
                        <a:t>district_heating_non_rewenable</a:t>
                      </a:r>
                      <a:r>
                        <a:rPr lang="fr-FR" sz="1050" b="0" i="0" u="none" strike="noStrike" noProof="0">
                          <a:solidFill>
                            <a:srgbClr val="1B4528"/>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1050" b="0" i="0" u="none" strike="noStrike" noProof="0">
                          <a:solidFill>
                            <a:srgbClr val="1B4528"/>
                          </a:solidFill>
                          <a:effectLst/>
                          <a:latin typeface="IBM Plex Sans" panose="020B0503050203000203" pitchFamily="34" charset="0"/>
                        </a:rPr>
                        <a:t>{{</a:t>
                      </a:r>
                      <a:r>
                        <a:rPr lang="fr-FR" sz="1050" b="0" i="0" u="none" strike="noStrike" noProof="0">
                          <a:solidFill>
                            <a:srgbClr val="1B4528"/>
                          </a:solidFill>
                          <a:effectLst/>
                          <a:latin typeface="IBM Plex Sans" panose="020B0503050203000203" pitchFamily="34" charset="0"/>
                        </a:rPr>
                        <a:t>total_district_heating</a:t>
                      </a:r>
                      <a:r>
                        <a:rPr lang="fr-FR" sz="1050" b="0" i="0" u="none" strike="noStrike" noProof="0">
                          <a:solidFill>
                            <a:srgbClr val="1B4528"/>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18608">
                <a:tc>
                  <a:txBody>
                    <a:bodyPr/>
                    <a:lstStyle/>
                    <a:p>
                      <a:pPr>
                        <a:lnSpc>
                          <a:spcPct val="106000"/>
                        </a:lnSpc>
                      </a:pPr>
                      <a:r>
                        <a:rPr lang="fr-FR" sz="1050" b="1" noProof="0">
                          <a:solidFill>
                            <a:schemeClr val="tx2"/>
                          </a:solidFill>
                        </a:rPr>
                        <a:t>Total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BM Plex Sans" panose="020B0503050203000203" pitchFamily="34" charset="0"/>
                        </a:rPr>
                        <a:t>{{</a:t>
                      </a:r>
                      <a:r>
                        <a:rPr lang="fr-FR" sz="1050" b="0" i="0" u="none" strike="noStrike" noProof="0">
                          <a:solidFill>
                            <a:srgbClr val="1B4528"/>
                          </a:solidFill>
                          <a:effectLst/>
                          <a:latin typeface="IBM Plex Sans" panose="020B0503050203000203" pitchFamily="34" charset="0"/>
                        </a:rPr>
                        <a:t>renewable_energy_total</a:t>
                      </a:r>
                      <a:r>
                        <a:rPr lang="fr-FR" sz="1050" b="0" i="0" u="none" strike="noStrike" noProof="0">
                          <a:solidFill>
                            <a:srgbClr val="1B4528"/>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1050" b="0" i="0" u="none" strike="noStrike" noProof="0">
                          <a:solidFill>
                            <a:srgbClr val="1B4528"/>
                          </a:solidFill>
                          <a:effectLst/>
                          <a:latin typeface="IBM Plex Sans" panose="020B0503050203000203" pitchFamily="34" charset="0"/>
                        </a:rPr>
                        <a:t>{{</a:t>
                      </a:r>
                      <a:r>
                        <a:rPr lang="fr-FR" sz="1050" b="0" i="0" u="none" strike="noStrike" noProof="0">
                          <a:solidFill>
                            <a:srgbClr val="1B4528"/>
                          </a:solidFill>
                          <a:effectLst/>
                          <a:latin typeface="IBM Plex Sans" panose="020B0503050203000203" pitchFamily="34" charset="0"/>
                        </a:rPr>
                        <a:t>non_rewenable_energy_total</a:t>
                      </a:r>
                      <a:r>
                        <a:rPr lang="fr-FR" sz="1050" b="0" i="0" u="none" strike="noStrike" noProof="0">
                          <a:solidFill>
                            <a:srgbClr val="1B4528"/>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1050" b="0" i="0" u="none" strike="noStrike" noProof="0">
                          <a:solidFill>
                            <a:srgbClr val="1B4528"/>
                          </a:solidFill>
                          <a:effectLst/>
                          <a:latin typeface="IBM Plex Sans" panose="020B0503050203000203" pitchFamily="34" charset="0"/>
                        </a:rPr>
                        <a:t>{{</a:t>
                      </a:r>
                      <a:r>
                        <a:rPr lang="fr-FR" sz="1050" b="0" i="0" u="none" strike="noStrike" noProof="0">
                          <a:solidFill>
                            <a:srgbClr val="1B4528"/>
                          </a:solidFill>
                          <a:effectLst/>
                          <a:latin typeface="IBM Plex Sans" panose="020B0503050203000203" pitchFamily="34" charset="0"/>
                        </a:rPr>
                        <a:t>total_energy_consumption</a:t>
                      </a:r>
                      <a:r>
                        <a:rPr lang="fr-FR" sz="1050" b="0" i="0" u="none" strike="noStrike" noProof="0">
                          <a:solidFill>
                            <a:srgbClr val="1B4528"/>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6</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br>
              <a:rPr lang="fr-FR" noProof="0"/>
            </a:br>
            <a:endParaRPr lang="fr-FR"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43369" y="898217"/>
            <a:ext cx="9803131" cy="3616799"/>
          </a:xfrm>
          <a:prstGeom prst="rect">
            <a:avLst/>
          </a:prstGeom>
          <a:noFill/>
        </p:spPr>
        <p:txBody>
          <a:bodyPr wrap="square" lIns="80190" tIns="40095" rIns="80190" bIns="40095" anchor="t">
            <a:spAutoFit/>
          </a:bodyPr>
          <a:lstStyle/>
          <a:p>
            <a:r>
              <a:rPr lang="fr-FR" sz="1050" b="0" i="0" u="none" strike="noStrike" noProof="0">
                <a:solidFill>
                  <a:schemeClr val="tx2"/>
                </a:solidFill>
                <a:effectLst/>
                <a:latin typeface="Inter"/>
              </a:rPr>
              <a:t xml:space="preserve">Cette section indique les émissions de CO2 liées à la consommation d’énergie, en distinguant consommation renouvelable et non renouvelable. </a:t>
            </a:r>
            <a:r>
              <a:rPr lang="fr-FR" sz="1050" noProof="0">
                <a:solidFill>
                  <a:schemeClr val="tx2"/>
                </a:solidFill>
                <a:latin typeface="Inter"/>
              </a:rPr>
              <a:t xml:space="preserve">Les émissions sont publiées selon </a:t>
            </a:r>
            <a:r>
              <a:rPr lang="fr-FR" sz="1050" b="0" i="0" u="none" strike="noStrike" noProof="0">
                <a:solidFill>
                  <a:schemeClr val="tx2"/>
                </a:solidFill>
                <a:effectLst/>
                <a:latin typeface="Inter"/>
              </a:rPr>
              <a:t xml:space="preserve">les définitions du protocole des GES des émissions directes et indirectes. </a:t>
            </a:r>
            <a:br>
              <a:rPr lang="fr-FR" sz="1050" b="0" i="0" u="none" strike="noStrike" noProof="0" dirty="0">
                <a:effectLst/>
                <a:latin typeface="Inter"/>
              </a:rPr>
            </a:br>
            <a:br>
              <a:rPr lang="fr-FR" sz="1050" dirty="0">
                <a:latin typeface="Inter"/>
              </a:rPr>
            </a:br>
            <a:r>
              <a:rPr lang="fr-FR" sz="700" b="0" i="0" u="none" strike="noStrike" noProof="0">
                <a:solidFill>
                  <a:schemeClr val="tx2"/>
                </a:solidFill>
                <a:effectLst/>
                <a:latin typeface="Inter"/>
              </a:rPr>
              <a:t> </a:t>
            </a:r>
            <a:endParaRPr lang="fr-FR" sz="1050" b="0" i="0" u="none" strike="noStrike" noProof="0" dirty="0">
              <a:solidFill>
                <a:schemeClr val="tx2"/>
              </a:solidFill>
              <a:effectLst/>
              <a:latin typeface="Inter"/>
            </a:endParaRPr>
          </a:p>
          <a:p>
            <a:pPr rtl="0">
              <a:buNone/>
            </a:pPr>
            <a:endParaRPr lang="fr-FR" sz="1050" b="0" noProof="0">
              <a:solidFill>
                <a:schemeClr val="tx2"/>
              </a:solidFill>
              <a:effectLst/>
              <a:latin typeface="Inter"/>
            </a:endParaRPr>
          </a:p>
          <a:p>
            <a:pPr>
              <a:buNone/>
            </a:pPr>
            <a:endParaRPr lang="fr-FR" b="0" noProof="0">
              <a:solidFill>
                <a:schemeClr val="tx2"/>
              </a:solidFill>
              <a:effectLst/>
              <a:latin typeface="Inter"/>
            </a:endParaRPr>
          </a:p>
          <a:p>
            <a:pPr>
              <a:buNone/>
            </a:pPr>
            <a:endParaRPr lang="fr-FR" sz="1400" noProof="0">
              <a:solidFill>
                <a:schemeClr val="tx2"/>
              </a:solidFill>
              <a:latin typeface="Inter"/>
            </a:endParaRPr>
          </a:p>
          <a:p>
            <a:pPr>
              <a:buNone/>
            </a:pPr>
            <a:endParaRPr lang="fr-FR" sz="1400" b="0" noProof="0">
              <a:solidFill>
                <a:schemeClr val="tx2"/>
              </a:solidFill>
              <a:effectLst/>
              <a:latin typeface="Inter"/>
            </a:endParaRPr>
          </a:p>
          <a:p>
            <a:pPr>
              <a:buNone/>
            </a:pPr>
            <a:endParaRPr lang="fr-FR" sz="1400" noProof="0">
              <a:solidFill>
                <a:schemeClr val="tx2"/>
              </a:solidFill>
              <a:latin typeface="Inter"/>
            </a:endParaRPr>
          </a:p>
          <a:p>
            <a:pPr>
              <a:buNone/>
            </a:pPr>
            <a:endParaRPr lang="fr-FR" sz="1400" b="0" noProof="0">
              <a:solidFill>
                <a:schemeClr val="tx2"/>
              </a:solidFill>
              <a:effectLst/>
              <a:latin typeface="Inter"/>
            </a:endParaRPr>
          </a:p>
          <a:p>
            <a:endParaRPr lang="fr-FR" sz="1400" b="1">
              <a:latin typeface="+mj-lt"/>
            </a:endParaRPr>
          </a:p>
          <a:p>
            <a:endParaRPr lang="fr-FR" sz="1400" b="1">
              <a:latin typeface="+mj-lt"/>
            </a:endParaRPr>
          </a:p>
          <a:p>
            <a:br>
              <a:rPr lang="fr-FR" b="1" dirty="0">
                <a:latin typeface="+mj-lt"/>
              </a:rPr>
            </a:br>
            <a:r>
              <a:rPr lang="fr-FR" b="1" i="0" u="none" strike="noStrike" noProof="0">
                <a:solidFill>
                  <a:schemeClr val="tx2"/>
                </a:solidFill>
                <a:effectLst/>
                <a:latin typeface="+mj-lt"/>
              </a:rPr>
              <a:t xml:space="preserve">Émissions de CO₂e (B3)</a:t>
            </a:r>
            <a:endParaRPr lang="fr-FR" noProof="0">
              <a:solidFill>
                <a:schemeClr val="tx2"/>
              </a:solidFill>
              <a:effectLst/>
              <a:latin typeface="+mj-lt"/>
            </a:endParaRPr>
          </a:p>
          <a:p>
            <a:r>
              <a:rPr lang="fr-FR" sz="700">
                <a:latin typeface="Inter"/>
              </a:rPr>
              <a:t> </a:t>
            </a:r>
            <a:br>
              <a:rPr lang="fr-FR" sz="1050" dirty="0">
                <a:solidFill>
                  <a:schemeClr val="tx2"/>
                </a:solidFill>
                <a:latin typeface="Inter"/>
              </a:rPr>
            </a:br>
            <a:r>
              <a:rPr lang="fr-FR" sz="1050" b="0" i="0" u="none" strike="noStrike" noProof="0">
                <a:solidFill>
                  <a:schemeClr val="tx2"/>
                </a:solidFill>
                <a:effectLst/>
                <a:latin typeface="Inter"/>
              </a:rPr>
              <a:t xml:space="preserve">Le par. 33 contient des informations sur les émissions de GES de l’entreprise, sur la base des émissions des scopes 1 et 2. Le scope 1 désigne les émissions directes de GES provenant de sources détenues ou directement contrôlées par l’entreprise, par exemple la combustion de carburant dans les véhicules de société, le chauffage des bâtiments au gaz naturel, ainsi que les émissions des procédés industriels et les fuites dans des systèmes tels que le froid.</a:t>
            </a:r>
            <a:r>
              <a:rPr lang="fr-FR" sz="1050" noProof="0">
                <a:solidFill>
                  <a:schemeClr val="tx2"/>
                </a:solidFill>
                <a:latin typeface="Inter"/>
              </a:rPr>
              <a:t> </a:t>
            </a:r>
            <a:r>
              <a:rPr lang="fr-FR" sz="1050" b="0" i="0" u="none" strike="noStrike" noProof="0">
                <a:solidFill>
                  <a:schemeClr val="tx2"/>
                </a:solidFill>
                <a:effectLst/>
                <a:latin typeface="Inter"/>
              </a:rPr>
              <a:t xml:space="preserve">Le scope 2</a:t>
            </a:r>
            <a:r>
              <a:rPr lang="fr-FR" sz="1050" noProof="0">
                <a:solidFill>
                  <a:schemeClr val="tx2"/>
                </a:solidFill>
                <a:latin typeface="Inter"/>
              </a:rPr>
              <a:t xml:space="preserve"> désigne les émissions i</a:t>
            </a:r>
            <a:r>
              <a:rPr lang="fr-FR" sz="1050" b="0" i="0" u="none" strike="noStrike" noProof="0">
                <a:solidFill>
                  <a:schemeClr val="tx2"/>
                </a:solidFill>
                <a:effectLst/>
                <a:latin typeface="Inter"/>
              </a:rPr>
              <a:t xml:space="preserve">ndirectes liées à l’électricité achetée : émissions résultant de la production de l’électricité, de la vapeur, de la chaleur ou du froid achetés et utilisés par l’entreprise. Bien qu’elles proviennent des producteurs d’énergie, elles sont attribuées à l’entreprise, car c’est elle qui consomme l’énergie.</a:t>
            </a:r>
            <a:endParaRPr lang="fr-FR" sz="1050" b="0" noProof="0">
              <a:solidFill>
                <a:schemeClr val="tx2"/>
              </a:solidFill>
              <a:effectLst/>
              <a:latin typeface="Inter"/>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45491" y="5125324"/>
          <a:ext cx="9801009" cy="950929"/>
        </p:xfrm>
        <a:graphic>
          <a:graphicData uri="http://schemas.openxmlformats.org/drawingml/2006/table">
            <a:tbl>
              <a:tblPr firstRow="1">
                <a:tableStyleId>{2A488322-F2BA-4B5B-9748-0D474271808F}</a:tableStyleId>
              </a:tblPr>
              <a:tblGrid>
                <a:gridCol w="7759816">
                  <a:extLst>
                    <a:ext uri="{9D8B030D-6E8A-4147-A177-3AD203B41FA5}">
                      <a16:colId xmlns:a16="http://schemas.microsoft.com/office/drawing/2014/main" val="2698153288"/>
                    </a:ext>
                  </a:extLst>
                </a:gridCol>
                <a:gridCol w="2041192">
                  <a:extLst>
                    <a:ext uri="{9D8B030D-6E8A-4147-A177-3AD203B41FA5}">
                      <a16:colId xmlns:a16="http://schemas.microsoft.com/office/drawing/2014/main" val="656209149"/>
                    </a:ext>
                  </a:extLst>
                </a:gridCol>
              </a:tblGrid>
              <a:tr h="238485">
                <a:tc>
                  <a:txBody>
                    <a:bodyPr/>
                    <a:lstStyle/>
                    <a:p>
                      <a:pPr>
                        <a:lnSpc>
                          <a:spcPct val="106000"/>
                        </a:lnSpc>
                      </a:pPr>
                      <a:r>
                        <a:rPr lang="fr-FR" sz="1050" b="1" noProof="0">
                          <a:solidFill>
                            <a:schemeClr val="tx2"/>
                          </a:solidFill>
                        </a:rPr>
                        <a:t xml:space="preserve">Émissions de gaz à effet de serre </a:t>
                      </a:r>
                      <a:r>
                        <a:rPr lang="fr-FR" sz="1050" b="0" noProof="0">
                          <a:solidFill>
                            <a:schemeClr val="tx2"/>
                          </a:solidFill>
                        </a:rPr>
                        <a:t xml:space="preserve">(par. 33)</a:t>
                      </a:r>
                      <a:endParaRPr lang="fr-F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1050" b="1" noProof="0">
                          <a:solidFill>
                            <a:schemeClr val="tx2"/>
                          </a:solidFill>
                        </a:rPr>
                        <a:t xml:space="preserve">Année </a:t>
                      </a:r>
                      <a:r>
                        <a:rPr lang="fr-FR" sz="1050" b="1" noProof="0">
                          <a:solidFill>
                            <a:srgbClr val="1B4528"/>
                          </a:solidFill>
                          <a:latin typeface="Calibri" panose="020F0502020204030204" pitchFamily="34" charset="0"/>
                          <a:cs typeface="Calibri" panose="020F0502020204030204" pitchFamily="34" charset="0"/>
                        </a:rPr>
                        <a:t>{{</a:t>
                      </a:r>
                      <a:r>
                        <a:rPr lang="fr-FR" sz="1050" b="1" noProof="0">
                          <a:solidFill>
                            <a:srgbClr val="1B4528"/>
                          </a:solidFill>
                          <a:latin typeface="Calibri" panose="020F0502020204030204" pitchFamily="34" charset="0"/>
                          <a:cs typeface="Calibri" panose="020F0502020204030204" pitchFamily="34" charset="0"/>
                        </a:rPr>
                        <a:t>insert_year</a:t>
                      </a:r>
                      <a:r>
                        <a:rPr lang="fr-FR" sz="1050" b="1" noProof="0">
                          <a:solidFill>
                            <a:srgbClr val="1B4528"/>
                          </a:solidFill>
                          <a:latin typeface="Calibri" panose="020F0502020204030204" pitchFamily="34" charset="0"/>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7481">
                <a:tc>
                  <a:txBody>
                    <a:bodyPr/>
                    <a:lstStyle/>
                    <a:p>
                      <a:pPr>
                        <a:lnSpc>
                          <a:spcPct val="106000"/>
                        </a:lnSpc>
                      </a:pPr>
                      <a:r>
                        <a:rPr lang="fr-FR" sz="1050" b="1" noProof="0">
                          <a:solidFill>
                            <a:schemeClr val="tx2"/>
                          </a:solidFill>
                        </a:rPr>
                        <a:t xml:space="preserve">Émissions de CO₂e du scope 1</a:t>
                      </a:r>
                      <a:r>
                        <a:rPr lang="fr-FR" sz="1050" b="1" noProof="0">
                          <a:solidFill>
                            <a:schemeClr val="tx2"/>
                          </a:solidFill>
                        </a:rPr>
                        <a:t xml:space="preserve"/>
                      </a:r>
                      <a:r>
                        <a:rPr lang="fr-FR" sz="1050" b="1" noProof="0">
                          <a:solidFill>
                            <a:schemeClr val="tx2"/>
                          </a:solidFill>
                        </a:rPr>
                        <a:t xml:space="preserve"/>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nter"/>
                        </a:rPr>
                        <a:t>{{scope1}}</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7481">
                <a:tc>
                  <a:txBody>
                    <a:bodyPr/>
                    <a:lstStyle/>
                    <a:p>
                      <a:pPr>
                        <a:lnSpc>
                          <a:spcPct val="106000"/>
                        </a:lnSpc>
                      </a:pPr>
                      <a:r>
                        <a:rPr lang="fr-FR" sz="1050" b="1" noProof="0">
                          <a:solidFill>
                            <a:schemeClr val="tx2"/>
                          </a:solidFill>
                        </a:rPr>
                        <a:t xml:space="preserve">Émissions de CO₂e du scope 2 (basées sur la localisation) </a:t>
                      </a:r>
                      <a:r>
                        <a:rPr lang="fr-FR" sz="1050" b="1" noProof="0">
                          <a:solidFill>
                            <a:schemeClr val="tx2"/>
                          </a:solidFill>
                        </a:rPr>
                        <a:t xml:space="preserve"/>
                      </a:r>
                      <a:r>
                        <a:rPr lang="fr-FR" sz="1050" b="1" noProof="0">
                          <a:solidFill>
                            <a:schemeClr val="tx2"/>
                          </a:solidFill>
                        </a:rPr>
                        <a:t xml:space="preserve"/>
                      </a:r>
                      <a:r>
                        <a:rPr lang="fr-FR" sz="1050" b="1" noProof="0">
                          <a:solidFill>
                            <a:schemeClr val="tx2"/>
                          </a:solidFill>
                        </a:rPr>
                        <a:t xml:space="preserve"/>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nter"/>
                        </a:rPr>
                        <a:t>{{scope2}}</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7481">
                <a:tc>
                  <a:txBody>
                    <a:bodyPr/>
                    <a:lstStyle/>
                    <a:p>
                      <a:pPr>
                        <a:lnSpc>
                          <a:spcPct val="106000"/>
                        </a:lnSpc>
                      </a:pPr>
                      <a:r>
                        <a:rPr lang="fr-FR" sz="1050" b="1" noProof="0">
                          <a:solidFill>
                            <a:schemeClr val="tx2"/>
                          </a:solidFill>
                        </a:rPr>
                        <a:t xml:space="preserve">Émissions totales de CO₂e des scopes 1 et 2 </a:t>
                      </a:r>
                      <a:r>
                        <a:rPr lang="fr-FR" sz="1050" b="1" noProof="0">
                          <a:solidFill>
                            <a:schemeClr val="tx2"/>
                          </a:solidFill>
                        </a:rPr>
                        <a:t xml:space="preserve"/>
                      </a:r>
                      <a:r>
                        <a:rPr lang="fr-FR" sz="1050" b="1" noProof="0">
                          <a:solidFill>
                            <a:schemeClr val="tx2"/>
                          </a:solidFill>
                        </a:rPr>
                        <a:t xml:space="preserve"/>
                      </a:r>
                      <a:r>
                        <a:rPr lang="fr-FR" sz="1050" b="1" noProof="0">
                          <a:solidFill>
                            <a:schemeClr val="tx2"/>
                          </a:solidFill>
                        </a:rPr>
                        <a:t xml:space="preserve"/>
                      </a:r>
                      <a:r>
                        <a:rPr lang="fr-FR" sz="1050" b="1" noProof="0">
                          <a:solidFill>
                            <a:schemeClr val="tx2"/>
                          </a:solidFill>
                        </a:rPr>
                        <a:t xml:space="preserve"/>
                      </a:r>
                      <a:r>
                        <a:rPr lang="fr-FR" sz="1050" b="1" noProof="0">
                          <a:solidFill>
                            <a:schemeClr val="tx2"/>
                          </a:solidFill>
                        </a:rPr>
                        <a:t xml:space="preserve"/>
                      </a:r>
                      <a:r>
                        <a:rPr lang="fr-FR" sz="1050" b="1" noProof="0">
                          <a:solidFill>
                            <a:schemeClr val="tx2"/>
                          </a:solidFill>
                        </a:rPr>
                        <a:t xml:space="preserve"/>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total_scope</a:t>
                      </a:r>
                      <a:r>
                        <a:rPr lang="fr-FR" sz="1050" b="0" i="0" u="none" strike="noStrike" noProof="0">
                          <a:solidFill>
                            <a:srgbClr val="1B4528"/>
                          </a:solidFill>
                          <a:effectLst/>
                          <a:latin typeface="Inter"/>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Tree>
    <p:extLst>
      <p:ext uri="{BB962C8B-B14F-4D97-AF65-F5344CB8AC3E}">
        <p14:creationId xmlns:p14="http://schemas.microsoft.com/office/powerpoint/2010/main" val="2910765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Pollution de l’air, de l’eau et des sols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86996641"/>
              </p:ext>
            </p:extLst>
          </p:nvPr>
        </p:nvGraphicFramePr>
        <p:xfrm>
          <a:off x="445498" y="1458651"/>
          <a:ext cx="9784531" cy="701553"/>
        </p:xfrm>
        <a:graphic>
          <a:graphicData uri="http://schemas.openxmlformats.org/drawingml/2006/table">
            <a:tbl>
              <a:tblPr firstRow="1">
                <a:tableStyleId>{2A488322-F2BA-4B5B-9748-0D474271808F}</a:tableStyleId>
              </a:tblPr>
              <a:tblGrid>
                <a:gridCol w="3099832">
                  <a:extLst>
                    <a:ext uri="{9D8B030D-6E8A-4147-A177-3AD203B41FA5}">
                      <a16:colId xmlns:a16="http://schemas.microsoft.com/office/drawing/2014/main" val="2698153288"/>
                    </a:ext>
                  </a:extLst>
                </a:gridCol>
                <a:gridCol w="2988788">
                  <a:extLst>
                    <a:ext uri="{9D8B030D-6E8A-4147-A177-3AD203B41FA5}">
                      <a16:colId xmlns:a16="http://schemas.microsoft.com/office/drawing/2014/main" val="2119413191"/>
                    </a:ext>
                  </a:extLst>
                </a:gridCol>
                <a:gridCol w="3695912">
                  <a:extLst>
                    <a:ext uri="{9D8B030D-6E8A-4147-A177-3AD203B41FA5}">
                      <a16:colId xmlns:a16="http://schemas.microsoft.com/office/drawing/2014/main" val="683090399"/>
                    </a:ext>
                  </a:extLst>
                </a:gridCol>
              </a:tblGrid>
              <a:tr h="245049">
                <a:tc gridSpan="3">
                  <a:txBody>
                    <a:bodyPr/>
                    <a:lstStyle/>
                    <a:p>
                      <a:pPr>
                        <a:lnSpc>
                          <a:spcPct val="106000"/>
                        </a:lnSpc>
                      </a:pPr>
                      <a:r>
                        <a:rPr lang="fr-FR" sz="1050" b="1" noProof="0">
                          <a:solidFill>
                            <a:schemeClr val="tx2"/>
                          </a:solidFill>
                        </a:rPr>
                        <a:t xml:space="preserve">Pollution de l’air, de l’eau et des sols </a:t>
                      </a:r>
                      <a:r>
                        <a:rPr lang="fr-FR" sz="1050" b="0" noProof="0">
                          <a:solidFill>
                            <a:schemeClr val="tx2"/>
                          </a:solidFill>
                        </a:rPr>
                        <a:t xml:space="preserve">(par. 34)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a:p>
                  </a:txBody>
                  <a:tcPr/>
                </a:tc>
                <a:extLst>
                  <a:ext uri="{0D108BD9-81ED-4DB2-BD59-A6C34878D82A}">
                    <a16:rowId xmlns:a16="http://schemas.microsoft.com/office/drawing/2014/main" val="625231048"/>
                  </a:ext>
                </a:extLst>
              </a:tr>
              <a:tr h="245049">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fr-FR" sz="1050" b="1" noProof="0">
                          <a:solidFill>
                            <a:schemeClr val="tx2"/>
                          </a:solidFill>
                        </a:rPr>
                        <a:t xml:space="preserve">Type de pollution </a:t>
                      </a:r>
                      <a:r>
                        <a:rPr lang="fr-FR" sz="1050" b="0" noProof="0">
                          <a:solidFill>
                            <a:schemeClr val="tx2"/>
                          </a:solidFill>
                        </a:rPr>
                        <a:t xml:space="preserve">(p. ex. substance)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fr-FR" sz="1050" b="1" noProof="0">
                          <a:solidFill>
                            <a:schemeClr val="tx2"/>
                          </a:solidFill>
                        </a:rPr>
                        <a:t xml:space="preserve">Où? </a:t>
                      </a:r>
                      <a:r>
                        <a:rPr lang="fr-FR" sz="1050" b="0" noProof="0">
                          <a:solidFill>
                            <a:schemeClr val="tx2"/>
                          </a:solidFill>
                        </a:rPr>
                        <a:t xml:space="preserve">(air, eau, sol)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fr-FR" sz="1050" b="1" noProof="0">
                          <a:solidFill>
                            <a:schemeClr val="tx2"/>
                          </a:solidFill>
                        </a:rPr>
                        <a:t xml:space="preserve">Quantité</a:t>
                      </a:r>
                      <a:endParaRPr lang="fr-F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11456">
                <a:tc>
                  <a:txBody>
                    <a:bodyPr/>
                    <a:lstStyle/>
                    <a:p>
                      <a:pPr rtl="0" fontAlgn="ctr" algn="l">
                        <a:buNone/>
                      </a:pPr>
                      <a:r>
                        <a:rPr lang="fr-FR" sz="1050" b="0" i="0" u="none" strike="noStrike" noProof="0">
                          <a:solidFill>
                            <a:srgbClr val="1B4528"/>
                          </a:solidFill>
                          <a:effectLst/>
                          <a:latin typeface="Inter"/>
                        </a:rPr>
                        <a:t>{{type_of_pollution}}</a:t>
                      </a:r>
                      <a:endParaRPr lang="fr-F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r" rtl="0" fontAlgn="ctr">
                        <a:buNone/>
                      </a:pPr>
                      <a:r>
                        <a:rPr lang="fr-FR" sz="1050" b="0" i="0" u="none" strike="noStrike" noProof="0">
                          <a:solidFill>
                            <a:srgbClr val="1B4528"/>
                          </a:solidFill>
                          <a:effectLst/>
                          <a:latin typeface="Inter"/>
                        </a:rPr>
                        <a:t>{{scope_pollution}}</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fr-FR" sz="1050" b="0" i="0" u="none" strike="noStrike" noProof="0">
                          <a:solidFill>
                            <a:srgbClr val="1B4528"/>
                          </a:solidFill>
                          <a:effectLst/>
                          <a:latin typeface="Inter"/>
                        </a:rPr>
                        <a:t>{{pollution_medium}}</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7</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br>
              <a:rPr lang="fr-FR" noProof="0"/>
            </a:br>
            <a:endParaRPr lang="fr-FR"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61968" y="891000"/>
            <a:ext cx="9784532" cy="404866"/>
          </a:xfrm>
          <a:prstGeom prst="rect">
            <a:avLst/>
          </a:prstGeom>
          <a:noFill/>
        </p:spPr>
        <p:txBody>
          <a:bodyPr wrap="square">
            <a:spAutoFit/>
          </a:bodyPr>
          <a:lstStyle/>
          <a:p>
            <a:pPr rtl="0">
              <a:buNone/>
            </a:pPr>
            <a:r>
              <a:rPr lang="fr-FR" sz="1050" b="0" i="0" u="none" strike="noStrike" noProof="0">
                <a:solidFill>
                  <a:schemeClr val="tx2"/>
                </a:solidFill>
                <a:effectLst/>
                <a:latin typeface="Inter"/>
              </a:rPr>
              <a:t xml:space="preserve">L’entreprise déclare la quantité totale de polluants rejetés par ses installations. Les polluants spécifiques et leurs quantités rejetées dans l’air, l’eau et le sol</a:t>
            </a:r>
            <a:r>
              <a:rPr lang="fr-FR" sz="1050" noProof="0">
                <a:solidFill>
                  <a:schemeClr val="tx2"/>
                </a:solidFill>
                <a:latin typeface="Inter"/>
              </a:rPr>
              <a:t xml:space="preserve"> sont indiqués ci-dessous.</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54796" y="294586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fr-FR" noProof="0"/>
              <a:t xml:space="preserve">Biodiversité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3123879907"/>
              </p:ext>
            </p:extLst>
          </p:nvPr>
        </p:nvGraphicFramePr>
        <p:xfrm>
          <a:off x="454795" y="4100380"/>
          <a:ext cx="9791703" cy="845625"/>
        </p:xfrm>
        <a:graphic>
          <a:graphicData uri="http://schemas.openxmlformats.org/drawingml/2006/table">
            <a:tbl>
              <a:tblPr firstRow="1">
                <a:tableStyleId>{2A488322-F2BA-4B5B-9748-0D474271808F}</a:tableStyleId>
              </a:tblPr>
              <a:tblGrid>
                <a:gridCol w="1778433">
                  <a:extLst>
                    <a:ext uri="{9D8B030D-6E8A-4147-A177-3AD203B41FA5}">
                      <a16:colId xmlns:a16="http://schemas.microsoft.com/office/drawing/2014/main" val="2698153288"/>
                    </a:ext>
                  </a:extLst>
                </a:gridCol>
                <a:gridCol w="2671090">
                  <a:extLst>
                    <a:ext uri="{9D8B030D-6E8A-4147-A177-3AD203B41FA5}">
                      <a16:colId xmlns:a16="http://schemas.microsoft.com/office/drawing/2014/main" val="2119413191"/>
                    </a:ext>
                  </a:extLst>
                </a:gridCol>
                <a:gridCol w="2671090">
                  <a:extLst>
                    <a:ext uri="{9D8B030D-6E8A-4147-A177-3AD203B41FA5}">
                      <a16:colId xmlns:a16="http://schemas.microsoft.com/office/drawing/2014/main" val="656209149"/>
                    </a:ext>
                  </a:extLst>
                </a:gridCol>
                <a:gridCol w="2671090">
                  <a:extLst>
                    <a:ext uri="{9D8B030D-6E8A-4147-A177-3AD203B41FA5}">
                      <a16:colId xmlns:a16="http://schemas.microsoft.com/office/drawing/2014/main" val="1502960985"/>
                    </a:ext>
                  </a:extLst>
                </a:gridCol>
              </a:tblGrid>
              <a:tr h="202471">
                <a:tc gridSpan="4">
                  <a:txBody>
                    <a:bodyPr/>
                    <a:lstStyle/>
                    <a:p>
                      <a:r>
                        <a:rPr lang="fr-FR" sz="1050" b="1" noProof="0">
                          <a:solidFill>
                            <a:schemeClr val="tx2"/>
                          </a:solidFill>
                        </a:rPr>
                        <a:t xml:space="preserve">Sites situés dans ou à proximité de « zones sensibles sur le plan de la biodiversité » que l’entreprise détient, loue ou gère </a:t>
                      </a:r>
                      <a:r>
                        <a:rPr lang="fr-FR" sz="1050" b="0" noProof="0">
                          <a:solidFill>
                            <a:schemeClr val="tx2"/>
                          </a:solidFill>
                        </a:rPr>
                        <a:t xml:space="preserve">(par. 35)</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02743">
                <a:tc>
                  <a:txBody>
                    <a:bodyPr/>
                    <a:lstStyle/>
                    <a:p>
                      <a:r>
                        <a:rPr lang="fr-FR" sz="1050" b="1" noProof="0">
                          <a:solidFill>
                            <a:schemeClr val="tx2"/>
                          </a:solidFill>
                        </a:rPr>
                        <a:t xml:space="preserve">Localisation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1050" b="1" noProof="0">
                          <a:solidFill>
                            <a:schemeClr val="tx2"/>
                          </a:solidFill>
                        </a:rPr>
                        <a:t xml:space="preserve">Superficie en hectares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1050" b="1" noProof="0">
                          <a:solidFill>
                            <a:schemeClr val="tx2"/>
                          </a:solidFill>
                        </a:rPr>
                        <a:t xml:space="preserve">Zone sensible pour la biodiversité</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1050" b="1" noProof="0">
                          <a:solidFill>
                            <a:schemeClr val="tx2"/>
                          </a:solidFill>
                        </a:rPr>
                        <a:t xml:space="preserve">Précision : dans ou à proximité d’une zone sensible pour la biodiversité</a:t>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8201">
                <a:tc>
                  <a:txBody>
                    <a:bodyPr/>
                    <a:lstStyle/>
                    <a:p>
                      <a:pPr rtl="0" fontAlgn="ctr" algn="l">
                        <a:buNone/>
                      </a:pPr>
                      <a:r>
                        <a:rPr lang="fr-FR" sz="1050" b="0" i="0" u="none" strike="noStrike" noProof="0">
                          <a:solidFill>
                            <a:srgbClr val="1B4528"/>
                          </a:solidFill>
                          <a:effectLst/>
                          <a:latin typeface="Inter"/>
                        </a:rPr>
                        <a:t>{{country_location}}</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fr-FR" sz="1050" b="0" i="0" u="none" strike="noStrike" noProof="0">
                          <a:solidFill>
                            <a:srgbClr val="1B4528"/>
                          </a:solidFill>
                          <a:effectLst/>
                          <a:latin typeface="Inter"/>
                        </a:rPr>
                        <a:t> {{area_hect}}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1050" b="0" i="0" u="none" strike="noStrike" noProof="0">
                          <a:solidFill>
                            <a:srgbClr val="1B4528"/>
                          </a:solidFill>
                          <a:effectLst/>
                          <a:latin typeface="Inter"/>
                        </a:rPr>
                        <a:t>{{area_name}}</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1050" b="0" i="0" u="none" strike="noStrike" noProof="0">
                          <a:solidFill>
                            <a:srgbClr val="1B4528"/>
                          </a:solidFill>
                          <a:effectLst/>
                          <a:latin typeface="Inter"/>
                        </a:rPr>
                        <a:t>{{biosensitive_area}}</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45499" y="3291561"/>
            <a:ext cx="9791703" cy="566812"/>
          </a:xfrm>
          <a:prstGeom prst="rect">
            <a:avLst/>
          </a:prstGeom>
          <a:noFill/>
        </p:spPr>
        <p:txBody>
          <a:bodyPr wrap="square">
            <a:spAutoFit/>
          </a:bodyPr>
          <a:lstStyle/>
          <a:p>
            <a:pPr rtl="0">
              <a:spcBef>
                <a:spcPts val="789"/>
              </a:spcBef>
              <a:spcAft>
                <a:spcPts val="789"/>
              </a:spcAft>
              <a:buNone/>
            </a:pPr>
            <a:r>
              <a:rPr lang="fr-FR" sz="1050" b="0" i="0" u="none" strike="noStrike" noProof="0">
                <a:solidFill>
                  <a:schemeClr val="tx2"/>
                </a:solidFill>
                <a:effectLst/>
                <a:latin typeface="Inter"/>
              </a:rPr>
              <a:t xml:space="preserve">Les informations de l’entreprise concernent les sites où elle opère qui se situent dans ou à proximité de zones sensibles sur le plan de la biodiversité. Ces zones sont définies comme telles par des dispositions particulières de protection de la nature au niveau européen ou international. Il s’agit notamment des zones Natura 2000, des sites de l’UNESCO et des zones clés pour la biodiversité (KBA), ainsi que d’autres aires protégées.</a:t>
            </a:r>
            <a:r>
              <a:rPr lang="fr-FR" sz="1050" b="0" i="0" u="none" strike="noStrike" noProof="0">
                <a:solidFill>
                  <a:schemeClr val="tx2"/>
                </a:solidFill>
                <a:effectLst/>
                <a:latin typeface="Inter"/>
              </a:rPr>
              <a:t xml:space="preserve"/>
            </a:r>
            <a:r>
              <a:rPr lang="fr-FR" sz="1050" b="0" i="0" u="none" strike="noStrike" noProof="0">
                <a:solidFill>
                  <a:schemeClr val="tx2"/>
                </a:solidFill>
                <a:effectLst/>
                <a:latin typeface="Inter"/>
              </a:rPr>
              <a:t xml:space="preserve"/>
            </a:r>
            <a:endParaRPr lang="fr-FR" sz="1050" noProof="0">
              <a:solidFill>
                <a:schemeClr val="tx2"/>
              </a:solidFill>
              <a:latin typeface="Inter"/>
            </a:endParaRPr>
          </a:p>
        </p:txBody>
      </p:sp>
    </p:spTree>
    <p:extLst>
      <p:ext uri="{BB962C8B-B14F-4D97-AF65-F5344CB8AC3E}">
        <p14:creationId xmlns:p14="http://schemas.microsoft.com/office/powerpoint/2010/main" val="27056463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Eau (B6)</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405295352"/>
              </p:ext>
            </p:extLst>
          </p:nvPr>
        </p:nvGraphicFramePr>
        <p:xfrm>
          <a:off x="454796" y="1505077"/>
          <a:ext cx="4220433" cy="1109385"/>
        </p:xfrm>
        <a:graphic>
          <a:graphicData uri="http://schemas.openxmlformats.org/drawingml/2006/table">
            <a:tbl>
              <a:tblPr firstRow="1">
                <a:tableStyleId>{2A488322-F2BA-4B5B-9748-0D474271808F}</a:tableStyleId>
              </a:tblPr>
              <a:tblGrid>
                <a:gridCol w="2707414">
                  <a:extLst>
                    <a:ext uri="{9D8B030D-6E8A-4147-A177-3AD203B41FA5}">
                      <a16:colId xmlns:a16="http://schemas.microsoft.com/office/drawing/2014/main" val="2698153288"/>
                    </a:ext>
                  </a:extLst>
                </a:gridCol>
                <a:gridCol w="1513019">
                  <a:extLst>
                    <a:ext uri="{9D8B030D-6E8A-4147-A177-3AD203B41FA5}">
                      <a16:colId xmlns:a16="http://schemas.microsoft.com/office/drawing/2014/main" val="2119413191"/>
                    </a:ext>
                  </a:extLst>
                </a:gridCol>
              </a:tblGrid>
              <a:tr h="566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Prélèvements d’eau </a:t>
                      </a:r>
                      <a:r>
                        <a:rPr lang="fr-FR" sz="1050" b="0" noProof="0">
                          <a:solidFill>
                            <a:schemeClr val="tx2"/>
                          </a:solidFill>
                        </a:rPr>
                        <a:t xml:space="preserve">(par. 36)</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1050" b="1" noProof="0">
                          <a:solidFill>
                            <a:schemeClr val="tx2"/>
                          </a:solidFill>
                        </a:rPr>
                        <a:t xml:space="preserve">Année </a:t>
                      </a:r>
                      <a:r>
                        <a:rPr lang="fr-FR" sz="1050" b="1" noProof="0">
                          <a:solidFill>
                            <a:srgbClr val="1B4528"/>
                          </a:solidFill>
                        </a:rPr>
                        <a:t>{{</a:t>
                      </a:r>
                      <a:r>
                        <a:rPr lang="fr-FR" sz="1050" b="1" noProof="0">
                          <a:solidFill>
                            <a:srgbClr val="1B4528"/>
                          </a:solidFill>
                        </a:rPr>
                        <a:t>insert_year</a:t>
                      </a:r>
                      <a:r>
                        <a:rPr lang="fr-FR"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48489">
                <a:tc>
                  <a:txBody>
                    <a:bodyPr/>
                    <a:lstStyle/>
                    <a:p>
                      <a:r>
                        <a:rPr lang="fr-FR" sz="1050" b="0" noProof="0">
                          <a:solidFill>
                            <a:schemeClr val="tx2"/>
                          </a:solidFill>
                        </a:rPr>
                        <a:t xml:space="preserve">Total pour tous les sites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FR" sz="1050" b="0" i="0" u="none" strike="noStrike" kern="1200" cap="none" spc="0" normalizeH="0" baseline="0" noProof="0">
                          <a:ln>
                            <a:noFill/>
                          </a:ln>
                          <a:solidFill>
                            <a:srgbClr val="1B4528"/>
                          </a:solidFill>
                          <a:effectLst/>
                          <a:uLnTx/>
                          <a:uFillTx/>
                          <a:latin typeface="+mn-lt"/>
                          <a:ea typeface="+mn-ea"/>
                          <a:cs typeface="+mn-cs"/>
                        </a:rPr>
                        <a:t>{{</a:t>
                      </a:r>
                      <a:r>
                        <a:rPr kumimoji="0" lang="fr-FR" sz="1050" b="0" i="0" u="none" strike="noStrike" kern="1200" cap="none" spc="0" normalizeH="0" baseline="0" noProof="0">
                          <a:ln>
                            <a:noFill/>
                          </a:ln>
                          <a:solidFill>
                            <a:srgbClr val="1B4528"/>
                          </a:solidFill>
                          <a:effectLst/>
                          <a:uLnTx/>
                          <a:uFillTx/>
                          <a:latin typeface="+mn-lt"/>
                          <a:ea typeface="+mn-ea"/>
                          <a:cs typeface="+mn-cs"/>
                        </a:rPr>
                        <a:t>total_withdrawal</a:t>
                      </a:r>
                      <a:r>
                        <a:rPr kumimoji="0" lang="fr-FR" sz="1050" b="0" i="0" u="none" strike="noStrike" kern="1200" cap="none" spc="0" normalizeH="0" baseline="0" noProof="0">
                          <a:ln>
                            <a:noFill/>
                          </a:ln>
                          <a:solidFill>
                            <a:srgbClr val="1B4528"/>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7" name="Table 16">
            <a:extLst>
              <a:ext uri="{FF2B5EF4-FFF2-40B4-BE49-F238E27FC236}">
                <a16:creationId xmlns:a16="http://schemas.microsoft.com/office/drawing/2014/main" id="{129EF77F-F7DE-E3A9-5E62-3B0DED7F1A69}"/>
              </a:ext>
            </a:extLst>
          </p:cNvPr>
          <p:cNvGraphicFramePr>
            <a:graphicFrameLocks noGrp="1"/>
          </p:cNvGraphicFramePr>
          <p:nvPr>
            <p:extLst>
              <p:ext uri="{D42A27DB-BD31-4B8C-83A1-F6EECF244321}">
                <p14:modId xmlns:p14="http://schemas.microsoft.com/office/powerpoint/2010/main" val="44075883"/>
              </p:ext>
            </p:extLst>
          </p:nvPr>
        </p:nvGraphicFramePr>
        <p:xfrm>
          <a:off x="4856790" y="1505077"/>
          <a:ext cx="5389710" cy="859306"/>
        </p:xfrm>
        <a:graphic>
          <a:graphicData uri="http://schemas.openxmlformats.org/drawingml/2006/table">
            <a:tbl>
              <a:tblPr firstRow="1">
                <a:tableStyleId>{2A488322-F2BA-4B5B-9748-0D474271808F}</a:tableStyleId>
              </a:tblPr>
              <a:tblGrid>
                <a:gridCol w="4061893">
                  <a:extLst>
                    <a:ext uri="{9D8B030D-6E8A-4147-A177-3AD203B41FA5}">
                      <a16:colId xmlns:a16="http://schemas.microsoft.com/office/drawing/2014/main" val="2698153288"/>
                    </a:ext>
                  </a:extLst>
                </a:gridCol>
                <a:gridCol w="1327817">
                  <a:extLst>
                    <a:ext uri="{9D8B030D-6E8A-4147-A177-3AD203B41FA5}">
                      <a16:colId xmlns:a16="http://schemas.microsoft.com/office/drawing/2014/main" val="2119413191"/>
                    </a:ext>
                  </a:extLst>
                </a:gridCol>
              </a:tblGrid>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Consommation d’eau </a:t>
                      </a:r>
                      <a:r>
                        <a:rPr lang="fr-FR" sz="1050" b="0" noProof="0">
                          <a:solidFill>
                            <a:schemeClr val="tx2"/>
                          </a:solidFill>
                        </a:rPr>
                        <a:t xml:space="preserve">(par. 37)</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1050" b="1" noProof="0">
                          <a:solidFill>
                            <a:schemeClr val="tx2"/>
                          </a:solidFill>
                        </a:rPr>
                        <a:t xml:space="preserve">Année </a:t>
                      </a:r>
                      <a:r>
                        <a:rPr lang="fr-FR" sz="1050" b="1" noProof="0">
                          <a:solidFill>
                            <a:srgbClr val="1B4528"/>
                          </a:solidFill>
                        </a:rPr>
                        <a:t>{{</a:t>
                      </a:r>
                      <a:r>
                        <a:rPr lang="fr-FR" sz="1050" b="1" noProof="0">
                          <a:solidFill>
                            <a:srgbClr val="1B4528"/>
                          </a:solidFill>
                        </a:rPr>
                        <a:t>insert_year</a:t>
                      </a:r>
                      <a:r>
                        <a:rPr lang="fr-FR"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2567">
                <a:tc>
                  <a:txBody>
                    <a:bodyPr/>
                    <a:lstStyle/>
                    <a:p>
                      <a:r>
                        <a:rPr lang="fr-FR" sz="1050" b="0" noProof="0">
                          <a:solidFill>
                            <a:schemeClr val="tx2"/>
                          </a:solidFill>
                        </a:rPr>
                        <a:t xml:space="preserve">Total pour tous les sites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consumption_total</a:t>
                      </a:r>
                      <a:r>
                        <a:rPr lang="fr-FR" sz="1050" b="0" i="0" u="none" strike="noStrike" noProof="0">
                          <a:solidFill>
                            <a:srgbClr val="1B4528"/>
                          </a:solidFill>
                          <a:effectLst/>
                          <a:latin typeface="Inter"/>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0" noProof="0">
                          <a:solidFill>
                            <a:schemeClr val="tx2"/>
                          </a:solidFill>
                        </a:rPr>
                        <a:t xml:space="preserve">Sites situés dans des zones de pénurie d’eau (stress hydrique élevé)</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consumption_waterstress</a:t>
                      </a:r>
                      <a:r>
                        <a:rPr lang="fr-FR" sz="1050" b="0" i="0" u="none" strike="noStrike" noProof="0">
                          <a:solidFill>
                            <a:srgbClr val="1B4528"/>
                          </a:solidFill>
                          <a:effectLst/>
                          <a:latin typeface="Inter"/>
                        </a:rPr>
                        <a:t>}}</a:t>
                      </a:r>
                      <a:endParaRPr lang="fr-F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8</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br>
              <a:rPr lang="fr-FR" noProof="0"/>
            </a:br>
            <a:endParaRPr lang="fr-FR" noProof="0"/>
          </a:p>
        </p:txBody>
      </p:sp>
      <p:sp>
        <p:nvSpPr>
          <p:cNvPr id="11" name="Tekstfelt 10">
            <a:extLst>
              <a:ext uri="{FF2B5EF4-FFF2-40B4-BE49-F238E27FC236}">
                <a16:creationId xmlns:a16="http://schemas.microsoft.com/office/drawing/2014/main" id="{ECB95649-80E1-C470-34F3-6ED206EE57AE}"/>
              </a:ext>
            </a:extLst>
          </p:cNvPr>
          <p:cNvSpPr txBox="1"/>
          <p:nvPr/>
        </p:nvSpPr>
        <p:spPr>
          <a:xfrm>
            <a:off x="445500" y="901932"/>
            <a:ext cx="9800999" cy="404866"/>
          </a:xfrm>
          <a:prstGeom prst="rect">
            <a:avLst/>
          </a:prstGeom>
          <a:noFill/>
        </p:spPr>
        <p:txBody>
          <a:bodyPr wrap="square">
            <a:spAutoFit/>
          </a:bodyPr>
          <a:lstStyle/>
          <a:p>
            <a:pPr rtl="0">
              <a:spcBef>
                <a:spcPts val="789"/>
              </a:spcBef>
              <a:buNone/>
            </a:pPr>
            <a:r>
              <a:rPr lang="fr-FR" sz="1050" b="0" i="0" u="none" strike="noStrike" noProof="0">
                <a:solidFill>
                  <a:schemeClr val="tx2"/>
                </a:solidFill>
                <a:effectLst/>
                <a:latin typeface="Inter"/>
              </a:rPr>
              <a:t xml:space="preserve">Le prélèvement d’eau est la quantité d’eau utilisée par l’entreprise, dont </a:t>
            </a:r>
            <a:r>
              <a:rPr lang="fr-FR" sz="1050" noProof="0">
                <a:solidFill>
                  <a:schemeClr val="tx2"/>
                </a:solidFill>
                <a:latin typeface="Inter"/>
              </a:rPr>
              <a:t xml:space="preserve">la consommation désigne l’eau qui </a:t>
            </a:r>
            <a:r>
              <a:rPr lang="fr-FR" sz="1050" b="0" i="0" u="none" strike="noStrike" noProof="0">
                <a:solidFill>
                  <a:schemeClr val="tx2"/>
                </a:solidFill>
                <a:effectLst/>
                <a:latin typeface="Inter"/>
              </a:rPr>
              <a:t xml:space="preserve">n’est pas rejetée, ni destinée à l’être, dans le milieu aquatique ou vers un tiers. Cette section indique le total des prélèvements d’eau. La consommation d’eau</a:t>
            </a:r>
            <a:r>
              <a:rPr lang="fr-FR" sz="1050" noProof="0">
                <a:solidFill>
                  <a:schemeClr val="tx2"/>
                </a:solidFill>
                <a:latin typeface="Inter"/>
              </a:rPr>
              <a:t> </a:t>
            </a:r>
            <a:r>
              <a:rPr lang="fr-FR" sz="1050" b="0" i="0" u="none" strike="noStrike" noProof="0">
                <a:solidFill>
                  <a:schemeClr val="tx2"/>
                </a:solidFill>
                <a:effectLst/>
                <a:latin typeface="Inter"/>
              </a:rPr>
              <a:t xml:space="preserve">et les rejets d’eau provenant de zones à stress hydrique élevé sont indiqués ci-dessous.</a:t>
            </a:r>
            <a:endParaRPr lang="fr-FR" sz="1050" b="0" noProof="0">
              <a:solidFill>
                <a:schemeClr val="tx2"/>
              </a:solidFill>
              <a:effectLst/>
              <a:latin typeface="Inter"/>
            </a:endParaRPr>
          </a:p>
        </p:txBody>
      </p:sp>
      <p:sp>
        <p:nvSpPr>
          <p:cNvPr id="14" name="Title 3">
            <a:extLst>
              <a:ext uri="{FF2B5EF4-FFF2-40B4-BE49-F238E27FC236}">
                <a16:creationId xmlns:a16="http://schemas.microsoft.com/office/drawing/2014/main" id="{B30A223B-CD1E-62E4-7BF1-B5AAB10A8410}"/>
              </a:ext>
            </a:extLst>
          </p:cNvPr>
          <p:cNvSpPr txBox="1">
            <a:spLocks/>
          </p:cNvSpPr>
          <p:nvPr/>
        </p:nvSpPr>
        <p:spPr>
          <a:xfrm>
            <a:off x="454796" y="274247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fr-FR" noProof="0"/>
              <a:t xml:space="preserve">Utilisation des ressources, économie circulaire et gestion des déchets (B7) </a:t>
            </a:r>
          </a:p>
        </p:txBody>
      </p:sp>
      <p:graphicFrame>
        <p:nvGraphicFramePr>
          <p:cNvPr id="15" name="Table 12">
            <a:extLst>
              <a:ext uri="{FF2B5EF4-FFF2-40B4-BE49-F238E27FC236}">
                <a16:creationId xmlns:a16="http://schemas.microsoft.com/office/drawing/2014/main" id="{DD005B21-4552-1869-0C74-C03ADA88E810}"/>
              </a:ext>
            </a:extLst>
          </p:cNvPr>
          <p:cNvGraphicFramePr>
            <a:graphicFrameLocks noGrp="1"/>
          </p:cNvGraphicFramePr>
          <p:nvPr>
            <p:extLst>
              <p:ext uri="{D42A27DB-BD31-4B8C-83A1-F6EECF244321}">
                <p14:modId xmlns:p14="http://schemas.microsoft.com/office/powerpoint/2010/main" val="1002212790"/>
              </p:ext>
            </p:extLst>
          </p:nvPr>
        </p:nvGraphicFramePr>
        <p:xfrm>
          <a:off x="4856790" y="3128095"/>
          <a:ext cx="5380408" cy="826615"/>
        </p:xfrm>
        <a:graphic>
          <a:graphicData uri="http://schemas.openxmlformats.org/drawingml/2006/table">
            <a:tbl>
              <a:tblPr firstRow="1">
                <a:tableStyleId>{2A488322-F2BA-4B5B-9748-0D474271808F}</a:tableStyleId>
              </a:tblPr>
              <a:tblGrid>
                <a:gridCol w="2128528">
                  <a:extLst>
                    <a:ext uri="{9D8B030D-6E8A-4147-A177-3AD203B41FA5}">
                      <a16:colId xmlns:a16="http://schemas.microsoft.com/office/drawing/2014/main" val="2698153288"/>
                    </a:ext>
                  </a:extLst>
                </a:gridCol>
                <a:gridCol w="1654020">
                  <a:extLst>
                    <a:ext uri="{9D8B030D-6E8A-4147-A177-3AD203B41FA5}">
                      <a16:colId xmlns:a16="http://schemas.microsoft.com/office/drawing/2014/main" val="2119413191"/>
                    </a:ext>
                  </a:extLst>
                </a:gridCol>
                <a:gridCol w="1597860">
                  <a:extLst>
                    <a:ext uri="{9D8B030D-6E8A-4147-A177-3AD203B41FA5}">
                      <a16:colId xmlns:a16="http://schemas.microsoft.com/office/drawing/2014/main" val="656209149"/>
                    </a:ext>
                  </a:extLst>
                </a:gridCol>
              </a:tblGrid>
              <a:tr h="236351">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Application des principes de l’économie circulaire </a:t>
                      </a:r>
                      <a:r>
                        <a:rPr lang="fr-FR" sz="1050" b="0" noProof="0">
                          <a:solidFill>
                            <a:schemeClr val="tx2"/>
                          </a:solidFill>
                        </a:rPr>
                        <a:t xml:space="preserve">(par. 38)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6091">
                <a:tc rowSpan="2">
                  <a:txBody>
                    <a:bodyPr/>
                    <a:lstStyle/>
                    <a:p>
                      <a:r>
                        <a:rPr lang="fr-FR" sz="1050" b="0" noProof="0">
                          <a:solidFill>
                            <a:schemeClr val="tx2"/>
                          </a:solidFill>
                        </a:rPr>
                        <a:t xml:space="preserve">Mon entreprise applique les principes de l’économie circulaire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1050" b="1" noProof="0">
                          <a:solidFill>
                            <a:schemeClr val="tx2"/>
                          </a:solidFill>
                        </a:rPr>
                        <a:t xml:space="preserve">Oui</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1050" b="1" noProof="0">
                          <a:solidFill>
                            <a:schemeClr val="tx2"/>
                          </a:solidFill>
                        </a:rPr>
                        <a:t xml:space="preserve">Non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0880">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circular_economy_princples_yes</a:t>
                      </a:r>
                      <a:r>
                        <a:rPr lang="fr-FR" sz="1050" b="0" i="0" u="none" strike="noStrike" noProof="0">
                          <a:solidFill>
                            <a:srgbClr val="1B4528"/>
                          </a:solidFill>
                          <a:effectLst/>
                          <a:latin typeface="Inter"/>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circular_economy_princples_no</a:t>
                      </a:r>
                      <a:r>
                        <a:rPr lang="fr-FR" sz="1050" b="0" i="0" u="none" strike="noStrike" noProof="0">
                          <a:solidFill>
                            <a:srgbClr val="1B4528"/>
                          </a:solidFill>
                          <a:effectLst/>
                          <a:latin typeface="Inter"/>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6" name="Table 2">
            <a:extLst>
              <a:ext uri="{FF2B5EF4-FFF2-40B4-BE49-F238E27FC236}">
                <a16:creationId xmlns:a16="http://schemas.microsoft.com/office/drawing/2014/main" id="{2AA2F1F9-7A09-1805-85EA-A61B8CDF034E}"/>
              </a:ext>
            </a:extLst>
          </p:cNvPr>
          <p:cNvGraphicFramePr>
            <a:graphicFrameLocks noGrp="1"/>
          </p:cNvGraphicFramePr>
          <p:nvPr>
            <p:extLst>
              <p:ext uri="{D42A27DB-BD31-4B8C-83A1-F6EECF244321}">
                <p14:modId xmlns:p14="http://schemas.microsoft.com/office/powerpoint/2010/main" val="3358194059"/>
              </p:ext>
            </p:extLst>
          </p:nvPr>
        </p:nvGraphicFramePr>
        <p:xfrm>
          <a:off x="445498" y="4074564"/>
          <a:ext cx="9791701" cy="1549905"/>
        </p:xfrm>
        <a:graphic>
          <a:graphicData uri="http://schemas.openxmlformats.org/drawingml/2006/table">
            <a:tbl>
              <a:tblPr firstRow="1">
                <a:tableStyleId>{2A488322-F2BA-4B5B-9748-0D474271808F}</a:tableStyleId>
              </a:tblPr>
              <a:tblGrid>
                <a:gridCol w="9791701">
                  <a:extLst>
                    <a:ext uri="{9D8B030D-6E8A-4147-A177-3AD203B41FA5}">
                      <a16:colId xmlns:a16="http://schemas.microsoft.com/office/drawing/2014/main" val="2698153288"/>
                    </a:ext>
                  </a:extLst>
                </a:gridCol>
              </a:tblGrid>
              <a:tr h="256676">
                <a:tc>
                  <a:txBody>
                    <a:bodyPr/>
                    <a:lstStyle/>
                    <a:p>
                      <a:r>
                        <a:rPr lang="fr-FR" sz="1050" b="1" noProof="0">
                          <a:solidFill>
                            <a:schemeClr val="tx2"/>
                          </a:solidFill>
                        </a:rPr>
                        <a:t xml:space="preserve">Description de la manière dont l’entreprise applique les principes de l’économie circulaire </a:t>
                      </a:r>
                      <a:r>
                        <a:rPr lang="fr-FR" sz="1050" b="0" noProof="0">
                          <a:solidFill>
                            <a:schemeClr val="tx2"/>
                          </a:solidFill>
                        </a:rPr>
                        <a:t xml:space="preserve">(par. 38 suite)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1293229">
                <a:tc>
                  <a:txBody>
                    <a:bodyPr/>
                    <a:lstStyle/>
                    <a:p>
                      <a:pPr algn="l"/>
                      <a:r>
                        <a:rPr lang="fr-FR" sz="1050" b="0" kern="1200" noProof="0">
                          <a:solidFill>
                            <a:srgbClr val="1B4528"/>
                          </a:solidFill>
                          <a:latin typeface="+mn-lt"/>
                          <a:ea typeface="+mn-ea"/>
                          <a:cs typeface="+mn-cs"/>
                        </a:rPr>
                        <a:t>{{</a:t>
                      </a:r>
                      <a:r>
                        <a:rPr lang="fr-FR" sz="1050" b="0" kern="1200" noProof="0">
                          <a:solidFill>
                            <a:srgbClr val="1B4528"/>
                          </a:solidFill>
                          <a:latin typeface="+mn-lt"/>
                          <a:ea typeface="+mn-ea"/>
                          <a:cs typeface="+mn-cs"/>
                        </a:rPr>
                        <a:t>description_of_circular_economies</a:t>
                      </a:r>
                      <a:r>
                        <a:rPr lang="fr-FR" sz="1050" b="0" kern="1200" noProof="0">
                          <a:solidFill>
                            <a:srgbClr val="1B4528"/>
                          </a:solidFill>
                          <a:latin typeface="+mn-lt"/>
                          <a:ea typeface="+mn-ea"/>
                          <a:cs typeface="+mn-cs"/>
                        </a:rPr>
                        <a:t>}}</a:t>
                      </a:r>
                    </a:p>
                    <a:p>
                      <a:pPr algn="l"/>
                      <a:endParaRPr lang="fr-FR" sz="1050" b="0" kern="1200" noProof="0">
                        <a:solidFill>
                          <a:srgbClr val="1B4528"/>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5" name="Tekstfelt 24">
            <a:extLst>
              <a:ext uri="{FF2B5EF4-FFF2-40B4-BE49-F238E27FC236}">
                <a16:creationId xmlns:a16="http://schemas.microsoft.com/office/drawing/2014/main" id="{02BB91A8-5ECA-5F09-CF3C-575CB2D07459}"/>
              </a:ext>
            </a:extLst>
          </p:cNvPr>
          <p:cNvSpPr txBox="1"/>
          <p:nvPr/>
        </p:nvSpPr>
        <p:spPr>
          <a:xfrm>
            <a:off x="445765" y="3147944"/>
            <a:ext cx="4247524" cy="728758"/>
          </a:xfrm>
          <a:prstGeom prst="rect">
            <a:avLst/>
          </a:prstGeom>
          <a:noFill/>
        </p:spPr>
        <p:txBody>
          <a:bodyPr wrap="square" lIns="80190" tIns="40095" rIns="80190" bIns="40095" anchor="t">
            <a:spAutoFit/>
          </a:bodyPr>
          <a:lstStyle/>
          <a:p>
            <a:pPr rtl="0">
              <a:buNone/>
            </a:pPr>
            <a:r>
              <a:rPr lang="fr-FR" sz="1050" b="0" i="0" u="none" strike="noStrike" noProof="0">
                <a:solidFill>
                  <a:schemeClr val="tx2"/>
                </a:solidFill>
                <a:effectLst/>
                <a:latin typeface="Inter"/>
              </a:rPr>
              <a:t xml:space="preserve">Cette exigence de publication indique si l’entreprise</a:t>
            </a:r>
            <a:r>
              <a:rPr lang="fr-FR" sz="1050" noProof="0">
                <a:solidFill>
                  <a:schemeClr val="tx2"/>
                </a:solidFill>
                <a:latin typeface="Inter"/>
              </a:rPr>
              <a:t xml:space="preserve"> applique les principes de l’économie circulaire, notamment des principes de réduction des déchets et de la pollution ainsi qu’une attention portée aux produits et matières circulaires.</a:t>
            </a:r>
          </a:p>
        </p:txBody>
      </p:sp>
    </p:spTree>
    <p:extLst>
      <p:ext uri="{BB962C8B-B14F-4D97-AF65-F5344CB8AC3E}">
        <p14:creationId xmlns:p14="http://schemas.microsoft.com/office/powerpoint/2010/main" val="9996588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Utilisation des ressources, économie circulaire et gestion des déchets (B7) – suite</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829584165"/>
              </p:ext>
            </p:extLst>
          </p:nvPr>
        </p:nvGraphicFramePr>
        <p:xfrm>
          <a:off x="445499" y="1442996"/>
          <a:ext cx="6440256" cy="1844980"/>
        </p:xfrm>
        <a:graphic>
          <a:graphicData uri="http://schemas.openxmlformats.org/drawingml/2006/table">
            <a:tbl>
              <a:tblPr firstRow="1">
                <a:tableStyleId>{2A488322-F2BA-4B5B-9748-0D474271808F}</a:tableStyleId>
              </a:tblPr>
              <a:tblGrid>
                <a:gridCol w="1995980">
                  <a:extLst>
                    <a:ext uri="{9D8B030D-6E8A-4147-A177-3AD203B41FA5}">
                      <a16:colId xmlns:a16="http://schemas.microsoft.com/office/drawing/2014/main" val="2698153288"/>
                    </a:ext>
                  </a:extLst>
                </a:gridCol>
                <a:gridCol w="2230323">
                  <a:extLst>
                    <a:ext uri="{9D8B030D-6E8A-4147-A177-3AD203B41FA5}">
                      <a16:colId xmlns:a16="http://schemas.microsoft.com/office/drawing/2014/main" val="2119413191"/>
                    </a:ext>
                  </a:extLst>
                </a:gridCol>
                <a:gridCol w="2213953">
                  <a:extLst>
                    <a:ext uri="{9D8B030D-6E8A-4147-A177-3AD203B41FA5}">
                      <a16:colId xmlns:a16="http://schemas.microsoft.com/office/drawing/2014/main" val="4075157689"/>
                    </a:ext>
                  </a:extLst>
                </a:gridCol>
              </a:tblGrid>
              <a:tr h="288168">
                <a:tc gridSpan="3">
                  <a:txBody>
                    <a:bodyPr/>
                    <a:lstStyle/>
                    <a:p>
                      <a:pPr algn="ctr"/>
                      <a:r>
                        <a:rPr lang="fr-FR" sz="1050" b="1" noProof="0">
                          <a:solidFill>
                            <a:schemeClr val="tx2"/>
                          </a:solidFill>
                        </a:rPr>
                        <a:t xml:space="preserve">Quantité annuelle totale de déchets</a:t>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301348">
                <a:tc>
                  <a:txBody>
                    <a:bodyPr/>
                    <a:lstStyle/>
                    <a:p>
                      <a:endParaRPr lang="fr-F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1050" b="1" noProof="0">
                          <a:solidFill>
                            <a:schemeClr val="tx2"/>
                          </a:solidFill>
                        </a:rPr>
                        <a:t xml:space="preserve">Quantité totale de déchets </a:t>
                      </a:r>
                      <a:r>
                        <a:rPr lang="fr-FR" sz="1050" b="0" noProof="0">
                          <a:solidFill>
                            <a:schemeClr val="tx2"/>
                          </a:solidFill>
                        </a:rPr>
                        <a:t xml:space="preserve">(par. 39a)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1050" b="1" noProof="0">
                          <a:solidFill>
                            <a:schemeClr val="tx2"/>
                          </a:solidFill>
                        </a:rPr>
                        <a:t xml:space="preserve">Déchets destinés au recyclage ou à la préparation en vue du réemploi </a:t>
                      </a:r>
                      <a:r>
                        <a:rPr lang="fr-FR" sz="1050" b="0" noProof="0">
                          <a:solidFill>
                            <a:schemeClr val="tx2"/>
                          </a:solidFill>
                        </a:rPr>
                        <a:t xml:space="preserve">(par. 39b)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13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Déchets non dangereux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204917">
                <a:tc>
                  <a:txBody>
                    <a:bodyPr/>
                    <a:lstStyle/>
                    <a:p>
                      <a:pPr rtl="0" fontAlgn="ctr" algn="l">
                        <a:buNone/>
                      </a:pPr>
                      <a:r>
                        <a:rPr lang="fr-FR" sz="1050" b="0" i="0" u="none" strike="noStrike" noProof="0">
                          <a:solidFill>
                            <a:srgbClr val="1B4528"/>
                          </a:solidFill>
                          <a:effectLst/>
                          <a:latin typeface="Inter"/>
                        </a:rPr>
                        <a:t>{{Type_af_affald}}</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nter"/>
                        </a:rPr>
                        <a:t>{{kg_tons_total}}</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1050" b="0" i="0" u="none" strike="noStrike" noProof="0">
                          <a:solidFill>
                            <a:srgbClr val="1B4528"/>
                          </a:solidFill>
                          <a:effectLst/>
                          <a:latin typeface="Inter"/>
                        </a:rPr>
                        <a:t>{{genbrug_kg_tons}}</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01348">
                <a:tc>
                  <a:txBody>
                    <a:bodyPr/>
                    <a:lstStyle/>
                    <a:p>
                      <a:r>
                        <a:rPr lang="fr-FR" sz="1050" b="1" noProof="0">
                          <a:solidFill>
                            <a:schemeClr val="tx2"/>
                          </a:solidFill>
                        </a:rPr>
                        <a:t xml:space="preserve">Déchets dangereux</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204917">
                <a:tc>
                  <a:txBody>
                    <a:bodyPr/>
                    <a:lstStyle/>
                    <a:p>
                      <a:pPr rtl="0" fontAlgn="ctr" algn="l">
                        <a:buNone/>
                      </a:pPr>
                      <a:r>
                        <a:rPr lang="fr-FR" sz="1050" b="0" i="0" u="none" strike="noStrike" noProof="0">
                          <a:solidFill>
                            <a:srgbClr val="1B4528"/>
                          </a:solidFill>
                          <a:effectLst/>
                          <a:latin typeface="Inter"/>
                        </a:rPr>
                        <a:t>{{Type_af_affald_farlig}}</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nter"/>
                        </a:rPr>
                        <a:t>{{farlig_kg_tons}}</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1050" b="0" i="0" u="none" strike="noStrike" noProof="0">
                          <a:solidFill>
                            <a:srgbClr val="1B4528"/>
                          </a:solidFill>
                          <a:effectLst/>
                          <a:latin typeface="Inter"/>
                        </a:rPr>
                        <a:t>{{farlig_genbrug_kg_tons}}</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9</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br>
              <a:rPr lang="fr-FR" noProof="0"/>
            </a:br>
            <a:endParaRPr lang="fr-FR"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54796" y="891000"/>
            <a:ext cx="9791704" cy="404866"/>
          </a:xfrm>
          <a:prstGeom prst="rect">
            <a:avLst/>
          </a:prstGeom>
          <a:noFill/>
        </p:spPr>
        <p:txBody>
          <a:bodyPr wrap="square">
            <a:spAutoFit/>
          </a:bodyPr>
          <a:lstStyle/>
          <a:p>
            <a:pPr rtl="0">
              <a:buNone/>
            </a:pPr>
            <a:r>
              <a:rPr lang="fr-FR" sz="1050" b="0" i="0" u="none" strike="noStrike" noProof="0">
                <a:solidFill>
                  <a:schemeClr val="tx2"/>
                </a:solidFill>
                <a:effectLst/>
                <a:latin typeface="Inter"/>
              </a:rPr>
              <a:t xml:space="preserve">La section suivante fournit des informations sur l’utilisation des matières et la gestion des déchets. Ces informations relèvent de l’économie circulaire et présentent la ventilation de la production annuelle totale de déchets de l’entreprise (dangereux/non dangereux) ainsi que les quantités de matières importantes. </a:t>
            </a:r>
            <a:endParaRPr lang="fr-FR" sz="1050"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4113487528"/>
              </p:ext>
            </p:extLst>
          </p:nvPr>
        </p:nvGraphicFramePr>
        <p:xfrm>
          <a:off x="7156908" y="1473478"/>
          <a:ext cx="3080297" cy="1954575"/>
        </p:xfrm>
        <a:graphic>
          <a:graphicData uri="http://schemas.openxmlformats.org/drawingml/2006/table">
            <a:tbl>
              <a:tblPr firstRow="1">
                <a:tableStyleId>{2A488322-F2BA-4B5B-9748-0D474271808F}</a:tableStyleId>
              </a:tblPr>
              <a:tblGrid>
                <a:gridCol w="1976312">
                  <a:extLst>
                    <a:ext uri="{9D8B030D-6E8A-4147-A177-3AD203B41FA5}">
                      <a16:colId xmlns:a16="http://schemas.microsoft.com/office/drawing/2014/main" val="2698153288"/>
                    </a:ext>
                  </a:extLst>
                </a:gridCol>
                <a:gridCol w="1103985">
                  <a:extLst>
                    <a:ext uri="{9D8B030D-6E8A-4147-A177-3AD203B41FA5}">
                      <a16:colId xmlns:a16="http://schemas.microsoft.com/office/drawing/2014/main" val="2119413191"/>
                    </a:ext>
                  </a:extLst>
                </a:gridCol>
              </a:tblGrid>
              <a:tr h="1096977">
                <a:tc>
                  <a:txBody>
                    <a:bodyPr/>
                    <a:lstStyle/>
                    <a:p>
                      <a:r>
                        <a:rPr lang="fr-FR" sz="1050" b="1" noProof="0">
                          <a:solidFill>
                            <a:schemeClr val="tx2"/>
                          </a:solidFill>
                        </a:rPr>
                        <a:t xml:space="preserve">Matières importantes </a:t>
                      </a:r>
                      <a:r>
                        <a:rPr lang="fr-FR" sz="1050" b="0" noProof="0">
                          <a:solidFill>
                            <a:schemeClr val="tx2"/>
                          </a:solidFill>
                        </a:rPr>
                        <a:t xml:space="preserve">(par. 39c)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1050" b="1" noProof="0">
                          <a:solidFill>
                            <a:schemeClr val="tx2"/>
                          </a:solidFill>
                        </a:rPr>
                        <a:t xml:space="preserve">Flux massique annuel </a:t>
                      </a:r>
                      <a:r>
                        <a:rPr lang="fr-FR" sz="1050" b="1" noProof="0">
                          <a:solidFill>
                            <a:srgbClr val="1B4528"/>
                          </a:solidFill>
                        </a:rPr>
                        <a:t>{{insert_year}}</a:t>
                      </a:r>
                      <a:endParaRPr lang="fr-FR"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859299">
                <a:tc>
                  <a:txBody>
                    <a:bodyPr/>
                    <a:lstStyle/>
                    <a:p>
                      <a:pPr algn="l"/>
                      <a:r>
                        <a:rPr lang="fr-FR" sz="1050" b="0" i="0" u="none" strike="noStrike" noProof="0">
                          <a:solidFill>
                            <a:srgbClr val="1B4528"/>
                          </a:solidFill>
                          <a:latin typeface="Inter"/>
                        </a:rPr>
                        <a:t>{{significant_material}}</a:t>
                      </a:r>
                      <a:endParaRPr lang="fr-FR" sz="1050" b="0" noProof="0">
                        <a:solidFill>
                          <a:srgbClr val="1B4528"/>
                        </a:solidFill>
                        <a:latin typeface="Inter"/>
                        <a:cs typeface="Calibri"/>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fr-FR" sz="1050" b="0" i="0" u="none" strike="noStrike" noProof="0">
                          <a:solidFill>
                            <a:srgbClr val="1B4528"/>
                          </a:solidFill>
                          <a:latin typeface="Inter"/>
                        </a:rPr>
                        <a:t>{{significant_material_unit}}</a:t>
                      </a:r>
                      <a:endParaRPr lang="fr-FR" sz="1050" b="0" i="0" u="none" strike="noStrike" noProof="0">
                        <a:solidFill>
                          <a:srgbClr val="000000"/>
                        </a:solidFill>
                        <a:latin typeface="Inter"/>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Personnel de l’entreprise : caractéristiques générales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45493" y="1520475"/>
          <a:ext cx="4365905" cy="1621480"/>
        </p:xfrm>
        <a:graphic>
          <a:graphicData uri="http://schemas.openxmlformats.org/drawingml/2006/table">
            <a:tbl>
              <a:tblPr firstRow="1">
                <a:tableStyleId>{2A488322-F2BA-4B5B-9748-0D474271808F}</a:tableStyleId>
              </a:tblPr>
              <a:tblGrid>
                <a:gridCol w="2182953">
                  <a:extLst>
                    <a:ext uri="{9D8B030D-6E8A-4147-A177-3AD203B41FA5}">
                      <a16:colId xmlns:a16="http://schemas.microsoft.com/office/drawing/2014/main" val="2698153288"/>
                    </a:ext>
                  </a:extLst>
                </a:gridCol>
                <a:gridCol w="2182953">
                  <a:extLst>
                    <a:ext uri="{9D8B030D-6E8A-4147-A177-3AD203B41FA5}">
                      <a16:colId xmlns:a16="http://schemas.microsoft.com/office/drawing/2014/main" val="2119413191"/>
                    </a:ext>
                  </a:extLst>
                </a:gridCol>
              </a:tblGrid>
              <a:tr h="405370">
                <a:tc>
                  <a:txBody>
                    <a:bodyPr/>
                    <a:lstStyle/>
                    <a:p>
                      <a:r>
                        <a:rPr lang="fr-FR" sz="1050" b="1" noProof="0">
                          <a:solidFill>
                            <a:schemeClr val="tx2"/>
                          </a:solidFill>
                        </a:rPr>
                        <a:t xml:space="preserve">Type de contrat </a:t>
                      </a:r>
                      <a:r>
                        <a:rPr lang="fr-FR" sz="1050" b="0" noProof="0">
                          <a:solidFill>
                            <a:schemeClr val="tx2"/>
                          </a:solidFill>
                        </a:rPr>
                        <a:t xml:space="preserve">(par. 40a)</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1050" b="1" noProof="0">
                          <a:solidFill>
                            <a:schemeClr val="tx2"/>
                          </a:solidFill>
                        </a:rPr>
                        <a:t xml:space="preserve">Nombre de salariés (effectifs ou équivalents temps plein)</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05370">
                <a:tc>
                  <a:txBody>
                    <a:bodyPr/>
                    <a:lstStyle/>
                    <a:p>
                      <a:r>
                        <a:rPr lang="fr-FR" sz="1050" b="0" noProof="0">
                          <a:solidFill>
                            <a:schemeClr val="tx2"/>
                          </a:solidFill>
                        </a:rPr>
                        <a:t xml:space="preserve">Emploi temporaire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temporary</a:t>
                      </a:r>
                      <a:r>
                        <a:rPr lang="fr-FR" sz="1050" b="0" i="0" u="none" strike="noStrike" noProof="0">
                          <a:solidFill>
                            <a:srgbClr val="1B4528"/>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405370">
                <a:tc>
                  <a:txBody>
                    <a:bodyPr/>
                    <a:lstStyle/>
                    <a:p>
                      <a:r>
                        <a:rPr lang="fr-FR" sz="1050" b="0" noProof="0">
                          <a:solidFill>
                            <a:schemeClr val="tx2"/>
                          </a:solidFill>
                        </a:rPr>
                        <a:t xml:space="preserve">Emploi permanent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fulltime</a:t>
                      </a:r>
                      <a:r>
                        <a:rPr lang="fr-FR" sz="1050" b="0" i="0" u="none" strike="noStrike" noProof="0">
                          <a:solidFill>
                            <a:srgbClr val="1B4528"/>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405370">
                <a:tc>
                  <a:txBody>
                    <a:bodyPr/>
                    <a:lstStyle/>
                    <a:p>
                      <a:r>
                        <a:rPr lang="fr-FR" sz="1050" b="0" noProof="0">
                          <a:solidFill>
                            <a:schemeClr val="tx2"/>
                          </a:solidFill>
                        </a:rPr>
                        <a:t xml:space="preserve">Nombre total de salariés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total_employees</a:t>
                      </a:r>
                      <a:r>
                        <a:rPr lang="fr-FR" sz="1050" b="0" i="0" u="none" strike="noStrike" noProof="0">
                          <a:solidFill>
                            <a:srgbClr val="1B4528"/>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5008093" y="1520477"/>
          <a:ext cx="5238408" cy="1715605"/>
        </p:xfrm>
        <a:graphic>
          <a:graphicData uri="http://schemas.openxmlformats.org/drawingml/2006/table">
            <a:tbl>
              <a:tblPr firstRow="1">
                <a:tableStyleId>{2A488322-F2BA-4B5B-9748-0D474271808F}</a:tableStyleId>
              </a:tblPr>
              <a:tblGrid>
                <a:gridCol w="2619204">
                  <a:extLst>
                    <a:ext uri="{9D8B030D-6E8A-4147-A177-3AD203B41FA5}">
                      <a16:colId xmlns:a16="http://schemas.microsoft.com/office/drawing/2014/main" val="2698153288"/>
                    </a:ext>
                  </a:extLst>
                </a:gridCol>
                <a:gridCol w="2619204">
                  <a:extLst>
                    <a:ext uri="{9D8B030D-6E8A-4147-A177-3AD203B41FA5}">
                      <a16:colId xmlns:a16="http://schemas.microsoft.com/office/drawing/2014/main" val="2119413191"/>
                    </a:ext>
                  </a:extLst>
                </a:gridCol>
              </a:tblGrid>
              <a:tr h="365659">
                <a:tc>
                  <a:txBody>
                    <a:bodyPr/>
                    <a:lstStyle/>
                    <a:p>
                      <a:r>
                        <a:rPr lang="fr-FR" sz="1050" b="1" noProof="0">
                          <a:solidFill>
                            <a:schemeClr val="tx2"/>
                          </a:solidFill>
                          <a:latin typeface="+mn-lt"/>
                        </a:rPr>
                        <a:t xml:space="preserve">Genre</a:t>
                      </a:r>
                      <a:r>
                        <a:rPr lang="fr-FR" sz="1050" b="0" noProof="0">
                          <a:solidFill>
                            <a:schemeClr val="tx2"/>
                          </a:solidFill>
                          <a:latin typeface="+mn-lt"/>
                        </a:rPr>
                        <a:t xml:space="preserve"> (par. 40b)</a:t>
                      </a:r>
                      <a:r>
                        <a:rPr lang="fr-FR" sz="1050" b="0" noProof="0">
                          <a:solidFill>
                            <a:schemeClr val="tx2"/>
                          </a:solidFill>
                        </a:rPr>
                        <a:t xml:space="preserve"/>
                      </a:r>
                      <a:endParaRPr lang="fr-FR" sz="1050" b="0"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1050" b="1" noProof="0">
                          <a:solidFill>
                            <a:schemeClr val="tx2"/>
                          </a:solidFill>
                          <a:latin typeface="+mn-lt"/>
                        </a:rPr>
                        <a:t xml:space="preserve">Nombre de salariés (effectifs ou équivalents temps plein)</a:t>
                      </a:r>
                      <a:r>
                        <a:rPr lang="fr-FR" sz="1050" b="1" noProof="0">
                          <a:solidFill>
                            <a:schemeClr val="tx2"/>
                          </a:solidFill>
                        </a:rPr>
                        <a:t xml:space="preserve"/>
                      </a:r>
                      <a:endParaRPr lang="fr-FR" sz="1050" b="1"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74244">
                <a:tc>
                  <a:txBody>
                    <a:bodyPr/>
                    <a:lstStyle/>
                    <a:p>
                      <a:r>
                        <a:rPr lang="fr-FR" sz="1050" b="0" noProof="0">
                          <a:solidFill>
                            <a:schemeClr val="tx2"/>
                          </a:solidFill>
                          <a:latin typeface="+mn-lt"/>
                        </a:rPr>
                        <a:t xml:space="preserve">Homme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nter"/>
                        </a:rPr>
                        <a:t>{{men}}</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65103">
                <a:tc>
                  <a:txBody>
                    <a:bodyPr/>
                    <a:lstStyle/>
                    <a:p>
                      <a:r>
                        <a:rPr lang="fr-FR" sz="1050" b="0" noProof="0">
                          <a:solidFill>
                            <a:schemeClr val="tx2"/>
                          </a:solidFill>
                          <a:latin typeface="+mn-lt"/>
                        </a:rPr>
                        <a:t xml:space="preserve">Femme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women</a:t>
                      </a:r>
                      <a:r>
                        <a:rPr lang="fr-FR" sz="1050" b="0" i="0" u="none" strike="noStrike" noProof="0">
                          <a:solidFill>
                            <a:srgbClr val="1B4528"/>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74244">
                <a:tc>
                  <a:txBody>
                    <a:bodyPr/>
                    <a:lstStyle/>
                    <a:p>
                      <a:r>
                        <a:rPr lang="fr-FR" sz="1050" b="0" noProof="0">
                          <a:solidFill>
                            <a:schemeClr val="tx2"/>
                          </a:solidFill>
                          <a:latin typeface="+mn-lt"/>
                        </a:rPr>
                        <a:t xml:space="preserve">Autre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others</a:t>
                      </a:r>
                      <a:r>
                        <a:rPr lang="fr-FR" sz="1050" b="0" i="0" u="none" strike="noStrike" noProof="0">
                          <a:solidFill>
                            <a:srgbClr val="1B4528"/>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74244">
                <a:tc>
                  <a:txBody>
                    <a:bodyPr/>
                    <a:lstStyle/>
                    <a:p>
                      <a:r>
                        <a:rPr lang="fr-FR" sz="1050" b="0" noProof="0">
                          <a:solidFill>
                            <a:schemeClr val="tx2"/>
                          </a:solidFill>
                          <a:latin typeface="+mn-lt"/>
                        </a:rPr>
                        <a:t xml:space="preserve">Non renseigné</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not_registeret</a:t>
                      </a:r>
                      <a:r>
                        <a:rPr lang="fr-FR" sz="1050" b="0" i="0" u="none" strike="noStrike" noProof="0">
                          <a:solidFill>
                            <a:srgbClr val="1B4528"/>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65103">
                <a:tc>
                  <a:txBody>
                    <a:bodyPr/>
                    <a:lstStyle/>
                    <a:p>
                      <a:r>
                        <a:rPr lang="fr-FR" sz="1050" b="0" noProof="0">
                          <a:solidFill>
                            <a:schemeClr val="tx2"/>
                          </a:solidFill>
                          <a:latin typeface="+mn-lt"/>
                        </a:rPr>
                        <a:t xml:space="preserve">Nombre total de salariés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total_employees</a:t>
                      </a:r>
                      <a:r>
                        <a:rPr lang="fr-FR" sz="1050" b="0" i="0" u="none" strike="noStrike" noProof="0">
                          <a:solidFill>
                            <a:srgbClr val="1B4528"/>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10</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br>
              <a:rPr lang="fr-FR" noProof="0"/>
            </a:br>
            <a:endParaRPr lang="fr-FR"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54796" y="913284"/>
            <a:ext cx="9791704" cy="728758"/>
          </a:xfrm>
          <a:prstGeom prst="rect">
            <a:avLst/>
          </a:prstGeom>
          <a:noFill/>
        </p:spPr>
        <p:txBody>
          <a:bodyPr wrap="square">
            <a:spAutoFit/>
          </a:bodyPr>
          <a:lstStyle/>
          <a:p>
            <a:pPr rtl="0">
              <a:buNone/>
            </a:pPr>
            <a:r>
              <a:rPr lang="fr-FR" sz="1050" b="0" i="0" u="none" strike="noStrike" noProof="0">
                <a:solidFill>
                  <a:srgbClr val="25595D"/>
                </a:solidFill>
                <a:effectLst/>
                <a:latin typeface="Inter"/>
              </a:rPr>
              <a:t xml:space="preserve">L’entreprise a indiqué le nombre de salariés selon les ventilations suivantes : le type de contrat de travail, les salariés étant répartis entre contrats temporaires et permanents; le genre, qui renseigne sur la répartition par genre des salariés; et le pays du contrat de travail, pertinent si l’entreprise exerce ses activités dans plusieurs pays.</a:t>
            </a:r>
            <a:endParaRPr lang="fr-FR" sz="1050" b="0" noProof="0">
              <a:effectLst/>
              <a:latin typeface="Inter"/>
            </a:endParaRPr>
          </a:p>
          <a:p>
            <a:pPr>
              <a:buNone/>
            </a:pPr>
            <a:br>
              <a:rPr lang="fr-FR" sz="1050" noProof="0">
                <a:latin typeface="Inter"/>
              </a:rPr>
            </a:br>
            <a:endParaRPr lang="fr-FR" sz="1050"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47022" y="3446606"/>
          <a:ext cx="9790181" cy="1010268"/>
        </p:xfrm>
        <a:graphic>
          <a:graphicData uri="http://schemas.openxmlformats.org/drawingml/2006/table">
            <a:tbl>
              <a:tblPr firstRow="1">
                <a:tableStyleId>{2A488322-F2BA-4B5B-9748-0D474271808F}</a:tableStyleId>
              </a:tblPr>
              <a:tblGrid>
                <a:gridCol w="5233603">
                  <a:extLst>
                    <a:ext uri="{9D8B030D-6E8A-4147-A177-3AD203B41FA5}">
                      <a16:colId xmlns:a16="http://schemas.microsoft.com/office/drawing/2014/main" val="2698153288"/>
                    </a:ext>
                  </a:extLst>
                </a:gridCol>
                <a:gridCol w="4556578">
                  <a:extLst>
                    <a:ext uri="{9D8B030D-6E8A-4147-A177-3AD203B41FA5}">
                      <a16:colId xmlns:a16="http://schemas.microsoft.com/office/drawing/2014/main" val="2119413191"/>
                    </a:ext>
                  </a:extLst>
                </a:gridCol>
              </a:tblGrid>
              <a:tr h="252567">
                <a:tc>
                  <a:txBody>
                    <a:bodyPr/>
                    <a:lstStyle/>
                    <a:p>
                      <a:r>
                        <a:rPr lang="fr-FR" sz="1050" b="1" noProof="0">
                          <a:solidFill>
                            <a:schemeClr val="tx2"/>
                          </a:solidFill>
                        </a:rPr>
                        <a:t xml:space="preserve">Pays (où le contrat de travail a été conclu) </a:t>
                      </a:r>
                      <a:r>
                        <a:rPr lang="fr-FR" sz="1050" b="0" noProof="0">
                          <a:solidFill>
                            <a:schemeClr val="tx2"/>
                          </a:solidFill>
                        </a:rPr>
                        <a:t xml:space="preserve">(par. 40c)</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1050" b="1" noProof="0">
                          <a:solidFill>
                            <a:schemeClr val="tx2"/>
                          </a:solidFill>
                        </a:rPr>
                        <a:t xml:space="preserve">Nombre de salariés (effectifs ou équivalents temps plein)</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fr-FR" sz="1050" b="0" noProof="0">
                          <a:solidFill>
                            <a:schemeClr val="tx2"/>
                          </a:solidFill>
                        </a:rPr>
                        <a:t xml:space="preserve">Danemark</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fr-FR" sz="1050" b="0" i="0" u="none" strike="noStrike" noProof="0">
                          <a:solidFill>
                            <a:srgbClr val="1B4528"/>
                          </a:solidFill>
                          <a:effectLst/>
                          <a:latin typeface="Inter"/>
                        </a:rPr>
                        <a:t>{{Denmark}}</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52567">
                <a:tc>
                  <a:txBody>
                    <a:bodyPr/>
                    <a:lstStyle/>
                    <a:p>
                      <a:pPr rtl="0" fontAlgn="ctr" algn="l">
                        <a:buNone/>
                      </a:pPr>
                      <a:r>
                        <a:rPr lang="fr-FR" sz="1050" b="0" i="0" u="none" strike="noStrike" noProof="0">
                          <a:solidFill>
                            <a:srgbClr val="1B4528"/>
                          </a:solidFill>
                          <a:effectLst/>
                          <a:latin typeface="Inter"/>
                        </a:rPr>
                        <a:t>{{Land_b}}</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fr-FR" sz="1050" b="0" i="0" u="none" strike="noStrike" noProof="0">
                          <a:solidFill>
                            <a:srgbClr val="1B4528"/>
                          </a:solidFill>
                          <a:effectLst/>
                          <a:latin typeface="Inter"/>
                        </a:rPr>
                        <a:t>{{</a:t>
                      </a:r>
                      <a:r>
                        <a:rPr lang="fr-FR" sz="1050" b="0" i="0" u="none" strike="noStrike" noProof="0">
                          <a:solidFill>
                            <a:srgbClr val="1B4528"/>
                          </a:solidFill>
                          <a:effectLst/>
                        </a:rPr>
                        <a:t>FTE_eller_antal_personer_land_b</a:t>
                      </a:r>
                      <a:r>
                        <a:rPr lang="fr-FR" sz="1050" b="0" i="0" u="none" strike="noStrike" noProof="0">
                          <a:solidFill>
                            <a:srgbClr val="1B4528"/>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fr-FR" sz="1050" b="0" noProof="0">
                          <a:solidFill>
                            <a:schemeClr val="tx2"/>
                          </a:solidFill>
                        </a:rPr>
                        <a:t xml:space="preserve">Nombre total de salariés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1050" b="0" i="0" u="none" strike="noStrike" noProof="0">
                          <a:solidFill>
                            <a:srgbClr val="1B4528"/>
                          </a:solidFill>
                          <a:effectLst/>
                          <a:latin typeface="Inter"/>
                        </a:rPr>
                        <a:t>{{Total_out_of_countries}}</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Personnel : santé et sécurité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45500" y="1509220"/>
          <a:ext cx="4796551" cy="889036"/>
        </p:xfrm>
        <a:graphic>
          <a:graphicData uri="http://schemas.openxmlformats.org/drawingml/2006/table">
            <a:tbl>
              <a:tblPr firstRow="1">
                <a:tableStyleId>{2A488322-F2BA-4B5B-9748-0D474271808F}</a:tableStyleId>
              </a:tblPr>
              <a:tblGrid>
                <a:gridCol w="2656189">
                  <a:extLst>
                    <a:ext uri="{9D8B030D-6E8A-4147-A177-3AD203B41FA5}">
                      <a16:colId xmlns:a16="http://schemas.microsoft.com/office/drawing/2014/main" val="2698153288"/>
                    </a:ext>
                  </a:extLst>
                </a:gridCol>
                <a:gridCol w="2140363">
                  <a:extLst>
                    <a:ext uri="{9D8B030D-6E8A-4147-A177-3AD203B41FA5}">
                      <a16:colId xmlns:a16="http://schemas.microsoft.com/office/drawing/2014/main" val="2119413191"/>
                    </a:ext>
                  </a:extLst>
                </a:gridCol>
              </a:tblGrid>
              <a:tr h="2963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Accidents du travail comptabilisables </a:t>
                      </a:r>
                      <a:r>
                        <a:rPr lang="fr-FR" sz="1050" b="0" noProof="0">
                          <a:solidFill>
                            <a:schemeClr val="tx2"/>
                          </a:solidFill>
                        </a:rPr>
                        <a:t xml:space="preserve">(par. 41a)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Année</a:t>
                      </a:r>
                      <a:r>
                        <a:rPr lang="fr-FR"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6345">
                <a:tc>
                  <a:txBody>
                    <a:bodyPr/>
                    <a:lstStyle/>
                    <a:p>
                      <a:r>
                        <a:rPr lang="fr-FR" sz="1050" b="0" noProof="0">
                          <a:solidFill>
                            <a:schemeClr val="tx2"/>
                          </a:solidFill>
                        </a:rPr>
                        <a:t xml:space="preserve">Nombre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fr-FR" sz="1050" b="0" i="0" u="none" strike="noStrike" kern="1200" cap="none" spc="0" normalizeH="0" baseline="0" noProof="0">
                          <a:ln>
                            <a:noFill/>
                          </a:ln>
                          <a:solidFill>
                            <a:srgbClr val="1B4528"/>
                          </a:solidFill>
                          <a:effectLst/>
                          <a:uLnTx/>
                          <a:uFillTx/>
                          <a:latin typeface="Inter"/>
                          <a:ea typeface="+mn-ea"/>
                          <a:cs typeface="+mn-cs"/>
                        </a:rPr>
                        <a:t>{{</a:t>
                      </a:r>
                      <a:r>
                        <a:rPr lang="fr-FR" sz="1050" b="0" i="0" u="none" strike="noStrike" kern="1200" cap="none" spc="0" normalizeH="0" baseline="0" noProof="0">
                          <a:ln>
                            <a:noFill/>
                          </a:ln>
                          <a:solidFill>
                            <a:srgbClr val="1B4528"/>
                          </a:solidFill>
                          <a:effectLst/>
                          <a:uLnTx/>
                          <a:uFillTx/>
                          <a:latin typeface="Inter"/>
                        </a:rPr>
                        <a:t>indsat_antal_accidents</a:t>
                      </a:r>
                      <a:r>
                        <a:rPr lang="fr-FR" sz="1050" b="0" i="0" u="none" strike="noStrike" kern="1200" cap="none" spc="0" normalizeH="0" baseline="0" noProof="0">
                          <a:ln>
                            <a:noFill/>
                          </a:ln>
                          <a:solidFill>
                            <a:srgbClr val="1B4528"/>
                          </a:solidFill>
                          <a:effectLst/>
                          <a:uLnTx/>
                          <a:uFillTx/>
                          <a:latin typeface="Inter"/>
                          <a:ea typeface="+mn-ea"/>
                          <a:cs typeface="+mn-cs"/>
                        </a:rPr>
                        <a:t>}}</a:t>
                      </a:r>
                      <a:endParaRPr kumimoji="0" lang="fr-FR"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6345">
                <a:tc>
                  <a:txBody>
                    <a:bodyPr/>
                    <a:lstStyle/>
                    <a:p>
                      <a:r>
                        <a:rPr lang="fr-FR" sz="1050" b="0" noProof="0">
                          <a:solidFill>
                            <a:schemeClr val="tx2"/>
                          </a:solidFill>
                        </a:rPr>
                        <a:t xml:space="preserve">Taux</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fr-FR" sz="1050" b="0" i="0" u="none" strike="noStrike" kern="1200" cap="none" spc="0" normalizeH="0" baseline="0" noProof="0">
                          <a:ln>
                            <a:noFill/>
                          </a:ln>
                          <a:solidFill>
                            <a:srgbClr val="1B4528"/>
                          </a:solidFill>
                          <a:effectLst/>
                          <a:uLnTx/>
                          <a:uFillTx/>
                          <a:latin typeface="Inter"/>
                          <a:ea typeface="+mn-ea"/>
                          <a:cs typeface="+mn-cs"/>
                        </a:rPr>
                        <a:t>{{</a:t>
                      </a:r>
                      <a:r>
                        <a:rPr lang="fr-FR" sz="1050" b="0" i="0" u="none" strike="noStrike" kern="1200" cap="none" spc="0" normalizeH="0" baseline="0" noProof="0">
                          <a:ln>
                            <a:noFill/>
                          </a:ln>
                          <a:solidFill>
                            <a:srgbClr val="1B4528"/>
                          </a:solidFill>
                          <a:effectLst/>
                          <a:uLnTx/>
                          <a:uFillTx/>
                          <a:latin typeface="Inter"/>
                        </a:rPr>
                        <a:t>indsat_accidents_frequents</a:t>
                      </a:r>
                      <a:r>
                        <a:rPr lang="fr-FR" sz="1050" b="0" i="0" u="none" strike="noStrike" kern="1200" cap="none" spc="0" normalizeH="0" baseline="0" noProof="0">
                          <a:ln>
                            <a:noFill/>
                          </a:ln>
                          <a:solidFill>
                            <a:srgbClr val="1B4528"/>
                          </a:solidFill>
                          <a:effectLst/>
                          <a:uLnTx/>
                          <a:uFillTx/>
                          <a:latin typeface="Inter"/>
                          <a:ea typeface="+mn-ea"/>
                          <a:cs typeface="+mn-cs"/>
                        </a:rPr>
                        <a:t>}}</a:t>
                      </a:r>
                      <a:endParaRPr kumimoji="0" lang="fr-FR"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5440653" y="1509221"/>
          <a:ext cx="4796551" cy="873842"/>
        </p:xfrm>
        <a:graphic>
          <a:graphicData uri="http://schemas.openxmlformats.org/drawingml/2006/table">
            <a:tbl>
              <a:tblPr firstRow="1">
                <a:tableStyleId>{2A488322-F2BA-4B5B-9748-0D474271808F}</a:tableStyleId>
              </a:tblPr>
              <a:tblGrid>
                <a:gridCol w="3313422">
                  <a:extLst>
                    <a:ext uri="{9D8B030D-6E8A-4147-A177-3AD203B41FA5}">
                      <a16:colId xmlns:a16="http://schemas.microsoft.com/office/drawing/2014/main" val="2698153288"/>
                    </a:ext>
                  </a:extLst>
                </a:gridCol>
                <a:gridCol w="1483129">
                  <a:extLst>
                    <a:ext uri="{9D8B030D-6E8A-4147-A177-3AD203B41FA5}">
                      <a16:colId xmlns:a16="http://schemas.microsoft.com/office/drawing/2014/main" val="2119413191"/>
                    </a:ext>
                  </a:extLst>
                </a:gridCol>
              </a:tblGrid>
              <a:tr h="29128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Décès liés au travail </a:t>
                      </a:r>
                      <a:r>
                        <a:rPr lang="fr-FR" sz="1050" b="0" noProof="0">
                          <a:solidFill>
                            <a:schemeClr val="tx2"/>
                          </a:solidFill>
                        </a:rPr>
                        <a:t xml:space="preserve">(par. 41b)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Année</a:t>
                      </a:r>
                      <a:r>
                        <a:rPr lang="fr-FR"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1281">
                <a:tc>
                  <a:txBody>
                    <a:bodyPr/>
                    <a:lstStyle/>
                    <a:p>
                      <a:r>
                        <a:rPr lang="fr-FR" sz="1050" b="0" noProof="0">
                          <a:solidFill>
                            <a:schemeClr val="tx2"/>
                          </a:solidFill>
                        </a:rPr>
                        <a:t xml:space="preserve">Dus à un accident du travail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a:lnSpc>
                          <a:spcPct val="100000"/>
                        </a:lnSpc>
                        <a:spcBef>
                          <a:spcPts val="0"/>
                        </a:spcBef>
                        <a:spcAft>
                          <a:spcPts val="0"/>
                        </a:spcAft>
                        <a:buNone/>
                        <a:tabLst/>
                        <a:defRPr/>
                      </a:pPr>
                      <a:r>
                        <a:rPr lang="fr-FR" sz="1050" b="0" i="0" u="none" strike="noStrike" kern="1200" cap="none" spc="0" normalizeH="0" baseline="0" noProof="0">
                          <a:ln>
                            <a:noFill/>
                          </a:ln>
                          <a:solidFill>
                            <a:srgbClr val="1B4528"/>
                          </a:solidFill>
                          <a:effectLst/>
                          <a:uLnTx/>
                          <a:uFillTx/>
                          <a:latin typeface="Inter"/>
                          <a:ea typeface="+mn-ea"/>
                          <a:cs typeface="+mn-cs"/>
                        </a:rPr>
                        <a:t>{{</a:t>
                      </a:r>
                      <a:r>
                        <a:rPr lang="fr-FR" sz="1050" b="0" i="0" u="none" strike="noStrike" kern="1200" cap="none" spc="0" normalizeH="0" baseline="0" noProof="0">
                          <a:ln>
                            <a:noFill/>
                          </a:ln>
                          <a:solidFill>
                            <a:srgbClr val="1B4528"/>
                          </a:solidFill>
                          <a:effectLst/>
                          <a:uLnTx/>
                          <a:uFillTx/>
                          <a:latin typeface="Inter"/>
                        </a:rPr>
                        <a:t>deaths_by_accidents</a:t>
                      </a:r>
                      <a:r>
                        <a:rPr lang="fr-FR" sz="1050" b="0" i="0" u="none" strike="noStrike" kern="1200" cap="none" spc="0" normalizeH="0" baseline="0" noProof="0">
                          <a:ln>
                            <a:noFill/>
                          </a:ln>
                          <a:solidFill>
                            <a:srgbClr val="1B4528"/>
                          </a:solidFill>
                          <a:effectLst/>
                          <a:uLnTx/>
                          <a:uFillTx/>
                          <a:latin typeface="Inter"/>
                          <a:ea typeface="+mn-ea"/>
                          <a:cs typeface="+mn-cs"/>
                        </a:rPr>
                        <a:t>}}</a:t>
                      </a:r>
                      <a:endParaRPr kumimoji="0" lang="fr-FR"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1281">
                <a:tc>
                  <a:txBody>
                    <a:bodyPr/>
                    <a:lstStyle/>
                    <a:p>
                      <a:r>
                        <a:rPr lang="fr-FR" sz="1050" b="0" noProof="0">
                          <a:solidFill>
                            <a:schemeClr val="tx2"/>
                          </a:solidFill>
                        </a:rPr>
                        <a:t xml:space="preserve">Dus à un problème de santé lié au travail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fr-FR" sz="1050" b="0" i="0" u="none" strike="noStrike" kern="1200" cap="none" spc="0" normalizeH="0" baseline="0" noProof="0">
                          <a:ln>
                            <a:noFill/>
                          </a:ln>
                          <a:solidFill>
                            <a:srgbClr val="1B4528"/>
                          </a:solidFill>
                          <a:effectLst/>
                          <a:uLnTx/>
                          <a:uFillTx/>
                          <a:latin typeface="Inter"/>
                          <a:ea typeface="+mn-ea"/>
                          <a:cs typeface="+mn-cs"/>
                        </a:rPr>
                        <a:t>{{</a:t>
                      </a:r>
                      <a:r>
                        <a:rPr lang="fr-FR" sz="1050" b="0" i="0" u="none" strike="noStrike" kern="1200" cap="none" spc="0" normalizeH="0" baseline="0" noProof="0">
                          <a:ln>
                            <a:noFill/>
                          </a:ln>
                          <a:solidFill>
                            <a:srgbClr val="1B4528"/>
                          </a:solidFill>
                          <a:effectLst/>
                          <a:uLnTx/>
                          <a:uFillTx/>
                          <a:latin typeface="Inter"/>
                        </a:rPr>
                        <a:t>deaths_by_health</a:t>
                      </a:r>
                      <a:r>
                        <a:rPr lang="fr-FR" sz="1050" b="0" i="0" u="none" strike="noStrike" kern="1200" cap="none" spc="0" normalizeH="0" baseline="0" noProof="0">
                          <a:ln>
                            <a:noFill/>
                          </a:ln>
                          <a:solidFill>
                            <a:srgbClr val="1B4528"/>
                          </a:solidFill>
                          <a:effectLst/>
                          <a:uLnTx/>
                          <a:uFillTx/>
                          <a:latin typeface="Inter"/>
                          <a:ea typeface="+mn-ea"/>
                          <a:cs typeface="+mn-cs"/>
                        </a:rPr>
                        <a:t>}}</a:t>
                      </a:r>
                      <a:endParaRPr kumimoji="0" lang="fr-FR"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11</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br>
              <a:rPr lang="fr-FR" noProof="0"/>
            </a:br>
            <a:endParaRPr lang="fr-FR"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54796" y="873256"/>
            <a:ext cx="9791704" cy="728758"/>
          </a:xfrm>
          <a:prstGeom prst="rect">
            <a:avLst/>
          </a:prstGeom>
          <a:noFill/>
        </p:spPr>
        <p:txBody>
          <a:bodyPr wrap="square">
            <a:spAutoFit/>
          </a:bodyPr>
          <a:lstStyle/>
          <a:p>
            <a:pPr rtl="0">
              <a:buNone/>
            </a:pPr>
            <a:r>
              <a:rPr lang="fr-FR" sz="1050" b="0" i="0" u="none" strike="noStrike" noProof="0">
                <a:solidFill>
                  <a:schemeClr val="tx2"/>
                </a:solidFill>
                <a:effectLst/>
                <a:latin typeface="Inter"/>
              </a:rPr>
              <a:t xml:space="preserve">L’entreprise a communiqué des informations sur le nombre d’accidents du travail comptabilisables et de décès liés au travail selon les ventilations suivantes : nombre et taux. Elle précise en outre si les décès liés au travail sont dus à des accidents du travail ou à des problèmes de santé.</a:t>
            </a:r>
            <a:endParaRPr lang="fr-FR" sz="1050" b="0" noProof="0">
              <a:solidFill>
                <a:schemeClr val="tx2"/>
              </a:solidFill>
              <a:effectLst/>
              <a:latin typeface="Inter"/>
            </a:endParaRPr>
          </a:p>
          <a:p>
            <a:pPr>
              <a:buNone/>
            </a:pPr>
            <a:br>
              <a:rPr lang="fr-FR" sz="1050" noProof="0">
                <a:solidFill>
                  <a:schemeClr val="tx2"/>
                </a:solidFill>
                <a:latin typeface="Inter"/>
              </a:rPr>
            </a:br>
            <a:endParaRPr lang="fr-FR" sz="1050"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54796" y="2676156"/>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fr-FR" noProof="0"/>
              <a:t xml:space="preserve">Personnel : rémunération, négociation collective et formation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5449949" y="3922747"/>
          <a:ext cx="4796550" cy="767803"/>
        </p:xfrm>
        <a:graphic>
          <a:graphicData uri="http://schemas.openxmlformats.org/drawingml/2006/table">
            <a:tbl>
              <a:tblPr firstRow="1">
                <a:tableStyleId>{2A488322-F2BA-4B5B-9748-0D474271808F}</a:tableStyleId>
              </a:tblPr>
              <a:tblGrid>
                <a:gridCol w="3337539">
                  <a:extLst>
                    <a:ext uri="{9D8B030D-6E8A-4147-A177-3AD203B41FA5}">
                      <a16:colId xmlns:a16="http://schemas.microsoft.com/office/drawing/2014/main" val="2698153288"/>
                    </a:ext>
                  </a:extLst>
                </a:gridCol>
                <a:gridCol w="1459012">
                  <a:extLst>
                    <a:ext uri="{9D8B030D-6E8A-4147-A177-3AD203B41FA5}">
                      <a16:colId xmlns:a16="http://schemas.microsoft.com/office/drawing/2014/main" val="2119413191"/>
                    </a:ext>
                  </a:extLst>
                </a:gridCol>
              </a:tblGrid>
              <a:tr h="293941">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Écart de rémunération entre salariés masculins et féminins </a:t>
                      </a:r>
                      <a:r>
                        <a:rPr lang="fr-FR" sz="1050" b="0" noProof="0">
                          <a:solidFill>
                            <a:schemeClr val="tx2"/>
                          </a:solidFill>
                        </a:rPr>
                        <a:t xml:space="preserve">(par. 42b)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Année</a:t>
                      </a:r>
                      <a:r>
                        <a:rPr lang="fr-FR" sz="1050" b="1" noProof="0">
                          <a:solidFill>
                            <a:srgbClr val="1B4528"/>
                          </a:solidFill>
                          <a:latin typeface="Calibri" panose="020F0502020204030204" pitchFamily="34" charset="0"/>
                          <a:cs typeface="Calibri" panose="020F0502020204030204" pitchFamily="34" charset="0"/>
                        </a:rPr>
                        <a:t> </a:t>
                      </a:r>
                      <a:r>
                        <a:rPr lang="fr-FR" sz="1050" b="1" noProof="0">
                          <a:solidFill>
                            <a:srgbClr val="1B4528"/>
                          </a:solidFill>
                        </a:rPr>
                        <a:t>{{</a:t>
                      </a:r>
                      <a:r>
                        <a:rPr lang="fr-FR" sz="1050" b="1" noProof="0">
                          <a:solidFill>
                            <a:srgbClr val="1B4528"/>
                          </a:solidFill>
                        </a:rPr>
                        <a:t>insert_year</a:t>
                      </a:r>
                      <a:r>
                        <a:rPr lang="fr-FR"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73862">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fr-FR" sz="1050" b="0" noProof="0">
                          <a:solidFill>
                            <a:srgbClr val="1B4528"/>
                          </a:solidFill>
                        </a:rPr>
                        <a:t>{{</a:t>
                      </a:r>
                      <a:r>
                        <a:rPr lang="fr-FR" sz="1050" b="0" noProof="0">
                          <a:solidFill>
                            <a:srgbClr val="1B4528"/>
                          </a:solidFill>
                        </a:rPr>
                        <a:t>indsat_procentvise_lonforskel</a:t>
                      </a:r>
                      <a:r>
                        <a:rPr lang="fr-FR" sz="1050" b="0" noProof="0">
                          <a:solidFill>
                            <a:srgbClr val="1B4528"/>
                          </a:solidFill>
                        </a:rPr>
                        <a:t>}}</a:t>
                      </a:r>
                    </a:p>
                  </a:txBody>
                  <a:tcPr marL="31571" marR="31571"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45496" y="3922749"/>
          <a:ext cx="4800267" cy="767803"/>
        </p:xfrm>
        <a:graphic>
          <a:graphicData uri="http://schemas.openxmlformats.org/drawingml/2006/table">
            <a:tbl>
              <a:tblPr firstRow="1">
                <a:tableStyleId>{2A488322-F2BA-4B5B-9748-0D474271808F}</a:tableStyleId>
              </a:tblPr>
              <a:tblGrid>
                <a:gridCol w="2633550">
                  <a:extLst>
                    <a:ext uri="{9D8B030D-6E8A-4147-A177-3AD203B41FA5}">
                      <a16:colId xmlns:a16="http://schemas.microsoft.com/office/drawing/2014/main" val="160727125"/>
                    </a:ext>
                  </a:extLst>
                </a:gridCol>
                <a:gridCol w="1111137">
                  <a:extLst>
                    <a:ext uri="{9D8B030D-6E8A-4147-A177-3AD203B41FA5}">
                      <a16:colId xmlns:a16="http://schemas.microsoft.com/office/drawing/2014/main" val="1767985329"/>
                    </a:ext>
                  </a:extLst>
                </a:gridCol>
                <a:gridCol w="1055580">
                  <a:extLst>
                    <a:ext uri="{9D8B030D-6E8A-4147-A177-3AD203B41FA5}">
                      <a16:colId xmlns:a16="http://schemas.microsoft.com/office/drawing/2014/main" val="1397164534"/>
                    </a:ext>
                  </a:extLst>
                </a:gridCol>
              </a:tblGrid>
              <a:tr h="181087">
                <a:tc>
                  <a:txBody>
                    <a:bodyPr/>
                    <a:lstStyle/>
                    <a:p>
                      <a:r>
                        <a:rPr lang="fr-FR" sz="1050" b="1" noProof="0">
                          <a:solidFill>
                            <a:schemeClr val="tx2"/>
                          </a:solidFill>
                        </a:rPr>
                        <a:t xml:space="preserve">Informations sur le salaire minimal </a:t>
                      </a:r>
                      <a:r>
                        <a:rPr lang="fr-FR" sz="1050" b="0" noProof="0">
                          <a:solidFill>
                            <a:schemeClr val="tx2"/>
                          </a:solidFill>
                        </a:rPr>
                        <a:t>(42a)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1050" b="1" noProof="0">
                          <a:solidFill>
                            <a:schemeClr val="tx2"/>
                          </a:solidFill>
                        </a:rPr>
                        <a:t xml:space="preserve">Oui</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1050" b="1" noProof="0">
                          <a:solidFill>
                            <a:schemeClr val="tx2"/>
                          </a:solidFill>
                        </a:rPr>
                        <a:t xml:space="preserve">Non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440951">
                <a:tc>
                  <a:txBody>
                    <a:bodyPr/>
                    <a:lstStyle/>
                    <a:p>
                      <a:r>
                        <a:rPr lang="fr-FR" sz="1050" b="0" noProof="0">
                          <a:solidFill>
                            <a:schemeClr val="tx2"/>
                          </a:solidFill>
                        </a:rPr>
                        <a:t xml:space="preserve">Dans l’entreprise, tous les salariés perçoivent au moins le salaire minimal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minumum_wage_yes</a:t>
                      </a:r>
                      <a:r>
                        <a:rPr lang="fr-FR" sz="1050" b="0" i="0" u="none" strike="noStrike" noProof="0">
                          <a:solidFill>
                            <a:srgbClr val="1B4528"/>
                          </a:solidFill>
                          <a:effectLst/>
                          <a:latin typeface="Inter"/>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minimum_wage_no</a:t>
                      </a:r>
                      <a:r>
                        <a:rPr lang="fr-FR" sz="1050" b="0" i="0" u="none" strike="noStrike" noProof="0">
                          <a:solidFill>
                            <a:srgbClr val="1B4528"/>
                          </a:solidFill>
                          <a:effectLst/>
                          <a:latin typeface="Inter"/>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45498" y="4814802"/>
          <a:ext cx="4796552" cy="917805"/>
        </p:xfrm>
        <a:graphic>
          <a:graphicData uri="http://schemas.openxmlformats.org/drawingml/2006/table">
            <a:tbl>
              <a:tblPr firstRow="1">
                <a:tableStyleId>{2A488322-F2BA-4B5B-9748-0D474271808F}</a:tableStyleId>
              </a:tblPr>
              <a:tblGrid>
                <a:gridCol w="2650727">
                  <a:extLst>
                    <a:ext uri="{9D8B030D-6E8A-4147-A177-3AD203B41FA5}">
                      <a16:colId xmlns:a16="http://schemas.microsoft.com/office/drawing/2014/main" val="81046444"/>
                    </a:ext>
                  </a:extLst>
                </a:gridCol>
                <a:gridCol w="2145825">
                  <a:extLst>
                    <a:ext uri="{9D8B030D-6E8A-4147-A177-3AD203B41FA5}">
                      <a16:colId xmlns:a16="http://schemas.microsoft.com/office/drawing/2014/main" val="2119413191"/>
                    </a:ext>
                  </a:extLst>
                </a:gridCol>
              </a:tblGrid>
              <a:tr h="4780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Convention collective </a:t>
                      </a:r>
                      <a:r>
                        <a:rPr lang="fr-FR" sz="1050" b="0" noProof="0">
                          <a:solidFill>
                            <a:schemeClr val="tx2"/>
                          </a:solidFill>
                        </a:rPr>
                        <a:t xml:space="preserve">(par. 42c)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Année</a:t>
                      </a:r>
                      <a:r>
                        <a:rPr lang="fr-FR" sz="1050" b="1" noProof="0">
                          <a:solidFill>
                            <a:srgbClr val="1B4528"/>
                          </a:solidFill>
                          <a:latin typeface="Calibri" panose="020F0502020204030204" pitchFamily="34" charset="0"/>
                          <a:cs typeface="Calibri" panose="020F0502020204030204" pitchFamily="34" charset="0"/>
                        </a:rPr>
                        <a:t> {{</a:t>
                      </a:r>
                      <a:r>
                        <a:rPr lang="fr-FR" sz="1050" b="1" noProof="0">
                          <a:solidFill>
                            <a:srgbClr val="1B4528"/>
                          </a:solidFill>
                          <a:latin typeface="Calibri" panose="020F0502020204030204" pitchFamily="34" charset="0"/>
                          <a:cs typeface="Calibri" panose="020F0502020204030204" pitchFamily="34" charset="0"/>
                        </a:rPr>
                        <a:t>insert_year</a:t>
                      </a:r>
                      <a:r>
                        <a:rPr lang="fr-FR" sz="1050" b="1" noProof="0">
                          <a:solidFill>
                            <a:srgbClr val="1B4528"/>
                          </a:solidFill>
                          <a:latin typeface="Calibri" panose="020F0502020204030204" pitchFamily="34" charset="0"/>
                          <a:cs typeface="Calibri" panose="020F0502020204030204" pitchFamily="34" charset="0"/>
                        </a:rPr>
                        <a:t>}}</a:t>
                      </a:r>
                      <a:endParaRPr lang="fr-FR" sz="1050" b="1"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397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0" noProof="0">
                          <a:solidFill>
                            <a:schemeClr val="tx2"/>
                          </a:solidFill>
                        </a:rPr>
                        <a:t xml:space="preserve">Pourcentage de salariés couverts par une convention collective</a:t>
                      </a:r>
                      <a:endParaRPr kumimoji="0" lang="fr-FR" sz="1050" b="0" i="0" u="none" strike="noStrike" kern="1200" cap="none" spc="0" normalizeH="0" baseline="0" noProof="0">
                        <a:ln>
                          <a:noFill/>
                        </a:ln>
                        <a:solidFill>
                          <a:srgbClr val="1B4528"/>
                        </a:solidFill>
                        <a:effectLst/>
                        <a:uLnTx/>
                        <a:uFillTx/>
                        <a:latin typeface="IBM Plex Sans"/>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FR" sz="1050" b="0" i="0" u="none" strike="noStrike" kern="1200" cap="none" spc="0" normalizeH="0" baseline="0" noProof="0">
                          <a:ln>
                            <a:noFill/>
                          </a:ln>
                          <a:solidFill>
                            <a:srgbClr val="1B4528"/>
                          </a:solidFill>
                          <a:effectLst/>
                          <a:uLnTx/>
                          <a:uFillTx/>
                          <a:latin typeface="+mn-lt"/>
                          <a:ea typeface="+mn-ea"/>
                          <a:cs typeface="+mn-cs"/>
                        </a:rPr>
                        <a:t>{{</a:t>
                      </a:r>
                      <a:r>
                        <a:rPr kumimoji="0" lang="fr-FR" sz="1050" b="0" i="0" u="none" strike="noStrike" kern="1200" cap="none" spc="0" normalizeH="0" baseline="0" noProof="0">
                          <a:ln>
                            <a:noFill/>
                          </a:ln>
                          <a:solidFill>
                            <a:srgbClr val="1B4528"/>
                          </a:solidFill>
                          <a:effectLst/>
                          <a:uLnTx/>
                          <a:uFillTx/>
                          <a:latin typeface="+mn-lt"/>
                          <a:ea typeface="+mn-ea"/>
                          <a:cs typeface="+mn-cs"/>
                        </a:rPr>
                        <a:t>indsat_procentvis_ansatte</a:t>
                      </a:r>
                      <a:r>
                        <a:rPr kumimoji="0" lang="fr-FR" sz="1050" b="0" i="0" u="none" strike="noStrike" kern="1200" cap="none" spc="0" normalizeH="0" baseline="0" noProof="0">
                          <a:ln>
                            <a:noFill/>
                          </a:ln>
                          <a:solidFill>
                            <a:srgbClr val="1B4528"/>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5448102" y="4814801"/>
          <a:ext cx="4796550" cy="915442"/>
        </p:xfrm>
        <a:graphic>
          <a:graphicData uri="http://schemas.openxmlformats.org/drawingml/2006/table">
            <a:tbl>
              <a:tblPr firstRow="1">
                <a:tableStyleId>{2A488322-F2BA-4B5B-9748-0D474271808F}</a:tableStyleId>
              </a:tblPr>
              <a:tblGrid>
                <a:gridCol w="3339386">
                  <a:extLst>
                    <a:ext uri="{9D8B030D-6E8A-4147-A177-3AD203B41FA5}">
                      <a16:colId xmlns:a16="http://schemas.microsoft.com/office/drawing/2014/main" val="2698153288"/>
                    </a:ext>
                  </a:extLst>
                </a:gridCol>
                <a:gridCol w="1457165">
                  <a:extLst>
                    <a:ext uri="{9D8B030D-6E8A-4147-A177-3AD203B41FA5}">
                      <a16:colId xmlns:a16="http://schemas.microsoft.com/office/drawing/2014/main" val="2119413191"/>
                    </a:ext>
                  </a:extLst>
                </a:gridCol>
              </a:tblGrid>
              <a:tr h="376946">
                <a:tc>
                  <a:txBody>
                    <a:bodyPr/>
                    <a:lstStyle/>
                    <a:p>
                      <a:r>
                        <a:rPr lang="fr-FR" sz="1050" b="1" noProof="0">
                          <a:solidFill>
                            <a:schemeClr val="tx2"/>
                          </a:solidFill>
                        </a:rPr>
                        <a:t xml:space="preserve">Heures de formation moyennes par salarié </a:t>
                      </a:r>
                      <a:r>
                        <a:rPr lang="fr-FR" sz="1050" b="0" noProof="0">
                          <a:solidFill>
                            <a:schemeClr val="tx2"/>
                          </a:solidFill>
                        </a:rPr>
                        <a:t xml:space="preserve">(par. 42d)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Année</a:t>
                      </a:r>
                      <a:r>
                        <a:rPr lang="fr-FR"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38495">
                <a:tc>
                  <a:txBody>
                    <a:bodyPr/>
                    <a:lstStyle/>
                    <a:p>
                      <a:r>
                        <a:rPr lang="fr-FR" sz="1050" b="0" noProof="0">
                          <a:solidFill>
                            <a:schemeClr val="tx2"/>
                          </a:solidFill>
                        </a:rPr>
                        <a:t xml:space="preserve">Heure(s) par salarié</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1050" b="0" i="0" u="none" strike="noStrike" noProof="0">
                          <a:solidFill>
                            <a:srgbClr val="1B4528"/>
                          </a:solidFill>
                          <a:effectLst/>
                          <a:latin typeface="Inter"/>
                        </a:rPr>
                        <a:t>{{gennemsnitstimer}}</a:t>
                      </a:r>
                      <a:endParaRPr lang="fr-FR" sz="1050" b="0" noProof="0">
                        <a:effectLst/>
                      </a:endParaRPr>
                    </a:p>
                  </a:txBody>
                  <a:tcPr marL="16706" marR="16706"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65933" y="3022746"/>
            <a:ext cx="9791704" cy="890704"/>
          </a:xfrm>
          <a:prstGeom prst="rect">
            <a:avLst/>
          </a:prstGeom>
          <a:noFill/>
        </p:spPr>
        <p:txBody>
          <a:bodyPr wrap="square">
            <a:spAutoFit/>
          </a:bodyPr>
          <a:lstStyle/>
          <a:p>
            <a:pPr rtl="0">
              <a:buNone/>
            </a:pPr>
            <a:r>
              <a:rPr lang="fr-FR" sz="1050" b="0" i="0" u="none" strike="noStrike" noProof="0">
                <a:solidFill>
                  <a:schemeClr val="tx2"/>
                </a:solidFill>
                <a:effectLst/>
                <a:latin typeface="Inter"/>
              </a:rPr>
              <a:t xml:space="preserve">L’entreprise a communiqué des informations sur le salaire minimal ainsi que le pourcentage de salariés couverts par des conventions collectives et le nombre moyen d’heures de formation par salarié et par an, ventilé par genre. Si l’entreprise est déjà tenue, en vertu de la législation de l’UE 8 ou d’autres dispositions nationales, de déclarer l’écart de rémunération en pourcentage entre ses salariés féminins et masculins, elle l’indique.</a:t>
            </a:r>
          </a:p>
          <a:p>
            <a:pPr>
              <a:buNone/>
            </a:pPr>
            <a:br>
              <a:rPr lang="fr-FR" sz="1050" noProof="0">
                <a:solidFill>
                  <a:schemeClr val="tx2"/>
                </a:solidFill>
                <a:latin typeface="Inter"/>
              </a:rPr>
            </a:br>
            <a:endParaRPr lang="fr-FR" sz="1050"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Conduite des affaires : condamnations et amendes pour corruption &amp; pots-de-vin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45498" y="1706309"/>
          <a:ext cx="9791704" cy="536705"/>
        </p:xfrm>
        <a:graphic>
          <a:graphicData uri="http://schemas.openxmlformats.org/drawingml/2006/table">
            <a:tbl>
              <a:tblPr firstRow="1">
                <a:tableStyleId>{2A488322-F2BA-4B5B-9748-0D474271808F}</a:tableStyleId>
              </a:tblPr>
              <a:tblGrid>
                <a:gridCol w="3263901">
                  <a:extLst>
                    <a:ext uri="{9D8B030D-6E8A-4147-A177-3AD203B41FA5}">
                      <a16:colId xmlns:a16="http://schemas.microsoft.com/office/drawing/2014/main" val="2698153288"/>
                    </a:ext>
                  </a:extLst>
                </a:gridCol>
                <a:gridCol w="3263901">
                  <a:extLst>
                    <a:ext uri="{9D8B030D-6E8A-4147-A177-3AD203B41FA5}">
                      <a16:colId xmlns:a16="http://schemas.microsoft.com/office/drawing/2014/main" val="2119413191"/>
                    </a:ext>
                  </a:extLst>
                </a:gridCol>
                <a:gridCol w="3263901">
                  <a:extLst>
                    <a:ext uri="{9D8B030D-6E8A-4147-A177-3AD203B41FA5}">
                      <a16:colId xmlns:a16="http://schemas.microsoft.com/office/drawing/2014/main" val="1502960985"/>
                    </a:ext>
                  </a:extLst>
                </a:gridCol>
              </a:tblGrid>
              <a:tr h="268352">
                <a:tc rowSpan="2">
                  <a:txBody>
                    <a:bodyPr/>
                    <a:lstStyle/>
                    <a:p>
                      <a:r>
                        <a:rPr lang="fr-FR" sz="1050" b="1" noProof="0">
                          <a:solidFill>
                            <a:schemeClr val="tx2"/>
                          </a:solidFill>
                        </a:rPr>
                        <a:t xml:space="preserve">Corruption et pots-de-vin </a:t>
                      </a:r>
                      <a:r>
                        <a:rPr lang="fr-FR" sz="1050" b="0" noProof="0">
                          <a:solidFill>
                            <a:schemeClr val="tx2"/>
                          </a:solidFill>
                        </a:rPr>
                        <a:t xml:space="preserve">(par. 43)</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fr-FR" sz="1050" b="1" noProof="0">
                          <a:solidFill>
                            <a:schemeClr val="tx2"/>
                          </a:solidFill>
                        </a:rPr>
                        <a:t xml:space="preserve">Nombre de condamnations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1050" b="1" noProof="0">
                          <a:solidFill>
                            <a:schemeClr val="tx2"/>
                          </a:solidFill>
                        </a:rPr>
                        <a:t xml:space="preserve">Montant total des amendes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68352">
                <a:tc vMerge="1">
                  <a:txBody>
                    <a:bodyPr/>
                    <a:lstStyle/>
                    <a:p>
                      <a:endParaRPr lang="en-GB" sz="775" b="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fr-FR" sz="1050" b="0" i="0" u="none" strike="noStrike" noProof="0">
                          <a:solidFill>
                            <a:srgbClr val="1B4528"/>
                          </a:solidFill>
                          <a:effectLst/>
                          <a:latin typeface="Inter"/>
                        </a:rPr>
                        <a:t>{{domme}}</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fr-FR" sz="1050" b="0" i="0" u="none" strike="noStrike" noProof="0">
                          <a:solidFill>
                            <a:srgbClr val="1B4528"/>
                          </a:solidFill>
                          <a:effectLst/>
                          <a:latin typeface="Inter"/>
                        </a:rPr>
                        <a:t>{{</a:t>
                      </a:r>
                      <a:r>
                        <a:rPr lang="fr-FR" sz="1050" b="0" i="0" u="none" strike="noStrike" noProof="0">
                          <a:solidFill>
                            <a:srgbClr val="1B4528"/>
                          </a:solidFill>
                          <a:effectLst/>
                          <a:latin typeface="Inter"/>
                        </a:rPr>
                        <a:t>samlet_bodestorrelse</a:t>
                      </a:r>
                      <a:r>
                        <a:rPr lang="fr-FR" sz="1050" b="0" i="0" u="none" strike="noStrike" noProof="0">
                          <a:solidFill>
                            <a:srgbClr val="1B4528"/>
                          </a:solidFill>
                          <a:effectLst/>
                          <a:latin typeface="Inter"/>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12</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endParaRPr lang="fr-FR"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54796" y="891000"/>
            <a:ext cx="9869667" cy="890704"/>
          </a:xfrm>
          <a:prstGeom prst="rect">
            <a:avLst/>
          </a:prstGeom>
          <a:noFill/>
        </p:spPr>
        <p:txBody>
          <a:bodyPr wrap="square">
            <a:spAutoFit/>
          </a:bodyPr>
          <a:lstStyle/>
          <a:p>
            <a:pPr rtl="0">
              <a:buNone/>
            </a:pPr>
            <a:r>
              <a:rPr lang="fr-FR" sz="1050" b="0" i="0" u="none" strike="noStrike" noProof="0">
                <a:solidFill>
                  <a:schemeClr val="tx2"/>
                </a:solidFill>
                <a:effectLst/>
                <a:latin typeface="Inter"/>
              </a:rPr>
              <a:t xml:space="preserve">L’entreprise a indiqué les infractions à la législation sur la lutte contre la corruption au cours de la période de référence. Si l’entreprise a fait l’objet de condamnations ou d’amendes pour de telles infractions, les informations suivantes ont été publiées : le nombre de condamnations et le montant total des amendes infligées. Ces informations concernent l’éthique des affaires et la durabilité de l’entreprise, en particulier la gestion de la corruption, et sont indiquées ci-dessous.</a:t>
            </a:r>
            <a:r>
              <a:rPr lang="fr-FR" sz="1050" b="0" i="0" u="none" strike="noStrike" noProof="0">
                <a:solidFill>
                  <a:schemeClr val="tx2"/>
                </a:solidFill>
                <a:effectLst/>
                <a:latin typeface="Inter"/>
              </a:rPr>
              <a:t xml:space="preserve"/>
            </a:r>
            <a:r>
              <a:rPr lang="fr-FR" sz="1050" b="0" i="0" u="none" strike="noStrike" noProof="0">
                <a:solidFill>
                  <a:schemeClr val="tx2"/>
                </a:solidFill>
                <a:effectLst/>
                <a:latin typeface="Inter"/>
              </a:rPr>
              <a:t xml:space="preserve"/>
            </a:r>
            <a:endParaRPr lang="fr-FR" sz="1050" b="0" noProof="0">
              <a:solidFill>
                <a:schemeClr val="tx2"/>
              </a:solidFill>
              <a:effectLst/>
              <a:latin typeface="Inter"/>
            </a:endParaRPr>
          </a:p>
          <a:p>
            <a:pPr>
              <a:buNone/>
            </a:pPr>
            <a:br>
              <a:rPr lang="fr-FR" sz="1050" noProof="0">
                <a:solidFill>
                  <a:schemeClr val="tx2"/>
                </a:solidFill>
                <a:latin typeface="Inter"/>
              </a:rPr>
            </a:br>
            <a:endParaRPr lang="fr-FR" sz="1050"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3860535" y="3900259"/>
            <a:ext cx="3025224" cy="907065"/>
          </a:xfrm>
          <a:noFill/>
        </p:spPr>
        <p:txBody>
          <a:bodyPr>
            <a:normAutofit/>
          </a:bodyPr>
          <a:lstStyle/>
          <a:p>
            <a:pPr algn="ctr"/>
            <a:r>
              <a:rPr lang="fr-FR" sz="1575" b="1" noProof="0">
                <a:solidFill>
                  <a:srgbClr val="FFFFFF"/>
                </a:solidFill>
                <a:latin typeface="IBM Plex Sans" panose="020B0503050203000203" pitchFamily="34" charset="0"/>
              </a:rPr>
              <a:t>{{</a:t>
            </a:r>
            <a:r>
              <a:rPr lang="fr-FR" sz="1575" b="1" noProof="0">
                <a:solidFill>
                  <a:srgbClr val="FFFFFF"/>
                </a:solidFill>
                <a:latin typeface="IBM Plex Sans" panose="020B0503050203000203" pitchFamily="34" charset="0"/>
              </a:rPr>
              <a:t>company_name</a:t>
            </a:r>
            <a:r>
              <a:rPr lang="fr-FR" sz="1575" b="1" noProof="0">
                <a:solidFill>
                  <a:srgbClr val="FFFFFF"/>
                </a:solidFill>
                <a:latin typeface="IBM Plex Sans" panose="020B0503050203000203" pitchFamily="34" charset="0"/>
              </a:rPr>
              <a:t>}}</a:t>
            </a:r>
          </a:p>
          <a:p>
            <a:pPr algn="ctr"/>
            <a:r>
              <a:rPr lang="fr-FR" sz="1575" b="1" noProof="0">
                <a:solidFill>
                  <a:srgbClr val="FFFFFF"/>
                </a:solidFill>
                <a:latin typeface="IBM Plex Sans" panose="020B0503050203000203" pitchFamily="34" charset="0"/>
              </a:rPr>
              <a:t>{{</a:t>
            </a:r>
            <a:r>
              <a:rPr lang="fr-FR" sz="1575" b="1" noProof="0">
                <a:solidFill>
                  <a:srgbClr val="FFFFFF"/>
                </a:solidFill>
                <a:latin typeface="IBM Plex Sans" panose="020B0503050203000203" pitchFamily="34" charset="0"/>
              </a:rPr>
              <a:t>insert_year</a:t>
            </a:r>
            <a:r>
              <a:rPr lang="fr-FR" sz="1575" b="1" noProof="0">
                <a:solidFill>
                  <a:srgbClr val="FFFFFF"/>
                </a:solidFill>
                <a:latin typeface="IBM Plex Sans" panose="020B0503050203000203" pitchFamily="34" charset="0"/>
              </a:rPr>
              <a:t>}}</a:t>
            </a:r>
            <a:br>
              <a:rPr lang="fr-FR" sz="1575" b="1" noProof="0">
                <a:solidFill>
                  <a:srgbClr val="FFFFFF"/>
                </a:solidFill>
                <a:latin typeface="IBM Plex Sans" panose="020B0503050203000203" pitchFamily="34" charset="0"/>
              </a:rPr>
            </a:br>
            <a:endParaRPr lang="fr-FR" sz="15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8050571" y="7202406"/>
            <a:ext cx="2405700" cy="134955"/>
          </a:xfrm>
        </p:spPr>
        <p:txBody>
          <a:bodyPr/>
          <a:lstStyle/>
          <a:p>
            <a:fld id="{5A0D23CF-C5A3-5445-819D-C647D180BB4B}" type="slidenum">
              <a:rPr lang="fr-FR" noProof="0" smtClean="0"/>
              <a:pPr/>
              <a:t>25</a:t>
            </a:fld>
            <a:endParaRPr lang="fr-FR"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25</Slides>
  <Notes>21</Notes>
  <HiddenSlides>0</HiddenSlides>
  <ScaleCrop>false</ScaleCrop>
  <HeadingPairs>
    <vt:vector size="4" baseType="variant">
      <vt:variant>
        <vt:lpstr>Tema</vt:lpstr>
      </vt:variant>
      <vt:variant>
        <vt:i4>1</vt:i4>
      </vt:variant>
      <vt:variant>
        <vt:lpstr>Slidetitler</vt:lpstr>
      </vt:variant>
      <vt:variant>
        <vt:i4>25</vt:i4>
      </vt:variant>
    </vt:vector>
  </HeadingPairs>
  <TitlesOfParts>
    <vt:vector size="26" baseType="lpstr">
      <vt:lpstr>Tema ESG skabelon 2023</vt:lpstr>
      <vt:lpstr>OPGØRELSE {{insert_year}}</vt:lpstr>
      <vt:lpstr>ESG opgørelse  </vt:lpstr>
      <vt:lpstr>Grundlag for udarbejdelse (B1) </vt:lpstr>
      <vt:lpstr>Grundlag for udarbejdelse (B1) - fortsat</vt:lpstr>
      <vt:lpstr>Indsatser, politikker og fremtidige initiativer for omstilling til en mere bæredygtig økonomi (B2)</vt:lpstr>
      <vt:lpstr>Energiforbrug (B3)</vt:lpstr>
      <vt:lpstr>Forurening af luft, vand og jord (B4)</vt:lpstr>
      <vt:lpstr>Vand (B6)</vt:lpstr>
      <vt:lpstr>Ressourceforbrug, cirkulær økonomi og affaldshåndtering (B7) – fortsat</vt:lpstr>
      <vt:lpstr>Egen arbejdsstyrke: Generelle karakteristika (B8) </vt:lpstr>
      <vt:lpstr>Egen arbejdsstyrke: Sundhed og sikkerhed (B9)</vt:lpstr>
      <vt:lpstr>Virksomhedsadfærd: Antal domme og bøder i relation til korruption &amp; bestikkelse (B11) </vt:lpstr>
      <vt:lpstr>PowerPoint-præsentation</vt:lpstr>
      <vt:lpstr>Strategi: Forretningsmodel og bæredygtighedsrelaterede initiativer (C1)</vt:lpstr>
      <vt:lpstr>Indsatser, politikker og fremtidige initiativer for omstilling til en mere bæredygtig økonomi (C2)</vt:lpstr>
      <vt:lpstr>CO₂e-udledning under B3 i Basismodulet</vt:lpstr>
      <vt:lpstr>Klimaomstilling (C3)</vt:lpstr>
      <vt:lpstr>Klimarisici (C4)</vt:lpstr>
      <vt:lpstr>Klimarisici (C4) - fortsat</vt:lpstr>
      <vt:lpstr>Supplerende (generelle) oplysninger om arbejdsstyrken (C5)</vt:lpstr>
      <vt:lpstr>Menneskerettighedspolitikker og -processer (C6) - Egen arbejdsstyrke</vt:lpstr>
      <vt:lpstr>Alvorlige negative menneskerettighedshændelser (C7) – Egen arbejdsstyrke</vt:lpstr>
      <vt:lpstr>Alvorlige negative menneskerettighedshændelser (C7) – I værdikæden</vt:lpstr>
      <vt:lpstr>Indtægter fra bestemte aktiviteter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27</cp:revision>
  <dcterms:created xsi:type="dcterms:W3CDTF">2025-02-28T18:51:17Z</dcterms:created>
  <dcterms:modified xsi:type="dcterms:W3CDTF">2026-08-06T18:34:12Z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