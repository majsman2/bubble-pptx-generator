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90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57" r:id="rId30"/>
    <p:sldId id="307" r:id="rId13"/>
    <p:sldId id="272" r:id="rId23"/>
  </p:sldIdLst>
  <p:sldSz cx="7559675" cy="10691813"/>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26"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5" Type="http://schemas.openxmlformats.org/officeDocument/2006/relationships/presProps" Target="presProps.xml"/><Relationship Id="rId2" Type="http://schemas.openxmlformats.org/officeDocument/2006/relationships/customXml" Target="../customXml/item2.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27" Type="http://schemas.openxmlformats.org/officeDocument/2006/relationships/theme" Target="theme/theme1.xml"/><Relationship Id="rId30" Type="http://schemas.openxmlformats.org/officeDocument/2006/relationships/slide" Target="slides/slide9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el-GR"/>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el-GR" smtClean="0"/>
              <a:pPr/>
              <a:t>12/08/2026</a:t>
            </a:fld>
            <a:endParaRPr lang="el-GR"/>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Click to edit Master text styles</a:t>
            </a:r>
          </a:p>
          <a:p>
            <a:pPr lvl="1"/>
            <a:r>
              <a:rPr lang="el-GR"/>
              <a:t xml:space="preserve">Δεύτερο επίπεδο</a:t>
            </a:r>
          </a:p>
          <a:p>
            <a:pPr lvl="2"/>
            <a:r>
              <a:rPr lang="el-GR"/>
              <a:t xml:space="preserve">Τρίτο επίπεδο</a:t>
            </a:r>
          </a:p>
          <a:p>
            <a:pPr lvl="3"/>
            <a:r>
              <a:rPr lang="el-GR"/>
              <a:t xml:space="preserve">Τέταρτο επίπεδο</a:t>
            </a:r>
          </a:p>
          <a:p>
            <a:pPr lvl="4"/>
            <a:r>
              <a:rPr lang="el-GR"/>
              <a:t xml:space="preserve">Πέμπτο επίπεδο</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el-GR"/>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el-GR" smtClean="0"/>
              <a:pPr/>
              <a:t>‹nr.›</a:t>
            </a:fld>
            <a:endParaRPr lang="el-GR"/>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a:t>
            </a:fld>
            <a:endParaRPr lang="el-GR"/>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2</a:t>
            </a:fld>
            <a:endParaRPr lang="el-GR"/>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3</a:t>
            </a:fld>
            <a:endParaRPr lang="el-GR"/>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{{documents_B2}}</a:t>
            </a:r>
          </a:p>
          <a:p>
            <a:r>
              <a:rPr lang="el-GR" sz="1200" b="0" i="0" u="none" strike="noStrike" kern="1200">
                <a:solidFill>
                  <a:schemeClr val="tx1"/>
                </a:solidFill>
                <a:effectLst/>
                <a:latin typeface="IBM Plex Sans" panose="020B0503050203000203" pitchFamily="34" charset="0"/>
                <a:ea typeface="+mn-ea"/>
                <a:cs typeface="+mn-cs"/>
              </a:rPr>
              <a:t xml:space="preserve">Προστέθηκε: στήλη για παρακολούθηση</a:t>
            </a:r>
            <a:r>
              <a:rPr lang="el-GR" sz="1200" b="0" i="0" u="none" strike="noStrike" kern="1200">
                <a:solidFill>
                  <a:schemeClr val="tx1"/>
                </a:solidFill>
                <a:effectLst/>
                <a:latin typeface="IBM Plex Sans" panose="020B0503050203000203" pitchFamily="34" charset="0"/>
                <a:ea typeface="+mn-ea"/>
                <a:cs typeface="+mn-cs"/>
              </a:rPr>
              <a:t xml:space="preserve"/>
            </a:r>
            <a:r>
              <a:rPr lang="el-GR" sz="1200" b="0" i="0" u="none" strike="noStrike" kern="1200">
                <a:solidFill>
                  <a:schemeClr val="tx1"/>
                </a:solidFill>
                <a:effectLst/>
                <a:latin typeface="IBM Plex Sans" panose="020B0503050203000203" pitchFamily="34" charset="0"/>
                <a:ea typeface="+mn-ea"/>
                <a:cs typeface="+mn-cs"/>
              </a:rPr>
              <a:t xml:space="preserve"/>
            </a:r>
            <a:r>
              <a:rPr lang="el-GR" sz="1200" b="0" i="0" u="none" strike="noStrike" kern="1200">
                <a:solidFill>
                  <a:schemeClr val="tx1"/>
                </a:solidFill>
                <a:effectLst/>
                <a:latin typeface="IBM Plex Sans" panose="020B0503050203000203" pitchFamily="34" charset="0"/>
                <a:ea typeface="+mn-ea"/>
                <a:cs typeface="+mn-cs"/>
              </a:rPr>
              <a:t xml:space="preserve"/>
            </a:r>
            <a:r>
              <a:rPr lang="el-GR" sz="1200" b="0" i="0" u="none" strike="noStrike" kern="1200">
                <a:solidFill>
                  <a:schemeClr val="tx1"/>
                </a:solidFill>
                <a:effectLst/>
                <a:latin typeface="IBM Plex Sans" panose="020B0503050203000203" pitchFamily="34" charset="0"/>
                <a:ea typeface="+mn-ea"/>
                <a:cs typeface="+mn-cs"/>
              </a:rPr>
              <a:t xml:space="preserve"/>
            </a:r>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4</a:t>
            </a:fld>
            <a:endParaRPr lang="el-GR"/>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l-GR"/>
          </a:p>
        </p:txBody>
      </p:sp>
      <p:sp>
        <p:nvSpPr>
          <p:cNvPr id="3" name="Pladsholder til noter 2"/>
          <p:cNvSpPr>
            <a:spLocks noGrp="1"/>
          </p:cNvSpPr>
          <p:nvPr>
            <p:ph type="body" idx="1"/>
          </p:nvPr>
        </p:nvSpPr>
        <p:spPr/>
        <p:txBody>
          <a:bodyPr/>
          <a:lstStyle/>
          <a:p>
            <a:pPr rtl="0"/>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{{Insert_CO2e_intensity}}</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5</a:t>
            </a:fld>
            <a:endParaRPr lang="el-GR"/>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{{uploaded_documents_B4}}</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6</a:t>
            </a:fld>
            <a:endParaRPr lang="el-GR"/>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7</a:t>
            </a:fld>
            <a:endParaRPr lang="el-GR"/>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a:t>
            </a:r>
            <a:r>
              <a:rPr lang="el-GR" sz="1200" b="0" i="0" u="none" strike="noStrike" kern="1200">
                <a:solidFill>
                  <a:schemeClr val="tx1"/>
                </a:solidFill>
                <a:effectLst/>
                <a:latin typeface="IBM Plex Sans" panose="020B0503050203000203" pitchFamily="34" charset="0"/>
                <a:ea typeface="+mn-ea"/>
                <a:cs typeface="+mn-cs"/>
              </a:rPr>
              <a:t>omsatningsrate</a:t>
            </a:r>
            <a:r>
              <a:rPr lang="el-GR" sz="1200" b="0" i="0" u="none" strike="noStrike" kern="1200">
                <a:solidFill>
                  <a:schemeClr val="tx1"/>
                </a:solidFill>
                <a:effectLst/>
                <a:latin typeface="IBM Plex Sans" panose="020B0503050203000203" pitchFamily="34" charset="0"/>
                <a:ea typeface="+mn-ea"/>
                <a:cs typeface="+mn-cs"/>
              </a:rPr>
              <a:t>}}</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8</a:t>
            </a:fld>
            <a:endParaRPr lang="el-GR"/>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9</a:t>
            </a:fld>
            <a:endParaRPr lang="el-GR"/>
          </a:p>
        </p:txBody>
      </p:sp>
    </p:spTree>
    <p:extLst>
      <p:ext uri="{BB962C8B-B14F-4D97-AF65-F5344CB8AC3E}">
        <p14:creationId xmlns:p14="http://schemas.microsoft.com/office/powerpoint/2010/main" val="306125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l-GR"/>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2537424"/>
            <a:ext cx="6828155" cy="2228341"/>
          </a:xfrm>
          <a:prstGeom prst="rect">
            <a:avLst/>
          </a:prstGeom>
          <a:noFill/>
        </p:spPr>
        <p:txBody>
          <a:bodyPr wrap="square" lIns="0" tIns="0" rIns="0" bIns="0" anchor="ctr">
            <a:noAutofit/>
          </a:bodyPr>
          <a:lstStyle/>
          <a:p>
            <a:pPr algn="ctr"/>
            <a:r>
              <a:rPr lang="en-GB" sz="12900" b="1" spc="-322" dirty="0">
                <a:solidFill>
                  <a:srgbClr val="FFFFFF"/>
                </a:solidFill>
                <a:latin typeface="+mn-lt"/>
              </a:rPr>
              <a:t>ESG</a:t>
            </a:r>
            <a:endParaRPr lang="en-GB" sz="12900" b="1" spc="-322"/>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el-GR"/>
              <a:t xml:space="preserve">ΚΛΙΚ ΓΙΑ ΕΙΣΑΓΩΓΗ ΕΠΩΝΥΜΙΑΣ</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el-GR"/>
              <a:t xml:space="preserve">ΕΙΣΑΓΩΓΗ ΤΙΤΛΟΥ</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el-GR"/>
              <a:t xml:space="preserve">ΚΛΙΚ ΓΙΑ ΕΙΣΑΓΩΓΗ ΕΠΩΝΥΜΙΑΣ</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el-GR" smtClean="0"/>
              <a:pPr/>
              <a:t>‹nr.›</a:t>
            </a:fld>
            <a:endParaRPr lang="el-GR"/>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l-GR"/>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el-GR" noProof="0"/>
              <a:t>Click</a:t>
            </a:r>
            <a:r>
              <a:rPr lang="el-GR" noProof="0"/>
              <a:t> to </a:t>
            </a:r>
            <a:r>
              <a:rPr lang="el-GR" noProof="0"/>
              <a:t>edit</a:t>
            </a:r>
            <a:r>
              <a:rPr lang="el-GR" noProof="0"/>
              <a:t> Master </a:t>
            </a:r>
            <a:r>
              <a:rPr lang="el-GR" noProof="0"/>
              <a:t>title</a:t>
            </a:r>
            <a:r>
              <a:rPr lang="el-GR"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el-GR"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el-GR" noProof="0"/>
              <a:t xml:space="preserve">ΚΛΙΚ ΓΙΑ ΕΙΣΑΓΩΓΗ ΕΠΩΝΥΜΙΑΣ</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el-GR" noProof="0" smtClean="0"/>
              <a:pPr/>
              <a:t>‹nr.›</a:t>
            </a:fld>
            <a:endParaRPr lang="el-GR"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el-GR" noProof="0"/>
              <a:t xml:space="preserve">Εισαγωγή στοιχείων επιχείρησης</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el-GR" noProof="0"/>
              <a:t>Click</a:t>
            </a:r>
            <a:r>
              <a:rPr lang="el-GR" noProof="0"/>
              <a:t> to </a:t>
            </a:r>
            <a:r>
              <a:rPr lang="el-GR" noProof="0"/>
              <a:t>edit</a:t>
            </a:r>
            <a:r>
              <a:rPr lang="el-GR" noProof="0"/>
              <a:t> Master </a:t>
            </a:r>
            <a:r>
              <a:rPr lang="el-GR" noProof="0"/>
              <a:t>title</a:t>
            </a:r>
            <a:r>
              <a:rPr lang="el-GR"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el-GR" noProof="0"/>
              <a:t xml:space="preserve">ΚΛΙΚ ΓΙΑ ΕΙΣΑΓΩΓΗ ΕΠΩΝΥΜΙΑΣ</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el-GR" noProof="0" smtClean="0"/>
              <a:pPr/>
              <a:t>‹nr.›</a:t>
            </a:fld>
            <a:endParaRPr lang="el-GR"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el-GR" noProof="0"/>
              <a:t>Click to edit Master text styles</a:t>
            </a:r>
          </a:p>
          <a:p>
            <a:pPr lvl="1"/>
            <a:r>
              <a:rPr lang="el-GR" noProof="0"/>
              <a:t xml:space="preserve">Δεύτερο επίπεδο</a:t>
            </a:r>
          </a:p>
          <a:p>
            <a:pPr lvl="2"/>
            <a:r>
              <a:rPr lang="el-GR" noProof="0"/>
              <a:t xml:space="preserve">Τρίτο επίπεδο</a:t>
            </a:r>
          </a:p>
          <a:p>
            <a:pPr lvl="3"/>
            <a:r>
              <a:rPr lang="el-GR" noProof="0"/>
              <a:t xml:space="preserve">Τέταρτο επίπεδο</a:t>
            </a:r>
          </a:p>
          <a:p>
            <a:pPr lvl="4"/>
            <a:r>
              <a:rPr lang="el-GR" noProof="0"/>
              <a:t xml:space="preserve">Πέμπτο επίπεδο</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el-GR"/>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el-GR"/>
              <a:t xml:space="preserve">ΚΛΙΚ ΓΙΑ ΕΙΣΑΓΩΓΗ ΕΠΩΝΥΜΙΑΣ</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el-GR" smtClean="0"/>
              <a:pPr/>
              <a:t>‹nr.›</a:t>
            </a:fld>
            <a:endParaRPr lang="el-GR"/>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el-GR"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el-GR"/>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el-GR" noProof="0"/>
              <a:t xml:space="preserve">ΕΚΘΕΣΗ ESG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el-GR" noProof="0"/>
              <a:t>{{company_name}}</a:t>
            </a:r>
            <a:endParaRPr lang="el-GR"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el-GR" noProof="0"/>
              <a:t xml:space="preserve">Έκθεση ESG</a:t>
            </a:r>
            <a:r>
              <a:rPr lang="el-GR" b="0" noProof="0">
                <a:solidFill>
                  <a:srgbClr val="1B4528"/>
                </a:solidFill>
                <a:ea typeface="+mn-ea"/>
                <a:cs typeface="+mn-cs"/>
              </a:rPr>
              <a:t> </a:t>
            </a:r>
            <a:br>
              <a:rPr lang="el-GR" b="0" noProof="0">
                <a:solidFill>
                  <a:srgbClr val="1B4528"/>
                </a:solidFill>
                <a:ea typeface="+mn-ea"/>
                <a:cs typeface="+mn-cs"/>
              </a:rPr>
            </a:br>
            <a:endParaRPr lang="el-GR"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el-GR" sz="975" b="1" noProof="0" dirty="0">
              <a:latin typeface="+mj-lt"/>
            </a:endParaRPr>
          </a:p>
          <a:p>
            <a:pPr>
              <a:lnSpc>
                <a:spcPct val="150000"/>
              </a:lnSpc>
              <a:tabLst>
                <a:tab pos="239439" algn="l"/>
                <a:tab pos="388922" algn="l"/>
                <a:tab pos="3737091" algn="r"/>
              </a:tabLst>
            </a:pPr>
            <a:endParaRPr lang="el-GR" sz="975" b="1"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Γενικές πληροφορίες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kern="1200" spc="-10" noProof="0">
                <a:solidFill>
                  <a:schemeClr val="tx2"/>
                </a:solidFill>
                <a:latin typeface="+mn-lt"/>
                <a:ea typeface="+mn-ea"/>
                <a:cs typeface="+mn-cs"/>
              </a:rPr>
              <a:t xml:space="preserve">Πρακτικές, πολιτικές και πρωτοβουλίες για πιο βιώσιμη οικονομία	</a:t>
            </a:r>
            <a:endParaRPr lang="el-GR" sz="975" b="1"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Κατανάλωση ενέργειας				</a:t>
            </a:r>
            <a:endParaRPr lang="el-GR" sz="975"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Εκπομπές CO₂e 				</a:t>
            </a:r>
            <a:endParaRPr lang="el-GR" sz="975"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Ρύπανση αέρα, νερού και εδάφους</a:t>
            </a:r>
            <a:r>
              <a:rPr lang="el-GR" sz="975" noProof="0">
                <a:latin typeface="+mj-lt"/>
              </a:rPr>
              <a:t>				</a:t>
            </a: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Βιοποικιλότητα</a:t>
            </a:r>
            <a:r>
              <a:rPr lang="el-GR" sz="975" noProof="0">
                <a:latin typeface="+mj-lt"/>
              </a:rPr>
              <a:t>				</a:t>
            </a: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Νερό	</a:t>
            </a:r>
            <a:r>
              <a:rPr lang="el-GR" sz="975" noProof="0">
                <a:latin typeface="+mj-lt"/>
              </a:rPr>
              <a:t> 			</a:t>
            </a: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Χρήση πόρων, κυκλική οικονομία και διαχείριση αποβλήτων</a:t>
            </a:r>
            <a:r>
              <a:rPr lang="el-GR" sz="975" noProof="0">
                <a:latin typeface="+mj-lt"/>
              </a:rPr>
              <a:t>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Ίδιο εργατικό δυναμικό: γενικά χαρακτηριστικά</a:t>
            </a:r>
            <a:r>
              <a:rPr lang="el-GR" sz="975" noProof="0">
                <a:latin typeface="+mj-lt"/>
              </a:rPr>
              <a:t>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Ίδιο εργατικό δυναμικό: υγεία και ασφάλεια</a:t>
            </a:r>
            <a:r>
              <a:rPr lang="el-GR" sz="975" noProof="0">
                <a:latin typeface="+mj-lt"/>
              </a:rPr>
              <a:t>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Εργατικό δυναμικό: αμοιβές, συλλογικές συμβάσεις, κατάρτιση</a:t>
            </a:r>
            <a:r>
              <a:rPr lang="el-GR" sz="975" noProof="0">
                <a:latin typeface="+mj-lt"/>
              </a:rPr>
              <a:t>		</a:t>
            </a:r>
            <a:endParaRPr lang="el-G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Επιχειρηματική δεοντολογία</a:t>
            </a:r>
            <a:r>
              <a:rPr lang="el-GR" sz="975" noProof="0">
                <a:latin typeface="+mj-lt"/>
              </a:rPr>
              <a:t>	 			</a:t>
            </a:r>
            <a:endParaRPr lang="el-GR" sz="975" noProof="0" dirty="0">
              <a:solidFill>
                <a:srgbClr val="1B4528"/>
              </a:solidFill>
              <a:latin typeface="+mj-lt"/>
            </a:endParaRPr>
          </a:p>
          <a:p>
            <a:pPr>
              <a:tabLst>
                <a:tab pos="239439" algn="l"/>
                <a:tab pos="388922" algn="l"/>
                <a:tab pos="3737091" algn="r"/>
              </a:tabLst>
            </a:pPr>
            <a:endParaRPr lang="el-GR" sz="975" noProof="0" dirty="0">
              <a:latin typeface="+mj-lt"/>
            </a:endParaRPr>
          </a:p>
          <a:p>
            <a:pPr>
              <a:tabLst>
                <a:tab pos="239439" algn="l"/>
                <a:tab pos="388922" algn="l"/>
                <a:tab pos="3737091" algn="r"/>
              </a:tabLst>
            </a:pPr>
            <a:endParaRPr lang="el-GR" sz="975" noProof="0" dirty="0">
              <a:latin typeface="+mj-lt"/>
            </a:endParaRPr>
          </a:p>
          <a:p>
            <a:pPr>
              <a:tabLst>
                <a:tab pos="239439" algn="l"/>
                <a:tab pos="388922" algn="l"/>
                <a:tab pos="3737091" algn="r"/>
              </a:tabLst>
            </a:pPr>
            <a:endParaRPr lang="el-GR" noProof="0" dirty="0">
              <a:latin typeface="+mj-lt"/>
            </a:endParaRPr>
          </a:p>
          <a:p>
            <a:pPr>
              <a:tabLst>
                <a:tab pos="239439" algn="l"/>
                <a:tab pos="388922" algn="l"/>
                <a:tab pos="3737091" algn="r"/>
              </a:tabLst>
            </a:pPr>
            <a:endParaRPr lang="el-GR"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el-GR"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el-GR" noProof="0" smtClean="0"/>
              <a:pPr/>
              <a:t>2</a:t>
            </a:fld>
            <a:endParaRPr lang="el-GR"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el-GR" noProof="0"/>
              <a:t xml:space="preserve">Βάση κατάρτισης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el-GR"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9544"/>
          <a:ext cx="3295368" cy="79837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374670">
                <a:tc gridSpan="2">
                  <a:txBody>
                    <a:bodyPr/>
                    <a:lstStyle/>
                    <a:p>
                      <a:pPr marL="0" algn="l" defTabSz="914400" rtl="0" eaLnBrk="1" latinLnBrk="0" hangingPunct="1"/>
                      <a:r>
                        <a:rPr lang="el-GR" sz="975" b="1" kern="1200" spc="-10" noProof="0">
                          <a:solidFill>
                            <a:schemeClr val="tx2"/>
                          </a:solidFill>
                          <a:latin typeface="+mn-lt"/>
                          <a:ea typeface="+mn-ea"/>
                          <a:cs typeface="+mn-cs"/>
                        </a:rPr>
                        <a:t xml:space="preserve">Κατάλογος θυγατρικών που περιλαμβάνονται στην παρούσα έκθεση ESG </a:t>
                      </a:r>
                      <a:r>
                        <a:rPr lang="el-GR" sz="975" b="0" kern="1200" spc="-10" noProof="0">
                          <a:solidFill>
                            <a:schemeClr val="tx2"/>
                          </a:solidFill>
                          <a:latin typeface="+mn-lt"/>
                          <a:ea typeface="+mn-ea"/>
                          <a:cs typeface="+mn-cs"/>
                        </a:rPr>
                        <a:t xml:space="preserve">(παρ. 27d)</a:t>
                      </a:r>
                      <a:endParaRPr lang="el-GR"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19319">
                <a:tc>
                  <a:txBody>
                    <a:bodyPr/>
                    <a:lstStyle/>
                    <a:p>
                      <a:pPr algn="l"/>
                      <a:r>
                        <a:rPr lang="el-GR" sz="975" b="1" kern="1200" spc="-10" noProof="0">
                          <a:solidFill>
                            <a:schemeClr val="tx2"/>
                          </a:solidFill>
                          <a:latin typeface="+mn-lt"/>
                          <a:ea typeface="+mn-ea"/>
                          <a:cs typeface="+mn-cs"/>
                        </a:rPr>
                        <a:t xml:space="preserve">Επωνυμία θυγατρικής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Έδρα θυγατρικής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04385">
                <a:tc>
                  <a:txBody>
                    <a:bodyPr/>
                    <a:lstStyle/>
                    <a:p>
                      <a:pPr rtl="0" fontAlgn="t" algn="l">
                        <a:buNone/>
                      </a:pPr>
                      <a:r>
                        <a:rPr lang="el-GR" sz="975" b="0" i="0" u="none" strike="noStrike" noProof="0">
                          <a:solidFill>
                            <a:srgbClr val="1B4528"/>
                          </a:solidFill>
                          <a:effectLst/>
                          <a:latin typeface="Inter"/>
                        </a:rPr>
                        <a:t>{{subsidiary}}</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subsidiary_address</a:t>
                      </a:r>
                      <a:r>
                        <a:rPr lang="el-GR" sz="975" b="0" i="0" u="none" strike="noStrike" noProof="0">
                          <a:solidFill>
                            <a:srgbClr val="1B4528"/>
                          </a:solidFill>
                          <a:effectLst/>
                          <a:latin typeface="Inter"/>
                        </a:rPr>
                        <a:t>}}</a:t>
                      </a:r>
                      <a:endParaRPr lang="el-GR"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l-GR" noProof="0" smtClean="0"/>
              <a:pPr/>
              <a:t>3</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el-GR" noProof="0"/>
              <a:t>{{company_name}}</a:t>
            </a:r>
            <a:endParaRPr lang="el-GR" b="0" noProof="0"/>
          </a:p>
          <a:p>
            <a:br>
              <a:rPr lang="el-GR" noProof="0"/>
            </a:br>
            <a:endParaRPr lang="el-GR"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279362"/>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219319">
                <a:tc gridSpan="2">
                  <a:txBody>
                    <a:bodyPr/>
                    <a:lstStyle/>
                    <a:p>
                      <a:r>
                        <a:rPr lang="el-GR" sz="975" b="1" noProof="0">
                          <a:solidFill>
                            <a:schemeClr val="tx2"/>
                          </a:solidFill>
                        </a:rPr>
                        <a:t xml:space="preserve">Ατομική ή ενοποιημένη αναφορά</a:t>
                      </a:r>
                      <a:r>
                        <a:rPr lang="el-GR" sz="975" b="0" noProof="0">
                          <a:solidFill>
                            <a:schemeClr val="tx2"/>
                          </a:solidFill>
                        </a:rPr>
                        <a:t xml:space="preserve"> (παρ.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43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καταρτίστηκε σε </a:t>
                      </a:r>
                      <a:r>
                        <a:rPr lang="el-GR" sz="975" b="1" kern="1200" spc="-10" noProof="0">
                          <a:solidFill>
                            <a:schemeClr val="tx2"/>
                          </a:solidFill>
                          <a:latin typeface="+mn-lt"/>
                          <a:ea typeface="+mn-ea"/>
                          <a:cs typeface="+mn-cs"/>
                        </a:rPr>
                        <a:t xml:space="preserve">ατομική βάση </a:t>
                      </a:r>
                      <a:r>
                        <a:rPr lang="el-GR" sz="975" b="0" kern="1200" spc="-10" noProof="0">
                          <a:solidFill>
                            <a:schemeClr val="tx2"/>
                          </a:solidFill>
                          <a:latin typeface="+mn-lt"/>
                          <a:ea typeface="+mn-ea"/>
                          <a:cs typeface="+mn-cs"/>
                        </a:rPr>
                        <a:t xml:space="preserve">(δηλ. δεν καλύπτει θυγατρικές)</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{{yes_subsidiary?}}</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757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καταρτίστηκε σε </a:t>
                      </a:r>
                      <a:r>
                        <a:rPr lang="el-GR" sz="975" b="1" kern="1200" spc="-10" noProof="0">
                          <a:solidFill>
                            <a:schemeClr val="tx2"/>
                          </a:solidFill>
                          <a:latin typeface="+mn-lt"/>
                          <a:ea typeface="+mn-ea"/>
                          <a:cs typeface="+mn-cs"/>
                        </a:rPr>
                        <a:t xml:space="preserve">ενοποιημένη βάση </a:t>
                      </a:r>
                      <a:r>
                        <a:rPr lang="el-GR" sz="975" b="0" kern="1200" spc="-10" noProof="0">
                          <a:solidFill>
                            <a:schemeClr val="tx2"/>
                          </a:solidFill>
                          <a:latin typeface="+mn-lt"/>
                          <a:ea typeface="+mn-ea"/>
                          <a:cs typeface="+mn-cs"/>
                        </a:rPr>
                        <a:t xml:space="preserve">(δηλ. περιλαμβάνει τις θυγατρικές της επιχείρησης)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{{no_subsidiary?}}</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440805"/>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77716">
                <a:tc gridSpan="2">
                  <a:txBody>
                    <a:bodyPr/>
                    <a:lstStyle/>
                    <a:p>
                      <a:r>
                        <a:rPr lang="el-GR" sz="975" b="1" kern="1200" spc="-10" noProof="0">
                          <a:solidFill>
                            <a:schemeClr val="tx2"/>
                          </a:solidFill>
                          <a:latin typeface="+mn-lt"/>
                          <a:ea typeface="+mn-ea"/>
                          <a:cs typeface="+mn-cs"/>
                        </a:rPr>
                        <a:t xml:space="preserve">Βασική ενότητα ή Βασική ενότητα +</a:t>
                      </a:r>
                      <a:r>
                        <a:rPr lang="el-GR" sz="975" b="0" kern="1200" spc="-10" noProof="0">
                          <a:solidFill>
                            <a:schemeClr val="tx2"/>
                          </a:solidFill>
                          <a:latin typeface="+mn-lt"/>
                          <a:ea typeface="+mn-ea"/>
                          <a:cs typeface="+mn-cs"/>
                        </a:rPr>
                        <a:t> </a:t>
                      </a:r>
                      <a:r>
                        <a:rPr lang="el-GR" sz="975" b="1" kern="1200" spc="-10" noProof="0">
                          <a:solidFill>
                            <a:schemeClr val="tx2"/>
                          </a:solidFill>
                          <a:latin typeface="+mn-lt"/>
                          <a:ea typeface="+mn-ea"/>
                          <a:cs typeface="+mn-cs"/>
                        </a:rPr>
                        <a:t xml:space="preserve">Ολοκληρωμένη ενότητα </a:t>
                      </a:r>
                      <a:r>
                        <a:rPr lang="el-GR" sz="975" b="0" kern="1200" spc="-10" noProof="0">
                          <a:solidFill>
                            <a:schemeClr val="tx2"/>
                          </a:solidFill>
                          <a:latin typeface="+mn-lt"/>
                          <a:ea typeface="+mn-ea"/>
                          <a:cs typeface="+mn-cs"/>
                        </a:rPr>
                        <a:t xml:space="preserve">(παρ. 27a)</a:t>
                      </a:r>
                      <a:r>
                        <a:rPr lang="el-GR" sz="975" b="1" kern="1200" spc="-10" noProof="0">
                          <a:solidFill>
                            <a:schemeClr val="tx2"/>
                          </a:solidFill>
                          <a:latin typeface="+mn-lt"/>
                          <a:ea typeface="+mn-ea"/>
                          <a:cs typeface="+mn-cs"/>
                        </a:rPr>
                        <a:t>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23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βασίζεται στη </a:t>
                      </a:r>
                      <a:r>
                        <a:rPr lang="el-GR" sz="975" b="1" kern="1200" spc="-10" noProof="0">
                          <a:solidFill>
                            <a:schemeClr val="tx2"/>
                          </a:solidFill>
                          <a:latin typeface="+mn-lt"/>
                          <a:ea typeface="+mn-ea"/>
                          <a:cs typeface="+mn-cs"/>
                        </a:rPr>
                        <a:t xml:space="preserve">Βασική ενότητα</a:t>
                      </a:r>
                      <a:r>
                        <a:rPr lang="el-GR" sz="975" b="0" kern="1200" spc="-10" noProof="0">
                          <a:solidFill>
                            <a:schemeClr val="tx2"/>
                          </a:solidFill>
                          <a:latin typeface="+mn-lt"/>
                          <a:ea typeface="+mn-ea"/>
                          <a:cs typeface="+mn-cs"/>
                        </a:rPr>
                        <a:t xml:space="preserve"> του προαιρετικού προτύπου για τις ΜμΕ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{{basic_module?}}</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βασίζεται στη </a:t>
                      </a:r>
                      <a:r>
                        <a:rPr lang="el-GR" sz="975" b="1" kern="1200" spc="-10" noProof="0">
                          <a:solidFill>
                            <a:schemeClr val="tx2"/>
                          </a:solidFill>
                          <a:latin typeface="+mn-lt"/>
                          <a:ea typeface="+mn-ea"/>
                          <a:cs typeface="+mn-cs"/>
                        </a:rPr>
                        <a:t xml:space="preserve">Βασική ενότητα</a:t>
                      </a:r>
                      <a:r>
                        <a:rPr lang="el-GR" sz="975" b="0" kern="1200" spc="-10" noProof="0">
                          <a:solidFill>
                            <a:schemeClr val="tx2"/>
                          </a:solidFill>
                          <a:latin typeface="+mn-lt"/>
                          <a:ea typeface="+mn-ea"/>
                          <a:cs typeface="+mn-cs"/>
                        </a:rPr>
                        <a:t xml:space="preserve"> και την </a:t>
                      </a:r>
                      <a:r>
                        <a:rPr lang="el-GR" sz="975" b="1" kern="1200" spc="-10" noProof="0">
                          <a:solidFill>
                            <a:schemeClr val="tx2"/>
                          </a:solidFill>
                          <a:latin typeface="+mn-lt"/>
                          <a:ea typeface="+mn-ea"/>
                          <a:cs typeface="+mn-cs"/>
                        </a:rPr>
                        <a:t xml:space="preserve">Ολοκληρωμένη ενότητα </a:t>
                      </a:r>
                      <a:r>
                        <a:rPr lang="el-GR" sz="975" b="0" kern="1200" spc="-10" noProof="0">
                          <a:solidFill>
                            <a:schemeClr val="tx2"/>
                          </a:solidFill>
                          <a:latin typeface="+mn-lt"/>
                          <a:ea typeface="+mn-ea"/>
                          <a:cs typeface="+mn-cs"/>
                        </a:rPr>
                        <a:t xml:space="preserve">του προαιρετικού προτύπου για τις ΜμΕ</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{{comprehensive?}}</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κατάρτισε την έκθεση βιωσιμότητας βάσει του προτύπου VSME, το οποίο ακολουθεί δομημένη προσέγγιση ώστε οι απαιτούμενες πληροφορίες να αναφέρονται τυποποιημένα και με διαφάνεια. Η έκθεση αντικατοπτρίζει τις ενότητες βιωσιμότητας που επέλεξε και καλύπτει η επιχείρηση. Αναφέρεται επίσης εάν η έκθεση καταρτίζεται σε ατομική βάση (μόνο ίδια στοιχεία) ή σε ενοποιημένη βάση. Η ενότητα αυτή περιέχει βασικές πληροφορίες για την επιχείρηση, π.χ. τη νομική μορφή, τους κωδικούς NACE, το σύνολο ισολογισμού και τον κύκλο εργασιών, τον αριθμό εργαζομένων, καθώς και τη χώρα κύριας δραστηριότητας και τη θέση άλλων σημαντικών στοιχείων ενεργητικού.</a:t>
            </a:r>
            <a:endParaRPr lang="el-GR"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11666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62860">
                <a:tc gridSpan="2">
                  <a:txBody>
                    <a:bodyPr/>
                    <a:lstStyle/>
                    <a:p>
                      <a:pPr algn="l"/>
                      <a:r>
                        <a:rPr lang="el-GR" sz="975" b="1" kern="1200" spc="-10" noProof="0">
                          <a:solidFill>
                            <a:schemeClr val="tx2"/>
                          </a:solidFill>
                          <a:latin typeface="+mn-lt"/>
                          <a:ea typeface="+mn-ea"/>
                          <a:cs typeface="+mn-cs"/>
                        </a:rPr>
                        <a:t xml:space="preserve">Βασικές πληροφορίες για την επιχείρηση</a:t>
                      </a:r>
                      <a:r>
                        <a:rPr lang="el-GR" sz="975" b="0" kern="1200" spc="-10" noProof="0">
                          <a:solidFill>
                            <a:schemeClr val="tx2"/>
                          </a:solidFill>
                          <a:latin typeface="+mn-lt"/>
                          <a:ea typeface="+mn-ea"/>
                          <a:cs typeface="+mn-cs"/>
                        </a:rPr>
                        <a:t xml:space="preserve"> (παρ.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400020">
                <a:tc>
                  <a:txBody>
                    <a:bodyPr/>
                    <a:lstStyle/>
                    <a:p>
                      <a:pPr algn="l"/>
                      <a:r>
                        <a:rPr lang="el-GR" sz="975" b="1" kern="1200" spc="-10" noProof="0">
                          <a:solidFill>
                            <a:schemeClr val="tx2"/>
                          </a:solidFill>
                          <a:latin typeface="+mn-lt"/>
                          <a:ea typeface="+mn-ea"/>
                          <a:cs typeface="+mn-cs"/>
                        </a:rPr>
                        <a:t xml:space="preserve">Νομική μορφή</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975" b="0" i="0" u="none" strike="noStrike" noProof="0">
                          <a:solidFill>
                            <a:srgbClr val="1B4528"/>
                          </a:solidFill>
                          <a:effectLst/>
                          <a:latin typeface="Inter"/>
                        </a:rPr>
                        <a:t>{{branchekode}}</a:t>
                      </a:r>
                      <a:endParaRPr lang="el-GR"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000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Κωδικοί NACE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975" b="0" i="0" u="none" strike="noStrike" noProof="0">
                          <a:solidFill>
                            <a:srgbClr val="1B4528"/>
                          </a:solidFill>
                          <a:effectLst/>
                          <a:latin typeface="Inter"/>
                        </a:rPr>
                        <a:t>{{NACE}}</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908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Ισολογισμός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975" b="0" i="0" u="none" strike="noStrike" noProof="0">
                          <a:solidFill>
                            <a:srgbClr val="1B4528"/>
                          </a:solidFill>
                          <a:effectLst/>
                          <a:latin typeface="Inter"/>
                        </a:rPr>
                        <a:t>{{balance}}</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0020">
                <a:tc>
                  <a:txBody>
                    <a:bodyPr/>
                    <a:lstStyle/>
                    <a:p>
                      <a:pPr algn="l"/>
                      <a:r>
                        <a:rPr lang="el-GR" sz="975" b="1" kern="1200" spc="-10" noProof="0">
                          <a:solidFill>
                            <a:schemeClr val="tx2"/>
                          </a:solidFill>
                          <a:latin typeface="+mn-lt"/>
                          <a:ea typeface="+mn-ea"/>
                          <a:cs typeface="+mn-cs"/>
                        </a:rPr>
                        <a:t xml:space="preserve">Κύκλος εργασιών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975" b="0" i="0" u="none" strike="noStrike" noProof="0">
                          <a:solidFill>
                            <a:srgbClr val="1B4528"/>
                          </a:solidFill>
                          <a:effectLst/>
                          <a:latin typeface="Inter"/>
                        </a:rPr>
                        <a:t>{{revenue}}</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62860">
                <a:tc>
                  <a:txBody>
                    <a:bodyPr/>
                    <a:lstStyle/>
                    <a:p>
                      <a:pPr algn="l"/>
                      <a:r>
                        <a:rPr lang="el-GR" sz="975" b="1" kern="1200" spc="-10" noProof="0">
                          <a:solidFill>
                            <a:schemeClr val="tx2"/>
                          </a:solidFill>
                          <a:latin typeface="+mn-lt"/>
                          <a:ea typeface="+mn-ea"/>
                          <a:cs typeface="+mn-cs"/>
                        </a:rPr>
                        <a:t xml:space="preserve">Εργαζόμενοι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975" b="0" i="0" u="none" strike="noStrike" noProof="0">
                          <a:solidFill>
                            <a:srgbClr val="1B4528"/>
                          </a:solidFill>
                          <a:effectLst/>
                          <a:latin typeface="Inter"/>
                        </a:rPr>
                        <a:t>{{total_employees}}</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43708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566932">
                <a:tc gridSpan="2">
                  <a:txBody>
                    <a:bodyPr/>
                    <a:lstStyle/>
                    <a:p>
                      <a:pPr algn="l"/>
                      <a:r>
                        <a:rPr lang="el-GR" sz="975" b="1" kern="1200" spc="-10" noProof="0">
                          <a:solidFill>
                            <a:schemeClr val="tx2"/>
                          </a:solidFill>
                          <a:latin typeface="+mn-lt"/>
                          <a:ea typeface="+mn-ea"/>
                          <a:cs typeface="+mn-cs"/>
                        </a:rPr>
                        <a:t xml:space="preserve">Η έκθεση ESG περιέχει παραλείψεις λόγω ευαίσθητων επιχειρηματικών πληροφοριών </a:t>
                      </a:r>
                      <a:r>
                        <a:rPr lang="el-GR" sz="975" b="0" kern="1200" spc="-10" noProof="0">
                          <a:solidFill>
                            <a:schemeClr val="tx2"/>
                          </a:solidFill>
                          <a:latin typeface="+mn-lt"/>
                          <a:ea typeface="+mn-ea"/>
                          <a:cs typeface="+mn-cs"/>
                        </a:rPr>
                        <a:t xml:space="preserve">(παρ.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70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Παραλείφθηκαν οι εξής γνωστοποιήσεις</a:t>
                      </a:r>
                    </a:p>
                    <a:p>
                      <a:pPr algn="l"/>
                      <a:endParaRPr lang="el-GR"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l-GR" sz="975" noProof="0">
                          <a:solidFill>
                            <a:srgbClr val="1B4528"/>
                          </a:solidFill>
                          <a:latin typeface="+mn-lt"/>
                          <a:cs typeface="Calibri" panose="020F0502020204030204" pitchFamily="34" charset="0"/>
                        </a:rPr>
                        <a:t>{{</a:t>
                      </a:r>
                      <a:r>
                        <a:rPr lang="el-GR" sz="975" noProof="0">
                          <a:solidFill>
                            <a:srgbClr val="1B4528"/>
                          </a:solidFill>
                          <a:latin typeface="+mn-lt"/>
                          <a:cs typeface="Calibri" panose="020F0502020204030204" pitchFamily="34" charset="0"/>
                        </a:rPr>
                        <a:t>confidentiality_info</a:t>
                      </a:r>
                      <a:r>
                        <a:rPr lang="el-GR" sz="975" noProof="0">
                          <a:solidFill>
                            <a:srgbClr val="1B4528"/>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83469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el-GR" sz="975" b="1" kern="1200" spc="-10" noProof="0">
                          <a:solidFill>
                            <a:schemeClr val="tx2"/>
                          </a:solidFill>
                          <a:latin typeface="+mn-lt"/>
                          <a:ea typeface="+mn-ea"/>
                          <a:cs typeface="+mn-cs"/>
                        </a:rPr>
                        <a:t xml:space="preserve">Ονομασία πιστοποιητικού ESG/οικολογικού σήματος </a:t>
                      </a:r>
                      <a:r>
                        <a:rPr lang="el-GR" sz="975" b="0" kern="1200" spc="-10" noProof="0">
                          <a:solidFill>
                            <a:schemeClr val="tx2"/>
                          </a:solidFill>
                          <a:latin typeface="+mn-lt"/>
                          <a:ea typeface="+mn-ea"/>
                          <a:cs typeface="+mn-cs"/>
                        </a:rPr>
                        <a:t xml:space="preserve">(παρ.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Σύντομη περιγραφή</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Ημερομηνία έκδοσης/</a:t>
                      </a:r>
                    </a:p>
                    <a:p>
                      <a:pPr algn="l"/>
                      <a:r>
                        <a:rPr lang="el-GR" sz="975" b="1" kern="1200" spc="-10" noProof="0">
                          <a:solidFill>
                            <a:schemeClr val="tx2"/>
                          </a:solidFill>
                          <a:latin typeface="+mn-lt"/>
                          <a:ea typeface="+mn-ea"/>
                          <a:cs typeface="+mn-cs"/>
                        </a:rPr>
                        <a:t xml:space="preserve">ισχύος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Τυχόν βαθμολογία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lgn="l">
                        <a:buNone/>
                      </a:pPr>
                      <a:r>
                        <a:rPr lang="el-GR" sz="975" b="0" i="0" u="none" strike="noStrike" noProof="0">
                          <a:solidFill>
                            <a:srgbClr val="1B4528"/>
                          </a:solidFill>
                          <a:effectLst/>
                          <a:latin typeface="Inter"/>
                        </a:rPr>
                        <a:t>{{certificate_or_ecolabel}}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975" b="0" i="0" u="none" strike="noStrike" noProof="0">
                          <a:solidFill>
                            <a:srgbClr val="1B4528"/>
                          </a:solidFill>
                          <a:effectLst/>
                          <a:latin typeface="Inter"/>
                        </a:rPr>
                        <a:t>{{description_certificate}}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date_certicate</a:t>
                      </a:r>
                      <a:r>
                        <a:rPr lang="el-GR" sz="975" b="0" i="0" u="none" strike="noStrike" noProof="0">
                          <a:solidFill>
                            <a:srgbClr val="1B4528"/>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certiciate_possible_rating</a:t>
                      </a:r>
                      <a:r>
                        <a:rPr lang="el-GR" sz="975" b="0" i="0" u="none" strike="noStrike" noProof="0">
                          <a:solidFill>
                            <a:srgbClr val="1B4528"/>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03270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Διευθύνσεις και γεωεντοπισμός </a:t>
                      </a:r>
                      <a:r>
                        <a:rPr lang="el-GR" sz="975" b="1" u="none" kern="1200" spc="-10" noProof="0">
                          <a:solidFill>
                            <a:schemeClr val="tx2"/>
                          </a:solidFill>
                          <a:latin typeface="+mn-lt"/>
                          <a:ea typeface="+mn-ea"/>
                          <a:cs typeface="+mn-cs"/>
                        </a:rPr>
                        <a:t xml:space="preserve">σημαντικών</a:t>
                      </a:r>
                      <a:r>
                        <a:rPr lang="el-GR" sz="975" b="1" kern="1200" spc="-10" noProof="0">
                          <a:solidFill>
                            <a:schemeClr val="tx2"/>
                          </a:solidFill>
                          <a:latin typeface="+mn-lt"/>
                          <a:ea typeface="+mn-ea"/>
                          <a:cs typeface="+mn-cs"/>
                        </a:rPr>
                        <a:t xml:space="preserve"> στοιχείων ενεργητικού και εγκαταστάσεων που η επιχείρηση</a:t>
                      </a:r>
                      <a:r>
                        <a:rPr lang="el-GR" sz="975" b="0" kern="1200" spc="-10" noProof="0">
                          <a:solidFill>
                            <a:schemeClr val="tx2"/>
                          </a:solidFill>
                          <a:latin typeface="+mn-lt"/>
                          <a:ea typeface="+mn-ea"/>
                          <a:cs typeface="+mn-cs"/>
                        </a:rPr>
                        <a:t> </a:t>
                      </a:r>
                      <a:r>
                        <a:rPr lang="el-GR" sz="975" b="1" kern="1200" spc="-10" noProof="0">
                          <a:solidFill>
                            <a:schemeClr val="tx2"/>
                          </a:solidFill>
                          <a:latin typeface="+mn-lt"/>
                          <a:ea typeface="+mn-ea"/>
                          <a:cs typeface="+mn-cs"/>
                        </a:rPr>
                        <a:t xml:space="preserve">κατέχει, μισθώνει ή διαχειρίζεται </a:t>
                      </a:r>
                      <a:r>
                        <a:rPr lang="el-GR" sz="975" b="0" kern="1200" spc="-10" noProof="0">
                          <a:solidFill>
                            <a:schemeClr val="tx2"/>
                          </a:solidFill>
                          <a:latin typeface="+mn-lt"/>
                          <a:ea typeface="+mn-ea"/>
                          <a:cs typeface="+mn-cs"/>
                        </a:rPr>
                        <a:t xml:space="preserve">(παρ.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l-GR"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el-GR" sz="975" b="1" kern="1200" spc="-10" noProof="0">
                          <a:solidFill>
                            <a:schemeClr val="tx2"/>
                          </a:solidFill>
                          <a:latin typeface="+mn-lt"/>
                          <a:ea typeface="+mn-ea"/>
                          <a:cs typeface="+mn-cs"/>
                        </a:rPr>
                        <a:t xml:space="preserve">Τοποθεσία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Διεύθυνση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Τ.Κ.</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Πόλη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Χώρα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Γεωεντοπισμός (συντεταγμένες)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lgn="l">
                        <a:buNone/>
                      </a:pPr>
                      <a:r>
                        <a:rPr lang="el-GR" sz="975" b="0" i="0" u="none" strike="noStrike" noProof="0">
                          <a:solidFill>
                            <a:srgbClr val="1B4528"/>
                          </a:solidFill>
                          <a:effectLst/>
                          <a:latin typeface="Inter"/>
                        </a:rPr>
                        <a:t>{{geolocation}}</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geolocation_adress</a:t>
                      </a:r>
                      <a:r>
                        <a:rPr lang="el-GR" sz="975" b="0" i="0" u="none" strike="noStrike" noProof="0">
                          <a:solidFill>
                            <a:srgbClr val="1B4528"/>
                          </a:solidFill>
                          <a:effectLst/>
                          <a:latin typeface="Inter"/>
                        </a:rPr>
                        <a:t>}}</a:t>
                      </a:r>
                      <a:endParaRPr lang="el-G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975" b="0" i="0" u="none" strike="noStrike" noProof="0">
                          <a:solidFill>
                            <a:srgbClr val="1B4528"/>
                          </a:solidFill>
                          <a:effectLst/>
                          <a:latin typeface="Inter"/>
                        </a:rPr>
                        <a:t>{{geolocation_postcode}}</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975" b="0" i="0" u="none" strike="noStrike" noProof="0">
                          <a:solidFill>
                            <a:srgbClr val="1B4528"/>
                          </a:solidFill>
                          <a:effectLst/>
                          <a:latin typeface="Inter"/>
                        </a:rPr>
                        <a:t>{{geolocation_city}}</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975" b="0" i="0" u="none" strike="noStrike" noProof="0">
                          <a:solidFill>
                            <a:srgbClr val="1B4528"/>
                          </a:solidFill>
                          <a:effectLst/>
                          <a:latin typeface="Inter"/>
                        </a:rPr>
                        <a:t>{{geolocation_country}}</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geolocation_coordinates</a:t>
                      </a:r>
                      <a:r>
                        <a:rPr lang="el-GR" sz="975" b="0" i="0" u="none" strike="noStrike" noProof="0">
                          <a:solidFill>
                            <a:srgbClr val="1B4528"/>
                          </a:solidFill>
                          <a:effectLst/>
                          <a:latin typeface="Inter"/>
                        </a:rPr>
                        <a:t>}}</a:t>
                      </a:r>
                      <a:endParaRPr lang="el-G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el-GR" sz="975" b="0" i="0" u="none" strike="noStrike" noProof="0">
                <a:solidFill>
                  <a:schemeClr val="tx2"/>
                </a:solidFill>
                <a:effectLst/>
                <a:latin typeface="Inter"/>
              </a:rPr>
              <a:t xml:space="preserve">Κατωτέρω περιγράφονται οι θέσεις της επιχείρησης και οι τόποι όπου δραστηριοποιείται. Τα στοιχεία αυτά μπορούν να χρησιμοποιηθούν για κλιματικές ζώνες κινδύνου και ενημερώνουν για τις εγκαταστάσεις και/ή την έδρα</a:t>
            </a:r>
            <a:r>
              <a:rPr lang="el-GR" sz="975" noProof="0">
                <a:solidFill>
                  <a:schemeClr val="tx2"/>
                </a:solidFill>
                <a:latin typeface="Inter"/>
              </a:rPr>
              <a:t xml:space="preserve">. Αναφέρονται επίσης οι σχετικές πιστοποιήσεις ή σήματα βιωσιμότητας, με τον φορέα έκδοσης, την ημερομηνία και τυχόν βαθμολογία.</a:t>
            </a:r>
            <a:endParaRPr lang="el-GR"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el-GR" sz="975" noProof="0">
                <a:solidFill>
                  <a:srgbClr val="487477"/>
                </a:solidFill>
                <a:latin typeface="Inter"/>
              </a:rPr>
              <a:t xml:space="preserve">Τα πιστοποιητικά και τα οικολογικά σήματα της επιχείρησης παρατίθενται κατωτέρω.</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el-GR" noProof="0"/>
              <a:t xml:space="preserve">Πρακτικές, πολιτικές και μελλοντικές πρωτοβουλίες για μετάβαση σε πιο βιώσιμη οικονομία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el-GR" sz="975" b="1" kern="1200" spc="-10" noProof="0">
                          <a:solidFill>
                            <a:schemeClr val="tx2"/>
                          </a:solidFill>
                          <a:latin typeface="+mn-lt"/>
                          <a:ea typeface="+mn-ea"/>
                          <a:cs typeface="+mn-cs"/>
                        </a:rPr>
                        <a:t xml:space="preserve">Τομέας</a:t>
                      </a:r>
                    </a:p>
                    <a:p>
                      <a:r>
                        <a:rPr lang="el-GR" sz="975" b="0" kern="1200" spc="-10" noProof="0">
                          <a:solidFill>
                            <a:schemeClr val="tx2"/>
                          </a:solidFill>
                          <a:latin typeface="+mn-lt"/>
                          <a:ea typeface="+mn-ea"/>
                          <a:cs typeface="+mn-cs"/>
                        </a:rPr>
                        <a:t xml:space="preserve">(παρ.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Υπάρχει συγκεκριμένη πρακτική ή πολιτική στον τομέα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Είναι η πολιτική δημόσια διαθέσιμη;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Η επιχείρηση έχει μελλοντικές πρωτοβουλίες και σχέδια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Υπάρχουν συγκεκριμένοι στόχοι παρακολούθησης της εφαρμογής πρακτικών και πολιτικών;</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el-GR" sz="975" b="1" kern="1200" spc="-10" noProof="0">
                          <a:solidFill>
                            <a:schemeClr val="tx2"/>
                          </a:solidFill>
                          <a:latin typeface="+mn-lt"/>
                          <a:ea typeface="+mn-ea"/>
                          <a:cs typeface="+mn-cs"/>
                        </a:rPr>
                        <a:t xml:space="preserve">Κλιματική αλλαγή</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{{climate_change_concrete}}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{{climate_change_publicly}}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{{climate_change_future}}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{{climate_change_plan}}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el-GR" sz="975" b="1" kern="1200" spc="-10" noProof="0">
                          <a:solidFill>
                            <a:schemeClr val="tx2"/>
                          </a:solidFill>
                          <a:latin typeface="+mn-lt"/>
                          <a:ea typeface="+mn-ea"/>
                          <a:cs typeface="+mn-cs"/>
                        </a:rPr>
                        <a:t xml:space="preserve">Ρύπανση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{{pollution_concrete}}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{{pollution_publicly}}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{{pollution_future}}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{{pollution_plan}}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el-GR" sz="975" b="1" kern="1200" spc="-10" noProof="0">
                          <a:solidFill>
                            <a:schemeClr val="tx2"/>
                          </a:solidFill>
                          <a:latin typeface="+mn-lt"/>
                          <a:ea typeface="+mn-ea"/>
                          <a:cs typeface="+mn-cs"/>
                        </a:rPr>
                        <a:t xml:space="preserve">Υδάτινοι και θαλάσσιοι πόροι</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{{water_concrete}}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{{water_publicly}}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{{water_future}}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{{water_plan}}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el-GR" sz="975" b="1" kern="1200" spc="-10" noProof="0">
                          <a:solidFill>
                            <a:schemeClr val="tx2"/>
                          </a:solidFill>
                          <a:latin typeface="+mn-lt"/>
                          <a:ea typeface="+mn-ea"/>
                          <a:cs typeface="+mn-cs"/>
                        </a:rPr>
                        <a:t xml:space="preserve">Βιοποικιλότητα και οικοσυστήματα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{{biodiversity_concrete}}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{{biodiversity_publicly}}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{{biodiversity_future}}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{{biodiversity_plan}}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el-GR" sz="975" b="1" kern="1200" spc="-10" noProof="0">
                          <a:solidFill>
                            <a:schemeClr val="tx2"/>
                          </a:solidFill>
                          <a:latin typeface="+mn-lt"/>
                          <a:ea typeface="+mn-ea"/>
                          <a:cs typeface="+mn-cs"/>
                        </a:rPr>
                        <a:t xml:space="preserve">Κυκλική οικονομία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{{circular_concrete}}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{{circular_publicly}}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{{circular_future}}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{{circular_plan}}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el-GR" sz="975" b="1" kern="1200" spc="-10" noProof="0">
                          <a:solidFill>
                            <a:schemeClr val="tx2"/>
                          </a:solidFill>
                          <a:latin typeface="+mn-lt"/>
                          <a:ea typeface="+mn-ea"/>
                          <a:cs typeface="+mn-cs"/>
                        </a:rPr>
                        <a:t xml:space="preserve">Ίδιο εργατικό δυναμικό</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{{workforce_concrete}}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{{workforce_publicly}}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{{workforce_future}}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{{workforce_plan}}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el-GR" sz="975" b="1" kern="1200" spc="-10" noProof="0">
                          <a:solidFill>
                            <a:schemeClr val="tx2"/>
                          </a:solidFill>
                          <a:latin typeface="+mn-lt"/>
                          <a:ea typeface="+mn-ea"/>
                          <a:cs typeface="+mn-cs"/>
                        </a:rPr>
                        <a:t xml:space="preserve">Εργαζόμενοι στην αλυσίδα αξίας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{{workers_concrete}}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{{workers_publicly}}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{{workers_future}}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{{workers_plan}}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el-GR" sz="975" b="1" kern="1200" spc="-10" noProof="0">
                          <a:solidFill>
                            <a:schemeClr val="tx2"/>
                          </a:solidFill>
                          <a:latin typeface="+mn-lt"/>
                          <a:ea typeface="+mn-ea"/>
                          <a:cs typeface="+mn-cs"/>
                        </a:rPr>
                        <a:t xml:space="preserve">Επηρεαζόμενες κοινότητες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{{communities_concrete}}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{{communities_publicly}}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{{communities_future}}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{{communities_plan}}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el-GR" sz="975" b="1" kern="1200" spc="-10" noProof="0">
                          <a:solidFill>
                            <a:schemeClr val="tx2"/>
                          </a:solidFill>
                          <a:latin typeface="+mn-lt"/>
                          <a:ea typeface="+mn-ea"/>
                          <a:cs typeface="+mn-cs"/>
                        </a:rPr>
                        <a:t xml:space="preserve">Καταναλωτές και τελικοί χρήστες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{{consumers_concrete}}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{{consumers_publicly}}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{{consumers_future}}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{{consumers_plan}}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el-GR" sz="975" b="1" kern="1200" spc="-10" noProof="0">
                          <a:solidFill>
                            <a:schemeClr val="tx2"/>
                          </a:solidFill>
                          <a:latin typeface="+mn-lt"/>
                          <a:ea typeface="+mn-ea"/>
                          <a:cs typeface="+mn-cs"/>
                        </a:rPr>
                        <a:t xml:space="preserve">Επιχειρηματική δεοντολογία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975" b="0" i="0" u="none" strike="noStrike" noProof="0">
                          <a:solidFill>
                            <a:srgbClr val="1B4528"/>
                          </a:solidFill>
                          <a:effectLst/>
                          <a:latin typeface="Inter"/>
                        </a:rPr>
                        <a:t>{{governance_concrete}}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{{governance_publicly}}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975" b="0" i="0" u="none" strike="noStrike" noProof="0">
                          <a:solidFill>
                            <a:srgbClr val="1B4528"/>
                          </a:solidFill>
                          <a:effectLst/>
                          <a:latin typeface="Inter"/>
                        </a:rPr>
                        <a:t>{{governance_future}}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rgbClr val="1B4528"/>
                          </a:solidFill>
                          <a:latin typeface="Inter"/>
                        </a:rPr>
                        <a:t>{{governance_plan}}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el-GR" sz="975" b="0" i="0" u="none" strike="noStrike" noProof="0">
                <a:solidFill>
                  <a:schemeClr val="tx2"/>
                </a:solidFill>
                <a:effectLst/>
                <a:latin typeface="Inter"/>
              </a:rPr>
              <a:t xml:space="preserve">Η ενότητα αυτή παρουσιάζει τις πρακτικές, πολιτικές και μελλοντικές πρωτοβουλίες που εφάρμοσε η επιχείρηση για τη στήριξη μιας βιώσιμης οικονομίας. Περιλαμβάνει τα συγκεκριμένα μέτρα που έλαβε για τη μείωση των αρνητικών περιβαλλοντικών επιπτώσεων και τη βελτίωση των συνθηκών εργασίας και της ίσης μεταχείρισης (ΝΑΙ/ΟΧΙ).</a:t>
            </a:r>
            <a:br>
              <a:rPr lang="el-GR" sz="975" noProof="0">
                <a:solidFill>
                  <a:schemeClr val="tx2"/>
                </a:solidFill>
              </a:rPr>
            </a:br>
            <a:endParaRPr lang="el-GR"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l-GR" noProof="0" smtClean="0"/>
              <a:pPr/>
              <a:t>4</a:t>
            </a:fld>
            <a:endParaRPr lang="el-GR"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Κατανάλωση ενέργειας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212594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975" b="1" noProof="0">
                          <a:solidFill>
                            <a:schemeClr val="tx2"/>
                          </a:solidFill>
                        </a:rPr>
                        <a:t xml:space="preserve">Κατανάλωση ενέργειας σε MWh </a:t>
                      </a:r>
                      <a:r>
                        <a:rPr lang="el-GR" sz="975" b="0" noProof="0">
                          <a:solidFill>
                            <a:schemeClr val="tx2"/>
                          </a:solidFill>
                        </a:rPr>
                        <a:t xml:space="preserve">(παρ.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el-GR" sz="72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975" b="1" noProof="0">
                          <a:solidFill>
                            <a:schemeClr val="tx2"/>
                          </a:solidFill>
                        </a:rPr>
                        <a:t xml:space="preserve">Ανανεώσιμη κατανάλωση</a:t>
                      </a:r>
                      <a:r>
                        <a:rPr lang="el-GR"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975" b="1" noProof="0">
                          <a:solidFill>
                            <a:schemeClr val="tx2"/>
                          </a:solidFill>
                        </a:rPr>
                        <a:t xml:space="preserve">Μη ανανεώσιμη κατανάλωση</a:t>
                      </a:r>
                      <a:r>
                        <a:rPr lang="el-GR"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975" b="1" noProof="0">
                          <a:solidFill>
                            <a:schemeClr val="tx2"/>
                          </a:solidFill>
                        </a:rPr>
                        <a:t xml:space="preserve">Συνολική κατανάλωση (MWh)</a:t>
                      </a:r>
                    </a:p>
                    <a:p>
                      <a:pPr marL="0" marR="0" lvl="0" indent="0" algn="r" defTabSz="914400" rtl="0" eaLnBrk="1" fontAlgn="auto" latinLnBrk="0" hangingPunct="1">
                        <a:lnSpc>
                          <a:spcPct val="106000"/>
                        </a:lnSpc>
                        <a:spcBef>
                          <a:spcPts val="0"/>
                        </a:spcBef>
                        <a:spcAft>
                          <a:spcPts val="0"/>
                        </a:spcAft>
                        <a:buClrTx/>
                        <a:buSzTx/>
                        <a:buFontTx/>
                        <a:buNone/>
                        <a:tabLst/>
                        <a:defRPr/>
                      </a:pPr>
                      <a:r>
                        <a:rPr lang="el-GR"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el-GR" sz="975" b="1" noProof="0">
                          <a:solidFill>
                            <a:schemeClr val="tx2"/>
                          </a:solidFill>
                        </a:rPr>
                        <a:t xml:space="preserve">Ηλεκτρική ενέργεια </a:t>
                      </a:r>
                      <a:r>
                        <a:rPr lang="el-GR" sz="975" b="0" noProof="0">
                          <a:solidFill>
                            <a:schemeClr val="tx2"/>
                          </a:solidFill>
                        </a:rPr>
                        <a:t xml:space="preserve">(όπως προκύπτει από τους λογαριασμούς παροχών)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{{electricity_renewable}}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{{electricity_non_rewenable}}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{{total_electricity}}</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el-GR" sz="975" b="1" noProof="0">
                          <a:solidFill>
                            <a:schemeClr val="tx2"/>
                          </a:solidFill>
                        </a:rPr>
                        <a:t xml:space="preserve">Καύσιμα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{{fuel_renewable}}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{{fuel_non_rewenable}}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{{total_fuel}}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el-GR" sz="975" b="1" noProof="0">
                          <a:solidFill>
                            <a:schemeClr val="tx2"/>
                          </a:solidFill>
                        </a:rPr>
                        <a:t xml:space="preserve">Άλλο (π.χ. τηλεθέρμανση)</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{{district_heating_rewenable}}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{{district_heating_non_rewenable}}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{{total_district_heating}}</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el-GR" sz="975" b="1" noProof="0">
                          <a:solidFill>
                            <a:schemeClr val="tx2"/>
                          </a:solidFill>
                        </a:rPr>
                        <a:t xml:space="preserve">Σύνολο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{{renewable_energy_total}}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{{non_rewenable_energy_total}}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BM Plex Sans" panose="020B0503050203000203" pitchFamily="34" charset="0"/>
                        </a:rPr>
                        <a:t>{{total_energy_consumption}}</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5</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el-GR" sz="975" b="0" i="0" u="none" strike="noStrike" noProof="0">
                <a:solidFill>
                  <a:schemeClr val="tx2"/>
                </a:solidFill>
                <a:effectLst/>
                <a:latin typeface="Inter"/>
              </a:rPr>
              <a:t xml:space="preserve">Η ενότητα αυτή αναφέρει τις εκπομπές CO2 από την κατανάλωση ενέργειας, με διάκριση ανανεώσιμης και μη ανανεώσιμης κατανάλωσης. </a:t>
            </a:r>
            <a:r>
              <a:rPr lang="el-GR" sz="975" noProof="0">
                <a:solidFill>
                  <a:schemeClr val="tx2"/>
                </a:solidFill>
                <a:latin typeface="Inter"/>
              </a:rPr>
              <a:t xml:space="preserve">Οι εκπομπές αναφέρονται βάσει </a:t>
            </a:r>
            <a:r>
              <a:rPr lang="el-GR" sz="975" b="0" i="0" u="none" strike="noStrike" noProof="0">
                <a:solidFill>
                  <a:schemeClr val="tx2"/>
                </a:solidFill>
                <a:effectLst/>
                <a:latin typeface="Inter"/>
              </a:rPr>
              <a:t xml:space="preserve">των ορισμών του Πρωτοκόλλου GHG για τις άμεσες και έμμεσες εκπομπές. </a:t>
            </a:r>
            <a:br>
              <a:rPr lang="el-GR" sz="975" b="0" i="0" u="none" strike="noStrike" noProof="0" dirty="0">
                <a:effectLst/>
                <a:latin typeface="Inter"/>
              </a:rPr>
            </a:br>
            <a:br>
              <a:rPr lang="el-GR" sz="975" dirty="0">
                <a:latin typeface="Inter"/>
              </a:rPr>
            </a:br>
            <a:r>
              <a:rPr lang="el-GR" sz="650" b="0" i="0" u="none" strike="noStrike" noProof="0">
                <a:solidFill>
                  <a:schemeClr val="tx2"/>
                </a:solidFill>
                <a:effectLst/>
                <a:latin typeface="Inter"/>
              </a:rPr>
              <a:t> </a:t>
            </a:r>
            <a:endParaRPr lang="el-GR" sz="975" b="0" i="0" u="none" strike="noStrike" noProof="0" dirty="0">
              <a:solidFill>
                <a:schemeClr val="tx2"/>
              </a:solidFill>
              <a:effectLst/>
              <a:latin typeface="Inter"/>
            </a:endParaRPr>
          </a:p>
          <a:p>
            <a:pPr rtl="0">
              <a:buNone/>
            </a:pPr>
            <a:endParaRPr lang="el-GR" sz="975" b="0" noProof="0">
              <a:solidFill>
                <a:schemeClr val="tx2"/>
              </a:solidFill>
              <a:effectLst/>
              <a:latin typeface="Inter"/>
            </a:endParaRPr>
          </a:p>
          <a:p>
            <a:pPr>
              <a:buNone/>
            </a:pPr>
            <a:endParaRPr lang="el-GR" b="0" noProof="0">
              <a:solidFill>
                <a:schemeClr val="tx2"/>
              </a:solidFill>
              <a:effectLst/>
              <a:latin typeface="Inter"/>
            </a:endParaRPr>
          </a:p>
          <a:p>
            <a:pPr>
              <a:buNone/>
            </a:pPr>
            <a:endParaRPr lang="el-GR" sz="1325" noProof="0">
              <a:solidFill>
                <a:schemeClr val="tx2"/>
              </a:solidFill>
              <a:latin typeface="Inter"/>
            </a:endParaRPr>
          </a:p>
          <a:p>
            <a:pPr>
              <a:buNone/>
            </a:pPr>
            <a:endParaRPr lang="el-GR" sz="1325" b="0" noProof="0">
              <a:solidFill>
                <a:schemeClr val="tx2"/>
              </a:solidFill>
              <a:effectLst/>
              <a:latin typeface="Inter"/>
            </a:endParaRPr>
          </a:p>
          <a:p>
            <a:pPr>
              <a:buNone/>
            </a:pPr>
            <a:endParaRPr lang="el-GR" sz="1325" noProof="0">
              <a:solidFill>
                <a:schemeClr val="tx2"/>
              </a:solidFill>
              <a:latin typeface="Inter"/>
            </a:endParaRPr>
          </a:p>
          <a:p>
            <a:pPr>
              <a:buNone/>
            </a:pPr>
            <a:endParaRPr lang="el-GR" sz="1325" b="0" noProof="0">
              <a:solidFill>
                <a:schemeClr val="tx2"/>
              </a:solidFill>
              <a:effectLst/>
              <a:latin typeface="Inter"/>
            </a:endParaRPr>
          </a:p>
          <a:p>
            <a:endParaRPr lang="el-GR"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el-GR" sz="975" b="1" noProof="0">
                          <a:solidFill>
                            <a:schemeClr val="tx2"/>
                          </a:solidFill>
                        </a:rPr>
                        <a:t xml:space="preserve">Εκπομπές αερίων του θερμοκηπίου </a:t>
                      </a:r>
                      <a:r>
                        <a:rPr lang="el-GR" sz="975" b="0" noProof="0">
                          <a:solidFill>
                            <a:schemeClr val="tx2"/>
                          </a:solidFill>
                        </a:rPr>
                        <a:t xml:space="preserve">(παρ. 33)</a:t>
                      </a:r>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975" b="1" noProof="0">
                          <a:solidFill>
                            <a:schemeClr val="tx2"/>
                          </a:solidFill>
                        </a:rPr>
                        <a:t xml:space="preserve">Έτος </a:t>
                      </a:r>
                      <a:r>
                        <a:rPr lang="el-GR" sz="975" b="1" noProof="0">
                          <a:solidFill>
                            <a:srgbClr val="1B4528"/>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el-GR" sz="975" b="1" noProof="0">
                          <a:solidFill>
                            <a:schemeClr val="tx2"/>
                          </a:solidFill>
                        </a:rPr>
                        <a:t xml:space="preserve">Εκπομπές CO₂e Scope 1</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{{scope1}}</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el-GR" sz="975" b="1" noProof="0">
                          <a:solidFill>
                            <a:schemeClr val="tx2"/>
                          </a:solidFill>
                        </a:rPr>
                        <a:t xml:space="preserve">Εκπομπές CO₂e Scope 2 (βάσει τοποθεσίας)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{{scope2}}</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el-GR" sz="975" b="1" noProof="0">
                          <a:solidFill>
                            <a:schemeClr val="tx2"/>
                          </a:solidFill>
                        </a:rPr>
                        <a:t xml:space="preserve">Συνολικές εκπομπές CO₂e Scope 1 και 2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{{total_scope}}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13" name="B3 market-based (voluntary)"/>
          <p:cNvGraphicFramePr>
            <a:graphicFrameLocks noGrp="1"/>
          </p:cNvGraphicFramePr>
          <p:nvPr>
            <p:extLst>
              <p:ext uri="{D42A27DB-BD31-4B8C-83A1-F6EECF244321}">
                <p14:modId xmlns:p14="http://schemas.microsoft.com/office/powerpoint/2010/main" val="4106924491"/>
              </p:ext>
            </p:extLst>
          </p:nvPr>
        </p:nvGraphicFramePr>
        <p:xfrm>
          <a:off x="411480" y="7630596"/>
          <a:ext cx="6737040" cy="451312"/>
        </p:xfrm>
        <a:graphic>
          <a:graphicData uri="http://schemas.openxmlformats.org/drawingml/2006/table">
            <a:tbl>
              <a:tblPr firstRow="0">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5656">
                <a:tc>
                  <a:txBody>
                    <a:bodyPr/>
                    <a:lstStyle/>
                    <a:p>
                      <a:pPr>
                        <a:lnSpc>
                          <a:spcPct val="106000"/>
                        </a:lnSpc>
                      </a:pPr>
                      <a:r>
                        <a:rPr lang="el-GR" sz="975" b="1" noProof="0">
                          <a:solidFill>
                            <a:schemeClr val="tx2"/>
                          </a:solidFill>
                        </a:rPr>
                        <a:t xml:space="preserve">Εκπομπές CO₂e Scope 2 (βάσει αγοράς) (προαιρετικό)</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{{scope1_marked}}</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el-GR" sz="975" b="1" noProof="0">
                          <a:solidFill>
                            <a:schemeClr val="tx2"/>
                          </a:solidFill>
                        </a:rPr>
                        <a:t xml:space="preserve">Συνολικές εκπομπές CO₂e Scope 1 και 2 (βάσει αγοράς) (προαιρετικό)</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{{scope2_marked}}</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el-GR" b="1" dirty="0">
                <a:latin typeface="+mj-lt"/>
              </a:rPr>
            </a:br>
            <a:r>
              <a:rPr lang="el-GR" b="1" i="0" u="none" strike="noStrike" noProof="0">
                <a:solidFill>
                  <a:schemeClr val="tx2"/>
                </a:solidFill>
                <a:effectLst/>
                <a:latin typeface="+mj-lt"/>
              </a:rPr>
              <a:t xml:space="preserve">Εκπομπές CO₂e (B3)</a:t>
            </a:r>
            <a:endParaRPr lang="el-GR" noProof="0">
              <a:solidFill>
                <a:schemeClr val="tx2"/>
              </a:solidFill>
              <a:effectLst/>
              <a:latin typeface="+mj-lt"/>
            </a:endParaRPr>
          </a:p>
          <a:p>
            <a:r>
              <a:rPr lang="el-GR" sz="650">
                <a:latin typeface="Inter"/>
              </a:rPr>
              <a:t> </a:t>
            </a:r>
            <a:br>
              <a:rPr lang="el-GR" sz="975" dirty="0">
                <a:solidFill>
                  <a:schemeClr val="tx2"/>
                </a:solidFill>
                <a:latin typeface="Inter"/>
              </a:rPr>
            </a:br>
            <a:r>
              <a:rPr lang="el-GR" sz="975" b="0" i="0" u="none" strike="noStrike" noProof="0">
                <a:solidFill>
                  <a:schemeClr val="tx2"/>
                </a:solidFill>
                <a:effectLst/>
                <a:latin typeface="Inter"/>
              </a:rPr>
              <a:t xml:space="preserve">Η παρ. 33 περιέχει στοιχεία για τις εκπομπές αερίων του θερμοκηπίου της επιχείρησης, βάσει των εκπομπών Scope 1 και Scope 2. Το Scope 1 αφορά τις άμεσες εκπομπές από πηγές που η επιχείρηση κατέχει ή ελέγχει άμεσα, π.χ. καύση καυσίμου σε εταιρικά οχήματα, θέρμανση κτιρίων με φυσικό αέριο, καθώς και εκπομπές από βιομηχανικές διεργασίες και διαρροές σε συστήματα όπως η ψύξη.</a:t>
            </a:r>
            <a:r>
              <a:rPr lang="el-GR" sz="975" noProof="0">
                <a:solidFill>
                  <a:schemeClr val="tx2"/>
                </a:solidFill>
                <a:latin typeface="Inter"/>
              </a:rPr>
              <a:t> </a:t>
            </a:r>
            <a:r>
              <a:rPr lang="el-GR" sz="975" b="0" i="0" u="none" strike="noStrike" noProof="0">
                <a:solidFill>
                  <a:schemeClr val="tx2"/>
                </a:solidFill>
                <a:effectLst/>
                <a:latin typeface="Inter"/>
              </a:rPr>
              <a:t xml:space="preserve">Το Scope 2</a:t>
            </a:r>
            <a:r>
              <a:rPr lang="el-GR" sz="975" noProof="0">
                <a:solidFill>
                  <a:schemeClr val="tx2"/>
                </a:solidFill>
                <a:latin typeface="Inter"/>
              </a:rPr>
              <a:t xml:space="preserve"> αφορά τις έ</a:t>
            </a:r>
            <a:r>
              <a:rPr lang="el-GR" sz="975" b="0" i="0" u="none" strike="noStrike" noProof="0">
                <a:solidFill>
                  <a:schemeClr val="tx2"/>
                </a:solidFill>
                <a:effectLst/>
                <a:latin typeface="Inter"/>
              </a:rPr>
              <a:t xml:space="preserve">μμεσες εκπομπές από αγορασθείσα ηλεκτρική ενέργεια, δηλ. εκπομπές από την παραγωγή ηλεκτρικής ενέργειας, ατμού, θερμότητας ή ψύξης που αγοράζει και χρησιμοποιεί η επιχείρηση. Παρότι προέρχονται από τους παραγωγούς ενέργειας, αποδίδονται στην επιχείρηση, καθώς αυτή καταναλώνει την ενέργεια.</a:t>
            </a:r>
            <a:endParaRPr lang="el-GR"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Ρύπανση του αέρα, του νερού και του εδάφους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el-GR" sz="806" b="1" noProof="0">
                          <a:solidFill>
                            <a:schemeClr val="tx2"/>
                          </a:solidFill>
                        </a:rPr>
                        <a:t xml:space="preserve">Ρύπανση του αέρα, του νερού και του εδάφους </a:t>
                      </a:r>
                      <a:r>
                        <a:rPr lang="el-GR" sz="806" b="0" noProof="0">
                          <a:solidFill>
                            <a:schemeClr val="tx2"/>
                          </a:solidFill>
                        </a:rPr>
                        <a:t xml:space="preserve">(παρ.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el-GR" sz="806" b="1" noProof="0">
                          <a:solidFill>
                            <a:schemeClr val="tx2"/>
                          </a:solidFill>
                        </a:rPr>
                        <a:t xml:space="preserve">Τύπος ρύπανσης </a:t>
                      </a:r>
                      <a:r>
                        <a:rPr lang="el-GR" sz="806" b="0" noProof="0">
                          <a:solidFill>
                            <a:schemeClr val="tx2"/>
                          </a:solidFill>
                        </a:rPr>
                        <a:t xml:space="preserve">(π.χ. ουσία)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806" b="1" noProof="0">
                          <a:solidFill>
                            <a:schemeClr val="tx2"/>
                          </a:solidFill>
                        </a:rPr>
                        <a:t xml:space="preserve">Πού; </a:t>
                      </a:r>
                      <a:r>
                        <a:rPr lang="el-GR" sz="806" b="0" noProof="0">
                          <a:solidFill>
                            <a:schemeClr val="tx2"/>
                          </a:solidFill>
                        </a:rPr>
                        <a:t xml:space="preserve">(αέρας, νερό, έδαφος)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806" b="1" noProof="0">
                          <a:solidFill>
                            <a:schemeClr val="tx2"/>
                          </a:solidFill>
                        </a:rPr>
                        <a:t xml:space="preserve">Ποσότητα</a:t>
                      </a:r>
                      <a:endParaRPr lang="el-GR" sz="806"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lgn="l">
                        <a:buNone/>
                      </a:pPr>
                      <a:r>
                        <a:rPr lang="el-GR" sz="806" b="0" i="0" u="none" strike="noStrike" noProof="0">
                          <a:solidFill>
                            <a:srgbClr val="1B4528"/>
                          </a:solidFill>
                          <a:effectLst/>
                          <a:latin typeface="Inter"/>
                        </a:rPr>
                        <a:t>{{type_of_pollution}}</a:t>
                      </a:r>
                      <a:endParaRPr lang="el-GR" sz="806"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el-GR" sz="806" b="0" i="0" u="none" strike="noStrike" noProof="0">
                          <a:solidFill>
                            <a:srgbClr val="1B4528"/>
                          </a:solidFill>
                          <a:effectLst/>
                          <a:latin typeface="Inter"/>
                        </a:rPr>
                        <a:t>{{scope_pollution}}</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806" b="0" i="0" u="none" strike="noStrike" noProof="0">
                          <a:solidFill>
                            <a:srgbClr val="1B4528"/>
                          </a:solidFill>
                          <a:effectLst/>
                          <a:latin typeface="Inter"/>
                        </a:rPr>
                        <a:t>{{</a:t>
                      </a:r>
                      <a:r>
                        <a:rPr lang="el-GR" sz="806" b="0" i="0" u="none" strike="noStrike" noProof="0">
                          <a:solidFill>
                            <a:srgbClr val="1B4528"/>
                          </a:solidFill>
                          <a:effectLst/>
                          <a:latin typeface="Inter"/>
                        </a:rPr>
                        <a:t>pollution_medium</a:t>
                      </a:r>
                      <a:r>
                        <a:rPr lang="el-GR" sz="806" b="0" i="0" u="none" strike="noStrike" noProof="0">
                          <a:solidFill>
                            <a:srgbClr val="1B4528"/>
                          </a:solidFill>
                          <a:effectLst/>
                          <a:latin typeface="Inter"/>
                        </a:rPr>
                        <a:t>}}</a:t>
                      </a:r>
                      <a:endParaRPr lang="el-G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el-GR" sz="806" b="0" i="0" u="none" strike="noStrike" noProof="0">
                <a:solidFill>
                  <a:schemeClr val="tx2"/>
                </a:solidFill>
                <a:effectLst/>
                <a:latin typeface="Inter"/>
              </a:rPr>
              <a:t xml:space="preserve">Η επιχείρηση αναφέρει τη συνολική ποσότητα ρύπων που εκπέμπονται από τις εγκαταστάσεις της. Οι συγκεκριμένοι ρύποι και οι ποσότητές τους στον αέρα, το νερό και το έδαφος</a:t>
            </a:r>
            <a:r>
              <a:rPr lang="el-GR" sz="806" noProof="0">
                <a:solidFill>
                  <a:schemeClr val="tx2"/>
                </a:solidFill>
                <a:latin typeface="Inter"/>
              </a:rPr>
              <a:t xml:space="preserve"> παρατίθενται κατωτέρω.</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noProof="0"/>
              <a:t xml:space="preserve">Βιοποικιλότητα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29933"/>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el-GR" sz="806" b="1" noProof="0">
                          <a:solidFill>
                            <a:schemeClr val="tx2"/>
                          </a:solidFill>
                        </a:rPr>
                        <a:t xml:space="preserve">Τοποθεσίες εντός ή πλησίον «περιοχών ευαίσθητων ως προς τη βιοποικιλότητα» που η επιχείρηση κατέχει, μισθώνει ή διαχειρίζεται </a:t>
                      </a:r>
                      <a:r>
                        <a:rPr lang="el-GR" sz="806" b="0" noProof="0">
                          <a:solidFill>
                            <a:schemeClr val="tx2"/>
                          </a:solidFill>
                        </a:rPr>
                        <a:t xml:space="preserve">(παρ.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el-GR" sz="806" b="1" noProof="0">
                          <a:solidFill>
                            <a:schemeClr val="tx2"/>
                          </a:solidFill>
                        </a:rPr>
                        <a:t xml:space="preserve">Τοποθεσία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806" b="1" noProof="0">
                          <a:solidFill>
                            <a:schemeClr val="tx2"/>
                          </a:solidFill>
                        </a:rPr>
                        <a:t xml:space="preserve">Έκταση σε εκτάρια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806" b="1" noProof="0">
                          <a:solidFill>
                            <a:schemeClr val="tx2"/>
                          </a:solidFill>
                        </a:rPr>
                        <a:t xml:space="preserve">Ευαίσθητη περιοχή βιοποικιλότητας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806" b="1" noProof="0">
                          <a:solidFill>
                            <a:schemeClr val="tx2"/>
                          </a:solidFill>
                        </a:rPr>
                        <a:t xml:space="preserve">Διευκρίνιση: εντός ή πλησίον ευαίσθητης περιοχής βιοποικιλότητας</a:t>
                      </a:r>
                      <a:endParaRPr lang="el-GR"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lgn="l">
                        <a:buNone/>
                      </a:pPr>
                      <a:r>
                        <a:rPr lang="el-GR" sz="806" b="0" i="0" u="none" strike="noStrike" noProof="0">
                          <a:solidFill>
                            <a:srgbClr val="1B4528"/>
                          </a:solidFill>
                          <a:effectLst/>
                          <a:latin typeface="Inter"/>
                        </a:rPr>
                        <a:t>{{country_location}}</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806" b="0" i="0" u="none" strike="noStrike" noProof="0">
                          <a:solidFill>
                            <a:srgbClr val="1B4528"/>
                          </a:solidFill>
                          <a:effectLst/>
                          <a:latin typeface="Inter"/>
                        </a:rPr>
                        <a:t> {{area_hect}}</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806" b="0" i="0" u="none" strike="noStrike" noProof="0">
                          <a:solidFill>
                            <a:srgbClr val="1B4528"/>
                          </a:solidFill>
                          <a:effectLst/>
                          <a:latin typeface="Inter"/>
                        </a:rPr>
                        <a:t>{{area_name}}</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806" b="0" i="0" u="none" strike="noStrike" noProof="0">
                          <a:solidFill>
                            <a:srgbClr val="1B4528"/>
                          </a:solidFill>
                          <a:effectLst/>
                          <a:latin typeface="Inter"/>
                        </a:rPr>
                        <a:t>{{</a:t>
                      </a:r>
                      <a:r>
                        <a:rPr lang="el-GR" sz="806" b="0" i="0" u="none" strike="noStrike" noProof="0">
                          <a:solidFill>
                            <a:srgbClr val="1B4528"/>
                          </a:solidFill>
                          <a:effectLst/>
                          <a:latin typeface="Inter"/>
                        </a:rPr>
                        <a:t>biosensitive_area</a:t>
                      </a:r>
                      <a:r>
                        <a:rPr lang="el-GR" sz="806" b="0" i="0" u="none" strike="noStrike" noProof="0">
                          <a:solidFill>
                            <a:srgbClr val="1B4528"/>
                          </a:solidFill>
                          <a:effectLst/>
                          <a:latin typeface="Inter"/>
                        </a:rPr>
                        <a:t>}}</a:t>
                      </a:r>
                      <a:endParaRPr lang="el-G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el-GR" sz="806" b="0" i="0" u="none" strike="noStrike" noProof="0">
                <a:solidFill>
                  <a:schemeClr val="tx2"/>
                </a:solidFill>
                <a:effectLst/>
                <a:latin typeface="Inter"/>
              </a:rPr>
              <a:t xml:space="preserve">Τα στοιχεία της επιχείρησης αφορούν τις τοποθεσίες δραστηριότητας που βρίσκονται εντός ή πλησίον περιοχών ευαίσθητων ως προς τη βιοποικιλότητα. Οι περιοχές αυτές ορίζονται ως τέτοιες από ειδικές διατάξεις προστασίας της φύσης σε ευρωπαϊκό ή διεθνές επίπεδο. Περιλαμβάνουν περιοχές Natura 2000, UNESCO και βασικές περιοχές βιοποικιλότητας (KBA), καθώς και άλλες προστατευόμενες περιοχές.</a:t>
            </a:r>
            <a:endParaRPr lang="el-GR" sz="806"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66543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a:t xml:space="preserve">Νερό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674180"/>
          <a:ext cx="3295368" cy="970869"/>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4900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noProof="0">
                          <a:solidFill>
                            <a:schemeClr val="tx2"/>
                          </a:solidFill>
                        </a:rPr>
                        <a:t xml:space="preserve">Άντληση νερού </a:t>
                      </a:r>
                      <a:r>
                        <a:rPr lang="el-GR" sz="806" b="0" noProof="0">
                          <a:solidFill>
                            <a:schemeClr val="tx2"/>
                          </a:solidFill>
                        </a:rPr>
                        <a:t xml:space="preserve">(παρ.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806" b="1" noProof="0">
                          <a:solidFill>
                            <a:schemeClr val="tx2"/>
                          </a:solidFill>
                        </a:rPr>
                        <a:t xml:space="preserve">Έτος </a:t>
                      </a:r>
                      <a:r>
                        <a:rPr lang="el-GR"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0866">
                <a:tc>
                  <a:txBody>
                    <a:bodyPr/>
                    <a:lstStyle/>
                    <a:p>
                      <a:r>
                        <a:rPr lang="el-GR" sz="806" b="0" noProof="0">
                          <a:solidFill>
                            <a:schemeClr val="tx2"/>
                          </a:solidFill>
                        </a:rPr>
                        <a:t xml:space="preserve">Σύνολο για όλες τις τοποθεσίες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806" b="0" i="0" u="none" strike="noStrike" kern="1200" cap="none" spc="0" normalizeH="0" baseline="0" noProof="0">
                          <a:ln>
                            <a:noFill/>
                          </a:ln>
                          <a:solidFill>
                            <a:srgbClr val="1B4528"/>
                          </a:solidFill>
                          <a:effectLst/>
                          <a:uLnTx/>
                          <a:uFillTx/>
                          <a:latin typeface="+mn-lt"/>
                          <a:ea typeface="+mn-ea"/>
                          <a:cs typeface="+mn-cs"/>
                        </a:rPr>
                        <a:t>{{</a:t>
                      </a:r>
                      <a:r>
                        <a:rPr kumimoji="0" lang="el-GR" sz="806" b="0" i="0" u="none" strike="noStrike" kern="1200" cap="none" spc="0" normalizeH="0" baseline="0" noProof="0">
                          <a:ln>
                            <a:noFill/>
                          </a:ln>
                          <a:solidFill>
                            <a:srgbClr val="1B4528"/>
                          </a:solidFill>
                          <a:effectLst/>
                          <a:uLnTx/>
                          <a:uFillTx/>
                          <a:latin typeface="+mn-lt"/>
                          <a:ea typeface="+mn-ea"/>
                          <a:cs typeface="+mn-cs"/>
                        </a:rPr>
                        <a:t>total_withdrawal</a:t>
                      </a:r>
                      <a:r>
                        <a:rPr kumimoji="0" lang="el-GR" sz="806"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674179"/>
          <a:ext cx="3295368" cy="970870"/>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329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noProof="0">
                          <a:solidFill>
                            <a:schemeClr val="tx2"/>
                          </a:solidFill>
                        </a:rPr>
                        <a:t xml:space="preserve">Κατανάλωση νερού </a:t>
                      </a:r>
                      <a:r>
                        <a:rPr lang="el-GR" sz="806" b="0" noProof="0">
                          <a:solidFill>
                            <a:schemeClr val="tx2"/>
                          </a:solidFill>
                        </a:rPr>
                        <a:t xml:space="preserve">(παρ.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806" b="1" noProof="0">
                          <a:solidFill>
                            <a:schemeClr val="tx2"/>
                          </a:solidFill>
                        </a:rPr>
                        <a:t xml:space="preserve">Έτος </a:t>
                      </a:r>
                      <a:r>
                        <a:rPr lang="el-GR"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8687">
                <a:tc>
                  <a:txBody>
                    <a:bodyPr/>
                    <a:lstStyle/>
                    <a:p>
                      <a:r>
                        <a:rPr lang="el-GR" sz="806" b="0" noProof="0">
                          <a:solidFill>
                            <a:schemeClr val="tx2"/>
                          </a:solidFill>
                        </a:rPr>
                        <a:t xml:space="preserve">Σύνολο για όλες τις τοποθεσίες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{{consumption_total}}</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43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0" noProof="0">
                          <a:solidFill>
                            <a:schemeClr val="tx2"/>
                          </a:solidFill>
                        </a:rPr>
                        <a:t xml:space="preserve">Από τοποθεσίες σε περιοχές λειψυδρίας (υψηλή υδατική καταπόνηση)</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a:t>
                      </a:r>
                      <a:r>
                        <a:rPr lang="el-GR" sz="806" b="0" i="0" u="none" strike="noStrike" noProof="0">
                          <a:solidFill>
                            <a:srgbClr val="1B4528"/>
                          </a:solidFill>
                          <a:effectLst/>
                          <a:latin typeface="Inter"/>
                        </a:rPr>
                        <a:t>consumption_waterstress</a:t>
                      </a:r>
                      <a:r>
                        <a:rPr lang="el-GR" sz="806" b="0" i="0" u="none" strike="noStrike" noProof="0">
                          <a:solidFill>
                            <a:srgbClr val="1B4528"/>
                          </a:solidFill>
                          <a:effectLst/>
                          <a:latin typeface="Inter"/>
                        </a:rPr>
                        <a:t>}}</a:t>
                      </a:r>
                      <a:endParaRPr lang="el-GR"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4996139"/>
            <a:ext cx="6737040" cy="384705"/>
          </a:xfrm>
          <a:prstGeom prst="rect">
            <a:avLst/>
          </a:prstGeom>
          <a:noFill/>
        </p:spPr>
        <p:txBody>
          <a:bodyPr wrap="square">
            <a:spAutoFit/>
          </a:bodyPr>
          <a:lstStyle/>
          <a:p>
            <a:pPr rtl="0">
              <a:spcBef>
                <a:spcPts val="750"/>
              </a:spcBef>
              <a:buNone/>
            </a:pPr>
            <a:r>
              <a:rPr lang="el-GR" sz="806" b="0" i="0" u="none" strike="noStrike" noProof="0">
                <a:solidFill>
                  <a:schemeClr val="tx2"/>
                </a:solidFill>
                <a:effectLst/>
                <a:latin typeface="Inter"/>
              </a:rPr>
              <a:t xml:space="preserve">Η άντληση νερού είναι η ποσότητα νερού που χρησιμοποιεί η επιχείρηση, όπου </a:t>
            </a:r>
            <a:r>
              <a:rPr lang="el-GR" sz="806" noProof="0">
                <a:solidFill>
                  <a:schemeClr val="tx2"/>
                </a:solidFill>
                <a:latin typeface="Inter"/>
              </a:rPr>
              <a:t xml:space="preserve">η κατανάλωση δηλώνει το νερό που </a:t>
            </a:r>
            <a:r>
              <a:rPr lang="el-GR" sz="806" b="0" i="0" u="none" strike="noStrike" noProof="0">
                <a:solidFill>
                  <a:schemeClr val="tx2"/>
                </a:solidFill>
                <a:effectLst/>
                <a:latin typeface="Inter"/>
              </a:rPr>
              <a:t xml:space="preserve">δεν απορρίπτεται, ούτε προβλέπεται να απορριφθεί, στο υδάτινο περιβάλλον ή σε τρίτους. Η ενότητα αυτή αναφέρει τη συνολική άντληση νερού. Η κατανάλωση</a:t>
            </a:r>
            <a:r>
              <a:rPr lang="el-GR" sz="806" noProof="0">
                <a:solidFill>
                  <a:schemeClr val="tx2"/>
                </a:solidFill>
                <a:latin typeface="Inter"/>
              </a:rPr>
              <a:t> </a:t>
            </a:r>
            <a:r>
              <a:rPr lang="el-GR" sz="806" b="0" i="0" u="none" strike="noStrike" noProof="0">
                <a:solidFill>
                  <a:schemeClr val="tx2"/>
                </a:solidFill>
                <a:effectLst/>
                <a:latin typeface="Inter"/>
              </a:rPr>
              <a:t xml:space="preserve">και η απόρριψη νερού από περιοχές υψηλής υδατικής καταπόνησης παρατίθενται κατωτέρω.</a:t>
            </a:r>
            <a:endParaRPr lang="el-GR" sz="806"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06670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noProof="0"/>
              <a:t xml:space="preserve">Χρήση πόρων, κυκλική οικονομία και διαχείριση αποβλήτων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487219"/>
          <a:ext cx="3295368" cy="821437"/>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noProof="0">
                          <a:solidFill>
                            <a:schemeClr val="tx2"/>
                          </a:solidFill>
                        </a:rPr>
                        <a:t xml:space="preserve">Εφαρμογή αρχών κυκλικής οικονομίας </a:t>
                      </a:r>
                      <a:r>
                        <a:rPr lang="el-GR" sz="806" b="0" noProof="0">
                          <a:solidFill>
                            <a:schemeClr val="tx2"/>
                          </a:solidFill>
                        </a:rPr>
                        <a:t xml:space="preserve">(παρ.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el-GR" sz="806" b="0" noProof="0">
                          <a:solidFill>
                            <a:schemeClr val="tx2"/>
                          </a:solidFill>
                        </a:rPr>
                        <a:t xml:space="preserve">Η επιχείρησή μου εφαρμόζει αρχές κυκλικής οικονομίας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806" b="1" noProof="0">
                          <a:solidFill>
                            <a:schemeClr val="tx2"/>
                          </a:solidFill>
                        </a:rPr>
                        <a:t xml:space="preserve">Ναι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806" b="1" noProof="0">
                          <a:solidFill>
                            <a:schemeClr val="tx2"/>
                          </a:solidFill>
                        </a:rPr>
                        <a:t xml:space="preserve">Όχι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806" b="0" i="0" u="none" strike="noStrike" noProof="0">
                          <a:solidFill>
                            <a:srgbClr val="1B4528"/>
                          </a:solidFill>
                          <a:effectLst/>
                          <a:latin typeface="Inter"/>
                        </a:rPr>
                        <a:t>{{circular_economy_princples_yes}}</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806" b="0" i="0" u="none" strike="noStrike" noProof="0">
                          <a:solidFill>
                            <a:srgbClr val="1B4528"/>
                          </a:solidFill>
                          <a:effectLst/>
                          <a:latin typeface="Inter"/>
                        </a:rPr>
                        <a:t>{{circular_economy_princples_no?}}</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470197"/>
            <a:ext cx="3295368" cy="692470"/>
          </a:xfrm>
          <a:prstGeom prst="rect">
            <a:avLst/>
          </a:prstGeom>
          <a:noFill/>
        </p:spPr>
        <p:txBody>
          <a:bodyPr wrap="square" lIns="76197" tIns="38098" rIns="76197" bIns="38098" anchor="t">
            <a:spAutoFit/>
          </a:bodyPr>
          <a:lstStyle/>
          <a:p>
            <a:pPr rtl="0">
              <a:buNone/>
            </a:pPr>
            <a:r>
              <a:rPr lang="el-GR" sz="806" b="0" i="0" u="none" strike="noStrike" noProof="0">
                <a:solidFill>
                  <a:schemeClr val="tx2"/>
                </a:solidFill>
                <a:effectLst/>
                <a:latin typeface="Inter"/>
              </a:rPr>
              <a:t xml:space="preserve">Η γνωστοποίηση αυτή αναφέρει εάν η επιχείρηση</a:t>
            </a:r>
            <a:r>
              <a:rPr lang="el-GR" sz="806" noProof="0">
                <a:solidFill>
                  <a:schemeClr val="tx2"/>
                </a:solidFill>
                <a:latin typeface="Inter"/>
              </a:rPr>
              <a:t xml:space="preserve"> εφαρμόζει αρχές κυκλικής οικονομίας, μεταξύ άλλων αρχές μείωσης αποβλήτων και ρύπανσης και έμφαση σε κυκλικά προϊόντα και υλικά.</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598462"/>
          <a:ext cx="6737040" cy="972231"/>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el-GR" sz="806" b="1" noProof="0">
                          <a:solidFill>
                            <a:schemeClr val="tx2"/>
                          </a:solidFill>
                        </a:rPr>
                        <a:t xml:space="preserve">Περιγραφή του τρόπου εφαρμογής των αρχών κυκλικής οικονομίας </a:t>
                      </a:r>
                      <a:r>
                        <a:rPr lang="el-GR" sz="806" b="0" noProof="0">
                          <a:solidFill>
                            <a:schemeClr val="tx2"/>
                          </a:solidFill>
                        </a:rPr>
                        <a:t xml:space="preserve">(παρ. 38 συνέχεια)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el-GR" sz="806" b="0" kern="1200" noProof="0">
                          <a:solidFill>
                            <a:srgbClr val="1B4528"/>
                          </a:solidFill>
                          <a:latin typeface="+mn-lt"/>
                          <a:ea typeface="+mn-ea"/>
                          <a:cs typeface="+mn-cs"/>
                        </a:rPr>
                        <a:t>{{</a:t>
                      </a:r>
                      <a:r>
                        <a:rPr lang="el-GR" sz="806" b="0" kern="1200" noProof="0">
                          <a:solidFill>
                            <a:srgbClr val="1B4528"/>
                          </a:solidFill>
                          <a:latin typeface="+mn-lt"/>
                          <a:ea typeface="+mn-ea"/>
                          <a:cs typeface="+mn-cs"/>
                        </a:rPr>
                        <a:t>description_of_circular_economies</a:t>
                      </a:r>
                      <a:r>
                        <a:rPr lang="el-GR" sz="806" b="0" kern="1200" noProof="0">
                          <a:solidFill>
                            <a:srgbClr val="1B4528"/>
                          </a:solidFill>
                          <a:latin typeface="+mn-lt"/>
                          <a:ea typeface="+mn-ea"/>
                          <a:cs typeface="+mn-cs"/>
                        </a:rPr>
                        <a:t>}}</a:t>
                      </a:r>
                    </a:p>
                    <a:p>
                      <a:pPr algn="l"/>
                      <a:endParaRPr lang="el-GR" sz="806" b="0" kern="1200" noProof="0" dirty="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el-GR" noProof="0" smtClean="0"/>
              <a:pPr/>
              <a:t>6</a:t>
            </a:fld>
            <a:endParaRPr lang="el-GR"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Χρήση πόρων, κυκλική οικονομία και διαχείριση αποβλήτων (B7) – συνέχεια</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61528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el-GR" sz="975" b="1" noProof="0">
                          <a:solidFill>
                            <a:schemeClr val="tx2"/>
                          </a:solidFill>
                        </a:rPr>
                        <a:t xml:space="preserve">Συνολική ετήσια παραγωγή αποβλήτων</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86343">
                <a:tc>
                  <a:txBody>
                    <a:bodyPr/>
                    <a:lstStyle/>
                    <a:p>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975" b="1" noProof="0">
                          <a:solidFill>
                            <a:schemeClr val="tx2"/>
                          </a:solidFill>
                        </a:rPr>
                        <a:t xml:space="preserve">Συνολική ποσότητα αποβλήτων </a:t>
                      </a:r>
                      <a:r>
                        <a:rPr lang="el-GR" sz="975" b="0" noProof="0">
                          <a:solidFill>
                            <a:schemeClr val="tx2"/>
                          </a:solidFill>
                        </a:rPr>
                        <a:t xml:space="preserve">(παρ.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975" b="1" noProof="0">
                          <a:solidFill>
                            <a:schemeClr val="tx2"/>
                          </a:solidFill>
                        </a:rPr>
                        <a:t xml:space="preserve">Απόβλητα που διοχετεύονται σε ανακύκλωση ή προετοιμασία επαναχρησιμοποίησης </a:t>
                      </a:r>
                      <a:r>
                        <a:rPr lang="el-GR" sz="975" b="0" noProof="0">
                          <a:solidFill>
                            <a:schemeClr val="tx2"/>
                          </a:solidFill>
                        </a:rPr>
                        <a:t xml:space="preserve">(παρ.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Μη επικίνδυνα απόβλητα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lgn="l">
                        <a:buNone/>
                      </a:pPr>
                      <a:r>
                        <a:rPr lang="el-GR" sz="975" b="0" i="0" u="none" strike="noStrike" noProof="0">
                          <a:solidFill>
                            <a:srgbClr val="1B4528"/>
                          </a:solidFill>
                          <a:effectLst/>
                          <a:latin typeface="Inter"/>
                        </a:rPr>
                        <a:t>{{Type_af_affald}}</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{{kg_tons_total}}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nter"/>
                        </a:rPr>
                        <a:t>{{genbrug_kg_tons}}</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el-GR" sz="975" b="1" noProof="0">
                          <a:solidFill>
                            <a:schemeClr val="tx2"/>
                          </a:solidFill>
                        </a:rPr>
                        <a:t xml:space="preserve">Επικίνδυνα απόβλητα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lgn="l">
                        <a:buNone/>
                      </a:pPr>
                      <a:r>
                        <a:rPr lang="el-GR" sz="975" b="0" i="0" u="none" strike="noStrike" noProof="0">
                          <a:solidFill>
                            <a:srgbClr val="1B4528"/>
                          </a:solidFill>
                          <a:effectLst/>
                          <a:latin typeface="Inter"/>
                        </a:rPr>
                        <a:t>{{Type_af_affald_farlig}}</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{{farlig_kg_tons}}</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farlig_genbrug_kg_tons</a:t>
                      </a:r>
                      <a:r>
                        <a:rPr lang="el-GR" sz="975" b="0" i="0" u="none" strike="noStrike" noProof="0">
                          <a:solidFill>
                            <a:srgbClr val="1B4528"/>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7</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ενότητα που ακολουθεί περιέχει στοιχεία για τη χρήση υλικών και τη διαχείριση αποβλήτων. Τα στοιχεία αφορούν την κυκλική οικονομία και δείχνουν την κατανομή της συνολικής ετήσιας παραγωγής αποβλήτων (επικίνδυνα/μη επικίνδυνα), καθώς και τις ποσότητες σημαντικών υλικών. </a:t>
            </a:r>
            <a:endParaRPr lang="el-GR"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15509" y="4169114"/>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el-GR" sz="975" b="1" noProof="0">
                          <a:solidFill>
                            <a:schemeClr val="tx2"/>
                          </a:solidFill>
                        </a:rPr>
                        <a:t xml:space="preserve">Σημαντικά υλικά </a:t>
                      </a:r>
                      <a:r>
                        <a:rPr lang="el-GR" sz="975" b="0" noProof="0">
                          <a:solidFill>
                            <a:schemeClr val="tx2"/>
                          </a:solidFill>
                        </a:rPr>
                        <a:t xml:space="preserve">(παρ.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975" b="1" noProof="0">
                          <a:solidFill>
                            <a:schemeClr val="tx2"/>
                          </a:solidFill>
                        </a:rPr>
                        <a:t xml:space="preserve">Ετήσια ροή μάζας </a:t>
                      </a:r>
                      <a:r>
                        <a:rPr lang="el-GR" sz="975" b="1" noProof="0">
                          <a:solidFill>
                            <a:srgbClr val="1B4528"/>
                          </a:solidFill>
                        </a:rPr>
                        <a:t>{{insert_year}}</a:t>
                      </a:r>
                      <a:endParaRPr lang="el-G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pPr algn="l"/>
                      <a:r>
                        <a:rPr lang="el-GR" sz="975" b="0" i="0" u="none" strike="noStrike" noProof="0">
                          <a:solidFill>
                            <a:srgbClr val="1B4528"/>
                          </a:solidFill>
                          <a:latin typeface="Inter"/>
                        </a:rPr>
                        <a:t>{{significant_material}}</a:t>
                      </a:r>
                      <a:endParaRPr lang="el-GR" sz="975" b="0" noProof="0">
                        <a:solidFill>
                          <a:srgbClr val="1B4528"/>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l-GR" sz="975" b="0" i="0" u="none" strike="noStrike" noProof="0">
                          <a:solidFill>
                            <a:srgbClr val="1B4528"/>
                          </a:solidFill>
                          <a:latin typeface="Inter"/>
                        </a:rPr>
                        <a:t>{{</a:t>
                      </a:r>
                      <a:r>
                        <a:rPr lang="el-GR" sz="975" b="0" i="0" u="none" strike="noStrike" noProof="0">
                          <a:solidFill>
                            <a:srgbClr val="1B4528"/>
                          </a:solidFill>
                          <a:latin typeface="Inter"/>
                        </a:rPr>
                        <a:t>significant_material_unit</a:t>
                      </a:r>
                      <a:r>
                        <a:rPr lang="el-GR" sz="975" b="0" i="0" u="none" strike="noStrike" noProof="0">
                          <a:solidFill>
                            <a:srgbClr val="1B4528"/>
                          </a:solidFill>
                          <a:latin typeface="Inter"/>
                        </a:rPr>
                        <a:t>}}</a:t>
                      </a:r>
                      <a:endParaRPr lang="el-GR"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Ίδιο εργατικό δυναμικό: γενικά χαρακτηριστικά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720837"/>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71789">
                <a:tc>
                  <a:txBody>
                    <a:bodyPr/>
                    <a:lstStyle/>
                    <a:p>
                      <a:r>
                        <a:rPr lang="el-GR" sz="975" b="1" noProof="0">
                          <a:solidFill>
                            <a:schemeClr val="tx2"/>
                          </a:solidFill>
                        </a:rPr>
                        <a:t xml:space="preserve">Τύπος σύμβασης </a:t>
                      </a:r>
                      <a:r>
                        <a:rPr lang="el-GR" sz="975" b="0" noProof="0">
                          <a:solidFill>
                            <a:schemeClr val="tx2"/>
                          </a:solidFill>
                        </a:rPr>
                        <a:t xml:space="preserve">(παρ.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rPr>
                        <a:t xml:space="preserve">Αριθμός εργαζομένων (άτομα ή ισοδύναμα πλήρους απασχόλησης)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79970">
                <a:tc>
                  <a:txBody>
                    <a:bodyPr/>
                    <a:lstStyle/>
                    <a:p>
                      <a:r>
                        <a:rPr lang="el-GR" sz="975" b="0" noProof="0">
                          <a:solidFill>
                            <a:schemeClr val="tx2"/>
                          </a:solidFill>
                        </a:rPr>
                        <a:t xml:space="preserve">Προσωρινή απασχόληση</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{{temporary}}</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89108">
                <a:tc>
                  <a:txBody>
                    <a:bodyPr/>
                    <a:lstStyle/>
                    <a:p>
                      <a:r>
                        <a:rPr lang="el-GR" sz="975" b="0" noProof="0">
                          <a:solidFill>
                            <a:schemeClr val="tx2"/>
                          </a:solidFill>
                        </a:rPr>
                        <a:t xml:space="preserve">Μόνιμη απασχόληση</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{{fulltime}}</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9970">
                <a:tc>
                  <a:txBody>
                    <a:bodyPr/>
                    <a:lstStyle/>
                    <a:p>
                      <a:r>
                        <a:rPr lang="el-GR" sz="975" b="0" noProof="0">
                          <a:solidFill>
                            <a:schemeClr val="tx2"/>
                          </a:solidFill>
                        </a:rPr>
                        <a:t xml:space="preserve">Σύνολο εργαζομένων</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{{total_employees}}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72083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20883">
                <a:tc>
                  <a:txBody>
                    <a:bodyPr/>
                    <a:lstStyle/>
                    <a:p>
                      <a:r>
                        <a:rPr lang="el-GR" sz="975" b="1" noProof="0">
                          <a:solidFill>
                            <a:schemeClr val="tx2"/>
                          </a:solidFill>
                          <a:latin typeface="+mn-lt"/>
                        </a:rPr>
                        <a:t xml:space="preserve">Φύλο</a:t>
                      </a:r>
                      <a:r>
                        <a:rPr lang="el-GR" sz="975" b="0" noProof="0">
                          <a:solidFill>
                            <a:schemeClr val="tx2"/>
                          </a:solidFill>
                          <a:latin typeface="+mn-lt"/>
                        </a:rPr>
                        <a:t xml:space="preserve"> (παρ.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latin typeface="+mn-lt"/>
                        </a:rPr>
                        <a:t xml:space="preserve">Αριθμός εργαζομένων (άτομα ή ισοδύναμα πλήρους απασχόλησης)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l-GR" sz="975" b="0" noProof="0">
                          <a:solidFill>
                            <a:schemeClr val="tx2"/>
                          </a:solidFill>
                          <a:latin typeface="+mn-lt"/>
                        </a:rPr>
                        <a:t xml:space="preserve">Άνδρας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{{men}}</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l-GR" sz="975" b="0" noProof="0">
                          <a:solidFill>
                            <a:schemeClr val="tx2"/>
                          </a:solidFill>
                          <a:latin typeface="+mn-lt"/>
                        </a:rPr>
                        <a:t xml:space="preserve">Γυναίκα</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{{women}}</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el-GR" sz="975" b="0" noProof="0">
                          <a:solidFill>
                            <a:schemeClr val="tx2"/>
                          </a:solidFill>
                          <a:latin typeface="+mn-lt"/>
                        </a:rPr>
                        <a:t xml:space="preserve">Άλλο</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{{others}}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el-GR" sz="975" b="0" noProof="0">
                          <a:solidFill>
                            <a:schemeClr val="tx2"/>
                          </a:solidFill>
                          <a:latin typeface="+mn-lt"/>
                        </a:rPr>
                        <a:t xml:space="preserve">Δεν καταγράφηκε</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{{not_registeret}}</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el-GR" sz="975" b="0" noProof="0">
                          <a:solidFill>
                            <a:schemeClr val="tx2"/>
                          </a:solidFill>
                          <a:latin typeface="+mn-lt"/>
                        </a:rPr>
                        <a:t xml:space="preserve">Σύνολο εργαζομένων</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{{total_employees}}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8</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el-GR" sz="975" b="0" i="0" u="none" strike="noStrike" noProof="0">
                <a:solidFill>
                  <a:srgbClr val="25595D"/>
                </a:solidFill>
                <a:effectLst/>
                <a:latin typeface="Inter"/>
              </a:rPr>
              <a:t xml:space="preserve">Η επιχείρηση ανέφερε τον αριθμό εργαζομένων για τις εξής κατανομές: τύπος σύμβασης εργασίας, με διάκριση σε προσωρινές και μόνιμες συμβάσεις· φύλο, που δείχνει την κατανομή ανά φύλο· και χώρα σύναψης της σύμβασης εργασίας, που έχει σημασία εάν η επιχείρηση δραστηριοποιείται σε πολλές χώρες.</a:t>
            </a:r>
            <a:endParaRPr lang="el-GR" sz="975" b="0" noProof="0">
              <a:effectLst/>
              <a:latin typeface="Inter"/>
            </a:endParaRPr>
          </a:p>
          <a:p>
            <a:pPr>
              <a:buNone/>
            </a:pPr>
            <a:br>
              <a:rPr lang="el-GR" sz="975" noProof="0">
                <a:latin typeface="Inter"/>
              </a:rPr>
            </a:br>
            <a:endParaRPr lang="el-GR"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el-GR" sz="975" b="1" noProof="0">
                          <a:solidFill>
                            <a:schemeClr val="tx2"/>
                          </a:solidFill>
                        </a:rPr>
                        <a:t xml:space="preserve">Χώρα (σύναψης της σύμβασης εργασίας) </a:t>
                      </a:r>
                      <a:r>
                        <a:rPr lang="el-GR" sz="975" b="0" noProof="0">
                          <a:solidFill>
                            <a:schemeClr val="tx2"/>
                          </a:solidFill>
                        </a:rPr>
                        <a:t xml:space="preserve">(παρ.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rPr>
                        <a:t xml:space="preserve">Αριθμός εργαζομένων (άτομα ή ισοδύναμα πλήρους απασχόλησης)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l-GR" sz="975" b="0" noProof="0">
                          <a:solidFill>
                            <a:schemeClr val="tx2"/>
                          </a:solidFill>
                        </a:rPr>
                        <a:t xml:space="preserve">Δανία</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975" b="0" i="0" u="none" strike="noStrike" noProof="0">
                          <a:solidFill>
                            <a:srgbClr val="1B4528"/>
                          </a:solidFill>
                          <a:effectLst/>
                          <a:latin typeface="Inter"/>
                        </a:rPr>
                        <a:t>{{Denmark}}</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lgn="l">
                        <a:buNone/>
                      </a:pPr>
                      <a:r>
                        <a:rPr lang="el-GR" sz="975" b="0" i="0" u="none" strike="noStrike" noProof="0">
                          <a:solidFill>
                            <a:srgbClr val="1B4528"/>
                          </a:solidFill>
                          <a:effectLst/>
                          <a:latin typeface="Inter"/>
                        </a:rPr>
                        <a:t>{{Land_b}}</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975" b="0" i="0" u="none" strike="noStrike" noProof="0">
                          <a:solidFill>
                            <a:srgbClr val="1B4528"/>
                          </a:solidFill>
                          <a:effectLst/>
                          <a:latin typeface="Inter"/>
                        </a:rPr>
                        <a:t>{{</a:t>
                      </a:r>
                      <a:r>
                        <a:rPr lang="el-GR" sz="975" b="0" i="0" u="none" strike="noStrike" noProof="0">
                          <a:solidFill>
                            <a:srgbClr val="1B4528"/>
                          </a:solidFill>
                          <a:effectLst/>
                        </a:rPr>
                        <a:t>FTE_eller_antal_personer_land_b</a:t>
                      </a:r>
                      <a:r>
                        <a:rPr lang="el-GR" sz="975" b="0" i="0" u="none" strike="noStrike" noProof="0">
                          <a:solidFill>
                            <a:srgbClr val="1B4528"/>
                          </a:solidFill>
                          <a:effectLst/>
                          <a:latin typeface="Inter"/>
                        </a:rPr>
                        <a:t>}}</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l-GR" sz="975" b="0" noProof="0">
                          <a:solidFill>
                            <a:schemeClr val="tx2"/>
                          </a:solidFill>
                        </a:rPr>
                        <a:t xml:space="preserve">Σύνολο εργαζομένων</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975" b="0" i="0" u="none" strike="noStrike" noProof="0">
                          <a:solidFill>
                            <a:srgbClr val="1B4528"/>
                          </a:solidFill>
                          <a:effectLst/>
                          <a:latin typeface="Inter"/>
                        </a:rPr>
                        <a:t>{{Total_out_of_countries}}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Επιχειρηματική δεοντολογία: καταδίκες και πρόστιμα για διαφθορά &amp; δωροδοκία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el-GR" sz="975" b="1" noProof="0">
                          <a:solidFill>
                            <a:schemeClr val="tx2"/>
                          </a:solidFill>
                        </a:rPr>
                        <a:t xml:space="preserve">Διαφθορά και δωροδοκία </a:t>
                      </a:r>
                      <a:r>
                        <a:rPr lang="el-GR" sz="975" b="0" noProof="0">
                          <a:solidFill>
                            <a:schemeClr val="tx2"/>
                          </a:solidFill>
                        </a:rPr>
                        <a:t xml:space="preserve">(παρ.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l-GR" sz="975" b="1" noProof="0">
                          <a:solidFill>
                            <a:schemeClr val="tx2"/>
                          </a:solidFill>
                        </a:rPr>
                        <a:t xml:space="preserve">Αριθμός καταδικών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975" b="1" noProof="0">
                          <a:solidFill>
                            <a:schemeClr val="tx2"/>
                          </a:solidFill>
                        </a:rPr>
                        <a:t xml:space="preserve">Συνολικό ύψος προστίμων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el-GR" sz="725"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975" b="0" i="0" u="none" strike="noStrike" noProof="0">
                          <a:solidFill>
                            <a:srgbClr val="1B4528"/>
                          </a:solidFill>
                          <a:effectLst/>
                          <a:latin typeface="Inter"/>
                        </a:rPr>
                        <a:t>{{domme}}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975" b="0" i="0" u="none" strike="noStrike" noProof="0">
                          <a:solidFill>
                            <a:srgbClr val="1B4528"/>
                          </a:solidFill>
                          <a:effectLst/>
                          <a:latin typeface="Inter"/>
                        </a:rPr>
                        <a:t>{{samlet_bodestorrelse}}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9</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ανέφερε παραβάσεις της νομοθεσίας για την καταπολέμηση της διαφθοράς και της δωροδοκίας κατά την περίοδο αναφοράς. Εάν υπήρξαν καταδίκες ή πρόστιμα για τέτοιες παραβάσεις, γνωστοποιήθηκαν τα εξής: ο αριθμός των καταδικών και το συνολικό ύψος των επιβληθέντων προστίμων. Τα στοιχεία αυτά αφορούν την επιχειρηματική δεοντολογία και τη βιωσιμότητα της επιχείρησης, ιδίως τη διαχείριση της διαφθοράς, και παρατίθενται κατωτέρω.</a:t>
            </a:r>
            <a:endParaRPr lang="el-GR" sz="975" b="0" noProof="0">
              <a:solidFill>
                <a:schemeClr val="tx2"/>
              </a:solidFill>
              <a:effectLst/>
              <a:latin typeface="Inter"/>
            </a:endParaRPr>
          </a:p>
          <a:p>
            <a:pPr>
              <a:buNone/>
            </a:pPr>
            <a:br>
              <a:rPr lang="el-GR" sz="975" noProof="0">
                <a:solidFill>
                  <a:schemeClr val="tx2"/>
                </a:solidFill>
                <a:latin typeface="Inter"/>
              </a:rPr>
            </a:br>
            <a:endParaRPr lang="el-GR"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el-GR" sz="1475" b="1" noProof="0">
                <a:solidFill>
                  <a:srgbClr val="FFFFFF"/>
                </a:solidFill>
                <a:latin typeface="IBM Plex Sans" panose="020B0503050203000203" pitchFamily="34" charset="0"/>
              </a:rPr>
              <a:t>{{company_name}}</a:t>
            </a:r>
          </a:p>
          <a:p>
            <a:pPr algn="ctr"/>
            <a:r>
              <a:rPr lang="el-GR" sz="1475" b="1" noProof="0">
                <a:solidFill>
                  <a:srgbClr val="FFFFFF"/>
                </a:solidFill>
                <a:latin typeface="IBM Plex Sans" panose="020B0503050203000203" pitchFamily="34" charset="0"/>
              </a:rPr>
              <a:t>{{insert_year}}</a:t>
            </a:r>
            <a:br>
              <a:rPr lang="el-GR" sz="1475" b="1" noProof="0">
                <a:solidFill>
                  <a:srgbClr val="FFFFFF"/>
                </a:solidFill>
                <a:latin typeface="IBM Plex Sans" panose="020B0503050203000203" pitchFamily="34" charset="0"/>
              </a:rPr>
            </a:br>
            <a:endParaRPr lang="el-GR"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el-GR" noProof="0" smtClean="0"/>
              <a:pPr/>
              <a:t>19</a:t>
            </a:fld>
            <a:endParaRPr lang="el-GR" noProof="0"/>
          </a:p>
        </p:txBody>
      </p:sp>
    </p:spTree>
    <p:extLst>
      <p:ext uri="{BB962C8B-B14F-4D97-AF65-F5344CB8AC3E}">
        <p14:creationId xmlns:p14="http://schemas.microsoft.com/office/powerpoint/2010/main" val="3140708205"/>
      </p:ext>
    </p:extLst>
  </p:cSld>
  <p:clrMapOvr>
    <a:masterClrMapping/>
  </p:clrMapOvr>
</p:sld>
</file>

<file path=ppt/slides/slide9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Ίδιο εργατικό δυναμικό: υγεία και ασφάλεια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411480" y="2566049"/>
          <a:ext cx="3295368" cy="1133150"/>
        </p:xfrm>
        <a:graphic>
          <a:graphicData uri="http://schemas.openxmlformats.org/drawingml/2006/table">
            <a:tbl>
              <a:tblPr firstRow="1">
                <a:tableStyleId>{2A488322-F2BA-4B5B-9748-0D474271808F}</a:tableStyleId>
              </a:tblPr>
              <a:tblGrid>
                <a:gridCol w="1824877">
                  <a:extLst>
                    <a:ext uri="{9D8B030D-6E8A-4147-A177-3AD203B41FA5}">
                      <a16:colId xmlns:a16="http://schemas.microsoft.com/office/drawing/2014/main" val="2698153288"/>
                    </a:ext>
                  </a:extLst>
                </a:gridCol>
                <a:gridCol w="1470491">
                  <a:extLst>
                    <a:ext uri="{9D8B030D-6E8A-4147-A177-3AD203B41FA5}">
                      <a16:colId xmlns:a16="http://schemas.microsoft.com/office/drawing/2014/main" val="2119413191"/>
                    </a:ext>
                  </a:extLst>
                </a:gridCol>
              </a:tblGrid>
              <a:tr h="395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Καταγραπτέα εργατικά ατυχήματα </a:t>
                      </a:r>
                      <a:r>
                        <a:rPr lang="el-GR" sz="975" b="0" noProof="0">
                          <a:solidFill>
                            <a:schemeClr val="tx2"/>
                          </a:solidFill>
                        </a:rPr>
                        <a:t xml:space="preserve">(παρ. 41a)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Έτος</a:t>
                      </a:r>
                      <a:r>
                        <a:rPr lang="el-GR"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68579">
                <a:tc>
                  <a:txBody>
                    <a:bodyPr/>
                    <a:lstStyle/>
                    <a:p>
                      <a:r>
                        <a:rPr lang="el-GR" sz="975" b="0" noProof="0">
                          <a:solidFill>
                            <a:schemeClr val="tx2"/>
                          </a:solidFill>
                        </a:rPr>
                        <a:t xml:space="preserve">Αριθμός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975" b="0" i="0" u="none" strike="noStrike" kern="1200" cap="none" spc="0" normalizeH="0" baseline="0" noProof="0">
                          <a:ln>
                            <a:noFill/>
                          </a:ln>
                          <a:solidFill>
                            <a:srgbClr val="1B4528"/>
                          </a:solidFill>
                          <a:effectLst/>
                          <a:uLnTx/>
                          <a:uFillTx/>
                          <a:latin typeface="Inter"/>
                          <a:ea typeface="+mn-ea"/>
                          <a:cs typeface="+mn-cs"/>
                        </a:rPr>
                        <a:t>{{</a:t>
                      </a:r>
                      <a:r>
                        <a:rPr lang="el-GR" sz="975" b="0" i="0" u="none" strike="noStrike" kern="1200" cap="none" spc="0" normalizeH="0" baseline="0" noProof="0">
                          <a:ln>
                            <a:noFill/>
                          </a:ln>
                          <a:solidFill>
                            <a:srgbClr val="1B4528"/>
                          </a:solidFill>
                          <a:effectLst/>
                          <a:uLnTx/>
                          <a:uFillTx/>
                          <a:latin typeface="Inter"/>
                        </a:rPr>
                        <a:t>indsat_antal_accidents</a:t>
                      </a:r>
                      <a:r>
                        <a:rPr lang="el-GR" sz="975" b="0" i="0" u="none" strike="noStrike" kern="1200" cap="none" spc="0" normalizeH="0" baseline="0" noProof="0">
                          <a:ln>
                            <a:noFill/>
                          </a:ln>
                          <a:solidFill>
                            <a:srgbClr val="1B4528"/>
                          </a:solidFill>
                          <a:effectLst/>
                          <a:uLnTx/>
                          <a:uFillTx/>
                          <a:latin typeface="Inter"/>
                          <a:ea typeface="+mn-ea"/>
                          <a:cs typeface="+mn-cs"/>
                        </a:rPr>
                        <a:t>}}</a:t>
                      </a:r>
                      <a:endParaRPr kumimoji="0" lang="el-GR"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68579">
                <a:tc>
                  <a:txBody>
                    <a:bodyPr/>
                    <a:lstStyle/>
                    <a:p>
                      <a:r>
                        <a:rPr lang="el-GR" sz="975" b="0" noProof="0">
                          <a:solidFill>
                            <a:schemeClr val="tx2"/>
                          </a:solidFill>
                        </a:rPr>
                        <a:t xml:space="preserve">Δείκτης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975" b="0" i="0" u="none" strike="noStrike" kern="1200" cap="none" spc="0" normalizeH="0" baseline="0" noProof="0">
                          <a:ln>
                            <a:noFill/>
                          </a:ln>
                          <a:solidFill>
                            <a:srgbClr val="1B4528"/>
                          </a:solidFill>
                          <a:effectLst/>
                          <a:uLnTx/>
                          <a:uFillTx/>
                          <a:latin typeface="Inter"/>
                          <a:ea typeface="+mn-ea"/>
                          <a:cs typeface="+mn-cs"/>
                        </a:rPr>
                        <a:t>{{</a:t>
                      </a:r>
                      <a:r>
                        <a:rPr lang="el-GR" sz="975" b="0" i="0" u="none" strike="noStrike" kern="1200" cap="none" spc="0" normalizeH="0" baseline="0" noProof="0">
                          <a:ln>
                            <a:noFill/>
                          </a:ln>
                          <a:solidFill>
                            <a:srgbClr val="1B4528"/>
                          </a:solidFill>
                          <a:effectLst/>
                          <a:uLnTx/>
                          <a:uFillTx/>
                          <a:latin typeface="Inter"/>
                        </a:rPr>
                        <a:t>indsat_accidents_frequents</a:t>
                      </a:r>
                      <a:r>
                        <a:rPr lang="el-GR" sz="975" b="0" i="0" u="none" strike="noStrike" kern="1200" cap="none" spc="0" normalizeH="0" baseline="0" noProof="0">
                          <a:ln>
                            <a:noFill/>
                          </a:ln>
                          <a:solidFill>
                            <a:srgbClr val="1B4528"/>
                          </a:solidFill>
                          <a:effectLst/>
                          <a:uLnTx/>
                          <a:uFillTx/>
                          <a:latin typeface="Inter"/>
                          <a:ea typeface="+mn-ea"/>
                          <a:cs typeface="+mn-cs"/>
                        </a:rPr>
                        <a:t>}}</a:t>
                      </a:r>
                      <a:endParaRPr kumimoji="0" lang="el-GR"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3853152" y="2566050"/>
          <a:ext cx="3295368" cy="1133149"/>
        </p:xfrm>
        <a:graphic>
          <a:graphicData uri="http://schemas.openxmlformats.org/drawingml/2006/table">
            <a:tbl>
              <a:tblPr firstRow="1">
                <a:tableStyleId>{2A488322-F2BA-4B5B-9748-0D474271808F}</a:tableStyleId>
              </a:tblPr>
              <a:tblGrid>
                <a:gridCol w="2276416">
                  <a:extLst>
                    <a:ext uri="{9D8B030D-6E8A-4147-A177-3AD203B41FA5}">
                      <a16:colId xmlns:a16="http://schemas.microsoft.com/office/drawing/2014/main" val="2698153288"/>
                    </a:ext>
                  </a:extLst>
                </a:gridCol>
                <a:gridCol w="1018952">
                  <a:extLst>
                    <a:ext uri="{9D8B030D-6E8A-4147-A177-3AD203B41FA5}">
                      <a16:colId xmlns:a16="http://schemas.microsoft.com/office/drawing/2014/main" val="2119413191"/>
                    </a:ext>
                  </a:extLst>
                </a:gridCol>
              </a:tblGrid>
              <a:tr h="3746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Θάνατοι λόγω εργασίας </a:t>
                      </a:r>
                      <a:r>
                        <a:rPr lang="el-GR" sz="975" b="0" noProof="0">
                          <a:solidFill>
                            <a:schemeClr val="tx2"/>
                          </a:solidFill>
                        </a:rPr>
                        <a:t xml:space="preserve">(παρ. 41b)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Έτος</a:t>
                      </a:r>
                      <a:r>
                        <a:rPr lang="el-GR"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3809">
                <a:tc>
                  <a:txBody>
                    <a:bodyPr/>
                    <a:lstStyle/>
                    <a:p>
                      <a:r>
                        <a:rPr lang="el-GR" sz="975" b="0" noProof="0">
                          <a:solidFill>
                            <a:schemeClr val="tx2"/>
                          </a:solidFill>
                        </a:rPr>
                        <a:t xml:space="preserve">Λόγω εργατικού τραυματισμού/ατυχήματος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a:lnSpc>
                          <a:spcPct val="100000"/>
                        </a:lnSpc>
                        <a:spcBef>
                          <a:spcPts val="0"/>
                        </a:spcBef>
                        <a:spcAft>
                          <a:spcPts val="0"/>
                        </a:spcAft>
                        <a:buNone/>
                        <a:tabLst/>
                        <a:defRPr/>
                      </a:pPr>
                      <a:r>
                        <a:rPr lang="el-GR" sz="975" b="0" i="0" u="none" strike="noStrike" kern="1200" cap="none" spc="0" normalizeH="0" baseline="0" noProof="0">
                          <a:ln>
                            <a:noFill/>
                          </a:ln>
                          <a:solidFill>
                            <a:srgbClr val="1B4528"/>
                          </a:solidFill>
                          <a:effectLst/>
                          <a:uLnTx/>
                          <a:uFillTx/>
                          <a:latin typeface="Inter"/>
                          <a:ea typeface="+mn-ea"/>
                          <a:cs typeface="+mn-cs"/>
                        </a:rPr>
                        <a:t>{{</a:t>
                      </a:r>
                      <a:r>
                        <a:rPr lang="el-GR" sz="975" b="0" i="0" u="none" strike="noStrike" kern="1200" cap="none" spc="0" normalizeH="0" baseline="0" noProof="0">
                          <a:ln>
                            <a:noFill/>
                          </a:ln>
                          <a:solidFill>
                            <a:srgbClr val="1B4528"/>
                          </a:solidFill>
                          <a:effectLst/>
                          <a:uLnTx/>
                          <a:uFillTx/>
                          <a:latin typeface="Inter"/>
                        </a:rPr>
                        <a:t>deaths_by_accidents</a:t>
                      </a:r>
                      <a:r>
                        <a:rPr lang="el-GR" sz="975" b="0" i="0" u="none" strike="noStrike" kern="1200" cap="none" spc="0" normalizeH="0" baseline="0" noProof="0">
                          <a:ln>
                            <a:noFill/>
                          </a:ln>
                          <a:solidFill>
                            <a:srgbClr val="1B4528"/>
                          </a:solidFill>
                          <a:effectLst/>
                          <a:uLnTx/>
                          <a:uFillTx/>
                          <a:latin typeface="Inter"/>
                          <a:ea typeface="+mn-ea"/>
                          <a:cs typeface="+mn-cs"/>
                        </a:rPr>
                        <a:t>}}</a:t>
                      </a:r>
                      <a:endParaRPr kumimoji="0" lang="el-GR"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4670">
                <a:tc>
                  <a:txBody>
                    <a:bodyPr/>
                    <a:lstStyle/>
                    <a:p>
                      <a:r>
                        <a:rPr lang="el-GR" sz="975" b="0" noProof="0">
                          <a:solidFill>
                            <a:schemeClr val="tx2"/>
                          </a:solidFill>
                        </a:rPr>
                        <a:t xml:space="preserve">Λόγω ασθένειας σχετιζόμενης με την εργασία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975" b="0" i="0" u="none" strike="noStrike" kern="1200" cap="none" spc="0" normalizeH="0" baseline="0" noProof="0">
                          <a:ln>
                            <a:noFill/>
                          </a:ln>
                          <a:solidFill>
                            <a:srgbClr val="1B4528"/>
                          </a:solidFill>
                          <a:effectLst/>
                          <a:uLnTx/>
                          <a:uFillTx/>
                          <a:latin typeface="Inter"/>
                          <a:ea typeface="+mn-ea"/>
                          <a:cs typeface="+mn-cs"/>
                        </a:rPr>
                        <a:t>{{</a:t>
                      </a:r>
                      <a:r>
                        <a:rPr lang="el-GR" sz="975" b="0" i="0" u="none" strike="noStrike" kern="1200" cap="none" spc="0" normalizeH="0" baseline="0" noProof="0">
                          <a:ln>
                            <a:noFill/>
                          </a:ln>
                          <a:solidFill>
                            <a:srgbClr val="1B4528"/>
                          </a:solidFill>
                          <a:effectLst/>
                          <a:uLnTx/>
                          <a:uFillTx/>
                          <a:latin typeface="Inter"/>
                        </a:rPr>
                        <a:t>deaths_by_health</a:t>
                      </a:r>
                      <a:r>
                        <a:rPr lang="el-GR" sz="975" b="0" i="0" u="none" strike="noStrike" kern="1200" cap="none" spc="0" normalizeH="0" baseline="0" noProof="0">
                          <a:ln>
                            <a:noFill/>
                          </a:ln>
                          <a:solidFill>
                            <a:srgbClr val="1B4528"/>
                          </a:solidFill>
                          <a:effectLst/>
                          <a:uLnTx/>
                          <a:uFillTx/>
                          <a:latin typeface="Inter"/>
                          <a:ea typeface="+mn-ea"/>
                          <a:cs typeface="+mn-cs"/>
                        </a:rPr>
                        <a:t>}}</a:t>
                      </a:r>
                      <a:endParaRPr kumimoji="0" lang="el-GR"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11</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411480" y="1225477"/>
            <a:ext cx="6737040" cy="692470"/>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ανέφερε στοιχεία για τον αριθμό καταγραπτέων εργατικών ατυχημάτων και θανάτων λόγω εργασίας για τις εξής κατανομές: αριθμός και δείκτης. Αναφέρει επίσης εάν οι θάνατοι οφείλονται σε τραυματισμούς/ατυχήματα ή σε ασθένεια.</a:t>
            </a:r>
            <a:endParaRPr lang="el-GR" sz="975" b="0" noProof="0">
              <a:solidFill>
                <a:schemeClr val="tx2"/>
              </a:solidFill>
              <a:effectLst/>
              <a:latin typeface="Inter"/>
            </a:endParaRPr>
          </a:p>
          <a:p>
            <a:pPr>
              <a:buNone/>
            </a:pPr>
            <a:br>
              <a:rPr lang="el-GR" sz="975" noProof="0">
                <a:solidFill>
                  <a:schemeClr val="tx2"/>
                </a:solidFill>
                <a:latin typeface="Inter"/>
              </a:rPr>
            </a:br>
            <a:endParaRPr lang="el-GR" sz="975"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411480" y="363705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l-GR" noProof="0"/>
              <a:t xml:space="preserve">Εργατικό δυναμικό: αμοιβές, συλλογικές συμβάσεις και κατάρτιση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3853152" y="6348737"/>
          <a:ext cx="3295368" cy="1160567"/>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8085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Μισθολογικό χάσμα ανδρών και γυναικών εργαζομένων </a:t>
                      </a:r>
                      <a:r>
                        <a:rPr lang="el-GR" sz="975" b="0" noProof="0">
                          <a:solidFill>
                            <a:schemeClr val="tx2"/>
                          </a:solidFill>
                        </a:rPr>
                        <a:t xml:space="preserve">(παρ.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Έτος</a:t>
                      </a:r>
                      <a:r>
                        <a:rPr lang="el-GR" sz="975" b="1" noProof="0">
                          <a:solidFill>
                            <a:srgbClr val="1B4528"/>
                          </a:solidFill>
                          <a:latin typeface="Calibri" panose="020F0502020204030204" pitchFamily="34" charset="0"/>
                          <a:cs typeface="Calibri" panose="020F0502020204030204" pitchFamily="34" charset="0"/>
                        </a:rPr>
                        <a:t> </a:t>
                      </a:r>
                      <a:r>
                        <a:rPr lang="el-GR" sz="975" b="1" noProof="0">
                          <a:solidFill>
                            <a:srgbClr val="1B4528"/>
                          </a:solidFill>
                        </a:rPr>
                        <a:t>{{</a:t>
                      </a:r>
                      <a:r>
                        <a:rPr lang="el-GR" sz="975" b="1" noProof="0">
                          <a:solidFill>
                            <a:srgbClr val="1B4528"/>
                          </a:solidFill>
                        </a:rPr>
                        <a:t>insert_year</a:t>
                      </a:r>
                      <a:r>
                        <a:rPr lang="el-GR" sz="975" b="1" noProof="0">
                          <a:solidFill>
                            <a:srgbClr val="1B4528"/>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679715">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l-GR" sz="975" b="0" noProof="0">
                          <a:solidFill>
                            <a:srgbClr val="1B4528"/>
                          </a:solidFill>
                        </a:rPr>
                        <a:t>{{</a:t>
                      </a:r>
                      <a:r>
                        <a:rPr lang="el-GR" sz="975" b="0" noProof="0">
                          <a:solidFill>
                            <a:srgbClr val="1B4528"/>
                          </a:solidFill>
                        </a:rPr>
                        <a:t>indsat_procentvise_lonforskel</a:t>
                      </a:r>
                      <a:r>
                        <a:rPr lang="el-GR" sz="975" b="0" noProof="0">
                          <a:solidFill>
                            <a:srgbClr val="1B4528"/>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411480" y="6348740"/>
          <a:ext cx="3295368" cy="1160564"/>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356394">
                <a:tc>
                  <a:txBody>
                    <a:bodyPr/>
                    <a:lstStyle/>
                    <a:p>
                      <a:r>
                        <a:rPr lang="el-GR" sz="975" b="1" noProof="0">
                          <a:solidFill>
                            <a:schemeClr val="tx2"/>
                          </a:solidFill>
                        </a:rPr>
                        <a:t xml:space="preserve">Στοιχεία για τον κατώτατο μισθό </a:t>
                      </a:r>
                      <a:r>
                        <a:rPr lang="el-GR"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975" b="1" noProof="0">
                          <a:solidFill>
                            <a:schemeClr val="tx2"/>
                          </a:solidFill>
                        </a:rPr>
                        <a:t xml:space="preserve">Ναι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975" b="1" noProof="0">
                          <a:solidFill>
                            <a:schemeClr val="tx2"/>
                          </a:solidFill>
                        </a:rPr>
                        <a:t xml:space="preserve">Όχι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804171">
                <a:tc>
                  <a:txBody>
                    <a:bodyPr/>
                    <a:lstStyle/>
                    <a:p>
                      <a:r>
                        <a:rPr lang="el-GR" sz="975" b="0" noProof="0">
                          <a:solidFill>
                            <a:schemeClr val="tx2"/>
                          </a:solidFill>
                        </a:rPr>
                        <a:t xml:space="preserve">Στην επιχείρηση όλοι οι εργαζόμενοι λαμβάνουν αμοιβή τουλάχιστον στο επίπεδο του κατώτατου μισθού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minumum_wage_yes</a:t>
                      </a:r>
                      <a:r>
                        <a:rPr lang="el-GR" sz="975" b="0" i="0" u="none" strike="noStrike" noProof="0">
                          <a:solidFill>
                            <a:srgbClr val="1B4528"/>
                          </a:solidFill>
                          <a:effectLst/>
                          <a:latin typeface="Inter"/>
                        </a:rPr>
                        <a:t>?}}</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975" b="0" i="0" u="none" strike="noStrike" noProof="0">
                          <a:solidFill>
                            <a:srgbClr val="1B4528"/>
                          </a:solidFill>
                          <a:effectLst/>
                          <a:latin typeface="Inter"/>
                        </a:rPr>
                        <a:t>{{</a:t>
                      </a:r>
                      <a:r>
                        <a:rPr lang="el-GR" sz="975" b="0" i="0" u="none" strike="noStrike" noProof="0">
                          <a:solidFill>
                            <a:srgbClr val="1B4528"/>
                          </a:solidFill>
                          <a:effectLst/>
                          <a:latin typeface="Inter"/>
                        </a:rPr>
                        <a:t>minimum_wage_no</a:t>
                      </a:r>
                      <a:r>
                        <a:rPr lang="el-GR" sz="975" b="0" i="0" u="none" strike="noStrike" noProof="0">
                          <a:solidFill>
                            <a:srgbClr val="1B4528"/>
                          </a:solidFill>
                          <a:effectLst/>
                          <a:latin typeface="Inter"/>
                        </a:rPr>
                        <a:t>?}}</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411480" y="7844841"/>
          <a:ext cx="3295368" cy="956828"/>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Συλλογική σύμβαση εργασίας </a:t>
                      </a:r>
                      <a:r>
                        <a:rPr lang="el-GR" sz="975" b="0" noProof="0">
                          <a:solidFill>
                            <a:schemeClr val="tx2"/>
                          </a:solidFill>
                        </a:rPr>
                        <a:t xml:space="preserve">(παρ.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Έτος</a:t>
                      </a:r>
                      <a:r>
                        <a:rPr lang="el-GR" sz="975" b="1" noProof="0">
                          <a:solidFill>
                            <a:srgbClr val="1B4528"/>
                          </a:solidFill>
                          <a:latin typeface="Calibri" panose="020F0502020204030204" pitchFamily="34" charset="0"/>
                          <a:cs typeface="Calibri" panose="020F0502020204030204" pitchFamily="34" charset="0"/>
                        </a:rPr>
                        <a:t> {{</a:t>
                      </a:r>
                      <a:r>
                        <a:rPr lang="el-GR" sz="975" b="1" noProof="0">
                          <a:solidFill>
                            <a:srgbClr val="1B4528"/>
                          </a:solidFill>
                          <a:latin typeface="Calibri" panose="020F0502020204030204" pitchFamily="34" charset="0"/>
                          <a:cs typeface="Calibri" panose="020F0502020204030204" pitchFamily="34" charset="0"/>
                        </a:rPr>
                        <a:t>insert_year</a:t>
                      </a:r>
                      <a:r>
                        <a:rPr lang="el-GR" sz="975" b="1" noProof="0">
                          <a:solidFill>
                            <a:srgbClr val="1B4528"/>
                          </a:solidFill>
                          <a:latin typeface="Calibri" panose="020F0502020204030204" pitchFamily="34" charset="0"/>
                          <a:cs typeface="Calibri" panose="020F0502020204030204" pitchFamily="34" charset="0"/>
                        </a:rPr>
                        <a:t>}}</a:t>
                      </a:r>
                      <a:endParaRPr lang="el-GR" sz="97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26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noProof="0">
                          <a:solidFill>
                            <a:schemeClr val="tx2"/>
                          </a:solidFill>
                        </a:rPr>
                        <a:t xml:space="preserve">Ποσοστό εργαζομένων που καλύπτονται από συλλογική σύμβαση</a:t>
                      </a:r>
                      <a:endParaRPr kumimoji="0" lang="el-GR" sz="975" b="0" i="0" u="none" strike="noStrike" kern="1200" cap="none" spc="0" normalizeH="0" baseline="0" noProof="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975" b="0" i="0" u="none" strike="noStrike" kern="1200" cap="none" spc="0" normalizeH="0" baseline="0" noProof="0">
                          <a:ln>
                            <a:noFill/>
                          </a:ln>
                          <a:solidFill>
                            <a:srgbClr val="1B4528"/>
                          </a:solidFill>
                          <a:effectLst/>
                          <a:uLnTx/>
                          <a:uFillTx/>
                          <a:latin typeface="+mn-lt"/>
                          <a:ea typeface="+mn-ea"/>
                          <a:cs typeface="+mn-cs"/>
                        </a:rPr>
                        <a:t>{{</a:t>
                      </a:r>
                      <a:r>
                        <a:rPr kumimoji="0" lang="el-GR" sz="975" b="0" i="0" u="none" strike="noStrike" kern="1200" cap="none" spc="0" normalizeH="0" baseline="0" noProof="0">
                          <a:ln>
                            <a:noFill/>
                          </a:ln>
                          <a:solidFill>
                            <a:srgbClr val="1B4528"/>
                          </a:solidFill>
                          <a:effectLst/>
                          <a:uLnTx/>
                          <a:uFillTx/>
                          <a:latin typeface="+mn-lt"/>
                          <a:ea typeface="+mn-ea"/>
                          <a:cs typeface="+mn-cs"/>
                        </a:rPr>
                        <a:t>indsat_procentvis_ansatte</a:t>
                      </a:r>
                      <a:r>
                        <a:rPr kumimoji="0" lang="el-GR" sz="975"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3853152" y="7844840"/>
          <a:ext cx="3295368" cy="956829"/>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442989">
                <a:tc>
                  <a:txBody>
                    <a:bodyPr/>
                    <a:lstStyle/>
                    <a:p>
                      <a:r>
                        <a:rPr lang="el-GR" sz="975" b="1" noProof="0">
                          <a:solidFill>
                            <a:schemeClr val="tx2"/>
                          </a:solidFill>
                        </a:rPr>
                        <a:t xml:space="preserve">Μέσες ώρες κατάρτισης ανά εργαζόμενο </a:t>
                      </a:r>
                      <a:r>
                        <a:rPr lang="el-GR" sz="975" b="0" noProof="0">
                          <a:solidFill>
                            <a:schemeClr val="tx2"/>
                          </a:solidFill>
                        </a:rPr>
                        <a:t xml:space="preserve">(παρ.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Έτος</a:t>
                      </a:r>
                      <a:r>
                        <a:rPr lang="el-GR"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3839">
                <a:tc>
                  <a:txBody>
                    <a:bodyPr/>
                    <a:lstStyle/>
                    <a:p>
                      <a:r>
                        <a:rPr lang="el-GR" sz="975" b="0" noProof="0">
                          <a:solidFill>
                            <a:schemeClr val="tx2"/>
                          </a:solidFill>
                        </a:rPr>
                        <a:t xml:space="preserve">Ώρα/ες ανά εργαζόμενο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975" b="0" i="0" u="none" strike="noStrike" noProof="0">
                          <a:solidFill>
                            <a:srgbClr val="1B4528"/>
                          </a:solidFill>
                          <a:effectLst/>
                          <a:latin typeface="Inter"/>
                        </a:rPr>
                        <a:t>{{gennemsnitstimer}}</a:t>
                      </a:r>
                      <a:endParaRPr lang="el-GR" sz="975" b="0" noProof="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411480" y="4364738"/>
            <a:ext cx="6737040" cy="846352"/>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ανέφερε στοιχεία για τον κατώτατο μισθό, το ποσοστό εργαζομένων που καλύπτονται από συλλογικές συμβάσεις και τον μέσο ετήσιο αριθμό ωρών κατάρτισης ανά εργαζόμενο, ανά φύλο. Εάν η επιχείρηση υποχρεούται ήδη, βάσει της νομοθεσίας της ΕΕ 8 ή άλλων εθνικών διατάξεων, να αναφέρει το ποσοστιαίο μισθολογικό χάσμα μεταξύ γυναικών και ανδρών εργαζομένων, το γνωστοποιεί.</a:t>
            </a:r>
          </a:p>
          <a:p>
            <a:pPr>
              <a:buNone/>
            </a:pPr>
            <a:br>
              <a:rPr lang="el-GR" sz="975" noProof="0">
                <a:solidFill>
                  <a:schemeClr val="tx2"/>
                </a:solidFill>
                <a:latin typeface="Inter"/>
              </a:rPr>
            </a:br>
            <a:endParaRPr lang="el-GR" sz="975"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