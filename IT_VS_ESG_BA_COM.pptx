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BM Plex Sans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0" roundtripDataSignature="AMtx7mimRi0JdRCpJoyaOTCQ3UUSYG5+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A76372-1D77-4638-8BC6-133FC8FB7DB3}">
  <a:tblStyle styleId="{A4A76372-1D77-4638-8BC6-133FC8FB7DB3}" styleName="Table_0">
    <a:wholeTbl>
      <a:tcTxStyle b="off" i="off">
        <a:font>
          <a:latin typeface="IBM Plex Sans"/>
          <a:ea typeface="IBM Plex Sans"/>
          <a:cs typeface="IBM Plex San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IBM Plex Sans"/>
          <a:ea typeface="IBM Plex Sans"/>
          <a:cs typeface="IBM Plex Sans"/>
        </a:font>
        <a:schemeClr val="dk1"/>
      </a:tcTxStyle>
    </a:seCell>
    <a:swCell>
      <a:tcTxStyle b="on" i="off">
        <a:font>
          <a:latin typeface="IBM Plex Sans"/>
          <a:ea typeface="IBM Plex Sans"/>
          <a:cs typeface="IBM Plex Sans"/>
        </a:font>
        <a:schemeClr val="dk1"/>
      </a:tcTxStyle>
    </a:swCell>
    <a:firstRow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BMPlexSans-bold.fntdata"/><Relationship Id="rId10" Type="http://schemas.openxmlformats.org/officeDocument/2006/relationships/slide" Target="slides/slide4.xml"/><Relationship Id="rId32" Type="http://schemas.openxmlformats.org/officeDocument/2006/relationships/font" Target="fonts/IBMPlexSans-regular.fntdata"/><Relationship Id="rId13" Type="http://schemas.openxmlformats.org/officeDocument/2006/relationships/slide" Target="slides/slide7.xml"/><Relationship Id="rId35" Type="http://schemas.openxmlformats.org/officeDocument/2006/relationships/font" Target="fonts/IBMPlexSans-boldItalic.fntdata"/><Relationship Id="rId12" Type="http://schemas.openxmlformats.org/officeDocument/2006/relationships/slide" Target="slides/slide6.xml"/><Relationship Id="rId34" Type="http://schemas.openxmlformats.org/officeDocument/2006/relationships/font" Target="fonts/IBMPlexSans-italic.fntdata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{{documents_B2}}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Aggiunto: colonna sul monitoraggio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{{Insert_CO2e_intensity}}</a:t>
            </a:r>
            <a:endParaRPr b="0"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{{uploaded_documents_B4}}</a:t>
            </a:r>
            <a:endParaRPr b="0"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{{waterstress_withdrawal}}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{{omsatningsrate}}</a:t>
            </a:r>
            <a:endParaRPr b="0"/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{{men_gennemsnitstimer}}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{{women_gennemsnitstimer}}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{{other_gennemsnitstimer}}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Aggiunto da B8: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{{omsatningsrate}}</a:t>
            </a:r>
            <a:endParaRPr b="0"/>
          </a:p>
        </p:txBody>
      </p:sp>
      <p:sp>
        <p:nvSpPr>
          <p:cNvPr id="266" name="Google Shape;26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EU benchmark exclusion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endParaRPr/>
          </a:p>
        </p:txBody>
      </p:sp>
      <p:sp>
        <p:nvSpPr>
          <p:cNvPr id="298" name="Google Shape;2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side med billedebaggrund">
  <p:cSld name="Forside med billedebaggrun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/>
          <p:nvPr/>
        </p:nvSpPr>
        <p:spPr>
          <a:xfrm>
            <a:off x="3422854" y="2136228"/>
            <a:ext cx="1394622" cy="2068689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7"/>
          <p:cNvSpPr/>
          <p:nvPr/>
        </p:nvSpPr>
        <p:spPr>
          <a:xfrm>
            <a:off x="7013220" y="2085593"/>
            <a:ext cx="1781124" cy="2156098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7"/>
          <p:cNvSpPr/>
          <p:nvPr/>
        </p:nvSpPr>
        <p:spPr>
          <a:xfrm>
            <a:off x="5103319" y="2085593"/>
            <a:ext cx="1658004" cy="2210671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503727" y="4971382"/>
            <a:ext cx="5176690" cy="28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1079500" y="4619652"/>
            <a:ext cx="10033000" cy="182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G opgørelse">
  <p:cSld name="ESG opgørels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18599" y="985520"/>
            <a:ext cx="4558013" cy="536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2" type="body"/>
          </p:nvPr>
        </p:nvSpPr>
        <p:spPr>
          <a:xfrm>
            <a:off x="6472011" y="979593"/>
            <a:ext cx="4558013" cy="5364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" name="Google Shape;26;p28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2688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lutningsslide">
  <p:cSld name="Afslutningsslide">
    <p:bg>
      <p:bgPr>
        <a:solidFill>
          <a:srgbClr val="1B4529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1079500" y="1587501"/>
            <a:ext cx="10033000" cy="1460499"/>
          </a:xfrm>
          <a:prstGeom prst="rect">
            <a:avLst/>
          </a:prstGeom>
          <a:solidFill>
            <a:srgbClr val="1B4529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template">
  <p:cSld name="Intro template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508000" y="1015788"/>
            <a:ext cx="3513138" cy="532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/>
            </a:lvl1pPr>
            <a:lvl2pPr indent="-342900" lvl="1" marL="9144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4338638" y="1015789"/>
            <a:ext cx="3513137" cy="532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/>
            </a:lvl1pPr>
            <a:lvl2pPr indent="-342900" lvl="1" marL="9144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" type="body"/>
          </p:nvPr>
        </p:nvSpPr>
        <p:spPr>
          <a:xfrm>
            <a:off x="518599" y="1015999"/>
            <a:ext cx="11165399" cy="532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85750" lvl="1" marL="9144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85750" lvl="2" marL="1371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85750" lvl="3" marL="18288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85750" lvl="4" marL="22860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0" type="dt"/>
          </p:nvPr>
        </p:nvSpPr>
        <p:spPr>
          <a:xfrm>
            <a:off x="2688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F7D6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rgbClr val="5F7D6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" name="Google Shape;14;p26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b="1" i="0" sz="18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20">
          <p15:clr>
            <a:srgbClr val="F26B43"/>
          </p15:clr>
        </p15:guide>
        <p15:guide id="4" pos="2533">
          <p15:clr>
            <a:srgbClr val="F26B43"/>
          </p15:clr>
        </p15:guide>
        <p15:guide id="5" pos="2733">
          <p15:clr>
            <a:srgbClr val="F26B43"/>
          </p15:clr>
        </p15:guide>
        <p15:guide id="6" pos="4946">
          <p15:clr>
            <a:srgbClr val="F26B43"/>
          </p15:clr>
        </p15:guide>
        <p15:guide id="7" pos="5146">
          <p15:clr>
            <a:srgbClr val="F26B43"/>
          </p15:clr>
        </p15:guide>
        <p15:guide id="8" pos="7360">
          <p15:clr>
            <a:srgbClr val="F26B43"/>
          </p15:clr>
        </p15:guide>
        <p15:guide id="9" orient="horz">
          <p15:clr>
            <a:srgbClr val="F26B43"/>
          </p15:clr>
        </p15:guide>
        <p15:guide id="10" orient="horz" pos="4320">
          <p15:clr>
            <a:srgbClr val="F26B43"/>
          </p15:clr>
        </p15:guide>
        <p15:guide id="11" orient="horz" pos="320">
          <p15:clr>
            <a:srgbClr val="F26B43"/>
          </p15:clr>
        </p15:guide>
        <p15:guide id="12" orient="horz" pos="4000">
          <p15:clr>
            <a:srgbClr val="F26B43"/>
          </p15:clr>
        </p15:guide>
        <p15:guide id="13" orient="horz" pos="6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title"/>
          </p:nvPr>
        </p:nvSpPr>
        <p:spPr>
          <a:xfrm>
            <a:off x="1079500" y="4619652"/>
            <a:ext cx="10033000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</a:pPr>
            <a:r>
              <a:rPr lang="it-IT"/>
              <a:t>RELAZIONE ESG {{insert_year}}</a:t>
            </a:r>
            <a:endParaRPr/>
          </a:p>
        </p:txBody>
      </p:sp>
      <p:sp>
        <p:nvSpPr>
          <p:cNvPr id="47" name="Google Shape;47;p1"/>
          <p:cNvSpPr txBox="1"/>
          <p:nvPr>
            <p:ph idx="11" type="ftr"/>
          </p:nvPr>
        </p:nvSpPr>
        <p:spPr>
          <a:xfrm>
            <a:off x="3503727" y="4971382"/>
            <a:ext cx="5176690" cy="28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518600" y="513927"/>
            <a:ext cx="111654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Relazione ESG</a:t>
            </a:r>
            <a:r>
              <a:rPr b="0" lang="it-IT">
                <a:solidFill>
                  <a:schemeClr val="accent2"/>
                </a:solidFill>
              </a:rPr>
              <a:t> </a:t>
            </a:r>
            <a:br>
              <a:rPr b="0" lang="it-IT">
                <a:solidFill>
                  <a:schemeClr val="accent2"/>
                </a:solidFill>
              </a:rPr>
            </a:br>
            <a:endParaRPr b="0">
              <a:solidFill>
                <a:schemeClr val="accent2"/>
              </a:solidFill>
            </a:endParaRPr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518597" y="985520"/>
            <a:ext cx="7845473" cy="536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Informazioni generali		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Pratiche, politiche e iniziative per un’economia più sostenibile	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Consumo di energia				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Emissioni di CO₂e 				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Inquinamento di aria, acqua e suolo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Biodiversità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Acque	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 			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Uso delle risorse, economia circolare e gestione dei rifiuti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Forza lavoro propria: caratteristiche generali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Forza lavoro propria: salute e sicurezza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Forza lavoro: retribuzione, contrattazione collettiva e formazione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200">
                <a:latin typeface="IBM Plex Sans"/>
                <a:ea typeface="IBM Plex Sans"/>
                <a:cs typeface="IBM Plex Sans"/>
                <a:sym typeface="IBM Plex Sans"/>
              </a:rPr>
              <a:t>Condotta delle imprese</a:t>
            </a:r>
            <a:r>
              <a:rPr lang="it-IT" sz="1200">
                <a:latin typeface="IBM Plex Sans"/>
                <a:ea typeface="IBM Plex Sans"/>
                <a:cs typeface="IBM Plex Sans"/>
                <a:sym typeface="IBM Plex Sans"/>
              </a:rPr>
              <a:t>	 			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2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/>
          </a:p>
        </p:txBody>
      </p:sp>
      <p:sp>
        <p:nvSpPr>
          <p:cNvPr id="56" name="Google Shape;56;p2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Criteri per la redazione (B1) </a:t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508000" y="2965249"/>
            <a:ext cx="3513138" cy="17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518599" y="50901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400875"/>
                <a:gridCol w="3953500"/>
              </a:tblGrid>
              <a:tr h="3069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Elenco delle filiazioni incluse nella presente relazione ESG </a:t>
                      </a: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27d)</a:t>
                      </a:r>
                      <a:endParaRPr b="0" i="1" sz="1200" u="none" cap="none" strike="noStrike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17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Denominazione della filiazione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Sede legale della filiazione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{{subsidiary}}</a:t>
                      </a:r>
                      <a:endParaRPr sz="1200" u="none" cap="none" strike="noStrike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{{subsidiary_address}}</a:t>
                      </a:r>
                      <a:endParaRPr sz="1200" u="none" cap="none" strike="noStrike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" name="Google Shape;65;p3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6" name="Google Shape;66;p3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67" name="Google Shape;67;p3"/>
          <p:cNvGraphicFramePr/>
          <p:nvPr/>
        </p:nvGraphicFramePr>
        <p:xfrm>
          <a:off x="518599" y="386238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6194425"/>
                <a:gridCol w="1159950"/>
              </a:tblGrid>
              <a:tr h="2057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 u="none" cap="none" strike="noStrike">
                          <a:solidFill>
                            <a:schemeClr val="dk2"/>
                          </a:solidFill>
                        </a:rPr>
                        <a:t>Relazione individuale o consolidata</a:t>
                      </a: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 (punto 27c)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2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stata redatta su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base individuale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(ossia non copre eventuali filiazioni)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{{yes_subsidiary?}}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stata redatta su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base consolidata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(ossia include le filiazioni dell’impresa)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{{no_subsidiary?}}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3"/>
          <p:cNvGraphicFramePr/>
          <p:nvPr/>
        </p:nvGraphicFramePr>
        <p:xfrm>
          <a:off x="518600" y="228443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6205575"/>
                <a:gridCol w="1148800"/>
              </a:tblGrid>
              <a:tr h="391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base, o modulo base +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onnicomprensivo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27a)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40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basata sul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del principio volontario per le PMI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{{basic_module?}}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basata sul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e sul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onnicomprensivo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 principio volontario per le PMI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{{comprehensive?}}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3"/>
          <p:cNvSpPr txBox="1"/>
          <p:nvPr/>
        </p:nvSpPr>
        <p:spPr>
          <a:xfrm>
            <a:off x="508000" y="1016000"/>
            <a:ext cx="111654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b="0" i="0" sz="1200" u="none" cap="none" strike="noStrike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0" name="Google Shape;70;p3"/>
          <p:cNvGraphicFramePr/>
          <p:nvPr/>
        </p:nvGraphicFramePr>
        <p:xfrm>
          <a:off x="8169275" y="386238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620400"/>
                <a:gridCol w="1883725"/>
              </a:tblGrid>
              <a:tr h="2479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Informazioni di base sull’impresa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27e, i-v)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7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Forma giuridica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{{branchekode}}</a:t>
                      </a:r>
                      <a:endParaRPr b="0" sz="1200"/>
                    </a:p>
                  </a:txBody>
                  <a:tcPr marT="25400" marB="25400" marR="38100" marL="381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Codice/i NACE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{{NACE}}</a:t>
                      </a:r>
                      <a:endParaRPr sz="1200"/>
                    </a:p>
                  </a:txBody>
                  <a:tcPr marT="25400" marB="25400" marR="38100" marL="381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Totale attivo (EUR)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{{balance}}</a:t>
                      </a:r>
                      <a:endParaRPr sz="1200"/>
                    </a:p>
                  </a:txBody>
                  <a:tcPr marT="25400" marB="25400" marR="38100" marL="381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(EUR)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{{revenue}}</a:t>
                      </a:r>
                      <a:endParaRPr sz="1200"/>
                    </a:p>
                  </a:txBody>
                  <a:tcPr marT="25400" marB="25400" marR="38100" marL="381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N. di dipendenti 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sz="1200"/>
                    </a:p>
                  </a:txBody>
                  <a:tcPr marT="25400" marB="25400" marR="38100" marL="381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p3"/>
          <p:cNvGraphicFramePr/>
          <p:nvPr/>
        </p:nvGraphicFramePr>
        <p:xfrm>
          <a:off x="8169275" y="228688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620400"/>
                <a:gridCol w="1883725"/>
              </a:tblGrid>
              <a:tr h="4986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ESG contiene omissioni dovute a informazioni commerciali sensibili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83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IBM Plex Sans"/>
                        <a:buNone/>
                      </a:pPr>
                      <a:r>
                        <a:t/>
                      </a:r>
                      <a:endParaRPr b="0" sz="9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Le informative seguenti sono state omesse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{{confidentiality_info}}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Criteri per la redazione (B1) - continua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38979" y="1108695"/>
            <a:ext cx="207455" cy="232601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0" name="Google Shape;80;p4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515952" y="511601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849500"/>
                <a:gridCol w="3694650"/>
                <a:gridCol w="1948875"/>
                <a:gridCol w="1704650"/>
              </a:tblGrid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Denominazione del certificato ESG/marchio ambientale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28)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di rilascio/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validità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Eventuale punteggio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{{certificate_or_ecolabel}}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{{description_certificate}}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{{date_certicate}}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{{certiciate_possible_rating}}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534502" y="178814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030575"/>
                <a:gridCol w="2156275"/>
                <a:gridCol w="1647600"/>
                <a:gridCol w="1610150"/>
                <a:gridCol w="1784900"/>
                <a:gridCol w="1912000"/>
              </a:tblGrid>
              <a:tr h="3240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Indirizzi e geolocalizzazione degli </a:t>
                      </a:r>
                      <a:r>
                        <a:rPr b="1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e dei siti significativi che l’impresa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possiede, ha in locazione o gestisce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27e, vi, vii)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Sito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Indirizzo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CAP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Città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Paese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Geolocalizzazione (coordinate)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{{geolocation_adress}}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{{geolocation_postcode}}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{{geolocation_city}}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{{geolocation_country}}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{{geolocation_coordinates}}</a:t>
                      </a:r>
                      <a:endParaRPr b="0" sz="1200"/>
                    </a:p>
                  </a:txBody>
                  <a:tcPr marT="12700" marB="12700" marR="19050" marL="1905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4"/>
          <p:cNvSpPr txBox="1"/>
          <p:nvPr/>
        </p:nvSpPr>
        <p:spPr>
          <a:xfrm>
            <a:off x="515952" y="1016000"/>
            <a:ext cx="111680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è descritta la geolocalizzazione dell’impresa e i luoghi in cui essa opera. Tali informazioni possono essere utilizzate per le zone di rischio climatico e forniscono indicazioni sugli impianti, sui siti e/o sulla sede dell’impresa. Sono inoltre indicate le certificazioni o i marchi di sostenibilità pertinenti, compresi il soggetto che li ha rilasciati, la data e l’eventuale punteggio.</a:t>
            </a:r>
            <a:endParaRPr b="0" i="0" sz="1200" u="none" cap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15952" y="4768057"/>
            <a:ext cx="81805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cap="none" strike="noStrike">
                <a:solidFill>
                  <a:srgbClr val="487477"/>
                </a:solidFill>
                <a:latin typeface="Inter"/>
                <a:ea typeface="Inter"/>
                <a:cs typeface="Inter"/>
                <a:sym typeface="Inter"/>
              </a:rPr>
              <a:t>I certificati e i marchi ambientali dell’impresa sono elencati di seguito.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Pratiche, politiche e iniziative future per la transizione verso un’economia più sostenibile (B2)</a:t>
            </a:r>
            <a:endParaRPr/>
          </a:p>
        </p:txBody>
      </p:sp>
      <p:sp>
        <p:nvSpPr>
          <p:cNvPr id="91" name="Google Shape;91;p5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2" name="Google Shape;92;p5"/>
          <p:cNvGraphicFramePr/>
          <p:nvPr/>
        </p:nvGraphicFramePr>
        <p:xfrm>
          <a:off x="518600" y="171177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996000"/>
                <a:gridCol w="2108200"/>
                <a:gridCol w="1651000"/>
                <a:gridCol w="2311400"/>
                <a:gridCol w="3098800"/>
              </a:tblGrid>
              <a:tr h="4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29a-d)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una pratica o politica concreta in materia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politica è pubblicamente disponibile? 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iniziative e piani futuri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obiettivi concreti per monitorare l’attuazione di pratiche e politiche?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0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Cambiamenti climatici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Inquinamento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Acque e risorse marine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Biodiversità ed ecosistemi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Economia circolare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Condotta delle imprese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{{governance_concrete}}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{{governance_publicly}}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{{governance_future}}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{{governance_plan}}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5"/>
          <p:cNvSpPr txBox="1"/>
          <p:nvPr/>
        </p:nvSpPr>
        <p:spPr>
          <a:xfrm>
            <a:off x="518600" y="1016000"/>
            <a:ext cx="11154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" name="Google Shape;94;p5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Consumo di energia (B3)</a:t>
            </a:r>
            <a:endParaRPr/>
          </a:p>
        </p:txBody>
      </p:sp>
      <p:graphicFrame>
        <p:nvGraphicFramePr>
          <p:cNvPr id="101" name="Google Shape;101;p6"/>
          <p:cNvGraphicFramePr/>
          <p:nvPr/>
        </p:nvGraphicFramePr>
        <p:xfrm>
          <a:off x="505570" y="155034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33800"/>
                <a:gridCol w="2816100"/>
                <a:gridCol w="2969800"/>
                <a:gridCol w="2358725"/>
              </a:tblGrid>
              <a:tr h="2492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Consumo di energia in MWh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32)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Consumo rinnovabile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Consumo non rinnovabile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Consumo totale (MWh)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Energia elettrica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(secondo quanto risulta dalle bollette)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{{electricity_renewable}}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{{electricity_non_rewenable}}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{{total_electricity}}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Combustibili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{{fuel_renewable}}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{{fuel_non_rewenable}}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{{total_fuel}}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Altro (ad es. teleriscaldamento)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{{district_heating_rewenable}}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{{district_heating_non_rewenable}}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{{total_district_heating}}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Totale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{{renewable_energy_total}}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{{non_rewenable_energy_total}}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{{total_energy_consumption}}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3" name="Google Shape;103;p6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505570" y="1024229"/>
            <a:ext cx="11178430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sezione indica le emissioni di CO2 dell’impresa derivanti dal consumo di energia, distinguendo consumo rinnovabile e non rinnovabile. 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emissioni sono comunicate in base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alle definizioni del GHG Protocol di emissioni dirette e indirette. </a:t>
            </a:r>
            <a:br>
              <a:rPr b="0" i="0" lang="it-IT" sz="120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it-IT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it-IT" sz="8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200" u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</a:pPr>
            <a:r>
              <a:t/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None/>
            </a:pPr>
            <a:r>
              <a:t/>
            </a:r>
            <a:endParaRPr b="0"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b="0"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b="0"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it-IT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i="0" lang="it-IT" sz="1800" u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Emissioni di CO₂e (B3)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L’ambito 2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indica le emissioni i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5" name="Google Shape;105;p6"/>
          <p:cNvGraphicFramePr/>
          <p:nvPr/>
        </p:nvGraphicFramePr>
        <p:xfrm>
          <a:off x="507990" y="52187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8848450"/>
                <a:gridCol w="2327550"/>
              </a:tblGrid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di gas a effetto serra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33)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di CO₂e di ambito 1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di CO₂e di ambito 2 (basate sulla posizione)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{{scope2}}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totali di CO₂e di ambito 1 e 2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{{total_scope}}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Inquinamento di aria, acqua e suolo (B4)</a:t>
            </a:r>
            <a:endParaRPr/>
          </a:p>
        </p:txBody>
      </p:sp>
      <p:graphicFrame>
        <p:nvGraphicFramePr>
          <p:cNvPr id="112" name="Google Shape;112;p7"/>
          <p:cNvGraphicFramePr/>
          <p:nvPr/>
        </p:nvGraphicFramePr>
        <p:xfrm>
          <a:off x="507998" y="16632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534725"/>
                <a:gridCol w="3408100"/>
                <a:gridCol w="4214425"/>
              </a:tblGrid>
              <a:tr h="2794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Inquinamento di aria, acqua e suolo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34)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2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Tipo di inquinamento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(ad es. sostanza)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Dove?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(aria, acqua, suolo)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Quantità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{{type_of_pollution}}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{{scope_pollution}}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{{pollution_medium}}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4" name="Google Shape;114;p7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26778" y="1016000"/>
            <a:ext cx="111572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comunica la quantità totale di inquinanti emessi dai propri impianti. Gli inquinanti specifici e i relativi quantitativi emessi in aria, acqua e suolo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sono indicati di seguito.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518600" y="3359149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Biodiversità (B5) </a:t>
            </a:r>
            <a:endParaRPr/>
          </a:p>
        </p:txBody>
      </p:sp>
      <p:graphicFrame>
        <p:nvGraphicFramePr>
          <p:cNvPr id="117" name="Google Shape;117;p7"/>
          <p:cNvGraphicFramePr/>
          <p:nvPr/>
        </p:nvGraphicFramePr>
        <p:xfrm>
          <a:off x="518599" y="467563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027925"/>
                <a:gridCol w="3045825"/>
                <a:gridCol w="3045825"/>
                <a:gridCol w="3045825"/>
              </a:tblGrid>
              <a:tr h="23087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Siti all’interno o in prossimità di «aree sensibili sotto il profilo della biodiversità» che l’impresa possiede, ha in locazione o gestisce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35)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3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Ubicazione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Superficie in ettari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Area sensibile per la biodiversità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Specifica: all’interno o in prossimità di un’area sensibile per la biodiversità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7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{{country_location}}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 {{area_hect}}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{{area_name}}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{{biosensitive_area}}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7"/>
          <p:cNvSpPr txBox="1"/>
          <p:nvPr/>
        </p:nvSpPr>
        <p:spPr>
          <a:xfrm>
            <a:off x="507999" y="3753340"/>
            <a:ext cx="111653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Acque (B6)</a:t>
            </a:r>
            <a:endParaRPr/>
          </a:p>
        </p:txBody>
      </p:sp>
      <p:graphicFrame>
        <p:nvGraphicFramePr>
          <p:cNvPr id="125" name="Google Shape;125;p8"/>
          <p:cNvGraphicFramePr/>
          <p:nvPr/>
        </p:nvGraphicFramePr>
        <p:xfrm>
          <a:off x="518600" y="171622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87250"/>
                <a:gridCol w="1725275"/>
              </a:tblGrid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Prelievo idrico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36)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8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Totale per tutti i siti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{{total_withdrawal}}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Google Shape;126;p8"/>
          <p:cNvGraphicFramePr/>
          <p:nvPr/>
        </p:nvGraphicFramePr>
        <p:xfrm>
          <a:off x="5538158" y="171622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4631750"/>
                <a:gridCol w="1514100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Consumo idrico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37)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Totale per tutti i siti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{{consumption_total}}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Da siti in aree con scarsità d’acqua (elevato stress idrico)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{{consumption_waterstress}}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8" name="Google Shape;128;p8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508000" y="1028466"/>
            <a:ext cx="11175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prelievo idrico è la quantità di acqua utilizzata dall’impresa, di cui 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consumo indica l’acqua che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non è scaricata, né destinata a esserlo, nell’ambiente idrico o a terzi. La presente sezione indica il prelievo idrico totale dell’impresa. Il consumo idrico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 lo scarico di acque da aree a elevato stress idrico sono indicati di seguito.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518600" y="3093502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Uso delle risorse, economia circolare e gestione dei rifiuti (B7) </a:t>
            </a:r>
            <a:endParaRPr/>
          </a:p>
        </p:txBody>
      </p:sp>
      <p:graphicFrame>
        <p:nvGraphicFramePr>
          <p:cNvPr id="131" name="Google Shape;131;p8"/>
          <p:cNvGraphicFramePr/>
          <p:nvPr/>
        </p:nvGraphicFramePr>
        <p:xfrm>
          <a:off x="5538158" y="35669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427150"/>
                <a:gridCol w="1886075"/>
                <a:gridCol w="1822025"/>
              </a:tblGrid>
              <a:tr h="2695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Applicazione dei principi dell’economia circolare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38)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2692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La mia impresa applica i principi dell’economia circolare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Sì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No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43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{{circular_economy_princples_yes}}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{{circular_economy_princples_no?}}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8"/>
          <p:cNvGraphicFramePr/>
          <p:nvPr/>
        </p:nvGraphicFramePr>
        <p:xfrm>
          <a:off x="507998" y="461246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29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delle modalità con cui l’impresa applica i principi dell’economia circolare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38 continua)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{{description_of_circular_economies}}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8"/>
          <p:cNvSpPr txBox="1"/>
          <p:nvPr/>
        </p:nvSpPr>
        <p:spPr>
          <a:xfrm>
            <a:off x="508302" y="3555852"/>
            <a:ext cx="484341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informativa indica se l’impresa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applica i principi dell’economia circolare, compresi i principi di riduzione dei rifiuti e dell’inquinamento e l’attenzione a prodotti e materiali circolari.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Uso delle risorse, economia circolare e gestione dei rifiuti (B7) – continua</a:t>
            </a:r>
            <a:endParaRPr/>
          </a:p>
        </p:txBody>
      </p:sp>
      <p:graphicFrame>
        <p:nvGraphicFramePr>
          <p:cNvPr id="140" name="Google Shape;140;p9"/>
          <p:cNvGraphicFramePr/>
          <p:nvPr/>
        </p:nvGraphicFramePr>
        <p:xfrm>
          <a:off x="507999" y="164543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276000"/>
                <a:gridCol w="2543225"/>
                <a:gridCol w="2524550"/>
              </a:tblGrid>
              <a:tr h="3286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Produzione annua totale di rifiuti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Quantità totale di rifiuti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39a)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Rifiuti reindirizzati al riciclaggio o alla preparazione per il riutilizzo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39b)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Rifiuti non pericolosi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{{Type_af_affald}}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{{kg_tons_total}}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{{genbrug_kg_tons}}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Rifiuti pericolosi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{{Type_af_affald_farlig}}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{{farlig_kg_tons}}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{{farlig_genbrug_kg_tons}}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9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2" name="Google Shape;142;p9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518600" y="1016000"/>
            <a:ext cx="11165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44" name="Google Shape;144;p9"/>
          <p:cNvGraphicFramePr/>
          <p:nvPr/>
        </p:nvGraphicFramePr>
        <p:xfrm>
          <a:off x="8160963" y="168019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253575"/>
                <a:gridCol w="1258875"/>
              </a:tblGrid>
              <a:tr h="90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Materiali pertinenti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39c)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Flusso di massa annuo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{{significant_material}}</a:t>
                      </a:r>
                      <a:endParaRPr b="0" sz="1200">
                        <a:solidFill>
                          <a:schemeClr val="accen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{{significant_material_unit}}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Forza lavoro propria: caratteristiche generali (B8) </a:t>
            </a:r>
            <a:endParaRPr/>
          </a:p>
        </p:txBody>
      </p:sp>
      <p:graphicFrame>
        <p:nvGraphicFramePr>
          <p:cNvPr id="151" name="Google Shape;151;p10"/>
          <p:cNvGraphicFramePr/>
          <p:nvPr/>
        </p:nvGraphicFramePr>
        <p:xfrm>
          <a:off x="507992" y="173378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489200"/>
                <a:gridCol w="2489200"/>
              </a:tblGrid>
              <a:tr h="46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Tipo di contratto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40a)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Numero di dipendenti (effettivi o equivalenti a tempo pieno)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Contratto temporaneo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{{temporary}}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Contratto permanente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{{fulltime}}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Numero totale di dipendenti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Google Shape;152;p10"/>
          <p:cNvGraphicFramePr/>
          <p:nvPr/>
        </p:nvGraphicFramePr>
        <p:xfrm>
          <a:off x="5710687" y="173378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986650"/>
                <a:gridCol w="2986650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Genere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40b)</a:t>
                      </a:r>
                      <a:endParaRPr b="0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 di dipendenti (effettivi o equivalenti a tempo pieno)</a:t>
                      </a:r>
                      <a:endParaRPr b="1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Uomo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{{men}}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Donna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{{women}}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Altro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{{others}}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Non registrato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{{not_registeret}}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 totale di dipendenti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4" name="Google Shape;154;p10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518600" y="1041410"/>
            <a:ext cx="1116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595D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rgbClr val="25595D"/>
                </a:solidFill>
                <a:latin typeface="Inter"/>
                <a:ea typeface="Inter"/>
                <a:cs typeface="Inter"/>
                <a:sym typeface="Inter"/>
              </a:rPr>
              <a:t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b="0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56" name="Google Shape;156;p10"/>
          <p:cNvGraphicFramePr/>
          <p:nvPr/>
        </p:nvGraphicFramePr>
        <p:xfrm>
          <a:off x="509736" y="393013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5967825"/>
                <a:gridCol w="5195825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Paese (in cui è stato stipulato il contratto)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40c)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Numero di dipendenti (effettivi o equivalenti a tempo pieno)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Danimarca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{{Denmark}}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{{Land_b}}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FTE_eller_antal_personer_land_b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Numero totale di dipendenti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{{Total_out_of_countries}}</a:t>
                      </a:r>
                      <a:endParaRPr b="0" sz="1200"/>
                    </a:p>
                  </a:txBody>
                  <a:tcPr marT="12700" marB="1270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Forza lavoro propria: salute e sicurezza (B9)</a:t>
            </a:r>
            <a:endParaRPr/>
          </a:p>
        </p:txBody>
      </p:sp>
      <p:graphicFrame>
        <p:nvGraphicFramePr>
          <p:cNvPr id="163" name="Google Shape;163;p11"/>
          <p:cNvGraphicFramePr/>
          <p:nvPr/>
        </p:nvGraphicFramePr>
        <p:xfrm>
          <a:off x="508000" y="172095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28825"/>
                <a:gridCol w="2440650"/>
              </a:tblGrid>
              <a:tr h="337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Infortuni registrabili connessi al lavoro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41a)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Numero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{{indsat_antal_accidents}}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Tasso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{{indsat_accidents_frequents}}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" name="Google Shape;164;p11"/>
          <p:cNvGraphicFramePr/>
          <p:nvPr/>
        </p:nvGraphicFramePr>
        <p:xfrm>
          <a:off x="6203932" y="172095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778275"/>
                <a:gridCol w="1691200"/>
              </a:tblGrid>
              <a:tr h="33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Decessi connessi al lavoro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41b)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Dovuti a lesioni/infortuni sul lavoro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{{deaths_by_accidents}}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Dovuti a malattie connesse al lavoro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{{deaths_by_health}}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1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6" name="Google Shape;166;p11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518600" y="995767"/>
            <a:ext cx="1116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comunicato informazioni sul numero di infortuni registrabili connessi al lavoro e di decessi connessi al lavoro per le ripartizioni seguenti: numero e tasso. Indica inoltre se i decessi connessi al lavoro sono dovuti a lesioni/infortuni o a malattie.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518600" y="3051599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Forza lavoro: retribuzione, contrattazione collettiva e formazione (B10)</a:t>
            </a:r>
            <a:endParaRPr/>
          </a:p>
        </p:txBody>
      </p:sp>
      <p:graphicFrame>
        <p:nvGraphicFramePr>
          <p:cNvPr id="169" name="Google Shape;169;p11"/>
          <p:cNvGraphicFramePr/>
          <p:nvPr/>
        </p:nvGraphicFramePr>
        <p:xfrm>
          <a:off x="6214532" y="418112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805775"/>
                <a:gridCol w="1663700"/>
              </a:tblGrid>
              <a:tr h="3351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Divario retributivo tra dipendenti di sesso maschile e femminile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42b)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403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{{indsat_procentvise_lonforskel}}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" name="Google Shape;170;p11"/>
          <p:cNvGraphicFramePr/>
          <p:nvPr/>
        </p:nvGraphicFramePr>
        <p:xfrm>
          <a:off x="507995" y="418112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03025"/>
                <a:gridCol w="1267025"/>
                <a:gridCol w="1203675"/>
              </a:tblGrid>
              <a:tr h="20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Informazioni sul salario minimo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(42a)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Sì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No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0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Nell’impresa tutti i dipendenti percepiscono una retribuzione almeno pari al salario minimo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{{minumum_wage_yes?}}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{{minimum_wage_no?}}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Google Shape;171;p11"/>
          <p:cNvGraphicFramePr/>
          <p:nvPr/>
        </p:nvGraphicFramePr>
        <p:xfrm>
          <a:off x="507998" y="519832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22600"/>
                <a:gridCol w="2446875"/>
              </a:tblGrid>
              <a:tr h="54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Contratto collettivo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42c)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 b="1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0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Percentuale di dipendenti coperti da un contratto collettivo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{{indsat_procentvis_ansatte}}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11"/>
          <p:cNvGraphicFramePr/>
          <p:nvPr/>
        </p:nvGraphicFramePr>
        <p:xfrm>
          <a:off x="6212426" y="519832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807875"/>
                <a:gridCol w="1661600"/>
              </a:tblGrid>
              <a:tr h="42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Ore medie di formazione per dipendente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42d)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1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Ora/e per dipendente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{{gennemsnitstimer}}</a:t>
                      </a:r>
                      <a:endParaRPr b="0" sz="1200"/>
                    </a:p>
                  </a:txBody>
                  <a:tcPr marT="19050" marB="19050" marR="19050" marL="1905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1"/>
          <p:cNvSpPr txBox="1"/>
          <p:nvPr/>
        </p:nvSpPr>
        <p:spPr>
          <a:xfrm>
            <a:off x="531300" y="3446812"/>
            <a:ext cx="111654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Condotta delle imprese: condanne e ammende per corruzione attiva &amp; passiva (B11) </a:t>
            </a:r>
            <a:endParaRPr/>
          </a:p>
        </p:txBody>
      </p:sp>
      <p:graphicFrame>
        <p:nvGraphicFramePr>
          <p:cNvPr id="180" name="Google Shape;180;p12"/>
          <p:cNvGraphicFramePr/>
          <p:nvPr/>
        </p:nvGraphicFramePr>
        <p:xfrm>
          <a:off x="507998" y="194569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721800"/>
                <a:gridCol w="3721800"/>
                <a:gridCol w="3721800"/>
              </a:tblGrid>
              <a:tr h="3060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Corruzione attiva e passiva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43)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Numero di condanne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Importo complessivo delle ammende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06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{{domme}}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{{samlet_bodestorrelse}}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2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2" name="Google Shape;182;p12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 txBox="1"/>
          <p:nvPr/>
        </p:nvSpPr>
        <p:spPr>
          <a:xfrm>
            <a:off x="518600" y="1016000"/>
            <a:ext cx="112543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960628" y="2698750"/>
            <a:ext cx="10033000" cy="1460499"/>
          </a:xfrm>
          <a:prstGeom prst="rect">
            <a:avLst/>
          </a:prstGeom>
          <a:solidFill>
            <a:srgbClr val="1B4529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ans"/>
              <a:buNone/>
            </a:pPr>
            <a:r>
              <a:rPr b="1" lang="it-IT" sz="4000"/>
              <a:t>Informative del modulo onnicomprensivo</a:t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518600" y="513927"/>
            <a:ext cx="11165400" cy="25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Strategia: modello aziendale e iniziative connesse alla sostenibilità (C1)</a:t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612401" y="4709014"/>
            <a:ext cx="207455" cy="232601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9" name="Google Shape;199;p14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529201" y="23722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dei gruppi significativi di prodotti e/o servizi che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offre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46a)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3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{{markets_description}}</a:t>
                      </a:r>
                      <a:endParaRPr b="0"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14"/>
          <p:cNvGraphicFramePr/>
          <p:nvPr/>
        </p:nvGraphicFramePr>
        <p:xfrm>
          <a:off x="529201" y="329701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19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dei mercati significativi in cui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opera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46b)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{{business_relationships}}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14"/>
          <p:cNvGraphicFramePr/>
          <p:nvPr/>
        </p:nvGraphicFramePr>
        <p:xfrm>
          <a:off x="529201" y="443612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17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dei principali rapporti commerciali di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46c)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4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{{strategy}}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4"/>
          <p:cNvGraphicFramePr/>
          <p:nvPr/>
        </p:nvGraphicFramePr>
        <p:xfrm>
          <a:off x="518600" y="158171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1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del modello aziendale e della strategia complessivi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46)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{{products_description}}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14"/>
          <p:cNvGraphicFramePr/>
          <p:nvPr/>
        </p:nvGraphicFramePr>
        <p:xfrm>
          <a:off x="518598" y="555139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15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Descrizione degli elementi della strategia e del modello aziendale di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200">
                          <a:solidFill>
                            <a:schemeClr val="accen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connessi alla sostenibilità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46d)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{{business_model}}</a:t>
                      </a:r>
                      <a:endParaRPr sz="1800"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4"/>
          <p:cNvSpPr txBox="1"/>
          <p:nvPr/>
        </p:nvSpPr>
        <p:spPr>
          <a:xfrm>
            <a:off x="518600" y="1016000"/>
            <a:ext cx="11254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descritto il modello aziendale e la strategia complessivi, i prodotti e/o servizi, i mercati e i rapporti commerciali, indicando se il modello aziendale presenta elementi connessi alla sostenibilità. 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b="1" lang="it-IT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ratiche, politiche e iniziative future per la transizione verso un’economia più sostenibile (C2)</a:t>
            </a:r>
            <a:endParaRPr/>
          </a:p>
        </p:txBody>
      </p: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3" name="Google Shape;213;p15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14" name="Google Shape;214;p15"/>
          <p:cNvGraphicFramePr/>
          <p:nvPr/>
        </p:nvGraphicFramePr>
        <p:xfrm>
          <a:off x="518601" y="175311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916850"/>
                <a:gridCol w="3082850"/>
                <a:gridCol w="3082850"/>
                <a:gridCol w="3082850"/>
              </a:tblGrid>
              <a:tr h="3496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47)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 </a:t>
                      </a:r>
                      <a:r>
                        <a:rPr b="1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delle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pratiche/politiche/azioni esistenti (cfr. informativa B2)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 degli </a:t>
                      </a:r>
                      <a:r>
                        <a:rPr b="1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obiettivi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futuri eventuali (cfr. informativa B2)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it-IT" sz="1200">
                          <a:solidFill>
                            <a:schemeClr val="lt1"/>
                          </a:solidFill>
                        </a:rPr>
                        <a:t>Informativa </a:t>
                      </a:r>
                      <a:r>
                        <a:rPr b="1" lang="it-IT" sz="1200">
                          <a:solidFill>
                            <a:schemeClr val="lt1"/>
                          </a:solidFill>
                        </a:rPr>
                        <a:t>facoltativa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529"/>
                    </a:solidFill>
                  </a:tcPr>
                </a:tc>
              </a:tr>
              <a:tr h="5726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Livello gerarchico più elevato responsabile dell’attuazione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48)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4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Cambiamenti climatici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Climate_C2_Description_Existing_Practices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Climate_C2_Future_Practices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Climate_C2_Management_Level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Inquinamento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Pollution_C2_Description_Existing_Practices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Pollution_C2_Future_Practices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Pollution_C2_Management_Level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Acque e risorse marine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Water_C2_Description_Existing_Practices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Water_C2_Future_Practices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Water_C2_Management_Level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i="0" sz="1200" u="none" strike="noStrike">
                        <a:solidFill>
                          <a:srgbClr val="2D55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Biodiversità ed ecosistemi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Bio_C2_Description_Existing_Practices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Bio_C2_Future_Practices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Bio_C2_Management_Level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Economia circolare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Circular_C2_Description_Existing_Practices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Circular_C2_Future_Practices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Circular_C2_Management_Level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Own_Workforce_C2_Description_Existing_Practices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Own_Workforce_C2_Future_Practices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Own_Workforce_C2_Management_Level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Workers_Value_Chain_C2_Description_Existing_Practices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Workers_Value_Chain_C2_Future_Practices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Workers_Value_Chain_C2_Management_Level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Affected_C2_Description_Existing_Practices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Affected_C2_Future_Practices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Affected_C2_Management_Level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Consumers_C2_Description_Existing_Practices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Consumers_C2_Future_Practices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Consumers_C2_Management_Level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Condotta delle imprese</a:t>
                      </a:r>
                      <a:endParaRPr/>
                    </a:p>
                  </a:txBody>
                  <a:tcPr marT="36000" marB="36000" marR="54000" marL="54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Governance_C2_Description_Existing_Practices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Governance_C2_Future_Practices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</a:rPr>
                        <a:t>Governance_C2_Management_Level</a:t>
                      </a: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200"/>
                    </a:p>
                  </a:txBody>
                  <a:tcPr marT="19050" marB="19050" marR="25400" marL="254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5"/>
          <p:cNvSpPr txBox="1"/>
          <p:nvPr/>
        </p:nvSpPr>
        <p:spPr>
          <a:xfrm>
            <a:off x="535853" y="1029778"/>
            <a:ext cx="111481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tabella seguente è stata compilata perché l’impresa ha già predisposto pratiche, politiche o iniziative concrete che contribuiscono alla transizione verso un’economia più sostenibile. L’impresa ha risposto ”SÌ” a una o più informative del punto B2 del modulo base. Di seguito si dà conto in modo più completo delle politiche, iniziative e pratiche avviate nell’impresa per la transizione verso un’economia più sostenibile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lang="it-IT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Emissioni di CO₂e di cui alla sezione B3 del modulo base</a:t>
            </a:r>
            <a:endParaRPr b="0"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3" name="Google Shape;223;p16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4" name="Google Shape;224;p16"/>
          <p:cNvGraphicFramePr/>
          <p:nvPr/>
        </p:nvGraphicFramePr>
        <p:xfrm>
          <a:off x="518599" y="371145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721800"/>
                <a:gridCol w="3721800"/>
                <a:gridCol w="3721800"/>
              </a:tblGrid>
              <a:tr h="2801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Obiettivi di riduzione delle emissioni di CO₂e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53 a–d)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Obiettivo per l’anno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{{baseline_year-1}}</a:t>
                      </a:r>
                      <a:endParaRPr b="0"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Emissioni di CO₂e nell’anno base: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baseline 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1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{{scope1-2_target}}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{{scope1-2_baseline}}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2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{{scope1-2_target}}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{{scope1-2_baseline}}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3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{{scope3_target}}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{{scope3_baseline}}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16"/>
          <p:cNvGraphicFramePr/>
          <p:nvPr/>
        </p:nvGraphicFramePr>
        <p:xfrm>
          <a:off x="518598" y="561322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65400"/>
              </a:tblGrid>
              <a:tr h="33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Elenco delle principali azioni che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 name}} </a:t>
                      </a:r>
                      <a:r>
                        <a:rPr b="0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attua per conseguire gli obiettivi di riduzione delle emissioni di CO₂e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53e)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{{mainaction}}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6"/>
          <p:cNvSpPr txBox="1"/>
          <p:nvPr/>
        </p:nvSpPr>
        <p:spPr>
          <a:xfrm>
            <a:off x="518600" y="3264714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Obiettivi di riduzione delle emissioni di CO₂e (C3)</a:t>
            </a:r>
            <a:endParaRPr/>
          </a:p>
        </p:txBody>
      </p:sp>
      <p:graphicFrame>
        <p:nvGraphicFramePr>
          <p:cNvPr id="227" name="Google Shape;227;p16"/>
          <p:cNvGraphicFramePr/>
          <p:nvPr/>
        </p:nvGraphicFramePr>
        <p:xfrm>
          <a:off x="518599" y="155911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8831675"/>
                <a:gridCol w="2323125"/>
              </a:tblGrid>
              <a:tr h="30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di gas a effetto serra –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 (integrazione del punto 33)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{{Insert year}}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{{scope3_description_table}}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{{scope3_emissions_table}}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totali di CO₂e di ambito 3 (basate sulla posizione)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{{scope3}}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Emissioni totali di CO₂e di ambito 1, 2 e 3  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cap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{{total_all_scopes}}</a:t>
                      </a:r>
                      <a:endParaRPr b="0" i="0" sz="1200" u="none" cap="none" strike="noStrike">
                        <a:solidFill>
                          <a:srgbClr val="2D55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6"/>
          <p:cNvSpPr txBox="1"/>
          <p:nvPr/>
        </p:nvSpPr>
        <p:spPr>
          <a:xfrm>
            <a:off x="518600" y="1016000"/>
            <a:ext cx="11254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delle emissioni di gas a effetto serra di ambito 3 secondo il GHG Protocol, indicando le emissioni totali e quelle di ambito 3 basate sulla posizione. Sono riportati gli obiettivi di riduzione delle emissioni di CO₂e dell’impresa e le principali azioni per conseguire gli obiettiv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T</a:t>
            </a:r>
            <a:r>
              <a:rPr b="1" lang="it-IT" sz="1800">
                <a:solidFill>
                  <a:schemeClr val="dk2"/>
                </a:solidFill>
              </a:rPr>
              <a:t>ransizione climatica (C3)</a:t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6" name="Google Shape;236;p17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37" name="Google Shape;237;p17"/>
          <p:cNvGraphicFramePr/>
          <p:nvPr/>
        </p:nvGraphicFramePr>
        <p:xfrm>
          <a:off x="518592" y="44046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5588000"/>
                <a:gridCol w="5588000"/>
              </a:tblGrid>
              <a:tr h="3275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Futuro piano di transizione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55)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44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adotterà un piano di transizione concreto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per la mitigazione dei cambiamenti climatici</a:t>
                      </a:r>
                      <a:endParaRPr b="1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{{transition_plan?}}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di adozione del piano di transizione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{{transition_plan_date}}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Google Shape;238;p17"/>
          <p:cNvGraphicFramePr/>
          <p:nvPr/>
        </p:nvGraphicFramePr>
        <p:xfrm>
          <a:off x="518592" y="167217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1760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Piano di transizione per la mitigazione dei cambiamenti climatici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54)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7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{{transition_plan}}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7"/>
          <p:cNvSpPr txBox="1"/>
          <p:nvPr/>
        </p:nvSpPr>
        <p:spPr>
          <a:xfrm>
            <a:off x="508000" y="1016000"/>
            <a:ext cx="1117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riguardano il piano di transizione dell’impresa per la mitigazione dei cambiamenti climatici. La transizione è collegata agli obiettivi di riduzione delle emissioni di CO₂e dell’impresa.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497408" y="3854142"/>
            <a:ext cx="111759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informativa è stata compilata perché l’impresa ha indicato che adotterà un piano di transizione concreto, con la relativa data di adozione.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</a:t>
            </a:r>
            <a:r>
              <a:rPr b="1" lang="it-IT" sz="1800">
                <a:solidFill>
                  <a:schemeClr val="dk2"/>
                </a:solidFill>
              </a:rPr>
              <a:t>ischi climatici (C4)</a:t>
            </a:r>
            <a:endParaRPr/>
          </a:p>
        </p:txBody>
      </p:sp>
      <p:sp>
        <p:nvSpPr>
          <p:cNvPr id="247" name="Google Shape;247;p18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601802" y="3774751"/>
            <a:ext cx="207455" cy="232601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8"/>
          <p:cNvSpPr/>
          <p:nvPr/>
        </p:nvSpPr>
        <p:spPr>
          <a:xfrm>
            <a:off x="601801" y="4402404"/>
            <a:ext cx="207455" cy="232601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250" name="Google Shape;250;p18"/>
          <p:cNvGraphicFramePr/>
          <p:nvPr/>
        </p:nvGraphicFramePr>
        <p:xfrm>
          <a:off x="518598" y="155000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336725"/>
                <a:gridCol w="1007400"/>
                <a:gridCol w="3163225"/>
                <a:gridCol w="1715075"/>
                <a:gridCol w="1569950"/>
                <a:gridCol w="1213750"/>
                <a:gridCol w="1159325"/>
              </a:tblGrid>
              <a:tr h="2241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56a)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56d)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54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Rischi climatici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Dove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Breve descrizione dei rischi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Esposizione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(basso/medio/elevato)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Sensibilità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(basso/medio/elevato)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Orizzonte temporale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>
                          <a:solidFill>
                            <a:schemeClr val="dk2"/>
                          </a:solidFill>
                        </a:rPr>
                        <a:t>(0-1/2-5/&gt;5 anni)</a:t>
                      </a:r>
                      <a:endParaRPr b="0" i="0" sz="12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Adatta­mento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(SÌ/NO)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850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Pericoli cronici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{{chronic_aktiver_description}}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{{chronic_aktiver_eksponerning}}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{{chronic_aktiver_time}}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{{chronic_aktiveter_description}}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{{chronic_aktivteter_eksponerning}}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{{chronic_aktivteter_time}}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BM Plex Sans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{{chronic_aktivteter_tilpasning}}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{{chronic_value_description}}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{{chronic_value_eksponerning}}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{{chronic_value_time}}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acuti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{{akut_aktiver_description}}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{{akut_aktiviteter_description}}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{{akut_værdikæde_description}}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Evento di transizione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{{omstilling_aktiver_description}}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{{omstilling_aktiviteter_description}}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{{omstilling_værdikæde_description}}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{{omstilling_værdikæde_eksponering}}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{{omstilling_værdikæde_sårbarhed}}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{{omstilling_værdikæde_tidshorisont}}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{{omstilling_værdikæde_tilpasning}}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18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>
                <a:solidFill>
                  <a:srgbClr val="1B4528"/>
                </a:solidFill>
              </a:rPr>
              <a:t>‹#›</a:t>
            </a:fld>
            <a:endParaRPr>
              <a:solidFill>
                <a:srgbClr val="1B4528"/>
              </a:solidFill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518600" y="1016000"/>
            <a:ext cx="11254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dei rischi climatici, precisando se sono cronici, acuti o connessi alla transizione e dove si collocano (attivi, attività o catena del valore dell’impresa). 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</a:t>
            </a:r>
            <a:r>
              <a:rPr b="1" lang="it-IT" sz="1800">
                <a:solidFill>
                  <a:schemeClr val="dk2"/>
                </a:solidFill>
              </a:rPr>
              <a:t>ischi climatici (C4) - continua</a:t>
            </a:r>
            <a:endParaRPr/>
          </a:p>
        </p:txBody>
      </p:sp>
      <p:sp>
        <p:nvSpPr>
          <p:cNvPr id="259" name="Google Shape;259;p19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0" name="Google Shape;260;p19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61" name="Google Shape;261;p19"/>
          <p:cNvGraphicFramePr/>
          <p:nvPr/>
        </p:nvGraphicFramePr>
        <p:xfrm>
          <a:off x="498723" y="152729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838925"/>
                <a:gridCol w="5297500"/>
                <a:gridCol w="1635900"/>
                <a:gridCol w="1393050"/>
              </a:tblGrid>
              <a:tr h="17512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57)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hMerge="1"/>
              </a:tr>
              <a:tr h="38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Potenziale effetto negativo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sui risultati finanziari e sulle operazioni aziendali dell’impresa 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Rischio finanziario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(basso/medio/elevato)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Orizzonte temporale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>
                          <a:solidFill>
                            <a:schemeClr val="dk2"/>
                          </a:solidFill>
                        </a:rPr>
                        <a:t>(0-1/2-5/&gt;5 anni)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cronici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{{chronic_hazards}}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 connection financial and operations}}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{{chronic_financial_risk}}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{{chronic_time_horizon}}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acuti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{{acute_hazards}}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 connection financial and operations}}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{{acute_financial_risk}}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{{acute_time_horizon}}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Rischi di transizione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{{climate_related}}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i="0" sz="1200" u="none" strike="noStrike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 connection financial and operations}}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{{climate_related_risk}}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BM Plex Sans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{{climate_time_horizon}}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19"/>
          <p:cNvSpPr txBox="1"/>
          <p:nvPr/>
        </p:nvSpPr>
        <p:spPr>
          <a:xfrm>
            <a:off x="518600" y="1016000"/>
            <a:ext cx="11254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dei rischi climatici, precisando se sono cronici, acuti o connessi alla transizione e se possono incidere negativamente sui risultati finanziari e sulle operazioni aziendali.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</a:rPr>
              <a:t>Altre caratteristiche (generali) della forza lavoro (C5)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71" name="Google Shape;271;p20"/>
          <p:cNvGraphicFramePr/>
          <p:nvPr/>
        </p:nvGraphicFramePr>
        <p:xfrm>
          <a:off x="6237155" y="165074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4228750"/>
                <a:gridCol w="1218100"/>
              </a:tblGrid>
              <a:tr h="288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200">
                          <a:solidFill>
                            <a:schemeClr val="dk2"/>
                          </a:solidFill>
                        </a:rPr>
                        <a:t>Rapporto tra donne e uomini a livello dirigenziale </a:t>
                      </a:r>
                      <a:r>
                        <a:rPr b="0" i="0" lang="it-IT" sz="1200">
                          <a:solidFill>
                            <a:schemeClr val="dk2"/>
                          </a:solidFill>
                        </a:rPr>
                        <a:t>(punto 59)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20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Anno </a:t>
                      </a:r>
                      <a:r>
                        <a:rPr b="1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year}}</a:t>
                      </a:r>
                      <a:endParaRPr sz="1200"/>
                    </a:p>
                  </a:txBody>
                  <a:tcPr marT="12700" marB="12700" marR="38100" marL="381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{{gender_balance}}</a:t>
                      </a:r>
                      <a:endParaRPr sz="1200"/>
                    </a:p>
                  </a:txBody>
                  <a:tcPr marT="12700" marB="12700" marR="38100" marL="381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2" name="Google Shape;272;p20"/>
          <p:cNvGraphicFramePr/>
          <p:nvPr/>
        </p:nvGraphicFramePr>
        <p:xfrm>
          <a:off x="505381" y="165074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4228750"/>
                <a:gridCol w="1218100"/>
              </a:tblGrid>
              <a:tr h="288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200">
                          <a:solidFill>
                            <a:schemeClr val="dk2"/>
                          </a:solidFill>
                        </a:rPr>
                        <a:t>Avvicendamento dei dipendenti nell’anno di riferimento </a:t>
                      </a:r>
                      <a:r>
                        <a:rPr b="0" i="0" lang="it-IT" sz="1200">
                          <a:solidFill>
                            <a:schemeClr val="dk2"/>
                          </a:solidFill>
                        </a:rPr>
                        <a:t>(punto 58)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20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Anno </a:t>
                      </a:r>
                      <a:r>
                        <a:rPr b="1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year}}</a:t>
                      </a:r>
                      <a:endParaRPr sz="1200"/>
                    </a:p>
                  </a:txBody>
                  <a:tcPr marT="12700" marB="12700" marR="38100" marL="381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{{omsatningsrate}}</a:t>
                      </a:r>
                      <a:endParaRPr/>
                    </a:p>
                  </a:txBody>
                  <a:tcPr marT="12700" marB="12700" marR="38100" marL="381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20"/>
          <p:cNvSpPr txBox="1"/>
          <p:nvPr/>
        </p:nvSpPr>
        <p:spPr>
          <a:xfrm>
            <a:off x="508000" y="1016000"/>
            <a:ext cx="1116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integrano le altre informative sulla forza lavoro dell’impresa, tra cui la distribuzione tra uomini e donne a livello dirigenziale.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74" name="Google Shape;274;p20"/>
          <p:cNvGraphicFramePr/>
          <p:nvPr/>
        </p:nvGraphicFramePr>
        <p:xfrm>
          <a:off x="507999" y="32871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8275925"/>
                <a:gridCol w="2889475"/>
              </a:tblGrid>
              <a:tr h="288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autonomi e lavoratori temporanei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60)</a:t>
                      </a:r>
                      <a:endParaRPr b="1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Lavoratori autonomi (senza personale)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{{self-employeed}}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Lavoratori temporanei (forniti da un’agenzia per il lavoro) </a:t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{{temp_workers}}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20"/>
          <p:cNvSpPr txBox="1"/>
          <p:nvPr/>
        </p:nvSpPr>
        <p:spPr>
          <a:xfrm>
            <a:off x="518599" y="2772045"/>
            <a:ext cx="111547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sono state compilate per indicare il numero di lavoratori autonomi e temporanei dell’impresa.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Politiche e procedure in materia di diritti umani (C6</a:t>
            </a:r>
            <a:r>
              <a:rPr lang="it-IT"/>
              <a:t>) - Forza lavoro propria</a:t>
            </a:r>
            <a:endParaRPr/>
          </a:p>
        </p:txBody>
      </p:sp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2" name="Google Shape;282;p21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83" name="Google Shape;283;p21"/>
          <p:cNvGraphicFramePr/>
          <p:nvPr/>
        </p:nvGraphicFramePr>
        <p:xfrm>
          <a:off x="518600" y="184171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8583275"/>
                <a:gridCol w="2582125"/>
              </a:tblGrid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 dispone di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 codice di condotta </a:t>
                      </a:r>
                      <a:r>
                        <a:rPr b="1" i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e/o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di una politica in materia di diritti umani per la nostra </a:t>
                      </a:r>
                      <a:r>
                        <a:rPr b="1" lang="it-IT" sz="1200" u="sng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</a:t>
                      </a:r>
                      <a:r>
                        <a:rPr b="0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61a)</a:t>
                      </a:r>
                      <a:endParaRPr b="0" sz="1200" u="none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{{human_rights_policy?}}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Il codice di condotta o la politica sui diritti umani riguarda i temi seguenti: </a:t>
                      </a:r>
                      <a:r>
                        <a:rPr b="0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61b)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Lavoro minorile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{{child_labour_polict?}}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Lavoro forzato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{{forced_labour_policy?}}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Tratta di esseri umani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{{human_policy?}}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Discriminazione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{{discrimanation_policy?}}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Sicurezza e prevenzione degli infortuni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{{safety_policy?}}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 u="none" cap="none" strike="noStrike">
                          <a:solidFill>
                            <a:schemeClr val="dk2"/>
                          </a:solidFill>
                        </a:rPr>
                        <a:t>Altro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{{other_policy?}}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32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Se sì per ”Altro”, precisare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8337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{{C6_other_description}}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84" name="Google Shape;284;p21"/>
          <p:cNvGraphicFramePr/>
          <p:nvPr/>
        </p:nvGraphicFramePr>
        <p:xfrm>
          <a:off x="507999" y="548392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8595650"/>
                <a:gridCol w="2585825"/>
              </a:tblGrid>
              <a:tr h="8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L’impresa dispone di un meccanismo di trattamento delle denunce per la nostra </a:t>
                      </a:r>
                      <a:r>
                        <a:rPr b="1" lang="it-IT" sz="1200" u="sng">
                          <a:solidFill>
                            <a:schemeClr val="dk2"/>
                          </a:solidFill>
                        </a:rPr>
                        <a:t>forza lavoro</a:t>
                      </a:r>
                      <a:r>
                        <a:rPr b="0" lang="it-IT" sz="1200" u="sng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</a:rPr>
                        <a:t>(punto 61c)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{{whistleblower?}}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1"/>
          <p:cNvSpPr txBox="1"/>
          <p:nvPr/>
        </p:nvSpPr>
        <p:spPr>
          <a:xfrm>
            <a:off x="515952" y="1016000"/>
            <a:ext cx="11168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sono 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indicate informazioni sul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codice di condotta e/o sulla politica in materia di diritti umani dell’impresa per la forza lavoro propri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a. Si indica inoltre se l’impresa dispone di un meccanismo di trattamento delle denunce che consenta ai dipendenti di segnalare fatti connessi a violazioni dei diritti umani, discriminazioni, molestie o altre condotte censurabili.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Incidenti gravi in materia di diritti umani (C7</a:t>
            </a:r>
            <a:r>
              <a:rPr lang="it-IT"/>
              <a:t>) – Forza lavoro propria</a:t>
            </a:r>
            <a:endParaRPr/>
          </a:p>
        </p:txBody>
      </p:sp>
      <p:sp>
        <p:nvSpPr>
          <p:cNvPr id="291" name="Google Shape;291;p22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2" name="Google Shape;292;p22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3" name="Google Shape;293;p22"/>
          <p:cNvGraphicFramePr/>
          <p:nvPr/>
        </p:nvGraphicFramePr>
        <p:xfrm>
          <a:off x="518598" y="167696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918800"/>
                <a:gridCol w="7246600"/>
              </a:tblGrid>
              <a:tr h="3265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 sono verificati, nella </a:t>
                      </a:r>
                      <a:r>
                        <a:rPr b="1" lang="it-IT" sz="1200" u="sng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r>
                        <a:rPr b="1" lang="it-IT" sz="120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, 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incidenti negativi confermati relativi a quanto segue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62a-b)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Lavoro minorile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{{child_labour_yes?}}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{{child_labour_desc}}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Lavoro forzato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{{forced_labour_yes?}}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{{forced_labour_desc}}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Tratta di esseri umani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{{human_trafficking_yes?}}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{{human_trafficking_desc}}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Discriminazione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{{discrimination_yes?}}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</a:rPr>
                        <a:t>{{discrimination_desc}}</a:t>
                      </a:r>
                      <a:endParaRPr sz="1800"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Altro </a:t>
                      </a:r>
                      <a:endParaRPr b="1" sz="1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{{other_yes?}}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{{other_desc}}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22"/>
          <p:cNvSpPr txBox="1"/>
          <p:nvPr/>
        </p:nvSpPr>
        <p:spPr>
          <a:xfrm>
            <a:off x="507999" y="1016000"/>
            <a:ext cx="111653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informative seguenti riguardano la comunicazione da parte dell’impresa di incidenti negativi connessi a lavoro minorile, lavoro forzato, tratta di esseri umani e discriminazione. In questa sezione l’impresa indica se quanto precede riguarda la forza lavoro propria.</a:t>
            </a:r>
            <a:endParaRPr b="0"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Incidenti gravi in materia di diritti umani (C7</a:t>
            </a:r>
            <a:r>
              <a:rPr lang="it-IT"/>
              <a:t>) – Nella catena del valore</a:t>
            </a:r>
            <a:endParaRPr/>
          </a:p>
        </p:txBody>
      </p:sp>
      <p:sp>
        <p:nvSpPr>
          <p:cNvPr id="301" name="Google Shape;301;p23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2" name="Google Shape;302;p23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601802" y="4594892"/>
            <a:ext cx="207455" cy="232601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304" name="Google Shape;304;p23"/>
          <p:cNvGraphicFramePr/>
          <p:nvPr/>
        </p:nvGraphicFramePr>
        <p:xfrm>
          <a:off x="518599" y="163852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463175"/>
                <a:gridCol w="8702225"/>
              </a:tblGrid>
              <a:tr h="3024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è a conoscenza di incidenti negativi confermati in materia di diritti umani nella catena del valore di </a:t>
                      </a:r>
                      <a:r>
                        <a:rPr b="1" lang="it-IT" sz="1200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62c)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52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{{incidents_workers_value_chain}}</a:t>
                      </a:r>
                      <a:endParaRPr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{{incidents_affected_communities}}</a:t>
                      </a:r>
                      <a:endParaRPr sz="1200">
                        <a:solidFill>
                          <a:schemeClr val="accent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{{incidents_consumers}}</a:t>
                      </a:r>
                      <a:endParaRPr b="0"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23"/>
          <p:cNvSpPr txBox="1"/>
          <p:nvPr/>
        </p:nvSpPr>
        <p:spPr>
          <a:xfrm>
            <a:off x="515952" y="1016000"/>
            <a:ext cx="111680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sono </a:t>
            </a: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indicate informazioni sulla 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conoscenza da parte dell’impresa di incidenti negativi confermati in materia di diritti umani nella propria catena del valore.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518600" y="513927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800" u="none" strike="noStrike">
                <a:solidFill>
                  <a:srgbClr val="1B4528"/>
                </a:solidFill>
              </a:rPr>
              <a:t>Ricavi da determinate attività (C8)</a:t>
            </a:r>
            <a:endParaRPr/>
          </a:p>
        </p:txBody>
      </p:sp>
      <p:sp>
        <p:nvSpPr>
          <p:cNvPr id="311" name="Google Shape;311;p24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2" name="Google Shape;312;p24"/>
          <p:cNvSpPr txBox="1"/>
          <p:nvPr>
            <p:ph idx="11" type="ftr"/>
          </p:nvPr>
        </p:nvSpPr>
        <p:spPr>
          <a:xfrm>
            <a:off x="8280504" y="224972"/>
            <a:ext cx="364269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3" name="Google Shape;313;p24"/>
          <p:cNvGraphicFramePr/>
          <p:nvPr/>
        </p:nvGraphicFramePr>
        <p:xfrm>
          <a:off x="518598" y="142582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652625"/>
                <a:gridCol w="3512775"/>
              </a:tblGrid>
              <a:tr h="3438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da determinati settori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63 a-d)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20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nell’anno </a:t>
                      </a:r>
                      <a:r>
                        <a:rPr b="1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{{Insert year}}</a:t>
                      </a:r>
                      <a:endParaRPr sz="1200"/>
                    </a:p>
                  </a:txBody>
                  <a:tcPr marT="25400" marB="25400" marR="38100" marL="381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Armi controverse (mine antiuomo, munizioni a grappolo, armi chimiche e biologiche)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{{revenue_weapons}}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Coltivazione e/o produzione di tabacco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{{revenue_cultivation}}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carbone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{{revenue_coal}}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petrolio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{{revenue_oil}}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gas/gas naturale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{{revenue_gas}}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Produzione di sostanze chimiche per pesticidi e altri prodotti chimici per l’agricoltura</a:t>
                      </a:r>
                      <a:endParaRPr/>
                    </a:p>
                  </a:txBody>
                  <a:tcPr marT="36000" marB="360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55FF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{{revenue_chemichal}}</a:t>
                      </a:r>
                      <a:endParaRPr sz="1200"/>
                    </a:p>
                  </a:txBody>
                  <a:tcPr marT="19050" marB="19050" marR="25400" marL="254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24"/>
          <p:cNvSpPr txBox="1"/>
          <p:nvPr/>
        </p:nvSpPr>
        <p:spPr>
          <a:xfrm>
            <a:off x="518598" y="1016000"/>
            <a:ext cx="111654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’impresa ha indicato i ricavi da determinati settori e gli importi derivanti da tali attività.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518600" y="4748440"/>
            <a:ext cx="111654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lang="it-IT" sz="1800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Diversità di genere nell’organo di governance (C9)</a:t>
            </a:r>
            <a:endParaRPr b="1"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316" name="Google Shape;316;p24"/>
          <p:cNvGraphicFramePr/>
          <p:nvPr/>
        </p:nvGraphicFramePr>
        <p:xfrm>
          <a:off x="507998" y="561471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704350"/>
                <a:gridCol w="3461050"/>
              </a:tblGrid>
              <a:tr h="2880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Rapporto tra donne e uomini nell’organo di governance (</a:t>
                      </a:r>
                      <a:r>
                        <a:rPr b="0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punto 64</a:t>
                      </a:r>
                      <a:r>
                        <a:rPr b="1" lang="it-IT" sz="12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)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i="0" lang="it-IT" sz="1200" u="none" strike="noStrike">
                          <a:solidFill>
                            <a:srgbClr val="2D5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{{Insert year}}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8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{{</a:t>
                      </a:r>
                      <a:r>
                        <a:rPr b="0" i="0" lang="it-IT" sz="1200" u="none" strike="noStrike">
                          <a:solidFill>
                            <a:schemeClr val="accent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gender_supreme_body</a:t>
                      </a:r>
                      <a:r>
                        <a:rPr b="0" lang="it-IT" sz="1200">
                          <a:solidFill>
                            <a:schemeClr val="accent2"/>
                          </a:solidFill>
                        </a:rPr>
                        <a:t>}}</a:t>
                      </a:r>
                      <a:endParaRPr/>
                    </a:p>
                  </a:txBody>
                  <a:tcPr marT="21600" marB="21600" marR="54000" marL="54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4"/>
          <p:cNvSpPr txBox="1"/>
          <p:nvPr/>
        </p:nvSpPr>
        <p:spPr>
          <a:xfrm>
            <a:off x="3049438" y="3248647"/>
            <a:ext cx="6098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-IT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526035" y="5127078"/>
            <a:ext cx="111654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lang="it-IT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it-IT" sz="12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’impresa ha indicato il rapporto tra donne e uomini nell’organo di governance.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/>
          <p:nvPr>
            <p:ph idx="1" type="body"/>
          </p:nvPr>
        </p:nvSpPr>
        <p:spPr>
          <a:xfrm>
            <a:off x="4402137" y="4447433"/>
            <a:ext cx="3449638" cy="103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it-IT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{{company_name}}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it-IT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{{insert_year}}</a:t>
            </a:r>
            <a:br>
              <a:rPr b="1" lang="it-IT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1800"/>
          </a:p>
        </p:txBody>
      </p:sp>
      <p:sp>
        <p:nvSpPr>
          <p:cNvPr id="324" name="Google Shape;324;p25"/>
          <p:cNvSpPr txBox="1"/>
          <p:nvPr>
            <p:ph idx="12" type="sldNum"/>
          </p:nvPr>
        </p:nvSpPr>
        <p:spPr>
          <a:xfrm>
            <a:off x="9180000" y="6450239"/>
            <a:ext cx="2743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2025-02-28T18:51:17Z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