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7560000" cx="10692000"/>
  <p:notesSz cx="6858000" cy="9144000"/>
  <p:embeddedFontLst>
    <p:embeddedFont>
      <p:font typeface="IBM Plex Sans"/>
      <p:regular r:id="rId32"/>
      <p:bold r:id="rId33"/>
      <p:italic r:id="rId34"/>
      <p:boldItalic r:id="rId35"/>
    </p:embeddedFont>
    <p:embeddedFont>
      <p:font typeface="Int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0" roundtripDataSignature="AMtx7miDAISVmhsSZu9O3sATYf0CV2Ie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AA95DC-A3FB-4B04-AF77-96552CE0420F}">
  <a:tblStyle styleId="{CDAA95DC-A3FB-4B04-AF77-96552CE0420F}" styleName="Table_0">
    <a:wholeTbl>
      <a:tcTxStyle b="off" i="off">
        <a:font>
          <a:latin typeface="IBM Plex Sans"/>
          <a:ea typeface="IBM Plex Sans"/>
          <a:cs typeface="IBM Plex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IBM Plex Sans"/>
          <a:ea typeface="IBM Plex Sans"/>
          <a:cs typeface="IBM Plex Sans"/>
        </a:font>
        <a:schemeClr val="lt1"/>
      </a:tcTxStyle>
      <a:tcStyle>
        <a:fill>
          <a:solidFill>
            <a:schemeClr val="accent6"/>
          </a:solidFill>
        </a:fill>
      </a:tcStyle>
    </a:lastCol>
    <a:firstCol>
      <a:tcTxStyle b="on" i="off">
        <a:font>
          <a:latin typeface="IBM Plex Sans"/>
          <a:ea typeface="IBM Plex Sans"/>
          <a:cs typeface="IBM Plex Sans"/>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IBM Plex Sans"/>
          <a:ea typeface="IBM Plex Sans"/>
          <a:cs typeface="IBM Plex Sans"/>
        </a:font>
        <a:schemeClr val="dk1"/>
      </a:tcTxStyle>
    </a:seCell>
    <a:swCell>
      <a:tcTxStyle b="on" i="off">
        <a:font>
          <a:latin typeface="IBM Plex Sans"/>
          <a:ea typeface="IBM Plex Sans"/>
          <a:cs typeface="IBM Plex Sans"/>
        </a:font>
        <a:schemeClr val="dk1"/>
      </a:tcTxStyle>
    </a:swCell>
    <a:firstRow>
      <a:tcTxStyle b="on" i="off">
        <a:font>
          <a:latin typeface="IBM Plex Sans"/>
          <a:ea typeface="IBM Plex Sans"/>
          <a:cs typeface="IBM Plex Sans"/>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BMPlexSans-bold.fntdata"/><Relationship Id="rId10" Type="http://schemas.openxmlformats.org/officeDocument/2006/relationships/slide" Target="slides/slide4.xml"/><Relationship Id="rId32" Type="http://schemas.openxmlformats.org/officeDocument/2006/relationships/font" Target="fonts/IBMPlexSans-regular.fntdata"/><Relationship Id="rId13" Type="http://schemas.openxmlformats.org/officeDocument/2006/relationships/slide" Target="slides/slide7.xml"/><Relationship Id="rId35" Type="http://schemas.openxmlformats.org/officeDocument/2006/relationships/font" Target="fonts/IBMPlexSans-boldItalic.fntdata"/><Relationship Id="rId12" Type="http://schemas.openxmlformats.org/officeDocument/2006/relationships/slide" Target="slides/slide6.xml"/><Relationship Id="rId34" Type="http://schemas.openxmlformats.org/officeDocument/2006/relationships/font" Target="fonts/IBMPlexSans-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a-DK"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a:t>
            </a:r>
            <a:r>
              <a:rPr b="0" i="0" lang="da-DK" sz="1200" u="none" strike="noStrike">
                <a:solidFill>
                  <a:schemeClr val="dk1"/>
                </a:solidFill>
                <a:latin typeface="IBM Plex Sans"/>
                <a:ea typeface="IBM Plex Sans"/>
                <a:cs typeface="IBM Plex Sans"/>
                <a:sym typeface="IBM Plex Sans"/>
              </a:rPr>
              <a:t>{{documents_B2}}</a:t>
            </a:r>
            <a:endParaRPr/>
          </a:p>
          <a:p>
            <a:pPr indent="0" lvl="0" marL="0" rtl="0" algn="l">
              <a:spcBef>
                <a:spcPts val="0"/>
              </a:spcBef>
              <a:spcAft>
                <a:spcPts val="0"/>
              </a:spcAft>
              <a:buNone/>
            </a:pPr>
            <a:r>
              <a:rPr b="0" i="0" lang="da-DK" sz="1200" u="none" strike="noStrike">
                <a:solidFill>
                  <a:schemeClr val="dk1"/>
                </a:solidFill>
                <a:latin typeface="IBM Plex Sans"/>
                <a:ea typeface="IBM Plex Sans"/>
                <a:cs typeface="IBM Plex Sans"/>
                <a:sym typeface="IBM Plex Sans"/>
              </a:rPr>
              <a:t>Tilføjet: kolonne om monitorering</a:t>
            </a:r>
            <a:endParaRPr/>
          </a:p>
        </p:txBody>
      </p:sp>
      <p:sp>
        <p:nvSpPr>
          <p:cNvPr id="86" name="Google Shape;8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a:t>
            </a:r>
            <a:r>
              <a:rPr b="0" i="0" lang="da-DK" sz="1200" u="none" strike="noStrike">
                <a:solidFill>
                  <a:schemeClr val="dk1"/>
                </a:solidFill>
                <a:latin typeface="IBM Plex Sans"/>
                <a:ea typeface="IBM Plex Sans"/>
                <a:cs typeface="IBM Plex Sans"/>
                <a:sym typeface="IBM Plex Sans"/>
              </a:rPr>
              <a:t>{{Insert_CO2e_intensity}}</a:t>
            </a:r>
            <a:endParaRPr b="0"/>
          </a:p>
        </p:txBody>
      </p:sp>
      <p:sp>
        <p:nvSpPr>
          <p:cNvPr id="96" name="Google Shape;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a:t>
            </a:r>
            <a:r>
              <a:rPr b="0" i="0" lang="da-DK" sz="1200" u="none" strike="noStrike">
                <a:solidFill>
                  <a:schemeClr val="dk1"/>
                </a:solidFill>
                <a:latin typeface="IBM Plex Sans"/>
                <a:ea typeface="IBM Plex Sans"/>
                <a:cs typeface="IBM Plex Sans"/>
                <a:sym typeface="IBM Plex Sans"/>
              </a:rPr>
              <a:t>{{uploaded_documents_B4}}</a:t>
            </a:r>
            <a:endParaRPr b="0"/>
          </a:p>
        </p:txBody>
      </p:sp>
      <p:sp>
        <p:nvSpPr>
          <p:cNvPr id="107" name="Google Shape;10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a:t>
            </a:r>
            <a:r>
              <a:rPr b="0" i="0" lang="da-DK" sz="1200" u="none" strike="noStrike">
                <a:solidFill>
                  <a:schemeClr val="dk1"/>
                </a:solidFill>
                <a:latin typeface="IBM Plex Sans"/>
                <a:ea typeface="IBM Plex Sans"/>
                <a:cs typeface="IBM Plex Sans"/>
                <a:sym typeface="IBM Plex Sans"/>
              </a:rPr>
              <a:t>{{waterstress_withdrawal}}</a:t>
            </a:r>
            <a:endParaRPr b="0"/>
          </a:p>
          <a:p>
            <a:pPr indent="0" lvl="0" marL="0" rtl="0" algn="l">
              <a:spcBef>
                <a:spcPts val="0"/>
              </a:spcBef>
              <a:spcAft>
                <a:spcPts val="0"/>
              </a:spcAft>
              <a:buNone/>
            </a:pPr>
            <a:br>
              <a:rPr lang="da-DK"/>
            </a:br>
            <a:endParaRPr/>
          </a:p>
        </p:txBody>
      </p:sp>
      <p:sp>
        <p:nvSpPr>
          <p:cNvPr id="120" name="Google Shape;12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a:t>
            </a:r>
            <a:r>
              <a:rPr b="0" i="0" lang="da-DK" sz="1200" u="none" strike="noStrike">
                <a:solidFill>
                  <a:schemeClr val="dk1"/>
                </a:solidFill>
                <a:latin typeface="IBM Plex Sans"/>
                <a:ea typeface="IBM Plex Sans"/>
                <a:cs typeface="IBM Plex Sans"/>
                <a:sym typeface="IBM Plex Sans"/>
              </a:rPr>
              <a:t>{{omsatningsrate}}</a:t>
            </a:r>
            <a:endParaRPr b="0"/>
          </a:p>
        </p:txBody>
      </p:sp>
      <p:sp>
        <p:nvSpPr>
          <p:cNvPr id="146" name="Google Shape;14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da-DK"/>
              <a:t>Fjernet: </a:t>
            </a:r>
            <a:r>
              <a:rPr b="0" i="0" lang="da-DK" sz="1200" u="none" strike="noStrike">
                <a:solidFill>
                  <a:schemeClr val="dk1"/>
                </a:solidFill>
                <a:latin typeface="IBM Plex Sans"/>
                <a:ea typeface="IBM Plex Sans"/>
                <a:cs typeface="IBM Plex Sans"/>
                <a:sym typeface="IBM Plex Sans"/>
              </a:rPr>
              <a:t>{{men_gennemsnitstimer}}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da-DK" sz="1200" u="none" strike="noStrike">
                <a:solidFill>
                  <a:schemeClr val="dk1"/>
                </a:solidFill>
                <a:latin typeface="IBM Plex Sans"/>
                <a:ea typeface="IBM Plex Sans"/>
                <a:cs typeface="IBM Plex Sans"/>
                <a:sym typeface="IBM Plex Sans"/>
              </a:rPr>
              <a:t>{{women_gennemsnitstimer}}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da-DK" sz="1200" u="none" strike="noStrike">
                <a:solidFill>
                  <a:schemeClr val="dk1"/>
                </a:solidFill>
                <a:latin typeface="IBM Plex Sans"/>
                <a:ea typeface="IBM Plex Sans"/>
                <a:cs typeface="IBM Plex Sans"/>
                <a:sym typeface="IBM Plex Sans"/>
              </a:rPr>
              <a:t>{{other_gennemsnitstimer}}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b="0"/>
          </a:p>
        </p:txBody>
      </p:sp>
      <p:sp>
        <p:nvSpPr>
          <p:cNvPr id="158" name="Google Shape;15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Tilføjet fra B8: </a:t>
            </a:r>
            <a:r>
              <a:rPr b="0" i="0" lang="da-DK" sz="1200" u="none" strike="noStrike">
                <a:solidFill>
                  <a:schemeClr val="dk1"/>
                </a:solidFill>
                <a:latin typeface="IBM Plex Sans"/>
                <a:ea typeface="IBM Plex Sans"/>
                <a:cs typeface="IBM Plex Sans"/>
                <a:sym typeface="IBM Plex Sans"/>
              </a:rPr>
              <a:t>{{omsatningsrate}}</a:t>
            </a:r>
            <a:endParaRPr b="0"/>
          </a:p>
        </p:txBody>
      </p:sp>
      <p:sp>
        <p:nvSpPr>
          <p:cNvPr id="264" name="Google Shape;26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a-DK"/>
              <a:t>Fjernet: EU benchmark exclusion</a:t>
            </a:r>
            <a:endParaRPr/>
          </a:p>
          <a:p>
            <a:pPr indent="0" lvl="0" marL="0" rtl="0" algn="l">
              <a:spcBef>
                <a:spcPts val="0"/>
              </a:spcBef>
              <a:spcAft>
                <a:spcPts val="0"/>
              </a:spcAft>
              <a:buNone/>
            </a:pPr>
            <a:r>
              <a:rPr lang="da-DK"/>
              <a:t>Fjernet: </a:t>
            </a:r>
            <a:endParaRPr/>
          </a:p>
        </p:txBody>
      </p:sp>
      <p:sp>
        <p:nvSpPr>
          <p:cNvPr id="296" name="Google Shape;29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txBox="1"/>
          <p:nvPr/>
        </p:nvSpPr>
        <p:spPr>
          <a:xfrm>
            <a:off x="365760" y="1043948"/>
            <a:ext cx="9960480" cy="350879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da-DK" sz="15600" u="none" cap="none" strike="noStrike">
                <a:solidFill>
                  <a:srgbClr val="FFFFFF"/>
                </a:solidFill>
                <a:latin typeface="IBM Plex Sans"/>
                <a:ea typeface="IBM Plex Sans"/>
                <a:cs typeface="IBM Plex Sans"/>
                <a:sym typeface="IBM Plex Sans"/>
              </a:rPr>
              <a:t>ESG</a:t>
            </a:r>
            <a:endParaRPr b="1" i="0" sz="15600" u="none" cap="none" strike="noStrike">
              <a:solidFill>
                <a:schemeClr val="dk1"/>
              </a:solidFill>
              <a:latin typeface="IBM Plex Sans"/>
              <a:ea typeface="IBM Plex Sans"/>
              <a:cs typeface="IBM Plex Sans"/>
              <a:sym typeface="IBM Plex Sans"/>
            </a:endParaRPr>
          </a:p>
        </p:txBody>
      </p:sp>
      <p:sp>
        <p:nvSpPr>
          <p:cNvPr id="17" name="Google Shape;17;p27"/>
          <p:cNvSpPr txBox="1"/>
          <p:nvPr>
            <p:ph idx="11" type="ftr"/>
          </p:nvPr>
        </p:nvSpPr>
        <p:spPr>
          <a:xfrm>
            <a:off x="3072658" y="4359745"/>
            <a:ext cx="4539794" cy="246616"/>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225">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7"/>
          <p:cNvSpPr txBox="1"/>
          <p:nvPr>
            <p:ph type="title"/>
          </p:nvPr>
        </p:nvSpPr>
        <p:spPr>
          <a:xfrm>
            <a:off x="946688" y="4051289"/>
            <a:ext cx="8798625" cy="160254"/>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950"/>
              <a:buFont typeface="IBM Plex Sans"/>
              <a:buNone/>
              <a:defRPr sz="9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19" name="Shape 19"/>
        <p:cNvGrpSpPr/>
        <p:nvPr/>
      </p:nvGrpSpPr>
      <p:grpSpPr>
        <a:xfrm>
          <a:off x="0" y="0"/>
          <a:ext cx="0" cy="0"/>
          <a:chOff x="0" y="0"/>
          <a:chExt cx="0" cy="0"/>
        </a:xfrm>
      </p:grpSpPr>
      <p:sp>
        <p:nvSpPr>
          <p:cNvPr id="20" name="Google Shape;20;p28"/>
          <p:cNvSpPr txBox="1"/>
          <p:nvPr>
            <p:ph idx="1" type="body"/>
          </p:nvPr>
        </p:nvSpPr>
        <p:spPr>
          <a:xfrm>
            <a:off x="454795" y="864270"/>
            <a:ext cx="3997234" cy="4704480"/>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775"/>
              <a:buNone/>
              <a:defRPr sz="775">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438"/>
              </a:spcBef>
              <a:spcAft>
                <a:spcPts val="0"/>
              </a:spcAft>
              <a:buClr>
                <a:schemeClr val="dk1"/>
              </a:buClr>
              <a:buSzPts val="1800"/>
              <a:buChar char="•"/>
              <a:defRPr/>
            </a:lvl6pPr>
            <a:lvl7pPr indent="-342900" lvl="6" marL="3200400" algn="l">
              <a:lnSpc>
                <a:spcPct val="90000"/>
              </a:lnSpc>
              <a:spcBef>
                <a:spcPts val="438"/>
              </a:spcBef>
              <a:spcAft>
                <a:spcPts val="0"/>
              </a:spcAft>
              <a:buClr>
                <a:schemeClr val="dk1"/>
              </a:buClr>
              <a:buSzPts val="1800"/>
              <a:buChar char="•"/>
              <a:defRPr/>
            </a:lvl7pPr>
            <a:lvl8pPr indent="-342900" lvl="7" marL="3657600" algn="l">
              <a:lnSpc>
                <a:spcPct val="90000"/>
              </a:lnSpc>
              <a:spcBef>
                <a:spcPts val="438"/>
              </a:spcBef>
              <a:spcAft>
                <a:spcPts val="0"/>
              </a:spcAft>
              <a:buClr>
                <a:schemeClr val="dk1"/>
              </a:buClr>
              <a:buSzPts val="1800"/>
              <a:buChar char="•"/>
              <a:defRPr/>
            </a:lvl8pPr>
            <a:lvl9pPr indent="-342900" lvl="8" marL="4114800" algn="l">
              <a:lnSpc>
                <a:spcPct val="90000"/>
              </a:lnSpc>
              <a:spcBef>
                <a:spcPts val="438"/>
              </a:spcBef>
              <a:spcAft>
                <a:spcPts val="0"/>
              </a:spcAft>
              <a:buClr>
                <a:schemeClr val="dk1"/>
              </a:buClr>
              <a:buSzPts val="1800"/>
              <a:buChar char="•"/>
              <a:defRPr/>
            </a:lvl9pPr>
          </a:lstStyle>
          <a:p/>
        </p:txBody>
      </p:sp>
      <p:sp>
        <p:nvSpPr>
          <p:cNvPr id="21" name="Google Shape;21;p28"/>
          <p:cNvSpPr txBox="1"/>
          <p:nvPr>
            <p:ph idx="2" type="body"/>
          </p:nvPr>
        </p:nvSpPr>
        <p:spPr>
          <a:xfrm>
            <a:off x="5675750" y="859072"/>
            <a:ext cx="3997234" cy="4704479"/>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775"/>
              <a:buNone/>
              <a:defRPr sz="775">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438"/>
              </a:spcBef>
              <a:spcAft>
                <a:spcPts val="0"/>
              </a:spcAft>
              <a:buClr>
                <a:schemeClr val="dk1"/>
              </a:buClr>
              <a:buSzPts val="1800"/>
              <a:buChar char="•"/>
              <a:defRPr/>
            </a:lvl6pPr>
            <a:lvl7pPr indent="-342900" lvl="6" marL="3200400" algn="l">
              <a:lnSpc>
                <a:spcPct val="90000"/>
              </a:lnSpc>
              <a:spcBef>
                <a:spcPts val="438"/>
              </a:spcBef>
              <a:spcAft>
                <a:spcPts val="0"/>
              </a:spcAft>
              <a:buClr>
                <a:schemeClr val="dk1"/>
              </a:buClr>
              <a:buSzPts val="1800"/>
              <a:buChar char="•"/>
              <a:defRPr/>
            </a:lvl7pPr>
            <a:lvl8pPr indent="-342900" lvl="7" marL="3657600" algn="l">
              <a:lnSpc>
                <a:spcPct val="90000"/>
              </a:lnSpc>
              <a:spcBef>
                <a:spcPts val="438"/>
              </a:spcBef>
              <a:spcAft>
                <a:spcPts val="0"/>
              </a:spcAft>
              <a:buClr>
                <a:schemeClr val="dk1"/>
              </a:buClr>
              <a:buSzPts val="1800"/>
              <a:buChar char="•"/>
              <a:defRPr/>
            </a:lvl8pPr>
            <a:lvl9pPr indent="-342900" lvl="8" marL="4114800" algn="l">
              <a:lnSpc>
                <a:spcPct val="90000"/>
              </a:lnSpc>
              <a:spcBef>
                <a:spcPts val="438"/>
              </a:spcBef>
              <a:spcAft>
                <a:spcPts val="0"/>
              </a:spcAft>
              <a:buClr>
                <a:schemeClr val="dk1"/>
              </a:buClr>
              <a:buSzPts val="1800"/>
              <a:buChar char="•"/>
              <a:defRPr/>
            </a:lvl9pPr>
          </a:lstStyle>
          <a:p/>
        </p:txBody>
      </p:sp>
      <p:sp>
        <p:nvSpPr>
          <p:cNvPr id="22" name="Google Shape;22;p2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a-DK"/>
              <a:t>‹#›</a:t>
            </a:fld>
            <a:endParaRPr/>
          </a:p>
        </p:txBody>
      </p:sp>
      <p:sp>
        <p:nvSpPr>
          <p:cNvPr id="24" name="Google Shape;24;p2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5" name="Shape 25"/>
        <p:cNvGrpSpPr/>
        <p:nvPr/>
      </p:nvGrpSpPr>
      <p:grpSpPr>
        <a:xfrm>
          <a:off x="0" y="0"/>
          <a:ext cx="0" cy="0"/>
          <a:chOff x="0" y="0"/>
          <a:chExt cx="0" cy="0"/>
        </a:xfrm>
      </p:grpSpPr>
      <p:sp>
        <p:nvSpPr>
          <p:cNvPr id="26" name="Google Shape;26;p2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9"/>
          <p:cNvSpPr txBox="1"/>
          <p:nvPr>
            <p:ph idx="10" type="dt"/>
          </p:nvPr>
        </p:nvSpPr>
        <p:spPr>
          <a:xfrm>
            <a:off x="235729" y="7202406"/>
            <a:ext cx="2405700" cy="13495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30" name="Shape 30"/>
        <p:cNvGrpSpPr/>
        <p:nvPr/>
      </p:nvGrpSpPr>
      <p:grpSpPr>
        <a:xfrm>
          <a:off x="0" y="0"/>
          <a:ext cx="0" cy="0"/>
          <a:chOff x="0" y="0"/>
          <a:chExt cx="0" cy="0"/>
        </a:xfrm>
      </p:grpSpPr>
      <p:sp>
        <p:nvSpPr>
          <p:cNvPr id="31" name="Google Shape;31;p30"/>
          <p:cNvSpPr txBox="1"/>
          <p:nvPr>
            <p:ph idx="1" type="body"/>
          </p:nvPr>
        </p:nvSpPr>
        <p:spPr>
          <a:xfrm>
            <a:off x="946688" y="1392188"/>
            <a:ext cx="8798625" cy="1280812"/>
          </a:xfrm>
          <a:prstGeom prst="rect">
            <a:avLst/>
          </a:prstGeom>
          <a:solidFill>
            <a:srgbClr val="1B4529"/>
          </a:solidFill>
          <a:ln>
            <a:noFill/>
          </a:ln>
        </p:spPr>
        <p:txBody>
          <a:bodyPr anchorCtr="0" anchor="t" bIns="0" lIns="0" spcFirstLastPara="1" rIns="0" wrap="square" tIns="0">
            <a:normAutofit/>
          </a:bodyPr>
          <a:lstStyle>
            <a:lvl1pPr indent="-228600" lvl="0" marL="457200" algn="l">
              <a:lnSpc>
                <a:spcPct val="100000"/>
              </a:lnSpc>
              <a:spcBef>
                <a:spcPts val="175"/>
              </a:spcBef>
              <a:spcAft>
                <a:spcPts val="0"/>
              </a:spcAft>
              <a:buClr>
                <a:schemeClr val="lt1"/>
              </a:buClr>
              <a:buSzPts val="950"/>
              <a:buFont typeface="IBM Plex Sans"/>
              <a:buNone/>
              <a:defRPr sz="950">
                <a:solidFill>
                  <a:schemeClr val="lt1"/>
                </a:solidFill>
              </a:defRPr>
            </a:lvl1pPr>
            <a:lvl2pPr indent="-228600" lvl="1" marL="914400" algn="l">
              <a:lnSpc>
                <a:spcPct val="106000"/>
              </a:lnSpc>
              <a:spcBef>
                <a:spcPts val="0"/>
              </a:spcBef>
              <a:spcAft>
                <a:spcPts val="0"/>
              </a:spcAft>
              <a:buClr>
                <a:schemeClr val="lt1"/>
              </a:buClr>
              <a:buSzPts val="950"/>
              <a:buFont typeface="IBM Plex Sans"/>
              <a:buNone/>
              <a:defRPr sz="950">
                <a:solidFill>
                  <a:schemeClr val="lt1"/>
                </a:solidFill>
              </a:defRPr>
            </a:lvl2pPr>
            <a:lvl3pPr indent="-288925" lvl="2" marL="1371600" algn="l">
              <a:lnSpc>
                <a:spcPct val="106000"/>
              </a:lnSpc>
              <a:spcBef>
                <a:spcPts val="0"/>
              </a:spcBef>
              <a:spcAft>
                <a:spcPts val="0"/>
              </a:spcAft>
              <a:buClr>
                <a:schemeClr val="lt1"/>
              </a:buClr>
              <a:buSzPts val="950"/>
              <a:buChar char="•"/>
              <a:defRPr sz="950">
                <a:solidFill>
                  <a:schemeClr val="lt1"/>
                </a:solidFill>
              </a:defRPr>
            </a:lvl3pPr>
            <a:lvl4pPr indent="-288925" lvl="3" marL="1828800" algn="l">
              <a:lnSpc>
                <a:spcPct val="106000"/>
              </a:lnSpc>
              <a:spcBef>
                <a:spcPts val="0"/>
              </a:spcBef>
              <a:spcAft>
                <a:spcPts val="0"/>
              </a:spcAft>
              <a:buClr>
                <a:schemeClr val="lt1"/>
              </a:buClr>
              <a:buSzPts val="950"/>
              <a:buChar char="•"/>
              <a:defRPr sz="950">
                <a:solidFill>
                  <a:schemeClr val="lt1"/>
                </a:solidFill>
              </a:defRPr>
            </a:lvl4pPr>
            <a:lvl5pPr indent="-288925" lvl="4" marL="2286000" algn="l">
              <a:lnSpc>
                <a:spcPct val="106000"/>
              </a:lnSpc>
              <a:spcBef>
                <a:spcPts val="0"/>
              </a:spcBef>
              <a:spcAft>
                <a:spcPts val="0"/>
              </a:spcAft>
              <a:buClr>
                <a:schemeClr val="lt1"/>
              </a:buClr>
              <a:buSzPts val="950"/>
              <a:buChar char="•"/>
              <a:defRPr sz="950">
                <a:solidFill>
                  <a:schemeClr val="lt1"/>
                </a:solidFill>
              </a:defRPr>
            </a:lvl5pPr>
            <a:lvl6pPr indent="-342900" lvl="5" marL="2743200" algn="l">
              <a:lnSpc>
                <a:spcPct val="90000"/>
              </a:lnSpc>
              <a:spcBef>
                <a:spcPts val="438"/>
              </a:spcBef>
              <a:spcAft>
                <a:spcPts val="0"/>
              </a:spcAft>
              <a:buClr>
                <a:schemeClr val="dk1"/>
              </a:buClr>
              <a:buSzPts val="1800"/>
              <a:buChar char="•"/>
              <a:defRPr/>
            </a:lvl6pPr>
            <a:lvl7pPr indent="-342900" lvl="6" marL="3200400" algn="l">
              <a:lnSpc>
                <a:spcPct val="90000"/>
              </a:lnSpc>
              <a:spcBef>
                <a:spcPts val="438"/>
              </a:spcBef>
              <a:spcAft>
                <a:spcPts val="0"/>
              </a:spcAft>
              <a:buClr>
                <a:schemeClr val="dk1"/>
              </a:buClr>
              <a:buSzPts val="1800"/>
              <a:buChar char="•"/>
              <a:defRPr/>
            </a:lvl7pPr>
            <a:lvl8pPr indent="-342900" lvl="7" marL="3657600" algn="l">
              <a:lnSpc>
                <a:spcPct val="90000"/>
              </a:lnSpc>
              <a:spcBef>
                <a:spcPts val="438"/>
              </a:spcBef>
              <a:spcAft>
                <a:spcPts val="0"/>
              </a:spcAft>
              <a:buClr>
                <a:schemeClr val="dk1"/>
              </a:buClr>
              <a:buSzPts val="1800"/>
              <a:buChar char="•"/>
              <a:defRPr/>
            </a:lvl8pPr>
            <a:lvl9pPr indent="-342900" lvl="8" marL="4114800" algn="l">
              <a:lnSpc>
                <a:spcPct val="90000"/>
              </a:lnSpc>
              <a:spcBef>
                <a:spcPts val="438"/>
              </a:spcBef>
              <a:spcAft>
                <a:spcPts val="0"/>
              </a:spcAft>
              <a:buClr>
                <a:schemeClr val="dk1"/>
              </a:buClr>
              <a:buSzPts val="1800"/>
              <a:buChar char="•"/>
              <a:defRPr/>
            </a:lvl9pPr>
          </a:lstStyle>
          <a:p/>
        </p:txBody>
      </p:sp>
      <p:sp>
        <p:nvSpPr>
          <p:cNvPr id="32" name="Google Shape;32;p3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575"/>
              <a:buFont typeface="IBM Plex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sz="875">
                <a:solidFill>
                  <a:schemeClr val="lt1"/>
                </a:solidFill>
                <a:latin typeface="IBM Plex Sans"/>
                <a:ea typeface="IBM Plex Sans"/>
                <a:cs typeface="IBM Plex Sans"/>
                <a:sym typeface="IBM Plex Sans"/>
              </a:defRPr>
            </a:lvl1pPr>
            <a:lvl2pPr indent="0" lvl="1" marL="0" algn="r">
              <a:spcBef>
                <a:spcPts val="0"/>
              </a:spcBef>
              <a:buNone/>
              <a:defRPr sz="875">
                <a:solidFill>
                  <a:schemeClr val="lt1"/>
                </a:solidFill>
                <a:latin typeface="IBM Plex Sans"/>
                <a:ea typeface="IBM Plex Sans"/>
                <a:cs typeface="IBM Plex Sans"/>
                <a:sym typeface="IBM Plex Sans"/>
              </a:defRPr>
            </a:lvl2pPr>
            <a:lvl3pPr indent="0" lvl="2" marL="0" algn="r">
              <a:spcBef>
                <a:spcPts val="0"/>
              </a:spcBef>
              <a:buNone/>
              <a:defRPr sz="875">
                <a:solidFill>
                  <a:schemeClr val="lt1"/>
                </a:solidFill>
                <a:latin typeface="IBM Plex Sans"/>
                <a:ea typeface="IBM Plex Sans"/>
                <a:cs typeface="IBM Plex Sans"/>
                <a:sym typeface="IBM Plex Sans"/>
              </a:defRPr>
            </a:lvl3pPr>
            <a:lvl4pPr indent="0" lvl="3" marL="0" algn="r">
              <a:spcBef>
                <a:spcPts val="0"/>
              </a:spcBef>
              <a:buNone/>
              <a:defRPr sz="875">
                <a:solidFill>
                  <a:schemeClr val="lt1"/>
                </a:solidFill>
                <a:latin typeface="IBM Plex Sans"/>
                <a:ea typeface="IBM Plex Sans"/>
                <a:cs typeface="IBM Plex Sans"/>
                <a:sym typeface="IBM Plex Sans"/>
              </a:defRPr>
            </a:lvl4pPr>
            <a:lvl5pPr indent="0" lvl="4" marL="0" algn="r">
              <a:spcBef>
                <a:spcPts val="0"/>
              </a:spcBef>
              <a:buNone/>
              <a:defRPr sz="875">
                <a:solidFill>
                  <a:schemeClr val="lt1"/>
                </a:solidFill>
                <a:latin typeface="IBM Plex Sans"/>
                <a:ea typeface="IBM Plex Sans"/>
                <a:cs typeface="IBM Plex Sans"/>
                <a:sym typeface="IBM Plex Sans"/>
              </a:defRPr>
            </a:lvl5pPr>
            <a:lvl6pPr indent="0" lvl="5" marL="0" algn="r">
              <a:spcBef>
                <a:spcPts val="0"/>
              </a:spcBef>
              <a:buNone/>
              <a:defRPr sz="875">
                <a:solidFill>
                  <a:schemeClr val="lt1"/>
                </a:solidFill>
                <a:latin typeface="IBM Plex Sans"/>
                <a:ea typeface="IBM Plex Sans"/>
                <a:cs typeface="IBM Plex Sans"/>
                <a:sym typeface="IBM Plex Sans"/>
              </a:defRPr>
            </a:lvl6pPr>
            <a:lvl7pPr indent="0" lvl="6" marL="0" algn="r">
              <a:spcBef>
                <a:spcPts val="0"/>
              </a:spcBef>
              <a:buNone/>
              <a:defRPr sz="875">
                <a:solidFill>
                  <a:schemeClr val="lt1"/>
                </a:solidFill>
                <a:latin typeface="IBM Plex Sans"/>
                <a:ea typeface="IBM Plex Sans"/>
                <a:cs typeface="IBM Plex Sans"/>
                <a:sym typeface="IBM Plex Sans"/>
              </a:defRPr>
            </a:lvl7pPr>
            <a:lvl8pPr indent="0" lvl="7" marL="0" algn="r">
              <a:spcBef>
                <a:spcPts val="0"/>
              </a:spcBef>
              <a:buNone/>
              <a:defRPr sz="875">
                <a:solidFill>
                  <a:schemeClr val="lt1"/>
                </a:solidFill>
                <a:latin typeface="IBM Plex Sans"/>
                <a:ea typeface="IBM Plex Sans"/>
                <a:cs typeface="IBM Plex Sans"/>
                <a:sym typeface="IBM Plex Sans"/>
              </a:defRPr>
            </a:lvl8pPr>
            <a:lvl9pPr indent="0" lvl="8" marL="0" algn="r">
              <a:spcBef>
                <a:spcPts val="0"/>
              </a:spcBef>
              <a:buNone/>
              <a:defRPr sz="875">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35" name="Shape 35"/>
        <p:cNvGrpSpPr/>
        <p:nvPr/>
      </p:nvGrpSpPr>
      <p:grpSpPr>
        <a:xfrm>
          <a:off x="0" y="0"/>
          <a:ext cx="0" cy="0"/>
          <a:chOff x="0" y="0"/>
          <a:chExt cx="0" cy="0"/>
        </a:xfrm>
      </p:grpSpPr>
      <p:sp>
        <p:nvSpPr>
          <p:cNvPr id="36" name="Google Shape;36;p31"/>
          <p:cNvSpPr txBox="1"/>
          <p:nvPr>
            <p:ph idx="1" type="body"/>
          </p:nvPr>
        </p:nvSpPr>
        <p:spPr>
          <a:xfrm>
            <a:off x="445500" y="890814"/>
            <a:ext cx="3080911" cy="4672738"/>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775"/>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438"/>
              </a:spcBef>
              <a:spcAft>
                <a:spcPts val="0"/>
              </a:spcAft>
              <a:buClr>
                <a:schemeClr val="dk1"/>
              </a:buClr>
              <a:buSzPts val="1800"/>
              <a:buChar char="•"/>
              <a:defRPr/>
            </a:lvl6pPr>
            <a:lvl7pPr indent="-342900" lvl="6" marL="3200400" algn="l">
              <a:lnSpc>
                <a:spcPct val="90000"/>
              </a:lnSpc>
              <a:spcBef>
                <a:spcPts val="438"/>
              </a:spcBef>
              <a:spcAft>
                <a:spcPts val="0"/>
              </a:spcAft>
              <a:buClr>
                <a:schemeClr val="dk1"/>
              </a:buClr>
              <a:buSzPts val="1800"/>
              <a:buChar char="•"/>
              <a:defRPr/>
            </a:lvl7pPr>
            <a:lvl8pPr indent="-342900" lvl="7" marL="3657600" algn="l">
              <a:lnSpc>
                <a:spcPct val="90000"/>
              </a:lnSpc>
              <a:spcBef>
                <a:spcPts val="438"/>
              </a:spcBef>
              <a:spcAft>
                <a:spcPts val="0"/>
              </a:spcAft>
              <a:buClr>
                <a:schemeClr val="dk1"/>
              </a:buClr>
              <a:buSzPts val="1800"/>
              <a:buChar char="•"/>
              <a:defRPr/>
            </a:lvl8pPr>
            <a:lvl9pPr indent="-342900" lvl="8" marL="4114800" algn="l">
              <a:lnSpc>
                <a:spcPct val="90000"/>
              </a:lnSpc>
              <a:spcBef>
                <a:spcPts val="438"/>
              </a:spcBef>
              <a:spcAft>
                <a:spcPts val="0"/>
              </a:spcAft>
              <a:buClr>
                <a:schemeClr val="dk1"/>
              </a:buClr>
              <a:buSzPts val="1800"/>
              <a:buChar char="•"/>
              <a:defRPr/>
            </a:lvl9pPr>
          </a:lstStyle>
          <a:p/>
        </p:txBody>
      </p:sp>
      <p:sp>
        <p:nvSpPr>
          <p:cNvPr id="37" name="Google Shape;37;p31"/>
          <p:cNvSpPr txBox="1"/>
          <p:nvPr>
            <p:ph idx="2" type="body"/>
          </p:nvPr>
        </p:nvSpPr>
        <p:spPr>
          <a:xfrm>
            <a:off x="3804849" y="890815"/>
            <a:ext cx="3080910" cy="4672737"/>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775"/>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438"/>
              </a:spcBef>
              <a:spcAft>
                <a:spcPts val="0"/>
              </a:spcAft>
              <a:buClr>
                <a:schemeClr val="dk1"/>
              </a:buClr>
              <a:buSzPts val="1800"/>
              <a:buChar char="•"/>
              <a:defRPr/>
            </a:lvl6pPr>
            <a:lvl7pPr indent="-342900" lvl="6" marL="3200400" algn="l">
              <a:lnSpc>
                <a:spcPct val="90000"/>
              </a:lnSpc>
              <a:spcBef>
                <a:spcPts val="438"/>
              </a:spcBef>
              <a:spcAft>
                <a:spcPts val="0"/>
              </a:spcAft>
              <a:buClr>
                <a:schemeClr val="dk1"/>
              </a:buClr>
              <a:buSzPts val="1800"/>
              <a:buChar char="•"/>
              <a:defRPr/>
            </a:lvl7pPr>
            <a:lvl8pPr indent="-342900" lvl="7" marL="3657600" algn="l">
              <a:lnSpc>
                <a:spcPct val="90000"/>
              </a:lnSpc>
              <a:spcBef>
                <a:spcPts val="438"/>
              </a:spcBef>
              <a:spcAft>
                <a:spcPts val="0"/>
              </a:spcAft>
              <a:buClr>
                <a:schemeClr val="dk1"/>
              </a:buClr>
              <a:buSzPts val="1800"/>
              <a:buChar char="•"/>
              <a:defRPr/>
            </a:lvl8pPr>
            <a:lvl9pPr indent="-342900" lvl="8" marL="4114800" algn="l">
              <a:lnSpc>
                <a:spcPct val="90000"/>
              </a:lnSpc>
              <a:spcBef>
                <a:spcPts val="438"/>
              </a:spcBef>
              <a:spcAft>
                <a:spcPts val="0"/>
              </a:spcAft>
              <a:buClr>
                <a:schemeClr val="dk1"/>
              </a:buClr>
              <a:buSzPts val="1800"/>
              <a:buChar char="•"/>
              <a:defRPr/>
            </a:lvl9pPr>
          </a:lstStyle>
          <a:p/>
        </p:txBody>
      </p:sp>
      <p:sp>
        <p:nvSpPr>
          <p:cNvPr id="38" name="Google Shape;38;p3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idx="1" type="body"/>
          </p:nvPr>
        </p:nvSpPr>
        <p:spPr>
          <a:xfrm>
            <a:off x="454795" y="890999"/>
            <a:ext cx="9791703" cy="4672552"/>
          </a:xfrm>
          <a:prstGeom prst="rect">
            <a:avLst/>
          </a:prstGeom>
          <a:noFill/>
          <a:ln>
            <a:noFill/>
          </a:ln>
        </p:spPr>
        <p:txBody>
          <a:bodyPr anchorCtr="0" anchor="t" bIns="0" lIns="0" spcFirstLastPara="1" rIns="0" wrap="square" tIns="0">
            <a:noAutofit/>
          </a:bodyPr>
          <a:lstStyle>
            <a:lvl1pPr indent="-277813" lvl="0" marL="457200" marR="0" rtl="0" algn="l">
              <a:lnSpc>
                <a:spcPct val="106000"/>
              </a:lnSpc>
              <a:spcBef>
                <a:spcPts val="0"/>
              </a:spcBef>
              <a:spcAft>
                <a:spcPts val="0"/>
              </a:spcAft>
              <a:buClr>
                <a:schemeClr val="dk2"/>
              </a:buClr>
              <a:buSzPts val="775"/>
              <a:buFont typeface="Arial"/>
              <a:buChar char="•"/>
              <a:defRPr b="0" i="0" sz="775" u="none" cap="none" strike="noStrike">
                <a:solidFill>
                  <a:schemeClr val="dk2"/>
                </a:solidFill>
                <a:latin typeface="IBM Plex Sans"/>
                <a:ea typeface="IBM Plex Sans"/>
                <a:cs typeface="IBM Plex Sans"/>
                <a:sym typeface="IBM Plex Sans"/>
              </a:defRPr>
            </a:lvl1pPr>
            <a:lvl2pPr indent="-277813" lvl="1" marL="914400" marR="0" rtl="0" algn="l">
              <a:lnSpc>
                <a:spcPct val="106000"/>
              </a:lnSpc>
              <a:spcBef>
                <a:spcPts val="0"/>
              </a:spcBef>
              <a:spcAft>
                <a:spcPts val="0"/>
              </a:spcAft>
              <a:buClr>
                <a:schemeClr val="dk2"/>
              </a:buClr>
              <a:buSzPts val="775"/>
              <a:buFont typeface="Arial"/>
              <a:buChar char="•"/>
              <a:defRPr b="0" i="0" sz="775" u="none" cap="none" strike="noStrike">
                <a:solidFill>
                  <a:schemeClr val="dk2"/>
                </a:solidFill>
                <a:latin typeface="IBM Plex Sans"/>
                <a:ea typeface="IBM Plex Sans"/>
                <a:cs typeface="IBM Plex Sans"/>
                <a:sym typeface="IBM Plex Sans"/>
              </a:defRPr>
            </a:lvl2pPr>
            <a:lvl3pPr indent="-277813" lvl="2" marL="1371600" marR="0" rtl="0" algn="l">
              <a:lnSpc>
                <a:spcPct val="106000"/>
              </a:lnSpc>
              <a:spcBef>
                <a:spcPts val="0"/>
              </a:spcBef>
              <a:spcAft>
                <a:spcPts val="0"/>
              </a:spcAft>
              <a:buClr>
                <a:schemeClr val="dk2"/>
              </a:buClr>
              <a:buSzPts val="775"/>
              <a:buFont typeface="Arial"/>
              <a:buChar char="•"/>
              <a:defRPr b="0" i="0" sz="775" u="none" cap="none" strike="noStrike">
                <a:solidFill>
                  <a:schemeClr val="dk2"/>
                </a:solidFill>
                <a:latin typeface="IBM Plex Sans"/>
                <a:ea typeface="IBM Plex Sans"/>
                <a:cs typeface="IBM Plex Sans"/>
                <a:sym typeface="IBM Plex Sans"/>
              </a:defRPr>
            </a:lvl3pPr>
            <a:lvl4pPr indent="-277813" lvl="3" marL="1828800" marR="0" rtl="0" algn="l">
              <a:lnSpc>
                <a:spcPct val="106000"/>
              </a:lnSpc>
              <a:spcBef>
                <a:spcPts val="0"/>
              </a:spcBef>
              <a:spcAft>
                <a:spcPts val="0"/>
              </a:spcAft>
              <a:buClr>
                <a:schemeClr val="dk2"/>
              </a:buClr>
              <a:buSzPts val="775"/>
              <a:buFont typeface="Arial"/>
              <a:buChar char="•"/>
              <a:defRPr b="0" i="0" sz="775" u="none" cap="none" strike="noStrike">
                <a:solidFill>
                  <a:schemeClr val="dk2"/>
                </a:solidFill>
                <a:latin typeface="IBM Plex Sans"/>
                <a:ea typeface="IBM Plex Sans"/>
                <a:cs typeface="IBM Plex Sans"/>
                <a:sym typeface="IBM Plex Sans"/>
              </a:defRPr>
            </a:lvl4pPr>
            <a:lvl5pPr indent="-277813" lvl="4" marL="2286000" marR="0" rtl="0" algn="l">
              <a:lnSpc>
                <a:spcPct val="106000"/>
              </a:lnSpc>
              <a:spcBef>
                <a:spcPts val="0"/>
              </a:spcBef>
              <a:spcAft>
                <a:spcPts val="0"/>
              </a:spcAft>
              <a:buClr>
                <a:schemeClr val="dk2"/>
              </a:buClr>
              <a:buSzPts val="775"/>
              <a:buFont typeface="Arial"/>
              <a:buChar char="•"/>
              <a:defRPr b="0" i="0" sz="775" u="none" cap="none" strike="noStrike">
                <a:solidFill>
                  <a:schemeClr val="dk2"/>
                </a:solidFill>
                <a:latin typeface="IBM Plex Sans"/>
                <a:ea typeface="IBM Plex Sans"/>
                <a:cs typeface="IBM Plex Sans"/>
                <a:sym typeface="IBM Plex Sans"/>
              </a:defRPr>
            </a:lvl5pPr>
            <a:lvl6pPr indent="-328613" lvl="5" marL="2743200" marR="0" rtl="0" algn="l">
              <a:lnSpc>
                <a:spcPct val="90000"/>
              </a:lnSpc>
              <a:spcBef>
                <a:spcPts val="438"/>
              </a:spcBef>
              <a:spcAft>
                <a:spcPts val="0"/>
              </a:spcAft>
              <a:buClr>
                <a:schemeClr val="dk1"/>
              </a:buClr>
              <a:buSzPts val="1575"/>
              <a:buFont typeface="Arial"/>
              <a:buChar char="•"/>
              <a:defRPr b="0" i="0" sz="1575" u="none" cap="none" strike="noStrike">
                <a:solidFill>
                  <a:schemeClr val="dk1"/>
                </a:solidFill>
                <a:latin typeface="IBM Plex Sans"/>
                <a:ea typeface="IBM Plex Sans"/>
                <a:cs typeface="IBM Plex Sans"/>
                <a:sym typeface="IBM Plex Sans"/>
              </a:defRPr>
            </a:lvl6pPr>
            <a:lvl7pPr indent="-328613" lvl="6" marL="3200400" marR="0" rtl="0" algn="l">
              <a:lnSpc>
                <a:spcPct val="90000"/>
              </a:lnSpc>
              <a:spcBef>
                <a:spcPts val="438"/>
              </a:spcBef>
              <a:spcAft>
                <a:spcPts val="0"/>
              </a:spcAft>
              <a:buClr>
                <a:schemeClr val="dk1"/>
              </a:buClr>
              <a:buSzPts val="1575"/>
              <a:buFont typeface="Arial"/>
              <a:buChar char="•"/>
              <a:defRPr b="0" i="0" sz="1575" u="none" cap="none" strike="noStrike">
                <a:solidFill>
                  <a:schemeClr val="dk1"/>
                </a:solidFill>
                <a:latin typeface="IBM Plex Sans"/>
                <a:ea typeface="IBM Plex Sans"/>
                <a:cs typeface="IBM Plex Sans"/>
                <a:sym typeface="IBM Plex Sans"/>
              </a:defRPr>
            </a:lvl7pPr>
            <a:lvl8pPr indent="-328613" lvl="7" marL="3657600" marR="0" rtl="0" algn="l">
              <a:lnSpc>
                <a:spcPct val="90000"/>
              </a:lnSpc>
              <a:spcBef>
                <a:spcPts val="438"/>
              </a:spcBef>
              <a:spcAft>
                <a:spcPts val="0"/>
              </a:spcAft>
              <a:buClr>
                <a:schemeClr val="dk1"/>
              </a:buClr>
              <a:buSzPts val="1575"/>
              <a:buFont typeface="Arial"/>
              <a:buChar char="•"/>
              <a:defRPr b="0" i="0" sz="1575" u="none" cap="none" strike="noStrike">
                <a:solidFill>
                  <a:schemeClr val="dk1"/>
                </a:solidFill>
                <a:latin typeface="IBM Plex Sans"/>
                <a:ea typeface="IBM Plex Sans"/>
                <a:cs typeface="IBM Plex Sans"/>
                <a:sym typeface="IBM Plex Sans"/>
              </a:defRPr>
            </a:lvl8pPr>
            <a:lvl9pPr indent="-328613" lvl="8" marL="4114800" marR="0" rtl="0" algn="l">
              <a:lnSpc>
                <a:spcPct val="90000"/>
              </a:lnSpc>
              <a:spcBef>
                <a:spcPts val="438"/>
              </a:spcBef>
              <a:spcAft>
                <a:spcPts val="0"/>
              </a:spcAft>
              <a:buClr>
                <a:schemeClr val="dk1"/>
              </a:buClr>
              <a:buSzPts val="1575"/>
              <a:buFont typeface="Arial"/>
              <a:buChar char="•"/>
              <a:defRPr b="0" i="0" sz="1575" u="none" cap="none" strike="noStrike">
                <a:solidFill>
                  <a:schemeClr val="dk1"/>
                </a:solidFill>
                <a:latin typeface="IBM Plex Sans"/>
                <a:ea typeface="IBM Plex Sans"/>
                <a:cs typeface="IBM Plex Sans"/>
                <a:sym typeface="IBM Plex Sans"/>
              </a:defRPr>
            </a:lvl9pPr>
          </a:lstStyle>
          <a:p/>
        </p:txBody>
      </p:sp>
      <p:sp>
        <p:nvSpPr>
          <p:cNvPr id="11" name="Google Shape;11;p26"/>
          <p:cNvSpPr txBox="1"/>
          <p:nvPr>
            <p:ph idx="10" type="dt"/>
          </p:nvPr>
        </p:nvSpPr>
        <p:spPr>
          <a:xfrm>
            <a:off x="235729" y="7202406"/>
            <a:ext cx="2405700" cy="134955"/>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87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2" name="Google Shape;12;p2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b="1" i="0" sz="87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3" name="Google Shape;13;p26"/>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875" u="none" cap="none" strike="noStrike">
                <a:solidFill>
                  <a:schemeClr val="dk2"/>
                </a:solidFill>
                <a:latin typeface="IBM Plex Sans"/>
                <a:ea typeface="IBM Plex Sans"/>
                <a:cs typeface="IBM Plex Sans"/>
                <a:sym typeface="IBM Plex Sans"/>
              </a:defRPr>
            </a:lvl1pPr>
            <a:lvl2pPr indent="0" lvl="1" marL="0" marR="0" rtl="0" algn="r">
              <a:spcBef>
                <a:spcPts val="0"/>
              </a:spcBef>
              <a:buNone/>
              <a:defRPr b="0" i="0" sz="875" u="none" cap="none" strike="noStrike">
                <a:solidFill>
                  <a:schemeClr val="dk2"/>
                </a:solidFill>
                <a:latin typeface="IBM Plex Sans"/>
                <a:ea typeface="IBM Plex Sans"/>
                <a:cs typeface="IBM Plex Sans"/>
                <a:sym typeface="IBM Plex Sans"/>
              </a:defRPr>
            </a:lvl2pPr>
            <a:lvl3pPr indent="0" lvl="2" marL="0" marR="0" rtl="0" algn="r">
              <a:spcBef>
                <a:spcPts val="0"/>
              </a:spcBef>
              <a:buNone/>
              <a:defRPr b="0" i="0" sz="875" u="none" cap="none" strike="noStrike">
                <a:solidFill>
                  <a:schemeClr val="dk2"/>
                </a:solidFill>
                <a:latin typeface="IBM Plex Sans"/>
                <a:ea typeface="IBM Plex Sans"/>
                <a:cs typeface="IBM Plex Sans"/>
                <a:sym typeface="IBM Plex Sans"/>
              </a:defRPr>
            </a:lvl3pPr>
            <a:lvl4pPr indent="0" lvl="3" marL="0" marR="0" rtl="0" algn="r">
              <a:spcBef>
                <a:spcPts val="0"/>
              </a:spcBef>
              <a:buNone/>
              <a:defRPr b="0" i="0" sz="875" u="none" cap="none" strike="noStrike">
                <a:solidFill>
                  <a:schemeClr val="dk2"/>
                </a:solidFill>
                <a:latin typeface="IBM Plex Sans"/>
                <a:ea typeface="IBM Plex Sans"/>
                <a:cs typeface="IBM Plex Sans"/>
                <a:sym typeface="IBM Plex Sans"/>
              </a:defRPr>
            </a:lvl4pPr>
            <a:lvl5pPr indent="0" lvl="4" marL="0" marR="0" rtl="0" algn="r">
              <a:spcBef>
                <a:spcPts val="0"/>
              </a:spcBef>
              <a:buNone/>
              <a:defRPr b="0" i="0" sz="875" u="none" cap="none" strike="noStrike">
                <a:solidFill>
                  <a:schemeClr val="dk2"/>
                </a:solidFill>
                <a:latin typeface="IBM Plex Sans"/>
                <a:ea typeface="IBM Plex Sans"/>
                <a:cs typeface="IBM Plex Sans"/>
                <a:sym typeface="IBM Plex Sans"/>
              </a:defRPr>
            </a:lvl5pPr>
            <a:lvl6pPr indent="0" lvl="5" marL="0" marR="0" rtl="0" algn="r">
              <a:spcBef>
                <a:spcPts val="0"/>
              </a:spcBef>
              <a:buNone/>
              <a:defRPr b="0" i="0" sz="875" u="none" cap="none" strike="noStrike">
                <a:solidFill>
                  <a:schemeClr val="dk2"/>
                </a:solidFill>
                <a:latin typeface="IBM Plex Sans"/>
                <a:ea typeface="IBM Plex Sans"/>
                <a:cs typeface="IBM Plex Sans"/>
                <a:sym typeface="IBM Plex Sans"/>
              </a:defRPr>
            </a:lvl6pPr>
            <a:lvl7pPr indent="0" lvl="6" marL="0" marR="0" rtl="0" algn="r">
              <a:spcBef>
                <a:spcPts val="0"/>
              </a:spcBef>
              <a:buNone/>
              <a:defRPr b="0" i="0" sz="875" u="none" cap="none" strike="noStrike">
                <a:solidFill>
                  <a:schemeClr val="dk2"/>
                </a:solidFill>
                <a:latin typeface="IBM Plex Sans"/>
                <a:ea typeface="IBM Plex Sans"/>
                <a:cs typeface="IBM Plex Sans"/>
                <a:sym typeface="IBM Plex Sans"/>
              </a:defRPr>
            </a:lvl7pPr>
            <a:lvl8pPr indent="0" lvl="7" marL="0" marR="0" rtl="0" algn="r">
              <a:spcBef>
                <a:spcPts val="0"/>
              </a:spcBef>
              <a:buNone/>
              <a:defRPr b="0" i="0" sz="875" u="none" cap="none" strike="noStrike">
                <a:solidFill>
                  <a:schemeClr val="dk2"/>
                </a:solidFill>
                <a:latin typeface="IBM Plex Sans"/>
                <a:ea typeface="IBM Plex Sans"/>
                <a:cs typeface="IBM Plex Sans"/>
                <a:sym typeface="IBM Plex Sans"/>
              </a:defRPr>
            </a:lvl8pPr>
            <a:lvl9pPr indent="0" lvl="8" marL="0" marR="0" rtl="0" algn="r">
              <a:spcBef>
                <a:spcPts val="0"/>
              </a:spcBef>
              <a:buNone/>
              <a:defRPr b="0" i="0" sz="875"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a-DK"/>
              <a:t>‹#›</a:t>
            </a:fld>
            <a:endParaRPr/>
          </a:p>
        </p:txBody>
      </p:sp>
      <p:sp>
        <p:nvSpPr>
          <p:cNvPr id="14" name="Google Shape;14;p2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575"/>
              <a:buFont typeface="IBM Plex Sans"/>
              <a:buNone/>
              <a:defRPr b="1" i="0" sz="1575" u="none" cap="none" strike="noStrike">
                <a:solidFill>
                  <a:schemeClr val="dk2"/>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title"/>
          </p:nvPr>
        </p:nvSpPr>
        <p:spPr>
          <a:xfrm>
            <a:off x="946688" y="4051289"/>
            <a:ext cx="8798625" cy="133605"/>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lt1"/>
              </a:buClr>
              <a:buSzPts val="900"/>
              <a:buFont typeface="IBM Plex Sans"/>
              <a:buNone/>
            </a:pPr>
            <a:r>
              <a:rPr lang="da-DK"/>
              <a:t>OPGØRELSE {{insert_year}}</a:t>
            </a:r>
            <a:endParaRPr/>
          </a:p>
        </p:txBody>
      </p:sp>
      <p:sp>
        <p:nvSpPr>
          <p:cNvPr id="45" name="Google Shape;45;p1"/>
          <p:cNvSpPr txBox="1"/>
          <p:nvPr>
            <p:ph idx="11" type="ftr"/>
          </p:nvPr>
        </p:nvSpPr>
        <p:spPr>
          <a:xfrm>
            <a:off x="3072658" y="4359745"/>
            <a:ext cx="4539794" cy="246616"/>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da-DK"/>
              <a:t>{{company_name}}</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ph type="title"/>
          </p:nvPr>
        </p:nvSpPr>
        <p:spPr>
          <a:xfrm>
            <a:off x="454796" y="450698"/>
            <a:ext cx="9791704" cy="437255"/>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ESG opgørelse</a:t>
            </a:r>
            <a:r>
              <a:rPr b="0" lang="da-DK">
                <a:solidFill>
                  <a:srgbClr val="1B4528"/>
                </a:solidFill>
              </a:rPr>
              <a:t> </a:t>
            </a:r>
            <a:br>
              <a:rPr b="0" lang="da-DK">
                <a:solidFill>
                  <a:srgbClr val="1B4528"/>
                </a:solidFill>
              </a:rPr>
            </a:br>
            <a:endParaRPr b="0">
              <a:solidFill>
                <a:srgbClr val="1B4528"/>
              </a:solidFill>
            </a:endParaRPr>
          </a:p>
        </p:txBody>
      </p:sp>
      <p:sp>
        <p:nvSpPr>
          <p:cNvPr id="52" name="Google Shape;52;p2"/>
          <p:cNvSpPr txBox="1"/>
          <p:nvPr>
            <p:ph idx="1" type="body"/>
          </p:nvPr>
        </p:nvSpPr>
        <p:spPr>
          <a:xfrm>
            <a:off x="454793" y="864270"/>
            <a:ext cx="6880233" cy="470448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1050"/>
              <a:buNone/>
            </a:pPr>
            <a:r>
              <a:t/>
            </a:r>
            <a:endParaRPr b="1" sz="1050">
              <a:latin typeface="IBM Plex Sans"/>
              <a:ea typeface="IBM Plex Sans"/>
              <a:cs typeface="IBM Plex Sans"/>
              <a:sym typeface="IBM Plex Sans"/>
            </a:endParaRPr>
          </a:p>
          <a:p>
            <a:pPr indent="0" lvl="0" marL="0" rtl="0" algn="l">
              <a:lnSpc>
                <a:spcPct val="150000"/>
              </a:lnSpc>
              <a:spcBef>
                <a:spcPts val="0"/>
              </a:spcBef>
              <a:spcAft>
                <a:spcPts val="0"/>
              </a:spcAft>
              <a:buClr>
                <a:schemeClr val="dk2"/>
              </a:buClr>
              <a:buSzPts val="1050"/>
              <a:buNone/>
            </a:pPr>
            <a:r>
              <a:t/>
            </a:r>
            <a:endParaRPr b="1"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Generelle oplysninger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solidFill>
                  <a:schemeClr val="dk2"/>
                </a:solidFill>
                <a:latin typeface="IBM Plex Sans"/>
                <a:ea typeface="IBM Plex Sans"/>
                <a:cs typeface="IBM Plex Sans"/>
                <a:sym typeface="IBM Plex Sans"/>
              </a:rPr>
              <a:t>Indsatser, politikker og initiativer for omstilling til en mere bæredygtig økonomi	</a:t>
            </a:r>
            <a:endParaRPr b="1"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Energiforbrug				</a:t>
            </a:r>
            <a:endParaRPr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CO₂e udledning 				</a:t>
            </a:r>
            <a:endParaRPr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Forurening af luft, vand og jord</a:t>
            </a:r>
            <a:r>
              <a:rPr lang="da-DK"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Biodiversitet</a:t>
            </a:r>
            <a:r>
              <a:rPr lang="da-DK"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Vand	</a:t>
            </a:r>
            <a:r>
              <a:rPr lang="da-DK"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Ressourceforbrug, cirkulærøkonomi og affaldshåndtering</a:t>
            </a:r>
            <a:r>
              <a:rPr lang="da-DK"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Egen arbejdsstyrke: Generelle karakteristika</a:t>
            </a:r>
            <a:r>
              <a:rPr lang="da-DK"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Egen arbejdsstyrke: Sundhed og sikkerhed</a:t>
            </a:r>
            <a:r>
              <a:rPr lang="da-DK"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Egen arbejdsstyrke: Vederlag, overenskomster og uddannelse</a:t>
            </a:r>
            <a:r>
              <a:rPr lang="da-DK"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Virksomhedsadfærd</a:t>
            </a:r>
            <a:r>
              <a:rPr lang="da-DK"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Strategi: Forretningsmodel og bæredygtighedsrelaterede initiativer</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Indsatser, politikker og fremtidige initiativer for omstilling til en mere bæredygtig økonomi</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CO₂e-reduktionsmål</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Klimaomstilling</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Klimarisici</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Supplerende (generelle) oplysninger om arbejdsstyrken</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Menneskerettighedspolitikker og -processer</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Alvorlige negative menneskerettighedshændelser</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Indtægter fra bestemte aktiviteter</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050"/>
              <a:buFont typeface="IBM Plex Sans"/>
              <a:buAutoNum type="arabicPeriod"/>
            </a:pPr>
            <a:r>
              <a:rPr b="1" lang="da-DK" sz="1050">
                <a:latin typeface="IBM Plex Sans"/>
                <a:ea typeface="IBM Plex Sans"/>
                <a:cs typeface="IBM Plex Sans"/>
                <a:sym typeface="IBM Plex Sans"/>
              </a:rPr>
              <a:t>Kønsfordeling i øverste ledelsesorgan</a:t>
            </a:r>
            <a:endParaRPr sz="1050">
              <a:solidFill>
                <a:srgbClr val="1B4528"/>
              </a:solidFill>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050"/>
              <a:buNone/>
            </a:pPr>
            <a:r>
              <a:t/>
            </a:r>
            <a:endParaRPr sz="1050">
              <a:latin typeface="IBM Plex Sans"/>
              <a:ea typeface="IBM Plex Sans"/>
              <a:cs typeface="IBM Plex Sans"/>
              <a:sym typeface="IBM Plex Sans"/>
            </a:endParaRPr>
          </a:p>
        </p:txBody>
      </p:sp>
      <p:sp>
        <p:nvSpPr>
          <p:cNvPr id="53" name="Google Shape;53;p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a:p>
        </p:txBody>
      </p:sp>
      <p:sp>
        <p:nvSpPr>
          <p:cNvPr id="54" name="Google Shape;54;p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Grundlag for udarbejdelse (B1) </a:t>
            </a:r>
            <a:endParaRPr/>
          </a:p>
        </p:txBody>
      </p:sp>
      <p:sp>
        <p:nvSpPr>
          <p:cNvPr id="61" name="Google Shape;61;p3"/>
          <p:cNvSpPr txBox="1"/>
          <p:nvPr/>
        </p:nvSpPr>
        <p:spPr>
          <a:xfrm>
            <a:off x="445500" y="2600430"/>
            <a:ext cx="3080911" cy="150659"/>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chemeClr val="dk2"/>
              </a:buClr>
              <a:buSzPts val="775"/>
              <a:buFont typeface="Arial"/>
              <a:buNone/>
            </a:pPr>
            <a:r>
              <a:t/>
            </a:r>
            <a:endParaRPr b="0" i="0" sz="775" u="none" cap="none" strike="noStrike">
              <a:solidFill>
                <a:srgbClr val="1B4528"/>
              </a:solidFill>
              <a:latin typeface="IBM Plex Sans"/>
              <a:ea typeface="IBM Plex Sans"/>
              <a:cs typeface="IBM Plex Sans"/>
              <a:sym typeface="IBM Plex Sans"/>
            </a:endParaRPr>
          </a:p>
        </p:txBody>
      </p:sp>
      <p:graphicFrame>
        <p:nvGraphicFramePr>
          <p:cNvPr id="62" name="Google Shape;62;p3"/>
          <p:cNvGraphicFramePr/>
          <p:nvPr/>
        </p:nvGraphicFramePr>
        <p:xfrm>
          <a:off x="454795" y="4476704"/>
          <a:ext cx="6449550" cy="1078808"/>
        </p:xfrm>
        <a:graphic>
          <a:graphicData uri="http://schemas.openxmlformats.org/drawingml/2006/table">
            <a:tbl>
              <a:tblPr firstRow="1">
                <a:noFill/>
                <a:tableStyleId>{CDAA95DC-A3FB-4B04-AF77-96552CE0420F}</a:tableStyleId>
              </a:tblPr>
              <a:tblGrid>
                <a:gridCol w="2982450"/>
                <a:gridCol w="3467100"/>
              </a:tblGrid>
              <a:tr h="383980">
                <a:tc gridSpan="2">
                  <a:txBody>
                    <a:bodyPr/>
                    <a:lstStyle/>
                    <a:p>
                      <a:pPr indent="0" lvl="0" marL="0" marR="0" rtl="0" algn="l">
                        <a:spcBef>
                          <a:spcPts val="0"/>
                        </a:spcBef>
                        <a:spcAft>
                          <a:spcPts val="0"/>
                        </a:spcAft>
                        <a:buNone/>
                      </a:pPr>
                      <a:r>
                        <a:rPr b="1" lang="da-DK" sz="1050" u="none" cap="none" strike="noStrike">
                          <a:solidFill>
                            <a:schemeClr val="dk2"/>
                          </a:solidFill>
                          <a:latin typeface="IBM Plex Sans"/>
                          <a:ea typeface="IBM Plex Sans"/>
                          <a:cs typeface="IBM Plex Sans"/>
                          <a:sym typeface="IBM Plex Sans"/>
                        </a:rPr>
                        <a:t>Oversigt over datterselskaber, der indgår i denne ESG-opgørelse </a:t>
                      </a:r>
                      <a:r>
                        <a:rPr b="0" lang="da-DK" sz="1050" u="none" cap="none" strike="noStrike">
                          <a:solidFill>
                            <a:schemeClr val="dk2"/>
                          </a:solidFill>
                          <a:latin typeface="IBM Plex Sans"/>
                          <a:ea typeface="IBM Plex Sans"/>
                          <a:cs typeface="IBM Plex Sans"/>
                          <a:sym typeface="IBM Plex Sans"/>
                        </a:rPr>
                        <a:t>(pkt. 27d)</a:t>
                      </a:r>
                      <a:endParaRPr b="0" i="1" sz="1050" u="none" cap="none" strike="noStrike">
                        <a:solidFill>
                          <a:schemeClr val="dk2"/>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56555">
                <a:tc>
                  <a:txBody>
                    <a:bodyPr/>
                    <a:lstStyle/>
                    <a:p>
                      <a:pPr indent="0" lvl="0" marL="0" marR="0" rtl="0" algn="l">
                        <a:spcBef>
                          <a:spcPts val="0"/>
                        </a:spcBef>
                        <a:spcAft>
                          <a:spcPts val="0"/>
                        </a:spcAft>
                        <a:buNone/>
                      </a:pPr>
                      <a:r>
                        <a:rPr b="1" lang="da-DK" sz="1050" u="none" cap="none" strike="noStrike">
                          <a:solidFill>
                            <a:schemeClr val="dk2"/>
                          </a:solidFill>
                          <a:latin typeface="IBM Plex Sans"/>
                          <a:ea typeface="IBM Plex Sans"/>
                          <a:cs typeface="IBM Plex Sans"/>
                          <a:sym typeface="IBM Plex Sans"/>
                        </a:rPr>
                        <a:t>Navn på datterselskab </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1050" u="none" cap="none" strike="noStrike">
                          <a:solidFill>
                            <a:schemeClr val="dk2"/>
                          </a:solidFill>
                          <a:latin typeface="IBM Plex Sans"/>
                          <a:ea typeface="IBM Plex Sans"/>
                          <a:cs typeface="IBM Plex Sans"/>
                          <a:sym typeface="IBM Plex Sans"/>
                        </a:rPr>
                        <a:t>Adresse på datterselskab</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8272">
                <a:tc>
                  <a:txBody>
                    <a:bodyPr/>
                    <a:lstStyle/>
                    <a:p>
                      <a:pPr indent="0" lvl="0" marL="0" marR="0" rtl="0" algn="l">
                        <a:spcBef>
                          <a:spcPts val="0"/>
                        </a:spcBef>
                        <a:spcAft>
                          <a:spcPts val="0"/>
                        </a:spcAft>
                        <a:buClr>
                          <a:srgbClr val="1B4528"/>
                        </a:buClr>
                        <a:buSzPts val="1050"/>
                        <a:buFont typeface="Inter"/>
                        <a:buNone/>
                      </a:pPr>
                      <a:r>
                        <a:rPr b="0" i="0" lang="da-DK" sz="1050" u="none" cap="none" strike="noStrike">
                          <a:solidFill>
                            <a:srgbClr val="1B4528"/>
                          </a:solidFill>
                          <a:latin typeface="Inter"/>
                          <a:ea typeface="Inter"/>
                          <a:cs typeface="Inter"/>
                          <a:sym typeface="Inter"/>
                        </a:rPr>
                        <a:t>{{subsidiary}}</a:t>
                      </a:r>
                      <a:endParaRPr sz="1050" u="none" cap="none" strike="noStrike"/>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050"/>
                        <a:buFont typeface="Inter"/>
                        <a:buNone/>
                      </a:pPr>
                      <a:r>
                        <a:rPr b="0" i="0" lang="da-DK" sz="1050" u="none" cap="none" strike="noStrike">
                          <a:solidFill>
                            <a:srgbClr val="1B4528"/>
                          </a:solidFill>
                          <a:latin typeface="Inter"/>
                          <a:ea typeface="Inter"/>
                          <a:cs typeface="Inter"/>
                          <a:sym typeface="Inter"/>
                        </a:rPr>
                        <a:t>{{subsidiary_address}}</a:t>
                      </a:r>
                      <a:endParaRPr sz="1050" u="none" cap="none" strike="noStrike"/>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3" name="Google Shape;63;p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64" name="Google Shape;64;p3"/>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graphicFrame>
        <p:nvGraphicFramePr>
          <p:cNvPr id="65" name="Google Shape;65;p3"/>
          <p:cNvGraphicFramePr/>
          <p:nvPr/>
        </p:nvGraphicFramePr>
        <p:xfrm>
          <a:off x="454795" y="3395144"/>
          <a:ext cx="6449550" cy="1051270"/>
        </p:xfrm>
        <a:graphic>
          <a:graphicData uri="http://schemas.openxmlformats.org/drawingml/2006/table">
            <a:tbl>
              <a:tblPr firstRow="1">
                <a:noFill/>
                <a:tableStyleId>{CDAA95DC-A3FB-4B04-AF77-96552CE0420F}</a:tableStyleId>
              </a:tblPr>
              <a:tblGrid>
                <a:gridCol w="5432325"/>
                <a:gridCol w="1017225"/>
              </a:tblGrid>
              <a:tr h="210254">
                <a:tc gridSpan="2">
                  <a:txBody>
                    <a:bodyPr/>
                    <a:lstStyle/>
                    <a:p>
                      <a:pPr indent="0" lvl="0" marL="0" marR="0" rtl="0" algn="l">
                        <a:spcBef>
                          <a:spcPts val="0"/>
                        </a:spcBef>
                        <a:spcAft>
                          <a:spcPts val="0"/>
                        </a:spcAft>
                        <a:buNone/>
                      </a:pPr>
                      <a:r>
                        <a:rPr b="1" lang="da-DK" sz="1050" u="none" cap="none" strike="noStrike">
                          <a:solidFill>
                            <a:schemeClr val="dk2"/>
                          </a:solidFill>
                        </a:rPr>
                        <a:t>Individuel eller konsolideret rapportering</a:t>
                      </a:r>
                      <a:r>
                        <a:rPr b="0" lang="da-DK" sz="1050" u="none" cap="none" strike="noStrike">
                          <a:solidFill>
                            <a:schemeClr val="dk2"/>
                          </a:solidFill>
                        </a:rPr>
                        <a:t> (pkt. 27c)</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11366">
                <a:tc>
                  <a:txBody>
                    <a:bodyPr/>
                    <a:lstStyle/>
                    <a:p>
                      <a:pPr indent="0" lvl="0" marL="0" marR="0" rtl="0" algn="l">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Opgørelsen er udarbejdet på </a:t>
                      </a:r>
                      <a:r>
                        <a:rPr b="1" lang="da-DK" sz="1050">
                          <a:solidFill>
                            <a:schemeClr val="dk2"/>
                          </a:solidFill>
                          <a:latin typeface="IBM Plex Sans"/>
                          <a:ea typeface="IBM Plex Sans"/>
                          <a:cs typeface="IBM Plex Sans"/>
                          <a:sym typeface="IBM Plex Sans"/>
                        </a:rPr>
                        <a:t>individuel basis </a:t>
                      </a:r>
                      <a:r>
                        <a:rPr b="0" lang="da-DK" sz="1050">
                          <a:solidFill>
                            <a:schemeClr val="dk2"/>
                          </a:solidFill>
                          <a:latin typeface="IBM Plex Sans"/>
                          <a:ea typeface="IBM Plex Sans"/>
                          <a:cs typeface="IBM Plex Sans"/>
                          <a:sym typeface="IBM Plex Sans"/>
                        </a:rPr>
                        <a:t>(dvs. opgørelsen dækker ikke eventuelle datterselskaber)</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{{yes_subsidiary?}}</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29649">
                <a:tc>
                  <a:txBody>
                    <a:bodyPr/>
                    <a:lstStyle/>
                    <a:p>
                      <a:pPr indent="0" lvl="0" marL="0" marR="0" rtl="0" algn="l">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Opgørelsen er udarbejdet på et </a:t>
                      </a:r>
                      <a:r>
                        <a:rPr b="1" lang="da-DK" sz="1050">
                          <a:solidFill>
                            <a:schemeClr val="dk2"/>
                          </a:solidFill>
                          <a:latin typeface="IBM Plex Sans"/>
                          <a:ea typeface="IBM Plex Sans"/>
                          <a:cs typeface="IBM Plex Sans"/>
                          <a:sym typeface="IBM Plex Sans"/>
                        </a:rPr>
                        <a:t>konsolideret grundlag </a:t>
                      </a:r>
                      <a:r>
                        <a:rPr b="0" lang="da-DK" sz="1050">
                          <a:solidFill>
                            <a:schemeClr val="dk2"/>
                          </a:solidFill>
                          <a:latin typeface="IBM Plex Sans"/>
                          <a:ea typeface="IBM Plex Sans"/>
                          <a:cs typeface="IBM Plex Sans"/>
                          <a:sym typeface="IBM Plex Sans"/>
                        </a:rPr>
                        <a:t>(dvs. opgørelsen omfatter virksomhedens datterselskaber)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{{no_subsidiary?}}</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66" name="Google Shape;66;p3"/>
          <p:cNvGraphicFramePr/>
          <p:nvPr/>
        </p:nvGraphicFramePr>
        <p:xfrm>
          <a:off x="454796" y="2003380"/>
          <a:ext cx="6449550" cy="1167525"/>
        </p:xfrm>
        <a:graphic>
          <a:graphicData uri="http://schemas.openxmlformats.org/drawingml/2006/table">
            <a:tbl>
              <a:tblPr firstRow="1">
                <a:noFill/>
                <a:tableStyleId>{CDAA95DC-A3FB-4B04-AF77-96552CE0420F}</a:tableStyleId>
              </a:tblPr>
              <a:tblGrid>
                <a:gridCol w="5442100"/>
                <a:gridCol w="1007450"/>
              </a:tblGrid>
              <a:tr h="343050">
                <a:tc grid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Basismodul, eller Basismodul +</a:t>
                      </a:r>
                      <a:r>
                        <a:rPr b="0" lang="da-DK" sz="1050">
                          <a:solidFill>
                            <a:schemeClr val="dk2"/>
                          </a:solidFill>
                          <a:latin typeface="IBM Plex Sans"/>
                          <a:ea typeface="IBM Plex Sans"/>
                          <a:cs typeface="IBM Plex Sans"/>
                          <a:sym typeface="IBM Plex Sans"/>
                        </a:rPr>
                        <a:t> </a:t>
                      </a:r>
                      <a:r>
                        <a:rPr b="1" lang="da-DK" sz="1050">
                          <a:solidFill>
                            <a:schemeClr val="dk2"/>
                          </a:solidFill>
                          <a:latin typeface="IBM Plex Sans"/>
                          <a:ea typeface="IBM Plex Sans"/>
                          <a:cs typeface="IBM Plex Sans"/>
                          <a:sym typeface="IBM Plex Sans"/>
                        </a:rPr>
                        <a:t>Udvidet Modul </a:t>
                      </a:r>
                      <a:r>
                        <a:rPr b="0" lang="da-DK" sz="1050">
                          <a:solidFill>
                            <a:schemeClr val="dk2"/>
                          </a:solidFill>
                          <a:latin typeface="IBM Plex Sans"/>
                          <a:ea typeface="IBM Plex Sans"/>
                          <a:cs typeface="IBM Plex Sans"/>
                          <a:sym typeface="IBM Plex Sans"/>
                        </a:rPr>
                        <a:t>(pkt. 27a)</a:t>
                      </a:r>
                      <a:r>
                        <a:rPr b="1" lang="da-DK" sz="1050">
                          <a:solidFill>
                            <a:schemeClr val="dk2"/>
                          </a:solidFill>
                          <a:latin typeface="IBM Plex Sans"/>
                          <a:ea typeface="IBM Plex Sans"/>
                          <a:cs typeface="IBM Plex Sans"/>
                          <a:sym typeface="IBM Plex Sans"/>
                        </a:rPr>
                        <a:t>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58550">
                <a:tc>
                  <a:txBody>
                    <a:bodyPr/>
                    <a:lstStyle/>
                    <a:p>
                      <a:pPr indent="0" lvl="0" marL="0" marR="0" rtl="0" algn="l">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Opgørelsen er baseret på </a:t>
                      </a:r>
                      <a:r>
                        <a:rPr b="1" lang="da-DK" sz="1050">
                          <a:solidFill>
                            <a:schemeClr val="dk2"/>
                          </a:solidFill>
                          <a:latin typeface="IBM Plex Sans"/>
                          <a:ea typeface="IBM Plex Sans"/>
                          <a:cs typeface="IBM Plex Sans"/>
                          <a:sym typeface="IBM Plex Sans"/>
                        </a:rPr>
                        <a:t>Basismodulet</a:t>
                      </a:r>
                      <a:r>
                        <a:rPr b="0" lang="da-DK" sz="1050">
                          <a:solidFill>
                            <a:schemeClr val="dk2"/>
                          </a:solidFill>
                          <a:latin typeface="IBM Plex Sans"/>
                          <a:ea typeface="IBM Plex Sans"/>
                          <a:cs typeface="IBM Plex Sans"/>
                          <a:sym typeface="IBM Plex Sans"/>
                        </a:rPr>
                        <a:t> i den frivillige SMV-standard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{{basic_module?}}</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65925">
                <a:tc>
                  <a:txBody>
                    <a:bodyPr/>
                    <a:lstStyle/>
                    <a:p>
                      <a:pPr indent="0" lvl="0" marL="0" marR="0" rtl="0" algn="l">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Opgørelsen er baseret på </a:t>
                      </a:r>
                      <a:r>
                        <a:rPr b="1" lang="da-DK" sz="1050">
                          <a:solidFill>
                            <a:schemeClr val="dk2"/>
                          </a:solidFill>
                          <a:latin typeface="IBM Plex Sans"/>
                          <a:ea typeface="IBM Plex Sans"/>
                          <a:cs typeface="IBM Plex Sans"/>
                          <a:sym typeface="IBM Plex Sans"/>
                        </a:rPr>
                        <a:t>Basismodulet</a:t>
                      </a:r>
                      <a:r>
                        <a:rPr b="0" lang="da-DK" sz="1050">
                          <a:solidFill>
                            <a:schemeClr val="dk2"/>
                          </a:solidFill>
                          <a:latin typeface="IBM Plex Sans"/>
                          <a:ea typeface="IBM Plex Sans"/>
                          <a:cs typeface="IBM Plex Sans"/>
                          <a:sym typeface="IBM Plex Sans"/>
                        </a:rPr>
                        <a:t> og </a:t>
                      </a:r>
                      <a:r>
                        <a:rPr b="1" lang="da-DK" sz="1050">
                          <a:solidFill>
                            <a:schemeClr val="dk2"/>
                          </a:solidFill>
                          <a:latin typeface="IBM Plex Sans"/>
                          <a:ea typeface="IBM Plex Sans"/>
                          <a:cs typeface="IBM Plex Sans"/>
                          <a:sym typeface="IBM Plex Sans"/>
                        </a:rPr>
                        <a:t>Udvidet Modul </a:t>
                      </a:r>
                      <a:r>
                        <a:rPr b="0" lang="da-DK" sz="1050">
                          <a:solidFill>
                            <a:schemeClr val="dk2"/>
                          </a:solidFill>
                          <a:latin typeface="IBM Plex Sans"/>
                          <a:ea typeface="IBM Plex Sans"/>
                          <a:cs typeface="IBM Plex Sans"/>
                          <a:sym typeface="IBM Plex Sans"/>
                        </a:rPr>
                        <a:t>i den frivillige SMV-standard</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{{comprehensive?}}</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67" name="Google Shape;67;p3"/>
          <p:cNvSpPr txBox="1"/>
          <p:nvPr/>
        </p:nvSpPr>
        <p:spPr>
          <a:xfrm>
            <a:off x="445500" y="891000"/>
            <a:ext cx="9791704" cy="8907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cap="none" strike="noStrike">
                <a:solidFill>
                  <a:schemeClr val="dk2"/>
                </a:solidFill>
                <a:latin typeface="Inter"/>
                <a:ea typeface="Inter"/>
                <a:cs typeface="Inter"/>
                <a:sym typeface="Inter"/>
              </a:rPr>
              <a:t>Virksomheden har udarbejdet deres bæredygtighedsrapport gennem VS standarden, som følger en struktureret tilgang for at sikre, at de nødvendige oplysninger rapporteres standardiseret og gennemsigtigt. Rapporten afspejles af de bæredygtighedsmoduler, der er udvalgt og dækket af virksomheden. Derudover er det angivet, om bæredygtighedsrapporten udarbejdes på individuel basis (kun virksomhedens egne data) eller på konsolideret basis. Dette afsnit indeholder grundlæggende oplysninger om virksomheden, f.eks. dens retlige form, NACE-sektorkode(r), balancestørrelse og omsætning, antal ansatte samt oplysninger om virksomhedens primære driftsland og placeringen af andre væsentlige aktiver.</a:t>
            </a:r>
            <a:endParaRPr b="0" i="0" sz="1050" u="none" cap="none" strike="noStrike">
              <a:solidFill>
                <a:schemeClr val="dk2"/>
              </a:solidFill>
              <a:latin typeface="IBM Plex Sans"/>
              <a:ea typeface="IBM Plex Sans"/>
              <a:cs typeface="IBM Plex Sans"/>
              <a:sym typeface="IBM Plex Sans"/>
            </a:endParaRPr>
          </a:p>
        </p:txBody>
      </p:sp>
      <p:graphicFrame>
        <p:nvGraphicFramePr>
          <p:cNvPr id="68" name="Google Shape;68;p3"/>
          <p:cNvGraphicFramePr/>
          <p:nvPr/>
        </p:nvGraphicFramePr>
        <p:xfrm>
          <a:off x="7164197" y="3389636"/>
          <a:ext cx="3073025" cy="2165876"/>
        </p:xfrm>
        <a:graphic>
          <a:graphicData uri="http://schemas.openxmlformats.org/drawingml/2006/table">
            <a:tbl>
              <a:tblPr firstRow="1">
                <a:noFill/>
                <a:tableStyleId>{CDAA95DC-A3FB-4B04-AF77-96552CE0420F}</a:tableStyleId>
              </a:tblPr>
              <a:tblGrid>
                <a:gridCol w="1421050"/>
                <a:gridCol w="1651975"/>
              </a:tblGrid>
              <a:tr h="258887">
                <a:tc grid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Grundlæggende informationer om </a:t>
                      </a:r>
                      <a:r>
                        <a:rPr b="0" lang="da-DK" sz="1050">
                          <a:solidFill>
                            <a:schemeClr val="dk2"/>
                          </a:solidFill>
                          <a:latin typeface="IBM Plex Sans"/>
                          <a:ea typeface="IBM Plex Sans"/>
                          <a:cs typeface="IBM Plex Sans"/>
                          <a:sym typeface="IBM Plex Sans"/>
                        </a:rPr>
                        <a:t> (pkt. 27e, i-v)</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405188">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Virksomhedsform</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{{branchekode}}</a:t>
                      </a:r>
                      <a:endParaRPr b="0" sz="1050"/>
                    </a:p>
                  </a:txBody>
                  <a:tcPr marT="22275" marB="22275" marR="33400" marL="33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96047">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NACE sektor kode(r)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{{NACE}}</a:t>
                      </a:r>
                      <a:endParaRPr sz="1050"/>
                    </a:p>
                  </a:txBody>
                  <a:tcPr marT="22275" marB="22275" marR="33400" marL="33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3433">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Balancesum (i Euro eller dk)</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{{balance}}</a:t>
                      </a:r>
                      <a:endParaRPr sz="1050"/>
                    </a:p>
                  </a:txBody>
                  <a:tcPr marT="22275" marB="22275" marR="33400" marL="33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3433">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Omsætning (i Euro eller dk)</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{{revenue}}</a:t>
                      </a:r>
                      <a:endParaRPr sz="1050"/>
                    </a:p>
                  </a:txBody>
                  <a:tcPr marT="22275" marB="22275" marR="33400" marL="33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8887">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Antal ansatte </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{{total_employees}}</a:t>
                      </a:r>
                      <a:endParaRPr sz="1050"/>
                    </a:p>
                  </a:txBody>
                  <a:tcPr marT="22275" marB="22275" marR="33400" marL="33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69" name="Google Shape;69;p3"/>
          <p:cNvGraphicFramePr/>
          <p:nvPr/>
        </p:nvGraphicFramePr>
        <p:xfrm>
          <a:off x="7164197" y="2005523"/>
          <a:ext cx="3073025" cy="1269572"/>
        </p:xfrm>
        <a:graphic>
          <a:graphicData uri="http://schemas.openxmlformats.org/drawingml/2006/table">
            <a:tbl>
              <a:tblPr firstRow="1">
                <a:noFill/>
                <a:tableStyleId>{CDAA95DC-A3FB-4B04-AF77-96552CE0420F}</a:tableStyleId>
              </a:tblPr>
              <a:tblGrid>
                <a:gridCol w="1421050"/>
                <a:gridCol w="1651975"/>
              </a:tblGrid>
              <a:tr h="539347">
                <a:tc grid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ESG-opgørelsen indeholder udeladelser grundet sensitiv forretningsinformation </a:t>
                      </a:r>
                      <a:r>
                        <a:rPr b="0" lang="da-DK" sz="1050">
                          <a:solidFill>
                            <a:schemeClr val="dk2"/>
                          </a:solidFill>
                          <a:latin typeface="IBM Plex Sans"/>
                          <a:ea typeface="IBM Plex Sans"/>
                          <a:cs typeface="IBM Plex Sans"/>
                          <a:sym typeface="IBM Plex Sans"/>
                        </a:rPr>
                        <a:t>(pkt. 27b)</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730225">
                <a:tc>
                  <a:txBody>
                    <a:bodyPr/>
                    <a:lstStyle/>
                    <a:p>
                      <a:pPr indent="0" lvl="0" marL="0" marR="0" rtl="0" algn="l">
                        <a:lnSpc>
                          <a:spcPct val="100000"/>
                        </a:lnSpc>
                        <a:spcBef>
                          <a:spcPts val="0"/>
                        </a:spcBef>
                        <a:spcAft>
                          <a:spcPts val="0"/>
                        </a:spcAft>
                        <a:buClr>
                          <a:schemeClr val="dk1"/>
                        </a:buClr>
                        <a:buSzPts val="775"/>
                        <a:buFont typeface="IBM Plex Sans"/>
                        <a:buNone/>
                      </a:pPr>
                      <a:r>
                        <a:t/>
                      </a:r>
                      <a:endParaRPr b="0" sz="775">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Følgende oplysnings-punkter er udeladt</a:t>
                      </a:r>
                      <a:endParaRPr/>
                    </a:p>
                    <a:p>
                      <a:pPr indent="0" lvl="0" marL="0" marR="0" rtl="0" algn="l">
                        <a:spcBef>
                          <a:spcPts val="0"/>
                        </a:spcBef>
                        <a:spcAft>
                          <a:spcPts val="0"/>
                        </a:spcAft>
                        <a:buNone/>
                      </a:pPr>
                      <a:r>
                        <a:t/>
                      </a:r>
                      <a:endParaRPr b="1" sz="775">
                        <a:solidFill>
                          <a:schemeClr val="dk2"/>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None/>
                      </a:pPr>
                      <a:r>
                        <a:rPr lang="da-DK" sz="1050">
                          <a:solidFill>
                            <a:srgbClr val="1B4528"/>
                          </a:solidFill>
                          <a:latin typeface="IBM Plex Sans"/>
                          <a:ea typeface="IBM Plex Sans"/>
                          <a:cs typeface="IBM Plex Sans"/>
                          <a:sym typeface="IBM Plex Sans"/>
                        </a:rPr>
                        <a:t>{{confidentiality_info}}</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Grundlag for udarbejdelse (B1) - fortsat</a:t>
            </a:r>
            <a:endParaRPr/>
          </a:p>
        </p:txBody>
      </p:sp>
      <p:sp>
        <p:nvSpPr>
          <p:cNvPr id="76" name="Google Shape;76;p4"/>
          <p:cNvSpPr/>
          <p:nvPr/>
        </p:nvSpPr>
        <p:spPr>
          <a:xfrm>
            <a:off x="560364" y="972291"/>
            <a:ext cx="181932" cy="203984"/>
          </a:xfrm>
          <a:prstGeom prst="rect">
            <a:avLst/>
          </a:prstGeom>
          <a:noFill/>
          <a:ln>
            <a:noFill/>
          </a:ln>
        </p:spPr>
      </p:sp>
      <p:sp>
        <p:nvSpPr>
          <p:cNvPr id="77" name="Google Shape;77;p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78" name="Google Shape;78;p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r>
              <a:t/>
            </a:r>
            <a:endParaRPr/>
          </a:p>
        </p:txBody>
      </p:sp>
      <p:graphicFrame>
        <p:nvGraphicFramePr>
          <p:cNvPr id="79" name="Google Shape;79;p4"/>
          <p:cNvGraphicFramePr/>
          <p:nvPr/>
        </p:nvGraphicFramePr>
        <p:xfrm>
          <a:off x="452474" y="4486588"/>
          <a:ext cx="3000000" cy="3000000"/>
        </p:xfrm>
        <a:graphic>
          <a:graphicData uri="http://schemas.openxmlformats.org/drawingml/2006/table">
            <a:tbl>
              <a:tblPr firstRow="1">
                <a:noFill/>
                <a:tableStyleId>{CDAA95DC-A3FB-4B04-AF77-96552CE0420F}</a:tableStyleId>
              </a:tblPr>
              <a:tblGrid>
                <a:gridCol w="3375900"/>
                <a:gridCol w="3240100"/>
                <a:gridCol w="1709100"/>
                <a:gridCol w="1494925"/>
              </a:tblGrid>
              <a:tr h="2210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Navn på ESG-certifikat/miljømærke </a:t>
                      </a:r>
                      <a:r>
                        <a:rPr b="0" lang="da-DK" sz="1050">
                          <a:solidFill>
                            <a:schemeClr val="dk2"/>
                          </a:solidFill>
                          <a:latin typeface="IBM Plex Sans"/>
                          <a:ea typeface="IBM Plex Sans"/>
                          <a:cs typeface="IBM Plex Sans"/>
                          <a:sym typeface="IBM Plex Sans"/>
                        </a:rPr>
                        <a:t>(pkt. 28)</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Kort beskrivelse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Dato for udstedelse/</a:t>
                      </a:r>
                      <a:endParaRPr/>
                    </a:p>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gyldighed</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Evt. rating</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21000">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{{certificate_or_ecolabel}}</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{{description_certificate}}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{{date_certicate}}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{{certiciate_possible_rating}}</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80" name="Google Shape;80;p4"/>
          <p:cNvGraphicFramePr/>
          <p:nvPr/>
        </p:nvGraphicFramePr>
        <p:xfrm>
          <a:off x="468741" y="1568148"/>
          <a:ext cx="3000000" cy="3000000"/>
        </p:xfrm>
        <a:graphic>
          <a:graphicData uri="http://schemas.openxmlformats.org/drawingml/2006/table">
            <a:tbl>
              <a:tblPr firstRow="1">
                <a:noFill/>
                <a:tableStyleId>{CDAA95DC-A3FB-4B04-AF77-96552CE0420F}</a:tableStyleId>
              </a:tblPr>
              <a:tblGrid>
                <a:gridCol w="1780750"/>
                <a:gridCol w="1891000"/>
                <a:gridCol w="1444900"/>
                <a:gridCol w="1412050"/>
                <a:gridCol w="1565300"/>
                <a:gridCol w="1676750"/>
              </a:tblGrid>
              <a:tr h="284150">
                <a:tc gridSpan="6">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Adresser og geolokation på </a:t>
                      </a:r>
                      <a:r>
                        <a:rPr b="1" lang="da-DK" sz="1050" u="none">
                          <a:solidFill>
                            <a:schemeClr val="dk2"/>
                          </a:solidFill>
                          <a:latin typeface="IBM Plex Sans"/>
                          <a:ea typeface="IBM Plex Sans"/>
                          <a:cs typeface="IBM Plex Sans"/>
                          <a:sym typeface="IBM Plex Sans"/>
                        </a:rPr>
                        <a:t>væsentlige</a:t>
                      </a:r>
                      <a:r>
                        <a:rPr b="1" lang="da-DK" sz="1050">
                          <a:solidFill>
                            <a:schemeClr val="dk2"/>
                          </a:solidFill>
                          <a:latin typeface="IBM Plex Sans"/>
                          <a:ea typeface="IBM Plex Sans"/>
                          <a:cs typeface="IBM Plex Sans"/>
                          <a:sym typeface="IBM Plex Sans"/>
                        </a:rPr>
                        <a:t> aktiver og anlæg, som virksomheden</a:t>
                      </a:r>
                      <a:r>
                        <a:rPr b="0" lang="da-DK" sz="1050">
                          <a:solidFill>
                            <a:schemeClr val="dk2"/>
                          </a:solidFill>
                          <a:latin typeface="IBM Plex Sans"/>
                          <a:ea typeface="IBM Plex Sans"/>
                          <a:cs typeface="IBM Plex Sans"/>
                          <a:sym typeface="IBM Plex Sans"/>
                        </a:rPr>
                        <a:t> </a:t>
                      </a:r>
                      <a:r>
                        <a:rPr b="1" lang="da-DK" sz="1050">
                          <a:solidFill>
                            <a:schemeClr val="dk2"/>
                          </a:solidFill>
                          <a:latin typeface="IBM Plex Sans"/>
                          <a:ea typeface="IBM Plex Sans"/>
                          <a:cs typeface="IBM Plex Sans"/>
                          <a:sym typeface="IBM Plex Sans"/>
                        </a:rPr>
                        <a:t>ejer, lejer eller forvalter </a:t>
                      </a:r>
                      <a:r>
                        <a:rPr b="0" lang="da-DK" sz="1050">
                          <a:solidFill>
                            <a:schemeClr val="dk2"/>
                          </a:solidFill>
                          <a:latin typeface="IBM Plex Sans"/>
                          <a:ea typeface="IBM Plex Sans"/>
                          <a:cs typeface="IBM Plex Sans"/>
                          <a:sym typeface="IBM Plex Sans"/>
                        </a:rPr>
                        <a:t>(pkt. 27e, vi, vii)</a:t>
                      </a:r>
                      <a:endParaRPr/>
                    </a:p>
                    <a:p>
                      <a:pPr indent="0" lvl="0" marL="0" marR="0" rtl="0" algn="l">
                        <a:lnSpc>
                          <a:spcPct val="100000"/>
                        </a:lnSpc>
                        <a:spcBef>
                          <a:spcPts val="0"/>
                        </a:spcBef>
                        <a:spcAft>
                          <a:spcPts val="0"/>
                        </a:spcAft>
                        <a:buClr>
                          <a:schemeClr val="dk1"/>
                        </a:buClr>
                        <a:buSzPts val="1050"/>
                        <a:buFont typeface="IBM Plex Sans"/>
                        <a:buNone/>
                      </a:pPr>
                      <a:r>
                        <a:t/>
                      </a:r>
                      <a:endParaRPr b="1" sz="1050">
                        <a:solidFill>
                          <a:schemeClr val="dk2"/>
                        </a:solidFill>
                        <a:latin typeface="IBM Plex Sans"/>
                        <a:ea typeface="IBM Plex Sans"/>
                        <a:cs typeface="IBM Plex Sans"/>
                        <a:sym typeface="IBM Plex Sans"/>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c hMerge="1"/>
                <a:tc hMerge="1"/>
              </a:tr>
              <a:tr h="2841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Sted</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Adresse</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Postnummer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By</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Land</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Geolokation (koordinater)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84150">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{{geolocation}}</a:t>
                      </a:r>
                      <a:endParaRPr b="0" sz="1050"/>
                    </a:p>
                  </a:txBody>
                  <a:tcPr marT="11150" marB="11150" marR="16700" marL="167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{{geolocation_adress}}</a:t>
                      </a:r>
                      <a:endParaRPr b="0" sz="1050"/>
                    </a:p>
                  </a:txBody>
                  <a:tcPr marT="11150" marB="11150" marR="16700" marL="167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{{geolocation_postcode}}</a:t>
                      </a:r>
                      <a:endParaRPr b="0" sz="1050"/>
                    </a:p>
                  </a:txBody>
                  <a:tcPr marT="11150" marB="11150" marR="16700" marL="167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{{geolocation_city}}</a:t>
                      </a:r>
                      <a:endParaRPr b="0" sz="1050"/>
                    </a:p>
                  </a:txBody>
                  <a:tcPr marT="11150" marB="11150" marR="16700" marL="167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{{geolocation_country}}</a:t>
                      </a:r>
                      <a:endParaRPr b="0" sz="1050"/>
                    </a:p>
                  </a:txBody>
                  <a:tcPr marT="11150" marB="11150" marR="16700" marL="167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{{geolocation_coordinates}}</a:t>
                      </a:r>
                      <a:endParaRPr b="0" sz="1050"/>
                    </a:p>
                  </a:txBody>
                  <a:tcPr marT="11150" marB="11150" marR="16700" marL="167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81" name="Google Shape;81;p4"/>
          <p:cNvSpPr txBox="1"/>
          <p:nvPr/>
        </p:nvSpPr>
        <p:spPr>
          <a:xfrm>
            <a:off x="452474" y="891000"/>
            <a:ext cx="9794026" cy="5668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a-DK" sz="1050" u="none" cap="none" strike="noStrike">
                <a:solidFill>
                  <a:schemeClr val="dk2"/>
                </a:solidFill>
                <a:latin typeface="Inter"/>
                <a:ea typeface="Inter"/>
                <a:cs typeface="Inter"/>
                <a:sym typeface="Inter"/>
              </a:rPr>
              <a:t>Nedenfor er en beskrivelse af virksomhedens geolokationer, samt hvor virksomheden opererer. Disse oplysninger kan anvendes til klimarelaterede risikozoner og giver oplysninger om virksomhedens anlæg, faciliteter og/eller hovedkvarter. Relevante bæredygtighedscertificeringer eller -mærker er også angivet, herunder udsteder af certificeringen, dato og eventuel rating.</a:t>
            </a:r>
            <a:endParaRPr b="0" i="0" sz="1050" u="none" cap="none" strike="noStrike">
              <a:solidFill>
                <a:schemeClr val="dk2"/>
              </a:solidFill>
              <a:latin typeface="Inter"/>
              <a:ea typeface="Inter"/>
              <a:cs typeface="Inter"/>
              <a:sym typeface="Inter"/>
            </a:endParaRPr>
          </a:p>
        </p:txBody>
      </p:sp>
      <p:sp>
        <p:nvSpPr>
          <p:cNvPr id="82" name="Google Shape;82;p4"/>
          <p:cNvSpPr txBox="1"/>
          <p:nvPr/>
        </p:nvSpPr>
        <p:spPr>
          <a:xfrm>
            <a:off x="452474" y="4181436"/>
            <a:ext cx="7174107" cy="2429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a-DK" sz="1050" u="none" cap="none" strike="noStrike">
                <a:solidFill>
                  <a:srgbClr val="487477"/>
                </a:solidFill>
                <a:latin typeface="Inter"/>
                <a:ea typeface="Inter"/>
                <a:cs typeface="Inter"/>
                <a:sym typeface="Inter"/>
              </a:rPr>
              <a:t>Virksomhedens certifikater og miljømærker er listet nedenfor.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Indsatser, politikker og fremtidige initiativer for omstilling til en mere bæredygtig økonomi (B2)</a:t>
            </a:r>
            <a:endParaRPr/>
          </a:p>
        </p:txBody>
      </p:sp>
      <p:sp>
        <p:nvSpPr>
          <p:cNvPr id="89" name="Google Shape;89;p5"/>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r>
              <a:t/>
            </a:r>
            <a:endParaRPr/>
          </a:p>
        </p:txBody>
      </p:sp>
      <p:graphicFrame>
        <p:nvGraphicFramePr>
          <p:cNvPr id="90" name="Google Shape;90;p5"/>
          <p:cNvGraphicFramePr/>
          <p:nvPr/>
        </p:nvGraphicFramePr>
        <p:xfrm>
          <a:off x="454796" y="1501175"/>
          <a:ext cx="3000000" cy="3000000"/>
        </p:xfrm>
        <a:graphic>
          <a:graphicData uri="http://schemas.openxmlformats.org/drawingml/2006/table">
            <a:tbl>
              <a:tblPr firstRow="1">
                <a:noFill/>
                <a:tableStyleId>{CDAA95DC-A3FB-4B04-AF77-96552CE0420F}</a:tableStyleId>
              </a:tblPr>
              <a:tblGrid>
                <a:gridCol w="1750425"/>
                <a:gridCol w="1848825"/>
                <a:gridCol w="1447875"/>
                <a:gridCol w="2027025"/>
                <a:gridCol w="2717550"/>
              </a:tblGrid>
              <a:tr h="41767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Område</a:t>
                      </a:r>
                      <a:endParaRPr/>
                    </a:p>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(pkt. 29a-d)</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Virksomheden har en konkret indsats eller politik på området</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Er politikken offentligt tilgængelig? </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Virksomheden har fremtidige initiativer og planer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Virksomheden har konkrete målsætninger til at monitorere implementering af indsatser og politikker?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670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Klimaforandringer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{{climate_change_concrete}}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{{climate_change_publicly}}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{{climate_change_future}}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{{climate_change_plan}}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34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Forurening</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{{pollution_concrete}}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{{pollution_publicly}}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{{pollution_future}}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{{pollution_plan}}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Vand -og Havressourcer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{{water_concrete}}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{{water_publicly}}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{{water_future}}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{{water_plan}}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Biodiversitet og Økosystemer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{{biodiversity_concrete}}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{{biodiversity_publicly}}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{{biodiversity_future}}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{{biodiversity_plan}}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Cirkulær økonomi</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{{circular_concrete}}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{{circular_publicly}}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{{circular_future}}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{{circular_plan}}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Egen arbejdsstyrke</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{{workforce_concrete}}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{{workforce_publicly}}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{{workforce_future}}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{{workforce_plan}}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Arbejdere i værdikæden</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{{workers_concrete}}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{{workers_publicly}}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{{workers_future}}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{{workers_plan}}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Berørte samfund</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{{communities_concrete}}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{{communities_publicly}}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{{communities_future}}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{{communities_plan}}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Forbrugere og slutbrugere</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{{consumers_concrete}}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{{consumers_publicly}}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{{consumers_future}}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{{consumers_plan}}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Virksomhedsledelse</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{{governance_concrete}}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{{governance_publicly}}</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{{governance_future}}</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{{governance_plan}}</a:t>
                      </a:r>
                      <a:endParaRPr sz="1575">
                        <a:latin typeface="Inter"/>
                        <a:ea typeface="Inter"/>
                        <a:cs typeface="Inter"/>
                        <a:sym typeface="Inte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91" name="Google Shape;91;p5"/>
          <p:cNvSpPr txBox="1"/>
          <p:nvPr/>
        </p:nvSpPr>
        <p:spPr>
          <a:xfrm>
            <a:off x="454796" y="891000"/>
            <a:ext cx="9782408" cy="5668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Dette afsnit skitserer de praksisser, politikker og fremtidige initiativer, som virksomheden har implementeret for at understøtte en bæredygtig økonomi. Dette omfatter angivelse af, hvilke konkrete tiltag virksomheden har taget for at reducere negative miljøpåvirkninger, forbedre arbejdsforhold og ligebehandling (JA/NEJ).</a:t>
            </a:r>
            <a:br>
              <a:rPr lang="da-DK" sz="1050">
                <a:solidFill>
                  <a:schemeClr val="dk2"/>
                </a:solidFill>
                <a:latin typeface="IBM Plex Sans"/>
                <a:ea typeface="IBM Plex Sans"/>
                <a:cs typeface="IBM Plex Sans"/>
                <a:sym typeface="IBM Plex Sans"/>
              </a:rPr>
            </a:br>
            <a:endParaRPr sz="1050">
              <a:solidFill>
                <a:schemeClr val="dk2"/>
              </a:solidFill>
              <a:latin typeface="IBM Plex Sans"/>
              <a:ea typeface="IBM Plex Sans"/>
              <a:cs typeface="IBM Plex Sans"/>
              <a:sym typeface="IBM Plex Sans"/>
            </a:endParaRPr>
          </a:p>
        </p:txBody>
      </p:sp>
      <p:sp>
        <p:nvSpPr>
          <p:cNvPr id="92" name="Google Shape;92;p5"/>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Energiforbrug (B3)</a:t>
            </a:r>
            <a:endParaRPr/>
          </a:p>
        </p:txBody>
      </p:sp>
      <p:graphicFrame>
        <p:nvGraphicFramePr>
          <p:cNvPr id="99" name="Google Shape;99;p6"/>
          <p:cNvGraphicFramePr/>
          <p:nvPr/>
        </p:nvGraphicFramePr>
        <p:xfrm>
          <a:off x="443369" y="1359604"/>
          <a:ext cx="3000000" cy="3000000"/>
        </p:xfrm>
        <a:graphic>
          <a:graphicData uri="http://schemas.openxmlformats.org/drawingml/2006/table">
            <a:tbl>
              <a:tblPr firstRow="1">
                <a:noFill/>
                <a:tableStyleId>{CDAA95DC-A3FB-4B04-AF77-96552CE0420F}</a:tableStyleId>
              </a:tblPr>
              <a:tblGrid>
                <a:gridCol w="2660550"/>
                <a:gridCol w="2469625"/>
                <a:gridCol w="2604425"/>
                <a:gridCol w="2068525"/>
              </a:tblGrid>
              <a:tr h="218600">
                <a:tc gridSpan="4">
                  <a:txBody>
                    <a:bodyPr/>
                    <a:lstStyle/>
                    <a:p>
                      <a:pPr indent="0" lvl="0" marL="0" marR="0" rtl="0" algn="ctr">
                        <a:lnSpc>
                          <a:spcPct val="106000"/>
                        </a:lnSpc>
                        <a:spcBef>
                          <a:spcPts val="0"/>
                        </a:spcBef>
                        <a:spcAft>
                          <a:spcPts val="0"/>
                        </a:spcAft>
                        <a:buClr>
                          <a:schemeClr val="dk2"/>
                        </a:buClr>
                        <a:buSzPts val="1050"/>
                        <a:buFont typeface="IBM Plex Sans"/>
                        <a:buNone/>
                      </a:pPr>
                      <a:r>
                        <a:rPr b="1" lang="da-DK" sz="1050">
                          <a:solidFill>
                            <a:schemeClr val="dk2"/>
                          </a:solidFill>
                        </a:rPr>
                        <a:t>Energiforbrug i MWh </a:t>
                      </a:r>
                      <a:r>
                        <a:rPr b="0" lang="da-DK" sz="1050">
                          <a:solidFill>
                            <a:schemeClr val="dk2"/>
                          </a:solidFill>
                        </a:rPr>
                        <a:t>(pkt. 32)</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47575">
                <a:tc>
                  <a:txBody>
                    <a:bodyPr/>
                    <a:lstStyle/>
                    <a:p>
                      <a:pPr indent="0" lvl="0" marL="0" marR="0" rtl="0" algn="l">
                        <a:lnSpc>
                          <a:spcPct val="106000"/>
                        </a:lnSpc>
                        <a:spcBef>
                          <a:spcPts val="0"/>
                        </a:spcBef>
                        <a:spcAft>
                          <a:spcPts val="0"/>
                        </a:spcAft>
                        <a:buNone/>
                      </a:pPr>
                      <a:r>
                        <a:t/>
                      </a:r>
                      <a:endParaRPr b="1"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a-DK" sz="1050">
                          <a:solidFill>
                            <a:schemeClr val="dk2"/>
                          </a:solidFill>
                        </a:rPr>
                        <a:t>Vedvarende energiforbrug</a:t>
                      </a:r>
                      <a:r>
                        <a:rPr b="1" lang="da-DK" sz="1050">
                          <a:solidFill>
                            <a:schemeClr val="dk2"/>
                          </a:solidFill>
                        </a:rPr>
                        <a:t> (MWh)</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a-DK" sz="1050">
                          <a:solidFill>
                            <a:schemeClr val="dk2"/>
                          </a:solidFill>
                        </a:rPr>
                        <a:t>Ikke-vedvarende energiforbrug</a:t>
                      </a:r>
                      <a:r>
                        <a:rPr b="1" lang="da-DK" sz="1050">
                          <a:solidFill>
                            <a:schemeClr val="dk2"/>
                          </a:solidFill>
                        </a:rPr>
                        <a:t> (MWh)</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050"/>
                        <a:buFont typeface="IBM Plex Sans"/>
                        <a:buNone/>
                      </a:pPr>
                      <a:r>
                        <a:rPr b="1" lang="da-DK" sz="1050">
                          <a:solidFill>
                            <a:schemeClr val="dk2"/>
                          </a:solidFill>
                        </a:rPr>
                        <a:t>Total energiforbrug (MWh)</a:t>
                      </a:r>
                      <a:endParaRPr/>
                    </a:p>
                    <a:p>
                      <a:pPr indent="0" lvl="0" marL="0" marR="0" rtl="0" algn="r">
                        <a:lnSpc>
                          <a:spcPct val="106000"/>
                        </a:lnSpc>
                        <a:spcBef>
                          <a:spcPts val="0"/>
                        </a:spcBef>
                        <a:spcAft>
                          <a:spcPts val="0"/>
                        </a:spcAft>
                        <a:buClr>
                          <a:srgbClr val="1B4528"/>
                        </a:buClr>
                        <a:buSzPts val="1050"/>
                        <a:buFont typeface="IBM Plex Sans"/>
                        <a:buNone/>
                      </a:pPr>
                      <a:r>
                        <a:rPr b="1" lang="da-DK" sz="1050">
                          <a:solidFill>
                            <a:srgbClr val="1B4528"/>
                          </a:solidFill>
                        </a:rPr>
                        <a:t>{{insert_year}}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7575">
                <a:tc>
                  <a:txBody>
                    <a:bodyPr/>
                    <a:lstStyle/>
                    <a:p>
                      <a:pPr indent="0" lvl="0" marL="0" marR="0" rtl="0" algn="l">
                        <a:lnSpc>
                          <a:spcPct val="106000"/>
                        </a:lnSpc>
                        <a:spcBef>
                          <a:spcPts val="0"/>
                        </a:spcBef>
                        <a:spcAft>
                          <a:spcPts val="0"/>
                        </a:spcAft>
                        <a:buNone/>
                      </a:pPr>
                      <a:r>
                        <a:rPr b="1" lang="da-DK" sz="1050">
                          <a:solidFill>
                            <a:schemeClr val="dk2"/>
                          </a:solidFill>
                        </a:rPr>
                        <a:t>Elektricitet </a:t>
                      </a:r>
                      <a:r>
                        <a:rPr b="0" lang="da-DK" sz="1050">
                          <a:solidFill>
                            <a:schemeClr val="dk2"/>
                          </a:solidFill>
                        </a:rPr>
                        <a:t>(som det fremgår af virksomhedens forbrugsregninger)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{{electricity_renewable}}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{{electricity_non_rewenable}}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{{total_electricity}}</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0">
                <a:tc>
                  <a:txBody>
                    <a:bodyPr/>
                    <a:lstStyle/>
                    <a:p>
                      <a:pPr indent="0" lvl="0" marL="0" marR="0" rtl="0" algn="l">
                        <a:lnSpc>
                          <a:spcPct val="106000"/>
                        </a:lnSpc>
                        <a:spcBef>
                          <a:spcPts val="0"/>
                        </a:spcBef>
                        <a:spcAft>
                          <a:spcPts val="0"/>
                        </a:spcAft>
                        <a:buNone/>
                      </a:pPr>
                      <a:r>
                        <a:rPr b="1" lang="da-DK" sz="1050">
                          <a:solidFill>
                            <a:schemeClr val="dk2"/>
                          </a:solidFill>
                        </a:rPr>
                        <a:t>Brændstoffer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{{fuel_renewable}}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{{fuel_non_rewenable}}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{{total_fuel}}</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0">
                <a:tc>
                  <a:txBody>
                    <a:bodyPr/>
                    <a:lstStyle/>
                    <a:p>
                      <a:pPr indent="0" lvl="0" marL="0" marR="0" rtl="0" algn="l">
                        <a:lnSpc>
                          <a:spcPct val="106000"/>
                        </a:lnSpc>
                        <a:spcBef>
                          <a:spcPts val="0"/>
                        </a:spcBef>
                        <a:spcAft>
                          <a:spcPts val="0"/>
                        </a:spcAft>
                        <a:buNone/>
                      </a:pPr>
                      <a:r>
                        <a:rPr b="1" lang="da-DK" sz="1050">
                          <a:solidFill>
                            <a:schemeClr val="dk2"/>
                          </a:solidFill>
                        </a:rPr>
                        <a:t>Andet (fx fjernvarme)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{{district_heating_rewenable}}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{{district_heating_non_rewenable}}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{{total_district_heating}}</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0">
                <a:tc>
                  <a:txBody>
                    <a:bodyPr/>
                    <a:lstStyle/>
                    <a:p>
                      <a:pPr indent="0" lvl="0" marL="0" marR="0" rtl="0" algn="l">
                        <a:lnSpc>
                          <a:spcPct val="106000"/>
                        </a:lnSpc>
                        <a:spcBef>
                          <a:spcPts val="0"/>
                        </a:spcBef>
                        <a:spcAft>
                          <a:spcPts val="0"/>
                        </a:spcAft>
                        <a:buNone/>
                      </a:pPr>
                      <a:r>
                        <a:rPr b="1" lang="da-DK" sz="1050">
                          <a:solidFill>
                            <a:schemeClr val="dk2"/>
                          </a:solidFill>
                        </a:rPr>
                        <a:t>Total</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{{renewable_energy_total}}</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{{non_rewenable_energy_total}}</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{{total_energy_consumption}}</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00" name="Google Shape;100;p6"/>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01" name="Google Shape;101;p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02" name="Google Shape;102;p6"/>
          <p:cNvSpPr txBox="1"/>
          <p:nvPr/>
        </p:nvSpPr>
        <p:spPr>
          <a:xfrm>
            <a:off x="443369" y="898217"/>
            <a:ext cx="9803131" cy="3616799"/>
          </a:xfrm>
          <a:prstGeom prst="rect">
            <a:avLst/>
          </a:prstGeom>
          <a:noFill/>
          <a:ln>
            <a:noFill/>
          </a:ln>
        </p:spPr>
        <p:txBody>
          <a:bodyPr anchorCtr="0" anchor="t" bIns="40075" lIns="80175" spcFirstLastPara="1" rIns="80175" wrap="square" tIns="40075">
            <a:spAutoFit/>
          </a:bodyPr>
          <a:lstStyle/>
          <a:p>
            <a:pPr indent="0" lvl="0" marL="0" marR="0" rtl="0" algn="l">
              <a:spcBef>
                <a:spcPts val="0"/>
              </a:spcBef>
              <a:spcAft>
                <a:spcPts val="0"/>
              </a:spcAft>
              <a:buNone/>
            </a:pPr>
            <a:r>
              <a:rPr b="0" i="0" lang="da-DK" sz="1050" u="none" strike="noStrike">
                <a:solidFill>
                  <a:schemeClr val="dk2"/>
                </a:solidFill>
                <a:latin typeface="Inter"/>
                <a:ea typeface="Inter"/>
                <a:cs typeface="Inter"/>
                <a:sym typeface="Inter"/>
              </a:rPr>
              <a:t>Dette afsnit angiver virksomhedens CO2-udledning fra energiforbrug og angiver vedvarende og ikke-vedvarende forbrug. </a:t>
            </a:r>
            <a:r>
              <a:rPr lang="da-DK" sz="1050">
                <a:solidFill>
                  <a:schemeClr val="dk2"/>
                </a:solidFill>
                <a:latin typeface="Inter"/>
                <a:ea typeface="Inter"/>
                <a:cs typeface="Inter"/>
                <a:sym typeface="Inter"/>
              </a:rPr>
              <a:t>Udledningerne er oplyst ud fra </a:t>
            </a:r>
            <a:r>
              <a:rPr b="0" i="0" lang="da-DK" sz="1050" u="none" strike="noStrike">
                <a:solidFill>
                  <a:schemeClr val="dk2"/>
                </a:solidFill>
                <a:latin typeface="Inter"/>
                <a:ea typeface="Inter"/>
                <a:cs typeface="Inter"/>
                <a:sym typeface="Inter"/>
              </a:rPr>
              <a:t>GHG-protokollens definitioner afhvad direkte og indirekte emissioner omfatter. </a:t>
            </a:r>
            <a:br>
              <a:rPr b="0" i="0" lang="da-DK" sz="1050" u="none" strike="noStrike">
                <a:solidFill>
                  <a:schemeClr val="dk1"/>
                </a:solidFill>
                <a:latin typeface="Inter"/>
                <a:ea typeface="Inter"/>
                <a:cs typeface="Inter"/>
                <a:sym typeface="Inter"/>
              </a:rPr>
            </a:br>
            <a:br>
              <a:rPr lang="da-DK" sz="1050">
                <a:solidFill>
                  <a:schemeClr val="dk1"/>
                </a:solidFill>
                <a:latin typeface="Inter"/>
                <a:ea typeface="Inter"/>
                <a:cs typeface="Inter"/>
                <a:sym typeface="Inter"/>
              </a:rPr>
            </a:br>
            <a:r>
              <a:rPr b="0" i="0" lang="da-DK" sz="700" u="none" strike="noStrike">
                <a:solidFill>
                  <a:schemeClr val="dk2"/>
                </a:solidFill>
                <a:latin typeface="Inter"/>
                <a:ea typeface="Inter"/>
                <a:cs typeface="Inter"/>
                <a:sym typeface="Inter"/>
              </a:rPr>
              <a:t> </a:t>
            </a:r>
            <a:endParaRPr b="0" i="0" sz="1050" u="none" strike="noStrike">
              <a:solidFill>
                <a:schemeClr val="dk2"/>
              </a:solidFill>
              <a:latin typeface="Inter"/>
              <a:ea typeface="Inter"/>
              <a:cs typeface="Inter"/>
              <a:sym typeface="Inter"/>
            </a:endParaRPr>
          </a:p>
          <a:p>
            <a:pPr indent="0" lvl="0" marL="0" marR="0" rtl="0" algn="l">
              <a:spcBef>
                <a:spcPts val="0"/>
              </a:spcBef>
              <a:spcAft>
                <a:spcPts val="0"/>
              </a:spcAft>
              <a:buClr>
                <a:schemeClr val="dk1"/>
              </a:buClr>
              <a:buSzPts val="1050"/>
              <a:buFont typeface="IBM Plex Sans"/>
              <a:buNone/>
            </a:pPr>
            <a:r>
              <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800"/>
              <a:buFont typeface="IBM Plex Sans"/>
              <a:buNone/>
            </a:pPr>
            <a:r>
              <a:t/>
            </a:r>
            <a:endParaRPr b="0" sz="18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400"/>
              <a:buFont typeface="IBM Plex Sans"/>
              <a:buNone/>
            </a:pPr>
            <a:r>
              <a:t/>
            </a:r>
            <a:endParaRPr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400"/>
              <a:buFont typeface="IBM Plex Sans"/>
              <a:buNone/>
            </a:pPr>
            <a:r>
              <a:t/>
            </a:r>
            <a:endParaRPr b="0"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400"/>
              <a:buFont typeface="IBM Plex Sans"/>
              <a:buNone/>
            </a:pPr>
            <a:r>
              <a:t/>
            </a:r>
            <a:endParaRPr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400"/>
              <a:buFont typeface="IBM Plex Sans"/>
              <a:buNone/>
            </a:pPr>
            <a:r>
              <a:t/>
            </a:r>
            <a:endParaRPr b="0" sz="1400">
              <a:solidFill>
                <a:schemeClr val="dk2"/>
              </a:solidFill>
              <a:latin typeface="Inter"/>
              <a:ea typeface="Inter"/>
              <a:cs typeface="Inter"/>
              <a:sym typeface="Inter"/>
            </a:endParaRPr>
          </a:p>
          <a:p>
            <a:pPr indent="0" lvl="0" marL="0" marR="0" rtl="0" algn="l">
              <a:spcBef>
                <a:spcPts val="0"/>
              </a:spcBef>
              <a:spcAft>
                <a:spcPts val="0"/>
              </a:spcAft>
              <a:buNone/>
            </a:pPr>
            <a:r>
              <a:t/>
            </a:r>
            <a:endParaRPr b="1" sz="14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r>
              <a:t/>
            </a:r>
            <a:endParaRPr b="1" sz="14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br>
              <a:rPr b="1" lang="da-DK" sz="1800">
                <a:solidFill>
                  <a:schemeClr val="dk1"/>
                </a:solidFill>
                <a:latin typeface="IBM Plex Sans"/>
                <a:ea typeface="IBM Plex Sans"/>
                <a:cs typeface="IBM Plex Sans"/>
                <a:sym typeface="IBM Plex Sans"/>
              </a:rPr>
            </a:br>
            <a:r>
              <a:rPr b="1" i="0" lang="da-DK" sz="1800" u="none" strike="noStrike">
                <a:solidFill>
                  <a:schemeClr val="dk2"/>
                </a:solidFill>
                <a:latin typeface="IBM Plex Sans"/>
                <a:ea typeface="IBM Plex Sans"/>
                <a:cs typeface="IBM Plex Sans"/>
                <a:sym typeface="IBM Plex Sans"/>
              </a:rPr>
              <a:t>CO₂e-udledning (B3)</a:t>
            </a:r>
            <a:endParaRPr sz="1800">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lang="da-DK" sz="700">
                <a:solidFill>
                  <a:schemeClr val="dk1"/>
                </a:solidFill>
                <a:latin typeface="Inter"/>
                <a:ea typeface="Inter"/>
                <a:cs typeface="Inter"/>
                <a:sym typeface="Inter"/>
              </a:rPr>
              <a:t> </a:t>
            </a:r>
            <a:br>
              <a:rPr lang="da-DK" sz="1050">
                <a:solidFill>
                  <a:schemeClr val="dk2"/>
                </a:solidFill>
                <a:latin typeface="Inter"/>
                <a:ea typeface="Inter"/>
                <a:cs typeface="Inter"/>
                <a:sym typeface="Inter"/>
              </a:rPr>
            </a:br>
            <a:r>
              <a:rPr b="0" i="0" lang="da-DK" sz="1050" u="none" strike="noStrike">
                <a:solidFill>
                  <a:schemeClr val="dk2"/>
                </a:solidFill>
                <a:latin typeface="Inter"/>
                <a:ea typeface="Inter"/>
                <a:cs typeface="Inter"/>
                <a:sym typeface="Inter"/>
              </a:rPr>
              <a:t>Pkt. 33 indeholder oplysninger om virksomhedens drivhusgasemissioner baseret på Scope 1- og Scope 2-emissioner. Scope 1 angiver de direkte drivhusgasemissioner og inkluderer emissioner fra kilder, som virksomheden ejer eller kontrollerer direkte. Dette omfatter for eksempel afbrænding af brændstof i firmakøretøjer eller opvarmning af bygninger med naturgas samt emissioner fra industrielle processer og lækager i systemer som f.eks. køling.</a:t>
            </a:r>
            <a:r>
              <a:rPr lang="da-DK" sz="1050">
                <a:solidFill>
                  <a:schemeClr val="dk2"/>
                </a:solidFill>
                <a:latin typeface="Inter"/>
                <a:ea typeface="Inter"/>
                <a:cs typeface="Inter"/>
                <a:sym typeface="Inter"/>
              </a:rPr>
              <a:t> </a:t>
            </a:r>
            <a:r>
              <a:rPr b="0" i="0" lang="da-DK" sz="1050" u="none" strike="noStrike">
                <a:solidFill>
                  <a:schemeClr val="dk2"/>
                </a:solidFill>
                <a:latin typeface="Inter"/>
                <a:ea typeface="Inter"/>
                <a:cs typeface="Inter"/>
                <a:sym typeface="Inter"/>
              </a:rPr>
              <a:t>Scope 2</a:t>
            </a:r>
            <a:r>
              <a:rPr lang="da-DK" sz="1050">
                <a:solidFill>
                  <a:schemeClr val="dk2"/>
                </a:solidFill>
                <a:latin typeface="Inter"/>
                <a:ea typeface="Inter"/>
                <a:cs typeface="Inter"/>
                <a:sym typeface="Inter"/>
              </a:rPr>
              <a:t> angiver i</a:t>
            </a:r>
            <a:r>
              <a:rPr b="0" i="0" lang="da-DK" sz="1050" u="none" strike="noStrike">
                <a:solidFill>
                  <a:schemeClr val="dk2"/>
                </a:solidFill>
                <a:latin typeface="Inter"/>
                <a:ea typeface="Inter"/>
                <a:cs typeface="Inter"/>
                <a:sym typeface="Inter"/>
              </a:rPr>
              <a:t>ndirekte emissioner fra køb af elektricitet, som refererer til emissioner fra produktion af den el, damp, varme eller køling, som virksomheden køber og bruger. Selvom disse emissioner stammer fra energiproducenterne, tilskrives de virksomheden, fordi den forbruger energien.</a:t>
            </a:r>
            <a:endParaRPr b="0" sz="1050">
              <a:solidFill>
                <a:schemeClr val="dk2"/>
              </a:solidFill>
              <a:latin typeface="Inter"/>
              <a:ea typeface="Inter"/>
              <a:cs typeface="Inter"/>
              <a:sym typeface="Inter"/>
            </a:endParaRPr>
          </a:p>
        </p:txBody>
      </p:sp>
      <p:graphicFrame>
        <p:nvGraphicFramePr>
          <p:cNvPr id="103" name="Google Shape;103;p6"/>
          <p:cNvGraphicFramePr/>
          <p:nvPr/>
        </p:nvGraphicFramePr>
        <p:xfrm>
          <a:off x="445491" y="5125324"/>
          <a:ext cx="3000000" cy="3000000"/>
        </p:xfrm>
        <a:graphic>
          <a:graphicData uri="http://schemas.openxmlformats.org/drawingml/2006/table">
            <a:tbl>
              <a:tblPr firstRow="1">
                <a:noFill/>
                <a:tableStyleId>{CDAA95DC-A3FB-4B04-AF77-96552CE0420F}</a:tableStyleId>
              </a:tblPr>
              <a:tblGrid>
                <a:gridCol w="7759825"/>
                <a:gridCol w="2041200"/>
              </a:tblGrid>
              <a:tr h="238475">
                <a:tc>
                  <a:txBody>
                    <a:bodyPr/>
                    <a:lstStyle/>
                    <a:p>
                      <a:pPr indent="0" lvl="0" marL="0" marR="0" rtl="0" algn="l">
                        <a:lnSpc>
                          <a:spcPct val="106000"/>
                        </a:lnSpc>
                        <a:spcBef>
                          <a:spcPts val="0"/>
                        </a:spcBef>
                        <a:spcAft>
                          <a:spcPts val="0"/>
                        </a:spcAft>
                        <a:buNone/>
                      </a:pPr>
                      <a:r>
                        <a:rPr b="1" lang="da-DK" sz="1050">
                          <a:solidFill>
                            <a:schemeClr val="dk2"/>
                          </a:solidFill>
                        </a:rPr>
                        <a:t>Udledning af drivhusgasser </a:t>
                      </a:r>
                      <a:r>
                        <a:rPr b="0" lang="da-DK" sz="1050">
                          <a:solidFill>
                            <a:schemeClr val="dk2"/>
                          </a:solidFill>
                        </a:rPr>
                        <a:t>(pkt. 33)</a:t>
                      </a:r>
                      <a:endParaRPr b="1"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050"/>
                        <a:buFont typeface="IBM Plex Sans"/>
                        <a:buNone/>
                      </a:pPr>
                      <a:r>
                        <a:rPr b="1" lang="da-DK" sz="1050">
                          <a:solidFill>
                            <a:schemeClr val="dk2"/>
                          </a:solidFill>
                        </a:rPr>
                        <a:t>År </a:t>
                      </a:r>
                      <a:r>
                        <a:rPr b="1" lang="da-DK" sz="1050">
                          <a:solidFill>
                            <a:srgbClr val="1B4528"/>
                          </a:solidFill>
                          <a:latin typeface="Calibri"/>
                          <a:ea typeface="Calibri"/>
                          <a:cs typeface="Calibri"/>
                          <a:sym typeface="Calibri"/>
                        </a:rPr>
                        <a:t>{{insert_year}}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7475">
                <a:tc>
                  <a:txBody>
                    <a:bodyPr/>
                    <a:lstStyle/>
                    <a:p>
                      <a:pPr indent="0" lvl="0" marL="0" marR="0" rtl="0" algn="l">
                        <a:lnSpc>
                          <a:spcPct val="106000"/>
                        </a:lnSpc>
                        <a:spcBef>
                          <a:spcPts val="0"/>
                        </a:spcBef>
                        <a:spcAft>
                          <a:spcPts val="0"/>
                        </a:spcAft>
                        <a:buNone/>
                      </a:pPr>
                      <a:r>
                        <a:rPr b="1" lang="da-DK" sz="1050">
                          <a:solidFill>
                            <a:schemeClr val="dk2"/>
                          </a:solidFill>
                        </a:rPr>
                        <a:t>Scope 1 CO₂e-udledninger</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{{scope1}}</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75">
                <a:tc>
                  <a:txBody>
                    <a:bodyPr/>
                    <a:lstStyle/>
                    <a:p>
                      <a:pPr indent="0" lvl="0" marL="0" marR="0" rtl="0" algn="l">
                        <a:lnSpc>
                          <a:spcPct val="106000"/>
                        </a:lnSpc>
                        <a:spcBef>
                          <a:spcPts val="0"/>
                        </a:spcBef>
                        <a:spcAft>
                          <a:spcPts val="0"/>
                        </a:spcAft>
                        <a:buNone/>
                      </a:pPr>
                      <a:r>
                        <a:rPr b="1" lang="da-DK" sz="1050">
                          <a:solidFill>
                            <a:schemeClr val="dk2"/>
                          </a:solidFill>
                        </a:rPr>
                        <a:t>Scope 2 CO₂e-udledninger (lokationsbaseret)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{{scope2}}</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75">
                <a:tc>
                  <a:txBody>
                    <a:bodyPr/>
                    <a:lstStyle/>
                    <a:p>
                      <a:pPr indent="0" lvl="0" marL="0" marR="0" rtl="0" algn="l">
                        <a:lnSpc>
                          <a:spcPct val="106000"/>
                        </a:lnSpc>
                        <a:spcBef>
                          <a:spcPts val="0"/>
                        </a:spcBef>
                        <a:spcAft>
                          <a:spcPts val="0"/>
                        </a:spcAft>
                        <a:buNone/>
                      </a:pPr>
                      <a:r>
                        <a:rPr b="1" lang="da-DK" sz="1050">
                          <a:solidFill>
                            <a:schemeClr val="dk2"/>
                          </a:solidFill>
                        </a:rPr>
                        <a:t>Total CO₂e-udledning fra scope 1 og scope 2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{{total_scope}}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04" name="B3 market-based (voluntary)"/>
          <p:cNvGraphicFramePr/>
          <p:nvPr/>
        </p:nvGraphicFramePr>
        <p:xfrm>
          <a:off x="445491" y="6252820"/>
          <a:ext cx="3000000" cy="474950"/>
        </p:xfrm>
        <a:graphic>
          <a:graphicData uri="http://schemas.openxmlformats.org/drawingml/2006/table">
            <a:tbl>
              <a:tblPr firstRow="0">
                <a:noFill/>
                <a:tableStyleId>{CDAA95DC-A3FB-4B04-AF77-96552CE0420F}</a:tableStyleId>
              </a:tblPr>
              <a:tblGrid>
                <a:gridCol w="7759825"/>
                <a:gridCol w="2041200"/>
              </a:tblGrid>
              <a:tr h="237475">
                <a:tc>
                  <a:txBody>
                    <a:bodyPr/>
                    <a:lstStyle/>
                    <a:p>
                      <a:pPr indent="0" lvl="0" marL="0" marR="0" rtl="0" algn="l">
                        <a:lnSpc>
                          <a:spcPct val="106000"/>
                        </a:lnSpc>
                        <a:spcBef>
                          <a:spcPts val="0"/>
                        </a:spcBef>
                        <a:spcAft>
                          <a:spcPts val="0"/>
                        </a:spcAft>
                        <a:buNone/>
                      </a:pPr>
                      <a:r>
                        <a:rPr b="1" lang="da-DK" sz="1050">
                          <a:solidFill>
                            <a:schemeClr val="dk2"/>
                          </a:solidFill>
                        </a:rPr>
                        <a:t>Scope 2 CO₂e-udledninger (markedsbaseret) (frivillig)</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{{scope1_marked}}</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75">
                <a:tc>
                  <a:txBody>
                    <a:bodyPr/>
                    <a:lstStyle/>
                    <a:p>
                      <a:pPr indent="0" lvl="0" marL="0" marR="0" rtl="0" algn="l">
                        <a:lnSpc>
                          <a:spcPct val="106000"/>
                        </a:lnSpc>
                        <a:spcBef>
                          <a:spcPts val="0"/>
                        </a:spcBef>
                        <a:spcAft>
                          <a:spcPts val="0"/>
                        </a:spcAft>
                        <a:buNone/>
                      </a:pPr>
                      <a:r>
                        <a:rPr b="1" lang="da-DK" sz="1050">
                          <a:solidFill>
                            <a:schemeClr val="dk2"/>
                          </a:solidFill>
                        </a:rPr>
                        <a:t>Total CO₂e-udledning fra scope 1 og scope 2 (markedsbaseret) (frivillig)</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{{scope2_marked}}</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7"/>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Forurening af luft, vand og jord (B4)</a:t>
            </a:r>
            <a:endParaRPr/>
          </a:p>
        </p:txBody>
      </p:sp>
      <p:graphicFrame>
        <p:nvGraphicFramePr>
          <p:cNvPr id="110" name="Google Shape;110;p7"/>
          <p:cNvGraphicFramePr/>
          <p:nvPr/>
        </p:nvGraphicFramePr>
        <p:xfrm>
          <a:off x="445498" y="1458651"/>
          <a:ext cx="3000000" cy="3000000"/>
        </p:xfrm>
        <a:graphic>
          <a:graphicData uri="http://schemas.openxmlformats.org/drawingml/2006/table">
            <a:tbl>
              <a:tblPr firstRow="1">
                <a:noFill/>
                <a:tableStyleId>{CDAA95DC-A3FB-4B04-AF77-96552CE0420F}</a:tableStyleId>
              </a:tblPr>
              <a:tblGrid>
                <a:gridCol w="3099825"/>
                <a:gridCol w="2988800"/>
                <a:gridCol w="3695900"/>
              </a:tblGrid>
              <a:tr h="245050">
                <a:tc gridSpan="3">
                  <a:txBody>
                    <a:bodyPr/>
                    <a:lstStyle/>
                    <a:p>
                      <a:pPr indent="0" lvl="0" marL="0" marR="0" rtl="0" algn="l">
                        <a:lnSpc>
                          <a:spcPct val="106000"/>
                        </a:lnSpc>
                        <a:spcBef>
                          <a:spcPts val="0"/>
                        </a:spcBef>
                        <a:spcAft>
                          <a:spcPts val="0"/>
                        </a:spcAft>
                        <a:buNone/>
                      </a:pPr>
                      <a:r>
                        <a:rPr b="1" lang="da-DK" sz="1050">
                          <a:solidFill>
                            <a:schemeClr val="dk2"/>
                          </a:solidFill>
                        </a:rPr>
                        <a:t>Forurening af luft, vand og jord </a:t>
                      </a:r>
                      <a:r>
                        <a:rPr b="0" lang="da-DK" sz="1050">
                          <a:solidFill>
                            <a:schemeClr val="dk2"/>
                          </a:solidFill>
                        </a:rPr>
                        <a:t>(pkt. 34) </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45050">
                <a:tc>
                  <a:txBody>
                    <a:bodyPr/>
                    <a:lstStyle/>
                    <a:p>
                      <a:pPr indent="0" lvl="0" marL="0" marR="0" rtl="0" algn="l">
                        <a:lnSpc>
                          <a:spcPct val="106000"/>
                        </a:lnSpc>
                        <a:spcBef>
                          <a:spcPts val="0"/>
                        </a:spcBef>
                        <a:spcAft>
                          <a:spcPts val="0"/>
                        </a:spcAft>
                        <a:buClr>
                          <a:schemeClr val="dk2"/>
                        </a:buClr>
                        <a:buSzPts val="1050"/>
                        <a:buFont typeface="IBM Plex Sans"/>
                        <a:buNone/>
                      </a:pPr>
                      <a:r>
                        <a:rPr b="1" lang="da-DK" sz="1050">
                          <a:solidFill>
                            <a:schemeClr val="dk2"/>
                          </a:solidFill>
                        </a:rPr>
                        <a:t>Type af forurening </a:t>
                      </a:r>
                      <a:r>
                        <a:rPr b="0" lang="da-DK" sz="1050">
                          <a:solidFill>
                            <a:schemeClr val="dk2"/>
                          </a:solidFill>
                        </a:rPr>
                        <a:t>(fx stof)</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a-DK" sz="1050">
                          <a:solidFill>
                            <a:schemeClr val="dk2"/>
                          </a:solidFill>
                        </a:rPr>
                        <a:t>Hvor? </a:t>
                      </a:r>
                      <a:r>
                        <a:rPr b="0" lang="da-DK" sz="1050">
                          <a:solidFill>
                            <a:schemeClr val="dk2"/>
                          </a:solidFill>
                        </a:rPr>
                        <a:t>(luft, vand, jord)</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a-DK" sz="1050">
                          <a:solidFill>
                            <a:schemeClr val="dk2"/>
                          </a:solidFill>
                        </a:rPr>
                        <a:t>Omfang</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11450">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{{type_of_pollution}}</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{{scope_pollution}}</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{{pollution_medium}}</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1" name="Google Shape;111;p7"/>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12" name="Google Shape;112;p7"/>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13" name="Google Shape;113;p7"/>
          <p:cNvSpPr txBox="1"/>
          <p:nvPr/>
        </p:nvSpPr>
        <p:spPr>
          <a:xfrm>
            <a:off x="461968" y="891000"/>
            <a:ext cx="9784532" cy="404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Virksomheden rapporterer den samlede mængde af forurenende stoffer, der udledes fra deres anlæg. Rapportering om specifikke forurenende stoffer og deres mængder, der udledes til luft, vand og jord</a:t>
            </a:r>
            <a:r>
              <a:rPr lang="da-DK" sz="1050">
                <a:solidFill>
                  <a:schemeClr val="dk2"/>
                </a:solidFill>
                <a:latin typeface="Inter"/>
                <a:ea typeface="Inter"/>
                <a:cs typeface="Inter"/>
                <a:sym typeface="Inter"/>
              </a:rPr>
              <a:t> er anført nedenfor.</a:t>
            </a:r>
            <a:endParaRPr/>
          </a:p>
        </p:txBody>
      </p:sp>
      <p:sp>
        <p:nvSpPr>
          <p:cNvPr id="114" name="Google Shape;114;p7"/>
          <p:cNvSpPr txBox="1"/>
          <p:nvPr/>
        </p:nvSpPr>
        <p:spPr>
          <a:xfrm>
            <a:off x="454796" y="2945868"/>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575"/>
              <a:buFont typeface="IBM Plex Sans"/>
              <a:buNone/>
            </a:pPr>
            <a:r>
              <a:rPr b="1" lang="da-DK" sz="1575">
                <a:solidFill>
                  <a:schemeClr val="dk2"/>
                </a:solidFill>
                <a:latin typeface="IBM Plex Sans"/>
                <a:ea typeface="IBM Plex Sans"/>
                <a:cs typeface="IBM Plex Sans"/>
                <a:sym typeface="IBM Plex Sans"/>
              </a:rPr>
              <a:t>Biodiversitet (B5) </a:t>
            </a:r>
            <a:endParaRPr/>
          </a:p>
        </p:txBody>
      </p:sp>
      <p:graphicFrame>
        <p:nvGraphicFramePr>
          <p:cNvPr id="115" name="Google Shape;115;p7"/>
          <p:cNvGraphicFramePr/>
          <p:nvPr/>
        </p:nvGraphicFramePr>
        <p:xfrm>
          <a:off x="454795" y="4100380"/>
          <a:ext cx="3000000" cy="3000000"/>
        </p:xfrm>
        <a:graphic>
          <a:graphicData uri="http://schemas.openxmlformats.org/drawingml/2006/table">
            <a:tbl>
              <a:tblPr firstRow="1">
                <a:noFill/>
                <a:tableStyleId>{CDAA95DC-A3FB-4B04-AF77-96552CE0420F}</a:tableStyleId>
              </a:tblPr>
              <a:tblGrid>
                <a:gridCol w="1778425"/>
                <a:gridCol w="2671100"/>
                <a:gridCol w="2671100"/>
                <a:gridCol w="2671100"/>
              </a:tblGrid>
              <a:tr h="202475">
                <a:tc gridSpan="4">
                  <a:txBody>
                    <a:bodyPr/>
                    <a:lstStyle/>
                    <a:p>
                      <a:pPr indent="0" lvl="0" marL="0" marR="0" rtl="0" algn="l">
                        <a:spcBef>
                          <a:spcPts val="0"/>
                        </a:spcBef>
                        <a:spcAft>
                          <a:spcPts val="0"/>
                        </a:spcAft>
                        <a:buNone/>
                      </a:pPr>
                      <a:r>
                        <a:rPr b="1" lang="da-DK" sz="1050">
                          <a:solidFill>
                            <a:schemeClr val="dk2"/>
                          </a:solidFill>
                        </a:rPr>
                        <a:t>Områder i nærheden af eller i 'biodiversitetsfølsomme områder’, som virksomheden ejer, lejer eller forvalter </a:t>
                      </a:r>
                      <a:r>
                        <a:rPr b="0" lang="da-DK" sz="1050">
                          <a:solidFill>
                            <a:schemeClr val="dk2"/>
                          </a:solidFill>
                        </a:rPr>
                        <a:t>(pkt. 35)</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02750">
                <a:tc>
                  <a:txBody>
                    <a:bodyPr/>
                    <a:lstStyle/>
                    <a:p>
                      <a:pPr indent="0" lvl="0" marL="0" marR="0" rtl="0" algn="l">
                        <a:spcBef>
                          <a:spcPts val="0"/>
                        </a:spcBef>
                        <a:spcAft>
                          <a:spcPts val="0"/>
                        </a:spcAft>
                        <a:buNone/>
                      </a:pPr>
                      <a:r>
                        <a:rPr b="1" lang="da-DK" sz="1050">
                          <a:solidFill>
                            <a:schemeClr val="dk2"/>
                          </a:solidFill>
                        </a:rPr>
                        <a:t>Lokation</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rPr>
                        <a:t>Areal opgjort i hektar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rPr>
                        <a:t>Biodiversitetsfølsomt område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rPr>
                        <a:t>Specifikation: I nærheden af eller i et biodiversitetsfølsomt område</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8200">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{{country_location}}</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 {{area_hect}}</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{{area_name}}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{{biosensitive_area}}</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6" name="Google Shape;116;p7"/>
          <p:cNvSpPr txBox="1"/>
          <p:nvPr/>
        </p:nvSpPr>
        <p:spPr>
          <a:xfrm>
            <a:off x="445499" y="3291561"/>
            <a:ext cx="9791703" cy="5668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Virksomhedens oplysninger vedrører de steder, den opererer på, som er placeret i eller i nærheden af biodiversitetsfølsomme områder. Biodiversitetsfølsomme områder defineres som sådanne i særlige naturbeskyttelsesbestemmelser på europæisk eller internationalt plan. Dette omfatter områder, der tilhører Natura 2000, UNESCO og vigtige biodiversitetsområder (KBA'er) samt andre beskyttede områder.</a:t>
            </a:r>
            <a:endParaRPr sz="105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Vand (B6)</a:t>
            </a:r>
            <a:endParaRPr/>
          </a:p>
        </p:txBody>
      </p:sp>
      <p:graphicFrame>
        <p:nvGraphicFramePr>
          <p:cNvPr id="123" name="Google Shape;123;p8"/>
          <p:cNvGraphicFramePr/>
          <p:nvPr/>
        </p:nvGraphicFramePr>
        <p:xfrm>
          <a:off x="454796" y="1505077"/>
          <a:ext cx="4220450" cy="956469"/>
        </p:xfrm>
        <a:graphic>
          <a:graphicData uri="http://schemas.openxmlformats.org/drawingml/2006/table">
            <a:tbl>
              <a:tblPr firstRow="1">
                <a:noFill/>
                <a:tableStyleId>{CDAA95DC-A3FB-4B04-AF77-96552CE0420F}</a:tableStyleId>
              </a:tblPr>
              <a:tblGrid>
                <a:gridCol w="2707425"/>
                <a:gridCol w="1513025"/>
              </a:tblGrid>
              <a:tr h="487376">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rPr>
                        <a:t>Vandudtag </a:t>
                      </a:r>
                      <a:r>
                        <a:rPr b="0" lang="da-DK" sz="1050">
                          <a:solidFill>
                            <a:schemeClr val="dk2"/>
                          </a:solidFill>
                        </a:rPr>
                        <a:t>(pkt. 36)</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050"/>
                        <a:buFont typeface="IBM Plex Sans"/>
                        <a:buNone/>
                      </a:pPr>
                      <a:r>
                        <a:rPr b="1" lang="da-DK" sz="1050">
                          <a:solidFill>
                            <a:schemeClr val="dk2"/>
                          </a:solidFill>
                        </a:rPr>
                        <a:t>År </a:t>
                      </a:r>
                      <a:r>
                        <a:rPr b="1" lang="da-DK" sz="1050">
                          <a:solidFill>
                            <a:srgbClr val="1B4528"/>
                          </a:solidFill>
                        </a:rPr>
                        <a:t>{{insert_year}}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9093">
                <a:tc>
                  <a:txBody>
                    <a:bodyPr/>
                    <a:lstStyle/>
                    <a:p>
                      <a:pPr indent="0" lvl="0" marL="0" marR="0" rtl="0" algn="l">
                        <a:spcBef>
                          <a:spcPts val="0"/>
                        </a:spcBef>
                        <a:spcAft>
                          <a:spcPts val="0"/>
                        </a:spcAft>
                        <a:buNone/>
                      </a:pPr>
                      <a:r>
                        <a:rPr b="0" lang="da-DK" sz="1050">
                          <a:solidFill>
                            <a:schemeClr val="dk2"/>
                          </a:solidFill>
                        </a:rPr>
                        <a:t>Samlet for alle lokationer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050"/>
                        <a:buFont typeface="IBM Plex Sans"/>
                        <a:buNone/>
                      </a:pPr>
                      <a:r>
                        <a:rPr b="0" i="0" lang="da-DK" sz="1050" u="none" cap="none" strike="noStrike">
                          <a:solidFill>
                            <a:srgbClr val="1B4528"/>
                          </a:solidFill>
                          <a:latin typeface="IBM Plex Sans"/>
                          <a:ea typeface="IBM Plex Sans"/>
                          <a:cs typeface="IBM Plex Sans"/>
                          <a:sym typeface="IBM Plex Sans"/>
                        </a:rPr>
                        <a:t>{{total_withdrawal}}</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24" name="Google Shape;124;p8"/>
          <p:cNvGraphicFramePr/>
          <p:nvPr/>
        </p:nvGraphicFramePr>
        <p:xfrm>
          <a:off x="4856790" y="1505077"/>
          <a:ext cx="5389725" cy="956469"/>
        </p:xfrm>
        <a:graphic>
          <a:graphicData uri="http://schemas.openxmlformats.org/drawingml/2006/table">
            <a:tbl>
              <a:tblPr firstRow="1">
                <a:noFill/>
                <a:tableStyleId>{CDAA95DC-A3FB-4B04-AF77-96552CE0420F}</a:tableStyleId>
              </a:tblPr>
              <a:tblGrid>
                <a:gridCol w="4061900"/>
                <a:gridCol w="1327825"/>
              </a:tblGrid>
              <a:tr h="252575">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rPr>
                        <a:t>Vandforbrug </a:t>
                      </a:r>
                      <a:r>
                        <a:rPr b="0" lang="da-DK" sz="1050">
                          <a:solidFill>
                            <a:schemeClr val="dk2"/>
                          </a:solidFill>
                        </a:rPr>
                        <a:t>(pkt. 37)</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050"/>
                        <a:buFont typeface="IBM Plex Sans"/>
                        <a:buNone/>
                      </a:pPr>
                      <a:r>
                        <a:rPr b="1" lang="da-DK" sz="1050">
                          <a:solidFill>
                            <a:schemeClr val="dk2"/>
                          </a:solidFill>
                        </a:rPr>
                        <a:t>År </a:t>
                      </a:r>
                      <a:r>
                        <a:rPr b="1" lang="da-DK" sz="1050">
                          <a:solidFill>
                            <a:srgbClr val="1B4528"/>
                          </a:solidFill>
                        </a:rPr>
                        <a:t>{{insert_year}}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7376">
                <a:tc>
                  <a:txBody>
                    <a:bodyPr/>
                    <a:lstStyle/>
                    <a:p>
                      <a:pPr indent="0" lvl="0" marL="0" marR="0" rtl="0" algn="l">
                        <a:spcBef>
                          <a:spcPts val="0"/>
                        </a:spcBef>
                        <a:spcAft>
                          <a:spcPts val="0"/>
                        </a:spcAft>
                        <a:buNone/>
                      </a:pPr>
                      <a:r>
                        <a:rPr b="0" lang="da-DK" sz="1050">
                          <a:solidFill>
                            <a:schemeClr val="dk2"/>
                          </a:solidFill>
                        </a:rPr>
                        <a:t>Samlet for alle lokationer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{{consumption_total}}</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56518">
                <a:tc>
                  <a:txBody>
                    <a:bodyPr/>
                    <a:lstStyle/>
                    <a:p>
                      <a:pPr indent="0" lvl="0" marL="0" marR="0" rtl="0" algn="l">
                        <a:lnSpc>
                          <a:spcPct val="100000"/>
                        </a:lnSpc>
                        <a:spcBef>
                          <a:spcPts val="0"/>
                        </a:spcBef>
                        <a:spcAft>
                          <a:spcPts val="0"/>
                        </a:spcAft>
                        <a:buClr>
                          <a:schemeClr val="dk2"/>
                        </a:buClr>
                        <a:buSzPts val="1050"/>
                        <a:buFont typeface="IBM Plex Sans"/>
                        <a:buNone/>
                      </a:pPr>
                      <a:r>
                        <a:rPr b="0" lang="da-DK" sz="1050">
                          <a:solidFill>
                            <a:schemeClr val="dk2"/>
                          </a:solidFill>
                        </a:rPr>
                        <a:t>Fra lokationer i områder med mangel på vand (højt vandstress)</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{{consumption_waterstress}}</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25" name="Google Shape;125;p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26" name="Google Shape;126;p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27" name="Google Shape;127;p8"/>
          <p:cNvSpPr txBox="1"/>
          <p:nvPr/>
        </p:nvSpPr>
        <p:spPr>
          <a:xfrm>
            <a:off x="445500" y="901932"/>
            <a:ext cx="9800999" cy="404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Vandudtaget er den mængde vand, der anvendes af virksomheden, hvorunder </a:t>
            </a:r>
            <a:r>
              <a:rPr lang="da-DK" sz="1050">
                <a:solidFill>
                  <a:schemeClr val="dk2"/>
                </a:solidFill>
                <a:latin typeface="Inter"/>
                <a:ea typeface="Inter"/>
                <a:cs typeface="Inter"/>
                <a:sym typeface="Inter"/>
              </a:rPr>
              <a:t>forbruget angiver vand der </a:t>
            </a:r>
            <a:r>
              <a:rPr b="0" i="0" lang="da-DK" sz="1050" u="none" strike="noStrike">
                <a:solidFill>
                  <a:schemeClr val="dk2"/>
                </a:solidFill>
                <a:latin typeface="Inter"/>
                <a:ea typeface="Inter"/>
                <a:cs typeface="Inter"/>
                <a:sym typeface="Inter"/>
              </a:rPr>
              <a:t>ikke udledes eller planlægges udledt tilbage til vandmiljøet eller til en tredjepart. I dette afsnit oplyses virksomhedens samlede vandudtag. Virksomhedens vandforbrug</a:t>
            </a:r>
            <a:r>
              <a:rPr lang="da-DK" sz="1050">
                <a:solidFill>
                  <a:schemeClr val="dk2"/>
                </a:solidFill>
                <a:latin typeface="Inter"/>
                <a:ea typeface="Inter"/>
                <a:cs typeface="Inter"/>
                <a:sym typeface="Inter"/>
              </a:rPr>
              <a:t> </a:t>
            </a:r>
            <a:r>
              <a:rPr b="0" i="0" lang="da-DK" sz="1050" u="none" strike="noStrike">
                <a:solidFill>
                  <a:schemeClr val="dk2"/>
                </a:solidFill>
                <a:latin typeface="Inter"/>
                <a:ea typeface="Inter"/>
                <a:cs typeface="Inter"/>
                <a:sym typeface="Inter"/>
              </a:rPr>
              <a:t>og vandudledning fra områder med høj vandstress er anført nedenfor.</a:t>
            </a:r>
            <a:endParaRPr b="0" sz="1050">
              <a:solidFill>
                <a:schemeClr val="dk2"/>
              </a:solidFill>
              <a:latin typeface="Inter"/>
              <a:ea typeface="Inter"/>
              <a:cs typeface="Inter"/>
              <a:sym typeface="Inter"/>
            </a:endParaRPr>
          </a:p>
        </p:txBody>
      </p:sp>
      <p:sp>
        <p:nvSpPr>
          <p:cNvPr id="128" name="Google Shape;128;p8"/>
          <p:cNvSpPr txBox="1"/>
          <p:nvPr/>
        </p:nvSpPr>
        <p:spPr>
          <a:xfrm>
            <a:off x="454796" y="2742478"/>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575"/>
              <a:buFont typeface="IBM Plex Sans"/>
              <a:buNone/>
            </a:pPr>
            <a:r>
              <a:rPr b="1" lang="da-DK" sz="1575">
                <a:solidFill>
                  <a:schemeClr val="dk2"/>
                </a:solidFill>
                <a:latin typeface="IBM Plex Sans"/>
                <a:ea typeface="IBM Plex Sans"/>
                <a:cs typeface="IBM Plex Sans"/>
                <a:sym typeface="IBM Plex Sans"/>
              </a:rPr>
              <a:t>Ressourceforbrug, cirkulær økonomi og affaldshåndtering (B7) </a:t>
            </a:r>
            <a:endParaRPr/>
          </a:p>
        </p:txBody>
      </p:sp>
      <p:graphicFrame>
        <p:nvGraphicFramePr>
          <p:cNvPr id="129" name="Google Shape;129;p8"/>
          <p:cNvGraphicFramePr/>
          <p:nvPr/>
        </p:nvGraphicFramePr>
        <p:xfrm>
          <a:off x="4856790" y="3128095"/>
          <a:ext cx="5380400" cy="3000000"/>
        </p:xfrm>
        <a:graphic>
          <a:graphicData uri="http://schemas.openxmlformats.org/drawingml/2006/table">
            <a:tbl>
              <a:tblPr firstRow="1">
                <a:noFill/>
                <a:tableStyleId>{CDAA95DC-A3FB-4B04-AF77-96552CE0420F}</a:tableStyleId>
              </a:tblPr>
              <a:tblGrid>
                <a:gridCol w="2128525"/>
                <a:gridCol w="1654025"/>
                <a:gridCol w="1597850"/>
              </a:tblGrid>
              <a:tr h="236350">
                <a:tc gridSpan="3">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rPr>
                        <a:t>Oplysning om anvendelse af principper fra cirkulær økonomi </a:t>
                      </a:r>
                      <a:r>
                        <a:rPr b="0" lang="da-DK" sz="1050">
                          <a:solidFill>
                            <a:schemeClr val="dk2"/>
                          </a:solidFill>
                        </a:rPr>
                        <a:t>(pkt. 38)</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36100">
                <a:tc rowSpan="2">
                  <a:txBody>
                    <a:bodyPr/>
                    <a:lstStyle/>
                    <a:p>
                      <a:pPr indent="0" lvl="0" marL="0" marR="0" rtl="0" algn="l">
                        <a:spcBef>
                          <a:spcPts val="0"/>
                        </a:spcBef>
                        <a:spcAft>
                          <a:spcPts val="0"/>
                        </a:spcAft>
                        <a:buNone/>
                      </a:pPr>
                      <a:r>
                        <a:rPr b="0" lang="da-DK" sz="1050">
                          <a:solidFill>
                            <a:schemeClr val="dk2"/>
                          </a:solidFill>
                        </a:rPr>
                        <a:t>Min virksomhed anvender principper fra cirkulær økonomi</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1050">
                          <a:solidFill>
                            <a:schemeClr val="dk2"/>
                          </a:solidFill>
                        </a:rPr>
                        <a:t>Ja</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1050">
                          <a:solidFill>
                            <a:schemeClr val="dk2"/>
                          </a:solidFill>
                        </a:rPr>
                        <a:t>Nej</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0875">
                <a:tc vMerge="1"/>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{{circular_economy_princples_yes}}</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{{circular_economy_princples_no?}}</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30" name="Google Shape;130;p8"/>
          <p:cNvGraphicFramePr/>
          <p:nvPr/>
        </p:nvGraphicFramePr>
        <p:xfrm>
          <a:off x="445498" y="4074564"/>
          <a:ext cx="9791700" cy="3000000"/>
        </p:xfrm>
        <a:graphic>
          <a:graphicData uri="http://schemas.openxmlformats.org/drawingml/2006/table">
            <a:tbl>
              <a:tblPr firstRow="1">
                <a:noFill/>
                <a:tableStyleId>{CDAA95DC-A3FB-4B04-AF77-96552CE0420F}</a:tableStyleId>
              </a:tblPr>
              <a:tblGrid>
                <a:gridCol w="9791700"/>
              </a:tblGrid>
              <a:tr h="256675">
                <a:tc>
                  <a:txBody>
                    <a:bodyPr/>
                    <a:lstStyle/>
                    <a:p>
                      <a:pPr indent="0" lvl="0" marL="0" marR="0" rtl="0" algn="l">
                        <a:spcBef>
                          <a:spcPts val="0"/>
                        </a:spcBef>
                        <a:spcAft>
                          <a:spcPts val="0"/>
                        </a:spcAft>
                        <a:buNone/>
                      </a:pPr>
                      <a:r>
                        <a:rPr b="1" lang="da-DK" sz="1050">
                          <a:solidFill>
                            <a:schemeClr val="dk2"/>
                          </a:solidFill>
                        </a:rPr>
                        <a:t>Beskrivelse af, hvordan virksomheden arbejder med principper fra cirkulær økonomi </a:t>
                      </a:r>
                      <a:r>
                        <a:rPr b="0" lang="da-DK" sz="1050">
                          <a:solidFill>
                            <a:schemeClr val="dk2"/>
                          </a:solidFill>
                        </a:rPr>
                        <a:t>(pkt. 38 fortsat)</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293225">
                <a:tc>
                  <a:txBody>
                    <a:bodyPr/>
                    <a:lstStyle/>
                    <a:p>
                      <a:pPr indent="0" lvl="0" marL="0" marR="0" rtl="0" algn="l">
                        <a:spcBef>
                          <a:spcPts val="0"/>
                        </a:spcBef>
                        <a:spcAft>
                          <a:spcPts val="0"/>
                        </a:spcAft>
                        <a:buNone/>
                      </a:pPr>
                      <a:r>
                        <a:rPr b="0" lang="da-DK" sz="1050">
                          <a:solidFill>
                            <a:srgbClr val="1B4528"/>
                          </a:solidFill>
                          <a:latin typeface="IBM Plex Sans"/>
                          <a:ea typeface="IBM Plex Sans"/>
                          <a:cs typeface="IBM Plex Sans"/>
                          <a:sym typeface="IBM Plex Sans"/>
                        </a:rPr>
                        <a:t>{{description_of_circular_economies}}</a:t>
                      </a:r>
                      <a:endParaRPr/>
                    </a:p>
                    <a:p>
                      <a:pPr indent="0" lvl="0" marL="0" marR="0" rtl="0" algn="l">
                        <a:spcBef>
                          <a:spcPts val="0"/>
                        </a:spcBef>
                        <a:spcAft>
                          <a:spcPts val="0"/>
                        </a:spcAft>
                        <a:buNone/>
                      </a:pPr>
                      <a:r>
                        <a:t/>
                      </a:r>
                      <a:endParaRPr b="0" sz="1050">
                        <a:solidFill>
                          <a:srgbClr val="1B4528"/>
                        </a:solidFill>
                        <a:latin typeface="IBM Plex Sans"/>
                        <a:ea typeface="IBM Plex Sans"/>
                        <a:cs typeface="IBM Plex Sans"/>
                        <a:sym typeface="IBM Plex Sans"/>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31" name="Google Shape;131;p8"/>
          <p:cNvSpPr txBox="1"/>
          <p:nvPr/>
        </p:nvSpPr>
        <p:spPr>
          <a:xfrm>
            <a:off x="445765" y="3147944"/>
            <a:ext cx="4247524" cy="728758"/>
          </a:xfrm>
          <a:prstGeom prst="rect">
            <a:avLst/>
          </a:prstGeom>
          <a:noFill/>
          <a:ln>
            <a:noFill/>
          </a:ln>
        </p:spPr>
        <p:txBody>
          <a:bodyPr anchorCtr="0" anchor="t" bIns="40075" lIns="80175" spcFirstLastPara="1" rIns="80175" wrap="square" tIns="40075">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Dette informationskrav angiver information om hvorvidt virksomheden</a:t>
            </a:r>
            <a:r>
              <a:rPr lang="da-DK" sz="1050">
                <a:solidFill>
                  <a:schemeClr val="dk2"/>
                </a:solidFill>
                <a:latin typeface="Inter"/>
                <a:ea typeface="Inter"/>
                <a:cs typeface="Inter"/>
                <a:sym typeface="Inter"/>
              </a:rPr>
              <a:t> anvender principper for cirkulær økonomi. Herunder, om der er principper i anvendelse når det kommer til reduktion af affald og forurening samt fokus på cirkulære produkter og materialer.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Ressourceforbrug, cirkulær økonomi og affaldshåndtering (B7) – fortsat</a:t>
            </a:r>
            <a:endParaRPr/>
          </a:p>
        </p:txBody>
      </p:sp>
      <p:graphicFrame>
        <p:nvGraphicFramePr>
          <p:cNvPr id="138" name="Google Shape;138;p9"/>
          <p:cNvGraphicFramePr/>
          <p:nvPr/>
        </p:nvGraphicFramePr>
        <p:xfrm>
          <a:off x="445499" y="1442996"/>
          <a:ext cx="6440250" cy="1913841"/>
        </p:xfrm>
        <a:graphic>
          <a:graphicData uri="http://schemas.openxmlformats.org/drawingml/2006/table">
            <a:tbl>
              <a:tblPr firstRow="1">
                <a:noFill/>
                <a:tableStyleId>{CDAA95DC-A3FB-4B04-AF77-96552CE0420F}</a:tableStyleId>
              </a:tblPr>
              <a:tblGrid>
                <a:gridCol w="1995975"/>
                <a:gridCol w="2230325"/>
                <a:gridCol w="2213950"/>
              </a:tblGrid>
              <a:tr h="288175">
                <a:tc gridSpan="3">
                  <a:txBody>
                    <a:bodyPr/>
                    <a:lstStyle/>
                    <a:p>
                      <a:pPr indent="0" lvl="0" marL="0" marR="0" rtl="0" algn="ctr">
                        <a:spcBef>
                          <a:spcPts val="0"/>
                        </a:spcBef>
                        <a:spcAft>
                          <a:spcPts val="0"/>
                        </a:spcAft>
                        <a:buNone/>
                      </a:pPr>
                      <a:r>
                        <a:rPr b="1" lang="da-DK" sz="1050">
                          <a:solidFill>
                            <a:schemeClr val="dk2"/>
                          </a:solidFill>
                        </a:rPr>
                        <a:t>Samlet mængde affald årligt</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539347">
                <a:tc>
                  <a:txBody>
                    <a:bodyPr/>
                    <a:lstStyle/>
                    <a:p>
                      <a:pPr indent="0" lvl="0" marL="0" marR="0" rtl="0" algn="l">
                        <a:spcBef>
                          <a:spcPts val="0"/>
                        </a:spcBef>
                        <a:spcAft>
                          <a:spcPts val="0"/>
                        </a:spcAft>
                        <a:buNone/>
                      </a:pPr>
                      <a:r>
                        <a:t/>
                      </a:r>
                      <a:endParaRPr b="1"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rPr>
                        <a:t>Samlet mængde affald </a:t>
                      </a:r>
                      <a:r>
                        <a:rPr b="0" lang="da-DK" sz="1050">
                          <a:solidFill>
                            <a:schemeClr val="dk2"/>
                          </a:solidFill>
                        </a:rPr>
                        <a:t>(pkt. 39a)</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rPr>
                        <a:t>Affald der omdirigeres til genanvendelse eller forberedelse mhp. genbrug </a:t>
                      </a:r>
                      <a:r>
                        <a:rPr b="0" lang="da-DK" sz="1050">
                          <a:solidFill>
                            <a:schemeClr val="dk2"/>
                          </a:solidFill>
                        </a:rPr>
                        <a:t>(pkt. 39b)</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38235">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rPr>
                        <a:t>Ikke-farligt affald </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04925">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{{Type_af_affald}}</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{{kg_tons_total}}</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{{genbrug_kg_tons}}</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38235">
                <a:tc>
                  <a:txBody>
                    <a:bodyPr/>
                    <a:lstStyle/>
                    <a:p>
                      <a:pPr indent="0" lvl="0" marL="0" marR="0" rtl="0" algn="l">
                        <a:spcBef>
                          <a:spcPts val="0"/>
                        </a:spcBef>
                        <a:spcAft>
                          <a:spcPts val="0"/>
                        </a:spcAft>
                        <a:buNone/>
                      </a:pPr>
                      <a:r>
                        <a:rPr b="1" lang="da-DK" sz="1050">
                          <a:solidFill>
                            <a:schemeClr val="dk2"/>
                          </a:solidFill>
                        </a:rPr>
                        <a:t>Farligt affald</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04925">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{{Type_af_affald_farlig}}</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{{farlig_kg_tons}}</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{{farlig_genbrug_kg_tons}}</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39" name="Google Shape;139;p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40" name="Google Shape;140;p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41" name="Google Shape;141;p9"/>
          <p:cNvSpPr txBox="1"/>
          <p:nvPr/>
        </p:nvSpPr>
        <p:spPr>
          <a:xfrm>
            <a:off x="454796" y="891000"/>
            <a:ext cx="9791704" cy="404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Følgende afsnit angiver oplysninger om materialeforbrug og affaldshåndtering. Oplysningerne er relateret til cirkulær økonomi og angiver virksomhedens samlede årlige affaldsproduktion (farligt/ikke-farligt) er fordelt og ligeledes anføres mængderne af væsentlige materialer. </a:t>
            </a:r>
            <a:endParaRPr sz="1050">
              <a:solidFill>
                <a:schemeClr val="dk2"/>
              </a:solidFill>
              <a:latin typeface="Inter"/>
              <a:ea typeface="Inter"/>
              <a:cs typeface="Inter"/>
              <a:sym typeface="Inter"/>
            </a:endParaRPr>
          </a:p>
        </p:txBody>
      </p:sp>
      <p:graphicFrame>
        <p:nvGraphicFramePr>
          <p:cNvPr id="142" name="Google Shape;142;p9"/>
          <p:cNvGraphicFramePr/>
          <p:nvPr/>
        </p:nvGraphicFramePr>
        <p:xfrm>
          <a:off x="7156908" y="1442996"/>
          <a:ext cx="3080275" cy="1913841"/>
        </p:xfrm>
        <a:graphic>
          <a:graphicData uri="http://schemas.openxmlformats.org/drawingml/2006/table">
            <a:tbl>
              <a:tblPr firstRow="1">
                <a:noFill/>
                <a:tableStyleId>{CDAA95DC-A3FB-4B04-AF77-96552CE0420F}</a:tableStyleId>
              </a:tblPr>
              <a:tblGrid>
                <a:gridCol w="1976300"/>
                <a:gridCol w="1103975"/>
              </a:tblGrid>
              <a:tr h="1034623">
                <a:tc>
                  <a:txBody>
                    <a:bodyPr/>
                    <a:lstStyle/>
                    <a:p>
                      <a:pPr indent="0" lvl="0" marL="0" marR="0" rtl="0" algn="l">
                        <a:spcBef>
                          <a:spcPts val="0"/>
                        </a:spcBef>
                        <a:spcAft>
                          <a:spcPts val="0"/>
                        </a:spcAft>
                        <a:buNone/>
                      </a:pPr>
                      <a:r>
                        <a:rPr b="1" lang="da-DK" sz="1050">
                          <a:solidFill>
                            <a:schemeClr val="dk2"/>
                          </a:solidFill>
                        </a:rPr>
                        <a:t>Væsentlige materialer </a:t>
                      </a:r>
                      <a:r>
                        <a:rPr b="0" lang="da-DK" sz="1050">
                          <a:solidFill>
                            <a:schemeClr val="dk2"/>
                          </a:solidFill>
                        </a:rPr>
                        <a:t>(pkt. 39c)</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rPr>
                        <a:t>Årligt masse-flow </a:t>
                      </a:r>
                      <a:r>
                        <a:rPr b="1" lang="da-DK" sz="1050">
                          <a:solidFill>
                            <a:srgbClr val="1B4528"/>
                          </a:solidFill>
                        </a:rPr>
                        <a:t>{{insert_year}}</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879218">
                <a:tc>
                  <a:txBody>
                    <a:bodyPr/>
                    <a:lstStyle/>
                    <a:p>
                      <a:pPr indent="0" lvl="0" marL="0" marR="0" rtl="0" algn="l">
                        <a:spcBef>
                          <a:spcPts val="0"/>
                        </a:spcBef>
                        <a:spcAft>
                          <a:spcPts val="0"/>
                        </a:spcAft>
                        <a:buNone/>
                      </a:pPr>
                      <a:r>
                        <a:rPr b="0" i="0" lang="da-DK" sz="1050" u="none" strike="noStrike">
                          <a:solidFill>
                            <a:srgbClr val="1B4528"/>
                          </a:solidFill>
                          <a:latin typeface="Inter"/>
                          <a:ea typeface="Inter"/>
                          <a:cs typeface="Inter"/>
                          <a:sym typeface="Inter"/>
                        </a:rPr>
                        <a:t>{{significant_material}}</a:t>
                      </a:r>
                      <a:endParaRPr b="0" sz="1050">
                        <a:solidFill>
                          <a:srgbClr val="1B4528"/>
                        </a:solidFill>
                        <a:latin typeface="Inter"/>
                        <a:ea typeface="Inter"/>
                        <a:cs typeface="Inter"/>
                        <a:sym typeface="Inte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{{significant_material_unit}}</a:t>
                      </a:r>
                      <a:endParaRPr b="0" i="0" sz="1050" u="none" strike="noStrike">
                        <a:solidFill>
                          <a:srgbClr val="000000"/>
                        </a:solidFill>
                        <a:latin typeface="Inter"/>
                        <a:ea typeface="Inter"/>
                        <a:cs typeface="Inter"/>
                        <a:sym typeface="Inte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sp>
        <p:nvSpPr>
          <p:cNvPr id="148" name="Google Shape;148;p1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Egen arbejdsstyrke: Generelle karakteristika (B8) </a:t>
            </a:r>
            <a:endParaRPr/>
          </a:p>
        </p:txBody>
      </p:sp>
      <p:graphicFrame>
        <p:nvGraphicFramePr>
          <p:cNvPr id="149" name="Google Shape;149;p10"/>
          <p:cNvGraphicFramePr/>
          <p:nvPr/>
        </p:nvGraphicFramePr>
        <p:xfrm>
          <a:off x="445493" y="1520475"/>
          <a:ext cx="4365900" cy="1718602"/>
        </p:xfrm>
        <a:graphic>
          <a:graphicData uri="http://schemas.openxmlformats.org/drawingml/2006/table">
            <a:tbl>
              <a:tblPr firstRow="1">
                <a:noFill/>
                <a:tableStyleId>{CDAA95DC-A3FB-4B04-AF77-96552CE0420F}</a:tableStyleId>
              </a:tblPr>
              <a:tblGrid>
                <a:gridCol w="2182950"/>
                <a:gridCol w="2182950"/>
              </a:tblGrid>
              <a:tr h="482263">
                <a:tc>
                  <a:txBody>
                    <a:bodyPr/>
                    <a:lstStyle/>
                    <a:p>
                      <a:pPr indent="0" lvl="0" marL="0" marR="0" rtl="0" algn="l">
                        <a:spcBef>
                          <a:spcPts val="0"/>
                        </a:spcBef>
                        <a:spcAft>
                          <a:spcPts val="0"/>
                        </a:spcAft>
                        <a:buNone/>
                      </a:pPr>
                      <a:r>
                        <a:rPr b="1" lang="da-DK" sz="1050">
                          <a:solidFill>
                            <a:schemeClr val="dk2"/>
                          </a:solidFill>
                        </a:rPr>
                        <a:t>Kontrakttype </a:t>
                      </a:r>
                      <a:r>
                        <a:rPr b="0" lang="da-DK" sz="1050">
                          <a:solidFill>
                            <a:schemeClr val="dk2"/>
                          </a:solidFill>
                        </a:rPr>
                        <a:t>(pkt. 40a)</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rPr>
                        <a:t>Antal ansatte (antal personer eller fuldtidsækvivalenter)</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15160">
                <a:tc>
                  <a:txBody>
                    <a:bodyPr/>
                    <a:lstStyle/>
                    <a:p>
                      <a:pPr indent="0" lvl="0" marL="0" marR="0" rtl="0" algn="l">
                        <a:spcBef>
                          <a:spcPts val="0"/>
                        </a:spcBef>
                        <a:spcAft>
                          <a:spcPts val="0"/>
                        </a:spcAft>
                        <a:buNone/>
                      </a:pPr>
                      <a:r>
                        <a:rPr b="0" lang="da-DK" sz="1050">
                          <a:solidFill>
                            <a:schemeClr val="dk2"/>
                          </a:solidFill>
                        </a:rPr>
                        <a:t>Midlertidig ansættelse</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{{temporary}}</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06019">
                <a:tc>
                  <a:txBody>
                    <a:bodyPr/>
                    <a:lstStyle/>
                    <a:p>
                      <a:pPr indent="0" lvl="0" marL="0" marR="0" rtl="0" algn="l">
                        <a:spcBef>
                          <a:spcPts val="0"/>
                        </a:spcBef>
                        <a:spcAft>
                          <a:spcPts val="0"/>
                        </a:spcAft>
                        <a:buNone/>
                      </a:pPr>
                      <a:r>
                        <a:rPr b="0" lang="da-DK" sz="1050">
                          <a:solidFill>
                            <a:schemeClr val="dk2"/>
                          </a:solidFill>
                        </a:rPr>
                        <a:t>Fastansættelse</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{{fulltime}}</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15160">
                <a:tc>
                  <a:txBody>
                    <a:bodyPr/>
                    <a:lstStyle/>
                    <a:p>
                      <a:pPr indent="0" lvl="0" marL="0" marR="0" rtl="0" algn="l">
                        <a:spcBef>
                          <a:spcPts val="0"/>
                        </a:spcBef>
                        <a:spcAft>
                          <a:spcPts val="0"/>
                        </a:spcAft>
                        <a:buNone/>
                      </a:pPr>
                      <a:r>
                        <a:rPr b="0" lang="da-DK" sz="1050">
                          <a:solidFill>
                            <a:schemeClr val="dk2"/>
                          </a:solidFill>
                        </a:rPr>
                        <a:t>Totalt antal ansatte</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{{total_employees}}</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0" name="Google Shape;150;p10"/>
          <p:cNvGraphicFramePr/>
          <p:nvPr/>
        </p:nvGraphicFramePr>
        <p:xfrm>
          <a:off x="5008093" y="1520477"/>
          <a:ext cx="5238400" cy="1718600"/>
        </p:xfrm>
        <a:graphic>
          <a:graphicData uri="http://schemas.openxmlformats.org/drawingml/2006/table">
            <a:tbl>
              <a:tblPr firstRow="1">
                <a:noFill/>
                <a:tableStyleId>{CDAA95DC-A3FB-4B04-AF77-96552CE0420F}</a:tableStyleId>
              </a:tblPr>
              <a:tblGrid>
                <a:gridCol w="2619200"/>
                <a:gridCol w="2619200"/>
              </a:tblGrid>
              <a:tr h="3656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Køn</a:t>
                      </a:r>
                      <a:r>
                        <a:rPr b="0" lang="da-DK" sz="1050">
                          <a:solidFill>
                            <a:schemeClr val="dk2"/>
                          </a:solidFill>
                          <a:latin typeface="IBM Plex Sans"/>
                          <a:ea typeface="IBM Plex Sans"/>
                          <a:cs typeface="IBM Plex Sans"/>
                          <a:sym typeface="IBM Plex Sans"/>
                        </a:rPr>
                        <a:t> </a:t>
                      </a:r>
                      <a:r>
                        <a:rPr b="0" lang="da-DK" sz="1050">
                          <a:solidFill>
                            <a:schemeClr val="dk2"/>
                          </a:solidFill>
                        </a:rPr>
                        <a:t>(pkt. 40b)</a:t>
                      </a:r>
                      <a:endParaRPr b="0" sz="1050">
                        <a:solidFill>
                          <a:schemeClr val="dk2"/>
                        </a:solidFill>
                        <a:latin typeface="IBM Plex Sans"/>
                        <a:ea typeface="IBM Plex Sans"/>
                        <a:cs typeface="IBM Plex Sans"/>
                        <a:sym typeface="IBM Plex Sans"/>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Antal ansatte </a:t>
                      </a:r>
                      <a:r>
                        <a:rPr b="1" lang="da-DK" sz="1050">
                          <a:solidFill>
                            <a:schemeClr val="dk2"/>
                          </a:solidFill>
                        </a:rPr>
                        <a:t>(antal personer eller fuldtidsækvivalenter)</a:t>
                      </a:r>
                      <a:endParaRPr b="1" sz="1050">
                        <a:solidFill>
                          <a:schemeClr val="dk2"/>
                        </a:solidFill>
                        <a:latin typeface="IBM Plex Sans"/>
                        <a:ea typeface="IBM Plex Sans"/>
                        <a:cs typeface="IBM Plex Sans"/>
                        <a:sym typeface="IBM Plex Sans"/>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74250">
                <a:tc>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Mand</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{{men}}</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5100">
                <a:tc>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Kvinde</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{{women}}</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4250">
                <a:tc>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Andet</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{{others}}</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4250">
                <a:tc>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Ikke registreret</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{{not_registeret}}</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5100">
                <a:tc>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Totalt antal ansatte</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{{total_employees}}</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51" name="Google Shape;151;p1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52" name="Google Shape;152;p1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53" name="Google Shape;153;p10"/>
          <p:cNvSpPr txBox="1"/>
          <p:nvPr/>
        </p:nvSpPr>
        <p:spPr>
          <a:xfrm>
            <a:off x="454796" y="913284"/>
            <a:ext cx="9791704" cy="728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5595D"/>
              </a:buClr>
              <a:buSzPts val="1050"/>
              <a:buFont typeface="Inter"/>
              <a:buNone/>
            </a:pPr>
            <a:r>
              <a:rPr b="0" i="0" lang="da-DK" sz="1050" u="none" strike="noStrike">
                <a:solidFill>
                  <a:srgbClr val="25595D"/>
                </a:solidFill>
                <a:latin typeface="Inter"/>
                <a:ea typeface="Inter"/>
                <a:cs typeface="Inter"/>
                <a:sym typeface="Inter"/>
              </a:rPr>
              <a:t>Virksomheden har oplyst antallet af medarbejdere for følgende specifikationer: Type ansættelseskontrakt, hvor medarbejderne er opdelt i midlertidige og faste kontrakter; Køn, som giver indsigt i kønsfordelingen blandt medarbejderne; og ansættelseskontraktens land, hvilket er relevant, hvis virksomheden opererer i flere lande.</a:t>
            </a:r>
            <a:endParaRPr b="0" sz="1050">
              <a:solidFill>
                <a:schemeClr val="dk1"/>
              </a:solidFill>
              <a:latin typeface="Inter"/>
              <a:ea typeface="Inter"/>
              <a:cs typeface="Inter"/>
              <a:sym typeface="Inter"/>
            </a:endParaRPr>
          </a:p>
          <a:p>
            <a:pPr indent="0" lvl="0" marL="0" marR="0" rtl="0" algn="l">
              <a:spcBef>
                <a:spcPts val="0"/>
              </a:spcBef>
              <a:spcAft>
                <a:spcPts val="0"/>
              </a:spcAft>
              <a:buClr>
                <a:schemeClr val="dk1"/>
              </a:buClr>
              <a:buSzPts val="1050"/>
              <a:buFont typeface="Inter"/>
              <a:buNone/>
            </a:pPr>
            <a:br>
              <a:rPr lang="da-DK" sz="1050">
                <a:solidFill>
                  <a:schemeClr val="dk1"/>
                </a:solidFill>
                <a:latin typeface="Inter"/>
                <a:ea typeface="Inter"/>
                <a:cs typeface="Inter"/>
                <a:sym typeface="Inter"/>
              </a:rPr>
            </a:br>
            <a:endParaRPr sz="1050">
              <a:solidFill>
                <a:schemeClr val="dk1"/>
              </a:solidFill>
              <a:latin typeface="Inter"/>
              <a:ea typeface="Inter"/>
              <a:cs typeface="Inter"/>
              <a:sym typeface="Inter"/>
            </a:endParaRPr>
          </a:p>
        </p:txBody>
      </p:sp>
      <p:graphicFrame>
        <p:nvGraphicFramePr>
          <p:cNvPr id="154" name="Google Shape;154;p10"/>
          <p:cNvGraphicFramePr/>
          <p:nvPr/>
        </p:nvGraphicFramePr>
        <p:xfrm>
          <a:off x="447022" y="3446606"/>
          <a:ext cx="9790175" cy="3000000"/>
        </p:xfrm>
        <a:graphic>
          <a:graphicData uri="http://schemas.openxmlformats.org/drawingml/2006/table">
            <a:tbl>
              <a:tblPr firstRow="1">
                <a:noFill/>
                <a:tableStyleId>{CDAA95DC-A3FB-4B04-AF77-96552CE0420F}</a:tableStyleId>
              </a:tblPr>
              <a:tblGrid>
                <a:gridCol w="5233600"/>
                <a:gridCol w="4556575"/>
              </a:tblGrid>
              <a:tr h="252575">
                <a:tc>
                  <a:txBody>
                    <a:bodyPr/>
                    <a:lstStyle/>
                    <a:p>
                      <a:pPr indent="0" lvl="0" marL="0" marR="0" rtl="0" algn="l">
                        <a:spcBef>
                          <a:spcPts val="0"/>
                        </a:spcBef>
                        <a:spcAft>
                          <a:spcPts val="0"/>
                        </a:spcAft>
                        <a:buNone/>
                      </a:pPr>
                      <a:r>
                        <a:rPr b="1" lang="da-DK" sz="1050">
                          <a:solidFill>
                            <a:schemeClr val="dk2"/>
                          </a:solidFill>
                        </a:rPr>
                        <a:t>Land (hvor ansættelseskontrakten er indgået) </a:t>
                      </a:r>
                      <a:r>
                        <a:rPr b="0" lang="da-DK" sz="1050">
                          <a:solidFill>
                            <a:schemeClr val="dk2"/>
                          </a:solidFill>
                        </a:rPr>
                        <a:t>(pkt. 40c)</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rPr>
                        <a:t>Antal ansatte (antal personer eller fuldtidsækvivalenter)</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75">
                <a:tc>
                  <a:txBody>
                    <a:bodyPr/>
                    <a:lstStyle/>
                    <a:p>
                      <a:pPr indent="0" lvl="0" marL="0" marR="0" rtl="0" algn="l">
                        <a:spcBef>
                          <a:spcPts val="0"/>
                        </a:spcBef>
                        <a:spcAft>
                          <a:spcPts val="0"/>
                        </a:spcAft>
                        <a:buNone/>
                      </a:pPr>
                      <a:r>
                        <a:rPr b="0" lang="da-DK" sz="1050">
                          <a:solidFill>
                            <a:schemeClr val="dk2"/>
                          </a:solidFill>
                        </a:rPr>
                        <a:t>Danmark</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{{Denmark}}</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75">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{{Land_b}}</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FTE_eller_antal_personer_land_b</a:t>
                      </a:r>
                      <a:r>
                        <a:rPr b="0" i="0" lang="da-DK" sz="1050" u="none" strike="noStrike">
                          <a:solidFill>
                            <a:srgbClr val="1B4528"/>
                          </a:solidFill>
                          <a:latin typeface="Inter"/>
                          <a:ea typeface="Inter"/>
                          <a:cs typeface="Inter"/>
                          <a:sym typeface="Inter"/>
                        </a:rPr>
                        <a:t>}}</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75">
                <a:tc>
                  <a:txBody>
                    <a:bodyPr/>
                    <a:lstStyle/>
                    <a:p>
                      <a:pPr indent="0" lvl="0" marL="0" marR="0" rtl="0" algn="l">
                        <a:spcBef>
                          <a:spcPts val="0"/>
                        </a:spcBef>
                        <a:spcAft>
                          <a:spcPts val="0"/>
                        </a:spcAft>
                        <a:buNone/>
                      </a:pPr>
                      <a:r>
                        <a:rPr b="0" lang="da-DK" sz="1050">
                          <a:solidFill>
                            <a:schemeClr val="dk2"/>
                          </a:solidFill>
                        </a:rPr>
                        <a:t>Totalt antal ansatte</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{{Total_out_of_countries}}</a:t>
                      </a:r>
                      <a:endParaRPr b="0" sz="1050"/>
                    </a:p>
                  </a:txBody>
                  <a:tcPr marT="11150" marB="1115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Egen arbejdsstyrke: Sundhed og sikkerhed (B9)</a:t>
            </a:r>
            <a:endParaRPr/>
          </a:p>
        </p:txBody>
      </p:sp>
      <p:graphicFrame>
        <p:nvGraphicFramePr>
          <p:cNvPr id="161" name="Google Shape;161;p11"/>
          <p:cNvGraphicFramePr/>
          <p:nvPr/>
        </p:nvGraphicFramePr>
        <p:xfrm>
          <a:off x="445500" y="1509220"/>
          <a:ext cx="4796575" cy="966493"/>
        </p:xfrm>
        <a:graphic>
          <a:graphicData uri="http://schemas.openxmlformats.org/drawingml/2006/table">
            <a:tbl>
              <a:tblPr firstRow="1">
                <a:noFill/>
                <a:tableStyleId>{CDAA95DC-A3FB-4B04-AF77-96552CE0420F}</a:tableStyleId>
              </a:tblPr>
              <a:tblGrid>
                <a:gridCol w="2656200"/>
                <a:gridCol w="2140375"/>
              </a:tblGrid>
              <a:tr h="322164">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rPr>
                        <a:t>Registrerede arbejdsulykker </a:t>
                      </a:r>
                      <a:r>
                        <a:rPr b="0" lang="da-DK" sz="1050">
                          <a:solidFill>
                            <a:schemeClr val="dk2"/>
                          </a:solidFill>
                        </a:rPr>
                        <a:t>(pkt. 41a)</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År</a:t>
                      </a:r>
                      <a:r>
                        <a:rPr b="1" lang="da-DK" sz="1050">
                          <a:solidFill>
                            <a:srgbClr val="1B4528"/>
                          </a:solidFill>
                          <a:latin typeface="Calibri"/>
                          <a:ea typeface="Calibri"/>
                          <a:cs typeface="Calibri"/>
                          <a:sym typeface="Calibri"/>
                        </a:rPr>
                        <a:t> {{insert_year}}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22164">
                <a:tc>
                  <a:txBody>
                    <a:bodyPr/>
                    <a:lstStyle/>
                    <a:p>
                      <a:pPr indent="0" lvl="0" marL="0" marR="0" rtl="0" algn="l">
                        <a:spcBef>
                          <a:spcPts val="0"/>
                        </a:spcBef>
                        <a:spcAft>
                          <a:spcPts val="0"/>
                        </a:spcAft>
                        <a:buNone/>
                      </a:pPr>
                      <a:r>
                        <a:rPr b="0" lang="da-DK" sz="1050">
                          <a:solidFill>
                            <a:schemeClr val="dk2"/>
                          </a:solidFill>
                        </a:rPr>
                        <a:t>Antal</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050"/>
                        <a:buFont typeface="Inter"/>
                        <a:buNone/>
                      </a:pPr>
                      <a:r>
                        <a:rPr b="0" i="0" lang="da-DK" sz="1050" u="none" cap="none" strike="noStrike">
                          <a:solidFill>
                            <a:srgbClr val="1B4528"/>
                          </a:solidFill>
                          <a:latin typeface="Inter"/>
                          <a:ea typeface="Inter"/>
                          <a:cs typeface="Inter"/>
                          <a:sym typeface="Inter"/>
                        </a:rPr>
                        <a:t>{{indsat_antal_accidents}}</a:t>
                      </a:r>
                      <a:endParaRPr b="0" i="0" sz="1050" u="none" cap="none" strike="noStrike">
                        <a:solidFill>
                          <a:srgbClr val="1B4528"/>
                        </a:solidFill>
                        <a:latin typeface="Inter"/>
                        <a:ea typeface="Inter"/>
                        <a:cs typeface="Inter"/>
                        <a:sym typeface="Inte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22164">
                <a:tc>
                  <a:txBody>
                    <a:bodyPr/>
                    <a:lstStyle/>
                    <a:p>
                      <a:pPr indent="0" lvl="0" marL="0" marR="0" rtl="0" algn="l">
                        <a:spcBef>
                          <a:spcPts val="0"/>
                        </a:spcBef>
                        <a:spcAft>
                          <a:spcPts val="0"/>
                        </a:spcAft>
                        <a:buNone/>
                      </a:pPr>
                      <a:r>
                        <a:rPr b="0" lang="da-DK" sz="1050">
                          <a:solidFill>
                            <a:schemeClr val="dk2"/>
                          </a:solidFill>
                        </a:rPr>
                        <a:t>Frekvens</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050"/>
                        <a:buFont typeface="Inter"/>
                        <a:buNone/>
                      </a:pPr>
                      <a:r>
                        <a:rPr b="0" i="0" lang="da-DK" sz="1050" u="none" cap="none" strike="noStrike">
                          <a:solidFill>
                            <a:srgbClr val="1B4528"/>
                          </a:solidFill>
                          <a:latin typeface="Inter"/>
                          <a:ea typeface="Inter"/>
                          <a:cs typeface="Inter"/>
                          <a:sym typeface="Inter"/>
                        </a:rPr>
                        <a:t>{{indsat_accidents_frequents}}</a:t>
                      </a:r>
                      <a:endParaRPr b="0" i="0" sz="1050" u="none" cap="none" strike="noStrike">
                        <a:solidFill>
                          <a:srgbClr val="1B4528"/>
                        </a:solidFill>
                        <a:latin typeface="Inter"/>
                        <a:ea typeface="Inter"/>
                        <a:cs typeface="Inter"/>
                        <a:sym typeface="Inte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2" name="Google Shape;162;p11"/>
          <p:cNvGraphicFramePr/>
          <p:nvPr/>
        </p:nvGraphicFramePr>
        <p:xfrm>
          <a:off x="5440653" y="1509221"/>
          <a:ext cx="4796550" cy="966492"/>
        </p:xfrm>
        <a:graphic>
          <a:graphicData uri="http://schemas.openxmlformats.org/drawingml/2006/table">
            <a:tbl>
              <a:tblPr firstRow="1">
                <a:noFill/>
                <a:tableStyleId>{CDAA95DC-A3FB-4B04-AF77-96552CE0420F}</a:tableStyleId>
              </a:tblPr>
              <a:tblGrid>
                <a:gridCol w="3313425"/>
                <a:gridCol w="1483125"/>
              </a:tblGrid>
              <a:tr h="291275">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rPr>
                        <a:t>Arbejdsrelaterede dødsfald </a:t>
                      </a:r>
                      <a:r>
                        <a:rPr b="0" lang="da-DK" sz="1050">
                          <a:solidFill>
                            <a:schemeClr val="dk2"/>
                          </a:solidFill>
                        </a:rPr>
                        <a:t>(pkt. 41b)</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År</a:t>
                      </a:r>
                      <a:r>
                        <a:rPr b="1" lang="da-DK" sz="1050">
                          <a:solidFill>
                            <a:srgbClr val="1B4528"/>
                          </a:solidFill>
                          <a:latin typeface="Calibri"/>
                          <a:ea typeface="Calibri"/>
                          <a:cs typeface="Calibri"/>
                          <a:sym typeface="Calibri"/>
                        </a:rPr>
                        <a:t> {{insert_year}}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83942">
                <a:tc>
                  <a:txBody>
                    <a:bodyPr/>
                    <a:lstStyle/>
                    <a:p>
                      <a:pPr indent="0" lvl="0" marL="0" marR="0" rtl="0" algn="l">
                        <a:spcBef>
                          <a:spcPts val="0"/>
                        </a:spcBef>
                        <a:spcAft>
                          <a:spcPts val="0"/>
                        </a:spcAft>
                        <a:buNone/>
                      </a:pPr>
                      <a:r>
                        <a:rPr b="0" lang="da-DK" sz="1050">
                          <a:solidFill>
                            <a:schemeClr val="dk2"/>
                          </a:solidFill>
                        </a:rPr>
                        <a:t>Som følge af arbejdsskade/-ulykke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050"/>
                        <a:buFont typeface="Inter"/>
                        <a:buNone/>
                      </a:pPr>
                      <a:r>
                        <a:rPr b="0" i="0" lang="da-DK" sz="1050" u="none" cap="none" strike="noStrike">
                          <a:solidFill>
                            <a:srgbClr val="1B4528"/>
                          </a:solidFill>
                          <a:latin typeface="Inter"/>
                          <a:ea typeface="Inter"/>
                          <a:cs typeface="Inter"/>
                          <a:sym typeface="Inter"/>
                        </a:rPr>
                        <a:t>{{deaths_by_accidents}}</a:t>
                      </a:r>
                      <a:endParaRPr b="0" i="0" sz="1050" u="none" cap="none" strike="noStrike">
                        <a:solidFill>
                          <a:srgbClr val="1B4528"/>
                        </a:solidFill>
                        <a:latin typeface="Inter"/>
                        <a:ea typeface="Inter"/>
                        <a:cs typeface="Inter"/>
                        <a:sym typeface="Inte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1275">
                <a:tc>
                  <a:txBody>
                    <a:bodyPr/>
                    <a:lstStyle/>
                    <a:p>
                      <a:pPr indent="0" lvl="0" marL="0" marR="0" rtl="0" algn="l">
                        <a:spcBef>
                          <a:spcPts val="0"/>
                        </a:spcBef>
                        <a:spcAft>
                          <a:spcPts val="0"/>
                        </a:spcAft>
                        <a:buNone/>
                      </a:pPr>
                      <a:r>
                        <a:rPr b="0" lang="da-DK" sz="1050">
                          <a:solidFill>
                            <a:schemeClr val="dk2"/>
                          </a:solidFill>
                        </a:rPr>
                        <a:t>Som følge af arbejdsrelateret dårligt helbred</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050"/>
                        <a:buFont typeface="Inter"/>
                        <a:buNone/>
                      </a:pPr>
                      <a:r>
                        <a:rPr b="0" i="0" lang="da-DK" sz="1050" u="none" cap="none" strike="noStrike">
                          <a:solidFill>
                            <a:srgbClr val="1B4528"/>
                          </a:solidFill>
                          <a:latin typeface="Inter"/>
                          <a:ea typeface="Inter"/>
                          <a:cs typeface="Inter"/>
                          <a:sym typeface="Inter"/>
                        </a:rPr>
                        <a:t>{{deaths_by_health}}</a:t>
                      </a:r>
                      <a:endParaRPr b="0" i="0" sz="1050" u="none" cap="none" strike="noStrike">
                        <a:solidFill>
                          <a:srgbClr val="1B4528"/>
                        </a:solidFill>
                        <a:latin typeface="Inter"/>
                        <a:ea typeface="Inter"/>
                        <a:cs typeface="Inter"/>
                        <a:sym typeface="Inte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63" name="Google Shape;163;p11"/>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64" name="Google Shape;164;p11"/>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165" name="Google Shape;165;p11"/>
          <p:cNvSpPr txBox="1"/>
          <p:nvPr/>
        </p:nvSpPr>
        <p:spPr>
          <a:xfrm>
            <a:off x="454796" y="873256"/>
            <a:ext cx="9791704" cy="728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Virksomheden har givet oplysninger om antallet af registrerede arbejdsulykker og arbejdsrelaterede dødsfald for følgende specifikationer: Antal og hyppighed. Derudover, om arbejdsrelaterede dødsfald skyldes arbejdsskader/arbejdsulykker eller dårligt helbred.</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050"/>
              <a:buFont typeface="Inter"/>
              <a:buNone/>
            </a:pPr>
            <a:br>
              <a:rPr lang="da-DK"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
        <p:nvSpPr>
          <p:cNvPr id="166" name="Google Shape;166;p11"/>
          <p:cNvSpPr txBox="1"/>
          <p:nvPr/>
        </p:nvSpPr>
        <p:spPr>
          <a:xfrm>
            <a:off x="454796" y="2676156"/>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575"/>
              <a:buFont typeface="IBM Plex Sans"/>
              <a:buNone/>
            </a:pPr>
            <a:r>
              <a:rPr b="1" lang="da-DK" sz="1575">
                <a:solidFill>
                  <a:schemeClr val="dk2"/>
                </a:solidFill>
                <a:latin typeface="IBM Plex Sans"/>
                <a:ea typeface="IBM Plex Sans"/>
                <a:cs typeface="IBM Plex Sans"/>
                <a:sym typeface="IBM Plex Sans"/>
              </a:rPr>
              <a:t>Egen arbejdsstyrke: Vederlag, overenskomster og uddannelse (B10)</a:t>
            </a:r>
            <a:endParaRPr/>
          </a:p>
        </p:txBody>
      </p:sp>
      <p:graphicFrame>
        <p:nvGraphicFramePr>
          <p:cNvPr id="167" name="Google Shape;167;p11"/>
          <p:cNvGraphicFramePr/>
          <p:nvPr/>
        </p:nvGraphicFramePr>
        <p:xfrm>
          <a:off x="5449949" y="3922747"/>
          <a:ext cx="4796550" cy="767800"/>
        </p:xfrm>
        <a:graphic>
          <a:graphicData uri="http://schemas.openxmlformats.org/drawingml/2006/table">
            <a:tbl>
              <a:tblPr firstRow="1">
                <a:noFill/>
                <a:tableStyleId>{CDAA95DC-A3FB-4B04-AF77-96552CE0420F}</a:tableStyleId>
              </a:tblPr>
              <a:tblGrid>
                <a:gridCol w="3337550"/>
                <a:gridCol w="1459000"/>
              </a:tblGrid>
              <a:tr h="293950">
                <a:tc rowSpan="2">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rPr>
                        <a:t>Lønforskel mellem mandlige og kvindelige ansatte </a:t>
                      </a:r>
                      <a:r>
                        <a:rPr b="0" lang="da-DK" sz="1050">
                          <a:solidFill>
                            <a:schemeClr val="dk2"/>
                          </a:solidFill>
                        </a:rPr>
                        <a:t>(pkt. 42b)</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År</a:t>
                      </a:r>
                      <a:r>
                        <a:rPr b="1" lang="da-DK" sz="1050">
                          <a:solidFill>
                            <a:srgbClr val="1B4528"/>
                          </a:solidFill>
                          <a:latin typeface="Calibri"/>
                          <a:ea typeface="Calibri"/>
                          <a:cs typeface="Calibri"/>
                          <a:sym typeface="Calibri"/>
                        </a:rPr>
                        <a:t> </a:t>
                      </a:r>
                      <a:r>
                        <a:rPr b="1" lang="da-DK" sz="1050">
                          <a:solidFill>
                            <a:srgbClr val="1B4528"/>
                          </a:solidFill>
                        </a:rPr>
                        <a:t>{{insert_year}}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73850">
                <a:tc vMerge="1"/>
                <a:tc>
                  <a:txBody>
                    <a:bodyPr/>
                    <a:lstStyle/>
                    <a:p>
                      <a:pPr indent="0" lvl="0" marL="0" marR="0" rtl="0" algn="r">
                        <a:spcBef>
                          <a:spcPts val="0"/>
                        </a:spcBef>
                        <a:spcAft>
                          <a:spcPts val="0"/>
                        </a:spcAft>
                        <a:buNone/>
                      </a:pPr>
                      <a:r>
                        <a:rPr b="0" lang="da-DK" sz="1050">
                          <a:solidFill>
                            <a:srgbClr val="1B4528"/>
                          </a:solidFill>
                        </a:rPr>
                        <a:t>{{indsat_procentvise_lonforskel}}</a:t>
                      </a:r>
                      <a:endParaRPr/>
                    </a:p>
                  </a:txBody>
                  <a:tcPr marT="31575" marB="31575" marR="31575" marL="31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8" name="Google Shape;168;p11"/>
          <p:cNvGraphicFramePr/>
          <p:nvPr/>
        </p:nvGraphicFramePr>
        <p:xfrm>
          <a:off x="445496" y="3922749"/>
          <a:ext cx="4800250" cy="758742"/>
        </p:xfrm>
        <a:graphic>
          <a:graphicData uri="http://schemas.openxmlformats.org/drawingml/2006/table">
            <a:tbl>
              <a:tblPr firstRow="1">
                <a:noFill/>
                <a:tableStyleId>{CDAA95DC-A3FB-4B04-AF77-96552CE0420F}</a:tableStyleId>
              </a:tblPr>
              <a:tblGrid>
                <a:gridCol w="2633550"/>
                <a:gridCol w="1111125"/>
                <a:gridCol w="1055575"/>
              </a:tblGrid>
              <a:tr h="219395">
                <a:tc>
                  <a:txBody>
                    <a:bodyPr/>
                    <a:lstStyle/>
                    <a:p>
                      <a:pPr indent="0" lvl="0" marL="0" marR="0" rtl="0" algn="l">
                        <a:spcBef>
                          <a:spcPts val="0"/>
                        </a:spcBef>
                        <a:spcAft>
                          <a:spcPts val="0"/>
                        </a:spcAft>
                        <a:buNone/>
                      </a:pPr>
                      <a:r>
                        <a:rPr b="1" lang="da-DK" sz="1050">
                          <a:solidFill>
                            <a:schemeClr val="dk2"/>
                          </a:solidFill>
                        </a:rPr>
                        <a:t>Oplysninger om minimumsløn </a:t>
                      </a:r>
                      <a:r>
                        <a:rPr b="0" lang="da-DK" sz="1050">
                          <a:solidFill>
                            <a:schemeClr val="dk2"/>
                          </a:solidFill>
                        </a:rPr>
                        <a:t>(42a)</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1050">
                          <a:solidFill>
                            <a:schemeClr val="dk2"/>
                          </a:solidFill>
                        </a:rPr>
                        <a:t>Ja</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1050">
                          <a:solidFill>
                            <a:schemeClr val="dk2"/>
                          </a:solidFill>
                        </a:rPr>
                        <a:t>Nej</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39347">
                <a:tc>
                  <a:txBody>
                    <a:bodyPr/>
                    <a:lstStyle/>
                    <a:p>
                      <a:pPr indent="0" lvl="0" marL="0" marR="0" rtl="0" algn="l">
                        <a:spcBef>
                          <a:spcPts val="0"/>
                        </a:spcBef>
                        <a:spcAft>
                          <a:spcPts val="0"/>
                        </a:spcAft>
                        <a:buNone/>
                      </a:pPr>
                      <a:r>
                        <a:rPr b="0" lang="da-DK" sz="1050">
                          <a:solidFill>
                            <a:schemeClr val="dk2"/>
                          </a:solidFill>
                        </a:rPr>
                        <a:t>I virksomheden modtager alle ansatte en løn, der som minimum er på niveau med minimumslønnen </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{{minumum_wage_yes?}}</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{{minimum_wage_no?}}</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9" name="Google Shape;169;p11"/>
          <p:cNvGraphicFramePr/>
          <p:nvPr/>
        </p:nvGraphicFramePr>
        <p:xfrm>
          <a:off x="445498" y="4815858"/>
          <a:ext cx="4796550" cy="796330"/>
        </p:xfrm>
        <a:graphic>
          <a:graphicData uri="http://schemas.openxmlformats.org/drawingml/2006/table">
            <a:tbl>
              <a:tblPr firstRow="1">
                <a:noFill/>
                <a:tableStyleId>{CDAA95DC-A3FB-4B04-AF77-96552CE0420F}</a:tableStyleId>
              </a:tblPr>
              <a:tblGrid>
                <a:gridCol w="2650725"/>
                <a:gridCol w="2145825"/>
              </a:tblGrid>
              <a:tr h="356555">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rPr>
                        <a:t>Kollektiv overenskomst </a:t>
                      </a:r>
                      <a:r>
                        <a:rPr b="0" lang="da-DK" sz="1050">
                          <a:solidFill>
                            <a:schemeClr val="dk2"/>
                          </a:solidFill>
                        </a:rPr>
                        <a:t>(pkt. 42c)</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År</a:t>
                      </a:r>
                      <a:r>
                        <a:rPr b="1" lang="da-DK" sz="1050">
                          <a:solidFill>
                            <a:srgbClr val="1B4528"/>
                          </a:solidFill>
                          <a:latin typeface="Calibri"/>
                          <a:ea typeface="Calibri"/>
                          <a:cs typeface="Calibri"/>
                          <a:sym typeface="Calibri"/>
                        </a:rPr>
                        <a:t> {{insert_year}}</a:t>
                      </a:r>
                      <a:endParaRPr b="1"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39775">
                <a:tc>
                  <a:txBody>
                    <a:bodyPr/>
                    <a:lstStyle/>
                    <a:p>
                      <a:pPr indent="0" lvl="0" marL="0" marR="0" rtl="0" algn="l">
                        <a:lnSpc>
                          <a:spcPct val="100000"/>
                        </a:lnSpc>
                        <a:spcBef>
                          <a:spcPts val="0"/>
                        </a:spcBef>
                        <a:spcAft>
                          <a:spcPts val="0"/>
                        </a:spcAft>
                        <a:buClr>
                          <a:schemeClr val="dk2"/>
                        </a:buClr>
                        <a:buSzPts val="1050"/>
                        <a:buFont typeface="IBM Plex Sans"/>
                        <a:buNone/>
                      </a:pPr>
                      <a:r>
                        <a:rPr b="0" lang="da-DK" sz="1050">
                          <a:solidFill>
                            <a:schemeClr val="dk2"/>
                          </a:solidFill>
                        </a:rPr>
                        <a:t>Procentvis ansatte, der er dækket af en kollektiv overenskomst</a:t>
                      </a:r>
                      <a:endParaRPr b="0" i="0" sz="1050" u="none" cap="none" strike="noStrike">
                        <a:solidFill>
                          <a:srgbClr val="1B4528"/>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lnSpc>
                          <a:spcPct val="100000"/>
                        </a:lnSpc>
                        <a:spcBef>
                          <a:spcPts val="0"/>
                        </a:spcBef>
                        <a:spcAft>
                          <a:spcPts val="0"/>
                        </a:spcAft>
                        <a:buClr>
                          <a:srgbClr val="1B4528"/>
                        </a:buClr>
                        <a:buSzPts val="1050"/>
                        <a:buFont typeface="IBM Plex Sans"/>
                        <a:buNone/>
                      </a:pPr>
                      <a:r>
                        <a:rPr b="0" i="0" lang="da-DK" sz="1050" u="none" cap="none" strike="noStrike">
                          <a:solidFill>
                            <a:srgbClr val="1B4528"/>
                          </a:solidFill>
                          <a:latin typeface="IBM Plex Sans"/>
                          <a:ea typeface="IBM Plex Sans"/>
                          <a:cs typeface="IBM Plex Sans"/>
                          <a:sym typeface="IBM Plex Sans"/>
                        </a:rPr>
                        <a:t>{{indsat_procentvis_ansatte}}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0" name="Google Shape;170;p11"/>
          <p:cNvGraphicFramePr/>
          <p:nvPr/>
        </p:nvGraphicFramePr>
        <p:xfrm>
          <a:off x="5448102" y="4806630"/>
          <a:ext cx="4796550" cy="805559"/>
        </p:xfrm>
        <a:graphic>
          <a:graphicData uri="http://schemas.openxmlformats.org/drawingml/2006/table">
            <a:tbl>
              <a:tblPr firstRow="1">
                <a:noFill/>
                <a:tableStyleId>{CDAA95DC-A3FB-4B04-AF77-96552CE0420F}</a:tableStyleId>
              </a:tblPr>
              <a:tblGrid>
                <a:gridCol w="3339375"/>
                <a:gridCol w="1457175"/>
              </a:tblGrid>
              <a:tr h="398209">
                <a:tc>
                  <a:txBody>
                    <a:bodyPr/>
                    <a:lstStyle/>
                    <a:p>
                      <a:pPr indent="0" lvl="0" marL="0" marR="0" rtl="0" algn="l">
                        <a:spcBef>
                          <a:spcPts val="0"/>
                        </a:spcBef>
                        <a:spcAft>
                          <a:spcPts val="0"/>
                        </a:spcAft>
                        <a:buNone/>
                      </a:pPr>
                      <a:r>
                        <a:rPr b="1" lang="da-DK" sz="1050">
                          <a:solidFill>
                            <a:schemeClr val="dk2"/>
                          </a:solidFill>
                        </a:rPr>
                        <a:t>Uddannelsestimer i gennemsnit pr. ansat </a:t>
                      </a:r>
                      <a:r>
                        <a:rPr b="0" lang="da-DK" sz="1050">
                          <a:solidFill>
                            <a:schemeClr val="dk2"/>
                          </a:solidFill>
                        </a:rPr>
                        <a:t>(pkt. 42d)</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År</a:t>
                      </a:r>
                      <a:r>
                        <a:rPr b="1" lang="da-DK" sz="1050">
                          <a:solidFill>
                            <a:srgbClr val="1B4528"/>
                          </a:solidFill>
                          <a:latin typeface="Calibri"/>
                          <a:ea typeface="Calibri"/>
                          <a:cs typeface="Calibri"/>
                          <a:sym typeface="Calibri"/>
                        </a:rPr>
                        <a:t> {{insert_year}}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07350">
                <a:tc>
                  <a:txBody>
                    <a:bodyPr/>
                    <a:lstStyle/>
                    <a:p>
                      <a:pPr indent="0" lvl="0" marL="0" marR="0" rtl="0" algn="l">
                        <a:spcBef>
                          <a:spcPts val="0"/>
                        </a:spcBef>
                        <a:spcAft>
                          <a:spcPts val="0"/>
                        </a:spcAft>
                        <a:buNone/>
                      </a:pPr>
                      <a:r>
                        <a:rPr b="0" lang="da-DK" sz="1050">
                          <a:solidFill>
                            <a:schemeClr val="dk2"/>
                          </a:solidFill>
                        </a:rPr>
                        <a:t>Time(r) pr. ansat</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{{gennemsnitstimer}}</a:t>
                      </a:r>
                      <a:endParaRPr b="0" sz="1050"/>
                    </a:p>
                  </a:txBody>
                  <a:tcPr marT="16700" marB="16700" marR="16700" marL="16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71" name="Google Shape;171;p11"/>
          <p:cNvSpPr txBox="1"/>
          <p:nvPr/>
        </p:nvSpPr>
        <p:spPr>
          <a:xfrm>
            <a:off x="465933" y="3022746"/>
            <a:ext cx="9791704" cy="8907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Virksomheden har angivet oplysninger om minimumsløn samt oplyst procentdelen af medarbejdere, der er omfattet af kollektive overenskomster, og det gennemsnitlige antal uddannelsestimer pr. medarbejder pr. år, opdelt efter køn. Hvis virksomheden allerede i henhold til EU-lovgivningen 8 eller andre nationale bestemmelser er forpligtet til at indberette den procentvise lønforskel mellem sine kvindelige og mandlige medarbejdere, skal den oplyse dette.</a:t>
            </a:r>
            <a:endParaRPr/>
          </a:p>
          <a:p>
            <a:pPr indent="0" lvl="0" marL="0" marR="0" rtl="0" algn="l">
              <a:spcBef>
                <a:spcPts val="0"/>
              </a:spcBef>
              <a:spcAft>
                <a:spcPts val="0"/>
              </a:spcAft>
              <a:buClr>
                <a:schemeClr val="dk2"/>
              </a:buClr>
              <a:buSzPts val="1050"/>
              <a:buFont typeface="Inter"/>
              <a:buNone/>
            </a:pPr>
            <a:br>
              <a:rPr lang="da-DK"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Virksomhedsadfærd: Antal domme og bøder i relation til korruption &amp; bestikkelse (B11) </a:t>
            </a:r>
            <a:endParaRPr/>
          </a:p>
        </p:txBody>
      </p:sp>
      <p:graphicFrame>
        <p:nvGraphicFramePr>
          <p:cNvPr id="178" name="Google Shape;178;p12"/>
          <p:cNvGraphicFramePr/>
          <p:nvPr/>
        </p:nvGraphicFramePr>
        <p:xfrm>
          <a:off x="445498" y="1706309"/>
          <a:ext cx="3000000" cy="3000000"/>
        </p:xfrm>
        <a:graphic>
          <a:graphicData uri="http://schemas.openxmlformats.org/drawingml/2006/table">
            <a:tbl>
              <a:tblPr firstRow="1">
                <a:noFill/>
                <a:tableStyleId>{CDAA95DC-A3FB-4B04-AF77-96552CE0420F}</a:tableStyleId>
              </a:tblPr>
              <a:tblGrid>
                <a:gridCol w="3263900"/>
                <a:gridCol w="3263900"/>
                <a:gridCol w="3263900"/>
              </a:tblGrid>
              <a:tr h="268350">
                <a:tc rowSpan="2">
                  <a:txBody>
                    <a:bodyPr/>
                    <a:lstStyle/>
                    <a:p>
                      <a:pPr indent="0" lvl="0" marL="0" marR="0" rtl="0" algn="l">
                        <a:spcBef>
                          <a:spcPts val="0"/>
                        </a:spcBef>
                        <a:spcAft>
                          <a:spcPts val="0"/>
                        </a:spcAft>
                        <a:buNone/>
                      </a:pPr>
                      <a:r>
                        <a:rPr b="1" lang="da-DK" sz="1050">
                          <a:solidFill>
                            <a:schemeClr val="dk2"/>
                          </a:solidFill>
                        </a:rPr>
                        <a:t>Korruption og bestikkelse </a:t>
                      </a:r>
                      <a:r>
                        <a:rPr b="0" lang="da-DK" sz="1050">
                          <a:solidFill>
                            <a:schemeClr val="dk2"/>
                          </a:solidFill>
                        </a:rPr>
                        <a:t>(pkt. 43)</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None/>
                      </a:pPr>
                      <a:r>
                        <a:rPr b="1" lang="da-DK" sz="1050">
                          <a:solidFill>
                            <a:schemeClr val="dk2"/>
                          </a:solidFill>
                        </a:rPr>
                        <a:t>Antal domme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a-DK" sz="1050">
                          <a:solidFill>
                            <a:schemeClr val="dk2"/>
                          </a:solidFill>
                        </a:rPr>
                        <a:t>Samlede bødestørrelse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8350">
                <a:tc vMerge="1"/>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{{domme}}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{{samlet_bodestorrelse}}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79" name="Google Shape;179;p1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80" name="Google Shape;180;p1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r>
              <a:t/>
            </a:r>
            <a:endParaRPr/>
          </a:p>
        </p:txBody>
      </p:sp>
      <p:sp>
        <p:nvSpPr>
          <p:cNvPr id="181" name="Google Shape;181;p12"/>
          <p:cNvSpPr txBox="1"/>
          <p:nvPr/>
        </p:nvSpPr>
        <p:spPr>
          <a:xfrm>
            <a:off x="454796" y="891000"/>
            <a:ext cx="9869667" cy="8907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Virksomheden har angivet overtrædelser af anti-korruptions- og anti-bestikkelseslove i den rapporterede periode. Hvis virksomheden har været involveret i domme eller bøder for overtrædelse af disse love, er følgende oplysninger blevet offentliggjort: Antallet af domme og det samlede bødebeløb, der er pålagt som følge af overtrædelserne. Disse oplysninger vedrører virksomhedens forretningsetik og bæredygtighed, især i forhold til håndtering af korruption og bestikkelse og er anført nedenfor.</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050"/>
              <a:buFont typeface="Inter"/>
              <a:buNone/>
            </a:pPr>
            <a:br>
              <a:rPr lang="da-DK"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3"/>
          <p:cNvSpPr txBox="1"/>
          <p:nvPr>
            <p:ph idx="1" type="body"/>
          </p:nvPr>
        </p:nvSpPr>
        <p:spPr>
          <a:xfrm>
            <a:off x="842440" y="2366719"/>
            <a:ext cx="8798625" cy="1280812"/>
          </a:xfrm>
          <a:prstGeom prst="rect">
            <a:avLst/>
          </a:prstGeom>
          <a:solidFill>
            <a:srgbClr val="1B4529"/>
          </a:solid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3500"/>
              <a:buFont typeface="IBM Plex Sans"/>
              <a:buNone/>
            </a:pPr>
            <a:r>
              <a:rPr b="1" lang="da-DK" sz="3500"/>
              <a:t>Oplysningspunkter i Udvidet Modul</a:t>
            </a:r>
            <a:endParaRPr/>
          </a:p>
        </p:txBody>
      </p:sp>
      <p:sp>
        <p:nvSpPr>
          <p:cNvPr id="188" name="Google Shape;188;p1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4"/>
          <p:cNvSpPr txBox="1"/>
          <p:nvPr>
            <p:ph type="title"/>
          </p:nvPr>
        </p:nvSpPr>
        <p:spPr>
          <a:xfrm>
            <a:off x="454796" y="450698"/>
            <a:ext cx="9791704" cy="224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575"/>
              <a:buFont typeface="IBM Plex Sans"/>
              <a:buNone/>
            </a:pPr>
            <a:r>
              <a:rPr b="1" i="0" lang="da-DK" sz="1575" u="none" strike="noStrike">
                <a:solidFill>
                  <a:srgbClr val="1B4528"/>
                </a:solidFill>
                <a:latin typeface="IBM Plex Sans"/>
                <a:ea typeface="IBM Plex Sans"/>
                <a:cs typeface="IBM Plex Sans"/>
                <a:sym typeface="IBM Plex Sans"/>
              </a:rPr>
              <a:t>Strategi: Forretningsmodel og bæredygtighedsrelaterede initiativer (C1)</a:t>
            </a:r>
            <a:endParaRPr/>
          </a:p>
        </p:txBody>
      </p:sp>
      <p:sp>
        <p:nvSpPr>
          <p:cNvPr id="195" name="Google Shape;195;p14"/>
          <p:cNvSpPr/>
          <p:nvPr/>
        </p:nvSpPr>
        <p:spPr>
          <a:xfrm>
            <a:off x="537056" y="4129657"/>
            <a:ext cx="181932" cy="203984"/>
          </a:xfrm>
          <a:prstGeom prst="rect">
            <a:avLst/>
          </a:prstGeom>
          <a:noFill/>
          <a:ln>
            <a:noFill/>
          </a:ln>
        </p:spPr>
      </p:sp>
      <p:sp>
        <p:nvSpPr>
          <p:cNvPr id="196" name="Google Shape;196;p1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197" name="Google Shape;197;p1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graphicFrame>
        <p:nvGraphicFramePr>
          <p:cNvPr id="198" name="Google Shape;198;p14"/>
          <p:cNvGraphicFramePr/>
          <p:nvPr/>
        </p:nvGraphicFramePr>
        <p:xfrm>
          <a:off x="464093" y="2080389"/>
          <a:ext cx="3000000" cy="3000000"/>
        </p:xfrm>
        <a:graphic>
          <a:graphicData uri="http://schemas.openxmlformats.org/drawingml/2006/table">
            <a:tbl>
              <a:tblPr firstRow="1">
                <a:noFill/>
                <a:tableStyleId>{CDAA95DC-A3FB-4B04-AF77-96552CE0420F}</a:tableStyleId>
              </a:tblPr>
              <a:tblGrid>
                <a:gridCol w="9791700"/>
              </a:tblGrid>
              <a:tr h="157850">
                <a:tc>
                  <a:txBody>
                    <a:bodyPr/>
                    <a:lstStyle/>
                    <a:p>
                      <a:pPr indent="0" lvl="0" marL="0" marR="0" rtl="0" algn="l">
                        <a:spcBef>
                          <a:spcPts val="0"/>
                        </a:spcBef>
                        <a:spcAft>
                          <a:spcPts val="0"/>
                        </a:spcAft>
                        <a:buNone/>
                      </a:pPr>
                      <a:r>
                        <a:rPr b="1" lang="da-DK" sz="1050">
                          <a:solidFill>
                            <a:schemeClr val="dk2"/>
                          </a:solidFill>
                        </a:rPr>
                        <a:t>Beskrivelse af væsentlige grupper af produkter og/eller tjenesteydelser, som </a:t>
                      </a:r>
                      <a:r>
                        <a:rPr b="1" lang="da-DK" sz="1050">
                          <a:solidFill>
                            <a:srgbClr val="1B4528"/>
                          </a:solidFill>
                          <a:latin typeface="IBM Plex Sans"/>
                          <a:ea typeface="IBM Plex Sans"/>
                          <a:cs typeface="IBM Plex Sans"/>
                          <a:sym typeface="IBM Plex Sans"/>
                        </a:rPr>
                        <a:t>{{company_name}} </a:t>
                      </a:r>
                      <a:r>
                        <a:rPr b="1" lang="da-DK" sz="1050">
                          <a:solidFill>
                            <a:schemeClr val="dk2"/>
                          </a:solidFill>
                          <a:latin typeface="IBM Plex Sans"/>
                          <a:ea typeface="IBM Plex Sans"/>
                          <a:cs typeface="IBM Plex Sans"/>
                          <a:sym typeface="IBM Plex Sans"/>
                        </a:rPr>
                        <a:t>tilbyder</a:t>
                      </a:r>
                      <a:r>
                        <a:rPr b="1" lang="da-DK" sz="1050">
                          <a:solidFill>
                            <a:schemeClr val="dk2"/>
                          </a:solidFill>
                        </a:rPr>
                        <a:t> </a:t>
                      </a:r>
                      <a:r>
                        <a:rPr b="0" lang="da-DK" sz="1050">
                          <a:solidFill>
                            <a:schemeClr val="dk2"/>
                          </a:solidFill>
                        </a:rPr>
                        <a:t>(pkt. 46a)</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8050">
                <a:tc>
                  <a:txBody>
                    <a:bodyPr/>
                    <a:lstStyle/>
                    <a:p>
                      <a:pPr indent="0" lvl="0" marL="0" marR="0" rtl="0" algn="l">
                        <a:spcBef>
                          <a:spcPts val="0"/>
                        </a:spcBef>
                        <a:spcAft>
                          <a:spcPts val="0"/>
                        </a:spcAft>
                        <a:buNone/>
                      </a:pPr>
                      <a:r>
                        <a:rPr b="0" lang="da-DK" sz="1050">
                          <a:solidFill>
                            <a:srgbClr val="1B4528"/>
                          </a:solidFill>
                        </a:rPr>
                        <a:t>{{markets_description}}</a:t>
                      </a:r>
                      <a:endParaRPr b="0" sz="1050">
                        <a:solidFill>
                          <a:srgbClr val="1B4528"/>
                        </a:solidFill>
                        <a:latin typeface="IBM Plex Sans"/>
                        <a:ea typeface="IBM Plex Sans"/>
                        <a:cs typeface="IBM Plex Sans"/>
                        <a:sym typeface="IBM Plex Sans"/>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199" name="Google Shape;199;p14"/>
          <p:cNvGraphicFramePr/>
          <p:nvPr/>
        </p:nvGraphicFramePr>
        <p:xfrm>
          <a:off x="464093" y="2891378"/>
          <a:ext cx="3000000" cy="3000000"/>
        </p:xfrm>
        <a:graphic>
          <a:graphicData uri="http://schemas.openxmlformats.org/drawingml/2006/table">
            <a:tbl>
              <a:tblPr firstRow="1">
                <a:noFill/>
                <a:tableStyleId>{CDAA95DC-A3FB-4B04-AF77-96552CE0420F}</a:tableStyleId>
              </a:tblPr>
              <a:tblGrid>
                <a:gridCol w="9791700"/>
              </a:tblGrid>
              <a:tr h="170825">
                <a:tc>
                  <a:txBody>
                    <a:bodyPr/>
                    <a:lstStyle/>
                    <a:p>
                      <a:pPr indent="0" lvl="0" marL="0" marR="0" rtl="0" algn="l">
                        <a:spcBef>
                          <a:spcPts val="0"/>
                        </a:spcBef>
                        <a:spcAft>
                          <a:spcPts val="0"/>
                        </a:spcAft>
                        <a:buNone/>
                      </a:pPr>
                      <a:r>
                        <a:rPr b="1" lang="da-DK" sz="1050">
                          <a:solidFill>
                            <a:schemeClr val="dk2"/>
                          </a:solidFill>
                        </a:rPr>
                        <a:t>Beskrivelse af de væsentlige markeder, som </a:t>
                      </a:r>
                      <a:r>
                        <a:rPr b="1" lang="da-DK" sz="1050">
                          <a:solidFill>
                            <a:srgbClr val="1B4528"/>
                          </a:solidFill>
                          <a:latin typeface="IBM Plex Sans"/>
                          <a:ea typeface="IBM Plex Sans"/>
                          <a:cs typeface="IBM Plex Sans"/>
                          <a:sym typeface="IBM Plex Sans"/>
                        </a:rPr>
                        <a:t>{{company_name}} </a:t>
                      </a:r>
                      <a:r>
                        <a:rPr b="1" lang="da-DK" sz="1050">
                          <a:solidFill>
                            <a:schemeClr val="dk2"/>
                          </a:solidFill>
                        </a:rPr>
                        <a:t>arbejder med </a:t>
                      </a:r>
                      <a:r>
                        <a:rPr b="0" lang="da-DK" sz="1050">
                          <a:solidFill>
                            <a:schemeClr val="dk2"/>
                          </a:solidFill>
                        </a:rPr>
                        <a:t>(pkt. 46b)</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78000">
                <a:tc>
                  <a:txBody>
                    <a:bodyPr/>
                    <a:lstStyle/>
                    <a:p>
                      <a:pPr indent="0" lvl="0" marL="0" marR="0" rtl="0" algn="l">
                        <a:spcBef>
                          <a:spcPts val="0"/>
                        </a:spcBef>
                        <a:spcAft>
                          <a:spcPts val="0"/>
                        </a:spcAft>
                        <a:buNone/>
                      </a:pPr>
                      <a:r>
                        <a:rPr b="0" lang="da-DK" sz="1050">
                          <a:solidFill>
                            <a:srgbClr val="1B4528"/>
                          </a:solidFill>
                        </a:rPr>
                        <a:t>{{business_relationships}}</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0" name="Google Shape;200;p14"/>
          <p:cNvGraphicFramePr/>
          <p:nvPr/>
        </p:nvGraphicFramePr>
        <p:xfrm>
          <a:off x="464093" y="3890345"/>
          <a:ext cx="3000000" cy="3000000"/>
        </p:xfrm>
        <a:graphic>
          <a:graphicData uri="http://schemas.openxmlformats.org/drawingml/2006/table">
            <a:tbl>
              <a:tblPr firstRow="1">
                <a:noFill/>
                <a:tableStyleId>{CDAA95DC-A3FB-4B04-AF77-96552CE0420F}</a:tableStyleId>
              </a:tblPr>
              <a:tblGrid>
                <a:gridCol w="9791700"/>
              </a:tblGrid>
              <a:tr h="155975">
                <a:tc>
                  <a:txBody>
                    <a:bodyPr/>
                    <a:lstStyle/>
                    <a:p>
                      <a:pPr indent="0" lvl="0" marL="0" marR="0" rtl="0" algn="l">
                        <a:spcBef>
                          <a:spcPts val="0"/>
                        </a:spcBef>
                        <a:spcAft>
                          <a:spcPts val="0"/>
                        </a:spcAft>
                        <a:buNone/>
                      </a:pPr>
                      <a:r>
                        <a:rPr b="1" lang="da-DK" sz="1050">
                          <a:solidFill>
                            <a:schemeClr val="dk2"/>
                          </a:solidFill>
                        </a:rPr>
                        <a:t>Beskrivelse af </a:t>
                      </a:r>
                      <a:r>
                        <a:rPr b="1" lang="da-DK" sz="1050">
                          <a:solidFill>
                            <a:srgbClr val="1B4528"/>
                          </a:solidFill>
                          <a:latin typeface="IBM Plex Sans"/>
                          <a:ea typeface="IBM Plex Sans"/>
                          <a:cs typeface="IBM Plex Sans"/>
                          <a:sym typeface="IBM Plex Sans"/>
                        </a:rPr>
                        <a:t>{{company_name}}</a:t>
                      </a:r>
                      <a:r>
                        <a:rPr b="1" lang="da-DK" sz="1050">
                          <a:solidFill>
                            <a:schemeClr val="accent1"/>
                          </a:solidFill>
                          <a:latin typeface="IBM Plex Sans"/>
                          <a:ea typeface="IBM Plex Sans"/>
                          <a:cs typeface="IBM Plex Sans"/>
                          <a:sym typeface="IBM Plex Sans"/>
                        </a:rPr>
                        <a:t>’s</a:t>
                      </a:r>
                      <a:r>
                        <a:rPr b="1" lang="da-DK" sz="1050">
                          <a:solidFill>
                            <a:srgbClr val="1B4528"/>
                          </a:solidFill>
                          <a:latin typeface="IBM Plex Sans"/>
                          <a:ea typeface="IBM Plex Sans"/>
                          <a:cs typeface="IBM Plex Sans"/>
                          <a:sym typeface="IBM Plex Sans"/>
                        </a:rPr>
                        <a:t> </a:t>
                      </a:r>
                      <a:r>
                        <a:rPr b="1" lang="da-DK" sz="1050">
                          <a:solidFill>
                            <a:schemeClr val="dk2"/>
                          </a:solidFill>
                        </a:rPr>
                        <a:t>primære forretningsforbindelser </a:t>
                      </a:r>
                      <a:r>
                        <a:rPr b="0" lang="da-DK" sz="1050">
                          <a:solidFill>
                            <a:schemeClr val="dk2"/>
                          </a:solidFill>
                        </a:rPr>
                        <a:t>(pkt. 46c)</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55800">
                <a:tc>
                  <a:txBody>
                    <a:bodyPr/>
                    <a:lstStyle/>
                    <a:p>
                      <a:pPr indent="0" lvl="0" marL="0" marR="0" rtl="0" algn="l">
                        <a:spcBef>
                          <a:spcPts val="0"/>
                        </a:spcBef>
                        <a:spcAft>
                          <a:spcPts val="0"/>
                        </a:spcAft>
                        <a:buNone/>
                      </a:pPr>
                      <a:r>
                        <a:rPr b="0" lang="da-DK" sz="1050">
                          <a:solidFill>
                            <a:srgbClr val="1B4528"/>
                          </a:solidFill>
                        </a:rPr>
                        <a:t>{{strategy}}</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1" name="Google Shape;201;p14"/>
          <p:cNvGraphicFramePr/>
          <p:nvPr/>
        </p:nvGraphicFramePr>
        <p:xfrm>
          <a:off x="454796" y="1387112"/>
          <a:ext cx="3000000" cy="3000000"/>
        </p:xfrm>
        <a:graphic>
          <a:graphicData uri="http://schemas.openxmlformats.org/drawingml/2006/table">
            <a:tbl>
              <a:tblPr firstRow="1">
                <a:noFill/>
                <a:tableStyleId>{CDAA95DC-A3FB-4B04-AF77-96552CE0420F}</a:tableStyleId>
              </a:tblPr>
              <a:tblGrid>
                <a:gridCol w="9791700"/>
              </a:tblGrid>
              <a:tr h="163925">
                <a:tc>
                  <a:txBody>
                    <a:bodyPr/>
                    <a:lstStyle/>
                    <a:p>
                      <a:pPr indent="0" lvl="0" marL="0" marR="0" rtl="0" algn="l">
                        <a:spcBef>
                          <a:spcPts val="0"/>
                        </a:spcBef>
                        <a:spcAft>
                          <a:spcPts val="0"/>
                        </a:spcAft>
                        <a:buNone/>
                      </a:pPr>
                      <a:r>
                        <a:rPr b="1" lang="da-DK" sz="1050">
                          <a:solidFill>
                            <a:schemeClr val="dk2"/>
                          </a:solidFill>
                        </a:rPr>
                        <a:t>Beskrivelse af overordnet forretningsmodel og strategi </a:t>
                      </a:r>
                      <a:r>
                        <a:rPr b="0" lang="da-DK" sz="1050">
                          <a:solidFill>
                            <a:schemeClr val="dk2"/>
                          </a:solidFill>
                        </a:rPr>
                        <a:t>(pkt. 46)</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8900">
                <a:tc>
                  <a:txBody>
                    <a:bodyPr/>
                    <a:lstStyle/>
                    <a:p>
                      <a:pPr indent="0" lvl="0" marL="0" marR="0" rtl="0" algn="l">
                        <a:spcBef>
                          <a:spcPts val="0"/>
                        </a:spcBef>
                        <a:spcAft>
                          <a:spcPts val="0"/>
                        </a:spcAft>
                        <a:buNone/>
                      </a:pPr>
                      <a:r>
                        <a:rPr b="0" lang="da-DK" sz="1050">
                          <a:solidFill>
                            <a:srgbClr val="1B4528"/>
                          </a:solidFill>
                        </a:rPr>
                        <a:t>{{products_description}}</a:t>
                      </a:r>
                      <a:endParaRPr/>
                    </a:p>
                    <a:p>
                      <a:pPr indent="0" lvl="0" marL="0" marR="0" rtl="0" algn="l">
                        <a:spcBef>
                          <a:spcPts val="0"/>
                        </a:spcBef>
                        <a:spcAft>
                          <a:spcPts val="0"/>
                        </a:spcAft>
                        <a:buNone/>
                      </a:pPr>
                      <a:r>
                        <a:t/>
                      </a:r>
                      <a:endParaRPr b="0" sz="1050">
                        <a:solidFill>
                          <a:srgbClr val="1B4528"/>
                        </a:solidFill>
                        <a:latin typeface="IBM Plex Sans"/>
                        <a:ea typeface="IBM Plex Sans"/>
                        <a:cs typeface="IBM Plex Sans"/>
                        <a:sym typeface="IBM Plex Sans"/>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2" name="Google Shape;202;p14"/>
          <p:cNvGraphicFramePr/>
          <p:nvPr/>
        </p:nvGraphicFramePr>
        <p:xfrm>
          <a:off x="454794" y="4868397"/>
          <a:ext cx="3000000" cy="3000000"/>
        </p:xfrm>
        <a:graphic>
          <a:graphicData uri="http://schemas.openxmlformats.org/drawingml/2006/table">
            <a:tbl>
              <a:tblPr firstRow="1">
                <a:noFill/>
                <a:tableStyleId>{CDAA95DC-A3FB-4B04-AF77-96552CE0420F}</a:tableStyleId>
              </a:tblPr>
              <a:tblGrid>
                <a:gridCol w="9791700"/>
              </a:tblGrid>
              <a:tr h="132775">
                <a:tc>
                  <a:txBody>
                    <a:bodyPr/>
                    <a:lstStyle/>
                    <a:p>
                      <a:pPr indent="0" lvl="0" marL="0" marR="0" rtl="0" algn="l">
                        <a:spcBef>
                          <a:spcPts val="0"/>
                        </a:spcBef>
                        <a:spcAft>
                          <a:spcPts val="0"/>
                        </a:spcAft>
                        <a:buNone/>
                      </a:pPr>
                      <a:r>
                        <a:rPr b="1" lang="da-DK" sz="1050">
                          <a:solidFill>
                            <a:schemeClr val="dk2"/>
                          </a:solidFill>
                        </a:rPr>
                        <a:t>Beskrivelse af, hvor </a:t>
                      </a:r>
                      <a:r>
                        <a:rPr b="1" lang="da-DK" sz="1050">
                          <a:solidFill>
                            <a:srgbClr val="1B4528"/>
                          </a:solidFill>
                          <a:latin typeface="IBM Plex Sans"/>
                          <a:ea typeface="IBM Plex Sans"/>
                          <a:cs typeface="IBM Plex Sans"/>
                          <a:sym typeface="IBM Plex Sans"/>
                        </a:rPr>
                        <a:t>{{company_name}}</a:t>
                      </a:r>
                      <a:r>
                        <a:rPr b="1" lang="da-DK" sz="1050">
                          <a:solidFill>
                            <a:schemeClr val="accent1"/>
                          </a:solidFill>
                          <a:latin typeface="IBM Plex Sans"/>
                          <a:ea typeface="IBM Plex Sans"/>
                          <a:cs typeface="IBM Plex Sans"/>
                          <a:sym typeface="IBM Plex Sans"/>
                        </a:rPr>
                        <a:t>´s strategi og forretningsmodel har bæredygtighedsrelaterede elementer</a:t>
                      </a:r>
                      <a:r>
                        <a:rPr b="0" lang="da-DK" sz="1050">
                          <a:solidFill>
                            <a:schemeClr val="dk2"/>
                          </a:solidFill>
                        </a:rPr>
                        <a:t>(pkt. 46d)</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74650">
                <a:tc>
                  <a:txBody>
                    <a:bodyPr/>
                    <a:lstStyle/>
                    <a:p>
                      <a:pPr indent="0" lvl="0" marL="0" marR="0" rtl="0" algn="l">
                        <a:spcBef>
                          <a:spcPts val="0"/>
                        </a:spcBef>
                        <a:spcAft>
                          <a:spcPts val="0"/>
                        </a:spcAft>
                        <a:buClr>
                          <a:srgbClr val="1B4528"/>
                        </a:buClr>
                        <a:buSzPts val="1050"/>
                        <a:buFont typeface="IBM Plex Sans"/>
                        <a:buNone/>
                      </a:pPr>
                      <a:r>
                        <a:rPr b="0" lang="da-DK" sz="1050">
                          <a:solidFill>
                            <a:srgbClr val="1B4528"/>
                          </a:solidFill>
                        </a:rPr>
                        <a:t>{{business_model}}</a:t>
                      </a:r>
                      <a:endParaRPr sz="1575"/>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03" name="Google Shape;203;p14"/>
          <p:cNvSpPr txBox="1"/>
          <p:nvPr/>
        </p:nvSpPr>
        <p:spPr>
          <a:xfrm>
            <a:off x="454796" y="891000"/>
            <a:ext cx="9869667" cy="404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Virksomheden har angivet beskrivelse af overordnet forretningsmodel og strategi; produkter og/eller tjenesteydelser; markeder; forretningsforbindelser samt om virksomhedens forretningsmodel har bæredygtighedsrelaterede elementer. </a:t>
            </a:r>
            <a:endParaRPr sz="1050">
              <a:solidFill>
                <a:schemeClr val="dk2"/>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5"/>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latin typeface="IBM Plex Sans"/>
                <a:ea typeface="IBM Plex Sans"/>
                <a:cs typeface="IBM Plex Sans"/>
                <a:sym typeface="IBM Plex Sans"/>
              </a:rPr>
              <a:t>I</a:t>
            </a:r>
            <a:r>
              <a:rPr b="1" lang="da-DK" sz="1575">
                <a:solidFill>
                  <a:schemeClr val="dk2"/>
                </a:solidFill>
                <a:latin typeface="IBM Plex Sans"/>
                <a:ea typeface="IBM Plex Sans"/>
                <a:cs typeface="IBM Plex Sans"/>
                <a:sym typeface="IBM Plex Sans"/>
              </a:rPr>
              <a:t>ndsatser, politikker og fremtidige initiativer for omstilling til en mere bæredygtig økonomi (C2)</a:t>
            </a:r>
            <a:endParaRPr/>
          </a:p>
        </p:txBody>
      </p:sp>
      <p:sp>
        <p:nvSpPr>
          <p:cNvPr id="210" name="Google Shape;210;p15"/>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11" name="Google Shape;211;p15"/>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graphicFrame>
        <p:nvGraphicFramePr>
          <p:cNvPr id="212" name="Google Shape;212;p15"/>
          <p:cNvGraphicFramePr/>
          <p:nvPr/>
        </p:nvGraphicFramePr>
        <p:xfrm>
          <a:off x="454797" y="1793460"/>
          <a:ext cx="3000000" cy="3000000"/>
        </p:xfrm>
        <a:graphic>
          <a:graphicData uri="http://schemas.openxmlformats.org/drawingml/2006/table">
            <a:tbl>
              <a:tblPr firstRow="1">
                <a:noFill/>
                <a:tableStyleId>{CDAA95DC-A3FB-4B04-AF77-96552CE0420F}</a:tableStyleId>
              </a:tblPr>
              <a:tblGrid>
                <a:gridCol w="1681000"/>
                <a:gridCol w="2703575"/>
                <a:gridCol w="2703575"/>
                <a:gridCol w="2703575"/>
              </a:tblGrid>
              <a:tr h="306600">
                <a:tc row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Område</a:t>
                      </a:r>
                      <a:endParaRPr/>
                    </a:p>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(pkt. 47)</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Kort beskrivelse </a:t>
                      </a:r>
                      <a:r>
                        <a:rPr b="1" lang="da-DK" sz="1050" u="none">
                          <a:solidFill>
                            <a:schemeClr val="dk2"/>
                          </a:solidFill>
                          <a:latin typeface="IBM Plex Sans"/>
                          <a:ea typeface="IBM Plex Sans"/>
                          <a:cs typeface="IBM Plex Sans"/>
                          <a:sym typeface="IBM Plex Sans"/>
                        </a:rPr>
                        <a:t>af eksisterende </a:t>
                      </a:r>
                      <a:r>
                        <a:rPr b="1" lang="da-DK" sz="1050">
                          <a:solidFill>
                            <a:schemeClr val="dk2"/>
                          </a:solidFill>
                          <a:latin typeface="IBM Plex Sans"/>
                          <a:ea typeface="IBM Plex Sans"/>
                          <a:cs typeface="IBM Plex Sans"/>
                          <a:sym typeface="IBM Plex Sans"/>
                        </a:rPr>
                        <a:t>indsatser/politikker/handlinger (jf. oplysningspunkt B2)</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Kort beskrivelse af eventuelle </a:t>
                      </a:r>
                      <a:r>
                        <a:rPr b="1" lang="da-DK" sz="1050" u="none">
                          <a:solidFill>
                            <a:schemeClr val="dk2"/>
                          </a:solidFill>
                          <a:latin typeface="IBM Plex Sans"/>
                          <a:ea typeface="IBM Plex Sans"/>
                          <a:cs typeface="IBM Plex Sans"/>
                          <a:sym typeface="IBM Plex Sans"/>
                        </a:rPr>
                        <a:t>fremtidige</a:t>
                      </a:r>
                      <a:r>
                        <a:rPr b="1" lang="da-DK" sz="1050">
                          <a:solidFill>
                            <a:schemeClr val="dk2"/>
                          </a:solidFill>
                          <a:latin typeface="IBM Plex Sans"/>
                          <a:ea typeface="IBM Plex Sans"/>
                          <a:cs typeface="IBM Plex Sans"/>
                          <a:sym typeface="IBM Plex Sans"/>
                        </a:rPr>
                        <a:t> målsætninger (jf. oplysningspunkt B2)</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lt1"/>
                        </a:buClr>
                        <a:buSzPts val="1050"/>
                        <a:buFont typeface="IBM Plex Sans"/>
                        <a:buNone/>
                      </a:pPr>
                      <a:r>
                        <a:rPr lang="da-DK" sz="1050">
                          <a:solidFill>
                            <a:schemeClr val="lt1"/>
                          </a:solidFill>
                        </a:rPr>
                        <a:t>Oplysningspunktet </a:t>
                      </a:r>
                      <a:r>
                        <a:rPr b="1" lang="da-DK" sz="1050">
                          <a:solidFill>
                            <a:schemeClr val="lt1"/>
                          </a:solidFill>
                        </a:rPr>
                        <a:t>er frivilligt</a:t>
                      </a:r>
                      <a:endParaRPr sz="1050">
                        <a:solidFill>
                          <a:schemeClr val="lt1"/>
                        </a:solidFill>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1B4529"/>
                    </a:solidFill>
                  </a:tcPr>
                </a:tc>
              </a:tr>
              <a:tr h="502225">
                <a:tc vMerge="1"/>
                <a:tc vMerge="1"/>
                <a:tc vMerge="1"/>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Angivelse af det højeste ledelsesniveau i virksomheden, der er ansvarlig for implementeringen </a:t>
                      </a:r>
                      <a:r>
                        <a:rPr b="0" lang="da-DK" sz="1050">
                          <a:solidFill>
                            <a:schemeClr val="dk2"/>
                          </a:solidFill>
                          <a:latin typeface="IBM Plex Sans"/>
                          <a:ea typeface="IBM Plex Sans"/>
                          <a:cs typeface="IBM Plex Sans"/>
                          <a:sym typeface="IBM Plex Sans"/>
                        </a:rPr>
                        <a:t>(pkt. 48)</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65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Klimaforandringer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Climate_C2_Description_Existing_Practices</a:t>
                      </a:r>
                      <a:r>
                        <a:rPr b="0" i="0" lang="da-DK" sz="1050" u="none" strike="noStrike">
                          <a:solidFill>
                            <a:srgbClr val="1B4528"/>
                          </a:solidFill>
                          <a:latin typeface="Inter"/>
                          <a:ea typeface="Inter"/>
                          <a:cs typeface="Inter"/>
                          <a:sym typeface="Inter"/>
                        </a:rPr>
                        <a:t>}}</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Climate_C2_Future_Practices</a:t>
                      </a:r>
                      <a:r>
                        <a:rPr b="0" i="0" lang="da-DK" sz="1050" u="none" strike="noStrike">
                          <a:solidFill>
                            <a:srgbClr val="1B4528"/>
                          </a:solidFill>
                          <a:latin typeface="Inter"/>
                          <a:ea typeface="Inter"/>
                          <a:cs typeface="Inter"/>
                          <a:sym typeface="Inter"/>
                        </a:rPr>
                        <a:t>}}</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Climate_C2_Management_Level</a:t>
                      </a:r>
                      <a:r>
                        <a:rPr b="0" i="0" lang="da-DK" sz="1050" u="none" strike="noStrike">
                          <a:solidFill>
                            <a:srgbClr val="1B4528"/>
                          </a:solidFill>
                          <a:latin typeface="Inter"/>
                          <a:ea typeface="Inter"/>
                          <a:cs typeface="Inter"/>
                          <a:sym typeface="Inter"/>
                        </a:rPr>
                        <a:t>}}</a:t>
                      </a:r>
                      <a:endParaRPr b="0"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09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Forurening</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Pollution_C2_Description_Existing_Practices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Pollution_C2_Future_Practices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Pollution_C2_Management_Level</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Vand -og Havressourcer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Water_C2_Description_Existing_Practices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Water_C2_Future_Practices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latin typeface="IBM Plex Sans"/>
                          <a:ea typeface="IBM Plex Sans"/>
                          <a:cs typeface="IBM Plex Sans"/>
                          <a:sym typeface="IBM Plex Sans"/>
                        </a:rPr>
                        <a:t>Water_C2_Management_Level</a:t>
                      </a:r>
                      <a:r>
                        <a:rPr b="0" i="0" lang="da-DK" sz="1050" u="none" strike="noStrike">
                          <a:solidFill>
                            <a:srgbClr val="1B4528"/>
                          </a:solidFill>
                          <a:latin typeface="Inter"/>
                          <a:ea typeface="Inter"/>
                          <a:cs typeface="Inter"/>
                          <a:sym typeface="Inter"/>
                        </a:rPr>
                        <a:t>}}</a:t>
                      </a:r>
                      <a:endParaRPr b="0" i="0" sz="1050" u="none" strike="noStrike">
                        <a:solidFill>
                          <a:srgbClr val="000000"/>
                        </a:solidFill>
                        <a:latin typeface="Inter"/>
                        <a:ea typeface="Inter"/>
                        <a:cs typeface="Inter"/>
                        <a:sym typeface="Inter"/>
                      </a:endParaRPr>
                    </a:p>
                    <a:p>
                      <a:pPr indent="0" lvl="0" marL="0" marR="0" rtl="0" algn="l">
                        <a:spcBef>
                          <a:spcPts val="0"/>
                        </a:spcBef>
                        <a:spcAft>
                          <a:spcPts val="0"/>
                        </a:spcAft>
                        <a:buClr>
                          <a:schemeClr val="dk1"/>
                        </a:buClr>
                        <a:buSzPts val="1050"/>
                        <a:buFont typeface="IBM Plex Sans"/>
                        <a:buNone/>
                      </a:pPr>
                      <a:r>
                        <a:t/>
                      </a:r>
                      <a:endParaRPr b="0" i="0" sz="1050" u="none" strike="noStrike">
                        <a:solidFill>
                          <a:srgbClr val="1B4528"/>
                        </a:solidFill>
                        <a:latin typeface="Inter"/>
                        <a:ea typeface="Inter"/>
                        <a:cs typeface="Inter"/>
                        <a:sym typeface="Inter"/>
                      </a:endParaRPr>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542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Biodiversitet og Økosystemer</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Bio_C2_Description_Existing_Practices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Bio_C2_Future_Practices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Bio_C2_Management_Level</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Cirkulær økonomi</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Circular_C2_Description_Existing_Practices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Circular_C2_Future_Practices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Circular_C2_Management_Level</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Egen arbejdsstyrke</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Own_Workforce_C2_Description_Existing_Practices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Own_Workforce_C2_Future_Practices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Own_Workforce_C2_Management_Level</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Arbejdere i værdikæden</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Workers_Value_Chain_C2_Description_Existing_Practices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Workers_Value_Chain_C2_Future_Practices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Workers_Value_Chain_C2_Management_Level</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Berørte samfund</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Affected_C2_Description_Existing_Practices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Affected_C2_Future_Practices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Affected_C2_Management_Level</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542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Forbrugere og slutbrugere</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Consumers_C2_Description_Existing_Practices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Consumers_C2_Future_Practices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Consumers_C2_Management_Level</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Virksomhedsledelse</a:t>
                      </a:r>
                      <a:endParaRPr/>
                    </a:p>
                  </a:txBody>
                  <a:tcPr marT="31575" marB="31575" marR="47350" marL="473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Governance_C2_Description_Existing_Practices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Governance_C2_Future_Practices</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a:t>
                      </a:r>
                      <a:r>
                        <a:rPr b="0" i="0" lang="da-DK" sz="1050" u="none" strike="noStrike">
                          <a:solidFill>
                            <a:srgbClr val="1B4528"/>
                          </a:solidFill>
                        </a:rPr>
                        <a:t>Governance_C2_Management_Level</a:t>
                      </a:r>
                      <a:r>
                        <a:rPr b="0" i="0" lang="da-DK" sz="1050" u="none" strike="noStrike">
                          <a:solidFill>
                            <a:srgbClr val="1B4528"/>
                          </a:solidFill>
                          <a:latin typeface="Inter"/>
                          <a:ea typeface="Inter"/>
                          <a:cs typeface="Inter"/>
                          <a:sym typeface="Inter"/>
                        </a:rPr>
                        <a:t>}}</a:t>
                      </a:r>
                      <a:endParaRPr sz="1050"/>
                    </a:p>
                  </a:txBody>
                  <a:tcPr marT="16700" marB="16700"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13" name="Google Shape;213;p15"/>
          <p:cNvSpPr txBox="1"/>
          <p:nvPr/>
        </p:nvSpPr>
        <p:spPr>
          <a:xfrm>
            <a:off x="469926" y="903083"/>
            <a:ext cx="9776573" cy="5668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a-DK" sz="1050">
                <a:solidFill>
                  <a:schemeClr val="dk2"/>
                </a:solidFill>
                <a:latin typeface="IBM Plex Sans"/>
                <a:ea typeface="IBM Plex Sans"/>
                <a:cs typeface="IBM Plex Sans"/>
                <a:sym typeface="IBM Plex Sans"/>
              </a:rPr>
              <a:t>Nedenstående tabel er udfyldt, da virksomheden allerede har iværksat konkrete indsatser, politikker eller initiativer, der bidrager til omstillingen mod en mere bæredygtig økonomi. Virksomheden har svaret ”JA” til et eller flere oplysningspunkter under B2 i Basismodulet. Nedenstående angiver et mere fyldestgørende svar på politikker, initiativer og indsatser som er igangsat for omstilling til en mere bæredygtig økonomi i virksomheden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500"/>
              <a:buFont typeface="IBM Plex Sans"/>
              <a:buNone/>
            </a:pPr>
            <a:r>
              <a:rPr lang="da-DK">
                <a:solidFill>
                  <a:srgbClr val="1B4528"/>
                </a:solidFill>
                <a:latin typeface="IBM Plex Sans"/>
                <a:ea typeface="IBM Plex Sans"/>
                <a:cs typeface="IBM Plex Sans"/>
                <a:sym typeface="IBM Plex Sans"/>
              </a:rPr>
              <a:t>CO₂e-udledning under B3 i Basismodulet</a:t>
            </a:r>
            <a:endParaRPr b="0"/>
          </a:p>
        </p:txBody>
      </p:sp>
      <p:sp>
        <p:nvSpPr>
          <p:cNvPr id="220" name="Google Shape;220;p16"/>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21" name="Google Shape;221;p1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r>
              <a:t/>
            </a:r>
            <a:endParaRPr/>
          </a:p>
        </p:txBody>
      </p:sp>
      <p:graphicFrame>
        <p:nvGraphicFramePr>
          <p:cNvPr id="222" name="Google Shape;222;p16"/>
          <p:cNvGraphicFramePr/>
          <p:nvPr/>
        </p:nvGraphicFramePr>
        <p:xfrm>
          <a:off x="454795" y="3510858"/>
          <a:ext cx="3000000" cy="3000000"/>
        </p:xfrm>
        <a:graphic>
          <a:graphicData uri="http://schemas.openxmlformats.org/drawingml/2006/table">
            <a:tbl>
              <a:tblPr firstRow="1">
                <a:noFill/>
                <a:tableStyleId>{CDAA95DC-A3FB-4B04-AF77-96552CE0420F}</a:tableStyleId>
              </a:tblPr>
              <a:tblGrid>
                <a:gridCol w="3263900"/>
                <a:gridCol w="3263900"/>
                <a:gridCol w="3263900"/>
              </a:tblGrid>
              <a:tr h="245625">
                <a:tc gridSpan="3">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CO₂e-reduktionsmål </a:t>
                      </a:r>
                      <a:r>
                        <a:rPr b="0" lang="da-DK" sz="1050">
                          <a:solidFill>
                            <a:schemeClr val="dk2"/>
                          </a:solidFill>
                          <a:latin typeface="IBM Plex Sans"/>
                          <a:ea typeface="IBM Plex Sans"/>
                          <a:cs typeface="IBM Plex Sans"/>
                          <a:sym typeface="IBM Plex Sans"/>
                        </a:rPr>
                        <a:t>(pkt. 53 a–d)</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r>
              <a:tr h="303700">
                <a:tc>
                  <a:txBody>
                    <a:bodyPr/>
                    <a:lstStyle/>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Reduktionsmål i år </a:t>
                      </a:r>
                      <a:r>
                        <a:rPr b="1" lang="da-DK" sz="1050">
                          <a:solidFill>
                            <a:srgbClr val="1B4528"/>
                          </a:solidFill>
                          <a:latin typeface="IBM Plex Sans"/>
                          <a:ea typeface="IBM Plex Sans"/>
                          <a:cs typeface="IBM Plex Sans"/>
                          <a:sym typeface="IBM Plex Sans"/>
                        </a:rPr>
                        <a:t>{{baseline_year-1}}</a:t>
                      </a:r>
                      <a:endParaRPr b="0" sz="1050">
                        <a:solidFill>
                          <a:srgbClr val="1B4528"/>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CO₂e-udledning i baselineår:</a:t>
                      </a:r>
                      <a:r>
                        <a:rPr b="0" lang="da-DK" sz="1050">
                          <a:solidFill>
                            <a:schemeClr val="dk2"/>
                          </a:solidFill>
                          <a:latin typeface="IBM Plex Sans"/>
                          <a:ea typeface="IBM Plex Sans"/>
                          <a:cs typeface="IBM Plex Sans"/>
                          <a:sym typeface="IBM Plex Sans"/>
                        </a:rPr>
                        <a:t> </a:t>
                      </a:r>
                      <a:r>
                        <a:rPr b="1" lang="da-DK" sz="1050">
                          <a:solidFill>
                            <a:srgbClr val="1B4528"/>
                          </a:solidFill>
                          <a:latin typeface="IBM Plex Sans"/>
                          <a:ea typeface="IBM Plex Sans"/>
                          <a:cs typeface="IBM Plex Sans"/>
                          <a:sym typeface="IBM Plex Sans"/>
                        </a:rPr>
                        <a:t>{{Insert baseline 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3700">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Scope 1 </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{{scope1_target}}</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{{scope1_baseline}}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700">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Scope 2</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{{scope2_target}}</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{{scope2_baseline}}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700">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Scope 3</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{{scope3_target}}</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{{scope3_baseline}}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23" name="Google Shape;223;p16"/>
          <p:cNvGraphicFramePr/>
          <p:nvPr/>
        </p:nvGraphicFramePr>
        <p:xfrm>
          <a:off x="454794" y="5178656"/>
          <a:ext cx="3000000" cy="3000000"/>
        </p:xfrm>
        <a:graphic>
          <a:graphicData uri="http://schemas.openxmlformats.org/drawingml/2006/table">
            <a:tbl>
              <a:tblPr firstRow="1">
                <a:noFill/>
                <a:tableStyleId>{CDAA95DC-A3FB-4B04-AF77-96552CE0420F}</a:tableStyleId>
              </a:tblPr>
              <a:tblGrid>
                <a:gridCol w="9791700"/>
              </a:tblGrid>
              <a:tr h="2897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Liste over de vigtigste handlinger </a:t>
                      </a:r>
                      <a:r>
                        <a:rPr b="1" lang="da-DK" sz="1050">
                          <a:solidFill>
                            <a:srgbClr val="1B4528"/>
                          </a:solidFill>
                          <a:latin typeface="IBM Plex Sans"/>
                          <a:ea typeface="IBM Plex Sans"/>
                          <a:cs typeface="IBM Plex Sans"/>
                          <a:sym typeface="IBM Plex Sans"/>
                        </a:rPr>
                        <a:t>{{Company name}} </a:t>
                      </a:r>
                      <a:r>
                        <a:rPr b="0" lang="da-DK" sz="1050">
                          <a:solidFill>
                            <a:srgbClr val="1B4528"/>
                          </a:solidFill>
                          <a:latin typeface="IBM Plex Sans"/>
                          <a:ea typeface="IBM Plex Sans"/>
                          <a:cs typeface="IBM Plex Sans"/>
                          <a:sym typeface="IBM Plex Sans"/>
                        </a:rPr>
                        <a:t> </a:t>
                      </a:r>
                      <a:r>
                        <a:rPr b="1" lang="da-DK" sz="1050">
                          <a:solidFill>
                            <a:schemeClr val="dk2"/>
                          </a:solidFill>
                          <a:latin typeface="IBM Plex Sans"/>
                          <a:ea typeface="IBM Plex Sans"/>
                          <a:cs typeface="IBM Plex Sans"/>
                          <a:sym typeface="IBM Plex Sans"/>
                        </a:rPr>
                        <a:t>implementerer for at nå CO₂e-reduktionsmålene </a:t>
                      </a:r>
                      <a:r>
                        <a:rPr b="0" lang="da-DK" sz="1050">
                          <a:solidFill>
                            <a:schemeClr val="dk2"/>
                          </a:solidFill>
                          <a:latin typeface="IBM Plex Sans"/>
                          <a:ea typeface="IBM Plex Sans"/>
                          <a:cs typeface="IBM Plex Sans"/>
                          <a:sym typeface="IBM Plex Sans"/>
                        </a:rPr>
                        <a:t>(pkt. 53e)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6875">
                <a:tc>
                  <a:txBody>
                    <a:bodyPr/>
                    <a:lstStyle/>
                    <a:p>
                      <a:pPr indent="0" lvl="0" marL="0" marR="0" rtl="0" algn="l">
                        <a:spcBef>
                          <a:spcPts val="0"/>
                        </a:spcBef>
                        <a:spcAft>
                          <a:spcPts val="0"/>
                        </a:spcAft>
                        <a:buNone/>
                      </a:pPr>
                      <a:r>
                        <a:rPr b="0" lang="da-DK" sz="1050">
                          <a:solidFill>
                            <a:srgbClr val="1B4528"/>
                          </a:solidFill>
                        </a:rPr>
                        <a:t>{{mainaction}}</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4" name="Google Shape;224;p16"/>
          <p:cNvSpPr txBox="1"/>
          <p:nvPr/>
        </p:nvSpPr>
        <p:spPr>
          <a:xfrm>
            <a:off x="454796" y="3119083"/>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575"/>
              <a:buFont typeface="IBM Plex Sans"/>
              <a:buNone/>
            </a:pPr>
            <a:r>
              <a:rPr b="1" lang="da-DK" sz="1575">
                <a:solidFill>
                  <a:schemeClr val="dk2"/>
                </a:solidFill>
                <a:latin typeface="IBM Plex Sans"/>
                <a:ea typeface="IBM Plex Sans"/>
                <a:cs typeface="IBM Plex Sans"/>
                <a:sym typeface="IBM Plex Sans"/>
              </a:rPr>
              <a:t>CO₂e-reduktionsmål (C3)</a:t>
            </a:r>
            <a:endParaRPr/>
          </a:p>
        </p:txBody>
      </p:sp>
      <p:graphicFrame>
        <p:nvGraphicFramePr>
          <p:cNvPr id="225" name="Google Shape;225;p16"/>
          <p:cNvGraphicFramePr/>
          <p:nvPr/>
        </p:nvGraphicFramePr>
        <p:xfrm>
          <a:off x="454795" y="1623325"/>
          <a:ext cx="3000000" cy="3000000"/>
        </p:xfrm>
        <a:graphic>
          <a:graphicData uri="http://schemas.openxmlformats.org/drawingml/2006/table">
            <a:tbl>
              <a:tblPr firstRow="1">
                <a:noFill/>
                <a:tableStyleId>{CDAA95DC-A3FB-4B04-AF77-96552CE0420F}</a:tableStyleId>
              </a:tblPr>
              <a:tblGrid>
                <a:gridCol w="7745100"/>
                <a:gridCol w="2037325"/>
              </a:tblGrid>
              <a:tr h="268650">
                <a:tc>
                  <a:txBody>
                    <a:bodyPr/>
                    <a:lstStyle/>
                    <a:p>
                      <a:pPr indent="0" lvl="0" marL="0" marR="0" rtl="0" algn="l">
                        <a:lnSpc>
                          <a:spcPct val="106000"/>
                        </a:lnSpc>
                        <a:spcBef>
                          <a:spcPts val="0"/>
                        </a:spcBef>
                        <a:spcAft>
                          <a:spcPts val="0"/>
                        </a:spcAft>
                        <a:buNone/>
                      </a:pPr>
                      <a:r>
                        <a:rPr b="1" lang="da-DK" sz="1050">
                          <a:solidFill>
                            <a:schemeClr val="dk2"/>
                          </a:solidFill>
                        </a:rPr>
                        <a:t>Udledning af drivhusgasser –</a:t>
                      </a:r>
                      <a:r>
                        <a:rPr b="0" lang="da-DK" sz="1050">
                          <a:solidFill>
                            <a:schemeClr val="dk2"/>
                          </a:solidFill>
                        </a:rPr>
                        <a:t> (tilføjes pkt. 33)</a:t>
                      </a:r>
                      <a:endParaRPr b="1"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050"/>
                        <a:buFont typeface="IBM Plex Sans"/>
                        <a:buNone/>
                      </a:pPr>
                      <a:r>
                        <a:rPr b="1" lang="da-DK" sz="1050">
                          <a:solidFill>
                            <a:schemeClr val="dk2"/>
                          </a:solidFill>
                        </a:rPr>
                        <a:t>År </a:t>
                      </a:r>
                      <a:r>
                        <a:rPr b="1" lang="da-DK" sz="1050">
                          <a:solidFill>
                            <a:srgbClr val="1B4528"/>
                          </a:solidFill>
                          <a:latin typeface="Calibri"/>
                          <a:ea typeface="Calibri"/>
                          <a:cs typeface="Calibri"/>
                          <a:sym typeface="Calibri"/>
                        </a:rPr>
                        <a:t>{{Insert year}}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4300">
                <a:tc>
                  <a:txBody>
                    <a:bodyPr/>
                    <a:lstStyle/>
                    <a:p>
                      <a:pPr indent="0" lvl="0" marL="0" marR="0" rtl="0" algn="r">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{{scope3_description_table}}</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B4528"/>
                        </a:buClr>
                        <a:buSzPts val="1050"/>
                        <a:buFont typeface="IBM Plex Sans"/>
                        <a:buNone/>
                      </a:pPr>
                      <a:r>
                        <a:rPr b="0" i="0" lang="da-DK" sz="1050" u="none" cap="none" strike="noStrike">
                          <a:solidFill>
                            <a:srgbClr val="1B4528"/>
                          </a:solidFill>
                          <a:latin typeface="IBM Plex Sans"/>
                          <a:ea typeface="IBM Plex Sans"/>
                          <a:cs typeface="IBM Plex Sans"/>
                          <a:sym typeface="IBM Plex Sans"/>
                        </a:rPr>
                        <a:t>{{scope3_emissions_table}}</a:t>
                      </a:r>
                      <a:endParaRPr b="0" i="0" sz="1050" u="none" cap="none" strike="noStrike">
                        <a:solidFill>
                          <a:srgbClr val="000000"/>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300">
                <a:tc>
                  <a:txBody>
                    <a:bodyPr/>
                    <a:lstStyle/>
                    <a:p>
                      <a:pPr indent="0" lvl="0" marL="0" marR="0" rtl="0" algn="l">
                        <a:lnSpc>
                          <a:spcPct val="106000"/>
                        </a:lnSpc>
                        <a:spcBef>
                          <a:spcPts val="0"/>
                        </a:spcBef>
                        <a:spcAft>
                          <a:spcPts val="0"/>
                        </a:spcAft>
                        <a:buNone/>
                      </a:pPr>
                      <a:r>
                        <a:rPr b="1" lang="da-DK" sz="1050">
                          <a:solidFill>
                            <a:schemeClr val="dk2"/>
                          </a:solidFill>
                        </a:rPr>
                        <a:t>CO₂e-udledninger i scope 3 total (lokationsbaseret)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050"/>
                        <a:buFont typeface="IBM Plex Sans"/>
                        <a:buNone/>
                      </a:pPr>
                      <a:r>
                        <a:rPr b="0" i="0" lang="da-DK" sz="1050" u="none" cap="none" strike="noStrike">
                          <a:solidFill>
                            <a:srgbClr val="1B4528"/>
                          </a:solidFill>
                          <a:latin typeface="IBM Plex Sans"/>
                          <a:ea typeface="IBM Plex Sans"/>
                          <a:cs typeface="IBM Plex Sans"/>
                          <a:sym typeface="IBM Plex Sans"/>
                        </a:rPr>
                        <a:t>{{scope3}}</a:t>
                      </a:r>
                      <a:endParaRPr b="0" i="0" sz="1050" u="none" cap="none" strike="noStrike">
                        <a:solidFill>
                          <a:srgbClr val="000000"/>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4300">
                <a:tc>
                  <a:txBody>
                    <a:bodyPr/>
                    <a:lstStyle/>
                    <a:p>
                      <a:pPr indent="0" lvl="0" marL="0" marR="0" rtl="0" algn="l">
                        <a:lnSpc>
                          <a:spcPct val="106000"/>
                        </a:lnSpc>
                        <a:spcBef>
                          <a:spcPts val="0"/>
                        </a:spcBef>
                        <a:spcAft>
                          <a:spcPts val="0"/>
                        </a:spcAft>
                        <a:buNone/>
                      </a:pPr>
                      <a:r>
                        <a:rPr b="1" lang="da-DK" sz="1050">
                          <a:solidFill>
                            <a:schemeClr val="dk2"/>
                          </a:solidFill>
                        </a:rPr>
                        <a:t>Total CO₂e-udledning for scope 1, 2 og 3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6000"/>
                        </a:lnSpc>
                        <a:spcBef>
                          <a:spcPts val="0"/>
                        </a:spcBef>
                        <a:spcAft>
                          <a:spcPts val="0"/>
                        </a:spcAft>
                        <a:buClr>
                          <a:srgbClr val="1B4528"/>
                        </a:buClr>
                        <a:buSzPts val="1050"/>
                        <a:buFont typeface="IBM Plex Sans"/>
                        <a:buNone/>
                      </a:pPr>
                      <a:r>
                        <a:rPr b="0" i="0" lang="da-DK" sz="1050" u="none" cap="none" strike="noStrike">
                          <a:solidFill>
                            <a:srgbClr val="1B4528"/>
                          </a:solidFill>
                          <a:latin typeface="IBM Plex Sans"/>
                          <a:ea typeface="IBM Plex Sans"/>
                          <a:cs typeface="IBM Plex Sans"/>
                          <a:sym typeface="IBM Plex Sans"/>
                        </a:rPr>
                        <a:t>{{total_all_scopes}}</a:t>
                      </a:r>
                      <a:endParaRPr b="0" i="0" sz="1050" u="none" cap="none" strike="noStrike">
                        <a:solidFill>
                          <a:srgbClr val="1B4528"/>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6" name="Google Shape;226;p16"/>
          <p:cNvSpPr txBox="1"/>
          <p:nvPr/>
        </p:nvSpPr>
        <p:spPr>
          <a:xfrm>
            <a:off x="454796" y="891000"/>
            <a:ext cx="9869667" cy="404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Virksomheden har angivet en oversigt over udledning af drivhusgasserne i Scope 3 som følger GHG-protokollen. Virksomheden angiver den samlede udledning og den lokationsbaserede udledning fra Scope 3. Virksomhedens CO₂e-reduktionsmål er anført, herunder virksomhedens vigtigste handlinger for at møde reduktionsmål</a:t>
            </a:r>
            <a:r>
              <a:rPr lang="da-DK" sz="1050">
                <a:solidFill>
                  <a:schemeClr val="dk2"/>
                </a:solidFill>
                <a:latin typeface="Inter"/>
                <a:ea typeface="Inter"/>
                <a:cs typeface="Inter"/>
                <a:sym typeface="Inter"/>
              </a:rPr>
              <a:t>ene.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7"/>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K</a:t>
            </a:r>
            <a:r>
              <a:rPr b="1" lang="da-DK" sz="1575">
                <a:solidFill>
                  <a:schemeClr val="dk2"/>
                </a:solidFill>
              </a:rPr>
              <a:t>limaomstilling (C3)</a:t>
            </a:r>
            <a:endParaRPr/>
          </a:p>
        </p:txBody>
      </p:sp>
      <p:sp>
        <p:nvSpPr>
          <p:cNvPr id="233" name="Google Shape;233;p17"/>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34" name="Google Shape;234;p17"/>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graphicFrame>
        <p:nvGraphicFramePr>
          <p:cNvPr id="235" name="Google Shape;235;p17"/>
          <p:cNvGraphicFramePr/>
          <p:nvPr/>
        </p:nvGraphicFramePr>
        <p:xfrm>
          <a:off x="454789" y="3862731"/>
          <a:ext cx="3000000" cy="3000000"/>
        </p:xfrm>
        <a:graphic>
          <a:graphicData uri="http://schemas.openxmlformats.org/drawingml/2006/table">
            <a:tbl>
              <a:tblPr firstRow="1">
                <a:noFill/>
                <a:tableStyleId>{CDAA95DC-A3FB-4B04-AF77-96552CE0420F}</a:tableStyleId>
              </a:tblPr>
              <a:tblGrid>
                <a:gridCol w="4900500"/>
                <a:gridCol w="4900500"/>
              </a:tblGrid>
              <a:tr h="287275">
                <a:tc grid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Kommende omstillingsplan </a:t>
                      </a:r>
                      <a:r>
                        <a:rPr b="0" lang="da-DK" sz="1050">
                          <a:solidFill>
                            <a:schemeClr val="dk2"/>
                          </a:solidFill>
                          <a:latin typeface="IBM Plex Sans"/>
                          <a:ea typeface="IBM Plex Sans"/>
                          <a:cs typeface="IBM Plex Sans"/>
                          <a:sym typeface="IBM Plex Sans"/>
                        </a:rPr>
                        <a:t>(pkt. 55)</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93475">
                <a:tc>
                  <a:txBody>
                    <a:bodyPr/>
                    <a:lstStyle/>
                    <a:p>
                      <a:pPr indent="0" lvl="0" marL="0" marR="0" rtl="0" algn="l">
                        <a:spcBef>
                          <a:spcPts val="0"/>
                        </a:spcBef>
                        <a:spcAft>
                          <a:spcPts val="0"/>
                        </a:spcAft>
                        <a:buNone/>
                      </a:pPr>
                      <a:r>
                        <a:rPr b="1" lang="da-DK" sz="1050">
                          <a:solidFill>
                            <a:srgbClr val="1B4528"/>
                          </a:solidFill>
                          <a:latin typeface="IBM Plex Sans"/>
                          <a:ea typeface="IBM Plex Sans"/>
                          <a:cs typeface="IBM Plex Sans"/>
                          <a:sym typeface="IBM Plex Sans"/>
                        </a:rPr>
                        <a:t>{{company_name}} </a:t>
                      </a:r>
                      <a:r>
                        <a:rPr b="1" lang="da-DK" sz="1050">
                          <a:solidFill>
                            <a:schemeClr val="dk2"/>
                          </a:solidFill>
                          <a:latin typeface="IBM Plex Sans"/>
                          <a:ea typeface="IBM Plex Sans"/>
                          <a:cs typeface="IBM Plex Sans"/>
                          <a:sym typeface="IBM Plex Sans"/>
                        </a:rPr>
                        <a:t>vil igangsætte en konkret omstillingsplan </a:t>
                      </a:r>
                      <a:r>
                        <a:rPr b="1" lang="da-DK" sz="1050">
                          <a:solidFill>
                            <a:schemeClr val="dk2"/>
                          </a:solidFill>
                        </a:rPr>
                        <a:t>for at modvirke klimaforandringer</a:t>
                      </a:r>
                      <a:endParaRPr b="1" sz="1050">
                        <a:solidFill>
                          <a:schemeClr val="dk2"/>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{{transition_plan?}}</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9347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Tidspunkt for vedtagelse af omstillingsplan</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{{transition_plan_date}}</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36" name="Google Shape;236;p17"/>
          <p:cNvGraphicFramePr/>
          <p:nvPr/>
        </p:nvGraphicFramePr>
        <p:xfrm>
          <a:off x="454789" y="1466441"/>
          <a:ext cx="3000000" cy="3000000"/>
        </p:xfrm>
        <a:graphic>
          <a:graphicData uri="http://schemas.openxmlformats.org/drawingml/2006/table">
            <a:tbl>
              <a:tblPr firstRow="1">
                <a:noFill/>
                <a:tableStyleId>{CDAA95DC-A3FB-4B04-AF77-96552CE0420F}</a:tableStyleId>
              </a:tblPr>
              <a:tblGrid>
                <a:gridCol w="9801000"/>
              </a:tblGrid>
              <a:tr h="32297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Omstillingsplan for modvirkning af klimaforandringer </a:t>
                      </a:r>
                      <a:r>
                        <a:rPr b="0" lang="da-DK" sz="1050">
                          <a:solidFill>
                            <a:schemeClr val="dk2"/>
                          </a:solidFill>
                          <a:latin typeface="IBM Plex Sans"/>
                          <a:ea typeface="IBM Plex Sans"/>
                          <a:cs typeface="IBM Plex Sans"/>
                          <a:sym typeface="IBM Plex Sans"/>
                        </a:rPr>
                        <a:t>(pkt. 54)</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385500">
                <a:tc>
                  <a:txBody>
                    <a:bodyPr/>
                    <a:lstStyle/>
                    <a:p>
                      <a:pPr indent="0" lvl="0" marL="0" marR="0" rtl="0" algn="l">
                        <a:spcBef>
                          <a:spcPts val="0"/>
                        </a:spcBef>
                        <a:spcAft>
                          <a:spcPts val="0"/>
                        </a:spcAft>
                        <a:buNone/>
                      </a:pPr>
                      <a:r>
                        <a:rPr b="0" lang="da-DK" sz="1050">
                          <a:solidFill>
                            <a:srgbClr val="1B4528"/>
                          </a:solidFill>
                        </a:rPr>
                        <a:t>{{transition_plan}}</a:t>
                      </a:r>
                      <a:endParaRPr/>
                    </a:p>
                    <a:p>
                      <a:pPr indent="0" lvl="0" marL="0" marR="0" rtl="0" algn="l">
                        <a:spcBef>
                          <a:spcPts val="0"/>
                        </a:spcBef>
                        <a:spcAft>
                          <a:spcPts val="0"/>
                        </a:spcAft>
                        <a:buNone/>
                      </a:pPr>
                      <a:r>
                        <a:t/>
                      </a:r>
                      <a:endParaRPr b="0" sz="1050">
                        <a:solidFill>
                          <a:srgbClr val="1B4528"/>
                        </a:solidFill>
                      </a:endParaRPr>
                    </a:p>
                    <a:p>
                      <a:pPr indent="0" lvl="0" marL="0" marR="0" rtl="0" algn="l">
                        <a:spcBef>
                          <a:spcPts val="0"/>
                        </a:spcBef>
                        <a:spcAft>
                          <a:spcPts val="0"/>
                        </a:spcAft>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37" name="Google Shape;237;p17"/>
          <p:cNvSpPr txBox="1"/>
          <p:nvPr/>
        </p:nvSpPr>
        <p:spPr>
          <a:xfrm>
            <a:off x="445500" y="891000"/>
            <a:ext cx="9801000" cy="404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De nedenstående oplysninger relaterer sig til virksomhedens omstillingsplan for modvirkning af klimaforandringer. Omstillingen er relateret til virksomhedens CO₂e-reduktionsmål.</a:t>
            </a:r>
            <a:endParaRPr/>
          </a:p>
        </p:txBody>
      </p:sp>
      <p:sp>
        <p:nvSpPr>
          <p:cNvPr id="238" name="Google Shape;238;p17"/>
          <p:cNvSpPr txBox="1"/>
          <p:nvPr/>
        </p:nvSpPr>
        <p:spPr>
          <a:xfrm>
            <a:off x="436211" y="3379961"/>
            <a:ext cx="9800998" cy="2429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Dette oplysningspunkt er udfyldt, da virksomheden har angivet at de vil igangsætte en konkret omstillingsplan samt dato for vedtagelse.</a:t>
            </a:r>
            <a:endParaRPr sz="1800">
              <a:solidFill>
                <a:schemeClr val="dk2"/>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K</a:t>
            </a:r>
            <a:r>
              <a:rPr b="1" lang="da-DK" sz="1575">
                <a:solidFill>
                  <a:schemeClr val="dk2"/>
                </a:solidFill>
              </a:rPr>
              <a:t>limarisici (C4)</a:t>
            </a:r>
            <a:endParaRPr/>
          </a:p>
        </p:txBody>
      </p:sp>
      <p:sp>
        <p:nvSpPr>
          <p:cNvPr id="245" name="Google Shape;245;p1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sp>
        <p:nvSpPr>
          <p:cNvPr id="246" name="Google Shape;246;p18"/>
          <p:cNvSpPr/>
          <p:nvPr/>
        </p:nvSpPr>
        <p:spPr>
          <a:xfrm>
            <a:off x="527761" y="3310338"/>
            <a:ext cx="181932" cy="203984"/>
          </a:xfrm>
          <a:prstGeom prst="rect">
            <a:avLst/>
          </a:prstGeom>
          <a:noFill/>
          <a:ln>
            <a:noFill/>
          </a:ln>
        </p:spPr>
      </p:sp>
      <p:sp>
        <p:nvSpPr>
          <p:cNvPr id="247" name="Google Shape;247;p18"/>
          <p:cNvSpPr/>
          <p:nvPr/>
        </p:nvSpPr>
        <p:spPr>
          <a:xfrm>
            <a:off x="527761" y="3860770"/>
            <a:ext cx="181932" cy="203984"/>
          </a:xfrm>
          <a:prstGeom prst="rect">
            <a:avLst/>
          </a:prstGeom>
          <a:noFill/>
          <a:ln>
            <a:noFill/>
          </a:ln>
        </p:spPr>
      </p:sp>
      <p:graphicFrame>
        <p:nvGraphicFramePr>
          <p:cNvPr id="248" name="Google Shape;248;p18"/>
          <p:cNvGraphicFramePr/>
          <p:nvPr/>
        </p:nvGraphicFramePr>
        <p:xfrm>
          <a:off x="454794" y="1359308"/>
          <a:ext cx="3000000" cy="3000000"/>
        </p:xfrm>
        <a:graphic>
          <a:graphicData uri="http://schemas.openxmlformats.org/drawingml/2006/table">
            <a:tbl>
              <a:tblPr firstRow="1">
                <a:noFill/>
                <a:tableStyleId>{CDAA95DC-A3FB-4B04-AF77-96552CE0420F}</a:tableStyleId>
              </a:tblPr>
              <a:tblGrid>
                <a:gridCol w="1172275"/>
                <a:gridCol w="883450"/>
                <a:gridCol w="2774050"/>
                <a:gridCol w="1504050"/>
                <a:gridCol w="1376800"/>
                <a:gridCol w="1064400"/>
                <a:gridCol w="1016675"/>
              </a:tblGrid>
              <a:tr h="196575">
                <a:tc gridSpan="3">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(pkt. 56a)</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gridSpan="2">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(pkt. 56b)</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(pkt. 56c)</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(pkt. 56d)</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478675">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Klimarelaterede risici</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Hvor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Kort beskrivelse af risici</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Eksponering </a:t>
                      </a:r>
                      <a:endParaRPr/>
                    </a:p>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rPr>
                        <a:t>(lav/mellem/høj)</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Sårbarhed </a:t>
                      </a:r>
                      <a:endParaRPr/>
                    </a:p>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rPr>
                        <a:t>(lav/mellem/høj)</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Tidshorisont </a:t>
                      </a:r>
                      <a:endParaRPr/>
                    </a:p>
                    <a:p>
                      <a:pPr indent="0" lvl="0" marL="0" marR="0" rtl="0" algn="ctr">
                        <a:lnSpc>
                          <a:spcPct val="100000"/>
                        </a:lnSpc>
                        <a:spcBef>
                          <a:spcPts val="0"/>
                        </a:spcBef>
                        <a:spcAft>
                          <a:spcPts val="0"/>
                        </a:spcAft>
                        <a:buClr>
                          <a:schemeClr val="dk2"/>
                        </a:buClr>
                        <a:buSzPts val="1050"/>
                        <a:buFont typeface="IBM Plex Sans"/>
                        <a:buNone/>
                      </a:pPr>
                      <a:r>
                        <a:rPr b="0" i="0" lang="da-DK" sz="1050">
                          <a:solidFill>
                            <a:schemeClr val="dk2"/>
                          </a:solidFill>
                        </a:rPr>
                        <a:t>(0-1 år/2-5 år/ &gt;5 år)</a:t>
                      </a:r>
                      <a:endParaRPr b="0" i="0" sz="1050"/>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Tilpasning iværksat </a:t>
                      </a:r>
                      <a:r>
                        <a:rPr b="0" lang="da-DK" sz="1050">
                          <a:solidFill>
                            <a:schemeClr val="dk2"/>
                          </a:solidFill>
                        </a:rPr>
                        <a:t>(JA/NEJ)</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37625">
                <a:tc rowSpan="3">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Kroniske farer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Aktiver</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{{chronic_aktiver_description}}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{{chronic_aktiver_eksponerning}}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{{chronic_aktiver_sårbarhed}}</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{{chronic_aktiver_time}}</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{{chronic_aktiver_tilpasning}}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25">
                <a:tc vMerge="1"/>
                <a:tc>
                  <a:txBody>
                    <a:bodyPr/>
                    <a:lstStyle/>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Aktiviteter</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{{chronic_aktiveter_description}}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{{chronic_aktivteter_eksponerning}}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{{chronic_aktivteter_sårbarhed}}</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{{chronic_aktivteter_time}}</a:t>
                      </a:r>
                      <a:endParaRPr sz="1575"/>
                    </a:p>
                    <a:p>
                      <a:pPr indent="0" lvl="0" marL="0" marR="0" rtl="0" algn="ctr">
                        <a:lnSpc>
                          <a:spcPct val="100000"/>
                        </a:lnSpc>
                        <a:spcBef>
                          <a:spcPts val="0"/>
                        </a:spcBef>
                        <a:spcAft>
                          <a:spcPts val="0"/>
                        </a:spcAft>
                        <a:buClr>
                          <a:schemeClr val="dk1"/>
                        </a:buClr>
                        <a:buSzPts val="1575"/>
                        <a:buFont typeface="IBM Plex Sans"/>
                        <a:buNone/>
                      </a:pPr>
                      <a:r>
                        <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{{chronic_aktivteter_tilpasning}}</a:t>
                      </a:r>
                      <a:endParaRPr sz="1575"/>
                    </a:p>
                    <a:p>
                      <a:pPr indent="0" lvl="0" marL="0" marR="0" rtl="0" algn="ctr">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25">
                <a:tc vMerge="1"/>
                <a:tc>
                  <a:txBody>
                    <a:bodyPr/>
                    <a:lstStyle/>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Værdikæde</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{{chronic_value_description}}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{{chronic_value_eksponerning}}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{{chronic_value_sårbarhed}}</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{{chronic_value_time}}</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{{chronic_value_tilpasning}}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37625">
                <a:tc rowSpan="3">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Akutte farer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Aktiver</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{{akut_aktiver_description}}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{{akut_aktiver_eksponering}}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{{akut_aktiver_sårbarhed}}</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{{akut_aktiver_tidshorisont}}</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{{akut_aktiver_tilpasning}}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25">
                <a:tc vMerge="1"/>
                <a:tc>
                  <a:txBody>
                    <a:bodyPr/>
                    <a:lstStyle/>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Aktiviteter</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{{akut_aktiviteter_description}}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{{akut_aktiviteter_eksponering}}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{{akut_aktiviteter_sårbarhed}}</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{{akut_aktiviteter_tidshorisont}}</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{{akut_aktiviteter_tilpasning}}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25">
                <a:tc vMerge="1"/>
                <a:tc>
                  <a:txBody>
                    <a:bodyPr/>
                    <a:lstStyle/>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Værdikæde</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{{akut_værdikæde_description}}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{{akut_værdikæde_eksponering}}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{{akut_værdikæde_sårbarhed}}</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{{akut_værdikæde_tidshorisont}}</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{{akut_værdikæde_tilpasning}}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37625">
                <a:tc rowSpan="3">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Omstillings-hændelse</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Aktiver</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{{omstilling_aktiver_description}}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{{omstilling_aktiver_eksponering}}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{{omstilling_aktiver_sårbarhed}}</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{{omstilling_aktiver_tidshorisont}}</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{{omstilling_aktiver_tilpasning}}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25">
                <a:tc vMerge="1"/>
                <a:tc>
                  <a:txBody>
                    <a:bodyPr/>
                    <a:lstStyle/>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Aktiviteter</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{{omstilling_aktiviteter_description}}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{{omstilling_aktiviteter_eksponering}}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{{omstilling_aktiviteter_sårbarhed}}</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{{omstilling_aktiviteter_tidshorisont}}</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{{omstilling_aktiviteter_tilpasning}}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25">
                <a:tc vMerge="1"/>
                <a:tc>
                  <a:txBody>
                    <a:bodyPr/>
                    <a:lstStyle/>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Værdikæde</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{{omstilling_værdikæde_description}}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{{omstilling_værdikæde_eksponering}}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{{omstilling_værdikæde_sårbarhed}}</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{{omstilling_værdikæde_tidshorisont}}</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{{omstilling_værdikæde_tilpasning}}</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49" name="Google Shape;249;p1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solidFill>
                  <a:srgbClr val="1B4528"/>
                </a:solidFill>
              </a:rPr>
              <a:t>‹#›</a:t>
            </a:fld>
            <a:endParaRPr>
              <a:solidFill>
                <a:srgbClr val="1B4528"/>
              </a:solidFill>
            </a:endParaRPr>
          </a:p>
        </p:txBody>
      </p:sp>
      <p:sp>
        <p:nvSpPr>
          <p:cNvPr id="250" name="Google Shape;250;p18"/>
          <p:cNvSpPr txBox="1"/>
          <p:nvPr/>
        </p:nvSpPr>
        <p:spPr>
          <a:xfrm>
            <a:off x="454796" y="891000"/>
            <a:ext cx="9869667" cy="404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Virksomheden har angivet en oversigt over klimarelaterede risici. Herunder om disse er kroniske, akutte eller omstillingsrelaterede og hvor disse er placeret (aktiver, aktiviteter eller i virksomhedens værdikæde. </a:t>
            </a:r>
            <a:endParaRPr sz="1050">
              <a:solidFill>
                <a:schemeClr val="dk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500"/>
              <a:buFont typeface="IBM Plex Sans"/>
              <a:buNone/>
            </a:pPr>
            <a:r>
              <a:rPr lang="da-DK"/>
              <a:t>K</a:t>
            </a:r>
            <a:r>
              <a:rPr b="1" lang="da-DK" sz="1575">
                <a:solidFill>
                  <a:schemeClr val="dk2"/>
                </a:solidFill>
              </a:rPr>
              <a:t>limarisici (C4) - fortsat</a:t>
            </a:r>
            <a:endParaRPr/>
          </a:p>
        </p:txBody>
      </p:sp>
      <p:sp>
        <p:nvSpPr>
          <p:cNvPr id="257" name="Google Shape;257;p1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58" name="Google Shape;258;p1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graphicFrame>
        <p:nvGraphicFramePr>
          <p:cNvPr id="259" name="Google Shape;259;p19"/>
          <p:cNvGraphicFramePr/>
          <p:nvPr/>
        </p:nvGraphicFramePr>
        <p:xfrm>
          <a:off x="437364" y="1339390"/>
          <a:ext cx="3000000" cy="3000000"/>
        </p:xfrm>
        <a:graphic>
          <a:graphicData uri="http://schemas.openxmlformats.org/drawingml/2006/table">
            <a:tbl>
              <a:tblPr firstRow="1">
                <a:noFill/>
                <a:tableStyleId>{CDAA95DC-A3FB-4B04-AF77-96552CE0420F}</a:tableStyleId>
              </a:tblPr>
              <a:tblGrid>
                <a:gridCol w="2489650"/>
                <a:gridCol w="4645725"/>
                <a:gridCol w="1434650"/>
                <a:gridCol w="1221675"/>
              </a:tblGrid>
              <a:tr h="153575">
                <a:tc gridSpan="4">
                  <a:txBody>
                    <a:bodyPr/>
                    <a:lstStyle/>
                    <a:p>
                      <a:pPr indent="0" lvl="0" marL="0" marR="0" rtl="0" algn="l">
                        <a:spcBef>
                          <a:spcPts val="0"/>
                        </a:spcBef>
                        <a:spcAft>
                          <a:spcPts val="0"/>
                        </a:spcAft>
                        <a:buNone/>
                      </a:pPr>
                      <a:r>
                        <a:rPr b="0" lang="da-DK" sz="1050">
                          <a:solidFill>
                            <a:schemeClr val="dk2"/>
                          </a:solidFill>
                          <a:latin typeface="IBM Plex Sans"/>
                          <a:ea typeface="IBM Plex Sans"/>
                          <a:cs typeface="IBM Plex Sans"/>
                          <a:sym typeface="IBM Plex Sans"/>
                        </a:rPr>
                        <a:t>(pkt. 57)</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r>
              <a:tr h="340400">
                <a:tc>
                  <a:txBody>
                    <a:bodyPr/>
                    <a:lstStyle/>
                    <a:p>
                      <a:pPr indent="0" lvl="0" marL="0" marR="0" rtl="0" algn="ctr">
                        <a:lnSpc>
                          <a:spcPct val="100000"/>
                        </a:lnSpc>
                        <a:spcBef>
                          <a:spcPts val="0"/>
                        </a:spcBef>
                        <a:spcAft>
                          <a:spcPts val="0"/>
                        </a:spcAft>
                        <a:buClr>
                          <a:schemeClr val="dk1"/>
                        </a:buClr>
                        <a:buSzPts val="1050"/>
                        <a:buFont typeface="IBM Plex Sans"/>
                        <a:buNone/>
                      </a:pPr>
                      <a:r>
                        <a:t/>
                      </a:r>
                      <a:endParaRPr b="1"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Potentiel negativ </a:t>
                      </a:r>
                      <a:r>
                        <a:rPr b="1" lang="da-DK" sz="1050">
                          <a:solidFill>
                            <a:schemeClr val="dk2"/>
                          </a:solidFill>
                          <a:latin typeface="IBM Plex Sans"/>
                          <a:ea typeface="IBM Plex Sans"/>
                          <a:cs typeface="IBM Plex Sans"/>
                          <a:sym typeface="IBM Plex Sans"/>
                        </a:rPr>
                        <a:t>påvirkning på virksomhedens finansielle præstation og forretningsdrift </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Finansiel risiko</a:t>
                      </a:r>
                      <a:endParaRPr/>
                    </a:p>
                    <a:p>
                      <a:pPr indent="0" lvl="0" marL="0" marR="0" rtl="0" algn="ctr">
                        <a:lnSpc>
                          <a:spcPct val="100000"/>
                        </a:lnSpc>
                        <a:spcBef>
                          <a:spcPts val="0"/>
                        </a:spcBef>
                        <a:spcAft>
                          <a:spcPts val="0"/>
                        </a:spcAft>
                        <a:buClr>
                          <a:schemeClr val="dk2"/>
                        </a:buClr>
                        <a:buSzPts val="1050"/>
                        <a:buFont typeface="IBM Plex Sans"/>
                        <a:buNone/>
                      </a:pPr>
                      <a:r>
                        <a:rPr b="0" lang="da-DK" sz="1050">
                          <a:solidFill>
                            <a:schemeClr val="dk2"/>
                          </a:solidFill>
                          <a:latin typeface="IBM Plex Sans"/>
                          <a:ea typeface="IBM Plex Sans"/>
                          <a:cs typeface="IBM Plex Sans"/>
                          <a:sym typeface="IBM Plex Sans"/>
                        </a:rPr>
                        <a:t>(lav/mellem/høj)</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rPr>
                        <a:t>Tidshorisont</a:t>
                      </a:r>
                      <a:endParaRPr/>
                    </a:p>
                    <a:p>
                      <a:pPr indent="0" lvl="0" marL="0" marR="0" rtl="0" algn="ctr">
                        <a:lnSpc>
                          <a:spcPct val="100000"/>
                        </a:lnSpc>
                        <a:spcBef>
                          <a:spcPts val="0"/>
                        </a:spcBef>
                        <a:spcAft>
                          <a:spcPts val="0"/>
                        </a:spcAft>
                        <a:buClr>
                          <a:schemeClr val="dk2"/>
                        </a:buClr>
                        <a:buSzPts val="1050"/>
                        <a:buFont typeface="IBM Plex Sans"/>
                        <a:buNone/>
                      </a:pPr>
                      <a:r>
                        <a:rPr b="0" i="0" lang="da-DK" sz="1050">
                          <a:solidFill>
                            <a:schemeClr val="dk2"/>
                          </a:solidFill>
                        </a:rPr>
                        <a:t>(0-1 år/2-5 år/ &gt;5 år)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09075">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Kroniske farer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75">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{{chronic_hazards}}</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 connection financial and operations}}</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{{chronic_financial_risk}}</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{{chronic_time_horizon}}</a:t>
                      </a:r>
                      <a:endParaRPr sz="1575"/>
                    </a:p>
                    <a:p>
                      <a:pPr indent="0" lvl="0" marL="0" marR="0" rtl="0" algn="ctr">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9075">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Akutte farer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75">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{{acute_hazards}}</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{{acute connection financial and operations}}</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{{acute_financial_risk}}</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{{acute_time_horizon}}</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9075">
                <a:tc>
                  <a:txBody>
                    <a:bodyPr/>
                    <a:lstStyle/>
                    <a:p>
                      <a:pPr indent="0" lvl="0" marL="0" marR="0" rtl="0" algn="l">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Omstillingsrisici</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75">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{{climate_related}}</a:t>
                      </a:r>
                      <a:endParaRPr sz="1575"/>
                    </a:p>
                    <a:p>
                      <a:pPr indent="0" lvl="0" marL="0" marR="0" rtl="0" algn="l">
                        <a:lnSpc>
                          <a:spcPct val="100000"/>
                        </a:lnSpc>
                        <a:spcBef>
                          <a:spcPts val="0"/>
                        </a:spcBef>
                        <a:spcAft>
                          <a:spcPts val="0"/>
                        </a:spcAft>
                        <a:buClr>
                          <a:schemeClr val="dk1"/>
                        </a:buClr>
                        <a:buSzPts val="1050"/>
                        <a:buFont typeface="IBM Plex Sans"/>
                        <a:buNone/>
                      </a:pPr>
                      <a:r>
                        <a:t/>
                      </a:r>
                      <a:endParaRPr b="0" i="0" sz="1050" u="none" strike="noStrike">
                        <a:solidFill>
                          <a:srgbClr val="1B4528"/>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{{climate connection financial and operations}}</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{{climate_related_risk}}</a:t>
                      </a:r>
                      <a:endParaRPr sz="1575"/>
                    </a:p>
                    <a:p>
                      <a:pPr indent="0" lvl="0" marL="0" marR="0" rtl="0" algn="ctr">
                        <a:lnSpc>
                          <a:spcPct val="100000"/>
                        </a:lnSpc>
                        <a:spcBef>
                          <a:spcPts val="0"/>
                        </a:spcBef>
                        <a:spcAft>
                          <a:spcPts val="0"/>
                        </a:spcAft>
                        <a:buClr>
                          <a:schemeClr val="dk1"/>
                        </a:buClr>
                        <a:buSzPts val="1575"/>
                        <a:buFont typeface="IBM Plex Sans"/>
                        <a:buNone/>
                      </a:pPr>
                      <a:r>
                        <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{{climate_time_horizon}}</a:t>
                      </a:r>
                      <a:endParaRPr sz="1575"/>
                    </a:p>
                    <a:p>
                      <a:pPr indent="0" lvl="0" marL="0" marR="0" rtl="0" algn="ctr">
                        <a:lnSpc>
                          <a:spcPct val="100000"/>
                        </a:lnSpc>
                        <a:spcBef>
                          <a:spcPts val="0"/>
                        </a:spcBef>
                        <a:spcAft>
                          <a:spcPts val="0"/>
                        </a:spcAft>
                        <a:buClr>
                          <a:schemeClr val="dk1"/>
                        </a:buClr>
                        <a:buSzPts val="1050"/>
                        <a:buFont typeface="IBM Plex Sans"/>
                        <a:buNone/>
                      </a:pPr>
                      <a:r>
                        <a:t/>
                      </a:r>
                      <a:endParaRPr b="0" sz="1050">
                        <a:solidFill>
                          <a:srgbClr val="1B4528"/>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60" name="Google Shape;260;p19"/>
          <p:cNvSpPr txBox="1"/>
          <p:nvPr/>
        </p:nvSpPr>
        <p:spPr>
          <a:xfrm>
            <a:off x="454796" y="891000"/>
            <a:ext cx="9869667" cy="404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Virksomheden har angivet en oversigt over klimarelaterede risici. Herunder om disse er kroniske, akutte eller omstillingsrelaterede og om disse kan have en potentiel negativ påvirkning på virksomhedens finansielle præsentation og forretningsdrift.</a:t>
            </a:r>
            <a:endParaRPr sz="1050">
              <a:solidFill>
                <a:schemeClr val="dk2"/>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575"/>
              <a:buFont typeface="IBM Plex Sans"/>
              <a:buNone/>
            </a:pPr>
            <a:r>
              <a:rPr b="1" i="0" lang="da-DK" sz="1575" u="none" strike="noStrike">
                <a:solidFill>
                  <a:srgbClr val="1B4528"/>
                </a:solidFill>
              </a:rPr>
              <a:t>Supplerende (generelle) oplysninger om arbejdsstyrken (C5)</a:t>
            </a:r>
            <a:endParaRPr/>
          </a:p>
        </p:txBody>
      </p:sp>
      <p:sp>
        <p:nvSpPr>
          <p:cNvPr id="267" name="Google Shape;267;p2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68" name="Google Shape;268;p2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graphicFrame>
        <p:nvGraphicFramePr>
          <p:cNvPr id="269" name="Google Shape;269;p20"/>
          <p:cNvGraphicFramePr/>
          <p:nvPr/>
        </p:nvGraphicFramePr>
        <p:xfrm>
          <a:off x="5469788" y="1447652"/>
          <a:ext cx="4776725" cy="755444"/>
        </p:xfrm>
        <a:graphic>
          <a:graphicData uri="http://schemas.openxmlformats.org/drawingml/2006/table">
            <a:tbl>
              <a:tblPr firstRow="1">
                <a:noFill/>
                <a:tableStyleId>{CDAA95DC-A3FB-4B04-AF77-96552CE0420F}</a:tableStyleId>
              </a:tblPr>
              <a:tblGrid>
                <a:gridCol w="3708475"/>
                <a:gridCol w="1068250"/>
              </a:tblGrid>
              <a:tr h="377722">
                <a:tc rowSpan="2">
                  <a:txBody>
                    <a:bodyPr/>
                    <a:lstStyle/>
                    <a:p>
                      <a:pPr indent="0" lvl="0" marL="0" marR="0" rtl="0" algn="l">
                        <a:lnSpc>
                          <a:spcPct val="100000"/>
                        </a:lnSpc>
                        <a:spcBef>
                          <a:spcPts val="0"/>
                        </a:spcBef>
                        <a:spcAft>
                          <a:spcPts val="0"/>
                        </a:spcAft>
                        <a:buClr>
                          <a:schemeClr val="dk2"/>
                        </a:buClr>
                        <a:buSzPts val="1050"/>
                        <a:buFont typeface="IBM Plex Sans"/>
                        <a:buNone/>
                      </a:pPr>
                      <a:r>
                        <a:rPr b="1" i="0" lang="da-DK" sz="1050">
                          <a:solidFill>
                            <a:schemeClr val="dk2"/>
                          </a:solidFill>
                        </a:rPr>
                        <a:t>Forholdet mellem kvinder og mænd på ledelsesniveau </a:t>
                      </a:r>
                      <a:r>
                        <a:rPr b="0" i="0" lang="da-DK" sz="1050">
                          <a:solidFill>
                            <a:schemeClr val="dk2"/>
                          </a:solidFill>
                        </a:rPr>
                        <a:t>(pkt. 59)</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050"/>
                        <a:buFont typeface="IBM Plex Sans"/>
                        <a:buNone/>
                      </a:pPr>
                      <a:r>
                        <a:rPr b="1" i="0" lang="da-DK" sz="1050" u="none" strike="noStrike">
                          <a:solidFill>
                            <a:srgbClr val="1B4528"/>
                          </a:solidFill>
                          <a:latin typeface="IBM Plex Sans"/>
                          <a:ea typeface="IBM Plex Sans"/>
                          <a:cs typeface="IBM Plex Sans"/>
                          <a:sym typeface="IBM Plex Sans"/>
                        </a:rPr>
                        <a:t>År </a:t>
                      </a:r>
                      <a:r>
                        <a:rPr b="1" i="0" lang="da-DK" sz="1050" u="none" strike="noStrike">
                          <a:solidFill>
                            <a:srgbClr val="1B4528"/>
                          </a:solidFill>
                          <a:latin typeface="IBM Plex Sans"/>
                          <a:ea typeface="IBM Plex Sans"/>
                          <a:cs typeface="IBM Plex Sans"/>
                          <a:sym typeface="IBM Plex Sans"/>
                        </a:rPr>
                        <a:t>{{Insert year}}</a:t>
                      </a:r>
                      <a:endParaRPr sz="1050"/>
                    </a:p>
                  </a:txBody>
                  <a:tcPr marT="11150" marB="11150" marR="33400" marL="33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7722">
                <a:tc vMerge="1"/>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{{gender_balance}}</a:t>
                      </a:r>
                      <a:endParaRPr sz="1050"/>
                    </a:p>
                  </a:txBody>
                  <a:tcPr marT="11150" marB="11150" marR="33400" marL="33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70" name="Google Shape;270;p20"/>
          <p:cNvGraphicFramePr/>
          <p:nvPr/>
        </p:nvGraphicFramePr>
        <p:xfrm>
          <a:off x="443203" y="1447652"/>
          <a:ext cx="4776725" cy="737161"/>
        </p:xfrm>
        <a:graphic>
          <a:graphicData uri="http://schemas.openxmlformats.org/drawingml/2006/table">
            <a:tbl>
              <a:tblPr firstRow="1">
                <a:noFill/>
                <a:tableStyleId>{CDAA95DC-A3FB-4B04-AF77-96552CE0420F}</a:tableStyleId>
              </a:tblPr>
              <a:tblGrid>
                <a:gridCol w="3708475"/>
                <a:gridCol w="1068250"/>
              </a:tblGrid>
              <a:tr h="368580">
                <a:tc rowSpan="2">
                  <a:txBody>
                    <a:bodyPr/>
                    <a:lstStyle/>
                    <a:p>
                      <a:pPr indent="0" lvl="0" marL="0" marR="0" rtl="0" algn="l">
                        <a:lnSpc>
                          <a:spcPct val="100000"/>
                        </a:lnSpc>
                        <a:spcBef>
                          <a:spcPts val="0"/>
                        </a:spcBef>
                        <a:spcAft>
                          <a:spcPts val="0"/>
                        </a:spcAft>
                        <a:buClr>
                          <a:schemeClr val="dk2"/>
                        </a:buClr>
                        <a:buSzPts val="1050"/>
                        <a:buFont typeface="IBM Plex Sans"/>
                        <a:buNone/>
                      </a:pPr>
                      <a:r>
                        <a:rPr b="1" i="0" lang="da-DK" sz="1050">
                          <a:solidFill>
                            <a:schemeClr val="dk2"/>
                          </a:solidFill>
                        </a:rPr>
                        <a:t>Medarbejderomsætning i rapporteringsåret </a:t>
                      </a:r>
                      <a:r>
                        <a:rPr b="0" i="0" lang="da-DK" sz="1050">
                          <a:solidFill>
                            <a:schemeClr val="dk2"/>
                          </a:solidFill>
                        </a:rPr>
                        <a:t>(pkt. 58)</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050"/>
                        <a:buFont typeface="IBM Plex Sans"/>
                        <a:buNone/>
                      </a:pPr>
                      <a:r>
                        <a:rPr b="1" i="0" lang="da-DK" sz="1050" u="none" strike="noStrike">
                          <a:solidFill>
                            <a:srgbClr val="1B4528"/>
                          </a:solidFill>
                          <a:latin typeface="IBM Plex Sans"/>
                          <a:ea typeface="IBM Plex Sans"/>
                          <a:cs typeface="IBM Plex Sans"/>
                          <a:sym typeface="IBM Plex Sans"/>
                        </a:rPr>
                        <a:t>År </a:t>
                      </a:r>
                      <a:r>
                        <a:rPr b="1" i="0" lang="da-DK" sz="1050" u="none" strike="noStrike">
                          <a:solidFill>
                            <a:srgbClr val="1B4528"/>
                          </a:solidFill>
                          <a:latin typeface="IBM Plex Sans"/>
                          <a:ea typeface="IBM Plex Sans"/>
                          <a:cs typeface="IBM Plex Sans"/>
                          <a:sym typeface="IBM Plex Sans"/>
                        </a:rPr>
                        <a:t>{{Insert year}}</a:t>
                      </a:r>
                      <a:endParaRPr sz="1050"/>
                    </a:p>
                  </a:txBody>
                  <a:tcPr marT="11150" marB="11150" marR="33400" marL="33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8580">
                <a:tc vMerge="1"/>
                <a:tc>
                  <a:txBody>
                    <a:bodyPr/>
                    <a:lstStyle/>
                    <a:p>
                      <a:pPr indent="0" lvl="0" marL="0" marR="0" rtl="0" algn="r">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{{omsatningsrate}}</a:t>
                      </a:r>
                      <a:endParaRPr/>
                    </a:p>
                  </a:txBody>
                  <a:tcPr marT="11150" marB="11150" marR="33400" marL="33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1" name="Google Shape;271;p20"/>
          <p:cNvSpPr txBox="1"/>
          <p:nvPr/>
        </p:nvSpPr>
        <p:spPr>
          <a:xfrm>
            <a:off x="445500" y="891000"/>
            <a:ext cx="9791704" cy="728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Den nedenstående information er supplement til anden oplysning om virksomhedens arbejdsstyrke. Herunder, hvordan virksomhedens forhold mellem mænd og kvinder på ledelsesniveau fordeler sig.</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050"/>
              <a:buFont typeface="Inter"/>
              <a:buNone/>
            </a:pPr>
            <a:br>
              <a:rPr lang="da-DK"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graphicFrame>
        <p:nvGraphicFramePr>
          <p:cNvPr id="272" name="Google Shape;272;p20"/>
          <p:cNvGraphicFramePr/>
          <p:nvPr/>
        </p:nvGraphicFramePr>
        <p:xfrm>
          <a:off x="445499" y="2882760"/>
          <a:ext cx="9791700" cy="3000000"/>
        </p:xfrm>
        <a:graphic>
          <a:graphicData uri="http://schemas.openxmlformats.org/drawingml/2006/table">
            <a:tbl>
              <a:tblPr firstRow="1">
                <a:noFill/>
                <a:tableStyleId>{CDAA95DC-A3FB-4B04-AF77-96552CE0420F}</a:tableStyleId>
              </a:tblPr>
              <a:tblGrid>
                <a:gridCol w="7257725"/>
                <a:gridCol w="2533975"/>
              </a:tblGrid>
              <a:tr h="252575">
                <a:tc gridSpan="2">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Selvstændige og vikarer </a:t>
                      </a:r>
                      <a:r>
                        <a:rPr b="0" lang="da-DK" sz="1050">
                          <a:solidFill>
                            <a:schemeClr val="dk2"/>
                          </a:solidFill>
                        </a:rPr>
                        <a:t>(pkt. 60)</a:t>
                      </a:r>
                      <a:endParaRPr b="1" sz="1050">
                        <a:solidFill>
                          <a:schemeClr val="dk2"/>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52575">
                <a:tc>
                  <a:txBody>
                    <a:bodyPr/>
                    <a:lstStyle/>
                    <a:p>
                      <a:pPr indent="0" lvl="0" marL="0" marR="0" rtl="0" algn="l">
                        <a:lnSpc>
                          <a:spcPct val="100000"/>
                        </a:lnSpc>
                        <a:spcBef>
                          <a:spcPts val="0"/>
                        </a:spcBef>
                        <a:spcAft>
                          <a:spcPts val="0"/>
                        </a:spcAft>
                        <a:buClr>
                          <a:schemeClr val="dk1"/>
                        </a:buClr>
                        <a:buSzPts val="1050"/>
                        <a:buFont typeface="IBM Plex Sans"/>
                        <a:buNone/>
                      </a:pPr>
                      <a:r>
                        <a:t/>
                      </a:r>
                      <a:endParaRPr b="1"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Antal</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75">
                <a:tc>
                  <a:txBody>
                    <a:bodyPr/>
                    <a:lstStyle/>
                    <a:p>
                      <a:pPr indent="0" lvl="0" marL="0" marR="0" rtl="0" algn="l">
                        <a:spcBef>
                          <a:spcPts val="0"/>
                        </a:spcBef>
                        <a:spcAft>
                          <a:spcPts val="0"/>
                        </a:spcAft>
                        <a:buNone/>
                      </a:pPr>
                      <a:r>
                        <a:rPr b="1" lang="da-DK" sz="1050">
                          <a:solidFill>
                            <a:schemeClr val="dk2"/>
                          </a:solidFill>
                        </a:rPr>
                        <a:t>Selvstændige (uden egne ansatte)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{{self-employeed}}</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75">
                <a:tc>
                  <a:txBody>
                    <a:bodyPr/>
                    <a:lstStyle/>
                    <a:p>
                      <a:pPr indent="0" lvl="0" marL="0" marR="0" rtl="0" algn="l">
                        <a:spcBef>
                          <a:spcPts val="0"/>
                        </a:spcBef>
                        <a:spcAft>
                          <a:spcPts val="0"/>
                        </a:spcAft>
                        <a:buNone/>
                      </a:pPr>
                      <a:r>
                        <a:rPr b="1" lang="da-DK" sz="1050">
                          <a:solidFill>
                            <a:schemeClr val="dk2"/>
                          </a:solidFill>
                        </a:rPr>
                        <a:t>Vikarer (rekrutteret via et vikarbureau)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{{temp_workers}}</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3" name="Google Shape;273;p20"/>
          <p:cNvSpPr txBox="1"/>
          <p:nvPr/>
        </p:nvSpPr>
        <p:spPr>
          <a:xfrm>
            <a:off x="454795" y="2430996"/>
            <a:ext cx="9782407" cy="2429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Den nedenstående information er udfyldt for at informere om antallet af selvstændige og vikarer virksomheden har.</a:t>
            </a:r>
            <a:endParaRPr b="0" sz="1050">
              <a:solidFill>
                <a:schemeClr val="dk2"/>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575"/>
              <a:buFont typeface="IBM Plex Sans"/>
              <a:buNone/>
            </a:pPr>
            <a:r>
              <a:rPr b="1" i="0" lang="da-DK" sz="1575" u="none" strike="noStrike">
                <a:solidFill>
                  <a:srgbClr val="1B4528"/>
                </a:solidFill>
                <a:latin typeface="IBM Plex Sans"/>
                <a:ea typeface="IBM Plex Sans"/>
                <a:cs typeface="IBM Plex Sans"/>
                <a:sym typeface="IBM Plex Sans"/>
              </a:rPr>
              <a:t>Menneskerettighedspolitikker og -processer (C6</a:t>
            </a:r>
            <a:r>
              <a:rPr lang="da-DK"/>
              <a:t>) - Egen arbejdsstyrke</a:t>
            </a:r>
            <a:endParaRPr/>
          </a:p>
        </p:txBody>
      </p:sp>
      <p:sp>
        <p:nvSpPr>
          <p:cNvPr id="279" name="Google Shape;279;p21"/>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80" name="Google Shape;280;p21"/>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br>
              <a:rPr lang="da-DK"/>
            </a:br>
            <a:endParaRPr/>
          </a:p>
        </p:txBody>
      </p:sp>
      <p:graphicFrame>
        <p:nvGraphicFramePr>
          <p:cNvPr id="281" name="Google Shape;281;p21"/>
          <p:cNvGraphicFramePr/>
          <p:nvPr/>
        </p:nvGraphicFramePr>
        <p:xfrm>
          <a:off x="454796" y="1615123"/>
          <a:ext cx="3000000" cy="3000000"/>
        </p:xfrm>
        <a:graphic>
          <a:graphicData uri="http://schemas.openxmlformats.org/drawingml/2006/table">
            <a:tbl>
              <a:tblPr firstRow="1">
                <a:noFill/>
                <a:tableStyleId>{CDAA95DC-A3FB-4B04-AF77-96552CE0420F}</a:tableStyleId>
              </a:tblPr>
              <a:tblGrid>
                <a:gridCol w="7527275"/>
                <a:gridCol w="2264425"/>
              </a:tblGrid>
              <a:tr h="448950">
                <a:tc>
                  <a:txBody>
                    <a:bodyPr/>
                    <a:lstStyle/>
                    <a:p>
                      <a:pPr indent="0" lvl="0" marL="0" marR="0" rtl="0" algn="l">
                        <a:lnSpc>
                          <a:spcPct val="100000"/>
                        </a:lnSpc>
                        <a:spcBef>
                          <a:spcPts val="0"/>
                        </a:spcBef>
                        <a:spcAft>
                          <a:spcPts val="0"/>
                        </a:spcAft>
                        <a:buClr>
                          <a:srgbClr val="1B4528"/>
                        </a:buClr>
                        <a:buSzPts val="1050"/>
                        <a:buFont typeface="IBM Plex Sans"/>
                        <a:buNone/>
                      </a:pPr>
                      <a:r>
                        <a:rPr b="1" lang="da-DK" sz="1050">
                          <a:solidFill>
                            <a:srgbClr val="1B4528"/>
                          </a:solidFill>
                          <a:latin typeface="IBM Plex Sans"/>
                          <a:ea typeface="IBM Plex Sans"/>
                          <a:cs typeface="IBM Plex Sans"/>
                          <a:sym typeface="IBM Plex Sans"/>
                        </a:rPr>
                        <a:t>{{company_name}}</a:t>
                      </a:r>
                      <a:r>
                        <a:rPr b="1" lang="da-DK" sz="1050">
                          <a:solidFill>
                            <a:schemeClr val="dk2"/>
                          </a:solidFill>
                        </a:rPr>
                        <a:t> har </a:t>
                      </a:r>
                      <a:r>
                        <a:rPr b="1" lang="da-DK" sz="1050">
                          <a:solidFill>
                            <a:schemeClr val="dk2"/>
                          </a:solidFill>
                          <a:latin typeface="IBM Plex Sans"/>
                          <a:ea typeface="IBM Plex Sans"/>
                          <a:cs typeface="IBM Plex Sans"/>
                          <a:sym typeface="IBM Plex Sans"/>
                        </a:rPr>
                        <a:t>en ansvarlighedspolitik </a:t>
                      </a:r>
                      <a:r>
                        <a:rPr b="1" i="1" lang="da-DK" sz="1050">
                          <a:solidFill>
                            <a:schemeClr val="dk2"/>
                          </a:solidFill>
                          <a:latin typeface="IBM Plex Sans"/>
                          <a:ea typeface="IBM Plex Sans"/>
                          <a:cs typeface="IBM Plex Sans"/>
                          <a:sym typeface="IBM Plex Sans"/>
                        </a:rPr>
                        <a:t>og/eller</a:t>
                      </a:r>
                      <a:r>
                        <a:rPr b="1" lang="da-DK" sz="1050">
                          <a:solidFill>
                            <a:schemeClr val="dk2"/>
                          </a:solidFill>
                          <a:latin typeface="IBM Plex Sans"/>
                          <a:ea typeface="IBM Plex Sans"/>
                          <a:cs typeface="IBM Plex Sans"/>
                          <a:sym typeface="IBM Plex Sans"/>
                        </a:rPr>
                        <a:t> en menneskerettighedspolitik for vores </a:t>
                      </a:r>
                      <a:r>
                        <a:rPr b="1" lang="da-DK" sz="1050" u="sng">
                          <a:solidFill>
                            <a:schemeClr val="dk2"/>
                          </a:solidFill>
                          <a:latin typeface="IBM Plex Sans"/>
                          <a:ea typeface="IBM Plex Sans"/>
                          <a:cs typeface="IBM Plex Sans"/>
                          <a:sym typeface="IBM Plex Sans"/>
                        </a:rPr>
                        <a:t>egen arbejdsstyrke</a:t>
                      </a:r>
                      <a:r>
                        <a:rPr b="0" lang="da-DK" sz="1050" u="none">
                          <a:solidFill>
                            <a:schemeClr val="dk2"/>
                          </a:solidFill>
                          <a:latin typeface="IBM Plex Sans"/>
                          <a:ea typeface="IBM Plex Sans"/>
                          <a:cs typeface="IBM Plex Sans"/>
                          <a:sym typeface="IBM Plex Sans"/>
                        </a:rPr>
                        <a:t> (pkt. 61a)</a:t>
                      </a:r>
                      <a:endParaRPr b="0" sz="1050" u="none">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050"/>
                        <a:buFont typeface="IBM Plex Sans"/>
                        <a:buNone/>
                      </a:pPr>
                      <a:r>
                        <a:rPr b="0" lang="da-DK" sz="1050">
                          <a:solidFill>
                            <a:srgbClr val="1B4528"/>
                          </a:solidFill>
                          <a:latin typeface="IBM Plex Sans"/>
                          <a:ea typeface="IBM Plex Sans"/>
                          <a:cs typeface="IBM Plex Sans"/>
                          <a:sym typeface="IBM Plex Sans"/>
                        </a:rPr>
                        <a:t>{{human_rights_policy?}}</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75">
                <a:tc gridSpan="2">
                  <a:txBody>
                    <a:bodyPr/>
                    <a:lstStyle/>
                    <a:p>
                      <a:pPr indent="0" lvl="0" marL="0" marR="0" rtl="0" algn="l">
                        <a:spcBef>
                          <a:spcPts val="0"/>
                        </a:spcBef>
                        <a:spcAft>
                          <a:spcPts val="0"/>
                        </a:spcAft>
                        <a:buNone/>
                      </a:pPr>
                      <a:r>
                        <a:rPr b="1" lang="da-DK" sz="1050">
                          <a:solidFill>
                            <a:schemeClr val="dk1"/>
                          </a:solidFill>
                          <a:latin typeface="IBM Plex Sans"/>
                          <a:ea typeface="IBM Plex Sans"/>
                          <a:cs typeface="IBM Plex Sans"/>
                          <a:sym typeface="IBM Plex Sans"/>
                        </a:rPr>
                        <a:t>Ansvarligheds- eller menneskerettighedspolitikken dækker disse emner: </a:t>
                      </a:r>
                      <a:r>
                        <a:rPr b="0" lang="da-DK" sz="1050" u="none">
                          <a:solidFill>
                            <a:schemeClr val="dk2"/>
                          </a:solidFill>
                          <a:latin typeface="IBM Plex Sans"/>
                          <a:ea typeface="IBM Plex Sans"/>
                          <a:cs typeface="IBM Plex Sans"/>
                          <a:sym typeface="IBM Plex Sans"/>
                        </a:rPr>
                        <a:t>(pkt. 61b)</a:t>
                      </a:r>
                      <a:endParaRPr b="0" sz="1050">
                        <a:solidFill>
                          <a:schemeClr val="dk1"/>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30875">
                <a:tc>
                  <a:txBody>
                    <a:bodyPr/>
                    <a:lstStyle/>
                    <a:p>
                      <a:pPr indent="0" lvl="1" marL="400950" marR="0" rtl="0" algn="l">
                        <a:spcBef>
                          <a:spcPts val="0"/>
                        </a:spcBef>
                        <a:spcAft>
                          <a:spcPts val="0"/>
                        </a:spcAft>
                        <a:buNone/>
                      </a:pPr>
                      <a:r>
                        <a:rPr b="0" lang="da-DK" sz="1050" u="none" cap="none" strike="noStrike">
                          <a:solidFill>
                            <a:schemeClr val="dk2"/>
                          </a:solidFill>
                        </a:rPr>
                        <a:t>Børnearbejde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{{child_labour_polict?}}</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75">
                <a:tc>
                  <a:txBody>
                    <a:bodyPr/>
                    <a:lstStyle/>
                    <a:p>
                      <a:pPr indent="0" lvl="1" marL="400950" marR="0" rtl="0" algn="l">
                        <a:spcBef>
                          <a:spcPts val="0"/>
                        </a:spcBef>
                        <a:spcAft>
                          <a:spcPts val="0"/>
                        </a:spcAft>
                        <a:buNone/>
                      </a:pPr>
                      <a:r>
                        <a:rPr b="0" lang="da-DK" sz="1050" u="none" cap="none" strike="noStrike">
                          <a:solidFill>
                            <a:schemeClr val="dk2"/>
                          </a:solidFill>
                        </a:rPr>
                        <a:t>Tvangsarbejde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{{forced_labour_policy?}}</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75">
                <a:tc>
                  <a:txBody>
                    <a:bodyPr/>
                    <a:lstStyle/>
                    <a:p>
                      <a:pPr indent="0" lvl="1" marL="400950" marR="0" rtl="0" algn="l">
                        <a:spcBef>
                          <a:spcPts val="0"/>
                        </a:spcBef>
                        <a:spcAft>
                          <a:spcPts val="0"/>
                        </a:spcAft>
                        <a:buNone/>
                      </a:pPr>
                      <a:r>
                        <a:rPr b="0" lang="da-DK" sz="1050" u="none" cap="none" strike="noStrike">
                          <a:solidFill>
                            <a:schemeClr val="dk2"/>
                          </a:solidFill>
                        </a:rPr>
                        <a:t>Menneskehandel</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{{human_policy?}}</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75">
                <a:tc>
                  <a:txBody>
                    <a:bodyPr/>
                    <a:lstStyle/>
                    <a:p>
                      <a:pPr indent="0" lvl="1" marL="400950" marR="0" rtl="0" algn="l">
                        <a:spcBef>
                          <a:spcPts val="0"/>
                        </a:spcBef>
                        <a:spcAft>
                          <a:spcPts val="0"/>
                        </a:spcAft>
                        <a:buNone/>
                      </a:pPr>
                      <a:r>
                        <a:rPr b="0" lang="da-DK" sz="1050" u="none" cap="none" strike="noStrike">
                          <a:solidFill>
                            <a:schemeClr val="dk2"/>
                          </a:solidFill>
                        </a:rPr>
                        <a:t>Diskrimination</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{{discrimanation_policy?}}</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75">
                <a:tc>
                  <a:txBody>
                    <a:bodyPr/>
                    <a:lstStyle/>
                    <a:p>
                      <a:pPr indent="0" lvl="1" marL="400950" marR="0" rtl="0" algn="l">
                        <a:spcBef>
                          <a:spcPts val="0"/>
                        </a:spcBef>
                        <a:spcAft>
                          <a:spcPts val="0"/>
                        </a:spcAft>
                        <a:buNone/>
                      </a:pPr>
                      <a:r>
                        <a:rPr b="0" lang="da-DK" sz="1050" u="none" cap="none" strike="noStrike">
                          <a:solidFill>
                            <a:schemeClr val="dk2"/>
                          </a:solidFill>
                        </a:rPr>
                        <a:t>Sikkerhed og forebyggelse af ulykker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{{safety_policy?}}</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75">
                <a:tc>
                  <a:txBody>
                    <a:bodyPr/>
                    <a:lstStyle/>
                    <a:p>
                      <a:pPr indent="0" lvl="1" marL="400950" marR="0" rtl="0" algn="l">
                        <a:spcBef>
                          <a:spcPts val="0"/>
                        </a:spcBef>
                        <a:spcAft>
                          <a:spcPts val="0"/>
                        </a:spcAft>
                        <a:buNone/>
                      </a:pPr>
                      <a:r>
                        <a:rPr b="0" lang="da-DK" sz="1050" u="none" cap="none" strike="noStrike">
                          <a:solidFill>
                            <a:schemeClr val="dk2"/>
                          </a:solidFill>
                        </a:rPr>
                        <a:t>Andet</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{{other_policy?}}</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75">
                <a:tc gridSpan="2">
                  <a:txBody>
                    <a:bodyPr/>
                    <a:lstStyle/>
                    <a:p>
                      <a:pPr indent="0" lvl="0" marL="0" marR="0" rtl="0" algn="l">
                        <a:spcBef>
                          <a:spcPts val="0"/>
                        </a:spcBef>
                        <a:spcAft>
                          <a:spcPts val="0"/>
                        </a:spcAft>
                        <a:buNone/>
                      </a:pPr>
                      <a:r>
                        <a:rPr b="1" lang="da-DK" sz="1050">
                          <a:solidFill>
                            <a:schemeClr val="dk2"/>
                          </a:solidFill>
                        </a:rPr>
                        <a:t>Hvis ja til ”Andet”, specificer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731150">
                <a:tc gridSpan="2">
                  <a:txBody>
                    <a:bodyPr/>
                    <a:lstStyle/>
                    <a:p>
                      <a:pPr indent="0" lvl="0" marL="0" marR="0" rtl="0" algn="l">
                        <a:spcBef>
                          <a:spcPts val="0"/>
                        </a:spcBef>
                        <a:spcAft>
                          <a:spcPts val="0"/>
                        </a:spcAft>
                        <a:buNone/>
                      </a:pPr>
                      <a:r>
                        <a:t/>
                      </a:r>
                      <a:endParaRPr b="0" sz="1050">
                        <a:solidFill>
                          <a:schemeClr val="dk2"/>
                        </a:solidFill>
                      </a:endParaRPr>
                    </a:p>
                    <a:p>
                      <a:pPr indent="0" lvl="0" marL="0" marR="0" rtl="0" algn="r">
                        <a:lnSpc>
                          <a:spcPct val="100000"/>
                        </a:lnSpc>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{{C6_other_description}}</a:t>
                      </a:r>
                      <a:endParaRPr b="0" i="0" sz="1050" u="none" strike="noStrike">
                        <a:solidFill>
                          <a:srgbClr val="000000"/>
                        </a:solidFill>
                        <a:latin typeface="Inter"/>
                        <a:ea typeface="Inter"/>
                        <a:cs typeface="Inter"/>
                        <a:sym typeface="Inter"/>
                      </a:endParaRPr>
                    </a:p>
                    <a:p>
                      <a:pPr indent="0" lvl="0" marL="0" marR="0" rtl="0" algn="l">
                        <a:spcBef>
                          <a:spcPts val="0"/>
                        </a:spcBef>
                        <a:spcAft>
                          <a:spcPts val="0"/>
                        </a:spcAft>
                        <a:buNone/>
                      </a:pPr>
                      <a:r>
                        <a:t/>
                      </a:r>
                      <a:endParaRPr b="0" sz="1050">
                        <a:solidFill>
                          <a:schemeClr val="dk2"/>
                        </a:solidFill>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bl>
          </a:graphicData>
        </a:graphic>
      </p:graphicFrame>
      <p:graphicFrame>
        <p:nvGraphicFramePr>
          <p:cNvPr id="282" name="Google Shape;282;p21"/>
          <p:cNvGraphicFramePr/>
          <p:nvPr/>
        </p:nvGraphicFramePr>
        <p:xfrm>
          <a:off x="445499" y="4809230"/>
          <a:ext cx="3000000" cy="3000000"/>
        </p:xfrm>
        <a:graphic>
          <a:graphicData uri="http://schemas.openxmlformats.org/drawingml/2006/table">
            <a:tbl>
              <a:tblPr firstRow="1">
                <a:noFill/>
                <a:tableStyleId>{CDAA95DC-A3FB-4B04-AF77-96552CE0420F}</a:tableStyleId>
              </a:tblPr>
              <a:tblGrid>
                <a:gridCol w="7538125"/>
                <a:gridCol w="2267700"/>
              </a:tblGrid>
              <a:tr h="759525">
                <a:tc>
                  <a:txBody>
                    <a:bodyPr/>
                    <a:lstStyle/>
                    <a:p>
                      <a:pPr indent="0" lvl="0" marL="0" marR="0" rtl="0" algn="l">
                        <a:spcBef>
                          <a:spcPts val="0"/>
                        </a:spcBef>
                        <a:spcAft>
                          <a:spcPts val="0"/>
                        </a:spcAft>
                        <a:buNone/>
                      </a:pPr>
                      <a:r>
                        <a:rPr b="1" lang="da-DK" sz="1050">
                          <a:solidFill>
                            <a:schemeClr val="dk2"/>
                          </a:solidFill>
                        </a:rPr>
                        <a:t>Virksomheden har en klagemekanisme for vores </a:t>
                      </a:r>
                      <a:r>
                        <a:rPr b="1" lang="da-DK" sz="1050" u="sng">
                          <a:solidFill>
                            <a:schemeClr val="dk2"/>
                          </a:solidFill>
                        </a:rPr>
                        <a:t>egen arbejdsstyrke</a:t>
                      </a:r>
                      <a:r>
                        <a:rPr b="0" lang="da-DK" sz="1050" u="sng">
                          <a:solidFill>
                            <a:schemeClr val="dk2"/>
                          </a:solidFill>
                        </a:rPr>
                        <a:t> </a:t>
                      </a:r>
                      <a:r>
                        <a:rPr b="0" lang="da-DK" sz="1050">
                          <a:solidFill>
                            <a:schemeClr val="dk2"/>
                          </a:solidFill>
                        </a:rPr>
                        <a:t>(pkt. 61c)</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050"/>
                        <a:buFont typeface="IBM Plex Sans"/>
                        <a:buNone/>
                      </a:pPr>
                      <a:r>
                        <a:rPr b="0" lang="da-DK" sz="1050">
                          <a:solidFill>
                            <a:srgbClr val="1B4528"/>
                          </a:solidFill>
                          <a:latin typeface="IBM Plex Sans"/>
                          <a:ea typeface="IBM Plex Sans"/>
                          <a:cs typeface="IBM Plex Sans"/>
                          <a:sym typeface="IBM Plex Sans"/>
                        </a:rPr>
                        <a:t>{{whistleblower?}}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83" name="Google Shape;283;p21"/>
          <p:cNvSpPr txBox="1"/>
          <p:nvPr/>
        </p:nvSpPr>
        <p:spPr>
          <a:xfrm>
            <a:off x="452474" y="891000"/>
            <a:ext cx="9794026" cy="404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a-DK" sz="1050" u="none" strike="noStrike">
                <a:solidFill>
                  <a:schemeClr val="dk2"/>
                </a:solidFill>
                <a:latin typeface="Inter"/>
                <a:ea typeface="Inter"/>
                <a:cs typeface="Inter"/>
                <a:sym typeface="Inter"/>
              </a:rPr>
              <a:t>Nedenfor er </a:t>
            </a:r>
            <a:r>
              <a:rPr lang="da-DK" sz="1050">
                <a:solidFill>
                  <a:schemeClr val="dk2"/>
                </a:solidFill>
                <a:latin typeface="Inter"/>
                <a:ea typeface="Inter"/>
                <a:cs typeface="Inter"/>
                <a:sym typeface="Inter"/>
              </a:rPr>
              <a:t>angivet information om </a:t>
            </a:r>
            <a:r>
              <a:rPr b="0" i="0" lang="da-DK" sz="1050" u="none" strike="noStrike">
                <a:solidFill>
                  <a:schemeClr val="dk2"/>
                </a:solidFill>
                <a:latin typeface="Inter"/>
                <a:ea typeface="Inter"/>
                <a:cs typeface="Inter"/>
                <a:sym typeface="Inter"/>
              </a:rPr>
              <a:t>virksomhedens ansvarlighedspolitik og/eller menneskerettighedspolitik som dækker egen arbejdsstyrk</a:t>
            </a:r>
            <a:r>
              <a:rPr lang="da-DK" sz="1050">
                <a:solidFill>
                  <a:schemeClr val="dk2"/>
                </a:solidFill>
                <a:latin typeface="Inter"/>
                <a:ea typeface="Inter"/>
                <a:cs typeface="Inter"/>
                <a:sym typeface="Inter"/>
              </a:rPr>
              <a:t>e. Ligeledes om virksomheden har en klagemekanisme, der gør det muligt for medarbejdere at rapportere forhold relateret til menneskerettighedskrænkelser, diskrimination, chikane eller andre kritisable forhold.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2"/>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575"/>
              <a:buFont typeface="IBM Plex Sans"/>
              <a:buNone/>
            </a:pPr>
            <a:r>
              <a:rPr b="1" i="0" lang="da-DK" sz="1575" u="none" strike="noStrike">
                <a:solidFill>
                  <a:srgbClr val="1B4528"/>
                </a:solidFill>
                <a:latin typeface="IBM Plex Sans"/>
                <a:ea typeface="IBM Plex Sans"/>
                <a:cs typeface="IBM Plex Sans"/>
                <a:sym typeface="IBM Plex Sans"/>
              </a:rPr>
              <a:t>Alvorlige negative menneskerettighedshændelser (C7</a:t>
            </a:r>
            <a:r>
              <a:rPr lang="da-DK"/>
              <a:t>) – Egen arbejdsstyrke</a:t>
            </a:r>
            <a:endParaRPr/>
          </a:p>
        </p:txBody>
      </p:sp>
      <p:sp>
        <p:nvSpPr>
          <p:cNvPr id="289" name="Google Shape;289;p2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290" name="Google Shape;290;p2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r>
              <a:t/>
            </a:r>
            <a:endParaRPr/>
          </a:p>
        </p:txBody>
      </p:sp>
      <p:graphicFrame>
        <p:nvGraphicFramePr>
          <p:cNvPr id="291" name="Google Shape;291;p22"/>
          <p:cNvGraphicFramePr/>
          <p:nvPr/>
        </p:nvGraphicFramePr>
        <p:xfrm>
          <a:off x="454794" y="1470645"/>
          <a:ext cx="3000000" cy="3000000"/>
        </p:xfrm>
        <a:graphic>
          <a:graphicData uri="http://schemas.openxmlformats.org/drawingml/2006/table">
            <a:tbl>
              <a:tblPr firstRow="1">
                <a:noFill/>
                <a:tableStyleId>{CDAA95DC-A3FB-4B04-AF77-96552CE0420F}</a:tableStyleId>
              </a:tblPr>
              <a:tblGrid>
                <a:gridCol w="3436675"/>
                <a:gridCol w="6355050"/>
              </a:tblGrid>
              <a:tr h="286375">
                <a:tc grid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Er der for virksomhedens </a:t>
                      </a:r>
                      <a:r>
                        <a:rPr b="1" lang="da-DK" sz="1050" u="sng">
                          <a:solidFill>
                            <a:schemeClr val="dk2"/>
                          </a:solidFill>
                          <a:latin typeface="IBM Plex Sans"/>
                          <a:ea typeface="IBM Plex Sans"/>
                          <a:cs typeface="IBM Plex Sans"/>
                          <a:sym typeface="IBM Plex Sans"/>
                        </a:rPr>
                        <a:t>egen arbejdsstyrke</a:t>
                      </a:r>
                      <a:r>
                        <a:rPr b="1" lang="da-DK" sz="1050" u="none">
                          <a:solidFill>
                            <a:schemeClr val="dk2"/>
                          </a:solidFill>
                          <a:latin typeface="IBM Plex Sans"/>
                          <a:ea typeface="IBM Plex Sans"/>
                          <a:cs typeface="IBM Plex Sans"/>
                          <a:sym typeface="IBM Plex Sans"/>
                        </a:rPr>
                        <a:t> </a:t>
                      </a:r>
                      <a:r>
                        <a:rPr b="1" lang="da-DK" sz="1050">
                          <a:solidFill>
                            <a:schemeClr val="dk2"/>
                          </a:solidFill>
                          <a:latin typeface="IBM Plex Sans"/>
                          <a:ea typeface="IBM Plex Sans"/>
                          <a:cs typeface="IBM Plex Sans"/>
                          <a:sym typeface="IBM Plex Sans"/>
                        </a:rPr>
                        <a:t>bekræftede negative hændelser, der relaterer sig til nedenstående </a:t>
                      </a:r>
                      <a:r>
                        <a:rPr b="0" lang="da-DK" sz="1050">
                          <a:solidFill>
                            <a:schemeClr val="dk2"/>
                          </a:solidFill>
                          <a:latin typeface="IBM Plex Sans"/>
                          <a:ea typeface="IBM Plex Sans"/>
                          <a:cs typeface="IBM Plex Sans"/>
                          <a:sym typeface="IBM Plex Sans"/>
                        </a:rPr>
                        <a:t>(pkt. 62a-b)</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132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Børnearbejde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{{child_labour_yes?}}</a:t>
                      </a:r>
                      <a:endParaRPr sz="1575"/>
                    </a:p>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{{child_labour_desc}}</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Tvangsarbejde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{{forced_labour_yes?}}</a:t>
                      </a:r>
                      <a:endParaRPr sz="1575"/>
                    </a:p>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{{forced_labour_desc}}</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Menneskehandel</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{{human_trafficking_yes?}}</a:t>
                      </a:r>
                      <a:endParaRPr sz="1575"/>
                    </a:p>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{{human_trafficking_desc}}</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Diskrimination</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{{discrimination_yes?}}</a:t>
                      </a:r>
                      <a:endParaRPr sz="1575"/>
                    </a:p>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rPr>
                        <a:t>{{discrimination_desc}}</a:t>
                      </a:r>
                      <a:endParaRPr sz="1575"/>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2000">
                <a:tc>
                  <a:txBody>
                    <a:bodyPr/>
                    <a:lstStyle/>
                    <a:p>
                      <a:pPr indent="0" lvl="0" marL="0" marR="0" rtl="0" algn="l">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Andet </a:t>
                      </a:r>
                      <a:endParaRPr b="1" sz="1575">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{{other_yes?}}</a:t>
                      </a:r>
                      <a:endParaRPr b="0" i="0" sz="1050" u="none" strike="noStrike">
                        <a:solidFill>
                          <a:srgbClr val="000000"/>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1B4528"/>
                        </a:buClr>
                        <a:buSzPts val="1050"/>
                        <a:buFont typeface="IBM Plex Sans"/>
                        <a:buNone/>
                      </a:pPr>
                      <a:r>
                        <a:rPr b="0" i="0" lang="da-DK" sz="1050" u="none" strike="noStrike">
                          <a:solidFill>
                            <a:srgbClr val="1B4528"/>
                          </a:solidFill>
                          <a:latin typeface="IBM Plex Sans"/>
                          <a:ea typeface="IBM Plex Sans"/>
                          <a:cs typeface="IBM Plex Sans"/>
                          <a:sym typeface="IBM Plex Sans"/>
                        </a:rPr>
                        <a:t>{{other_desc}}</a:t>
                      </a:r>
                      <a:endParaRPr b="0" i="0" sz="1050" u="none" strike="noStrike">
                        <a:solidFill>
                          <a:srgbClr val="000000"/>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92" name="Google Shape;292;p22"/>
          <p:cNvSpPr txBox="1"/>
          <p:nvPr/>
        </p:nvSpPr>
        <p:spPr>
          <a:xfrm>
            <a:off x="445499" y="891000"/>
            <a:ext cx="9791703" cy="728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b="0" i="0" lang="da-DK" sz="1050" u="none" strike="noStrike">
                <a:solidFill>
                  <a:schemeClr val="dk2"/>
                </a:solidFill>
                <a:latin typeface="Inter"/>
                <a:ea typeface="Inter"/>
                <a:cs typeface="Inter"/>
                <a:sym typeface="Inter"/>
              </a:rPr>
              <a:t>De følgende oplysningskrav angiver, virksomhedens afrapportering på negative hændelser som relaterer sig til børnearbejde, tvangsarbejde, menneskehandel og diskrimination. Virksomhed angiver i dette afsnit om ovenstående relateret til egen arbejdsstyrke.</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050"/>
              <a:buFont typeface="Inter"/>
              <a:buNone/>
            </a:pPr>
            <a:br>
              <a:rPr lang="da-DK"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3"/>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575"/>
              <a:buFont typeface="IBM Plex Sans"/>
              <a:buNone/>
            </a:pPr>
            <a:r>
              <a:rPr b="1" i="0" lang="da-DK" sz="1575" u="none" strike="noStrike">
                <a:solidFill>
                  <a:srgbClr val="1B4528"/>
                </a:solidFill>
                <a:latin typeface="IBM Plex Sans"/>
                <a:ea typeface="IBM Plex Sans"/>
                <a:cs typeface="IBM Plex Sans"/>
                <a:sym typeface="IBM Plex Sans"/>
              </a:rPr>
              <a:t>Alvorlige negative menneskerettighedshændelser (C7</a:t>
            </a:r>
            <a:r>
              <a:rPr lang="da-DK"/>
              <a:t>) – I værdikæden</a:t>
            </a:r>
            <a:endParaRPr/>
          </a:p>
        </p:txBody>
      </p:sp>
      <p:sp>
        <p:nvSpPr>
          <p:cNvPr id="299" name="Google Shape;299;p2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300" name="Google Shape;300;p23"/>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r>
              <a:t/>
            </a:r>
            <a:endParaRPr/>
          </a:p>
        </p:txBody>
      </p:sp>
      <p:sp>
        <p:nvSpPr>
          <p:cNvPr id="301" name="Google Shape;301;p23"/>
          <p:cNvSpPr/>
          <p:nvPr/>
        </p:nvSpPr>
        <p:spPr>
          <a:xfrm>
            <a:off x="527761" y="4029576"/>
            <a:ext cx="181932" cy="203984"/>
          </a:xfrm>
          <a:prstGeom prst="rect">
            <a:avLst/>
          </a:prstGeom>
          <a:noFill/>
          <a:ln>
            <a:noFill/>
          </a:ln>
        </p:spPr>
      </p:sp>
      <p:graphicFrame>
        <p:nvGraphicFramePr>
          <p:cNvPr id="302" name="Google Shape;302;p23"/>
          <p:cNvGraphicFramePr/>
          <p:nvPr/>
        </p:nvGraphicFramePr>
        <p:xfrm>
          <a:off x="454795" y="1436935"/>
          <a:ext cx="3000000" cy="3000000"/>
        </p:xfrm>
        <a:graphic>
          <a:graphicData uri="http://schemas.openxmlformats.org/drawingml/2006/table">
            <a:tbl>
              <a:tblPr firstRow="1">
                <a:noFill/>
                <a:tableStyleId>{CDAA95DC-A3FB-4B04-AF77-96552CE0420F}</a:tableStyleId>
              </a:tblPr>
              <a:tblGrid>
                <a:gridCol w="2160125"/>
                <a:gridCol w="7631575"/>
              </a:tblGrid>
              <a:tr h="265175">
                <a:tc grid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Er virksomheden bekendt med bekræftede negative menneskerettighedshændelser i </a:t>
                      </a:r>
                      <a:r>
                        <a:rPr b="1" lang="da-DK" sz="1050">
                          <a:solidFill>
                            <a:srgbClr val="1B4528"/>
                          </a:solidFill>
                          <a:latin typeface="IBM Plex Sans"/>
                          <a:ea typeface="IBM Plex Sans"/>
                          <a:cs typeface="IBM Plex Sans"/>
                          <a:sym typeface="IBM Plex Sans"/>
                        </a:rPr>
                        <a:t>{{company_name}}’s</a:t>
                      </a:r>
                      <a:r>
                        <a:rPr b="1" lang="da-DK" sz="1050">
                          <a:solidFill>
                            <a:schemeClr val="dk2"/>
                          </a:solidFill>
                          <a:latin typeface="IBM Plex Sans"/>
                          <a:ea typeface="IBM Plex Sans"/>
                          <a:cs typeface="IBM Plex Sans"/>
                          <a:sym typeface="IBM Plex Sans"/>
                        </a:rPr>
                        <a:t> værdikæde </a:t>
                      </a:r>
                      <a:r>
                        <a:rPr b="0" lang="da-DK" sz="1050">
                          <a:solidFill>
                            <a:schemeClr val="dk2"/>
                          </a:solidFill>
                          <a:latin typeface="IBM Plex Sans"/>
                          <a:ea typeface="IBM Plex Sans"/>
                          <a:cs typeface="IBM Plex Sans"/>
                          <a:sym typeface="IBM Plex Sans"/>
                        </a:rPr>
                        <a:t>(pkt. 62c)</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45637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Arbejdstagere i værdikæden</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{{incidents_workers_value_chain}}</a:t>
                      </a:r>
                      <a:endParaRPr sz="1050">
                        <a:solidFill>
                          <a:srgbClr val="1B4528"/>
                        </a:solidFill>
                        <a:latin typeface="IBM Plex Sans"/>
                        <a:ea typeface="IBM Plex Sans"/>
                        <a:cs typeface="IBM Plex Sans"/>
                        <a:sym typeface="IBM Plex Sans"/>
                      </a:endParaRPr>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637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Berørte samfund</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{{incidents_affected_communities}}</a:t>
                      </a:r>
                      <a:endParaRPr sz="1050">
                        <a:solidFill>
                          <a:srgbClr val="1B4528"/>
                        </a:solidFill>
                        <a:latin typeface="IBM Plex Sans"/>
                        <a:ea typeface="IBM Plex Sans"/>
                        <a:cs typeface="IBM Plex Sans"/>
                        <a:sym typeface="IBM Plex Sans"/>
                      </a:endParaRPr>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637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Forbrugere og slutbrugere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{{incidents_consumers}}</a:t>
                      </a:r>
                      <a:endParaRPr b="0"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03" name="Google Shape;303;p23"/>
          <p:cNvSpPr txBox="1"/>
          <p:nvPr/>
        </p:nvSpPr>
        <p:spPr>
          <a:xfrm>
            <a:off x="452474" y="891000"/>
            <a:ext cx="9794026" cy="2429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a-DK" sz="1050" u="none" strike="noStrike">
                <a:solidFill>
                  <a:schemeClr val="dk2"/>
                </a:solidFill>
                <a:latin typeface="Inter"/>
                <a:ea typeface="Inter"/>
                <a:cs typeface="Inter"/>
                <a:sym typeface="Inter"/>
              </a:rPr>
              <a:t>Nedenfor er </a:t>
            </a:r>
            <a:r>
              <a:rPr lang="da-DK" sz="1050">
                <a:solidFill>
                  <a:schemeClr val="dk2"/>
                </a:solidFill>
                <a:latin typeface="Inter"/>
                <a:ea typeface="Inter"/>
                <a:cs typeface="Inter"/>
                <a:sym typeface="Inter"/>
              </a:rPr>
              <a:t>angivet information om </a:t>
            </a:r>
            <a:r>
              <a:rPr b="0" i="0" lang="da-DK" sz="1050" u="none" strike="noStrike">
                <a:solidFill>
                  <a:schemeClr val="dk2"/>
                </a:solidFill>
                <a:latin typeface="Inter"/>
                <a:ea typeface="Inter"/>
                <a:cs typeface="Inter"/>
                <a:sym typeface="Inter"/>
              </a:rPr>
              <a:t>virksomhedens kendskab til bekræftede negative menneskerettighedshændelser i virksomhedens værdikæde.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4"/>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575"/>
              <a:buFont typeface="IBM Plex Sans"/>
              <a:buNone/>
            </a:pPr>
            <a:r>
              <a:rPr b="1" i="0" lang="da-DK" sz="1575" u="none" strike="noStrike">
                <a:solidFill>
                  <a:srgbClr val="1B4528"/>
                </a:solidFill>
              </a:rPr>
              <a:t>Indtægter fra bestemte aktiviteter (C8)</a:t>
            </a:r>
            <a:endParaRPr/>
          </a:p>
        </p:txBody>
      </p:sp>
      <p:sp>
        <p:nvSpPr>
          <p:cNvPr id="309" name="Google Shape;309;p2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
        <p:nvSpPr>
          <p:cNvPr id="310" name="Google Shape;310;p2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a-DK"/>
              <a:t>{{company_name}}</a:t>
            </a:r>
            <a:endParaRPr b="0"/>
          </a:p>
          <a:p>
            <a:pPr indent="0" lvl="0" marL="0" rtl="0" algn="r">
              <a:spcBef>
                <a:spcPts val="0"/>
              </a:spcBef>
              <a:spcAft>
                <a:spcPts val="0"/>
              </a:spcAft>
              <a:buNone/>
            </a:pPr>
            <a:r>
              <a:t/>
            </a:r>
            <a:endParaRPr/>
          </a:p>
        </p:txBody>
      </p:sp>
      <p:graphicFrame>
        <p:nvGraphicFramePr>
          <p:cNvPr id="311" name="Google Shape;311;p24"/>
          <p:cNvGraphicFramePr/>
          <p:nvPr/>
        </p:nvGraphicFramePr>
        <p:xfrm>
          <a:off x="454794" y="1250404"/>
          <a:ext cx="3000000" cy="3000000"/>
        </p:xfrm>
        <a:graphic>
          <a:graphicData uri="http://schemas.openxmlformats.org/drawingml/2006/table">
            <a:tbl>
              <a:tblPr firstRow="1">
                <a:noFill/>
                <a:tableStyleId>{CDAA95DC-A3FB-4B04-AF77-96552CE0420F}</a:tableStyleId>
              </a:tblPr>
              <a:tblGrid>
                <a:gridCol w="6711125"/>
                <a:gridCol w="3080575"/>
              </a:tblGrid>
              <a:tr h="301525">
                <a:tc gridSpan="2">
                  <a:txBody>
                    <a:bodyPr/>
                    <a:lstStyle/>
                    <a:p>
                      <a:pPr indent="0" lvl="0" marL="0" marR="0" rtl="0" algn="ctr">
                        <a:lnSpc>
                          <a:spcPct val="100000"/>
                        </a:lnSpc>
                        <a:spcBef>
                          <a:spcPts val="0"/>
                        </a:spcBef>
                        <a:spcAft>
                          <a:spcPts val="0"/>
                        </a:spcAft>
                        <a:buClr>
                          <a:schemeClr val="dk2"/>
                        </a:buClr>
                        <a:buSzPts val="1050"/>
                        <a:buFont typeface="IBM Plex Sans"/>
                        <a:buNone/>
                      </a:pPr>
                      <a:r>
                        <a:rPr b="1" lang="da-DK" sz="1050">
                          <a:solidFill>
                            <a:schemeClr val="dk2"/>
                          </a:solidFill>
                          <a:latin typeface="IBM Plex Sans"/>
                          <a:ea typeface="IBM Plex Sans"/>
                          <a:cs typeface="IBM Plex Sans"/>
                          <a:sym typeface="IBM Plex Sans"/>
                        </a:rPr>
                        <a:t>Indtægter fra udvalgte sektorer</a:t>
                      </a:r>
                      <a:r>
                        <a:rPr b="0" lang="da-DK" sz="1050">
                          <a:solidFill>
                            <a:schemeClr val="dk2"/>
                          </a:solidFill>
                          <a:latin typeface="IBM Plex Sans"/>
                          <a:ea typeface="IBM Plex Sans"/>
                          <a:cs typeface="IBM Plex Sans"/>
                          <a:sym typeface="IBM Plex Sans"/>
                        </a:rPr>
                        <a:t> (Pkt. 63 a-d)</a:t>
                      </a:r>
                      <a:endParaRPr/>
                    </a:p>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01525">
                <a:tc>
                  <a:txBody>
                    <a:bodyPr/>
                    <a:lstStyle/>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050"/>
                        <a:buFont typeface="IBM Plex Sans"/>
                        <a:buNone/>
                      </a:pPr>
                      <a:r>
                        <a:rPr b="1" i="0" lang="da-DK" sz="1050" u="none" strike="noStrike">
                          <a:solidFill>
                            <a:srgbClr val="1B4528"/>
                          </a:solidFill>
                          <a:latin typeface="IBM Plex Sans"/>
                          <a:ea typeface="IBM Plex Sans"/>
                          <a:cs typeface="IBM Plex Sans"/>
                          <a:sym typeface="IBM Plex Sans"/>
                        </a:rPr>
                        <a:t>Indtægt i år </a:t>
                      </a:r>
                      <a:r>
                        <a:rPr b="1" i="0" lang="da-DK" sz="1050" u="none" strike="noStrike">
                          <a:solidFill>
                            <a:srgbClr val="1B4528"/>
                          </a:solidFill>
                          <a:latin typeface="Inter"/>
                          <a:ea typeface="Inter"/>
                          <a:cs typeface="Inter"/>
                          <a:sym typeface="Inter"/>
                        </a:rPr>
                        <a:t>{{Insert year}}</a:t>
                      </a:r>
                      <a:endParaRPr sz="1050"/>
                    </a:p>
                  </a:txBody>
                  <a:tcPr marT="22275" marB="22275" marR="33400" marL="33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15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Kontroversielle våben (personelminer, klyngebomber, kemiske våben og biologiske våben)</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{{revenue_weapons}}</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Dyrkning og/eller produktion af tobak</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{{revenue_cultivation}}</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Fossile brændstoffer: Kul</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{{revenue_coal}}</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Fossile brændstoffer: Olie</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{{revenue_oil}}</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Fossile brændstoffer: Gas/Naturgas</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{{revenue_gas}}</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5">
                <a:tc>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Kemikalieproduktion til produktion af pesticider og andre agrokemiske produkter</a:t>
                      </a:r>
                      <a:endParaRPr/>
                    </a:p>
                  </a:txBody>
                  <a:tcPr marT="31575" marB="31575"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050"/>
                        <a:buFont typeface="Inter"/>
                        <a:buNone/>
                      </a:pPr>
                      <a:r>
                        <a:rPr b="0" i="0" lang="da-DK" sz="1050" u="none" strike="noStrike">
                          <a:solidFill>
                            <a:srgbClr val="1B4528"/>
                          </a:solidFill>
                          <a:latin typeface="Inter"/>
                          <a:ea typeface="Inter"/>
                          <a:cs typeface="Inter"/>
                          <a:sym typeface="Inter"/>
                        </a:rPr>
                        <a:t>{{revenue_chemichal}}</a:t>
                      </a:r>
                      <a:endParaRPr sz="1050"/>
                    </a:p>
                  </a:txBody>
                  <a:tcPr marT="16700" marB="16700"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12" name="Google Shape;312;p24"/>
          <p:cNvSpPr txBox="1"/>
          <p:nvPr/>
        </p:nvSpPr>
        <p:spPr>
          <a:xfrm>
            <a:off x="454794" y="891000"/>
            <a:ext cx="9791705" cy="2429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lang="da-DK" sz="1050">
                <a:solidFill>
                  <a:schemeClr val="dk2"/>
                </a:solidFill>
                <a:latin typeface="Inter"/>
                <a:ea typeface="Inter"/>
                <a:cs typeface="Inter"/>
                <a:sym typeface="Inter"/>
              </a:rPr>
              <a:t>V</a:t>
            </a:r>
            <a:r>
              <a:rPr b="0" i="0" lang="da-DK" sz="1050" u="none" strike="noStrike">
                <a:solidFill>
                  <a:schemeClr val="dk2"/>
                </a:solidFill>
                <a:latin typeface="Inter"/>
                <a:ea typeface="Inter"/>
                <a:cs typeface="Inter"/>
                <a:sym typeface="Inter"/>
              </a:rPr>
              <a:t>irksomheden har angivet indtægter fra udvalgte sektorer og angivet beløbsstørrelser fra disse aktiviteter.</a:t>
            </a:r>
            <a:endParaRPr sz="1800">
              <a:solidFill>
                <a:schemeClr val="dk2"/>
              </a:solidFill>
              <a:latin typeface="IBM Plex Sans"/>
              <a:ea typeface="IBM Plex Sans"/>
              <a:cs typeface="IBM Plex Sans"/>
              <a:sym typeface="IBM Plex Sans"/>
            </a:endParaRPr>
          </a:p>
        </p:txBody>
      </p:sp>
      <p:sp>
        <p:nvSpPr>
          <p:cNvPr id="313" name="Google Shape;313;p24"/>
          <p:cNvSpPr txBox="1"/>
          <p:nvPr/>
        </p:nvSpPr>
        <p:spPr>
          <a:xfrm>
            <a:off x="454796" y="4164232"/>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B4528"/>
              </a:buClr>
              <a:buSzPts val="1575"/>
              <a:buFont typeface="IBM Plex Sans"/>
              <a:buNone/>
            </a:pPr>
            <a:r>
              <a:rPr b="1" lang="da-DK" sz="1575">
                <a:solidFill>
                  <a:srgbClr val="1B4528"/>
                </a:solidFill>
                <a:latin typeface="IBM Plex Sans"/>
                <a:ea typeface="IBM Plex Sans"/>
                <a:cs typeface="IBM Plex Sans"/>
                <a:sym typeface="IBM Plex Sans"/>
              </a:rPr>
              <a:t>Kønsfordeling i øverste ledelsesorgan (C9)</a:t>
            </a:r>
            <a:endParaRPr b="1" sz="1575">
              <a:solidFill>
                <a:schemeClr val="dk2"/>
              </a:solidFill>
              <a:latin typeface="IBM Plex Sans"/>
              <a:ea typeface="IBM Plex Sans"/>
              <a:cs typeface="IBM Plex Sans"/>
              <a:sym typeface="IBM Plex Sans"/>
            </a:endParaRPr>
          </a:p>
        </p:txBody>
      </p:sp>
      <p:graphicFrame>
        <p:nvGraphicFramePr>
          <p:cNvPr id="314" name="Google Shape;314;p24"/>
          <p:cNvGraphicFramePr/>
          <p:nvPr/>
        </p:nvGraphicFramePr>
        <p:xfrm>
          <a:off x="445498" y="4923932"/>
          <a:ext cx="3000000" cy="3000000"/>
        </p:xfrm>
        <a:graphic>
          <a:graphicData uri="http://schemas.openxmlformats.org/drawingml/2006/table">
            <a:tbl>
              <a:tblPr firstRow="1">
                <a:noFill/>
                <a:tableStyleId>{CDAA95DC-A3FB-4B04-AF77-96552CE0420F}</a:tableStyleId>
              </a:tblPr>
              <a:tblGrid>
                <a:gridCol w="6756475"/>
                <a:gridCol w="3035225"/>
              </a:tblGrid>
              <a:tr h="252575">
                <a:tc rowSpan="2">
                  <a:txBody>
                    <a:bodyPr/>
                    <a:lstStyle/>
                    <a:p>
                      <a:pPr indent="0" lvl="0" marL="0" marR="0" rtl="0" algn="l">
                        <a:spcBef>
                          <a:spcPts val="0"/>
                        </a:spcBef>
                        <a:spcAft>
                          <a:spcPts val="0"/>
                        </a:spcAft>
                        <a:buNone/>
                      </a:pPr>
                      <a:r>
                        <a:rPr b="1" lang="da-DK" sz="1050">
                          <a:solidFill>
                            <a:schemeClr val="dk2"/>
                          </a:solidFill>
                          <a:latin typeface="IBM Plex Sans"/>
                          <a:ea typeface="IBM Plex Sans"/>
                          <a:cs typeface="IBM Plex Sans"/>
                          <a:sym typeface="IBM Plex Sans"/>
                        </a:rPr>
                        <a:t>Forholdet mellem kvinder og mænd i det øverste ledelsesorgan (</a:t>
                      </a:r>
                      <a:r>
                        <a:rPr b="0" lang="da-DK" sz="1050">
                          <a:solidFill>
                            <a:schemeClr val="dk2"/>
                          </a:solidFill>
                          <a:latin typeface="IBM Plex Sans"/>
                          <a:ea typeface="IBM Plex Sans"/>
                          <a:cs typeface="IBM Plex Sans"/>
                          <a:sym typeface="IBM Plex Sans"/>
                        </a:rPr>
                        <a:t>pkt. 64</a:t>
                      </a:r>
                      <a:r>
                        <a:rPr b="1" lang="da-DK" sz="1050">
                          <a:solidFill>
                            <a:schemeClr val="dk2"/>
                          </a:solidFill>
                          <a:latin typeface="IBM Plex Sans"/>
                          <a:ea typeface="IBM Plex Sans"/>
                          <a:cs typeface="IBM Plex Sans"/>
                          <a:sym typeface="IBM Plex Sans"/>
                        </a:rPr>
                        <a:t>)</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a-DK" sz="1050">
                          <a:solidFill>
                            <a:schemeClr val="dk2"/>
                          </a:solidFill>
                        </a:rPr>
                        <a:t>År </a:t>
                      </a:r>
                      <a:r>
                        <a:rPr b="1" i="0" lang="da-DK" sz="1050" u="none" strike="noStrike">
                          <a:solidFill>
                            <a:srgbClr val="1B4528"/>
                          </a:solidFill>
                          <a:latin typeface="Inter"/>
                          <a:ea typeface="Inter"/>
                          <a:cs typeface="Inter"/>
                          <a:sym typeface="Inter"/>
                        </a:rPr>
                        <a:t>{{Insert year}}</a:t>
                      </a:r>
                      <a:endParaRPr b="1" sz="1050">
                        <a:solidFill>
                          <a:schemeClr val="dk2"/>
                        </a:solidFill>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75">
                <a:tc vMerge="1"/>
                <a:tc>
                  <a:txBody>
                    <a:bodyPr/>
                    <a:lstStyle/>
                    <a:p>
                      <a:pPr indent="0" lvl="0" marL="0" marR="0" rtl="0" algn="r">
                        <a:spcBef>
                          <a:spcPts val="0"/>
                        </a:spcBef>
                        <a:spcAft>
                          <a:spcPts val="0"/>
                        </a:spcAft>
                        <a:buNone/>
                      </a:pPr>
                      <a:r>
                        <a:rPr b="0" lang="da-DK" sz="1050">
                          <a:solidFill>
                            <a:srgbClr val="1B4528"/>
                          </a:solidFill>
                        </a:rPr>
                        <a:t>{{</a:t>
                      </a:r>
                      <a:r>
                        <a:rPr b="0" i="0" lang="da-DK" sz="1050" u="none" strike="noStrike">
                          <a:solidFill>
                            <a:srgbClr val="1B4528"/>
                          </a:solidFill>
                          <a:latin typeface="IBM Plex Sans"/>
                          <a:ea typeface="IBM Plex Sans"/>
                          <a:cs typeface="IBM Plex Sans"/>
                          <a:sym typeface="IBM Plex Sans"/>
                        </a:rPr>
                        <a:t>gender_supreme_body</a:t>
                      </a:r>
                      <a:r>
                        <a:rPr b="0" lang="da-DK" sz="1050">
                          <a:solidFill>
                            <a:srgbClr val="1B4528"/>
                          </a:solidFill>
                        </a:rPr>
                        <a:t>}}</a:t>
                      </a:r>
                      <a:endParaRPr/>
                    </a:p>
                  </a:txBody>
                  <a:tcPr marT="18950" marB="18950" marR="47350" marL="473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315" name="Google Shape;315;p24"/>
          <p:cNvSpPr txBox="1"/>
          <p:nvPr/>
        </p:nvSpPr>
        <p:spPr>
          <a:xfrm>
            <a:off x="2674261" y="2848961"/>
            <a:ext cx="5348520" cy="32389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da-DK" sz="1800">
                <a:solidFill>
                  <a:schemeClr val="dk1"/>
                </a:solidFill>
                <a:latin typeface="IBM Plex Sans"/>
                <a:ea typeface="IBM Plex Sans"/>
                <a:cs typeface="IBM Plex Sans"/>
                <a:sym typeface="IBM Plex Sans"/>
              </a:rPr>
              <a:t> </a:t>
            </a:r>
            <a:endParaRPr sz="1800">
              <a:solidFill>
                <a:schemeClr val="dk1"/>
              </a:solidFill>
              <a:latin typeface="IBM Plex Sans"/>
              <a:ea typeface="IBM Plex Sans"/>
              <a:cs typeface="IBM Plex Sans"/>
              <a:sym typeface="IBM Plex Sans"/>
            </a:endParaRPr>
          </a:p>
        </p:txBody>
      </p:sp>
      <p:sp>
        <p:nvSpPr>
          <p:cNvPr id="316" name="Google Shape;316;p24"/>
          <p:cNvSpPr txBox="1"/>
          <p:nvPr/>
        </p:nvSpPr>
        <p:spPr>
          <a:xfrm>
            <a:off x="461316" y="4496286"/>
            <a:ext cx="9791705" cy="2429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050"/>
              <a:buFont typeface="Inter"/>
              <a:buNone/>
            </a:pPr>
            <a:r>
              <a:rPr lang="da-DK" sz="1050">
                <a:solidFill>
                  <a:schemeClr val="dk2"/>
                </a:solidFill>
                <a:latin typeface="Inter"/>
                <a:ea typeface="Inter"/>
                <a:cs typeface="Inter"/>
                <a:sym typeface="Inter"/>
              </a:rPr>
              <a:t>V</a:t>
            </a:r>
            <a:r>
              <a:rPr b="0" i="0" lang="da-DK" sz="1050" u="none" strike="noStrike">
                <a:solidFill>
                  <a:schemeClr val="dk2"/>
                </a:solidFill>
                <a:latin typeface="Inter"/>
                <a:ea typeface="Inter"/>
                <a:cs typeface="Inter"/>
                <a:sym typeface="Inter"/>
              </a:rPr>
              <a:t>irksomheden har angivet forholdet mellem kvinder og mænd i det øverste ledelsesorgan.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5"/>
          <p:cNvSpPr txBox="1"/>
          <p:nvPr>
            <p:ph idx="1" type="body"/>
          </p:nvPr>
        </p:nvSpPr>
        <p:spPr>
          <a:xfrm>
            <a:off x="3860535" y="3900259"/>
            <a:ext cx="3025224" cy="90706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FFFFFF"/>
              </a:buClr>
              <a:buSzPts val="1575"/>
              <a:buNone/>
            </a:pPr>
            <a:r>
              <a:rPr b="1" lang="da-DK" sz="1575">
                <a:solidFill>
                  <a:srgbClr val="FFFFFF"/>
                </a:solidFill>
                <a:latin typeface="IBM Plex Sans"/>
                <a:ea typeface="IBM Plex Sans"/>
                <a:cs typeface="IBM Plex Sans"/>
                <a:sym typeface="IBM Plex Sans"/>
              </a:rPr>
              <a:t>{{company_name}}</a:t>
            </a:r>
            <a:endParaRPr/>
          </a:p>
          <a:p>
            <a:pPr indent="0" lvl="0" marL="0" rtl="0" algn="ctr">
              <a:lnSpc>
                <a:spcPct val="100000"/>
              </a:lnSpc>
              <a:spcBef>
                <a:spcPts val="175"/>
              </a:spcBef>
              <a:spcAft>
                <a:spcPts val="0"/>
              </a:spcAft>
              <a:buClr>
                <a:srgbClr val="FFFFFF"/>
              </a:buClr>
              <a:buSzPts val="1575"/>
              <a:buNone/>
            </a:pPr>
            <a:r>
              <a:rPr b="1" lang="da-DK" sz="1575">
                <a:solidFill>
                  <a:srgbClr val="FFFFFF"/>
                </a:solidFill>
                <a:latin typeface="IBM Plex Sans"/>
                <a:ea typeface="IBM Plex Sans"/>
                <a:cs typeface="IBM Plex Sans"/>
                <a:sym typeface="IBM Plex Sans"/>
              </a:rPr>
              <a:t>{{insert_year}}</a:t>
            </a:r>
            <a:br>
              <a:rPr b="1" lang="da-DK" sz="1575">
                <a:solidFill>
                  <a:srgbClr val="FFFFFF"/>
                </a:solidFill>
                <a:latin typeface="IBM Plex Sans"/>
                <a:ea typeface="IBM Plex Sans"/>
                <a:cs typeface="IBM Plex Sans"/>
                <a:sym typeface="IBM Plex Sans"/>
              </a:rPr>
            </a:br>
            <a:endParaRPr sz="1575"/>
          </a:p>
        </p:txBody>
      </p:sp>
      <p:sp>
        <p:nvSpPr>
          <p:cNvPr id="322" name="Google Shape;322;p25"/>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a-DK"/>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2025-02-28T18:51:17Z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