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5" r:id="rId4"/>
  </p:sldMasterIdLst>
  <p:notesMasterIdLst>
    <p:notesMasterId r:id="rId24"/>
  </p:notesMasterIdLst>
  <p:sldIdLst>
    <p:sldId id="258" r:id="rId5"/>
    <p:sldId id="331" r:id="rId6"/>
    <p:sldId id="355" r:id="rId7"/>
    <p:sldId id="314" r:id="rId8"/>
    <p:sldId id="327" r:id="rId9"/>
    <p:sldId id="316" r:id="rId10"/>
    <p:sldId id="300" r:id="rId11"/>
    <p:sldId id="301" r:id="rId12"/>
    <p:sldId id="307" r:id="rId13"/>
    <p:sldId id="335" r:id="rId14"/>
    <p:sldId id="334" r:id="rId15"/>
    <p:sldId id="337" r:id="rId16"/>
    <p:sldId id="339" r:id="rId17"/>
    <p:sldId id="352" r:id="rId18"/>
    <p:sldId id="356" r:id="rId19"/>
    <p:sldId id="345" r:id="rId20"/>
    <p:sldId id="342" r:id="rId21"/>
    <p:sldId id="348" r:id="rId22"/>
    <p:sldId id="272" r:id="rId23"/>
  </p:sldIdLst>
  <p:sldSz cx="7559675" cy="1069181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Forfatter" initials="A" userId="Author" providerId="AD"/>
  <p188:author id="{5A717729-70A1-A95A-729B-0270D7318E5A}" name="Amanda Simonsen" initials="AS" userId="S::amanda.simonsen@cphchangery.dk::11aad7e9-3369-4d2e-bd33-a826dd209a06" providerId="AD"/>
  <p188:author id="{95582667-6102-27E7-ED8E-01A166EB4B6B}" name="Guest User" initials="GU" userId="Guest User" providerId="Windows Live"/>
  <p188:author id="{D710FB69-54CF-AFDB-ADF5-2ED737B81BDA}" name="Nicolai Petersen" initials="NP" userId="6925884bbfe4e3a6"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87477"/>
    <a:srgbClr val="D1DAD4"/>
    <a:srgbClr val="0000FF"/>
    <a:srgbClr val="1B4529"/>
    <a:srgbClr val="FFFF99"/>
    <a:srgbClr val="1B242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varScale="1">
        <p:scale>
          <a:sx n="39" d="100"/>
          <a:sy n="39" d="100"/>
        </p:scale>
        <p:origin x="2144" y="44"/>
      </p:cViewPr>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dsholder til sidehove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IBM Plex Sans" panose="020B0503050203000203" pitchFamily="34" charset="0"/>
              </a:defRPr>
            </a:lvl1pPr>
          </a:lstStyle>
          <a:p>
            <a:endParaRPr lang="fr-FR"/>
          </a:p>
        </p:txBody>
      </p:sp>
      <p:sp>
        <p:nvSpPr>
          <p:cNvPr id="3" name="Pladsholder til dato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IBM Plex Sans" panose="020B0503050203000203" pitchFamily="34" charset="0"/>
              </a:defRPr>
            </a:lvl1pPr>
          </a:lstStyle>
          <a:p>
            <a:fld id="{12DFE416-DAD6-D749-857D-2E29C861AEBD}" type="datetimeFigureOut">
              <a:rPr lang="fr-FR" smtClean="0"/>
              <a:pPr/>
              <a:t>12/08/2026</a:t>
            </a:fld>
            <a:endParaRPr lang="fr-FR"/>
          </a:p>
        </p:txBody>
      </p:sp>
      <p:sp>
        <p:nvSpPr>
          <p:cNvPr id="4" name="Pladsholder til slidebille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Pladsholder til no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Click to edit Master text styles</a:t>
            </a:r>
          </a:p>
          <a:p>
            <a:pPr lvl="1"/>
            <a:r>
              <a:rPr lang="fr-FR"/>
              <a:t xml:space="preserve">Deuxième niveau</a:t>
            </a:r>
          </a:p>
          <a:p>
            <a:pPr lvl="2"/>
            <a:r>
              <a:rPr lang="fr-FR"/>
              <a:t xml:space="preserve">Troisième niveau</a:t>
            </a:r>
          </a:p>
          <a:p>
            <a:pPr lvl="3"/>
            <a:r>
              <a:rPr lang="fr-FR"/>
              <a:t xml:space="preserve">Quatrième niveau</a:t>
            </a:r>
          </a:p>
          <a:p>
            <a:pPr lvl="4"/>
            <a:r>
              <a:rPr lang="fr-FR"/>
              <a:t xml:space="preserve">Cinquième niveau</a:t>
            </a:r>
          </a:p>
        </p:txBody>
      </p:sp>
      <p:sp>
        <p:nvSpPr>
          <p:cNvPr id="6" name="Pladsholder til sidefod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IBM Plex Sans" panose="020B0503050203000203" pitchFamily="34" charset="0"/>
              </a:defRPr>
            </a:lvl1pPr>
          </a:lstStyle>
          <a:p>
            <a:endParaRPr lang="fr-FR"/>
          </a:p>
        </p:txBody>
      </p:sp>
      <p:sp>
        <p:nvSpPr>
          <p:cNvPr id="7" name="Pladsholder til slide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IBM Plex Sans" panose="020B0503050203000203" pitchFamily="34" charset="0"/>
              </a:defRPr>
            </a:lvl1pPr>
          </a:lstStyle>
          <a:p>
            <a:fld id="{45BFCFCE-5A78-CB4C-8592-F27D9484E3BD}" type="slidenum">
              <a:rPr lang="fr-FR" smtClean="0"/>
              <a:pPr/>
              <a:t>‹nr.›</a:t>
            </a:fld>
            <a:endParaRPr lang="fr-FR"/>
          </a:p>
        </p:txBody>
      </p:sp>
    </p:spTree>
    <p:extLst>
      <p:ext uri="{BB962C8B-B14F-4D97-AF65-F5344CB8AC3E}">
        <p14:creationId xmlns:p14="http://schemas.microsoft.com/office/powerpoint/2010/main" val="29602378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IBM Plex Sans" panose="020B0503050203000203" pitchFamily="34" charset="0"/>
        <a:ea typeface="+mn-ea"/>
        <a:cs typeface="+mn-cs"/>
      </a:defRPr>
    </a:lvl1pPr>
    <a:lvl2pPr marL="457200" algn="l" defTabSz="914400" rtl="0" eaLnBrk="1" latinLnBrk="0" hangingPunct="1">
      <a:defRPr sz="1200" kern="1200">
        <a:solidFill>
          <a:schemeClr val="tx1"/>
        </a:solidFill>
        <a:latin typeface="IBM Plex Sans" panose="020B0503050203000203" pitchFamily="34" charset="0"/>
        <a:ea typeface="+mn-ea"/>
        <a:cs typeface="+mn-cs"/>
      </a:defRPr>
    </a:lvl2pPr>
    <a:lvl3pPr marL="914400" algn="l" defTabSz="914400" rtl="0" eaLnBrk="1" latinLnBrk="0" hangingPunct="1">
      <a:defRPr sz="1200" kern="1200">
        <a:solidFill>
          <a:schemeClr val="tx1"/>
        </a:solidFill>
        <a:latin typeface="IBM Plex Sans" panose="020B0503050203000203" pitchFamily="34" charset="0"/>
        <a:ea typeface="+mn-ea"/>
        <a:cs typeface="+mn-cs"/>
      </a:defRPr>
    </a:lvl3pPr>
    <a:lvl4pPr marL="1371600" algn="l" defTabSz="914400" rtl="0" eaLnBrk="1" latinLnBrk="0" hangingPunct="1">
      <a:defRPr sz="1200" kern="1200">
        <a:solidFill>
          <a:schemeClr val="tx1"/>
        </a:solidFill>
        <a:latin typeface="IBM Plex Sans" panose="020B0503050203000203" pitchFamily="34" charset="0"/>
        <a:ea typeface="+mn-ea"/>
        <a:cs typeface="+mn-cs"/>
      </a:defRPr>
    </a:lvl4pPr>
    <a:lvl5pPr marL="1828800" algn="l" defTabSz="914400" rtl="0" eaLnBrk="1" latinLnBrk="0" hangingPunct="1">
      <a:defRPr sz="1200" kern="1200">
        <a:solidFill>
          <a:schemeClr val="tx1"/>
        </a:solidFill>
        <a:latin typeface="IBM Plex Sans" panose="020B0503050203000203"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endParaRPr lang="fr-FR"/>
          </a:p>
        </p:txBody>
      </p:sp>
      <p:sp>
        <p:nvSpPr>
          <p:cNvPr id="4" name="Pladsholder til slidenummer 3"/>
          <p:cNvSpPr>
            <a:spLocks noGrp="1"/>
          </p:cNvSpPr>
          <p:nvPr>
            <p:ph type="sldNum" sz="quarter" idx="5"/>
          </p:nvPr>
        </p:nvSpPr>
        <p:spPr/>
        <p:txBody>
          <a:bodyPr/>
          <a:lstStyle/>
          <a:p>
            <a:fld id="{45BFCFCE-5A78-CB4C-8592-F27D9484E3BD}" type="slidenum">
              <a:rPr lang="fr-FR" smtClean="0"/>
              <a:pPr/>
              <a:t>1</a:t>
            </a:fld>
            <a:endParaRPr lang="fr-FR"/>
          </a:p>
        </p:txBody>
      </p:sp>
    </p:spTree>
    <p:extLst>
      <p:ext uri="{BB962C8B-B14F-4D97-AF65-F5344CB8AC3E}">
        <p14:creationId xmlns:p14="http://schemas.microsoft.com/office/powerpoint/2010/main" val="8049528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endParaRPr lang="fr-FR"/>
          </a:p>
        </p:txBody>
      </p:sp>
      <p:sp>
        <p:nvSpPr>
          <p:cNvPr id="4" name="Pladsholder til slidenummer 3"/>
          <p:cNvSpPr>
            <a:spLocks noGrp="1"/>
          </p:cNvSpPr>
          <p:nvPr>
            <p:ph type="sldNum" sz="quarter" idx="5"/>
          </p:nvPr>
        </p:nvSpPr>
        <p:spPr/>
        <p:txBody>
          <a:bodyPr/>
          <a:lstStyle/>
          <a:p>
            <a:fld id="{45BFCFCE-5A78-CB4C-8592-F27D9484E3BD}" type="slidenum">
              <a:rPr lang="fr-FR" smtClean="0"/>
              <a:pPr/>
              <a:t>2</a:t>
            </a:fld>
            <a:endParaRPr lang="fr-FR"/>
          </a:p>
        </p:txBody>
      </p:sp>
    </p:spTree>
    <p:extLst>
      <p:ext uri="{BB962C8B-B14F-4D97-AF65-F5344CB8AC3E}">
        <p14:creationId xmlns:p14="http://schemas.microsoft.com/office/powerpoint/2010/main" val="36310397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endParaRPr lang="fr-FR"/>
          </a:p>
        </p:txBody>
      </p:sp>
      <p:sp>
        <p:nvSpPr>
          <p:cNvPr id="4" name="Pladsholder til slidenummer 3"/>
          <p:cNvSpPr>
            <a:spLocks noGrp="1"/>
          </p:cNvSpPr>
          <p:nvPr>
            <p:ph type="sldNum" sz="quarter" idx="5"/>
          </p:nvPr>
        </p:nvSpPr>
        <p:spPr/>
        <p:txBody>
          <a:bodyPr/>
          <a:lstStyle/>
          <a:p>
            <a:fld id="{45BFCFCE-5A78-CB4C-8592-F27D9484E3BD}" type="slidenum">
              <a:rPr lang="fr-FR" smtClean="0"/>
              <a:pPr/>
              <a:t>3</a:t>
            </a:fld>
            <a:endParaRPr lang="fr-FR"/>
          </a:p>
        </p:txBody>
      </p:sp>
    </p:spTree>
    <p:extLst>
      <p:ext uri="{BB962C8B-B14F-4D97-AF65-F5344CB8AC3E}">
        <p14:creationId xmlns:p14="http://schemas.microsoft.com/office/powerpoint/2010/main" val="30596044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r>
              <a:rPr lang="fr-FR"/>
              <a:t xml:space="preserve">Supprimé: </a:t>
            </a:r>
            <a:r>
              <a:rPr lang="fr-FR" sz="1200" b="0" i="0" u="none" strike="noStrike" kern="1200">
                <a:solidFill>
                  <a:schemeClr val="tx1"/>
                </a:solidFill>
                <a:effectLst/>
                <a:latin typeface="IBM Plex Sans" panose="020B0503050203000203" pitchFamily="34" charset="0"/>
                <a:ea typeface="+mn-ea"/>
                <a:cs typeface="+mn-cs"/>
              </a:rPr>
              <a:t>{{documents_B2}}</a:t>
            </a:r>
          </a:p>
          <a:p>
            <a:r>
              <a:rPr lang="fr-FR" sz="1200" b="0" i="0" u="none" strike="noStrike" kern="1200">
                <a:solidFill>
                  <a:schemeClr val="tx1"/>
                </a:solidFill>
                <a:effectLst/>
                <a:latin typeface="IBM Plex Sans" panose="020B0503050203000203" pitchFamily="34" charset="0"/>
                <a:ea typeface="+mn-ea"/>
                <a:cs typeface="+mn-cs"/>
              </a:rPr>
              <a:t xml:space="preserve">Ajouté: colonne sur le suivi</a:t>
            </a:r>
            <a:r>
              <a:rPr lang="fr-FR" sz="1200" b="0" i="0" u="none" strike="noStrike" kern="1200">
                <a:solidFill>
                  <a:schemeClr val="tx1"/>
                </a:solidFill>
                <a:effectLst/>
                <a:latin typeface="IBM Plex Sans" panose="020B0503050203000203" pitchFamily="34" charset="0"/>
                <a:ea typeface="+mn-ea"/>
                <a:cs typeface="+mn-cs"/>
              </a:rPr>
              <a:t xml:space="preserve"/>
            </a:r>
            <a:r>
              <a:rPr lang="fr-FR" sz="1200" b="0" i="0" u="none" strike="noStrike" kern="1200">
                <a:solidFill>
                  <a:schemeClr val="tx1"/>
                </a:solidFill>
                <a:effectLst/>
                <a:latin typeface="IBM Plex Sans" panose="020B0503050203000203" pitchFamily="34" charset="0"/>
                <a:ea typeface="+mn-ea"/>
                <a:cs typeface="+mn-cs"/>
              </a:rPr>
              <a:t xml:space="preserve"/>
            </a:r>
            <a:r>
              <a:rPr lang="fr-FR" sz="1200" b="0" i="0" u="none" strike="noStrike" kern="1200">
                <a:solidFill>
                  <a:schemeClr val="tx1"/>
                </a:solidFill>
                <a:effectLst/>
                <a:latin typeface="IBM Plex Sans" panose="020B0503050203000203" pitchFamily="34" charset="0"/>
                <a:ea typeface="+mn-ea"/>
                <a:cs typeface="+mn-cs"/>
              </a:rPr>
              <a:t xml:space="preserve"/>
            </a:r>
            <a:r>
              <a:rPr lang="fr-FR" sz="1200" b="0" i="0" u="none" strike="noStrike" kern="1200">
                <a:solidFill>
                  <a:schemeClr val="tx1"/>
                </a:solidFill>
                <a:effectLst/>
                <a:latin typeface="IBM Plex Sans" panose="020B0503050203000203" pitchFamily="34" charset="0"/>
                <a:ea typeface="+mn-ea"/>
                <a:cs typeface="+mn-cs"/>
              </a:rPr>
              <a:t xml:space="preserve"/>
            </a:r>
            <a:endParaRPr lang="fr-FR"/>
          </a:p>
        </p:txBody>
      </p:sp>
      <p:sp>
        <p:nvSpPr>
          <p:cNvPr id="4" name="Pladsholder til slidenummer 3"/>
          <p:cNvSpPr>
            <a:spLocks noGrp="1"/>
          </p:cNvSpPr>
          <p:nvPr>
            <p:ph type="sldNum" sz="quarter" idx="5"/>
          </p:nvPr>
        </p:nvSpPr>
        <p:spPr/>
        <p:txBody>
          <a:bodyPr/>
          <a:lstStyle/>
          <a:p>
            <a:fld id="{45BFCFCE-5A78-CB4C-8592-F27D9484E3BD}" type="slidenum">
              <a:rPr lang="fr-FR" smtClean="0"/>
              <a:pPr/>
              <a:t>4</a:t>
            </a:fld>
            <a:endParaRPr lang="fr-FR"/>
          </a:p>
        </p:txBody>
      </p:sp>
    </p:spTree>
    <p:extLst>
      <p:ext uri="{BB962C8B-B14F-4D97-AF65-F5344CB8AC3E}">
        <p14:creationId xmlns:p14="http://schemas.microsoft.com/office/powerpoint/2010/main" val="34000920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txBody>
          <a:bodyPr/>
          <a:lstStyle/>
          <a:p>
            <a:endParaRPr lang="fr-FR"/>
          </a:p>
        </p:txBody>
      </p:sp>
      <p:sp>
        <p:nvSpPr>
          <p:cNvPr id="3" name="Pladsholder til noter 2"/>
          <p:cNvSpPr>
            <a:spLocks noGrp="1"/>
          </p:cNvSpPr>
          <p:nvPr>
            <p:ph type="body" idx="1"/>
          </p:nvPr>
        </p:nvSpPr>
        <p:spPr/>
        <p:txBody>
          <a:bodyPr/>
          <a:lstStyle/>
          <a:p>
            <a:pPr rtl="0"/>
            <a:r>
              <a:rPr lang="fr-FR"/>
              <a:t xml:space="preserve">Supprimé: </a:t>
            </a:r>
            <a:r>
              <a:rPr lang="fr-FR" sz="1200" b="0" i="0" u="none" strike="noStrike" kern="1200">
                <a:solidFill>
                  <a:schemeClr val="tx1"/>
                </a:solidFill>
                <a:effectLst/>
                <a:latin typeface="IBM Plex Sans" panose="020B0503050203000203" pitchFamily="34" charset="0"/>
                <a:ea typeface="+mn-ea"/>
                <a:cs typeface="+mn-cs"/>
              </a:rPr>
              <a:t>{{Insert_CO2e_intensity}}</a:t>
            </a:r>
            <a:endParaRPr lang="fr-FR" b="0">
              <a:effectLst/>
            </a:endParaRPr>
          </a:p>
        </p:txBody>
      </p:sp>
      <p:sp>
        <p:nvSpPr>
          <p:cNvPr id="4" name="Pladsholder til slidenummer 3"/>
          <p:cNvSpPr>
            <a:spLocks noGrp="1"/>
          </p:cNvSpPr>
          <p:nvPr>
            <p:ph type="sldNum" sz="quarter" idx="5"/>
          </p:nvPr>
        </p:nvSpPr>
        <p:spPr/>
        <p:txBody>
          <a:bodyPr/>
          <a:lstStyle/>
          <a:p>
            <a:fld id="{45BFCFCE-5A78-CB4C-8592-F27D9484E3BD}" type="slidenum">
              <a:rPr lang="fr-FR" smtClean="0"/>
              <a:pPr/>
              <a:t>5</a:t>
            </a:fld>
            <a:endParaRPr lang="fr-FR"/>
          </a:p>
        </p:txBody>
      </p:sp>
    </p:spTree>
    <p:extLst>
      <p:ext uri="{BB962C8B-B14F-4D97-AF65-F5344CB8AC3E}">
        <p14:creationId xmlns:p14="http://schemas.microsoft.com/office/powerpoint/2010/main" val="30983482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pPr rtl="0"/>
            <a:r>
              <a:rPr lang="fr-FR"/>
              <a:t xml:space="preserve">Supprimé: </a:t>
            </a:r>
            <a:r>
              <a:rPr lang="fr-FR" sz="1200" b="0" i="0" u="none" strike="noStrike" kern="1200">
                <a:solidFill>
                  <a:schemeClr val="tx1"/>
                </a:solidFill>
                <a:effectLst/>
                <a:latin typeface="IBM Plex Sans" panose="020B0503050203000203" pitchFamily="34" charset="0"/>
                <a:ea typeface="+mn-ea"/>
                <a:cs typeface="+mn-cs"/>
              </a:rPr>
              <a:t>{{uploaded_documents_B4}}</a:t>
            </a:r>
            <a:endParaRPr lang="fr-FR" b="0">
              <a:effectLst/>
            </a:endParaRPr>
          </a:p>
        </p:txBody>
      </p:sp>
      <p:sp>
        <p:nvSpPr>
          <p:cNvPr id="4" name="Pladsholder til slidenummer 3"/>
          <p:cNvSpPr>
            <a:spLocks noGrp="1"/>
          </p:cNvSpPr>
          <p:nvPr>
            <p:ph type="sldNum" sz="quarter" idx="5"/>
          </p:nvPr>
        </p:nvSpPr>
        <p:spPr/>
        <p:txBody>
          <a:bodyPr/>
          <a:lstStyle/>
          <a:p>
            <a:fld id="{45BFCFCE-5A78-CB4C-8592-F27D9484E3BD}" type="slidenum">
              <a:rPr lang="fr-FR" smtClean="0"/>
              <a:pPr/>
              <a:t>6</a:t>
            </a:fld>
            <a:endParaRPr lang="fr-FR"/>
          </a:p>
        </p:txBody>
      </p:sp>
    </p:spTree>
    <p:extLst>
      <p:ext uri="{BB962C8B-B14F-4D97-AF65-F5344CB8AC3E}">
        <p14:creationId xmlns:p14="http://schemas.microsoft.com/office/powerpoint/2010/main" val="2474281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txBody>
          <a:bodyPr/>
          <a:lstStyle/>
          <a:p>
            <a:endParaRPr lang="fr-FR"/>
          </a:p>
        </p:txBody>
      </p:sp>
      <p:sp>
        <p:nvSpPr>
          <p:cNvPr id="3" name="Pladsholder til noter 2"/>
          <p:cNvSpPr>
            <a:spLocks noGrp="1"/>
          </p:cNvSpPr>
          <p:nvPr>
            <p:ph type="body" idx="1"/>
          </p:nvPr>
        </p:nvSpPr>
        <p:spPr/>
        <p:txBody>
          <a:bodyPr/>
          <a:lstStyle/>
          <a:p>
            <a:endParaRPr lang="fr-FR"/>
          </a:p>
        </p:txBody>
      </p:sp>
      <p:sp>
        <p:nvSpPr>
          <p:cNvPr id="4" name="Pladsholder til slidenummer 3"/>
          <p:cNvSpPr>
            <a:spLocks noGrp="1"/>
          </p:cNvSpPr>
          <p:nvPr>
            <p:ph type="sldNum" sz="quarter" idx="5"/>
          </p:nvPr>
        </p:nvSpPr>
        <p:spPr/>
        <p:txBody>
          <a:bodyPr/>
          <a:lstStyle/>
          <a:p>
            <a:fld id="{45BFCFCE-5A78-CB4C-8592-F27D9484E3BD}" type="slidenum">
              <a:rPr lang="fr-FR" smtClean="0"/>
              <a:pPr/>
              <a:t>7</a:t>
            </a:fld>
            <a:endParaRPr lang="fr-FR"/>
          </a:p>
        </p:txBody>
      </p:sp>
    </p:spTree>
    <p:extLst>
      <p:ext uri="{BB962C8B-B14F-4D97-AF65-F5344CB8AC3E}">
        <p14:creationId xmlns:p14="http://schemas.microsoft.com/office/powerpoint/2010/main" val="22438095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pPr rtl="0"/>
            <a:r>
              <a:rPr lang="fr-FR"/>
              <a:t xml:space="preserve">Supprimé: </a:t>
            </a:r>
            <a:r>
              <a:rPr lang="fr-FR" sz="1200" b="0" i="0" u="none" strike="noStrike" kern="1200">
                <a:solidFill>
                  <a:schemeClr val="tx1"/>
                </a:solidFill>
                <a:effectLst/>
                <a:latin typeface="IBM Plex Sans" panose="020B0503050203000203" pitchFamily="34" charset="0"/>
                <a:ea typeface="+mn-ea"/>
                <a:cs typeface="+mn-cs"/>
              </a:rPr>
              <a:t>{{</a:t>
            </a:r>
            <a:r>
              <a:rPr lang="fr-FR" sz="1200" b="0" i="0" u="none" strike="noStrike" kern="1200">
                <a:solidFill>
                  <a:schemeClr val="tx1"/>
                </a:solidFill>
                <a:effectLst/>
                <a:latin typeface="IBM Plex Sans" panose="020B0503050203000203" pitchFamily="34" charset="0"/>
                <a:ea typeface="+mn-ea"/>
                <a:cs typeface="+mn-cs"/>
              </a:rPr>
              <a:t>omsatningsrate</a:t>
            </a:r>
            <a:r>
              <a:rPr lang="fr-FR" sz="1200" b="0" i="0" u="none" strike="noStrike" kern="1200">
                <a:solidFill>
                  <a:schemeClr val="tx1"/>
                </a:solidFill>
                <a:effectLst/>
                <a:latin typeface="IBM Plex Sans" panose="020B0503050203000203" pitchFamily="34" charset="0"/>
                <a:ea typeface="+mn-ea"/>
                <a:cs typeface="+mn-cs"/>
              </a:rPr>
              <a:t>}}</a:t>
            </a:r>
            <a:endParaRPr lang="fr-FR" b="0">
              <a:effectLst/>
            </a:endParaRPr>
          </a:p>
        </p:txBody>
      </p:sp>
      <p:sp>
        <p:nvSpPr>
          <p:cNvPr id="4" name="Pladsholder til slidenummer 3"/>
          <p:cNvSpPr>
            <a:spLocks noGrp="1"/>
          </p:cNvSpPr>
          <p:nvPr>
            <p:ph type="sldNum" sz="quarter" idx="5"/>
          </p:nvPr>
        </p:nvSpPr>
        <p:spPr/>
        <p:txBody>
          <a:bodyPr/>
          <a:lstStyle/>
          <a:p>
            <a:fld id="{45BFCFCE-5A78-CB4C-8592-F27D9484E3BD}" type="slidenum">
              <a:rPr lang="fr-FR" smtClean="0"/>
              <a:pPr/>
              <a:t>8</a:t>
            </a:fld>
            <a:endParaRPr lang="fr-FR"/>
          </a:p>
        </p:txBody>
      </p:sp>
    </p:spTree>
    <p:extLst>
      <p:ext uri="{BB962C8B-B14F-4D97-AF65-F5344CB8AC3E}">
        <p14:creationId xmlns:p14="http://schemas.microsoft.com/office/powerpoint/2010/main" val="40643826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endParaRPr lang="fr-FR"/>
          </a:p>
        </p:txBody>
      </p:sp>
      <p:sp>
        <p:nvSpPr>
          <p:cNvPr id="4" name="Pladsholder til slidenummer 3"/>
          <p:cNvSpPr>
            <a:spLocks noGrp="1"/>
          </p:cNvSpPr>
          <p:nvPr>
            <p:ph type="sldNum" sz="quarter" idx="5"/>
          </p:nvPr>
        </p:nvSpPr>
        <p:spPr/>
        <p:txBody>
          <a:bodyPr/>
          <a:lstStyle/>
          <a:p>
            <a:fld id="{45BFCFCE-5A78-CB4C-8592-F27D9484E3BD}" type="slidenum">
              <a:rPr lang="fr-FR" smtClean="0"/>
              <a:pPr/>
              <a:t>9</a:t>
            </a:fld>
            <a:endParaRPr lang="fr-FR"/>
          </a:p>
        </p:txBody>
      </p:sp>
    </p:spTree>
    <p:extLst>
      <p:ext uri="{BB962C8B-B14F-4D97-AF65-F5344CB8AC3E}">
        <p14:creationId xmlns:p14="http://schemas.microsoft.com/office/powerpoint/2010/main" val="3061253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endParaRPr lang="fr-FR"/>
          </a:p>
        </p:txBody>
      </p:sp>
      <p:sp>
        <p:nvSpPr>
          <p:cNvPr id="4" name="Pladsholder til slidenummer 3"/>
          <p:cNvSpPr>
            <a:spLocks noGrp="1"/>
          </p:cNvSpPr>
          <p:nvPr>
            <p:ph type="sldNum" sz="quarter" idx="5"/>
          </p:nvPr>
        </p:nvSpPr>
        <p:spPr/>
        <p:txBody>
          <a:bodyPr/>
          <a:lstStyle/>
          <a:p>
            <a:fld id="{45BFCFCE-5A78-CB4C-8592-F27D9484E3BD}" type="slidenum">
              <a:rPr lang="fr-FR" smtClean="0"/>
              <a:pPr/>
              <a:t>10</a:t>
            </a:fld>
            <a:endParaRPr lang="fr-FR"/>
          </a:p>
        </p:txBody>
      </p:sp>
    </p:spTree>
    <p:extLst>
      <p:ext uri="{BB962C8B-B14F-4D97-AF65-F5344CB8AC3E}">
        <p14:creationId xmlns:p14="http://schemas.microsoft.com/office/powerpoint/2010/main" val="3222916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endParaRPr lang="fr-FR"/>
          </a:p>
        </p:txBody>
      </p:sp>
      <p:sp>
        <p:nvSpPr>
          <p:cNvPr id="4" name="Pladsholder til slidenummer 3"/>
          <p:cNvSpPr>
            <a:spLocks noGrp="1"/>
          </p:cNvSpPr>
          <p:nvPr>
            <p:ph type="sldNum" sz="quarter" idx="5"/>
          </p:nvPr>
        </p:nvSpPr>
        <p:spPr/>
        <p:txBody>
          <a:bodyPr/>
          <a:lstStyle/>
          <a:p>
            <a:fld id="{45BFCFCE-5A78-CB4C-8592-F27D9484E3BD}" type="slidenum">
              <a:rPr lang="fr-FR" smtClean="0"/>
              <a:pPr/>
              <a:t>11</a:t>
            </a:fld>
            <a:endParaRPr lang="fr-FR"/>
          </a:p>
        </p:txBody>
      </p:sp>
    </p:spTree>
    <p:extLst>
      <p:ext uri="{BB962C8B-B14F-4D97-AF65-F5344CB8AC3E}">
        <p14:creationId xmlns:p14="http://schemas.microsoft.com/office/powerpoint/2010/main" val="19230645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endParaRPr lang="fr-FR"/>
          </a:p>
        </p:txBody>
      </p:sp>
      <p:sp>
        <p:nvSpPr>
          <p:cNvPr id="4" name="Pladsholder til slidenummer 3"/>
          <p:cNvSpPr>
            <a:spLocks noGrp="1"/>
          </p:cNvSpPr>
          <p:nvPr>
            <p:ph type="sldNum" sz="quarter" idx="5"/>
          </p:nvPr>
        </p:nvSpPr>
        <p:spPr/>
        <p:txBody>
          <a:bodyPr/>
          <a:lstStyle/>
          <a:p>
            <a:fld id="{45BFCFCE-5A78-CB4C-8592-F27D9484E3BD}" type="slidenum">
              <a:rPr lang="fr-FR" smtClean="0"/>
              <a:pPr/>
              <a:t>12</a:t>
            </a:fld>
            <a:endParaRPr lang="fr-FR"/>
          </a:p>
        </p:txBody>
      </p:sp>
    </p:spTree>
    <p:extLst>
      <p:ext uri="{BB962C8B-B14F-4D97-AF65-F5344CB8AC3E}">
        <p14:creationId xmlns:p14="http://schemas.microsoft.com/office/powerpoint/2010/main" val="31252046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endParaRPr lang="fr-FR"/>
          </a:p>
        </p:txBody>
      </p:sp>
      <p:sp>
        <p:nvSpPr>
          <p:cNvPr id="4" name="Pladsholder til slidenummer 3"/>
          <p:cNvSpPr>
            <a:spLocks noGrp="1"/>
          </p:cNvSpPr>
          <p:nvPr>
            <p:ph type="sldNum" sz="quarter" idx="5"/>
          </p:nvPr>
        </p:nvSpPr>
        <p:spPr/>
        <p:txBody>
          <a:bodyPr/>
          <a:lstStyle/>
          <a:p>
            <a:fld id="{45BFCFCE-5A78-CB4C-8592-F27D9484E3BD}" type="slidenum">
              <a:rPr lang="fr-FR" smtClean="0"/>
              <a:pPr/>
              <a:t>13</a:t>
            </a:fld>
            <a:endParaRPr lang="fr-FR"/>
          </a:p>
        </p:txBody>
      </p:sp>
    </p:spTree>
    <p:extLst>
      <p:ext uri="{BB962C8B-B14F-4D97-AF65-F5344CB8AC3E}">
        <p14:creationId xmlns:p14="http://schemas.microsoft.com/office/powerpoint/2010/main" val="36580621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txBody>
          <a:bodyPr/>
          <a:lstStyle/>
          <a:p>
            <a:endParaRPr lang="fr-FR"/>
          </a:p>
        </p:txBody>
      </p:sp>
      <p:sp>
        <p:nvSpPr>
          <p:cNvPr id="3" name="Pladsholder til noter 2"/>
          <p:cNvSpPr>
            <a:spLocks noGrp="1"/>
          </p:cNvSpPr>
          <p:nvPr>
            <p:ph type="body" idx="1"/>
          </p:nvPr>
        </p:nvSpPr>
        <p:spPr/>
        <p:txBody>
          <a:bodyPr/>
          <a:lstStyle/>
          <a:p>
            <a:endParaRPr lang="fr-FR"/>
          </a:p>
        </p:txBody>
      </p:sp>
      <p:sp>
        <p:nvSpPr>
          <p:cNvPr id="4" name="Pladsholder til slidenummer 3"/>
          <p:cNvSpPr>
            <a:spLocks noGrp="1"/>
          </p:cNvSpPr>
          <p:nvPr>
            <p:ph type="sldNum" sz="quarter" idx="5"/>
          </p:nvPr>
        </p:nvSpPr>
        <p:spPr/>
        <p:txBody>
          <a:bodyPr/>
          <a:lstStyle/>
          <a:p>
            <a:fld id="{45BFCFCE-5A78-CB4C-8592-F27D9484E3BD}" type="slidenum">
              <a:rPr lang="fr-FR" smtClean="0"/>
              <a:pPr/>
              <a:t>14</a:t>
            </a:fld>
            <a:endParaRPr lang="fr-FR"/>
          </a:p>
        </p:txBody>
      </p:sp>
    </p:spTree>
    <p:extLst>
      <p:ext uri="{BB962C8B-B14F-4D97-AF65-F5344CB8AC3E}">
        <p14:creationId xmlns:p14="http://schemas.microsoft.com/office/powerpoint/2010/main" val="29765479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txBody>
          <a:bodyPr/>
          <a:lstStyle/>
          <a:p>
            <a:endParaRPr lang="fr-FR"/>
          </a:p>
        </p:txBody>
      </p:sp>
      <p:sp>
        <p:nvSpPr>
          <p:cNvPr id="3" name="Pladsholder til noter 2"/>
          <p:cNvSpPr>
            <a:spLocks noGrp="1"/>
          </p:cNvSpPr>
          <p:nvPr>
            <p:ph type="body" idx="1"/>
          </p:nvPr>
        </p:nvSpPr>
        <p:spPr/>
        <p:txBody>
          <a:bodyPr/>
          <a:lstStyle/>
          <a:p>
            <a:endParaRPr lang="fr-FR"/>
          </a:p>
        </p:txBody>
      </p:sp>
      <p:sp>
        <p:nvSpPr>
          <p:cNvPr id="4" name="Pladsholder til slidenummer 3"/>
          <p:cNvSpPr>
            <a:spLocks noGrp="1"/>
          </p:cNvSpPr>
          <p:nvPr>
            <p:ph type="sldNum" sz="quarter" idx="5"/>
          </p:nvPr>
        </p:nvSpPr>
        <p:spPr/>
        <p:txBody>
          <a:bodyPr/>
          <a:lstStyle/>
          <a:p>
            <a:fld id="{45BFCFCE-5A78-CB4C-8592-F27D9484E3BD}" type="slidenum">
              <a:rPr lang="fr-FR" smtClean="0"/>
              <a:pPr/>
              <a:t>15</a:t>
            </a:fld>
            <a:endParaRPr lang="fr-FR"/>
          </a:p>
        </p:txBody>
      </p:sp>
    </p:spTree>
    <p:extLst>
      <p:ext uri="{BB962C8B-B14F-4D97-AF65-F5344CB8AC3E}">
        <p14:creationId xmlns:p14="http://schemas.microsoft.com/office/powerpoint/2010/main" val="29765479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pPr rtl="0"/>
            <a:r>
              <a:rPr lang="fr-FR"/>
              <a:t xml:space="preserve">Ajouté depuis B8: </a:t>
            </a:r>
            <a:r>
              <a:rPr lang="fr-FR" sz="1200" b="0" i="0" u="none" strike="noStrike" kern="1200">
                <a:solidFill>
                  <a:schemeClr val="tx1"/>
                </a:solidFill>
                <a:effectLst/>
                <a:latin typeface="IBM Plex Sans" panose="020B0503050203000203" pitchFamily="34" charset="0"/>
                <a:ea typeface="+mn-ea"/>
                <a:cs typeface="+mn-cs"/>
              </a:rPr>
              <a:t>{{</a:t>
            </a:r>
            <a:r>
              <a:rPr lang="fr-FR" sz="1200" b="0" i="0" u="none" strike="noStrike" kern="1200">
                <a:solidFill>
                  <a:schemeClr val="tx1"/>
                </a:solidFill>
                <a:effectLst/>
                <a:latin typeface="IBM Plex Sans" panose="020B0503050203000203" pitchFamily="34" charset="0"/>
                <a:ea typeface="+mn-ea"/>
                <a:cs typeface="+mn-cs"/>
              </a:rPr>
              <a:t>omsatningsrate</a:t>
            </a:r>
            <a:r>
              <a:rPr lang="fr-FR" sz="1200" b="0" i="0" u="none" strike="noStrike" kern="1200">
                <a:solidFill>
                  <a:schemeClr val="tx1"/>
                </a:solidFill>
                <a:effectLst/>
                <a:latin typeface="IBM Plex Sans" panose="020B0503050203000203" pitchFamily="34" charset="0"/>
                <a:ea typeface="+mn-ea"/>
                <a:cs typeface="+mn-cs"/>
              </a:rPr>
              <a:t>}}</a:t>
            </a:r>
            <a:endParaRPr lang="fr-FR" b="0">
              <a:effectLst/>
            </a:endParaRPr>
          </a:p>
        </p:txBody>
      </p:sp>
      <p:sp>
        <p:nvSpPr>
          <p:cNvPr id="4" name="Pladsholder til slidenummer 3"/>
          <p:cNvSpPr>
            <a:spLocks noGrp="1"/>
          </p:cNvSpPr>
          <p:nvPr>
            <p:ph type="sldNum" sz="quarter" idx="5"/>
          </p:nvPr>
        </p:nvSpPr>
        <p:spPr/>
        <p:txBody>
          <a:bodyPr/>
          <a:lstStyle/>
          <a:p>
            <a:fld id="{45BFCFCE-5A78-CB4C-8592-F27D9484E3BD}" type="slidenum">
              <a:rPr lang="fr-FR" smtClean="0"/>
              <a:pPr/>
              <a:t>16</a:t>
            </a:fld>
            <a:endParaRPr lang="fr-FR"/>
          </a:p>
        </p:txBody>
      </p:sp>
    </p:spTree>
    <p:extLst>
      <p:ext uri="{BB962C8B-B14F-4D97-AF65-F5344CB8AC3E}">
        <p14:creationId xmlns:p14="http://schemas.microsoft.com/office/powerpoint/2010/main" val="39423708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Intro template">
    <p:bg>
      <p:bgPr>
        <a:solidFill>
          <a:schemeClr val="bg1"/>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52E31B1D-D5FA-1144-A6D9-FDFA19DD3A3B}"/>
              </a:ext>
            </a:extLst>
          </p:cNvPr>
          <p:cNvSpPr>
            <a:spLocks noGrp="1"/>
          </p:cNvSpPr>
          <p:nvPr>
            <p:ph type="body" sz="quarter" idx="14"/>
          </p:nvPr>
        </p:nvSpPr>
        <p:spPr>
          <a:xfrm>
            <a:off x="417725" y="1422386"/>
            <a:ext cx="2071467" cy="4440060"/>
          </a:xfrm>
        </p:spPr>
        <p:txBody>
          <a:bodyPr/>
          <a:lstStyle>
            <a:lvl1pPr marL="0" indent="0">
              <a:buNone/>
              <a:defRPr/>
            </a:lvl1pPr>
          </a:lstStyle>
          <a:p>
            <a:pPr lvl="0"/>
            <a:r>
              <a:rPr lang="fr-FR" noProof="0"/>
              <a:t>Click</a:t>
            </a:r>
            <a:r>
              <a:rPr lang="fr-FR" noProof="0"/>
              <a:t> to </a:t>
            </a:r>
            <a:r>
              <a:rPr lang="fr-FR" noProof="0"/>
              <a:t>edit</a:t>
            </a:r>
            <a:r>
              <a:rPr lang="fr-FR" noProof="0"/>
              <a:t> Master </a:t>
            </a:r>
            <a:r>
              <a:rPr lang="fr-FR" noProof="0"/>
              <a:t>text</a:t>
            </a:r>
            <a:r>
              <a:rPr lang="fr-FR" noProof="0"/>
              <a:t> styles</a:t>
            </a:r>
          </a:p>
        </p:txBody>
      </p:sp>
      <p:sp>
        <p:nvSpPr>
          <p:cNvPr id="11" name="Text Placeholder 9">
            <a:extLst>
              <a:ext uri="{FF2B5EF4-FFF2-40B4-BE49-F238E27FC236}">
                <a16:creationId xmlns:a16="http://schemas.microsoft.com/office/drawing/2014/main" id="{F1EF6F5B-4C89-A089-DA32-6A1686CD0B74}"/>
              </a:ext>
            </a:extLst>
          </p:cNvPr>
          <p:cNvSpPr>
            <a:spLocks noGrp="1"/>
          </p:cNvSpPr>
          <p:nvPr>
            <p:ph type="body" sz="quarter" idx="15"/>
          </p:nvPr>
        </p:nvSpPr>
        <p:spPr>
          <a:xfrm>
            <a:off x="2676401" y="1422387"/>
            <a:ext cx="2071466" cy="4440059"/>
          </a:xfrm>
        </p:spPr>
        <p:txBody>
          <a:bodyPr/>
          <a:lstStyle>
            <a:lvl1pPr marL="0" indent="0">
              <a:buNone/>
              <a:defRPr/>
            </a:lvl1pPr>
          </a:lstStyle>
          <a:p>
            <a:pPr lvl="0"/>
            <a:r>
              <a:rPr lang="fr-FR" noProof="0"/>
              <a:t>Click</a:t>
            </a:r>
            <a:r>
              <a:rPr lang="fr-FR" noProof="0"/>
              <a:t> to </a:t>
            </a:r>
            <a:r>
              <a:rPr lang="fr-FR" noProof="0"/>
              <a:t>edit</a:t>
            </a:r>
            <a:r>
              <a:rPr lang="fr-FR" noProof="0"/>
              <a:t> Master </a:t>
            </a:r>
            <a:r>
              <a:rPr lang="fr-FR" noProof="0"/>
              <a:t>text</a:t>
            </a:r>
            <a:r>
              <a:rPr lang="fr-FR" noProof="0"/>
              <a:t> styles</a:t>
            </a:r>
          </a:p>
        </p:txBody>
      </p:sp>
      <p:sp>
        <p:nvSpPr>
          <p:cNvPr id="2" name="Title 1">
            <a:extLst>
              <a:ext uri="{FF2B5EF4-FFF2-40B4-BE49-F238E27FC236}">
                <a16:creationId xmlns:a16="http://schemas.microsoft.com/office/drawing/2014/main" id="{4149F0AB-3484-3BD8-5F17-C0910484351A}"/>
              </a:ext>
            </a:extLst>
          </p:cNvPr>
          <p:cNvSpPr>
            <a:spLocks noGrp="1"/>
          </p:cNvSpPr>
          <p:nvPr>
            <p:ph type="title"/>
          </p:nvPr>
        </p:nvSpPr>
        <p:spPr/>
        <p:txBody>
          <a:bodyPr/>
          <a:lstStyle/>
          <a:p>
            <a:r>
              <a:rPr lang="fr-FR"/>
              <a:t>Click to edit Master title style</a:t>
            </a:r>
          </a:p>
        </p:txBody>
      </p:sp>
    </p:spTree>
    <p:extLst>
      <p:ext uri="{BB962C8B-B14F-4D97-AF65-F5344CB8AC3E}">
        <p14:creationId xmlns:p14="http://schemas.microsoft.com/office/powerpoint/2010/main" val="34690574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orside med billedebaggrun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Grafik 1">
            <a:extLst>
              <a:ext uri="{FF2B5EF4-FFF2-40B4-BE49-F238E27FC236}">
                <a16:creationId xmlns:a16="http://schemas.microsoft.com/office/drawing/2014/main" id="{FE10D728-2F8E-9A79-A793-8FA18EC9AEF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53146" y="3090113"/>
            <a:ext cx="657854" cy="1152135"/>
          </a:xfrm>
          <a:prstGeom prst="rect">
            <a:avLst/>
          </a:prstGeom>
        </p:spPr>
      </p:pic>
      <p:pic>
        <p:nvPicPr>
          <p:cNvPr id="3" name="Grafik 2">
            <a:extLst>
              <a:ext uri="{FF2B5EF4-FFF2-40B4-BE49-F238E27FC236}">
                <a16:creationId xmlns:a16="http://schemas.microsoft.com/office/drawing/2014/main" id="{AE996835-EDFE-BE3E-C688-CC762B1E391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146748" y="3035991"/>
            <a:ext cx="840170" cy="1200816"/>
          </a:xfrm>
          <a:prstGeom prst="rect">
            <a:avLst/>
          </a:prstGeom>
        </p:spPr>
      </p:pic>
      <p:pic>
        <p:nvPicPr>
          <p:cNvPr id="4" name="Grafik 3">
            <a:extLst>
              <a:ext uri="{FF2B5EF4-FFF2-40B4-BE49-F238E27FC236}">
                <a16:creationId xmlns:a16="http://schemas.microsoft.com/office/drawing/2014/main" id="{A9BBDDF2-8BA5-B125-BDA8-EC3EA874D96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245834" y="3035990"/>
            <a:ext cx="782093" cy="1231210"/>
          </a:xfrm>
          <a:prstGeom prst="rect">
            <a:avLst/>
          </a:prstGeom>
        </p:spPr>
      </p:pic>
      <p:sp>
        <p:nvSpPr>
          <p:cNvPr id="7" name="Footer Placeholder 6">
            <a:extLst>
              <a:ext uri="{FF2B5EF4-FFF2-40B4-BE49-F238E27FC236}">
                <a16:creationId xmlns:a16="http://schemas.microsoft.com/office/drawing/2014/main" id="{85E44590-AE8B-6098-6E3A-22BBF073CF8E}"/>
              </a:ext>
            </a:extLst>
          </p:cNvPr>
          <p:cNvSpPr>
            <a:spLocks noGrp="1"/>
          </p:cNvSpPr>
          <p:nvPr>
            <p:ph type="ftr" sz="quarter" idx="15"/>
          </p:nvPr>
        </p:nvSpPr>
        <p:spPr>
          <a:xfrm>
            <a:off x="2184109" y="6707538"/>
            <a:ext cx="3052354" cy="234336"/>
          </a:xfrm>
        </p:spPr>
        <p:txBody>
          <a:bodyPr/>
          <a:lstStyle>
            <a:lvl1pPr algn="ctr">
              <a:defRPr sz="1150">
                <a:solidFill>
                  <a:schemeClr val="bg1"/>
                </a:solidFill>
              </a:defRPr>
            </a:lvl1pPr>
          </a:lstStyle>
          <a:p>
            <a:r>
              <a:rPr lang="fr-FR"/>
              <a:t xml:space="preserve">CLIQUEZ POUR INSÉRER LE NOM DE L’ENTREPRISE</a:t>
            </a:r>
          </a:p>
        </p:txBody>
      </p:sp>
      <p:sp>
        <p:nvSpPr>
          <p:cNvPr id="5" name="Titel 4">
            <a:extLst>
              <a:ext uri="{FF2B5EF4-FFF2-40B4-BE49-F238E27FC236}">
                <a16:creationId xmlns:a16="http://schemas.microsoft.com/office/drawing/2014/main" id="{A3676786-DF78-2A13-71BF-8354606B0D04}"/>
              </a:ext>
            </a:extLst>
          </p:cNvPr>
          <p:cNvSpPr>
            <a:spLocks noGrp="1"/>
          </p:cNvSpPr>
          <p:nvPr>
            <p:ph type="title" hasCustomPrompt="1"/>
          </p:nvPr>
        </p:nvSpPr>
        <p:spPr>
          <a:xfrm>
            <a:off x="754701" y="6237584"/>
            <a:ext cx="5915802" cy="152274"/>
          </a:xfrm>
        </p:spPr>
        <p:txBody>
          <a:bodyPr/>
          <a:lstStyle>
            <a:lvl1pPr algn="ctr">
              <a:defRPr sz="900" spc="300">
                <a:solidFill>
                  <a:schemeClr val="bg1"/>
                </a:solidFill>
              </a:defRPr>
            </a:lvl1pPr>
          </a:lstStyle>
          <a:p>
            <a:r>
              <a:rPr lang="fr-FR"/>
              <a:t xml:space="preserve">INSÉRER LE TITRE</a:t>
            </a:r>
          </a:p>
        </p:txBody>
      </p:sp>
    </p:spTree>
    <p:extLst>
      <p:ext uri="{BB962C8B-B14F-4D97-AF65-F5344CB8AC3E}">
        <p14:creationId xmlns:p14="http://schemas.microsoft.com/office/powerpoint/2010/main" val="22908913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ESG opgørelse">
    <p:bg>
      <p:bgPr>
        <a:solidFill>
          <a:schemeClr val="bg1"/>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9358A1A1-81A1-00B9-5F3F-17B9B899E502}"/>
              </a:ext>
            </a:extLst>
          </p:cNvPr>
          <p:cNvSpPr>
            <a:spLocks noGrp="1"/>
          </p:cNvSpPr>
          <p:nvPr>
            <p:ph type="body" sz="quarter" idx="17"/>
          </p:nvPr>
        </p:nvSpPr>
        <p:spPr>
          <a:xfrm>
            <a:off x="423975" y="1381944"/>
            <a:ext cx="2687561" cy="4470221"/>
          </a:xfrm>
        </p:spPr>
        <p:txBody>
          <a:bodyPr/>
          <a:lstStyle>
            <a:lvl1pPr marL="0" indent="0">
              <a:lnSpc>
                <a:spcPct val="129000"/>
              </a:lnSpc>
              <a:spcAft>
                <a:spcPts val="0"/>
              </a:spcAft>
              <a:buNone/>
              <a:tabLst>
                <a:tab pos="239990" algn="l"/>
                <a:tab pos="389984" algn="l"/>
                <a:tab pos="3419863" algn="r"/>
              </a:tabLst>
              <a:defRPr sz="725">
                <a:solidFill>
                  <a:schemeClr val="tx2"/>
                </a:solidFill>
              </a:defRPr>
            </a:lvl1pPr>
          </a:lstStyle>
          <a:p>
            <a:pPr lvl="0"/>
            <a:r>
              <a:rPr lang="fr-FR" noProof="0"/>
              <a:t>Click</a:t>
            </a:r>
            <a:r>
              <a:rPr lang="fr-FR" noProof="0"/>
              <a:t> to </a:t>
            </a:r>
            <a:r>
              <a:rPr lang="fr-FR" noProof="0"/>
              <a:t>edit</a:t>
            </a:r>
            <a:r>
              <a:rPr lang="fr-FR" noProof="0"/>
              <a:t> Master </a:t>
            </a:r>
            <a:r>
              <a:rPr lang="fr-FR" noProof="0"/>
              <a:t>text</a:t>
            </a:r>
            <a:r>
              <a:rPr lang="fr-FR" noProof="0"/>
              <a:t> styles</a:t>
            </a:r>
          </a:p>
        </p:txBody>
      </p:sp>
      <p:sp>
        <p:nvSpPr>
          <p:cNvPr id="2" name="Text Placeholder 9">
            <a:extLst>
              <a:ext uri="{FF2B5EF4-FFF2-40B4-BE49-F238E27FC236}">
                <a16:creationId xmlns:a16="http://schemas.microsoft.com/office/drawing/2014/main" id="{DDD3249A-9EA8-2D06-EED5-368B4A02469F}"/>
              </a:ext>
            </a:extLst>
          </p:cNvPr>
          <p:cNvSpPr>
            <a:spLocks noGrp="1"/>
          </p:cNvSpPr>
          <p:nvPr>
            <p:ph type="body" sz="quarter" idx="20"/>
          </p:nvPr>
        </p:nvSpPr>
        <p:spPr>
          <a:xfrm>
            <a:off x="3934311" y="1374025"/>
            <a:ext cx="2687561" cy="4470220"/>
          </a:xfrm>
        </p:spPr>
        <p:txBody>
          <a:bodyPr/>
          <a:lstStyle>
            <a:lvl1pPr marL="0" indent="0">
              <a:lnSpc>
                <a:spcPct val="129000"/>
              </a:lnSpc>
              <a:spcAft>
                <a:spcPts val="0"/>
              </a:spcAft>
              <a:buNone/>
              <a:tabLst>
                <a:tab pos="239990" algn="l"/>
                <a:tab pos="389984" algn="l"/>
                <a:tab pos="3419863" algn="r"/>
              </a:tabLst>
              <a:defRPr sz="725">
                <a:solidFill>
                  <a:schemeClr val="tx2"/>
                </a:solidFill>
              </a:defRPr>
            </a:lvl1pPr>
          </a:lstStyle>
          <a:p>
            <a:pPr lvl="0"/>
            <a:r>
              <a:rPr lang="fr-FR" noProof="0"/>
              <a:t>Click</a:t>
            </a:r>
            <a:r>
              <a:rPr lang="fr-FR" noProof="0"/>
              <a:t> to </a:t>
            </a:r>
            <a:r>
              <a:rPr lang="fr-FR" noProof="0"/>
              <a:t>edit</a:t>
            </a:r>
            <a:r>
              <a:rPr lang="fr-FR" noProof="0"/>
              <a:t> Master </a:t>
            </a:r>
            <a:r>
              <a:rPr lang="fr-FR" noProof="0"/>
              <a:t>text</a:t>
            </a:r>
            <a:r>
              <a:rPr lang="fr-FR" noProof="0"/>
              <a:t> styles</a:t>
            </a:r>
          </a:p>
        </p:txBody>
      </p:sp>
      <p:sp>
        <p:nvSpPr>
          <p:cNvPr id="6" name="Footer Placeholder 5">
            <a:extLst>
              <a:ext uri="{FF2B5EF4-FFF2-40B4-BE49-F238E27FC236}">
                <a16:creationId xmlns:a16="http://schemas.microsoft.com/office/drawing/2014/main" id="{CB27BA12-0C2B-874F-CB3D-A69B54828ED2}"/>
              </a:ext>
            </a:extLst>
          </p:cNvPr>
          <p:cNvSpPr>
            <a:spLocks noGrp="1"/>
          </p:cNvSpPr>
          <p:nvPr>
            <p:ph type="ftr" sz="quarter" idx="22"/>
          </p:nvPr>
        </p:nvSpPr>
        <p:spPr/>
        <p:txBody>
          <a:bodyPr/>
          <a:lstStyle/>
          <a:p>
            <a:r>
              <a:rPr lang="fr-FR"/>
              <a:t xml:space="preserve">CLIQUEZ POUR INSÉRER LE NOM DE L’ENTREPRISE</a:t>
            </a:r>
          </a:p>
        </p:txBody>
      </p:sp>
      <p:sp>
        <p:nvSpPr>
          <p:cNvPr id="8" name="Slide Number Placeholder 7">
            <a:extLst>
              <a:ext uri="{FF2B5EF4-FFF2-40B4-BE49-F238E27FC236}">
                <a16:creationId xmlns:a16="http://schemas.microsoft.com/office/drawing/2014/main" id="{A28E22E3-1CE9-39F0-37B9-6694C2F99A83}"/>
              </a:ext>
            </a:extLst>
          </p:cNvPr>
          <p:cNvSpPr>
            <a:spLocks noGrp="1"/>
          </p:cNvSpPr>
          <p:nvPr>
            <p:ph type="sldNum" sz="quarter" idx="23"/>
          </p:nvPr>
        </p:nvSpPr>
        <p:spPr/>
        <p:txBody>
          <a:bodyPr/>
          <a:lstStyle/>
          <a:p>
            <a:fld id="{5A0D23CF-C5A3-5445-819D-C647D180BB4B}" type="slidenum">
              <a:rPr lang="fr-FR" smtClean="0"/>
              <a:pPr/>
              <a:t>‹nr.›</a:t>
            </a:fld>
            <a:endParaRPr lang="fr-FR"/>
          </a:p>
        </p:txBody>
      </p:sp>
      <p:sp>
        <p:nvSpPr>
          <p:cNvPr id="9" name="Title 8">
            <a:extLst>
              <a:ext uri="{FF2B5EF4-FFF2-40B4-BE49-F238E27FC236}">
                <a16:creationId xmlns:a16="http://schemas.microsoft.com/office/drawing/2014/main" id="{9EC510F1-C32E-301D-A9BE-CDD982DBFB2C}"/>
              </a:ext>
            </a:extLst>
          </p:cNvPr>
          <p:cNvSpPr>
            <a:spLocks noGrp="1"/>
          </p:cNvSpPr>
          <p:nvPr>
            <p:ph type="title"/>
          </p:nvPr>
        </p:nvSpPr>
        <p:spPr/>
        <p:txBody>
          <a:bodyPr/>
          <a:lstStyle/>
          <a:p>
            <a:r>
              <a:rPr lang="fr-FR"/>
              <a:t>Click to edit Master title style</a:t>
            </a:r>
          </a:p>
        </p:txBody>
      </p:sp>
    </p:spTree>
    <p:extLst>
      <p:ext uri="{BB962C8B-B14F-4D97-AF65-F5344CB8AC3E}">
        <p14:creationId xmlns:p14="http://schemas.microsoft.com/office/powerpoint/2010/main" val="29920857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AB499-BDA0-E170-C4FB-7C73F109F59F}"/>
              </a:ext>
            </a:extLst>
          </p:cNvPr>
          <p:cNvSpPr>
            <a:spLocks noGrp="1"/>
          </p:cNvSpPr>
          <p:nvPr>
            <p:ph type="title"/>
          </p:nvPr>
        </p:nvSpPr>
        <p:spPr/>
        <p:txBody>
          <a:bodyPr/>
          <a:lstStyle/>
          <a:p>
            <a:r>
              <a:rPr lang="fr-FR" noProof="0"/>
              <a:t>Click</a:t>
            </a:r>
            <a:r>
              <a:rPr lang="fr-FR" noProof="0"/>
              <a:t> to </a:t>
            </a:r>
            <a:r>
              <a:rPr lang="fr-FR" noProof="0"/>
              <a:t>edit</a:t>
            </a:r>
            <a:r>
              <a:rPr lang="fr-FR" noProof="0"/>
              <a:t> Master </a:t>
            </a:r>
            <a:r>
              <a:rPr lang="fr-FR" noProof="0"/>
              <a:t>title</a:t>
            </a:r>
            <a:r>
              <a:rPr lang="fr-FR" noProof="0"/>
              <a:t> style</a:t>
            </a:r>
          </a:p>
        </p:txBody>
      </p:sp>
      <p:sp>
        <p:nvSpPr>
          <p:cNvPr id="3" name="Date Placeholder 2">
            <a:extLst>
              <a:ext uri="{FF2B5EF4-FFF2-40B4-BE49-F238E27FC236}">
                <a16:creationId xmlns:a16="http://schemas.microsoft.com/office/drawing/2014/main" id="{85623CC7-2A44-6728-81B8-5D1C36C8A523}"/>
              </a:ext>
            </a:extLst>
          </p:cNvPr>
          <p:cNvSpPr>
            <a:spLocks noGrp="1"/>
          </p:cNvSpPr>
          <p:nvPr>
            <p:ph type="dt" sz="half" idx="10"/>
          </p:nvPr>
        </p:nvSpPr>
        <p:spPr/>
        <p:txBody>
          <a:bodyPr/>
          <a:lstStyle/>
          <a:p>
            <a:endParaRPr lang="fr-FR" noProof="0"/>
          </a:p>
        </p:txBody>
      </p:sp>
      <p:sp>
        <p:nvSpPr>
          <p:cNvPr id="4" name="Footer Placeholder 3">
            <a:extLst>
              <a:ext uri="{FF2B5EF4-FFF2-40B4-BE49-F238E27FC236}">
                <a16:creationId xmlns:a16="http://schemas.microsoft.com/office/drawing/2014/main" id="{2B78E23B-9CAA-A290-D3B6-2404D06EC1A2}"/>
              </a:ext>
            </a:extLst>
          </p:cNvPr>
          <p:cNvSpPr>
            <a:spLocks noGrp="1"/>
          </p:cNvSpPr>
          <p:nvPr>
            <p:ph type="ftr" sz="quarter" idx="11"/>
          </p:nvPr>
        </p:nvSpPr>
        <p:spPr/>
        <p:txBody>
          <a:bodyPr/>
          <a:lstStyle/>
          <a:p>
            <a:r>
              <a:rPr lang="fr-FR" noProof="0"/>
              <a:t xml:space="preserve">CLIQUEZ POUR INSÉRER LE NOM DE L’ENTREPRISE</a:t>
            </a:r>
          </a:p>
        </p:txBody>
      </p:sp>
      <p:sp>
        <p:nvSpPr>
          <p:cNvPr id="5" name="Slide Number Placeholder 4">
            <a:extLst>
              <a:ext uri="{FF2B5EF4-FFF2-40B4-BE49-F238E27FC236}">
                <a16:creationId xmlns:a16="http://schemas.microsoft.com/office/drawing/2014/main" id="{A316B95B-509A-04EA-4971-5BB7A30A29F3}"/>
              </a:ext>
            </a:extLst>
          </p:cNvPr>
          <p:cNvSpPr>
            <a:spLocks noGrp="1"/>
          </p:cNvSpPr>
          <p:nvPr>
            <p:ph type="sldNum" sz="quarter" idx="12"/>
          </p:nvPr>
        </p:nvSpPr>
        <p:spPr/>
        <p:txBody>
          <a:bodyPr/>
          <a:lstStyle/>
          <a:p>
            <a:fld id="{5A0D23CF-C5A3-5445-819D-C647D180BB4B}" type="slidenum">
              <a:rPr lang="fr-FR" noProof="0" smtClean="0"/>
              <a:pPr/>
              <a:t>‹nr.›</a:t>
            </a:fld>
            <a:endParaRPr lang="fr-FR" noProof="0"/>
          </a:p>
        </p:txBody>
      </p:sp>
    </p:spTree>
    <p:extLst>
      <p:ext uri="{BB962C8B-B14F-4D97-AF65-F5344CB8AC3E}">
        <p14:creationId xmlns:p14="http://schemas.microsoft.com/office/powerpoint/2010/main" val="18328529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fslutningsslide">
    <p:bg>
      <p:bgPr>
        <a:solidFill>
          <a:srgbClr val="1B4529"/>
        </a:solidFill>
        <a:effectLst/>
      </p:bgPr>
    </p:bg>
    <p:spTree>
      <p:nvGrpSpPr>
        <p:cNvPr id="1" name=""/>
        <p:cNvGrpSpPr/>
        <p:nvPr/>
      </p:nvGrpSpPr>
      <p:grpSpPr>
        <a:xfrm>
          <a:off x="0" y="0"/>
          <a:ext cx="0" cy="0"/>
          <a:chOff x="0" y="0"/>
          <a:chExt cx="0" cy="0"/>
        </a:xfrm>
      </p:grpSpPr>
      <p:sp>
        <p:nvSpPr>
          <p:cNvPr id="3" name="Pladsholder til indhold 2">
            <a:extLst>
              <a:ext uri="{FF2B5EF4-FFF2-40B4-BE49-F238E27FC236}">
                <a16:creationId xmlns:a16="http://schemas.microsoft.com/office/drawing/2014/main" id="{5FF3099D-2911-2DC2-30C9-600914A49C92}"/>
              </a:ext>
            </a:extLst>
          </p:cNvPr>
          <p:cNvSpPr>
            <a:spLocks noGrp="1"/>
          </p:cNvSpPr>
          <p:nvPr>
            <p:ph idx="1" hasCustomPrompt="1"/>
          </p:nvPr>
        </p:nvSpPr>
        <p:spPr>
          <a:xfrm>
            <a:off x="754701" y="2186263"/>
            <a:ext cx="5915802" cy="1217034"/>
          </a:xfrm>
          <a:solidFill>
            <a:srgbClr val="1B4529"/>
          </a:solidFill>
        </p:spPr>
        <p:txBody>
          <a:bodyPr>
            <a:normAutofit/>
          </a:bodyPr>
          <a:lstStyle>
            <a:lvl1pPr marL="0" indent="0">
              <a:lnSpc>
                <a:spcPct val="100000"/>
              </a:lnSpc>
              <a:spcBef>
                <a:spcPts val="167"/>
              </a:spcBef>
              <a:buFontTx/>
              <a:buNone/>
              <a:defRPr sz="900">
                <a:solidFill>
                  <a:schemeClr val="bg1"/>
                </a:solidFill>
              </a:defRPr>
            </a:lvl1pPr>
            <a:lvl2pPr marL="149994" indent="0">
              <a:buFontTx/>
              <a:buNone/>
              <a:defRPr sz="900">
                <a:solidFill>
                  <a:schemeClr val="bg1"/>
                </a:solidFill>
              </a:defRPr>
            </a:lvl2pPr>
            <a:lvl3pPr marL="419983" indent="-134995">
              <a:defRPr sz="900">
                <a:solidFill>
                  <a:schemeClr val="bg1"/>
                </a:solidFill>
              </a:defRPr>
            </a:lvl3pPr>
            <a:lvl4pPr marL="584977" indent="-134995">
              <a:defRPr sz="900">
                <a:solidFill>
                  <a:schemeClr val="bg1"/>
                </a:solidFill>
              </a:defRPr>
            </a:lvl4pPr>
            <a:lvl5pPr marL="719971" indent="-134995">
              <a:defRPr sz="900">
                <a:solidFill>
                  <a:schemeClr val="bg1"/>
                </a:solidFill>
              </a:defRPr>
            </a:lvl5pPr>
          </a:lstStyle>
          <a:p>
            <a:pPr lvl="0"/>
            <a:r>
              <a:rPr lang="fr-FR" noProof="0"/>
              <a:t xml:space="preserve">Insérer les informations sur l’entreprise</a:t>
            </a:r>
          </a:p>
        </p:txBody>
      </p:sp>
      <p:sp>
        <p:nvSpPr>
          <p:cNvPr id="4" name="Title 3">
            <a:extLst>
              <a:ext uri="{FF2B5EF4-FFF2-40B4-BE49-F238E27FC236}">
                <a16:creationId xmlns:a16="http://schemas.microsoft.com/office/drawing/2014/main" id="{6DF97A03-6A5A-CE52-A825-964660171C82}"/>
              </a:ext>
            </a:extLst>
          </p:cNvPr>
          <p:cNvSpPr>
            <a:spLocks noGrp="1"/>
          </p:cNvSpPr>
          <p:nvPr>
            <p:ph type="title"/>
          </p:nvPr>
        </p:nvSpPr>
        <p:spPr/>
        <p:txBody>
          <a:bodyPr/>
          <a:lstStyle>
            <a:lvl1pPr>
              <a:defRPr>
                <a:solidFill>
                  <a:schemeClr val="bg1"/>
                </a:solidFill>
              </a:defRPr>
            </a:lvl1pPr>
          </a:lstStyle>
          <a:p>
            <a:r>
              <a:rPr lang="fr-FR" noProof="0"/>
              <a:t>Click</a:t>
            </a:r>
            <a:r>
              <a:rPr lang="fr-FR" noProof="0"/>
              <a:t> to </a:t>
            </a:r>
            <a:r>
              <a:rPr lang="fr-FR" noProof="0"/>
              <a:t>edit</a:t>
            </a:r>
            <a:r>
              <a:rPr lang="fr-FR" noProof="0"/>
              <a:t> Master </a:t>
            </a:r>
            <a:r>
              <a:rPr lang="fr-FR" noProof="0"/>
              <a:t>title</a:t>
            </a:r>
            <a:r>
              <a:rPr lang="fr-FR" noProof="0"/>
              <a:t> style</a:t>
            </a:r>
          </a:p>
        </p:txBody>
      </p:sp>
      <p:sp>
        <p:nvSpPr>
          <p:cNvPr id="10" name="Footer Placeholder 9">
            <a:extLst>
              <a:ext uri="{FF2B5EF4-FFF2-40B4-BE49-F238E27FC236}">
                <a16:creationId xmlns:a16="http://schemas.microsoft.com/office/drawing/2014/main" id="{C0ED9E13-9DB5-7219-D300-DD32B15B25DA}"/>
              </a:ext>
            </a:extLst>
          </p:cNvPr>
          <p:cNvSpPr>
            <a:spLocks noGrp="1"/>
          </p:cNvSpPr>
          <p:nvPr>
            <p:ph type="ftr" sz="quarter" idx="15"/>
          </p:nvPr>
        </p:nvSpPr>
        <p:spPr/>
        <p:txBody>
          <a:bodyPr/>
          <a:lstStyle>
            <a:lvl1pPr>
              <a:defRPr>
                <a:solidFill>
                  <a:schemeClr val="bg1"/>
                </a:solidFill>
              </a:defRPr>
            </a:lvl1pPr>
          </a:lstStyle>
          <a:p>
            <a:r>
              <a:rPr lang="fr-FR" noProof="0"/>
              <a:t xml:space="preserve">CLIQUEZ POUR INSÉRER LE NOM DE L’ENTREPRISE</a:t>
            </a:r>
          </a:p>
        </p:txBody>
      </p:sp>
      <p:sp>
        <p:nvSpPr>
          <p:cNvPr id="11" name="Slide Number Placeholder 10">
            <a:extLst>
              <a:ext uri="{FF2B5EF4-FFF2-40B4-BE49-F238E27FC236}">
                <a16:creationId xmlns:a16="http://schemas.microsoft.com/office/drawing/2014/main" id="{85AA5A7D-770A-67C5-6EFF-8AD1F28FC232}"/>
              </a:ext>
            </a:extLst>
          </p:cNvPr>
          <p:cNvSpPr>
            <a:spLocks noGrp="1"/>
          </p:cNvSpPr>
          <p:nvPr>
            <p:ph type="sldNum" sz="quarter" idx="16"/>
          </p:nvPr>
        </p:nvSpPr>
        <p:spPr/>
        <p:txBody>
          <a:bodyPr/>
          <a:lstStyle>
            <a:lvl1pPr>
              <a:defRPr>
                <a:solidFill>
                  <a:schemeClr val="bg1">
                    <a:alpha val="70000"/>
                  </a:schemeClr>
                </a:solidFill>
              </a:defRPr>
            </a:lvl1pPr>
          </a:lstStyle>
          <a:p>
            <a:fld id="{5A0D23CF-C5A3-5445-819D-C647D180BB4B}" type="slidenum">
              <a:rPr lang="fr-FR" noProof="0" smtClean="0"/>
              <a:pPr/>
              <a:t>‹nr.›</a:t>
            </a:fld>
            <a:endParaRPr lang="fr-FR" noProof="0"/>
          </a:p>
        </p:txBody>
      </p:sp>
    </p:spTree>
    <p:extLst>
      <p:ext uri="{BB962C8B-B14F-4D97-AF65-F5344CB8AC3E}">
        <p14:creationId xmlns:p14="http://schemas.microsoft.com/office/powerpoint/2010/main" val="23483408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Pladsholder til tekst 2">
            <a:extLst>
              <a:ext uri="{FF2B5EF4-FFF2-40B4-BE49-F238E27FC236}">
                <a16:creationId xmlns:a16="http://schemas.microsoft.com/office/drawing/2014/main" id="{3B61CC4E-F6A2-4C3F-CE7B-BB195B240393}"/>
              </a:ext>
            </a:extLst>
          </p:cNvPr>
          <p:cNvSpPr>
            <a:spLocks noGrp="1"/>
          </p:cNvSpPr>
          <p:nvPr>
            <p:ph type="body" idx="1"/>
          </p:nvPr>
        </p:nvSpPr>
        <p:spPr>
          <a:xfrm>
            <a:off x="423975" y="1422668"/>
            <a:ext cx="6583503" cy="4439883"/>
          </a:xfrm>
          <a:prstGeom prst="rect">
            <a:avLst/>
          </a:prstGeom>
        </p:spPr>
        <p:txBody>
          <a:bodyPr vert="horz" lIns="0" tIns="0" rIns="0" bIns="0" rtlCol="0">
            <a:noAutofit/>
          </a:bodyPr>
          <a:lstStyle/>
          <a:p>
            <a:pPr lvl="0"/>
            <a:r>
              <a:rPr lang="fr-FR" noProof="0"/>
              <a:t>Click to edit Master text styles</a:t>
            </a:r>
          </a:p>
          <a:p>
            <a:pPr lvl="1"/>
            <a:r>
              <a:rPr lang="fr-FR" noProof="0"/>
              <a:t xml:space="preserve">Deuxième niveau</a:t>
            </a:r>
          </a:p>
          <a:p>
            <a:pPr lvl="2"/>
            <a:r>
              <a:rPr lang="fr-FR" noProof="0"/>
              <a:t xml:space="preserve">Troisième niveau</a:t>
            </a:r>
          </a:p>
          <a:p>
            <a:pPr lvl="3"/>
            <a:r>
              <a:rPr lang="fr-FR" noProof="0"/>
              <a:t xml:space="preserve">Quatrième niveau</a:t>
            </a:r>
          </a:p>
          <a:p>
            <a:pPr lvl="4"/>
            <a:r>
              <a:rPr lang="fr-FR" noProof="0"/>
              <a:t xml:space="preserve">Cinquième niveau</a:t>
            </a:r>
          </a:p>
        </p:txBody>
      </p:sp>
      <p:sp>
        <p:nvSpPr>
          <p:cNvPr id="4" name="Pladsholder til dato 3">
            <a:extLst>
              <a:ext uri="{FF2B5EF4-FFF2-40B4-BE49-F238E27FC236}">
                <a16:creationId xmlns:a16="http://schemas.microsoft.com/office/drawing/2014/main" id="{8550164C-751B-845B-9F9B-5F2B4F1FB4E6}"/>
              </a:ext>
            </a:extLst>
          </p:cNvPr>
          <p:cNvSpPr>
            <a:spLocks noGrp="1"/>
          </p:cNvSpPr>
          <p:nvPr>
            <p:ph type="dt" sz="half" idx="2"/>
          </p:nvPr>
        </p:nvSpPr>
        <p:spPr>
          <a:xfrm>
            <a:off x="276685" y="10152285"/>
            <a:ext cx="1617485" cy="128235"/>
          </a:xfrm>
          <a:prstGeom prst="rect">
            <a:avLst/>
          </a:prstGeom>
        </p:spPr>
        <p:txBody>
          <a:bodyPr vert="horz" lIns="0" tIns="0" rIns="0" bIns="0" rtlCol="0" anchor="t" anchorCtr="0">
            <a:noAutofit/>
          </a:bodyPr>
          <a:lstStyle>
            <a:lvl1pPr algn="l">
              <a:defRPr sz="825">
                <a:solidFill>
                  <a:srgbClr val="5F7D69"/>
                </a:solidFill>
                <a:latin typeface="IBM Plex Sans" panose="020B0503050203000203" pitchFamily="34" charset="0"/>
              </a:defRPr>
            </a:lvl1pPr>
          </a:lstStyle>
          <a:p>
            <a:endParaRPr lang="fr-FR"/>
          </a:p>
        </p:txBody>
      </p:sp>
      <p:sp>
        <p:nvSpPr>
          <p:cNvPr id="5" name="Pladsholder til sidefod 4">
            <a:extLst>
              <a:ext uri="{FF2B5EF4-FFF2-40B4-BE49-F238E27FC236}">
                <a16:creationId xmlns:a16="http://schemas.microsoft.com/office/drawing/2014/main" id="{7AB68935-0A2D-A618-8989-FB93D31273FE}"/>
              </a:ext>
            </a:extLst>
          </p:cNvPr>
          <p:cNvSpPr>
            <a:spLocks noGrp="1"/>
          </p:cNvSpPr>
          <p:nvPr>
            <p:ph type="ftr" sz="quarter" idx="3"/>
          </p:nvPr>
        </p:nvSpPr>
        <p:spPr>
          <a:xfrm>
            <a:off x="5000661" y="365760"/>
            <a:ext cx="2147858" cy="128235"/>
          </a:xfrm>
          <a:prstGeom prst="rect">
            <a:avLst/>
          </a:prstGeom>
        </p:spPr>
        <p:txBody>
          <a:bodyPr vert="horz" lIns="0" tIns="0" rIns="0" bIns="0" rtlCol="0" anchor="t" anchorCtr="0">
            <a:noAutofit/>
          </a:bodyPr>
          <a:lstStyle>
            <a:lvl1pPr algn="r">
              <a:defRPr sz="825" b="1">
                <a:solidFill>
                  <a:srgbClr val="5F7D69"/>
                </a:solidFill>
                <a:latin typeface="IBM Plex Sans" panose="020B0503050203000203" pitchFamily="34" charset="0"/>
              </a:defRPr>
            </a:lvl1pPr>
          </a:lstStyle>
          <a:p>
            <a:r>
              <a:rPr lang="fr-FR"/>
              <a:t xml:space="preserve">CLIQUEZ POUR INSÉRER LE NOM DE L’ENTREPRISE</a:t>
            </a:r>
          </a:p>
        </p:txBody>
      </p:sp>
      <p:sp>
        <p:nvSpPr>
          <p:cNvPr id="6" name="Pladsholder til slidenummer 5">
            <a:extLst>
              <a:ext uri="{FF2B5EF4-FFF2-40B4-BE49-F238E27FC236}">
                <a16:creationId xmlns:a16="http://schemas.microsoft.com/office/drawing/2014/main" id="{77E57B8E-CD4B-57B4-607F-20E2BE60DB5F}"/>
              </a:ext>
            </a:extLst>
          </p:cNvPr>
          <p:cNvSpPr>
            <a:spLocks noGrp="1"/>
          </p:cNvSpPr>
          <p:nvPr>
            <p:ph type="sldNum" sz="quarter" idx="4"/>
          </p:nvPr>
        </p:nvSpPr>
        <p:spPr>
          <a:xfrm>
            <a:off x="5531035" y="10152285"/>
            <a:ext cx="1617485" cy="128235"/>
          </a:xfrm>
          <a:prstGeom prst="rect">
            <a:avLst/>
          </a:prstGeom>
        </p:spPr>
        <p:txBody>
          <a:bodyPr vert="horz" lIns="0" tIns="0" rIns="0" bIns="0" rtlCol="0" anchor="t" anchorCtr="0">
            <a:noAutofit/>
          </a:bodyPr>
          <a:lstStyle>
            <a:lvl1pPr algn="r">
              <a:defRPr sz="825">
                <a:solidFill>
                  <a:schemeClr val="tx2">
                    <a:alpha val="70000"/>
                  </a:schemeClr>
                </a:solidFill>
                <a:latin typeface="IBM Plex Sans" panose="020B0503050203000203" pitchFamily="34" charset="0"/>
              </a:defRPr>
            </a:lvl1pPr>
          </a:lstStyle>
          <a:p>
            <a:fld id="{5A0D23CF-C5A3-5445-819D-C647D180BB4B}" type="slidenum">
              <a:rPr lang="fr-FR" smtClean="0"/>
              <a:pPr/>
              <a:t>‹nr.›</a:t>
            </a:fld>
            <a:endParaRPr lang="fr-FR"/>
          </a:p>
        </p:txBody>
      </p:sp>
      <p:sp>
        <p:nvSpPr>
          <p:cNvPr id="7" name="Title Placeholder 6">
            <a:extLst>
              <a:ext uri="{FF2B5EF4-FFF2-40B4-BE49-F238E27FC236}">
                <a16:creationId xmlns:a16="http://schemas.microsoft.com/office/drawing/2014/main" id="{8788DFCC-4D37-4C1B-5213-E1D68A373009}"/>
              </a:ext>
            </a:extLst>
          </p:cNvPr>
          <p:cNvSpPr>
            <a:spLocks noGrp="1"/>
          </p:cNvSpPr>
          <p:nvPr>
            <p:ph type="title"/>
          </p:nvPr>
        </p:nvSpPr>
        <p:spPr>
          <a:xfrm>
            <a:off x="423976" y="751839"/>
            <a:ext cx="6583504" cy="207741"/>
          </a:xfrm>
          <a:prstGeom prst="rect">
            <a:avLst/>
          </a:prstGeom>
        </p:spPr>
        <p:txBody>
          <a:bodyPr vert="horz" wrap="square" lIns="0" tIns="0" rIns="0" bIns="0" rtlCol="0" anchor="t" anchorCtr="0">
            <a:spAutoFit/>
          </a:bodyPr>
          <a:lstStyle/>
          <a:p>
            <a:r>
              <a:rPr lang="fr-FR" noProof="0"/>
              <a:t>Click to edit Master title style</a:t>
            </a:r>
          </a:p>
        </p:txBody>
      </p:sp>
    </p:spTree>
    <p:extLst>
      <p:ext uri="{BB962C8B-B14F-4D97-AF65-F5344CB8AC3E}">
        <p14:creationId xmlns:p14="http://schemas.microsoft.com/office/powerpoint/2010/main" val="3535313756"/>
      </p:ext>
    </p:extLst>
  </p:cSld>
  <p:clrMap bg1="lt1" tx1="dk1" bg2="lt2" tx2="dk2" accent1="accent1" accent2="accent2" accent3="accent3" accent4="accent4" accent5="accent5" accent6="accent6" hlink="hlink" folHlink="folHlink"/>
  <p:sldLayoutIdLst>
    <p:sldLayoutId id="2147483678" r:id="rId1"/>
    <p:sldLayoutId id="2147483681" r:id="rId2"/>
    <p:sldLayoutId id="2147483694" r:id="rId3"/>
    <p:sldLayoutId id="2147483696" r:id="rId4"/>
    <p:sldLayoutId id="2147483690" r:id="rId5"/>
  </p:sldLayoutIdLst>
  <p:hf hdr="0" dt="0"/>
  <p:txStyles>
    <p:titleStyle>
      <a:lvl1pPr algn="l" defTabSz="914400" rtl="0" eaLnBrk="1" latinLnBrk="0" hangingPunct="1">
        <a:lnSpc>
          <a:spcPct val="90000"/>
        </a:lnSpc>
        <a:spcBef>
          <a:spcPct val="0"/>
        </a:spcBef>
        <a:buNone/>
        <a:defRPr sz="1475" b="1" kern="1200" spc="-10" baseline="0">
          <a:solidFill>
            <a:schemeClr val="tx2"/>
          </a:solidFill>
          <a:latin typeface="+mj-lt"/>
          <a:ea typeface="+mj-ea"/>
          <a:cs typeface="+mj-cs"/>
        </a:defRPr>
      </a:lvl1pPr>
    </p:titleStyle>
    <p:bodyStyle>
      <a:lvl1pPr marL="59998" indent="-59998" algn="l" defTabSz="914400" rtl="0" eaLnBrk="1" latinLnBrk="0" hangingPunct="1">
        <a:lnSpc>
          <a:spcPct val="106000"/>
        </a:lnSpc>
        <a:spcBef>
          <a:spcPts val="0"/>
        </a:spcBef>
        <a:buFont typeface="Arial" panose="020B0604020202020204" pitchFamily="34" charset="0"/>
        <a:buChar char="•"/>
        <a:defRPr sz="725" b="0" kern="1200" spc="-10" baseline="0">
          <a:solidFill>
            <a:schemeClr val="tx2"/>
          </a:solidFill>
          <a:latin typeface="+mn-lt"/>
          <a:ea typeface="+mn-ea"/>
          <a:cs typeface="+mn-cs"/>
        </a:defRPr>
      </a:lvl1pPr>
      <a:lvl2pPr marL="119995"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2pPr>
      <a:lvl3pPr marL="179993"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3pPr>
      <a:lvl4pPr marL="239990"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4pPr>
      <a:lvl5pPr marL="299988"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5pPr>
      <a:lvl6pPr marL="2095416"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6pPr>
      <a:lvl7pPr marL="2476401"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7pPr>
      <a:lvl8pPr marL="2857386"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8pPr>
      <a:lvl9pPr marL="3238370"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9pPr>
    </p:bodyStyle>
    <p:otherStyle>
      <a:defPPr>
        <a:defRPr lang="fr-FR"/>
      </a:defPPr>
      <a:lvl1pPr marL="0" algn="l" defTabSz="914400" rtl="0" eaLnBrk="1" latinLnBrk="0" hangingPunct="1">
        <a:defRPr sz="1475" kern="1200">
          <a:solidFill>
            <a:schemeClr val="tx1"/>
          </a:solidFill>
          <a:latin typeface="+mn-lt"/>
          <a:ea typeface="+mn-ea"/>
          <a:cs typeface="+mn-cs"/>
        </a:defRPr>
      </a:lvl1pPr>
      <a:lvl2pPr marL="380985" algn="l" defTabSz="914400" rtl="0" eaLnBrk="1" latinLnBrk="0" hangingPunct="1">
        <a:defRPr sz="1475" kern="1200">
          <a:solidFill>
            <a:schemeClr val="tx1"/>
          </a:solidFill>
          <a:latin typeface="+mn-lt"/>
          <a:ea typeface="+mn-ea"/>
          <a:cs typeface="+mn-cs"/>
        </a:defRPr>
      </a:lvl2pPr>
      <a:lvl3pPr marL="761970" algn="l" defTabSz="914400" rtl="0" eaLnBrk="1" latinLnBrk="0" hangingPunct="1">
        <a:defRPr sz="1475" kern="1200">
          <a:solidFill>
            <a:schemeClr val="tx1"/>
          </a:solidFill>
          <a:latin typeface="+mn-lt"/>
          <a:ea typeface="+mn-ea"/>
          <a:cs typeface="+mn-cs"/>
        </a:defRPr>
      </a:lvl3pPr>
      <a:lvl4pPr marL="1142954" algn="l" defTabSz="914400" rtl="0" eaLnBrk="1" latinLnBrk="0" hangingPunct="1">
        <a:defRPr sz="1475" kern="1200">
          <a:solidFill>
            <a:schemeClr val="tx1"/>
          </a:solidFill>
          <a:latin typeface="+mn-lt"/>
          <a:ea typeface="+mn-ea"/>
          <a:cs typeface="+mn-cs"/>
        </a:defRPr>
      </a:lvl4pPr>
      <a:lvl5pPr marL="1523939" algn="l" defTabSz="914400" rtl="0" eaLnBrk="1" latinLnBrk="0" hangingPunct="1">
        <a:defRPr sz="1475" kern="1200">
          <a:solidFill>
            <a:schemeClr val="tx1"/>
          </a:solidFill>
          <a:latin typeface="+mn-lt"/>
          <a:ea typeface="+mn-ea"/>
          <a:cs typeface="+mn-cs"/>
        </a:defRPr>
      </a:lvl5pPr>
      <a:lvl6pPr marL="1904924" algn="l" defTabSz="914400" rtl="0" eaLnBrk="1" latinLnBrk="0" hangingPunct="1">
        <a:defRPr sz="1475" kern="1200">
          <a:solidFill>
            <a:schemeClr val="tx1"/>
          </a:solidFill>
          <a:latin typeface="+mn-lt"/>
          <a:ea typeface="+mn-ea"/>
          <a:cs typeface="+mn-cs"/>
        </a:defRPr>
      </a:lvl6pPr>
      <a:lvl7pPr marL="2285909" algn="l" defTabSz="914400" rtl="0" eaLnBrk="1" latinLnBrk="0" hangingPunct="1">
        <a:defRPr sz="1475" kern="1200">
          <a:solidFill>
            <a:schemeClr val="tx1"/>
          </a:solidFill>
          <a:latin typeface="+mn-lt"/>
          <a:ea typeface="+mn-ea"/>
          <a:cs typeface="+mn-cs"/>
        </a:defRPr>
      </a:lvl7pPr>
      <a:lvl8pPr marL="2666893" algn="l" defTabSz="914400" rtl="0" eaLnBrk="1" latinLnBrk="0" hangingPunct="1">
        <a:defRPr sz="1475" kern="1200">
          <a:solidFill>
            <a:schemeClr val="tx1"/>
          </a:solidFill>
          <a:latin typeface="+mn-lt"/>
          <a:ea typeface="+mn-ea"/>
          <a:cs typeface="+mn-cs"/>
        </a:defRPr>
      </a:lvl8pPr>
      <a:lvl9pPr marL="3047878" algn="l" defTabSz="914400" rtl="0" eaLnBrk="1" latinLnBrk="0" hangingPunct="1">
        <a:defRPr sz="1475"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26B43"/>
          </p15:clr>
        </p15:guide>
        <p15:guide id="2" pos="7680" userDrawn="1">
          <p15:clr>
            <a:srgbClr val="F26B43"/>
          </p15:clr>
        </p15:guide>
        <p15:guide id="3" pos="320" userDrawn="1">
          <p15:clr>
            <a:srgbClr val="F26B43"/>
          </p15:clr>
        </p15:guide>
        <p15:guide id="4" pos="2533" userDrawn="1">
          <p15:clr>
            <a:srgbClr val="F26B43"/>
          </p15:clr>
        </p15:guide>
        <p15:guide id="5" pos="2733" userDrawn="1">
          <p15:clr>
            <a:srgbClr val="F26B43"/>
          </p15:clr>
        </p15:guide>
        <p15:guide id="6" pos="4946" userDrawn="1">
          <p15:clr>
            <a:srgbClr val="F26B43"/>
          </p15:clr>
        </p15:guide>
        <p15:guide id="7" pos="5146" userDrawn="1">
          <p15:clr>
            <a:srgbClr val="F26B43"/>
          </p15:clr>
        </p15:guide>
        <p15:guide id="8" pos="7360" userDrawn="1">
          <p15:clr>
            <a:srgbClr val="F26B43"/>
          </p15:clr>
        </p15:guide>
        <p15:guide id="9" orient="horz" userDrawn="1">
          <p15:clr>
            <a:srgbClr val="F26B43"/>
          </p15:clr>
        </p15:guide>
        <p15:guide id="10" orient="horz" pos="4320" userDrawn="1">
          <p15:clr>
            <a:srgbClr val="F26B43"/>
          </p15:clr>
        </p15:guide>
        <p15:guide id="11" orient="horz" pos="320" userDrawn="1">
          <p15:clr>
            <a:srgbClr val="F26B43"/>
          </p15:clr>
        </p15:guide>
        <p15:guide id="12" orient="horz" pos="4000" userDrawn="1">
          <p15:clr>
            <a:srgbClr val="F26B43"/>
          </p15:clr>
        </p15:guide>
        <p15:guide id="13" orient="horz" pos="6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92A8525A-459C-C975-663E-23EF33D3BFBC}"/>
              </a:ext>
            </a:extLst>
          </p:cNvPr>
          <p:cNvSpPr>
            <a:spLocks noGrp="1"/>
          </p:cNvSpPr>
          <p:nvPr>
            <p:ph type="title"/>
          </p:nvPr>
        </p:nvSpPr>
        <p:spPr>
          <a:xfrm>
            <a:off x="411480" y="6237584"/>
            <a:ext cx="6737040" cy="126952"/>
          </a:xfrm>
        </p:spPr>
        <p:txBody>
          <a:bodyPr/>
          <a:lstStyle/>
          <a:p>
            <a:r>
              <a:rPr lang="fr-FR" noProof="0"/>
              <a:t xml:space="preserve">RAPPORT ESG {{insert_year}}</a:t>
            </a:r>
          </a:p>
        </p:txBody>
      </p:sp>
      <p:sp>
        <p:nvSpPr>
          <p:cNvPr id="4" name="Footer Placeholder 3">
            <a:extLst>
              <a:ext uri="{FF2B5EF4-FFF2-40B4-BE49-F238E27FC236}">
                <a16:creationId xmlns:a16="http://schemas.microsoft.com/office/drawing/2014/main" id="{734E8629-539E-87AE-7B49-CC26832ADCE2}"/>
              </a:ext>
            </a:extLst>
          </p:cNvPr>
          <p:cNvSpPr>
            <a:spLocks noGrp="1"/>
          </p:cNvSpPr>
          <p:nvPr>
            <p:ph type="ftr" sz="quarter" idx="15"/>
          </p:nvPr>
        </p:nvSpPr>
        <p:spPr>
          <a:xfrm>
            <a:off x="411480" y="6707538"/>
            <a:ext cx="6737040" cy="234336"/>
          </a:xfrm>
        </p:spPr>
        <p:txBody>
          <a:bodyPr/>
          <a:lstStyle/>
          <a:p>
            <a:r>
              <a:rPr lang="fr-FR" noProof="0"/>
              <a:t>{{company_name}}</a:t>
            </a:r>
            <a:endParaRPr lang="fr-FR" b="0" noProof="0"/>
          </a:p>
        </p:txBody>
      </p:sp>
    </p:spTree>
    <p:extLst>
      <p:ext uri="{BB962C8B-B14F-4D97-AF65-F5344CB8AC3E}">
        <p14:creationId xmlns:p14="http://schemas.microsoft.com/office/powerpoint/2010/main" val="24285577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41FDDEE7-C270-1824-E7E0-80B15F3FDDC2}"/>
              </a:ext>
            </a:extLst>
          </p:cNvPr>
          <p:cNvSpPr>
            <a:spLocks noGrp="1"/>
          </p:cNvSpPr>
          <p:nvPr>
            <p:ph type="title"/>
          </p:nvPr>
        </p:nvSpPr>
        <p:spPr>
          <a:xfrm>
            <a:off x="411480" y="834189"/>
            <a:ext cx="6737040" cy="415482"/>
          </a:xfrm>
        </p:spPr>
        <p:txBody>
          <a:bodyPr/>
          <a:lstStyle/>
          <a:p>
            <a:r>
              <a:rPr lang="fr-FR" noProof="0"/>
              <a:t xml:space="preserve">Rapport ESG</a:t>
            </a:r>
            <a:r>
              <a:rPr lang="fr-FR" b="0" noProof="0">
                <a:solidFill>
                  <a:schemeClr val="accent2"/>
                </a:solidFill>
                <a:ea typeface="+mn-ea"/>
                <a:cs typeface="+mn-cs"/>
              </a:rPr>
              <a:t> </a:t>
            </a:r>
            <a:br>
              <a:rPr lang="fr-FR" b="0" noProof="0">
                <a:solidFill>
                  <a:schemeClr val="accent2"/>
                </a:solidFill>
                <a:ea typeface="+mn-ea"/>
                <a:cs typeface="+mn-cs"/>
              </a:rPr>
            </a:br>
            <a:endParaRPr lang="fr-FR" b="0" noProof="0">
              <a:solidFill>
                <a:schemeClr val="accent2"/>
              </a:solidFill>
              <a:ea typeface="+mn-ea"/>
              <a:cs typeface="+mn-cs"/>
            </a:endParaRPr>
          </a:p>
        </p:txBody>
      </p:sp>
      <p:sp>
        <p:nvSpPr>
          <p:cNvPr id="4" name="Text Placeholder 2">
            <a:extLst>
              <a:ext uri="{FF2B5EF4-FFF2-40B4-BE49-F238E27FC236}">
                <a16:creationId xmlns:a16="http://schemas.microsoft.com/office/drawing/2014/main" id="{34D83B42-66BB-638E-55C1-84FD1F7A8354}"/>
              </a:ext>
            </a:extLst>
          </p:cNvPr>
          <p:cNvSpPr>
            <a:spLocks noGrp="1"/>
          </p:cNvSpPr>
          <p:nvPr>
            <p:ph type="body" sz="quarter" idx="17"/>
          </p:nvPr>
        </p:nvSpPr>
        <p:spPr>
          <a:xfrm>
            <a:off x="411480" y="877124"/>
            <a:ext cx="6598920" cy="4470221"/>
          </a:xfrm>
        </p:spPr>
        <p:txBody>
          <a:bodyPr/>
          <a:lstStyle/>
          <a:p>
            <a:pPr>
              <a:lnSpc>
                <a:spcPct val="150000"/>
              </a:lnSpc>
              <a:tabLst>
                <a:tab pos="239439" algn="l"/>
                <a:tab pos="388922" algn="l"/>
                <a:tab pos="3737091" algn="r"/>
              </a:tabLst>
            </a:pPr>
            <a:endParaRPr lang="fr-FR" sz="975" b="1" noProof="0" dirty="0">
              <a:latin typeface="+mj-lt"/>
            </a:endParaRPr>
          </a:p>
          <a:p>
            <a:pPr>
              <a:lnSpc>
                <a:spcPct val="150000"/>
              </a:lnSpc>
              <a:tabLst>
                <a:tab pos="239439" algn="l"/>
                <a:tab pos="388922" algn="l"/>
                <a:tab pos="3737091" algn="r"/>
              </a:tabLst>
            </a:pPr>
            <a:endParaRPr lang="fr-FR" sz="975" b="1" noProof="0" dirty="0">
              <a:latin typeface="+mj-lt"/>
            </a:endParaRPr>
          </a:p>
          <a:p>
            <a:pPr marL="190492" indent="-221991">
              <a:lnSpc>
                <a:spcPct val="150000"/>
              </a:lnSpc>
              <a:buFont typeface="+mj-lt"/>
              <a:buAutoNum type="arabicPeriod"/>
              <a:tabLst>
                <a:tab pos="239439" algn="l"/>
                <a:tab pos="388922" algn="l"/>
                <a:tab pos="3737091" algn="r"/>
              </a:tabLst>
            </a:pPr>
            <a:r>
              <a:rPr lang="fr-FR" sz="975" b="1" noProof="0">
                <a:latin typeface="+mj-lt"/>
              </a:rPr>
              <a:t xml:space="preserve">Informations générales				</a:t>
            </a:r>
            <a:endParaRPr lang="fr-FR" sz="975" noProof="0" dirty="0">
              <a:solidFill>
                <a:schemeClr val="accent2"/>
              </a:solidFill>
              <a:latin typeface="+mj-lt"/>
            </a:endParaRPr>
          </a:p>
          <a:p>
            <a:pPr marL="190492" indent="-221991">
              <a:lnSpc>
                <a:spcPct val="150000"/>
              </a:lnSpc>
              <a:buFont typeface="+mj-lt"/>
              <a:buAutoNum type="arabicPeriod"/>
              <a:tabLst>
                <a:tab pos="239439" algn="l"/>
                <a:tab pos="388922" algn="l"/>
                <a:tab pos="3737091" algn="r"/>
              </a:tabLst>
            </a:pPr>
            <a:r>
              <a:rPr lang="fr-FR" sz="975" b="1" kern="1200" spc="-10" noProof="0">
                <a:solidFill>
                  <a:schemeClr val="tx2"/>
                </a:solidFill>
                <a:latin typeface="+mn-lt"/>
                <a:ea typeface="+mn-ea"/>
                <a:cs typeface="+mn-cs"/>
              </a:rPr>
              <a:t xml:space="preserve">Pratiques, politiques et initiatives pour une économie plus durable	</a:t>
            </a:r>
            <a:endParaRPr lang="fr-FR" sz="975" b="1" noProof="0" dirty="0">
              <a:latin typeface="+mj-lt"/>
            </a:endParaRPr>
          </a:p>
          <a:p>
            <a:pPr marL="190492" indent="-221991">
              <a:lnSpc>
                <a:spcPct val="150000"/>
              </a:lnSpc>
              <a:buFont typeface="+mj-lt"/>
              <a:buAutoNum type="arabicPeriod"/>
              <a:tabLst>
                <a:tab pos="239439" algn="l"/>
                <a:tab pos="388922" algn="l"/>
                <a:tab pos="3737091" algn="r"/>
              </a:tabLst>
            </a:pPr>
            <a:r>
              <a:rPr lang="fr-FR" sz="975" b="1" noProof="0">
                <a:latin typeface="+mj-lt"/>
              </a:rPr>
              <a:t xml:space="preserve">Consommation d’énergie				</a:t>
            </a:r>
            <a:endParaRPr lang="fr-FR" sz="975" noProof="0" dirty="0">
              <a:latin typeface="+mj-lt"/>
            </a:endParaRPr>
          </a:p>
          <a:p>
            <a:pPr marL="190492" indent="-221991">
              <a:lnSpc>
                <a:spcPct val="150000"/>
              </a:lnSpc>
              <a:buFont typeface="+mj-lt"/>
              <a:buAutoNum type="arabicPeriod"/>
              <a:tabLst>
                <a:tab pos="239439" algn="l"/>
                <a:tab pos="388922" algn="l"/>
                <a:tab pos="3737091" algn="r"/>
              </a:tabLst>
            </a:pPr>
            <a:r>
              <a:rPr lang="fr-FR" sz="975" b="1" noProof="0">
                <a:latin typeface="+mj-lt"/>
              </a:rPr>
              <a:t xml:space="preserve">Émissions de CO₂e 				</a:t>
            </a:r>
            <a:endParaRPr lang="fr-FR" sz="975" noProof="0" dirty="0">
              <a:latin typeface="+mj-lt"/>
            </a:endParaRPr>
          </a:p>
          <a:p>
            <a:pPr marL="190492" indent="-221991">
              <a:lnSpc>
                <a:spcPct val="150000"/>
              </a:lnSpc>
              <a:buFont typeface="+mj-lt"/>
              <a:buAutoNum type="arabicPeriod"/>
              <a:tabLst>
                <a:tab pos="239439" algn="l"/>
                <a:tab pos="388922" algn="l"/>
                <a:tab pos="3737091" algn="r"/>
              </a:tabLst>
            </a:pPr>
            <a:r>
              <a:rPr lang="fr-FR" sz="975" b="1" noProof="0">
                <a:latin typeface="+mj-lt"/>
              </a:rPr>
              <a:t xml:space="preserve">Pollution de l’air, de l’eau et des sols</a:t>
            </a:r>
            <a:r>
              <a:rPr lang="fr-FR" sz="975" noProof="0">
                <a:latin typeface="+mj-lt"/>
              </a:rPr>
              <a:t>				</a:t>
            </a:r>
          </a:p>
          <a:p>
            <a:pPr marL="190492" indent="-221991">
              <a:lnSpc>
                <a:spcPct val="150000"/>
              </a:lnSpc>
              <a:buFont typeface="+mj-lt"/>
              <a:buAutoNum type="arabicPeriod"/>
              <a:tabLst>
                <a:tab pos="239439" algn="l"/>
                <a:tab pos="388922" algn="l"/>
                <a:tab pos="3737091" algn="r"/>
              </a:tabLst>
            </a:pPr>
            <a:r>
              <a:rPr lang="fr-FR" sz="975" b="1" noProof="0">
                <a:latin typeface="+mj-lt"/>
              </a:rPr>
              <a:t xml:space="preserve">Biodiversité</a:t>
            </a:r>
            <a:r>
              <a:rPr lang="fr-FR" sz="975" noProof="0">
                <a:latin typeface="+mj-lt"/>
              </a:rPr>
              <a:t>				</a:t>
            </a:r>
          </a:p>
          <a:p>
            <a:pPr marL="190492" indent="-221991">
              <a:lnSpc>
                <a:spcPct val="150000"/>
              </a:lnSpc>
              <a:buFont typeface="+mj-lt"/>
              <a:buAutoNum type="arabicPeriod"/>
              <a:tabLst>
                <a:tab pos="239439" algn="l"/>
                <a:tab pos="388922" algn="l"/>
                <a:tab pos="3737091" algn="r"/>
              </a:tabLst>
            </a:pPr>
            <a:r>
              <a:rPr lang="fr-FR" sz="975" b="1" noProof="0">
                <a:latin typeface="+mj-lt"/>
              </a:rPr>
              <a:t xml:space="preserve">Eau	</a:t>
            </a:r>
            <a:r>
              <a:rPr lang="fr-FR" sz="975" noProof="0">
                <a:latin typeface="+mj-lt"/>
              </a:rPr>
              <a:t> 			</a:t>
            </a:r>
          </a:p>
          <a:p>
            <a:pPr marL="190492" indent="-221991">
              <a:lnSpc>
                <a:spcPct val="150000"/>
              </a:lnSpc>
              <a:buFont typeface="+mj-lt"/>
              <a:buAutoNum type="arabicPeriod"/>
              <a:tabLst>
                <a:tab pos="239439" algn="l"/>
                <a:tab pos="388922" algn="l"/>
                <a:tab pos="3737091" algn="r"/>
              </a:tabLst>
            </a:pPr>
            <a:r>
              <a:rPr lang="fr-FR" sz="975" b="1" noProof="0">
                <a:latin typeface="+mj-lt"/>
              </a:rPr>
              <a:t xml:space="preserve">Utilisation des ressources, économie circulaire et gestion des déchets</a:t>
            </a:r>
            <a:r>
              <a:rPr lang="fr-FR" sz="975" noProof="0">
                <a:latin typeface="+mj-lt"/>
              </a:rPr>
              <a:t>				</a:t>
            </a:r>
            <a:endParaRPr lang="fr-FR" sz="975" noProof="0" dirty="0">
              <a:solidFill>
                <a:schemeClr val="accent2"/>
              </a:solidFill>
              <a:latin typeface="+mj-lt"/>
            </a:endParaRPr>
          </a:p>
          <a:p>
            <a:pPr marL="190492" indent="-221991">
              <a:lnSpc>
                <a:spcPct val="150000"/>
              </a:lnSpc>
              <a:buFont typeface="+mj-lt"/>
              <a:buAutoNum type="arabicPeriod"/>
              <a:tabLst>
                <a:tab pos="239439" algn="l"/>
                <a:tab pos="388922" algn="l"/>
                <a:tab pos="3737091" algn="r"/>
              </a:tabLst>
            </a:pPr>
            <a:r>
              <a:rPr lang="fr-FR" sz="975" b="1" noProof="0">
                <a:latin typeface="+mj-lt"/>
              </a:rPr>
              <a:t xml:space="preserve">Personnel : caractéristiques générales</a:t>
            </a:r>
            <a:r>
              <a:rPr lang="fr-FR" sz="975" noProof="0">
                <a:latin typeface="+mj-lt"/>
              </a:rPr>
              <a:t>				</a:t>
            </a:r>
            <a:endParaRPr lang="fr-FR" sz="975" noProof="0" dirty="0">
              <a:solidFill>
                <a:schemeClr val="accent2"/>
              </a:solidFill>
              <a:latin typeface="+mj-lt"/>
            </a:endParaRPr>
          </a:p>
          <a:p>
            <a:pPr marL="190492" indent="-221991">
              <a:lnSpc>
                <a:spcPct val="150000"/>
              </a:lnSpc>
              <a:buFont typeface="+mj-lt"/>
              <a:buAutoNum type="arabicPeriod"/>
              <a:tabLst>
                <a:tab pos="239439" algn="l"/>
                <a:tab pos="388922" algn="l"/>
                <a:tab pos="3737091" algn="r"/>
              </a:tabLst>
            </a:pPr>
            <a:r>
              <a:rPr lang="fr-FR" sz="975" b="1" noProof="0">
                <a:latin typeface="+mj-lt"/>
              </a:rPr>
              <a:t xml:space="preserve">Personnel : santé et sécurité</a:t>
            </a:r>
            <a:r>
              <a:rPr lang="fr-FR" sz="975" noProof="0">
                <a:latin typeface="+mj-lt"/>
              </a:rPr>
              <a:t>				</a:t>
            </a:r>
            <a:endParaRPr lang="fr-FR" sz="975" noProof="0" dirty="0">
              <a:solidFill>
                <a:schemeClr val="accent2"/>
              </a:solidFill>
              <a:latin typeface="+mj-lt"/>
            </a:endParaRPr>
          </a:p>
          <a:p>
            <a:pPr marL="190492" indent="-221991">
              <a:lnSpc>
                <a:spcPct val="150000"/>
              </a:lnSpc>
              <a:buFont typeface="+mj-lt"/>
              <a:buAutoNum type="arabicPeriod"/>
              <a:tabLst>
                <a:tab pos="239439" algn="l"/>
                <a:tab pos="388922" algn="l"/>
                <a:tab pos="3737091" algn="r"/>
              </a:tabLst>
            </a:pPr>
            <a:r>
              <a:rPr lang="fr-FR" sz="975" b="1" noProof="0">
                <a:latin typeface="+mj-lt"/>
              </a:rPr>
              <a:t xml:space="preserve">Personnel : rémunération, négociation collective et formation</a:t>
            </a:r>
            <a:r>
              <a:rPr lang="fr-FR" sz="975" noProof="0">
                <a:latin typeface="+mj-lt"/>
              </a:rPr>
              <a:t>		</a:t>
            </a:r>
            <a:endParaRPr lang="fr-FR" sz="975" noProof="0" dirty="0">
              <a:solidFill>
                <a:schemeClr val="accent2"/>
              </a:solidFill>
              <a:latin typeface="+mj-lt"/>
            </a:endParaRPr>
          </a:p>
          <a:p>
            <a:pPr marL="190492" indent="-221991">
              <a:lnSpc>
                <a:spcPct val="150000"/>
              </a:lnSpc>
              <a:buFont typeface="+mj-lt"/>
              <a:buAutoNum type="arabicPeriod"/>
              <a:tabLst>
                <a:tab pos="239439" algn="l"/>
                <a:tab pos="388922" algn="l"/>
                <a:tab pos="3737091" algn="r"/>
              </a:tabLst>
            </a:pPr>
            <a:r>
              <a:rPr lang="fr-FR" sz="975" b="1" noProof="0">
                <a:latin typeface="+mj-lt"/>
              </a:rPr>
              <a:t xml:space="preserve">Conduite des affaires</a:t>
            </a:r>
            <a:r>
              <a:rPr lang="fr-FR" sz="975" noProof="0">
                <a:latin typeface="+mj-lt"/>
              </a:rPr>
              <a:t>	 			</a:t>
            </a:r>
            <a:endParaRPr lang="fr-FR" sz="975" noProof="0" dirty="0">
              <a:solidFill>
                <a:schemeClr val="accent2"/>
              </a:solidFill>
              <a:latin typeface="+mj-lt"/>
            </a:endParaRPr>
          </a:p>
          <a:p>
            <a:pPr>
              <a:tabLst>
                <a:tab pos="239439" algn="l"/>
                <a:tab pos="388922" algn="l"/>
                <a:tab pos="3737091" algn="r"/>
              </a:tabLst>
            </a:pPr>
            <a:endParaRPr lang="fr-FR" sz="975" noProof="0" dirty="0">
              <a:latin typeface="+mj-lt"/>
            </a:endParaRPr>
          </a:p>
          <a:p>
            <a:pPr>
              <a:tabLst>
                <a:tab pos="239439" algn="l"/>
                <a:tab pos="388922" algn="l"/>
                <a:tab pos="3737091" algn="r"/>
              </a:tabLst>
            </a:pPr>
            <a:endParaRPr lang="fr-FR" sz="975" noProof="0" dirty="0">
              <a:latin typeface="+mj-lt"/>
            </a:endParaRPr>
          </a:p>
          <a:p>
            <a:pPr>
              <a:tabLst>
                <a:tab pos="239439" algn="l"/>
                <a:tab pos="388922" algn="l"/>
                <a:tab pos="3737091" algn="r"/>
              </a:tabLst>
            </a:pPr>
            <a:endParaRPr lang="fr-FR" noProof="0" dirty="0">
              <a:latin typeface="+mj-lt"/>
            </a:endParaRPr>
          </a:p>
          <a:p>
            <a:pPr>
              <a:tabLst>
                <a:tab pos="239439" algn="l"/>
                <a:tab pos="388922" algn="l"/>
                <a:tab pos="3737091" algn="r"/>
              </a:tabLst>
            </a:pPr>
            <a:endParaRPr lang="fr-FR" noProof="0" dirty="0">
              <a:latin typeface="+mj-lt"/>
            </a:endParaRPr>
          </a:p>
        </p:txBody>
      </p:sp>
      <p:sp>
        <p:nvSpPr>
          <p:cNvPr id="5" name="Footer Placeholder 4">
            <a:extLst>
              <a:ext uri="{FF2B5EF4-FFF2-40B4-BE49-F238E27FC236}">
                <a16:creationId xmlns:a16="http://schemas.microsoft.com/office/drawing/2014/main" id="{663AAC2A-0E1A-03B9-5DD7-E396252E7CF3}"/>
              </a:ext>
              <a:ext uri="{C183D7F6-B498-43B3-948B-1728B52AA6E4}">
                <adec:decorative xmlns:adec="http://schemas.microsoft.com/office/drawing/2017/decorative" val="1"/>
              </a:ext>
            </a:extLst>
          </p:cNvPr>
          <p:cNvSpPr>
            <a:spLocks noGrp="1"/>
          </p:cNvSpPr>
          <p:nvPr>
            <p:ph type="ftr" sz="quarter" idx="22"/>
          </p:nvPr>
        </p:nvSpPr>
        <p:spPr>
          <a:xfrm>
            <a:off x="411480" y="365760"/>
            <a:ext cx="6737040" cy="128235"/>
          </a:xfrm>
        </p:spPr>
        <p:txBody>
          <a:bodyPr/>
          <a:lstStyle/>
          <a:p>
            <a:r>
              <a:rPr lang="fr-FR" noProof="0"/>
              <a:t>{{company_name}}</a:t>
            </a:r>
          </a:p>
        </p:txBody>
      </p:sp>
      <p:sp>
        <p:nvSpPr>
          <p:cNvPr id="2" name="Slide Number Placeholder 5">
            <a:extLst>
              <a:ext uri="{FF2B5EF4-FFF2-40B4-BE49-F238E27FC236}">
                <a16:creationId xmlns:a16="http://schemas.microsoft.com/office/drawing/2014/main" id="{EAF64D3B-AE78-BA15-5D3D-CEE3410664A0}"/>
              </a:ext>
              <a:ext uri="{C183D7F6-B498-43B3-948B-1728B52AA6E4}">
                <adec:decorative xmlns:adec="http://schemas.microsoft.com/office/drawing/2017/decorative" val="1"/>
              </a:ext>
            </a:extLst>
          </p:cNvPr>
          <p:cNvSpPr>
            <a:spLocks noGrp="1"/>
          </p:cNvSpPr>
          <p:nvPr>
            <p:ph type="sldNum" sz="quarter" idx="23"/>
          </p:nvPr>
        </p:nvSpPr>
        <p:spPr>
          <a:xfrm>
            <a:off x="3853152" y="10152285"/>
            <a:ext cx="3295368" cy="128235"/>
          </a:xfrm>
        </p:spPr>
        <p:txBody>
          <a:bodyPr/>
          <a:lstStyle/>
          <a:p>
            <a:fld id="{5A0D23CF-C5A3-5445-819D-C647D180BB4B}" type="slidenum">
              <a:rPr lang="fr-FR" noProof="0" smtClean="0"/>
              <a:pPr/>
              <a:t>2</a:t>
            </a:fld>
            <a:endParaRPr lang="fr-FR" noProof="0"/>
          </a:p>
        </p:txBody>
      </p:sp>
    </p:spTree>
    <p:extLst>
      <p:ext uri="{BB962C8B-B14F-4D97-AF65-F5344CB8AC3E}">
        <p14:creationId xmlns:p14="http://schemas.microsoft.com/office/powerpoint/2010/main" val="17205708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a:xfrm>
            <a:off x="411480" y="805890"/>
            <a:ext cx="6737040" cy="207741"/>
          </a:xfrm>
        </p:spPr>
        <p:txBody>
          <a:bodyPr/>
          <a:lstStyle/>
          <a:p>
            <a:r>
              <a:rPr lang="fr-FR" noProof="0"/>
              <a:t xml:space="preserve">Base de préparation (B1) </a:t>
            </a:r>
          </a:p>
        </p:txBody>
      </p:sp>
      <p:sp>
        <p:nvSpPr>
          <p:cNvPr id="15" name="Text Placeholder 2">
            <a:extLst>
              <a:ext uri="{FF2B5EF4-FFF2-40B4-BE49-F238E27FC236}">
                <a16:creationId xmlns:a16="http://schemas.microsoft.com/office/drawing/2014/main" id="{BACC1DA0-DFDE-C844-7562-0528953EC068}"/>
              </a:ext>
            </a:extLst>
          </p:cNvPr>
          <p:cNvSpPr txBox="1">
            <a:spLocks/>
          </p:cNvSpPr>
          <p:nvPr/>
        </p:nvSpPr>
        <p:spPr>
          <a:xfrm>
            <a:off x="411480" y="3496881"/>
            <a:ext cx="3295368" cy="143157"/>
          </a:xfrm>
          <a:prstGeom prst="rect">
            <a:avLst/>
          </a:prstGeom>
        </p:spPr>
        <p:txBody>
          <a:bodyPr lIns="0" tIns="0" rIns="0" bIns="0"/>
          <a:lstStyle>
            <a:lvl1pPr marL="59998" indent="-59998" algn="l" defTabSz="914400" rtl="0" eaLnBrk="1" latinLnBrk="0" hangingPunct="1">
              <a:lnSpc>
                <a:spcPct val="106000"/>
              </a:lnSpc>
              <a:spcBef>
                <a:spcPts val="0"/>
              </a:spcBef>
              <a:buFont typeface="Arial" panose="020B0604020202020204" pitchFamily="34" charset="0"/>
              <a:buChar char="•"/>
              <a:defRPr sz="725" b="0" kern="1200" spc="-10" baseline="0">
                <a:solidFill>
                  <a:schemeClr val="tx2"/>
                </a:solidFill>
                <a:latin typeface="+mn-lt"/>
                <a:ea typeface="+mn-ea"/>
                <a:cs typeface="+mn-cs"/>
              </a:defRPr>
            </a:lvl1pPr>
            <a:lvl2pPr marL="119995"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2pPr>
            <a:lvl3pPr marL="179993"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3pPr>
            <a:lvl4pPr marL="239990"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4pPr>
            <a:lvl5pPr marL="299988"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5pPr>
            <a:lvl6pPr marL="2095416"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6pPr>
            <a:lvl7pPr marL="2476401"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7pPr>
            <a:lvl8pPr marL="2857386"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8pPr>
            <a:lvl9pPr marL="3238370"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9pPr>
          </a:lstStyle>
          <a:p>
            <a:pPr marL="0" indent="0">
              <a:buNone/>
            </a:pPr>
            <a:endParaRPr lang="fr-FR" noProof="0">
              <a:solidFill>
                <a:schemeClr val="accent2"/>
              </a:solidFill>
            </a:endParaRPr>
          </a:p>
        </p:txBody>
      </p:sp>
      <p:graphicFrame>
        <p:nvGraphicFramePr>
          <p:cNvPr id="16" name="Table 2">
            <a:extLst>
              <a:ext uri="{FF2B5EF4-FFF2-40B4-BE49-F238E27FC236}">
                <a16:creationId xmlns:a16="http://schemas.microsoft.com/office/drawing/2014/main" id="{693470FC-B633-430A-0791-18B9C81D050C}"/>
              </a:ext>
            </a:extLst>
          </p:cNvPr>
          <p:cNvGraphicFramePr>
            <a:graphicFrameLocks noGrp="1"/>
          </p:cNvGraphicFramePr>
          <p:nvPr>
            <p:extLst>
              <p:ext uri="{D42A27DB-BD31-4B8C-83A1-F6EECF244321}">
                <p14:modId xmlns:p14="http://schemas.microsoft.com/office/powerpoint/2010/main" val="400147983"/>
              </p:ext>
            </p:extLst>
          </p:nvPr>
        </p:nvGraphicFramePr>
        <p:xfrm>
          <a:off x="411480" y="5403107"/>
          <a:ext cx="3295368" cy="770151"/>
        </p:xfrm>
        <a:graphic>
          <a:graphicData uri="http://schemas.openxmlformats.org/drawingml/2006/table">
            <a:tbl>
              <a:tblPr firstRow="1">
                <a:tableStyleId>{2A488322-F2BA-4B5B-9748-0D474271808F}</a:tableStyleId>
              </a:tblPr>
              <a:tblGrid>
                <a:gridCol w="1523870">
                  <a:extLst>
                    <a:ext uri="{9D8B030D-6E8A-4147-A177-3AD203B41FA5}">
                      <a16:colId xmlns:a16="http://schemas.microsoft.com/office/drawing/2014/main" val="1902117154"/>
                    </a:ext>
                  </a:extLst>
                </a:gridCol>
                <a:gridCol w="1771498">
                  <a:extLst>
                    <a:ext uri="{9D8B030D-6E8A-4147-A177-3AD203B41FA5}">
                      <a16:colId xmlns:a16="http://schemas.microsoft.com/office/drawing/2014/main" val="1904521774"/>
                    </a:ext>
                  </a:extLst>
                </a:gridCol>
              </a:tblGrid>
              <a:tr h="255788">
                <a:tc gridSpan="2">
                  <a:txBody>
                    <a:bodyPr/>
                    <a:lstStyle/>
                    <a:p>
                      <a:pPr marL="0" algn="l" defTabSz="914400" rtl="0" eaLnBrk="1" latinLnBrk="0" hangingPunct="1"/>
                      <a:r>
                        <a:rPr lang="fr-FR" sz="975" b="1" kern="1200" spc="-10" noProof="0">
                          <a:solidFill>
                            <a:schemeClr val="tx2"/>
                          </a:solidFill>
                          <a:latin typeface="+mn-lt"/>
                          <a:ea typeface="+mn-ea"/>
                          <a:cs typeface="+mn-cs"/>
                        </a:rPr>
                        <a:t xml:space="preserve">Liste des filiales faisant l’objet du présent rapport ESG </a:t>
                      </a:r>
                      <a:r>
                        <a:rPr lang="fr-FR" sz="975" b="0" kern="1200" spc="-10" noProof="0">
                          <a:solidFill>
                            <a:schemeClr val="tx2"/>
                          </a:solidFill>
                          <a:latin typeface="+mn-lt"/>
                          <a:ea typeface="+mn-ea"/>
                          <a:cs typeface="+mn-cs"/>
                        </a:rPr>
                        <a:t xml:space="preserve">(par. 27d)</a:t>
                      </a:r>
                      <a:endParaRPr lang="fr-FR" sz="975" b="0" i="1" kern="1200" spc="-10" noProof="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fr-FR"/>
                    </a:p>
                  </a:txBody>
                  <a:tcPr/>
                </a:tc>
                <a:extLst>
                  <a:ext uri="{0D108BD9-81ED-4DB2-BD59-A6C34878D82A}">
                    <a16:rowId xmlns:a16="http://schemas.microsoft.com/office/drawing/2014/main" val="625231048"/>
                  </a:ext>
                </a:extLst>
              </a:tr>
              <a:tr h="147556">
                <a:tc>
                  <a:txBody>
                    <a:bodyPr/>
                    <a:lstStyle/>
                    <a:p>
                      <a:pPr algn="l"/>
                      <a:r>
                        <a:rPr lang="fr-FR" sz="975" b="1" kern="1200" spc="-10" noProof="0">
                          <a:solidFill>
                            <a:schemeClr val="tx2"/>
                          </a:solidFill>
                          <a:latin typeface="+mn-lt"/>
                          <a:ea typeface="+mn-ea"/>
                          <a:cs typeface="+mn-cs"/>
                        </a:rPr>
                        <a:t xml:space="preserve">Nom de la filiale </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fr-FR" sz="975" b="1" kern="1200" spc="-10" noProof="0">
                          <a:solidFill>
                            <a:schemeClr val="tx2"/>
                          </a:solidFill>
                          <a:latin typeface="+mn-lt"/>
                          <a:ea typeface="+mn-ea"/>
                          <a:cs typeface="+mn-cs"/>
                        </a:rPr>
                        <a:t xml:space="preserve">Adresse de la filiale</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642311251"/>
                  </a:ext>
                </a:extLst>
              </a:tr>
              <a:tr h="204385">
                <a:tc>
                  <a:txBody>
                    <a:bodyPr/>
                    <a:lstStyle/>
                    <a:p>
                      <a:pPr rtl="0" fontAlgn="t">
                        <a:buNone/>
                      </a:pPr>
                      <a:r>
                        <a:rPr lang="fr-FR" sz="975" b="0" i="0" u="none" strike="noStrike" noProof="0">
                          <a:solidFill>
                            <a:srgbClr val="2D55FF"/>
                          </a:solidFill>
                          <a:effectLst/>
                          <a:latin typeface="Inter"/>
                        </a:rPr>
                        <a:t>{{subsidiary}}</a:t>
                      </a:r>
                      <a:endParaRPr lang="fr-FR"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fr-FR" sz="975" b="0" i="0" u="none" strike="noStrike" noProof="0">
                          <a:solidFill>
                            <a:srgbClr val="2D55FF"/>
                          </a:solidFill>
                          <a:effectLst/>
                          <a:latin typeface="Inter"/>
                        </a:rPr>
                        <a:t>{{</a:t>
                      </a:r>
                      <a:r>
                        <a:rPr lang="fr-FR" sz="975" b="0" i="0" u="none" strike="noStrike" noProof="0">
                          <a:solidFill>
                            <a:srgbClr val="2D55FF"/>
                          </a:solidFill>
                          <a:effectLst/>
                          <a:latin typeface="Inter"/>
                        </a:rPr>
                        <a:t>subsidiary_address</a:t>
                      </a:r>
                      <a:r>
                        <a:rPr lang="fr-FR" sz="975" b="0" i="0" u="none" strike="noStrike" noProof="0">
                          <a:solidFill>
                            <a:srgbClr val="2D55FF"/>
                          </a:solidFill>
                          <a:effectLst/>
                          <a:latin typeface="Inter"/>
                        </a:rPr>
                        <a:t>}}</a:t>
                      </a:r>
                      <a:endParaRPr lang="fr-FR" sz="975" noProof="0" dirty="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a:xfrm>
            <a:off x="411480" y="10152285"/>
            <a:ext cx="6737040" cy="128235"/>
          </a:xfrm>
        </p:spPr>
        <p:txBody>
          <a:bodyPr/>
          <a:lstStyle/>
          <a:p>
            <a:fld id="{5A0D23CF-C5A3-5445-819D-C647D180BB4B}" type="slidenum">
              <a:rPr lang="fr-FR" noProof="0" smtClean="0"/>
              <a:pPr/>
              <a:t>3</a:t>
            </a:fld>
            <a:endParaRPr lang="fr-FR"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a:xfrm>
            <a:off x="411480" y="365760"/>
            <a:ext cx="6737040" cy="128235"/>
          </a:xfrm>
        </p:spPr>
        <p:txBody>
          <a:bodyPr/>
          <a:lstStyle/>
          <a:p>
            <a:r>
              <a:rPr lang="fr-FR" noProof="0"/>
              <a:t>{{company_name}}</a:t>
            </a:r>
            <a:endParaRPr lang="fr-FR" b="0" noProof="0"/>
          </a:p>
          <a:p>
            <a:br>
              <a:rPr lang="fr-FR" noProof="0"/>
            </a:br>
            <a:endParaRPr lang="fr-FR" noProof="0"/>
          </a:p>
        </p:txBody>
      </p:sp>
      <p:graphicFrame>
        <p:nvGraphicFramePr>
          <p:cNvPr id="2" name="Table 12">
            <a:extLst>
              <a:ext uri="{FF2B5EF4-FFF2-40B4-BE49-F238E27FC236}">
                <a16:creationId xmlns:a16="http://schemas.microsoft.com/office/drawing/2014/main" id="{AA61E98C-E974-CA6B-E7E0-7ED257077648}"/>
              </a:ext>
            </a:extLst>
          </p:cNvPr>
          <p:cNvGraphicFramePr>
            <a:graphicFrameLocks noGrp="1"/>
          </p:cNvGraphicFramePr>
          <p:nvPr>
            <p:extLst>
              <p:ext uri="{D42A27DB-BD31-4B8C-83A1-F6EECF244321}">
                <p14:modId xmlns:p14="http://schemas.microsoft.com/office/powerpoint/2010/main" val="4248128672"/>
              </p:ext>
            </p:extLst>
          </p:nvPr>
        </p:nvGraphicFramePr>
        <p:xfrm>
          <a:off x="411480" y="4091258"/>
          <a:ext cx="3295368" cy="1220124"/>
        </p:xfrm>
        <a:graphic>
          <a:graphicData uri="http://schemas.openxmlformats.org/drawingml/2006/table">
            <a:tbl>
              <a:tblPr firstRow="1">
                <a:tableStyleId>{2A488322-F2BA-4B5B-9748-0D474271808F}</a:tableStyleId>
              </a:tblPr>
              <a:tblGrid>
                <a:gridCol w="2775619">
                  <a:extLst>
                    <a:ext uri="{9D8B030D-6E8A-4147-A177-3AD203B41FA5}">
                      <a16:colId xmlns:a16="http://schemas.microsoft.com/office/drawing/2014/main" val="2698153288"/>
                    </a:ext>
                  </a:extLst>
                </a:gridCol>
                <a:gridCol w="519749">
                  <a:extLst>
                    <a:ext uri="{9D8B030D-6E8A-4147-A177-3AD203B41FA5}">
                      <a16:colId xmlns:a16="http://schemas.microsoft.com/office/drawing/2014/main" val="2119413191"/>
                    </a:ext>
                  </a:extLst>
                </a:gridCol>
              </a:tblGrid>
              <a:tr h="171405">
                <a:tc gridSpan="2">
                  <a:txBody>
                    <a:bodyPr/>
                    <a:lstStyle/>
                    <a:p>
                      <a:r>
                        <a:rPr lang="fr-FR" sz="975" b="1" noProof="0">
                          <a:solidFill>
                            <a:schemeClr val="tx2"/>
                          </a:solidFill>
                        </a:rPr>
                        <a:t xml:space="preserve">Rapport individuel ou consolidé</a:t>
                      </a:r>
                      <a:r>
                        <a:rPr lang="fr-FR" sz="975" b="0" noProof="0">
                          <a:solidFill>
                            <a:schemeClr val="tx2"/>
                          </a:solidFill>
                        </a:rPr>
                        <a:t xml:space="preserve"> (par. 27c)</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fr-FR" sz="725"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4520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75" b="0" kern="1200" spc="-10" noProof="0">
                          <a:solidFill>
                            <a:schemeClr val="tx2"/>
                          </a:solidFill>
                          <a:latin typeface="+mn-lt"/>
                          <a:ea typeface="+mn-ea"/>
                          <a:cs typeface="+mn-cs"/>
                        </a:rPr>
                        <a:t xml:space="preserve">Le rapport a été établi sur une </a:t>
                      </a:r>
                      <a:r>
                        <a:rPr lang="fr-FR" sz="975" b="1" kern="1200" spc="-10" noProof="0">
                          <a:solidFill>
                            <a:schemeClr val="tx2"/>
                          </a:solidFill>
                          <a:latin typeface="+mn-lt"/>
                          <a:ea typeface="+mn-ea"/>
                          <a:cs typeface="+mn-cs"/>
                        </a:rPr>
                        <a:t xml:space="preserve">base individuelle </a:t>
                      </a:r>
                      <a:r>
                        <a:rPr lang="fr-FR" sz="975" b="0" kern="1200" spc="-10" noProof="0">
                          <a:solidFill>
                            <a:schemeClr val="tx2"/>
                          </a:solidFill>
                          <a:latin typeface="+mn-lt"/>
                          <a:ea typeface="+mn-ea"/>
                          <a:cs typeface="+mn-cs"/>
                        </a:rPr>
                        <a:t xml:space="preserve">(c’est-à-dire qu’il ne couvre aucune filiale)</a:t>
                      </a:r>
                      <a:endParaRPr lang="fr-FR"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fr-FR" sz="975" b="0" i="0" u="none" strike="noStrike" noProof="0">
                          <a:solidFill>
                            <a:srgbClr val="2D55FF"/>
                          </a:solidFill>
                          <a:effectLst/>
                          <a:latin typeface="Inter"/>
                        </a:rPr>
                        <a:t>{{yes_subsidiary?}}</a:t>
                      </a:r>
                      <a:endParaRPr lang="fr-FR"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240345905"/>
                  </a:ext>
                </a:extLst>
              </a:tr>
              <a:tr h="24520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75" b="0" kern="1200" spc="-10" noProof="0">
                          <a:solidFill>
                            <a:schemeClr val="tx2"/>
                          </a:solidFill>
                          <a:latin typeface="+mn-lt"/>
                          <a:ea typeface="+mn-ea"/>
                          <a:cs typeface="+mn-cs"/>
                        </a:rPr>
                        <a:t xml:space="preserve">Le rapport a été établi sur une </a:t>
                      </a:r>
                      <a:r>
                        <a:rPr lang="fr-FR" sz="975" b="1" kern="1200" spc="-10" noProof="0">
                          <a:solidFill>
                            <a:schemeClr val="tx2"/>
                          </a:solidFill>
                          <a:latin typeface="+mn-lt"/>
                          <a:ea typeface="+mn-ea"/>
                          <a:cs typeface="+mn-cs"/>
                        </a:rPr>
                        <a:t xml:space="preserve">base consolidée </a:t>
                      </a:r>
                      <a:r>
                        <a:rPr lang="fr-FR" sz="975" b="0" kern="1200" spc="-10" noProof="0">
                          <a:solidFill>
                            <a:schemeClr val="tx2"/>
                          </a:solidFill>
                          <a:latin typeface="+mn-lt"/>
                          <a:ea typeface="+mn-ea"/>
                          <a:cs typeface="+mn-cs"/>
                        </a:rPr>
                        <a:t xml:space="preserve">(c’est-à-dire qu’il comprend les filiales de l’entreprise) </a:t>
                      </a:r>
                      <a:endParaRPr lang="fr-FR"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fr-FR" sz="975" b="0" i="0" u="none" strike="noStrike" noProof="0">
                          <a:solidFill>
                            <a:srgbClr val="2D55FF"/>
                          </a:solidFill>
                          <a:effectLst/>
                          <a:latin typeface="Inter"/>
                        </a:rPr>
                        <a:t>{{no_subsidiary?}}</a:t>
                      </a:r>
                      <a:endParaRPr lang="fr-FR"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69514074"/>
                  </a:ext>
                </a:extLst>
              </a:tr>
            </a:tbl>
          </a:graphicData>
        </a:graphic>
      </p:graphicFrame>
      <p:graphicFrame>
        <p:nvGraphicFramePr>
          <p:cNvPr id="8" name="Table 12">
            <a:extLst>
              <a:ext uri="{FF2B5EF4-FFF2-40B4-BE49-F238E27FC236}">
                <a16:creationId xmlns:a16="http://schemas.microsoft.com/office/drawing/2014/main" id="{C0F79360-A773-09D0-5119-A3FDBC3F6D97}"/>
              </a:ext>
            </a:extLst>
          </p:cNvPr>
          <p:cNvGraphicFramePr>
            <a:graphicFrameLocks noGrp="1"/>
          </p:cNvGraphicFramePr>
          <p:nvPr>
            <p:extLst>
              <p:ext uri="{D42A27DB-BD31-4B8C-83A1-F6EECF244321}">
                <p14:modId xmlns:p14="http://schemas.microsoft.com/office/powerpoint/2010/main" val="29321190"/>
              </p:ext>
            </p:extLst>
          </p:nvPr>
        </p:nvGraphicFramePr>
        <p:xfrm>
          <a:off x="411480" y="2459885"/>
          <a:ext cx="3295368" cy="1340464"/>
        </p:xfrm>
        <a:graphic>
          <a:graphicData uri="http://schemas.openxmlformats.org/drawingml/2006/table">
            <a:tbl>
              <a:tblPr firstRow="1">
                <a:tableStyleId>{2A488322-F2BA-4B5B-9748-0D474271808F}</a:tableStyleId>
              </a:tblPr>
              <a:tblGrid>
                <a:gridCol w="2780615">
                  <a:extLst>
                    <a:ext uri="{9D8B030D-6E8A-4147-A177-3AD203B41FA5}">
                      <a16:colId xmlns:a16="http://schemas.microsoft.com/office/drawing/2014/main" val="2698153288"/>
                    </a:ext>
                  </a:extLst>
                </a:gridCol>
                <a:gridCol w="514753">
                  <a:extLst>
                    <a:ext uri="{9D8B030D-6E8A-4147-A177-3AD203B41FA5}">
                      <a16:colId xmlns:a16="http://schemas.microsoft.com/office/drawing/2014/main" val="2119413191"/>
                    </a:ext>
                  </a:extLst>
                </a:gridCol>
              </a:tblGrid>
              <a:tr h="325979">
                <a:tc gridSpan="2">
                  <a:txBody>
                    <a:bodyPr/>
                    <a:lstStyle/>
                    <a:p>
                      <a:r>
                        <a:rPr lang="fr-FR" sz="975" b="1" kern="1200" spc="-10" noProof="0">
                          <a:solidFill>
                            <a:schemeClr val="tx2"/>
                          </a:solidFill>
                          <a:latin typeface="+mn-lt"/>
                          <a:ea typeface="+mn-ea"/>
                          <a:cs typeface="+mn-cs"/>
                        </a:rPr>
                        <a:t xml:space="preserve">Module de base, ou module de base +</a:t>
                      </a:r>
                      <a:r>
                        <a:rPr lang="fr-FR" sz="975" b="0" kern="1200" spc="-10" noProof="0">
                          <a:solidFill>
                            <a:schemeClr val="tx2"/>
                          </a:solidFill>
                          <a:latin typeface="+mn-lt"/>
                          <a:ea typeface="+mn-ea"/>
                          <a:cs typeface="+mn-cs"/>
                        </a:rPr>
                        <a:t> </a:t>
                      </a:r>
                      <a:r>
                        <a:rPr lang="fr-FR" sz="975" b="1" kern="1200" spc="-10" noProof="0">
                          <a:solidFill>
                            <a:schemeClr val="tx2"/>
                          </a:solidFill>
                          <a:latin typeface="+mn-lt"/>
                          <a:ea typeface="+mn-ea"/>
                          <a:cs typeface="+mn-cs"/>
                        </a:rPr>
                        <a:t xml:space="preserve">module complet </a:t>
                      </a:r>
                      <a:r>
                        <a:rPr lang="fr-FR" sz="975" b="0" kern="1200" spc="-10" noProof="0">
                          <a:solidFill>
                            <a:schemeClr val="tx2"/>
                          </a:solidFill>
                          <a:latin typeface="+mn-lt"/>
                          <a:ea typeface="+mn-ea"/>
                          <a:cs typeface="+mn-cs"/>
                        </a:rPr>
                        <a:t xml:space="preserve">(par. 27a)</a:t>
                      </a:r>
                      <a:r>
                        <a:rPr lang="fr-FR" sz="975" b="1" kern="1200" spc="-10" noProof="0">
                          <a:solidFill>
                            <a:schemeClr val="tx2"/>
                          </a:solidFill>
                          <a:latin typeface="+mn-lt"/>
                          <a:ea typeface="+mn-ea"/>
                          <a:cs typeface="+mn-cs"/>
                        </a:rPr>
                        <a:t> </a:t>
                      </a:r>
                      <a:endParaRPr lang="fr-FR"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fr-FR" sz="725"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4069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75" b="0" kern="1200" spc="-10" noProof="0">
                          <a:solidFill>
                            <a:schemeClr val="tx2"/>
                          </a:solidFill>
                          <a:latin typeface="+mn-lt"/>
                          <a:ea typeface="+mn-ea"/>
                          <a:cs typeface="+mn-cs"/>
                        </a:rPr>
                        <a:t xml:space="preserve">Le rapport est fondé sur le </a:t>
                      </a:r>
                      <a:r>
                        <a:rPr lang="fr-FR" sz="975" b="1" kern="1200" spc="-10" noProof="0">
                          <a:solidFill>
                            <a:schemeClr val="tx2"/>
                          </a:solidFill>
                          <a:latin typeface="+mn-lt"/>
                          <a:ea typeface="+mn-ea"/>
                          <a:cs typeface="+mn-cs"/>
                        </a:rPr>
                        <a:t xml:space="preserve">module de base</a:t>
                      </a:r>
                      <a:r>
                        <a:rPr lang="fr-FR" sz="975" b="0" kern="1200" spc="-10" noProof="0">
                          <a:solidFill>
                            <a:schemeClr val="tx2"/>
                          </a:solidFill>
                          <a:latin typeface="+mn-lt"/>
                          <a:ea typeface="+mn-ea"/>
                          <a:cs typeface="+mn-cs"/>
                        </a:rPr>
                        <a:t xml:space="preserve"> de la norme volontaire pour les PME </a:t>
                      </a:r>
                      <a:endParaRPr lang="fr-FR"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fr-FR" sz="975" b="0" i="0" u="none" strike="noStrike" noProof="0">
                          <a:solidFill>
                            <a:srgbClr val="2D55FF"/>
                          </a:solidFill>
                          <a:effectLst/>
                          <a:latin typeface="Inter"/>
                        </a:rPr>
                        <a:t>{{basic_module?}}</a:t>
                      </a:r>
                      <a:endParaRPr lang="fr-FR"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240345905"/>
                  </a:ext>
                </a:extLst>
              </a:tr>
              <a:tr h="44272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75" b="0" kern="1200" spc="-10" noProof="0">
                          <a:solidFill>
                            <a:schemeClr val="tx2"/>
                          </a:solidFill>
                          <a:latin typeface="+mn-lt"/>
                          <a:ea typeface="+mn-ea"/>
                          <a:cs typeface="+mn-cs"/>
                        </a:rPr>
                        <a:t xml:space="preserve">Le rapport est fondé sur le </a:t>
                      </a:r>
                      <a:r>
                        <a:rPr lang="fr-FR" sz="975" b="1" kern="1200" spc="-10" noProof="0">
                          <a:solidFill>
                            <a:schemeClr val="tx2"/>
                          </a:solidFill>
                          <a:latin typeface="+mn-lt"/>
                          <a:ea typeface="+mn-ea"/>
                          <a:cs typeface="+mn-cs"/>
                        </a:rPr>
                        <a:t xml:space="preserve">module de base</a:t>
                      </a:r>
                      <a:r>
                        <a:rPr lang="fr-FR" sz="975" b="0" kern="1200" spc="-10" noProof="0">
                          <a:solidFill>
                            <a:schemeClr val="tx2"/>
                          </a:solidFill>
                          <a:latin typeface="+mn-lt"/>
                          <a:ea typeface="+mn-ea"/>
                          <a:cs typeface="+mn-cs"/>
                        </a:rPr>
                        <a:t xml:space="preserve"> et le </a:t>
                      </a:r>
                      <a:r>
                        <a:rPr lang="fr-FR" sz="975" b="1" kern="1200" spc="-10" noProof="0">
                          <a:solidFill>
                            <a:schemeClr val="tx2"/>
                          </a:solidFill>
                          <a:latin typeface="+mn-lt"/>
                          <a:ea typeface="+mn-ea"/>
                          <a:cs typeface="+mn-cs"/>
                        </a:rPr>
                        <a:t xml:space="preserve">module complet </a:t>
                      </a:r>
                      <a:r>
                        <a:rPr lang="fr-FR" sz="975" b="0" kern="1200" spc="-10" noProof="0">
                          <a:solidFill>
                            <a:schemeClr val="tx2"/>
                          </a:solidFill>
                          <a:latin typeface="+mn-lt"/>
                          <a:ea typeface="+mn-ea"/>
                          <a:cs typeface="+mn-cs"/>
                        </a:rPr>
                        <a:t xml:space="preserve">de la norme volontaire pour les PME</a:t>
                      </a:r>
                      <a:endParaRPr lang="fr-FR"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fr-FR" sz="975" b="0" i="0" u="none" strike="noStrike" noProof="0">
                          <a:solidFill>
                            <a:srgbClr val="2D55FF"/>
                          </a:solidFill>
                          <a:effectLst/>
                          <a:latin typeface="Inter"/>
                        </a:rPr>
                        <a:t>{{comprehensive?}}</a:t>
                      </a:r>
                      <a:endParaRPr lang="fr-FR"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69514074"/>
                  </a:ext>
                </a:extLst>
              </a:tr>
            </a:tbl>
          </a:graphicData>
        </a:graphic>
      </p:graphicFrame>
      <p:sp>
        <p:nvSpPr>
          <p:cNvPr id="10" name="Tekstfelt 9">
            <a:extLst>
              <a:ext uri="{FF2B5EF4-FFF2-40B4-BE49-F238E27FC236}">
                <a16:creationId xmlns:a16="http://schemas.microsoft.com/office/drawing/2014/main" id="{08CE8BB8-760E-14A7-E273-1C19DEAB1C88}"/>
              </a:ext>
            </a:extLst>
          </p:cNvPr>
          <p:cNvSpPr txBox="1"/>
          <p:nvPr/>
        </p:nvSpPr>
        <p:spPr>
          <a:xfrm>
            <a:off x="411480" y="1287528"/>
            <a:ext cx="6737040" cy="846352"/>
          </a:xfrm>
          <a:prstGeom prst="rect">
            <a:avLst/>
          </a:prstGeom>
          <a:noFill/>
        </p:spPr>
        <p:txBody>
          <a:bodyPr wrap="square">
            <a:spAutoFit/>
          </a:bodyPr>
          <a:lstStyle/>
          <a:p>
            <a:pPr rtl="0">
              <a:buNone/>
            </a:pPr>
            <a:r>
              <a:rPr lang="fr-FR" sz="975" b="0" i="0" u="none" strike="noStrike" noProof="0">
                <a:solidFill>
                  <a:schemeClr val="tx2"/>
                </a:solidFill>
                <a:effectLst/>
                <a:latin typeface="Inter"/>
              </a:rPr>
              <a:t xml:space="preserve">L’entreprise a établi son rapport de durabilité selon la norme VSME, qui suit une approche structurée afin de garantir que les informations requises sont communiquées de manière standardisée et transparente. Le rapport reflète les modules de durabilité retenus et couverts par l’entreprise. Il est en outre précisé si le rapport de durabilité est établi sur une base individuelle (données propres à l’entreprise uniquement) ou sur une base consolidée. Cette section contient des informations de base sur l’entreprise, par exemple sa forme juridique, ses codes NACE, le total du bilan et le chiffre d’affaires, le nombre de salariés, ainsi que le pays où sont exercées ses activités principales et la localisation d’autres actifs significatifs.</a:t>
            </a:r>
            <a:endParaRPr lang="fr-FR" sz="975" b="0" noProof="0">
              <a:solidFill>
                <a:schemeClr val="tx2"/>
              </a:solidFill>
              <a:effectLst/>
            </a:endParaRPr>
          </a:p>
        </p:txBody>
      </p:sp>
      <p:graphicFrame>
        <p:nvGraphicFramePr>
          <p:cNvPr id="13" name="Table 2">
            <a:extLst>
              <a:ext uri="{FF2B5EF4-FFF2-40B4-BE49-F238E27FC236}">
                <a16:creationId xmlns:a16="http://schemas.microsoft.com/office/drawing/2014/main" id="{34E7B75C-B2E3-1B8A-2080-FEF363E738AC}"/>
              </a:ext>
            </a:extLst>
          </p:cNvPr>
          <p:cNvGraphicFramePr>
            <a:graphicFrameLocks noGrp="1"/>
          </p:cNvGraphicFramePr>
          <p:nvPr>
            <p:extLst>
              <p:ext uri="{D42A27DB-BD31-4B8C-83A1-F6EECF244321}">
                <p14:modId xmlns:p14="http://schemas.microsoft.com/office/powerpoint/2010/main" val="3921828815"/>
              </p:ext>
            </p:extLst>
          </p:nvPr>
        </p:nvGraphicFramePr>
        <p:xfrm>
          <a:off x="3853152" y="4091258"/>
          <a:ext cx="3295368" cy="2074345"/>
        </p:xfrm>
        <a:graphic>
          <a:graphicData uri="http://schemas.openxmlformats.org/drawingml/2006/table">
            <a:tbl>
              <a:tblPr firstRow="1">
                <a:tableStyleId>{2A488322-F2BA-4B5B-9748-0D474271808F}</a:tableStyleId>
              </a:tblPr>
              <a:tblGrid>
                <a:gridCol w="1523870">
                  <a:extLst>
                    <a:ext uri="{9D8B030D-6E8A-4147-A177-3AD203B41FA5}">
                      <a16:colId xmlns:a16="http://schemas.microsoft.com/office/drawing/2014/main" val="1902117154"/>
                    </a:ext>
                  </a:extLst>
                </a:gridCol>
                <a:gridCol w="1771498">
                  <a:extLst>
                    <a:ext uri="{9D8B030D-6E8A-4147-A177-3AD203B41FA5}">
                      <a16:colId xmlns:a16="http://schemas.microsoft.com/office/drawing/2014/main" val="1904521774"/>
                    </a:ext>
                  </a:extLst>
                </a:gridCol>
              </a:tblGrid>
              <a:tr h="206590">
                <a:tc gridSpan="2">
                  <a:txBody>
                    <a:bodyPr/>
                    <a:lstStyle/>
                    <a:p>
                      <a:pPr algn="l"/>
                      <a:r>
                        <a:rPr lang="fr-FR" sz="975" b="1" kern="1200" spc="-10" noProof="0">
                          <a:solidFill>
                            <a:schemeClr val="tx2"/>
                          </a:solidFill>
                          <a:latin typeface="+mn-lt"/>
                          <a:ea typeface="+mn-ea"/>
                          <a:cs typeface="+mn-cs"/>
                        </a:rPr>
                        <a:t xml:space="preserve">Informations de base sur l’entreprise</a:t>
                      </a:r>
                      <a:r>
                        <a:rPr lang="fr-FR" sz="975" b="0" kern="1200" spc="-10" noProof="0">
                          <a:solidFill>
                            <a:schemeClr val="tx2"/>
                          </a:solidFill>
                          <a:latin typeface="+mn-lt"/>
                          <a:ea typeface="+mn-ea"/>
                          <a:cs typeface="+mn-cs"/>
                        </a:rPr>
                        <a:t xml:space="preserve"> (par. 27e, i-v)</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642311251"/>
                  </a:ext>
                </a:extLst>
              </a:tr>
              <a:tr h="585757">
                <a:tc>
                  <a:txBody>
                    <a:bodyPr/>
                    <a:lstStyle/>
                    <a:p>
                      <a:pPr algn="l"/>
                      <a:r>
                        <a:rPr lang="fr-FR" sz="975" b="1" kern="1200" spc="-10" noProof="0">
                          <a:solidFill>
                            <a:schemeClr val="tx2"/>
                          </a:solidFill>
                          <a:latin typeface="+mn-lt"/>
                          <a:ea typeface="+mn-ea"/>
                          <a:cs typeface="+mn-cs"/>
                        </a:rPr>
                        <a:t xml:space="preserve">Forme juridique</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fr-FR" sz="975" b="0" i="0" u="none" strike="noStrike" noProof="0">
                          <a:solidFill>
                            <a:srgbClr val="2D55FF"/>
                          </a:solidFill>
                          <a:effectLst/>
                          <a:latin typeface="Inter"/>
                        </a:rPr>
                        <a:t>{{branchekode}}</a:t>
                      </a:r>
                      <a:endParaRPr lang="fr-FR" sz="975" b="0" noProof="0">
                        <a:effectLst/>
                      </a:endParaRPr>
                    </a:p>
                  </a:txBody>
                  <a:tcPr marL="31749" marR="31749" marT="21166" marB="2116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35941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75" b="1" kern="1200" spc="-10" noProof="0">
                          <a:solidFill>
                            <a:schemeClr val="tx2"/>
                          </a:solidFill>
                          <a:latin typeface="+mn-lt"/>
                          <a:ea typeface="+mn-ea"/>
                          <a:cs typeface="+mn-cs"/>
                        </a:rPr>
                        <a:t xml:space="preserve">Code(s) NACE</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fr-FR" sz="975" b="0" i="0" u="none" strike="noStrike" noProof="0">
                          <a:solidFill>
                            <a:srgbClr val="2D55FF"/>
                          </a:solidFill>
                          <a:effectLst/>
                          <a:latin typeface="Inter"/>
                        </a:rPr>
                        <a:t>{{NACE}}</a:t>
                      </a:r>
                      <a:endParaRPr lang="fr-FR" sz="975" noProof="0">
                        <a:effectLst/>
                      </a:endParaRPr>
                    </a:p>
                  </a:txBody>
                  <a:tcPr marL="31749" marR="31749" marT="21166" marB="2116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3548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75" b="1" kern="1200" spc="-10" noProof="0">
                          <a:solidFill>
                            <a:schemeClr val="tx2"/>
                          </a:solidFill>
                          <a:latin typeface="+mn-lt"/>
                          <a:ea typeface="+mn-ea"/>
                          <a:cs typeface="+mn-cs"/>
                        </a:rPr>
                        <a:t xml:space="preserve">Total du bilan (EUR)</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fr-FR" sz="975" b="0" i="0" u="none" strike="noStrike" noProof="0">
                          <a:solidFill>
                            <a:srgbClr val="2D55FF"/>
                          </a:solidFill>
                          <a:effectLst/>
                          <a:latin typeface="Inter"/>
                        </a:rPr>
                        <a:t>{{balance}}</a:t>
                      </a:r>
                      <a:endParaRPr lang="fr-FR" sz="975" noProof="0">
                        <a:effectLst/>
                      </a:endParaRPr>
                    </a:p>
                  </a:txBody>
                  <a:tcPr marL="31749" marR="31749" marT="21166" marB="2116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442156864"/>
                  </a:ext>
                </a:extLst>
              </a:tr>
              <a:tr h="354821">
                <a:tc>
                  <a:txBody>
                    <a:bodyPr/>
                    <a:lstStyle/>
                    <a:p>
                      <a:pPr algn="l"/>
                      <a:r>
                        <a:rPr lang="fr-FR" sz="975" b="1" kern="1200" spc="-10" noProof="0">
                          <a:solidFill>
                            <a:schemeClr val="tx2"/>
                          </a:solidFill>
                          <a:latin typeface="+mn-lt"/>
                          <a:ea typeface="+mn-ea"/>
                          <a:cs typeface="+mn-cs"/>
                        </a:rPr>
                        <a:t xml:space="preserve">Chiffre d’affaires (EUR)</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fr-FR" sz="975" b="0" i="0" u="none" strike="noStrike" noProof="0">
                          <a:solidFill>
                            <a:srgbClr val="2D55FF"/>
                          </a:solidFill>
                          <a:effectLst/>
                          <a:latin typeface="Inter"/>
                        </a:rPr>
                        <a:t>{{revenue}}</a:t>
                      </a:r>
                      <a:endParaRPr lang="fr-FR" sz="975" noProof="0">
                        <a:effectLst/>
                      </a:endParaRPr>
                    </a:p>
                  </a:txBody>
                  <a:tcPr marL="31749" marR="31749" marT="21166" marB="2116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975682954"/>
                  </a:ext>
                </a:extLst>
              </a:tr>
              <a:tr h="206590">
                <a:tc>
                  <a:txBody>
                    <a:bodyPr/>
                    <a:lstStyle/>
                    <a:p>
                      <a:pPr algn="l"/>
                      <a:r>
                        <a:rPr lang="fr-FR" sz="975" b="1" kern="1200" spc="-10" noProof="0">
                          <a:solidFill>
                            <a:schemeClr val="tx2"/>
                          </a:solidFill>
                          <a:latin typeface="+mn-lt"/>
                          <a:ea typeface="+mn-ea"/>
                          <a:cs typeface="+mn-cs"/>
                        </a:rPr>
                        <a:t xml:space="preserve">Nb de salariés </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fr-FR" sz="975" b="0" i="0" u="none" strike="noStrike" noProof="0">
                          <a:solidFill>
                            <a:srgbClr val="2D55FF"/>
                          </a:solidFill>
                          <a:effectLst/>
                          <a:latin typeface="Inter"/>
                        </a:rPr>
                        <a:t>{{total_employees}}</a:t>
                      </a:r>
                      <a:endParaRPr lang="fr-FR" sz="975" noProof="0">
                        <a:effectLst/>
                      </a:endParaRPr>
                    </a:p>
                  </a:txBody>
                  <a:tcPr marL="31749" marR="31749" marT="21166" marB="2116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378571433"/>
                  </a:ext>
                </a:extLst>
              </a:tr>
            </a:tbl>
          </a:graphicData>
        </a:graphic>
      </p:graphicFrame>
      <p:graphicFrame>
        <p:nvGraphicFramePr>
          <p:cNvPr id="17" name="Tabel 16">
            <a:extLst>
              <a:ext uri="{FF2B5EF4-FFF2-40B4-BE49-F238E27FC236}">
                <a16:creationId xmlns:a16="http://schemas.microsoft.com/office/drawing/2014/main" id="{13BBF8C9-04F7-33C5-AAA0-F953F0D5DFD7}"/>
              </a:ext>
            </a:extLst>
          </p:cNvPr>
          <p:cNvGraphicFramePr>
            <a:graphicFrameLocks noGrp="1"/>
          </p:cNvGraphicFramePr>
          <p:nvPr>
            <p:extLst>
              <p:ext uri="{D42A27DB-BD31-4B8C-83A1-F6EECF244321}">
                <p14:modId xmlns:p14="http://schemas.microsoft.com/office/powerpoint/2010/main" val="1366799974"/>
              </p:ext>
            </p:extLst>
          </p:nvPr>
        </p:nvGraphicFramePr>
        <p:xfrm>
          <a:off x="3853152" y="2463605"/>
          <a:ext cx="3295368" cy="1336743"/>
        </p:xfrm>
        <a:graphic>
          <a:graphicData uri="http://schemas.openxmlformats.org/drawingml/2006/table">
            <a:tbl>
              <a:tblPr firstRow="1">
                <a:tableStyleId>{2A488322-F2BA-4B5B-9748-0D474271808F}</a:tableStyleId>
              </a:tblPr>
              <a:tblGrid>
                <a:gridCol w="1523870">
                  <a:extLst>
                    <a:ext uri="{9D8B030D-6E8A-4147-A177-3AD203B41FA5}">
                      <a16:colId xmlns:a16="http://schemas.microsoft.com/office/drawing/2014/main" val="613205895"/>
                    </a:ext>
                  </a:extLst>
                </a:gridCol>
                <a:gridCol w="1771498">
                  <a:extLst>
                    <a:ext uri="{9D8B030D-6E8A-4147-A177-3AD203B41FA5}">
                      <a16:colId xmlns:a16="http://schemas.microsoft.com/office/drawing/2014/main" val="2415866723"/>
                    </a:ext>
                  </a:extLst>
                </a:gridCol>
              </a:tblGrid>
              <a:tr h="409653">
                <a:tc gridSpan="2">
                  <a:txBody>
                    <a:bodyPr/>
                    <a:lstStyle/>
                    <a:p>
                      <a:pPr algn="l"/>
                      <a:r>
                        <a:rPr lang="fr-FR" sz="975" b="1" kern="1200" spc="-10" noProof="0">
                          <a:solidFill>
                            <a:schemeClr val="tx2"/>
                          </a:solidFill>
                          <a:latin typeface="+mn-lt"/>
                          <a:ea typeface="+mn-ea"/>
                          <a:cs typeface="+mn-cs"/>
                        </a:rPr>
                        <a:t xml:space="preserve">Le rapport ESG comporte des omissions pour cause d’informations commerciales sensibles </a:t>
                      </a:r>
                      <a:r>
                        <a:rPr lang="fr-FR" sz="975" b="0" kern="1200" spc="-10" noProof="0">
                          <a:solidFill>
                            <a:schemeClr val="tx2"/>
                          </a:solidFill>
                          <a:latin typeface="+mn-lt"/>
                          <a:ea typeface="+mn-ea"/>
                          <a:cs typeface="+mn-cs"/>
                        </a:rPr>
                        <a:t xml:space="preserve">(par. 27b)</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76069134"/>
                  </a:ext>
                </a:extLst>
              </a:tr>
              <a:tr h="92709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725" b="0" kern="1200" spc="-10" noProof="0" dirty="0">
                        <a:solidFill>
                          <a:schemeClr val="tx2"/>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sz="975" b="0" kern="1200" spc="-10" noProof="0">
                          <a:solidFill>
                            <a:schemeClr val="tx2"/>
                          </a:solidFill>
                          <a:latin typeface="+mn-lt"/>
                          <a:ea typeface="+mn-ea"/>
                          <a:cs typeface="+mn-cs"/>
                        </a:rPr>
                        <a:t xml:space="preserve">Les informations suivantes ont été omises</a:t>
                      </a:r>
                    </a:p>
                    <a:p>
                      <a:pPr algn="l"/>
                      <a:endParaRPr lang="fr-FR" sz="725" b="1" kern="1200" spc="-10" noProof="0" dirty="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fr-FR" sz="975" noProof="0">
                          <a:solidFill>
                            <a:schemeClr val="accent2"/>
                          </a:solidFill>
                          <a:latin typeface="+mn-lt"/>
                          <a:cs typeface="Calibri" panose="020F0502020204030204" pitchFamily="34" charset="0"/>
                        </a:rPr>
                        <a:t>{{</a:t>
                      </a:r>
                      <a:r>
                        <a:rPr lang="fr-FR" sz="975" noProof="0">
                          <a:solidFill>
                            <a:schemeClr val="accent2"/>
                          </a:solidFill>
                          <a:latin typeface="+mn-lt"/>
                          <a:cs typeface="Calibri" panose="020F0502020204030204" pitchFamily="34" charset="0"/>
                        </a:rPr>
                        <a:t>confidentiality_info</a:t>
                      </a:r>
                      <a:r>
                        <a:rPr lang="fr-FR" sz="975" noProof="0">
                          <a:solidFill>
                            <a:schemeClr val="accent2"/>
                          </a:solidFill>
                          <a:latin typeface="+mn-lt"/>
                          <a:cs typeface="Calibri" panose="020F0502020204030204" pitchFamily="34" charset="0"/>
                        </a:rPr>
                        <a:t>}}</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674898051"/>
                  </a:ext>
                </a:extLst>
              </a:tr>
            </a:tbl>
          </a:graphicData>
        </a:graphic>
      </p:graphicFrame>
      <p:pic>
        <p:nvPicPr>
          <p:cNvPr id="7" name="Graphic 10">
            <a:extLst>
              <a:ext uri="{FF2B5EF4-FFF2-40B4-BE49-F238E27FC236}">
                <a16:creationId xmlns:a16="http://schemas.microsoft.com/office/drawing/2014/main" id="{B7787C85-A727-F625-AB96-75DC598E568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11480" y="6507074"/>
            <a:ext cx="6737040" cy="193826"/>
          </a:xfrm>
          <a:prstGeom prst="rect">
            <a:avLst/>
          </a:prstGeom>
        </p:spPr>
      </p:pic>
      <p:graphicFrame>
        <p:nvGraphicFramePr>
          <p:cNvPr id="11" name="Tabel 10">
            <a:extLst>
              <a:ext uri="{FF2B5EF4-FFF2-40B4-BE49-F238E27FC236}">
                <a16:creationId xmlns:a16="http://schemas.microsoft.com/office/drawing/2014/main" id="{B9D30E23-F89B-8050-32F5-223B5B3C1DCD}"/>
              </a:ext>
            </a:extLst>
          </p:cNvPr>
          <p:cNvGraphicFramePr>
            <a:graphicFrameLocks noGrp="1"/>
          </p:cNvGraphicFramePr>
          <p:nvPr>
            <p:extLst>
              <p:ext uri="{D42A27DB-BD31-4B8C-83A1-F6EECF244321}">
                <p14:modId xmlns:p14="http://schemas.microsoft.com/office/powerpoint/2010/main" val="3088782911"/>
              </p:ext>
            </p:extLst>
          </p:nvPr>
        </p:nvGraphicFramePr>
        <p:xfrm>
          <a:off x="411480" y="9144051"/>
          <a:ext cx="6737040" cy="686106"/>
        </p:xfrm>
        <a:graphic>
          <a:graphicData uri="http://schemas.openxmlformats.org/drawingml/2006/table">
            <a:tbl>
              <a:tblPr firstRow="1">
                <a:tableStyleId>{2A488322-F2BA-4B5B-9748-0D474271808F}</a:tableStyleId>
              </a:tblPr>
              <a:tblGrid>
                <a:gridCol w="2316045">
                  <a:extLst>
                    <a:ext uri="{9D8B030D-6E8A-4147-A177-3AD203B41FA5}">
                      <a16:colId xmlns:a16="http://schemas.microsoft.com/office/drawing/2014/main" val="3746818765"/>
                    </a:ext>
                  </a:extLst>
                </a:gridCol>
                <a:gridCol w="2222875">
                  <a:extLst>
                    <a:ext uri="{9D8B030D-6E8A-4147-A177-3AD203B41FA5}">
                      <a16:colId xmlns:a16="http://schemas.microsoft.com/office/drawing/2014/main" val="465692987"/>
                    </a:ext>
                  </a:extLst>
                </a:gridCol>
                <a:gridCol w="1172530">
                  <a:extLst>
                    <a:ext uri="{9D8B030D-6E8A-4147-A177-3AD203B41FA5}">
                      <a16:colId xmlns:a16="http://schemas.microsoft.com/office/drawing/2014/main" val="857047578"/>
                    </a:ext>
                  </a:extLst>
                </a:gridCol>
                <a:gridCol w="1025590">
                  <a:extLst>
                    <a:ext uri="{9D8B030D-6E8A-4147-A177-3AD203B41FA5}">
                      <a16:colId xmlns:a16="http://schemas.microsoft.com/office/drawing/2014/main" val="1742107540"/>
                    </a:ext>
                  </a:extLst>
                </a:gridCol>
              </a:tblGrid>
              <a:tr h="209992">
                <a:tc>
                  <a:txBody>
                    <a:bodyPr/>
                    <a:lstStyle/>
                    <a:p>
                      <a:r>
                        <a:rPr lang="fr-FR" sz="975" b="1" kern="1200" spc="-10" noProof="0">
                          <a:solidFill>
                            <a:schemeClr val="tx2"/>
                          </a:solidFill>
                          <a:latin typeface="+mn-lt"/>
                          <a:ea typeface="+mn-ea"/>
                          <a:cs typeface="+mn-cs"/>
                        </a:rPr>
                        <a:t xml:space="preserve">Nom du certificat ESG/label environnemental </a:t>
                      </a:r>
                      <a:r>
                        <a:rPr lang="fr-FR" sz="975" b="0" kern="1200" spc="-10" noProof="0">
                          <a:solidFill>
                            <a:schemeClr val="tx2"/>
                          </a:solidFill>
                          <a:latin typeface="+mn-lt"/>
                          <a:ea typeface="+mn-ea"/>
                          <a:cs typeface="+mn-cs"/>
                        </a:rPr>
                        <a:t xml:space="preserve">(par. 28)</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fr-FR" sz="975" b="1" kern="1200" spc="-10" noProof="0">
                          <a:solidFill>
                            <a:schemeClr val="tx2"/>
                          </a:solidFill>
                          <a:latin typeface="+mn-lt"/>
                          <a:ea typeface="+mn-ea"/>
                          <a:cs typeface="+mn-cs"/>
                        </a:rPr>
                        <a:t xml:space="preserve">Brève description</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fr-FR" sz="975" b="1" kern="1200" spc="-10" noProof="0">
                          <a:solidFill>
                            <a:schemeClr val="tx2"/>
                          </a:solidFill>
                          <a:latin typeface="+mn-lt"/>
                          <a:ea typeface="+mn-ea"/>
                          <a:cs typeface="+mn-cs"/>
                        </a:rPr>
                        <a:t xml:space="preserve">Date de délivrance/</a:t>
                      </a:r>
                    </a:p>
                    <a:p>
                      <a:pPr algn="l"/>
                      <a:r>
                        <a:rPr lang="fr-FR" sz="975" b="1" kern="1200" spc="-10" noProof="0">
                          <a:solidFill>
                            <a:schemeClr val="tx2"/>
                          </a:solidFill>
                          <a:latin typeface="+mn-lt"/>
                          <a:ea typeface="+mn-ea"/>
                          <a:cs typeface="+mn-cs"/>
                        </a:rPr>
                        <a:t xml:space="preserve">validité</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fr-FR" sz="975" b="1" kern="1200" spc="-10" noProof="0">
                          <a:solidFill>
                            <a:schemeClr val="tx2"/>
                          </a:solidFill>
                          <a:latin typeface="+mn-lt"/>
                          <a:ea typeface="+mn-ea"/>
                          <a:cs typeface="+mn-cs"/>
                        </a:rPr>
                        <a:t xml:space="preserve">Notation éventuelle</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613430332"/>
                  </a:ext>
                </a:extLst>
              </a:tr>
              <a:tr h="209992">
                <a:tc>
                  <a:txBody>
                    <a:bodyPr/>
                    <a:lstStyle/>
                    <a:p>
                      <a:pPr rtl="0" fontAlgn="ctr">
                        <a:buNone/>
                      </a:pPr>
                      <a:r>
                        <a:rPr lang="fr-FR" sz="975" b="0" i="0" u="none" strike="noStrike" noProof="0">
                          <a:solidFill>
                            <a:srgbClr val="2D55FF"/>
                          </a:solidFill>
                          <a:effectLst/>
                          <a:latin typeface="Inter"/>
                        </a:rPr>
                        <a:t>{{certificate_or_ecolabel}}</a:t>
                      </a:r>
                      <a:endParaRPr lang="fr-F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buNone/>
                      </a:pPr>
                      <a:r>
                        <a:rPr lang="fr-FR" sz="975" b="0" i="0" u="none" strike="noStrike" noProof="0">
                          <a:solidFill>
                            <a:srgbClr val="2D55FF"/>
                          </a:solidFill>
                          <a:effectLst/>
                          <a:latin typeface="Inter"/>
                        </a:rPr>
                        <a:t>{{description_certificate}}</a:t>
                      </a:r>
                      <a:endParaRPr lang="fr-F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buNone/>
                      </a:pPr>
                      <a:r>
                        <a:rPr lang="fr-FR" sz="975" b="0" i="0" u="none" strike="noStrike" noProof="0">
                          <a:solidFill>
                            <a:srgbClr val="2D55FF"/>
                          </a:solidFill>
                          <a:effectLst/>
                          <a:latin typeface="Inter"/>
                        </a:rPr>
                        <a:t>{{</a:t>
                      </a:r>
                      <a:r>
                        <a:rPr lang="fr-FR" sz="975" b="0" i="0" u="none" strike="noStrike" noProof="0">
                          <a:solidFill>
                            <a:srgbClr val="2D55FF"/>
                          </a:solidFill>
                          <a:effectLst/>
                          <a:latin typeface="Inter"/>
                        </a:rPr>
                        <a:t>date_certicate</a:t>
                      </a:r>
                      <a:r>
                        <a:rPr lang="fr-FR" sz="975" b="0" i="0" u="none" strike="noStrike" noProof="0">
                          <a:solidFill>
                            <a:srgbClr val="2D55FF"/>
                          </a:solidFill>
                          <a:effectLst/>
                          <a:latin typeface="Inter"/>
                        </a:rPr>
                        <a:t>}}</a:t>
                      </a:r>
                      <a:endParaRPr lang="fr-FR" sz="975" b="0"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buNone/>
                      </a:pPr>
                      <a:r>
                        <a:rPr lang="fr-FR" sz="975" b="0" i="0" u="none" strike="noStrike" noProof="0">
                          <a:solidFill>
                            <a:srgbClr val="2D55FF"/>
                          </a:solidFill>
                          <a:effectLst/>
                          <a:latin typeface="Inter"/>
                        </a:rPr>
                        <a:t>{{</a:t>
                      </a:r>
                      <a:r>
                        <a:rPr lang="fr-FR" sz="975" b="0" i="0" u="none" strike="noStrike" noProof="0">
                          <a:solidFill>
                            <a:srgbClr val="2D55FF"/>
                          </a:solidFill>
                          <a:effectLst/>
                          <a:latin typeface="Inter"/>
                        </a:rPr>
                        <a:t>certiciate_possible_rating</a:t>
                      </a:r>
                      <a:r>
                        <a:rPr lang="fr-FR" sz="975" b="0" i="0" u="none" strike="noStrike" noProof="0">
                          <a:solidFill>
                            <a:srgbClr val="2D55FF"/>
                          </a:solidFill>
                          <a:effectLst/>
                          <a:latin typeface="Inter"/>
                        </a:rPr>
                        <a:t>}}</a:t>
                      </a:r>
                      <a:endParaRPr lang="fr-FR" sz="975" b="0"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95006062"/>
                  </a:ext>
                </a:extLst>
              </a:tr>
            </a:tbl>
          </a:graphicData>
        </a:graphic>
      </p:graphicFrame>
      <p:graphicFrame>
        <p:nvGraphicFramePr>
          <p:cNvPr id="14" name="Tabel 13">
            <a:extLst>
              <a:ext uri="{FF2B5EF4-FFF2-40B4-BE49-F238E27FC236}">
                <a16:creationId xmlns:a16="http://schemas.microsoft.com/office/drawing/2014/main" id="{6CA17681-1928-380D-D58C-D782D51253FF}"/>
              </a:ext>
            </a:extLst>
          </p:cNvPr>
          <p:cNvGraphicFramePr>
            <a:graphicFrameLocks noGrp="1"/>
          </p:cNvGraphicFramePr>
          <p:nvPr>
            <p:extLst>
              <p:ext uri="{D42A27DB-BD31-4B8C-83A1-F6EECF244321}">
                <p14:modId xmlns:p14="http://schemas.microsoft.com/office/powerpoint/2010/main" val="4040236016"/>
              </p:ext>
            </p:extLst>
          </p:nvPr>
        </p:nvGraphicFramePr>
        <p:xfrm>
          <a:off x="411480" y="7251210"/>
          <a:ext cx="6737040" cy="1181292"/>
        </p:xfrm>
        <a:graphic>
          <a:graphicData uri="http://schemas.openxmlformats.org/drawingml/2006/table">
            <a:tbl>
              <a:tblPr firstRow="1">
                <a:tableStyleId>{2A488322-F2BA-4B5B-9748-0D474271808F}</a:tableStyleId>
              </a:tblPr>
              <a:tblGrid>
                <a:gridCol w="1227849">
                  <a:extLst>
                    <a:ext uri="{9D8B030D-6E8A-4147-A177-3AD203B41FA5}">
                      <a16:colId xmlns:a16="http://schemas.microsoft.com/office/drawing/2014/main" val="2041236584"/>
                    </a:ext>
                  </a:extLst>
                </a:gridCol>
                <a:gridCol w="1303858">
                  <a:extLst>
                    <a:ext uri="{9D8B030D-6E8A-4147-A177-3AD203B41FA5}">
                      <a16:colId xmlns:a16="http://schemas.microsoft.com/office/drawing/2014/main" val="2637180759"/>
                    </a:ext>
                  </a:extLst>
                </a:gridCol>
                <a:gridCol w="996273">
                  <a:extLst>
                    <a:ext uri="{9D8B030D-6E8A-4147-A177-3AD203B41FA5}">
                      <a16:colId xmlns:a16="http://schemas.microsoft.com/office/drawing/2014/main" val="1126871569"/>
                    </a:ext>
                  </a:extLst>
                </a:gridCol>
                <a:gridCol w="973628">
                  <a:extLst>
                    <a:ext uri="{9D8B030D-6E8A-4147-A177-3AD203B41FA5}">
                      <a16:colId xmlns:a16="http://schemas.microsoft.com/office/drawing/2014/main" val="573454477"/>
                    </a:ext>
                  </a:extLst>
                </a:gridCol>
                <a:gridCol w="1079296">
                  <a:extLst>
                    <a:ext uri="{9D8B030D-6E8A-4147-A177-3AD203B41FA5}">
                      <a16:colId xmlns:a16="http://schemas.microsoft.com/office/drawing/2014/main" val="3277283369"/>
                    </a:ext>
                  </a:extLst>
                </a:gridCol>
                <a:gridCol w="1156136">
                  <a:extLst>
                    <a:ext uri="{9D8B030D-6E8A-4147-A177-3AD203B41FA5}">
                      <a16:colId xmlns:a16="http://schemas.microsoft.com/office/drawing/2014/main" val="3975353283"/>
                    </a:ext>
                  </a:extLst>
                </a:gridCol>
              </a:tblGrid>
              <a:tr h="269989">
                <a:tc gridSpan="6">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75" b="1" kern="1200" spc="-10" noProof="0">
                          <a:solidFill>
                            <a:schemeClr val="tx2"/>
                          </a:solidFill>
                          <a:latin typeface="+mn-lt"/>
                          <a:ea typeface="+mn-ea"/>
                          <a:cs typeface="+mn-cs"/>
                        </a:rPr>
                        <a:t xml:space="preserve">Adresses et géolocalisation des </a:t>
                      </a:r>
                      <a:r>
                        <a:rPr lang="fr-FR" sz="975" b="1" u="none" kern="1200" spc="-10" noProof="0">
                          <a:solidFill>
                            <a:schemeClr val="tx2"/>
                          </a:solidFill>
                          <a:latin typeface="+mn-lt"/>
                          <a:ea typeface="+mn-ea"/>
                          <a:cs typeface="+mn-cs"/>
                        </a:rPr>
                        <a:t xml:space="preserve">actifs</a:t>
                      </a:r>
                      <a:r>
                        <a:rPr lang="fr-FR" sz="975" b="1" kern="1200" spc="-10" noProof="0">
                          <a:solidFill>
                            <a:schemeClr val="tx2"/>
                          </a:solidFill>
                          <a:latin typeface="+mn-lt"/>
                          <a:ea typeface="+mn-ea"/>
                          <a:cs typeface="+mn-cs"/>
                        </a:rPr>
                        <a:t xml:space="preserve"> et sites significatifs que l’entreprise</a:t>
                      </a:r>
                      <a:r>
                        <a:rPr lang="fr-FR" sz="975" b="0" kern="1200" spc="-10" noProof="0">
                          <a:solidFill>
                            <a:schemeClr val="tx2"/>
                          </a:solidFill>
                          <a:latin typeface="+mn-lt"/>
                          <a:ea typeface="+mn-ea"/>
                          <a:cs typeface="+mn-cs"/>
                        </a:rPr>
                        <a:t> </a:t>
                      </a:r>
                      <a:r>
                        <a:rPr lang="fr-FR" sz="975" b="1" kern="1200" spc="-10" noProof="0">
                          <a:solidFill>
                            <a:schemeClr val="tx2"/>
                          </a:solidFill>
                          <a:latin typeface="+mn-lt"/>
                          <a:ea typeface="+mn-ea"/>
                          <a:cs typeface="+mn-cs"/>
                        </a:rPr>
                        <a:t xml:space="preserve">détient, loue ou gère </a:t>
                      </a:r>
                      <a:r>
                        <a:rPr lang="fr-FR" sz="975" b="0" kern="1200" spc="-10" noProof="0">
                          <a:solidFill>
                            <a:schemeClr val="tx2"/>
                          </a:solidFill>
                          <a:latin typeface="+mn-lt"/>
                          <a:ea typeface="+mn-ea"/>
                          <a:cs typeface="+mn-cs"/>
                        </a:rPr>
                        <a:t xml:space="preserve">(par. 27e, vi, vii)</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975" b="1" kern="1200" spc="-10" noProof="0" dirty="0">
                        <a:solidFill>
                          <a:schemeClr val="tx2"/>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fr-FR" sz="725" b="1" kern="1200" spc="-10" noProof="0">
                        <a:solidFill>
                          <a:schemeClr val="tx2"/>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fr-FR" sz="725" b="1" kern="1200" spc="-10" noProof="0">
                        <a:solidFill>
                          <a:schemeClr val="tx2"/>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fr-FR" sz="725" b="1" kern="1200" spc="-10" noProof="0">
                        <a:solidFill>
                          <a:schemeClr val="tx2"/>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fr-FR" sz="725" b="1" kern="1200" spc="-10" noProof="0">
                        <a:solidFill>
                          <a:schemeClr val="tx2"/>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fr-FR" sz="725" b="1" kern="1200" spc="-10" noProof="0">
                        <a:solidFill>
                          <a:schemeClr val="tx2"/>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2108498375"/>
                  </a:ext>
                </a:extLst>
              </a:tr>
              <a:tr h="269989">
                <a:tc>
                  <a:txBody>
                    <a:bodyPr/>
                    <a:lstStyle/>
                    <a:p>
                      <a:pPr algn="l"/>
                      <a:r>
                        <a:rPr lang="fr-FR" sz="975" b="1" kern="1200" spc="-10" noProof="0">
                          <a:solidFill>
                            <a:schemeClr val="tx2"/>
                          </a:solidFill>
                          <a:latin typeface="+mn-lt"/>
                          <a:ea typeface="+mn-ea"/>
                          <a:cs typeface="+mn-cs"/>
                        </a:rPr>
                        <a:t>Site</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fr-FR" sz="975" b="1" kern="1200" spc="-10" noProof="0">
                          <a:solidFill>
                            <a:schemeClr val="tx2"/>
                          </a:solidFill>
                          <a:latin typeface="+mn-lt"/>
                          <a:ea typeface="+mn-ea"/>
                          <a:cs typeface="+mn-cs"/>
                        </a:rPr>
                        <a:t xml:space="preserve">Adresse</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fr-FR" sz="975" b="1" kern="1200" spc="-10" noProof="0">
                          <a:solidFill>
                            <a:schemeClr val="tx2"/>
                          </a:solidFill>
                          <a:latin typeface="+mn-lt"/>
                          <a:ea typeface="+mn-ea"/>
                          <a:cs typeface="+mn-cs"/>
                        </a:rPr>
                        <a:t xml:space="preserve">Code postal</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fr-FR" sz="975" b="1" kern="1200" spc="-10" noProof="0">
                          <a:solidFill>
                            <a:schemeClr val="tx2"/>
                          </a:solidFill>
                          <a:latin typeface="+mn-lt"/>
                          <a:ea typeface="+mn-ea"/>
                          <a:cs typeface="+mn-cs"/>
                        </a:rPr>
                        <a:t xml:space="preserve">Ville</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fr-FR" sz="975" b="1" kern="1200" spc="-10" noProof="0">
                          <a:solidFill>
                            <a:schemeClr val="tx2"/>
                          </a:solidFill>
                          <a:latin typeface="+mn-lt"/>
                          <a:ea typeface="+mn-ea"/>
                          <a:cs typeface="+mn-cs"/>
                        </a:rPr>
                        <a:t xml:space="preserve">Pays</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fr-FR" sz="975" b="1" kern="1200" spc="-10" noProof="0">
                          <a:solidFill>
                            <a:schemeClr val="tx2"/>
                          </a:solidFill>
                          <a:latin typeface="+mn-lt"/>
                          <a:ea typeface="+mn-ea"/>
                          <a:cs typeface="+mn-cs"/>
                        </a:rPr>
                        <a:t xml:space="preserve">Géolocalisation (coordonnées)</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282431150"/>
                  </a:ext>
                </a:extLst>
              </a:tr>
              <a:tr h="269989">
                <a:tc>
                  <a:txBody>
                    <a:bodyPr/>
                    <a:lstStyle/>
                    <a:p>
                      <a:pPr rtl="0" fontAlgn="t">
                        <a:buNone/>
                      </a:pPr>
                      <a:r>
                        <a:rPr lang="fr-FR" sz="975" b="0" i="0" u="none" strike="noStrike" noProof="0">
                          <a:solidFill>
                            <a:srgbClr val="2D55FF"/>
                          </a:solidFill>
                          <a:effectLst/>
                          <a:latin typeface="Inter"/>
                        </a:rPr>
                        <a:t>{{geolocation}}</a:t>
                      </a:r>
                      <a:endParaRPr lang="fr-FR" sz="975" b="0" noProof="0">
                        <a:effectLst/>
                      </a:endParaRPr>
                    </a:p>
                  </a:txBody>
                  <a:tcPr marL="15874" marR="15874" marT="10583" marB="10583">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fr-FR" sz="975" b="0" i="0" u="none" strike="noStrike" noProof="0">
                          <a:solidFill>
                            <a:srgbClr val="2D55FF"/>
                          </a:solidFill>
                          <a:effectLst/>
                          <a:latin typeface="Inter"/>
                        </a:rPr>
                        <a:t>{{</a:t>
                      </a:r>
                      <a:r>
                        <a:rPr lang="fr-FR" sz="975" b="0" i="0" u="none" strike="noStrike" noProof="0">
                          <a:solidFill>
                            <a:srgbClr val="2D55FF"/>
                          </a:solidFill>
                          <a:effectLst/>
                          <a:latin typeface="Inter"/>
                        </a:rPr>
                        <a:t>geolocation_adress</a:t>
                      </a:r>
                      <a:r>
                        <a:rPr lang="fr-FR" sz="975" b="0" i="0" u="none" strike="noStrike" noProof="0">
                          <a:solidFill>
                            <a:srgbClr val="2D55FF"/>
                          </a:solidFill>
                          <a:effectLst/>
                          <a:latin typeface="Inter"/>
                        </a:rPr>
                        <a:t>}}</a:t>
                      </a:r>
                      <a:endParaRPr lang="fr-FR" sz="975" b="0" noProof="0" dirty="0">
                        <a:effectLst/>
                      </a:endParaRPr>
                    </a:p>
                  </a:txBody>
                  <a:tcPr marL="15874" marR="15874" marT="10583" marB="10583">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fr-FR" sz="975" b="0" i="0" u="none" strike="noStrike" noProof="0">
                          <a:solidFill>
                            <a:srgbClr val="2D55FF"/>
                          </a:solidFill>
                          <a:effectLst/>
                          <a:latin typeface="Inter"/>
                        </a:rPr>
                        <a:t>{{geolocation_postcode}}</a:t>
                      </a:r>
                      <a:endParaRPr lang="fr-FR" sz="975" b="0" noProof="0">
                        <a:effectLst/>
                      </a:endParaRPr>
                    </a:p>
                  </a:txBody>
                  <a:tcPr marL="15874" marR="15874" marT="10583" marB="10583">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fr-FR" sz="975" b="0" i="0" u="none" strike="noStrike" noProof="0">
                          <a:solidFill>
                            <a:srgbClr val="2D55FF"/>
                          </a:solidFill>
                          <a:effectLst/>
                          <a:latin typeface="Inter"/>
                        </a:rPr>
                        <a:t>{{geolocation_city}}</a:t>
                      </a:r>
                      <a:endParaRPr lang="fr-FR" sz="975" b="0" noProof="0">
                        <a:effectLst/>
                      </a:endParaRPr>
                    </a:p>
                  </a:txBody>
                  <a:tcPr marL="15874" marR="15874" marT="10583" marB="10583">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fr-FR" sz="975" b="0" i="0" u="none" strike="noStrike" noProof="0">
                          <a:solidFill>
                            <a:srgbClr val="2D55FF"/>
                          </a:solidFill>
                          <a:effectLst/>
                          <a:latin typeface="Inter"/>
                        </a:rPr>
                        <a:t>{{geolocation_country}}</a:t>
                      </a:r>
                      <a:endParaRPr lang="fr-FR" sz="975" b="0" noProof="0">
                        <a:effectLst/>
                      </a:endParaRPr>
                    </a:p>
                  </a:txBody>
                  <a:tcPr marL="15874" marR="15874" marT="10583" marB="10583">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fr-FR" sz="975" b="0" i="0" u="none" strike="noStrike" noProof="0">
                          <a:solidFill>
                            <a:srgbClr val="2D55FF"/>
                          </a:solidFill>
                          <a:effectLst/>
                          <a:latin typeface="Inter"/>
                        </a:rPr>
                        <a:t>{{</a:t>
                      </a:r>
                      <a:r>
                        <a:rPr lang="fr-FR" sz="975" b="0" i="0" u="none" strike="noStrike" noProof="0">
                          <a:solidFill>
                            <a:srgbClr val="2D55FF"/>
                          </a:solidFill>
                          <a:effectLst/>
                          <a:latin typeface="Inter"/>
                        </a:rPr>
                        <a:t>geolocation_coordinates</a:t>
                      </a:r>
                      <a:r>
                        <a:rPr lang="fr-FR" sz="975" b="0" i="0" u="none" strike="noStrike" noProof="0">
                          <a:solidFill>
                            <a:srgbClr val="2D55FF"/>
                          </a:solidFill>
                          <a:effectLst/>
                          <a:latin typeface="Inter"/>
                        </a:rPr>
                        <a:t>}}</a:t>
                      </a:r>
                      <a:endParaRPr lang="fr-FR" sz="975" b="0" noProof="0" dirty="0">
                        <a:effectLst/>
                      </a:endParaRPr>
                    </a:p>
                  </a:txBody>
                  <a:tcPr marL="15874" marR="15874" marT="10583" marB="10583">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669926511"/>
                  </a:ext>
                </a:extLst>
              </a:tr>
            </a:tbl>
          </a:graphicData>
        </a:graphic>
      </p:graphicFrame>
      <p:sp>
        <p:nvSpPr>
          <p:cNvPr id="19" name="Tekstfelt 18">
            <a:extLst>
              <a:ext uri="{FF2B5EF4-FFF2-40B4-BE49-F238E27FC236}">
                <a16:creationId xmlns:a16="http://schemas.microsoft.com/office/drawing/2014/main" id="{E833CCA7-4D9A-7EEC-4359-1F0F50503027}"/>
              </a:ext>
            </a:extLst>
          </p:cNvPr>
          <p:cNvSpPr txBox="1"/>
          <p:nvPr/>
        </p:nvSpPr>
        <p:spPr>
          <a:xfrm>
            <a:off x="411480" y="6538989"/>
            <a:ext cx="6737040" cy="538588"/>
          </a:xfrm>
          <a:prstGeom prst="rect">
            <a:avLst/>
          </a:prstGeom>
          <a:noFill/>
        </p:spPr>
        <p:txBody>
          <a:bodyPr wrap="square">
            <a:spAutoFit/>
          </a:bodyPr>
          <a:lstStyle/>
          <a:p>
            <a:pPr>
              <a:spcBef>
                <a:spcPts val="750"/>
              </a:spcBef>
            </a:pPr>
            <a:r>
              <a:rPr lang="fr-FR" sz="975" b="0" i="0" u="none" strike="noStrike" noProof="0">
                <a:solidFill>
                  <a:schemeClr val="tx2"/>
                </a:solidFill>
                <a:effectLst/>
                <a:latin typeface="Inter"/>
              </a:rPr>
              <a:t xml:space="preserve">Ci-dessous figure une description des géolocalisations de l’entreprise et des lieux où elle opère. Ces informations peuvent servir pour les zones de risque climatique et renseignent sur les installations, sites et/ou le siège de l’entreprise</a:t>
            </a:r>
            <a:r>
              <a:rPr lang="fr-FR" sz="975" noProof="0">
                <a:solidFill>
                  <a:schemeClr val="tx2"/>
                </a:solidFill>
                <a:latin typeface="Inter"/>
              </a:rPr>
              <a:t xml:space="preserve">. Les certifications ou labels de durabilité pertinents sont également indiqués, y compris l’organisme émetteur, la date et la notation éventuelle.</a:t>
            </a:r>
            <a:endParaRPr lang="fr-FR" sz="975" b="0" noProof="0" dirty="0">
              <a:solidFill>
                <a:schemeClr val="tx2"/>
              </a:solidFill>
              <a:effectLst/>
              <a:latin typeface="Inter"/>
            </a:endParaRPr>
          </a:p>
        </p:txBody>
      </p:sp>
      <p:sp>
        <p:nvSpPr>
          <p:cNvPr id="21" name="Tekstfelt 20">
            <a:extLst>
              <a:ext uri="{FF2B5EF4-FFF2-40B4-BE49-F238E27FC236}">
                <a16:creationId xmlns:a16="http://schemas.microsoft.com/office/drawing/2014/main" id="{491B3392-69C7-8B39-2F36-18D17714B1CA}"/>
              </a:ext>
            </a:extLst>
          </p:cNvPr>
          <p:cNvSpPr txBox="1"/>
          <p:nvPr/>
        </p:nvSpPr>
        <p:spPr>
          <a:xfrm>
            <a:off x="411480" y="8706648"/>
            <a:ext cx="6737040" cy="230823"/>
          </a:xfrm>
          <a:prstGeom prst="rect">
            <a:avLst/>
          </a:prstGeom>
          <a:noFill/>
        </p:spPr>
        <p:txBody>
          <a:bodyPr wrap="square">
            <a:spAutoFit/>
          </a:bodyPr>
          <a:lstStyle/>
          <a:p>
            <a:r>
              <a:rPr lang="fr-FR" sz="975" noProof="0">
                <a:solidFill>
                  <a:srgbClr val="487477"/>
                </a:solidFill>
                <a:latin typeface="Inter"/>
              </a:rPr>
              <a:t xml:space="preserve">Les certificats et labels environnementaux de l’entreprise sont énumérés ci-dessous.</a:t>
            </a:r>
          </a:p>
        </p:txBody>
      </p:sp>
    </p:spTree>
    <p:extLst>
      <p:ext uri="{BB962C8B-B14F-4D97-AF65-F5344CB8AC3E}">
        <p14:creationId xmlns:p14="http://schemas.microsoft.com/office/powerpoint/2010/main" val="41699884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411480" y="817033"/>
            <a:ext cx="6737040" cy="207741"/>
          </a:xfrm>
        </p:spPr>
        <p:txBody>
          <a:bodyPr/>
          <a:lstStyle/>
          <a:p>
            <a:r>
              <a:rPr lang="fr-FR" noProof="0"/>
              <a:t xml:space="preserve">Pratiques, politiques et initiatives futures en vue de la transition vers une économie plus durable (B2)</a:t>
            </a:r>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fr-FR" noProof="0"/>
              <a:t>{{company_name}}</a:t>
            </a:r>
            <a:endParaRPr lang="fr-FR" b="0" noProof="0"/>
          </a:p>
          <a:p>
            <a:endParaRPr lang="fr-FR" noProof="0"/>
          </a:p>
        </p:txBody>
      </p:sp>
      <p:graphicFrame>
        <p:nvGraphicFramePr>
          <p:cNvPr id="11" name="Table 2">
            <a:extLst>
              <a:ext uri="{FF2B5EF4-FFF2-40B4-BE49-F238E27FC236}">
                <a16:creationId xmlns:a16="http://schemas.microsoft.com/office/drawing/2014/main" id="{A420AFF6-414E-4EC8-A668-F0BFECC8260A}"/>
              </a:ext>
            </a:extLst>
          </p:cNvPr>
          <p:cNvGraphicFramePr>
            <a:graphicFrameLocks noGrp="1"/>
          </p:cNvGraphicFramePr>
          <p:nvPr>
            <p:extLst>
              <p:ext uri="{D42A27DB-BD31-4B8C-83A1-F6EECF244321}">
                <p14:modId xmlns:p14="http://schemas.microsoft.com/office/powerpoint/2010/main" val="1877360368"/>
              </p:ext>
            </p:extLst>
          </p:nvPr>
        </p:nvGraphicFramePr>
        <p:xfrm>
          <a:off x="411480" y="2494291"/>
          <a:ext cx="6737040" cy="4084888"/>
        </p:xfrm>
        <a:graphic>
          <a:graphicData uri="http://schemas.openxmlformats.org/drawingml/2006/table">
            <a:tbl>
              <a:tblPr firstRow="1">
                <a:tableStyleId>{2A488322-F2BA-4B5B-9748-0D474271808F}</a:tableStyleId>
              </a:tblPr>
              <a:tblGrid>
                <a:gridCol w="1204357">
                  <a:extLst>
                    <a:ext uri="{9D8B030D-6E8A-4147-A177-3AD203B41FA5}">
                      <a16:colId xmlns:a16="http://schemas.microsoft.com/office/drawing/2014/main" val="1902117154"/>
                    </a:ext>
                  </a:extLst>
                </a:gridCol>
                <a:gridCol w="1272057">
                  <a:extLst>
                    <a:ext uri="{9D8B030D-6E8A-4147-A177-3AD203B41FA5}">
                      <a16:colId xmlns:a16="http://schemas.microsoft.com/office/drawing/2014/main" val="1904521774"/>
                    </a:ext>
                  </a:extLst>
                </a:gridCol>
                <a:gridCol w="996189">
                  <a:extLst>
                    <a:ext uri="{9D8B030D-6E8A-4147-A177-3AD203B41FA5}">
                      <a16:colId xmlns:a16="http://schemas.microsoft.com/office/drawing/2014/main" val="3164053669"/>
                    </a:ext>
                  </a:extLst>
                </a:gridCol>
                <a:gridCol w="1394665">
                  <a:extLst>
                    <a:ext uri="{9D8B030D-6E8A-4147-A177-3AD203B41FA5}">
                      <a16:colId xmlns:a16="http://schemas.microsoft.com/office/drawing/2014/main" val="1484983729"/>
                    </a:ext>
                  </a:extLst>
                </a:gridCol>
                <a:gridCol w="1869772">
                  <a:extLst>
                    <a:ext uri="{9D8B030D-6E8A-4147-A177-3AD203B41FA5}">
                      <a16:colId xmlns:a16="http://schemas.microsoft.com/office/drawing/2014/main" val="3920544300"/>
                    </a:ext>
                  </a:extLst>
                </a:gridCol>
              </a:tblGrid>
              <a:tr h="396886">
                <a:tc>
                  <a:txBody>
                    <a:bodyPr/>
                    <a:lstStyle/>
                    <a:p>
                      <a:r>
                        <a:rPr lang="fr-FR" sz="975" b="1" kern="1200" spc="-10" noProof="0">
                          <a:solidFill>
                            <a:schemeClr val="tx2"/>
                          </a:solidFill>
                          <a:latin typeface="+mn-lt"/>
                          <a:ea typeface="+mn-ea"/>
                          <a:cs typeface="+mn-cs"/>
                        </a:rPr>
                        <a:t xml:space="preserve">Domaine</a:t>
                      </a:r>
                    </a:p>
                    <a:p>
                      <a:r>
                        <a:rPr lang="fr-FR" sz="975" b="0" kern="1200" spc="-10" noProof="0">
                          <a:solidFill>
                            <a:schemeClr val="tx2"/>
                          </a:solidFill>
                          <a:latin typeface="+mn-lt"/>
                          <a:ea typeface="+mn-ea"/>
                          <a:cs typeface="+mn-cs"/>
                        </a:rPr>
                        <a:t xml:space="preserve">(par. 29a-d)</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fr-FR" sz="975" b="1" kern="1200" spc="-10" noProof="0">
                          <a:solidFill>
                            <a:schemeClr val="tx2"/>
                          </a:solidFill>
                          <a:latin typeface="+mn-lt"/>
                          <a:ea typeface="+mn-ea"/>
                          <a:cs typeface="+mn-cs"/>
                        </a:rPr>
                        <a:t xml:space="preserve">Pratique ou politique concrète en place dans ce domaine</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fr-FR" sz="975" b="1" kern="1200" spc="-10" noProof="0">
                          <a:solidFill>
                            <a:schemeClr val="tx2"/>
                          </a:solidFill>
                          <a:latin typeface="+mn-lt"/>
                          <a:ea typeface="+mn-ea"/>
                          <a:cs typeface="+mn-cs"/>
                        </a:rPr>
                        <a:t xml:space="preserve">La politique est-elle accessible au public? </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fr-FR" sz="975" b="1" kern="1200" spc="-10" noProof="0">
                          <a:solidFill>
                            <a:schemeClr val="tx2"/>
                          </a:solidFill>
                          <a:latin typeface="+mn-lt"/>
                          <a:ea typeface="+mn-ea"/>
                          <a:cs typeface="+mn-cs"/>
                        </a:rPr>
                        <a:t xml:space="preserve">L’entreprise a des initiatives et plans futurs</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fr-FR" sz="975" b="1" kern="1200" spc="-10" noProof="0">
                          <a:solidFill>
                            <a:schemeClr val="tx2"/>
                          </a:solidFill>
                          <a:latin typeface="+mn-lt"/>
                          <a:ea typeface="+mn-ea"/>
                          <a:cs typeface="+mn-cs"/>
                        </a:rPr>
                        <a:t xml:space="preserve">Cibles concrètes de suivi de la mise en œuvre des pratiques et politiques?</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642311251"/>
                  </a:ext>
                </a:extLst>
              </a:tr>
              <a:tr h="253742">
                <a:tc>
                  <a:txBody>
                    <a:bodyPr/>
                    <a:lstStyle/>
                    <a:p>
                      <a:pPr algn="l"/>
                      <a:r>
                        <a:rPr lang="fr-FR" sz="975" b="1" kern="1200" spc="-10" noProof="0">
                          <a:solidFill>
                            <a:schemeClr val="tx2"/>
                          </a:solidFill>
                          <a:latin typeface="+mn-lt"/>
                          <a:ea typeface="+mn-ea"/>
                          <a:cs typeface="+mn-cs"/>
                        </a:rPr>
                        <a:t xml:space="preserve">Changement climatique</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fr-FR" sz="975" b="0" i="0" u="none" strike="noStrike" noProof="0">
                          <a:solidFill>
                            <a:srgbClr val="2D55FF"/>
                          </a:solidFill>
                          <a:effectLst/>
                          <a:latin typeface="Inter"/>
                        </a:rPr>
                        <a:t>{{climate_change_concrete}}</a:t>
                      </a:r>
                      <a:endParaRPr lang="fr-F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fr-FR" sz="975" b="0" i="0" u="none" strike="noStrike" noProof="0">
                          <a:solidFill>
                            <a:srgbClr val="2D55FF"/>
                          </a:solidFill>
                          <a:effectLst/>
                          <a:latin typeface="Inter"/>
                        </a:rPr>
                        <a:t>{{climate_change_publicly}}</a:t>
                      </a:r>
                      <a:endParaRPr lang="fr-F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fr-FR" sz="975" b="0" i="0" u="none" strike="noStrike" noProof="0">
                          <a:solidFill>
                            <a:srgbClr val="2D55FF"/>
                          </a:solidFill>
                          <a:effectLst/>
                          <a:latin typeface="Inter"/>
                        </a:rPr>
                        <a:t>{{climate_change_future}}</a:t>
                      </a:r>
                      <a:endParaRPr lang="fr-F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fr-FR" sz="975" b="0" i="0" u="none" strike="noStrike" noProof="0">
                          <a:solidFill>
                            <a:schemeClr val="accent2"/>
                          </a:solidFill>
                          <a:latin typeface="Inter"/>
                        </a:rPr>
                        <a:t>{{climate_change_plan}}</a:t>
                      </a:r>
                      <a:endParaRPr lang="fr-FR">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240796">
                <a:tc>
                  <a:txBody>
                    <a:bodyPr/>
                    <a:lstStyle/>
                    <a:p>
                      <a:pPr algn="l"/>
                      <a:r>
                        <a:rPr lang="fr-FR" sz="975" b="1" kern="1200" spc="-10" noProof="0">
                          <a:solidFill>
                            <a:schemeClr val="tx2"/>
                          </a:solidFill>
                          <a:latin typeface="+mn-lt"/>
                          <a:ea typeface="+mn-ea"/>
                          <a:cs typeface="+mn-cs"/>
                        </a:rPr>
                        <a:t>Pollution</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fr-FR" sz="975" b="0" i="0" u="none" strike="noStrike" noProof="0">
                          <a:solidFill>
                            <a:srgbClr val="2D55FF"/>
                          </a:solidFill>
                          <a:effectLst/>
                          <a:latin typeface="Inter"/>
                        </a:rPr>
                        <a:t>{{pollution_concrete}}</a:t>
                      </a:r>
                      <a:endParaRPr lang="fr-F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fr-FR" sz="975" b="0" i="0" u="none" strike="noStrike" noProof="0">
                          <a:solidFill>
                            <a:srgbClr val="2D55FF"/>
                          </a:solidFill>
                          <a:effectLst/>
                          <a:latin typeface="Inter"/>
                        </a:rPr>
                        <a:t>{{pollution_publicly}}</a:t>
                      </a:r>
                      <a:endParaRPr lang="fr-F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fr-FR" sz="975" b="0" i="0" u="none" strike="noStrike" noProof="0">
                          <a:solidFill>
                            <a:srgbClr val="2D55FF"/>
                          </a:solidFill>
                          <a:effectLst/>
                          <a:latin typeface="Inter"/>
                        </a:rPr>
                        <a:t>{{pollution_future}}</a:t>
                      </a:r>
                      <a:endParaRPr lang="fr-F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fr-FR" sz="975" b="0" i="0" u="none" strike="noStrike" noProof="0">
                          <a:solidFill>
                            <a:schemeClr val="accent2"/>
                          </a:solidFill>
                          <a:latin typeface="Inter"/>
                        </a:rPr>
                        <a:t>{{pollution_plan}}</a:t>
                      </a:r>
                      <a:endParaRPr lang="fr-FR">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247635">
                <a:tc>
                  <a:txBody>
                    <a:bodyPr/>
                    <a:lstStyle/>
                    <a:p>
                      <a:pPr algn="l"/>
                      <a:r>
                        <a:rPr lang="fr-FR" sz="975" b="1" kern="1200" spc="-10" noProof="0">
                          <a:solidFill>
                            <a:schemeClr val="tx2"/>
                          </a:solidFill>
                          <a:latin typeface="+mn-lt"/>
                          <a:ea typeface="+mn-ea"/>
                          <a:cs typeface="+mn-cs"/>
                        </a:rPr>
                        <a:t xml:space="preserve">Ressources hydriques et marines</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fr-FR" sz="975" b="0" i="0" u="none" strike="noStrike" noProof="0">
                          <a:solidFill>
                            <a:srgbClr val="2D55FF"/>
                          </a:solidFill>
                          <a:effectLst/>
                          <a:latin typeface="Inter"/>
                        </a:rPr>
                        <a:t>{{water_concrete}}</a:t>
                      </a:r>
                      <a:endParaRPr lang="fr-F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fr-FR" sz="975" b="0" i="0" u="none" strike="noStrike" noProof="0">
                          <a:solidFill>
                            <a:srgbClr val="2D55FF"/>
                          </a:solidFill>
                          <a:effectLst/>
                          <a:latin typeface="Inter"/>
                        </a:rPr>
                        <a:t>{{water_publicly}}</a:t>
                      </a:r>
                      <a:endParaRPr lang="fr-F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fr-FR" sz="975" b="0" i="0" u="none" strike="noStrike" noProof="0">
                          <a:solidFill>
                            <a:srgbClr val="2D55FF"/>
                          </a:solidFill>
                          <a:effectLst/>
                          <a:latin typeface="Inter"/>
                        </a:rPr>
                        <a:t>{{water_future}}</a:t>
                      </a:r>
                      <a:endParaRPr lang="fr-F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fr-FR" sz="975" b="0" i="0" u="none" strike="noStrike" noProof="0">
                          <a:solidFill>
                            <a:schemeClr val="accent2"/>
                          </a:solidFill>
                          <a:latin typeface="Inter"/>
                        </a:rPr>
                        <a:t>{{water_plan}}</a:t>
                      </a:r>
                      <a:endParaRPr lang="fr-FR">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442156864"/>
                  </a:ext>
                </a:extLst>
              </a:tr>
              <a:tr h="247635">
                <a:tc>
                  <a:txBody>
                    <a:bodyPr/>
                    <a:lstStyle/>
                    <a:p>
                      <a:pPr algn="l"/>
                      <a:r>
                        <a:rPr lang="fr-FR" sz="975" b="1" kern="1200" spc="-10" noProof="0">
                          <a:solidFill>
                            <a:schemeClr val="tx2"/>
                          </a:solidFill>
                          <a:latin typeface="+mn-lt"/>
                          <a:ea typeface="+mn-ea"/>
                          <a:cs typeface="+mn-cs"/>
                        </a:rPr>
                        <a:t xml:space="preserve">Biodiversité et écosystèmes</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fr-FR" sz="975" b="0" i="0" u="none" strike="noStrike" noProof="0">
                          <a:solidFill>
                            <a:srgbClr val="2D55FF"/>
                          </a:solidFill>
                          <a:effectLst/>
                          <a:latin typeface="Inter"/>
                        </a:rPr>
                        <a:t>{{biodiversity_concrete}}</a:t>
                      </a:r>
                      <a:endParaRPr lang="fr-F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fr-FR" sz="975" b="0" i="0" u="none" strike="noStrike" noProof="0">
                          <a:solidFill>
                            <a:srgbClr val="2D55FF"/>
                          </a:solidFill>
                          <a:effectLst/>
                          <a:latin typeface="Inter"/>
                        </a:rPr>
                        <a:t>{{biodiversity_publicly}}</a:t>
                      </a:r>
                      <a:endParaRPr lang="fr-F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fr-FR" sz="975" b="0" i="0" u="none" strike="noStrike" noProof="0">
                          <a:solidFill>
                            <a:srgbClr val="2D55FF"/>
                          </a:solidFill>
                          <a:effectLst/>
                          <a:latin typeface="Inter"/>
                        </a:rPr>
                        <a:t>{{biodiversity_future}}</a:t>
                      </a:r>
                      <a:endParaRPr lang="fr-F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fr-FR" sz="975" b="0" i="0" u="none" strike="noStrike" noProof="0">
                          <a:solidFill>
                            <a:schemeClr val="accent2"/>
                          </a:solidFill>
                          <a:latin typeface="Inter"/>
                        </a:rPr>
                        <a:t>{{biodiversity_plan}}</a:t>
                      </a:r>
                      <a:endParaRPr lang="fr-FR">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197746340"/>
                  </a:ext>
                </a:extLst>
              </a:tr>
              <a:tr h="247635">
                <a:tc>
                  <a:txBody>
                    <a:bodyPr/>
                    <a:lstStyle/>
                    <a:p>
                      <a:pPr algn="l"/>
                      <a:r>
                        <a:rPr lang="fr-FR" sz="975" b="1" kern="1200" spc="-10" noProof="0">
                          <a:solidFill>
                            <a:schemeClr val="tx2"/>
                          </a:solidFill>
                          <a:latin typeface="+mn-lt"/>
                          <a:ea typeface="+mn-ea"/>
                          <a:cs typeface="+mn-cs"/>
                        </a:rPr>
                        <a:t xml:space="preserve">Économie circulaire</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fr-FR" sz="975" b="0" i="0" u="none" strike="noStrike" noProof="0">
                          <a:solidFill>
                            <a:srgbClr val="2D55FF"/>
                          </a:solidFill>
                          <a:effectLst/>
                          <a:latin typeface="Inter"/>
                        </a:rPr>
                        <a:t>{{circular_concrete}}</a:t>
                      </a:r>
                      <a:endParaRPr lang="fr-F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fr-FR" sz="975" b="0" i="0" u="none" strike="noStrike" noProof="0">
                          <a:solidFill>
                            <a:srgbClr val="2D55FF"/>
                          </a:solidFill>
                          <a:effectLst/>
                          <a:latin typeface="Inter"/>
                        </a:rPr>
                        <a:t>{{circular_publicly}}</a:t>
                      </a:r>
                      <a:endParaRPr lang="fr-F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fr-FR" sz="975" b="0" i="0" u="none" strike="noStrike" noProof="0">
                          <a:solidFill>
                            <a:srgbClr val="2D55FF"/>
                          </a:solidFill>
                          <a:effectLst/>
                          <a:latin typeface="Inter"/>
                        </a:rPr>
                        <a:t>{{circular_future}}</a:t>
                      </a:r>
                      <a:endParaRPr lang="fr-F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fr-FR" sz="975" b="0" i="0" u="none" strike="noStrike" noProof="0">
                          <a:solidFill>
                            <a:schemeClr val="accent2"/>
                          </a:solidFill>
                          <a:latin typeface="Inter"/>
                        </a:rPr>
                        <a:t>{{circular_plan}}</a:t>
                      </a:r>
                      <a:endParaRPr lang="fr-FR">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2359221"/>
                  </a:ext>
                </a:extLst>
              </a:tr>
              <a:tr h="247635">
                <a:tc>
                  <a:txBody>
                    <a:bodyPr/>
                    <a:lstStyle/>
                    <a:p>
                      <a:pPr algn="l"/>
                      <a:r>
                        <a:rPr lang="fr-FR" sz="975" b="1" kern="1200" spc="-10" noProof="0">
                          <a:solidFill>
                            <a:schemeClr val="tx2"/>
                          </a:solidFill>
                          <a:latin typeface="+mn-lt"/>
                          <a:ea typeface="+mn-ea"/>
                          <a:cs typeface="+mn-cs"/>
                        </a:rPr>
                        <a:t xml:space="preserve">Personnel de l’entreprise</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fr-FR" sz="975" b="0" i="0" u="none" strike="noStrike" noProof="0">
                          <a:solidFill>
                            <a:srgbClr val="2D55FF"/>
                          </a:solidFill>
                          <a:effectLst/>
                          <a:latin typeface="Inter"/>
                        </a:rPr>
                        <a:t>{{workforce_concrete}}</a:t>
                      </a:r>
                      <a:endParaRPr lang="fr-F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fr-FR" sz="975" b="0" i="0" u="none" strike="noStrike" noProof="0">
                          <a:solidFill>
                            <a:srgbClr val="2D55FF"/>
                          </a:solidFill>
                          <a:effectLst/>
                          <a:latin typeface="Inter"/>
                        </a:rPr>
                        <a:t>{{workforce_publicly}}</a:t>
                      </a:r>
                      <a:endParaRPr lang="fr-F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fr-FR" sz="975" b="0" i="0" u="none" strike="noStrike" noProof="0">
                          <a:solidFill>
                            <a:srgbClr val="2D55FF"/>
                          </a:solidFill>
                          <a:effectLst/>
                          <a:latin typeface="Inter"/>
                        </a:rPr>
                        <a:t>{{workforce_future}}</a:t>
                      </a:r>
                      <a:endParaRPr lang="fr-F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fr-FR" sz="975" b="0" i="0" u="none" strike="noStrike" noProof="0">
                          <a:solidFill>
                            <a:schemeClr val="accent2"/>
                          </a:solidFill>
                          <a:latin typeface="Inter"/>
                        </a:rPr>
                        <a:t>{{workforce_plan}}</a:t>
                      </a:r>
                      <a:endParaRPr lang="fr-FR">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07384999"/>
                  </a:ext>
                </a:extLst>
              </a:tr>
              <a:tr h="247635">
                <a:tc>
                  <a:txBody>
                    <a:bodyPr/>
                    <a:lstStyle/>
                    <a:p>
                      <a:pPr algn="l"/>
                      <a:r>
                        <a:rPr lang="fr-FR" sz="975" b="1" kern="1200" spc="-10" noProof="0">
                          <a:solidFill>
                            <a:schemeClr val="tx2"/>
                          </a:solidFill>
                          <a:latin typeface="+mn-lt"/>
                          <a:ea typeface="+mn-ea"/>
                          <a:cs typeface="+mn-cs"/>
                        </a:rPr>
                        <a:t xml:space="preserve">Travailleurs de la chaîne de valeur</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fr-FR" sz="975" b="0" i="0" u="none" strike="noStrike" noProof="0">
                          <a:solidFill>
                            <a:srgbClr val="2D55FF"/>
                          </a:solidFill>
                          <a:effectLst/>
                          <a:latin typeface="Inter"/>
                        </a:rPr>
                        <a:t>{{workers_concrete}}</a:t>
                      </a:r>
                      <a:endParaRPr lang="fr-F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fr-FR" sz="975" b="0" i="0" u="none" strike="noStrike" noProof="0">
                          <a:solidFill>
                            <a:srgbClr val="2D55FF"/>
                          </a:solidFill>
                          <a:effectLst/>
                          <a:latin typeface="Inter"/>
                        </a:rPr>
                        <a:t>{{workers_publicly}}</a:t>
                      </a:r>
                      <a:endParaRPr lang="fr-F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fr-FR" sz="975" b="0" i="0" u="none" strike="noStrike" noProof="0">
                          <a:solidFill>
                            <a:srgbClr val="2D55FF"/>
                          </a:solidFill>
                          <a:effectLst/>
                          <a:latin typeface="Inter"/>
                        </a:rPr>
                        <a:t>{{workers_future}}</a:t>
                      </a:r>
                      <a:endParaRPr lang="fr-F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fr-FR" sz="975" b="0" i="0" u="none" strike="noStrike" noProof="0">
                          <a:solidFill>
                            <a:schemeClr val="accent2"/>
                          </a:solidFill>
                          <a:latin typeface="Inter"/>
                        </a:rPr>
                        <a:t>{{workers_plan}}</a:t>
                      </a:r>
                      <a:endParaRPr lang="fr-FR">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01919361"/>
                  </a:ext>
                </a:extLst>
              </a:tr>
              <a:tr h="247635">
                <a:tc>
                  <a:txBody>
                    <a:bodyPr/>
                    <a:lstStyle/>
                    <a:p>
                      <a:pPr algn="l"/>
                      <a:r>
                        <a:rPr lang="fr-FR" sz="975" b="1" kern="1200" spc="-10" noProof="0">
                          <a:solidFill>
                            <a:schemeClr val="tx2"/>
                          </a:solidFill>
                          <a:latin typeface="+mn-lt"/>
                          <a:ea typeface="+mn-ea"/>
                          <a:cs typeface="+mn-cs"/>
                        </a:rPr>
                        <a:t xml:space="preserve">Communautés affectées</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fr-FR" sz="975" b="0" i="0" u="none" strike="noStrike" noProof="0">
                          <a:solidFill>
                            <a:srgbClr val="2D55FF"/>
                          </a:solidFill>
                          <a:effectLst/>
                          <a:latin typeface="Inter"/>
                        </a:rPr>
                        <a:t>{{communities_concrete}}</a:t>
                      </a:r>
                      <a:endParaRPr lang="fr-F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fr-FR" sz="975" b="0" i="0" u="none" strike="noStrike" noProof="0">
                          <a:solidFill>
                            <a:srgbClr val="2D55FF"/>
                          </a:solidFill>
                          <a:effectLst/>
                          <a:latin typeface="Inter"/>
                        </a:rPr>
                        <a:t>{{communities_publicly}}</a:t>
                      </a:r>
                      <a:endParaRPr lang="fr-F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fr-FR" sz="975" b="0" i="0" u="none" strike="noStrike" noProof="0">
                          <a:solidFill>
                            <a:srgbClr val="2D55FF"/>
                          </a:solidFill>
                          <a:effectLst/>
                          <a:latin typeface="Inter"/>
                        </a:rPr>
                        <a:t>{{communities_future}}</a:t>
                      </a:r>
                      <a:endParaRPr lang="fr-F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fr-FR" sz="975" b="0" i="0" u="none" strike="noStrike" noProof="0">
                          <a:solidFill>
                            <a:schemeClr val="accent2"/>
                          </a:solidFill>
                          <a:latin typeface="Inter"/>
                        </a:rPr>
                        <a:t>{{communities_plan}}</a:t>
                      </a:r>
                      <a:endParaRPr lang="fr-FR">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336877917"/>
                  </a:ext>
                </a:extLst>
              </a:tr>
              <a:tr h="247635">
                <a:tc>
                  <a:txBody>
                    <a:bodyPr/>
                    <a:lstStyle/>
                    <a:p>
                      <a:pPr algn="l"/>
                      <a:r>
                        <a:rPr lang="fr-FR" sz="975" b="1" kern="1200" spc="-10" noProof="0">
                          <a:solidFill>
                            <a:schemeClr val="tx2"/>
                          </a:solidFill>
                          <a:latin typeface="+mn-lt"/>
                          <a:ea typeface="+mn-ea"/>
                          <a:cs typeface="+mn-cs"/>
                        </a:rPr>
                        <a:t xml:space="preserve">Consommateurs et utilisateurs finaux</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fr-FR" sz="975" b="0" i="0" u="none" strike="noStrike" noProof="0">
                          <a:solidFill>
                            <a:srgbClr val="2D55FF"/>
                          </a:solidFill>
                          <a:effectLst/>
                          <a:latin typeface="Inter"/>
                        </a:rPr>
                        <a:t>{{consumers_concrete}}</a:t>
                      </a:r>
                      <a:endParaRPr lang="fr-F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fr-FR" sz="975" b="0" i="0" u="none" strike="noStrike" noProof="0">
                          <a:solidFill>
                            <a:srgbClr val="2D55FF"/>
                          </a:solidFill>
                          <a:effectLst/>
                          <a:latin typeface="Inter"/>
                        </a:rPr>
                        <a:t>{{consumers_publicly}}</a:t>
                      </a:r>
                      <a:endParaRPr lang="fr-F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fr-FR" sz="975" b="0" i="0" u="none" strike="noStrike" noProof="0">
                          <a:solidFill>
                            <a:srgbClr val="2D55FF"/>
                          </a:solidFill>
                          <a:effectLst/>
                          <a:latin typeface="Inter"/>
                        </a:rPr>
                        <a:t>{{consumers_future}}</a:t>
                      </a:r>
                      <a:endParaRPr lang="fr-F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fr-FR" sz="975" b="0" i="0" u="none" strike="noStrike" noProof="0">
                          <a:solidFill>
                            <a:schemeClr val="accent2"/>
                          </a:solidFill>
                          <a:latin typeface="Inter"/>
                        </a:rPr>
                        <a:t>{{consumers_plan}}</a:t>
                      </a:r>
                      <a:endParaRPr lang="fr-FR">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815053185"/>
                  </a:ext>
                </a:extLst>
              </a:tr>
              <a:tr h="247635">
                <a:tc>
                  <a:txBody>
                    <a:bodyPr/>
                    <a:lstStyle/>
                    <a:p>
                      <a:pPr algn="l"/>
                      <a:r>
                        <a:rPr lang="fr-FR" sz="975" b="1" kern="1200" spc="-10" noProof="0">
                          <a:solidFill>
                            <a:schemeClr val="tx2"/>
                          </a:solidFill>
                          <a:latin typeface="+mn-lt"/>
                          <a:ea typeface="+mn-ea"/>
                          <a:cs typeface="+mn-cs"/>
                        </a:rPr>
                        <a:t xml:space="preserve">Conduite des affaires</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fr-FR" sz="975" b="0" i="0" u="none" strike="noStrike" noProof="0">
                          <a:solidFill>
                            <a:srgbClr val="2D55FF"/>
                          </a:solidFill>
                          <a:effectLst/>
                          <a:latin typeface="Inter"/>
                        </a:rPr>
                        <a:t>{{governance_concrete}}</a:t>
                      </a:r>
                      <a:endParaRPr lang="fr-F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fr-FR" sz="975" b="0" i="0" u="none" strike="noStrike" noProof="0">
                          <a:solidFill>
                            <a:srgbClr val="2D55FF"/>
                          </a:solidFill>
                          <a:effectLst/>
                          <a:latin typeface="Inter"/>
                        </a:rPr>
                        <a:t>{{governance_publicly}}</a:t>
                      </a:r>
                      <a:endParaRPr lang="fr-F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fr-FR" sz="975" b="0" i="0" u="none" strike="noStrike" noProof="0">
                          <a:solidFill>
                            <a:srgbClr val="2D55FF"/>
                          </a:solidFill>
                          <a:effectLst/>
                          <a:latin typeface="Inter"/>
                        </a:rPr>
                        <a:t>{{governance_future}}</a:t>
                      </a:r>
                      <a:endParaRPr lang="fr-F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fr-FR" sz="975" b="0" i="0" u="none" strike="noStrike" noProof="0">
                          <a:solidFill>
                            <a:schemeClr val="accent2"/>
                          </a:solidFill>
                          <a:latin typeface="Inter"/>
                        </a:rPr>
                        <a:t>{{governance_plan}}</a:t>
                      </a:r>
                      <a:endParaRPr lang="fr-FR">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04057792"/>
                  </a:ext>
                </a:extLst>
              </a:tr>
            </a:tbl>
          </a:graphicData>
        </a:graphic>
      </p:graphicFrame>
      <p:sp>
        <p:nvSpPr>
          <p:cNvPr id="16" name="Tekstfelt 15">
            <a:extLst>
              <a:ext uri="{FF2B5EF4-FFF2-40B4-BE49-F238E27FC236}">
                <a16:creationId xmlns:a16="http://schemas.microsoft.com/office/drawing/2014/main" id="{E7AD2C12-E6AC-4ADE-675B-7B86B0E0EA4B}"/>
              </a:ext>
            </a:extLst>
          </p:cNvPr>
          <p:cNvSpPr txBox="1"/>
          <p:nvPr/>
        </p:nvSpPr>
        <p:spPr>
          <a:xfrm>
            <a:off x="411480" y="1513504"/>
            <a:ext cx="6737040" cy="538588"/>
          </a:xfrm>
          <a:prstGeom prst="rect">
            <a:avLst/>
          </a:prstGeom>
          <a:noFill/>
        </p:spPr>
        <p:txBody>
          <a:bodyPr wrap="square">
            <a:spAutoFit/>
          </a:bodyPr>
          <a:lstStyle/>
          <a:p>
            <a:pPr rtl="0">
              <a:spcBef>
                <a:spcPts val="750"/>
              </a:spcBef>
              <a:buNone/>
            </a:pPr>
            <a:r>
              <a:rPr lang="fr-FR" sz="975" b="0" i="0" u="none" strike="noStrike" noProof="0">
                <a:solidFill>
                  <a:schemeClr val="tx2"/>
                </a:solidFill>
                <a:effectLst/>
                <a:latin typeface="Inter"/>
              </a:rPr>
              <a:t xml:space="preserve">Cette section présente les pratiques, politiques et initiatives futures que l’entreprise a mises en place pour soutenir une économie durable. Elle précise notamment quelles mesures concrètes l’entreprise a prises pour réduire ses impacts négatifs sur l’environnement et améliorer les conditions de travail et l’égalité de traitement (OUI/NON).</a:t>
            </a:r>
            <a:br>
              <a:rPr lang="fr-FR" sz="975" noProof="0">
                <a:solidFill>
                  <a:schemeClr val="tx2"/>
                </a:solidFill>
              </a:rPr>
            </a:br>
            <a:endParaRPr lang="fr-FR" sz="975" noProof="0">
              <a:solidFill>
                <a:schemeClr val="tx2"/>
              </a:solidFill>
            </a:endParaRPr>
          </a:p>
        </p:txBody>
      </p:sp>
      <p:sp>
        <p:nvSpPr>
          <p:cNvPr id="17" name="Slide Number Placeholder 5">
            <a:extLst>
              <a:ext uri="{FF2B5EF4-FFF2-40B4-BE49-F238E27FC236}">
                <a16:creationId xmlns:a16="http://schemas.microsoft.com/office/drawing/2014/main" id="{9D599EAE-DDC4-5624-F234-BCDE014B0531}"/>
              </a:ext>
              <a:ext uri="{C183D7F6-B498-43B3-948B-1728B52AA6E4}">
                <adec:decorative xmlns:adec="http://schemas.microsoft.com/office/drawing/2017/decorative" val="1"/>
              </a:ext>
            </a:extLst>
          </p:cNvPr>
          <p:cNvSpPr>
            <a:spLocks noGrp="1"/>
          </p:cNvSpPr>
          <p:nvPr>
            <p:ph type="sldNum" sz="quarter" idx="12"/>
          </p:nvPr>
        </p:nvSpPr>
        <p:spPr>
          <a:xfrm>
            <a:off x="411480" y="10152285"/>
            <a:ext cx="6737040" cy="128235"/>
          </a:xfrm>
        </p:spPr>
        <p:txBody>
          <a:bodyPr/>
          <a:lstStyle/>
          <a:p>
            <a:fld id="{5A0D23CF-C5A3-5445-819D-C647D180BB4B}" type="slidenum">
              <a:rPr lang="fr-FR" noProof="0" smtClean="0"/>
              <a:pPr/>
              <a:t>4</a:t>
            </a:fld>
            <a:endParaRPr lang="fr-FR" noProof="0"/>
          </a:p>
        </p:txBody>
      </p:sp>
    </p:spTree>
    <p:extLst>
      <p:ext uri="{BB962C8B-B14F-4D97-AF65-F5344CB8AC3E}">
        <p14:creationId xmlns:p14="http://schemas.microsoft.com/office/powerpoint/2010/main" val="20009755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fr-FR" noProof="0"/>
              <a:t xml:space="preserve">Consommation d’énergie (B3)</a:t>
            </a:r>
          </a:p>
        </p:txBody>
      </p:sp>
      <p:graphicFrame>
        <p:nvGraphicFramePr>
          <p:cNvPr id="13" name="Table 12">
            <a:extLst>
              <a:ext uri="{FF2B5EF4-FFF2-40B4-BE49-F238E27FC236}">
                <a16:creationId xmlns:a16="http://schemas.microsoft.com/office/drawing/2014/main" id="{AE932BB9-32D4-19FC-5E73-EB89688D4CBF}"/>
              </a:ext>
            </a:extLst>
          </p:cNvPr>
          <p:cNvGraphicFramePr>
            <a:graphicFrameLocks noGrp="1"/>
          </p:cNvGraphicFramePr>
          <p:nvPr>
            <p:extLst>
              <p:ext uri="{D42A27DB-BD31-4B8C-83A1-F6EECF244321}">
                <p14:modId xmlns:p14="http://schemas.microsoft.com/office/powerpoint/2010/main" val="121529703"/>
              </p:ext>
            </p:extLst>
          </p:nvPr>
        </p:nvGraphicFramePr>
        <p:xfrm>
          <a:off x="411480" y="2059046"/>
          <a:ext cx="6737040" cy="1968460"/>
        </p:xfrm>
        <a:graphic>
          <a:graphicData uri="http://schemas.openxmlformats.org/drawingml/2006/table">
            <a:tbl>
              <a:tblPr firstRow="1">
                <a:tableStyleId>{2A488322-F2BA-4B5B-9748-0D474271808F}</a:tableStyleId>
              </a:tblPr>
              <a:tblGrid>
                <a:gridCol w="1828416">
                  <a:extLst>
                    <a:ext uri="{9D8B030D-6E8A-4147-A177-3AD203B41FA5}">
                      <a16:colId xmlns:a16="http://schemas.microsoft.com/office/drawing/2014/main" val="2698153288"/>
                    </a:ext>
                  </a:extLst>
                </a:gridCol>
                <a:gridCol w="1697216">
                  <a:extLst>
                    <a:ext uri="{9D8B030D-6E8A-4147-A177-3AD203B41FA5}">
                      <a16:colId xmlns:a16="http://schemas.microsoft.com/office/drawing/2014/main" val="1451447067"/>
                    </a:ext>
                  </a:extLst>
                </a:gridCol>
                <a:gridCol w="1789850">
                  <a:extLst>
                    <a:ext uri="{9D8B030D-6E8A-4147-A177-3AD203B41FA5}">
                      <a16:colId xmlns:a16="http://schemas.microsoft.com/office/drawing/2014/main" val="2943870936"/>
                    </a:ext>
                  </a:extLst>
                </a:gridCol>
                <a:gridCol w="1421558">
                  <a:extLst>
                    <a:ext uri="{9D8B030D-6E8A-4147-A177-3AD203B41FA5}">
                      <a16:colId xmlns:a16="http://schemas.microsoft.com/office/drawing/2014/main" val="656209149"/>
                    </a:ext>
                  </a:extLst>
                </a:gridCol>
              </a:tblGrid>
              <a:tr h="207723">
                <a:tc gridSpan="4">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fr-FR" sz="975" b="1" noProof="0">
                          <a:solidFill>
                            <a:schemeClr val="tx2"/>
                          </a:solidFill>
                        </a:rPr>
                        <a:t xml:space="preserve">Consommation d’énergie en MWh </a:t>
                      </a:r>
                      <a:r>
                        <a:rPr lang="fr-FR" sz="975" b="0" noProof="0">
                          <a:solidFill>
                            <a:schemeClr val="tx2"/>
                          </a:solidFill>
                        </a:rPr>
                        <a:t xml:space="preserve">(par. 32)</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nSpc>
                          <a:spcPct val="106000"/>
                        </a:lnSpc>
                      </a:pPr>
                      <a:endParaRPr lang="fr-FR" sz="725"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nSpc>
                          <a:spcPct val="106000"/>
                        </a:lnSpc>
                      </a:pPr>
                      <a:endParaRPr lang="fr-FR" sz="725"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endParaRPr lang="fr-FR" sz="725" b="1"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38440226"/>
                  </a:ext>
                </a:extLst>
              </a:tr>
              <a:tr h="330257">
                <a:tc>
                  <a:txBody>
                    <a:bodyPr/>
                    <a:lstStyle/>
                    <a:p>
                      <a:pPr>
                        <a:lnSpc>
                          <a:spcPct val="106000"/>
                        </a:lnSpc>
                      </a:pPr>
                      <a:endParaRPr lang="fr-FR" sz="975" b="1"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nSpc>
                          <a:spcPct val="106000"/>
                        </a:lnSpc>
                      </a:pPr>
                      <a:r>
                        <a:rPr lang="fr-FR" sz="975" b="1" noProof="0">
                          <a:solidFill>
                            <a:schemeClr val="tx2"/>
                          </a:solidFill>
                        </a:rPr>
                        <a:t xml:space="preserve">Consommation renouvelable</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nSpc>
                          <a:spcPct val="106000"/>
                        </a:lnSpc>
                      </a:pPr>
                      <a:r>
                        <a:rPr lang="fr-FR" sz="975" b="1" noProof="0">
                          <a:solidFill>
                            <a:schemeClr val="tx2"/>
                          </a:solidFill>
                        </a:rPr>
                        <a:t xml:space="preserve">Consommation non renouvelable</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fr-FR" sz="975" b="1" noProof="0">
                          <a:solidFill>
                            <a:schemeClr val="tx2"/>
                          </a:solidFill>
                        </a:rPr>
                        <a:t xml:space="preserve">Consommation totale (MWh)</a:t>
                      </a:r>
                    </a:p>
                    <a:p>
                      <a:pPr marL="0" marR="0" lvl="0" indent="0" algn="ctr" defTabSz="914400" rtl="0" eaLnBrk="1" fontAlgn="auto" latinLnBrk="0" hangingPunct="1">
                        <a:lnSpc>
                          <a:spcPct val="106000"/>
                        </a:lnSpc>
                        <a:spcBef>
                          <a:spcPts val="0"/>
                        </a:spcBef>
                        <a:spcAft>
                          <a:spcPts val="0"/>
                        </a:spcAft>
                        <a:buClrTx/>
                        <a:buSzTx/>
                        <a:buFontTx/>
                        <a:buNone/>
                        <a:tabLst/>
                        <a:defRPr/>
                      </a:pPr>
                      <a:r>
                        <a:rPr lang="fr-FR" sz="975" b="1" noProof="0">
                          <a:solidFill>
                            <a:schemeClr val="accent2"/>
                          </a:solidFill>
                        </a:rPr>
                        <a:t>{{insert_year}}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330257">
                <a:tc>
                  <a:txBody>
                    <a:bodyPr/>
                    <a:lstStyle/>
                    <a:p>
                      <a:pPr>
                        <a:lnSpc>
                          <a:spcPct val="106000"/>
                        </a:lnSpc>
                      </a:pPr>
                      <a:r>
                        <a:rPr lang="fr-FR" sz="975" b="1" noProof="0">
                          <a:solidFill>
                            <a:schemeClr val="tx2"/>
                          </a:solidFill>
                        </a:rPr>
                        <a:t xml:space="preserve">Électricité </a:t>
                      </a:r>
                      <a:r>
                        <a:rPr lang="fr-FR" sz="975" b="0" noProof="0">
                          <a:solidFill>
                            <a:schemeClr val="tx2"/>
                          </a:solidFill>
                        </a:rPr>
                        <a:t xml:space="preserve">(telle qu’indiquée sur les factures de consommation)</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fr-FR" sz="975" b="0" i="0" u="none" strike="noStrike" noProof="0">
                          <a:solidFill>
                            <a:srgbClr val="2D55FF"/>
                          </a:solidFill>
                          <a:effectLst/>
                          <a:latin typeface="IBM Plex Sans" panose="020B0503050203000203" pitchFamily="34" charset="0"/>
                        </a:rPr>
                        <a:t>{{electricity_renewable}}</a:t>
                      </a:r>
                      <a:endParaRPr lang="fr-F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fr-FR" sz="975" b="0" i="0" u="none" strike="noStrike" noProof="0">
                          <a:solidFill>
                            <a:srgbClr val="2D55FF"/>
                          </a:solidFill>
                          <a:effectLst/>
                          <a:latin typeface="IBM Plex Sans" panose="020B0503050203000203" pitchFamily="34" charset="0"/>
                        </a:rPr>
                        <a:t>{{electricity_non_rewenable}}</a:t>
                      </a:r>
                      <a:endParaRPr lang="fr-F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fr-FR" sz="975" b="0" i="0" u="none" strike="noStrike" noProof="0">
                          <a:solidFill>
                            <a:srgbClr val="2D55FF"/>
                          </a:solidFill>
                          <a:effectLst/>
                          <a:latin typeface="IBM Plex Sans" panose="020B0503050203000203" pitchFamily="34" charset="0"/>
                        </a:rPr>
                        <a:t>{{total_electricity}}</a:t>
                      </a:r>
                      <a:endParaRPr lang="fr-F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r h="207723">
                <a:tc>
                  <a:txBody>
                    <a:bodyPr/>
                    <a:lstStyle/>
                    <a:p>
                      <a:pPr>
                        <a:lnSpc>
                          <a:spcPct val="106000"/>
                        </a:lnSpc>
                      </a:pPr>
                      <a:r>
                        <a:rPr lang="fr-FR" sz="975" b="1" noProof="0">
                          <a:solidFill>
                            <a:schemeClr val="tx2"/>
                          </a:solidFill>
                        </a:rPr>
                        <a:t xml:space="preserve">Combustibles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fr-FR" sz="975" b="0" i="0" u="none" strike="noStrike" noProof="0">
                          <a:solidFill>
                            <a:srgbClr val="2D55FF"/>
                          </a:solidFill>
                          <a:effectLst/>
                          <a:latin typeface="IBM Plex Sans" panose="020B0503050203000203" pitchFamily="34" charset="0"/>
                        </a:rPr>
                        <a:t>{{fuel_renewable}}</a:t>
                      </a:r>
                      <a:endParaRPr lang="fr-F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fr-FR" sz="975" b="0" i="0" u="none" strike="noStrike" noProof="0">
                          <a:solidFill>
                            <a:srgbClr val="2D55FF"/>
                          </a:solidFill>
                          <a:effectLst/>
                          <a:latin typeface="IBM Plex Sans" panose="020B0503050203000203" pitchFamily="34" charset="0"/>
                        </a:rPr>
                        <a:t>{{fuel_non_rewenable}}</a:t>
                      </a:r>
                      <a:endParaRPr lang="fr-F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fr-FR" sz="975" b="0" i="0" u="none" strike="noStrike" noProof="0">
                          <a:solidFill>
                            <a:srgbClr val="2D55FF"/>
                          </a:solidFill>
                          <a:effectLst/>
                          <a:latin typeface="IBM Plex Sans" panose="020B0503050203000203" pitchFamily="34" charset="0"/>
                        </a:rPr>
                        <a:t>{{total_fuel}}</a:t>
                      </a:r>
                      <a:endParaRPr lang="fr-F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228766998"/>
                  </a:ext>
                </a:extLst>
              </a:tr>
              <a:tr h="207723">
                <a:tc>
                  <a:txBody>
                    <a:bodyPr/>
                    <a:lstStyle/>
                    <a:p>
                      <a:pPr>
                        <a:lnSpc>
                          <a:spcPct val="106000"/>
                        </a:lnSpc>
                      </a:pPr>
                      <a:r>
                        <a:rPr lang="fr-FR" sz="975" b="1" noProof="0">
                          <a:solidFill>
                            <a:schemeClr val="tx2"/>
                          </a:solidFill>
                        </a:rPr>
                        <a:t xml:space="preserve">Autre (p. ex. réseau de chaleur)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fr-FR" sz="975" b="0" i="0" u="none" strike="noStrike" noProof="0">
                          <a:solidFill>
                            <a:srgbClr val="2D55FF"/>
                          </a:solidFill>
                          <a:effectLst/>
                          <a:latin typeface="IBM Plex Sans" panose="020B0503050203000203" pitchFamily="34" charset="0"/>
                        </a:rPr>
                        <a:t>{{district_heating_rewenable}}</a:t>
                      </a:r>
                      <a:endParaRPr lang="fr-F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fr-FR" sz="975" b="0" i="0" u="none" strike="noStrike" noProof="0">
                          <a:solidFill>
                            <a:srgbClr val="2D55FF"/>
                          </a:solidFill>
                          <a:effectLst/>
                          <a:latin typeface="IBM Plex Sans" panose="020B0503050203000203" pitchFamily="34" charset="0"/>
                        </a:rPr>
                        <a:t>{{district_heating_non_rewenable}}</a:t>
                      </a:r>
                      <a:endParaRPr lang="fr-F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fr-FR" sz="975" b="0" i="0" u="none" strike="noStrike" noProof="0">
                          <a:solidFill>
                            <a:srgbClr val="2D55FF"/>
                          </a:solidFill>
                          <a:effectLst/>
                          <a:latin typeface="IBM Plex Sans" panose="020B0503050203000203" pitchFamily="34" charset="0"/>
                        </a:rPr>
                        <a:t>{{total_district_heating}}</a:t>
                      </a:r>
                      <a:endParaRPr lang="fr-F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62237485"/>
                  </a:ext>
                </a:extLst>
              </a:tr>
              <a:tr h="207723">
                <a:tc>
                  <a:txBody>
                    <a:bodyPr/>
                    <a:lstStyle/>
                    <a:p>
                      <a:pPr>
                        <a:lnSpc>
                          <a:spcPct val="106000"/>
                        </a:lnSpc>
                      </a:pPr>
                      <a:r>
                        <a:rPr lang="fr-FR" sz="975" b="1" noProof="0">
                          <a:solidFill>
                            <a:schemeClr val="tx2"/>
                          </a:solidFill>
                        </a:rPr>
                        <a:t>Total</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fr-FR" sz="975" b="0" i="0" u="none" strike="noStrike" noProof="0">
                          <a:solidFill>
                            <a:srgbClr val="2D55FF"/>
                          </a:solidFill>
                          <a:effectLst/>
                          <a:latin typeface="IBM Plex Sans" panose="020B0503050203000203" pitchFamily="34" charset="0"/>
                        </a:rPr>
                        <a:t>{{renewable_energy_total}}</a:t>
                      </a:r>
                      <a:endParaRPr lang="fr-F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fr-FR" sz="975" b="0" i="0" u="none" strike="noStrike" noProof="0">
                          <a:solidFill>
                            <a:srgbClr val="2D55FF"/>
                          </a:solidFill>
                          <a:effectLst/>
                          <a:latin typeface="IBM Plex Sans" panose="020B0503050203000203" pitchFamily="34" charset="0"/>
                        </a:rPr>
                        <a:t>{{non_rewenable_energy_total}}</a:t>
                      </a:r>
                      <a:endParaRPr lang="fr-F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fr-FR" sz="975" b="0" i="0" u="none" strike="noStrike" noProof="0">
                          <a:solidFill>
                            <a:srgbClr val="2D55FF"/>
                          </a:solidFill>
                          <a:effectLst/>
                          <a:latin typeface="IBM Plex Sans" panose="020B0503050203000203" pitchFamily="34" charset="0"/>
                        </a:rPr>
                        <a:t>{{total_energy_consumption}}</a:t>
                      </a:r>
                      <a:endParaRPr lang="fr-F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855206388"/>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fr-FR" noProof="0" smtClean="0"/>
              <a:pPr/>
              <a:t>5</a:t>
            </a:fld>
            <a:endParaRPr lang="fr-FR"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fr-FR" noProof="0"/>
              <a:t>{{company_name}}</a:t>
            </a:r>
            <a:endParaRPr lang="fr-FR" b="0" noProof="0"/>
          </a:p>
          <a:p>
            <a:br>
              <a:rPr lang="fr-FR" noProof="0"/>
            </a:br>
            <a:endParaRPr lang="fr-FR" noProof="0"/>
          </a:p>
        </p:txBody>
      </p:sp>
      <p:sp>
        <p:nvSpPr>
          <p:cNvPr id="12" name="Tekstfelt 11">
            <a:extLst>
              <a:ext uri="{FF2B5EF4-FFF2-40B4-BE49-F238E27FC236}">
                <a16:creationId xmlns:a16="http://schemas.microsoft.com/office/drawing/2014/main" id="{4EDC705C-923B-3F7B-2016-F3C31DC2828B}"/>
              </a:ext>
            </a:extLst>
          </p:cNvPr>
          <p:cNvSpPr txBox="1"/>
          <p:nvPr/>
        </p:nvSpPr>
        <p:spPr>
          <a:xfrm>
            <a:off x="411480" y="1204910"/>
            <a:ext cx="6737040" cy="689402"/>
          </a:xfrm>
          <a:prstGeom prst="rect">
            <a:avLst/>
          </a:prstGeom>
          <a:noFill/>
        </p:spPr>
        <p:txBody>
          <a:bodyPr wrap="square" lIns="76197" tIns="38098" rIns="76197" bIns="38098" anchor="t">
            <a:spAutoFit/>
          </a:bodyPr>
          <a:lstStyle/>
          <a:p>
            <a:r>
              <a:rPr lang="fr-FR" sz="975" b="0" i="0" u="none" strike="noStrike" noProof="0">
                <a:solidFill>
                  <a:schemeClr val="tx2"/>
                </a:solidFill>
                <a:effectLst/>
                <a:latin typeface="Inter"/>
              </a:rPr>
              <a:t xml:space="preserve">Cette section indique les émissions de CO2 liées à la consommation d’énergie, en distinguant consommation renouvelable et non renouvelable. </a:t>
            </a:r>
            <a:r>
              <a:rPr lang="fr-FR" sz="975" noProof="0">
                <a:solidFill>
                  <a:schemeClr val="tx2"/>
                </a:solidFill>
                <a:latin typeface="Inter"/>
              </a:rPr>
              <a:t xml:space="preserve">Les émissions sont publiées selon </a:t>
            </a:r>
            <a:r>
              <a:rPr lang="fr-FR" sz="975" b="0" i="0" u="none" strike="noStrike" noProof="0">
                <a:solidFill>
                  <a:schemeClr val="tx2"/>
                </a:solidFill>
                <a:effectLst/>
                <a:latin typeface="Inter"/>
              </a:rPr>
              <a:t xml:space="preserve">les définitions du protocole des GES des émissions directes et indirectes. </a:t>
            </a:r>
            <a:br>
              <a:rPr lang="fr-FR" sz="975" b="0" i="0" u="none" strike="noStrike" noProof="0" dirty="0">
                <a:effectLst/>
                <a:latin typeface="Inter"/>
              </a:rPr>
            </a:br>
            <a:br>
              <a:rPr lang="fr-FR" sz="975" dirty="0">
                <a:latin typeface="Inter"/>
              </a:rPr>
            </a:br>
            <a:r>
              <a:rPr lang="fr-FR" sz="650" b="0" i="0" u="none" strike="noStrike" noProof="0">
                <a:solidFill>
                  <a:schemeClr val="tx2"/>
                </a:solidFill>
                <a:effectLst/>
                <a:latin typeface="Inter"/>
              </a:rPr>
              <a:t> </a:t>
            </a:r>
            <a:endParaRPr lang="fr-FR" sz="975" b="0" i="0" u="none" strike="noStrike" noProof="0" dirty="0">
              <a:solidFill>
                <a:schemeClr val="tx2"/>
              </a:solidFill>
              <a:effectLst/>
              <a:latin typeface="Inter"/>
            </a:endParaRPr>
          </a:p>
          <a:p>
            <a:pPr rtl="0">
              <a:buNone/>
            </a:pPr>
            <a:endParaRPr lang="fr-FR" sz="975" b="0" noProof="0">
              <a:solidFill>
                <a:schemeClr val="tx2"/>
              </a:solidFill>
              <a:effectLst/>
              <a:latin typeface="Inter"/>
            </a:endParaRPr>
          </a:p>
          <a:p>
            <a:pPr>
              <a:buNone/>
            </a:pPr>
            <a:endParaRPr lang="fr-FR" b="0" noProof="0">
              <a:solidFill>
                <a:schemeClr val="tx2"/>
              </a:solidFill>
              <a:effectLst/>
              <a:latin typeface="Inter"/>
            </a:endParaRPr>
          </a:p>
          <a:p>
            <a:pPr>
              <a:buNone/>
            </a:pPr>
            <a:endParaRPr lang="fr-FR" sz="1325" noProof="0">
              <a:solidFill>
                <a:schemeClr val="tx2"/>
              </a:solidFill>
              <a:latin typeface="Inter"/>
            </a:endParaRPr>
          </a:p>
          <a:p>
            <a:pPr>
              <a:buNone/>
            </a:pPr>
            <a:endParaRPr lang="fr-FR" sz="1325" b="0" noProof="0">
              <a:solidFill>
                <a:schemeClr val="tx2"/>
              </a:solidFill>
              <a:effectLst/>
              <a:latin typeface="Inter"/>
            </a:endParaRPr>
          </a:p>
          <a:p>
            <a:pPr>
              <a:buNone/>
            </a:pPr>
            <a:endParaRPr lang="fr-FR" sz="1325" noProof="0">
              <a:solidFill>
                <a:schemeClr val="tx2"/>
              </a:solidFill>
              <a:latin typeface="Inter"/>
            </a:endParaRPr>
          </a:p>
          <a:p>
            <a:pPr>
              <a:buNone/>
            </a:pPr>
            <a:endParaRPr lang="fr-FR" sz="1325" b="0" noProof="0">
              <a:solidFill>
                <a:schemeClr val="tx2"/>
              </a:solidFill>
              <a:effectLst/>
              <a:latin typeface="Inter"/>
            </a:endParaRPr>
          </a:p>
          <a:p>
            <a:endParaRPr lang="fr-FR" sz="1325" b="1">
              <a:latin typeface="+mj-lt"/>
            </a:endParaRPr>
          </a:p>
        </p:txBody>
      </p:sp>
      <p:graphicFrame>
        <p:nvGraphicFramePr>
          <p:cNvPr id="15" name="Table 18">
            <a:extLst>
              <a:ext uri="{FF2B5EF4-FFF2-40B4-BE49-F238E27FC236}">
                <a16:creationId xmlns:a16="http://schemas.microsoft.com/office/drawing/2014/main" id="{550C2B5F-F365-2A58-DF02-C096E906DD7B}"/>
              </a:ext>
            </a:extLst>
          </p:cNvPr>
          <p:cNvGraphicFramePr>
            <a:graphicFrameLocks noGrp="1"/>
          </p:cNvGraphicFramePr>
          <p:nvPr>
            <p:extLst>
              <p:ext uri="{D42A27DB-BD31-4B8C-83A1-F6EECF244321}">
                <p14:modId xmlns:p14="http://schemas.microsoft.com/office/powerpoint/2010/main" val="4106924491"/>
              </p:ext>
            </p:extLst>
          </p:nvPr>
        </p:nvGraphicFramePr>
        <p:xfrm>
          <a:off x="411480" y="6553529"/>
          <a:ext cx="6737040" cy="903578"/>
        </p:xfrm>
        <a:graphic>
          <a:graphicData uri="http://schemas.openxmlformats.org/drawingml/2006/table">
            <a:tbl>
              <a:tblPr firstRow="1">
                <a:tableStyleId>{2A488322-F2BA-4B5B-9748-0D474271808F}</a:tableStyleId>
              </a:tblPr>
              <a:tblGrid>
                <a:gridCol w="5333961">
                  <a:extLst>
                    <a:ext uri="{9D8B030D-6E8A-4147-A177-3AD203B41FA5}">
                      <a16:colId xmlns:a16="http://schemas.microsoft.com/office/drawing/2014/main" val="2698153288"/>
                    </a:ext>
                  </a:extLst>
                </a:gridCol>
                <a:gridCol w="1403079">
                  <a:extLst>
                    <a:ext uri="{9D8B030D-6E8A-4147-A177-3AD203B41FA5}">
                      <a16:colId xmlns:a16="http://schemas.microsoft.com/office/drawing/2014/main" val="656209149"/>
                    </a:ext>
                  </a:extLst>
                </a:gridCol>
              </a:tblGrid>
              <a:tr h="226610">
                <a:tc>
                  <a:txBody>
                    <a:bodyPr/>
                    <a:lstStyle/>
                    <a:p>
                      <a:pPr>
                        <a:lnSpc>
                          <a:spcPct val="106000"/>
                        </a:lnSpc>
                      </a:pPr>
                      <a:r>
                        <a:rPr lang="fr-FR" sz="975" b="1" noProof="0">
                          <a:solidFill>
                            <a:schemeClr val="tx2"/>
                          </a:solidFill>
                        </a:rPr>
                        <a:t xml:space="preserve">Émissions de gaz à effet de serre </a:t>
                      </a:r>
                      <a:r>
                        <a:rPr lang="fr-FR" sz="975" b="0" noProof="0">
                          <a:solidFill>
                            <a:schemeClr val="tx2"/>
                          </a:solidFill>
                        </a:rPr>
                        <a:t xml:space="preserve">(par. 33)</a:t>
                      </a:r>
                      <a:endParaRPr lang="fr-FR" sz="975" b="1"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fr-FR" sz="975" b="1" noProof="0">
                          <a:solidFill>
                            <a:schemeClr val="tx2"/>
                          </a:solidFill>
                        </a:rPr>
                        <a:t xml:space="preserve">Année </a:t>
                      </a:r>
                      <a:r>
                        <a:rPr lang="fr-FR" sz="975" b="1" noProof="0">
                          <a:solidFill>
                            <a:schemeClr val="accent2"/>
                          </a:solidFill>
                          <a:latin typeface="Calibri" panose="020F0502020204030204" pitchFamily="34" charset="0"/>
                          <a:cs typeface="Calibri" panose="020F0502020204030204" pitchFamily="34" charset="0"/>
                        </a:rPr>
                        <a:t>{{insert_year}}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25656">
                <a:tc>
                  <a:txBody>
                    <a:bodyPr/>
                    <a:lstStyle/>
                    <a:p>
                      <a:pPr>
                        <a:lnSpc>
                          <a:spcPct val="106000"/>
                        </a:lnSpc>
                      </a:pPr>
                      <a:r>
                        <a:rPr lang="fr-FR" sz="975" b="1" noProof="0">
                          <a:solidFill>
                            <a:schemeClr val="tx2"/>
                          </a:solidFill>
                        </a:rPr>
                        <a:t xml:space="preserve">Émissions de CO₂e du scope 1</a:t>
                      </a:r>
                      <a:endParaRPr lang="fr-FR"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fr-FR" sz="975" b="0" i="0" u="none" strike="noStrike" noProof="0">
                          <a:solidFill>
                            <a:srgbClr val="2D55FF"/>
                          </a:solidFill>
                          <a:effectLst/>
                          <a:latin typeface="Inter"/>
                        </a:rPr>
                        <a:t>{{scope1}}</a:t>
                      </a:r>
                      <a:endParaRPr lang="fr-F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r h="225656">
                <a:tc>
                  <a:txBody>
                    <a:bodyPr/>
                    <a:lstStyle/>
                    <a:p>
                      <a:pPr>
                        <a:lnSpc>
                          <a:spcPct val="106000"/>
                        </a:lnSpc>
                      </a:pPr>
                      <a:r>
                        <a:rPr lang="fr-FR" sz="975" b="1" noProof="0">
                          <a:solidFill>
                            <a:schemeClr val="tx2"/>
                          </a:solidFill>
                        </a:rPr>
                        <a:t xml:space="preserve">Émissions de CO₂e du scope 2 (basées sur la localisation) </a:t>
                      </a:r>
                      <a:endParaRPr lang="fr-FR"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fr-FR" sz="975" b="0" i="0" u="none" strike="noStrike" noProof="0">
                          <a:solidFill>
                            <a:srgbClr val="2D55FF"/>
                          </a:solidFill>
                          <a:effectLst/>
                          <a:latin typeface="Inter"/>
                        </a:rPr>
                        <a:t>{{scope2}}</a:t>
                      </a:r>
                      <a:endParaRPr lang="fr-F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25656">
                <a:tc>
                  <a:txBody>
                    <a:bodyPr/>
                    <a:lstStyle/>
                    <a:p>
                      <a:pPr>
                        <a:lnSpc>
                          <a:spcPct val="106000"/>
                        </a:lnSpc>
                      </a:pPr>
                      <a:r>
                        <a:rPr lang="fr-FR" sz="975" b="1" noProof="0">
                          <a:solidFill>
                            <a:schemeClr val="tx2"/>
                          </a:solidFill>
                        </a:rPr>
                        <a:t xml:space="preserve">Émissions totales de CO₂e des scopes 1 et 2 </a:t>
                      </a:r>
                      <a:endParaRPr lang="fr-FR"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fr-FR" sz="975" b="0" i="0" u="none" strike="noStrike" noProof="0">
                          <a:solidFill>
                            <a:srgbClr val="2D55FF"/>
                          </a:solidFill>
                          <a:effectLst/>
                          <a:latin typeface="Inter"/>
                        </a:rPr>
                        <a:t>{{total_scope}}</a:t>
                      </a:r>
                      <a:endParaRPr lang="fr-F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bl>
          </a:graphicData>
        </a:graphic>
      </p:graphicFrame>
      <p:sp>
        <p:nvSpPr>
          <p:cNvPr id="912" name="Tekstfelt 11 (cont.)">
            <a:extLst>
              <a:ext uri="{FF2B5EF4-FFF2-40B4-BE49-F238E27FC236}">
                <a16:creationId xmlns:a16="http://schemas.microsoft.com/office/drawing/2014/main" id="{4EDC705C-923B-3F7B-2016-F3C31DC2828B}"/>
              </a:ext>
            </a:extLst>
          </p:cNvPr>
          <p:cNvSpPr txBox="1"/>
          <p:nvPr/>
        </p:nvSpPr>
        <p:spPr>
          <a:xfrm>
            <a:off x="411480" y="4333689"/>
            <a:ext cx="6737040" cy="2194560"/>
          </a:xfrm>
          <a:prstGeom prst="rect">
            <a:avLst/>
          </a:prstGeom>
          <a:noFill/>
        </p:spPr>
        <p:txBody>
          <a:bodyPr wrap="square" lIns="76197" tIns="38098" rIns="76197" bIns="38098" anchor="t">
            <a:spAutoFit/>
          </a:bodyPr>
          <a:lstStyle/>
          <a:p>
            <a:br>
              <a:rPr lang="fr-FR" b="1" dirty="0">
                <a:latin typeface="+mj-lt"/>
              </a:rPr>
            </a:br>
            <a:r>
              <a:rPr lang="fr-FR" b="1" i="0" u="none" strike="noStrike" noProof="0">
                <a:solidFill>
                  <a:schemeClr val="tx2"/>
                </a:solidFill>
                <a:effectLst/>
                <a:latin typeface="+mj-lt"/>
              </a:rPr>
              <a:t xml:space="preserve">Émissions de CO₂e (B3)</a:t>
            </a:r>
            <a:endParaRPr lang="fr-FR" noProof="0">
              <a:solidFill>
                <a:schemeClr val="tx2"/>
              </a:solidFill>
              <a:effectLst/>
              <a:latin typeface="+mj-lt"/>
            </a:endParaRPr>
          </a:p>
          <a:p>
            <a:r>
              <a:rPr lang="fr-FR" sz="650">
                <a:latin typeface="Inter"/>
              </a:rPr>
              <a:t> </a:t>
            </a:r>
            <a:br>
              <a:rPr lang="fr-FR" sz="975" dirty="0">
                <a:solidFill>
                  <a:schemeClr val="tx2"/>
                </a:solidFill>
                <a:latin typeface="Inter"/>
              </a:rPr>
            </a:br>
            <a:r>
              <a:rPr lang="fr-FR" sz="975" b="0" i="0" u="none" strike="noStrike" noProof="0">
                <a:solidFill>
                  <a:schemeClr val="tx2"/>
                </a:solidFill>
                <a:effectLst/>
                <a:latin typeface="Inter"/>
              </a:rPr>
              <a:t xml:space="preserve">Le par. 33 contient des informations sur les émissions de GES de l’entreprise, sur la base des émissions des scopes 1 et 2. Le scope 1 désigne les émissions directes de GES provenant de sources détenues ou directement contrôlées par l’entreprise, par exemple la combustion de carburant dans les véhicules de société, le chauffage des bâtiments au gaz naturel, ainsi que les émissions des procédés industriels et les fuites dans des systèmes tels que le froid.</a:t>
            </a:r>
            <a:r>
              <a:rPr lang="fr-FR" sz="975" noProof="0">
                <a:solidFill>
                  <a:schemeClr val="tx2"/>
                </a:solidFill>
                <a:latin typeface="Inter"/>
              </a:rPr>
              <a:t> </a:t>
            </a:r>
            <a:r>
              <a:rPr lang="fr-FR" sz="975" b="0" i="0" u="none" strike="noStrike" noProof="0">
                <a:solidFill>
                  <a:schemeClr val="tx2"/>
                </a:solidFill>
                <a:effectLst/>
                <a:latin typeface="Inter"/>
              </a:rPr>
              <a:t xml:space="preserve">Le scope 2</a:t>
            </a:r>
            <a:r>
              <a:rPr lang="fr-FR" sz="975" noProof="0">
                <a:solidFill>
                  <a:schemeClr val="tx2"/>
                </a:solidFill>
                <a:latin typeface="Inter"/>
              </a:rPr>
              <a:t xml:space="preserve"> désigne les émissions i</a:t>
            </a:r>
            <a:r>
              <a:rPr lang="fr-FR" sz="975" b="0" i="0" u="none" strike="noStrike" noProof="0">
                <a:solidFill>
                  <a:schemeClr val="tx2"/>
                </a:solidFill>
                <a:effectLst/>
                <a:latin typeface="Inter"/>
              </a:rPr>
              <a:t xml:space="preserve">ndirectes liées à l’électricité achetée : émissions résultant de la production de l’électricité, de la vapeur, de la chaleur ou du froid achetés et utilisés par l’entreprise. Bien qu’elles proviennent des producteurs d’énergie, elles sont attribuées à l’entreprise, car c’est elle qui consomme l’énergie.</a:t>
            </a:r>
            <a:endParaRPr lang="fr-FR" sz="975" b="0" noProof="0">
              <a:solidFill>
                <a:schemeClr val="tx2"/>
              </a:solidFill>
              <a:effectLst/>
              <a:latin typeface="Inter"/>
            </a:endParaRPr>
          </a:p>
        </p:txBody>
      </p:sp>
    </p:spTree>
    <p:extLst>
      <p:ext uri="{BB962C8B-B14F-4D97-AF65-F5344CB8AC3E}">
        <p14:creationId xmlns:p14="http://schemas.microsoft.com/office/powerpoint/2010/main" val="29107655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fr-FR" noProof="0"/>
              <a:t xml:space="preserve">Pollution de l’air, de l’eau et des sols (B4)</a:t>
            </a:r>
          </a:p>
        </p:txBody>
      </p:sp>
      <p:graphicFrame>
        <p:nvGraphicFramePr>
          <p:cNvPr id="13" name="Table 12">
            <a:extLst>
              <a:ext uri="{FF2B5EF4-FFF2-40B4-BE49-F238E27FC236}">
                <a16:creationId xmlns:a16="http://schemas.microsoft.com/office/drawing/2014/main" id="{AE932BB9-32D4-19FC-5E73-EB89688D4CBF}"/>
              </a:ext>
            </a:extLst>
          </p:cNvPr>
          <p:cNvGraphicFramePr>
            <a:graphicFrameLocks noGrp="1"/>
          </p:cNvGraphicFramePr>
          <p:nvPr>
            <p:extLst>
              <p:ext uri="{D42A27DB-BD31-4B8C-83A1-F6EECF244321}">
                <p14:modId xmlns:p14="http://schemas.microsoft.com/office/powerpoint/2010/main" val="455973087"/>
              </p:ext>
            </p:extLst>
          </p:nvPr>
        </p:nvGraphicFramePr>
        <p:xfrm>
          <a:off x="411480" y="1625932"/>
          <a:ext cx="6737040" cy="666620"/>
        </p:xfrm>
        <a:graphic>
          <a:graphicData uri="http://schemas.openxmlformats.org/drawingml/2006/table">
            <a:tbl>
              <a:tblPr firstRow="1">
                <a:tableStyleId>{2A488322-F2BA-4B5B-9748-0D474271808F}</a:tableStyleId>
              </a:tblPr>
              <a:tblGrid>
                <a:gridCol w="2134358">
                  <a:extLst>
                    <a:ext uri="{9D8B030D-6E8A-4147-A177-3AD203B41FA5}">
                      <a16:colId xmlns:a16="http://schemas.microsoft.com/office/drawing/2014/main" val="2698153288"/>
                    </a:ext>
                  </a:extLst>
                </a:gridCol>
                <a:gridCol w="2057899">
                  <a:extLst>
                    <a:ext uri="{9D8B030D-6E8A-4147-A177-3AD203B41FA5}">
                      <a16:colId xmlns:a16="http://schemas.microsoft.com/office/drawing/2014/main" val="2119413191"/>
                    </a:ext>
                  </a:extLst>
                </a:gridCol>
                <a:gridCol w="2544783">
                  <a:extLst>
                    <a:ext uri="{9D8B030D-6E8A-4147-A177-3AD203B41FA5}">
                      <a16:colId xmlns:a16="http://schemas.microsoft.com/office/drawing/2014/main" val="683090399"/>
                    </a:ext>
                  </a:extLst>
                </a:gridCol>
              </a:tblGrid>
              <a:tr h="232847">
                <a:tc gridSpan="3">
                  <a:txBody>
                    <a:bodyPr/>
                    <a:lstStyle/>
                    <a:p>
                      <a:pPr>
                        <a:lnSpc>
                          <a:spcPct val="106000"/>
                        </a:lnSpc>
                      </a:pPr>
                      <a:r>
                        <a:rPr lang="fr-FR" sz="806" b="1" noProof="0">
                          <a:solidFill>
                            <a:schemeClr val="tx2"/>
                          </a:solidFill>
                        </a:rPr>
                        <a:t xml:space="preserve">Pollution de l’air, de l’eau et des sols </a:t>
                      </a:r>
                      <a:r>
                        <a:rPr lang="fr-FR" sz="806" b="0" noProof="0">
                          <a:solidFill>
                            <a:schemeClr val="tx2"/>
                          </a:solidFill>
                        </a:rPr>
                        <a:t xml:space="preserve">(par. 34) </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fr-FR" sz="750"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fr-FR"/>
                    </a:p>
                  </a:txBody>
                  <a:tcPr/>
                </a:tc>
                <a:extLst>
                  <a:ext uri="{0D108BD9-81ED-4DB2-BD59-A6C34878D82A}">
                    <a16:rowId xmlns:a16="http://schemas.microsoft.com/office/drawing/2014/main" val="625231048"/>
                  </a:ext>
                </a:extLst>
              </a:tr>
              <a:tr h="232847">
                <a:tc>
                  <a:txBody>
                    <a:bodyPr/>
                    <a:lstStyle/>
                    <a:p>
                      <a:pPr marL="0" marR="0" lvl="0" indent="0" algn="l" defTabSz="914400" rtl="0" eaLnBrk="1" fontAlgn="auto" latinLnBrk="0" hangingPunct="1">
                        <a:lnSpc>
                          <a:spcPct val="106000"/>
                        </a:lnSpc>
                        <a:spcBef>
                          <a:spcPts val="0"/>
                        </a:spcBef>
                        <a:spcAft>
                          <a:spcPts val="0"/>
                        </a:spcAft>
                        <a:buClrTx/>
                        <a:buSzTx/>
                        <a:buFontTx/>
                        <a:buNone/>
                        <a:tabLst/>
                        <a:defRPr/>
                      </a:pPr>
                      <a:r>
                        <a:rPr lang="fr-FR" sz="806" b="1" noProof="0">
                          <a:solidFill>
                            <a:schemeClr val="tx2"/>
                          </a:solidFill>
                        </a:rPr>
                        <a:t xml:space="preserve">Type de pollution </a:t>
                      </a:r>
                      <a:r>
                        <a:rPr lang="fr-FR" sz="806" b="0" noProof="0">
                          <a:solidFill>
                            <a:schemeClr val="tx2"/>
                          </a:solidFill>
                        </a:rPr>
                        <a:t xml:space="preserve">(p. ex. substance)</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lnSpc>
                          <a:spcPct val="106000"/>
                        </a:lnSpc>
                      </a:pPr>
                      <a:r>
                        <a:rPr lang="fr-FR" sz="806" b="1" noProof="0">
                          <a:solidFill>
                            <a:schemeClr val="tx2"/>
                          </a:solidFill>
                        </a:rPr>
                        <a:t xml:space="preserve">Où? </a:t>
                      </a:r>
                      <a:r>
                        <a:rPr lang="fr-FR" sz="806" b="0" noProof="0">
                          <a:solidFill>
                            <a:schemeClr val="tx2"/>
                          </a:solidFill>
                        </a:rPr>
                        <a:t xml:space="preserve">(air, eau, sol)</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lnSpc>
                          <a:spcPct val="106000"/>
                        </a:lnSpc>
                      </a:pPr>
                      <a:r>
                        <a:rPr lang="fr-FR" sz="806" b="1" noProof="0">
                          <a:solidFill>
                            <a:schemeClr val="tx2"/>
                          </a:solidFill>
                        </a:rPr>
                        <a:t xml:space="preserve">Quantité</a:t>
                      </a:r>
                      <a:endParaRPr lang="fr-FR" sz="806"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00926">
                <a:tc>
                  <a:txBody>
                    <a:bodyPr/>
                    <a:lstStyle/>
                    <a:p>
                      <a:pPr rtl="0" fontAlgn="ctr">
                        <a:buNone/>
                      </a:pPr>
                      <a:r>
                        <a:rPr lang="fr-FR" sz="806" b="0" i="0" u="none" strike="noStrike" noProof="0">
                          <a:solidFill>
                            <a:srgbClr val="2D55FF"/>
                          </a:solidFill>
                          <a:effectLst/>
                          <a:latin typeface="Inter"/>
                        </a:rPr>
                        <a:t>{{type_of_pollution}}</a:t>
                      </a:r>
                      <a:endParaRPr lang="fr-FR" sz="806"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algn="ctr" rtl="0" fontAlgn="ctr">
                        <a:buNone/>
                      </a:pPr>
                      <a:r>
                        <a:rPr lang="fr-FR" sz="806" b="0" i="0" u="none" strike="noStrike" noProof="0">
                          <a:solidFill>
                            <a:srgbClr val="2D55FF"/>
                          </a:solidFill>
                          <a:effectLst/>
                          <a:latin typeface="Inter"/>
                        </a:rPr>
                        <a:t>{{scope_pollution}}</a:t>
                      </a:r>
                      <a:endParaRPr lang="fr-FR" sz="806"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ctr" rtl="0" fontAlgn="ctr">
                        <a:buNone/>
                      </a:pPr>
                      <a:r>
                        <a:rPr lang="fr-FR" sz="806" b="0" i="0" u="none" strike="noStrike" noProof="0">
                          <a:solidFill>
                            <a:srgbClr val="2D55FF"/>
                          </a:solidFill>
                          <a:effectLst/>
                          <a:latin typeface="Inter"/>
                        </a:rPr>
                        <a:t>{{</a:t>
                      </a:r>
                      <a:r>
                        <a:rPr lang="fr-FR" sz="806" b="0" i="0" u="none" strike="noStrike" noProof="0">
                          <a:solidFill>
                            <a:srgbClr val="2D55FF"/>
                          </a:solidFill>
                          <a:effectLst/>
                          <a:latin typeface="Inter"/>
                        </a:rPr>
                        <a:t>pollution_medium</a:t>
                      </a:r>
                      <a:r>
                        <a:rPr lang="fr-FR" sz="806" b="0" i="0" u="none" strike="noStrike" noProof="0">
                          <a:solidFill>
                            <a:srgbClr val="2D55FF"/>
                          </a:solidFill>
                          <a:effectLst/>
                          <a:latin typeface="Inter"/>
                        </a:rPr>
                        <a:t>}}</a:t>
                      </a:r>
                      <a:endParaRPr lang="fr-FR" sz="806" b="0"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bl>
          </a:graphicData>
        </a:graphic>
      </p:graphicFrame>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fr-FR" noProof="0"/>
              <a:t>{{company_name}}</a:t>
            </a:r>
            <a:endParaRPr lang="fr-FR" b="0" noProof="0"/>
          </a:p>
          <a:p>
            <a:br>
              <a:rPr lang="fr-FR" noProof="0"/>
            </a:br>
            <a:endParaRPr lang="fr-FR" noProof="0"/>
          </a:p>
        </p:txBody>
      </p:sp>
      <p:sp>
        <p:nvSpPr>
          <p:cNvPr id="10" name="Tekstfelt 9">
            <a:extLst>
              <a:ext uri="{FF2B5EF4-FFF2-40B4-BE49-F238E27FC236}">
                <a16:creationId xmlns:a16="http://schemas.microsoft.com/office/drawing/2014/main" id="{CADEAD42-343C-93CC-A8B0-E63EFFC56411}"/>
              </a:ext>
            </a:extLst>
          </p:cNvPr>
          <p:cNvSpPr txBox="1"/>
          <p:nvPr/>
        </p:nvSpPr>
        <p:spPr>
          <a:xfrm>
            <a:off x="411480" y="1192938"/>
            <a:ext cx="6737040" cy="384705"/>
          </a:xfrm>
          <a:prstGeom prst="rect">
            <a:avLst/>
          </a:prstGeom>
          <a:noFill/>
        </p:spPr>
        <p:txBody>
          <a:bodyPr wrap="square">
            <a:spAutoFit/>
          </a:bodyPr>
          <a:lstStyle/>
          <a:p>
            <a:pPr rtl="0">
              <a:buNone/>
            </a:pPr>
            <a:r>
              <a:rPr lang="fr-FR" sz="806" b="0" i="0" u="none" strike="noStrike" noProof="0">
                <a:solidFill>
                  <a:schemeClr val="tx2"/>
                </a:solidFill>
                <a:effectLst/>
                <a:latin typeface="Inter"/>
              </a:rPr>
              <a:t xml:space="preserve">L’entreprise déclare la quantité totale de polluants rejetés par ses installations. Les polluants spécifiques et leurs quantités rejetées dans l’air, l’eau et le sol</a:t>
            </a:r>
            <a:r>
              <a:rPr lang="fr-FR" sz="806" noProof="0">
                <a:solidFill>
                  <a:schemeClr val="tx2"/>
                </a:solidFill>
                <a:latin typeface="Inter"/>
              </a:rPr>
              <a:t xml:space="preserve"> sont indiqués ci-dessous.</a:t>
            </a:r>
          </a:p>
        </p:txBody>
      </p:sp>
      <p:sp>
        <p:nvSpPr>
          <p:cNvPr id="16" name="Title 3">
            <a:extLst>
              <a:ext uri="{FF2B5EF4-FFF2-40B4-BE49-F238E27FC236}">
                <a16:creationId xmlns:a16="http://schemas.microsoft.com/office/drawing/2014/main" id="{82FDC1C8-BB82-8F83-2FCB-640700A5A089}"/>
              </a:ext>
            </a:extLst>
          </p:cNvPr>
          <p:cNvSpPr txBox="1">
            <a:spLocks/>
          </p:cNvSpPr>
          <p:nvPr/>
        </p:nvSpPr>
        <p:spPr>
          <a:xfrm>
            <a:off x="411480" y="2673447"/>
            <a:ext cx="6737040" cy="207741"/>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220" b="1" kern="1200" spc="-10" baseline="0">
                <a:solidFill>
                  <a:schemeClr val="tx2"/>
                </a:solidFill>
                <a:latin typeface="+mj-lt"/>
                <a:ea typeface="+mj-ea"/>
                <a:cs typeface="+mj-cs"/>
              </a:defRPr>
            </a:lvl1pPr>
          </a:lstStyle>
          <a:p>
            <a:r>
              <a:rPr lang="fr-FR" noProof="0"/>
              <a:t xml:space="preserve">Biodiversité (B5) </a:t>
            </a:r>
          </a:p>
        </p:txBody>
      </p:sp>
      <p:graphicFrame>
        <p:nvGraphicFramePr>
          <p:cNvPr id="17" name="Table 12">
            <a:extLst>
              <a:ext uri="{FF2B5EF4-FFF2-40B4-BE49-F238E27FC236}">
                <a16:creationId xmlns:a16="http://schemas.microsoft.com/office/drawing/2014/main" id="{2F8CEDBC-7529-8ACB-98F8-C532E7876A9C}"/>
              </a:ext>
            </a:extLst>
          </p:cNvPr>
          <p:cNvGraphicFramePr>
            <a:graphicFrameLocks noGrp="1"/>
          </p:cNvGraphicFramePr>
          <p:nvPr>
            <p:extLst>
              <p:ext uri="{D42A27DB-BD31-4B8C-83A1-F6EECF244321}">
                <p14:modId xmlns:p14="http://schemas.microsoft.com/office/powerpoint/2010/main" val="1488959812"/>
              </p:ext>
            </p:extLst>
          </p:nvPr>
        </p:nvGraphicFramePr>
        <p:xfrm>
          <a:off x="411480" y="3665551"/>
          <a:ext cx="6737040" cy="792106"/>
        </p:xfrm>
        <a:graphic>
          <a:graphicData uri="http://schemas.openxmlformats.org/drawingml/2006/table">
            <a:tbl>
              <a:tblPr firstRow="1">
                <a:tableStyleId>{2A488322-F2BA-4B5B-9748-0D474271808F}</a:tableStyleId>
              </a:tblPr>
              <a:tblGrid>
                <a:gridCol w="1223626">
                  <a:extLst>
                    <a:ext uri="{9D8B030D-6E8A-4147-A177-3AD203B41FA5}">
                      <a16:colId xmlns:a16="http://schemas.microsoft.com/office/drawing/2014/main" val="2698153288"/>
                    </a:ext>
                  </a:extLst>
                </a:gridCol>
                <a:gridCol w="1837805">
                  <a:extLst>
                    <a:ext uri="{9D8B030D-6E8A-4147-A177-3AD203B41FA5}">
                      <a16:colId xmlns:a16="http://schemas.microsoft.com/office/drawing/2014/main" val="2119413191"/>
                    </a:ext>
                  </a:extLst>
                </a:gridCol>
                <a:gridCol w="1837805">
                  <a:extLst>
                    <a:ext uri="{9D8B030D-6E8A-4147-A177-3AD203B41FA5}">
                      <a16:colId xmlns:a16="http://schemas.microsoft.com/office/drawing/2014/main" val="656209149"/>
                    </a:ext>
                  </a:extLst>
                </a:gridCol>
                <a:gridCol w="1837804">
                  <a:extLst>
                    <a:ext uri="{9D8B030D-6E8A-4147-A177-3AD203B41FA5}">
                      <a16:colId xmlns:a16="http://schemas.microsoft.com/office/drawing/2014/main" val="1502960985"/>
                    </a:ext>
                  </a:extLst>
                </a:gridCol>
              </a:tblGrid>
              <a:tr h="192389">
                <a:tc gridSpan="4">
                  <a:txBody>
                    <a:bodyPr/>
                    <a:lstStyle/>
                    <a:p>
                      <a:r>
                        <a:rPr lang="fr-FR" sz="806" b="1" noProof="0">
                          <a:solidFill>
                            <a:schemeClr val="tx2"/>
                          </a:solidFill>
                        </a:rPr>
                        <a:t xml:space="preserve">Sites situés dans ou à proximité de « zones sensibles sur le plan de la biodiversité » que l’entreprise détient, loue ou gère </a:t>
                      </a:r>
                      <a:r>
                        <a:rPr lang="fr-FR" sz="806" b="0" noProof="0">
                          <a:solidFill>
                            <a:schemeClr val="tx2"/>
                          </a:solidFill>
                        </a:rPr>
                        <a:t xml:space="preserve">(par. 35)</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fr-FR" sz="750"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fr-FR" sz="750"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fr-FR" sz="750"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87668">
                <a:tc>
                  <a:txBody>
                    <a:bodyPr/>
                    <a:lstStyle/>
                    <a:p>
                      <a:r>
                        <a:rPr lang="fr-FR" sz="806" b="1" noProof="0">
                          <a:solidFill>
                            <a:schemeClr val="tx2"/>
                          </a:solidFill>
                        </a:rPr>
                        <a:t xml:space="preserve">Localisation</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fr-FR" sz="806" b="1" noProof="0">
                          <a:solidFill>
                            <a:schemeClr val="tx2"/>
                          </a:solidFill>
                        </a:rPr>
                        <a:t xml:space="preserve">Superficie en hectares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fr-FR" sz="806" b="1" noProof="0">
                          <a:solidFill>
                            <a:schemeClr val="tx2"/>
                          </a:solidFill>
                        </a:rPr>
                        <a:t xml:space="preserve">Zone sensible pour la biodiversité</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fr-FR" sz="806" b="1" noProof="0">
                          <a:solidFill>
                            <a:schemeClr val="tx2"/>
                          </a:solidFill>
                        </a:rPr>
                        <a:t xml:space="preserve">Précision : dans ou à proximité d’une zone sensible pour la biodiversité</a:t>
                      </a:r>
                      <a:endParaRPr lang="fr-FR" sz="806"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26340">
                <a:tc>
                  <a:txBody>
                    <a:bodyPr/>
                    <a:lstStyle/>
                    <a:p>
                      <a:pPr rtl="0" fontAlgn="ctr">
                        <a:buNone/>
                      </a:pPr>
                      <a:r>
                        <a:rPr lang="fr-FR" sz="806" b="0" i="0" u="none" strike="noStrike" noProof="0">
                          <a:solidFill>
                            <a:srgbClr val="2D55FF"/>
                          </a:solidFill>
                          <a:effectLst/>
                          <a:latin typeface="Inter"/>
                        </a:rPr>
                        <a:t>{{country_location}}</a:t>
                      </a:r>
                      <a:endParaRPr lang="fr-FR" sz="806"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rtl="0" fontAlgn="ctr">
                        <a:buNone/>
                      </a:pPr>
                      <a:r>
                        <a:rPr lang="fr-FR" sz="806" b="0" i="0" u="none" strike="noStrike" noProof="0">
                          <a:solidFill>
                            <a:srgbClr val="2D55FF"/>
                          </a:solidFill>
                          <a:effectLst/>
                          <a:latin typeface="Inter"/>
                        </a:rPr>
                        <a:t> {{area_hect}}</a:t>
                      </a:r>
                      <a:endParaRPr lang="fr-FR" sz="806"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fr-FR" sz="806" b="0" i="0" u="none" strike="noStrike" noProof="0">
                          <a:solidFill>
                            <a:srgbClr val="2D55FF"/>
                          </a:solidFill>
                          <a:effectLst/>
                          <a:latin typeface="Inter"/>
                        </a:rPr>
                        <a:t>{{area_name}}</a:t>
                      </a:r>
                      <a:endParaRPr lang="fr-FR" sz="806"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fr-FR" sz="806" b="0" i="0" u="none" strike="noStrike" noProof="0">
                          <a:solidFill>
                            <a:srgbClr val="2D55FF"/>
                          </a:solidFill>
                          <a:effectLst/>
                          <a:latin typeface="Inter"/>
                        </a:rPr>
                        <a:t>{{</a:t>
                      </a:r>
                      <a:r>
                        <a:rPr lang="fr-FR" sz="806" b="0" i="0" u="none" strike="noStrike" noProof="0">
                          <a:solidFill>
                            <a:srgbClr val="2D55FF"/>
                          </a:solidFill>
                          <a:effectLst/>
                          <a:latin typeface="Inter"/>
                        </a:rPr>
                        <a:t>biosensitive_area</a:t>
                      </a:r>
                      <a:r>
                        <a:rPr lang="fr-FR" sz="806" b="0" i="0" u="none" strike="noStrike" noProof="0">
                          <a:solidFill>
                            <a:srgbClr val="2D55FF"/>
                          </a:solidFill>
                          <a:effectLst/>
                          <a:latin typeface="Inter"/>
                        </a:rPr>
                        <a:t>}}</a:t>
                      </a:r>
                      <a:endParaRPr lang="fr-FR" sz="806" b="0"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
        <p:nvSpPr>
          <p:cNvPr id="18" name="Tekstfelt 17">
            <a:extLst>
              <a:ext uri="{FF2B5EF4-FFF2-40B4-BE49-F238E27FC236}">
                <a16:creationId xmlns:a16="http://schemas.microsoft.com/office/drawing/2014/main" id="{6378062B-84AF-684A-9726-0422CE54B0A8}"/>
              </a:ext>
            </a:extLst>
          </p:cNvPr>
          <p:cNvSpPr txBox="1"/>
          <p:nvPr/>
        </p:nvSpPr>
        <p:spPr>
          <a:xfrm>
            <a:off x="411480" y="2954463"/>
            <a:ext cx="6737040" cy="538588"/>
          </a:xfrm>
          <a:prstGeom prst="rect">
            <a:avLst/>
          </a:prstGeom>
          <a:noFill/>
        </p:spPr>
        <p:txBody>
          <a:bodyPr wrap="square">
            <a:spAutoFit/>
          </a:bodyPr>
          <a:lstStyle/>
          <a:p>
            <a:pPr rtl="0">
              <a:spcBef>
                <a:spcPts val="750"/>
              </a:spcBef>
              <a:spcAft>
                <a:spcPts val="750"/>
              </a:spcAft>
              <a:buNone/>
            </a:pPr>
            <a:r>
              <a:rPr lang="fr-FR" sz="806" b="0" i="0" u="none" strike="noStrike" noProof="0">
                <a:solidFill>
                  <a:schemeClr val="tx2"/>
                </a:solidFill>
                <a:effectLst/>
                <a:latin typeface="Inter"/>
              </a:rPr>
              <a:t xml:space="preserve">Les informations de l’entreprise concernent les sites où elle opère qui se situent dans ou à proximité de zones sensibles sur le plan de la biodiversité. Ces zones sont définies comme telles par des dispositions particulières de protection de la nature au niveau européen ou international. Il s’agit notamment des zones Natura 2000, des sites de l’UNESCO et des zones clés pour la biodiversité (KBA), ainsi que d’autres aires protégées.</a:t>
            </a:r>
            <a:endParaRPr lang="fr-FR" sz="806" noProof="0">
              <a:solidFill>
                <a:schemeClr val="tx2"/>
              </a:solidFill>
              <a:latin typeface="Inter"/>
            </a:endParaRPr>
          </a:p>
        </p:txBody>
      </p:sp>
      <p:sp>
        <p:nvSpPr>
          <p:cNvPr id="2" name="Title 3">
            <a:extLst>
              <a:ext uri="{FF2B5EF4-FFF2-40B4-BE49-F238E27FC236}">
                <a16:creationId xmlns:a16="http://schemas.microsoft.com/office/drawing/2014/main" id="{9FF30C2A-99E4-0235-442A-B520E2E3D75D}"/>
              </a:ext>
            </a:extLst>
          </p:cNvPr>
          <p:cNvSpPr txBox="1">
            <a:spLocks/>
          </p:cNvSpPr>
          <p:nvPr/>
        </p:nvSpPr>
        <p:spPr>
          <a:xfrm>
            <a:off x="423976" y="4665436"/>
            <a:ext cx="6583504" cy="207741"/>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220" b="1" kern="1200" spc="-10" baseline="0">
                <a:solidFill>
                  <a:schemeClr val="tx2"/>
                </a:solidFill>
                <a:latin typeface="+mj-lt"/>
                <a:ea typeface="+mj-ea"/>
                <a:cs typeface="+mj-cs"/>
              </a:defRPr>
            </a:lvl1pPr>
          </a:lstStyle>
          <a:p>
            <a:r>
              <a:rPr lang="fr-FR"/>
              <a:t xml:space="preserve">Eau (B6)</a:t>
            </a:r>
          </a:p>
        </p:txBody>
      </p:sp>
      <p:graphicFrame>
        <p:nvGraphicFramePr>
          <p:cNvPr id="3" name="Table 12">
            <a:extLst>
              <a:ext uri="{FF2B5EF4-FFF2-40B4-BE49-F238E27FC236}">
                <a16:creationId xmlns:a16="http://schemas.microsoft.com/office/drawing/2014/main" id="{EDF86973-DC05-3ECC-6067-2F53E4BE429D}"/>
              </a:ext>
            </a:extLst>
          </p:cNvPr>
          <p:cNvGraphicFramePr>
            <a:graphicFrameLocks noGrp="1"/>
          </p:cNvGraphicFramePr>
          <p:nvPr>
            <p:extLst>
              <p:ext uri="{D42A27DB-BD31-4B8C-83A1-F6EECF244321}">
                <p14:modId xmlns:p14="http://schemas.microsoft.com/office/powerpoint/2010/main" val="2484575700"/>
              </p:ext>
            </p:extLst>
          </p:nvPr>
        </p:nvGraphicFramePr>
        <p:xfrm>
          <a:off x="411480" y="5674180"/>
          <a:ext cx="3295368" cy="1118085"/>
        </p:xfrm>
        <a:graphic>
          <a:graphicData uri="http://schemas.openxmlformats.org/drawingml/2006/table">
            <a:tbl>
              <a:tblPr firstRow="1">
                <a:tableStyleId>{2A488322-F2BA-4B5B-9748-0D474271808F}</a:tableStyleId>
              </a:tblPr>
              <a:tblGrid>
                <a:gridCol w="2113984">
                  <a:extLst>
                    <a:ext uri="{9D8B030D-6E8A-4147-A177-3AD203B41FA5}">
                      <a16:colId xmlns:a16="http://schemas.microsoft.com/office/drawing/2014/main" val="2698153288"/>
                    </a:ext>
                  </a:extLst>
                </a:gridCol>
                <a:gridCol w="1181384">
                  <a:extLst>
                    <a:ext uri="{9D8B030D-6E8A-4147-A177-3AD203B41FA5}">
                      <a16:colId xmlns:a16="http://schemas.microsoft.com/office/drawing/2014/main" val="2119413191"/>
                    </a:ext>
                  </a:extLst>
                </a:gridCol>
              </a:tblGrid>
              <a:tr h="5667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806" b="1" noProof="0">
                          <a:solidFill>
                            <a:schemeClr val="tx2"/>
                          </a:solidFill>
                        </a:rPr>
                        <a:t xml:space="preserve">Prélèvements d’eau </a:t>
                      </a:r>
                      <a:r>
                        <a:rPr lang="fr-FR" sz="806" b="0" noProof="0">
                          <a:solidFill>
                            <a:schemeClr val="tx2"/>
                          </a:solidFill>
                        </a:rPr>
                        <a:t xml:space="preserve">(par. 36)</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fr-FR" sz="806" b="1" noProof="0">
                          <a:solidFill>
                            <a:schemeClr val="tx2"/>
                          </a:solidFill>
                        </a:rPr>
                        <a:t xml:space="preserve">Année </a:t>
                      </a:r>
                      <a:r>
                        <a:rPr lang="fr-FR" sz="806" b="1" noProof="0">
                          <a:solidFill>
                            <a:schemeClr val="accent2"/>
                          </a:solidFill>
                        </a:rPr>
                        <a:t>{{insert_year}}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551364">
                <a:tc>
                  <a:txBody>
                    <a:bodyPr/>
                    <a:lstStyle/>
                    <a:p>
                      <a:r>
                        <a:rPr lang="fr-FR" sz="806" b="0" noProof="0">
                          <a:solidFill>
                            <a:schemeClr val="tx2"/>
                          </a:solidFill>
                        </a:rPr>
                        <a:t xml:space="preserve">Total pour tous les sites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6" b="0" i="0" u="none" strike="noStrike" kern="1200" cap="none" spc="0" normalizeH="0" baseline="0" noProof="0">
                          <a:ln>
                            <a:noFill/>
                          </a:ln>
                          <a:solidFill>
                            <a:srgbClr val="2D55FF"/>
                          </a:solidFill>
                          <a:effectLst/>
                          <a:uLnTx/>
                          <a:uFillTx/>
                          <a:latin typeface="+mn-lt"/>
                          <a:ea typeface="+mn-ea"/>
                          <a:cs typeface="+mn-cs"/>
                        </a:rPr>
                        <a:t>{{</a:t>
                      </a:r>
                      <a:r>
                        <a:rPr kumimoji="0" lang="fr-FR" sz="806" b="0" i="0" u="none" strike="noStrike" kern="1200" cap="none" spc="0" normalizeH="0" baseline="0" noProof="0">
                          <a:ln>
                            <a:noFill/>
                          </a:ln>
                          <a:solidFill>
                            <a:srgbClr val="2D55FF"/>
                          </a:solidFill>
                          <a:effectLst/>
                          <a:uLnTx/>
                          <a:uFillTx/>
                          <a:latin typeface="+mn-lt"/>
                          <a:ea typeface="+mn-ea"/>
                          <a:cs typeface="+mn-cs"/>
                        </a:rPr>
                        <a:t>total_withdrawal</a:t>
                      </a:r>
                      <a:r>
                        <a:rPr kumimoji="0" lang="fr-FR" sz="806" b="0" i="0" u="none" strike="noStrike" kern="1200" cap="none" spc="0" normalizeH="0" baseline="0" noProof="0">
                          <a:ln>
                            <a:noFill/>
                          </a:ln>
                          <a:solidFill>
                            <a:srgbClr val="2D55FF"/>
                          </a:solidFill>
                          <a:effectLst/>
                          <a:uLnTx/>
                          <a:uFillTx/>
                          <a:latin typeface="+mn-lt"/>
                          <a:ea typeface="+mn-ea"/>
                          <a:cs typeface="+mn-cs"/>
                        </a:rPr>
                        <a:t>}}</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graphicFrame>
        <p:nvGraphicFramePr>
          <p:cNvPr id="7" name="Table 16">
            <a:extLst>
              <a:ext uri="{FF2B5EF4-FFF2-40B4-BE49-F238E27FC236}">
                <a16:creationId xmlns:a16="http://schemas.microsoft.com/office/drawing/2014/main" id="{CC1DA924-567E-0F60-A4EA-4D7C2A7DFBCC}"/>
              </a:ext>
            </a:extLst>
          </p:cNvPr>
          <p:cNvGraphicFramePr>
            <a:graphicFrameLocks noGrp="1"/>
          </p:cNvGraphicFramePr>
          <p:nvPr>
            <p:extLst>
              <p:ext uri="{D42A27DB-BD31-4B8C-83A1-F6EECF244321}">
                <p14:modId xmlns:p14="http://schemas.microsoft.com/office/powerpoint/2010/main" val="1841516023"/>
              </p:ext>
            </p:extLst>
          </p:nvPr>
        </p:nvGraphicFramePr>
        <p:xfrm>
          <a:off x="3853152" y="5674180"/>
          <a:ext cx="3295368" cy="1118085"/>
        </p:xfrm>
        <a:graphic>
          <a:graphicData uri="http://schemas.openxmlformats.org/drawingml/2006/table">
            <a:tbl>
              <a:tblPr firstRow="1">
                <a:tableStyleId>{2A488322-F2BA-4B5B-9748-0D474271808F}</a:tableStyleId>
              </a:tblPr>
              <a:tblGrid>
                <a:gridCol w="2217448">
                  <a:extLst>
                    <a:ext uri="{9D8B030D-6E8A-4147-A177-3AD203B41FA5}">
                      <a16:colId xmlns:a16="http://schemas.microsoft.com/office/drawing/2014/main" val="2698153288"/>
                    </a:ext>
                  </a:extLst>
                </a:gridCol>
                <a:gridCol w="1077920">
                  <a:extLst>
                    <a:ext uri="{9D8B030D-6E8A-4147-A177-3AD203B41FA5}">
                      <a16:colId xmlns:a16="http://schemas.microsoft.com/office/drawing/2014/main" val="2119413191"/>
                    </a:ext>
                  </a:extLst>
                </a:gridCol>
              </a:tblGrid>
              <a:tr h="43197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806" b="1" noProof="0">
                          <a:solidFill>
                            <a:schemeClr val="tx2"/>
                          </a:solidFill>
                        </a:rPr>
                        <a:t xml:space="preserve">Consommation d’eau </a:t>
                      </a:r>
                      <a:r>
                        <a:rPr lang="fr-FR" sz="806" b="0" noProof="0">
                          <a:solidFill>
                            <a:schemeClr val="tx2"/>
                          </a:solidFill>
                        </a:rPr>
                        <a:t xml:space="preserve">(par. 37)</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fr-FR" sz="806" b="1" noProof="0">
                          <a:solidFill>
                            <a:schemeClr val="tx2"/>
                          </a:solidFill>
                        </a:rPr>
                        <a:t xml:space="preserve">Année </a:t>
                      </a:r>
                      <a:r>
                        <a:rPr lang="fr-FR" sz="806" b="1" noProof="0">
                          <a:solidFill>
                            <a:schemeClr val="accent2"/>
                          </a:solidFill>
                        </a:rPr>
                        <a:t>{{insert_year}}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70905">
                <a:tc>
                  <a:txBody>
                    <a:bodyPr/>
                    <a:lstStyle/>
                    <a:p>
                      <a:r>
                        <a:rPr lang="fr-FR" sz="806" b="0" noProof="0">
                          <a:solidFill>
                            <a:schemeClr val="tx2"/>
                          </a:solidFill>
                        </a:rPr>
                        <a:t xml:space="preserve">Total pour tous les sites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fr-FR" sz="806" b="0" i="0" u="none" strike="noStrike" noProof="0">
                          <a:solidFill>
                            <a:srgbClr val="2D55FF"/>
                          </a:solidFill>
                          <a:effectLst/>
                          <a:latin typeface="Inter"/>
                        </a:rPr>
                        <a:t>{{consumption_total}}</a:t>
                      </a:r>
                      <a:endParaRPr lang="fr-FR" sz="806"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941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806" b="0" noProof="0">
                          <a:solidFill>
                            <a:schemeClr val="tx2"/>
                          </a:solidFill>
                        </a:rPr>
                        <a:t xml:space="preserve">Sites situés dans des zones de pénurie d’eau (stress hydrique élevé)</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fr-FR" sz="806" b="0" i="0" u="none" strike="noStrike" noProof="0">
                          <a:solidFill>
                            <a:srgbClr val="2D55FF"/>
                          </a:solidFill>
                          <a:effectLst/>
                          <a:latin typeface="Inter"/>
                        </a:rPr>
                        <a:t>{{</a:t>
                      </a:r>
                      <a:r>
                        <a:rPr lang="fr-FR" sz="806" b="0" i="0" u="none" strike="noStrike" noProof="0">
                          <a:solidFill>
                            <a:srgbClr val="2D55FF"/>
                          </a:solidFill>
                          <a:effectLst/>
                          <a:latin typeface="Inter"/>
                        </a:rPr>
                        <a:t>consumption_waterstress</a:t>
                      </a:r>
                      <a:r>
                        <a:rPr lang="fr-FR" sz="806" b="0" i="0" u="none" strike="noStrike" noProof="0">
                          <a:solidFill>
                            <a:srgbClr val="2D55FF"/>
                          </a:solidFill>
                          <a:effectLst/>
                          <a:latin typeface="Inter"/>
                        </a:rPr>
                        <a:t>}}</a:t>
                      </a:r>
                      <a:endParaRPr lang="fr-FR" sz="806"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175797269"/>
                  </a:ext>
                </a:extLst>
              </a:tr>
            </a:tbl>
          </a:graphicData>
        </a:graphic>
      </p:graphicFrame>
      <p:sp>
        <p:nvSpPr>
          <p:cNvPr id="8" name="Tekstfelt 7">
            <a:extLst>
              <a:ext uri="{FF2B5EF4-FFF2-40B4-BE49-F238E27FC236}">
                <a16:creationId xmlns:a16="http://schemas.microsoft.com/office/drawing/2014/main" id="{920A9AE1-EB9B-1D7D-09D0-432E15617FEB}"/>
              </a:ext>
            </a:extLst>
          </p:cNvPr>
          <p:cNvSpPr txBox="1"/>
          <p:nvPr/>
        </p:nvSpPr>
        <p:spPr>
          <a:xfrm>
            <a:off x="411480" y="4996139"/>
            <a:ext cx="6737040" cy="384705"/>
          </a:xfrm>
          <a:prstGeom prst="rect">
            <a:avLst/>
          </a:prstGeom>
          <a:noFill/>
        </p:spPr>
        <p:txBody>
          <a:bodyPr wrap="square">
            <a:spAutoFit/>
          </a:bodyPr>
          <a:lstStyle/>
          <a:p>
            <a:pPr rtl="0">
              <a:spcBef>
                <a:spcPts val="750"/>
              </a:spcBef>
              <a:buNone/>
            </a:pPr>
            <a:r>
              <a:rPr lang="fr-FR" sz="806" b="0" i="0" u="none" strike="noStrike" noProof="0">
                <a:solidFill>
                  <a:schemeClr val="tx2"/>
                </a:solidFill>
                <a:effectLst/>
                <a:latin typeface="Inter"/>
              </a:rPr>
              <a:t xml:space="preserve">Le prélèvement d’eau est la quantité d’eau utilisée par l’entreprise, dont </a:t>
            </a:r>
            <a:r>
              <a:rPr lang="fr-FR" sz="806" noProof="0">
                <a:solidFill>
                  <a:schemeClr val="tx2"/>
                </a:solidFill>
                <a:latin typeface="Inter"/>
              </a:rPr>
              <a:t xml:space="preserve">la consommation désigne l’eau qui </a:t>
            </a:r>
            <a:r>
              <a:rPr lang="fr-FR" sz="806" b="0" i="0" u="none" strike="noStrike" noProof="0">
                <a:solidFill>
                  <a:schemeClr val="tx2"/>
                </a:solidFill>
                <a:effectLst/>
                <a:latin typeface="Inter"/>
              </a:rPr>
              <a:t xml:space="preserve">n’est pas rejetée, ni destinée à l’être, dans le milieu aquatique ou vers un tiers. Cette section indique le total des prélèvements d’eau. La consommation d’eau</a:t>
            </a:r>
            <a:r>
              <a:rPr lang="fr-FR" sz="806" noProof="0">
                <a:solidFill>
                  <a:schemeClr val="tx2"/>
                </a:solidFill>
                <a:latin typeface="Inter"/>
              </a:rPr>
              <a:t> </a:t>
            </a:r>
            <a:r>
              <a:rPr lang="fr-FR" sz="806" b="0" i="0" u="none" strike="noStrike" noProof="0">
                <a:solidFill>
                  <a:schemeClr val="tx2"/>
                </a:solidFill>
                <a:effectLst/>
                <a:latin typeface="Inter"/>
              </a:rPr>
              <a:t xml:space="preserve">et les rejets d’eau provenant de zones à stress hydrique élevé sont indiqués ci-dessous.</a:t>
            </a:r>
            <a:endParaRPr lang="fr-FR" sz="806" b="0" noProof="0" dirty="0">
              <a:solidFill>
                <a:schemeClr val="tx2"/>
              </a:solidFill>
              <a:effectLst/>
              <a:latin typeface="Inter"/>
            </a:endParaRPr>
          </a:p>
        </p:txBody>
      </p:sp>
      <p:sp>
        <p:nvSpPr>
          <p:cNvPr id="9" name="Title 3">
            <a:extLst>
              <a:ext uri="{FF2B5EF4-FFF2-40B4-BE49-F238E27FC236}">
                <a16:creationId xmlns:a16="http://schemas.microsoft.com/office/drawing/2014/main" id="{42E20686-EF75-EDCE-51EC-6D93E8BC9DB0}"/>
              </a:ext>
            </a:extLst>
          </p:cNvPr>
          <p:cNvSpPr txBox="1">
            <a:spLocks/>
          </p:cNvSpPr>
          <p:nvPr/>
        </p:nvSpPr>
        <p:spPr>
          <a:xfrm>
            <a:off x="411480" y="7066707"/>
            <a:ext cx="6737040" cy="207741"/>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220" b="1" kern="1200" spc="-10" baseline="0">
                <a:solidFill>
                  <a:schemeClr val="tx2"/>
                </a:solidFill>
                <a:latin typeface="+mj-lt"/>
                <a:ea typeface="+mj-ea"/>
                <a:cs typeface="+mj-cs"/>
              </a:defRPr>
            </a:lvl1pPr>
          </a:lstStyle>
          <a:p>
            <a:r>
              <a:rPr lang="fr-FR" noProof="0"/>
              <a:t xml:space="preserve">Utilisation des ressources, économie circulaire et gestion des déchets (B7) </a:t>
            </a:r>
          </a:p>
        </p:txBody>
      </p:sp>
      <p:graphicFrame>
        <p:nvGraphicFramePr>
          <p:cNvPr id="11" name="Table 12">
            <a:extLst>
              <a:ext uri="{FF2B5EF4-FFF2-40B4-BE49-F238E27FC236}">
                <a16:creationId xmlns:a16="http://schemas.microsoft.com/office/drawing/2014/main" id="{65985E2E-2BF9-6FC2-7FED-19CBF40C65E9}"/>
              </a:ext>
            </a:extLst>
          </p:cNvPr>
          <p:cNvGraphicFramePr>
            <a:graphicFrameLocks noGrp="1"/>
          </p:cNvGraphicFramePr>
          <p:nvPr>
            <p:extLst>
              <p:ext uri="{D42A27DB-BD31-4B8C-83A1-F6EECF244321}">
                <p14:modId xmlns:p14="http://schemas.microsoft.com/office/powerpoint/2010/main" val="2602752189"/>
              </p:ext>
            </p:extLst>
          </p:nvPr>
        </p:nvGraphicFramePr>
        <p:xfrm>
          <a:off x="3853152" y="7487219"/>
          <a:ext cx="3295368" cy="910441"/>
        </p:xfrm>
        <a:graphic>
          <a:graphicData uri="http://schemas.openxmlformats.org/drawingml/2006/table">
            <a:tbl>
              <a:tblPr firstRow="1">
                <a:tableStyleId>{2A488322-F2BA-4B5B-9748-0D474271808F}</a:tableStyleId>
              </a:tblPr>
              <a:tblGrid>
                <a:gridCol w="1303671">
                  <a:extLst>
                    <a:ext uri="{9D8B030D-6E8A-4147-A177-3AD203B41FA5}">
                      <a16:colId xmlns:a16="http://schemas.microsoft.com/office/drawing/2014/main" val="2698153288"/>
                    </a:ext>
                  </a:extLst>
                </a:gridCol>
                <a:gridCol w="1013047">
                  <a:extLst>
                    <a:ext uri="{9D8B030D-6E8A-4147-A177-3AD203B41FA5}">
                      <a16:colId xmlns:a16="http://schemas.microsoft.com/office/drawing/2014/main" val="2119413191"/>
                    </a:ext>
                  </a:extLst>
                </a:gridCol>
                <a:gridCol w="978650">
                  <a:extLst>
                    <a:ext uri="{9D8B030D-6E8A-4147-A177-3AD203B41FA5}">
                      <a16:colId xmlns:a16="http://schemas.microsoft.com/office/drawing/2014/main" val="656209149"/>
                    </a:ext>
                  </a:extLst>
                </a:gridCol>
              </a:tblGrid>
              <a:tr h="224582">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806" b="1" noProof="0">
                          <a:solidFill>
                            <a:schemeClr val="tx2"/>
                          </a:solidFill>
                        </a:rPr>
                        <a:t xml:space="preserve">Application des principes de l’économie circulaire </a:t>
                      </a:r>
                      <a:r>
                        <a:rPr lang="fr-FR" sz="806" b="0" noProof="0">
                          <a:solidFill>
                            <a:schemeClr val="tx2"/>
                          </a:solidFill>
                        </a:rPr>
                        <a:t xml:space="preserve">(par. 38)</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fr-FR" sz="750"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fr-FR" sz="750"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24335">
                <a:tc rowSpan="2">
                  <a:txBody>
                    <a:bodyPr/>
                    <a:lstStyle/>
                    <a:p>
                      <a:r>
                        <a:rPr lang="fr-FR" sz="806" b="0" noProof="0">
                          <a:solidFill>
                            <a:schemeClr val="tx2"/>
                          </a:solidFill>
                        </a:rPr>
                        <a:t xml:space="preserve">Mon entreprise applique les principes de l’économie circulaire</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fr-FR" sz="806" b="1" noProof="0">
                          <a:solidFill>
                            <a:schemeClr val="tx2"/>
                          </a:solidFill>
                        </a:rPr>
                        <a:t xml:space="preserve">Oui</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fr-FR" sz="806" b="1" noProof="0">
                          <a:solidFill>
                            <a:schemeClr val="tx2"/>
                          </a:solidFill>
                        </a:rPr>
                        <a:t xml:space="preserve">Non</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85898">
                <a:tc vMerge="1">
                  <a:txBody>
                    <a:bodyPr/>
                    <a:lstStyle/>
                    <a:p>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fr-FR" sz="806" b="0" i="0" u="none" strike="noStrike" noProof="0">
                          <a:solidFill>
                            <a:srgbClr val="2D55FF"/>
                          </a:solidFill>
                          <a:effectLst/>
                          <a:latin typeface="Inter"/>
                        </a:rPr>
                        <a:t>{{circular_economy_princples_yes}}</a:t>
                      </a:r>
                      <a:endParaRPr lang="fr-FR" sz="806"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ctr" rtl="0" fontAlgn="ctr">
                        <a:buNone/>
                      </a:pPr>
                      <a:r>
                        <a:rPr lang="fr-FR" sz="806" b="0" i="0" u="none" strike="noStrike" noProof="0">
                          <a:solidFill>
                            <a:srgbClr val="2D55FF"/>
                          </a:solidFill>
                          <a:effectLst/>
                          <a:latin typeface="Inter"/>
                        </a:rPr>
                        <a:t>{{circular_economy_princples_no?}}</a:t>
                      </a:r>
                      <a:endParaRPr lang="fr-FR" sz="806"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
        <p:nvSpPr>
          <p:cNvPr id="14" name="Tekstfelt 13">
            <a:extLst>
              <a:ext uri="{FF2B5EF4-FFF2-40B4-BE49-F238E27FC236}">
                <a16:creationId xmlns:a16="http://schemas.microsoft.com/office/drawing/2014/main" id="{C277F934-C96A-D8A6-5040-970AFDDF7CBA}"/>
              </a:ext>
            </a:extLst>
          </p:cNvPr>
          <p:cNvSpPr txBox="1"/>
          <p:nvPr/>
        </p:nvSpPr>
        <p:spPr>
          <a:xfrm>
            <a:off x="411480" y="7470197"/>
            <a:ext cx="3295368" cy="692470"/>
          </a:xfrm>
          <a:prstGeom prst="rect">
            <a:avLst/>
          </a:prstGeom>
          <a:noFill/>
        </p:spPr>
        <p:txBody>
          <a:bodyPr wrap="square" lIns="76197" tIns="38098" rIns="76197" bIns="38098" anchor="t">
            <a:spAutoFit/>
          </a:bodyPr>
          <a:lstStyle/>
          <a:p>
            <a:pPr rtl="0">
              <a:buNone/>
            </a:pPr>
            <a:r>
              <a:rPr lang="fr-FR" sz="806" b="0" i="0" u="none" strike="noStrike" noProof="0">
                <a:solidFill>
                  <a:schemeClr val="tx2"/>
                </a:solidFill>
                <a:effectLst/>
                <a:latin typeface="Inter"/>
              </a:rPr>
              <a:t xml:space="preserve">Cette exigence de publication indique si l’entreprise</a:t>
            </a:r>
            <a:r>
              <a:rPr lang="fr-FR" sz="806" noProof="0">
                <a:solidFill>
                  <a:schemeClr val="tx2"/>
                </a:solidFill>
                <a:latin typeface="Inter"/>
              </a:rPr>
              <a:t xml:space="preserve"> applique les principes de l’économie circulaire, notamment des principes de réduction des déchets et de la pollution ainsi qu’une attention portée aux produits et matières circulaires.</a:t>
            </a:r>
          </a:p>
        </p:txBody>
      </p:sp>
      <p:graphicFrame>
        <p:nvGraphicFramePr>
          <p:cNvPr id="19" name="Table 2">
            <a:extLst>
              <a:ext uri="{FF2B5EF4-FFF2-40B4-BE49-F238E27FC236}">
                <a16:creationId xmlns:a16="http://schemas.microsoft.com/office/drawing/2014/main" id="{8505FDBE-A563-0A36-5C55-C4AD815DDDED}"/>
              </a:ext>
            </a:extLst>
          </p:cNvPr>
          <p:cNvGraphicFramePr>
            <a:graphicFrameLocks noGrp="1"/>
          </p:cNvGraphicFramePr>
          <p:nvPr>
            <p:extLst>
              <p:ext uri="{D42A27DB-BD31-4B8C-83A1-F6EECF244321}">
                <p14:modId xmlns:p14="http://schemas.microsoft.com/office/powerpoint/2010/main" val="3948212178"/>
              </p:ext>
            </p:extLst>
          </p:nvPr>
        </p:nvGraphicFramePr>
        <p:xfrm>
          <a:off x="411480" y="8598462"/>
          <a:ext cx="6737040" cy="995218"/>
        </p:xfrm>
        <a:graphic>
          <a:graphicData uri="http://schemas.openxmlformats.org/drawingml/2006/table">
            <a:tbl>
              <a:tblPr firstRow="1">
                <a:tableStyleId>{2A488322-F2BA-4B5B-9748-0D474271808F}</a:tableStyleId>
              </a:tblPr>
              <a:tblGrid>
                <a:gridCol w="6737040">
                  <a:extLst>
                    <a:ext uri="{9D8B030D-6E8A-4147-A177-3AD203B41FA5}">
                      <a16:colId xmlns:a16="http://schemas.microsoft.com/office/drawing/2014/main" val="2698153288"/>
                    </a:ext>
                  </a:extLst>
                </a:gridCol>
              </a:tblGrid>
              <a:tr h="156127">
                <a:tc>
                  <a:txBody>
                    <a:bodyPr/>
                    <a:lstStyle/>
                    <a:p>
                      <a:r>
                        <a:rPr lang="fr-FR" sz="806" b="1" noProof="0">
                          <a:solidFill>
                            <a:schemeClr val="tx2"/>
                          </a:solidFill>
                        </a:rPr>
                        <a:t xml:space="preserve">Description de la manière dont l’entreprise applique les principes de l’économie circulaire </a:t>
                      </a:r>
                      <a:r>
                        <a:rPr lang="fr-FR" sz="806" b="0" noProof="0">
                          <a:solidFill>
                            <a:schemeClr val="tx2"/>
                          </a:solidFill>
                        </a:rPr>
                        <a:t xml:space="preserve">(par. 38 suite)</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786630">
                <a:tc>
                  <a:txBody>
                    <a:bodyPr/>
                    <a:lstStyle/>
                    <a:p>
                      <a:pPr algn="l"/>
                      <a:r>
                        <a:rPr lang="fr-FR" sz="806" b="0" kern="1200" noProof="0">
                          <a:solidFill>
                            <a:schemeClr val="accent2"/>
                          </a:solidFill>
                          <a:latin typeface="+mn-lt"/>
                          <a:ea typeface="+mn-ea"/>
                          <a:cs typeface="+mn-cs"/>
                        </a:rPr>
                        <a:t>{{</a:t>
                      </a:r>
                      <a:r>
                        <a:rPr lang="fr-FR" sz="806" b="0" kern="1200" noProof="0">
                          <a:solidFill>
                            <a:schemeClr val="accent2"/>
                          </a:solidFill>
                          <a:latin typeface="+mn-lt"/>
                          <a:ea typeface="+mn-ea"/>
                          <a:cs typeface="+mn-cs"/>
                        </a:rPr>
                        <a:t>description_of_circular_economies</a:t>
                      </a:r>
                      <a:r>
                        <a:rPr lang="fr-FR" sz="806" b="0" kern="1200" noProof="0">
                          <a:solidFill>
                            <a:schemeClr val="accent2"/>
                          </a:solidFill>
                          <a:latin typeface="+mn-lt"/>
                          <a:ea typeface="+mn-ea"/>
                          <a:cs typeface="+mn-cs"/>
                        </a:rPr>
                        <a:t>}}</a:t>
                      </a:r>
                    </a:p>
                    <a:p>
                      <a:pPr algn="l"/>
                      <a:endParaRPr lang="fr-FR" sz="806" b="0" kern="1200" noProof="0" dirty="0">
                        <a:solidFill>
                          <a:schemeClr val="accent2"/>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513257532"/>
                  </a:ext>
                </a:extLst>
              </a:tr>
            </a:tbl>
          </a:graphicData>
        </a:graphic>
      </p:graphicFrame>
      <p:sp>
        <p:nvSpPr>
          <p:cNvPr id="20" name="Slide Number Placeholder 5">
            <a:extLst>
              <a:ext uri="{FF2B5EF4-FFF2-40B4-BE49-F238E27FC236}">
                <a16:creationId xmlns:a16="http://schemas.microsoft.com/office/drawing/2014/main" id="{807FF15E-F555-86DB-24C3-D51ED88AD423}"/>
              </a:ext>
              <a:ext uri="{C183D7F6-B498-43B3-948B-1728B52AA6E4}">
                <adec:decorative xmlns:adec="http://schemas.microsoft.com/office/drawing/2017/decorative" val="1"/>
              </a:ext>
            </a:extLst>
          </p:cNvPr>
          <p:cNvSpPr>
            <a:spLocks noGrp="1"/>
          </p:cNvSpPr>
          <p:nvPr>
            <p:ph type="sldNum" sz="quarter" idx="12"/>
          </p:nvPr>
        </p:nvSpPr>
        <p:spPr>
          <a:xfrm>
            <a:off x="5531035" y="10152285"/>
            <a:ext cx="1617485" cy="128235"/>
          </a:xfrm>
        </p:spPr>
        <p:txBody>
          <a:bodyPr/>
          <a:lstStyle/>
          <a:p>
            <a:fld id="{5A0D23CF-C5A3-5445-819D-C647D180BB4B}" type="slidenum">
              <a:rPr lang="fr-FR" noProof="0" smtClean="0"/>
              <a:pPr/>
              <a:t>6</a:t>
            </a:fld>
            <a:endParaRPr lang="fr-FR" noProof="0"/>
          </a:p>
        </p:txBody>
      </p:sp>
    </p:spTree>
    <p:extLst>
      <p:ext uri="{BB962C8B-B14F-4D97-AF65-F5344CB8AC3E}">
        <p14:creationId xmlns:p14="http://schemas.microsoft.com/office/powerpoint/2010/main" val="27056463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fr-FR" noProof="0"/>
              <a:t xml:space="preserve">Utilisation des ressources, économie circulaire et gestion des déchets (B7) – suite</a:t>
            </a:r>
          </a:p>
        </p:txBody>
      </p:sp>
      <p:graphicFrame>
        <p:nvGraphicFramePr>
          <p:cNvPr id="13" name="Table 12">
            <a:extLst>
              <a:ext uri="{FF2B5EF4-FFF2-40B4-BE49-F238E27FC236}">
                <a16:creationId xmlns:a16="http://schemas.microsoft.com/office/drawing/2014/main" id="{AE932BB9-32D4-19FC-5E73-EB89688D4CBF}"/>
              </a:ext>
            </a:extLst>
          </p:cNvPr>
          <p:cNvGraphicFramePr>
            <a:graphicFrameLocks noGrp="1"/>
          </p:cNvGraphicFramePr>
          <p:nvPr>
            <p:extLst>
              <p:ext uri="{D42A27DB-BD31-4B8C-83A1-F6EECF244321}">
                <p14:modId xmlns:p14="http://schemas.microsoft.com/office/powerpoint/2010/main" val="706275317"/>
              </p:ext>
            </p:extLst>
          </p:nvPr>
        </p:nvGraphicFramePr>
        <p:xfrm>
          <a:off x="411480" y="2279479"/>
          <a:ext cx="6596000" cy="1466696"/>
        </p:xfrm>
        <a:graphic>
          <a:graphicData uri="http://schemas.openxmlformats.org/drawingml/2006/table">
            <a:tbl>
              <a:tblPr firstRow="1">
                <a:tableStyleId>{2A488322-F2BA-4B5B-9748-0D474271808F}</a:tableStyleId>
              </a:tblPr>
              <a:tblGrid>
                <a:gridCol w="2044249">
                  <a:extLst>
                    <a:ext uri="{9D8B030D-6E8A-4147-A177-3AD203B41FA5}">
                      <a16:colId xmlns:a16="http://schemas.microsoft.com/office/drawing/2014/main" val="2698153288"/>
                    </a:ext>
                  </a:extLst>
                </a:gridCol>
                <a:gridCol w="2284259">
                  <a:extLst>
                    <a:ext uri="{9D8B030D-6E8A-4147-A177-3AD203B41FA5}">
                      <a16:colId xmlns:a16="http://schemas.microsoft.com/office/drawing/2014/main" val="2119413191"/>
                    </a:ext>
                  </a:extLst>
                </a:gridCol>
                <a:gridCol w="2267492">
                  <a:extLst>
                    <a:ext uri="{9D8B030D-6E8A-4147-A177-3AD203B41FA5}">
                      <a16:colId xmlns:a16="http://schemas.microsoft.com/office/drawing/2014/main" val="4075157689"/>
                    </a:ext>
                  </a:extLst>
                </a:gridCol>
              </a:tblGrid>
              <a:tr h="273819">
                <a:tc gridSpan="3">
                  <a:txBody>
                    <a:bodyPr/>
                    <a:lstStyle/>
                    <a:p>
                      <a:pPr algn="ctr"/>
                      <a:r>
                        <a:rPr lang="fr-FR" sz="975" b="1" noProof="0">
                          <a:solidFill>
                            <a:schemeClr val="tx2"/>
                          </a:solidFill>
                        </a:rPr>
                        <a:t xml:space="preserve">Quantité annuelle totale de déchets</a:t>
                      </a:r>
                      <a:endParaRPr lang="fr-FR"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fr-FR" sz="650"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fr-FR"/>
                    </a:p>
                  </a:txBody>
                  <a:tcPr/>
                </a:tc>
                <a:extLst>
                  <a:ext uri="{0D108BD9-81ED-4DB2-BD59-A6C34878D82A}">
                    <a16:rowId xmlns:a16="http://schemas.microsoft.com/office/drawing/2014/main" val="625231048"/>
                  </a:ext>
                </a:extLst>
              </a:tr>
              <a:tr h="286343">
                <a:tc>
                  <a:txBody>
                    <a:bodyPr/>
                    <a:lstStyle/>
                    <a:p>
                      <a:endParaRPr lang="fr-FR" sz="975" b="1"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fr-FR" sz="975" b="1" noProof="0">
                          <a:solidFill>
                            <a:schemeClr val="tx2"/>
                          </a:solidFill>
                        </a:rPr>
                        <a:t xml:space="preserve">Quantité totale de déchets </a:t>
                      </a:r>
                      <a:r>
                        <a:rPr lang="fr-FR" sz="975" b="0" noProof="0">
                          <a:solidFill>
                            <a:schemeClr val="tx2"/>
                          </a:solidFill>
                        </a:rPr>
                        <a:t xml:space="preserve">(par. 39a)</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fr-FR" sz="975" b="1" noProof="0">
                          <a:solidFill>
                            <a:schemeClr val="tx2"/>
                          </a:solidFill>
                        </a:rPr>
                        <a:t xml:space="preserve">Déchets destinés au recyclage ou à la préparation en vue du réemploi </a:t>
                      </a:r>
                      <a:r>
                        <a:rPr lang="fr-FR" sz="975" b="0" noProof="0">
                          <a:solidFill>
                            <a:schemeClr val="tx2"/>
                          </a:solidFill>
                        </a:rPr>
                        <a:t xml:space="preserve">(par. 39b)</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3404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75" b="1" noProof="0">
                          <a:solidFill>
                            <a:schemeClr val="tx2"/>
                          </a:solidFill>
                        </a:rPr>
                        <a:t xml:space="preserve">Déchets non dangereux </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endParaRPr lang="fr-FR"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endParaRPr lang="fr-FR"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3316940764"/>
                  </a:ext>
                </a:extLst>
              </a:tr>
              <a:tr h="194713">
                <a:tc>
                  <a:txBody>
                    <a:bodyPr/>
                    <a:lstStyle/>
                    <a:p>
                      <a:pPr rtl="0" fontAlgn="ctr">
                        <a:buNone/>
                      </a:pPr>
                      <a:r>
                        <a:rPr lang="fr-FR" sz="975" b="0" i="0" u="none" strike="noStrike" noProof="0">
                          <a:solidFill>
                            <a:srgbClr val="2D55FF"/>
                          </a:solidFill>
                          <a:effectLst/>
                          <a:latin typeface="Inter"/>
                        </a:rPr>
                        <a:t>{{Type_af_affald}}</a:t>
                      </a:r>
                      <a:endParaRPr lang="fr-F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fr-FR" sz="975" b="0" i="0" u="none" strike="noStrike" noProof="0">
                          <a:solidFill>
                            <a:srgbClr val="2D55FF"/>
                          </a:solidFill>
                          <a:effectLst/>
                          <a:latin typeface="Inter"/>
                        </a:rPr>
                        <a:t>{{kg_tons_total}}</a:t>
                      </a:r>
                      <a:endParaRPr lang="fr-F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fr-FR" sz="975" b="0" i="0" u="none" strike="noStrike" noProof="0">
                          <a:solidFill>
                            <a:srgbClr val="2D55FF"/>
                          </a:solidFill>
                          <a:effectLst/>
                          <a:latin typeface="Inter"/>
                        </a:rPr>
                        <a:t>{{genbrug_kg_tons}}</a:t>
                      </a:r>
                      <a:endParaRPr lang="fr-F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12229">
                <a:tc>
                  <a:txBody>
                    <a:bodyPr/>
                    <a:lstStyle/>
                    <a:p>
                      <a:r>
                        <a:rPr lang="fr-FR" sz="975" b="1" noProof="0">
                          <a:solidFill>
                            <a:schemeClr val="tx2"/>
                          </a:solidFill>
                        </a:rPr>
                        <a:t xml:space="preserve">Déchets dangereux</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endParaRPr lang="fr-FR"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endParaRPr lang="fr-FR"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269942695"/>
                  </a:ext>
                </a:extLst>
              </a:tr>
              <a:tr h="194713">
                <a:tc>
                  <a:txBody>
                    <a:bodyPr/>
                    <a:lstStyle/>
                    <a:p>
                      <a:pPr rtl="0" fontAlgn="ctr">
                        <a:buNone/>
                      </a:pPr>
                      <a:r>
                        <a:rPr lang="fr-FR" sz="975" b="0" i="0" u="none" strike="noStrike" noProof="0">
                          <a:solidFill>
                            <a:srgbClr val="2D55FF"/>
                          </a:solidFill>
                          <a:effectLst/>
                          <a:latin typeface="Inter"/>
                        </a:rPr>
                        <a:t>{{Type_af_affald_farlig}}</a:t>
                      </a:r>
                      <a:endParaRPr lang="fr-F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fr-FR" sz="975" b="0" i="0" u="none" strike="noStrike" noProof="0">
                          <a:solidFill>
                            <a:srgbClr val="2D55FF"/>
                          </a:solidFill>
                          <a:effectLst/>
                          <a:latin typeface="Inter"/>
                        </a:rPr>
                        <a:t>{{farlig_kg_tons}}</a:t>
                      </a:r>
                      <a:endParaRPr lang="fr-F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fr-FR" sz="975" b="0" i="0" u="none" strike="noStrike" noProof="0">
                          <a:solidFill>
                            <a:srgbClr val="2D55FF"/>
                          </a:solidFill>
                          <a:effectLst/>
                          <a:latin typeface="Inter"/>
                        </a:rPr>
                        <a:t>{{</a:t>
                      </a:r>
                      <a:r>
                        <a:rPr lang="fr-FR" sz="975" b="0" i="0" u="none" strike="noStrike" noProof="0">
                          <a:solidFill>
                            <a:srgbClr val="2D55FF"/>
                          </a:solidFill>
                          <a:effectLst/>
                          <a:latin typeface="Inter"/>
                        </a:rPr>
                        <a:t>farlig_genbrug_kg_tons</a:t>
                      </a:r>
                      <a:r>
                        <a:rPr lang="fr-FR" sz="975" b="0" i="0" u="none" strike="noStrike" noProof="0">
                          <a:solidFill>
                            <a:srgbClr val="2D55FF"/>
                          </a:solidFill>
                          <a:effectLst/>
                          <a:latin typeface="Inter"/>
                        </a:rPr>
                        <a:t>}}</a:t>
                      </a:r>
                      <a:endParaRPr lang="fr-FR" sz="975" b="0"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022327091"/>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fr-FR" noProof="0" smtClean="0"/>
              <a:pPr/>
              <a:t>7</a:t>
            </a:fld>
            <a:endParaRPr lang="fr-FR"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fr-FR" noProof="0"/>
              <a:t>{{company_name}}</a:t>
            </a:r>
            <a:endParaRPr lang="fr-FR" b="0" noProof="0"/>
          </a:p>
          <a:p>
            <a:br>
              <a:rPr lang="fr-FR" noProof="0"/>
            </a:br>
            <a:endParaRPr lang="fr-FR" noProof="0"/>
          </a:p>
        </p:txBody>
      </p:sp>
      <p:sp>
        <p:nvSpPr>
          <p:cNvPr id="12" name="Tekstfelt 11">
            <a:extLst>
              <a:ext uri="{FF2B5EF4-FFF2-40B4-BE49-F238E27FC236}">
                <a16:creationId xmlns:a16="http://schemas.microsoft.com/office/drawing/2014/main" id="{482E45A0-0E1E-550D-794B-89296A5D4E7E}"/>
              </a:ext>
            </a:extLst>
          </p:cNvPr>
          <p:cNvSpPr txBox="1"/>
          <p:nvPr/>
        </p:nvSpPr>
        <p:spPr>
          <a:xfrm>
            <a:off x="411480" y="1436370"/>
            <a:ext cx="6737040" cy="384705"/>
          </a:xfrm>
          <a:prstGeom prst="rect">
            <a:avLst/>
          </a:prstGeom>
          <a:noFill/>
        </p:spPr>
        <p:txBody>
          <a:bodyPr wrap="square">
            <a:spAutoFit/>
          </a:bodyPr>
          <a:lstStyle/>
          <a:p>
            <a:pPr rtl="0">
              <a:buNone/>
            </a:pPr>
            <a:r>
              <a:rPr lang="fr-FR" sz="975" b="0" i="0" u="none" strike="noStrike" noProof="0">
                <a:solidFill>
                  <a:schemeClr val="tx2"/>
                </a:solidFill>
                <a:effectLst/>
                <a:latin typeface="Inter"/>
              </a:rPr>
              <a:t xml:space="preserve">La section suivante fournit des informations sur l’utilisation des matières et la gestion des déchets. Ces informations relèvent de l’économie circulaire et présentent la ventilation de la production annuelle totale de déchets de l’entreprise (dangereux/non dangereux) ainsi que les quantités de matières importantes. </a:t>
            </a:r>
            <a:endParaRPr lang="fr-FR" sz="975" noProof="0">
              <a:solidFill>
                <a:schemeClr val="tx2"/>
              </a:solidFill>
              <a:latin typeface="Inter"/>
            </a:endParaRPr>
          </a:p>
        </p:txBody>
      </p:sp>
      <p:graphicFrame>
        <p:nvGraphicFramePr>
          <p:cNvPr id="15" name="Table 12">
            <a:extLst>
              <a:ext uri="{FF2B5EF4-FFF2-40B4-BE49-F238E27FC236}">
                <a16:creationId xmlns:a16="http://schemas.microsoft.com/office/drawing/2014/main" id="{D0A6EC25-74E1-FBFB-6875-6CDF69A95318}"/>
              </a:ext>
            </a:extLst>
          </p:cNvPr>
          <p:cNvGraphicFramePr>
            <a:graphicFrameLocks noGrp="1"/>
          </p:cNvGraphicFramePr>
          <p:nvPr>
            <p:extLst>
              <p:ext uri="{D42A27DB-BD31-4B8C-83A1-F6EECF244321}">
                <p14:modId xmlns:p14="http://schemas.microsoft.com/office/powerpoint/2010/main" val="3083849396"/>
              </p:ext>
            </p:extLst>
          </p:nvPr>
        </p:nvGraphicFramePr>
        <p:xfrm>
          <a:off x="423976" y="3974380"/>
          <a:ext cx="6583504" cy="741928"/>
        </p:xfrm>
        <a:graphic>
          <a:graphicData uri="http://schemas.openxmlformats.org/drawingml/2006/table">
            <a:tbl>
              <a:tblPr firstRow="1">
                <a:tableStyleId>{2A488322-F2BA-4B5B-9748-0D474271808F}</a:tableStyleId>
              </a:tblPr>
              <a:tblGrid>
                <a:gridCol w="4223962">
                  <a:extLst>
                    <a:ext uri="{9D8B030D-6E8A-4147-A177-3AD203B41FA5}">
                      <a16:colId xmlns:a16="http://schemas.microsoft.com/office/drawing/2014/main" val="2698153288"/>
                    </a:ext>
                  </a:extLst>
                </a:gridCol>
                <a:gridCol w="2359542">
                  <a:extLst>
                    <a:ext uri="{9D8B030D-6E8A-4147-A177-3AD203B41FA5}">
                      <a16:colId xmlns:a16="http://schemas.microsoft.com/office/drawing/2014/main" val="2119413191"/>
                    </a:ext>
                  </a:extLst>
                </a:gridCol>
              </a:tblGrid>
              <a:tr h="360553">
                <a:tc>
                  <a:txBody>
                    <a:bodyPr/>
                    <a:lstStyle/>
                    <a:p>
                      <a:r>
                        <a:rPr lang="fr-FR" sz="975" b="1" noProof="0">
                          <a:solidFill>
                            <a:schemeClr val="tx2"/>
                          </a:solidFill>
                        </a:rPr>
                        <a:t xml:space="preserve">Matières importantes </a:t>
                      </a:r>
                      <a:r>
                        <a:rPr lang="fr-FR" sz="975" b="0" noProof="0">
                          <a:solidFill>
                            <a:schemeClr val="tx2"/>
                          </a:solidFill>
                        </a:rPr>
                        <a:t xml:space="preserve">(par. 39c)</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fr-FR" sz="975" b="1" noProof="0">
                          <a:solidFill>
                            <a:schemeClr val="tx2"/>
                          </a:solidFill>
                        </a:rPr>
                        <a:t xml:space="preserve">Flux massique annuel </a:t>
                      </a:r>
                      <a:r>
                        <a:rPr lang="fr-FR" sz="975" b="1" noProof="0">
                          <a:solidFill>
                            <a:schemeClr val="accent2"/>
                          </a:solidFill>
                        </a:rPr>
                        <a:t>{{insert_year}}</a:t>
                      </a:r>
                      <a:endParaRPr lang="fr-FR" sz="97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81375">
                <a:tc>
                  <a:txBody>
                    <a:bodyPr/>
                    <a:lstStyle/>
                    <a:p>
                      <a:r>
                        <a:rPr lang="fr-FR" sz="975" b="0" i="0" u="none" strike="noStrike" noProof="0">
                          <a:solidFill>
                            <a:srgbClr val="2D55FF"/>
                          </a:solidFill>
                          <a:latin typeface="Inter"/>
                        </a:rPr>
                        <a:t>{{significant_material}}</a:t>
                      </a:r>
                      <a:endParaRPr lang="fr-FR" sz="975" b="0" noProof="0">
                        <a:solidFill>
                          <a:schemeClr val="accent2"/>
                        </a:solidFill>
                        <a:latin typeface="Inter"/>
                        <a:cs typeface="Calibri"/>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fr-FR" sz="975" b="0" i="0" u="none" strike="noStrike" noProof="0">
                          <a:solidFill>
                            <a:srgbClr val="2D55FF"/>
                          </a:solidFill>
                          <a:latin typeface="Inter"/>
                        </a:rPr>
                        <a:t>{{</a:t>
                      </a:r>
                      <a:r>
                        <a:rPr lang="fr-FR" sz="975" b="0" i="0" u="none" strike="noStrike" noProof="0">
                          <a:solidFill>
                            <a:srgbClr val="2D55FF"/>
                          </a:solidFill>
                          <a:latin typeface="Inter"/>
                        </a:rPr>
                        <a:t>significant_material_unit</a:t>
                      </a:r>
                      <a:r>
                        <a:rPr lang="fr-FR" sz="975" b="0" i="0" u="none" strike="noStrike" noProof="0">
                          <a:solidFill>
                            <a:srgbClr val="2D55FF"/>
                          </a:solidFill>
                          <a:latin typeface="Inter"/>
                        </a:rPr>
                        <a:t>}}</a:t>
                      </a:r>
                      <a:endParaRPr lang="fr-FR" sz="975" b="0" i="0" u="none" strike="noStrike" noProof="0" dirty="0">
                        <a:solidFill>
                          <a:srgbClr val="000000"/>
                        </a:solidFill>
                        <a:latin typeface="Inter"/>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Tree>
    <p:extLst>
      <p:ext uri="{BB962C8B-B14F-4D97-AF65-F5344CB8AC3E}">
        <p14:creationId xmlns:p14="http://schemas.microsoft.com/office/powerpoint/2010/main" val="20965089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fr-FR" noProof="0"/>
              <a:t xml:space="preserve">Personnel de l’entreprise : caractéristiques générales (B8) </a:t>
            </a:r>
          </a:p>
        </p:txBody>
      </p:sp>
      <p:graphicFrame>
        <p:nvGraphicFramePr>
          <p:cNvPr id="8" name="Table 7">
            <a:extLst>
              <a:ext uri="{FF2B5EF4-FFF2-40B4-BE49-F238E27FC236}">
                <a16:creationId xmlns:a16="http://schemas.microsoft.com/office/drawing/2014/main" id="{CE6D2864-50B1-0967-9DFF-408DD8B377E5}"/>
              </a:ext>
            </a:extLst>
          </p:cNvPr>
          <p:cNvGraphicFramePr>
            <a:graphicFrameLocks noGrp="1"/>
          </p:cNvGraphicFramePr>
          <p:nvPr>
            <p:extLst>
              <p:ext uri="{D42A27DB-BD31-4B8C-83A1-F6EECF244321}">
                <p14:modId xmlns:p14="http://schemas.microsoft.com/office/powerpoint/2010/main" val="3894231013"/>
              </p:ext>
            </p:extLst>
          </p:nvPr>
        </p:nvGraphicFramePr>
        <p:xfrm>
          <a:off x="411480" y="2164682"/>
          <a:ext cx="3295368" cy="1637323"/>
        </p:xfrm>
        <a:graphic>
          <a:graphicData uri="http://schemas.openxmlformats.org/drawingml/2006/table">
            <a:tbl>
              <a:tblPr firstRow="1">
                <a:tableStyleId>{2A488322-F2BA-4B5B-9748-0D474271808F}</a:tableStyleId>
              </a:tblPr>
              <a:tblGrid>
                <a:gridCol w="1647684">
                  <a:extLst>
                    <a:ext uri="{9D8B030D-6E8A-4147-A177-3AD203B41FA5}">
                      <a16:colId xmlns:a16="http://schemas.microsoft.com/office/drawing/2014/main" val="2698153288"/>
                    </a:ext>
                  </a:extLst>
                </a:gridCol>
                <a:gridCol w="1647684">
                  <a:extLst>
                    <a:ext uri="{9D8B030D-6E8A-4147-A177-3AD203B41FA5}">
                      <a16:colId xmlns:a16="http://schemas.microsoft.com/office/drawing/2014/main" val="2119413191"/>
                    </a:ext>
                  </a:extLst>
                </a:gridCol>
              </a:tblGrid>
              <a:tr h="385185">
                <a:tc>
                  <a:txBody>
                    <a:bodyPr/>
                    <a:lstStyle/>
                    <a:p>
                      <a:r>
                        <a:rPr lang="fr-FR" sz="975" b="1" noProof="0">
                          <a:solidFill>
                            <a:schemeClr val="tx2"/>
                          </a:solidFill>
                        </a:rPr>
                        <a:t xml:space="preserve">Type de contrat </a:t>
                      </a:r>
                      <a:r>
                        <a:rPr lang="fr-FR" sz="975" b="0" noProof="0">
                          <a:solidFill>
                            <a:schemeClr val="tx2"/>
                          </a:solidFill>
                        </a:rPr>
                        <a:t xml:space="preserve">(par. 40a)</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r>
                        <a:rPr lang="fr-FR" sz="975" b="1" noProof="0">
                          <a:solidFill>
                            <a:schemeClr val="tx2"/>
                          </a:solidFill>
                        </a:rPr>
                        <a:t xml:space="preserve">Nombre de salariés (effectifs ou équivalents temps plein)</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385185">
                <a:tc>
                  <a:txBody>
                    <a:bodyPr/>
                    <a:lstStyle/>
                    <a:p>
                      <a:r>
                        <a:rPr lang="fr-FR" sz="975" b="0" noProof="0">
                          <a:solidFill>
                            <a:schemeClr val="tx2"/>
                          </a:solidFill>
                        </a:rPr>
                        <a:t xml:space="preserve">Emploi temporaire</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fr-FR" sz="975" b="0" i="0" u="none" strike="noStrike" noProof="0">
                          <a:solidFill>
                            <a:srgbClr val="2D55FF"/>
                          </a:solidFill>
                          <a:effectLst/>
                          <a:latin typeface="Inter"/>
                        </a:rPr>
                        <a:t>{{temporary}}</a:t>
                      </a:r>
                      <a:endParaRPr lang="fr-FR"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r h="385185">
                <a:tc>
                  <a:txBody>
                    <a:bodyPr/>
                    <a:lstStyle/>
                    <a:p>
                      <a:r>
                        <a:rPr lang="fr-FR" sz="975" b="0" noProof="0">
                          <a:solidFill>
                            <a:schemeClr val="tx2"/>
                          </a:solidFill>
                        </a:rPr>
                        <a:t xml:space="preserve">Emploi permanent</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fr-FR" sz="975" b="0" i="0" u="none" strike="noStrike" noProof="0">
                          <a:solidFill>
                            <a:srgbClr val="2D55FF"/>
                          </a:solidFill>
                          <a:effectLst/>
                          <a:latin typeface="Inter"/>
                        </a:rPr>
                        <a:t>{{fulltime}}</a:t>
                      </a:r>
                      <a:endParaRPr lang="fr-FR"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385185">
                <a:tc>
                  <a:txBody>
                    <a:bodyPr/>
                    <a:lstStyle/>
                    <a:p>
                      <a:r>
                        <a:rPr lang="fr-FR" sz="975" b="0" noProof="0">
                          <a:solidFill>
                            <a:schemeClr val="tx2"/>
                          </a:solidFill>
                        </a:rPr>
                        <a:t xml:space="preserve">Nombre total de salariés</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fr-FR" sz="975" b="0" i="0" u="none" strike="noStrike" noProof="0">
                          <a:solidFill>
                            <a:srgbClr val="2D55FF"/>
                          </a:solidFill>
                          <a:effectLst/>
                          <a:latin typeface="Inter"/>
                        </a:rPr>
                        <a:t>{{total_employees}}</a:t>
                      </a:r>
                      <a:endParaRPr lang="fr-FR"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191813939"/>
                  </a:ext>
                </a:extLst>
              </a:tr>
            </a:tbl>
          </a:graphicData>
        </a:graphic>
      </p:graphicFrame>
      <p:graphicFrame>
        <p:nvGraphicFramePr>
          <p:cNvPr id="9" name="Table 8">
            <a:extLst>
              <a:ext uri="{FF2B5EF4-FFF2-40B4-BE49-F238E27FC236}">
                <a16:creationId xmlns:a16="http://schemas.microsoft.com/office/drawing/2014/main" id="{746843BE-938A-9316-3C8E-320134DF837C}"/>
              </a:ext>
            </a:extLst>
          </p:cNvPr>
          <p:cNvGraphicFramePr>
            <a:graphicFrameLocks noGrp="1"/>
          </p:cNvGraphicFramePr>
          <p:nvPr>
            <p:extLst>
              <p:ext uri="{D42A27DB-BD31-4B8C-83A1-F6EECF244321}">
                <p14:modId xmlns:p14="http://schemas.microsoft.com/office/powerpoint/2010/main" val="3482765489"/>
              </p:ext>
            </p:extLst>
          </p:nvPr>
        </p:nvGraphicFramePr>
        <p:xfrm>
          <a:off x="3853152" y="2164686"/>
          <a:ext cx="3295368" cy="1681718"/>
        </p:xfrm>
        <a:graphic>
          <a:graphicData uri="http://schemas.openxmlformats.org/drawingml/2006/table">
            <a:tbl>
              <a:tblPr firstRow="1">
                <a:tableStyleId>{2A488322-F2BA-4B5B-9748-0D474271808F}</a:tableStyleId>
              </a:tblPr>
              <a:tblGrid>
                <a:gridCol w="1647684">
                  <a:extLst>
                    <a:ext uri="{9D8B030D-6E8A-4147-A177-3AD203B41FA5}">
                      <a16:colId xmlns:a16="http://schemas.microsoft.com/office/drawing/2014/main" val="2698153288"/>
                    </a:ext>
                  </a:extLst>
                </a:gridCol>
                <a:gridCol w="1647684">
                  <a:extLst>
                    <a:ext uri="{9D8B030D-6E8A-4147-A177-3AD203B41FA5}">
                      <a16:colId xmlns:a16="http://schemas.microsoft.com/office/drawing/2014/main" val="2119413191"/>
                    </a:ext>
                  </a:extLst>
                </a:gridCol>
              </a:tblGrid>
              <a:tr h="239990">
                <a:tc>
                  <a:txBody>
                    <a:bodyPr/>
                    <a:lstStyle/>
                    <a:p>
                      <a:r>
                        <a:rPr lang="fr-FR" sz="975" b="1" noProof="0">
                          <a:solidFill>
                            <a:schemeClr val="tx2"/>
                          </a:solidFill>
                          <a:latin typeface="+mn-lt"/>
                        </a:rPr>
                        <a:t xml:space="preserve">Genre</a:t>
                      </a:r>
                      <a:r>
                        <a:rPr lang="fr-FR" sz="975" b="0" noProof="0">
                          <a:solidFill>
                            <a:schemeClr val="tx2"/>
                          </a:solidFill>
                          <a:latin typeface="+mn-lt"/>
                        </a:rPr>
                        <a:t xml:space="preserve"> (par. 40b)</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r>
                        <a:rPr lang="fr-FR" sz="975" b="1" noProof="0">
                          <a:solidFill>
                            <a:schemeClr val="tx2"/>
                          </a:solidFill>
                          <a:latin typeface="+mn-lt"/>
                        </a:rPr>
                        <a:t xml:space="preserve">Nombre de salariés (effectifs ou équivalents temps plein)</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39990">
                <a:tc>
                  <a:txBody>
                    <a:bodyPr/>
                    <a:lstStyle/>
                    <a:p>
                      <a:r>
                        <a:rPr lang="fr-FR" sz="975" b="0" noProof="0">
                          <a:solidFill>
                            <a:schemeClr val="tx2"/>
                          </a:solidFill>
                          <a:latin typeface="+mn-lt"/>
                        </a:rPr>
                        <a:t xml:space="preserve">Homme</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fr-FR" sz="975" b="0" i="0" u="none" strike="noStrike" noProof="0">
                          <a:solidFill>
                            <a:srgbClr val="2D55FF"/>
                          </a:solidFill>
                          <a:effectLst/>
                          <a:latin typeface="Inter"/>
                        </a:rPr>
                        <a:t>{{men}}</a:t>
                      </a:r>
                      <a:endParaRPr lang="fr-FR"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39990">
                <a:tc>
                  <a:txBody>
                    <a:bodyPr/>
                    <a:lstStyle/>
                    <a:p>
                      <a:r>
                        <a:rPr lang="fr-FR" sz="975" b="0" noProof="0">
                          <a:solidFill>
                            <a:schemeClr val="tx2"/>
                          </a:solidFill>
                          <a:latin typeface="+mn-lt"/>
                        </a:rPr>
                        <a:t xml:space="preserve">Femme</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fr-FR" sz="975" b="0" i="0" u="none" strike="noStrike" noProof="0">
                          <a:solidFill>
                            <a:srgbClr val="2D55FF"/>
                          </a:solidFill>
                          <a:effectLst/>
                          <a:latin typeface="Inter"/>
                        </a:rPr>
                        <a:t>{{women}}</a:t>
                      </a:r>
                      <a:endParaRPr lang="fr-FR"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191813939"/>
                  </a:ext>
                </a:extLst>
              </a:tr>
              <a:tr h="239990">
                <a:tc>
                  <a:txBody>
                    <a:bodyPr/>
                    <a:lstStyle/>
                    <a:p>
                      <a:r>
                        <a:rPr lang="fr-FR" sz="975" b="0" noProof="0">
                          <a:solidFill>
                            <a:schemeClr val="tx2"/>
                          </a:solidFill>
                          <a:latin typeface="+mn-lt"/>
                        </a:rPr>
                        <a:t xml:space="preserve">Autre</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fr-FR" sz="975" b="0" i="0" u="none" strike="noStrike" noProof="0">
                          <a:solidFill>
                            <a:srgbClr val="2D55FF"/>
                          </a:solidFill>
                          <a:effectLst/>
                          <a:latin typeface="Inter"/>
                        </a:rPr>
                        <a:t>{{others}}</a:t>
                      </a:r>
                      <a:endParaRPr lang="fr-FR"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495992891"/>
                  </a:ext>
                </a:extLst>
              </a:tr>
              <a:tr h="239990">
                <a:tc>
                  <a:txBody>
                    <a:bodyPr/>
                    <a:lstStyle/>
                    <a:p>
                      <a:r>
                        <a:rPr lang="fr-FR" sz="975" b="0" noProof="0">
                          <a:solidFill>
                            <a:schemeClr val="tx2"/>
                          </a:solidFill>
                          <a:latin typeface="+mn-lt"/>
                        </a:rPr>
                        <a:t xml:space="preserve">Non renseigné</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fr-FR" sz="975" b="0" i="0" u="none" strike="noStrike" noProof="0">
                          <a:solidFill>
                            <a:srgbClr val="2D55FF"/>
                          </a:solidFill>
                          <a:effectLst/>
                          <a:latin typeface="Inter"/>
                        </a:rPr>
                        <a:t>{{not_registeret}}</a:t>
                      </a:r>
                      <a:endParaRPr lang="fr-FR"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151098499"/>
                  </a:ext>
                </a:extLst>
              </a:tr>
              <a:tr h="239990">
                <a:tc>
                  <a:txBody>
                    <a:bodyPr/>
                    <a:lstStyle/>
                    <a:p>
                      <a:r>
                        <a:rPr lang="fr-FR" sz="975" b="0" noProof="0">
                          <a:solidFill>
                            <a:schemeClr val="tx2"/>
                          </a:solidFill>
                          <a:latin typeface="+mn-lt"/>
                        </a:rPr>
                        <a:t xml:space="preserve">Nombre total de salariés</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fr-FR" sz="975" b="0" i="0" u="none" strike="noStrike" noProof="0">
                          <a:solidFill>
                            <a:srgbClr val="2D55FF"/>
                          </a:solidFill>
                          <a:effectLst/>
                          <a:latin typeface="Inter"/>
                        </a:rPr>
                        <a:t>{{total_employees}}</a:t>
                      </a:r>
                      <a:endParaRPr lang="fr-FR"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41900251"/>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fr-FR" noProof="0" smtClean="0"/>
              <a:pPr/>
              <a:t>8</a:t>
            </a:fld>
            <a:endParaRPr lang="fr-FR"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fr-FR" noProof="0"/>
              <a:t>{{company_name}}</a:t>
            </a:r>
            <a:endParaRPr lang="fr-FR" b="0" noProof="0"/>
          </a:p>
          <a:p>
            <a:br>
              <a:rPr lang="fr-FR" noProof="0"/>
            </a:br>
            <a:endParaRPr lang="fr-FR" noProof="0"/>
          </a:p>
        </p:txBody>
      </p:sp>
      <p:sp>
        <p:nvSpPr>
          <p:cNvPr id="3" name="Tekstfelt 2">
            <a:extLst>
              <a:ext uri="{FF2B5EF4-FFF2-40B4-BE49-F238E27FC236}">
                <a16:creationId xmlns:a16="http://schemas.microsoft.com/office/drawing/2014/main" id="{B45D574B-3D14-8531-DB71-2FD2A411CD63}"/>
              </a:ext>
            </a:extLst>
          </p:cNvPr>
          <p:cNvSpPr txBox="1"/>
          <p:nvPr/>
        </p:nvSpPr>
        <p:spPr>
          <a:xfrm>
            <a:off x="411480" y="1189771"/>
            <a:ext cx="6737040" cy="692470"/>
          </a:xfrm>
          <a:prstGeom prst="rect">
            <a:avLst/>
          </a:prstGeom>
          <a:noFill/>
        </p:spPr>
        <p:txBody>
          <a:bodyPr wrap="square">
            <a:spAutoFit/>
          </a:bodyPr>
          <a:lstStyle/>
          <a:p>
            <a:pPr rtl="0">
              <a:buNone/>
            </a:pPr>
            <a:r>
              <a:rPr lang="fr-FR" sz="975" b="0" i="0" u="none" strike="noStrike" noProof="0">
                <a:solidFill>
                  <a:srgbClr val="25595D"/>
                </a:solidFill>
                <a:effectLst/>
                <a:latin typeface="Inter"/>
              </a:rPr>
              <a:t xml:space="preserve">L’entreprise a indiqué le nombre de salariés selon les ventilations suivantes : le type de contrat de travail, les salariés étant répartis entre contrats temporaires et permanents; le genre, qui renseigne sur la répartition par genre des salariés; et le pays du contrat de travail, pertinent si l’entreprise exerce ses activités dans plusieurs pays.</a:t>
            </a:r>
            <a:endParaRPr lang="fr-FR" sz="975" b="0" noProof="0">
              <a:effectLst/>
              <a:latin typeface="Inter"/>
            </a:endParaRPr>
          </a:p>
          <a:p>
            <a:pPr>
              <a:buNone/>
            </a:pPr>
            <a:br>
              <a:rPr lang="fr-FR" sz="975" noProof="0">
                <a:latin typeface="Inter"/>
              </a:rPr>
            </a:br>
            <a:endParaRPr lang="fr-FR" sz="975" noProof="0">
              <a:latin typeface="Inter"/>
            </a:endParaRPr>
          </a:p>
        </p:txBody>
      </p:sp>
      <p:graphicFrame>
        <p:nvGraphicFramePr>
          <p:cNvPr id="13" name="Table 13">
            <a:extLst>
              <a:ext uri="{FF2B5EF4-FFF2-40B4-BE49-F238E27FC236}">
                <a16:creationId xmlns:a16="http://schemas.microsoft.com/office/drawing/2014/main" id="{42F1F305-B426-7DDF-1FC3-46007564CD01}"/>
              </a:ext>
            </a:extLst>
          </p:cNvPr>
          <p:cNvGraphicFramePr>
            <a:graphicFrameLocks noGrp="1"/>
          </p:cNvGraphicFramePr>
          <p:nvPr>
            <p:extLst>
              <p:ext uri="{D42A27DB-BD31-4B8C-83A1-F6EECF244321}">
                <p14:modId xmlns:p14="http://schemas.microsoft.com/office/powerpoint/2010/main" val="2261046685"/>
              </p:ext>
            </p:extLst>
          </p:nvPr>
        </p:nvGraphicFramePr>
        <p:xfrm>
          <a:off x="411480" y="4271445"/>
          <a:ext cx="6737040" cy="1053148"/>
        </p:xfrm>
        <a:graphic>
          <a:graphicData uri="http://schemas.openxmlformats.org/drawingml/2006/table">
            <a:tbl>
              <a:tblPr firstRow="1">
                <a:tableStyleId>{2A488322-F2BA-4B5B-9748-0D474271808F}</a:tableStyleId>
              </a:tblPr>
              <a:tblGrid>
                <a:gridCol w="3601465">
                  <a:extLst>
                    <a:ext uri="{9D8B030D-6E8A-4147-A177-3AD203B41FA5}">
                      <a16:colId xmlns:a16="http://schemas.microsoft.com/office/drawing/2014/main" val="2698153288"/>
                    </a:ext>
                  </a:extLst>
                </a:gridCol>
                <a:gridCol w="3135575">
                  <a:extLst>
                    <a:ext uri="{9D8B030D-6E8A-4147-A177-3AD203B41FA5}">
                      <a16:colId xmlns:a16="http://schemas.microsoft.com/office/drawing/2014/main" val="2119413191"/>
                    </a:ext>
                  </a:extLst>
                </a:gridCol>
              </a:tblGrid>
              <a:tr h="239990">
                <a:tc>
                  <a:txBody>
                    <a:bodyPr/>
                    <a:lstStyle/>
                    <a:p>
                      <a:r>
                        <a:rPr lang="fr-FR" sz="975" b="1" noProof="0">
                          <a:solidFill>
                            <a:schemeClr val="tx2"/>
                          </a:solidFill>
                        </a:rPr>
                        <a:t xml:space="preserve">Pays (où le contrat de travail a été conclu) </a:t>
                      </a:r>
                      <a:r>
                        <a:rPr lang="fr-FR" sz="975" b="0" noProof="0">
                          <a:solidFill>
                            <a:schemeClr val="tx2"/>
                          </a:solidFill>
                        </a:rPr>
                        <a:t xml:space="preserve">(par. 40c)</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r>
                        <a:rPr lang="fr-FR" sz="975" b="1" noProof="0">
                          <a:solidFill>
                            <a:schemeClr val="tx2"/>
                          </a:solidFill>
                        </a:rPr>
                        <a:t xml:space="preserve">Nombre de salariés (effectifs ou équivalents temps plein)</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39990">
                <a:tc>
                  <a:txBody>
                    <a:bodyPr/>
                    <a:lstStyle/>
                    <a:p>
                      <a:r>
                        <a:rPr lang="fr-FR" sz="975" b="0" noProof="0">
                          <a:solidFill>
                            <a:schemeClr val="tx2"/>
                          </a:solidFill>
                        </a:rPr>
                        <a:t xml:space="preserve">Danemark</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rtl="0" fontAlgn="ctr">
                        <a:buNone/>
                      </a:pPr>
                      <a:r>
                        <a:rPr lang="fr-FR" sz="975" b="0" i="0" u="none" strike="noStrike" noProof="0">
                          <a:solidFill>
                            <a:srgbClr val="2D55FF"/>
                          </a:solidFill>
                          <a:effectLst/>
                          <a:latin typeface="Inter"/>
                        </a:rPr>
                        <a:t>{{Denmark}}</a:t>
                      </a:r>
                      <a:endParaRPr lang="fr-FR"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r h="239990">
                <a:tc>
                  <a:txBody>
                    <a:bodyPr/>
                    <a:lstStyle/>
                    <a:p>
                      <a:pPr rtl="0" fontAlgn="ctr">
                        <a:buNone/>
                      </a:pPr>
                      <a:r>
                        <a:rPr lang="fr-FR" sz="975" b="0" i="0" u="none" strike="noStrike" noProof="0">
                          <a:solidFill>
                            <a:srgbClr val="2D55FF"/>
                          </a:solidFill>
                          <a:effectLst/>
                          <a:latin typeface="Inter"/>
                        </a:rPr>
                        <a:t>{{Land_b}}</a:t>
                      </a:r>
                      <a:endParaRPr lang="fr-FR"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rtl="0" fontAlgn="ctr">
                        <a:buNone/>
                      </a:pPr>
                      <a:r>
                        <a:rPr lang="fr-FR" sz="975" b="0" i="0" u="none" strike="noStrike" noProof="0">
                          <a:solidFill>
                            <a:srgbClr val="2D55FF"/>
                          </a:solidFill>
                          <a:effectLst/>
                          <a:latin typeface="Inter"/>
                        </a:rPr>
                        <a:t>{{</a:t>
                      </a:r>
                      <a:r>
                        <a:rPr lang="fr-FR" sz="975" b="0" i="0" u="none" strike="noStrike" noProof="0">
                          <a:solidFill>
                            <a:srgbClr val="2D55FF"/>
                          </a:solidFill>
                          <a:effectLst/>
                        </a:rPr>
                        <a:t>FTE_eller_antal_personer_land_b</a:t>
                      </a:r>
                      <a:r>
                        <a:rPr lang="fr-FR" sz="975" b="0" i="0" u="none" strike="noStrike" noProof="0">
                          <a:solidFill>
                            <a:srgbClr val="2D55FF"/>
                          </a:solidFill>
                          <a:effectLst/>
                          <a:latin typeface="Inter"/>
                        </a:rPr>
                        <a:t>}}</a:t>
                      </a:r>
                      <a:endParaRPr lang="fr-FR"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39990">
                <a:tc>
                  <a:txBody>
                    <a:bodyPr/>
                    <a:lstStyle/>
                    <a:p>
                      <a:r>
                        <a:rPr lang="fr-FR" sz="975" b="0" noProof="0">
                          <a:solidFill>
                            <a:schemeClr val="tx2"/>
                          </a:solidFill>
                        </a:rPr>
                        <a:t xml:space="preserve">Nombre total de salariés</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fr-FR" sz="975" b="0" i="0" u="none" strike="noStrike" noProof="0">
                          <a:solidFill>
                            <a:srgbClr val="2D55FF"/>
                          </a:solidFill>
                          <a:effectLst/>
                          <a:latin typeface="Inter"/>
                        </a:rPr>
                        <a:t>{{Total_out_of_countries}}</a:t>
                      </a:r>
                      <a:endParaRPr lang="fr-FR"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495992891"/>
                  </a:ext>
                </a:extLst>
              </a:tr>
            </a:tbl>
          </a:graphicData>
        </a:graphic>
      </p:graphicFrame>
      <p:sp>
        <p:nvSpPr>
          <p:cNvPr id="2" name="Title 3">
            <a:extLst>
              <a:ext uri="{FF2B5EF4-FFF2-40B4-BE49-F238E27FC236}">
                <a16:creationId xmlns:a16="http://schemas.microsoft.com/office/drawing/2014/main" id="{24772E10-4DDD-1F7B-7401-B85CC016A6A5}"/>
              </a:ext>
            </a:extLst>
          </p:cNvPr>
          <p:cNvSpPr txBox="1">
            <a:spLocks/>
          </p:cNvSpPr>
          <p:nvPr/>
        </p:nvSpPr>
        <p:spPr>
          <a:xfrm>
            <a:off x="423976" y="5693490"/>
            <a:ext cx="6583504" cy="207741"/>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475" b="1" kern="1200" spc="-10" baseline="0">
                <a:solidFill>
                  <a:schemeClr val="tx2"/>
                </a:solidFill>
                <a:latin typeface="+mj-lt"/>
                <a:ea typeface="+mj-ea"/>
                <a:cs typeface="+mj-cs"/>
              </a:defRPr>
            </a:lvl1pPr>
          </a:lstStyle>
          <a:p>
            <a:r>
              <a:rPr lang="fr-FR"/>
              <a:t xml:space="preserve">Personnel : rémunération, négociation collective et formation (B10)</a:t>
            </a:r>
            <a:endParaRPr lang="fr-FR" dirty="0"/>
          </a:p>
        </p:txBody>
      </p:sp>
      <p:graphicFrame>
        <p:nvGraphicFramePr>
          <p:cNvPr id="7" name="Table 14">
            <a:extLst>
              <a:ext uri="{FF2B5EF4-FFF2-40B4-BE49-F238E27FC236}">
                <a16:creationId xmlns:a16="http://schemas.microsoft.com/office/drawing/2014/main" id="{0C7C0513-162A-A2C4-1F7F-C0CD906CAB1F}"/>
              </a:ext>
            </a:extLst>
          </p:cNvPr>
          <p:cNvGraphicFramePr>
            <a:graphicFrameLocks noGrp="1"/>
          </p:cNvGraphicFramePr>
          <p:nvPr>
            <p:extLst>
              <p:ext uri="{D42A27DB-BD31-4B8C-83A1-F6EECF244321}">
                <p14:modId xmlns:p14="http://schemas.microsoft.com/office/powerpoint/2010/main" val="4145423573"/>
              </p:ext>
            </p:extLst>
          </p:nvPr>
        </p:nvGraphicFramePr>
        <p:xfrm>
          <a:off x="3853152" y="6867207"/>
          <a:ext cx="3295368" cy="1011536"/>
        </p:xfrm>
        <a:graphic>
          <a:graphicData uri="http://schemas.openxmlformats.org/drawingml/2006/table">
            <a:tbl>
              <a:tblPr firstRow="1">
                <a:tableStyleId>{2A488322-F2BA-4B5B-9748-0D474271808F}</a:tableStyleId>
              </a:tblPr>
              <a:tblGrid>
                <a:gridCol w="2292985">
                  <a:extLst>
                    <a:ext uri="{9D8B030D-6E8A-4147-A177-3AD203B41FA5}">
                      <a16:colId xmlns:a16="http://schemas.microsoft.com/office/drawing/2014/main" val="2698153288"/>
                    </a:ext>
                  </a:extLst>
                </a:gridCol>
                <a:gridCol w="1002383">
                  <a:extLst>
                    <a:ext uri="{9D8B030D-6E8A-4147-A177-3AD203B41FA5}">
                      <a16:colId xmlns:a16="http://schemas.microsoft.com/office/drawing/2014/main" val="2119413191"/>
                    </a:ext>
                  </a:extLst>
                </a:gridCol>
              </a:tblGrid>
              <a:tr h="447459">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75" b="1" noProof="0">
                          <a:solidFill>
                            <a:schemeClr val="tx2"/>
                          </a:solidFill>
                        </a:rPr>
                        <a:t xml:space="preserve">Écart de rémunération entre salariés masculins et féminins </a:t>
                      </a:r>
                      <a:r>
                        <a:rPr lang="fr-FR" sz="975" b="0" noProof="0">
                          <a:solidFill>
                            <a:schemeClr val="tx2"/>
                          </a:solidFill>
                        </a:rPr>
                        <a:t xml:space="preserve">(par. 42b)</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75" b="1" noProof="0">
                          <a:solidFill>
                            <a:schemeClr val="tx2"/>
                          </a:solidFill>
                        </a:rPr>
                        <a:t>Year</a:t>
                      </a:r>
                      <a:r>
                        <a:rPr lang="fr-FR" sz="975" b="1" noProof="0">
                          <a:solidFill>
                            <a:schemeClr val="accent2"/>
                          </a:solidFill>
                          <a:latin typeface="Calibri" panose="020F0502020204030204" pitchFamily="34" charset="0"/>
                          <a:cs typeface="Calibri" panose="020F0502020204030204" pitchFamily="34" charset="0"/>
                        </a:rPr>
                        <a:t> </a:t>
                      </a:r>
                      <a:r>
                        <a:rPr lang="fr-FR" sz="975" b="1" noProof="0">
                          <a:solidFill>
                            <a:schemeClr val="accent2"/>
                          </a:solidFill>
                        </a:rPr>
                        <a:t>{{insert_year}}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564077">
                <a:tc vMerge="1">
                  <a:txBody>
                    <a:bodyPr/>
                    <a:lstStyle/>
                    <a:p>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ctr"/>
                      <a:r>
                        <a:rPr lang="fr-FR" sz="975" b="0" noProof="0">
                          <a:solidFill>
                            <a:schemeClr val="accent2"/>
                          </a:solidFill>
                        </a:rPr>
                        <a:t>{{</a:t>
                      </a:r>
                      <a:r>
                        <a:rPr lang="fr-FR" sz="975" b="0" noProof="0">
                          <a:solidFill>
                            <a:schemeClr val="accent2"/>
                          </a:solidFill>
                        </a:rPr>
                        <a:t>indsat_procentvise_lonforskel</a:t>
                      </a:r>
                      <a:r>
                        <a:rPr lang="fr-FR" sz="975" b="0" noProof="0">
                          <a:solidFill>
                            <a:schemeClr val="accent2"/>
                          </a:solidFill>
                        </a:rPr>
                        <a:t>}}</a:t>
                      </a:r>
                    </a:p>
                  </a:txBody>
                  <a:tcPr marL="29999" marR="29999"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graphicFrame>
        <p:nvGraphicFramePr>
          <p:cNvPr id="10" name="Tabel 9">
            <a:extLst>
              <a:ext uri="{FF2B5EF4-FFF2-40B4-BE49-F238E27FC236}">
                <a16:creationId xmlns:a16="http://schemas.microsoft.com/office/drawing/2014/main" id="{84CAF6AE-5821-23BB-F517-5C5C31B0641F}"/>
              </a:ext>
            </a:extLst>
          </p:cNvPr>
          <p:cNvGraphicFramePr>
            <a:graphicFrameLocks noGrp="1"/>
          </p:cNvGraphicFramePr>
          <p:nvPr>
            <p:extLst>
              <p:ext uri="{D42A27DB-BD31-4B8C-83A1-F6EECF244321}">
                <p14:modId xmlns:p14="http://schemas.microsoft.com/office/powerpoint/2010/main" val="3609318665"/>
              </p:ext>
            </p:extLst>
          </p:nvPr>
        </p:nvGraphicFramePr>
        <p:xfrm>
          <a:off x="411480" y="6867210"/>
          <a:ext cx="3295368" cy="1011536"/>
        </p:xfrm>
        <a:graphic>
          <a:graphicData uri="http://schemas.openxmlformats.org/drawingml/2006/table">
            <a:tbl>
              <a:tblPr firstRow="1">
                <a:tableStyleId>{2A488322-F2BA-4B5B-9748-0D474271808F}</a:tableStyleId>
              </a:tblPr>
              <a:tblGrid>
                <a:gridCol w="1807924">
                  <a:extLst>
                    <a:ext uri="{9D8B030D-6E8A-4147-A177-3AD203B41FA5}">
                      <a16:colId xmlns:a16="http://schemas.microsoft.com/office/drawing/2014/main" val="160727125"/>
                    </a:ext>
                  </a:extLst>
                </a:gridCol>
                <a:gridCol w="762792">
                  <a:extLst>
                    <a:ext uri="{9D8B030D-6E8A-4147-A177-3AD203B41FA5}">
                      <a16:colId xmlns:a16="http://schemas.microsoft.com/office/drawing/2014/main" val="1767985329"/>
                    </a:ext>
                  </a:extLst>
                </a:gridCol>
                <a:gridCol w="724652">
                  <a:extLst>
                    <a:ext uri="{9D8B030D-6E8A-4147-A177-3AD203B41FA5}">
                      <a16:colId xmlns:a16="http://schemas.microsoft.com/office/drawing/2014/main" val="1397164534"/>
                    </a:ext>
                  </a:extLst>
                </a:gridCol>
              </a:tblGrid>
              <a:tr h="172070">
                <a:tc>
                  <a:txBody>
                    <a:bodyPr/>
                    <a:lstStyle/>
                    <a:p>
                      <a:r>
                        <a:rPr lang="fr-FR" sz="975" b="1" noProof="0">
                          <a:solidFill>
                            <a:schemeClr val="tx2"/>
                          </a:solidFill>
                        </a:rPr>
                        <a:t xml:space="preserve">Informations sur le salaire minimal </a:t>
                      </a:r>
                      <a:r>
                        <a:rPr lang="fr-FR" sz="975" b="0" noProof="0">
                          <a:solidFill>
                            <a:schemeClr val="tx2"/>
                          </a:solidFill>
                        </a:rPr>
                        <a:t>(42a)</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fr-FR" sz="975" b="1" noProof="0">
                          <a:solidFill>
                            <a:schemeClr val="tx2"/>
                          </a:solidFill>
                        </a:rPr>
                        <a:t xml:space="preserve">Oui</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fr-FR" sz="975" b="1" noProof="0">
                          <a:solidFill>
                            <a:schemeClr val="tx2"/>
                          </a:solidFill>
                        </a:rPr>
                        <a:t xml:space="preserve">Non</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4203607533"/>
                  </a:ext>
                </a:extLst>
              </a:tr>
              <a:tr h="418994">
                <a:tc>
                  <a:txBody>
                    <a:bodyPr/>
                    <a:lstStyle/>
                    <a:p>
                      <a:r>
                        <a:rPr lang="fr-FR" sz="975" b="0" noProof="0">
                          <a:solidFill>
                            <a:schemeClr val="tx2"/>
                          </a:solidFill>
                        </a:rPr>
                        <a:t xml:space="preserve">Dans l’entreprise, tous les salariés perçoivent au moins le salaire minimal </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fr-FR" sz="975" b="0" i="0" u="none" strike="noStrike" noProof="0">
                          <a:solidFill>
                            <a:srgbClr val="2D55FF"/>
                          </a:solidFill>
                          <a:effectLst/>
                          <a:latin typeface="Inter"/>
                        </a:rPr>
                        <a:t>{{minumum_wage_yes?}}</a:t>
                      </a:r>
                      <a:endParaRPr lang="fr-F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ctr" rtl="0" fontAlgn="ctr">
                        <a:buNone/>
                      </a:pPr>
                      <a:r>
                        <a:rPr lang="fr-FR" sz="975" b="0" i="0" u="none" strike="noStrike" noProof="0">
                          <a:solidFill>
                            <a:srgbClr val="2D55FF"/>
                          </a:solidFill>
                          <a:effectLst/>
                          <a:latin typeface="Inter"/>
                        </a:rPr>
                        <a:t>{{minimum_wage_no?}}</a:t>
                      </a:r>
                      <a:endParaRPr lang="fr-F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393907362"/>
                  </a:ext>
                </a:extLst>
              </a:tr>
            </a:tbl>
          </a:graphicData>
        </a:graphic>
      </p:graphicFrame>
      <p:graphicFrame>
        <p:nvGraphicFramePr>
          <p:cNvPr id="11" name="Table 16">
            <a:extLst>
              <a:ext uri="{FF2B5EF4-FFF2-40B4-BE49-F238E27FC236}">
                <a16:creationId xmlns:a16="http://schemas.microsoft.com/office/drawing/2014/main" id="{38A9DB6D-6A2A-85D4-0695-C590EC6B32FF}"/>
              </a:ext>
            </a:extLst>
          </p:cNvPr>
          <p:cNvGraphicFramePr>
            <a:graphicFrameLocks noGrp="1"/>
          </p:cNvGraphicFramePr>
          <p:nvPr>
            <p:extLst>
              <p:ext uri="{D42A27DB-BD31-4B8C-83A1-F6EECF244321}">
                <p14:modId xmlns:p14="http://schemas.microsoft.com/office/powerpoint/2010/main" val="1361838199"/>
              </p:ext>
            </p:extLst>
          </p:nvPr>
        </p:nvGraphicFramePr>
        <p:xfrm>
          <a:off x="411480" y="8226419"/>
          <a:ext cx="3295368" cy="959989"/>
        </p:xfrm>
        <a:graphic>
          <a:graphicData uri="http://schemas.openxmlformats.org/drawingml/2006/table">
            <a:tbl>
              <a:tblPr firstRow="1">
                <a:tableStyleId>{2A488322-F2BA-4B5B-9748-0D474271808F}</a:tableStyleId>
              </a:tblPr>
              <a:tblGrid>
                <a:gridCol w="1821125">
                  <a:extLst>
                    <a:ext uri="{9D8B030D-6E8A-4147-A177-3AD203B41FA5}">
                      <a16:colId xmlns:a16="http://schemas.microsoft.com/office/drawing/2014/main" val="81046444"/>
                    </a:ext>
                  </a:extLst>
                </a:gridCol>
                <a:gridCol w="1474243">
                  <a:extLst>
                    <a:ext uri="{9D8B030D-6E8A-4147-A177-3AD203B41FA5}">
                      <a16:colId xmlns:a16="http://schemas.microsoft.com/office/drawing/2014/main" val="2119413191"/>
                    </a:ext>
                  </a:extLst>
                </a:gridCol>
              </a:tblGrid>
              <a:tr h="4542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75" b="1" noProof="0">
                          <a:solidFill>
                            <a:schemeClr val="tx2"/>
                          </a:solidFill>
                        </a:rPr>
                        <a:t xml:space="preserve">Convention collective </a:t>
                      </a:r>
                      <a:r>
                        <a:rPr lang="fr-FR" sz="975" b="0" noProof="0">
                          <a:solidFill>
                            <a:schemeClr val="tx2"/>
                          </a:solidFill>
                        </a:rPr>
                        <a:t xml:space="preserve">(par. 42c)</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75" b="1" noProof="0">
                          <a:solidFill>
                            <a:schemeClr val="tx2"/>
                          </a:solidFill>
                        </a:rPr>
                        <a:t>Year</a:t>
                      </a:r>
                      <a:r>
                        <a:rPr lang="fr-FR" sz="975" b="1" noProof="0">
                          <a:solidFill>
                            <a:schemeClr val="accent2"/>
                          </a:solidFill>
                          <a:latin typeface="Calibri" panose="020F0502020204030204" pitchFamily="34" charset="0"/>
                          <a:cs typeface="Calibri" panose="020F0502020204030204" pitchFamily="34" charset="0"/>
                        </a:rPr>
                        <a:t> {{insert_year}}</a:t>
                      </a:r>
                      <a:endParaRPr lang="fr-FR" sz="975" b="1"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41788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75" b="0" noProof="0">
                          <a:solidFill>
                            <a:schemeClr val="tx2"/>
                          </a:solidFill>
                        </a:rPr>
                        <a:t xml:space="preserve">Pourcentage de salariés couverts par une convention collective</a:t>
                      </a:r>
                      <a:endParaRPr kumimoji="0" lang="fr-FR" sz="975" b="0" i="0" u="none" strike="noStrike" kern="1200" cap="none" spc="0" normalizeH="0" baseline="0" noProof="0">
                        <a:ln>
                          <a:noFill/>
                        </a:ln>
                        <a:solidFill>
                          <a:srgbClr val="2D55FF"/>
                        </a:solidFill>
                        <a:effectLst/>
                        <a:uLnTx/>
                        <a:uFillTx/>
                        <a:latin typeface="IBM Plex Sans"/>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975" b="0" i="0" u="none" strike="noStrike" kern="1200" cap="none" spc="0" normalizeH="0" baseline="0" noProof="0">
                          <a:ln>
                            <a:noFill/>
                          </a:ln>
                          <a:solidFill>
                            <a:srgbClr val="2D55FF"/>
                          </a:solidFill>
                          <a:effectLst/>
                          <a:uLnTx/>
                          <a:uFillTx/>
                          <a:latin typeface="+mn-lt"/>
                          <a:ea typeface="+mn-ea"/>
                          <a:cs typeface="+mn-cs"/>
                        </a:rPr>
                        <a:t>{{indsat_procentvis_ansatte}}</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graphicFrame>
        <p:nvGraphicFramePr>
          <p:cNvPr id="12" name="Table 19">
            <a:extLst>
              <a:ext uri="{FF2B5EF4-FFF2-40B4-BE49-F238E27FC236}">
                <a16:creationId xmlns:a16="http://schemas.microsoft.com/office/drawing/2014/main" id="{2EC4274B-57F6-8036-8EA2-C2FF27F03BD7}"/>
              </a:ext>
            </a:extLst>
          </p:cNvPr>
          <p:cNvGraphicFramePr>
            <a:graphicFrameLocks noGrp="1"/>
          </p:cNvGraphicFramePr>
          <p:nvPr>
            <p:extLst>
              <p:ext uri="{D42A27DB-BD31-4B8C-83A1-F6EECF244321}">
                <p14:modId xmlns:p14="http://schemas.microsoft.com/office/powerpoint/2010/main" val="325568891"/>
              </p:ext>
            </p:extLst>
          </p:nvPr>
        </p:nvGraphicFramePr>
        <p:xfrm>
          <a:off x="3853152" y="8226417"/>
          <a:ext cx="3295368" cy="959989"/>
        </p:xfrm>
        <a:graphic>
          <a:graphicData uri="http://schemas.openxmlformats.org/drawingml/2006/table">
            <a:tbl>
              <a:tblPr firstRow="1">
                <a:tableStyleId>{2A488322-F2BA-4B5B-9748-0D474271808F}</a:tableStyleId>
              </a:tblPr>
              <a:tblGrid>
                <a:gridCol w="2294254">
                  <a:extLst>
                    <a:ext uri="{9D8B030D-6E8A-4147-A177-3AD203B41FA5}">
                      <a16:colId xmlns:a16="http://schemas.microsoft.com/office/drawing/2014/main" val="2698153288"/>
                    </a:ext>
                  </a:extLst>
                </a:gridCol>
                <a:gridCol w="1001114">
                  <a:extLst>
                    <a:ext uri="{9D8B030D-6E8A-4147-A177-3AD203B41FA5}">
                      <a16:colId xmlns:a16="http://schemas.microsoft.com/office/drawing/2014/main" val="2119413191"/>
                    </a:ext>
                  </a:extLst>
                </a:gridCol>
              </a:tblGrid>
              <a:tr h="395290">
                <a:tc>
                  <a:txBody>
                    <a:bodyPr/>
                    <a:lstStyle/>
                    <a:p>
                      <a:r>
                        <a:rPr lang="fr-FR" sz="975" b="1" noProof="0">
                          <a:solidFill>
                            <a:schemeClr val="tx2"/>
                          </a:solidFill>
                        </a:rPr>
                        <a:t xml:space="preserve">Heures de formation moyennes par salarié </a:t>
                      </a:r>
                      <a:r>
                        <a:rPr lang="fr-FR" sz="975" b="0" noProof="0">
                          <a:solidFill>
                            <a:schemeClr val="tx2"/>
                          </a:solidFill>
                        </a:rPr>
                        <a:t xml:space="preserve">(par. 42d)</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75" b="1" noProof="0">
                          <a:solidFill>
                            <a:schemeClr val="tx2"/>
                          </a:solidFill>
                        </a:rPr>
                        <a:t>Year</a:t>
                      </a:r>
                      <a:r>
                        <a:rPr lang="fr-FR" sz="975" b="1" noProof="0">
                          <a:solidFill>
                            <a:schemeClr val="accent2"/>
                          </a:solidFill>
                          <a:latin typeface="Calibri"/>
                          <a:cs typeface="Calibri"/>
                        </a:rPr>
                        <a:t> {{insert_year}}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564699">
                <a:tc>
                  <a:txBody>
                    <a:bodyPr/>
                    <a:lstStyle/>
                    <a:p>
                      <a:r>
                        <a:rPr lang="fr-FR" sz="975" b="0" noProof="0">
                          <a:solidFill>
                            <a:schemeClr val="tx2"/>
                          </a:solidFill>
                        </a:rPr>
                        <a:t xml:space="preserve">Heure(s) par salarié</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fr-FR" sz="975" b="0" i="0" u="none" strike="noStrike" noProof="0">
                          <a:solidFill>
                            <a:srgbClr val="2D55FF"/>
                          </a:solidFill>
                          <a:effectLst/>
                          <a:latin typeface="Inter"/>
                        </a:rPr>
                        <a:t>{{</a:t>
                      </a:r>
                      <a:r>
                        <a:rPr lang="fr-FR" sz="975" b="0" i="0" u="none" strike="noStrike" noProof="0">
                          <a:solidFill>
                            <a:srgbClr val="2D55FF"/>
                          </a:solidFill>
                          <a:effectLst/>
                          <a:latin typeface="Inter"/>
                        </a:rPr>
                        <a:t>gennemsnitstimer</a:t>
                      </a:r>
                      <a:r>
                        <a:rPr lang="fr-FR" sz="975" b="0" i="0" u="none" strike="noStrike" noProof="0">
                          <a:solidFill>
                            <a:srgbClr val="2D55FF"/>
                          </a:solidFill>
                          <a:effectLst/>
                          <a:latin typeface="Inter"/>
                        </a:rPr>
                        <a:t>}}</a:t>
                      </a:r>
                      <a:endParaRPr lang="fr-FR" sz="975" b="0" noProof="0" dirty="0">
                        <a:effectLst/>
                      </a:endParaRPr>
                    </a:p>
                  </a:txBody>
                  <a:tcPr marL="15874" marR="15874"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100585068"/>
                  </a:ext>
                </a:extLst>
              </a:tr>
            </a:tbl>
          </a:graphicData>
        </a:graphic>
      </p:graphicFrame>
      <p:sp>
        <p:nvSpPr>
          <p:cNvPr id="14" name="Tekstfelt 13">
            <a:extLst>
              <a:ext uri="{FF2B5EF4-FFF2-40B4-BE49-F238E27FC236}">
                <a16:creationId xmlns:a16="http://schemas.microsoft.com/office/drawing/2014/main" id="{91C95227-E2BB-1C05-1C40-EB20A1C1BCA2}"/>
              </a:ext>
            </a:extLst>
          </p:cNvPr>
          <p:cNvSpPr txBox="1"/>
          <p:nvPr/>
        </p:nvSpPr>
        <p:spPr>
          <a:xfrm>
            <a:off x="411480" y="6050028"/>
            <a:ext cx="6737040" cy="846352"/>
          </a:xfrm>
          <a:prstGeom prst="rect">
            <a:avLst/>
          </a:prstGeom>
          <a:noFill/>
        </p:spPr>
        <p:txBody>
          <a:bodyPr wrap="square">
            <a:spAutoFit/>
          </a:bodyPr>
          <a:lstStyle/>
          <a:p>
            <a:pPr rtl="0">
              <a:buNone/>
            </a:pPr>
            <a:r>
              <a:rPr lang="fr-FR" sz="975" b="0" i="0" u="none" strike="noStrike" noProof="0">
                <a:solidFill>
                  <a:schemeClr val="tx2"/>
                </a:solidFill>
                <a:effectLst/>
                <a:latin typeface="Inter"/>
              </a:rPr>
              <a:t xml:space="preserve">L’entreprise a communiqué des informations sur le salaire minimal ainsi que le pourcentage de salariés couverts par des conventions collectives et le nombre moyen d’heures de formation par salarié et par an, ventilé par genre. Si l’entreprise est déjà tenue, en vertu de la législation de l’UE 8 ou d’autres dispositions nationales, de déclarer l’écart de rémunération en pourcentage entre ses salariés féminins et masculins, elle l’indique.</a:t>
            </a:r>
          </a:p>
          <a:p>
            <a:pPr>
              <a:buNone/>
            </a:pPr>
            <a:br>
              <a:rPr lang="fr-FR" sz="975" noProof="0">
                <a:solidFill>
                  <a:schemeClr val="tx2"/>
                </a:solidFill>
                <a:latin typeface="Inter"/>
              </a:rPr>
            </a:br>
            <a:endParaRPr lang="fr-FR" sz="975" noProof="0">
              <a:solidFill>
                <a:schemeClr val="tx2"/>
              </a:solidFill>
              <a:latin typeface="Inter"/>
            </a:endParaRPr>
          </a:p>
        </p:txBody>
      </p:sp>
    </p:spTree>
    <p:extLst>
      <p:ext uri="{BB962C8B-B14F-4D97-AF65-F5344CB8AC3E}">
        <p14:creationId xmlns:p14="http://schemas.microsoft.com/office/powerpoint/2010/main" val="22989718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fr-FR" noProof="0"/>
              <a:t xml:space="preserve">Conduite des affaires : condamnations et amendes pour corruption &amp; pots-de-vin (B11) </a:t>
            </a:r>
          </a:p>
        </p:txBody>
      </p:sp>
      <p:graphicFrame>
        <p:nvGraphicFramePr>
          <p:cNvPr id="22" name="Table 21">
            <a:extLst>
              <a:ext uri="{FF2B5EF4-FFF2-40B4-BE49-F238E27FC236}">
                <a16:creationId xmlns:a16="http://schemas.microsoft.com/office/drawing/2014/main" id="{AF65586E-0EF1-899A-1FCC-C083408ADE09}"/>
              </a:ext>
            </a:extLst>
          </p:cNvPr>
          <p:cNvGraphicFramePr>
            <a:graphicFrameLocks noGrp="1"/>
          </p:cNvGraphicFramePr>
          <p:nvPr>
            <p:extLst>
              <p:ext uri="{D42A27DB-BD31-4B8C-83A1-F6EECF244321}">
                <p14:modId xmlns:p14="http://schemas.microsoft.com/office/powerpoint/2010/main" val="2655272026"/>
              </p:ext>
            </p:extLst>
          </p:nvPr>
        </p:nvGraphicFramePr>
        <p:xfrm>
          <a:off x="411480" y="2556047"/>
          <a:ext cx="6737040" cy="509980"/>
        </p:xfrm>
        <a:graphic>
          <a:graphicData uri="http://schemas.openxmlformats.org/drawingml/2006/table">
            <a:tbl>
              <a:tblPr firstRow="1">
                <a:tableStyleId>{2A488322-F2BA-4B5B-9748-0D474271808F}</a:tableStyleId>
              </a:tblPr>
              <a:tblGrid>
                <a:gridCol w="2245680">
                  <a:extLst>
                    <a:ext uri="{9D8B030D-6E8A-4147-A177-3AD203B41FA5}">
                      <a16:colId xmlns:a16="http://schemas.microsoft.com/office/drawing/2014/main" val="2698153288"/>
                    </a:ext>
                  </a:extLst>
                </a:gridCol>
                <a:gridCol w="2245680">
                  <a:extLst>
                    <a:ext uri="{9D8B030D-6E8A-4147-A177-3AD203B41FA5}">
                      <a16:colId xmlns:a16="http://schemas.microsoft.com/office/drawing/2014/main" val="2119413191"/>
                    </a:ext>
                  </a:extLst>
                </a:gridCol>
                <a:gridCol w="2245680">
                  <a:extLst>
                    <a:ext uri="{9D8B030D-6E8A-4147-A177-3AD203B41FA5}">
                      <a16:colId xmlns:a16="http://schemas.microsoft.com/office/drawing/2014/main" val="1502960985"/>
                    </a:ext>
                  </a:extLst>
                </a:gridCol>
              </a:tblGrid>
              <a:tr h="254990">
                <a:tc rowSpan="2">
                  <a:txBody>
                    <a:bodyPr/>
                    <a:lstStyle/>
                    <a:p>
                      <a:r>
                        <a:rPr lang="fr-FR" sz="975" b="1" noProof="0">
                          <a:solidFill>
                            <a:schemeClr val="tx2"/>
                          </a:solidFill>
                        </a:rPr>
                        <a:t xml:space="preserve">Corruption et pots-de-vin </a:t>
                      </a:r>
                      <a:r>
                        <a:rPr lang="fr-FR" sz="975" b="0" noProof="0">
                          <a:solidFill>
                            <a:schemeClr val="tx2"/>
                          </a:solidFill>
                        </a:rPr>
                        <a:t xml:space="preserve">(par. 43)</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ctr"/>
                      <a:r>
                        <a:rPr lang="fr-FR" sz="975" b="1" noProof="0">
                          <a:solidFill>
                            <a:schemeClr val="tx2"/>
                          </a:solidFill>
                        </a:rPr>
                        <a:t xml:space="preserve">Nombre de condamnations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fr-FR" sz="975" b="1" noProof="0">
                          <a:solidFill>
                            <a:schemeClr val="tx2"/>
                          </a:solidFill>
                        </a:rPr>
                        <a:t xml:space="preserve">Montant total des amendes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54990">
                <a:tc vMerge="1">
                  <a:txBody>
                    <a:bodyPr/>
                    <a:lstStyle/>
                    <a:p>
                      <a:endParaRPr lang="fr-FR" sz="725" b="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ctr" rtl="0" fontAlgn="ctr">
                        <a:buNone/>
                      </a:pPr>
                      <a:r>
                        <a:rPr lang="fr-FR" sz="975" b="0" i="0" u="none" strike="noStrike" noProof="0">
                          <a:solidFill>
                            <a:srgbClr val="2D55FF"/>
                          </a:solidFill>
                          <a:effectLst/>
                          <a:latin typeface="Inter"/>
                        </a:rPr>
                        <a:t>{{domme}}</a:t>
                      </a:r>
                      <a:endParaRPr lang="fr-F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ctr" rtl="0" fontAlgn="ctr">
                        <a:buNone/>
                      </a:pPr>
                      <a:r>
                        <a:rPr lang="fr-FR" sz="975" b="0" i="0" u="none" strike="noStrike" noProof="0">
                          <a:solidFill>
                            <a:srgbClr val="2D55FF"/>
                          </a:solidFill>
                          <a:effectLst/>
                          <a:latin typeface="Inter"/>
                        </a:rPr>
                        <a:t>{{samlet_bodestorrelse}}</a:t>
                      </a:r>
                      <a:endParaRPr lang="fr-F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fr-FR" noProof="0" smtClean="0"/>
              <a:pPr/>
              <a:t>9</a:t>
            </a:fld>
            <a:endParaRPr lang="fr-FR"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fr-FR" noProof="0"/>
              <a:t>{{company_name}}</a:t>
            </a:r>
            <a:endParaRPr lang="fr-FR" b="0" noProof="0"/>
          </a:p>
          <a:p>
            <a:endParaRPr lang="fr-FR" noProof="0"/>
          </a:p>
        </p:txBody>
      </p:sp>
      <p:sp>
        <p:nvSpPr>
          <p:cNvPr id="9" name="Tekstfelt 8">
            <a:extLst>
              <a:ext uri="{FF2B5EF4-FFF2-40B4-BE49-F238E27FC236}">
                <a16:creationId xmlns:a16="http://schemas.microsoft.com/office/drawing/2014/main" id="{18D9DD8E-27FC-601F-5895-E2455B4CB3B0}"/>
              </a:ext>
            </a:extLst>
          </p:cNvPr>
          <p:cNvSpPr txBox="1"/>
          <p:nvPr/>
        </p:nvSpPr>
        <p:spPr>
          <a:xfrm>
            <a:off x="411480" y="1445509"/>
            <a:ext cx="6737040" cy="846352"/>
          </a:xfrm>
          <a:prstGeom prst="rect">
            <a:avLst/>
          </a:prstGeom>
          <a:noFill/>
        </p:spPr>
        <p:txBody>
          <a:bodyPr wrap="square">
            <a:spAutoFit/>
          </a:bodyPr>
          <a:lstStyle/>
          <a:p>
            <a:pPr rtl="0">
              <a:buNone/>
            </a:pPr>
            <a:r>
              <a:rPr lang="fr-FR" sz="975" b="0" i="0" u="none" strike="noStrike" noProof="0">
                <a:solidFill>
                  <a:schemeClr val="tx2"/>
                </a:solidFill>
                <a:effectLst/>
                <a:latin typeface="Inter"/>
              </a:rPr>
              <a:t xml:space="preserve">L’entreprise a indiqué les infractions à la législation sur la lutte contre la corruption au cours de la période de référence. Si l’entreprise a fait l’objet de condamnations ou d’amendes pour de telles infractions, les informations suivantes ont été publiées : le nombre de condamnations et le montant total des amendes infligées. Ces informations concernent l’éthique des affaires et la durabilité de l’entreprise, en particulier la gestion de la corruption, et sont indiquées ci-dessous.</a:t>
            </a:r>
            <a:endParaRPr lang="fr-FR" sz="975" b="0" noProof="0">
              <a:solidFill>
                <a:schemeClr val="tx2"/>
              </a:solidFill>
              <a:effectLst/>
              <a:latin typeface="Inter"/>
            </a:endParaRPr>
          </a:p>
          <a:p>
            <a:pPr>
              <a:buNone/>
            </a:pPr>
            <a:br>
              <a:rPr lang="fr-FR" sz="975" noProof="0">
                <a:solidFill>
                  <a:schemeClr val="tx2"/>
                </a:solidFill>
                <a:latin typeface="Inter"/>
              </a:rPr>
            </a:br>
            <a:endParaRPr lang="fr-FR" sz="975" noProof="0">
              <a:solidFill>
                <a:schemeClr val="tx2"/>
              </a:solidFill>
              <a:latin typeface="Inter"/>
            </a:endParaRPr>
          </a:p>
        </p:txBody>
      </p:sp>
    </p:spTree>
    <p:extLst>
      <p:ext uri="{BB962C8B-B14F-4D97-AF65-F5344CB8AC3E}">
        <p14:creationId xmlns:p14="http://schemas.microsoft.com/office/powerpoint/2010/main" val="26821186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indhold 1">
            <a:extLst>
              <a:ext uri="{FF2B5EF4-FFF2-40B4-BE49-F238E27FC236}">
                <a16:creationId xmlns:a16="http://schemas.microsoft.com/office/drawing/2014/main" id="{8929CC52-5059-1012-5A40-D359AA36AE2B}"/>
              </a:ext>
            </a:extLst>
          </p:cNvPr>
          <p:cNvSpPr>
            <a:spLocks noGrp="1"/>
          </p:cNvSpPr>
          <p:nvPr>
            <p:ph idx="1"/>
          </p:nvPr>
        </p:nvSpPr>
        <p:spPr>
          <a:xfrm>
            <a:off x="411480" y="3671027"/>
            <a:ext cx="6737040" cy="1217034"/>
          </a:xfrm>
        </p:spPr>
        <p:txBody>
          <a:bodyPr>
            <a:normAutofit/>
          </a:bodyPr>
          <a:lstStyle/>
          <a:p>
            <a:r>
              <a:rPr lang="fr-FR" sz="3325" b="1" noProof="0"/>
              <a:t xml:space="preserve">Informations du module complet</a:t>
            </a:r>
          </a:p>
        </p:txBody>
      </p:sp>
      <p:sp>
        <p:nvSpPr>
          <p:cNvPr id="5" name="Pladsholder til slidenummer 4">
            <a:extLst>
              <a:ext uri="{FF2B5EF4-FFF2-40B4-BE49-F238E27FC236}">
                <a16:creationId xmlns:a16="http://schemas.microsoft.com/office/drawing/2014/main" id="{8A923573-02E7-36F8-863E-7A551AE1CD30}"/>
              </a:ext>
            </a:extLst>
          </p:cNvPr>
          <p:cNvSpPr>
            <a:spLocks noGrp="1"/>
          </p:cNvSpPr>
          <p:nvPr>
            <p:ph type="sldNum" sz="quarter" idx="16"/>
          </p:nvPr>
        </p:nvSpPr>
        <p:spPr/>
        <p:txBody>
          <a:bodyPr/>
          <a:lstStyle/>
          <a:p>
            <a:fld id="{5A0D23CF-C5A3-5445-819D-C647D180BB4B}" type="slidenum">
              <a:rPr lang="fr-FR" noProof="0" smtClean="0"/>
              <a:pPr/>
              <a:t>10</a:t>
            </a:fld>
            <a:endParaRPr lang="fr-FR" noProof="0"/>
          </a:p>
        </p:txBody>
      </p:sp>
    </p:spTree>
    <p:extLst>
      <p:ext uri="{BB962C8B-B14F-4D97-AF65-F5344CB8AC3E}">
        <p14:creationId xmlns:p14="http://schemas.microsoft.com/office/powerpoint/2010/main" val="9596397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a:xfrm>
            <a:off x="411480" y="776625"/>
            <a:ext cx="6737040" cy="213511"/>
          </a:xfrm>
        </p:spPr>
        <p:txBody>
          <a:bodyPr/>
          <a:lstStyle/>
          <a:p>
            <a:pPr marL="0" algn="l" rtl="0" eaLnBrk="1" fontAlgn="t" latinLnBrk="0" hangingPunct="1">
              <a:spcBef>
                <a:spcPts val="0"/>
              </a:spcBef>
              <a:spcAft>
                <a:spcPts val="0"/>
              </a:spcAft>
            </a:pPr>
            <a:r>
              <a:rPr lang="fr-FR" sz="1475" b="1" i="0" u="none" strike="noStrike" kern="1200" spc="-10" noProof="0">
                <a:solidFill>
                  <a:srgbClr val="1B4528"/>
                </a:solidFill>
                <a:effectLst/>
                <a:latin typeface="IBM Plex Sans" panose="020B0503050203000203" pitchFamily="34" charset="0"/>
              </a:rPr>
              <a:t xml:space="preserve">Stratégie : modèle d’entreprise et initiatives liées à la durabilité (C1)</a:t>
            </a:r>
            <a:endParaRPr lang="fr-FR" noProof="0"/>
          </a:p>
        </p:txBody>
      </p:sp>
      <p:pic>
        <p:nvPicPr>
          <p:cNvPr id="24" name="Graphic 23">
            <a:extLst>
              <a:ext uri="{FF2B5EF4-FFF2-40B4-BE49-F238E27FC236}">
                <a16:creationId xmlns:a16="http://schemas.microsoft.com/office/drawing/2014/main" id="{C1CB6473-45A0-323E-9329-E3AEC5C2FC34}"/>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11480" y="5097918"/>
            <a:ext cx="6737040" cy="193826"/>
          </a:xfrm>
          <a:prstGeom prst="rect">
            <a:avLst/>
          </a:prstGeom>
        </p:spPr>
      </p:pic>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fr-FR" noProof="0" smtClean="0"/>
              <a:pPr/>
              <a:t>11</a:t>
            </a:fld>
            <a:endParaRPr lang="fr-FR"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fr-FR" noProof="0"/>
              <a:t>{{company_name}}</a:t>
            </a:r>
            <a:endParaRPr lang="fr-FR" b="0" noProof="0"/>
          </a:p>
          <a:p>
            <a:br>
              <a:rPr lang="fr-FR" noProof="0"/>
            </a:br>
            <a:endParaRPr lang="fr-FR" noProof="0"/>
          </a:p>
        </p:txBody>
      </p:sp>
      <p:graphicFrame>
        <p:nvGraphicFramePr>
          <p:cNvPr id="2" name="Table 2">
            <a:extLst>
              <a:ext uri="{FF2B5EF4-FFF2-40B4-BE49-F238E27FC236}">
                <a16:creationId xmlns:a16="http://schemas.microsoft.com/office/drawing/2014/main" id="{73C59346-F692-8EEE-6728-75E283DC6C9B}"/>
              </a:ext>
            </a:extLst>
          </p:cNvPr>
          <p:cNvGraphicFramePr>
            <a:graphicFrameLocks noGrp="1"/>
          </p:cNvGraphicFramePr>
          <p:nvPr>
            <p:extLst>
              <p:ext uri="{D42A27DB-BD31-4B8C-83A1-F6EECF244321}">
                <p14:modId xmlns:p14="http://schemas.microsoft.com/office/powerpoint/2010/main" val="1996372857"/>
              </p:ext>
            </p:extLst>
          </p:nvPr>
        </p:nvGraphicFramePr>
        <p:xfrm>
          <a:off x="411480" y="2946305"/>
          <a:ext cx="6737040" cy="653339"/>
        </p:xfrm>
        <a:graphic>
          <a:graphicData uri="http://schemas.openxmlformats.org/drawingml/2006/table">
            <a:tbl>
              <a:tblPr firstRow="1">
                <a:tableStyleId>{2A488322-F2BA-4B5B-9748-0D474271808F}</a:tableStyleId>
              </a:tblPr>
              <a:tblGrid>
                <a:gridCol w="6737040">
                  <a:extLst>
                    <a:ext uri="{9D8B030D-6E8A-4147-A177-3AD203B41FA5}">
                      <a16:colId xmlns:a16="http://schemas.microsoft.com/office/drawing/2014/main" val="2698153288"/>
                    </a:ext>
                  </a:extLst>
                </a:gridCol>
              </a:tblGrid>
              <a:tr h="149985">
                <a:tc>
                  <a:txBody>
                    <a:bodyPr/>
                    <a:lstStyle/>
                    <a:p>
                      <a:r>
                        <a:rPr lang="fr-FR" sz="975" b="1" noProof="0">
                          <a:solidFill>
                            <a:schemeClr val="tx2"/>
                          </a:solidFill>
                        </a:rPr>
                        <a:t xml:space="preserve">Description des grands groupes de produits et/ou services que </a:t>
                      </a:r>
                      <a:r>
                        <a:rPr lang="fr-FR" sz="975" b="1" kern="1200" noProof="0">
                          <a:solidFill>
                            <a:schemeClr val="accent2"/>
                          </a:solidFill>
                          <a:latin typeface="+mn-lt"/>
                          <a:ea typeface="+mn-ea"/>
                          <a:cs typeface="+mn-cs"/>
                        </a:rPr>
                        <a:t>{{company_name}} </a:t>
                      </a:r>
                      <a:r>
                        <a:rPr lang="fr-FR" sz="975" b="1" kern="1200" noProof="0">
                          <a:solidFill>
                            <a:schemeClr val="tx2"/>
                          </a:solidFill>
                          <a:latin typeface="+mn-lt"/>
                          <a:ea typeface="+mn-ea"/>
                          <a:cs typeface="+mn-cs"/>
                        </a:rPr>
                        <a:t xml:space="preserve">propose</a:t>
                      </a:r>
                      <a:r>
                        <a:rPr lang="fr-FR" sz="975" b="1" noProof="0">
                          <a:solidFill>
                            <a:schemeClr val="tx2"/>
                          </a:solidFill>
                        </a:rPr>
                        <a:t> </a:t>
                      </a:r>
                      <a:r>
                        <a:rPr lang="fr-FR" sz="975" b="0" noProof="0">
                          <a:solidFill>
                            <a:schemeClr val="tx2"/>
                          </a:solidFill>
                        </a:rPr>
                        <a:t xml:space="preserve">(par. 46a)</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444751">
                <a:tc>
                  <a:txBody>
                    <a:bodyPr/>
                    <a:lstStyle/>
                    <a:p>
                      <a:pPr algn="l"/>
                      <a:r>
                        <a:rPr lang="fr-FR" sz="975" b="0" noProof="0">
                          <a:solidFill>
                            <a:schemeClr val="accent2"/>
                          </a:solidFill>
                        </a:rPr>
                        <a:t>{{markets_description}}</a:t>
                      </a:r>
                      <a:endParaRPr lang="fr-FR" sz="975" b="0" kern="1200" noProof="0">
                        <a:solidFill>
                          <a:schemeClr val="accent2"/>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513257532"/>
                  </a:ext>
                </a:extLst>
              </a:tr>
            </a:tbl>
          </a:graphicData>
        </a:graphic>
      </p:graphicFrame>
      <p:graphicFrame>
        <p:nvGraphicFramePr>
          <p:cNvPr id="12" name="Table 2">
            <a:extLst>
              <a:ext uri="{FF2B5EF4-FFF2-40B4-BE49-F238E27FC236}">
                <a16:creationId xmlns:a16="http://schemas.microsoft.com/office/drawing/2014/main" id="{BF7B7D4C-4B08-C9C0-EA8D-D975600D4842}"/>
              </a:ext>
            </a:extLst>
          </p:cNvPr>
          <p:cNvGraphicFramePr>
            <a:graphicFrameLocks noGrp="1"/>
          </p:cNvGraphicFramePr>
          <p:nvPr>
            <p:extLst>
              <p:ext uri="{D42A27DB-BD31-4B8C-83A1-F6EECF244321}">
                <p14:modId xmlns:p14="http://schemas.microsoft.com/office/powerpoint/2010/main" val="425849860"/>
              </p:ext>
            </p:extLst>
          </p:nvPr>
        </p:nvGraphicFramePr>
        <p:xfrm>
          <a:off x="411480" y="3785752"/>
          <a:ext cx="6737040" cy="852817"/>
        </p:xfrm>
        <a:graphic>
          <a:graphicData uri="http://schemas.openxmlformats.org/drawingml/2006/table">
            <a:tbl>
              <a:tblPr firstRow="1">
                <a:tableStyleId>{2A488322-F2BA-4B5B-9748-0D474271808F}</a:tableStyleId>
              </a:tblPr>
              <a:tblGrid>
                <a:gridCol w="6737040">
                  <a:extLst>
                    <a:ext uri="{9D8B030D-6E8A-4147-A177-3AD203B41FA5}">
                      <a16:colId xmlns:a16="http://schemas.microsoft.com/office/drawing/2014/main" val="2698153288"/>
                    </a:ext>
                  </a:extLst>
                </a:gridCol>
              </a:tblGrid>
              <a:tr h="162320">
                <a:tc>
                  <a:txBody>
                    <a:bodyPr/>
                    <a:lstStyle/>
                    <a:p>
                      <a:r>
                        <a:rPr lang="fr-FR" sz="975" b="1" noProof="0">
                          <a:solidFill>
                            <a:schemeClr val="tx2"/>
                          </a:solidFill>
                        </a:rPr>
                        <a:t xml:space="preserve">Description des grands marchés sur lesquels </a:t>
                      </a:r>
                      <a:r>
                        <a:rPr lang="fr-FR" sz="975" b="1" kern="1200" noProof="0">
                          <a:solidFill>
                            <a:schemeClr val="accent2"/>
                          </a:solidFill>
                          <a:latin typeface="+mn-lt"/>
                          <a:ea typeface="+mn-ea"/>
                          <a:cs typeface="+mn-cs"/>
                        </a:rPr>
                        <a:t>{{company_name}} </a:t>
                      </a:r>
                      <a:r>
                        <a:rPr lang="fr-FR" sz="975" b="1" noProof="0">
                          <a:solidFill>
                            <a:schemeClr val="tx2"/>
                          </a:solidFill>
                        </a:rPr>
                        <a:t xml:space="preserve">exerce ses activités </a:t>
                      </a:r>
                      <a:r>
                        <a:rPr lang="fr-FR" sz="975" b="0" noProof="0">
                          <a:solidFill>
                            <a:schemeClr val="tx2"/>
                          </a:solidFill>
                        </a:rPr>
                        <a:t xml:space="preserve">(par. 46b)</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644229">
                <a:tc>
                  <a:txBody>
                    <a:bodyPr/>
                    <a:lstStyle/>
                    <a:p>
                      <a:pPr algn="l"/>
                      <a:r>
                        <a:rPr lang="fr-FR" sz="975" b="0" noProof="0">
                          <a:solidFill>
                            <a:schemeClr val="accent2"/>
                          </a:solidFill>
                        </a:rPr>
                        <a:t>{{business_relationships}}</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513257532"/>
                  </a:ext>
                </a:extLst>
              </a:tr>
            </a:tbl>
          </a:graphicData>
        </a:graphic>
      </p:graphicFrame>
      <p:graphicFrame>
        <p:nvGraphicFramePr>
          <p:cNvPr id="14" name="Table 2">
            <a:extLst>
              <a:ext uri="{FF2B5EF4-FFF2-40B4-BE49-F238E27FC236}">
                <a16:creationId xmlns:a16="http://schemas.microsoft.com/office/drawing/2014/main" id="{9A35FA09-5062-B526-C260-BC3A7A5ED36B}"/>
              </a:ext>
            </a:extLst>
          </p:cNvPr>
          <p:cNvGraphicFramePr>
            <a:graphicFrameLocks noGrp="1"/>
          </p:cNvGraphicFramePr>
          <p:nvPr>
            <p:extLst>
              <p:ext uri="{D42A27DB-BD31-4B8C-83A1-F6EECF244321}">
                <p14:modId xmlns:p14="http://schemas.microsoft.com/office/powerpoint/2010/main" val="1582199989"/>
              </p:ext>
            </p:extLst>
          </p:nvPr>
        </p:nvGraphicFramePr>
        <p:xfrm>
          <a:off x="411480" y="4837656"/>
          <a:ext cx="6737040" cy="831730"/>
        </p:xfrm>
        <a:graphic>
          <a:graphicData uri="http://schemas.openxmlformats.org/drawingml/2006/table">
            <a:tbl>
              <a:tblPr firstRow="1">
                <a:tableStyleId>{2A488322-F2BA-4B5B-9748-0D474271808F}</a:tableStyleId>
              </a:tblPr>
              <a:tblGrid>
                <a:gridCol w="6737040">
                  <a:extLst>
                    <a:ext uri="{9D8B030D-6E8A-4147-A177-3AD203B41FA5}">
                      <a16:colId xmlns:a16="http://schemas.microsoft.com/office/drawing/2014/main" val="2698153288"/>
                    </a:ext>
                  </a:extLst>
                </a:gridCol>
              </a:tblGrid>
              <a:tr h="148215">
                <a:tc>
                  <a:txBody>
                    <a:bodyPr/>
                    <a:lstStyle/>
                    <a:p>
                      <a:r>
                        <a:rPr lang="fr-FR" sz="975" b="1" noProof="0">
                          <a:solidFill>
                            <a:schemeClr val="tx2"/>
                          </a:solidFill>
                        </a:rPr>
                        <a:t xml:space="preserve">Description des principales relations d’affaires de </a:t>
                      </a:r>
                      <a:r>
                        <a:rPr lang="fr-FR" sz="975" b="1" kern="1200" noProof="0">
                          <a:solidFill>
                            <a:schemeClr val="accent2"/>
                          </a:solidFill>
                          <a:latin typeface="+mn-lt"/>
                          <a:ea typeface="+mn-ea"/>
                          <a:cs typeface="+mn-cs"/>
                        </a:rPr>
                        <a:t>{{company_name}}</a:t>
                      </a:r>
                      <a:r>
                        <a:rPr lang="fr-FR" sz="975" b="1" kern="1200" noProof="0">
                          <a:solidFill>
                            <a:schemeClr val="accent1"/>
                          </a:solidFill>
                          <a:latin typeface="+mn-lt"/>
                          <a:ea typeface="+mn-ea"/>
                          <a:cs typeface="+mn-cs"/>
                        </a:rPr>
                        <a:t xml:space="preserve"/>
                      </a:r>
                      <a:r>
                        <a:rPr lang="fr-FR" sz="975" b="1" kern="1200" noProof="0">
                          <a:solidFill>
                            <a:schemeClr val="accent2"/>
                          </a:solidFill>
                          <a:latin typeface="+mn-lt"/>
                          <a:ea typeface="+mn-ea"/>
                          <a:cs typeface="+mn-cs"/>
                        </a:rPr>
                        <a:t> </a:t>
                      </a:r>
                      <a:r>
                        <a:rPr lang="fr-FR" sz="975" b="1" noProof="0">
                          <a:solidFill>
                            <a:schemeClr val="tx2"/>
                          </a:solidFill>
                        </a:rPr>
                        <a:t xml:space="preserve"/>
                      </a:r>
                      <a:r>
                        <a:rPr lang="fr-FR" sz="975" b="0" noProof="0">
                          <a:solidFill>
                            <a:schemeClr val="tx2"/>
                          </a:solidFill>
                        </a:rPr>
                        <a:t xml:space="preserve">(par. 46c)</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623142">
                <a:tc>
                  <a:txBody>
                    <a:bodyPr/>
                    <a:lstStyle/>
                    <a:p>
                      <a:pPr algn="l"/>
                      <a:r>
                        <a:rPr lang="fr-FR" sz="975" b="0" noProof="0">
                          <a:solidFill>
                            <a:schemeClr val="accent2"/>
                          </a:solidFill>
                        </a:rPr>
                        <a:t>{{strategy}}</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513257532"/>
                  </a:ext>
                </a:extLst>
              </a:tr>
            </a:tbl>
          </a:graphicData>
        </a:graphic>
      </p:graphicFrame>
      <p:graphicFrame>
        <p:nvGraphicFramePr>
          <p:cNvPr id="3" name="Table 2">
            <a:extLst>
              <a:ext uri="{FF2B5EF4-FFF2-40B4-BE49-F238E27FC236}">
                <a16:creationId xmlns:a16="http://schemas.microsoft.com/office/drawing/2014/main" id="{7F017BC3-E5E3-8830-A914-2C6CAB704D65}"/>
              </a:ext>
            </a:extLst>
          </p:cNvPr>
          <p:cNvGraphicFramePr>
            <a:graphicFrameLocks noGrp="1"/>
          </p:cNvGraphicFramePr>
          <p:nvPr>
            <p:extLst>
              <p:ext uri="{D42A27DB-BD31-4B8C-83A1-F6EECF244321}">
                <p14:modId xmlns:p14="http://schemas.microsoft.com/office/powerpoint/2010/main" val="3842437383"/>
              </p:ext>
            </p:extLst>
          </p:nvPr>
        </p:nvGraphicFramePr>
        <p:xfrm>
          <a:off x="411480" y="2222174"/>
          <a:ext cx="6737040" cy="568614"/>
        </p:xfrm>
        <a:graphic>
          <a:graphicData uri="http://schemas.openxmlformats.org/drawingml/2006/table">
            <a:tbl>
              <a:tblPr firstRow="1">
                <a:tableStyleId>{2A488322-F2BA-4B5B-9748-0D474271808F}</a:tableStyleId>
              </a:tblPr>
              <a:tblGrid>
                <a:gridCol w="6737040">
                  <a:extLst>
                    <a:ext uri="{9D8B030D-6E8A-4147-A177-3AD203B41FA5}">
                      <a16:colId xmlns:a16="http://schemas.microsoft.com/office/drawing/2014/main" val="2698153288"/>
                    </a:ext>
                  </a:extLst>
                </a:gridCol>
              </a:tblGrid>
              <a:tr h="155752">
                <a:tc>
                  <a:txBody>
                    <a:bodyPr/>
                    <a:lstStyle/>
                    <a:p>
                      <a:r>
                        <a:rPr lang="fr-FR" sz="975" b="1" noProof="0">
                          <a:solidFill>
                            <a:schemeClr val="tx2"/>
                          </a:solidFill>
                        </a:rPr>
                        <a:t xml:space="preserve">Description du modèle d’entreprise et de la stratégie globaux </a:t>
                      </a:r>
                      <a:r>
                        <a:rPr lang="fr-FR" sz="975" b="0" noProof="0">
                          <a:solidFill>
                            <a:schemeClr val="tx2"/>
                          </a:solidFill>
                        </a:rPr>
                        <a:t xml:space="preserve">(par. 46)</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360026">
                <a:tc>
                  <a:txBody>
                    <a:bodyPr/>
                    <a:lstStyle/>
                    <a:p>
                      <a:pPr algn="l"/>
                      <a:r>
                        <a:rPr lang="fr-FR" sz="975" b="0" noProof="0">
                          <a:solidFill>
                            <a:schemeClr val="accent2"/>
                          </a:solidFill>
                        </a:rPr>
                        <a:t>{{products_description}}</a:t>
                      </a:r>
                    </a:p>
                    <a:p>
                      <a:pPr algn="l"/>
                      <a:endParaRPr lang="fr-FR" sz="975" b="0" kern="1200" noProof="0">
                        <a:solidFill>
                          <a:schemeClr val="accent2"/>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513257532"/>
                  </a:ext>
                </a:extLst>
              </a:tr>
            </a:tbl>
          </a:graphicData>
        </a:graphic>
      </p:graphicFrame>
      <p:graphicFrame>
        <p:nvGraphicFramePr>
          <p:cNvPr id="13" name="Table 2">
            <a:extLst>
              <a:ext uri="{FF2B5EF4-FFF2-40B4-BE49-F238E27FC236}">
                <a16:creationId xmlns:a16="http://schemas.microsoft.com/office/drawing/2014/main" id="{82F97D4B-910A-955C-8249-17FCA8C2C83B}"/>
              </a:ext>
            </a:extLst>
          </p:cNvPr>
          <p:cNvGraphicFramePr>
            <a:graphicFrameLocks noGrp="1"/>
          </p:cNvGraphicFramePr>
          <p:nvPr>
            <p:extLst>
              <p:ext uri="{D42A27DB-BD31-4B8C-83A1-F6EECF244321}">
                <p14:modId xmlns:p14="http://schemas.microsoft.com/office/powerpoint/2010/main" val="1922068697"/>
              </p:ext>
            </p:extLst>
          </p:nvPr>
        </p:nvGraphicFramePr>
        <p:xfrm>
          <a:off x="411480" y="5866371"/>
          <a:ext cx="6737040" cy="808203"/>
        </p:xfrm>
        <a:graphic>
          <a:graphicData uri="http://schemas.openxmlformats.org/drawingml/2006/table">
            <a:tbl>
              <a:tblPr firstRow="1">
                <a:tableStyleId>{2A488322-F2BA-4B5B-9748-0D474271808F}</a:tableStyleId>
              </a:tblPr>
              <a:tblGrid>
                <a:gridCol w="6737040">
                  <a:extLst>
                    <a:ext uri="{9D8B030D-6E8A-4147-A177-3AD203B41FA5}">
                      <a16:colId xmlns:a16="http://schemas.microsoft.com/office/drawing/2014/main" val="2698153288"/>
                    </a:ext>
                  </a:extLst>
                </a:gridCol>
              </a:tblGrid>
              <a:tr h="126152">
                <a:tc>
                  <a:txBody>
                    <a:bodyPr/>
                    <a:lstStyle/>
                    <a:p>
                      <a:r>
                        <a:rPr lang="fr-FR" sz="975" b="1" noProof="0">
                          <a:solidFill>
                            <a:schemeClr val="tx2"/>
                          </a:solidFill>
                        </a:rPr>
                        <a:t xml:space="preserve">Description des éléments de la stratégie et du modèle d’entreprise de </a:t>
                      </a:r>
                      <a:r>
                        <a:rPr lang="fr-FR" sz="975" b="1" kern="1200" noProof="0">
                          <a:solidFill>
                            <a:schemeClr val="accent2"/>
                          </a:solidFill>
                          <a:latin typeface="+mn-lt"/>
                          <a:ea typeface="+mn-ea"/>
                          <a:cs typeface="+mn-cs"/>
                        </a:rPr>
                        <a:t>{{company_name}}</a:t>
                      </a:r>
                      <a:r>
                        <a:rPr lang="fr-FR" sz="975" b="1" kern="1200" noProof="0">
                          <a:solidFill>
                            <a:schemeClr val="accent1"/>
                          </a:solidFill>
                          <a:latin typeface="+mn-lt"/>
                          <a:ea typeface="+mn-ea"/>
                          <a:cs typeface="+mn-cs"/>
                        </a:rPr>
                        <a:t xml:space="preserve"> qui se rattachent à des enjeux de durabilité </a:t>
                      </a:r>
                      <a:r>
                        <a:rPr lang="fr-FR" sz="975" b="0" noProof="0">
                          <a:solidFill>
                            <a:schemeClr val="tx2"/>
                          </a:solidFill>
                        </a:rPr>
                        <a:t xml:space="preserve">(par. 46d)</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451025">
                <a:tc>
                  <a:txBody>
                    <a:bodyPr/>
                    <a:lstStyle/>
                    <a:p>
                      <a:pPr lvl="0" algn="l">
                        <a:buNone/>
                      </a:pPr>
                      <a:r>
                        <a:rPr lang="fr-FR" sz="975" b="0" noProof="0">
                          <a:solidFill>
                            <a:schemeClr val="accent2"/>
                          </a:solidFill>
                        </a:rPr>
                        <a:t>{{business_model}}</a:t>
                      </a:r>
                      <a:endParaRPr lang="fr-F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513257532"/>
                  </a:ext>
                </a:extLst>
              </a:tr>
            </a:tbl>
          </a:graphicData>
        </a:graphic>
      </p:graphicFrame>
      <p:sp>
        <p:nvSpPr>
          <p:cNvPr id="19" name="Tekstfelt 18">
            <a:extLst>
              <a:ext uri="{FF2B5EF4-FFF2-40B4-BE49-F238E27FC236}">
                <a16:creationId xmlns:a16="http://schemas.microsoft.com/office/drawing/2014/main" id="{6B666E4C-70AB-0C7E-E428-3654C2D744C6}"/>
              </a:ext>
            </a:extLst>
          </p:cNvPr>
          <p:cNvSpPr txBox="1"/>
          <p:nvPr/>
        </p:nvSpPr>
        <p:spPr>
          <a:xfrm>
            <a:off x="411480" y="1426739"/>
            <a:ext cx="6737040" cy="384705"/>
          </a:xfrm>
          <a:prstGeom prst="rect">
            <a:avLst/>
          </a:prstGeom>
          <a:noFill/>
        </p:spPr>
        <p:txBody>
          <a:bodyPr wrap="square">
            <a:spAutoFit/>
          </a:bodyPr>
          <a:lstStyle/>
          <a:p>
            <a:pPr rtl="0">
              <a:buNone/>
            </a:pPr>
            <a:r>
              <a:rPr lang="fr-FR" sz="975" b="0" i="0" u="none" strike="noStrike" noProof="0">
                <a:solidFill>
                  <a:schemeClr val="tx2"/>
                </a:solidFill>
                <a:effectLst/>
                <a:latin typeface="Inter"/>
              </a:rPr>
              <a:t xml:space="preserve">L’entreprise a décrit son modèle d’entreprise et sa stratégie globaux, ses produits et/ou services, ses marchés et ses relations d’affaires, et a indiqué si son modèle d’entreprise comporte des éléments liés à la durabilité. </a:t>
            </a:r>
            <a:endParaRPr lang="fr-FR" sz="975" noProof="0">
              <a:solidFill>
                <a:schemeClr val="tx2"/>
              </a:solidFill>
              <a:latin typeface="Inter"/>
            </a:endParaRPr>
          </a:p>
        </p:txBody>
      </p:sp>
    </p:spTree>
    <p:extLst>
      <p:ext uri="{BB962C8B-B14F-4D97-AF65-F5344CB8AC3E}">
        <p14:creationId xmlns:p14="http://schemas.microsoft.com/office/powerpoint/2010/main" val="35089370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411480" y="828089"/>
            <a:ext cx="6737040" cy="207741"/>
          </a:xfrm>
        </p:spPr>
        <p:txBody>
          <a:bodyPr/>
          <a:lstStyle/>
          <a:p>
            <a:r>
              <a:rPr lang="fr-FR" noProof="0">
                <a:latin typeface="+mn-lt"/>
                <a:ea typeface="+mn-ea"/>
                <a:cs typeface="+mn-cs"/>
              </a:rPr>
              <a:t>P</a:t>
            </a:r>
            <a:r>
              <a:rPr lang="fr-FR" sz="1475" b="1" kern="1200" spc="-10" noProof="0">
                <a:solidFill>
                  <a:schemeClr val="tx2"/>
                </a:solidFill>
                <a:latin typeface="+mn-lt"/>
                <a:ea typeface="+mn-ea"/>
                <a:cs typeface="+mn-cs"/>
              </a:rPr>
              <a:t xml:space="preserve">ratiques, politiques et initiatives futures en vue de la transition vers une économie plus durable (C2)</a:t>
            </a:r>
            <a:endParaRPr lang="fr-FR" noProof="0"/>
          </a:p>
        </p:txBody>
      </p:sp>
      <p:sp>
        <p:nvSpPr>
          <p:cNvPr id="2" name="Slide Number Placeholder 1">
            <a:extLst>
              <a:ext uri="{FF2B5EF4-FFF2-40B4-BE49-F238E27FC236}">
                <a16:creationId xmlns:a16="http://schemas.microsoft.com/office/drawing/2014/main" id="{F72C860F-3613-E98B-42C7-204BDA28A1F2}"/>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fr-FR" noProof="0" smtClean="0"/>
              <a:pPr/>
              <a:t>12</a:t>
            </a:fld>
            <a:endParaRPr lang="fr-FR" noProof="0"/>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fr-FR" noProof="0"/>
              <a:t>{{company_name}}</a:t>
            </a:r>
            <a:endParaRPr lang="fr-FR" b="0" noProof="0"/>
          </a:p>
          <a:p>
            <a:br>
              <a:rPr lang="fr-FR" noProof="0"/>
            </a:br>
            <a:endParaRPr lang="fr-FR" noProof="0"/>
          </a:p>
        </p:txBody>
      </p:sp>
      <p:graphicFrame>
        <p:nvGraphicFramePr>
          <p:cNvPr id="11" name="Table 2">
            <a:extLst>
              <a:ext uri="{FF2B5EF4-FFF2-40B4-BE49-F238E27FC236}">
                <a16:creationId xmlns:a16="http://schemas.microsoft.com/office/drawing/2014/main" id="{A420AFF6-414E-4EC8-A668-F0BFECC8260A}"/>
              </a:ext>
            </a:extLst>
          </p:cNvPr>
          <p:cNvGraphicFramePr>
            <a:graphicFrameLocks noGrp="1"/>
          </p:cNvGraphicFramePr>
          <p:nvPr>
            <p:extLst>
              <p:ext uri="{D42A27DB-BD31-4B8C-83A1-F6EECF244321}">
                <p14:modId xmlns:p14="http://schemas.microsoft.com/office/powerpoint/2010/main" val="924185767"/>
              </p:ext>
            </p:extLst>
          </p:nvPr>
        </p:nvGraphicFramePr>
        <p:xfrm>
          <a:off x="411480" y="2664954"/>
          <a:ext cx="6737040" cy="4496570"/>
        </p:xfrm>
        <a:graphic>
          <a:graphicData uri="http://schemas.openxmlformats.org/drawingml/2006/table">
            <a:tbl>
              <a:tblPr firstRow="1">
                <a:tableStyleId>{2A488322-F2BA-4B5B-9748-0D474271808F}</a:tableStyleId>
              </a:tblPr>
              <a:tblGrid>
                <a:gridCol w="1156593">
                  <a:extLst>
                    <a:ext uri="{9D8B030D-6E8A-4147-A177-3AD203B41FA5}">
                      <a16:colId xmlns:a16="http://schemas.microsoft.com/office/drawing/2014/main" val="1902117154"/>
                    </a:ext>
                  </a:extLst>
                </a:gridCol>
                <a:gridCol w="1860149">
                  <a:extLst>
                    <a:ext uri="{9D8B030D-6E8A-4147-A177-3AD203B41FA5}">
                      <a16:colId xmlns:a16="http://schemas.microsoft.com/office/drawing/2014/main" val="1904521774"/>
                    </a:ext>
                  </a:extLst>
                </a:gridCol>
                <a:gridCol w="1860149">
                  <a:extLst>
                    <a:ext uri="{9D8B030D-6E8A-4147-A177-3AD203B41FA5}">
                      <a16:colId xmlns:a16="http://schemas.microsoft.com/office/drawing/2014/main" val="3164053669"/>
                    </a:ext>
                  </a:extLst>
                </a:gridCol>
                <a:gridCol w="1860149">
                  <a:extLst>
                    <a:ext uri="{9D8B030D-6E8A-4147-A177-3AD203B41FA5}">
                      <a16:colId xmlns:a16="http://schemas.microsoft.com/office/drawing/2014/main" val="1484983729"/>
                    </a:ext>
                  </a:extLst>
                </a:gridCol>
              </a:tblGrid>
              <a:tr h="291342">
                <a:tc rowSpan="2">
                  <a:txBody>
                    <a:bodyPr/>
                    <a:lstStyle/>
                    <a:p>
                      <a:pPr algn="l"/>
                      <a:r>
                        <a:rPr lang="fr-FR" sz="975" b="1" kern="1200" spc="-10" noProof="0">
                          <a:solidFill>
                            <a:schemeClr val="tx2"/>
                          </a:solidFill>
                          <a:latin typeface="+mn-lt"/>
                          <a:ea typeface="+mn-ea"/>
                          <a:cs typeface="+mn-cs"/>
                        </a:rPr>
                        <a:t xml:space="preserve">Domaine</a:t>
                      </a:r>
                    </a:p>
                    <a:p>
                      <a:pPr algn="l"/>
                      <a:r>
                        <a:rPr lang="fr-FR" sz="975" b="0" kern="1200" spc="-10" noProof="0">
                          <a:solidFill>
                            <a:schemeClr val="tx2"/>
                          </a:solidFill>
                          <a:latin typeface="+mn-lt"/>
                          <a:ea typeface="+mn-ea"/>
                          <a:cs typeface="+mn-cs"/>
                        </a:rPr>
                        <a:t xml:space="preserve">(par. 47)</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rowSpan="2">
                  <a:txBody>
                    <a:bodyPr/>
                    <a:lstStyle/>
                    <a:p>
                      <a:pPr algn="l"/>
                      <a:r>
                        <a:rPr lang="fr-FR" sz="975" b="1" kern="1200" spc="-10" noProof="0">
                          <a:solidFill>
                            <a:schemeClr val="tx2"/>
                          </a:solidFill>
                          <a:latin typeface="+mn-lt"/>
                          <a:ea typeface="+mn-ea"/>
                          <a:cs typeface="+mn-cs"/>
                        </a:rPr>
                        <a:t xml:space="preserve">Brève description </a:t>
                      </a:r>
                      <a:r>
                        <a:rPr lang="fr-FR" sz="975" b="1" u="none" kern="1200" spc="-10" noProof="0">
                          <a:solidFill>
                            <a:schemeClr val="tx2"/>
                          </a:solidFill>
                          <a:latin typeface="+mn-lt"/>
                          <a:ea typeface="+mn-ea"/>
                          <a:cs typeface="+mn-cs"/>
                        </a:rPr>
                        <a:t xml:space="preserve">des </a:t>
                      </a:r>
                      <a:r>
                        <a:rPr lang="fr-FR" sz="975" b="1" kern="1200" spc="-10" noProof="0">
                          <a:solidFill>
                            <a:schemeClr val="tx2"/>
                          </a:solidFill>
                          <a:latin typeface="+mn-lt"/>
                          <a:ea typeface="+mn-ea"/>
                          <a:cs typeface="+mn-cs"/>
                        </a:rPr>
                        <a:t xml:space="preserve">pratiques/politiques/actions existantes (cf. point B2)</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rowSpan="2">
                  <a:txBody>
                    <a:bodyPr/>
                    <a:lstStyle/>
                    <a:p>
                      <a:pPr algn="l"/>
                      <a:r>
                        <a:rPr lang="fr-FR" sz="975" b="1" kern="1200" spc="-10" noProof="0">
                          <a:solidFill>
                            <a:schemeClr val="tx2"/>
                          </a:solidFill>
                          <a:latin typeface="+mn-lt"/>
                          <a:ea typeface="+mn-ea"/>
                          <a:cs typeface="+mn-cs"/>
                        </a:rPr>
                        <a:t xml:space="preserve">Brève description des </a:t>
                      </a:r>
                      <a:r>
                        <a:rPr lang="fr-FR" sz="975" b="1" u="none" kern="1200" spc="-10" noProof="0">
                          <a:solidFill>
                            <a:schemeClr val="tx2"/>
                          </a:solidFill>
                          <a:latin typeface="+mn-lt"/>
                          <a:ea typeface="+mn-ea"/>
                          <a:cs typeface="+mn-cs"/>
                        </a:rPr>
                        <a:t xml:space="preserve">cibles</a:t>
                      </a:r>
                      <a:r>
                        <a:rPr lang="fr-FR" sz="975" b="1" kern="1200" spc="-10" noProof="0">
                          <a:solidFill>
                            <a:schemeClr val="tx2"/>
                          </a:solidFill>
                          <a:latin typeface="+mn-lt"/>
                          <a:ea typeface="+mn-ea"/>
                          <a:cs typeface="+mn-cs"/>
                        </a:rPr>
                        <a:t xml:space="preserve"> futures éventuelles (cf. point B2)</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75" spc="-10" noProof="0">
                          <a:solidFill>
                            <a:schemeClr val="bg1"/>
                          </a:solidFill>
                        </a:rPr>
                        <a:t xml:space="preserve">Information </a:t>
                      </a:r>
                      <a:r>
                        <a:rPr lang="fr-FR" sz="975" b="1" spc="-10" noProof="0">
                          <a:solidFill>
                            <a:schemeClr val="bg1"/>
                          </a:solidFill>
                        </a:rPr>
                        <a:t xml:space="preserve">facultative</a:t>
                      </a:r>
                      <a:endParaRPr lang="fr-FR" sz="975" spc="-10" noProof="0">
                        <a:solidFill>
                          <a:schemeClr val="bg1"/>
                        </a:solidFill>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1B4529"/>
                    </a:solidFill>
                  </a:tcPr>
                </a:tc>
                <a:extLst>
                  <a:ext uri="{0D108BD9-81ED-4DB2-BD59-A6C34878D82A}">
                    <a16:rowId xmlns:a16="http://schemas.microsoft.com/office/drawing/2014/main" val="3642311251"/>
                  </a:ext>
                </a:extLst>
              </a:tr>
              <a:tr h="477218">
                <a:tc vMerge="1">
                  <a:txBody>
                    <a:bodyPr/>
                    <a:lstStyle/>
                    <a:p>
                      <a:endParaRPr lang="fr-FR"/>
                    </a:p>
                  </a:txBody>
                  <a:tcPr/>
                </a:tc>
                <a:tc vMerge="1">
                  <a:txBody>
                    <a:bodyPr/>
                    <a:lstStyle/>
                    <a:p>
                      <a:endParaRPr lang="fr-FR"/>
                    </a:p>
                  </a:txBody>
                  <a:tcPr/>
                </a:tc>
                <a:tc vMerge="1">
                  <a:txBody>
                    <a:bodyPr/>
                    <a:lstStyle/>
                    <a:p>
                      <a:endParaRPr lang="fr-F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75" b="1" kern="1200" spc="-10" noProof="0">
                          <a:solidFill>
                            <a:schemeClr val="tx2"/>
                          </a:solidFill>
                          <a:latin typeface="+mn-lt"/>
                          <a:ea typeface="+mn-ea"/>
                          <a:cs typeface="+mn-cs"/>
                        </a:rPr>
                        <a:t xml:space="preserve">Niveau hiérarchique le plus élevé responsable de la mise en œuvre </a:t>
                      </a:r>
                      <a:r>
                        <a:rPr lang="fr-FR" sz="975" b="0" kern="1200" spc="-10" noProof="0">
                          <a:solidFill>
                            <a:schemeClr val="tx2"/>
                          </a:solidFill>
                          <a:latin typeface="+mn-lt"/>
                          <a:ea typeface="+mn-ea"/>
                          <a:cs typeface="+mn-cs"/>
                        </a:rPr>
                        <a:t xml:space="preserve">(par. 48)</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168422229"/>
                  </a:ext>
                </a:extLst>
              </a:tr>
              <a:tr h="291263">
                <a:tc>
                  <a:txBody>
                    <a:bodyPr/>
                    <a:lstStyle/>
                    <a:p>
                      <a:pPr algn="l"/>
                      <a:r>
                        <a:rPr lang="fr-FR" sz="975" b="1" kern="1200" spc="-10" noProof="0">
                          <a:solidFill>
                            <a:schemeClr val="tx2"/>
                          </a:solidFill>
                          <a:latin typeface="+mn-lt"/>
                          <a:ea typeface="+mn-ea"/>
                          <a:cs typeface="+mn-cs"/>
                        </a:rPr>
                        <a:t xml:space="preserve">Changement climatique</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fr-FR" sz="975" b="0" i="0" u="none" strike="noStrike" noProof="0">
                          <a:solidFill>
                            <a:srgbClr val="2D55FF"/>
                          </a:solidFill>
                          <a:effectLst/>
                          <a:latin typeface="Inter"/>
                        </a:rPr>
                        <a:t>{{</a:t>
                      </a:r>
                      <a:r>
                        <a:rPr lang="fr-FR" sz="975" b="0" i="0" u="none" strike="noStrike" noProof="0">
                          <a:solidFill>
                            <a:srgbClr val="2D55FF"/>
                          </a:solidFill>
                          <a:effectLst/>
                        </a:rPr>
                        <a:t>Climate_C2_Description_Existing_Practices</a:t>
                      </a:r>
                      <a:r>
                        <a:rPr lang="fr-FR" sz="975" b="0" i="0" u="none" strike="noStrike" noProof="0">
                          <a:solidFill>
                            <a:srgbClr val="2D55FF"/>
                          </a:solidFill>
                          <a:effectLst/>
                          <a:latin typeface="Inter"/>
                        </a:rPr>
                        <a:t>}}</a:t>
                      </a:r>
                      <a:endParaRPr lang="fr-F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fr-FR" sz="975" b="0" i="0" u="none" strike="noStrike" noProof="0">
                          <a:solidFill>
                            <a:srgbClr val="2D55FF"/>
                          </a:solidFill>
                          <a:effectLst/>
                          <a:latin typeface="Inter"/>
                        </a:rPr>
                        <a:t>{{</a:t>
                      </a:r>
                      <a:r>
                        <a:rPr lang="fr-FR" sz="975" b="0" i="0" u="none" strike="noStrike" noProof="0">
                          <a:solidFill>
                            <a:srgbClr val="2D55FF"/>
                          </a:solidFill>
                          <a:effectLst/>
                        </a:rPr>
                        <a:t>Climate_C2_Future_Practices</a:t>
                      </a:r>
                      <a:r>
                        <a:rPr lang="fr-FR" sz="975" b="0" i="0" u="none" strike="noStrike" noProof="0">
                          <a:solidFill>
                            <a:srgbClr val="2D55FF"/>
                          </a:solidFill>
                          <a:effectLst/>
                          <a:latin typeface="Inter"/>
                        </a:rPr>
                        <a:t>}}</a:t>
                      </a:r>
                      <a:endParaRPr lang="fr-F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fr-FR" sz="975" b="0" i="0" u="none" strike="noStrike" noProof="0">
                          <a:solidFill>
                            <a:srgbClr val="2D55FF"/>
                          </a:solidFill>
                          <a:effectLst/>
                          <a:latin typeface="Inter"/>
                        </a:rPr>
                        <a:t>{{</a:t>
                      </a:r>
                      <a:r>
                        <a:rPr lang="fr-FR" sz="975" b="0" i="0" u="none" strike="noStrike" noProof="0">
                          <a:solidFill>
                            <a:srgbClr val="2D55FF"/>
                          </a:solidFill>
                          <a:effectLst/>
                        </a:rPr>
                        <a:t>Climate_C2_Management_Level</a:t>
                      </a:r>
                      <a:r>
                        <a:rPr lang="fr-FR" sz="975" b="0" i="0" u="none" strike="noStrike" noProof="0">
                          <a:solidFill>
                            <a:srgbClr val="2D55FF"/>
                          </a:solidFill>
                          <a:effectLst/>
                          <a:latin typeface="Inter"/>
                        </a:rPr>
                        <a:t>}}</a:t>
                      </a:r>
                      <a:endParaRPr lang="fr-F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276403">
                <a:tc>
                  <a:txBody>
                    <a:bodyPr/>
                    <a:lstStyle/>
                    <a:p>
                      <a:pPr algn="l"/>
                      <a:r>
                        <a:rPr lang="fr-FR" sz="975" b="1" kern="1200" spc="-10" noProof="0">
                          <a:solidFill>
                            <a:schemeClr val="tx2"/>
                          </a:solidFill>
                          <a:latin typeface="+mn-lt"/>
                          <a:ea typeface="+mn-ea"/>
                          <a:cs typeface="+mn-cs"/>
                        </a:rPr>
                        <a:t>Pollution</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fr-FR" sz="975" b="0" i="0" u="none" strike="noStrike" noProof="0">
                          <a:solidFill>
                            <a:srgbClr val="2D55FF"/>
                          </a:solidFill>
                          <a:effectLst/>
                          <a:latin typeface="Inter"/>
                        </a:rPr>
                        <a:t>{{</a:t>
                      </a:r>
                      <a:r>
                        <a:rPr lang="fr-FR" sz="975" b="0" i="0" u="none" strike="noStrike" noProof="0">
                          <a:solidFill>
                            <a:srgbClr val="2D55FF"/>
                          </a:solidFill>
                          <a:effectLst/>
                        </a:rPr>
                        <a:t>Pollution_C2_Description_Existing_Practices</a:t>
                      </a:r>
                      <a:r>
                        <a:rPr lang="fr-FR" sz="975" b="0" i="0" u="none" strike="noStrike" noProof="0">
                          <a:solidFill>
                            <a:srgbClr val="2D55FF"/>
                          </a:solidFill>
                          <a:effectLst/>
                          <a:latin typeface="Inter"/>
                        </a:rPr>
                        <a:t>}}</a:t>
                      </a:r>
                      <a:endParaRPr lang="fr-FR"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fr-FR" sz="975" b="0" i="0" u="none" strike="noStrike" noProof="0">
                          <a:solidFill>
                            <a:srgbClr val="2D55FF"/>
                          </a:solidFill>
                          <a:effectLst/>
                          <a:latin typeface="Inter"/>
                        </a:rPr>
                        <a:t>{{</a:t>
                      </a:r>
                      <a:r>
                        <a:rPr lang="fr-FR" sz="975" b="0" i="0" u="none" strike="noStrike" noProof="0">
                          <a:solidFill>
                            <a:srgbClr val="2D55FF"/>
                          </a:solidFill>
                          <a:effectLst/>
                        </a:rPr>
                        <a:t>Pollution_C2_Future_Practices</a:t>
                      </a:r>
                      <a:r>
                        <a:rPr lang="fr-FR" sz="975" b="0" i="0" u="none" strike="noStrike" noProof="0">
                          <a:solidFill>
                            <a:srgbClr val="2D55FF"/>
                          </a:solidFill>
                          <a:effectLst/>
                          <a:latin typeface="Inter"/>
                        </a:rPr>
                        <a:t>}}</a:t>
                      </a:r>
                      <a:endParaRPr lang="fr-FR"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fr-FR" sz="975" b="0" i="0" u="none" strike="noStrike" noProof="0">
                          <a:solidFill>
                            <a:srgbClr val="2D55FF"/>
                          </a:solidFill>
                          <a:effectLst/>
                          <a:latin typeface="Inter"/>
                        </a:rPr>
                        <a:t>{{</a:t>
                      </a:r>
                      <a:r>
                        <a:rPr lang="fr-FR" sz="975" b="0" i="0" u="none" strike="noStrike" noProof="0">
                          <a:solidFill>
                            <a:srgbClr val="2D55FF"/>
                          </a:solidFill>
                          <a:effectLst/>
                        </a:rPr>
                        <a:t>Pollution_C2_Management_Level</a:t>
                      </a:r>
                      <a:r>
                        <a:rPr lang="fr-FR" sz="975" b="0" i="0" u="none" strike="noStrike" noProof="0">
                          <a:solidFill>
                            <a:srgbClr val="2D55FF"/>
                          </a:solidFill>
                          <a:effectLst/>
                          <a:latin typeface="Inter"/>
                        </a:rPr>
                        <a:t>}}</a:t>
                      </a:r>
                      <a:endParaRPr lang="fr-FR"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284254">
                <a:tc>
                  <a:txBody>
                    <a:bodyPr/>
                    <a:lstStyle/>
                    <a:p>
                      <a:pPr algn="l"/>
                      <a:r>
                        <a:rPr lang="fr-FR" sz="975" b="1" kern="1200" spc="-10" noProof="0">
                          <a:solidFill>
                            <a:schemeClr val="tx2"/>
                          </a:solidFill>
                          <a:latin typeface="+mn-lt"/>
                          <a:ea typeface="+mn-ea"/>
                          <a:cs typeface="+mn-cs"/>
                        </a:rPr>
                        <a:t xml:space="preserve">Ressources hydriques et marines</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fr-FR" sz="975" b="0" i="0" u="none" strike="noStrike" noProof="0">
                          <a:solidFill>
                            <a:srgbClr val="2D55FF"/>
                          </a:solidFill>
                          <a:effectLst/>
                          <a:latin typeface="Inter"/>
                        </a:rPr>
                        <a:t>{{</a:t>
                      </a:r>
                      <a:r>
                        <a:rPr lang="fr-FR" sz="975" b="0" i="0" u="none" strike="noStrike" noProof="0">
                          <a:solidFill>
                            <a:srgbClr val="2D55FF"/>
                          </a:solidFill>
                          <a:effectLst/>
                        </a:rPr>
                        <a:t>Water_C2_Description_Existing_Practices</a:t>
                      </a:r>
                      <a:r>
                        <a:rPr lang="fr-FR" sz="975" b="0" i="0" u="none" strike="noStrike" noProof="0">
                          <a:solidFill>
                            <a:srgbClr val="2D55FF"/>
                          </a:solidFill>
                          <a:effectLst/>
                          <a:latin typeface="Inter"/>
                        </a:rPr>
                        <a:t>}}</a:t>
                      </a:r>
                      <a:endParaRPr lang="fr-FR"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fr-FR" sz="975" b="0" i="0" u="none" strike="noStrike" noProof="0">
                          <a:solidFill>
                            <a:srgbClr val="2D55FF"/>
                          </a:solidFill>
                          <a:effectLst/>
                          <a:latin typeface="Inter"/>
                        </a:rPr>
                        <a:t>{{</a:t>
                      </a:r>
                      <a:r>
                        <a:rPr lang="fr-FR" sz="975" b="0" i="0" u="none" strike="noStrike" noProof="0">
                          <a:solidFill>
                            <a:srgbClr val="2D55FF"/>
                          </a:solidFill>
                          <a:effectLst/>
                        </a:rPr>
                        <a:t>Water_C2_Future_Practices</a:t>
                      </a:r>
                      <a:r>
                        <a:rPr lang="fr-FR" sz="975" b="0" i="0" u="none" strike="noStrike" noProof="0">
                          <a:solidFill>
                            <a:srgbClr val="2D55FF"/>
                          </a:solidFill>
                          <a:effectLst/>
                          <a:latin typeface="Inter"/>
                        </a:rPr>
                        <a:t>}}</a:t>
                      </a:r>
                      <a:endParaRPr lang="fr-FR"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fr-FR" sz="975" b="0" i="0" u="none" strike="noStrike" noProof="0">
                          <a:solidFill>
                            <a:srgbClr val="2D55FF"/>
                          </a:solidFill>
                          <a:effectLst/>
                          <a:latin typeface="Inter"/>
                        </a:rPr>
                        <a:t>{{</a:t>
                      </a:r>
                      <a:r>
                        <a:rPr lang="fr-FR" sz="975" b="0" i="0" u="none" strike="noStrike" noProof="0">
                          <a:solidFill>
                            <a:srgbClr val="2D55FF"/>
                          </a:solidFill>
                          <a:effectLst/>
                          <a:latin typeface="IBM Plex Sans"/>
                        </a:rPr>
                        <a:t>Water_C2_Management_Level</a:t>
                      </a:r>
                      <a:r>
                        <a:rPr lang="fr-FR" sz="975" b="0" i="0" u="none" strike="noStrike" noProof="0">
                          <a:solidFill>
                            <a:srgbClr val="2D55FF"/>
                          </a:solidFill>
                          <a:effectLst/>
                          <a:latin typeface="Inter"/>
                        </a:rPr>
                        <a:t>}}</a:t>
                      </a:r>
                      <a:endParaRPr lang="fr-FR" sz="975" b="0" i="0" u="none" strike="noStrike" noProof="0">
                        <a:solidFill>
                          <a:srgbClr val="000000"/>
                        </a:solidFill>
                        <a:effectLst/>
                        <a:latin typeface="Inter"/>
                      </a:endParaRPr>
                    </a:p>
                    <a:p>
                      <a:pPr lvl="0">
                        <a:buNone/>
                      </a:pPr>
                      <a:endParaRPr lang="fr-FR" sz="975" b="0" i="0" u="none" strike="noStrike" noProof="0">
                        <a:solidFill>
                          <a:srgbClr val="2D55FF"/>
                        </a:solidFill>
                        <a:effectLst/>
                        <a:latin typeface="Inter"/>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442156864"/>
                  </a:ext>
                </a:extLst>
              </a:tr>
              <a:tr h="336600">
                <a:tc>
                  <a:txBody>
                    <a:bodyPr/>
                    <a:lstStyle/>
                    <a:p>
                      <a:pPr algn="l"/>
                      <a:r>
                        <a:rPr lang="fr-FR" sz="975" b="1" kern="1200" spc="-10" noProof="0">
                          <a:solidFill>
                            <a:schemeClr val="tx2"/>
                          </a:solidFill>
                          <a:latin typeface="+mn-lt"/>
                          <a:ea typeface="+mn-ea"/>
                          <a:cs typeface="+mn-cs"/>
                        </a:rPr>
                        <a:t xml:space="preserve">Biodiversité et écosystèmes</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fr-FR" sz="975" b="0" i="0" u="none" strike="noStrike" noProof="0">
                          <a:solidFill>
                            <a:srgbClr val="2D55FF"/>
                          </a:solidFill>
                          <a:effectLst/>
                          <a:latin typeface="Inter"/>
                        </a:rPr>
                        <a:t>{{</a:t>
                      </a:r>
                      <a:r>
                        <a:rPr lang="fr-FR" sz="975" b="0" i="0" u="none" strike="noStrike" noProof="0">
                          <a:solidFill>
                            <a:srgbClr val="2D55FF"/>
                          </a:solidFill>
                          <a:effectLst/>
                        </a:rPr>
                        <a:t>Bio_C2_Description_Existing_Practices</a:t>
                      </a:r>
                      <a:r>
                        <a:rPr lang="fr-FR" sz="975" b="0" i="0" u="none" strike="noStrike" noProof="0">
                          <a:solidFill>
                            <a:srgbClr val="2D55FF"/>
                          </a:solidFill>
                          <a:effectLst/>
                          <a:latin typeface="Inter"/>
                        </a:rPr>
                        <a:t>}}</a:t>
                      </a:r>
                      <a:endParaRPr lang="fr-FR"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fr-FR" sz="975" b="0" i="0" u="none" strike="noStrike" noProof="0">
                          <a:solidFill>
                            <a:srgbClr val="2D55FF"/>
                          </a:solidFill>
                          <a:effectLst/>
                          <a:latin typeface="Inter"/>
                        </a:rPr>
                        <a:t>{{</a:t>
                      </a:r>
                      <a:r>
                        <a:rPr lang="fr-FR" sz="975" b="0" i="0" u="none" strike="noStrike" noProof="0">
                          <a:solidFill>
                            <a:srgbClr val="2D55FF"/>
                          </a:solidFill>
                          <a:effectLst/>
                        </a:rPr>
                        <a:t>Bio_C2_Future_Practices</a:t>
                      </a:r>
                      <a:r>
                        <a:rPr lang="fr-FR" sz="975" b="0" i="0" u="none" strike="noStrike" noProof="0">
                          <a:solidFill>
                            <a:srgbClr val="2D55FF"/>
                          </a:solidFill>
                          <a:effectLst/>
                          <a:latin typeface="Inter"/>
                        </a:rPr>
                        <a:t>}}</a:t>
                      </a:r>
                      <a:endParaRPr lang="fr-FR"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fr-FR" sz="975" b="0" i="0" u="none" strike="noStrike" noProof="0">
                          <a:solidFill>
                            <a:srgbClr val="2D55FF"/>
                          </a:solidFill>
                          <a:effectLst/>
                          <a:latin typeface="Inter"/>
                        </a:rPr>
                        <a:t>{{</a:t>
                      </a:r>
                      <a:r>
                        <a:rPr lang="fr-FR" sz="975" b="0" i="0" u="none" strike="noStrike" noProof="0">
                          <a:solidFill>
                            <a:srgbClr val="2D55FF"/>
                          </a:solidFill>
                          <a:effectLst/>
                        </a:rPr>
                        <a:t>Bio_C2_Management_Level</a:t>
                      </a:r>
                      <a:r>
                        <a:rPr lang="fr-FR" sz="975" b="0" i="0" u="none" strike="noStrike" noProof="0">
                          <a:solidFill>
                            <a:srgbClr val="2D55FF"/>
                          </a:solidFill>
                          <a:effectLst/>
                          <a:latin typeface="Inter"/>
                        </a:rPr>
                        <a:t>}}</a:t>
                      </a:r>
                      <a:endParaRPr lang="fr-FR"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197746340"/>
                  </a:ext>
                </a:extLst>
              </a:tr>
              <a:tr h="284254">
                <a:tc>
                  <a:txBody>
                    <a:bodyPr/>
                    <a:lstStyle/>
                    <a:p>
                      <a:pPr algn="l"/>
                      <a:r>
                        <a:rPr lang="fr-FR" sz="975" b="1" kern="1200" spc="-10" noProof="0">
                          <a:solidFill>
                            <a:schemeClr val="tx2"/>
                          </a:solidFill>
                          <a:latin typeface="+mn-lt"/>
                          <a:ea typeface="+mn-ea"/>
                          <a:cs typeface="+mn-cs"/>
                        </a:rPr>
                        <a:t xml:space="preserve">Économie circulaire</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fr-FR" sz="975" b="0" i="0" u="none" strike="noStrike" noProof="0">
                          <a:solidFill>
                            <a:srgbClr val="2D55FF"/>
                          </a:solidFill>
                          <a:effectLst/>
                          <a:latin typeface="Inter"/>
                        </a:rPr>
                        <a:t>{{</a:t>
                      </a:r>
                      <a:r>
                        <a:rPr lang="fr-FR" sz="975" b="0" i="0" u="none" strike="noStrike" noProof="0">
                          <a:solidFill>
                            <a:srgbClr val="2D55FF"/>
                          </a:solidFill>
                          <a:effectLst/>
                        </a:rPr>
                        <a:t>Circular_C2_Description_Existing_Practices</a:t>
                      </a:r>
                      <a:r>
                        <a:rPr lang="fr-FR" sz="975" b="0" i="0" u="none" strike="noStrike" noProof="0">
                          <a:solidFill>
                            <a:srgbClr val="2D55FF"/>
                          </a:solidFill>
                          <a:effectLst/>
                          <a:latin typeface="Inter"/>
                        </a:rPr>
                        <a:t>}}</a:t>
                      </a:r>
                      <a:endParaRPr lang="fr-FR"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fr-FR" sz="975" b="0" i="0" u="none" strike="noStrike" noProof="0">
                          <a:solidFill>
                            <a:srgbClr val="2D55FF"/>
                          </a:solidFill>
                          <a:effectLst/>
                          <a:latin typeface="Inter"/>
                        </a:rPr>
                        <a:t>{{</a:t>
                      </a:r>
                      <a:r>
                        <a:rPr lang="fr-FR" sz="975" b="0" i="0" u="none" strike="noStrike" noProof="0">
                          <a:solidFill>
                            <a:srgbClr val="2D55FF"/>
                          </a:solidFill>
                          <a:effectLst/>
                        </a:rPr>
                        <a:t>Circular_C2_Future_Practices</a:t>
                      </a:r>
                      <a:r>
                        <a:rPr lang="fr-FR" sz="975" b="0" i="0" u="none" strike="noStrike" noProof="0">
                          <a:solidFill>
                            <a:srgbClr val="2D55FF"/>
                          </a:solidFill>
                          <a:effectLst/>
                          <a:latin typeface="Inter"/>
                        </a:rPr>
                        <a:t>}}</a:t>
                      </a:r>
                      <a:endParaRPr lang="fr-FR"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fr-FR" sz="975" b="0" i="0" u="none" strike="noStrike" noProof="0">
                          <a:solidFill>
                            <a:srgbClr val="2D55FF"/>
                          </a:solidFill>
                          <a:effectLst/>
                          <a:latin typeface="Inter"/>
                        </a:rPr>
                        <a:t>{{</a:t>
                      </a:r>
                      <a:r>
                        <a:rPr lang="fr-FR" sz="975" b="0" i="0" u="none" strike="noStrike" noProof="0">
                          <a:solidFill>
                            <a:srgbClr val="2D55FF"/>
                          </a:solidFill>
                          <a:effectLst/>
                        </a:rPr>
                        <a:t>Circular_C2_Management_Level</a:t>
                      </a:r>
                      <a:r>
                        <a:rPr lang="fr-FR" sz="975" b="0" i="0" u="none" strike="noStrike" noProof="0">
                          <a:solidFill>
                            <a:srgbClr val="2D55FF"/>
                          </a:solidFill>
                          <a:effectLst/>
                          <a:latin typeface="Inter"/>
                        </a:rPr>
                        <a:t>}}</a:t>
                      </a:r>
                      <a:endParaRPr lang="fr-FR"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2359221"/>
                  </a:ext>
                </a:extLst>
              </a:tr>
              <a:tr h="284254">
                <a:tc>
                  <a:txBody>
                    <a:bodyPr/>
                    <a:lstStyle/>
                    <a:p>
                      <a:pPr algn="l"/>
                      <a:r>
                        <a:rPr lang="fr-FR" sz="975" b="1" kern="1200" spc="-10" noProof="0">
                          <a:solidFill>
                            <a:schemeClr val="tx2"/>
                          </a:solidFill>
                          <a:latin typeface="+mn-lt"/>
                          <a:ea typeface="+mn-ea"/>
                          <a:cs typeface="+mn-cs"/>
                        </a:rPr>
                        <a:t xml:space="preserve">Personnel de l’entreprise</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fr-FR" sz="975" b="0" i="0" u="none" strike="noStrike" noProof="0">
                          <a:solidFill>
                            <a:srgbClr val="2D55FF"/>
                          </a:solidFill>
                          <a:effectLst/>
                          <a:latin typeface="Inter"/>
                        </a:rPr>
                        <a:t>{{</a:t>
                      </a:r>
                      <a:r>
                        <a:rPr lang="fr-FR" sz="975" b="0" i="0" u="none" strike="noStrike" noProof="0">
                          <a:solidFill>
                            <a:srgbClr val="2D55FF"/>
                          </a:solidFill>
                          <a:effectLst/>
                        </a:rPr>
                        <a:t>Own_Workforce_C2_Description_Existing_Practices</a:t>
                      </a:r>
                      <a:r>
                        <a:rPr lang="fr-FR" sz="975" b="0" i="0" u="none" strike="noStrike" noProof="0">
                          <a:solidFill>
                            <a:srgbClr val="2D55FF"/>
                          </a:solidFill>
                          <a:effectLst/>
                          <a:latin typeface="Inter"/>
                        </a:rPr>
                        <a:t>}}</a:t>
                      </a:r>
                      <a:endParaRPr lang="fr-FR"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fr-FR" sz="975" b="0" i="0" u="none" strike="noStrike" noProof="0">
                          <a:solidFill>
                            <a:srgbClr val="2D55FF"/>
                          </a:solidFill>
                          <a:effectLst/>
                          <a:latin typeface="Inter"/>
                        </a:rPr>
                        <a:t>{{</a:t>
                      </a:r>
                      <a:r>
                        <a:rPr lang="fr-FR" sz="975" b="0" i="0" u="none" strike="noStrike" noProof="0">
                          <a:solidFill>
                            <a:srgbClr val="2D55FF"/>
                          </a:solidFill>
                          <a:effectLst/>
                        </a:rPr>
                        <a:t>Own_Workforce_C2_Future_Practices</a:t>
                      </a:r>
                      <a:r>
                        <a:rPr lang="fr-FR" sz="975" b="0" i="0" u="none" strike="noStrike" noProof="0">
                          <a:solidFill>
                            <a:srgbClr val="2D55FF"/>
                          </a:solidFill>
                          <a:effectLst/>
                          <a:latin typeface="Inter"/>
                        </a:rPr>
                        <a:t>}}</a:t>
                      </a:r>
                      <a:endParaRPr lang="fr-FR"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fr-FR" sz="975" b="0" i="0" u="none" strike="noStrike" noProof="0">
                          <a:solidFill>
                            <a:srgbClr val="2D55FF"/>
                          </a:solidFill>
                          <a:effectLst/>
                          <a:latin typeface="Inter"/>
                        </a:rPr>
                        <a:t>{{</a:t>
                      </a:r>
                      <a:r>
                        <a:rPr lang="fr-FR" sz="975" b="0" i="0" u="none" strike="noStrike" noProof="0">
                          <a:solidFill>
                            <a:srgbClr val="2D55FF"/>
                          </a:solidFill>
                          <a:effectLst/>
                        </a:rPr>
                        <a:t>Own_Workforce_C2_Management_Level</a:t>
                      </a:r>
                      <a:r>
                        <a:rPr lang="fr-FR" sz="975" b="0" i="0" u="none" strike="noStrike" noProof="0">
                          <a:solidFill>
                            <a:srgbClr val="2D55FF"/>
                          </a:solidFill>
                          <a:effectLst/>
                          <a:latin typeface="Inter"/>
                        </a:rPr>
                        <a:t>}}</a:t>
                      </a:r>
                      <a:endParaRPr lang="fr-FR"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07384999"/>
                  </a:ext>
                </a:extLst>
              </a:tr>
              <a:tr h="284254">
                <a:tc>
                  <a:txBody>
                    <a:bodyPr/>
                    <a:lstStyle/>
                    <a:p>
                      <a:pPr algn="l"/>
                      <a:r>
                        <a:rPr lang="fr-FR" sz="975" b="1" kern="1200" spc="-10" noProof="0">
                          <a:solidFill>
                            <a:schemeClr val="tx2"/>
                          </a:solidFill>
                          <a:latin typeface="+mn-lt"/>
                          <a:ea typeface="+mn-ea"/>
                          <a:cs typeface="+mn-cs"/>
                        </a:rPr>
                        <a:t xml:space="preserve">Travailleurs de la chaîne de valeur</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fr-FR" sz="975" b="0" i="0" u="none" strike="noStrike" noProof="0">
                          <a:solidFill>
                            <a:srgbClr val="2D55FF"/>
                          </a:solidFill>
                          <a:effectLst/>
                          <a:latin typeface="Inter"/>
                        </a:rPr>
                        <a:t>{{</a:t>
                      </a:r>
                      <a:r>
                        <a:rPr lang="fr-FR" sz="975" b="0" i="0" u="none" strike="noStrike" noProof="0">
                          <a:solidFill>
                            <a:srgbClr val="2D55FF"/>
                          </a:solidFill>
                          <a:effectLst/>
                        </a:rPr>
                        <a:t>Workers_Value_Chain_C2_Description_Existing_Practices</a:t>
                      </a:r>
                      <a:r>
                        <a:rPr lang="fr-FR" sz="975" b="0" i="0" u="none" strike="noStrike" noProof="0">
                          <a:solidFill>
                            <a:srgbClr val="2D55FF"/>
                          </a:solidFill>
                          <a:effectLst/>
                          <a:latin typeface="Inter"/>
                        </a:rPr>
                        <a:t>}}</a:t>
                      </a:r>
                      <a:endParaRPr lang="fr-FR"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fr-FR" sz="975" b="0" i="0" u="none" strike="noStrike" noProof="0">
                          <a:solidFill>
                            <a:srgbClr val="2D55FF"/>
                          </a:solidFill>
                          <a:effectLst/>
                          <a:latin typeface="Inter"/>
                        </a:rPr>
                        <a:t>{{</a:t>
                      </a:r>
                      <a:r>
                        <a:rPr lang="fr-FR" sz="975" b="0" i="0" u="none" strike="noStrike" noProof="0">
                          <a:solidFill>
                            <a:srgbClr val="2D55FF"/>
                          </a:solidFill>
                          <a:effectLst/>
                        </a:rPr>
                        <a:t>Workers_Value_Chain_C2_Future_Practices</a:t>
                      </a:r>
                      <a:r>
                        <a:rPr lang="fr-FR" sz="975" b="0" i="0" u="none" strike="noStrike" noProof="0">
                          <a:solidFill>
                            <a:srgbClr val="2D55FF"/>
                          </a:solidFill>
                          <a:effectLst/>
                          <a:latin typeface="Inter"/>
                        </a:rPr>
                        <a:t>}}</a:t>
                      </a:r>
                      <a:endParaRPr lang="fr-FR"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fr-FR" sz="975" b="0" i="0" u="none" strike="noStrike" noProof="0">
                          <a:solidFill>
                            <a:srgbClr val="2D55FF"/>
                          </a:solidFill>
                          <a:effectLst/>
                          <a:latin typeface="Inter"/>
                        </a:rPr>
                        <a:t>{{</a:t>
                      </a:r>
                      <a:r>
                        <a:rPr lang="fr-FR" sz="975" b="0" i="0" u="none" strike="noStrike" noProof="0">
                          <a:solidFill>
                            <a:srgbClr val="2D55FF"/>
                          </a:solidFill>
                          <a:effectLst/>
                        </a:rPr>
                        <a:t>Workers_Value_Chain_C2_Management_Level</a:t>
                      </a:r>
                      <a:r>
                        <a:rPr lang="fr-FR" sz="975" b="0" i="0" u="none" strike="noStrike" noProof="0">
                          <a:solidFill>
                            <a:srgbClr val="2D55FF"/>
                          </a:solidFill>
                          <a:effectLst/>
                          <a:latin typeface="Inter"/>
                        </a:rPr>
                        <a:t>}}</a:t>
                      </a:r>
                      <a:endParaRPr lang="fr-FR"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01919361"/>
                  </a:ext>
                </a:extLst>
              </a:tr>
              <a:tr h="284254">
                <a:tc>
                  <a:txBody>
                    <a:bodyPr/>
                    <a:lstStyle/>
                    <a:p>
                      <a:pPr algn="l"/>
                      <a:r>
                        <a:rPr lang="fr-FR" sz="975" b="1" kern="1200" spc="-10" noProof="0">
                          <a:solidFill>
                            <a:schemeClr val="tx2"/>
                          </a:solidFill>
                          <a:latin typeface="+mn-lt"/>
                          <a:ea typeface="+mn-ea"/>
                          <a:cs typeface="+mn-cs"/>
                        </a:rPr>
                        <a:t xml:space="preserve">Communautés affectées</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fr-FR" sz="975" b="0" i="0" u="none" strike="noStrike" noProof="0">
                          <a:solidFill>
                            <a:srgbClr val="2D55FF"/>
                          </a:solidFill>
                          <a:effectLst/>
                          <a:latin typeface="Inter"/>
                        </a:rPr>
                        <a:t>{{</a:t>
                      </a:r>
                      <a:r>
                        <a:rPr lang="fr-FR" sz="975" b="0" i="0" u="none" strike="noStrike" noProof="0">
                          <a:solidFill>
                            <a:srgbClr val="2D55FF"/>
                          </a:solidFill>
                          <a:effectLst/>
                        </a:rPr>
                        <a:t>Affected_C2_Description_Existing_Practices</a:t>
                      </a:r>
                      <a:r>
                        <a:rPr lang="fr-FR" sz="975" b="0" i="0" u="none" strike="noStrike" noProof="0">
                          <a:solidFill>
                            <a:srgbClr val="2D55FF"/>
                          </a:solidFill>
                          <a:effectLst/>
                          <a:latin typeface="Inter"/>
                        </a:rPr>
                        <a:t>}}</a:t>
                      </a:r>
                      <a:endParaRPr lang="fr-FR"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fr-FR" sz="975" b="0" i="0" u="none" strike="noStrike" noProof="0">
                          <a:solidFill>
                            <a:srgbClr val="2D55FF"/>
                          </a:solidFill>
                          <a:effectLst/>
                          <a:latin typeface="Inter"/>
                        </a:rPr>
                        <a:t>{{</a:t>
                      </a:r>
                      <a:r>
                        <a:rPr lang="fr-FR" sz="975" b="0" i="0" u="none" strike="noStrike" noProof="0">
                          <a:solidFill>
                            <a:srgbClr val="2D55FF"/>
                          </a:solidFill>
                          <a:effectLst/>
                        </a:rPr>
                        <a:t>Affected_C2_Future_Practices</a:t>
                      </a:r>
                      <a:r>
                        <a:rPr lang="fr-FR" sz="975" b="0" i="0" u="none" strike="noStrike" noProof="0">
                          <a:solidFill>
                            <a:srgbClr val="2D55FF"/>
                          </a:solidFill>
                          <a:effectLst/>
                          <a:latin typeface="Inter"/>
                        </a:rPr>
                        <a:t>}}</a:t>
                      </a:r>
                      <a:endParaRPr lang="fr-FR"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fr-FR" sz="975" b="0" i="0" u="none" strike="noStrike" noProof="0">
                          <a:solidFill>
                            <a:srgbClr val="2D55FF"/>
                          </a:solidFill>
                          <a:effectLst/>
                          <a:latin typeface="Inter"/>
                        </a:rPr>
                        <a:t>{{</a:t>
                      </a:r>
                      <a:r>
                        <a:rPr lang="fr-FR" sz="975" b="0" i="0" u="none" strike="noStrike" noProof="0">
                          <a:solidFill>
                            <a:srgbClr val="2D55FF"/>
                          </a:solidFill>
                          <a:effectLst/>
                        </a:rPr>
                        <a:t>Affected_C2_Management_Level</a:t>
                      </a:r>
                      <a:r>
                        <a:rPr lang="fr-FR" sz="975" b="0" i="0" u="none" strike="noStrike" noProof="0">
                          <a:solidFill>
                            <a:srgbClr val="2D55FF"/>
                          </a:solidFill>
                          <a:effectLst/>
                          <a:latin typeface="Inter"/>
                        </a:rPr>
                        <a:t>}}</a:t>
                      </a:r>
                      <a:endParaRPr lang="fr-FR"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336877917"/>
                  </a:ext>
                </a:extLst>
              </a:tr>
              <a:tr h="336600">
                <a:tc>
                  <a:txBody>
                    <a:bodyPr/>
                    <a:lstStyle/>
                    <a:p>
                      <a:pPr algn="l"/>
                      <a:r>
                        <a:rPr lang="fr-FR" sz="975" b="1" kern="1200" spc="-10" noProof="0">
                          <a:solidFill>
                            <a:schemeClr val="tx2"/>
                          </a:solidFill>
                          <a:latin typeface="+mn-lt"/>
                          <a:ea typeface="+mn-ea"/>
                          <a:cs typeface="+mn-cs"/>
                        </a:rPr>
                        <a:t xml:space="preserve">Consommateurs et utilisateurs finaux</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fr-FR" sz="975" b="0" i="0" u="none" strike="noStrike" noProof="0">
                          <a:solidFill>
                            <a:srgbClr val="2D55FF"/>
                          </a:solidFill>
                          <a:effectLst/>
                          <a:latin typeface="Inter"/>
                        </a:rPr>
                        <a:t>{{</a:t>
                      </a:r>
                      <a:r>
                        <a:rPr lang="fr-FR" sz="975" b="0" i="0" u="none" strike="noStrike" noProof="0">
                          <a:solidFill>
                            <a:srgbClr val="2D55FF"/>
                          </a:solidFill>
                          <a:effectLst/>
                        </a:rPr>
                        <a:t>Consumers_C2_Description_Existing_Practices</a:t>
                      </a:r>
                      <a:r>
                        <a:rPr lang="fr-FR" sz="975" b="0" i="0" u="none" strike="noStrike" noProof="0">
                          <a:solidFill>
                            <a:srgbClr val="2D55FF"/>
                          </a:solidFill>
                          <a:effectLst/>
                          <a:latin typeface="Inter"/>
                        </a:rPr>
                        <a:t>}}</a:t>
                      </a:r>
                      <a:endParaRPr lang="fr-FR"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fr-FR" sz="975" b="0" i="0" u="none" strike="noStrike" noProof="0">
                          <a:solidFill>
                            <a:srgbClr val="2D55FF"/>
                          </a:solidFill>
                          <a:effectLst/>
                          <a:latin typeface="Inter"/>
                        </a:rPr>
                        <a:t>{{</a:t>
                      </a:r>
                      <a:r>
                        <a:rPr lang="fr-FR" sz="975" b="0" i="0" u="none" strike="noStrike" noProof="0">
                          <a:solidFill>
                            <a:srgbClr val="2D55FF"/>
                          </a:solidFill>
                          <a:effectLst/>
                        </a:rPr>
                        <a:t>Consumers_C2_Future_Practices</a:t>
                      </a:r>
                      <a:r>
                        <a:rPr lang="fr-FR" sz="975" b="0" i="0" u="none" strike="noStrike" noProof="0">
                          <a:solidFill>
                            <a:srgbClr val="2D55FF"/>
                          </a:solidFill>
                          <a:effectLst/>
                          <a:latin typeface="Inter"/>
                        </a:rPr>
                        <a:t>}}</a:t>
                      </a:r>
                      <a:endParaRPr lang="fr-FR"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fr-FR" sz="975" b="0" i="0" u="none" strike="noStrike" noProof="0">
                          <a:solidFill>
                            <a:srgbClr val="2D55FF"/>
                          </a:solidFill>
                          <a:effectLst/>
                          <a:latin typeface="Inter"/>
                        </a:rPr>
                        <a:t>{{</a:t>
                      </a:r>
                      <a:r>
                        <a:rPr lang="fr-FR" sz="975" b="0" i="0" u="none" strike="noStrike" noProof="0">
                          <a:solidFill>
                            <a:srgbClr val="2D55FF"/>
                          </a:solidFill>
                          <a:effectLst/>
                        </a:rPr>
                        <a:t>Consumers_C2_Management_Level</a:t>
                      </a:r>
                      <a:r>
                        <a:rPr lang="fr-FR" sz="975" b="0" i="0" u="none" strike="noStrike" noProof="0">
                          <a:solidFill>
                            <a:srgbClr val="2D55FF"/>
                          </a:solidFill>
                          <a:effectLst/>
                          <a:latin typeface="Inter"/>
                        </a:rPr>
                        <a:t>}}</a:t>
                      </a:r>
                      <a:endParaRPr lang="fr-FR"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815053185"/>
                  </a:ext>
                </a:extLst>
              </a:tr>
              <a:tr h="284254">
                <a:tc>
                  <a:txBody>
                    <a:bodyPr/>
                    <a:lstStyle/>
                    <a:p>
                      <a:pPr algn="l"/>
                      <a:r>
                        <a:rPr lang="fr-FR" sz="975" b="1" kern="1200" spc="-10" noProof="0">
                          <a:solidFill>
                            <a:schemeClr val="tx2"/>
                          </a:solidFill>
                          <a:latin typeface="+mn-lt"/>
                          <a:ea typeface="+mn-ea"/>
                          <a:cs typeface="+mn-cs"/>
                        </a:rPr>
                        <a:t xml:space="preserve">Conduite des affaires</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fr-FR" sz="975" b="0" i="0" u="none" strike="noStrike" noProof="0">
                          <a:solidFill>
                            <a:srgbClr val="2D55FF"/>
                          </a:solidFill>
                          <a:effectLst/>
                          <a:latin typeface="Inter"/>
                        </a:rPr>
                        <a:t>{{</a:t>
                      </a:r>
                      <a:r>
                        <a:rPr lang="fr-FR" sz="975" b="0" i="0" u="none" strike="noStrike" noProof="0">
                          <a:solidFill>
                            <a:srgbClr val="2D55FF"/>
                          </a:solidFill>
                          <a:effectLst/>
                        </a:rPr>
                        <a:t>Governance_C2_Description_Existing_Practices</a:t>
                      </a:r>
                      <a:r>
                        <a:rPr lang="fr-FR" sz="975" b="0" i="0" u="none" strike="noStrike" noProof="0">
                          <a:solidFill>
                            <a:srgbClr val="2D55FF"/>
                          </a:solidFill>
                          <a:effectLst/>
                          <a:latin typeface="Inter"/>
                        </a:rPr>
                        <a:t>}}</a:t>
                      </a:r>
                      <a:endParaRPr lang="fr-FR"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fr-FR" sz="975" b="0" i="0" u="none" strike="noStrike" noProof="0">
                          <a:solidFill>
                            <a:srgbClr val="2D55FF"/>
                          </a:solidFill>
                          <a:effectLst/>
                          <a:latin typeface="Inter"/>
                        </a:rPr>
                        <a:t>{{</a:t>
                      </a:r>
                      <a:r>
                        <a:rPr lang="fr-FR" sz="975" b="0" i="0" u="none" strike="noStrike" noProof="0">
                          <a:solidFill>
                            <a:srgbClr val="2D55FF"/>
                          </a:solidFill>
                          <a:effectLst/>
                        </a:rPr>
                        <a:t>Governance_C2_Future_Practices</a:t>
                      </a:r>
                      <a:r>
                        <a:rPr lang="fr-FR" sz="975" b="0" i="0" u="none" strike="noStrike" noProof="0">
                          <a:solidFill>
                            <a:srgbClr val="2D55FF"/>
                          </a:solidFill>
                          <a:effectLst/>
                          <a:latin typeface="Inter"/>
                        </a:rPr>
                        <a:t>}}</a:t>
                      </a:r>
                      <a:endParaRPr lang="fr-FR"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fr-FR" sz="975" b="0" i="0" u="none" strike="noStrike" noProof="0">
                          <a:solidFill>
                            <a:srgbClr val="2D55FF"/>
                          </a:solidFill>
                          <a:effectLst/>
                          <a:latin typeface="Inter"/>
                        </a:rPr>
                        <a:t>{{</a:t>
                      </a:r>
                      <a:r>
                        <a:rPr lang="fr-FR" sz="975" b="0" i="0" u="none" strike="noStrike" noProof="0">
                          <a:solidFill>
                            <a:srgbClr val="2D55FF"/>
                          </a:solidFill>
                          <a:effectLst/>
                        </a:rPr>
                        <a:t>Governance_C2_Management_Level</a:t>
                      </a:r>
                      <a:r>
                        <a:rPr lang="fr-FR" sz="975" b="0" i="0" u="none" strike="noStrike" noProof="0">
                          <a:solidFill>
                            <a:srgbClr val="2D55FF"/>
                          </a:solidFill>
                          <a:effectLst/>
                          <a:latin typeface="Inter"/>
                        </a:rPr>
                        <a:t>}}</a:t>
                      </a:r>
                      <a:endParaRPr lang="fr-FR"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04057792"/>
                  </a:ext>
                </a:extLst>
              </a:tr>
            </a:tbl>
          </a:graphicData>
        </a:graphic>
      </p:graphicFrame>
      <p:sp>
        <p:nvSpPr>
          <p:cNvPr id="17" name="Tekstfelt 16">
            <a:extLst>
              <a:ext uri="{FF2B5EF4-FFF2-40B4-BE49-F238E27FC236}">
                <a16:creationId xmlns:a16="http://schemas.microsoft.com/office/drawing/2014/main" id="{2A776A89-A1FF-B14E-F93A-876E75156091}"/>
              </a:ext>
            </a:extLst>
          </p:cNvPr>
          <p:cNvSpPr txBox="1"/>
          <p:nvPr/>
        </p:nvSpPr>
        <p:spPr>
          <a:xfrm>
            <a:off x="411480" y="1525700"/>
            <a:ext cx="6737040" cy="538588"/>
          </a:xfrm>
          <a:prstGeom prst="rect">
            <a:avLst/>
          </a:prstGeom>
          <a:noFill/>
        </p:spPr>
        <p:txBody>
          <a:bodyPr wrap="square">
            <a:spAutoFit/>
          </a:bodyPr>
          <a:lstStyle/>
          <a:p>
            <a:r>
              <a:rPr lang="fr-FR" sz="975" noProof="0">
                <a:solidFill>
                  <a:schemeClr val="tx2"/>
                </a:solidFill>
              </a:rPr>
              <a:t xml:space="preserve">Le tableau ci-dessous a été complété car l’entreprise a déjà mis en place des pratiques, politiques ou initiatives concrètes contribuant à la transition vers une économie plus durable. L’entreprise a répondu « OUI » à une ou plusieurs informations du point B2 du module de base. Ce qui suit présente de manière plus complète les politiques, initiatives et pratiques engagées dans l’entreprise en vue de la transition vers une économie plus durable</a:t>
            </a:r>
          </a:p>
        </p:txBody>
      </p:sp>
    </p:spTree>
    <p:extLst>
      <p:ext uri="{BB962C8B-B14F-4D97-AF65-F5344CB8AC3E}">
        <p14:creationId xmlns:p14="http://schemas.microsoft.com/office/powerpoint/2010/main" val="9724709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411480" y="775467"/>
            <a:ext cx="6737040" cy="207741"/>
          </a:xfrm>
        </p:spPr>
        <p:txBody>
          <a:bodyPr/>
          <a:lstStyle/>
          <a:p>
            <a:r>
              <a:rPr lang="fr-FR" noProof="0">
                <a:solidFill>
                  <a:srgbClr val="1B4528"/>
                </a:solidFill>
                <a:latin typeface="IBM Plex Sans" panose="020B0503050203000203" pitchFamily="34" charset="0"/>
              </a:rPr>
              <a:t xml:space="preserve">Émissions de CO₂e au titre du point B3 du module de base</a:t>
            </a:r>
            <a:endParaRPr lang="fr-FR" b="0" noProof="0"/>
          </a:p>
        </p:txBody>
      </p:sp>
      <p:sp>
        <p:nvSpPr>
          <p:cNvPr id="2" name="Slide Number Placeholder 1">
            <a:extLst>
              <a:ext uri="{FF2B5EF4-FFF2-40B4-BE49-F238E27FC236}">
                <a16:creationId xmlns:a16="http://schemas.microsoft.com/office/drawing/2014/main" id="{F72C860F-3613-E98B-42C7-204BDA28A1F2}"/>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fr-FR" noProof="0" smtClean="0"/>
              <a:pPr/>
              <a:t>13</a:t>
            </a:fld>
            <a:endParaRPr lang="fr-FR" noProof="0"/>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fr-FR" noProof="0"/>
              <a:t>{{company_name}}</a:t>
            </a:r>
            <a:endParaRPr lang="fr-FR" b="0" noProof="0"/>
          </a:p>
          <a:p>
            <a:endParaRPr lang="fr-FR" noProof="0"/>
          </a:p>
        </p:txBody>
      </p:sp>
      <p:graphicFrame>
        <p:nvGraphicFramePr>
          <p:cNvPr id="11" name="Table 2">
            <a:extLst>
              <a:ext uri="{FF2B5EF4-FFF2-40B4-BE49-F238E27FC236}">
                <a16:creationId xmlns:a16="http://schemas.microsoft.com/office/drawing/2014/main" id="{A420AFF6-414E-4EC8-A668-F0BFECC8260A}"/>
              </a:ext>
            </a:extLst>
          </p:cNvPr>
          <p:cNvGraphicFramePr>
            <a:graphicFrameLocks noGrp="1"/>
          </p:cNvGraphicFramePr>
          <p:nvPr>
            <p:extLst>
              <p:ext uri="{D42A27DB-BD31-4B8C-83A1-F6EECF244321}">
                <p14:modId xmlns:p14="http://schemas.microsoft.com/office/powerpoint/2010/main" val="3547307555"/>
              </p:ext>
            </p:extLst>
          </p:nvPr>
        </p:nvGraphicFramePr>
        <p:xfrm>
          <a:off x="411480" y="3688800"/>
          <a:ext cx="6737040" cy="1456344"/>
        </p:xfrm>
        <a:graphic>
          <a:graphicData uri="http://schemas.openxmlformats.org/drawingml/2006/table">
            <a:tbl>
              <a:tblPr firstRow="1">
                <a:tableStyleId>{2A488322-F2BA-4B5B-9748-0D474271808F}</a:tableStyleId>
              </a:tblPr>
              <a:tblGrid>
                <a:gridCol w="2245680">
                  <a:extLst>
                    <a:ext uri="{9D8B030D-6E8A-4147-A177-3AD203B41FA5}">
                      <a16:colId xmlns:a16="http://schemas.microsoft.com/office/drawing/2014/main" val="1902117154"/>
                    </a:ext>
                  </a:extLst>
                </a:gridCol>
                <a:gridCol w="2245680">
                  <a:extLst>
                    <a:ext uri="{9D8B030D-6E8A-4147-A177-3AD203B41FA5}">
                      <a16:colId xmlns:a16="http://schemas.microsoft.com/office/drawing/2014/main" val="1904521774"/>
                    </a:ext>
                  </a:extLst>
                </a:gridCol>
                <a:gridCol w="2245680">
                  <a:extLst>
                    <a:ext uri="{9D8B030D-6E8A-4147-A177-3AD203B41FA5}">
                      <a16:colId xmlns:a16="http://schemas.microsoft.com/office/drawing/2014/main" val="2605332690"/>
                    </a:ext>
                  </a:extLst>
                </a:gridCol>
              </a:tblGrid>
              <a:tr h="233402">
                <a:tc gridSpan="3">
                  <a:txBody>
                    <a:bodyPr/>
                    <a:lstStyle/>
                    <a:p>
                      <a:r>
                        <a:rPr lang="fr-FR" sz="975" b="1" kern="1200" spc="-10" noProof="0">
                          <a:solidFill>
                            <a:schemeClr val="tx2"/>
                          </a:solidFill>
                          <a:latin typeface="+mn-lt"/>
                          <a:ea typeface="+mn-ea"/>
                          <a:cs typeface="+mn-cs"/>
                        </a:rPr>
                        <a:t xml:space="preserve">Cibles de réduction des émissions de CO₂e </a:t>
                      </a:r>
                      <a:r>
                        <a:rPr lang="fr-FR" sz="975" b="0" kern="1200" spc="-10" noProof="0">
                          <a:solidFill>
                            <a:schemeClr val="tx2"/>
                          </a:solidFill>
                          <a:latin typeface="+mn-lt"/>
                          <a:ea typeface="+mn-ea"/>
                          <a:cs typeface="+mn-cs"/>
                        </a:rPr>
                        <a:t xml:space="preserve">(par. 53 a–d)</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fr-FR" sz="725" b="0" kern="1200" spc="-10" noProof="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909213315"/>
                  </a:ext>
                </a:extLst>
              </a:tr>
              <a:tr h="288588">
                <a:tc>
                  <a:txBody>
                    <a:bodyPr/>
                    <a:lstStyle/>
                    <a:p>
                      <a:pPr algn="l"/>
                      <a:endParaRPr lang="fr-FR" sz="975" b="0" kern="1200" spc="-10" noProof="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fr-FR" sz="975" b="1" kern="1200" spc="-10" noProof="0">
                          <a:solidFill>
                            <a:schemeClr val="tx2"/>
                          </a:solidFill>
                          <a:latin typeface="+mn-lt"/>
                          <a:ea typeface="+mn-ea"/>
                          <a:cs typeface="+mn-cs"/>
                        </a:rPr>
                        <a:t xml:space="preserve">Cible pour l’année </a:t>
                      </a:r>
                      <a:r>
                        <a:rPr lang="fr-FR" sz="975" b="1" kern="1200" spc="-10" noProof="0">
                          <a:solidFill>
                            <a:schemeClr val="accent2"/>
                          </a:solidFill>
                          <a:latin typeface="+mn-lt"/>
                          <a:ea typeface="+mn-ea"/>
                          <a:cs typeface="+mn-cs"/>
                        </a:rPr>
                        <a:t>{{baseline_year-1}}</a:t>
                      </a:r>
                      <a:endParaRPr lang="fr-FR" sz="975" b="0" kern="1200" spc="-10" noProof="0">
                        <a:solidFill>
                          <a:schemeClr val="accent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75" b="1" kern="1200" spc="-10" noProof="0">
                          <a:solidFill>
                            <a:schemeClr val="tx2"/>
                          </a:solidFill>
                          <a:latin typeface="+mn-lt"/>
                          <a:ea typeface="+mn-ea"/>
                          <a:cs typeface="+mn-cs"/>
                        </a:rPr>
                        <a:t xml:space="preserve">Émissions de CO₂e de l’année de base :</a:t>
                      </a:r>
                      <a:r>
                        <a:rPr lang="fr-FR" sz="975" b="0" kern="1200" spc="-10" noProof="0">
                          <a:solidFill>
                            <a:schemeClr val="tx2"/>
                          </a:solidFill>
                          <a:latin typeface="+mn-lt"/>
                          <a:ea typeface="+mn-ea"/>
                          <a:cs typeface="+mn-cs"/>
                        </a:rPr>
                        <a:t> </a:t>
                      </a:r>
                      <a:r>
                        <a:rPr lang="fr-FR" sz="975" b="1" kern="1200" spc="-10" noProof="0">
                          <a:solidFill>
                            <a:schemeClr val="accent2"/>
                          </a:solidFill>
                          <a:latin typeface="+mn-lt"/>
                          <a:ea typeface="+mn-ea"/>
                          <a:cs typeface="+mn-cs"/>
                        </a:rPr>
                        <a:t>{{Insert baseline year}}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642311251"/>
                  </a:ext>
                </a:extLst>
              </a:tr>
              <a:tr h="2885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75" b="1" kern="1200" spc="-10" noProof="0">
                          <a:solidFill>
                            <a:schemeClr val="tx2"/>
                          </a:solidFill>
                          <a:latin typeface="+mn-lt"/>
                          <a:ea typeface="+mn-ea"/>
                          <a:cs typeface="+mn-cs"/>
                        </a:rPr>
                        <a:t>Scope 1 </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buNone/>
                      </a:pPr>
                      <a:r>
                        <a:rPr lang="fr-FR" sz="975" b="0" i="0" u="none" strike="noStrike" noProof="0">
                          <a:solidFill>
                            <a:srgbClr val="2D55FF"/>
                          </a:solidFill>
                          <a:effectLst/>
                          <a:latin typeface="Inter"/>
                        </a:rPr>
                        <a:t>{{scope1-2_target}}</a:t>
                      </a:r>
                      <a:endParaRPr lang="fr-F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buNone/>
                      </a:pPr>
                      <a:r>
                        <a:rPr lang="fr-FR" sz="975" b="0" i="0" u="none" strike="noStrike" noProof="0">
                          <a:solidFill>
                            <a:srgbClr val="2D55FF"/>
                          </a:solidFill>
                          <a:effectLst/>
                          <a:latin typeface="Inter"/>
                        </a:rPr>
                        <a:t>{{scope1-2_baseline}}</a:t>
                      </a:r>
                      <a:endParaRPr lang="fr-F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2885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75" b="1" kern="1200" spc="-10" noProof="0">
                          <a:solidFill>
                            <a:schemeClr val="tx2"/>
                          </a:solidFill>
                          <a:latin typeface="+mn-lt"/>
                          <a:ea typeface="+mn-ea"/>
                          <a:cs typeface="+mn-cs"/>
                        </a:rPr>
                        <a:t>Scope 2</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buNone/>
                      </a:pPr>
                      <a:r>
                        <a:rPr lang="fr-FR" sz="975" b="0" i="0" u="none" strike="noStrike" noProof="0">
                          <a:solidFill>
                            <a:srgbClr val="2D55FF"/>
                          </a:solidFill>
                          <a:effectLst/>
                          <a:latin typeface="Inter"/>
                        </a:rPr>
                        <a:t>{{scope1-2_target}}</a:t>
                      </a:r>
                      <a:endParaRPr lang="fr-F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buNone/>
                      </a:pPr>
                      <a:r>
                        <a:rPr lang="fr-FR" sz="975" b="0" i="0" u="none" strike="noStrike" noProof="0">
                          <a:solidFill>
                            <a:srgbClr val="2D55FF"/>
                          </a:solidFill>
                          <a:effectLst/>
                          <a:latin typeface="Inter"/>
                        </a:rPr>
                        <a:t>{{scope1-2_baseline}}</a:t>
                      </a:r>
                      <a:endParaRPr lang="fr-F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86173805"/>
                  </a:ext>
                </a:extLst>
              </a:tr>
              <a:tr h="288588">
                <a:tc>
                  <a:txBody>
                    <a:bodyPr/>
                    <a:lstStyle/>
                    <a:p>
                      <a:pPr algn="l"/>
                      <a:r>
                        <a:rPr lang="fr-FR" sz="975" b="1" kern="1200" spc="-10" noProof="0">
                          <a:solidFill>
                            <a:schemeClr val="tx2"/>
                          </a:solidFill>
                          <a:latin typeface="+mn-lt"/>
                          <a:ea typeface="+mn-ea"/>
                          <a:cs typeface="+mn-cs"/>
                        </a:rPr>
                        <a:t>Scope 3</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buNone/>
                      </a:pPr>
                      <a:r>
                        <a:rPr lang="fr-FR" sz="975" b="0" i="0" u="none" strike="noStrike" noProof="0">
                          <a:solidFill>
                            <a:srgbClr val="2D55FF"/>
                          </a:solidFill>
                          <a:effectLst/>
                          <a:latin typeface="Inter"/>
                        </a:rPr>
                        <a:t>{{scope3_target}}</a:t>
                      </a:r>
                      <a:endParaRPr lang="fr-F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buNone/>
                      </a:pPr>
                      <a:r>
                        <a:rPr lang="fr-FR" sz="975" b="0" i="0" u="none" strike="noStrike" noProof="0">
                          <a:solidFill>
                            <a:srgbClr val="2D55FF"/>
                          </a:solidFill>
                          <a:effectLst/>
                          <a:latin typeface="Inter"/>
                        </a:rPr>
                        <a:t>{{scope3_baseline}}</a:t>
                      </a:r>
                      <a:endParaRPr lang="fr-F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bl>
          </a:graphicData>
        </a:graphic>
      </p:graphicFrame>
      <p:graphicFrame>
        <p:nvGraphicFramePr>
          <p:cNvPr id="7" name="Table 21">
            <a:extLst>
              <a:ext uri="{FF2B5EF4-FFF2-40B4-BE49-F238E27FC236}">
                <a16:creationId xmlns:a16="http://schemas.microsoft.com/office/drawing/2014/main" id="{C5FA6A58-54C9-F06A-6108-64DA6FC7E9AC}"/>
              </a:ext>
            </a:extLst>
          </p:cNvPr>
          <p:cNvGraphicFramePr>
            <a:graphicFrameLocks noGrp="1"/>
          </p:cNvGraphicFramePr>
          <p:nvPr>
            <p:extLst>
              <p:ext uri="{D42A27DB-BD31-4B8C-83A1-F6EECF244321}">
                <p14:modId xmlns:p14="http://schemas.microsoft.com/office/powerpoint/2010/main" val="2496809021"/>
              </p:ext>
            </p:extLst>
          </p:nvPr>
        </p:nvGraphicFramePr>
        <p:xfrm>
          <a:off x="411480" y="5261327"/>
          <a:ext cx="6737040" cy="633415"/>
        </p:xfrm>
        <a:graphic>
          <a:graphicData uri="http://schemas.openxmlformats.org/drawingml/2006/table">
            <a:tbl>
              <a:tblPr firstRow="1">
                <a:tableStyleId>{2A488322-F2BA-4B5B-9748-0D474271808F}</a:tableStyleId>
              </a:tblPr>
              <a:tblGrid>
                <a:gridCol w="6737040">
                  <a:extLst>
                    <a:ext uri="{9D8B030D-6E8A-4147-A177-3AD203B41FA5}">
                      <a16:colId xmlns:a16="http://schemas.microsoft.com/office/drawing/2014/main" val="2119413191"/>
                    </a:ext>
                  </a:extLst>
                </a:gridCol>
              </a:tblGrid>
              <a:tr h="275299">
                <a:tc>
                  <a:txBody>
                    <a:bodyPr/>
                    <a:lstStyle/>
                    <a:p>
                      <a:pPr marL="0" algn="l" defTabSz="914400" rtl="0" eaLnBrk="1" latinLnBrk="0" hangingPunct="1"/>
                      <a:r>
                        <a:rPr lang="fr-FR" sz="975" b="1" kern="1200" spc="-10" noProof="0">
                          <a:solidFill>
                            <a:schemeClr val="tx2"/>
                          </a:solidFill>
                          <a:latin typeface="+mn-lt"/>
                          <a:ea typeface="+mn-ea"/>
                          <a:cs typeface="+mn-cs"/>
                        </a:rPr>
                        <a:t xml:space="preserve">Liste des principales actions que </a:t>
                      </a:r>
                      <a:r>
                        <a:rPr lang="fr-FR" sz="975" b="1" kern="1200" noProof="0">
                          <a:solidFill>
                            <a:schemeClr val="accent2"/>
                          </a:solidFill>
                          <a:latin typeface="+mn-lt"/>
                          <a:ea typeface="+mn-ea"/>
                          <a:cs typeface="+mn-cs"/>
                        </a:rPr>
                        <a:t>{{Company name}} </a:t>
                      </a:r>
                      <a:r>
                        <a:rPr lang="fr-FR" sz="975" b="0" kern="1200" noProof="0">
                          <a:solidFill>
                            <a:schemeClr val="accent2"/>
                          </a:solidFill>
                          <a:latin typeface="+mn-lt"/>
                          <a:ea typeface="+mn-ea"/>
                          <a:cs typeface="+mn-cs"/>
                        </a:rPr>
                        <a:t> </a:t>
                      </a:r>
                      <a:r>
                        <a:rPr lang="fr-FR" sz="975" b="1" kern="1200" spc="-10" noProof="0">
                          <a:solidFill>
                            <a:schemeClr val="tx2"/>
                          </a:solidFill>
                          <a:latin typeface="+mn-lt"/>
                          <a:ea typeface="+mn-ea"/>
                          <a:cs typeface="+mn-cs"/>
                        </a:rPr>
                        <a:t xml:space="preserve">met en œuvre pour atteindre les cibles de réduction des émissions de CO₂e </a:t>
                      </a:r>
                      <a:r>
                        <a:rPr lang="fr-FR" sz="975" b="0" kern="1200" spc="-10" noProof="0">
                          <a:solidFill>
                            <a:schemeClr val="tx2"/>
                          </a:solidFill>
                          <a:latin typeface="+mn-lt"/>
                          <a:ea typeface="+mn-ea"/>
                          <a:cs typeface="+mn-cs"/>
                        </a:rPr>
                        <a:t xml:space="preserve">(par. 53e)</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58116">
                <a:tc>
                  <a:txBody>
                    <a:bodyPr/>
                    <a:lstStyle/>
                    <a:p>
                      <a:pPr algn="l"/>
                      <a:r>
                        <a:rPr lang="fr-FR" sz="975" b="0" noProof="0">
                          <a:solidFill>
                            <a:schemeClr val="accent2"/>
                          </a:solidFill>
                        </a:rPr>
                        <a:t>{{</a:t>
                      </a:r>
                      <a:r>
                        <a:rPr lang="fr-FR" sz="975" b="0" noProof="0">
                          <a:solidFill>
                            <a:schemeClr val="accent2"/>
                          </a:solidFill>
                        </a:rPr>
                        <a:t>mainaction</a:t>
                      </a:r>
                      <a:r>
                        <a:rPr lang="fr-FR" sz="975" b="0" noProof="0">
                          <a:solidFill>
                            <a:schemeClr val="accent2"/>
                          </a:solidFill>
                        </a:rPr>
                        <a:t>}}</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
        <p:nvSpPr>
          <p:cNvPr id="19" name="Title 2">
            <a:extLst>
              <a:ext uri="{FF2B5EF4-FFF2-40B4-BE49-F238E27FC236}">
                <a16:creationId xmlns:a16="http://schemas.microsoft.com/office/drawing/2014/main" id="{4A504496-2FBB-B5B8-A62A-D1611D632D81}"/>
              </a:ext>
            </a:extLst>
          </p:cNvPr>
          <p:cNvSpPr txBox="1">
            <a:spLocks/>
          </p:cNvSpPr>
          <p:nvPr/>
        </p:nvSpPr>
        <p:spPr>
          <a:xfrm>
            <a:off x="411480" y="3281582"/>
            <a:ext cx="6737040" cy="207741"/>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475" b="1" kern="1200" spc="-10" baseline="0">
                <a:solidFill>
                  <a:schemeClr val="tx2"/>
                </a:solidFill>
                <a:latin typeface="+mj-lt"/>
                <a:ea typeface="+mj-ea"/>
                <a:cs typeface="+mj-cs"/>
              </a:defRPr>
            </a:lvl1pPr>
          </a:lstStyle>
          <a:p>
            <a:r>
              <a:rPr lang="fr-FR" noProof="0"/>
              <a:t xml:space="preserve">Cibles de réduction des émissions de CO₂e (C3)</a:t>
            </a:r>
          </a:p>
        </p:txBody>
      </p:sp>
      <p:graphicFrame>
        <p:nvGraphicFramePr>
          <p:cNvPr id="21" name="Table 18">
            <a:extLst>
              <a:ext uri="{FF2B5EF4-FFF2-40B4-BE49-F238E27FC236}">
                <a16:creationId xmlns:a16="http://schemas.microsoft.com/office/drawing/2014/main" id="{7441C3F1-F61D-6925-5ACB-A4A2D6F92D40}"/>
              </a:ext>
            </a:extLst>
          </p:cNvPr>
          <p:cNvGraphicFramePr>
            <a:graphicFrameLocks noGrp="1"/>
          </p:cNvGraphicFramePr>
          <p:nvPr>
            <p:extLst>
              <p:ext uri="{D42A27DB-BD31-4B8C-83A1-F6EECF244321}">
                <p14:modId xmlns:p14="http://schemas.microsoft.com/office/powerpoint/2010/main" val="3697670750"/>
              </p:ext>
            </p:extLst>
          </p:nvPr>
        </p:nvGraphicFramePr>
        <p:xfrm>
          <a:off x="411480" y="1974320"/>
          <a:ext cx="6737040" cy="1067237"/>
        </p:xfrm>
        <a:graphic>
          <a:graphicData uri="http://schemas.openxmlformats.org/drawingml/2006/table">
            <a:tbl>
              <a:tblPr firstRow="1">
                <a:tableStyleId>{2A488322-F2BA-4B5B-9748-0D474271808F}</a:tableStyleId>
              </a:tblPr>
              <a:tblGrid>
                <a:gridCol w="5333961">
                  <a:extLst>
                    <a:ext uri="{9D8B030D-6E8A-4147-A177-3AD203B41FA5}">
                      <a16:colId xmlns:a16="http://schemas.microsoft.com/office/drawing/2014/main" val="2698153288"/>
                    </a:ext>
                  </a:extLst>
                </a:gridCol>
                <a:gridCol w="1403079">
                  <a:extLst>
                    <a:ext uri="{9D8B030D-6E8A-4147-A177-3AD203B41FA5}">
                      <a16:colId xmlns:a16="http://schemas.microsoft.com/office/drawing/2014/main" val="656209149"/>
                    </a:ext>
                  </a:extLst>
                </a:gridCol>
              </a:tblGrid>
              <a:tr h="239271">
                <a:tc>
                  <a:txBody>
                    <a:bodyPr/>
                    <a:lstStyle/>
                    <a:p>
                      <a:pPr>
                        <a:lnSpc>
                          <a:spcPct val="106000"/>
                        </a:lnSpc>
                      </a:pPr>
                      <a:r>
                        <a:rPr lang="fr-FR" sz="975" b="1" noProof="0">
                          <a:solidFill>
                            <a:schemeClr val="tx2"/>
                          </a:solidFill>
                        </a:rPr>
                        <a:t xml:space="preserve">Émissions de gaz à effet de serre –</a:t>
                      </a:r>
                      <a:r>
                        <a:rPr lang="fr-FR" sz="975" b="0" noProof="0">
                          <a:solidFill>
                            <a:schemeClr val="tx2"/>
                          </a:solidFill>
                        </a:rPr>
                        <a:t xml:space="preserve"> (ajout au par. 33)</a:t>
                      </a:r>
                      <a:endParaRPr lang="fr-FR" sz="975" b="1"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fr-FR" sz="975" b="1" noProof="0">
                          <a:solidFill>
                            <a:schemeClr val="tx2"/>
                          </a:solidFill>
                        </a:rPr>
                        <a:t xml:space="preserve">Année </a:t>
                      </a:r>
                      <a:r>
                        <a:rPr lang="fr-FR" sz="975" b="1" noProof="0">
                          <a:solidFill>
                            <a:schemeClr val="accent2"/>
                          </a:solidFill>
                          <a:latin typeface="Calibri"/>
                          <a:cs typeface="Calibri"/>
                        </a:rPr>
                        <a:t>{{Insert year}}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334791">
                <a:tc>
                  <a:txBody>
                    <a:bodyPr/>
                    <a:lstStyle/>
                    <a:p>
                      <a:pPr lvl="0" algn="l">
                        <a:lnSpc>
                          <a:spcPct val="100000"/>
                        </a:lnSpc>
                        <a:spcBef>
                          <a:spcPts val="0"/>
                        </a:spcBef>
                        <a:spcAft>
                          <a:spcPts val="0"/>
                        </a:spcAft>
                        <a:buNone/>
                      </a:pPr>
                      <a:r>
                        <a:rPr lang="fr-FR" sz="975" b="0" i="0" u="none" strike="noStrike" kern="1200" noProof="0">
                          <a:solidFill>
                            <a:srgbClr val="2D55FF"/>
                          </a:solidFill>
                          <a:latin typeface="IBM Plex Sans"/>
                          <a:ea typeface="+mn-ea"/>
                          <a:cs typeface="+mn-cs"/>
                        </a:rPr>
                        <a:t>{{scope3_description_table}}</a:t>
                      </a:r>
                      <a:endParaRPr lang="fr-FR" dirty="0"/>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fr-FR" sz="975" b="0" i="0" u="none" strike="noStrike" kern="1200" cap="none" spc="0" normalizeH="0" baseline="0" noProof="0">
                          <a:ln>
                            <a:noFill/>
                          </a:ln>
                          <a:solidFill>
                            <a:srgbClr val="2D55FF"/>
                          </a:solidFill>
                          <a:effectLst/>
                          <a:uLnTx/>
                          <a:uFillTx/>
                          <a:latin typeface="IBM Plex Sans"/>
                          <a:ea typeface="+mn-ea"/>
                          <a:cs typeface="+mn-cs"/>
                        </a:rPr>
                        <a:t>{{scope3_emissions_table}}</a:t>
                      </a:r>
                      <a:endParaRPr lang="fr-FR" sz="975" b="0" i="0" u="none" strike="noStrike" kern="1200" cap="none" spc="0" normalizeH="0" baseline="0" noProof="0">
                        <a:ln>
                          <a:noFill/>
                        </a:ln>
                        <a:solidFill>
                          <a:srgbClr val="000000"/>
                        </a:solidFill>
                        <a:effectLst/>
                        <a:uLnTx/>
                        <a:uFillTx/>
                        <a:latin typeface="IBM Plex Sans"/>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1775587356"/>
                  </a:ext>
                </a:extLst>
              </a:tr>
              <a:tr h="235394">
                <a:tc>
                  <a:txBody>
                    <a:bodyPr/>
                    <a:lstStyle/>
                    <a:p>
                      <a:pPr>
                        <a:lnSpc>
                          <a:spcPct val="106000"/>
                        </a:lnSpc>
                      </a:pPr>
                      <a:r>
                        <a:rPr lang="fr-FR" sz="975" b="1" noProof="0">
                          <a:solidFill>
                            <a:schemeClr val="tx2"/>
                          </a:solidFill>
                        </a:rPr>
                        <a:t xml:space="preserve">Émissions totales de CO₂e du scope 3 (basées sur la localisation) </a:t>
                      </a:r>
                      <a:endParaRPr lang="fr-FR"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lvl="0" algn="l">
                        <a:lnSpc>
                          <a:spcPct val="100000"/>
                        </a:lnSpc>
                        <a:spcBef>
                          <a:spcPts val="0"/>
                        </a:spcBef>
                        <a:spcAft>
                          <a:spcPts val="0"/>
                        </a:spcAft>
                        <a:buNone/>
                      </a:pPr>
                      <a:r>
                        <a:rPr lang="fr-FR" sz="975" b="0" i="0" u="none" strike="noStrike" kern="1200" cap="none" spc="0" normalizeH="0" baseline="0" noProof="0">
                          <a:ln>
                            <a:noFill/>
                          </a:ln>
                          <a:solidFill>
                            <a:srgbClr val="2D55FF"/>
                          </a:solidFill>
                          <a:effectLst/>
                          <a:uLnTx/>
                          <a:uFillTx/>
                          <a:latin typeface="IBM Plex Sans"/>
                          <a:ea typeface="+mn-ea"/>
                          <a:cs typeface="+mn-cs"/>
                        </a:rPr>
                        <a:t>{{scope3}}</a:t>
                      </a:r>
                      <a:endParaRPr lang="fr-FR" sz="975" b="0" i="0" u="none" strike="noStrike" kern="1200" cap="none" spc="0" normalizeH="0" baseline="0" noProof="0">
                        <a:ln>
                          <a:noFill/>
                        </a:ln>
                        <a:solidFill>
                          <a:srgbClr val="000000"/>
                        </a:solidFill>
                        <a:effectLst/>
                        <a:uLnTx/>
                        <a:uFillTx/>
                        <a:latin typeface="IBM Plex Sans"/>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r h="235394">
                <a:tc>
                  <a:txBody>
                    <a:bodyPr/>
                    <a:lstStyle/>
                    <a:p>
                      <a:pPr>
                        <a:lnSpc>
                          <a:spcPct val="106000"/>
                        </a:lnSpc>
                      </a:pPr>
                      <a:r>
                        <a:rPr lang="fr-FR" sz="975" b="1" noProof="0">
                          <a:solidFill>
                            <a:schemeClr val="tx2"/>
                          </a:solidFill>
                        </a:rPr>
                        <a:t xml:space="preserve">Émissions totales de CO₂e des scopes 1, 2 et 3   </a:t>
                      </a:r>
                      <a:endParaRPr lang="fr-FR"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l" defTabSz="914400" rtl="0" eaLnBrk="1" fontAlgn="auto" latinLnBrk="0" hangingPunct="1">
                        <a:lnSpc>
                          <a:spcPct val="106000"/>
                        </a:lnSpc>
                        <a:spcBef>
                          <a:spcPts val="0"/>
                        </a:spcBef>
                        <a:spcAft>
                          <a:spcPts val="0"/>
                        </a:spcAft>
                        <a:buClrTx/>
                        <a:buSzTx/>
                        <a:buFontTx/>
                        <a:buNone/>
                        <a:tabLst/>
                        <a:defRPr/>
                      </a:pPr>
                      <a:r>
                        <a:rPr kumimoji="0" lang="fr-FR" sz="975" b="0" i="0" u="none" strike="noStrike" kern="1200" cap="none" spc="0" normalizeH="0" baseline="0" noProof="0">
                          <a:ln>
                            <a:noFill/>
                          </a:ln>
                          <a:solidFill>
                            <a:srgbClr val="2D55FF"/>
                          </a:solidFill>
                          <a:effectLst/>
                          <a:uLnTx/>
                          <a:uFillTx/>
                          <a:latin typeface="+mn-lt"/>
                          <a:ea typeface="+mn-ea"/>
                          <a:cs typeface="+mn-cs"/>
                        </a:rPr>
                        <a:t>{{</a:t>
                      </a:r>
                      <a:r>
                        <a:rPr kumimoji="0" lang="fr-FR" sz="975" b="0" i="0" u="none" strike="noStrike" kern="1200" cap="none" spc="0" normalizeH="0" baseline="0" noProof="0">
                          <a:ln>
                            <a:noFill/>
                          </a:ln>
                          <a:solidFill>
                            <a:srgbClr val="2D55FF"/>
                          </a:solidFill>
                          <a:effectLst/>
                          <a:uLnTx/>
                          <a:uFillTx/>
                          <a:latin typeface="+mn-lt"/>
                          <a:ea typeface="+mn-ea"/>
                          <a:cs typeface="+mn-cs"/>
                        </a:rPr>
                        <a:t>total_all_scopes</a:t>
                      </a:r>
                      <a:r>
                        <a:rPr kumimoji="0" lang="fr-FR" sz="975" b="0" i="0" u="none" strike="noStrike" kern="1200" cap="none" spc="0" normalizeH="0" baseline="0" noProof="0">
                          <a:ln>
                            <a:noFill/>
                          </a:ln>
                          <a:solidFill>
                            <a:srgbClr val="2D55FF"/>
                          </a:solidFill>
                          <a:effectLst/>
                          <a:uLnTx/>
                          <a:uFillTx/>
                          <a:latin typeface="+mn-lt"/>
                          <a:ea typeface="+mn-ea"/>
                          <a:cs typeface="+mn-cs"/>
                        </a:rPr>
                        <a:t>}}</a:t>
                      </a:r>
                      <a:endParaRPr kumimoji="0" lang="fr-FR" sz="975" b="0" i="0" u="none" strike="noStrike" kern="1200" cap="none" spc="0" normalizeH="0" baseline="0" noProof="0" dirty="0">
                        <a:ln>
                          <a:noFill/>
                        </a:ln>
                        <a:solidFill>
                          <a:srgbClr val="2D55FF"/>
                        </a:solidFill>
                        <a:effectLst/>
                        <a:uLnTx/>
                        <a:uFillTx/>
                        <a:latin typeface="IBM Plex Sans"/>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423150282"/>
                  </a:ext>
                </a:extLst>
              </a:tr>
            </a:tbl>
          </a:graphicData>
        </a:graphic>
      </p:graphicFrame>
      <p:sp>
        <p:nvSpPr>
          <p:cNvPr id="23" name="Tekstfelt 22">
            <a:extLst>
              <a:ext uri="{FF2B5EF4-FFF2-40B4-BE49-F238E27FC236}">
                <a16:creationId xmlns:a16="http://schemas.microsoft.com/office/drawing/2014/main" id="{2E9E5E59-EFEC-9D92-05CF-169227F7ABCF}"/>
              </a:ext>
            </a:extLst>
          </p:cNvPr>
          <p:cNvSpPr txBox="1"/>
          <p:nvPr/>
        </p:nvSpPr>
        <p:spPr>
          <a:xfrm>
            <a:off x="411480" y="1204244"/>
            <a:ext cx="6737040" cy="384705"/>
          </a:xfrm>
          <a:prstGeom prst="rect">
            <a:avLst/>
          </a:prstGeom>
          <a:noFill/>
        </p:spPr>
        <p:txBody>
          <a:bodyPr wrap="square">
            <a:spAutoFit/>
          </a:bodyPr>
          <a:lstStyle/>
          <a:p>
            <a:pPr rtl="0">
              <a:buNone/>
            </a:pPr>
            <a:r>
              <a:rPr lang="fr-FR" sz="975" b="0" i="0" u="none" strike="noStrike" noProof="0">
                <a:solidFill>
                  <a:schemeClr val="tx2"/>
                </a:solidFill>
                <a:effectLst/>
                <a:latin typeface="Inter"/>
              </a:rPr>
              <a:t xml:space="preserve">L’entreprise a présenté un aperçu des émissions de GES du scope 3 conformément au protocole des GES. Elle indique les émissions totales et les émissions du scope 3 basées sur la localisation. Les cibles de réduction des émissions de CO₂e de l’entreprise sont indiquées, ainsi que ses principales actions pour atteindre ces cible</a:t>
            </a:r>
            <a:r>
              <a:rPr lang="fr-FR" sz="975" noProof="0">
                <a:solidFill>
                  <a:schemeClr val="tx2"/>
                </a:solidFill>
                <a:latin typeface="Inter"/>
              </a:rPr>
              <a:t>s.</a:t>
            </a:r>
          </a:p>
        </p:txBody>
      </p:sp>
      <p:sp>
        <p:nvSpPr>
          <p:cNvPr id="4" name="Title 2">
            <a:extLst>
              <a:ext uri="{FF2B5EF4-FFF2-40B4-BE49-F238E27FC236}">
                <a16:creationId xmlns:a16="http://schemas.microsoft.com/office/drawing/2014/main" id="{FBB97B4D-08D8-D90C-1409-BA753C4F4AD8}"/>
              </a:ext>
            </a:extLst>
          </p:cNvPr>
          <p:cNvSpPr txBox="1">
            <a:spLocks/>
          </p:cNvSpPr>
          <p:nvPr/>
        </p:nvSpPr>
        <p:spPr>
          <a:xfrm>
            <a:off x="411480" y="6141552"/>
            <a:ext cx="6737040" cy="207741"/>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475" b="1" kern="1200" spc="-10" baseline="0">
                <a:solidFill>
                  <a:schemeClr val="tx2"/>
                </a:solidFill>
                <a:latin typeface="+mj-lt"/>
                <a:ea typeface="+mj-ea"/>
                <a:cs typeface="+mj-cs"/>
              </a:defRPr>
            </a:lvl1pPr>
          </a:lstStyle>
          <a:p>
            <a:r>
              <a:rPr lang="fr-FR"/>
              <a:t xml:space="preserve">Transition climatique (C3)</a:t>
            </a:r>
          </a:p>
        </p:txBody>
      </p:sp>
      <p:graphicFrame>
        <p:nvGraphicFramePr>
          <p:cNvPr id="6" name="Table 21">
            <a:extLst>
              <a:ext uri="{FF2B5EF4-FFF2-40B4-BE49-F238E27FC236}">
                <a16:creationId xmlns:a16="http://schemas.microsoft.com/office/drawing/2014/main" id="{2DE6B17C-F4B0-464A-05E7-A58062EF922E}"/>
              </a:ext>
            </a:extLst>
          </p:cNvPr>
          <p:cNvGraphicFramePr>
            <a:graphicFrameLocks noGrp="1"/>
          </p:cNvGraphicFramePr>
          <p:nvPr>
            <p:extLst>
              <p:ext uri="{D42A27DB-BD31-4B8C-83A1-F6EECF244321}">
                <p14:modId xmlns:p14="http://schemas.microsoft.com/office/powerpoint/2010/main" val="572220017"/>
              </p:ext>
            </p:extLst>
          </p:nvPr>
        </p:nvGraphicFramePr>
        <p:xfrm>
          <a:off x="411480" y="8896659"/>
          <a:ext cx="6737040" cy="1020741"/>
        </p:xfrm>
        <a:graphic>
          <a:graphicData uri="http://schemas.openxmlformats.org/drawingml/2006/table">
            <a:tbl>
              <a:tblPr firstRow="1">
                <a:tableStyleId>{2A488322-F2BA-4B5B-9748-0D474271808F}</a:tableStyleId>
              </a:tblPr>
              <a:tblGrid>
                <a:gridCol w="3368520">
                  <a:extLst>
                    <a:ext uri="{9D8B030D-6E8A-4147-A177-3AD203B41FA5}">
                      <a16:colId xmlns:a16="http://schemas.microsoft.com/office/drawing/2014/main" val="2119413191"/>
                    </a:ext>
                  </a:extLst>
                </a:gridCol>
                <a:gridCol w="3368520">
                  <a:extLst>
                    <a:ext uri="{9D8B030D-6E8A-4147-A177-3AD203B41FA5}">
                      <a16:colId xmlns:a16="http://schemas.microsoft.com/office/drawing/2014/main" val="970155923"/>
                    </a:ext>
                  </a:extLst>
                </a:gridCol>
              </a:tblGrid>
              <a:tr h="272971">
                <a:tc gridSpan="2">
                  <a:txBody>
                    <a:bodyPr/>
                    <a:lstStyle/>
                    <a:p>
                      <a:r>
                        <a:rPr lang="fr-FR" sz="975" b="1" kern="1200" spc="-10" noProof="0">
                          <a:solidFill>
                            <a:schemeClr val="tx2"/>
                          </a:solidFill>
                          <a:latin typeface="+mn-lt"/>
                          <a:ea typeface="+mn-ea"/>
                          <a:cs typeface="+mn-cs"/>
                        </a:rPr>
                        <a:t xml:space="preserve">Plan de transition à venir </a:t>
                      </a:r>
                      <a:r>
                        <a:rPr lang="fr-FR" sz="975" b="0" kern="1200" spc="-10" noProof="0">
                          <a:solidFill>
                            <a:schemeClr val="tx2"/>
                          </a:solidFill>
                          <a:latin typeface="+mn-lt"/>
                          <a:ea typeface="+mn-ea"/>
                          <a:cs typeface="+mn-cs"/>
                        </a:rPr>
                        <a:t xml:space="preserve">(par. 55)</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l"/>
                      <a:endParaRPr lang="fr-FR" sz="725" b="1"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73885">
                <a:tc>
                  <a:txBody>
                    <a:bodyPr/>
                    <a:lstStyle/>
                    <a:p>
                      <a:pPr algn="l"/>
                      <a:r>
                        <a:rPr lang="fr-FR" sz="975" b="1" kern="1200" noProof="0">
                          <a:solidFill>
                            <a:schemeClr val="accent2"/>
                          </a:solidFill>
                          <a:latin typeface="+mn-lt"/>
                          <a:ea typeface="+mn-ea"/>
                          <a:cs typeface="+mn-cs"/>
                        </a:rPr>
                        <a:t>{{company_name}} </a:t>
                      </a:r>
                      <a:r>
                        <a:rPr lang="fr-FR" sz="975" b="1" kern="1200" noProof="0">
                          <a:solidFill>
                            <a:schemeClr val="tx2"/>
                          </a:solidFill>
                          <a:latin typeface="+mn-lt"/>
                          <a:ea typeface="+mn-ea"/>
                          <a:cs typeface="+mn-cs"/>
                        </a:rPr>
                        <a:t xml:space="preserve">adoptera un plan de transition concret </a:t>
                      </a:r>
                      <a:r>
                        <a:rPr lang="fr-FR" sz="975" b="1" noProof="0">
                          <a:solidFill>
                            <a:schemeClr val="tx2"/>
                          </a:solidFill>
                        </a:rPr>
                        <a:t xml:space="preserve">pour l’atténuation du changement climatique</a:t>
                      </a:r>
                      <a:endParaRPr lang="fr-FR" sz="975" b="1" kern="1200" noProof="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buNone/>
                      </a:pPr>
                      <a:r>
                        <a:rPr lang="fr-FR" sz="975" b="0" i="0" u="none" strike="noStrike" noProof="0">
                          <a:solidFill>
                            <a:srgbClr val="2D55FF"/>
                          </a:solidFill>
                          <a:effectLst/>
                          <a:latin typeface="Inter"/>
                        </a:rPr>
                        <a:t>{{transition_plan?}}</a:t>
                      </a:r>
                      <a:endParaRPr lang="fr-F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373885">
                <a:tc>
                  <a:txBody>
                    <a:bodyPr/>
                    <a:lstStyle/>
                    <a:p>
                      <a:pPr algn="l"/>
                      <a:r>
                        <a:rPr lang="fr-FR" sz="975" b="1" kern="1200" noProof="0">
                          <a:solidFill>
                            <a:schemeClr val="tx2"/>
                          </a:solidFill>
                          <a:latin typeface="+mn-lt"/>
                          <a:ea typeface="+mn-ea"/>
                          <a:cs typeface="+mn-cs"/>
                        </a:rPr>
                        <a:t xml:space="preserve">Date d’adoption du plan de transition</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buNone/>
                      </a:pPr>
                      <a:r>
                        <a:rPr lang="fr-FR" sz="975" b="0" i="0" u="none" strike="noStrike" noProof="0">
                          <a:solidFill>
                            <a:srgbClr val="2D55FF"/>
                          </a:solidFill>
                          <a:effectLst/>
                          <a:latin typeface="Inter"/>
                        </a:rPr>
                        <a:t>{{</a:t>
                      </a:r>
                      <a:r>
                        <a:rPr lang="fr-FR" sz="975" b="0" i="0" u="none" strike="noStrike" noProof="0">
                          <a:solidFill>
                            <a:srgbClr val="2D55FF"/>
                          </a:solidFill>
                          <a:effectLst/>
                          <a:latin typeface="Inter"/>
                        </a:rPr>
                        <a:t>transition_plan_date</a:t>
                      </a:r>
                      <a:r>
                        <a:rPr lang="fr-FR" sz="975" b="0" i="0" u="none" strike="noStrike" noProof="0">
                          <a:solidFill>
                            <a:srgbClr val="2D55FF"/>
                          </a:solidFill>
                          <a:effectLst/>
                          <a:latin typeface="Inter"/>
                        </a:rPr>
                        <a:t>}}</a:t>
                      </a:r>
                      <a:endParaRPr lang="fr-FR" sz="975" b="0"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68096352"/>
                  </a:ext>
                </a:extLst>
              </a:tr>
            </a:tbl>
          </a:graphicData>
        </a:graphic>
      </p:graphicFrame>
      <p:graphicFrame>
        <p:nvGraphicFramePr>
          <p:cNvPr id="8" name="Table 21">
            <a:extLst>
              <a:ext uri="{FF2B5EF4-FFF2-40B4-BE49-F238E27FC236}">
                <a16:creationId xmlns:a16="http://schemas.microsoft.com/office/drawing/2014/main" id="{E6BB71D4-7167-ADE5-0F8F-5DCD2A18B1DD}"/>
              </a:ext>
            </a:extLst>
          </p:cNvPr>
          <p:cNvGraphicFramePr>
            <a:graphicFrameLocks noGrp="1"/>
          </p:cNvGraphicFramePr>
          <p:nvPr>
            <p:extLst>
              <p:ext uri="{D42A27DB-BD31-4B8C-83A1-F6EECF244321}">
                <p14:modId xmlns:p14="http://schemas.microsoft.com/office/powerpoint/2010/main" val="480748797"/>
              </p:ext>
            </p:extLst>
          </p:nvPr>
        </p:nvGraphicFramePr>
        <p:xfrm>
          <a:off x="411480" y="7128927"/>
          <a:ext cx="6737040" cy="1169467"/>
        </p:xfrm>
        <a:graphic>
          <a:graphicData uri="http://schemas.openxmlformats.org/drawingml/2006/table">
            <a:tbl>
              <a:tblPr firstRow="1">
                <a:tableStyleId>{2A488322-F2BA-4B5B-9748-0D474271808F}</a:tableStyleId>
              </a:tblPr>
              <a:tblGrid>
                <a:gridCol w="6737040">
                  <a:extLst>
                    <a:ext uri="{9D8B030D-6E8A-4147-A177-3AD203B41FA5}">
                      <a16:colId xmlns:a16="http://schemas.microsoft.com/office/drawing/2014/main" val="2119413191"/>
                    </a:ext>
                  </a:extLst>
                </a:gridCol>
              </a:tblGrid>
              <a:tr h="221082">
                <a:tc>
                  <a:txBody>
                    <a:bodyPr/>
                    <a:lstStyle/>
                    <a:p>
                      <a:r>
                        <a:rPr lang="fr-FR" sz="975" b="1" kern="1200" spc="-10" noProof="0">
                          <a:solidFill>
                            <a:schemeClr val="tx2"/>
                          </a:solidFill>
                          <a:latin typeface="+mn-lt"/>
                          <a:ea typeface="+mn-ea"/>
                          <a:cs typeface="+mn-cs"/>
                        </a:rPr>
                        <a:t xml:space="preserve">Plan de transition pour l’atténuation du changement climatique </a:t>
                      </a:r>
                      <a:r>
                        <a:rPr lang="fr-FR" sz="975" b="0" kern="1200" spc="-10" noProof="0">
                          <a:solidFill>
                            <a:schemeClr val="tx2"/>
                          </a:solidFill>
                          <a:latin typeface="+mn-lt"/>
                          <a:ea typeface="+mn-ea"/>
                          <a:cs typeface="+mn-cs"/>
                        </a:rPr>
                        <a:t xml:space="preserve">(par. 54)</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948385">
                <a:tc>
                  <a:txBody>
                    <a:bodyPr/>
                    <a:lstStyle/>
                    <a:p>
                      <a:pPr algn="l"/>
                      <a:r>
                        <a:rPr lang="fr-FR" sz="975" b="0" noProof="0">
                          <a:solidFill>
                            <a:schemeClr val="accent2"/>
                          </a:solidFill>
                        </a:rPr>
                        <a:t>{{</a:t>
                      </a:r>
                      <a:r>
                        <a:rPr lang="fr-FR" sz="975" b="0" noProof="0">
                          <a:solidFill>
                            <a:schemeClr val="accent2"/>
                          </a:solidFill>
                        </a:rPr>
                        <a:t>transition_plan</a:t>
                      </a:r>
                      <a:r>
                        <a:rPr lang="fr-FR" sz="975" b="0" noProof="0">
                          <a:solidFill>
                            <a:schemeClr val="accent2"/>
                          </a:solidFill>
                        </a:rPr>
                        <a:t>}}</a:t>
                      </a:r>
                    </a:p>
                    <a:p>
                      <a:pPr algn="l"/>
                      <a:endParaRPr lang="fr-FR" sz="975" b="0" noProof="0" dirty="0">
                        <a:solidFill>
                          <a:schemeClr val="accent2"/>
                        </a:solidFill>
                      </a:endParaRPr>
                    </a:p>
                    <a:p>
                      <a:pPr algn="l"/>
                      <a:endParaRPr lang="fr-FR" sz="975" b="0" noProof="0" dirty="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
        <p:nvSpPr>
          <p:cNvPr id="9" name="Tekstfelt 8">
            <a:extLst>
              <a:ext uri="{FF2B5EF4-FFF2-40B4-BE49-F238E27FC236}">
                <a16:creationId xmlns:a16="http://schemas.microsoft.com/office/drawing/2014/main" id="{D30F6DC8-D978-CF00-7945-B9B1AF621669}"/>
              </a:ext>
            </a:extLst>
          </p:cNvPr>
          <p:cNvSpPr txBox="1"/>
          <p:nvPr/>
        </p:nvSpPr>
        <p:spPr>
          <a:xfrm>
            <a:off x="411480" y="6594415"/>
            <a:ext cx="6737040" cy="384705"/>
          </a:xfrm>
          <a:prstGeom prst="rect">
            <a:avLst/>
          </a:prstGeom>
          <a:noFill/>
        </p:spPr>
        <p:txBody>
          <a:bodyPr wrap="square">
            <a:spAutoFit/>
          </a:bodyPr>
          <a:lstStyle/>
          <a:p>
            <a:pPr rtl="0">
              <a:buNone/>
            </a:pPr>
            <a:r>
              <a:rPr lang="fr-FR" sz="975" b="0" i="0" u="none" strike="noStrike" noProof="0">
                <a:solidFill>
                  <a:schemeClr val="tx2"/>
                </a:solidFill>
                <a:effectLst/>
                <a:latin typeface="Inter"/>
              </a:rPr>
              <a:t xml:space="preserve">Les informations ci-dessous concernent le plan de transition de l’entreprise pour l’atténuation du changement climatique. La transition est liée aux cibles de réduction des émissions de CO₂e de l’entreprise.</a:t>
            </a:r>
          </a:p>
        </p:txBody>
      </p:sp>
      <p:sp>
        <p:nvSpPr>
          <p:cNvPr id="10" name="Tekstfelt 9">
            <a:extLst>
              <a:ext uri="{FF2B5EF4-FFF2-40B4-BE49-F238E27FC236}">
                <a16:creationId xmlns:a16="http://schemas.microsoft.com/office/drawing/2014/main" id="{24B5A55D-2C44-16CE-514E-9715833483A7}"/>
              </a:ext>
            </a:extLst>
          </p:cNvPr>
          <p:cNvSpPr txBox="1"/>
          <p:nvPr/>
        </p:nvSpPr>
        <p:spPr>
          <a:xfrm>
            <a:off x="411480" y="8386928"/>
            <a:ext cx="6737040" cy="230823"/>
          </a:xfrm>
          <a:prstGeom prst="rect">
            <a:avLst/>
          </a:prstGeom>
          <a:noFill/>
        </p:spPr>
        <p:txBody>
          <a:bodyPr wrap="square">
            <a:spAutoFit/>
          </a:bodyPr>
          <a:lstStyle/>
          <a:p>
            <a:pPr rtl="0">
              <a:buNone/>
            </a:pPr>
            <a:r>
              <a:rPr lang="fr-FR" sz="975" b="0" i="0" u="none" strike="noStrike" noProof="0">
                <a:solidFill>
                  <a:schemeClr val="tx2"/>
                </a:solidFill>
                <a:effectLst/>
                <a:latin typeface="Inter"/>
              </a:rPr>
              <a:t xml:space="preserve">Cette information a été complétée car l’entreprise a indiqué qu’elle adoptera un plan de transition concret, ainsi que la date d’adoption.</a:t>
            </a:r>
            <a:endParaRPr lang="fr-FR" noProof="0">
              <a:solidFill>
                <a:schemeClr val="tx2"/>
              </a:solidFill>
            </a:endParaRPr>
          </a:p>
        </p:txBody>
      </p:sp>
    </p:spTree>
    <p:extLst>
      <p:ext uri="{BB962C8B-B14F-4D97-AF65-F5344CB8AC3E}">
        <p14:creationId xmlns:p14="http://schemas.microsoft.com/office/powerpoint/2010/main" val="31239409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411480" y="731222"/>
            <a:ext cx="6737040" cy="207741"/>
          </a:xfrm>
        </p:spPr>
        <p:txBody>
          <a:bodyPr/>
          <a:lstStyle/>
          <a:p>
            <a:r>
              <a:rPr lang="fr-FR" noProof="0"/>
              <a:t xml:space="preserve">R</a:t>
            </a:r>
            <a:r>
              <a:rPr lang="fr-FR" sz="1475" b="1" noProof="0">
                <a:solidFill>
                  <a:schemeClr val="tx2"/>
                </a:solidFill>
              </a:rPr>
              <a:t xml:space="preserve">isques climatiques (C4)</a:t>
            </a:r>
            <a:endParaRPr lang="fr-FR" noProof="0"/>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fr-FR" noProof="0"/>
              <a:t>{{company_name}}</a:t>
            </a:r>
            <a:endParaRPr lang="fr-FR" b="0" noProof="0"/>
          </a:p>
          <a:p>
            <a:br>
              <a:rPr lang="fr-FR" noProof="0"/>
            </a:br>
            <a:endParaRPr lang="fr-FR" noProof="0"/>
          </a:p>
        </p:txBody>
      </p:sp>
      <p:pic>
        <p:nvPicPr>
          <p:cNvPr id="16" name="Graphic 9">
            <a:extLst>
              <a:ext uri="{FF2B5EF4-FFF2-40B4-BE49-F238E27FC236}">
                <a16:creationId xmlns:a16="http://schemas.microsoft.com/office/drawing/2014/main" id="{033648F6-FE58-4D8D-89DB-42FC37C87063}"/>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11480" y="4855421"/>
            <a:ext cx="6737040" cy="193826"/>
          </a:xfrm>
          <a:prstGeom prst="rect">
            <a:avLst/>
          </a:prstGeom>
        </p:spPr>
      </p:pic>
      <p:pic>
        <p:nvPicPr>
          <p:cNvPr id="9" name="Graphic 9">
            <a:extLst>
              <a:ext uri="{FF2B5EF4-FFF2-40B4-BE49-F238E27FC236}">
                <a16:creationId xmlns:a16="http://schemas.microsoft.com/office/drawing/2014/main" id="{701FC5B6-C71C-4B3D-30F9-DBF0A8F39E17}"/>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11480" y="5649259"/>
            <a:ext cx="6737040" cy="193826"/>
          </a:xfrm>
          <a:prstGeom prst="rect">
            <a:avLst/>
          </a:prstGeom>
        </p:spPr>
      </p:pic>
      <p:graphicFrame>
        <p:nvGraphicFramePr>
          <p:cNvPr id="13" name="Table 2">
            <a:extLst>
              <a:ext uri="{FF2B5EF4-FFF2-40B4-BE49-F238E27FC236}">
                <a16:creationId xmlns:a16="http://schemas.microsoft.com/office/drawing/2014/main" id="{6B6532BD-8830-D325-3A0A-E3778F929B7C}"/>
              </a:ext>
            </a:extLst>
          </p:cNvPr>
          <p:cNvGraphicFramePr>
            <a:graphicFrameLocks noGrp="1"/>
          </p:cNvGraphicFramePr>
          <p:nvPr>
            <p:extLst>
              <p:ext uri="{D42A27DB-BD31-4B8C-83A1-F6EECF244321}">
                <p14:modId xmlns:p14="http://schemas.microsoft.com/office/powerpoint/2010/main" val="2382858557"/>
              </p:ext>
            </p:extLst>
          </p:nvPr>
        </p:nvGraphicFramePr>
        <p:xfrm>
          <a:off x="411480" y="2041628"/>
          <a:ext cx="6737040" cy="3977161"/>
        </p:xfrm>
        <a:graphic>
          <a:graphicData uri="http://schemas.openxmlformats.org/drawingml/2006/table">
            <a:tbl>
              <a:tblPr firstRow="1">
                <a:tableStyleId>{2A488322-F2BA-4B5B-9748-0D474271808F}</a:tableStyleId>
              </a:tblPr>
              <a:tblGrid>
                <a:gridCol w="914400">
                  <a:extLst>
                    <a:ext uri="{9D8B030D-6E8A-4147-A177-3AD203B41FA5}">
                      <a16:colId xmlns:a16="http://schemas.microsoft.com/office/drawing/2014/main" val="1904521774"/>
                    </a:ext>
                  </a:extLst>
                </a:gridCol>
                <a:gridCol w="914400">
                  <a:extLst>
                    <a:ext uri="{9D8B030D-6E8A-4147-A177-3AD203B41FA5}">
                      <a16:colId xmlns:a16="http://schemas.microsoft.com/office/drawing/2014/main" val="3691300808"/>
                    </a:ext>
                  </a:extLst>
                </a:gridCol>
                <a:gridCol w="1097312">
                  <a:extLst>
                    <a:ext uri="{9D8B030D-6E8A-4147-A177-3AD203B41FA5}">
                      <a16:colId xmlns:a16="http://schemas.microsoft.com/office/drawing/2014/main" val="1169754581"/>
                    </a:ext>
                  </a:extLst>
                </a:gridCol>
                <a:gridCol w="1034845">
                  <a:extLst>
                    <a:ext uri="{9D8B030D-6E8A-4147-A177-3AD203B41FA5}">
                      <a16:colId xmlns:a16="http://schemas.microsoft.com/office/drawing/2014/main" val="519320573"/>
                    </a:ext>
                  </a:extLst>
                </a:gridCol>
                <a:gridCol w="947283">
                  <a:extLst>
                    <a:ext uri="{9D8B030D-6E8A-4147-A177-3AD203B41FA5}">
                      <a16:colId xmlns:a16="http://schemas.microsoft.com/office/drawing/2014/main" val="43798019"/>
                    </a:ext>
                  </a:extLst>
                </a:gridCol>
                <a:gridCol w="914400">
                  <a:extLst>
                    <a:ext uri="{9D8B030D-6E8A-4147-A177-3AD203B41FA5}">
                      <a16:colId xmlns:a16="http://schemas.microsoft.com/office/drawing/2014/main" val="3164053669"/>
                    </a:ext>
                  </a:extLst>
                </a:gridCol>
                <a:gridCol w="914400">
                  <a:extLst>
                    <a:ext uri="{9D8B030D-6E8A-4147-A177-3AD203B41FA5}">
                      <a16:colId xmlns:a16="http://schemas.microsoft.com/office/drawing/2014/main" val="1484983729"/>
                    </a:ext>
                  </a:extLst>
                </a:gridCol>
              </a:tblGrid>
              <a:tr h="186792">
                <a:tc gridSpan="3">
                  <a:txBody>
                    <a:bodyPr/>
                    <a:lstStyle/>
                    <a:p>
                      <a:r>
                        <a:rPr lang="fr-FR" sz="825" b="0" kern="1200" noProof="0">
                          <a:solidFill>
                            <a:schemeClr val="tx2"/>
                          </a:solidFill>
                          <a:latin typeface="+mn-lt"/>
                          <a:ea typeface="+mn-ea"/>
                          <a:cs typeface="+mn-cs"/>
                        </a:rPr>
                        <a:t xml:space="preserve">(par. 56a)</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fr-FR" sz="600" b="1"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gridSpan="2">
                  <a:txBody>
                    <a:bodyPr/>
                    <a:lstStyle/>
                    <a:p>
                      <a:r>
                        <a:rPr lang="fr-FR" sz="825" b="0" kern="1200" noProof="0">
                          <a:solidFill>
                            <a:schemeClr val="tx2"/>
                          </a:solidFill>
                          <a:latin typeface="+mn-lt"/>
                          <a:ea typeface="+mn-ea"/>
                          <a:cs typeface="+mn-cs"/>
                        </a:rPr>
                        <a:t xml:space="preserve">(par. 56b)</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fr-FR" sz="600"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r>
                        <a:rPr lang="fr-FR" sz="825" b="0" kern="1200" noProof="0">
                          <a:solidFill>
                            <a:schemeClr val="tx2"/>
                          </a:solidFill>
                          <a:latin typeface="+mn-lt"/>
                          <a:ea typeface="+mn-ea"/>
                          <a:cs typeface="+mn-cs"/>
                        </a:rPr>
                        <a:t xml:space="preserve">(par. 56c)</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r>
                        <a:rPr lang="fr-FR" sz="825" b="0" kern="1200" noProof="0">
                          <a:solidFill>
                            <a:schemeClr val="tx2"/>
                          </a:solidFill>
                          <a:latin typeface="+mn-lt"/>
                          <a:ea typeface="+mn-ea"/>
                          <a:cs typeface="+mn-cs"/>
                        </a:rPr>
                        <a:t xml:space="preserve">(par. 56d)</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642311251"/>
                  </a:ext>
                </a:extLst>
              </a:tr>
              <a:tr h="45484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825" b="1" noProof="0">
                          <a:solidFill>
                            <a:schemeClr val="tx2"/>
                          </a:solidFill>
                        </a:rPr>
                        <a:t xml:space="preserve">Risques climatiques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825" b="1" noProof="0">
                          <a:solidFill>
                            <a:schemeClr val="tx2"/>
                          </a:solidFill>
                        </a:rPr>
                        <a:t xml:space="preserve">Où</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825" b="1" noProof="0">
                          <a:solidFill>
                            <a:schemeClr val="tx2"/>
                          </a:solidFill>
                        </a:rPr>
                        <a:t xml:space="preserve">Brève description des risques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825" b="1" noProof="0">
                          <a:solidFill>
                            <a:schemeClr val="tx2"/>
                          </a:solidFill>
                        </a:rPr>
                        <a:t xml:space="preserve">Exposition </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sz="825" b="0" noProof="0">
                          <a:solidFill>
                            <a:schemeClr val="tx2"/>
                          </a:solidFill>
                        </a:rPr>
                        <a:t xml:space="preserve">(faible/moyen/élevé)</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825" b="1" noProof="0">
                          <a:solidFill>
                            <a:schemeClr val="tx2"/>
                          </a:solidFill>
                        </a:rPr>
                        <a:t xml:space="preserve">Sensibilité </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sz="825" b="0" noProof="0">
                          <a:solidFill>
                            <a:schemeClr val="tx2"/>
                          </a:solidFill>
                        </a:rPr>
                        <a:t xml:space="preserve">(faible/moyen/élevé)</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825" b="1" noProof="0">
                          <a:solidFill>
                            <a:schemeClr val="tx2"/>
                          </a:solidFill>
                        </a:rPr>
                        <a:t xml:space="preserve">Horizon temporel </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sz="825" b="0" i="0" noProof="0">
                          <a:solidFill>
                            <a:schemeClr val="tx2"/>
                          </a:solidFill>
                        </a:rPr>
                        <a:t xml:space="preserve">(0-1/2-5/&gt;5 ans)</a:t>
                      </a:r>
                      <a:endParaRPr lang="fr-FR" sz="825" b="0" i="0" noProof="0"/>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825" b="1" noProof="0">
                          <a:solidFill>
                            <a:schemeClr val="tx2"/>
                          </a:solidFill>
                        </a:rPr>
                        <a:t xml:space="preserve">Adaptation engagée </a:t>
                      </a:r>
                      <a:r>
                        <a:rPr lang="fr-FR" sz="825" b="0" noProof="0">
                          <a:solidFill>
                            <a:schemeClr val="tx2"/>
                          </a:solidFill>
                        </a:rPr>
                        <a:t xml:space="preserve">(OUI/NON)</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729970087"/>
                  </a:ext>
                </a:extLst>
              </a:tr>
              <a:tr h="320817">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825" b="1" noProof="0">
                          <a:solidFill>
                            <a:schemeClr val="tx2"/>
                          </a:solidFill>
                        </a:rPr>
                        <a:t xml:space="preserve">Aléas chroniques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825" b="0" kern="1200" noProof="0">
                          <a:solidFill>
                            <a:schemeClr val="tx2"/>
                          </a:solidFill>
                          <a:latin typeface="+mn-lt"/>
                          <a:ea typeface="+mn-ea"/>
                          <a:cs typeface="+mn-cs"/>
                        </a:rPr>
                        <a:t xml:space="preserve">Actifs</a:t>
                      </a:r>
                      <a:endParaRPr lang="fr-FR" sz="82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fr-FR" sz="825" b="0" i="0" u="none" strike="noStrike" noProof="0">
                          <a:solidFill>
                            <a:schemeClr val="accent2"/>
                          </a:solidFill>
                        </a:rPr>
                        <a:t>{{chronic_aktiver_description}}</a:t>
                      </a: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fr-FR" sz="825" b="0" i="0" u="none" strike="noStrike" noProof="0">
                          <a:solidFill>
                            <a:schemeClr val="accent2"/>
                          </a:solidFill>
                          <a:latin typeface="IBM Plex Sans"/>
                        </a:rPr>
                        <a:t>{{chronic_aktiver_eksponerning}}</a:t>
                      </a: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fr-FR" sz="825" b="0" i="0" u="none" strike="noStrike" noProof="0">
                          <a:solidFill>
                            <a:schemeClr val="accent2"/>
                          </a:solidFill>
                          <a:latin typeface="IBM Plex Sans"/>
                        </a:rPr>
                        <a:t>{{chronic_aktiver_sårbarhed}}</a:t>
                      </a: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fr-FR" sz="825" b="0" i="0" u="none" strike="noStrike" noProof="0">
                          <a:solidFill>
                            <a:schemeClr val="accent2"/>
                          </a:solidFill>
                          <a:latin typeface="IBM Plex Sans"/>
                        </a:rPr>
                        <a:t>{{chronic_aktiver_time}}</a:t>
                      </a: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fr-FR" sz="825" b="0" i="0" u="none" strike="noStrike" noProof="0">
                          <a:solidFill>
                            <a:schemeClr val="accent2"/>
                          </a:solidFill>
                          <a:latin typeface="IBM Plex Sans"/>
                        </a:rPr>
                        <a:t>{{chronic_aktiver_tilpasning}}</a:t>
                      </a: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320817">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600" b="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825" b="0" kern="1200" noProof="0">
                          <a:solidFill>
                            <a:schemeClr val="tx2"/>
                          </a:solidFill>
                          <a:latin typeface="+mn-lt"/>
                          <a:ea typeface="+mn-ea"/>
                          <a:cs typeface="+mn-cs"/>
                        </a:rPr>
                        <a:t xml:space="preserve">Activités</a:t>
                      </a:r>
                      <a:endParaRPr lang="fr-FR" sz="82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fr-FR" sz="825" b="0" i="0" u="none" strike="noStrike" noProof="0">
                          <a:solidFill>
                            <a:schemeClr val="accent2"/>
                          </a:solidFill>
                          <a:latin typeface="IBM Plex Sans"/>
                        </a:rPr>
                        <a:t>{{chronic_aktiveter_description}}</a:t>
                      </a: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fr-FR" sz="825" b="0" i="0" u="none" strike="noStrike" noProof="0">
                          <a:solidFill>
                            <a:schemeClr val="accent2"/>
                          </a:solidFill>
                        </a:rPr>
                        <a:t>{{chronic_aktivteter_eksponerning}}</a:t>
                      </a: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fr-FR" sz="825" b="0" i="0" u="none" strike="noStrike" noProof="0">
                          <a:solidFill>
                            <a:schemeClr val="accent2"/>
                          </a:solidFill>
                          <a:latin typeface="IBM Plex Sans"/>
                        </a:rPr>
                        <a:t>{{chronic_aktivteter_sårbarhed}}</a:t>
                      </a: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fr-FR" sz="825" b="0" i="0" u="none" strike="noStrike" noProof="0">
                          <a:solidFill>
                            <a:schemeClr val="accent2"/>
                          </a:solidFill>
                          <a:latin typeface="IBM Plex Sans"/>
                        </a:rPr>
                        <a:t>{{chronic_aktivteter_time}}</a:t>
                      </a:r>
                      <a:endParaRPr lang="fr-FR"/>
                    </a:p>
                    <a:p>
                      <a:pPr lvl="0" algn="ctr">
                        <a:lnSpc>
                          <a:spcPct val="100000"/>
                        </a:lnSpc>
                        <a:spcBef>
                          <a:spcPts val="0"/>
                        </a:spcBef>
                        <a:spcAft>
                          <a:spcPts val="0"/>
                        </a:spcAft>
                        <a:buNone/>
                      </a:pP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fr-FR" sz="825" b="0" i="0" u="none" strike="noStrike" noProof="0">
                          <a:solidFill>
                            <a:schemeClr val="accent2"/>
                          </a:solidFill>
                          <a:latin typeface="IBM Plex Sans"/>
                        </a:rPr>
                        <a:t>{{chronic_aktivteter_tilpasning}}</a:t>
                      </a:r>
                      <a:endParaRPr lang="fr-FR"/>
                    </a:p>
                    <a:p>
                      <a:pPr marL="0" marR="0" lvl="0" indent="0" algn="ctr">
                        <a:lnSpc>
                          <a:spcPct val="100000"/>
                        </a:lnSpc>
                        <a:spcBef>
                          <a:spcPts val="0"/>
                        </a:spcBef>
                        <a:spcAft>
                          <a:spcPts val="0"/>
                        </a:spcAft>
                        <a:buClrTx/>
                        <a:buSzTx/>
                        <a:buFontTx/>
                        <a:buNone/>
                      </a:pPr>
                      <a:endParaRPr lang="fr-FR" sz="82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394372718"/>
                  </a:ext>
                </a:extLst>
              </a:tr>
              <a:tr h="320817">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600" b="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825" b="0" kern="1200" noProof="0">
                          <a:solidFill>
                            <a:schemeClr val="tx2"/>
                          </a:solidFill>
                          <a:latin typeface="+mn-lt"/>
                          <a:ea typeface="+mn-ea"/>
                          <a:cs typeface="+mn-cs"/>
                        </a:rPr>
                        <a:t xml:space="preserve">Chaîne de valeur</a:t>
                      </a:r>
                      <a:endParaRPr lang="fr-FR" sz="82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fr-FR" sz="825" b="0" i="0" u="none" strike="noStrike" noProof="0">
                          <a:solidFill>
                            <a:schemeClr val="accent2"/>
                          </a:solidFill>
                        </a:rPr>
                        <a:t>{{chronic_value_description}}</a:t>
                      </a: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fr-FR" sz="825" b="0" i="0" u="none" strike="noStrike" noProof="0">
                          <a:solidFill>
                            <a:schemeClr val="accent2"/>
                          </a:solidFill>
                          <a:latin typeface="IBM Plex Sans"/>
                        </a:rPr>
                        <a:t>{{chronic_value_eksponerning}}</a:t>
                      </a: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fr-FR" sz="825" b="0" i="0" u="none" strike="noStrike" noProof="0">
                          <a:solidFill>
                            <a:schemeClr val="accent2"/>
                          </a:solidFill>
                          <a:latin typeface="IBM Plex Sans"/>
                        </a:rPr>
                        <a:t>{{chronic_value_sårbarhed}}</a:t>
                      </a: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fr-FR" sz="825" b="0" i="0" u="none" strike="noStrike" noProof="0">
                          <a:solidFill>
                            <a:schemeClr val="accent2"/>
                          </a:solidFill>
                          <a:latin typeface="IBM Plex Sans"/>
                        </a:rPr>
                        <a:t>{{chronic_value_time}}</a:t>
                      </a: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fr-FR" sz="825" b="0" i="0" u="none" strike="noStrike" noProof="0">
                          <a:solidFill>
                            <a:schemeClr val="accent2"/>
                          </a:solidFill>
                          <a:latin typeface="IBM Plex Sans"/>
                        </a:rPr>
                        <a:t>{{chronic_value_tilpasning}}</a:t>
                      </a: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58144899"/>
                  </a:ext>
                </a:extLst>
              </a:tr>
              <a:tr h="320817">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825" b="1" kern="1200" noProof="0">
                          <a:solidFill>
                            <a:schemeClr val="tx2"/>
                          </a:solidFill>
                          <a:latin typeface="+mn-lt"/>
                          <a:ea typeface="+mn-ea"/>
                          <a:cs typeface="+mn-cs"/>
                        </a:rPr>
                        <a:t xml:space="preserve">Aléas aigus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825" b="0" kern="1200" noProof="0">
                          <a:solidFill>
                            <a:schemeClr val="tx2"/>
                          </a:solidFill>
                          <a:latin typeface="+mn-lt"/>
                          <a:ea typeface="+mn-ea"/>
                          <a:cs typeface="+mn-cs"/>
                        </a:rPr>
                        <a:t xml:space="preserve">Actifs</a:t>
                      </a:r>
                      <a:endParaRPr lang="fr-FR" sz="82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fr-FR" sz="825" b="0" i="0" u="none" strike="noStrike" noProof="0">
                          <a:solidFill>
                            <a:schemeClr val="accent2"/>
                          </a:solidFill>
                        </a:rPr>
                        <a:t>{{akut_aktiver_description}}</a:t>
                      </a: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fr-FR" sz="825" b="0" i="0" u="none" strike="noStrike" noProof="0">
                          <a:solidFill>
                            <a:schemeClr val="accent2"/>
                          </a:solidFill>
                          <a:latin typeface="IBM Plex Sans"/>
                        </a:rPr>
                        <a:t>{{akut_aktiver_eksponering}}</a:t>
                      </a: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fr-FR" sz="825" b="0" i="0" u="none" strike="noStrike" noProof="0">
                          <a:solidFill>
                            <a:schemeClr val="accent2"/>
                          </a:solidFill>
                          <a:latin typeface="IBM Plex Sans"/>
                        </a:rPr>
                        <a:t>{{akut_aktiver_sårbarhed}}</a:t>
                      </a: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fr-FR" sz="825" b="0" i="0" u="none" strike="noStrike" noProof="0">
                          <a:solidFill>
                            <a:schemeClr val="accent2"/>
                          </a:solidFill>
                          <a:latin typeface="IBM Plex Sans"/>
                        </a:rPr>
                        <a:t>{{akut_aktiver_tidshorisont}}</a:t>
                      </a: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fr-FR" sz="825" b="0" i="0" u="none" strike="noStrike" noProof="0">
                          <a:solidFill>
                            <a:schemeClr val="accent2"/>
                          </a:solidFill>
                          <a:latin typeface="IBM Plex Sans"/>
                        </a:rPr>
                        <a:t>{{akut_aktiver_tilpasning}}</a:t>
                      </a: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800158845"/>
                  </a:ext>
                </a:extLst>
              </a:tr>
              <a:tr h="320817">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600" b="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825" b="0" kern="1200" noProof="0">
                          <a:solidFill>
                            <a:schemeClr val="tx2"/>
                          </a:solidFill>
                          <a:latin typeface="+mn-lt"/>
                          <a:ea typeface="+mn-ea"/>
                          <a:cs typeface="+mn-cs"/>
                        </a:rPr>
                        <a:t xml:space="preserve">Activités</a:t>
                      </a:r>
                      <a:endParaRPr lang="fr-FR" sz="82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fr-FR" sz="825" b="0" i="0" u="none" strike="noStrike" noProof="0">
                          <a:solidFill>
                            <a:schemeClr val="accent2"/>
                          </a:solidFill>
                        </a:rPr>
                        <a:t>{{akut_aktiviteter_description}}</a:t>
                      </a: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fr-FR" sz="825" b="0" i="0" u="none" strike="noStrike" noProof="0">
                          <a:solidFill>
                            <a:schemeClr val="accent2"/>
                          </a:solidFill>
                          <a:latin typeface="IBM Plex Sans"/>
                        </a:rPr>
                        <a:t>{{akut_aktiviteter_eksponering}}</a:t>
                      </a: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fr-FR" sz="825" b="0" i="0" u="none" strike="noStrike" noProof="0">
                          <a:solidFill>
                            <a:schemeClr val="accent2"/>
                          </a:solidFill>
                          <a:latin typeface="IBM Plex Sans"/>
                        </a:rPr>
                        <a:t>{{akut_aktiviteter_sårbarhed}}</a:t>
                      </a: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fr-FR" sz="825" b="0" i="0" u="none" strike="noStrike" noProof="0">
                          <a:solidFill>
                            <a:schemeClr val="accent2"/>
                          </a:solidFill>
                          <a:latin typeface="IBM Plex Sans"/>
                        </a:rPr>
                        <a:t>{{akut_aktiviteter_tidshorisont}}</a:t>
                      </a: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fr-FR" sz="825" b="0" i="0" u="none" strike="noStrike" noProof="0">
                          <a:solidFill>
                            <a:schemeClr val="accent2"/>
                          </a:solidFill>
                          <a:latin typeface="IBM Plex Sans"/>
                        </a:rPr>
                        <a:t>{{akut_aktiviteter_tilpasning}}</a:t>
                      </a: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4281780729"/>
                  </a:ext>
                </a:extLst>
              </a:tr>
              <a:tr h="320817">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600" b="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825" b="0" kern="1200" noProof="0">
                          <a:solidFill>
                            <a:schemeClr val="tx2"/>
                          </a:solidFill>
                          <a:latin typeface="+mn-lt"/>
                          <a:ea typeface="+mn-ea"/>
                          <a:cs typeface="+mn-cs"/>
                        </a:rPr>
                        <a:t xml:space="preserve">Chaîne de valeur</a:t>
                      </a:r>
                      <a:endParaRPr lang="fr-FR" sz="82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fr-FR" sz="825" b="0" i="0" u="none" strike="noStrike" noProof="0">
                          <a:solidFill>
                            <a:schemeClr val="accent2"/>
                          </a:solidFill>
                        </a:rPr>
                        <a:t>{{akut_værdikæde_description}}</a:t>
                      </a: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fr-FR" sz="825" b="0" i="0" u="none" strike="noStrike" noProof="0">
                          <a:solidFill>
                            <a:schemeClr val="accent2"/>
                          </a:solidFill>
                          <a:latin typeface="IBM Plex Sans"/>
                        </a:rPr>
                        <a:t>{{akut_værdikæde_eksponering}}</a:t>
                      </a: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fr-FR" sz="825" b="0" i="0" u="none" strike="noStrike" noProof="0">
                          <a:solidFill>
                            <a:schemeClr val="accent2"/>
                          </a:solidFill>
                          <a:latin typeface="IBM Plex Sans"/>
                        </a:rPr>
                        <a:t>{{akut_værdikæde_sårbarhed}}</a:t>
                      </a: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fr-FR" sz="825" b="0" i="0" u="none" strike="noStrike" noProof="0">
                          <a:solidFill>
                            <a:schemeClr val="accent2"/>
                          </a:solidFill>
                          <a:latin typeface="IBM Plex Sans"/>
                        </a:rPr>
                        <a:t>{{akut_værdikæde_tidshorisont}}</a:t>
                      </a: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fr-FR" sz="825" b="0" i="0" u="none" strike="noStrike" noProof="0">
                          <a:solidFill>
                            <a:schemeClr val="accent2"/>
                          </a:solidFill>
                          <a:latin typeface="IBM Plex Sans"/>
                        </a:rPr>
                        <a:t>{{akut_værdikæde_tilpasning}}</a:t>
                      </a: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4169359558"/>
                  </a:ext>
                </a:extLst>
              </a:tr>
              <a:tr h="320817">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825" b="1" kern="1200" noProof="0">
                          <a:solidFill>
                            <a:schemeClr val="tx2"/>
                          </a:solidFill>
                          <a:latin typeface="+mn-lt"/>
                          <a:ea typeface="+mn-ea"/>
                          <a:cs typeface="+mn-cs"/>
                        </a:rPr>
                        <a:t xml:space="preserve">Événement de transition</a:t>
                      </a:r>
                      <a:endParaRPr lang="fr-FR" sz="82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825" b="0" kern="1200" noProof="0">
                          <a:solidFill>
                            <a:schemeClr val="tx2"/>
                          </a:solidFill>
                          <a:latin typeface="+mn-lt"/>
                          <a:ea typeface="+mn-ea"/>
                          <a:cs typeface="+mn-cs"/>
                        </a:rPr>
                        <a:t xml:space="preserve">Actifs</a:t>
                      </a:r>
                      <a:endParaRPr lang="fr-FR" sz="82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fr-FR" sz="825" b="0" i="0" u="none" strike="noStrike" noProof="0">
                          <a:solidFill>
                            <a:schemeClr val="accent2"/>
                          </a:solidFill>
                        </a:rPr>
                        <a:t>{{omstilling_aktiver_description}}</a:t>
                      </a: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fr-FR" sz="825" b="0" i="0" u="none" strike="noStrike" noProof="0">
                          <a:solidFill>
                            <a:schemeClr val="accent2"/>
                          </a:solidFill>
                          <a:latin typeface="IBM Plex Sans"/>
                        </a:rPr>
                        <a:t>{{omstilling_aktiver_eksponering}}</a:t>
                      </a: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fr-FR" sz="825" b="0" i="0" u="none" strike="noStrike" noProof="0">
                          <a:solidFill>
                            <a:schemeClr val="accent2"/>
                          </a:solidFill>
                          <a:latin typeface="IBM Plex Sans"/>
                        </a:rPr>
                        <a:t>{{omstilling_aktiver_sårbarhed}}</a:t>
                      </a: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fr-FR" sz="825" b="0" i="0" u="none" strike="noStrike" noProof="0">
                          <a:solidFill>
                            <a:schemeClr val="accent2"/>
                          </a:solidFill>
                          <a:latin typeface="IBM Plex Sans"/>
                        </a:rPr>
                        <a:t>{{omstilling_aktiver_tidshorisont}}</a:t>
                      </a: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fr-FR" sz="825" b="0" i="0" u="none" strike="noStrike" noProof="0">
                          <a:solidFill>
                            <a:schemeClr val="accent2"/>
                          </a:solidFill>
                          <a:latin typeface="IBM Plex Sans"/>
                        </a:rPr>
                        <a:t>{{omstilling_aktiver_tilpasning}}</a:t>
                      </a: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47315044"/>
                  </a:ext>
                </a:extLst>
              </a:tr>
              <a:tr h="320817">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600" b="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825" b="0" kern="1200" noProof="0">
                          <a:solidFill>
                            <a:schemeClr val="tx2"/>
                          </a:solidFill>
                          <a:latin typeface="+mn-lt"/>
                          <a:ea typeface="+mn-ea"/>
                          <a:cs typeface="+mn-cs"/>
                        </a:rPr>
                        <a:t xml:space="preserve">Activités</a:t>
                      </a:r>
                      <a:endParaRPr lang="fr-FR" sz="82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fr-FR" sz="825" b="0" i="0" u="none" strike="noStrike" noProof="0">
                          <a:solidFill>
                            <a:schemeClr val="accent2"/>
                          </a:solidFill>
                        </a:rPr>
                        <a:t>{{omstilling_aktiviteter_description}}</a:t>
                      </a: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fr-FR" sz="825" b="0" i="0" u="none" strike="noStrike" noProof="0">
                          <a:solidFill>
                            <a:schemeClr val="accent2"/>
                          </a:solidFill>
                          <a:latin typeface="IBM Plex Sans"/>
                        </a:rPr>
                        <a:t>{{omstilling_aktiviteter_eksponering}}</a:t>
                      </a: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fr-FR" sz="825" b="0" i="0" u="none" strike="noStrike" noProof="0">
                          <a:solidFill>
                            <a:schemeClr val="accent2"/>
                          </a:solidFill>
                          <a:latin typeface="IBM Plex Sans"/>
                        </a:rPr>
                        <a:t>{{omstilling_aktiviteter_sårbarhed}}</a:t>
                      </a: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fr-FR" sz="825" b="0" i="0" u="none" strike="noStrike" noProof="0">
                          <a:solidFill>
                            <a:schemeClr val="accent2"/>
                          </a:solidFill>
                          <a:latin typeface="IBM Plex Sans"/>
                        </a:rPr>
                        <a:t>{{omstilling_aktiviteter_tidshorisont}}</a:t>
                      </a: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fr-FR" sz="825" b="0" i="0" u="none" strike="noStrike" noProof="0">
                          <a:solidFill>
                            <a:schemeClr val="accent2"/>
                          </a:solidFill>
                          <a:latin typeface="IBM Plex Sans"/>
                        </a:rPr>
                        <a:t>{{omstilling_aktiviteter_tilpasning}}</a:t>
                      </a: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681005516"/>
                  </a:ext>
                </a:extLst>
              </a:tr>
              <a:tr h="320817">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600" b="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825" b="0" kern="1200" noProof="0">
                          <a:solidFill>
                            <a:schemeClr val="tx2"/>
                          </a:solidFill>
                          <a:latin typeface="+mn-lt"/>
                          <a:ea typeface="+mn-ea"/>
                          <a:cs typeface="+mn-cs"/>
                        </a:rPr>
                        <a:t xml:space="preserve">Chaîne de valeur</a:t>
                      </a:r>
                      <a:endParaRPr lang="fr-FR" sz="82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fr-FR" sz="825" b="0" i="0" u="none" strike="noStrike" noProof="0">
                          <a:solidFill>
                            <a:schemeClr val="accent2"/>
                          </a:solidFill>
                        </a:rPr>
                        <a:t>{{omstilling_værdikæde_description}}</a:t>
                      </a: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fr-FR" sz="825" b="0" i="0" u="none" strike="noStrike" noProof="0">
                          <a:solidFill>
                            <a:schemeClr val="accent2"/>
                          </a:solidFill>
                          <a:latin typeface="IBM Plex Sans"/>
                        </a:rPr>
                        <a:t>{{omstilling_værdikæde_eksponering}}</a:t>
                      </a: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fr-FR" sz="825" b="0" i="0" u="none" strike="noStrike" noProof="0">
                          <a:solidFill>
                            <a:schemeClr val="accent2"/>
                          </a:solidFill>
                          <a:latin typeface="IBM Plex Sans"/>
                        </a:rPr>
                        <a:t>{{omstilling_værdikæde_sårbarhed}}</a:t>
                      </a: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fr-FR" sz="825" b="0" i="0" u="none" strike="noStrike" noProof="0">
                          <a:solidFill>
                            <a:schemeClr val="accent2"/>
                          </a:solidFill>
                          <a:latin typeface="IBM Plex Sans"/>
                        </a:rPr>
                        <a:t>{{omstilling_værdikæde_tidshorisont}}</a:t>
                      </a: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fr-FR" sz="825" b="0" i="0" u="none" strike="noStrike" noProof="0">
                          <a:solidFill>
                            <a:schemeClr val="accent2"/>
                          </a:solidFill>
                          <a:latin typeface="IBM Plex Sans"/>
                        </a:rPr>
                        <a:t>{{omstilling_værdikæde_tilpasning}}</a:t>
                      </a: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065361783"/>
                  </a:ext>
                </a:extLst>
              </a:tr>
            </a:tbl>
          </a:graphicData>
        </a:graphic>
      </p:graphicFrame>
      <p:sp>
        <p:nvSpPr>
          <p:cNvPr id="4" name="Slide Number Placeholder 1">
            <a:extLst>
              <a:ext uri="{FF2B5EF4-FFF2-40B4-BE49-F238E27FC236}">
                <a16:creationId xmlns:a16="http://schemas.microsoft.com/office/drawing/2014/main" id="{1BCA9577-CEBB-E934-0086-6454617DB7C5}"/>
              </a:ext>
              <a:ext uri="{C183D7F6-B498-43B3-948B-1728B52AA6E4}">
                <adec:decorative xmlns:adec="http://schemas.microsoft.com/office/drawing/2017/decorative" val="1"/>
              </a:ext>
            </a:extLst>
          </p:cNvPr>
          <p:cNvSpPr>
            <a:spLocks noGrp="1"/>
          </p:cNvSpPr>
          <p:nvPr>
            <p:ph type="sldNum" sz="quarter" idx="12"/>
          </p:nvPr>
        </p:nvSpPr>
        <p:spPr>
          <a:xfrm>
            <a:off x="411480" y="10152285"/>
            <a:ext cx="6737040" cy="128235"/>
          </a:xfrm>
        </p:spPr>
        <p:txBody>
          <a:bodyPr/>
          <a:lstStyle/>
          <a:p>
            <a:fld id="{4702451B-F4AF-4B05-87B1-F468C54F2952}" type="slidenum">
              <a:rPr lang="fr-FR" dirty="0">
                <a:solidFill>
                  <a:srgbClr val="1B4528">
                    <a:alpha val="70000"/>
                  </a:srgbClr>
                </a:solidFill>
              </a:rPr>
              <a:t>14</a:t>
            </a:fld>
            <a:endParaRPr lang="fr-FR" noProof="0">
              <a:solidFill>
                <a:srgbClr val="1B4528">
                  <a:alpha val="70000"/>
                </a:srgbClr>
              </a:solidFill>
            </a:endParaRPr>
          </a:p>
        </p:txBody>
      </p:sp>
      <p:sp>
        <p:nvSpPr>
          <p:cNvPr id="14" name="Tekstfelt 13">
            <a:extLst>
              <a:ext uri="{FF2B5EF4-FFF2-40B4-BE49-F238E27FC236}">
                <a16:creationId xmlns:a16="http://schemas.microsoft.com/office/drawing/2014/main" id="{95516DC4-723D-47D3-815C-1521BE5CD573}"/>
              </a:ext>
            </a:extLst>
          </p:cNvPr>
          <p:cNvSpPr txBox="1"/>
          <p:nvPr/>
        </p:nvSpPr>
        <p:spPr>
          <a:xfrm>
            <a:off x="411480" y="1201922"/>
            <a:ext cx="6737040" cy="384705"/>
          </a:xfrm>
          <a:prstGeom prst="rect">
            <a:avLst/>
          </a:prstGeom>
          <a:noFill/>
        </p:spPr>
        <p:txBody>
          <a:bodyPr wrap="square">
            <a:spAutoFit/>
          </a:bodyPr>
          <a:lstStyle/>
          <a:p>
            <a:pPr rtl="0">
              <a:buNone/>
            </a:pPr>
            <a:r>
              <a:rPr lang="fr-FR" sz="975" b="0" i="0" u="none" strike="noStrike" noProof="0">
                <a:solidFill>
                  <a:schemeClr val="tx2"/>
                </a:solidFill>
                <a:effectLst/>
                <a:latin typeface="Inter"/>
              </a:rPr>
              <a:t xml:space="preserve">L’entreprise a présenté un aperçu des risques climatiques, en précisant s’ils sont chroniques, aigus ou liés à la transition et où ils se situent (actifs, activités ou chaîne de valeur de l’entreprise). </a:t>
            </a:r>
            <a:endParaRPr lang="fr-FR" sz="975" noProof="0">
              <a:solidFill>
                <a:schemeClr val="tx2"/>
              </a:solidFill>
              <a:latin typeface="Inter"/>
            </a:endParaRPr>
          </a:p>
        </p:txBody>
      </p:sp>
    </p:spTree>
    <p:extLst>
      <p:ext uri="{BB962C8B-B14F-4D97-AF65-F5344CB8AC3E}">
        <p14:creationId xmlns:p14="http://schemas.microsoft.com/office/powerpoint/2010/main" val="11687187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411480" y="823182"/>
            <a:ext cx="6737040" cy="207741"/>
          </a:xfrm>
        </p:spPr>
        <p:txBody>
          <a:bodyPr/>
          <a:lstStyle/>
          <a:p>
            <a:r>
              <a:rPr lang="fr-FR" noProof="0"/>
              <a:t xml:space="preserve">R</a:t>
            </a:r>
            <a:r>
              <a:rPr lang="fr-FR" sz="1475" b="1" noProof="0">
                <a:solidFill>
                  <a:schemeClr val="tx2"/>
                </a:solidFill>
              </a:rPr>
              <a:t xml:space="preserve">isques climatiques (C4) - suite</a:t>
            </a:r>
            <a:endParaRPr lang="fr-FR" noProof="0"/>
          </a:p>
        </p:txBody>
      </p:sp>
      <p:sp>
        <p:nvSpPr>
          <p:cNvPr id="2" name="Slide Number Placeholder 1">
            <a:extLst>
              <a:ext uri="{FF2B5EF4-FFF2-40B4-BE49-F238E27FC236}">
                <a16:creationId xmlns:a16="http://schemas.microsoft.com/office/drawing/2014/main" id="{F72C860F-3613-E98B-42C7-204BDA28A1F2}"/>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fr-FR" noProof="0" smtClean="0"/>
              <a:pPr/>
              <a:t>15</a:t>
            </a:fld>
            <a:endParaRPr lang="fr-FR" noProof="0"/>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fr-FR" noProof="0"/>
              <a:t>{{company_name}}</a:t>
            </a:r>
            <a:endParaRPr lang="fr-FR" b="0" noProof="0"/>
          </a:p>
          <a:p>
            <a:br>
              <a:rPr lang="fr-FR" noProof="0"/>
            </a:br>
            <a:endParaRPr lang="fr-FR" noProof="0"/>
          </a:p>
        </p:txBody>
      </p:sp>
      <p:graphicFrame>
        <p:nvGraphicFramePr>
          <p:cNvPr id="6" name="Table 2">
            <a:extLst>
              <a:ext uri="{FF2B5EF4-FFF2-40B4-BE49-F238E27FC236}">
                <a16:creationId xmlns:a16="http://schemas.microsoft.com/office/drawing/2014/main" id="{EF97A137-22B1-3AE3-C34C-FFADFEC612CC}"/>
              </a:ext>
            </a:extLst>
          </p:cNvPr>
          <p:cNvGraphicFramePr>
            <a:graphicFrameLocks noGrp="1"/>
          </p:cNvGraphicFramePr>
          <p:nvPr>
            <p:extLst>
              <p:ext uri="{D42A27DB-BD31-4B8C-83A1-F6EECF244321}">
                <p14:modId xmlns:p14="http://schemas.microsoft.com/office/powerpoint/2010/main" val="2591302557"/>
              </p:ext>
            </p:extLst>
          </p:nvPr>
        </p:nvGraphicFramePr>
        <p:xfrm>
          <a:off x="411480" y="2093980"/>
          <a:ext cx="6737040" cy="2933624"/>
        </p:xfrm>
        <a:graphic>
          <a:graphicData uri="http://schemas.openxmlformats.org/drawingml/2006/table">
            <a:tbl>
              <a:tblPr firstRow="1">
                <a:tableStyleId>{2A488322-F2BA-4B5B-9748-0D474271808F}</a:tableStyleId>
              </a:tblPr>
              <a:tblGrid>
                <a:gridCol w="1712972">
                  <a:extLst>
                    <a:ext uri="{9D8B030D-6E8A-4147-A177-3AD203B41FA5}">
                      <a16:colId xmlns:a16="http://schemas.microsoft.com/office/drawing/2014/main" val="1904521774"/>
                    </a:ext>
                  </a:extLst>
                </a:gridCol>
                <a:gridCol w="3196433">
                  <a:extLst>
                    <a:ext uri="{9D8B030D-6E8A-4147-A177-3AD203B41FA5}">
                      <a16:colId xmlns:a16="http://schemas.microsoft.com/office/drawing/2014/main" val="3164053669"/>
                    </a:ext>
                  </a:extLst>
                </a:gridCol>
                <a:gridCol w="987084">
                  <a:extLst>
                    <a:ext uri="{9D8B030D-6E8A-4147-A177-3AD203B41FA5}">
                      <a16:colId xmlns:a16="http://schemas.microsoft.com/office/drawing/2014/main" val="1263457420"/>
                    </a:ext>
                  </a:extLst>
                </a:gridCol>
                <a:gridCol w="840551">
                  <a:extLst>
                    <a:ext uri="{9D8B030D-6E8A-4147-A177-3AD203B41FA5}">
                      <a16:colId xmlns:a16="http://schemas.microsoft.com/office/drawing/2014/main" val="1484983729"/>
                    </a:ext>
                  </a:extLst>
                </a:gridCol>
              </a:tblGrid>
              <a:tr h="145927">
                <a:tc gridSpan="4">
                  <a:txBody>
                    <a:bodyPr/>
                    <a:lstStyle/>
                    <a:p>
                      <a:r>
                        <a:rPr lang="fr-FR" sz="975" b="0" kern="1200" noProof="0">
                          <a:solidFill>
                            <a:schemeClr val="tx2"/>
                          </a:solidFill>
                          <a:latin typeface="+mn-lt"/>
                          <a:ea typeface="+mn-ea"/>
                          <a:cs typeface="+mn-cs"/>
                        </a:rPr>
                        <a:t xml:space="preserve">(par. 57)</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fr-FR" sz="725" b="0" kern="120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fr-FR" sz="725" b="0" i="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806123079"/>
                  </a:ext>
                </a:extLst>
              </a:tr>
              <a:tr h="32345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fr-FR" sz="975" b="1"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75" b="1" noProof="0">
                          <a:solidFill>
                            <a:schemeClr val="tx2"/>
                          </a:solidFill>
                        </a:rPr>
                        <a:t xml:space="preserve">Impact négatif potentiel </a:t>
                      </a:r>
                      <a:r>
                        <a:rPr lang="fr-FR" sz="975" b="1" kern="1200" noProof="0">
                          <a:solidFill>
                            <a:schemeClr val="tx2"/>
                          </a:solidFill>
                          <a:latin typeface="+mn-lt"/>
                          <a:ea typeface="+mn-ea"/>
                          <a:cs typeface="+mn-cs"/>
                        </a:rPr>
                        <a:t xml:space="preserve">sur les performances financières et les activités de l’entreprise </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75" b="1" kern="1200" noProof="0">
                          <a:solidFill>
                            <a:schemeClr val="tx2"/>
                          </a:solidFill>
                          <a:latin typeface="+mn-lt"/>
                          <a:ea typeface="+mn-ea"/>
                          <a:cs typeface="+mn-cs"/>
                        </a:rPr>
                        <a:t xml:space="preserve">Risque financier</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sz="975" b="0" kern="1200" noProof="0">
                          <a:solidFill>
                            <a:schemeClr val="tx2"/>
                          </a:solidFill>
                          <a:latin typeface="+mn-lt"/>
                          <a:ea typeface="+mn-ea"/>
                          <a:cs typeface="+mn-cs"/>
                        </a:rPr>
                        <a:t xml:space="preserve">(faible/moyen/élevé)</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75" b="1" noProof="0">
                          <a:solidFill>
                            <a:schemeClr val="tx2"/>
                          </a:solidFill>
                        </a:rPr>
                        <a:t xml:space="preserve">Horizon temporel</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sz="975" b="0" i="0" noProof="0">
                          <a:solidFill>
                            <a:schemeClr val="tx2"/>
                          </a:solidFill>
                        </a:rPr>
                        <a:t xml:space="preserve">(0-1/2-5/&gt;5 ans)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642311251"/>
                  </a:ext>
                </a:extLst>
              </a:tr>
              <a:tr h="19865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75" b="1" kern="1200" noProof="0">
                          <a:solidFill>
                            <a:schemeClr val="tx2"/>
                          </a:solidFill>
                          <a:latin typeface="+mn-lt"/>
                          <a:ea typeface="+mn-ea"/>
                          <a:cs typeface="+mn-cs"/>
                        </a:rPr>
                        <a:t xml:space="preserve">Aléas chroniques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97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fr-FR" sz="97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fr-FR" sz="97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4074311986"/>
                  </a:ext>
                </a:extLst>
              </a:tr>
              <a:tr h="198656">
                <a:tc>
                  <a:txBody>
                    <a:bodyPr/>
                    <a:lstStyle/>
                    <a:p>
                      <a:pPr lvl="0" algn="l">
                        <a:lnSpc>
                          <a:spcPct val="100000"/>
                        </a:lnSpc>
                        <a:spcBef>
                          <a:spcPts val="0"/>
                        </a:spcBef>
                        <a:spcAft>
                          <a:spcPts val="0"/>
                        </a:spcAft>
                        <a:buNone/>
                      </a:pPr>
                      <a:r>
                        <a:rPr lang="fr-FR" sz="975" b="0" i="0" u="none" strike="noStrike" noProof="0">
                          <a:solidFill>
                            <a:schemeClr val="accent2"/>
                          </a:solidFill>
                        </a:rPr>
                        <a:t>{{chronic_hazards}}</a:t>
                      </a: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fr-FR" sz="975" b="0" i="0" u="none" strike="noStrike" noProof="0">
                          <a:solidFill>
                            <a:schemeClr val="accent2"/>
                          </a:solidFill>
                          <a:latin typeface="IBM Plex Sans"/>
                        </a:rPr>
                        <a:t>{{chronic connection financial </a:t>
                      </a:r>
                      <a:r>
                        <a:rPr lang="fr-FR" sz="975" b="0" i="0" u="none" strike="noStrike" noProof="0">
                          <a:solidFill>
                            <a:schemeClr val="accent2"/>
                          </a:solidFill>
                          <a:latin typeface="IBM Plex Sans"/>
                          <a:ea typeface="+mn-ea"/>
                          <a:cs typeface="+mn-cs"/>
                        </a:rPr>
                        <a:t>and operations}}</a:t>
                      </a: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fr-FR" sz="975" b="0" i="0" u="none" strike="noStrike" noProof="0">
                          <a:solidFill>
                            <a:schemeClr val="accent2"/>
                          </a:solidFill>
                          <a:latin typeface="IBM Plex Sans"/>
                        </a:rPr>
                        <a:t>{{chronic_financial_risk}}</a:t>
                      </a: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fr-FR" sz="975" b="0" i="0" u="none" strike="noStrike" noProof="0">
                          <a:solidFill>
                            <a:schemeClr val="accent2"/>
                          </a:solidFill>
                          <a:latin typeface="IBM Plex Sans"/>
                        </a:rPr>
                        <a:t>{{chronic_time_horizon}}</a:t>
                      </a:r>
                      <a:endParaRPr lang="fr-FR"/>
                    </a:p>
                    <a:p>
                      <a:pPr marL="0" marR="0" lvl="0" indent="0" algn="ctr" defTabSz="914400">
                        <a:lnSpc>
                          <a:spcPct val="100000"/>
                        </a:lnSpc>
                        <a:spcBef>
                          <a:spcPts val="0"/>
                        </a:spcBef>
                        <a:spcAft>
                          <a:spcPts val="0"/>
                        </a:spcAft>
                        <a:buClrTx/>
                        <a:buSzTx/>
                        <a:buFontTx/>
                        <a:buNone/>
                        <a:tabLst/>
                        <a:defRPr/>
                      </a:pPr>
                      <a:endParaRPr lang="fr-FR" sz="97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737070102"/>
                  </a:ext>
                </a:extLst>
              </a:tr>
              <a:tr h="19865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75" b="1" kern="1200" noProof="0">
                          <a:solidFill>
                            <a:schemeClr val="tx2"/>
                          </a:solidFill>
                          <a:latin typeface="+mn-lt"/>
                          <a:ea typeface="+mn-ea"/>
                          <a:cs typeface="+mn-cs"/>
                        </a:rPr>
                        <a:t xml:space="preserve">Aléas aigus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97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fr-FR" sz="97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fr-FR" sz="97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248636619"/>
                  </a:ext>
                </a:extLst>
              </a:tr>
              <a:tr h="198656">
                <a:tc>
                  <a:txBody>
                    <a:bodyPr/>
                    <a:lstStyle/>
                    <a:p>
                      <a:pPr lvl="0" algn="l">
                        <a:lnSpc>
                          <a:spcPct val="100000"/>
                        </a:lnSpc>
                        <a:spcBef>
                          <a:spcPts val="0"/>
                        </a:spcBef>
                        <a:spcAft>
                          <a:spcPts val="0"/>
                        </a:spcAft>
                        <a:buNone/>
                      </a:pPr>
                      <a:r>
                        <a:rPr lang="fr-FR" sz="975" b="0" i="0" u="none" strike="noStrike" noProof="0">
                          <a:solidFill>
                            <a:schemeClr val="accent2"/>
                          </a:solidFill>
                        </a:rPr>
                        <a:t>{{acute_hazards}}</a:t>
                      </a: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fr-FR" sz="975" b="0" i="0" u="none" strike="noStrike" noProof="0">
                          <a:solidFill>
                            <a:schemeClr val="accent2"/>
                          </a:solidFill>
                          <a:latin typeface="IBM Plex Sans"/>
                        </a:rPr>
                        <a:t>{{acute connection </a:t>
                      </a:r>
                      <a:r>
                        <a:rPr lang="fr-FR" sz="975" b="0" i="0" u="none" strike="noStrike" noProof="0">
                          <a:solidFill>
                            <a:schemeClr val="accent2"/>
                          </a:solidFill>
                          <a:latin typeface="IBM Plex Sans"/>
                          <a:ea typeface="+mn-ea"/>
                          <a:cs typeface="+mn-cs"/>
                        </a:rPr>
                        <a:t>financial and operations}}</a:t>
                      </a: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fr-FR" sz="975" b="0" i="0" u="none" strike="noStrike" noProof="0">
                          <a:solidFill>
                            <a:schemeClr val="accent2"/>
                          </a:solidFill>
                          <a:latin typeface="IBM Plex Sans"/>
                        </a:rPr>
                        <a:t>{{acute_financial_risk}}</a:t>
                      </a: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fr-FR" sz="975" b="0" i="0" u="none" strike="noStrike" noProof="0">
                          <a:solidFill>
                            <a:schemeClr val="accent2"/>
                          </a:solidFill>
                          <a:latin typeface="IBM Plex Sans"/>
                        </a:rPr>
                        <a:t>{{acute_time_horizon}}</a:t>
                      </a: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323552898"/>
                  </a:ext>
                </a:extLst>
              </a:tr>
              <a:tr h="19865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75" b="1" kern="1200" noProof="0">
                          <a:solidFill>
                            <a:schemeClr val="tx2"/>
                          </a:solidFill>
                          <a:latin typeface="+mn-lt"/>
                          <a:ea typeface="+mn-ea"/>
                          <a:cs typeface="+mn-cs"/>
                        </a:rPr>
                        <a:t xml:space="preserve">Risques de transition</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97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fr-FR" sz="97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fr-FR" sz="97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670555600"/>
                  </a:ext>
                </a:extLst>
              </a:tr>
              <a:tr h="198656">
                <a:tc>
                  <a:txBody>
                    <a:bodyPr/>
                    <a:lstStyle/>
                    <a:p>
                      <a:pPr lvl="0" algn="l">
                        <a:lnSpc>
                          <a:spcPct val="100000"/>
                        </a:lnSpc>
                        <a:spcBef>
                          <a:spcPts val="0"/>
                        </a:spcBef>
                        <a:spcAft>
                          <a:spcPts val="0"/>
                        </a:spcAft>
                        <a:buNone/>
                      </a:pPr>
                      <a:r>
                        <a:rPr lang="fr-FR" sz="975" b="0" i="0" u="none" strike="noStrike" noProof="0">
                          <a:solidFill>
                            <a:schemeClr val="accent2"/>
                          </a:solidFill>
                        </a:rPr>
                        <a:t>{{climate_related}}</a:t>
                      </a:r>
                      <a:endParaRPr lang="fr-FR"/>
                    </a:p>
                    <a:p>
                      <a:pPr lvl="0" algn="l">
                        <a:lnSpc>
                          <a:spcPct val="100000"/>
                        </a:lnSpc>
                        <a:spcBef>
                          <a:spcPts val="0"/>
                        </a:spcBef>
                        <a:spcAft>
                          <a:spcPts val="0"/>
                        </a:spcAft>
                        <a:buNone/>
                      </a:pPr>
                      <a:endParaRPr lang="fr-FR" sz="975" b="0" i="0" u="none" strike="noStrike" noProof="0">
                        <a:solidFill>
                          <a:schemeClr val="accent2"/>
                        </a:solidFill>
                        <a:latin typeface="IBM Plex San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fr-FR" sz="975" b="0" i="0" u="none" strike="noStrike" noProof="0">
                          <a:solidFill>
                            <a:schemeClr val="accent2"/>
                          </a:solidFill>
                          <a:latin typeface="IBM Plex Sans"/>
                        </a:rPr>
                        <a:t>{{climate connection financial </a:t>
                      </a:r>
                      <a:r>
                        <a:rPr lang="fr-FR" sz="975" b="0" i="0" u="none" strike="noStrike" noProof="0">
                          <a:solidFill>
                            <a:schemeClr val="accent2"/>
                          </a:solidFill>
                          <a:latin typeface="IBM Plex Sans"/>
                          <a:ea typeface="+mn-ea"/>
                          <a:cs typeface="+mn-cs"/>
                        </a:rPr>
                        <a:t>and operations}}</a:t>
                      </a: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fr-FR" sz="975" b="0" i="0" u="none" strike="noStrike" noProof="0">
                          <a:solidFill>
                            <a:schemeClr val="accent2"/>
                          </a:solidFill>
                          <a:latin typeface="IBM Plex Sans"/>
                        </a:rPr>
                        <a:t>{{climate_related_risk}}</a:t>
                      </a:r>
                      <a:endParaRPr lang="fr-FR"/>
                    </a:p>
                    <a:p>
                      <a:pPr lvl="0" algn="ctr">
                        <a:lnSpc>
                          <a:spcPct val="100000"/>
                        </a:lnSpc>
                        <a:spcBef>
                          <a:spcPts val="0"/>
                        </a:spcBef>
                        <a:spcAft>
                          <a:spcPts val="0"/>
                        </a:spcAft>
                        <a:buNone/>
                      </a:pP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fr-FR" sz="975" b="0" i="0" u="none" strike="noStrike" noProof="0">
                          <a:solidFill>
                            <a:schemeClr val="accent2"/>
                          </a:solidFill>
                          <a:latin typeface="IBM Plex Sans"/>
                        </a:rPr>
                        <a:t>{{climate_time_horizon}}</a:t>
                      </a:r>
                      <a:endParaRPr lang="fr-FR"/>
                    </a:p>
                    <a:p>
                      <a:pPr marL="0" marR="0" lvl="0" indent="0" algn="ctr" defTabSz="914400">
                        <a:lnSpc>
                          <a:spcPct val="100000"/>
                        </a:lnSpc>
                        <a:spcBef>
                          <a:spcPts val="0"/>
                        </a:spcBef>
                        <a:spcAft>
                          <a:spcPts val="0"/>
                        </a:spcAft>
                        <a:buClrTx/>
                        <a:buSzTx/>
                        <a:buFontTx/>
                        <a:buNone/>
                        <a:tabLst/>
                        <a:defRPr/>
                      </a:pPr>
                      <a:endParaRPr lang="fr-FR" sz="97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96258133"/>
                  </a:ext>
                </a:extLst>
              </a:tr>
            </a:tbl>
          </a:graphicData>
        </a:graphic>
      </p:graphicFrame>
      <p:sp>
        <p:nvSpPr>
          <p:cNvPr id="9" name="Tekstfelt 8">
            <a:extLst>
              <a:ext uri="{FF2B5EF4-FFF2-40B4-BE49-F238E27FC236}">
                <a16:creationId xmlns:a16="http://schemas.microsoft.com/office/drawing/2014/main" id="{9077FE99-B8D2-4CF3-47CF-D201C45554CD}"/>
              </a:ext>
            </a:extLst>
          </p:cNvPr>
          <p:cNvSpPr txBox="1"/>
          <p:nvPr/>
        </p:nvSpPr>
        <p:spPr>
          <a:xfrm>
            <a:off x="411480" y="1290340"/>
            <a:ext cx="6737040" cy="384705"/>
          </a:xfrm>
          <a:prstGeom prst="rect">
            <a:avLst/>
          </a:prstGeom>
          <a:noFill/>
        </p:spPr>
        <p:txBody>
          <a:bodyPr wrap="square">
            <a:spAutoFit/>
          </a:bodyPr>
          <a:lstStyle/>
          <a:p>
            <a:pPr rtl="0">
              <a:buNone/>
            </a:pPr>
            <a:r>
              <a:rPr lang="fr-FR" sz="975" b="0" i="0" u="none" strike="noStrike" noProof="0">
                <a:solidFill>
                  <a:schemeClr val="tx2"/>
                </a:solidFill>
                <a:effectLst/>
                <a:latin typeface="Inter"/>
              </a:rPr>
              <a:t xml:space="preserve">L’entreprise a présenté un aperçu des risques climatiques, en précisant s’ils sont chroniques, aigus ou liés à la transition et s’ils peuvent affecter ses performances financières et ses activités.</a:t>
            </a:r>
            <a:endParaRPr lang="fr-FR" sz="975" noProof="0">
              <a:solidFill>
                <a:schemeClr val="tx2"/>
              </a:solidFill>
              <a:latin typeface="Inter"/>
            </a:endParaRPr>
          </a:p>
        </p:txBody>
      </p:sp>
    </p:spTree>
    <p:extLst>
      <p:ext uri="{BB962C8B-B14F-4D97-AF65-F5344CB8AC3E}">
        <p14:creationId xmlns:p14="http://schemas.microsoft.com/office/powerpoint/2010/main" val="40019431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a:xfrm>
            <a:off x="411480" y="832321"/>
            <a:ext cx="6737040" cy="207741"/>
          </a:xfrm>
        </p:spPr>
        <p:txBody>
          <a:bodyPr/>
          <a:lstStyle/>
          <a:p>
            <a:r>
              <a:rPr lang="fr-FR" sz="1327" b="1" i="0" u="none" strike="noStrike" kern="1200" spc="-10" noProof="0">
                <a:solidFill>
                  <a:srgbClr val="1B4528"/>
                </a:solidFill>
              </a:rPr>
              <a:t xml:space="preserve">Caractéristiques supplémentaires (générales) du personnel (C5)</a:t>
            </a:r>
            <a:endParaRPr lang="fr-FR" noProof="0"/>
          </a:p>
        </p:txBody>
      </p:sp>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fr-FR" noProof="0" smtClean="0"/>
              <a:pPr/>
              <a:t>16</a:t>
            </a:fld>
            <a:endParaRPr lang="fr-FR"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fr-FR" noProof="0"/>
              <a:t>{{company_name}}</a:t>
            </a:r>
            <a:endParaRPr lang="fr-FR" b="0" noProof="0"/>
          </a:p>
          <a:p>
            <a:br>
              <a:rPr lang="fr-FR" noProof="0"/>
            </a:br>
            <a:endParaRPr lang="fr-FR" noProof="0"/>
          </a:p>
        </p:txBody>
      </p:sp>
      <p:graphicFrame>
        <p:nvGraphicFramePr>
          <p:cNvPr id="8" name="Table 7">
            <a:extLst>
              <a:ext uri="{FF2B5EF4-FFF2-40B4-BE49-F238E27FC236}">
                <a16:creationId xmlns:a16="http://schemas.microsoft.com/office/drawing/2014/main" id="{93255C96-A783-191D-6874-59444594070E}"/>
              </a:ext>
            </a:extLst>
          </p:cNvPr>
          <p:cNvGraphicFramePr>
            <a:graphicFrameLocks noGrp="1"/>
          </p:cNvGraphicFramePr>
          <p:nvPr>
            <p:extLst>
              <p:ext uri="{D42A27DB-BD31-4B8C-83A1-F6EECF244321}">
                <p14:modId xmlns:p14="http://schemas.microsoft.com/office/powerpoint/2010/main" val="2495306731"/>
              </p:ext>
            </p:extLst>
          </p:nvPr>
        </p:nvGraphicFramePr>
        <p:xfrm>
          <a:off x="3853152" y="2024224"/>
          <a:ext cx="3295368" cy="785282"/>
        </p:xfrm>
        <a:graphic>
          <a:graphicData uri="http://schemas.openxmlformats.org/drawingml/2006/table">
            <a:tbl>
              <a:tblPr firstRow="1">
                <a:tableStyleId>{2A488322-F2BA-4B5B-9748-0D474271808F}</a:tableStyleId>
              </a:tblPr>
              <a:tblGrid>
                <a:gridCol w="2558408">
                  <a:extLst>
                    <a:ext uri="{9D8B030D-6E8A-4147-A177-3AD203B41FA5}">
                      <a16:colId xmlns:a16="http://schemas.microsoft.com/office/drawing/2014/main" val="2698153288"/>
                    </a:ext>
                  </a:extLst>
                </a:gridCol>
                <a:gridCol w="736960">
                  <a:extLst>
                    <a:ext uri="{9D8B030D-6E8A-4147-A177-3AD203B41FA5}">
                      <a16:colId xmlns:a16="http://schemas.microsoft.com/office/drawing/2014/main" val="2119413191"/>
                    </a:ext>
                  </a:extLst>
                </a:gridCol>
              </a:tblGrid>
              <a:tr h="239990">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877" b="1" i="0" noProof="0">
                          <a:solidFill>
                            <a:schemeClr val="tx2"/>
                          </a:solidFill>
                        </a:rPr>
                        <a:t xml:space="preserve">Ratio femmes/hommes au niveau de l’encadrement </a:t>
                      </a:r>
                      <a:r>
                        <a:rPr lang="fr-FR" sz="877" b="0" i="0" noProof="0">
                          <a:solidFill>
                            <a:schemeClr val="tx2"/>
                          </a:solidFill>
                        </a:rPr>
                        <a:t xml:space="preserve">(par. 59)</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fr-FR" sz="877" b="1" i="0" u="none" strike="noStrike" noProof="0">
                          <a:solidFill>
                            <a:srgbClr val="1B4528"/>
                          </a:solidFill>
                          <a:effectLst/>
                          <a:latin typeface="IBM Plex Sans" panose="020B0503050203000203" pitchFamily="34" charset="0"/>
                        </a:rPr>
                        <a:t xml:space="preserve">Année </a:t>
                      </a:r>
                      <a:r>
                        <a:rPr lang="fr-FR" sz="877" b="1" i="0" u="none" strike="noStrike" noProof="0">
                          <a:solidFill>
                            <a:srgbClr val="2D55FF"/>
                          </a:solidFill>
                          <a:effectLst/>
                          <a:latin typeface="IBM Plex Sans" panose="020B0503050203000203" pitchFamily="34" charset="0"/>
                        </a:rPr>
                        <a:t>{{Insert year}}</a:t>
                      </a:r>
                      <a:endParaRPr lang="fr-FR" sz="877" noProof="0">
                        <a:effectLst/>
                      </a:endParaRPr>
                    </a:p>
                  </a:txBody>
                  <a:tcPr marL="31749" marR="31749"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39990">
                <a:tc vMerge="1">
                  <a:txBody>
                    <a:bodyPr/>
                    <a:lstStyle/>
                    <a:p>
                      <a:endParaRPr lang="fr-FR" sz="750" b="0" noProof="0">
                        <a:solidFill>
                          <a:schemeClr val="tx2"/>
                        </a:solidFill>
                      </a:endParaRP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fr-FR" sz="877" b="0" i="0" u="none" strike="noStrike" noProof="0">
                          <a:solidFill>
                            <a:srgbClr val="2D55FF"/>
                          </a:solidFill>
                          <a:effectLst/>
                          <a:latin typeface="IBM Plex Sans" panose="020B0503050203000203" pitchFamily="34" charset="0"/>
                        </a:rPr>
                        <a:t>{{gender_balance}}</a:t>
                      </a:r>
                      <a:endParaRPr lang="fr-FR" sz="877" noProof="0">
                        <a:effectLst/>
                      </a:endParaRPr>
                    </a:p>
                  </a:txBody>
                  <a:tcPr marL="31749" marR="31749"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bl>
          </a:graphicData>
        </a:graphic>
      </p:graphicFrame>
      <p:graphicFrame>
        <p:nvGraphicFramePr>
          <p:cNvPr id="2" name="Table 7">
            <a:extLst>
              <a:ext uri="{FF2B5EF4-FFF2-40B4-BE49-F238E27FC236}">
                <a16:creationId xmlns:a16="http://schemas.microsoft.com/office/drawing/2014/main" id="{69535A26-01A9-A0FA-67C0-F2DDC3A1A436}"/>
              </a:ext>
            </a:extLst>
          </p:cNvPr>
          <p:cNvGraphicFramePr>
            <a:graphicFrameLocks noGrp="1"/>
          </p:cNvGraphicFramePr>
          <p:nvPr>
            <p:extLst>
              <p:ext uri="{D42A27DB-BD31-4B8C-83A1-F6EECF244321}">
                <p14:modId xmlns:p14="http://schemas.microsoft.com/office/powerpoint/2010/main" val="2131584882"/>
              </p:ext>
            </p:extLst>
          </p:nvPr>
        </p:nvGraphicFramePr>
        <p:xfrm>
          <a:off x="411480" y="2024224"/>
          <a:ext cx="3295368" cy="785282"/>
        </p:xfrm>
        <a:graphic>
          <a:graphicData uri="http://schemas.openxmlformats.org/drawingml/2006/table">
            <a:tbl>
              <a:tblPr firstRow="1">
                <a:tableStyleId>{2A488322-F2BA-4B5B-9748-0D474271808F}</a:tableStyleId>
              </a:tblPr>
              <a:tblGrid>
                <a:gridCol w="2558408">
                  <a:extLst>
                    <a:ext uri="{9D8B030D-6E8A-4147-A177-3AD203B41FA5}">
                      <a16:colId xmlns:a16="http://schemas.microsoft.com/office/drawing/2014/main" val="2698153288"/>
                    </a:ext>
                  </a:extLst>
                </a:gridCol>
                <a:gridCol w="736960">
                  <a:extLst>
                    <a:ext uri="{9D8B030D-6E8A-4147-A177-3AD203B41FA5}">
                      <a16:colId xmlns:a16="http://schemas.microsoft.com/office/drawing/2014/main" val="2119413191"/>
                    </a:ext>
                  </a:extLst>
                </a:gridCol>
              </a:tblGrid>
              <a:tr h="239990">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877" b="1" i="0" noProof="0">
                          <a:solidFill>
                            <a:schemeClr val="tx2"/>
                          </a:solidFill>
                        </a:rPr>
                        <a:t xml:space="preserve">Rotation du personnel sur l’année de référence </a:t>
                      </a:r>
                      <a:r>
                        <a:rPr lang="fr-FR" sz="877" b="0" i="0" noProof="0">
                          <a:solidFill>
                            <a:schemeClr val="tx2"/>
                          </a:solidFill>
                        </a:rPr>
                        <a:t xml:space="preserve">(par. 58)</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fr-FR" sz="877" b="1" i="0" u="none" strike="noStrike" noProof="0">
                          <a:solidFill>
                            <a:srgbClr val="1B4528"/>
                          </a:solidFill>
                          <a:effectLst/>
                          <a:latin typeface="IBM Plex Sans" panose="020B0503050203000203" pitchFamily="34" charset="0"/>
                        </a:rPr>
                        <a:t xml:space="preserve">Année </a:t>
                      </a:r>
                      <a:r>
                        <a:rPr lang="fr-FR" sz="877" b="1" i="0" u="none" strike="noStrike" noProof="0">
                          <a:solidFill>
                            <a:srgbClr val="2D55FF"/>
                          </a:solidFill>
                          <a:effectLst/>
                          <a:latin typeface="IBM Plex Sans" panose="020B0503050203000203" pitchFamily="34" charset="0"/>
                        </a:rPr>
                        <a:t>{{Insert year}}</a:t>
                      </a:r>
                      <a:endParaRPr lang="fr-FR" sz="877" noProof="0">
                        <a:effectLst/>
                      </a:endParaRPr>
                    </a:p>
                  </a:txBody>
                  <a:tcPr marL="31749" marR="31749"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39990">
                <a:tc vMerge="1">
                  <a:txBody>
                    <a:bodyPr/>
                    <a:lstStyle/>
                    <a:p>
                      <a:endParaRPr lang="fr-FR" sz="750" b="0" noProof="0">
                        <a:solidFill>
                          <a:schemeClr val="tx2"/>
                        </a:solidFill>
                      </a:endParaRP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fr-FR" sz="877" b="0" i="0" u="none" strike="noStrike" noProof="0">
                          <a:solidFill>
                            <a:srgbClr val="2D55FF"/>
                          </a:solidFill>
                          <a:effectLst/>
                          <a:latin typeface="IBM Plex Sans" panose="020B0503050203000203" pitchFamily="34" charset="0"/>
                        </a:rPr>
                        <a:t>{{omsatningsrate}}</a:t>
                      </a:r>
                    </a:p>
                  </a:txBody>
                  <a:tcPr marL="31749" marR="31749"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bl>
          </a:graphicData>
        </a:graphic>
      </p:graphicFrame>
      <p:sp>
        <p:nvSpPr>
          <p:cNvPr id="13" name="Tekstfelt 12">
            <a:extLst>
              <a:ext uri="{FF2B5EF4-FFF2-40B4-BE49-F238E27FC236}">
                <a16:creationId xmlns:a16="http://schemas.microsoft.com/office/drawing/2014/main" id="{02AD3E18-6260-CBA0-2A83-112A686452CC}"/>
              </a:ext>
            </a:extLst>
          </p:cNvPr>
          <p:cNvSpPr txBox="1"/>
          <p:nvPr/>
        </p:nvSpPr>
        <p:spPr>
          <a:xfrm>
            <a:off x="411480" y="1317755"/>
            <a:ext cx="6737040" cy="692470"/>
          </a:xfrm>
          <a:prstGeom prst="rect">
            <a:avLst/>
          </a:prstGeom>
          <a:noFill/>
        </p:spPr>
        <p:txBody>
          <a:bodyPr wrap="square">
            <a:spAutoFit/>
          </a:bodyPr>
          <a:lstStyle/>
          <a:p>
            <a:pPr rtl="0">
              <a:buNone/>
            </a:pPr>
            <a:r>
              <a:rPr lang="fr-FR" sz="877" b="0" i="0" u="none" strike="noStrike" noProof="0">
                <a:solidFill>
                  <a:schemeClr val="tx2"/>
                </a:solidFill>
                <a:effectLst/>
                <a:latin typeface="Inter"/>
              </a:rPr>
              <a:t xml:space="preserve">Les informations ci-dessous complètent les autres informations sur le personnel de l’entreprise, notamment la répartition entre hommes et femmes au niveau de l’encadrement.</a:t>
            </a:r>
            <a:endParaRPr lang="fr-FR" sz="877" b="0" noProof="0">
              <a:solidFill>
                <a:schemeClr val="tx2"/>
              </a:solidFill>
              <a:effectLst/>
              <a:latin typeface="Inter"/>
            </a:endParaRPr>
          </a:p>
          <a:p>
            <a:pPr>
              <a:buNone/>
            </a:pPr>
            <a:br>
              <a:rPr lang="fr-FR" sz="877" noProof="0">
                <a:solidFill>
                  <a:schemeClr val="tx2"/>
                </a:solidFill>
                <a:latin typeface="Inter"/>
              </a:rPr>
            </a:br>
            <a:endParaRPr lang="fr-FR" sz="877" noProof="0">
              <a:solidFill>
                <a:schemeClr val="tx2"/>
              </a:solidFill>
              <a:latin typeface="Inter"/>
            </a:endParaRPr>
          </a:p>
        </p:txBody>
      </p:sp>
      <p:graphicFrame>
        <p:nvGraphicFramePr>
          <p:cNvPr id="17" name="Table 8">
            <a:extLst>
              <a:ext uri="{FF2B5EF4-FFF2-40B4-BE49-F238E27FC236}">
                <a16:creationId xmlns:a16="http://schemas.microsoft.com/office/drawing/2014/main" id="{A0192DD3-B257-9166-AD07-2538AE6407A8}"/>
              </a:ext>
            </a:extLst>
          </p:cNvPr>
          <p:cNvGraphicFramePr>
            <a:graphicFrameLocks noGrp="1"/>
          </p:cNvGraphicFramePr>
          <p:nvPr>
            <p:extLst>
              <p:ext uri="{D42A27DB-BD31-4B8C-83A1-F6EECF244321}">
                <p14:modId xmlns:p14="http://schemas.microsoft.com/office/powerpoint/2010/main" val="1032068852"/>
              </p:ext>
            </p:extLst>
          </p:nvPr>
        </p:nvGraphicFramePr>
        <p:xfrm>
          <a:off x="411480" y="3646198"/>
          <a:ext cx="6737040" cy="959960"/>
        </p:xfrm>
        <a:graphic>
          <a:graphicData uri="http://schemas.openxmlformats.org/drawingml/2006/table">
            <a:tbl>
              <a:tblPr firstRow="1">
                <a:tableStyleId>{2A488322-F2BA-4B5B-9748-0D474271808F}</a:tableStyleId>
              </a:tblPr>
              <a:tblGrid>
                <a:gridCol w="4993574">
                  <a:extLst>
                    <a:ext uri="{9D8B030D-6E8A-4147-A177-3AD203B41FA5}">
                      <a16:colId xmlns:a16="http://schemas.microsoft.com/office/drawing/2014/main" val="2698153288"/>
                    </a:ext>
                  </a:extLst>
                </a:gridCol>
                <a:gridCol w="1743466">
                  <a:extLst>
                    <a:ext uri="{9D8B030D-6E8A-4147-A177-3AD203B41FA5}">
                      <a16:colId xmlns:a16="http://schemas.microsoft.com/office/drawing/2014/main" val="2119413191"/>
                    </a:ext>
                  </a:extLst>
                </a:gridCol>
              </a:tblGrid>
              <a:tr h="239990">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877" b="1" kern="1200" noProof="0">
                          <a:solidFill>
                            <a:schemeClr val="tx2"/>
                          </a:solidFill>
                          <a:latin typeface="+mn-lt"/>
                          <a:ea typeface="+mn-ea"/>
                          <a:cs typeface="+mn-cs"/>
                        </a:rPr>
                        <a:t xml:space="preserve">Travailleurs indépendants et salariés temporaires </a:t>
                      </a:r>
                      <a:r>
                        <a:rPr lang="fr-FR" sz="877" b="0" noProof="0">
                          <a:solidFill>
                            <a:schemeClr val="tx2"/>
                          </a:solidFill>
                        </a:rPr>
                        <a:t xml:space="preserve">(par. 60)</a:t>
                      </a:r>
                      <a:endParaRPr lang="fr-FR" sz="877" b="1" kern="1200" noProof="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804764708"/>
                  </a:ext>
                </a:extLst>
              </a:tr>
              <a:tr h="23999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877" b="1"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877" b="1" kern="1200" noProof="0">
                          <a:solidFill>
                            <a:schemeClr val="tx2"/>
                          </a:solidFill>
                          <a:latin typeface="+mn-lt"/>
                          <a:ea typeface="+mn-ea"/>
                          <a:cs typeface="+mn-cs"/>
                        </a:rPr>
                        <a:t xml:space="preserve">Nombre</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39990">
                <a:tc>
                  <a:txBody>
                    <a:bodyPr/>
                    <a:lstStyle/>
                    <a:p>
                      <a:r>
                        <a:rPr lang="fr-FR" sz="877" b="1" noProof="0">
                          <a:solidFill>
                            <a:schemeClr val="tx2"/>
                          </a:solidFill>
                        </a:rPr>
                        <a:t xml:space="preserve">Travailleurs indépendants (sans personnel)</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fr-FR" sz="877" b="0" i="0" u="none" strike="noStrike" noProof="0">
                          <a:solidFill>
                            <a:srgbClr val="2D55FF"/>
                          </a:solidFill>
                          <a:effectLst/>
                          <a:latin typeface="Inter"/>
                        </a:rPr>
                        <a:t>{{self-employeed}}</a:t>
                      </a:r>
                      <a:endParaRPr lang="fr-FR" sz="877"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39990">
                <a:tc>
                  <a:txBody>
                    <a:bodyPr/>
                    <a:lstStyle/>
                    <a:p>
                      <a:r>
                        <a:rPr lang="fr-FR" sz="877" b="1" noProof="0">
                          <a:solidFill>
                            <a:schemeClr val="tx2"/>
                          </a:solidFill>
                        </a:rPr>
                        <a:t xml:space="preserve">Salariés temporaires (mis à disposition par une agence d’intérim) </a:t>
                      </a:r>
                      <a:endParaRPr lang="fr-FR" sz="877"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fr-FR" sz="877" b="0" i="0" u="none" strike="noStrike" noProof="0">
                          <a:solidFill>
                            <a:srgbClr val="2D55FF"/>
                          </a:solidFill>
                          <a:effectLst/>
                          <a:latin typeface="Inter"/>
                        </a:rPr>
                        <a:t>{{</a:t>
                      </a:r>
                      <a:r>
                        <a:rPr lang="fr-FR" sz="877" b="0" i="0" u="none" strike="noStrike" noProof="0">
                          <a:solidFill>
                            <a:srgbClr val="2D55FF"/>
                          </a:solidFill>
                          <a:effectLst/>
                          <a:latin typeface="Inter"/>
                        </a:rPr>
                        <a:t>temp_workers</a:t>
                      </a:r>
                      <a:r>
                        <a:rPr lang="fr-FR" sz="877" b="0" i="0" u="none" strike="noStrike" noProof="0">
                          <a:solidFill>
                            <a:srgbClr val="2D55FF"/>
                          </a:solidFill>
                          <a:effectLst/>
                          <a:latin typeface="Inter"/>
                        </a:rPr>
                        <a:t>}}</a:t>
                      </a:r>
                      <a:endParaRPr lang="fr-FR" sz="877"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bl>
          </a:graphicData>
        </a:graphic>
      </p:graphicFrame>
      <p:sp>
        <p:nvSpPr>
          <p:cNvPr id="23" name="Tekstfelt 22">
            <a:extLst>
              <a:ext uri="{FF2B5EF4-FFF2-40B4-BE49-F238E27FC236}">
                <a16:creationId xmlns:a16="http://schemas.microsoft.com/office/drawing/2014/main" id="{D60EF1D1-D1F5-4064-9ED3-DE93382F39C3}"/>
              </a:ext>
            </a:extLst>
          </p:cNvPr>
          <p:cNvSpPr txBox="1"/>
          <p:nvPr/>
        </p:nvSpPr>
        <p:spPr>
          <a:xfrm>
            <a:off x="411480" y="3114838"/>
            <a:ext cx="6737040" cy="230823"/>
          </a:xfrm>
          <a:prstGeom prst="rect">
            <a:avLst/>
          </a:prstGeom>
          <a:noFill/>
        </p:spPr>
        <p:txBody>
          <a:bodyPr wrap="square">
            <a:spAutoFit/>
          </a:bodyPr>
          <a:lstStyle/>
          <a:p>
            <a:pPr rtl="0">
              <a:buNone/>
            </a:pPr>
            <a:r>
              <a:rPr lang="fr-FR" sz="877" b="0" i="0" u="none" strike="noStrike" noProof="0">
                <a:solidFill>
                  <a:schemeClr val="tx2"/>
                </a:solidFill>
                <a:effectLst/>
                <a:latin typeface="Inter"/>
              </a:rPr>
              <a:t xml:space="preserve">Les informations ci-dessous ont été complétées afin d’indiquer le nombre de travailleurs indépendants et de salariés temporaires de l’entreprise.</a:t>
            </a:r>
            <a:endParaRPr lang="fr-FR" sz="877" b="0" noProof="0">
              <a:solidFill>
                <a:schemeClr val="tx2"/>
              </a:solidFill>
              <a:effectLst/>
              <a:latin typeface="Inter"/>
            </a:endParaRPr>
          </a:p>
        </p:txBody>
      </p:sp>
      <p:sp>
        <p:nvSpPr>
          <p:cNvPr id="3" name="Title 2">
            <a:extLst>
              <a:ext uri="{FF2B5EF4-FFF2-40B4-BE49-F238E27FC236}">
                <a16:creationId xmlns:a16="http://schemas.microsoft.com/office/drawing/2014/main" id="{60DB9D9C-F7AE-1DD2-71CF-81E689C1070F}"/>
              </a:ext>
            </a:extLst>
          </p:cNvPr>
          <p:cNvSpPr txBox="1">
            <a:spLocks/>
          </p:cNvSpPr>
          <p:nvPr/>
        </p:nvSpPr>
        <p:spPr>
          <a:xfrm>
            <a:off x="411480" y="5020235"/>
            <a:ext cx="6737040" cy="207741"/>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327" b="1" kern="1200" spc="-10" baseline="0">
                <a:solidFill>
                  <a:schemeClr val="tx2"/>
                </a:solidFill>
                <a:latin typeface="+mj-lt"/>
                <a:ea typeface="+mj-ea"/>
                <a:cs typeface="+mj-cs"/>
              </a:defRPr>
            </a:lvl1pPr>
          </a:lstStyle>
          <a:p>
            <a:r>
              <a:rPr lang="fr-FR">
                <a:solidFill>
                  <a:srgbClr val="1B4528"/>
                </a:solidFill>
                <a:latin typeface="+mn-lt"/>
                <a:ea typeface="+mn-ea"/>
                <a:cs typeface="+mn-cs"/>
              </a:rPr>
              <a:t xml:space="preserve">Politiques et procédures en matière de droits de l’homme (C6</a:t>
            </a:r>
            <a:r>
              <a:rPr lang="fr-FR"/>
              <a:t xml:space="preserve">) - Personnel</a:t>
            </a:r>
          </a:p>
        </p:txBody>
      </p:sp>
      <p:graphicFrame>
        <p:nvGraphicFramePr>
          <p:cNvPr id="7" name="Table 12">
            <a:extLst>
              <a:ext uri="{FF2B5EF4-FFF2-40B4-BE49-F238E27FC236}">
                <a16:creationId xmlns:a16="http://schemas.microsoft.com/office/drawing/2014/main" id="{EFD90793-89B1-1051-40D4-976350EF00EF}"/>
              </a:ext>
            </a:extLst>
          </p:cNvPr>
          <p:cNvGraphicFramePr>
            <a:graphicFrameLocks noGrp="1"/>
          </p:cNvGraphicFramePr>
          <p:nvPr>
            <p:extLst>
              <p:ext uri="{D42A27DB-BD31-4B8C-83A1-F6EECF244321}">
                <p14:modId xmlns:p14="http://schemas.microsoft.com/office/powerpoint/2010/main" val="2276300516"/>
              </p:ext>
            </p:extLst>
          </p:nvPr>
        </p:nvGraphicFramePr>
        <p:xfrm>
          <a:off x="411480" y="5968203"/>
          <a:ext cx="6737040" cy="2876437"/>
        </p:xfrm>
        <a:graphic>
          <a:graphicData uri="http://schemas.openxmlformats.org/drawingml/2006/table">
            <a:tbl>
              <a:tblPr firstRow="1">
                <a:tableStyleId>{2A488322-F2BA-4B5B-9748-0D474271808F}</a:tableStyleId>
              </a:tblPr>
              <a:tblGrid>
                <a:gridCol w="5179030">
                  <a:extLst>
                    <a:ext uri="{9D8B030D-6E8A-4147-A177-3AD203B41FA5}">
                      <a16:colId xmlns:a16="http://schemas.microsoft.com/office/drawing/2014/main" val="2698153288"/>
                    </a:ext>
                  </a:extLst>
                </a:gridCol>
                <a:gridCol w="1558010">
                  <a:extLst>
                    <a:ext uri="{9D8B030D-6E8A-4147-A177-3AD203B41FA5}">
                      <a16:colId xmlns:a16="http://schemas.microsoft.com/office/drawing/2014/main" val="2119413191"/>
                    </a:ext>
                  </a:extLst>
                </a:gridCol>
              </a:tblGrid>
              <a:tr h="42659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877" b="1" kern="1200" noProof="0">
                          <a:solidFill>
                            <a:schemeClr val="accent2"/>
                          </a:solidFill>
                          <a:latin typeface="+mn-lt"/>
                          <a:ea typeface="+mn-ea"/>
                          <a:cs typeface="+mn-cs"/>
                        </a:rPr>
                        <a:t>{{company_name}}</a:t>
                      </a:r>
                      <a:r>
                        <a:rPr lang="fr-FR" sz="877" b="1" noProof="0">
                          <a:solidFill>
                            <a:schemeClr val="tx2"/>
                          </a:solidFill>
                        </a:rPr>
                        <a:t xml:space="preserve"> dispose d’</a:t>
                      </a:r>
                      <a:r>
                        <a:rPr lang="fr-FR" sz="877" b="1" kern="1200" spc="-10" noProof="0">
                          <a:solidFill>
                            <a:schemeClr val="tx2"/>
                          </a:solidFill>
                          <a:latin typeface="+mn-lt"/>
                          <a:ea typeface="+mn-ea"/>
                          <a:cs typeface="+mn-cs"/>
                        </a:rPr>
                        <a:t xml:space="preserve">un code de conduite </a:t>
                      </a:r>
                      <a:r>
                        <a:rPr lang="fr-FR" sz="877" b="1" i="1" kern="1200" spc="-10" noProof="0">
                          <a:solidFill>
                            <a:schemeClr val="tx2"/>
                          </a:solidFill>
                          <a:latin typeface="+mn-lt"/>
                          <a:ea typeface="+mn-ea"/>
                          <a:cs typeface="+mn-cs"/>
                        </a:rPr>
                        <a:t xml:space="preserve">et/ou</a:t>
                      </a:r>
                      <a:r>
                        <a:rPr lang="fr-FR" sz="877" b="1" kern="1200" spc="-10" noProof="0">
                          <a:solidFill>
                            <a:schemeClr val="tx2"/>
                          </a:solidFill>
                          <a:latin typeface="+mn-lt"/>
                          <a:ea typeface="+mn-ea"/>
                          <a:cs typeface="+mn-cs"/>
                        </a:rPr>
                        <a:t xml:space="preserve"> d’une politique en matière de droits de l’homme pour notre </a:t>
                      </a:r>
                      <a:r>
                        <a:rPr lang="fr-FR" sz="877" b="1" u="sng" kern="1200" spc="-10" noProof="0">
                          <a:solidFill>
                            <a:schemeClr val="tx2"/>
                          </a:solidFill>
                          <a:latin typeface="+mn-lt"/>
                          <a:ea typeface="+mn-ea"/>
                          <a:cs typeface="+mn-cs"/>
                        </a:rPr>
                        <a:t xml:space="preserve">personnel</a:t>
                      </a:r>
                      <a:r>
                        <a:rPr lang="fr-FR" sz="877" b="0" u="none" kern="1200" spc="-10" noProof="0">
                          <a:solidFill>
                            <a:schemeClr val="tx2"/>
                          </a:solidFill>
                          <a:latin typeface="+mn-lt"/>
                          <a:ea typeface="+mn-ea"/>
                          <a:cs typeface="+mn-cs"/>
                        </a:rPr>
                        <a:t xml:space="preserve"> (par. 61a)</a:t>
                      </a:r>
                      <a:endParaRPr lang="fr-FR" sz="877" b="0" u="none"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877" b="0" noProof="0">
                          <a:solidFill>
                            <a:schemeClr val="accent2"/>
                          </a:solidFill>
                          <a:latin typeface="+mn-lt"/>
                          <a:cs typeface="Calibri"/>
                        </a:rPr>
                        <a:t>{{human_rights_policy?}}</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91168870"/>
                  </a:ext>
                </a:extLst>
              </a:tr>
              <a:tr h="219389">
                <a:tc gridSpan="2">
                  <a:txBody>
                    <a:bodyPr/>
                    <a:lstStyle/>
                    <a:p>
                      <a:r>
                        <a:rPr lang="fr-FR" sz="877" b="1" kern="1200" noProof="0">
                          <a:solidFill>
                            <a:schemeClr val="tx1"/>
                          </a:solidFill>
                          <a:latin typeface="+mn-lt"/>
                          <a:ea typeface="+mn-ea"/>
                          <a:cs typeface="+mn-cs"/>
                        </a:rPr>
                        <a:t xml:space="preserve">Le code de conduite ou la politique droits de l’homme couvre les thèmes suivants : </a:t>
                      </a:r>
                      <a:r>
                        <a:rPr lang="fr-FR" sz="877" b="0" u="none" kern="1200" spc="-10" noProof="0">
                          <a:solidFill>
                            <a:schemeClr val="tx2"/>
                          </a:solidFill>
                          <a:latin typeface="+mn-lt"/>
                          <a:ea typeface="+mn-ea"/>
                          <a:cs typeface="+mn-cs"/>
                        </a:rPr>
                        <a:t xml:space="preserve">(par. 61b)</a:t>
                      </a:r>
                      <a:endParaRPr lang="fr-FR" sz="877" b="0" noProof="0">
                        <a:solidFill>
                          <a:schemeClr val="tx1"/>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fr-FR" sz="750" noProof="0">
                        <a:solidFill>
                          <a:schemeClr val="accent2"/>
                        </a:solidFill>
                        <a:latin typeface="+mn-lt"/>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903441729"/>
                  </a:ext>
                </a:extLst>
              </a:tr>
              <a:tr h="219389">
                <a:tc>
                  <a:txBody>
                    <a:bodyPr/>
                    <a:lstStyle/>
                    <a:p>
                      <a:pPr lvl="1"/>
                      <a:r>
                        <a:rPr lang="fr-FR" sz="877" b="0" noProof="0">
                          <a:solidFill>
                            <a:schemeClr val="tx2"/>
                          </a:solidFill>
                        </a:rPr>
                        <a:t xml:space="preserve">Travail des enfants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fr-FR" sz="877" b="0" i="0" u="none" strike="noStrike" noProof="0">
                          <a:solidFill>
                            <a:srgbClr val="2D55FF"/>
                          </a:solidFill>
                          <a:effectLst/>
                          <a:latin typeface="Inter"/>
                        </a:rPr>
                        <a:t>{{child_labour_polict?}}</a:t>
                      </a:r>
                      <a:endParaRPr lang="fr-FR" sz="877"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109313864"/>
                  </a:ext>
                </a:extLst>
              </a:tr>
              <a:tr h="219389">
                <a:tc>
                  <a:txBody>
                    <a:bodyPr/>
                    <a:lstStyle/>
                    <a:p>
                      <a:pPr lvl="1"/>
                      <a:r>
                        <a:rPr lang="fr-FR" sz="877" b="0" noProof="0">
                          <a:solidFill>
                            <a:schemeClr val="tx2"/>
                          </a:solidFill>
                        </a:rPr>
                        <a:t xml:space="preserve">Travail forcé</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fr-FR" sz="877" b="0" i="0" u="none" strike="noStrike" noProof="0">
                          <a:solidFill>
                            <a:srgbClr val="2D55FF"/>
                          </a:solidFill>
                          <a:effectLst/>
                          <a:latin typeface="Inter"/>
                        </a:rPr>
                        <a:t>{{forced_labour_policy?}}</a:t>
                      </a:r>
                      <a:endParaRPr lang="fr-FR" sz="877"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828850338"/>
                  </a:ext>
                </a:extLst>
              </a:tr>
              <a:tr h="219389">
                <a:tc>
                  <a:txBody>
                    <a:bodyPr/>
                    <a:lstStyle/>
                    <a:p>
                      <a:pPr lvl="1"/>
                      <a:r>
                        <a:rPr lang="fr-FR" sz="877" b="0" noProof="0">
                          <a:solidFill>
                            <a:schemeClr val="tx2"/>
                          </a:solidFill>
                        </a:rPr>
                        <a:t xml:space="preserve">Traite des êtres humains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fr-FR" sz="877" b="0" i="0" u="none" strike="noStrike" noProof="0">
                          <a:solidFill>
                            <a:srgbClr val="2D55FF"/>
                          </a:solidFill>
                          <a:effectLst/>
                          <a:latin typeface="Inter"/>
                        </a:rPr>
                        <a:t>{{human_policy?}}</a:t>
                      </a:r>
                      <a:endParaRPr lang="fr-FR" sz="877"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946288779"/>
                  </a:ext>
                </a:extLst>
              </a:tr>
              <a:tr h="219389">
                <a:tc>
                  <a:txBody>
                    <a:bodyPr/>
                    <a:lstStyle/>
                    <a:p>
                      <a:pPr lvl="1"/>
                      <a:r>
                        <a:rPr lang="fr-FR" sz="877" b="0" noProof="0">
                          <a:solidFill>
                            <a:schemeClr val="tx2"/>
                          </a:solidFill>
                        </a:rPr>
                        <a:t>Discrimination</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fr-FR" sz="877" b="0" i="0" u="none" strike="noStrike" noProof="0">
                          <a:solidFill>
                            <a:srgbClr val="2D55FF"/>
                          </a:solidFill>
                          <a:effectLst/>
                          <a:latin typeface="Inter"/>
                        </a:rPr>
                        <a:t>{{discrimanation_policy?}}</a:t>
                      </a:r>
                      <a:endParaRPr lang="fr-FR" sz="877"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269962095"/>
                  </a:ext>
                </a:extLst>
              </a:tr>
              <a:tr h="219389">
                <a:tc>
                  <a:txBody>
                    <a:bodyPr/>
                    <a:lstStyle/>
                    <a:p>
                      <a:pPr lvl="1"/>
                      <a:r>
                        <a:rPr lang="fr-FR" sz="877" b="0" noProof="0">
                          <a:solidFill>
                            <a:schemeClr val="tx2"/>
                          </a:solidFill>
                        </a:rPr>
                        <a:t xml:space="preserve">Sécurité et prévention des accidents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fr-FR" sz="877" b="0" i="0" u="none" strike="noStrike" noProof="0">
                          <a:solidFill>
                            <a:srgbClr val="2D55FF"/>
                          </a:solidFill>
                          <a:effectLst/>
                          <a:latin typeface="Inter"/>
                        </a:rPr>
                        <a:t>{{safety_policy?}}</a:t>
                      </a:r>
                      <a:endParaRPr lang="fr-FR" sz="877"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923512640"/>
                  </a:ext>
                </a:extLst>
              </a:tr>
              <a:tr h="219389">
                <a:tc>
                  <a:txBody>
                    <a:bodyPr/>
                    <a:lstStyle/>
                    <a:p>
                      <a:pPr lvl="1"/>
                      <a:r>
                        <a:rPr lang="fr-FR" sz="877" b="0" noProof="0">
                          <a:solidFill>
                            <a:schemeClr val="tx2"/>
                          </a:solidFill>
                        </a:rPr>
                        <a:t xml:space="preserve">Autre</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fr-FR" sz="877" b="0" i="0" u="none" strike="noStrike" noProof="0">
                          <a:solidFill>
                            <a:srgbClr val="2D55FF"/>
                          </a:solidFill>
                          <a:effectLst/>
                          <a:latin typeface="Inter"/>
                        </a:rPr>
                        <a:t>{{other_policy?}}</a:t>
                      </a:r>
                      <a:endParaRPr lang="fr-FR" sz="877"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53969227"/>
                  </a:ext>
                </a:extLst>
              </a:tr>
              <a:tr h="219389">
                <a:tc gridSpan="2">
                  <a:txBody>
                    <a:bodyPr/>
                    <a:lstStyle/>
                    <a:p>
                      <a:r>
                        <a:rPr lang="fr-FR" sz="877" b="1" noProof="0">
                          <a:solidFill>
                            <a:schemeClr val="tx2"/>
                          </a:solidFill>
                        </a:rPr>
                        <a:t xml:space="preserve">Si oui pour « Autre », veuillez préciser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fr-FR" sz="750" b="0" noProof="0">
                        <a:solidFill>
                          <a:schemeClr val="accent2"/>
                        </a:solidFill>
                        <a:latin typeface="+mn-lt"/>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240263137"/>
                  </a:ext>
                </a:extLst>
              </a:tr>
              <a:tr h="694735">
                <a:tc gridSpan="2">
                  <a:txBody>
                    <a:bodyPr/>
                    <a:lstStyle/>
                    <a:p>
                      <a:endParaRPr lang="fr-FR" sz="877" b="0" noProof="0" dirty="0">
                        <a:solidFill>
                          <a:schemeClr val="tx2"/>
                        </a:solidFill>
                      </a:endParaRPr>
                    </a:p>
                    <a:p>
                      <a:pPr lvl="0" algn="l">
                        <a:lnSpc>
                          <a:spcPct val="100000"/>
                        </a:lnSpc>
                        <a:spcBef>
                          <a:spcPts val="0"/>
                        </a:spcBef>
                        <a:spcAft>
                          <a:spcPts val="0"/>
                        </a:spcAft>
                        <a:buNone/>
                      </a:pPr>
                      <a:r>
                        <a:rPr lang="fr-FR" sz="877" b="0" i="0" u="none" strike="noStrike" kern="1200" noProof="0">
                          <a:solidFill>
                            <a:srgbClr val="2D55FF"/>
                          </a:solidFill>
                          <a:latin typeface="Inter"/>
                          <a:ea typeface="+mn-ea"/>
                          <a:cs typeface="+mn-cs"/>
                        </a:rPr>
                        <a:t>{{C6_other_description}}</a:t>
                      </a:r>
                      <a:endParaRPr lang="fr-FR" sz="877" b="0" i="0" u="none" strike="noStrike" kern="1200" noProof="0" dirty="0">
                        <a:solidFill>
                          <a:srgbClr val="000000"/>
                        </a:solidFill>
                        <a:latin typeface="Inter"/>
                        <a:ea typeface="+mn-ea"/>
                        <a:cs typeface="+mn-cs"/>
                      </a:endParaRPr>
                    </a:p>
                    <a:p>
                      <a:endParaRPr lang="fr-FR" sz="877" b="0" noProof="0" dirty="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fr-FR" sz="750" b="0" noProof="0">
                        <a:solidFill>
                          <a:schemeClr val="accent2"/>
                        </a:solidFill>
                        <a:latin typeface="+mn-lt"/>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253903979"/>
                  </a:ext>
                </a:extLst>
              </a:tr>
            </a:tbl>
          </a:graphicData>
        </a:graphic>
      </p:graphicFrame>
      <p:graphicFrame>
        <p:nvGraphicFramePr>
          <p:cNvPr id="9" name="Table 12">
            <a:extLst>
              <a:ext uri="{FF2B5EF4-FFF2-40B4-BE49-F238E27FC236}">
                <a16:creationId xmlns:a16="http://schemas.microsoft.com/office/drawing/2014/main" id="{EF31CA8D-F773-B7A0-BF4B-230DDB5D05E2}"/>
              </a:ext>
            </a:extLst>
          </p:cNvPr>
          <p:cNvGraphicFramePr>
            <a:graphicFrameLocks noGrp="1"/>
          </p:cNvGraphicFramePr>
          <p:nvPr>
            <p:extLst>
              <p:ext uri="{D42A27DB-BD31-4B8C-83A1-F6EECF244321}">
                <p14:modId xmlns:p14="http://schemas.microsoft.com/office/powerpoint/2010/main" val="4186352873"/>
              </p:ext>
            </p:extLst>
          </p:nvPr>
        </p:nvGraphicFramePr>
        <p:xfrm>
          <a:off x="411480" y="9055675"/>
          <a:ext cx="6737040" cy="721700"/>
        </p:xfrm>
        <a:graphic>
          <a:graphicData uri="http://schemas.openxmlformats.org/drawingml/2006/table">
            <a:tbl>
              <a:tblPr firstRow="1">
                <a:tableStyleId>{2A488322-F2BA-4B5B-9748-0D474271808F}</a:tableStyleId>
              </a:tblPr>
              <a:tblGrid>
                <a:gridCol w="5179031">
                  <a:extLst>
                    <a:ext uri="{9D8B030D-6E8A-4147-A177-3AD203B41FA5}">
                      <a16:colId xmlns:a16="http://schemas.microsoft.com/office/drawing/2014/main" val="2698153288"/>
                    </a:ext>
                  </a:extLst>
                </a:gridCol>
                <a:gridCol w="1558009">
                  <a:extLst>
                    <a:ext uri="{9D8B030D-6E8A-4147-A177-3AD203B41FA5}">
                      <a16:colId xmlns:a16="http://schemas.microsoft.com/office/drawing/2014/main" val="2119413191"/>
                    </a:ext>
                  </a:extLst>
                </a:gridCol>
              </a:tblGrid>
              <a:tr h="721700">
                <a:tc>
                  <a:txBody>
                    <a:bodyPr/>
                    <a:lstStyle/>
                    <a:p>
                      <a:r>
                        <a:rPr lang="fr-FR" sz="877" b="1" noProof="0">
                          <a:solidFill>
                            <a:schemeClr val="tx2"/>
                          </a:solidFill>
                        </a:rPr>
                        <a:t xml:space="preserve">L’entreprise dispose d’un mécanisme de traitement des plaintes pour notre </a:t>
                      </a:r>
                      <a:r>
                        <a:rPr lang="fr-FR" sz="877" b="1" u="sng" noProof="0">
                          <a:solidFill>
                            <a:schemeClr val="tx2"/>
                          </a:solidFill>
                        </a:rPr>
                        <a:t xml:space="preserve">personnel</a:t>
                      </a:r>
                      <a:r>
                        <a:rPr lang="fr-FR" sz="877" b="0" u="sng" noProof="0">
                          <a:solidFill>
                            <a:schemeClr val="tx2"/>
                          </a:solidFill>
                        </a:rPr>
                        <a:t> </a:t>
                      </a:r>
                      <a:r>
                        <a:rPr lang="fr-FR" sz="877" b="0" noProof="0">
                          <a:solidFill>
                            <a:schemeClr val="tx2"/>
                          </a:solidFill>
                        </a:rPr>
                        <a:t xml:space="preserve">(par. 61c)</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877" b="0" noProof="0">
                          <a:solidFill>
                            <a:schemeClr val="accent2"/>
                          </a:solidFill>
                          <a:latin typeface="+mn-lt"/>
                          <a:cs typeface="Calibri"/>
                        </a:rPr>
                        <a:t>{{whistleblower?}}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903441729"/>
                  </a:ext>
                </a:extLst>
              </a:tr>
            </a:tbl>
          </a:graphicData>
        </a:graphic>
      </p:graphicFrame>
      <p:sp>
        <p:nvSpPr>
          <p:cNvPr id="10" name="Tekstfelt 9">
            <a:extLst>
              <a:ext uri="{FF2B5EF4-FFF2-40B4-BE49-F238E27FC236}">
                <a16:creationId xmlns:a16="http://schemas.microsoft.com/office/drawing/2014/main" id="{DE98A347-CF52-AA6C-DDC5-06292C717A69}"/>
              </a:ext>
            </a:extLst>
          </p:cNvPr>
          <p:cNvSpPr txBox="1"/>
          <p:nvPr/>
        </p:nvSpPr>
        <p:spPr>
          <a:xfrm>
            <a:off x="411480" y="5321206"/>
            <a:ext cx="6737040" cy="384705"/>
          </a:xfrm>
          <a:prstGeom prst="rect">
            <a:avLst/>
          </a:prstGeom>
          <a:noFill/>
        </p:spPr>
        <p:txBody>
          <a:bodyPr wrap="square">
            <a:spAutoFit/>
          </a:bodyPr>
          <a:lstStyle/>
          <a:p>
            <a:pPr>
              <a:spcBef>
                <a:spcPts val="750"/>
              </a:spcBef>
            </a:pPr>
            <a:r>
              <a:rPr lang="fr-FR" sz="877" b="0" i="0" u="none" strike="noStrike" noProof="0">
                <a:solidFill>
                  <a:schemeClr val="tx2"/>
                </a:solidFill>
                <a:effectLst/>
                <a:latin typeface="Inter"/>
              </a:rPr>
              <a:t xml:space="preserve">Ci-dessous figurent des </a:t>
            </a:r>
            <a:r>
              <a:rPr lang="fr-FR" sz="877" noProof="0">
                <a:solidFill>
                  <a:schemeClr val="tx2"/>
                </a:solidFill>
                <a:latin typeface="Inter"/>
              </a:rPr>
              <a:t xml:space="preserve">informations sur </a:t>
            </a:r>
            <a:r>
              <a:rPr lang="fr-FR" sz="877" b="0" i="0" u="none" strike="noStrike" noProof="0">
                <a:solidFill>
                  <a:schemeClr val="tx2"/>
                </a:solidFill>
                <a:effectLst/>
                <a:latin typeface="Inter"/>
              </a:rPr>
              <a:t xml:space="preserve">le code de conduite et/ou la politique en matière de droits de l’homme de l’entreprise couvrant son personne</a:t>
            </a:r>
            <a:r>
              <a:rPr lang="fr-FR" sz="877" noProof="0">
                <a:solidFill>
                  <a:schemeClr val="tx2"/>
                </a:solidFill>
                <a:latin typeface="Inter"/>
              </a:rPr>
              <a:t xml:space="preserve">l. Il est également indiqué si l’entreprise dispose d’un mécanisme de traitement des plaintes permettant aux salariés de signaler des faits liés à des violations des droits de l’homme, des discriminations, du harcèlement ou d’autres agissements répréhensibles.</a:t>
            </a:r>
          </a:p>
        </p:txBody>
      </p:sp>
    </p:spTree>
    <p:extLst>
      <p:ext uri="{BB962C8B-B14F-4D97-AF65-F5344CB8AC3E}">
        <p14:creationId xmlns:p14="http://schemas.microsoft.com/office/powerpoint/2010/main" val="10959130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411480" y="832321"/>
            <a:ext cx="6737040" cy="207741"/>
          </a:xfrm>
        </p:spPr>
        <p:txBody>
          <a:bodyPr/>
          <a:lstStyle/>
          <a:p>
            <a:r>
              <a:rPr lang="fr-FR" sz="1475" b="1" i="0" u="none" strike="noStrike" kern="1200" spc="-10" noProof="0">
                <a:solidFill>
                  <a:srgbClr val="1B4528"/>
                </a:solidFill>
                <a:latin typeface="+mn-lt"/>
                <a:ea typeface="+mn-ea"/>
                <a:cs typeface="+mn-cs"/>
              </a:rPr>
              <a:t xml:space="preserve">Incidents graves en matière de droits de l’homme (C7</a:t>
            </a:r>
            <a:r>
              <a:rPr lang="fr-FR" noProof="0"/>
              <a:t xml:space="preserve">) – Personnel de l’entreprise</a:t>
            </a:r>
          </a:p>
        </p:txBody>
      </p:sp>
      <p:sp>
        <p:nvSpPr>
          <p:cNvPr id="2" name="Slide Number Placeholder 1">
            <a:extLst>
              <a:ext uri="{FF2B5EF4-FFF2-40B4-BE49-F238E27FC236}">
                <a16:creationId xmlns:a16="http://schemas.microsoft.com/office/drawing/2014/main" id="{F72C860F-3613-E98B-42C7-204BDA28A1F2}"/>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fr-FR" noProof="0" smtClean="0"/>
              <a:pPr/>
              <a:t>17</a:t>
            </a:fld>
            <a:endParaRPr lang="fr-FR" noProof="0"/>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fr-FR" noProof="0"/>
              <a:t>{{company_name}}</a:t>
            </a:r>
            <a:endParaRPr lang="fr-FR" b="0" noProof="0"/>
          </a:p>
          <a:p>
            <a:endParaRPr lang="fr-FR" noProof="0"/>
          </a:p>
        </p:txBody>
      </p:sp>
      <p:graphicFrame>
        <p:nvGraphicFramePr>
          <p:cNvPr id="11" name="Table 2">
            <a:extLst>
              <a:ext uri="{FF2B5EF4-FFF2-40B4-BE49-F238E27FC236}">
                <a16:creationId xmlns:a16="http://schemas.microsoft.com/office/drawing/2014/main" id="{A420AFF6-414E-4EC8-A668-F0BFECC8260A}"/>
              </a:ext>
            </a:extLst>
          </p:cNvPr>
          <p:cNvGraphicFramePr>
            <a:graphicFrameLocks noGrp="1"/>
          </p:cNvGraphicFramePr>
          <p:nvPr>
            <p:extLst>
              <p:ext uri="{D42A27DB-BD31-4B8C-83A1-F6EECF244321}">
                <p14:modId xmlns:p14="http://schemas.microsoft.com/office/powerpoint/2010/main" val="1257119581"/>
              </p:ext>
            </p:extLst>
          </p:nvPr>
        </p:nvGraphicFramePr>
        <p:xfrm>
          <a:off x="411480" y="2153762"/>
          <a:ext cx="6737040" cy="2579984"/>
        </p:xfrm>
        <a:graphic>
          <a:graphicData uri="http://schemas.openxmlformats.org/drawingml/2006/table">
            <a:tbl>
              <a:tblPr firstRow="1">
                <a:tableStyleId>{2A488322-F2BA-4B5B-9748-0D474271808F}</a:tableStyleId>
              </a:tblPr>
              <a:tblGrid>
                <a:gridCol w="2364547">
                  <a:extLst>
                    <a:ext uri="{9D8B030D-6E8A-4147-A177-3AD203B41FA5}">
                      <a16:colId xmlns:a16="http://schemas.microsoft.com/office/drawing/2014/main" val="1902117154"/>
                    </a:ext>
                  </a:extLst>
                </a:gridCol>
                <a:gridCol w="4372493">
                  <a:extLst>
                    <a:ext uri="{9D8B030D-6E8A-4147-A177-3AD203B41FA5}">
                      <a16:colId xmlns:a16="http://schemas.microsoft.com/office/drawing/2014/main" val="1904521774"/>
                    </a:ext>
                  </a:extLst>
                </a:gridCol>
              </a:tblGrid>
              <a:tr h="272122">
                <a:tc gridSpan="2">
                  <a:txBody>
                    <a:bodyPr/>
                    <a:lstStyle/>
                    <a:p>
                      <a:pPr algn="l"/>
                      <a:r>
                        <a:rPr lang="fr-FR" sz="975" b="1" kern="1200" spc="-10" noProof="0">
                          <a:solidFill>
                            <a:schemeClr val="tx2"/>
                          </a:solidFill>
                          <a:latin typeface="+mn-lt"/>
                          <a:ea typeface="+mn-ea"/>
                          <a:cs typeface="+mn-cs"/>
                        </a:rPr>
                        <a:t xml:space="preserve">Existe-t-il, pour le </a:t>
                      </a:r>
                      <a:r>
                        <a:rPr lang="fr-FR" sz="975" b="1" u="sng" kern="1200" spc="-10" noProof="0">
                          <a:solidFill>
                            <a:schemeClr val="tx2"/>
                          </a:solidFill>
                          <a:latin typeface="+mn-lt"/>
                          <a:ea typeface="+mn-ea"/>
                          <a:cs typeface="+mn-cs"/>
                        </a:rPr>
                        <a:t xml:space="preserve">personnel de l’entreprise</a:t>
                      </a:r>
                      <a:r>
                        <a:rPr lang="fr-FR" sz="975" b="1" u="none" kern="1200" spc="-10" noProof="0">
                          <a:solidFill>
                            <a:schemeClr val="tx2"/>
                          </a:solidFill>
                          <a:latin typeface="+mn-lt"/>
                          <a:ea typeface="+mn-ea"/>
                          <a:cs typeface="+mn-cs"/>
                        </a:rPr>
                        <a:t>, </a:t>
                      </a:r>
                      <a:r>
                        <a:rPr lang="fr-FR" sz="975" b="1" kern="1200" spc="-10" noProof="0">
                          <a:solidFill>
                            <a:schemeClr val="tx2"/>
                          </a:solidFill>
                          <a:latin typeface="+mn-lt"/>
                          <a:ea typeface="+mn-ea"/>
                          <a:cs typeface="+mn-cs"/>
                        </a:rPr>
                        <a:t xml:space="preserve">des incidents négatifs confirmés liés aux points suivants </a:t>
                      </a:r>
                      <a:r>
                        <a:rPr lang="fr-FR" sz="975" b="0" kern="1200" spc="-10" noProof="0">
                          <a:solidFill>
                            <a:schemeClr val="tx2"/>
                          </a:solidFill>
                          <a:latin typeface="+mn-lt"/>
                          <a:ea typeface="+mn-ea"/>
                          <a:cs typeface="+mn-cs"/>
                        </a:rPr>
                        <a:t xml:space="preserve">(par. 62a-b)</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fr-FR" sz="725" b="1" kern="1200" spc="-10" noProof="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642311251"/>
                  </a:ext>
                </a:extLst>
              </a:tr>
              <a:tr h="487671">
                <a:tc>
                  <a:txBody>
                    <a:bodyPr/>
                    <a:lstStyle/>
                    <a:p>
                      <a:pPr algn="l"/>
                      <a:r>
                        <a:rPr lang="fr-FR" sz="975" b="1" kern="1200" spc="-10" noProof="0">
                          <a:solidFill>
                            <a:schemeClr val="tx2"/>
                          </a:solidFill>
                          <a:latin typeface="+mn-lt"/>
                          <a:ea typeface="+mn-ea"/>
                          <a:cs typeface="+mn-cs"/>
                        </a:rPr>
                        <a:t xml:space="preserve">Travail des enfants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lvl="0" algn="l">
                        <a:lnSpc>
                          <a:spcPct val="100000"/>
                        </a:lnSpc>
                        <a:spcBef>
                          <a:spcPts val="0"/>
                        </a:spcBef>
                        <a:spcAft>
                          <a:spcPts val="0"/>
                        </a:spcAft>
                        <a:buNone/>
                      </a:pPr>
                      <a:r>
                        <a:rPr lang="fr-FR" sz="975" b="0" i="0" u="none" strike="noStrike" noProof="0">
                          <a:solidFill>
                            <a:schemeClr val="accent2"/>
                          </a:solidFill>
                        </a:rPr>
                        <a:t>{{child_labour_yes?}}</a:t>
                      </a:r>
                      <a:endParaRPr lang="fr-FR"/>
                    </a:p>
                    <a:p>
                      <a:pPr lvl="0" algn="l">
                        <a:lnSpc>
                          <a:spcPct val="100000"/>
                        </a:lnSpc>
                        <a:spcBef>
                          <a:spcPts val="0"/>
                        </a:spcBef>
                        <a:spcAft>
                          <a:spcPts val="0"/>
                        </a:spcAft>
                        <a:buNone/>
                      </a:pPr>
                      <a:r>
                        <a:rPr lang="fr-FR" sz="975" b="0" i="0" u="none" strike="noStrike" noProof="0">
                          <a:solidFill>
                            <a:schemeClr val="accent2"/>
                          </a:solidFill>
                        </a:rPr>
                        <a:t>{{child_labour_desc}}</a:t>
                      </a: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487671">
                <a:tc>
                  <a:txBody>
                    <a:bodyPr/>
                    <a:lstStyle/>
                    <a:p>
                      <a:pPr algn="l"/>
                      <a:r>
                        <a:rPr lang="fr-FR" sz="975" b="1" kern="1200" spc="-10" noProof="0">
                          <a:solidFill>
                            <a:schemeClr val="tx2"/>
                          </a:solidFill>
                          <a:latin typeface="+mn-lt"/>
                          <a:ea typeface="+mn-ea"/>
                          <a:cs typeface="+mn-cs"/>
                        </a:rPr>
                        <a:t xml:space="preserve">Travail forcé</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lvl="0" algn="l">
                        <a:lnSpc>
                          <a:spcPct val="100000"/>
                        </a:lnSpc>
                        <a:spcBef>
                          <a:spcPts val="0"/>
                        </a:spcBef>
                        <a:spcAft>
                          <a:spcPts val="0"/>
                        </a:spcAft>
                        <a:buNone/>
                      </a:pPr>
                      <a:r>
                        <a:rPr lang="fr-FR" sz="975" b="0" i="0" u="none" strike="noStrike" noProof="0">
                          <a:solidFill>
                            <a:schemeClr val="accent2"/>
                          </a:solidFill>
                        </a:rPr>
                        <a:t>{{forced_labour_yes?}}</a:t>
                      </a:r>
                      <a:endParaRPr lang="fr-FR"/>
                    </a:p>
                    <a:p>
                      <a:pPr lvl="0" algn="l" defTabSz="914400">
                        <a:lnSpc>
                          <a:spcPct val="100000"/>
                        </a:lnSpc>
                        <a:spcBef>
                          <a:spcPts val="0"/>
                        </a:spcBef>
                        <a:spcAft>
                          <a:spcPts val="0"/>
                        </a:spcAft>
                        <a:buNone/>
                        <a:tabLst/>
                        <a:defRPr/>
                      </a:pPr>
                      <a:r>
                        <a:rPr lang="fr-FR" sz="975" b="0" i="0" u="none" strike="noStrike" noProof="0">
                          <a:solidFill>
                            <a:schemeClr val="accent2"/>
                          </a:solidFill>
                        </a:rPr>
                        <a:t>{{forced_labour_desc}}</a:t>
                      </a: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487671">
                <a:tc>
                  <a:txBody>
                    <a:bodyPr/>
                    <a:lstStyle/>
                    <a:p>
                      <a:pPr algn="l"/>
                      <a:r>
                        <a:rPr lang="fr-FR" sz="975" b="1" kern="1200" spc="-10" noProof="0">
                          <a:solidFill>
                            <a:schemeClr val="tx2"/>
                          </a:solidFill>
                          <a:latin typeface="+mn-lt"/>
                          <a:ea typeface="+mn-ea"/>
                          <a:cs typeface="+mn-cs"/>
                        </a:rPr>
                        <a:t xml:space="preserve">Traite des êtres humains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lvl="0" algn="l">
                        <a:lnSpc>
                          <a:spcPct val="100000"/>
                        </a:lnSpc>
                        <a:spcBef>
                          <a:spcPts val="0"/>
                        </a:spcBef>
                        <a:spcAft>
                          <a:spcPts val="0"/>
                        </a:spcAft>
                        <a:buNone/>
                      </a:pPr>
                      <a:r>
                        <a:rPr lang="fr-FR" sz="975" b="0" i="0" u="none" strike="noStrike" noProof="0">
                          <a:solidFill>
                            <a:schemeClr val="accent2"/>
                          </a:solidFill>
                        </a:rPr>
                        <a:t>{{human_trafficking_yes?}}</a:t>
                      </a:r>
                      <a:endParaRPr lang="fr-FR"/>
                    </a:p>
                    <a:p>
                      <a:pPr lvl="0" algn="l" defTabSz="914400">
                        <a:lnSpc>
                          <a:spcPct val="100000"/>
                        </a:lnSpc>
                        <a:spcBef>
                          <a:spcPts val="0"/>
                        </a:spcBef>
                        <a:spcAft>
                          <a:spcPts val="0"/>
                        </a:spcAft>
                        <a:buNone/>
                        <a:tabLst/>
                        <a:defRPr/>
                      </a:pPr>
                      <a:r>
                        <a:rPr lang="fr-FR" sz="975" b="0" i="0" u="none" strike="noStrike" noProof="0">
                          <a:solidFill>
                            <a:schemeClr val="accent2"/>
                          </a:solidFill>
                        </a:rPr>
                        <a:t>{{human_trafficking_desc}}</a:t>
                      </a: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442156864"/>
                  </a:ext>
                </a:extLst>
              </a:tr>
              <a:tr h="487671">
                <a:tc>
                  <a:txBody>
                    <a:bodyPr/>
                    <a:lstStyle/>
                    <a:p>
                      <a:pPr algn="l"/>
                      <a:r>
                        <a:rPr lang="fr-FR" sz="975" b="1" kern="1200" spc="-10" noProof="0">
                          <a:solidFill>
                            <a:schemeClr val="tx2"/>
                          </a:solidFill>
                          <a:latin typeface="+mn-lt"/>
                          <a:ea typeface="+mn-ea"/>
                          <a:cs typeface="+mn-cs"/>
                        </a:rPr>
                        <a:t>Discrimination</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lvl="0" algn="l">
                        <a:lnSpc>
                          <a:spcPct val="100000"/>
                        </a:lnSpc>
                        <a:spcBef>
                          <a:spcPts val="0"/>
                        </a:spcBef>
                        <a:spcAft>
                          <a:spcPts val="0"/>
                        </a:spcAft>
                        <a:buNone/>
                      </a:pPr>
                      <a:r>
                        <a:rPr lang="fr-FR" sz="975" b="0" i="0" u="none" strike="noStrike" noProof="0">
                          <a:solidFill>
                            <a:schemeClr val="accent2"/>
                          </a:solidFill>
                        </a:rPr>
                        <a:t>{{discrimination_yes?}}</a:t>
                      </a:r>
                      <a:endParaRPr lang="fr-FR"/>
                    </a:p>
                    <a:p>
                      <a:pPr lvl="0" algn="l" defTabSz="914400">
                        <a:lnSpc>
                          <a:spcPct val="100000"/>
                        </a:lnSpc>
                        <a:spcBef>
                          <a:spcPts val="0"/>
                        </a:spcBef>
                        <a:spcAft>
                          <a:spcPts val="0"/>
                        </a:spcAft>
                        <a:buNone/>
                        <a:tabLst/>
                        <a:defRPr/>
                      </a:pPr>
                      <a:r>
                        <a:rPr lang="fr-FR" sz="975" b="0" i="0" u="none" strike="noStrike" noProof="0">
                          <a:solidFill>
                            <a:schemeClr val="accent2"/>
                          </a:solidFill>
                        </a:rPr>
                        <a:t>{{discrimination_desc}}</a:t>
                      </a: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197746340"/>
                  </a:ext>
                </a:extLst>
              </a:tr>
              <a:tr h="343972">
                <a:tc>
                  <a:txBody>
                    <a:bodyPr/>
                    <a:lstStyle/>
                    <a:p>
                      <a:pPr lvl="0" algn="l">
                        <a:buNone/>
                      </a:pPr>
                      <a:r>
                        <a:rPr lang="fr-FR" sz="975" b="1" kern="1200" spc="-10" noProof="0">
                          <a:solidFill>
                            <a:schemeClr val="tx2"/>
                          </a:solidFill>
                          <a:latin typeface="+mn-lt"/>
                          <a:ea typeface="+mn-ea"/>
                          <a:cs typeface="+mn-cs"/>
                        </a:rPr>
                        <a:t xml:space="preserve">Autre </a:t>
                      </a:r>
                      <a:endParaRPr lang="fr-FR" b="1">
                        <a:latin typeface="+mn-lt"/>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lvl="0" algn="l">
                        <a:lnSpc>
                          <a:spcPct val="100000"/>
                        </a:lnSpc>
                        <a:spcBef>
                          <a:spcPts val="0"/>
                        </a:spcBef>
                        <a:spcAft>
                          <a:spcPts val="0"/>
                        </a:spcAft>
                        <a:buNone/>
                      </a:pPr>
                      <a:r>
                        <a:rPr lang="fr-FR" sz="975" b="0" i="0" u="none" strike="noStrike" noProof="0">
                          <a:solidFill>
                            <a:schemeClr val="accent2"/>
                          </a:solidFill>
                          <a:latin typeface="IBM Plex Sans"/>
                          <a:cs typeface="Calibri"/>
                        </a:rPr>
                        <a:t>{{other</a:t>
                      </a:r>
                      <a:r>
                        <a:rPr lang="fr-FR" sz="975" b="0" i="0" u="none" strike="noStrike" noProof="0">
                          <a:solidFill>
                            <a:schemeClr val="accent2"/>
                          </a:solidFill>
                          <a:latin typeface="IBM Plex Sans"/>
                        </a:rPr>
                        <a:t>_yes?}}</a:t>
                      </a:r>
                      <a:endParaRPr lang="fr-FR" sz="975" b="0" i="0" u="none" strike="noStrike" noProof="0">
                        <a:solidFill>
                          <a:srgbClr val="000000"/>
                        </a:solidFill>
                        <a:latin typeface="IBM Plex Sans"/>
                      </a:endParaRPr>
                    </a:p>
                    <a:p>
                      <a:pPr lvl="0" algn="l" defTabSz="914400">
                        <a:lnSpc>
                          <a:spcPct val="100000"/>
                        </a:lnSpc>
                        <a:spcBef>
                          <a:spcPts val="0"/>
                        </a:spcBef>
                        <a:spcAft>
                          <a:spcPts val="0"/>
                        </a:spcAft>
                        <a:buNone/>
                        <a:tabLst/>
                        <a:defRPr/>
                      </a:pPr>
                      <a:r>
                        <a:rPr lang="fr-FR" sz="975" b="0" i="0" u="none" strike="noStrike" noProof="0">
                          <a:solidFill>
                            <a:schemeClr val="accent2"/>
                          </a:solidFill>
                          <a:latin typeface="IBM Plex Sans"/>
                        </a:rPr>
                        <a:t>{{other_desc}}</a:t>
                      </a:r>
                      <a:endParaRPr lang="fr-FR" sz="975" b="0" i="0" u="none" strike="noStrike" noProof="0">
                        <a:solidFill>
                          <a:srgbClr val="000000"/>
                        </a:solidFill>
                        <a:latin typeface="IBM Plex San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2359221"/>
                  </a:ext>
                </a:extLst>
              </a:tr>
            </a:tbl>
          </a:graphicData>
        </a:graphic>
      </p:graphicFrame>
      <p:sp>
        <p:nvSpPr>
          <p:cNvPr id="14" name="Tekstfelt 13">
            <a:extLst>
              <a:ext uri="{FF2B5EF4-FFF2-40B4-BE49-F238E27FC236}">
                <a16:creationId xmlns:a16="http://schemas.microsoft.com/office/drawing/2014/main" id="{6621372E-99B2-9153-2F88-5157BF16DADB}"/>
              </a:ext>
            </a:extLst>
          </p:cNvPr>
          <p:cNvSpPr txBox="1"/>
          <p:nvPr/>
        </p:nvSpPr>
        <p:spPr>
          <a:xfrm>
            <a:off x="411480" y="1317755"/>
            <a:ext cx="6737040" cy="692470"/>
          </a:xfrm>
          <a:prstGeom prst="rect">
            <a:avLst/>
          </a:prstGeom>
          <a:noFill/>
        </p:spPr>
        <p:txBody>
          <a:bodyPr wrap="square">
            <a:spAutoFit/>
          </a:bodyPr>
          <a:lstStyle/>
          <a:p>
            <a:pPr rtl="0">
              <a:buNone/>
            </a:pPr>
            <a:r>
              <a:rPr lang="fr-FR" sz="975" b="0" i="0" u="none" strike="noStrike" noProof="0">
                <a:solidFill>
                  <a:schemeClr val="tx2"/>
                </a:solidFill>
                <a:effectLst/>
                <a:latin typeface="Inter"/>
              </a:rPr>
              <a:t xml:space="preserve">Les exigences de publication suivantes concernent la déclaration par l’entreprise des incidents négatifs liés au travail des enfants, au travail forcé, à la traite des êtres humains et à la discrimination. Dans cette section, l’entreprise indique si ce qui précède concerne son personnel.</a:t>
            </a:r>
            <a:endParaRPr lang="fr-FR" sz="975" b="0" noProof="0">
              <a:solidFill>
                <a:schemeClr val="tx2"/>
              </a:solidFill>
              <a:effectLst/>
              <a:latin typeface="Inter"/>
            </a:endParaRPr>
          </a:p>
          <a:p>
            <a:pPr>
              <a:buNone/>
            </a:pPr>
            <a:br>
              <a:rPr lang="fr-FR" sz="975" noProof="0">
                <a:solidFill>
                  <a:schemeClr val="tx2"/>
                </a:solidFill>
                <a:latin typeface="Inter"/>
              </a:rPr>
            </a:br>
            <a:endParaRPr lang="fr-FR" sz="975" noProof="0">
              <a:solidFill>
                <a:schemeClr val="tx2"/>
              </a:solidFill>
              <a:latin typeface="Inter"/>
            </a:endParaRPr>
          </a:p>
        </p:txBody>
      </p:sp>
      <p:sp>
        <p:nvSpPr>
          <p:cNvPr id="4" name="Title 2">
            <a:extLst>
              <a:ext uri="{FF2B5EF4-FFF2-40B4-BE49-F238E27FC236}">
                <a16:creationId xmlns:a16="http://schemas.microsoft.com/office/drawing/2014/main" id="{41F3A84E-89CC-12F3-053B-7720F7BEBDF4}"/>
              </a:ext>
            </a:extLst>
          </p:cNvPr>
          <p:cNvSpPr txBox="1">
            <a:spLocks/>
          </p:cNvSpPr>
          <p:nvPr/>
        </p:nvSpPr>
        <p:spPr>
          <a:xfrm>
            <a:off x="411480" y="5186632"/>
            <a:ext cx="6737040" cy="207741"/>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475" b="1" kern="1200" spc="-10" baseline="0">
                <a:solidFill>
                  <a:schemeClr val="tx2"/>
                </a:solidFill>
                <a:latin typeface="+mj-lt"/>
                <a:ea typeface="+mj-ea"/>
                <a:cs typeface="+mj-cs"/>
              </a:defRPr>
            </a:lvl1pPr>
          </a:lstStyle>
          <a:p>
            <a:r>
              <a:rPr lang="fr-FR">
                <a:solidFill>
                  <a:srgbClr val="1B4528"/>
                </a:solidFill>
                <a:latin typeface="+mn-lt"/>
                <a:ea typeface="+mn-ea"/>
                <a:cs typeface="+mn-cs"/>
              </a:rPr>
              <a:t xml:space="preserve">Incidents graves en matière de droits de l’homme (C7</a:t>
            </a:r>
            <a:r>
              <a:rPr lang="fr-FR"/>
              <a:t xml:space="preserve">) – Dans la chaîne de valeur</a:t>
            </a:r>
          </a:p>
        </p:txBody>
      </p:sp>
      <p:graphicFrame>
        <p:nvGraphicFramePr>
          <p:cNvPr id="6" name="Table 2">
            <a:extLst>
              <a:ext uri="{FF2B5EF4-FFF2-40B4-BE49-F238E27FC236}">
                <a16:creationId xmlns:a16="http://schemas.microsoft.com/office/drawing/2014/main" id="{C2849829-EDEC-28FD-0347-B091216B259D}"/>
              </a:ext>
            </a:extLst>
          </p:cNvPr>
          <p:cNvGraphicFramePr>
            <a:graphicFrameLocks noGrp="1"/>
          </p:cNvGraphicFramePr>
          <p:nvPr>
            <p:extLst>
              <p:ext uri="{D42A27DB-BD31-4B8C-83A1-F6EECF244321}">
                <p14:modId xmlns:p14="http://schemas.microsoft.com/office/powerpoint/2010/main" val="445969331"/>
              </p:ext>
            </p:extLst>
          </p:nvPr>
        </p:nvGraphicFramePr>
        <p:xfrm>
          <a:off x="411480" y="6039725"/>
          <a:ext cx="6737040" cy="1658137"/>
        </p:xfrm>
        <a:graphic>
          <a:graphicData uri="http://schemas.openxmlformats.org/drawingml/2006/table">
            <a:tbl>
              <a:tblPr firstRow="1">
                <a:tableStyleId>{2A488322-F2BA-4B5B-9748-0D474271808F}</a:tableStyleId>
              </a:tblPr>
              <a:tblGrid>
                <a:gridCol w="1486246">
                  <a:extLst>
                    <a:ext uri="{9D8B030D-6E8A-4147-A177-3AD203B41FA5}">
                      <a16:colId xmlns:a16="http://schemas.microsoft.com/office/drawing/2014/main" val="1902117154"/>
                    </a:ext>
                  </a:extLst>
                </a:gridCol>
                <a:gridCol w="5250794">
                  <a:extLst>
                    <a:ext uri="{9D8B030D-6E8A-4147-A177-3AD203B41FA5}">
                      <a16:colId xmlns:a16="http://schemas.microsoft.com/office/drawing/2014/main" val="1904521774"/>
                    </a:ext>
                  </a:extLst>
                </a:gridCol>
              </a:tblGrid>
              <a:tr h="251982">
                <a:tc gridSpan="2">
                  <a:txBody>
                    <a:bodyPr/>
                    <a:lstStyle/>
                    <a:p>
                      <a:pPr algn="l"/>
                      <a:r>
                        <a:rPr lang="fr-FR" sz="975" b="1" kern="1200" spc="-10" noProof="0">
                          <a:solidFill>
                            <a:schemeClr val="tx2"/>
                          </a:solidFill>
                          <a:latin typeface="+mn-lt"/>
                          <a:ea typeface="+mn-ea"/>
                          <a:cs typeface="+mn-cs"/>
                        </a:rPr>
                        <a:t xml:space="preserve">L’entreprise a-t-elle connaissance d’incidents négatifs confirmés en matière de droits de l’homme dans la chaîne de valeur de </a:t>
                      </a:r>
                      <a:r>
                        <a:rPr lang="fr-FR" sz="975" b="1" kern="1200" noProof="0">
                          <a:solidFill>
                            <a:schemeClr val="accent2"/>
                          </a:solidFill>
                          <a:latin typeface="+mn-lt"/>
                          <a:ea typeface="+mn-ea"/>
                          <a:cs typeface="+mn-cs"/>
                        </a:rPr>
                        <a:t xml:space="preserve">{{company_name}}</a:t>
                      </a:r>
                      <a:r>
                        <a:rPr lang="fr-FR" sz="975" b="1" kern="1200" noProof="0">
                          <a:solidFill>
                            <a:schemeClr val="tx2"/>
                          </a:solidFill>
                          <a:latin typeface="+mn-lt"/>
                          <a:ea typeface="+mn-ea"/>
                          <a:cs typeface="+mn-cs"/>
                        </a:rPr>
                        <a:t> </a:t>
                      </a:r>
                      <a:r>
                        <a:rPr lang="fr-FR" sz="975" b="1" kern="1200" spc="-10" noProof="0">
                          <a:solidFill>
                            <a:schemeClr val="tx2"/>
                          </a:solidFill>
                          <a:latin typeface="+mn-lt"/>
                          <a:ea typeface="+mn-ea"/>
                          <a:cs typeface="+mn-cs"/>
                        </a:rPr>
                        <a:t xml:space="preserve"/>
                      </a:r>
                      <a:r>
                        <a:rPr lang="fr-FR" sz="975" b="0" kern="1200" spc="-10" noProof="0">
                          <a:solidFill>
                            <a:schemeClr val="tx2"/>
                          </a:solidFill>
                          <a:latin typeface="+mn-lt"/>
                          <a:ea typeface="+mn-ea"/>
                          <a:cs typeface="+mn-cs"/>
                        </a:rPr>
                        <a:t xml:space="preserve">(par. 62c)</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fr-FR" sz="725" b="1" kern="1200" spc="-10" noProof="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642311251"/>
                  </a:ext>
                </a:extLst>
              </a:tr>
              <a:tr h="433653">
                <a:tc>
                  <a:txBody>
                    <a:bodyPr/>
                    <a:lstStyle/>
                    <a:p>
                      <a:pPr algn="l"/>
                      <a:r>
                        <a:rPr lang="fr-FR" sz="975" b="1" kern="1200" spc="-10" noProof="0">
                          <a:solidFill>
                            <a:schemeClr val="tx2"/>
                          </a:solidFill>
                          <a:latin typeface="+mn-lt"/>
                          <a:ea typeface="+mn-ea"/>
                          <a:cs typeface="+mn-cs"/>
                        </a:rPr>
                        <a:t xml:space="preserve">Travailleurs de la chaîne de valeur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buNone/>
                      </a:pPr>
                      <a:r>
                        <a:rPr lang="fr-FR" sz="975" b="0" i="0" u="none" strike="noStrike" noProof="0">
                          <a:solidFill>
                            <a:srgbClr val="2D55FF"/>
                          </a:solidFill>
                          <a:effectLst/>
                          <a:latin typeface="Inter"/>
                        </a:rPr>
                        <a:t>{{incidents_workers_value_chain}}</a:t>
                      </a:r>
                      <a:endParaRPr lang="fr-FR" sz="975" noProof="0">
                        <a:solidFill>
                          <a:schemeClr val="accent2"/>
                        </a:solidFill>
                        <a:latin typeface="+mn-lt"/>
                        <a:cs typeface="Calibri"/>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433653">
                <a:tc>
                  <a:txBody>
                    <a:bodyPr/>
                    <a:lstStyle/>
                    <a:p>
                      <a:pPr algn="l"/>
                      <a:r>
                        <a:rPr lang="fr-FR" sz="975" b="1" kern="1200" spc="-10" noProof="0">
                          <a:solidFill>
                            <a:schemeClr val="tx2"/>
                          </a:solidFill>
                          <a:latin typeface="+mn-lt"/>
                          <a:ea typeface="+mn-ea"/>
                          <a:cs typeface="+mn-cs"/>
                        </a:rPr>
                        <a:t xml:space="preserve">Communautés affectées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buNone/>
                      </a:pPr>
                      <a:r>
                        <a:rPr lang="fr-FR" sz="975" b="0" i="0" u="none" strike="noStrike" noProof="0">
                          <a:solidFill>
                            <a:srgbClr val="2D55FF"/>
                          </a:solidFill>
                          <a:effectLst/>
                          <a:latin typeface="Inter"/>
                        </a:rPr>
                        <a:t>{{incidents_affected_communities}}</a:t>
                      </a:r>
                      <a:endParaRPr lang="fr-FR" sz="975" kern="1200" noProof="0">
                        <a:solidFill>
                          <a:schemeClr val="accent2"/>
                        </a:solidFill>
                        <a:latin typeface="+mn-lt"/>
                        <a:ea typeface="+mn-ea"/>
                        <a:cs typeface="Calibri"/>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433653">
                <a:tc>
                  <a:txBody>
                    <a:bodyPr/>
                    <a:lstStyle/>
                    <a:p>
                      <a:pPr algn="l"/>
                      <a:r>
                        <a:rPr lang="fr-FR" sz="975" b="1" kern="1200" spc="-10" noProof="0">
                          <a:solidFill>
                            <a:schemeClr val="tx2"/>
                          </a:solidFill>
                          <a:latin typeface="+mn-lt"/>
                          <a:ea typeface="+mn-ea"/>
                          <a:cs typeface="+mn-cs"/>
                        </a:rPr>
                        <a:t xml:space="preserve">Consommateurs et utilisateurs finaux</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buNone/>
                      </a:pPr>
                      <a:r>
                        <a:rPr lang="fr-FR" sz="975" b="0" i="0" u="none" strike="noStrike" noProof="0">
                          <a:solidFill>
                            <a:srgbClr val="2D55FF"/>
                          </a:solidFill>
                          <a:effectLst/>
                          <a:latin typeface="Inter"/>
                        </a:rPr>
                        <a:t>{{</a:t>
                      </a:r>
                      <a:r>
                        <a:rPr lang="fr-FR" sz="975" b="0" i="0" u="none" strike="noStrike" noProof="0">
                          <a:solidFill>
                            <a:srgbClr val="2D55FF"/>
                          </a:solidFill>
                          <a:effectLst/>
                          <a:latin typeface="Inter"/>
                        </a:rPr>
                        <a:t>incidents_consumers</a:t>
                      </a:r>
                      <a:r>
                        <a:rPr lang="fr-FR" sz="975" b="0" i="0" u="none" strike="noStrike" noProof="0">
                          <a:solidFill>
                            <a:srgbClr val="2D55FF"/>
                          </a:solidFill>
                          <a:effectLst/>
                          <a:latin typeface="Inter"/>
                        </a:rPr>
                        <a:t>}}</a:t>
                      </a:r>
                      <a:endParaRPr lang="fr-FR" sz="975" b="0"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414495947"/>
                  </a:ext>
                </a:extLst>
              </a:tr>
            </a:tbl>
          </a:graphicData>
        </a:graphic>
      </p:graphicFrame>
      <p:sp>
        <p:nvSpPr>
          <p:cNvPr id="7" name="Tekstfelt 6">
            <a:extLst>
              <a:ext uri="{FF2B5EF4-FFF2-40B4-BE49-F238E27FC236}">
                <a16:creationId xmlns:a16="http://schemas.microsoft.com/office/drawing/2014/main" id="{D86CEC8F-33AD-EB43-97CC-8C565BD2D1E9}"/>
              </a:ext>
            </a:extLst>
          </p:cNvPr>
          <p:cNvSpPr txBox="1"/>
          <p:nvPr/>
        </p:nvSpPr>
        <p:spPr>
          <a:xfrm>
            <a:off x="411480" y="5538666"/>
            <a:ext cx="6737040" cy="230823"/>
          </a:xfrm>
          <a:prstGeom prst="rect">
            <a:avLst/>
          </a:prstGeom>
          <a:noFill/>
        </p:spPr>
        <p:txBody>
          <a:bodyPr wrap="square">
            <a:spAutoFit/>
          </a:bodyPr>
          <a:lstStyle/>
          <a:p>
            <a:pPr>
              <a:spcBef>
                <a:spcPts val="750"/>
              </a:spcBef>
            </a:pPr>
            <a:r>
              <a:rPr lang="fr-FR" sz="975" b="0" i="0" u="none" strike="noStrike" noProof="0">
                <a:solidFill>
                  <a:schemeClr val="tx2"/>
                </a:solidFill>
                <a:effectLst/>
                <a:latin typeface="Inter"/>
              </a:rPr>
              <a:t xml:space="preserve">Ci-dessous figurent des </a:t>
            </a:r>
            <a:r>
              <a:rPr lang="fr-FR" sz="975" noProof="0">
                <a:solidFill>
                  <a:schemeClr val="tx2"/>
                </a:solidFill>
                <a:latin typeface="Inter"/>
              </a:rPr>
              <a:t xml:space="preserve">informations sur </a:t>
            </a:r>
            <a:r>
              <a:rPr lang="fr-FR" sz="975" b="0" i="0" u="none" strike="noStrike" noProof="0">
                <a:solidFill>
                  <a:schemeClr val="tx2"/>
                </a:solidFill>
                <a:effectLst/>
                <a:latin typeface="Inter"/>
              </a:rPr>
              <a:t xml:space="preserve">la connaissance par l’entreprise d’incidents négatifs confirmés en matière de droits de l’homme dans sa chaîne de valeur.</a:t>
            </a:r>
          </a:p>
        </p:txBody>
      </p:sp>
    </p:spTree>
    <p:extLst>
      <p:ext uri="{BB962C8B-B14F-4D97-AF65-F5344CB8AC3E}">
        <p14:creationId xmlns:p14="http://schemas.microsoft.com/office/powerpoint/2010/main" val="37050683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411480" y="788246"/>
            <a:ext cx="6737040" cy="207741"/>
          </a:xfrm>
        </p:spPr>
        <p:txBody>
          <a:bodyPr/>
          <a:lstStyle/>
          <a:p>
            <a:r>
              <a:rPr lang="fr-FR" sz="1475" b="1" i="0" u="none" strike="noStrike" kern="1200" spc="-10" noProof="0">
                <a:solidFill>
                  <a:srgbClr val="1B4528"/>
                </a:solidFill>
              </a:rPr>
              <a:t xml:space="preserve">Chiffre d’affaires de certaines activités (C8)</a:t>
            </a:r>
            <a:endParaRPr lang="fr-FR" noProof="0"/>
          </a:p>
        </p:txBody>
      </p:sp>
      <p:sp>
        <p:nvSpPr>
          <p:cNvPr id="2" name="Slide Number Placeholder 1">
            <a:extLst>
              <a:ext uri="{FF2B5EF4-FFF2-40B4-BE49-F238E27FC236}">
                <a16:creationId xmlns:a16="http://schemas.microsoft.com/office/drawing/2014/main" id="{F72C860F-3613-E98B-42C7-204BDA28A1F2}"/>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fr-FR" noProof="0" smtClean="0"/>
              <a:pPr/>
              <a:t>18</a:t>
            </a:fld>
            <a:endParaRPr lang="fr-FR" noProof="0"/>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fr-FR" noProof="0"/>
              <a:t>{{company_name}}</a:t>
            </a:r>
            <a:endParaRPr lang="fr-FR" b="0" noProof="0"/>
          </a:p>
          <a:p>
            <a:endParaRPr lang="fr-FR" noProof="0"/>
          </a:p>
        </p:txBody>
      </p:sp>
      <p:graphicFrame>
        <p:nvGraphicFramePr>
          <p:cNvPr id="11" name="Table 2">
            <a:extLst>
              <a:ext uri="{FF2B5EF4-FFF2-40B4-BE49-F238E27FC236}">
                <a16:creationId xmlns:a16="http://schemas.microsoft.com/office/drawing/2014/main" id="{A420AFF6-414E-4EC8-A668-F0BFECC8260A}"/>
              </a:ext>
            </a:extLst>
          </p:cNvPr>
          <p:cNvGraphicFramePr>
            <a:graphicFrameLocks noGrp="1"/>
          </p:cNvGraphicFramePr>
          <p:nvPr>
            <p:extLst>
              <p:ext uri="{D42A27DB-BD31-4B8C-83A1-F6EECF244321}">
                <p14:modId xmlns:p14="http://schemas.microsoft.com/office/powerpoint/2010/main" val="1075469184"/>
              </p:ext>
            </p:extLst>
          </p:nvPr>
        </p:nvGraphicFramePr>
        <p:xfrm>
          <a:off x="411480" y="1792933"/>
          <a:ext cx="6737040" cy="2504114"/>
        </p:xfrm>
        <a:graphic>
          <a:graphicData uri="http://schemas.openxmlformats.org/drawingml/2006/table">
            <a:tbl>
              <a:tblPr firstRow="1">
                <a:tableStyleId>{2A488322-F2BA-4B5B-9748-0D474271808F}</a:tableStyleId>
              </a:tblPr>
              <a:tblGrid>
                <a:gridCol w="4617489">
                  <a:extLst>
                    <a:ext uri="{9D8B030D-6E8A-4147-A177-3AD203B41FA5}">
                      <a16:colId xmlns:a16="http://schemas.microsoft.com/office/drawing/2014/main" val="1902117154"/>
                    </a:ext>
                  </a:extLst>
                </a:gridCol>
                <a:gridCol w="2119551">
                  <a:extLst>
                    <a:ext uri="{9D8B030D-6E8A-4147-A177-3AD203B41FA5}">
                      <a16:colId xmlns:a16="http://schemas.microsoft.com/office/drawing/2014/main" val="1904521774"/>
                    </a:ext>
                  </a:extLst>
                </a:gridCol>
              </a:tblGrid>
              <a:tr h="286516">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75" b="1" kern="1200" spc="-10" noProof="0">
                          <a:solidFill>
                            <a:schemeClr val="tx2"/>
                          </a:solidFill>
                          <a:latin typeface="+mn-lt"/>
                          <a:ea typeface="+mn-ea"/>
                          <a:cs typeface="+mn-cs"/>
                        </a:rPr>
                        <a:t xml:space="preserve">Chiffre d’affaires de certains secteurs</a:t>
                      </a:r>
                      <a:r>
                        <a:rPr lang="fr-FR" sz="975" b="0" kern="1200" spc="-10" noProof="0">
                          <a:solidFill>
                            <a:schemeClr val="tx2"/>
                          </a:solidFill>
                          <a:latin typeface="+mn-lt"/>
                          <a:ea typeface="+mn-ea"/>
                          <a:cs typeface="+mn-cs"/>
                        </a:rPr>
                        <a:t xml:space="preserve"> (par. 63 a-d)</a:t>
                      </a:r>
                    </a:p>
                    <a:p>
                      <a:pPr algn="l"/>
                      <a:endParaRPr lang="fr-FR" sz="975" b="0" kern="1200" spc="-10" noProof="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725" noProof="0">
                        <a:solidFill>
                          <a:schemeClr val="accent2"/>
                        </a:solidFill>
                        <a:latin typeface="+mn-lt"/>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1853461323"/>
                  </a:ext>
                </a:extLst>
              </a:tr>
              <a:tr h="286516">
                <a:tc>
                  <a:txBody>
                    <a:bodyPr/>
                    <a:lstStyle/>
                    <a:p>
                      <a:pPr algn="l"/>
                      <a:endParaRPr lang="fr-FR" sz="975" b="0" kern="1200" spc="-10" noProof="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buNone/>
                      </a:pPr>
                      <a:r>
                        <a:rPr lang="fr-FR" sz="975" b="1" i="0" u="none" strike="noStrike" noProof="0">
                          <a:solidFill>
                            <a:srgbClr val="1B4528"/>
                          </a:solidFill>
                          <a:effectLst/>
                          <a:latin typeface="IBM Plex Sans" panose="020B0503050203000203" pitchFamily="34" charset="0"/>
                        </a:rPr>
                        <a:t xml:space="preserve">Chiffre d’affaires de l’année </a:t>
                      </a:r>
                      <a:r>
                        <a:rPr lang="fr-FR" sz="975" b="1" i="0" u="none" strike="noStrike" noProof="0">
                          <a:solidFill>
                            <a:srgbClr val="2D55FF"/>
                          </a:solidFill>
                          <a:effectLst/>
                          <a:latin typeface="Inter"/>
                        </a:rPr>
                        <a:t>{{Insert year}}</a:t>
                      </a:r>
                      <a:endParaRPr lang="fr-FR" sz="975" noProof="0">
                        <a:effectLst/>
                      </a:endParaRPr>
                    </a:p>
                  </a:txBody>
                  <a:tcPr marL="31749" marR="31749" marT="21166" marB="2116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2680761105"/>
                  </a:ext>
                </a:extLst>
              </a:tr>
              <a:tr h="286516">
                <a:tc>
                  <a:txBody>
                    <a:bodyPr/>
                    <a:lstStyle/>
                    <a:p>
                      <a:pPr algn="l"/>
                      <a:r>
                        <a:rPr lang="fr-FR" sz="975" b="1" kern="1200" spc="-10" noProof="0">
                          <a:solidFill>
                            <a:schemeClr val="tx2"/>
                          </a:solidFill>
                          <a:latin typeface="+mn-lt"/>
                          <a:ea typeface="+mn-ea"/>
                          <a:cs typeface="+mn-cs"/>
                        </a:rPr>
                        <a:t xml:space="preserve">Armes controversées (mines antipersonnel, armes à sous-munitions, armes chimiques et biologiques)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ctr" rtl="0" fontAlgn="ctr">
                        <a:buNone/>
                      </a:pPr>
                      <a:r>
                        <a:rPr lang="fr-FR" sz="975" b="0" i="0" u="none" strike="noStrike" noProof="0">
                          <a:solidFill>
                            <a:srgbClr val="2D55FF"/>
                          </a:solidFill>
                          <a:effectLst/>
                          <a:latin typeface="Inter"/>
                        </a:rPr>
                        <a:t>{{revenue_weapons}}</a:t>
                      </a:r>
                      <a:endParaRPr lang="fr-FR"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286516">
                <a:tc>
                  <a:txBody>
                    <a:bodyPr/>
                    <a:lstStyle/>
                    <a:p>
                      <a:pPr algn="l"/>
                      <a:r>
                        <a:rPr lang="fr-FR" sz="975" b="1" kern="1200" spc="-10" noProof="0">
                          <a:solidFill>
                            <a:schemeClr val="tx2"/>
                          </a:solidFill>
                          <a:latin typeface="+mn-lt"/>
                          <a:ea typeface="+mn-ea"/>
                          <a:cs typeface="+mn-cs"/>
                        </a:rPr>
                        <a:t xml:space="preserve">Culture et/ou production de tabac</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ctr" rtl="0" fontAlgn="ctr">
                        <a:buNone/>
                      </a:pPr>
                      <a:r>
                        <a:rPr lang="fr-FR" sz="975" b="0" i="0" u="none" strike="noStrike" noProof="0">
                          <a:solidFill>
                            <a:srgbClr val="2D55FF"/>
                          </a:solidFill>
                          <a:effectLst/>
                          <a:latin typeface="Inter"/>
                        </a:rPr>
                        <a:t>{{revenue_cultivation}}</a:t>
                      </a:r>
                      <a:endParaRPr lang="fr-FR"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286516">
                <a:tc>
                  <a:txBody>
                    <a:bodyPr/>
                    <a:lstStyle/>
                    <a:p>
                      <a:pPr algn="l"/>
                      <a:r>
                        <a:rPr lang="fr-FR" sz="975" b="1" kern="1200" spc="-10" noProof="0">
                          <a:solidFill>
                            <a:schemeClr val="tx2"/>
                          </a:solidFill>
                          <a:latin typeface="+mn-lt"/>
                          <a:ea typeface="+mn-ea"/>
                          <a:cs typeface="+mn-cs"/>
                        </a:rPr>
                        <a:t xml:space="preserve">Combustibles fossiles : charbon</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ctr" rtl="0" fontAlgn="ctr">
                        <a:buNone/>
                      </a:pPr>
                      <a:r>
                        <a:rPr lang="fr-FR" sz="975" b="0" i="0" u="none" strike="noStrike" noProof="0">
                          <a:solidFill>
                            <a:srgbClr val="2D55FF"/>
                          </a:solidFill>
                          <a:effectLst/>
                          <a:latin typeface="Inter"/>
                        </a:rPr>
                        <a:t>{{revenue_coal}}</a:t>
                      </a:r>
                      <a:endParaRPr lang="fr-FR"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442156864"/>
                  </a:ext>
                </a:extLst>
              </a:tr>
              <a:tr h="286516">
                <a:tc>
                  <a:txBody>
                    <a:bodyPr/>
                    <a:lstStyle/>
                    <a:p>
                      <a:pPr algn="l"/>
                      <a:r>
                        <a:rPr lang="fr-FR" sz="975" b="1" kern="1200" spc="-10" noProof="0">
                          <a:solidFill>
                            <a:schemeClr val="tx2"/>
                          </a:solidFill>
                          <a:latin typeface="+mn-lt"/>
                          <a:ea typeface="+mn-ea"/>
                          <a:cs typeface="+mn-cs"/>
                        </a:rPr>
                        <a:t xml:space="preserve">Combustibles fossiles : pétrole</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ctr" rtl="0" fontAlgn="ctr">
                        <a:buNone/>
                      </a:pPr>
                      <a:r>
                        <a:rPr lang="fr-FR" sz="975" b="0" i="0" u="none" strike="noStrike" noProof="0">
                          <a:solidFill>
                            <a:srgbClr val="2D55FF"/>
                          </a:solidFill>
                          <a:effectLst/>
                          <a:latin typeface="Inter"/>
                        </a:rPr>
                        <a:t>{{revenue_oil}}</a:t>
                      </a:r>
                      <a:endParaRPr lang="fr-FR"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197746340"/>
                  </a:ext>
                </a:extLst>
              </a:tr>
              <a:tr h="286516">
                <a:tc>
                  <a:txBody>
                    <a:bodyPr/>
                    <a:lstStyle/>
                    <a:p>
                      <a:pPr algn="l"/>
                      <a:r>
                        <a:rPr lang="fr-FR" sz="975" b="1" kern="1200" spc="-10" noProof="0">
                          <a:solidFill>
                            <a:schemeClr val="tx2"/>
                          </a:solidFill>
                          <a:latin typeface="+mn-lt"/>
                          <a:ea typeface="+mn-ea"/>
                          <a:cs typeface="+mn-cs"/>
                        </a:rPr>
                        <a:t xml:space="preserve">Combustibles fossiles : gaz/gaz naturel</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ctr" rtl="0" fontAlgn="ctr">
                        <a:buNone/>
                      </a:pPr>
                      <a:r>
                        <a:rPr lang="fr-FR" sz="975" b="0" i="0" u="none" strike="noStrike" noProof="0">
                          <a:solidFill>
                            <a:srgbClr val="2D55FF"/>
                          </a:solidFill>
                          <a:effectLst/>
                          <a:latin typeface="Inter"/>
                        </a:rPr>
                        <a:t>{{revenue_gas}}</a:t>
                      </a:r>
                      <a:endParaRPr lang="fr-FR"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2359221"/>
                  </a:ext>
                </a:extLst>
              </a:tr>
              <a:tr h="286516">
                <a:tc>
                  <a:txBody>
                    <a:bodyPr/>
                    <a:lstStyle/>
                    <a:p>
                      <a:pPr algn="l"/>
                      <a:r>
                        <a:rPr lang="fr-FR" sz="975" b="1" kern="1200" spc="-10" noProof="0">
                          <a:solidFill>
                            <a:schemeClr val="tx2"/>
                          </a:solidFill>
                          <a:latin typeface="+mn-lt"/>
                          <a:ea typeface="+mn-ea"/>
                          <a:cs typeface="+mn-cs"/>
                        </a:rPr>
                        <a:t xml:space="preserve">Production de produits chimiques destinés aux pesticides et autres produits agrochimiques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ctr" rtl="0" fontAlgn="ctr">
                        <a:buNone/>
                      </a:pPr>
                      <a:r>
                        <a:rPr lang="fr-FR" sz="975" b="0" i="0" u="none" strike="noStrike" noProof="0">
                          <a:solidFill>
                            <a:srgbClr val="2D55FF"/>
                          </a:solidFill>
                          <a:effectLst/>
                          <a:latin typeface="Inter"/>
                        </a:rPr>
                        <a:t>{{revenue_chemichal}}</a:t>
                      </a:r>
                      <a:endParaRPr lang="fr-FR"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84094391"/>
                  </a:ext>
                </a:extLst>
              </a:tr>
            </a:tbl>
          </a:graphicData>
        </a:graphic>
      </p:graphicFrame>
      <p:sp>
        <p:nvSpPr>
          <p:cNvPr id="9" name="Tekstfelt 8">
            <a:extLst>
              <a:ext uri="{FF2B5EF4-FFF2-40B4-BE49-F238E27FC236}">
                <a16:creationId xmlns:a16="http://schemas.microsoft.com/office/drawing/2014/main" id="{919C8F24-DB64-A6E9-713A-0D402DE90CB8}"/>
              </a:ext>
            </a:extLst>
          </p:cNvPr>
          <p:cNvSpPr txBox="1"/>
          <p:nvPr/>
        </p:nvSpPr>
        <p:spPr>
          <a:xfrm>
            <a:off x="411480" y="1266643"/>
            <a:ext cx="6737040" cy="230823"/>
          </a:xfrm>
          <a:prstGeom prst="rect">
            <a:avLst/>
          </a:prstGeom>
          <a:noFill/>
        </p:spPr>
        <p:txBody>
          <a:bodyPr wrap="square">
            <a:spAutoFit/>
          </a:bodyPr>
          <a:lstStyle/>
          <a:p>
            <a:pPr rtl="0">
              <a:buNone/>
            </a:pPr>
            <a:r>
              <a:rPr lang="fr-FR" sz="975" noProof="0">
                <a:solidFill>
                  <a:schemeClr val="tx2"/>
                </a:solidFill>
                <a:latin typeface="Inter"/>
              </a:rPr>
              <a:t xml:space="preserve">L</a:t>
            </a:r>
            <a:r>
              <a:rPr lang="fr-FR" sz="975" b="0" i="0" u="none" strike="noStrike" noProof="0">
                <a:solidFill>
                  <a:schemeClr val="tx2"/>
                </a:solidFill>
                <a:effectLst/>
                <a:latin typeface="Inter"/>
              </a:rPr>
              <a:t xml:space="preserve">’entreprise a indiqué le chiffre d’affaires de certains secteurs et les montants de ces activités.</a:t>
            </a:r>
            <a:endParaRPr lang="fr-FR" noProof="0">
              <a:solidFill>
                <a:schemeClr val="tx2"/>
              </a:solidFill>
            </a:endParaRPr>
          </a:p>
        </p:txBody>
      </p:sp>
      <p:sp>
        <p:nvSpPr>
          <p:cNvPr id="12" name="Title 3">
            <a:extLst>
              <a:ext uri="{FF2B5EF4-FFF2-40B4-BE49-F238E27FC236}">
                <a16:creationId xmlns:a16="http://schemas.microsoft.com/office/drawing/2014/main" id="{36344292-9D49-4ECA-2BB5-0243CF820322}"/>
              </a:ext>
            </a:extLst>
          </p:cNvPr>
          <p:cNvSpPr txBox="1">
            <a:spLocks/>
          </p:cNvSpPr>
          <p:nvPr/>
        </p:nvSpPr>
        <p:spPr>
          <a:xfrm>
            <a:off x="411480" y="4686387"/>
            <a:ext cx="6737040" cy="207741"/>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475" b="1" kern="1200" spc="-10" baseline="0">
                <a:solidFill>
                  <a:schemeClr val="tx2"/>
                </a:solidFill>
                <a:latin typeface="+mj-lt"/>
                <a:ea typeface="+mj-ea"/>
                <a:cs typeface="+mj-cs"/>
              </a:defRPr>
            </a:lvl1pPr>
          </a:lstStyle>
          <a:p>
            <a:r>
              <a:rPr lang="fr-FR" noProof="0">
                <a:solidFill>
                  <a:srgbClr val="1B4528"/>
                </a:solidFill>
              </a:rPr>
              <a:t xml:space="preserve">Ratio de mixité au sein de l’organe de gouvernance (C9)</a:t>
            </a:r>
            <a:endParaRPr lang="fr-FR" noProof="0"/>
          </a:p>
        </p:txBody>
      </p:sp>
      <p:graphicFrame>
        <p:nvGraphicFramePr>
          <p:cNvPr id="13" name="Table 7">
            <a:extLst>
              <a:ext uri="{FF2B5EF4-FFF2-40B4-BE49-F238E27FC236}">
                <a16:creationId xmlns:a16="http://schemas.microsoft.com/office/drawing/2014/main" id="{5010B50D-163D-69DE-999C-3BC9FA39E2D0}"/>
              </a:ext>
            </a:extLst>
          </p:cNvPr>
          <p:cNvGraphicFramePr>
            <a:graphicFrameLocks noGrp="1"/>
          </p:cNvGraphicFramePr>
          <p:nvPr>
            <p:extLst>
              <p:ext uri="{D42A27DB-BD31-4B8C-83A1-F6EECF244321}">
                <p14:modId xmlns:p14="http://schemas.microsoft.com/office/powerpoint/2010/main" val="2206177221"/>
              </p:ext>
            </p:extLst>
          </p:nvPr>
        </p:nvGraphicFramePr>
        <p:xfrm>
          <a:off x="411480" y="5679204"/>
          <a:ext cx="6737040" cy="479980"/>
        </p:xfrm>
        <a:graphic>
          <a:graphicData uri="http://schemas.openxmlformats.org/drawingml/2006/table">
            <a:tbl>
              <a:tblPr firstRow="1">
                <a:tableStyleId>{2A488322-F2BA-4B5B-9748-0D474271808F}</a:tableStyleId>
              </a:tblPr>
              <a:tblGrid>
                <a:gridCol w="4648693">
                  <a:extLst>
                    <a:ext uri="{9D8B030D-6E8A-4147-A177-3AD203B41FA5}">
                      <a16:colId xmlns:a16="http://schemas.microsoft.com/office/drawing/2014/main" val="2698153288"/>
                    </a:ext>
                  </a:extLst>
                </a:gridCol>
                <a:gridCol w="2088347">
                  <a:extLst>
                    <a:ext uri="{9D8B030D-6E8A-4147-A177-3AD203B41FA5}">
                      <a16:colId xmlns:a16="http://schemas.microsoft.com/office/drawing/2014/main" val="2119413191"/>
                    </a:ext>
                  </a:extLst>
                </a:gridCol>
              </a:tblGrid>
              <a:tr h="239990">
                <a:tc rowSpan="2">
                  <a:txBody>
                    <a:bodyPr/>
                    <a:lstStyle/>
                    <a:p>
                      <a:r>
                        <a:rPr lang="fr-FR" sz="975" b="1" kern="1200" spc="-10" noProof="0">
                          <a:solidFill>
                            <a:schemeClr val="tx2"/>
                          </a:solidFill>
                          <a:latin typeface="+mj-lt"/>
                          <a:ea typeface="+mn-ea"/>
                          <a:cs typeface="+mn-cs"/>
                        </a:rPr>
                        <a:t xml:space="preserve">Ratio de femmes par rapport aux hommes au sein de l’organe de gouvernance (</a:t>
                      </a:r>
                      <a:r>
                        <a:rPr lang="fr-FR" sz="975" b="0" kern="1200" spc="-10" noProof="0">
                          <a:solidFill>
                            <a:schemeClr val="tx2"/>
                          </a:solidFill>
                          <a:latin typeface="+mj-lt"/>
                          <a:ea typeface="+mn-ea"/>
                          <a:cs typeface="+mn-cs"/>
                        </a:rPr>
                        <a:t xml:space="preserve">par. 64</a:t>
                      </a:r>
                      <a:r>
                        <a:rPr lang="fr-FR" sz="975" b="1" kern="1200" spc="-10" noProof="0">
                          <a:solidFill>
                            <a:schemeClr val="tx2"/>
                          </a:solidFill>
                          <a:latin typeface="+mj-lt"/>
                          <a:ea typeface="+mn-ea"/>
                          <a:cs typeface="+mn-cs"/>
                        </a:rPr>
                        <a:t>)</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r>
                        <a:rPr lang="fr-FR" sz="975" b="1" noProof="0">
                          <a:solidFill>
                            <a:schemeClr val="tx2"/>
                          </a:solidFill>
                        </a:rPr>
                        <a:t xml:space="preserve">Année </a:t>
                      </a:r>
                      <a:r>
                        <a:rPr lang="fr-FR" sz="975" b="1" i="0" u="none" strike="noStrike" noProof="0">
                          <a:solidFill>
                            <a:srgbClr val="2D55FF"/>
                          </a:solidFill>
                          <a:effectLst/>
                          <a:latin typeface="Inter"/>
                        </a:rPr>
                        <a:t>{{Insert year}}</a:t>
                      </a:r>
                      <a:endParaRPr lang="fr-FR" sz="975" b="1" noProof="0">
                        <a:solidFill>
                          <a:schemeClr val="tx2"/>
                        </a:solidFill>
                      </a:endParaRP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39990">
                <a:tc vMerge="1">
                  <a:txBody>
                    <a:bodyPr/>
                    <a:lstStyle/>
                    <a:p>
                      <a:endParaRPr lang="fr-FR" sz="725" b="0" noProof="0">
                        <a:solidFill>
                          <a:schemeClr val="tx2"/>
                        </a:solidFill>
                      </a:endParaRP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fr-FR" sz="975" b="0" noProof="0">
                          <a:solidFill>
                            <a:schemeClr val="accent2"/>
                          </a:solidFill>
                        </a:rPr>
                        <a:t>{{</a:t>
                      </a:r>
                      <a:r>
                        <a:rPr lang="fr-FR" sz="975" b="0" i="0" u="none" strike="noStrike" noProof="0">
                          <a:solidFill>
                            <a:schemeClr val="accent2"/>
                          </a:solidFill>
                          <a:latin typeface="IBM Plex Sans"/>
                        </a:rPr>
                        <a:t>gender_supreme_body</a:t>
                      </a:r>
                      <a:r>
                        <a:rPr lang="fr-FR" sz="975" b="0" noProof="0">
                          <a:solidFill>
                            <a:schemeClr val="accent2"/>
                          </a:solidFill>
                        </a:rPr>
                        <a:t>}}</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bl>
          </a:graphicData>
        </a:graphic>
      </p:graphicFrame>
      <p:sp>
        <p:nvSpPr>
          <p:cNvPr id="19" name="Tekstfelt 18">
            <a:extLst>
              <a:ext uri="{FF2B5EF4-FFF2-40B4-BE49-F238E27FC236}">
                <a16:creationId xmlns:a16="http://schemas.microsoft.com/office/drawing/2014/main" id="{299A6B5A-11F5-BD48-FC7A-B6A967C62C71}"/>
              </a:ext>
            </a:extLst>
          </p:cNvPr>
          <p:cNvSpPr txBox="1"/>
          <p:nvPr/>
        </p:nvSpPr>
        <p:spPr>
          <a:xfrm>
            <a:off x="411480" y="2493514"/>
            <a:ext cx="6737040" cy="307764"/>
          </a:xfrm>
          <a:prstGeom prst="rect">
            <a:avLst/>
          </a:prstGeom>
          <a:noFill/>
        </p:spPr>
        <p:txBody>
          <a:bodyPr wrap="square">
            <a:spAutoFit/>
          </a:bodyPr>
          <a:lstStyle/>
          <a:p>
            <a:r>
              <a:rPr lang="fr-FR" b="0" noProof="0">
                <a:effectLst/>
              </a:rPr>
              <a:t> </a:t>
            </a:r>
            <a:endParaRPr lang="fr-FR" noProof="0"/>
          </a:p>
        </p:txBody>
      </p:sp>
      <p:sp>
        <p:nvSpPr>
          <p:cNvPr id="22" name="Tekstfelt 21">
            <a:extLst>
              <a:ext uri="{FF2B5EF4-FFF2-40B4-BE49-F238E27FC236}">
                <a16:creationId xmlns:a16="http://schemas.microsoft.com/office/drawing/2014/main" id="{3F21186B-0691-91C9-5FC9-0771DBEFE852}"/>
              </a:ext>
            </a:extLst>
          </p:cNvPr>
          <p:cNvSpPr txBox="1"/>
          <p:nvPr/>
        </p:nvSpPr>
        <p:spPr>
          <a:xfrm>
            <a:off x="411480" y="5139662"/>
            <a:ext cx="6737040" cy="230823"/>
          </a:xfrm>
          <a:prstGeom prst="rect">
            <a:avLst/>
          </a:prstGeom>
          <a:noFill/>
        </p:spPr>
        <p:txBody>
          <a:bodyPr wrap="square">
            <a:spAutoFit/>
          </a:bodyPr>
          <a:lstStyle/>
          <a:p>
            <a:pPr rtl="0">
              <a:buNone/>
            </a:pPr>
            <a:r>
              <a:rPr lang="fr-FR" sz="975" noProof="0">
                <a:solidFill>
                  <a:schemeClr val="tx2"/>
                </a:solidFill>
                <a:latin typeface="Inter"/>
              </a:rPr>
              <a:t xml:space="preserve">L</a:t>
            </a:r>
            <a:r>
              <a:rPr lang="fr-FR" sz="975" b="0" i="0" u="none" strike="noStrike" noProof="0">
                <a:solidFill>
                  <a:schemeClr val="tx2"/>
                </a:solidFill>
                <a:effectLst/>
                <a:latin typeface="Inter"/>
              </a:rPr>
              <a:t xml:space="preserve">’entreprise a indiqué le ratio de femmes par rapport aux hommes au sein de l’organe de gouvernance.</a:t>
            </a:r>
          </a:p>
        </p:txBody>
      </p:sp>
    </p:spTree>
    <p:extLst>
      <p:ext uri="{BB962C8B-B14F-4D97-AF65-F5344CB8AC3E}">
        <p14:creationId xmlns:p14="http://schemas.microsoft.com/office/powerpoint/2010/main" val="3739817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ladsholder til indhold 2">
            <a:extLst>
              <a:ext uri="{FF2B5EF4-FFF2-40B4-BE49-F238E27FC236}">
                <a16:creationId xmlns:a16="http://schemas.microsoft.com/office/drawing/2014/main" id="{237B3177-8AE4-2BCB-D392-E3B969EBBB7B}"/>
              </a:ext>
            </a:extLst>
          </p:cNvPr>
          <p:cNvSpPr>
            <a:spLocks noGrp="1"/>
          </p:cNvSpPr>
          <p:nvPr>
            <p:ph idx="1"/>
          </p:nvPr>
        </p:nvSpPr>
        <p:spPr>
          <a:xfrm>
            <a:off x="411480" y="6007478"/>
            <a:ext cx="6737040" cy="861898"/>
          </a:xfrm>
          <a:noFill/>
        </p:spPr>
        <p:txBody>
          <a:bodyPr>
            <a:normAutofit/>
          </a:bodyPr>
          <a:lstStyle/>
          <a:p>
            <a:pPr algn="ctr"/>
            <a:r>
              <a:rPr lang="fr-FR" sz="1475" b="1" noProof="0">
                <a:solidFill>
                  <a:srgbClr val="FFFFFF"/>
                </a:solidFill>
                <a:latin typeface="IBM Plex Sans" panose="020B0503050203000203" pitchFamily="34" charset="0"/>
              </a:rPr>
              <a:t>{{company_name}}</a:t>
            </a:r>
          </a:p>
          <a:p>
            <a:pPr algn="ctr"/>
            <a:r>
              <a:rPr lang="fr-FR" sz="1475" b="1" noProof="0">
                <a:solidFill>
                  <a:srgbClr val="FFFFFF"/>
                </a:solidFill>
                <a:latin typeface="IBM Plex Sans" panose="020B0503050203000203" pitchFamily="34" charset="0"/>
              </a:rPr>
              <a:t>{{insert_year}}</a:t>
            </a:r>
            <a:br>
              <a:rPr lang="fr-FR" sz="1475" b="1" noProof="0">
                <a:solidFill>
                  <a:srgbClr val="FFFFFF"/>
                </a:solidFill>
                <a:latin typeface="IBM Plex Sans" panose="020B0503050203000203" pitchFamily="34" charset="0"/>
              </a:rPr>
            </a:br>
            <a:endParaRPr lang="fr-FR" sz="1475" noProof="0"/>
          </a:p>
        </p:txBody>
      </p:sp>
      <p:sp>
        <p:nvSpPr>
          <p:cNvPr id="4" name="Pladsholder til slidenummer 3">
            <a:extLst>
              <a:ext uri="{FF2B5EF4-FFF2-40B4-BE49-F238E27FC236}">
                <a16:creationId xmlns:a16="http://schemas.microsoft.com/office/drawing/2014/main" id="{48F46A40-E7BB-3909-2FA6-1A954E10A816}"/>
              </a:ext>
            </a:extLst>
          </p:cNvPr>
          <p:cNvSpPr>
            <a:spLocks noGrp="1"/>
          </p:cNvSpPr>
          <p:nvPr>
            <p:ph type="sldNum" sz="quarter" idx="16"/>
          </p:nvPr>
        </p:nvSpPr>
        <p:spPr>
          <a:xfrm>
            <a:off x="411480" y="10152285"/>
            <a:ext cx="6737040" cy="128235"/>
          </a:xfrm>
        </p:spPr>
        <p:txBody>
          <a:bodyPr/>
          <a:lstStyle/>
          <a:p>
            <a:fld id="{5A0D23CF-C5A3-5445-819D-C647D180BB4B}" type="slidenum">
              <a:rPr lang="fr-FR" noProof="0" smtClean="0"/>
              <a:pPr/>
              <a:t>19</a:t>
            </a:fld>
            <a:endParaRPr lang="fr-FR" noProof="0"/>
          </a:p>
        </p:txBody>
      </p:sp>
    </p:spTree>
    <p:extLst>
      <p:ext uri="{BB962C8B-B14F-4D97-AF65-F5344CB8AC3E}">
        <p14:creationId xmlns:p14="http://schemas.microsoft.com/office/powerpoint/2010/main" val="3140708205"/>
      </p:ext>
    </p:extLst>
  </p:cSld>
  <p:clrMapOvr>
    <a:masterClrMapping/>
  </p:clrMapOvr>
</p:sld>
</file>

<file path=ppt/theme/theme1.xml><?xml version="1.0" encoding="utf-8"?>
<a:theme xmlns:a="http://schemas.openxmlformats.org/drawingml/2006/main" name="Tema ESG skabelon 2023">
  <a:themeElements>
    <a:clrScheme name="Custom 63">
      <a:dk1>
        <a:srgbClr val="000000"/>
      </a:dk1>
      <a:lt1>
        <a:srgbClr val="FFFFFF"/>
      </a:lt1>
      <a:dk2>
        <a:srgbClr val="1B4528"/>
      </a:dk2>
      <a:lt2>
        <a:srgbClr val="D1DAD4"/>
      </a:lt2>
      <a:accent1>
        <a:srgbClr val="1B4528"/>
      </a:accent1>
      <a:accent2>
        <a:srgbClr val="2D55FF"/>
      </a:accent2>
      <a:accent3>
        <a:srgbClr val="FCFC95"/>
      </a:accent3>
      <a:accent4>
        <a:srgbClr val="5F7D69"/>
      </a:accent4>
      <a:accent5>
        <a:srgbClr val="8DA294"/>
      </a:accent5>
      <a:accent6>
        <a:srgbClr val="BBC7BF"/>
      </a:accent6>
      <a:hlink>
        <a:srgbClr val="00A65A"/>
      </a:hlink>
      <a:folHlink>
        <a:srgbClr val="A6A6A6"/>
      </a:folHlink>
    </a:clrScheme>
    <a:fontScheme name="Custom 19">
      <a:majorFont>
        <a:latin typeface="IBM Plex Sans"/>
        <a:ea typeface=""/>
        <a:cs typeface=""/>
      </a:majorFont>
      <a:minorFont>
        <a:latin typeface="IBM Plex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5F7D69"/>
        </a:solidFill>
        <a:ln>
          <a:noFill/>
        </a:ln>
      </a:spPr>
      <a:bodyPr lIns="126000" tIns="108000" rIns="108000" bIns="144000" rtlCol="0" anchor="t" anchorCtr="0"/>
      <a:lstStyle>
        <a:defPPr algn="l">
          <a:lnSpc>
            <a:spcPct val="106000"/>
          </a:lnSpc>
          <a:defRPr sz="900" spc="-10" dirty="0"/>
        </a:defPPr>
      </a:lstStyle>
      <a:style>
        <a:lnRef idx="2">
          <a:schemeClr val="accent1">
            <a:shade val="15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lnSpc>
            <a:spcPct val="120000"/>
          </a:lnSpc>
          <a:defRPr sz="900" spc="-10" dirty="0" smtClean="0">
            <a:solidFill>
              <a:schemeClr val="bg1"/>
            </a:solidFill>
          </a:defRPr>
        </a:defPPr>
      </a:lstStyle>
    </a:txDef>
  </a:objectDefaults>
  <a:extraClrSchemeLst/>
  <a:custClrLst>
    <a:custClr name="Grøn 100%">
      <a:srgbClr val="1B4529"/>
    </a:custClr>
    <a:custClr name="Grøn 90%">
      <a:srgbClr val="32583E"/>
    </a:custClr>
    <a:custClr name="Grøn 80%">
      <a:srgbClr val="496A54"/>
    </a:custClr>
    <a:custClr name="Grøn 70%">
      <a:srgbClr val="5F7D69"/>
    </a:custClr>
    <a:custClr name="Grøn 60%">
      <a:srgbClr val="768F7F"/>
    </a:custClr>
    <a:custClr name="Grøn 50%">
      <a:srgbClr val="8DA294"/>
    </a:custClr>
    <a:custClr name="Grøn 40%">
      <a:srgbClr val="A4B5A9"/>
    </a:custClr>
    <a:custClr name="Grøn 30%">
      <a:srgbClr val="BBC7BF"/>
    </a:custClr>
    <a:custClr name="Grøn 20%">
      <a:srgbClr val="D1DAD4"/>
    </a:custClr>
    <a:custClr name="Grøn 10%">
      <a:srgbClr val="E8ECEA"/>
    </a:custClr>
  </a:custClrLst>
  <a:extLst>
    <a:ext uri="{05A4C25C-085E-4340-85A3-A5531E510DB2}">
      <thm15:themeFamily xmlns:thm15="http://schemas.microsoft.com/office/thememl/2012/main" name="Tema ESG skabelon 2023" id="{4F616B44-E23C-9D4B-A414-B698B6CB0592}" vid="{C1CEAE3D-34EF-BE45-B60E-4DC3BCA22C44}"/>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43a5b9ff-ef68-4e08-86c8-07b185fdc818" xsi:nil="true"/>
    <indhold xmlns="a1c42b88-5e29-4fe4-8139-416e072a19cb" xsi:nil="true"/>
    <lcf76f155ced4ddcb4097134ff3c332f xmlns="a1c42b88-5e29-4fe4-8139-416e072a19cb">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kument" ma:contentTypeID="0x0101004C5C98558ED72C4BBCB756F8247CFA4C" ma:contentTypeVersion="18" ma:contentTypeDescription="Opret et nyt dokument." ma:contentTypeScope="" ma:versionID="05a2f073985d4662672e64bc9a421606">
  <xsd:schema xmlns:xsd="http://www.w3.org/2001/XMLSchema" xmlns:xs="http://www.w3.org/2001/XMLSchema" xmlns:p="http://schemas.microsoft.com/office/2006/metadata/properties" xmlns:ns2="a1c42b88-5e29-4fe4-8139-416e072a19cb" xmlns:ns3="202ccbda-223a-4645-9097-be5f8cdf3aa6" xmlns:ns4="43a5b9ff-ef68-4e08-86c8-07b185fdc818" targetNamespace="http://schemas.microsoft.com/office/2006/metadata/properties" ma:root="true" ma:fieldsID="50f1595d426bd689bc07261444f354ae" ns2:_="" ns3:_="" ns4:_="">
    <xsd:import namespace="a1c42b88-5e29-4fe4-8139-416e072a19cb"/>
    <xsd:import namespace="202ccbda-223a-4645-9097-be5f8cdf3aa6"/>
    <xsd:import namespace="43a5b9ff-ef68-4e08-86c8-07b185fdc818"/>
    <xsd:element name="properties">
      <xsd:complexType>
        <xsd:sequence>
          <xsd:element name="documentManagement">
            <xsd:complexType>
              <xsd:all>
                <xsd:element ref="ns2:MediaServiceMetadata" minOccurs="0"/>
                <xsd:element ref="ns2:MediaServiceFastMetadata" minOccurs="0"/>
                <xsd:element ref="ns2:MediaLengthInSeconds" minOccurs="0"/>
                <xsd:element ref="ns3:SharedWithUsers" minOccurs="0"/>
                <xsd:element ref="ns3:SharedWithDetails" minOccurs="0"/>
                <xsd:element ref="ns2:MediaServiceAutoKeyPoints" minOccurs="0"/>
                <xsd:element ref="ns2:MediaServiceKeyPoints" minOccurs="0"/>
                <xsd:element ref="ns2:MediaServiceDateTaken" minOccurs="0"/>
                <xsd:element ref="ns2:lcf76f155ced4ddcb4097134ff3c332f" minOccurs="0"/>
                <xsd:element ref="ns4:TaxCatchAll" minOccurs="0"/>
                <xsd:element ref="ns2:MediaServiceGenerationTime" minOccurs="0"/>
                <xsd:element ref="ns2:MediaServiceEventHashCode" minOccurs="0"/>
                <xsd:element ref="ns2:MediaServiceOCR" minOccurs="0"/>
                <xsd:element ref="ns2:indhold" minOccurs="0"/>
                <xsd:element ref="ns2:MediaServiceObjectDetectorVersions" minOccurs="0"/>
                <xsd:element ref="ns2:MediaServiceSearchPropertie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1c42b88-5e29-4fe4-8139-416e072a19c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LengthInSeconds" ma:index="10" nillable="true" ma:displayName="Length (seconds)" ma:internalName="MediaLengthInSeconds" ma:readOnly="true">
      <xsd:simpleType>
        <xsd:restriction base="dms:Unknown"/>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lcf76f155ced4ddcb4097134ff3c332f" ma:index="17" nillable="true" ma:taxonomy="true" ma:internalName="lcf76f155ced4ddcb4097134ff3c332f" ma:taxonomyFieldName="MediaServiceImageTags" ma:displayName="Billedmærker" ma:readOnly="false" ma:fieldId="{5cf76f15-5ced-4ddc-b409-7134ff3c332f}" ma:taxonomyMulti="true" ma:sspId="5bc8fd69-a729-4468-93ff-8d64956d1ba4" ma:termSetId="09814cd3-568e-fe90-9814-8d621ff8fb84" ma:anchorId="fba54fb3-c3e1-fe81-a776-ca4b69148c4d" ma:open="true" ma:isKeyword="false">
      <xsd:complexType>
        <xsd:sequence>
          <xsd:element ref="pc:Terms" minOccurs="0" maxOccurs="1"/>
        </xsd:sequence>
      </xsd:complex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OCR" ma:index="21" nillable="true" ma:displayName="Extracted Text" ma:internalName="MediaServiceOCR" ma:readOnly="true">
      <xsd:simpleType>
        <xsd:restriction base="dms:Note">
          <xsd:maxLength value="255"/>
        </xsd:restriction>
      </xsd:simpleType>
    </xsd:element>
    <xsd:element name="indhold" ma:index="22" nillable="true" ma:displayName="indhold" ma:format="Dropdown" ma:internalName="indhold">
      <xsd:simpleType>
        <xsd:restriction base="dms:Text">
          <xsd:maxLength value="255"/>
        </xsd:restriction>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Location" ma:index="25"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02ccbda-223a-4645-9097-be5f8cdf3aa6" elementFormDefault="qualified">
    <xsd:import namespace="http://schemas.microsoft.com/office/2006/documentManagement/types"/>
    <xsd:import namespace="http://schemas.microsoft.com/office/infopath/2007/PartnerControls"/>
    <xsd:element name="SharedWithUsers" ma:index="11" nillable="true" ma:displayName="Delt med"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Delt med detaljer"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3a5b9ff-ef68-4e08-86c8-07b185fdc818"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1a2a80f0-0fad-4372-b264-33bf0361a80c}" ma:internalName="TaxCatchAll" ma:showField="CatchAllData" ma:web="202ccbda-223a-4645-9097-be5f8cdf3aa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dhol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2C55C2-A88D-45C1-99A2-B6C1D18AED07}">
  <ds:schemaRefs>
    <ds:schemaRef ds:uri="43a5b9ff-ef68-4e08-86c8-07b185fdc818"/>
    <ds:schemaRef ds:uri="a1c42b88-5e29-4fe4-8139-416e072a19cb"/>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2C3C50CC-B1F2-4B3E-8326-2BA1B8993967}">
  <ds:schemaRefs>
    <ds:schemaRef ds:uri="202ccbda-223a-4645-9097-be5f8cdf3aa6"/>
    <ds:schemaRef ds:uri="43a5b9ff-ef68-4e08-86c8-07b185fdc818"/>
    <ds:schemaRef ds:uri="a1c42b88-5e29-4fe4-8139-416e072a19c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C7C2DE4E-10FC-4FD7-BA3A-6232093B728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0</TotalTime>
  <Words>4975</Words>
  <Application>Microsoft Office PowerPoint</Application>
  <PresentationFormat>Brugerdefineret</PresentationFormat>
  <Paragraphs>637</Paragraphs>
  <Slides>19</Slides>
  <Notes>16</Notes>
  <HiddenSlides>0</HiddenSlides>
  <MMClips>0</MMClips>
  <ScaleCrop>false</ScaleCrop>
  <HeadingPairs>
    <vt:vector size="6" baseType="variant">
      <vt:variant>
        <vt:lpstr>Benyttede skrifttyper</vt:lpstr>
      </vt:variant>
      <vt:variant>
        <vt:i4>4</vt:i4>
      </vt:variant>
      <vt:variant>
        <vt:lpstr>Tema</vt:lpstr>
      </vt:variant>
      <vt:variant>
        <vt:i4>1</vt:i4>
      </vt:variant>
      <vt:variant>
        <vt:lpstr>Slidetitler</vt:lpstr>
      </vt:variant>
      <vt:variant>
        <vt:i4>19</vt:i4>
      </vt:variant>
    </vt:vector>
  </HeadingPairs>
  <TitlesOfParts>
    <vt:vector size="24" baseType="lpstr">
      <vt:lpstr>Arial</vt:lpstr>
      <vt:lpstr>Calibri</vt:lpstr>
      <vt:lpstr>IBM Plex Sans</vt:lpstr>
      <vt:lpstr>Inter</vt:lpstr>
      <vt:lpstr>Tema ESG skabelon 2023</vt:lpstr>
      <vt:lpstr>ESG REPORT {{insert_year}}</vt:lpstr>
      <vt:lpstr>ESG report  </vt:lpstr>
      <vt:lpstr>Basis for preparation (B1) </vt:lpstr>
      <vt:lpstr>Practices, policies and future initiatives for transitioning towards a more sustainable economy (B2)</vt:lpstr>
      <vt:lpstr>Energy consumption (B3)</vt:lpstr>
      <vt:lpstr>Pollution of air, water and soil (B4)</vt:lpstr>
      <vt:lpstr>Resource use, circular economy and waste management (B7) – continued</vt:lpstr>
      <vt:lpstr>Own workforce: General characteristics (B8) </vt:lpstr>
      <vt:lpstr>Business conduct: Number of convictions and fines related to corruption &amp; bribery (B11) </vt:lpstr>
      <vt:lpstr>PowerPoint-præsentation</vt:lpstr>
      <vt:lpstr>Strategy: Business model and sustainability-related initiatives (C1)</vt:lpstr>
      <vt:lpstr>Practices, policies and future initiatives for transitioning towards a more sustainable economy (C2)</vt:lpstr>
      <vt:lpstr>CO₂e emissions under B3 in the Basic Module</vt:lpstr>
      <vt:lpstr>Climate risks (C4)</vt:lpstr>
      <vt:lpstr>Climate risks (C4) - continued</vt:lpstr>
      <vt:lpstr>Additional (general) workforce characteristics (C5)</vt:lpstr>
      <vt:lpstr>Severe negative human rights incidents (C7) – Own workforce</vt:lpstr>
      <vt:lpstr>Revenues from certain activities (C8)</vt:lpstr>
      <vt:lpstr>PowerPoint-præsentation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Amanda Simonsen</dc:creator>
  <cp:lastModifiedBy>Amanda Simonsen</cp:lastModifiedBy>
  <cp:revision>28</cp:revision>
  <dcterms:created xsi:type="dcterms:W3CDTF">2025-02-28T18:51:17Z</dcterms:created>
  <dcterms:modified xsi:type="dcterms:W3CDTF">2026-08-12T20:10:01Z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0x0101004C5C98558ED72C4BBCB756F8247CFA4C</vt:lpwstr>
  </property>
  <property fmtid="{D5CDD505-2E9C-101B-9397-08002B2CF9AE}" pid="3" name="MediaServiceImageTags">
    <vt:lpwstr/>
  </property>
</Properties>
</file>