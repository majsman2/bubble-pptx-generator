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0692000" cy="7560000" type="A4"/>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ijfh5LTzVDXbb0ZuKNcbUd24GK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659190-FCFE-4D70-9B86-54A6606F5F58}">
  <a:tblStyle styleId="{08659190-FCFE-4D70-9B86-54A6606F5F58}"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Hinzugefügt: Spalte zur Überwachung</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de-DE"/>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de-DE"/>
              <a:t>Entfernt: </a:t>
            </a:r>
            <a:r>
              <a:rPr b="0" i="0" lang="de-DE"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Hinzugefügt aus B8: </a:t>
            </a:r>
            <a:r>
              <a:rPr b="0" i="0" lang="de-DE"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EU benchmark exclusion</a:t>
            </a:r>
            <a:endParaRPr/>
          </a:p>
          <a:p>
            <a:pPr indent="0" lvl="0" marL="0" rtl="0" algn="l">
              <a:spcBef>
                <a:spcPts val="0"/>
              </a:spcBef>
              <a:spcAft>
                <a:spcPts val="0"/>
              </a:spcAft>
              <a:buNone/>
            </a:pPr>
            <a:r>
              <a:rPr lang="de-DE"/>
              <a:t>Entfernt: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001735" y="1873405"/>
            <a:ext cx="1223040" cy="1814175"/>
          </a:xfrm>
          <a:prstGeom prst="rect">
            <a:avLst/>
          </a:prstGeom>
          <a:noFill/>
          <a:ln>
            <a:noFill/>
          </a:ln>
        </p:spPr>
      </p:sp>
      <p:sp>
        <p:nvSpPr>
          <p:cNvPr id="17" name="Google Shape;17;p27"/>
          <p:cNvSpPr/>
          <p:nvPr/>
        </p:nvSpPr>
        <p:spPr>
          <a:xfrm>
            <a:off x="6150373" y="1828999"/>
            <a:ext cx="1561990" cy="1890830"/>
          </a:xfrm>
          <a:prstGeom prst="rect">
            <a:avLst/>
          </a:prstGeom>
          <a:noFill/>
          <a:ln>
            <a:noFill/>
          </a:ln>
        </p:spPr>
      </p:sp>
      <p:sp>
        <p:nvSpPr>
          <p:cNvPr id="18" name="Google Shape;18;p27"/>
          <p:cNvSpPr/>
          <p:nvPr/>
        </p:nvSpPr>
        <p:spPr>
          <a:xfrm>
            <a:off x="4475450" y="1828999"/>
            <a:ext cx="1454017" cy="1938689"/>
          </a:xfrm>
          <a:prstGeom prst="rect">
            <a:avLst/>
          </a:prstGeom>
          <a:noFill/>
          <a:ln>
            <a:noFill/>
          </a:ln>
        </p:spPr>
      </p:sp>
      <p:sp>
        <p:nvSpPr>
          <p:cNvPr id="19" name="Google Shape;19;p27"/>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225">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946688" y="4051289"/>
            <a:ext cx="8798625" cy="160254"/>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15600" b="1" spc="-390" dirty="0">
                <a:solidFill>
                  <a:srgbClr val="FFFFFF"/>
                </a:solidFill>
                <a:latin typeface="+mn-lt"/>
              </a:rPr>
              <a:t>ESG</a:t>
            </a:r>
            <a:endParaRPr lang="en-GB" sz="15600" b="1" spc="-39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454795" y="864270"/>
            <a:ext cx="3997234" cy="4704480"/>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3" name="Google Shape;23;p28"/>
          <p:cNvSpPr txBox="1"/>
          <p:nvPr>
            <p:ph idx="2" type="body"/>
          </p:nvPr>
        </p:nvSpPr>
        <p:spPr>
          <a:xfrm>
            <a:off x="5675750" y="859072"/>
            <a:ext cx="3997234" cy="4704479"/>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4" name="Google Shape;24;p2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26" name="Google Shape;26;p2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946688" y="1392188"/>
            <a:ext cx="8798625" cy="1280812"/>
          </a:xfrm>
          <a:prstGeom prst="rect">
            <a:avLst/>
          </a:prstGeom>
          <a:solidFill>
            <a:srgbClr val="1B4529"/>
          </a:solidFill>
          <a:ln>
            <a:noFill/>
          </a:ln>
        </p:spPr>
        <p:txBody>
          <a:bodyPr anchorCtr="0" anchor="t" bIns="0" lIns="0" spcFirstLastPara="1" rIns="0" wrap="square" tIns="0">
            <a:normAutofit/>
          </a:bodyPr>
          <a:lstStyle>
            <a:lvl1pPr indent="-200475" lvl="0" marL="400950" algn="l">
              <a:lnSpc>
                <a:spcPct val="100000"/>
              </a:lnSpc>
              <a:spcBef>
                <a:spcPts val="175"/>
              </a:spcBef>
              <a:spcAft>
                <a:spcPts val="0"/>
              </a:spcAft>
              <a:buClr>
                <a:schemeClr val="lt1"/>
              </a:buClr>
              <a:buSzPts val="1100"/>
              <a:buFont typeface="IBM Plex Sans"/>
              <a:buNone/>
              <a:defRPr sz="950">
                <a:solidFill>
                  <a:schemeClr val="lt1"/>
                </a:solidFill>
              </a:defRPr>
            </a:lvl1pPr>
            <a:lvl2pPr indent="-200475" lvl="1" marL="801900" algn="l">
              <a:lnSpc>
                <a:spcPct val="106000"/>
              </a:lnSpc>
              <a:spcBef>
                <a:spcPts val="0"/>
              </a:spcBef>
              <a:spcAft>
                <a:spcPts val="0"/>
              </a:spcAft>
              <a:buClr>
                <a:schemeClr val="lt1"/>
              </a:buClr>
              <a:buSzPts val="1100"/>
              <a:buFont typeface="IBM Plex Sans"/>
              <a:buNone/>
              <a:defRPr sz="950">
                <a:solidFill>
                  <a:schemeClr val="lt1"/>
                </a:solidFill>
              </a:defRPr>
            </a:lvl2pPr>
            <a:lvl3pPr indent="-261731" lvl="2" marL="1202850" algn="l">
              <a:lnSpc>
                <a:spcPct val="106000"/>
              </a:lnSpc>
              <a:spcBef>
                <a:spcPts val="0"/>
              </a:spcBef>
              <a:spcAft>
                <a:spcPts val="0"/>
              </a:spcAft>
              <a:buClr>
                <a:schemeClr val="lt1"/>
              </a:buClr>
              <a:buSzPts val="1100"/>
              <a:buChar char="•"/>
              <a:defRPr sz="950">
                <a:solidFill>
                  <a:schemeClr val="lt1"/>
                </a:solidFill>
              </a:defRPr>
            </a:lvl3pPr>
            <a:lvl4pPr indent="-261731" lvl="3" marL="1603800" algn="l">
              <a:lnSpc>
                <a:spcPct val="106000"/>
              </a:lnSpc>
              <a:spcBef>
                <a:spcPts val="0"/>
              </a:spcBef>
              <a:spcAft>
                <a:spcPts val="0"/>
              </a:spcAft>
              <a:buClr>
                <a:schemeClr val="lt1"/>
              </a:buClr>
              <a:buSzPts val="1100"/>
              <a:buChar char="•"/>
              <a:defRPr sz="950">
                <a:solidFill>
                  <a:schemeClr val="lt1"/>
                </a:solidFill>
              </a:defRPr>
            </a:lvl4pPr>
            <a:lvl5pPr indent="-261731" lvl="4" marL="2004750" algn="l">
              <a:lnSpc>
                <a:spcPct val="106000"/>
              </a:lnSpc>
              <a:spcBef>
                <a:spcPts val="0"/>
              </a:spcBef>
              <a:spcAft>
                <a:spcPts val="0"/>
              </a:spcAft>
              <a:buClr>
                <a:schemeClr val="lt1"/>
              </a:buClr>
              <a:buSzPts val="1100"/>
              <a:buChar char="•"/>
              <a:defRPr sz="950">
                <a:solidFill>
                  <a:schemeClr val="lt1"/>
                </a:solidFill>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4" name="Google Shape;34;p3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sz="875">
                <a:solidFill>
                  <a:schemeClr val="lt1"/>
                </a:solidFill>
                <a:latin typeface="IBM Plex Sans"/>
                <a:ea typeface="IBM Plex Sans"/>
                <a:cs typeface="IBM Plex Sans"/>
                <a:sym typeface="IBM Plex Sans"/>
              </a:defRPr>
            </a:lvl1pPr>
            <a:lvl2pPr indent="0" lvl="1" marL="0" algn="r">
              <a:spcBef>
                <a:spcPts val="0"/>
              </a:spcBef>
              <a:buNone/>
              <a:defRPr sz="875">
                <a:solidFill>
                  <a:schemeClr val="lt1"/>
                </a:solidFill>
                <a:latin typeface="IBM Plex Sans"/>
                <a:ea typeface="IBM Plex Sans"/>
                <a:cs typeface="IBM Plex Sans"/>
                <a:sym typeface="IBM Plex Sans"/>
              </a:defRPr>
            </a:lvl2pPr>
            <a:lvl3pPr indent="0" lvl="2" marL="0" algn="r">
              <a:spcBef>
                <a:spcPts val="0"/>
              </a:spcBef>
              <a:buNone/>
              <a:defRPr sz="875">
                <a:solidFill>
                  <a:schemeClr val="lt1"/>
                </a:solidFill>
                <a:latin typeface="IBM Plex Sans"/>
                <a:ea typeface="IBM Plex Sans"/>
                <a:cs typeface="IBM Plex Sans"/>
                <a:sym typeface="IBM Plex Sans"/>
              </a:defRPr>
            </a:lvl3pPr>
            <a:lvl4pPr indent="0" lvl="3" marL="0" algn="r">
              <a:spcBef>
                <a:spcPts val="0"/>
              </a:spcBef>
              <a:buNone/>
              <a:defRPr sz="875">
                <a:solidFill>
                  <a:schemeClr val="lt1"/>
                </a:solidFill>
                <a:latin typeface="IBM Plex Sans"/>
                <a:ea typeface="IBM Plex Sans"/>
                <a:cs typeface="IBM Plex Sans"/>
                <a:sym typeface="IBM Plex Sans"/>
              </a:defRPr>
            </a:lvl4pPr>
            <a:lvl5pPr indent="0" lvl="4" marL="0" algn="r">
              <a:spcBef>
                <a:spcPts val="0"/>
              </a:spcBef>
              <a:buNone/>
              <a:defRPr sz="875">
                <a:solidFill>
                  <a:schemeClr val="lt1"/>
                </a:solidFill>
                <a:latin typeface="IBM Plex Sans"/>
                <a:ea typeface="IBM Plex Sans"/>
                <a:cs typeface="IBM Plex Sans"/>
                <a:sym typeface="IBM Plex Sans"/>
              </a:defRPr>
            </a:lvl5pPr>
            <a:lvl6pPr indent="0" lvl="5" marL="0" algn="r">
              <a:spcBef>
                <a:spcPts val="0"/>
              </a:spcBef>
              <a:buNone/>
              <a:defRPr sz="875">
                <a:solidFill>
                  <a:schemeClr val="lt1"/>
                </a:solidFill>
                <a:latin typeface="IBM Plex Sans"/>
                <a:ea typeface="IBM Plex Sans"/>
                <a:cs typeface="IBM Plex Sans"/>
                <a:sym typeface="IBM Plex Sans"/>
              </a:defRPr>
            </a:lvl6pPr>
            <a:lvl7pPr indent="0" lvl="6" marL="0" algn="r">
              <a:spcBef>
                <a:spcPts val="0"/>
              </a:spcBef>
              <a:buNone/>
              <a:defRPr sz="875">
                <a:solidFill>
                  <a:schemeClr val="lt1"/>
                </a:solidFill>
                <a:latin typeface="IBM Plex Sans"/>
                <a:ea typeface="IBM Plex Sans"/>
                <a:cs typeface="IBM Plex Sans"/>
                <a:sym typeface="IBM Plex Sans"/>
              </a:defRPr>
            </a:lvl7pPr>
            <a:lvl8pPr indent="0" lvl="7" marL="0" algn="r">
              <a:spcBef>
                <a:spcPts val="0"/>
              </a:spcBef>
              <a:buNone/>
              <a:defRPr sz="875">
                <a:solidFill>
                  <a:schemeClr val="lt1"/>
                </a:solidFill>
                <a:latin typeface="IBM Plex Sans"/>
                <a:ea typeface="IBM Plex Sans"/>
                <a:cs typeface="IBM Plex Sans"/>
                <a:sym typeface="IBM Plex Sans"/>
              </a:defRPr>
            </a:lvl8pPr>
            <a:lvl9pPr indent="0" lvl="8" marL="0" algn="r">
              <a:spcBef>
                <a:spcPts val="0"/>
              </a:spcBef>
              <a:buNone/>
              <a:defRPr sz="875">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445500" y="890814"/>
            <a:ext cx="3080911" cy="4672738"/>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9" name="Google Shape;39;p31"/>
          <p:cNvSpPr txBox="1"/>
          <p:nvPr>
            <p:ph idx="2" type="body"/>
          </p:nvPr>
        </p:nvSpPr>
        <p:spPr>
          <a:xfrm>
            <a:off x="3804849" y="890815"/>
            <a:ext cx="3080910" cy="4672737"/>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40" name="Google Shape;40;p3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454795" y="890999"/>
            <a:ext cx="9791703" cy="4672552"/>
          </a:xfrm>
          <a:prstGeom prst="rect">
            <a:avLst/>
          </a:prstGeom>
          <a:noFill/>
          <a:ln>
            <a:noFill/>
          </a:ln>
        </p:spPr>
        <p:txBody>
          <a:bodyPr anchorCtr="0" anchor="t" bIns="0" lIns="0" spcFirstLastPara="1" rIns="0" wrap="square" tIns="0">
            <a:noAutofit/>
          </a:bodyPr>
          <a:lstStyle>
            <a:lvl1pPr indent="-250594" lvl="0" marL="4009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1pPr>
            <a:lvl2pPr indent="-250594" lvl="1" marL="8019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2pPr>
            <a:lvl3pPr indent="-250594" lvl="2" marL="12028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3pPr>
            <a:lvl4pPr indent="-250594" lvl="3" marL="16038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4pPr>
            <a:lvl5pPr indent="-250594" lvl="4" marL="20047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5pPr>
            <a:lvl6pPr indent="-300712" lvl="5" marL="24057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6pPr>
            <a:lvl7pPr indent="-300712" lvl="6" marL="28066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7pPr>
            <a:lvl8pPr indent="-300712" lvl="7" marL="32076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8pPr>
            <a:lvl9pPr indent="-300712" lvl="8" marL="36085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75"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875"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875"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875"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875"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875"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875"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875"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875"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e-DE"/>
              <a:t>‹#›</a:t>
            </a:fld>
            <a:endParaRPr/>
          </a:p>
        </p:txBody>
      </p:sp>
      <p:sp>
        <p:nvSpPr>
          <p:cNvPr id="14" name="Google Shape;14;p2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575"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575"/>
            </a:lvl2pPr>
            <a:lvl3pPr lvl="2">
              <a:spcBef>
                <a:spcPts val="0"/>
              </a:spcBef>
              <a:spcAft>
                <a:spcPts val="0"/>
              </a:spcAft>
              <a:buSzPts val="1400"/>
              <a:buNone/>
              <a:defRPr sz="1575"/>
            </a:lvl3pPr>
            <a:lvl4pPr lvl="3">
              <a:spcBef>
                <a:spcPts val="0"/>
              </a:spcBef>
              <a:spcAft>
                <a:spcPts val="0"/>
              </a:spcAft>
              <a:buSzPts val="1400"/>
              <a:buNone/>
              <a:defRPr sz="1575"/>
            </a:lvl4pPr>
            <a:lvl5pPr lvl="4">
              <a:spcBef>
                <a:spcPts val="0"/>
              </a:spcBef>
              <a:spcAft>
                <a:spcPts val="0"/>
              </a:spcAft>
              <a:buSzPts val="1400"/>
              <a:buNone/>
              <a:defRPr sz="1575"/>
            </a:lvl5pPr>
            <a:lvl6pPr lvl="5">
              <a:spcBef>
                <a:spcPts val="0"/>
              </a:spcBef>
              <a:spcAft>
                <a:spcPts val="0"/>
              </a:spcAft>
              <a:buSzPts val="1400"/>
              <a:buNone/>
              <a:defRPr sz="1575"/>
            </a:lvl6pPr>
            <a:lvl7pPr lvl="6">
              <a:spcBef>
                <a:spcPts val="0"/>
              </a:spcBef>
              <a:spcAft>
                <a:spcPts val="0"/>
              </a:spcAft>
              <a:buSzPts val="1400"/>
              <a:buNone/>
              <a:defRPr sz="1575"/>
            </a:lvl7pPr>
            <a:lvl8pPr lvl="7">
              <a:spcBef>
                <a:spcPts val="0"/>
              </a:spcBef>
              <a:spcAft>
                <a:spcPts val="0"/>
              </a:spcAft>
              <a:buSzPts val="1400"/>
              <a:buNone/>
              <a:defRPr sz="1575"/>
            </a:lvl8pPr>
            <a:lvl9pPr lvl="8">
              <a:spcBef>
                <a:spcPts val="0"/>
              </a:spcBef>
              <a:spcAft>
                <a:spcPts val="0"/>
              </a:spcAft>
              <a:buSzPts val="1400"/>
              <a:buNone/>
              <a:defRPr sz="1575"/>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946688" y="4051289"/>
            <a:ext cx="8798625" cy="133605"/>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de-DE"/>
              <a:t>ESG-BERICHT {{insert_year}}</a:t>
            </a:r>
            <a:endParaRPr/>
          </a:p>
        </p:txBody>
      </p:sp>
      <p:sp>
        <p:nvSpPr>
          <p:cNvPr id="47" name="Google Shape;47;p1"/>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de-DE"/>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454796" y="450698"/>
            <a:ext cx="9791704" cy="437255"/>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ESG-Bericht</a:t>
            </a:r>
            <a:r>
              <a:rPr b="0" lang="de-DE">
                <a:solidFill>
                  <a:srgbClr val="1B4528"/>
                </a:solidFill>
              </a:rPr>
              <a:t> </a:t>
            </a:r>
            <a:br>
              <a:rPr b="0" lang="de-DE">
                <a:solidFill>
                  <a:srgbClr val="1B4528"/>
                </a:solidFill>
              </a:rPr>
            </a:br>
            <a:endParaRPr b="0">
              <a:solidFill>
                <a:srgbClr val="1B4528"/>
              </a:solidFill>
            </a:endParaRPr>
          </a:p>
        </p:txBody>
      </p:sp>
      <p:sp>
        <p:nvSpPr>
          <p:cNvPr id="54" name="Google Shape;54;p2"/>
          <p:cNvSpPr txBox="1"/>
          <p:nvPr>
            <p:ph idx="1" type="body"/>
          </p:nvPr>
        </p:nvSpPr>
        <p:spPr>
          <a:xfrm>
            <a:off x="454793" y="864270"/>
            <a:ext cx="6880233" cy="470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Allgemeine Informationen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solidFill>
                  <a:schemeClr val="dk2"/>
                </a:solidFill>
                <a:latin typeface="IBM Plex Sans"/>
                <a:ea typeface="IBM Plex Sans"/>
                <a:cs typeface="IBM Plex Sans"/>
                <a:sym typeface="IBM Plex Sans"/>
              </a:rPr>
              <a:t>Verfahrensweisen, Richtlinien und Initiativen für eine nachhaltigere Wirtschaft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Energieverbrauch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CO₂e-Emissionen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Luft-, Wasser- und Bodenverschmutzung</a:t>
            </a:r>
            <a:r>
              <a:rPr lang="de-DE"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Biodiversität</a:t>
            </a:r>
            <a:r>
              <a:rPr lang="de-DE"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Wasser	</a:t>
            </a:r>
            <a:r>
              <a:rPr lang="de-DE"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Ressourcennutzung, Kreislaufwirtschaft und Abfallbewirtschaftung</a:t>
            </a:r>
            <a:r>
              <a:rPr lang="de-DE"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Eigene Arbeitskräfte: Allgemeine Merkmale</a:t>
            </a:r>
            <a:r>
              <a:rPr lang="de-DE"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Eigene Arbeitskräfte: Gesundheit &amp; Sicherheit</a:t>
            </a:r>
            <a:r>
              <a:rPr lang="de-DE"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Eigene Arbeitskräfte: Vergütung, Tarifverhandlungen und Schulung</a:t>
            </a:r>
            <a:r>
              <a:rPr lang="de-DE"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Unternehmenspolitik</a:t>
            </a:r>
            <a:r>
              <a:rPr lang="de-DE"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Strategie: Geschäftsmodell und nachhaltigkeitsbezogene Initiativen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Verfahrensweisen, Richtlinien und künftige Initiativen für den Übergang zu einer nachhaltigeren Wirtschaft</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CO₂e-Reduktionsziele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Übergang für den Klimaschutz</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Klimabedingte Risiken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Zusätzliche (allgemeine) Merkmale der Arbeitskräfte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Menschenrechtsrichtlinien und -prozesse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Schwerwiegende negative Vorfälle im Zusammenhang mit Menschenrechten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Umsatzerlöse aus bestimmten Tätigkeiten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de-DE" sz="1050">
                <a:latin typeface="IBM Plex Sans"/>
                <a:ea typeface="IBM Plex Sans"/>
                <a:cs typeface="IBM Plex Sans"/>
                <a:sym typeface="IBM Plex Sans"/>
              </a:rPr>
              <a:t>Geschlechtervielfalt im Leitungsorgan</a:t>
            </a:r>
            <a:endParaRPr sz="1050">
              <a:solidFill>
                <a:srgbClr val="1B4528"/>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050">
              <a:latin typeface="IBM Plex Sans"/>
              <a:ea typeface="IBM Plex Sans"/>
              <a:cs typeface="IBM Plex Sans"/>
              <a:sym typeface="IBM Plex Sans"/>
            </a:endParaRPr>
          </a:p>
        </p:txBody>
      </p:sp>
      <p:sp>
        <p:nvSpPr>
          <p:cNvPr id="55" name="Google Shape;55;p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a:p>
        </p:txBody>
      </p:sp>
      <p:sp>
        <p:nvSpPr>
          <p:cNvPr id="56" name="Google Shape;56;p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Grundlagen für die Erstellung (B1) </a:t>
            </a:r>
            <a:endParaRPr/>
          </a:p>
        </p:txBody>
      </p:sp>
      <p:sp>
        <p:nvSpPr>
          <p:cNvPr id="63" name="Google Shape;63;p3"/>
          <p:cNvSpPr txBox="1"/>
          <p:nvPr/>
        </p:nvSpPr>
        <p:spPr>
          <a:xfrm>
            <a:off x="445500" y="2600430"/>
            <a:ext cx="3080911" cy="150659"/>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775" u="none" cap="none" strike="noStrike">
              <a:solidFill>
                <a:srgbClr val="1B4528"/>
              </a:solidFill>
              <a:latin typeface="IBM Plex Sans"/>
              <a:ea typeface="IBM Plex Sans"/>
              <a:cs typeface="IBM Plex Sans"/>
              <a:sym typeface="IBM Plex Sans"/>
            </a:endParaRPr>
          </a:p>
        </p:txBody>
      </p:sp>
      <p:graphicFrame>
        <p:nvGraphicFramePr>
          <p:cNvPr id="64" name="Google Shape;64;p3"/>
          <p:cNvGraphicFramePr/>
          <p:nvPr/>
        </p:nvGraphicFramePr>
        <p:xfrm>
          <a:off x="454795" y="4476731"/>
          <a:ext cx="6449555" cy="1078808"/>
        </p:xfrm>
        <a:graphic>
          <a:graphicData uri="http://schemas.openxmlformats.org/drawingml/2006/table">
            <a:tbl>
              <a:tblPr firstRow="1">
                <a:noFill/>
                <a:tableStyleId>{08659190-FCFE-4D70-9B86-54A6606F5F58}</a:tableStyleId>
              </a:tblPr>
              <a:tblGrid>
                <a:gridCol w="2982460"/>
                <a:gridCol w="3467095"/>
              </a:tblGrid>
              <a:tr h="383980">
                <a:tc gridSpan="2">
                  <a:txBody>
                    <a:bodyPr/>
                    <a:lstStyle/>
                    <a:p>
                      <a:pPr indent="0" lvl="0" marL="0" marR="0" rtl="0" algn="l">
                        <a:spcBef>
                          <a:spcPts val="0"/>
                        </a:spcBef>
                        <a:spcAft>
                          <a:spcPts val="0"/>
                        </a:spcAft>
                        <a:buNone/>
                      </a:pPr>
                      <a:r>
                        <a:rPr b="1" lang="de-DE" sz="1050" u="none" cap="none" strike="noStrike">
                          <a:solidFill>
                            <a:schemeClr val="dk2"/>
                          </a:solidFill>
                          <a:latin typeface="IBM Plex Sans"/>
                          <a:ea typeface="IBM Plex Sans"/>
                          <a:cs typeface="IBM Plex Sans"/>
                          <a:sym typeface="IBM Plex Sans"/>
                        </a:rPr>
                        <a:t>Liste der in diesem ESG-Bericht erfassten Tochterunternehmen </a:t>
                      </a:r>
                      <a:r>
                        <a:rPr b="0" lang="de-DE" sz="1050" u="none" cap="none" strike="noStrike">
                          <a:solidFill>
                            <a:schemeClr val="dk2"/>
                          </a:solidFill>
                          <a:latin typeface="IBM Plex Sans"/>
                          <a:ea typeface="IBM Plex Sans"/>
                          <a:cs typeface="IBM Plex Sans"/>
                          <a:sym typeface="IBM Plex Sans"/>
                        </a:rPr>
                        <a:t>(Nr. 27d)</a:t>
                      </a:r>
                      <a:endParaRPr b="0" i="1" sz="1050" u="none" cap="none" strike="noStrike">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6555">
                <a:tc>
                  <a:txBody>
                    <a:bodyPr/>
                    <a:lstStyle/>
                    <a:p>
                      <a:pPr indent="0" lvl="0" marL="0" marR="0" rtl="0" algn="l">
                        <a:spcBef>
                          <a:spcPts val="0"/>
                        </a:spcBef>
                        <a:spcAft>
                          <a:spcPts val="0"/>
                        </a:spcAft>
                        <a:buNone/>
                      </a:pPr>
                      <a:r>
                        <a:rPr b="1" lang="de-DE" sz="1050" u="none" cap="none" strike="noStrike">
                          <a:solidFill>
                            <a:schemeClr val="dk2"/>
                          </a:solidFill>
                          <a:latin typeface="IBM Plex Sans"/>
                          <a:ea typeface="IBM Plex Sans"/>
                          <a:cs typeface="IBM Plex Sans"/>
                          <a:sym typeface="IBM Plex Sans"/>
                        </a:rPr>
                        <a:t>Name des Tochterunternehmens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050" u="none" cap="none" strike="noStrike">
                          <a:solidFill>
                            <a:schemeClr val="dk2"/>
                          </a:solidFill>
                          <a:latin typeface="IBM Plex Sans"/>
                          <a:ea typeface="IBM Plex Sans"/>
                          <a:cs typeface="IBM Plex Sans"/>
                          <a:sym typeface="IBM Plex Sans"/>
                        </a:rPr>
                        <a:t>Anschrift des Tochterunternehmens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8272">
                <a:tc>
                  <a:txBody>
                    <a:bodyPr/>
                    <a:lstStyle/>
                    <a:p>
                      <a:pPr indent="0" lvl="0" marL="0" marR="0" rtl="0" algn="l">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{{subsidiary}}</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{{subsidiary_address}}</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66" name="Google Shape;66;p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67" name="Google Shape;67;p3"/>
          <p:cNvGraphicFramePr/>
          <p:nvPr/>
        </p:nvGraphicFramePr>
        <p:xfrm>
          <a:off x="454795" y="3395171"/>
          <a:ext cx="6449556" cy="1051270"/>
        </p:xfrm>
        <a:graphic>
          <a:graphicData uri="http://schemas.openxmlformats.org/drawingml/2006/table">
            <a:tbl>
              <a:tblPr firstRow="1">
                <a:noFill/>
                <a:tableStyleId>{08659190-FCFE-4D70-9B86-54A6606F5F58}</a:tableStyleId>
              </a:tblPr>
              <a:tblGrid>
                <a:gridCol w="5432316"/>
                <a:gridCol w="1017240"/>
              </a:tblGrid>
              <a:tr h="210254">
                <a:tc gridSpan="2">
                  <a:txBody>
                    <a:bodyPr/>
                    <a:lstStyle/>
                    <a:p>
                      <a:pPr indent="0" lvl="0" marL="0" marR="0" rtl="0" algn="l">
                        <a:spcBef>
                          <a:spcPts val="0"/>
                        </a:spcBef>
                        <a:spcAft>
                          <a:spcPts val="0"/>
                        </a:spcAft>
                        <a:buNone/>
                      </a:pPr>
                      <a:r>
                        <a:rPr b="1" lang="de-DE" sz="1050" u="none" cap="none" strike="noStrike">
                          <a:solidFill>
                            <a:schemeClr val="dk2"/>
                          </a:solidFill>
                        </a:rPr>
                        <a:t>Individuelle oder konsolidierte Berichterstattung</a:t>
                      </a:r>
                      <a:r>
                        <a:rPr b="0" lang="de-DE" sz="1050" u="none" cap="none" strike="noStrike">
                          <a:solidFill>
                            <a:schemeClr val="dk2"/>
                          </a:solidFill>
                        </a:rPr>
                        <a:t> (Nr. 27c)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11366">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Der Bericht wurde auf </a:t>
                      </a:r>
                      <a:r>
                        <a:rPr b="1" lang="de-DE" sz="1050">
                          <a:solidFill>
                            <a:schemeClr val="dk2"/>
                          </a:solidFill>
                          <a:latin typeface="IBM Plex Sans"/>
                          <a:ea typeface="IBM Plex Sans"/>
                          <a:cs typeface="IBM Plex Sans"/>
                          <a:sym typeface="IBM Plex Sans"/>
                        </a:rPr>
                        <a:t>individueller Basis </a:t>
                      </a:r>
                      <a:r>
                        <a:rPr b="0" lang="de-DE" sz="1050">
                          <a:solidFill>
                            <a:schemeClr val="dk2"/>
                          </a:solidFill>
                          <a:latin typeface="IBM Plex Sans"/>
                          <a:ea typeface="IBM Plex Sans"/>
                          <a:cs typeface="IBM Plex Sans"/>
                          <a:sym typeface="IBM Plex Sans"/>
                        </a:rPr>
                        <a:t>erstellt (d. h. der Bericht erfasst keine Tochterunternehmen)</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{{yes_subsidiary?}}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29649">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Der Bericht wurde auf </a:t>
                      </a:r>
                      <a:r>
                        <a:rPr b="1" lang="de-DE" sz="1050">
                          <a:solidFill>
                            <a:schemeClr val="dk2"/>
                          </a:solidFill>
                          <a:latin typeface="IBM Plex Sans"/>
                          <a:ea typeface="IBM Plex Sans"/>
                          <a:cs typeface="IBM Plex Sans"/>
                          <a:sym typeface="IBM Plex Sans"/>
                        </a:rPr>
                        <a:t>konsolidierter Basis </a:t>
                      </a:r>
                      <a:r>
                        <a:rPr b="0" lang="de-DE" sz="1050">
                          <a:solidFill>
                            <a:schemeClr val="dk2"/>
                          </a:solidFill>
                          <a:latin typeface="IBM Plex Sans"/>
                          <a:ea typeface="IBM Plex Sans"/>
                          <a:cs typeface="IBM Plex Sans"/>
                          <a:sym typeface="IBM Plex Sans"/>
                        </a:rPr>
                        <a:t>erstellt (d. h. der Bericht umfasst die Tochterunternehmen des Unternehmens)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{{no_subsidiary?}}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454796" y="2003380"/>
          <a:ext cx="6449555" cy="1167552"/>
        </p:xfrm>
        <a:graphic>
          <a:graphicData uri="http://schemas.openxmlformats.org/drawingml/2006/table">
            <a:tbl>
              <a:tblPr firstRow="1">
                <a:noFill/>
                <a:tableStyleId>{08659190-FCFE-4D70-9B86-54A6606F5F58}</a:tableStyleId>
              </a:tblPr>
              <a:tblGrid>
                <a:gridCol w="5442094"/>
                <a:gridCol w="1007461"/>
              </a:tblGrid>
              <a:tr h="343070">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Basismodul oder Basismodul +</a:t>
                      </a:r>
                      <a:r>
                        <a:rPr b="0" lang="de-DE" sz="1050">
                          <a:solidFill>
                            <a:schemeClr val="dk2"/>
                          </a:solidFill>
                          <a:latin typeface="IBM Plex Sans"/>
                          <a:ea typeface="IBM Plex Sans"/>
                          <a:cs typeface="IBM Plex Sans"/>
                          <a:sym typeface="IBM Plex Sans"/>
                        </a:rPr>
                        <a:t> </a:t>
                      </a:r>
                      <a:r>
                        <a:rPr b="1" lang="de-DE" sz="1050">
                          <a:solidFill>
                            <a:schemeClr val="dk2"/>
                          </a:solidFill>
                          <a:latin typeface="IBM Plex Sans"/>
                          <a:ea typeface="IBM Plex Sans"/>
                          <a:cs typeface="IBM Plex Sans"/>
                          <a:sym typeface="IBM Plex Sans"/>
                        </a:rPr>
                        <a:t>Zusatzmodul </a:t>
                      </a:r>
                      <a:r>
                        <a:rPr b="0" lang="de-DE" sz="1050">
                          <a:solidFill>
                            <a:schemeClr val="dk2"/>
                          </a:solidFill>
                          <a:latin typeface="IBM Plex Sans"/>
                          <a:ea typeface="IBM Plex Sans"/>
                          <a:cs typeface="IBM Plex Sans"/>
                          <a:sym typeface="IBM Plex Sans"/>
                        </a:rPr>
                        <a:t>(Nr. 27a)</a:t>
                      </a:r>
                      <a:r>
                        <a:rPr b="1" lang="de-DE" sz="1050">
                          <a:solidFill>
                            <a:schemeClr val="dk2"/>
                          </a:solidFill>
                          <a:latin typeface="IBM Plex Sans"/>
                          <a:ea typeface="IBM Plex Sans"/>
                          <a:cs typeface="IBM Plex Sans"/>
                          <a:sym typeface="IBM Plex Sans"/>
                        </a:rPr>
                        <a:t>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8549">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Der Bericht basiert auf dem </a:t>
                      </a:r>
                      <a:r>
                        <a:rPr b="1" lang="de-DE" sz="1050">
                          <a:solidFill>
                            <a:schemeClr val="dk2"/>
                          </a:solidFill>
                          <a:latin typeface="IBM Plex Sans"/>
                          <a:ea typeface="IBM Plex Sans"/>
                          <a:cs typeface="IBM Plex Sans"/>
                          <a:sym typeface="IBM Plex Sans"/>
                        </a:rPr>
                        <a:t>Basismodul</a:t>
                      </a:r>
                      <a:r>
                        <a:rPr b="0" lang="de-DE" sz="1050">
                          <a:solidFill>
                            <a:schemeClr val="dk2"/>
                          </a:solidFill>
                          <a:latin typeface="IBM Plex Sans"/>
                          <a:ea typeface="IBM Plex Sans"/>
                          <a:cs typeface="IBM Plex Sans"/>
                          <a:sym typeface="IBM Plex Sans"/>
                        </a:rPr>
                        <a:t> des freiwilligen KMU-Standards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{{basic_module?}}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5933">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Der Bericht basiert auf dem </a:t>
                      </a:r>
                      <a:r>
                        <a:rPr b="1" lang="de-DE" sz="1050">
                          <a:solidFill>
                            <a:schemeClr val="dk2"/>
                          </a:solidFill>
                          <a:latin typeface="IBM Plex Sans"/>
                          <a:ea typeface="IBM Plex Sans"/>
                          <a:cs typeface="IBM Plex Sans"/>
                          <a:sym typeface="IBM Plex Sans"/>
                        </a:rPr>
                        <a:t>Basismodul</a:t>
                      </a:r>
                      <a:r>
                        <a:rPr b="0" lang="de-DE" sz="1050">
                          <a:solidFill>
                            <a:schemeClr val="dk2"/>
                          </a:solidFill>
                          <a:latin typeface="IBM Plex Sans"/>
                          <a:ea typeface="IBM Plex Sans"/>
                          <a:cs typeface="IBM Plex Sans"/>
                          <a:sym typeface="IBM Plex Sans"/>
                        </a:rPr>
                        <a:t> und </a:t>
                      </a:r>
                      <a:r>
                        <a:rPr b="1" lang="de-DE" sz="1050">
                          <a:solidFill>
                            <a:schemeClr val="dk2"/>
                          </a:solidFill>
                          <a:latin typeface="IBM Plex Sans"/>
                          <a:ea typeface="IBM Plex Sans"/>
                          <a:cs typeface="IBM Plex Sans"/>
                          <a:sym typeface="IBM Plex Sans"/>
                        </a:rPr>
                        <a:t>Zusatzmodul </a:t>
                      </a:r>
                      <a:r>
                        <a:rPr b="0" lang="de-DE" sz="1050">
                          <a:solidFill>
                            <a:schemeClr val="dk2"/>
                          </a:solidFill>
                          <a:latin typeface="IBM Plex Sans"/>
                          <a:ea typeface="IBM Plex Sans"/>
                          <a:cs typeface="IBM Plex Sans"/>
                          <a:sym typeface="IBM Plex Sans"/>
                        </a:rPr>
                        <a:t>des freiwilligen KMU-Standards</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{{comprehensive?}}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445500" y="891000"/>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cap="none" strike="noStrike">
                <a:solidFill>
                  <a:schemeClr val="dk2"/>
                </a:solidFill>
                <a:latin typeface="Inter"/>
                <a:ea typeface="Inter"/>
                <a:cs typeface="Inter"/>
                <a:sym typeface="Inter"/>
              </a:rPr>
              <a:t>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b="0" i="0" sz="105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7164197" y="3389641"/>
          <a:ext cx="3073007" cy="2165898"/>
        </p:xfrm>
        <a:graphic>
          <a:graphicData uri="http://schemas.openxmlformats.org/drawingml/2006/table">
            <a:tbl>
              <a:tblPr firstRow="1">
                <a:noFill/>
                <a:tableStyleId>{08659190-FCFE-4D70-9B86-54A6606F5F58}</a:tableStyleId>
              </a:tblPr>
              <a:tblGrid>
                <a:gridCol w="1421040"/>
                <a:gridCol w="1651967"/>
              </a:tblGrid>
              <a:tr h="403618">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Grundlegende Informationen über das Unternehmen</a:t>
                      </a:r>
                      <a:r>
                        <a:rPr b="0" lang="de-DE" sz="1050">
                          <a:solidFill>
                            <a:schemeClr val="dk2"/>
                          </a:solidFill>
                          <a:latin typeface="IBM Plex Sans"/>
                          <a:ea typeface="IBM Plex Sans"/>
                          <a:cs typeface="IBM Plex Sans"/>
                          <a:sym typeface="IBM Plex Sans"/>
                        </a:rPr>
                        <a:t> (Nr. 27e, i-v)</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76231">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Rechtsform</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{{branchekode}}</a:t>
                      </a:r>
                      <a:endParaRPr b="0"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373">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NACE-Code(s)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{{NACE}}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76231">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Bilanzsumme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{{balance}}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76231">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Umsatzerlöse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82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Beschäftigte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{{total_employees}}</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7164197" y="2005523"/>
          <a:ext cx="3073007" cy="1269577"/>
        </p:xfrm>
        <a:graphic>
          <a:graphicData uri="http://schemas.openxmlformats.org/drawingml/2006/table">
            <a:tbl>
              <a:tblPr firstRow="1">
                <a:noFill/>
                <a:tableStyleId>{08659190-FCFE-4D70-9B86-54A6606F5F58}</a:tableStyleId>
              </a:tblPr>
              <a:tblGrid>
                <a:gridCol w="1421040"/>
                <a:gridCol w="1651967"/>
              </a:tblGrid>
              <a:tr h="539347">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Der ESG-Bericht enthält Auslassungen aufgrund vertraulicher Geschäftsinformationen </a:t>
                      </a:r>
                      <a:r>
                        <a:rPr b="0" lang="de-DE" sz="1050">
                          <a:solidFill>
                            <a:schemeClr val="dk2"/>
                          </a:solidFill>
                          <a:latin typeface="IBM Plex Sans"/>
                          <a:ea typeface="IBM Plex Sans"/>
                          <a:cs typeface="IBM Plex Sans"/>
                          <a:sym typeface="IBM Plex Sans"/>
                        </a:rPr>
                        <a:t>(Nr. 27b)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30230">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775">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Folgende Angaben wurden ausgelassen</a:t>
                      </a:r>
                      <a:endParaRPr/>
                    </a:p>
                    <a:p>
                      <a:pPr indent="0" lvl="0" marL="0" marR="0" rtl="0" algn="l">
                        <a:spcBef>
                          <a:spcPts val="0"/>
                        </a:spcBef>
                        <a:spcAft>
                          <a:spcPts val="0"/>
                        </a:spcAft>
                        <a:buNone/>
                      </a:pPr>
                      <a:r>
                        <a:t/>
                      </a:r>
                      <a:endParaRPr b="1" sz="775">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None/>
                      </a:pPr>
                      <a:r>
                        <a:rPr lang="de-DE" sz="1050">
                          <a:solidFill>
                            <a:srgbClr val="1B4528"/>
                          </a:solidFill>
                          <a:latin typeface="IBM Plex Sans"/>
                          <a:ea typeface="IBM Plex Sans"/>
                          <a:cs typeface="IBM Plex Sans"/>
                          <a:sym typeface="IBM Plex Sans"/>
                        </a:rPr>
                        <a:t>{{confidentiality_info}}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Grundlagen für die Erstellung (B1) - Fortsetzung</a:t>
            </a:r>
            <a:endParaRPr/>
          </a:p>
        </p:txBody>
      </p:sp>
      <p:sp>
        <p:nvSpPr>
          <p:cNvPr id="78" name="Google Shape;78;p4"/>
          <p:cNvSpPr/>
          <p:nvPr/>
        </p:nvSpPr>
        <p:spPr>
          <a:xfrm>
            <a:off x="560364" y="972291"/>
            <a:ext cx="181932" cy="203984"/>
          </a:xfrm>
          <a:prstGeom prst="rect">
            <a:avLst/>
          </a:prstGeom>
          <a:noFill/>
          <a:ln>
            <a:noFill/>
          </a:ln>
        </p:spPr>
      </p:sp>
      <p:sp>
        <p:nvSpPr>
          <p:cNvPr id="79" name="Google Shape;79;p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80" name="Google Shape;80;p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452474" y="4486588"/>
          <a:ext cx="2630906" cy="2630906"/>
        </p:xfrm>
        <a:graphic>
          <a:graphicData uri="http://schemas.openxmlformats.org/drawingml/2006/table">
            <a:tbl>
              <a:tblPr firstRow="1">
                <a:noFill/>
                <a:tableStyleId>{08659190-FCFE-4D70-9B86-54A6606F5F58}</a:tableStyleId>
              </a:tblPr>
              <a:tblGrid>
                <a:gridCol w="3375890"/>
                <a:gridCol w="3240092"/>
                <a:gridCol w="1709102"/>
                <a:gridCol w="1494924"/>
              </a:tblGrid>
              <a:tr h="22099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Name des ESG-Zertifikats/Umweltsiegels </a:t>
                      </a:r>
                      <a:r>
                        <a:rPr b="0" lang="de-DE" sz="1050">
                          <a:solidFill>
                            <a:schemeClr val="dk2"/>
                          </a:solidFill>
                          <a:latin typeface="IBM Plex Sans"/>
                          <a:ea typeface="IBM Plex Sans"/>
                          <a:cs typeface="IBM Plex Sans"/>
                          <a:sym typeface="IBM Plex Sans"/>
                        </a:rPr>
                        <a:t>(Nr. 28)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Kurze Beschreibung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Datum der Ausstellung/</a:t>
                      </a:r>
                      <a:endParaRPr/>
                    </a:p>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Gültigkeit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Etwaige Bewertungsnote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20996">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{{certificate_or_ecolabel}}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{{description_certificate}}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{{date_certicate}}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{{certiciate_possible_rating}}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468741" y="1568148"/>
          <a:ext cx="2630906" cy="2630906"/>
        </p:xfrm>
        <a:graphic>
          <a:graphicData uri="http://schemas.openxmlformats.org/drawingml/2006/table">
            <a:tbl>
              <a:tblPr firstRow="1">
                <a:noFill/>
                <a:tableStyleId>{08659190-FCFE-4D70-9B86-54A6606F5F58}</a:tableStyleId>
              </a:tblPr>
              <a:tblGrid>
                <a:gridCol w="1780750"/>
                <a:gridCol w="1890985"/>
                <a:gridCol w="1444893"/>
                <a:gridCol w="1412051"/>
                <a:gridCol w="1565301"/>
                <a:gridCol w="1676764"/>
              </a:tblGrid>
              <a:tr h="284138">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Anschriften und Geoposition </a:t>
                      </a:r>
                      <a:r>
                        <a:rPr b="1" lang="de-DE" sz="1050" u="none">
                          <a:solidFill>
                            <a:schemeClr val="dk2"/>
                          </a:solidFill>
                          <a:latin typeface="IBM Plex Sans"/>
                          <a:ea typeface="IBM Plex Sans"/>
                          <a:cs typeface="IBM Plex Sans"/>
                          <a:sym typeface="IBM Plex Sans"/>
                        </a:rPr>
                        <a:t>wesentlicher</a:t>
                      </a:r>
                      <a:r>
                        <a:rPr b="1" lang="de-DE" sz="1050">
                          <a:solidFill>
                            <a:schemeClr val="dk2"/>
                          </a:solidFill>
                          <a:latin typeface="IBM Plex Sans"/>
                          <a:ea typeface="IBM Plex Sans"/>
                          <a:cs typeface="IBM Plex Sans"/>
                          <a:sym typeface="IBM Plex Sans"/>
                        </a:rPr>
                        <a:t> Vermögenswerte und Standorte, die das Unternehmen</a:t>
                      </a:r>
                      <a:r>
                        <a:rPr b="0" lang="de-DE" sz="1050">
                          <a:solidFill>
                            <a:schemeClr val="dk2"/>
                          </a:solidFill>
                          <a:latin typeface="IBM Plex Sans"/>
                          <a:ea typeface="IBM Plex Sans"/>
                          <a:cs typeface="IBM Plex Sans"/>
                          <a:sym typeface="IBM Plex Sans"/>
                        </a:rPr>
                        <a:t> </a:t>
                      </a:r>
                      <a:r>
                        <a:rPr b="1" lang="de-DE" sz="1050">
                          <a:solidFill>
                            <a:schemeClr val="dk2"/>
                          </a:solidFill>
                          <a:latin typeface="IBM Plex Sans"/>
                          <a:ea typeface="IBM Plex Sans"/>
                          <a:cs typeface="IBM Plex Sans"/>
                          <a:sym typeface="IBM Plex Sans"/>
                        </a:rPr>
                        <a:t>besitzt, gepachtet hat oder bewirtschaftet </a:t>
                      </a:r>
                      <a:r>
                        <a:rPr b="0" lang="de-DE" sz="1050">
                          <a:solidFill>
                            <a:schemeClr val="dk2"/>
                          </a:solidFill>
                          <a:latin typeface="IBM Plex Sans"/>
                          <a:ea typeface="IBM Plex Sans"/>
                          <a:cs typeface="IBM Plex Sans"/>
                          <a:sym typeface="IBM Plex Sans"/>
                        </a:rPr>
                        <a:t>(Nr.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284138">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Standort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Anschrift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PLZ</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Stadt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Land</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Geoposition (Koordinaten)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84138">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{{geolocation_adress}}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{{geolocation_postcode}}</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{{geolocation_city}}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{{geolocation_country}}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{{geolocation_coordinates}}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452474" y="891000"/>
            <a:ext cx="9794026"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de-DE" sz="1050" u="none" cap="none" strike="noStrike">
                <a:solidFill>
                  <a:schemeClr val="dk2"/>
                </a:solidFill>
                <a:latin typeface="Inter"/>
                <a:ea typeface="Inter"/>
                <a:cs typeface="Inter"/>
                <a:sym typeface="Inter"/>
              </a:rPr>
              <a:t>Nachstehend werden die Geopositionen des Unternehmens und die Orte seiner Tätigkeit beschrieben. Diese Angaben können für klimabedingte Risikozonen genutzt werden und informieren über Anlagen, Einrichtungen und/oder den Hauptsitz. Relevante Nachhaltigkeitszertifizierungen oder -siegel sind ebenfalls angegeben, einschließlich Aussteller, Datum und etwaiger Bewertungsnote.</a:t>
            </a:r>
            <a:endParaRPr b="0" i="0" sz="1050" u="none" cap="none" strike="noStrike">
              <a:solidFill>
                <a:schemeClr val="dk2"/>
              </a:solidFill>
              <a:latin typeface="Inter"/>
              <a:ea typeface="Inter"/>
              <a:cs typeface="Inter"/>
              <a:sym typeface="Inter"/>
            </a:endParaRPr>
          </a:p>
        </p:txBody>
      </p:sp>
      <p:sp>
        <p:nvSpPr>
          <p:cNvPr id="84" name="Google Shape;84;p4"/>
          <p:cNvSpPr txBox="1"/>
          <p:nvPr/>
        </p:nvSpPr>
        <p:spPr>
          <a:xfrm>
            <a:off x="452474" y="4181436"/>
            <a:ext cx="71741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de-DE" sz="1050" u="none" cap="none" strike="noStrike">
                <a:solidFill>
                  <a:srgbClr val="487477"/>
                </a:solidFill>
                <a:latin typeface="Inter"/>
                <a:ea typeface="Inter"/>
                <a:cs typeface="Inter"/>
                <a:sym typeface="Inter"/>
              </a:rPr>
              <a:t>Die Zertifikate und Umweltsiegel des Unternehmens sind nachstehend aufgeführt.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Verfahrensweisen, Richtlinien und künftige Initiativen für den Übergang zu einer nachhaltigeren Wirtschaft (B2)</a:t>
            </a:r>
            <a:endParaRPr/>
          </a:p>
        </p:txBody>
      </p:sp>
      <p:sp>
        <p:nvSpPr>
          <p:cNvPr id="91" name="Google Shape;91;p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454796" y="1501175"/>
          <a:ext cx="2630906" cy="2630906"/>
        </p:xfrm>
        <a:graphic>
          <a:graphicData uri="http://schemas.openxmlformats.org/drawingml/2006/table">
            <a:tbl>
              <a:tblPr firstRow="1">
                <a:noFill/>
                <a:tableStyleId>{08659190-FCFE-4D70-9B86-54A6606F5F58}</a:tableStyleId>
              </a:tblPr>
              <a:tblGrid>
                <a:gridCol w="1750429"/>
                <a:gridCol w="1848825"/>
                <a:gridCol w="1447875"/>
                <a:gridCol w="2027025"/>
                <a:gridCol w="2717550"/>
              </a:tblGrid>
              <a:tr h="417678">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Bereich</a:t>
                      </a:r>
                      <a:endParaRPr/>
                    </a:p>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29a-d)</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Konkrete Verfahrensweise oder Richtlinie vorhanden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Ist die Richtlinie öffentlich zugänglich?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Das Unternehmen hat künftige Initiativen und Pläne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Konkrete Ziele zur Überwachung der Umsetzung von Verfahrensweisen und Richtlinien vorhanden?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67037">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Klimawandel</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{{climate_change_concrete}}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{{climate_change_publicly}}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{{climate_change_future}}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{{climate_change_plan}}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3422">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Umweltver­schmutzung</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{{pollution_concrete}}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{{pollution_publicly}}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{{pollution_future}}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{{pollution_plan}}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Wasser- und Meeresressourcen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{{water_concrete}}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{{water_publicly}}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{{water_future}}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{{water_plan}}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Biodiversität und Ökosysteme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{{biodiversity_concrete}}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{{biodiversity_publicly}}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{{biodiversity_future}}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{{biodiversity_plan}}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Kreislaufwirt­schaft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Arbeitskräfte des Unternehmens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{{workforce_concrete}}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{{workforce_publicly}}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{{workforce_future}}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{{workforce_plan}}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Arbeitskräfte in der Wertschöpfungs­kette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{{workers_plan}}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Betroffene Gemeinschaften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{{communities_concrete}}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{{communities_publicly}}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{{communities_future}}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{{communities_plan}}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Verbraucher und Endnutzer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Unternehmenspolitik</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{{governance_concrete}}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{{governance_publicly}}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{{governance_future}}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{{governance_plan}}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454796" y="891000"/>
            <a:ext cx="9782408"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1050">
                <a:solidFill>
                  <a:schemeClr val="dk2"/>
                </a:solidFill>
                <a:latin typeface="IBM Plex Sans"/>
                <a:ea typeface="IBM Plex Sans"/>
                <a:cs typeface="IBM Plex Sans"/>
                <a:sym typeface="IBM Plex Sans"/>
              </a:rPr>
            </a:br>
            <a:endParaRPr sz="105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Energieverbrauch (B3)</a:t>
            </a:r>
            <a:endParaRPr/>
          </a:p>
        </p:txBody>
      </p:sp>
      <p:graphicFrame>
        <p:nvGraphicFramePr>
          <p:cNvPr id="101" name="Google Shape;101;p6"/>
          <p:cNvGraphicFramePr/>
          <p:nvPr/>
        </p:nvGraphicFramePr>
        <p:xfrm>
          <a:off x="443369" y="1359604"/>
          <a:ext cx="2630906" cy="2630906"/>
        </p:xfrm>
        <a:graphic>
          <a:graphicData uri="http://schemas.openxmlformats.org/drawingml/2006/table">
            <a:tbl>
              <a:tblPr firstRow="1">
                <a:noFill/>
                <a:tableStyleId>{08659190-FCFE-4D70-9B86-54A6606F5F58}</a:tableStyleId>
              </a:tblPr>
              <a:tblGrid>
                <a:gridCol w="2660547"/>
                <a:gridCol w="2469631"/>
                <a:gridCol w="2604421"/>
                <a:gridCol w="2068528"/>
              </a:tblGrid>
              <a:tr h="218606">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Energieverbrauch in MWh </a:t>
                      </a:r>
                      <a:r>
                        <a:rPr b="0" lang="de-DE" sz="1050">
                          <a:solidFill>
                            <a:schemeClr val="dk2"/>
                          </a:solidFill>
                        </a:rPr>
                        <a:t>(Nr. 32)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7565">
                <a:tc>
                  <a:txBody>
                    <a:bodyPr/>
                    <a:lstStyle/>
                    <a:p>
                      <a:pPr indent="0" lvl="0" marL="0" marR="0" rtl="0" algn="l">
                        <a:lnSpc>
                          <a:spcPct val="106000"/>
                        </a:lnSpc>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e-DE" sz="1050">
                          <a:solidFill>
                            <a:schemeClr val="dk2"/>
                          </a:solidFill>
                        </a:rPr>
                        <a:t>Erneuerbarer Energieverbrauch</a:t>
                      </a:r>
                      <a:r>
                        <a:rPr b="1" lang="de-DE"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e-DE" sz="1050">
                          <a:solidFill>
                            <a:schemeClr val="dk2"/>
                          </a:solidFill>
                        </a:rPr>
                        <a:t>Nicht erneuerbarer Energieverbrauch</a:t>
                      </a:r>
                      <a:r>
                        <a:rPr b="1" lang="de-DE"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Gesamtenergieverbrauch (MWh)</a:t>
                      </a:r>
                      <a:endParaRPr/>
                    </a:p>
                    <a:p>
                      <a:pPr indent="0" lvl="0" marL="0" marR="0" rtl="0" algn="r">
                        <a:lnSpc>
                          <a:spcPct val="106000"/>
                        </a:lnSpc>
                        <a:spcBef>
                          <a:spcPts val="0"/>
                        </a:spcBef>
                        <a:spcAft>
                          <a:spcPts val="0"/>
                        </a:spcAft>
                        <a:buClr>
                          <a:srgbClr val="1B4528"/>
                        </a:buClr>
                        <a:buSzPts val="1200"/>
                        <a:buFont typeface="IBM Plex Sans"/>
                        <a:buNone/>
                      </a:pPr>
                      <a:r>
                        <a:rPr b="1" lang="de-DE"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565">
                <a:tc>
                  <a:txBody>
                    <a:bodyPr/>
                    <a:lstStyle/>
                    <a:p>
                      <a:pPr indent="0" lvl="0" marL="0" marR="0" rtl="0" algn="l">
                        <a:lnSpc>
                          <a:spcPct val="106000"/>
                        </a:lnSpc>
                        <a:spcBef>
                          <a:spcPts val="0"/>
                        </a:spcBef>
                        <a:spcAft>
                          <a:spcPts val="0"/>
                        </a:spcAft>
                        <a:buNone/>
                      </a:pPr>
                      <a:r>
                        <a:rPr b="1" lang="de-DE" sz="1050">
                          <a:solidFill>
                            <a:schemeClr val="dk2"/>
                          </a:solidFill>
                        </a:rPr>
                        <a:t>Strom </a:t>
                      </a:r>
                      <a:r>
                        <a:rPr b="0" lang="de-DE" sz="1050">
                          <a:solidFill>
                            <a:schemeClr val="dk2"/>
                          </a:solidFill>
                        </a:rPr>
                        <a:t>(wie in den Rechnungen der Versorgungsunternehmen angegeben)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{{electricity_renewable}}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{{electricity_non_rewenable}}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{{total_electricity}}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de-DE" sz="1050">
                          <a:solidFill>
                            <a:schemeClr val="dk2"/>
                          </a:solidFill>
                        </a:rPr>
                        <a:t>Kraft-/Brennstoffe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{{fuel_renewable}}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{{fuel_non_rewenable}}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{{total_fuel}}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de-DE" sz="1050">
                          <a:solidFill>
                            <a:schemeClr val="dk2"/>
                          </a:solidFill>
                        </a:rPr>
                        <a:t>Sonstiges (z. B. Fernwärme)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{{district_heating_rewenable}}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{{district_heating_non_rewenable}}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{{total_district_heating}}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de-DE" sz="1050">
                          <a:solidFill>
                            <a:schemeClr val="dk2"/>
                          </a:solidFill>
                        </a:rPr>
                        <a:t>Insgesamt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{{renewable_energy_total}}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{{non_rewenable_energy_total}}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{{total_energy_consumption}}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8050571" y="775104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03" name="Google Shape;103;p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04" name="Google Shape;104;p6"/>
          <p:cNvSpPr txBox="1"/>
          <p:nvPr/>
        </p:nvSpPr>
        <p:spPr>
          <a:xfrm>
            <a:off x="443369" y="898217"/>
            <a:ext cx="9803131" cy="361679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de-DE" sz="1050" u="none" strike="noStrike">
                <a:solidFill>
                  <a:schemeClr val="dk2"/>
                </a:solidFill>
                <a:latin typeface="Inter"/>
                <a:ea typeface="Inter"/>
                <a:cs typeface="Inter"/>
                <a:sym typeface="Inter"/>
              </a:rPr>
              <a:t>Dieser Abschnitt gibt die CO2-Emissionen aus dem Energieverbrauch an, aufgeteilt in erneuerbaren und nicht erneuerbaren Verbrauch. </a:t>
            </a:r>
            <a:r>
              <a:rPr lang="de-DE" sz="1050">
                <a:solidFill>
                  <a:schemeClr val="dk2"/>
                </a:solidFill>
                <a:latin typeface="Inter"/>
                <a:ea typeface="Inter"/>
                <a:cs typeface="Inter"/>
                <a:sym typeface="Inter"/>
              </a:rPr>
              <a:t>Die Emissionen werden nach </a:t>
            </a:r>
            <a:r>
              <a:rPr b="0" i="0" lang="de-DE" sz="1050" u="none" strike="noStrike">
                <a:solidFill>
                  <a:schemeClr val="dk2"/>
                </a:solidFill>
                <a:latin typeface="Inter"/>
                <a:ea typeface="Inter"/>
                <a:cs typeface="Inter"/>
                <a:sym typeface="Inter"/>
              </a:rPr>
              <a:t>den Festlegungen des THG-Protokolls zu direkten und indirekten Emissionen angegeben. </a:t>
            </a:r>
            <a:br>
              <a:rPr b="0" i="0" lang="de-DE" sz="1050" u="none" strike="noStrike">
                <a:solidFill>
                  <a:schemeClr val="dk1"/>
                </a:solidFill>
                <a:latin typeface="Inter"/>
                <a:ea typeface="Inter"/>
                <a:cs typeface="Inter"/>
                <a:sym typeface="Inter"/>
              </a:rPr>
            </a:br>
            <a:br>
              <a:rPr lang="de-DE" sz="1050">
                <a:solidFill>
                  <a:schemeClr val="dk1"/>
                </a:solidFill>
                <a:latin typeface="Inter"/>
                <a:ea typeface="Inter"/>
                <a:cs typeface="Inter"/>
                <a:sym typeface="Inter"/>
              </a:rPr>
            </a:br>
            <a:r>
              <a:rPr b="0" i="0" lang="de-DE" sz="700" u="none" strike="noStrike">
                <a:solidFill>
                  <a:schemeClr val="dk2"/>
                </a:solidFill>
                <a:latin typeface="Inter"/>
                <a:ea typeface="Inter"/>
                <a:cs typeface="Inter"/>
                <a:sym typeface="Inter"/>
              </a:rPr>
              <a:t> </a:t>
            </a:r>
            <a:endParaRPr b="0" i="0" sz="105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57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de-DE" sz="1575">
                <a:solidFill>
                  <a:schemeClr val="dk1"/>
                </a:solidFill>
                <a:latin typeface="IBM Plex Sans"/>
                <a:ea typeface="IBM Plex Sans"/>
                <a:cs typeface="IBM Plex Sans"/>
                <a:sym typeface="IBM Plex Sans"/>
              </a:rPr>
            </a:br>
            <a:r>
              <a:rPr b="1" i="0" lang="de-DE" sz="1575" u="none" strike="noStrike">
                <a:solidFill>
                  <a:schemeClr val="dk2"/>
                </a:solidFill>
                <a:latin typeface="IBM Plex Sans"/>
                <a:ea typeface="IBM Plex Sans"/>
                <a:cs typeface="IBM Plex Sans"/>
                <a:sym typeface="IBM Plex Sans"/>
              </a:rPr>
              <a:t>CO₂e-Emissionen (B3)</a:t>
            </a:r>
            <a:endParaRPr sz="1575">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de-DE" sz="700">
                <a:solidFill>
                  <a:schemeClr val="dk1"/>
                </a:solidFill>
                <a:latin typeface="Inter"/>
                <a:ea typeface="Inter"/>
                <a:cs typeface="Inter"/>
                <a:sym typeface="Inter"/>
              </a:rPr>
              <a:t> </a:t>
            </a:r>
            <a:br>
              <a:rPr lang="de-DE" sz="1050">
                <a:solidFill>
                  <a:schemeClr val="dk2"/>
                </a:solidFill>
                <a:latin typeface="Inter"/>
                <a:ea typeface="Inter"/>
                <a:cs typeface="Inter"/>
                <a:sym typeface="Inter"/>
              </a:rPr>
            </a:br>
            <a:r>
              <a:rPr b="0" i="0" lang="de-DE" sz="1050" u="none" strike="noStrike">
                <a:solidFill>
                  <a:schemeClr val="dk2"/>
                </a:solidFill>
                <a:latin typeface="Inter"/>
                <a:ea typeface="Inter"/>
                <a:cs typeface="Inter"/>
                <a:sym typeface="Inter"/>
              </a:rPr>
              <a:t>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1050">
                <a:solidFill>
                  <a:schemeClr val="dk2"/>
                </a:solidFill>
                <a:latin typeface="Inter"/>
                <a:ea typeface="Inter"/>
                <a:cs typeface="Inter"/>
                <a:sym typeface="Inter"/>
              </a:rPr>
              <a:t> </a:t>
            </a:r>
            <a:r>
              <a:rPr b="0" i="0" lang="de-DE" sz="1050" u="none" strike="noStrike">
                <a:solidFill>
                  <a:schemeClr val="dk2"/>
                </a:solidFill>
                <a:latin typeface="Inter"/>
                <a:ea typeface="Inter"/>
                <a:cs typeface="Inter"/>
                <a:sym typeface="Inter"/>
              </a:rPr>
              <a:t>Scope 2</a:t>
            </a:r>
            <a:r>
              <a:rPr lang="de-DE" sz="1050">
                <a:solidFill>
                  <a:schemeClr val="dk2"/>
                </a:solidFill>
                <a:latin typeface="Inter"/>
                <a:ea typeface="Inter"/>
                <a:cs typeface="Inter"/>
                <a:sym typeface="Inter"/>
              </a:rPr>
              <a:t> umfasst i</a:t>
            </a:r>
            <a:r>
              <a:rPr b="0" i="0" lang="de-DE" sz="1050" u="none" strike="noStrike">
                <a:solidFill>
                  <a:schemeClr val="dk2"/>
                </a:solidFill>
                <a:latin typeface="Inter"/>
                <a:ea typeface="Inter"/>
                <a:cs typeface="Inter"/>
                <a:sym typeface="Inter"/>
              </a:rPr>
              <a:t>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b="0" sz="1050">
              <a:solidFill>
                <a:schemeClr val="dk2"/>
              </a:solidFill>
              <a:latin typeface="Inter"/>
              <a:ea typeface="Inter"/>
              <a:cs typeface="Inter"/>
              <a:sym typeface="Inter"/>
            </a:endParaRPr>
          </a:p>
        </p:txBody>
      </p:sp>
      <p:graphicFrame>
        <p:nvGraphicFramePr>
          <p:cNvPr id="105" name="Google Shape;105;p6"/>
          <p:cNvGraphicFramePr/>
          <p:nvPr/>
        </p:nvGraphicFramePr>
        <p:xfrm>
          <a:off x="445491" y="5125324"/>
          <a:ext cx="2630906" cy="2630906"/>
        </p:xfrm>
        <a:graphic>
          <a:graphicData uri="http://schemas.openxmlformats.org/drawingml/2006/table">
            <a:tbl>
              <a:tblPr firstRow="1">
                <a:noFill/>
                <a:tableStyleId>{08659190-FCFE-4D70-9B86-54A6606F5F58}</a:tableStyleId>
              </a:tblPr>
              <a:tblGrid>
                <a:gridCol w="7759812"/>
                <a:gridCol w="2041188"/>
              </a:tblGrid>
              <a:tr h="238492">
                <a:tc>
                  <a:txBody>
                    <a:bodyPr/>
                    <a:lstStyle/>
                    <a:p>
                      <a:pPr indent="0" lvl="0" marL="0" marR="0" rtl="0" algn="l">
                        <a:lnSpc>
                          <a:spcPct val="106000"/>
                        </a:lnSpc>
                        <a:spcBef>
                          <a:spcPts val="0"/>
                        </a:spcBef>
                        <a:spcAft>
                          <a:spcPts val="0"/>
                        </a:spcAft>
                        <a:buNone/>
                      </a:pPr>
                      <a:r>
                        <a:rPr b="1" lang="de-DE" sz="1050">
                          <a:solidFill>
                            <a:schemeClr val="dk2"/>
                          </a:solidFill>
                        </a:rPr>
                        <a:t>Treibhausgasemissionen </a:t>
                      </a:r>
                      <a:r>
                        <a:rPr b="0" lang="de-DE" sz="1050">
                          <a:solidFill>
                            <a:schemeClr val="dk2"/>
                          </a:solidFill>
                        </a:rPr>
                        <a:t>(Nr.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Jahr </a:t>
                      </a:r>
                      <a:r>
                        <a:rPr b="1" lang="de-DE" sz="1050">
                          <a:solidFill>
                            <a:srgbClr val="1B4528"/>
                          </a:solidFill>
                          <a:latin typeface="Calibri"/>
                          <a:ea typeface="Calibri"/>
                          <a:cs typeface="Calibri"/>
                          <a:sym typeface="Calibri"/>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7483">
                <a:tc>
                  <a:txBody>
                    <a:bodyPr/>
                    <a:lstStyle/>
                    <a:p>
                      <a:pPr indent="0" lvl="0" marL="0" marR="0" rtl="0" algn="l">
                        <a:lnSpc>
                          <a:spcPct val="106000"/>
                        </a:lnSpc>
                        <a:spcBef>
                          <a:spcPts val="0"/>
                        </a:spcBef>
                        <a:spcAft>
                          <a:spcPts val="0"/>
                        </a:spcAft>
                        <a:buNone/>
                      </a:pPr>
                      <a:r>
                        <a:rPr b="1" lang="de-DE" sz="1050">
                          <a:solidFill>
                            <a:schemeClr val="dk2"/>
                          </a:solidFill>
                        </a:rPr>
                        <a:t>Scope-1-CO₂e-Emissionen</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{{scope1}}</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de-DE" sz="1050">
                          <a:solidFill>
                            <a:schemeClr val="dk2"/>
                          </a:solidFill>
                        </a:rPr>
                        <a:t>Scope-2-CO₂e-Emissionen (standortbezogen)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{{scope2}}</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de-DE" sz="1050">
                          <a:solidFill>
                            <a:schemeClr val="dk2"/>
                          </a:solidFill>
                        </a:rPr>
                        <a:t>Gesamte CO₂e-Emissionen aus Scope 1 und Scope 2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{{total_scope}}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06" name="B3 market-based (voluntary)"/>
          <p:cNvGraphicFramePr/>
          <p:nvPr/>
        </p:nvGraphicFramePr>
        <p:xfrm>
          <a:off x="445491" y="6252820"/>
          <a:ext cx="2630906" cy="474966"/>
        </p:xfrm>
        <a:graphic>
          <a:graphicData uri="http://schemas.openxmlformats.org/drawingml/2006/table">
            <a:tbl>
              <a:tblPr firstRow="0">
                <a:noFill/>
                <a:tableStyleId>{08659190-FCFE-4D70-9B86-54A6606F5F58}</a:tableStyleId>
              </a:tblPr>
              <a:tblGrid>
                <a:gridCol w="7759812"/>
                <a:gridCol w="2041188"/>
              </a:tblGrid>
              <a:tr h="237483">
                <a:tc>
                  <a:txBody>
                    <a:bodyPr/>
                    <a:lstStyle/>
                    <a:p>
                      <a:pPr indent="0" lvl="0" marL="0" marR="0" rtl="0" algn="l">
                        <a:lnSpc>
                          <a:spcPct val="106000"/>
                        </a:lnSpc>
                        <a:spcBef>
                          <a:spcPts val="0"/>
                        </a:spcBef>
                        <a:spcAft>
                          <a:spcPts val="0"/>
                        </a:spcAft>
                        <a:buNone/>
                      </a:pPr>
                      <a:r>
                        <a:rPr b="1" lang="de-DE" sz="1050">
                          <a:solidFill>
                            <a:schemeClr val="dk2"/>
                          </a:solidFill>
                        </a:rPr>
                        <a:t>Scope-2-CO₂e-Emissionen (marktbezogen) (freiwillig)</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{{scope1_marked}}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de-DE" sz="1050">
                          <a:solidFill>
                            <a:schemeClr val="dk2"/>
                          </a:solidFill>
                        </a:rPr>
                        <a:t>Gesamte CO₂e-Emissionen aus Scope 1 und Scope 2 (marktbezogen) (freiwillig)</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{{scope2_marked}}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Luft-, Wasser- und Bodenverschmutzung (B4)</a:t>
            </a:r>
            <a:endParaRPr/>
          </a:p>
        </p:txBody>
      </p:sp>
      <p:graphicFrame>
        <p:nvGraphicFramePr>
          <p:cNvPr id="112" name="Google Shape;112;p7"/>
          <p:cNvGraphicFramePr/>
          <p:nvPr/>
        </p:nvGraphicFramePr>
        <p:xfrm>
          <a:off x="445498" y="1458651"/>
          <a:ext cx="2630906" cy="2630906"/>
        </p:xfrm>
        <a:graphic>
          <a:graphicData uri="http://schemas.openxmlformats.org/drawingml/2006/table">
            <a:tbl>
              <a:tblPr firstRow="1">
                <a:noFill/>
                <a:tableStyleId>{08659190-FCFE-4D70-9B86-54A6606F5F58}</a:tableStyleId>
              </a:tblPr>
              <a:tblGrid>
                <a:gridCol w="3099842"/>
                <a:gridCol w="2988796"/>
                <a:gridCol w="3695918"/>
              </a:tblGrid>
              <a:tr h="245047">
                <a:tc gridSpan="3">
                  <a:txBody>
                    <a:bodyPr/>
                    <a:lstStyle/>
                    <a:p>
                      <a:pPr indent="0" lvl="0" marL="0" marR="0" rtl="0" algn="l">
                        <a:lnSpc>
                          <a:spcPct val="106000"/>
                        </a:lnSpc>
                        <a:spcBef>
                          <a:spcPts val="0"/>
                        </a:spcBef>
                        <a:spcAft>
                          <a:spcPts val="0"/>
                        </a:spcAft>
                        <a:buNone/>
                      </a:pPr>
                      <a:r>
                        <a:rPr b="1" lang="de-DE" sz="1050">
                          <a:solidFill>
                            <a:schemeClr val="dk2"/>
                          </a:solidFill>
                        </a:rPr>
                        <a:t>Luft-, Wasser- und Bodenverschmutzung </a:t>
                      </a:r>
                      <a:r>
                        <a:rPr b="0" lang="de-DE" sz="1050">
                          <a:solidFill>
                            <a:schemeClr val="dk2"/>
                          </a:solidFill>
                        </a:rPr>
                        <a:t>(Nr. 34)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45047">
                <a:tc>
                  <a:txBody>
                    <a:bodyPr/>
                    <a:lstStyle/>
                    <a:p>
                      <a:pPr indent="0" lvl="0" marL="0" marR="0" rtl="0" algn="l">
                        <a:lnSpc>
                          <a:spcPct val="106000"/>
                        </a:lnSpc>
                        <a:spcBef>
                          <a:spcPts val="0"/>
                        </a:spcBef>
                        <a:spcAft>
                          <a:spcPts val="0"/>
                        </a:spcAft>
                        <a:buClr>
                          <a:schemeClr val="dk2"/>
                        </a:buClr>
                        <a:buSzPts val="1200"/>
                        <a:buFont typeface="IBM Plex Sans"/>
                        <a:buNone/>
                      </a:pPr>
                      <a:r>
                        <a:rPr b="1" lang="de-DE" sz="1050">
                          <a:solidFill>
                            <a:schemeClr val="dk2"/>
                          </a:solidFill>
                        </a:rPr>
                        <a:t>Art der Verschmutzung </a:t>
                      </a:r>
                      <a:r>
                        <a:rPr b="0" lang="de-DE" sz="1050">
                          <a:solidFill>
                            <a:schemeClr val="dk2"/>
                          </a:solidFill>
                        </a:rPr>
                        <a:t>(z. B. Schadstoff)</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e-DE" sz="1050">
                          <a:solidFill>
                            <a:schemeClr val="dk2"/>
                          </a:solidFill>
                        </a:rPr>
                        <a:t>Wo? </a:t>
                      </a:r>
                      <a:r>
                        <a:rPr b="0" lang="de-DE" sz="1050">
                          <a:solidFill>
                            <a:schemeClr val="dk2"/>
                          </a:solidFill>
                        </a:rPr>
                        <a:t>(Luft, Wasser, Boden)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e-DE" sz="1050">
                          <a:solidFill>
                            <a:schemeClr val="dk2"/>
                          </a:solidFill>
                        </a:rPr>
                        <a:t>Menge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11459">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{{type_of_pollution}}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{{scope_pollution}}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{{pollution_medium}}</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14" name="Google Shape;114;p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15" name="Google Shape;115;p7"/>
          <p:cNvSpPr txBox="1"/>
          <p:nvPr/>
        </p:nvSpPr>
        <p:spPr>
          <a:xfrm>
            <a:off x="461968" y="891000"/>
            <a:ext cx="9784532"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berichtet die Gesamtmenge der Schadstoffe, die aus seinen Anlagen emittiert werden. Die Angaben zu den einzelnen Schadstoffen und deren Mengen, die in Luft, Wasser und Boden emittiert werden,</a:t>
            </a:r>
            <a:r>
              <a:rPr lang="de-DE" sz="1050">
                <a:solidFill>
                  <a:schemeClr val="dk2"/>
                </a:solidFill>
                <a:latin typeface="Inter"/>
                <a:ea typeface="Inter"/>
                <a:cs typeface="Inter"/>
                <a:sym typeface="Inter"/>
              </a:rPr>
              <a:t> sind nachstehend aufgeführt.</a:t>
            </a:r>
            <a:endParaRPr/>
          </a:p>
        </p:txBody>
      </p:sp>
      <p:sp>
        <p:nvSpPr>
          <p:cNvPr id="116" name="Google Shape;116;p7"/>
          <p:cNvSpPr txBox="1"/>
          <p:nvPr/>
        </p:nvSpPr>
        <p:spPr>
          <a:xfrm>
            <a:off x="454796" y="2945868"/>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575">
                <a:solidFill>
                  <a:schemeClr val="dk2"/>
                </a:solidFill>
                <a:latin typeface="IBM Plex Sans"/>
                <a:ea typeface="IBM Plex Sans"/>
                <a:cs typeface="IBM Plex Sans"/>
                <a:sym typeface="IBM Plex Sans"/>
              </a:rPr>
              <a:t>Biodiversität (B5) </a:t>
            </a:r>
            <a:endParaRPr/>
          </a:p>
        </p:txBody>
      </p:sp>
      <p:graphicFrame>
        <p:nvGraphicFramePr>
          <p:cNvPr id="117" name="Google Shape;117;p7"/>
          <p:cNvGraphicFramePr/>
          <p:nvPr/>
        </p:nvGraphicFramePr>
        <p:xfrm>
          <a:off x="454795" y="4100380"/>
          <a:ext cx="2630906" cy="2630906"/>
        </p:xfrm>
        <a:graphic>
          <a:graphicData uri="http://schemas.openxmlformats.org/drawingml/2006/table">
            <a:tbl>
              <a:tblPr firstRow="1">
                <a:noFill/>
                <a:tableStyleId>{08659190-FCFE-4D70-9B86-54A6606F5F58}</a:tableStyleId>
              </a:tblPr>
              <a:tblGrid>
                <a:gridCol w="1778426"/>
                <a:gridCol w="2671093"/>
                <a:gridCol w="2671093"/>
                <a:gridCol w="2671093"/>
              </a:tblGrid>
              <a:tr h="202470">
                <a:tc gridSpan="4">
                  <a:txBody>
                    <a:bodyPr/>
                    <a:lstStyle/>
                    <a:p>
                      <a:pPr indent="0" lvl="0" marL="0" marR="0" rtl="0" algn="l">
                        <a:spcBef>
                          <a:spcPts val="0"/>
                        </a:spcBef>
                        <a:spcAft>
                          <a:spcPts val="0"/>
                        </a:spcAft>
                        <a:buNone/>
                      </a:pPr>
                      <a:r>
                        <a:rPr b="1" lang="de-DE" sz="1050">
                          <a:solidFill>
                            <a:schemeClr val="dk2"/>
                          </a:solidFill>
                        </a:rPr>
                        <a:t>Standorte in oder in der Nähe von ‚Gebieten mit schutzbedürftiger Biodiversität‘, die das Unternehmen besitzt, gepachtet hat oder bewirtschaftet </a:t>
                      </a:r>
                      <a:r>
                        <a:rPr b="0" lang="de-DE" sz="1050">
                          <a:solidFill>
                            <a:schemeClr val="dk2"/>
                          </a:solidFill>
                        </a:rPr>
                        <a:t>(Nr. 35)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2751">
                <a:tc>
                  <a:txBody>
                    <a:bodyPr/>
                    <a:lstStyle/>
                    <a:p>
                      <a:pPr indent="0" lvl="0" marL="0" marR="0" rtl="0" algn="l">
                        <a:spcBef>
                          <a:spcPts val="0"/>
                        </a:spcBef>
                        <a:spcAft>
                          <a:spcPts val="0"/>
                        </a:spcAft>
                        <a:buNone/>
                      </a:pPr>
                      <a:r>
                        <a:rPr b="1" lang="de-DE" sz="1050">
                          <a:solidFill>
                            <a:schemeClr val="dk2"/>
                          </a:solidFill>
                        </a:rPr>
                        <a:t>Standort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Fläche in Hektar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Gebiet mit schutzbedürftiger Biodiversität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Angabe: in oder in der Nähe eines Gebiets mit schutzbedürftiger Biodiversität</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8207">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{{country_location}}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 {{area_hect}}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{{area_name}}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{{biosensitive_area}}</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445499" y="3291561"/>
            <a:ext cx="979170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endParaRPr sz="105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Wasser (B6)</a:t>
            </a:r>
            <a:endParaRPr/>
          </a:p>
        </p:txBody>
      </p:sp>
      <p:graphicFrame>
        <p:nvGraphicFramePr>
          <p:cNvPr id="125" name="Google Shape;125;p8"/>
          <p:cNvGraphicFramePr/>
          <p:nvPr/>
        </p:nvGraphicFramePr>
        <p:xfrm>
          <a:off x="454796" y="1505077"/>
          <a:ext cx="4220433" cy="983885"/>
        </p:xfrm>
        <a:graphic>
          <a:graphicData uri="http://schemas.openxmlformats.org/drawingml/2006/table">
            <a:tbl>
              <a:tblPr firstRow="1">
                <a:noFill/>
                <a:tableStyleId>{08659190-FCFE-4D70-9B86-54A6606F5F58}</a:tableStyleId>
              </a:tblPr>
              <a:tblGrid>
                <a:gridCol w="2707421"/>
                <a:gridCol w="1513012"/>
              </a:tblGrid>
              <a:tr h="501084">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Wasserentnahme </a:t>
                      </a:r>
                      <a:r>
                        <a:rPr b="0" lang="de-DE" sz="1050">
                          <a:solidFill>
                            <a:schemeClr val="dk2"/>
                          </a:solidFill>
                        </a:rPr>
                        <a:t>(Nr. 36)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Jahr </a:t>
                      </a:r>
                      <a:r>
                        <a:rPr b="1" lang="de-DE"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82801">
                <a:tc>
                  <a:txBody>
                    <a:bodyPr/>
                    <a:lstStyle/>
                    <a:p>
                      <a:pPr indent="0" lvl="0" marL="0" marR="0" rtl="0" algn="l">
                        <a:spcBef>
                          <a:spcPts val="0"/>
                        </a:spcBef>
                        <a:spcAft>
                          <a:spcPts val="0"/>
                        </a:spcAft>
                        <a:buNone/>
                      </a:pPr>
                      <a:r>
                        <a:rPr b="0" lang="de-DE" sz="1050">
                          <a:solidFill>
                            <a:schemeClr val="dk2"/>
                          </a:solidFill>
                        </a:rPr>
                        <a:t>Insgesamt für alle Standorte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de-DE" sz="1050" u="none" cap="none" strike="noStrike">
                          <a:solidFill>
                            <a:srgbClr val="1B4528"/>
                          </a:solidFill>
                          <a:latin typeface="IBM Plex Sans"/>
                          <a:ea typeface="IBM Plex Sans"/>
                          <a:cs typeface="IBM Plex Sans"/>
                          <a:sym typeface="IBM Plex Sans"/>
                        </a:rPr>
                        <a:t>{{total_withdrawal}}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4856790" y="1505077"/>
          <a:ext cx="5389717" cy="983885"/>
        </p:xfrm>
        <a:graphic>
          <a:graphicData uri="http://schemas.openxmlformats.org/drawingml/2006/table">
            <a:tbl>
              <a:tblPr firstRow="1">
                <a:noFill/>
                <a:tableStyleId>{08659190-FCFE-4D70-9B86-54A6606F5F58}</a:tableStyleId>
              </a:tblPr>
              <a:tblGrid>
                <a:gridCol w="4061899"/>
                <a:gridCol w="1327818"/>
              </a:tblGrid>
              <a:tr h="252567">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Wasserverbrauch </a:t>
                      </a:r>
                      <a:r>
                        <a:rPr b="0" lang="de-DE" sz="1050">
                          <a:solidFill>
                            <a:schemeClr val="dk2"/>
                          </a:solidFill>
                        </a:rPr>
                        <a:t>(Nr. 37)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Jahr </a:t>
                      </a:r>
                      <a:r>
                        <a:rPr b="1" lang="de-DE"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376">
                <a:tc>
                  <a:txBody>
                    <a:bodyPr/>
                    <a:lstStyle/>
                    <a:p>
                      <a:pPr indent="0" lvl="0" marL="0" marR="0" rtl="0" algn="l">
                        <a:spcBef>
                          <a:spcPts val="0"/>
                        </a:spcBef>
                        <a:spcAft>
                          <a:spcPts val="0"/>
                        </a:spcAft>
                        <a:buNone/>
                      </a:pPr>
                      <a:r>
                        <a:rPr b="0" lang="de-DE" sz="1050">
                          <a:solidFill>
                            <a:schemeClr val="dk2"/>
                          </a:solidFill>
                        </a:rPr>
                        <a:t>Insgesamt für alle Standorte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{{consumption_total}}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3942">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rPr>
                        <a:t>Von Standorten in Gebieten mit Wasserknappheit (hoher Wasserstress)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{{consumption_waterstress}}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28" name="Google Shape;128;p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29" name="Google Shape;129;p8"/>
          <p:cNvSpPr txBox="1"/>
          <p:nvPr/>
        </p:nvSpPr>
        <p:spPr>
          <a:xfrm>
            <a:off x="445500" y="901932"/>
            <a:ext cx="9800999"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Wasserentnahme ist die vom Unternehmen genutzte Wassermenge, wobei </a:t>
            </a:r>
            <a:r>
              <a:rPr lang="de-DE" sz="1050">
                <a:solidFill>
                  <a:schemeClr val="dk2"/>
                </a:solidFill>
                <a:latin typeface="Inter"/>
                <a:ea typeface="Inter"/>
                <a:cs typeface="Inter"/>
                <a:sym typeface="Inter"/>
              </a:rPr>
              <a:t>der Verbrauch das Wasser bezeichnet, das </a:t>
            </a:r>
            <a:r>
              <a:rPr b="0" i="0" lang="de-DE" sz="1050" u="none" strike="noStrike">
                <a:solidFill>
                  <a:schemeClr val="dk2"/>
                </a:solidFill>
                <a:latin typeface="Inter"/>
                <a:ea typeface="Inter"/>
                <a:cs typeface="Inter"/>
                <a:sym typeface="Inter"/>
              </a:rPr>
              <a:t>nicht in Gewässer oder an Dritte abgeleitet wird bzw. werden soll. Dieser Abschnitt gibt die gesamte Wasserentnahme des Unternehmens an. Wasserverbrauch</a:t>
            </a:r>
            <a:r>
              <a:rPr lang="de-DE" sz="1050">
                <a:solidFill>
                  <a:schemeClr val="dk2"/>
                </a:solidFill>
                <a:latin typeface="Inter"/>
                <a:ea typeface="Inter"/>
                <a:cs typeface="Inter"/>
                <a:sym typeface="Inter"/>
              </a:rPr>
              <a:t> </a:t>
            </a:r>
            <a:r>
              <a:rPr b="0" i="0" lang="de-DE" sz="1050" u="none" strike="noStrike">
                <a:solidFill>
                  <a:schemeClr val="dk2"/>
                </a:solidFill>
                <a:latin typeface="Inter"/>
                <a:ea typeface="Inter"/>
                <a:cs typeface="Inter"/>
                <a:sym typeface="Inter"/>
              </a:rPr>
              <a:t>und Wasserableitung aus Gebieten mit hohem Wasserstress sind nachstehend aufgeführt.</a:t>
            </a:r>
            <a:endParaRPr b="0" sz="1050">
              <a:solidFill>
                <a:schemeClr val="dk2"/>
              </a:solidFill>
              <a:latin typeface="Inter"/>
              <a:ea typeface="Inter"/>
              <a:cs typeface="Inter"/>
              <a:sym typeface="Inter"/>
            </a:endParaRPr>
          </a:p>
        </p:txBody>
      </p:sp>
      <p:sp>
        <p:nvSpPr>
          <p:cNvPr id="130" name="Google Shape;130;p8"/>
          <p:cNvSpPr txBox="1"/>
          <p:nvPr/>
        </p:nvSpPr>
        <p:spPr>
          <a:xfrm>
            <a:off x="454796" y="2712904"/>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575">
                <a:solidFill>
                  <a:schemeClr val="dk2"/>
                </a:solidFill>
                <a:latin typeface="IBM Plex Sans"/>
                <a:ea typeface="IBM Plex Sans"/>
                <a:cs typeface="IBM Plex Sans"/>
                <a:sym typeface="IBM Plex Sans"/>
              </a:rPr>
              <a:t>Ressourcennutzung, Kreislaufwirtschaft und Abfallbewirtschaftung (B7) </a:t>
            </a:r>
            <a:endParaRPr/>
          </a:p>
        </p:txBody>
      </p:sp>
      <p:graphicFrame>
        <p:nvGraphicFramePr>
          <p:cNvPr id="131" name="Google Shape;131;p8"/>
          <p:cNvGraphicFramePr/>
          <p:nvPr/>
        </p:nvGraphicFramePr>
        <p:xfrm>
          <a:off x="4856790" y="3128095"/>
          <a:ext cx="5380421" cy="1360369"/>
        </p:xfrm>
        <a:graphic>
          <a:graphicData uri="http://schemas.openxmlformats.org/drawingml/2006/table">
            <a:tbl>
              <a:tblPr firstRow="1">
                <a:noFill/>
                <a:tableStyleId>{08659190-FCFE-4D70-9B86-54A6606F5F58}</a:tableStyleId>
              </a:tblPr>
              <a:tblGrid>
                <a:gridCol w="2128534"/>
                <a:gridCol w="1654028"/>
                <a:gridCol w="1597859"/>
              </a:tblGrid>
              <a:tr h="356518">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Anwendung der Grundsätze der Kreislaufwirtschaft </a:t>
                      </a:r>
                      <a:r>
                        <a:rPr b="0" lang="de-DE" sz="1050">
                          <a:solidFill>
                            <a:schemeClr val="dk2"/>
                          </a:solidFill>
                        </a:rPr>
                        <a:t>(Nr. 38)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685611">
                <a:tc rowSpan="2">
                  <a:txBody>
                    <a:bodyPr/>
                    <a:lstStyle/>
                    <a:p>
                      <a:pPr indent="0" lvl="0" marL="0" marR="0" rtl="0" algn="l">
                        <a:spcBef>
                          <a:spcPts val="0"/>
                        </a:spcBef>
                        <a:spcAft>
                          <a:spcPts val="0"/>
                        </a:spcAft>
                        <a:buNone/>
                      </a:pPr>
                      <a:r>
                        <a:rPr b="0" lang="de-DE" sz="1050">
                          <a:solidFill>
                            <a:schemeClr val="dk2"/>
                          </a:solidFill>
                        </a:rPr>
                        <a:t>Mein Unternehmen wendet Kreislaufgrundsätze an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050">
                          <a:solidFill>
                            <a:schemeClr val="dk2"/>
                          </a:solidFill>
                        </a:rPr>
                        <a:t>Ja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050">
                          <a:solidFill>
                            <a:schemeClr val="dk2"/>
                          </a:solidFill>
                        </a:rPr>
                        <a:t>Nein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19952">
                <a:tc vMerge="1"/>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{{circular_economy_princples_yes}}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{{circular_economy_princples_no?}}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445498" y="4044990"/>
          <a:ext cx="9791704" cy="2630906"/>
        </p:xfrm>
        <a:graphic>
          <a:graphicData uri="http://schemas.openxmlformats.org/drawingml/2006/table">
            <a:tbl>
              <a:tblPr firstRow="1">
                <a:noFill/>
                <a:tableStyleId>{08659190-FCFE-4D70-9B86-54A6606F5F58}</a:tableStyleId>
              </a:tblPr>
              <a:tblGrid>
                <a:gridCol w="9791704"/>
              </a:tblGrid>
              <a:tr h="256667">
                <a:tc>
                  <a:txBody>
                    <a:bodyPr/>
                    <a:lstStyle/>
                    <a:p>
                      <a:pPr indent="0" lvl="0" marL="0" marR="0" rtl="0" algn="l">
                        <a:spcBef>
                          <a:spcPts val="0"/>
                        </a:spcBef>
                        <a:spcAft>
                          <a:spcPts val="0"/>
                        </a:spcAft>
                        <a:buNone/>
                      </a:pPr>
                      <a:r>
                        <a:rPr b="1" lang="de-DE" sz="1050">
                          <a:solidFill>
                            <a:schemeClr val="dk2"/>
                          </a:solidFill>
                        </a:rPr>
                        <a:t>Beschreibung, wie das Unternehmen die Grundsätze der Kreislaufwirtschaft anwendet </a:t>
                      </a:r>
                      <a:r>
                        <a:rPr b="0" lang="de-DE" sz="1050">
                          <a:solidFill>
                            <a:schemeClr val="dk2"/>
                          </a:solidFill>
                        </a:rPr>
                        <a:t>(Nr. 38 Fortsetzung)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293222">
                <a:tc>
                  <a:txBody>
                    <a:bodyPr/>
                    <a:lstStyle/>
                    <a:p>
                      <a:pPr indent="0" lvl="0" marL="0" marR="0" rtl="0" algn="l">
                        <a:spcBef>
                          <a:spcPts val="0"/>
                        </a:spcBef>
                        <a:spcAft>
                          <a:spcPts val="0"/>
                        </a:spcAft>
                        <a:buNone/>
                      </a:pPr>
                      <a:r>
                        <a:rPr b="0" lang="de-DE" sz="1050">
                          <a:solidFill>
                            <a:srgbClr val="1B4528"/>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445765" y="3118370"/>
            <a:ext cx="424752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Diese Angabepflicht informiert darüber, ob das Unternehmen</a:t>
            </a:r>
            <a:r>
              <a:rPr lang="de-DE" sz="1050">
                <a:solidFill>
                  <a:schemeClr val="dk2"/>
                </a:solidFill>
                <a:latin typeface="Inter"/>
                <a:ea typeface="Inter"/>
                <a:cs typeface="Inter"/>
                <a:sym typeface="Inter"/>
              </a:rPr>
              <a:t> die Grundsätze der Kreislaufwirtschaft anwendet, u. a. Grundsätze zur Verringerung von Abfall und Umweltverschmutzung sowie einen Fokus auf kreislauffähige Produkte und Materialien.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Ressourcennutzung, Kreislaufwirtschaft und Abfallbewirtschaftung (B7) – Fortsetzung</a:t>
            </a:r>
            <a:endParaRPr/>
          </a:p>
        </p:txBody>
      </p:sp>
      <p:graphicFrame>
        <p:nvGraphicFramePr>
          <p:cNvPr id="140" name="Google Shape;140;p9"/>
          <p:cNvGraphicFramePr/>
          <p:nvPr/>
        </p:nvGraphicFramePr>
        <p:xfrm>
          <a:off x="445499" y="1442996"/>
          <a:ext cx="6440259" cy="2060104"/>
        </p:xfrm>
        <a:graphic>
          <a:graphicData uri="http://schemas.openxmlformats.org/drawingml/2006/table">
            <a:tbl>
              <a:tblPr firstRow="1">
                <a:noFill/>
                <a:tableStyleId>{08659190-FCFE-4D70-9B86-54A6606F5F58}</a:tableStyleId>
              </a:tblPr>
              <a:tblGrid>
                <a:gridCol w="1995980"/>
                <a:gridCol w="2230328"/>
                <a:gridCol w="2213951"/>
              </a:tblGrid>
              <a:tr h="288172">
                <a:tc gridSpan="3">
                  <a:txBody>
                    <a:bodyPr/>
                    <a:lstStyle/>
                    <a:p>
                      <a:pPr indent="0" lvl="0" marL="0" marR="0" rtl="0" algn="ctr">
                        <a:spcBef>
                          <a:spcPts val="0"/>
                        </a:spcBef>
                        <a:spcAft>
                          <a:spcPts val="0"/>
                        </a:spcAft>
                        <a:buNone/>
                      </a:pPr>
                      <a:r>
                        <a:rPr b="1" lang="de-DE" sz="1050">
                          <a:solidFill>
                            <a:schemeClr val="dk2"/>
                          </a:solidFill>
                        </a:rPr>
                        <a:t>Jährliches Gesamtabfallaufkommen</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703894">
                <a:tc>
                  <a:txBody>
                    <a:bodyPr/>
                    <a:lstStyle/>
                    <a:p>
                      <a:pPr indent="0" lvl="0" marL="0" marR="0" rtl="0" algn="l">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Gesamtabfallmenge </a:t>
                      </a:r>
                      <a:r>
                        <a:rPr b="0" lang="de-DE" sz="1050">
                          <a:solidFill>
                            <a:schemeClr val="dk2"/>
                          </a:solidFill>
                        </a:rPr>
                        <a:t>(Nr. 39a)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Abfälle, die zum Recycling oder zur Vorbereitung der Wiederverwendung umgeleitet werden </a:t>
                      </a:r>
                      <a:r>
                        <a:rPr b="0" lang="de-DE" sz="1050">
                          <a:solidFill>
                            <a:schemeClr val="dk2"/>
                          </a:solidFill>
                        </a:rPr>
                        <a:t>(Nr. 39b)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29093">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Nicht gefährliche Abfälle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{{Type_af_affald}}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{{kg_tons_total}}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29093">
                <a:tc>
                  <a:txBody>
                    <a:bodyPr/>
                    <a:lstStyle/>
                    <a:p>
                      <a:pPr indent="0" lvl="0" marL="0" marR="0" rtl="0" algn="l">
                        <a:spcBef>
                          <a:spcPts val="0"/>
                        </a:spcBef>
                        <a:spcAft>
                          <a:spcPts val="0"/>
                        </a:spcAft>
                        <a:buNone/>
                      </a:pPr>
                      <a:r>
                        <a:rPr b="1" lang="de-DE" sz="1050">
                          <a:solidFill>
                            <a:schemeClr val="dk2"/>
                          </a:solidFill>
                        </a:rPr>
                        <a:t>Gefährliche Abfälle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{{Type_af_affald_farlig}}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{{farlig_kg_tons}}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{{farlig_genbrug_kg_tons}}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42" name="Google Shape;142;p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43" name="Google Shape;143;p9"/>
          <p:cNvSpPr txBox="1"/>
          <p:nvPr/>
        </p:nvSpPr>
        <p:spPr>
          <a:xfrm>
            <a:off x="454796" y="891000"/>
            <a:ext cx="9791704"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sz="1050">
              <a:solidFill>
                <a:schemeClr val="dk2"/>
              </a:solidFill>
              <a:latin typeface="Inter"/>
              <a:ea typeface="Inter"/>
              <a:cs typeface="Inter"/>
              <a:sym typeface="Inter"/>
            </a:endParaRPr>
          </a:p>
        </p:txBody>
      </p:sp>
      <p:graphicFrame>
        <p:nvGraphicFramePr>
          <p:cNvPr id="144" name="Google Shape;144;p9"/>
          <p:cNvGraphicFramePr/>
          <p:nvPr/>
        </p:nvGraphicFramePr>
        <p:xfrm>
          <a:off x="7156908" y="1442996"/>
          <a:ext cx="3080308" cy="2060104"/>
        </p:xfrm>
        <a:graphic>
          <a:graphicData uri="http://schemas.openxmlformats.org/drawingml/2006/table">
            <a:tbl>
              <a:tblPr firstRow="1">
                <a:noFill/>
                <a:tableStyleId>{08659190-FCFE-4D70-9B86-54A6606F5F58}</a:tableStyleId>
              </a:tblPr>
              <a:tblGrid>
                <a:gridCol w="1976314"/>
                <a:gridCol w="1103994"/>
              </a:tblGrid>
              <a:tr h="1107754">
                <a:tc>
                  <a:txBody>
                    <a:bodyPr/>
                    <a:lstStyle/>
                    <a:p>
                      <a:pPr indent="0" lvl="0" marL="0" marR="0" rtl="0" algn="l">
                        <a:spcBef>
                          <a:spcPts val="0"/>
                        </a:spcBef>
                        <a:spcAft>
                          <a:spcPts val="0"/>
                        </a:spcAft>
                        <a:buNone/>
                      </a:pPr>
                      <a:r>
                        <a:rPr b="1" lang="de-DE" sz="1050">
                          <a:solidFill>
                            <a:schemeClr val="dk2"/>
                          </a:solidFill>
                        </a:rPr>
                        <a:t>Relevante Materialien </a:t>
                      </a:r>
                      <a:r>
                        <a:rPr b="0" lang="de-DE" sz="1050">
                          <a:solidFill>
                            <a:schemeClr val="dk2"/>
                          </a:solidFill>
                        </a:rPr>
                        <a:t>(Nr. 39c)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Jährlicher Massenstrom </a:t>
                      </a:r>
                      <a:r>
                        <a:rPr b="1" lang="de-DE" sz="1050">
                          <a:solidFill>
                            <a:srgbClr val="1B4528"/>
                          </a:solidFill>
                        </a:rPr>
                        <a:t>{{insert_year}}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952349">
                <a:tc>
                  <a:txBody>
                    <a:bodyPr/>
                    <a:lstStyle/>
                    <a:p>
                      <a:pPr indent="0" lvl="0" marL="0" marR="0" rtl="0" algn="l">
                        <a:spcBef>
                          <a:spcPts val="0"/>
                        </a:spcBef>
                        <a:spcAft>
                          <a:spcPts val="0"/>
                        </a:spcAft>
                        <a:buNone/>
                      </a:pPr>
                      <a:r>
                        <a:rPr b="0" i="0" lang="de-DE" sz="1050" u="none" strike="noStrike">
                          <a:solidFill>
                            <a:srgbClr val="1B4528"/>
                          </a:solidFill>
                          <a:latin typeface="Inter"/>
                          <a:ea typeface="Inter"/>
                          <a:cs typeface="Inter"/>
                          <a:sym typeface="Inter"/>
                        </a:rPr>
                        <a:t>{{significant_material}}</a:t>
                      </a:r>
                      <a:endParaRPr b="0" sz="1050">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{{significant_material_unit}}</a:t>
                      </a:r>
                      <a:endParaRPr b="0" i="0" sz="1050" u="none" strike="noStrike">
                        <a:solidFill>
                          <a:srgbClr val="000000"/>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Eigene Arbeitskräfte: Allgemeine Merkmale (B8) </a:t>
            </a:r>
            <a:endParaRPr/>
          </a:p>
        </p:txBody>
      </p:sp>
      <p:graphicFrame>
        <p:nvGraphicFramePr>
          <p:cNvPr id="151" name="Google Shape;151;p10"/>
          <p:cNvGraphicFramePr/>
          <p:nvPr/>
        </p:nvGraphicFramePr>
        <p:xfrm>
          <a:off x="445493" y="1520475"/>
          <a:ext cx="4365900" cy="1619355"/>
        </p:xfrm>
        <a:graphic>
          <a:graphicData uri="http://schemas.openxmlformats.org/drawingml/2006/table">
            <a:tbl>
              <a:tblPr firstRow="1">
                <a:noFill/>
                <a:tableStyleId>{08659190-FCFE-4D70-9B86-54A6606F5F58}</a:tableStyleId>
              </a:tblPr>
              <a:tblGrid>
                <a:gridCol w="2182950"/>
                <a:gridCol w="2182950"/>
              </a:tblGrid>
              <a:tr h="545931">
                <a:tc>
                  <a:txBody>
                    <a:bodyPr/>
                    <a:lstStyle/>
                    <a:p>
                      <a:pPr indent="0" lvl="0" marL="0" marR="0" rtl="0" algn="l">
                        <a:spcBef>
                          <a:spcPts val="0"/>
                        </a:spcBef>
                        <a:spcAft>
                          <a:spcPts val="0"/>
                        </a:spcAft>
                        <a:buNone/>
                      </a:pPr>
                      <a:r>
                        <a:rPr b="1" lang="de-DE" sz="1050">
                          <a:solidFill>
                            <a:schemeClr val="dk2"/>
                          </a:solidFill>
                        </a:rPr>
                        <a:t>Art des Arbeitsvertrags </a:t>
                      </a:r>
                      <a:r>
                        <a:rPr b="0" lang="de-DE" sz="1050">
                          <a:solidFill>
                            <a:schemeClr val="dk2"/>
                          </a:solidFill>
                        </a:rPr>
                        <a:t>(Nr. 40a)</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Zahl der Beschäftigten (Anzahl der Personen oder Vollzeitäquivalente)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0855">
                <a:tc>
                  <a:txBody>
                    <a:bodyPr/>
                    <a:lstStyle/>
                    <a:p>
                      <a:pPr indent="0" lvl="0" marL="0" marR="0" rtl="0" algn="l">
                        <a:spcBef>
                          <a:spcPts val="0"/>
                        </a:spcBef>
                        <a:spcAft>
                          <a:spcPts val="0"/>
                        </a:spcAft>
                        <a:buNone/>
                      </a:pPr>
                      <a:r>
                        <a:rPr b="0" lang="de-DE" sz="1050">
                          <a:solidFill>
                            <a:schemeClr val="dk2"/>
                          </a:solidFill>
                        </a:rPr>
                        <a:t>Befristete Beschäftigung</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{{temporary}}</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60855">
                <a:tc>
                  <a:txBody>
                    <a:bodyPr/>
                    <a:lstStyle/>
                    <a:p>
                      <a:pPr indent="0" lvl="0" marL="0" marR="0" rtl="0" algn="l">
                        <a:spcBef>
                          <a:spcPts val="0"/>
                        </a:spcBef>
                        <a:spcAft>
                          <a:spcPts val="0"/>
                        </a:spcAft>
                        <a:buNone/>
                      </a:pPr>
                      <a:r>
                        <a:rPr b="0" lang="de-DE" sz="1050">
                          <a:solidFill>
                            <a:schemeClr val="dk2"/>
                          </a:solidFill>
                        </a:rPr>
                        <a:t>Unbefristete Beschäftigung</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{{fulltime}}</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1713">
                <a:tc>
                  <a:txBody>
                    <a:bodyPr/>
                    <a:lstStyle/>
                    <a:p>
                      <a:pPr indent="0" lvl="0" marL="0" marR="0" rtl="0" algn="l">
                        <a:spcBef>
                          <a:spcPts val="0"/>
                        </a:spcBef>
                        <a:spcAft>
                          <a:spcPts val="0"/>
                        </a:spcAft>
                        <a:buNone/>
                      </a:pPr>
                      <a:r>
                        <a:rPr b="0" lang="de-DE" sz="1050">
                          <a:solidFill>
                            <a:schemeClr val="dk2"/>
                          </a:solidFill>
                        </a:rPr>
                        <a:t>Beschäftigte insgesamt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008093" y="1520477"/>
          <a:ext cx="5238396" cy="1619353"/>
        </p:xfrm>
        <a:graphic>
          <a:graphicData uri="http://schemas.openxmlformats.org/drawingml/2006/table">
            <a:tbl>
              <a:tblPr firstRow="1">
                <a:noFill/>
                <a:tableStyleId>{08659190-FCFE-4D70-9B86-54A6606F5F58}</a:tableStyleId>
              </a:tblPr>
              <a:tblGrid>
                <a:gridCol w="2619198"/>
                <a:gridCol w="2619198"/>
              </a:tblGrid>
              <a:tr h="356518">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Geschlecht</a:t>
                      </a:r>
                      <a:r>
                        <a:rPr b="0" lang="de-DE" sz="1050">
                          <a:solidFill>
                            <a:schemeClr val="dk2"/>
                          </a:solidFill>
                          <a:latin typeface="IBM Plex Sans"/>
                          <a:ea typeface="IBM Plex Sans"/>
                          <a:cs typeface="IBM Plex Sans"/>
                          <a:sym typeface="IBM Plex Sans"/>
                        </a:rPr>
                        <a:t> (Nr. 40b)</a:t>
                      </a:r>
                      <a:endParaRPr b="0"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Zahl der Beschäftigten (Anzahl der Personen oder Vollzeitäquivalente)</a:t>
                      </a:r>
                      <a:endParaRPr b="1"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Männlich</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Weiblich</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{{women}}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Sonstiges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{{others}}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Nicht erfasst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{{not_registeret}}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Beschäftigte insgesamt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54" name="Google Shape;154;p1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55" name="Google Shape;155;p10"/>
          <p:cNvSpPr txBox="1"/>
          <p:nvPr/>
        </p:nvSpPr>
        <p:spPr>
          <a:xfrm>
            <a:off x="454796" y="913284"/>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rgbClr val="25595D"/>
              </a:buClr>
              <a:buSzPts val="1200"/>
              <a:buFont typeface="Inter"/>
              <a:buNone/>
            </a:pPr>
            <a:r>
              <a:rPr b="0" i="0" lang="de-DE" sz="1050" u="none" strike="noStrike">
                <a:solidFill>
                  <a:srgbClr val="25595D"/>
                </a:solidFill>
                <a:latin typeface="Inter"/>
                <a:ea typeface="Inter"/>
                <a:cs typeface="Inter"/>
                <a:sym typeface="Inter"/>
              </a:rPr>
              <a:t>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b="0" sz="105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de-DE" sz="1050">
                <a:solidFill>
                  <a:schemeClr val="dk1"/>
                </a:solidFill>
                <a:latin typeface="Inter"/>
                <a:ea typeface="Inter"/>
                <a:cs typeface="Inter"/>
                <a:sym typeface="Inter"/>
              </a:rPr>
            </a:br>
            <a:endParaRPr sz="1050">
              <a:solidFill>
                <a:schemeClr val="dk1"/>
              </a:solidFill>
              <a:latin typeface="Inter"/>
              <a:ea typeface="Inter"/>
              <a:cs typeface="Inter"/>
              <a:sym typeface="Inter"/>
            </a:endParaRPr>
          </a:p>
        </p:txBody>
      </p:sp>
      <p:graphicFrame>
        <p:nvGraphicFramePr>
          <p:cNvPr id="156" name="Google Shape;156;p10"/>
          <p:cNvGraphicFramePr/>
          <p:nvPr/>
        </p:nvGraphicFramePr>
        <p:xfrm>
          <a:off x="447022" y="3446606"/>
          <a:ext cx="9790170" cy="2630906"/>
        </p:xfrm>
        <a:graphic>
          <a:graphicData uri="http://schemas.openxmlformats.org/drawingml/2006/table">
            <a:tbl>
              <a:tblPr firstRow="1">
                <a:noFill/>
                <a:tableStyleId>{08659190-FCFE-4D70-9B86-54A6606F5F58}</a:tableStyleId>
              </a:tblPr>
              <a:tblGrid>
                <a:gridCol w="5233595"/>
                <a:gridCol w="4556575"/>
              </a:tblGrid>
              <a:tr h="252567">
                <a:tc>
                  <a:txBody>
                    <a:bodyPr/>
                    <a:lstStyle/>
                    <a:p>
                      <a:pPr indent="0" lvl="0" marL="0" marR="0" rtl="0" algn="l">
                        <a:spcBef>
                          <a:spcPts val="0"/>
                        </a:spcBef>
                        <a:spcAft>
                          <a:spcPts val="0"/>
                        </a:spcAft>
                        <a:buNone/>
                      </a:pPr>
                      <a:r>
                        <a:rPr b="1" lang="de-DE" sz="1050">
                          <a:solidFill>
                            <a:schemeClr val="dk2"/>
                          </a:solidFill>
                        </a:rPr>
                        <a:t>Land (in dem der Arbeitsvertrag geschlossen wurde) </a:t>
                      </a:r>
                      <a:r>
                        <a:rPr b="0" lang="de-DE" sz="1050">
                          <a:solidFill>
                            <a:schemeClr val="dk2"/>
                          </a:solidFill>
                        </a:rPr>
                        <a:t>(Nr. 40c)</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Zahl der Beschäftigten (Anzahl der Personen oder Vollzeitäquivalente)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de-DE" sz="1050">
                          <a:solidFill>
                            <a:schemeClr val="dk2"/>
                          </a:solidFill>
                        </a:rPr>
                        <a:t>Dänemark</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{{Denmark}}</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{{Land_b}}</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FTE_eller_antal_personer_land_b</a:t>
                      </a:r>
                      <a:r>
                        <a:rPr b="0" i="0" lang="de-DE" sz="1050" u="none" strike="noStrike">
                          <a:solidFill>
                            <a:srgbClr val="1B4528"/>
                          </a:solidFill>
                          <a:latin typeface="Inter"/>
                          <a:ea typeface="Inter"/>
                          <a:cs typeface="Inter"/>
                          <a:sym typeface="Inter"/>
                        </a:rPr>
                        <a: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de-DE" sz="1050">
                          <a:solidFill>
                            <a:schemeClr val="dk2"/>
                          </a:solidFill>
                        </a:rPr>
                        <a:t>Beschäftigte insgesamt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{{Total_out_of_countries}}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Eigene Arbeitskräfte: Gesundheitsschutz und Sicherheit (B9)</a:t>
            </a:r>
            <a:endParaRPr/>
          </a:p>
        </p:txBody>
      </p:sp>
      <p:graphicFrame>
        <p:nvGraphicFramePr>
          <p:cNvPr id="163" name="Google Shape;163;p11"/>
          <p:cNvGraphicFramePr/>
          <p:nvPr/>
        </p:nvGraphicFramePr>
        <p:xfrm>
          <a:off x="445500" y="1509220"/>
          <a:ext cx="4796557" cy="1005601"/>
        </p:xfrm>
        <a:graphic>
          <a:graphicData uri="http://schemas.openxmlformats.org/drawingml/2006/table">
            <a:tbl>
              <a:tblPr firstRow="1">
                <a:noFill/>
                <a:tableStyleId>{08659190-FCFE-4D70-9B86-54A6606F5F58}</a:tableStyleId>
              </a:tblPr>
              <a:tblGrid>
                <a:gridCol w="2656184"/>
                <a:gridCol w="2140373"/>
              </a:tblGrid>
              <a:tr h="319952">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Meldepflichtige Arbeitsunfälle </a:t>
                      </a:r>
                      <a:r>
                        <a:rPr b="0" lang="de-DE" sz="1050">
                          <a:solidFill>
                            <a:schemeClr val="dk2"/>
                          </a:solidFill>
                        </a:rPr>
                        <a:t>(Nr. 41a)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Jahr</a:t>
                      </a:r>
                      <a:r>
                        <a:rPr b="1" lang="de-DE"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19952">
                <a:tc>
                  <a:txBody>
                    <a:bodyPr/>
                    <a:lstStyle/>
                    <a:p>
                      <a:pPr indent="0" lvl="0" marL="0" marR="0" rtl="0" algn="l">
                        <a:spcBef>
                          <a:spcPts val="0"/>
                        </a:spcBef>
                        <a:spcAft>
                          <a:spcPts val="0"/>
                        </a:spcAft>
                        <a:buNone/>
                      </a:pPr>
                      <a:r>
                        <a:rPr b="0" lang="de-DE" sz="1050">
                          <a:solidFill>
                            <a:schemeClr val="dk2"/>
                          </a:solidFill>
                        </a:rPr>
                        <a:t>Anzahl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{{indsat_antal_accidents}}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65697">
                <a:tc>
                  <a:txBody>
                    <a:bodyPr/>
                    <a:lstStyle/>
                    <a:p>
                      <a:pPr indent="0" lvl="0" marL="0" marR="0" rtl="0" algn="l">
                        <a:spcBef>
                          <a:spcPts val="0"/>
                        </a:spcBef>
                        <a:spcAft>
                          <a:spcPts val="0"/>
                        </a:spcAft>
                        <a:buNone/>
                      </a:pPr>
                      <a:r>
                        <a:rPr b="0" lang="de-DE" sz="1050">
                          <a:solidFill>
                            <a:schemeClr val="dk2"/>
                          </a:solidFill>
                        </a:rPr>
                        <a:t>Quote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{{indsat_accidents_frequents}}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5440653" y="1509221"/>
          <a:ext cx="4796557" cy="1005600"/>
        </p:xfrm>
        <a:graphic>
          <a:graphicData uri="http://schemas.openxmlformats.org/drawingml/2006/table">
            <a:tbl>
              <a:tblPr firstRow="1">
                <a:noFill/>
                <a:tableStyleId>{08659190-FCFE-4D70-9B86-54A6606F5F58}</a:tableStyleId>
              </a:tblPr>
              <a:tblGrid>
                <a:gridCol w="3313428"/>
                <a:gridCol w="1483129"/>
              </a:tblGrid>
              <a:tr h="304314">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Arbeitsbedingte Todesfälle </a:t>
                      </a:r>
                      <a:r>
                        <a:rPr b="0" lang="de-DE" sz="1050">
                          <a:solidFill>
                            <a:schemeClr val="dk2"/>
                          </a:solidFill>
                        </a:rPr>
                        <a:t>(Nr. 41b)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Jahr</a:t>
                      </a:r>
                      <a:r>
                        <a:rPr b="1" lang="de-DE"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6971">
                <a:tc>
                  <a:txBody>
                    <a:bodyPr/>
                    <a:lstStyle/>
                    <a:p>
                      <a:pPr indent="0" lvl="0" marL="0" marR="0" rtl="0" algn="l">
                        <a:spcBef>
                          <a:spcPts val="0"/>
                        </a:spcBef>
                        <a:spcAft>
                          <a:spcPts val="0"/>
                        </a:spcAft>
                        <a:buNone/>
                      </a:pPr>
                      <a:r>
                        <a:rPr b="0" lang="de-DE" sz="1050">
                          <a:solidFill>
                            <a:schemeClr val="dk2"/>
                          </a:solidFill>
                        </a:rPr>
                        <a:t>Infolge arbeitsbedingter Verletzung/Unfall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{{deaths_by_accidents}}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4314">
                <a:tc>
                  <a:txBody>
                    <a:bodyPr/>
                    <a:lstStyle/>
                    <a:p>
                      <a:pPr indent="0" lvl="0" marL="0" marR="0" rtl="0" algn="l">
                        <a:spcBef>
                          <a:spcPts val="0"/>
                        </a:spcBef>
                        <a:spcAft>
                          <a:spcPts val="0"/>
                        </a:spcAft>
                        <a:buNone/>
                      </a:pPr>
                      <a:r>
                        <a:rPr b="0" lang="de-DE" sz="1050">
                          <a:solidFill>
                            <a:schemeClr val="dk2"/>
                          </a:solidFill>
                        </a:rPr>
                        <a:t>Infolge arbeitsbedingter Erkrankung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de-DE" sz="1050" u="none" cap="none" strike="noStrike">
                          <a:solidFill>
                            <a:srgbClr val="1B4528"/>
                          </a:solidFill>
                          <a:latin typeface="Inter"/>
                          <a:ea typeface="Inter"/>
                          <a:cs typeface="Inter"/>
                          <a:sym typeface="Inter"/>
                        </a:rPr>
                        <a:t>{{deaths_by_health}}</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66" name="Google Shape;166;p1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67" name="Google Shape;167;p11"/>
          <p:cNvSpPr txBox="1"/>
          <p:nvPr/>
        </p:nvSpPr>
        <p:spPr>
          <a:xfrm>
            <a:off x="454796" y="873256"/>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Informationen über die Zahl der meldepflichtigen Arbeitsunfälle und der arbeitsbedingten Todesfälle zu folgenden Aufschlüsselungen angegeben: Anzahl und Quote. Darüber hinaus, ob arbeitsbedingte Todesfälle auf arbeitsbedingte Verletzungen/Unfälle oder auf Erkrankungen zurückzuführen sind.</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
        <p:nvSpPr>
          <p:cNvPr id="168" name="Google Shape;168;p11"/>
          <p:cNvSpPr txBox="1"/>
          <p:nvPr/>
        </p:nvSpPr>
        <p:spPr>
          <a:xfrm>
            <a:off x="454796" y="2687629"/>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575">
                <a:solidFill>
                  <a:schemeClr val="dk2"/>
                </a:solidFill>
                <a:latin typeface="IBM Plex Sans"/>
                <a:ea typeface="IBM Plex Sans"/>
                <a:cs typeface="IBM Plex Sans"/>
                <a:sym typeface="IBM Plex Sans"/>
              </a:rPr>
              <a:t>Eigene Arbeitskräfte: Vergütung, Tarifverhandlungen und Schulung (B10)</a:t>
            </a:r>
            <a:endParaRPr/>
          </a:p>
        </p:txBody>
      </p:sp>
      <p:graphicFrame>
        <p:nvGraphicFramePr>
          <p:cNvPr id="169" name="Google Shape;169;p11"/>
          <p:cNvGraphicFramePr/>
          <p:nvPr/>
        </p:nvGraphicFramePr>
        <p:xfrm>
          <a:off x="5449949" y="3922747"/>
          <a:ext cx="4796557" cy="767808"/>
        </p:xfrm>
        <a:graphic>
          <a:graphicData uri="http://schemas.openxmlformats.org/drawingml/2006/table">
            <a:tbl>
              <a:tblPr firstRow="1">
                <a:noFill/>
                <a:tableStyleId>{08659190-FCFE-4D70-9B86-54A6606F5F58}</a:tableStyleId>
              </a:tblPr>
              <a:tblGrid>
                <a:gridCol w="3337545"/>
                <a:gridCol w="1459012"/>
              </a:tblGrid>
              <a:tr h="293938">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Entgeltgefälle zwischen männlichen und weiblichen Beschäftigten </a:t>
                      </a:r>
                      <a:r>
                        <a:rPr b="0" lang="de-DE" sz="1050">
                          <a:solidFill>
                            <a:schemeClr val="dk2"/>
                          </a:solidFill>
                        </a:rPr>
                        <a:t>(Nr. 42b)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Jahr</a:t>
                      </a:r>
                      <a:r>
                        <a:rPr b="1" lang="de-DE" sz="1050">
                          <a:solidFill>
                            <a:srgbClr val="1B4528"/>
                          </a:solidFill>
                          <a:latin typeface="Calibri"/>
                          <a:ea typeface="Calibri"/>
                          <a:cs typeface="Calibri"/>
                          <a:sym typeface="Calibri"/>
                        </a:rPr>
                        <a:t> </a:t>
                      </a:r>
                      <a:r>
                        <a:rPr b="1" lang="de-DE"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3870">
                <a:tc vMerge="1"/>
                <a:tc>
                  <a:txBody>
                    <a:bodyPr/>
                    <a:lstStyle/>
                    <a:p>
                      <a:pPr indent="0" lvl="0" marL="0" marR="0" rtl="0" algn="r">
                        <a:spcBef>
                          <a:spcPts val="0"/>
                        </a:spcBef>
                        <a:spcAft>
                          <a:spcPts val="0"/>
                        </a:spcAft>
                        <a:buNone/>
                      </a:pPr>
                      <a:r>
                        <a:rPr b="0" lang="de-DE" sz="1050">
                          <a:solidFill>
                            <a:srgbClr val="1B4528"/>
                          </a:solidFill>
                        </a:rPr>
                        <a:t>{{indsat_procentvise_lonforskel}}</a:t>
                      </a:r>
                      <a:endParaRPr/>
                    </a:p>
                  </a:txBody>
                  <a:tcPr marT="31571" marB="31571" marR="31571" marL="31571"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445496" y="3934222"/>
          <a:ext cx="4800284" cy="758742"/>
        </p:xfrm>
        <a:graphic>
          <a:graphicData uri="http://schemas.openxmlformats.org/drawingml/2006/table">
            <a:tbl>
              <a:tblPr firstRow="1">
                <a:noFill/>
                <a:tableStyleId>{08659190-FCFE-4D70-9B86-54A6606F5F58}</a:tableStyleId>
              </a:tblPr>
              <a:tblGrid>
                <a:gridCol w="2633558"/>
                <a:gridCol w="1111141"/>
                <a:gridCol w="1055585"/>
              </a:tblGrid>
              <a:tr h="219395">
                <a:tc>
                  <a:txBody>
                    <a:bodyPr/>
                    <a:lstStyle/>
                    <a:p>
                      <a:pPr indent="0" lvl="0" marL="0" marR="0" rtl="0" algn="l">
                        <a:spcBef>
                          <a:spcPts val="0"/>
                        </a:spcBef>
                        <a:spcAft>
                          <a:spcPts val="0"/>
                        </a:spcAft>
                        <a:buNone/>
                      </a:pPr>
                      <a:r>
                        <a:rPr b="1" lang="de-DE" sz="1050">
                          <a:solidFill>
                            <a:schemeClr val="dk2"/>
                          </a:solidFill>
                        </a:rPr>
                        <a:t>Angaben zum Mindestlohn </a:t>
                      </a:r>
                      <a:r>
                        <a:rPr b="0" lang="de-DE" sz="1050">
                          <a:solidFill>
                            <a:schemeClr val="dk2"/>
                          </a:solidFill>
                        </a:rPr>
                        <a:t>(42a)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050">
                          <a:solidFill>
                            <a:schemeClr val="dk2"/>
                          </a:solidFill>
                        </a:rPr>
                        <a:t>Ja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050">
                          <a:solidFill>
                            <a:schemeClr val="dk2"/>
                          </a:solidFill>
                        </a:rPr>
                        <a:t>Nein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9347">
                <a:tc>
                  <a:txBody>
                    <a:bodyPr/>
                    <a:lstStyle/>
                    <a:p>
                      <a:pPr indent="0" lvl="0" marL="0" marR="0" rtl="0" algn="l">
                        <a:spcBef>
                          <a:spcPts val="0"/>
                        </a:spcBef>
                        <a:spcAft>
                          <a:spcPts val="0"/>
                        </a:spcAft>
                        <a:buNone/>
                      </a:pPr>
                      <a:r>
                        <a:rPr b="0" lang="de-DE" sz="1050">
                          <a:solidFill>
                            <a:schemeClr val="dk2"/>
                          </a:solidFill>
                        </a:rPr>
                        <a:t>Im Unternehmen erhalten alle Beschäftigten ein Entgelt mindestens in Höhe des Mindestlohns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{{minumum_wage_yes?}}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{{minimum_wage_no?}}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445498" y="4829663"/>
          <a:ext cx="4796557" cy="805475"/>
        </p:xfrm>
        <a:graphic>
          <a:graphicData uri="http://schemas.openxmlformats.org/drawingml/2006/table">
            <a:tbl>
              <a:tblPr firstRow="1">
                <a:noFill/>
                <a:tableStyleId>{08659190-FCFE-4D70-9B86-54A6606F5F58}</a:tableStyleId>
              </a:tblPr>
              <a:tblGrid>
                <a:gridCol w="2650725"/>
                <a:gridCol w="2145832"/>
              </a:tblGrid>
              <a:tr h="365697">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rPr>
                        <a:t>Tarifvertrag </a:t>
                      </a:r>
                      <a:r>
                        <a:rPr b="0" lang="de-DE" sz="1050">
                          <a:solidFill>
                            <a:schemeClr val="dk2"/>
                          </a:solidFill>
                        </a:rPr>
                        <a:t>(Nr. 42c)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Jahr</a:t>
                      </a:r>
                      <a:r>
                        <a:rPr b="1" lang="de-DE" sz="1050">
                          <a:solidFill>
                            <a:srgbClr val="1B4528"/>
                          </a:solidFill>
                          <a:latin typeface="Calibri"/>
                          <a:ea typeface="Calibri"/>
                          <a:cs typeface="Calibri"/>
                          <a:sym typeface="Calibri"/>
                        </a:rPr>
                        <a:t> {{insert_year}}</a:t>
                      </a:r>
                      <a:endParaRPr b="1"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9778">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050">
                          <a:solidFill>
                            <a:schemeClr val="dk2"/>
                          </a:solidFill>
                        </a:rPr>
                        <a:t>Prozentualer Anteil der Beschäftigten, die von einem Tarifvertrag abgedeckt sind</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de-DE" sz="1050" u="none" cap="none" strike="noStrike">
                          <a:solidFill>
                            <a:srgbClr val="1B4528"/>
                          </a:solidFill>
                          <a:latin typeface="IBM Plex Sans"/>
                          <a:ea typeface="IBM Plex Sans"/>
                          <a:cs typeface="IBM Plex Sans"/>
                          <a:sym typeface="IBM Plex Sans"/>
                        </a:rPr>
                        <a:t>{{indsat_procentvis_ansatte}}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5448102" y="4806638"/>
          <a:ext cx="4796557" cy="828500"/>
        </p:xfrm>
        <a:graphic>
          <a:graphicData uri="http://schemas.openxmlformats.org/drawingml/2006/table">
            <a:tbl>
              <a:tblPr firstRow="1">
                <a:noFill/>
                <a:tableStyleId>{08659190-FCFE-4D70-9B86-54A6606F5F58}</a:tableStyleId>
              </a:tblPr>
              <a:tblGrid>
                <a:gridCol w="3339386"/>
                <a:gridCol w="1457171"/>
              </a:tblGrid>
              <a:tr h="455951">
                <a:tc>
                  <a:txBody>
                    <a:bodyPr/>
                    <a:lstStyle/>
                    <a:p>
                      <a:pPr indent="0" lvl="0" marL="0" marR="0" rtl="0" algn="l">
                        <a:spcBef>
                          <a:spcPts val="0"/>
                        </a:spcBef>
                        <a:spcAft>
                          <a:spcPts val="0"/>
                        </a:spcAft>
                        <a:buNone/>
                      </a:pPr>
                      <a:r>
                        <a:rPr b="1" lang="de-DE" sz="1050">
                          <a:solidFill>
                            <a:schemeClr val="dk2"/>
                          </a:solidFill>
                        </a:rPr>
                        <a:t>Durchschnittliche Schulungsstunden je Beschäftigtem </a:t>
                      </a:r>
                      <a:r>
                        <a:rPr b="0" lang="de-DE" sz="1050">
                          <a:solidFill>
                            <a:schemeClr val="dk2"/>
                          </a:solidFill>
                        </a:rPr>
                        <a:t>(Nr. 42d)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Jahr</a:t>
                      </a:r>
                      <a:r>
                        <a:rPr b="1" lang="de-DE"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2549">
                <a:tc>
                  <a:txBody>
                    <a:bodyPr/>
                    <a:lstStyle/>
                    <a:p>
                      <a:pPr indent="0" lvl="0" marL="0" marR="0" rtl="0" algn="l">
                        <a:spcBef>
                          <a:spcPts val="0"/>
                        </a:spcBef>
                        <a:spcAft>
                          <a:spcPts val="0"/>
                        </a:spcAft>
                        <a:buNone/>
                      </a:pPr>
                      <a:r>
                        <a:rPr b="0" lang="de-DE" sz="1050">
                          <a:solidFill>
                            <a:schemeClr val="dk2"/>
                          </a:solidFill>
                        </a:rPr>
                        <a:t>Stunde(n) je Beschäftigtem</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{{gennemsnitstimer}}</a:t>
                      </a:r>
                      <a:endParaRPr b="0" sz="1050"/>
                    </a:p>
                  </a:txBody>
                  <a:tcPr marT="16706" marB="16706" marR="16706" marL="1670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465933" y="3034219"/>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endParaRPr/>
          </a:p>
          <a:p>
            <a:pPr indent="0" lvl="0" marL="0" marR="0" rtl="0" algn="l">
              <a:spcBef>
                <a:spcPts val="0"/>
              </a:spcBef>
              <a:spcAft>
                <a:spcPts val="0"/>
              </a:spcAft>
              <a:buClr>
                <a:schemeClr val="dk2"/>
              </a:buClr>
              <a:buSzPts val="1200"/>
              <a:buFont typeface="Inter"/>
              <a:buNone/>
            </a:pPr>
            <a:br>
              <a:rPr lang="de-DE"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Unternehmenspolitik: Anzahl der Verurteilungen und Geldstrafen wegen Korruption &amp; Bestechung (B11) </a:t>
            </a:r>
            <a:endParaRPr/>
          </a:p>
        </p:txBody>
      </p:sp>
      <p:graphicFrame>
        <p:nvGraphicFramePr>
          <p:cNvPr id="180" name="Google Shape;180;p12"/>
          <p:cNvGraphicFramePr/>
          <p:nvPr/>
        </p:nvGraphicFramePr>
        <p:xfrm>
          <a:off x="445498" y="1706309"/>
          <a:ext cx="2630906" cy="2630906"/>
        </p:xfrm>
        <a:graphic>
          <a:graphicData uri="http://schemas.openxmlformats.org/drawingml/2006/table">
            <a:tbl>
              <a:tblPr firstRow="1">
                <a:noFill/>
                <a:tableStyleId>{08659190-FCFE-4D70-9B86-54A6606F5F58}</a:tableStyleId>
              </a:tblPr>
              <a:tblGrid>
                <a:gridCol w="3263901"/>
                <a:gridCol w="3263901"/>
                <a:gridCol w="3263901"/>
              </a:tblGrid>
              <a:tr h="268352">
                <a:tc rowSpan="2">
                  <a:txBody>
                    <a:bodyPr/>
                    <a:lstStyle/>
                    <a:p>
                      <a:pPr indent="0" lvl="0" marL="0" marR="0" rtl="0" algn="l">
                        <a:spcBef>
                          <a:spcPts val="0"/>
                        </a:spcBef>
                        <a:spcAft>
                          <a:spcPts val="0"/>
                        </a:spcAft>
                        <a:buNone/>
                      </a:pPr>
                      <a:r>
                        <a:rPr b="1" lang="de-DE" sz="1050">
                          <a:solidFill>
                            <a:schemeClr val="dk2"/>
                          </a:solidFill>
                        </a:rPr>
                        <a:t>Korruption und Bestechung </a:t>
                      </a:r>
                      <a:r>
                        <a:rPr b="0" lang="de-DE" sz="1050">
                          <a:solidFill>
                            <a:schemeClr val="dk2"/>
                          </a:solidFill>
                        </a:rPr>
                        <a:t>(Nr. 43)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de-DE" sz="1050">
                          <a:solidFill>
                            <a:schemeClr val="dk2"/>
                          </a:solidFill>
                        </a:rPr>
                        <a:t>Anzahl der Verurteilungen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050">
                          <a:solidFill>
                            <a:schemeClr val="dk2"/>
                          </a:solidFill>
                        </a:rPr>
                        <a:t>Gesamtbetrag der Geldstrafen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8352">
                <a:tc vMerge="1"/>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{{domme}}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{{samlet_bodestorrelse}}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82" name="Google Shape;182;p1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454796" y="891000"/>
            <a:ext cx="9869667"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842440" y="2366719"/>
            <a:ext cx="8798625" cy="1280812"/>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de-DE" sz="3500"/>
              <a:t>Angaben im Zusatzmodul</a:t>
            </a:r>
            <a:endParaRPr/>
          </a:p>
        </p:txBody>
      </p:sp>
      <p:sp>
        <p:nvSpPr>
          <p:cNvPr id="190" name="Google Shape;190;p1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454796" y="450698"/>
            <a:ext cx="9791704" cy="224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latin typeface="IBM Plex Sans"/>
                <a:ea typeface="IBM Plex Sans"/>
                <a:cs typeface="IBM Plex Sans"/>
                <a:sym typeface="IBM Plex Sans"/>
              </a:rPr>
              <a:t>Strategie: Geschäftsmodell und nachhaltigkeitsbezogene Initiativen (C1)</a:t>
            </a:r>
            <a:endParaRPr/>
          </a:p>
        </p:txBody>
      </p:sp>
      <p:sp>
        <p:nvSpPr>
          <p:cNvPr id="197" name="Google Shape;197;p14"/>
          <p:cNvSpPr/>
          <p:nvPr/>
        </p:nvSpPr>
        <p:spPr>
          <a:xfrm>
            <a:off x="537056" y="4129657"/>
            <a:ext cx="181932" cy="203984"/>
          </a:xfrm>
          <a:prstGeom prst="rect">
            <a:avLst/>
          </a:prstGeom>
          <a:noFill/>
          <a:ln>
            <a:noFill/>
          </a:ln>
        </p:spPr>
      </p:sp>
      <p:sp>
        <p:nvSpPr>
          <p:cNvPr id="198" name="Google Shape;198;p1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99" name="Google Shape;199;p1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00" name="Google Shape;200;p14"/>
          <p:cNvGraphicFramePr/>
          <p:nvPr/>
        </p:nvGraphicFramePr>
        <p:xfrm>
          <a:off x="464093" y="2080389"/>
          <a:ext cx="2630906" cy="2630906"/>
        </p:xfrm>
        <a:graphic>
          <a:graphicData uri="http://schemas.openxmlformats.org/drawingml/2006/table">
            <a:tbl>
              <a:tblPr firstRow="1">
                <a:noFill/>
                <a:tableStyleId>{08659190-FCFE-4D70-9B86-54A6606F5F58}</a:tableStyleId>
              </a:tblPr>
              <a:tblGrid>
                <a:gridCol w="9791704"/>
              </a:tblGrid>
              <a:tr h="157854">
                <a:tc>
                  <a:txBody>
                    <a:bodyPr/>
                    <a:lstStyle/>
                    <a:p>
                      <a:pPr indent="0" lvl="0" marL="0" marR="0" rtl="0" algn="l">
                        <a:spcBef>
                          <a:spcPts val="0"/>
                        </a:spcBef>
                        <a:spcAft>
                          <a:spcPts val="0"/>
                        </a:spcAft>
                        <a:buNone/>
                      </a:pPr>
                      <a:r>
                        <a:rPr b="1" lang="de-DE" sz="1050">
                          <a:solidFill>
                            <a:schemeClr val="dk2"/>
                          </a:solidFill>
                        </a:rPr>
                        <a:t>Beschreibung bedeutender Gruppen von Produkten und/oder Dienstleistungen, die </a:t>
                      </a:r>
                      <a:r>
                        <a:rPr b="1" lang="de-DE" sz="1050">
                          <a:solidFill>
                            <a:srgbClr val="1B4528"/>
                          </a:solidFill>
                          <a:latin typeface="IBM Plex Sans"/>
                          <a:ea typeface="IBM Plex Sans"/>
                          <a:cs typeface="IBM Plex Sans"/>
                          <a:sym typeface="IBM Plex Sans"/>
                        </a:rPr>
                        <a:t>{{company_name}} </a:t>
                      </a:r>
                      <a:r>
                        <a:rPr b="1" lang="de-DE" sz="1050">
                          <a:solidFill>
                            <a:schemeClr val="dk2"/>
                          </a:solidFill>
                          <a:latin typeface="IBM Plex Sans"/>
                          <a:ea typeface="IBM Plex Sans"/>
                          <a:cs typeface="IBM Plex Sans"/>
                          <a:sym typeface="IBM Plex Sans"/>
                        </a:rPr>
                        <a:t>anbietet</a:t>
                      </a:r>
                      <a:r>
                        <a:rPr b="1" lang="de-DE" sz="1050">
                          <a:solidFill>
                            <a:schemeClr val="dk2"/>
                          </a:solidFill>
                        </a:rPr>
                        <a:t> </a:t>
                      </a:r>
                      <a:r>
                        <a:rPr b="0" lang="de-DE" sz="1050">
                          <a:solidFill>
                            <a:schemeClr val="dk2"/>
                          </a:solidFill>
                        </a:rPr>
                        <a:t>(Nr. 46a)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8060">
                <a:tc>
                  <a:txBody>
                    <a:bodyPr/>
                    <a:lstStyle/>
                    <a:p>
                      <a:pPr indent="0" lvl="0" marL="0" marR="0" rtl="0" algn="l">
                        <a:spcBef>
                          <a:spcPts val="0"/>
                        </a:spcBef>
                        <a:spcAft>
                          <a:spcPts val="0"/>
                        </a:spcAft>
                        <a:buNone/>
                      </a:pPr>
                      <a:r>
                        <a:rPr b="0" lang="de-DE" sz="1050">
                          <a:solidFill>
                            <a:srgbClr val="1B4528"/>
                          </a:solidFill>
                        </a:rPr>
                        <a:t>{{markets_description}}</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464093" y="2891378"/>
          <a:ext cx="2630906" cy="2630906"/>
        </p:xfrm>
        <a:graphic>
          <a:graphicData uri="http://schemas.openxmlformats.org/drawingml/2006/table">
            <a:tbl>
              <a:tblPr firstRow="1">
                <a:noFill/>
                <a:tableStyleId>{08659190-FCFE-4D70-9B86-54A6606F5F58}</a:tableStyleId>
              </a:tblPr>
              <a:tblGrid>
                <a:gridCol w="9791704"/>
              </a:tblGrid>
              <a:tr h="170833">
                <a:tc>
                  <a:txBody>
                    <a:bodyPr/>
                    <a:lstStyle/>
                    <a:p>
                      <a:pPr indent="0" lvl="0" marL="0" marR="0" rtl="0" algn="l">
                        <a:spcBef>
                          <a:spcPts val="0"/>
                        </a:spcBef>
                        <a:spcAft>
                          <a:spcPts val="0"/>
                        </a:spcAft>
                        <a:buNone/>
                      </a:pPr>
                      <a:r>
                        <a:rPr b="1" lang="de-DE" sz="1050">
                          <a:solidFill>
                            <a:schemeClr val="dk2"/>
                          </a:solidFill>
                        </a:rPr>
                        <a:t>Beschreibung der bedeutenden Märkte, auf denen </a:t>
                      </a:r>
                      <a:r>
                        <a:rPr b="1" lang="de-DE" sz="1050">
                          <a:solidFill>
                            <a:srgbClr val="1B4528"/>
                          </a:solidFill>
                          <a:latin typeface="IBM Plex Sans"/>
                          <a:ea typeface="IBM Plex Sans"/>
                          <a:cs typeface="IBM Plex Sans"/>
                          <a:sym typeface="IBM Plex Sans"/>
                        </a:rPr>
                        <a:t>{{company_name}} </a:t>
                      </a:r>
                      <a:r>
                        <a:rPr b="1" lang="de-DE" sz="1050">
                          <a:solidFill>
                            <a:schemeClr val="dk2"/>
                          </a:solidFill>
                        </a:rPr>
                        <a:t>tätig ist </a:t>
                      </a:r>
                      <a:r>
                        <a:rPr b="0" lang="de-DE" sz="1050">
                          <a:solidFill>
                            <a:schemeClr val="dk2"/>
                          </a:solidFill>
                        </a:rPr>
                        <a:t>(Nr. 46b)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77984">
                <a:tc>
                  <a:txBody>
                    <a:bodyPr/>
                    <a:lstStyle/>
                    <a:p>
                      <a:pPr indent="0" lvl="0" marL="0" marR="0" rtl="0" algn="l">
                        <a:spcBef>
                          <a:spcPts val="0"/>
                        </a:spcBef>
                        <a:spcAft>
                          <a:spcPts val="0"/>
                        </a:spcAft>
                        <a:buNone/>
                      </a:pPr>
                      <a:r>
                        <a:rPr b="0" lang="de-DE" sz="1050">
                          <a:solidFill>
                            <a:srgbClr val="1B4528"/>
                          </a:solidFill>
                        </a:rPr>
                        <a:t>{{business_relationships}}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464093" y="3890345"/>
          <a:ext cx="2630906" cy="2630906"/>
        </p:xfrm>
        <a:graphic>
          <a:graphicData uri="http://schemas.openxmlformats.org/drawingml/2006/table">
            <a:tbl>
              <a:tblPr firstRow="1">
                <a:noFill/>
                <a:tableStyleId>{08659190-FCFE-4D70-9B86-54A6606F5F58}</a:tableStyleId>
              </a:tblPr>
              <a:tblGrid>
                <a:gridCol w="9791704"/>
              </a:tblGrid>
              <a:tr h="155991">
                <a:tc>
                  <a:txBody>
                    <a:bodyPr/>
                    <a:lstStyle/>
                    <a:p>
                      <a:pPr indent="0" lvl="0" marL="0" marR="0" rtl="0" algn="l">
                        <a:spcBef>
                          <a:spcPts val="0"/>
                        </a:spcBef>
                        <a:spcAft>
                          <a:spcPts val="0"/>
                        </a:spcAft>
                        <a:buNone/>
                      </a:pPr>
                      <a:r>
                        <a:rPr b="1" lang="de-DE" sz="1050">
                          <a:solidFill>
                            <a:schemeClr val="dk2"/>
                          </a:solidFill>
                        </a:rPr>
                        <a:t>Beschreibung von </a:t>
                      </a:r>
                      <a:r>
                        <a:rPr b="1" lang="de-DE" sz="1050">
                          <a:solidFill>
                            <a:srgbClr val="1B4528"/>
                          </a:solidFill>
                          <a:latin typeface="IBM Plex Sans"/>
                          <a:ea typeface="IBM Plex Sans"/>
                          <a:cs typeface="IBM Plex Sans"/>
                          <a:sym typeface="IBM Plex Sans"/>
                        </a:rPr>
                        <a:t>{{company_name}}</a:t>
                      </a:r>
                      <a:r>
                        <a:rPr b="1" lang="de-DE" sz="1050">
                          <a:solidFill>
                            <a:schemeClr val="accent1"/>
                          </a:solidFill>
                          <a:latin typeface="IBM Plex Sans"/>
                          <a:ea typeface="IBM Plex Sans"/>
                          <a:cs typeface="IBM Plex Sans"/>
                          <a:sym typeface="IBM Plex Sans"/>
                        </a:rPr>
                        <a:t>’s</a:t>
                      </a:r>
                      <a:r>
                        <a:rPr b="1" lang="de-DE" sz="1050">
                          <a:solidFill>
                            <a:srgbClr val="1B4528"/>
                          </a:solidFill>
                          <a:latin typeface="IBM Plex Sans"/>
                          <a:ea typeface="IBM Plex Sans"/>
                          <a:cs typeface="IBM Plex Sans"/>
                          <a:sym typeface="IBM Plex Sans"/>
                        </a:rPr>
                        <a:t> </a:t>
                      </a:r>
                      <a:r>
                        <a:rPr b="1" lang="de-DE" sz="1050">
                          <a:solidFill>
                            <a:schemeClr val="dk2"/>
                          </a:solidFill>
                        </a:rPr>
                        <a:t>wesentlichen Geschäftsbeziehungen </a:t>
                      </a:r>
                      <a:r>
                        <a:rPr b="0" lang="de-DE" sz="1050">
                          <a:solidFill>
                            <a:schemeClr val="dk2"/>
                          </a:solidFill>
                        </a:rPr>
                        <a:t>(Nr. 46c)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55797">
                <a:tc>
                  <a:txBody>
                    <a:bodyPr/>
                    <a:lstStyle/>
                    <a:p>
                      <a:pPr indent="0" lvl="0" marL="0" marR="0" rtl="0" algn="l">
                        <a:spcBef>
                          <a:spcPts val="0"/>
                        </a:spcBef>
                        <a:spcAft>
                          <a:spcPts val="0"/>
                        </a:spcAft>
                        <a:buNone/>
                      </a:pPr>
                      <a:r>
                        <a:rPr b="0" lang="de-DE" sz="1050">
                          <a:solidFill>
                            <a:srgbClr val="1B4528"/>
                          </a:solidFill>
                        </a:rPr>
                        <a:t>{{strategy}}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454796" y="1387112"/>
          <a:ext cx="2630906" cy="2630906"/>
        </p:xfrm>
        <a:graphic>
          <a:graphicData uri="http://schemas.openxmlformats.org/drawingml/2006/table">
            <a:tbl>
              <a:tblPr firstRow="1">
                <a:noFill/>
                <a:tableStyleId>{08659190-FCFE-4D70-9B86-54A6606F5F58}</a:tableStyleId>
              </a:tblPr>
              <a:tblGrid>
                <a:gridCol w="9791704"/>
              </a:tblGrid>
              <a:tr h="163905">
                <a:tc>
                  <a:txBody>
                    <a:bodyPr/>
                    <a:lstStyle/>
                    <a:p>
                      <a:pPr indent="0" lvl="0" marL="0" marR="0" rtl="0" algn="l">
                        <a:spcBef>
                          <a:spcPts val="0"/>
                        </a:spcBef>
                        <a:spcAft>
                          <a:spcPts val="0"/>
                        </a:spcAft>
                        <a:buNone/>
                      </a:pPr>
                      <a:r>
                        <a:rPr b="1" lang="de-DE" sz="1050">
                          <a:solidFill>
                            <a:schemeClr val="dk2"/>
                          </a:solidFill>
                        </a:rPr>
                        <a:t>Beschreibung des übergeordneten Geschäftsmodells und der Strategie </a:t>
                      </a:r>
                      <a:r>
                        <a:rPr b="0" lang="de-DE" sz="1050">
                          <a:solidFill>
                            <a:schemeClr val="dk2"/>
                          </a:solidFill>
                        </a:rPr>
                        <a:t>(Nr. 46)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8894">
                <a:tc>
                  <a:txBody>
                    <a:bodyPr/>
                    <a:lstStyle/>
                    <a:p>
                      <a:pPr indent="0" lvl="0" marL="0" marR="0" rtl="0" algn="l">
                        <a:spcBef>
                          <a:spcPts val="0"/>
                        </a:spcBef>
                        <a:spcAft>
                          <a:spcPts val="0"/>
                        </a:spcAft>
                        <a:buNone/>
                      </a:pPr>
                      <a:r>
                        <a:rPr b="0" lang="de-DE" sz="1050">
                          <a:solidFill>
                            <a:srgbClr val="1B4528"/>
                          </a:solidFill>
                        </a:rPr>
                        <a:t>{{products_description}}</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454794" y="4868397"/>
          <a:ext cx="2630906" cy="2630906"/>
        </p:xfrm>
        <a:graphic>
          <a:graphicData uri="http://schemas.openxmlformats.org/drawingml/2006/table">
            <a:tbl>
              <a:tblPr firstRow="1">
                <a:noFill/>
                <a:tableStyleId>{08659190-FCFE-4D70-9B86-54A6606F5F58}</a:tableStyleId>
              </a:tblPr>
              <a:tblGrid>
                <a:gridCol w="9791704"/>
              </a:tblGrid>
              <a:tr h="132773">
                <a:tc>
                  <a:txBody>
                    <a:bodyPr/>
                    <a:lstStyle/>
                    <a:p>
                      <a:pPr indent="0" lvl="0" marL="0" marR="0" rtl="0" algn="l">
                        <a:spcBef>
                          <a:spcPts val="0"/>
                        </a:spcBef>
                        <a:spcAft>
                          <a:spcPts val="0"/>
                        </a:spcAft>
                        <a:buNone/>
                      </a:pPr>
                      <a:r>
                        <a:rPr b="1" lang="de-DE" sz="1050">
                          <a:solidFill>
                            <a:schemeClr val="dk2"/>
                          </a:solidFill>
                        </a:rPr>
                        <a:t>Beschreibung, wo </a:t>
                      </a:r>
                      <a:r>
                        <a:rPr b="1" lang="de-DE" sz="1050">
                          <a:solidFill>
                            <a:srgbClr val="1B4528"/>
                          </a:solidFill>
                          <a:latin typeface="IBM Plex Sans"/>
                          <a:ea typeface="IBM Plex Sans"/>
                          <a:cs typeface="IBM Plex Sans"/>
                          <a:sym typeface="IBM Plex Sans"/>
                        </a:rPr>
                        <a:t>{{company_name}}</a:t>
                      </a:r>
                      <a:r>
                        <a:rPr b="1" lang="de-DE" sz="1050">
                          <a:solidFill>
                            <a:schemeClr val="accent1"/>
                          </a:solidFill>
                          <a:latin typeface="IBM Plex Sans"/>
                          <a:ea typeface="IBM Plex Sans"/>
                          <a:cs typeface="IBM Plex Sans"/>
                          <a:sym typeface="IBM Plex Sans"/>
                        </a:rPr>
                        <a:t>´s Strategie und Geschäftsmodell nachhaltigkeitsbezogene Elemente aufweisen </a:t>
                      </a:r>
                      <a:r>
                        <a:rPr b="0" lang="de-DE" sz="1050">
                          <a:solidFill>
                            <a:schemeClr val="dk2"/>
                          </a:solidFill>
                        </a:rPr>
                        <a:t>(Nr. 46d)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4659">
                <a:tc>
                  <a:txBody>
                    <a:bodyPr/>
                    <a:lstStyle/>
                    <a:p>
                      <a:pPr indent="0" lvl="0" marL="0" marR="0" rtl="0" algn="l">
                        <a:spcBef>
                          <a:spcPts val="0"/>
                        </a:spcBef>
                        <a:spcAft>
                          <a:spcPts val="0"/>
                        </a:spcAft>
                        <a:buClr>
                          <a:srgbClr val="1B4528"/>
                        </a:buClr>
                        <a:buSzPts val="1200"/>
                        <a:buFont typeface="IBM Plex Sans"/>
                        <a:buNone/>
                      </a:pPr>
                      <a:r>
                        <a:rPr b="0" lang="de-DE" sz="1050">
                          <a:solidFill>
                            <a:srgbClr val="1B4528"/>
                          </a:solidFill>
                        </a:rPr>
                        <a:t>{{business_model}}</a:t>
                      </a:r>
                      <a:endParaRPr sz="1575"/>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das übergeordnete Geschäftsmodell und die Strategie, Produkte und/oder Dienstleistungen, Märkte und Geschäftsbeziehungen beschrieben sowie angegeben, ob das Geschäftsmodell nachhaltigkeitsbezogene Elemente aufweist. </a:t>
            </a:r>
            <a:endParaRPr sz="105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latin typeface="IBM Plex Sans"/>
                <a:ea typeface="IBM Plex Sans"/>
                <a:cs typeface="IBM Plex Sans"/>
                <a:sym typeface="IBM Plex Sans"/>
              </a:rPr>
              <a:t>V</a:t>
            </a:r>
            <a:r>
              <a:rPr b="1" lang="de-DE" sz="1575">
                <a:solidFill>
                  <a:schemeClr val="dk2"/>
                </a:solidFill>
                <a:latin typeface="IBM Plex Sans"/>
                <a:ea typeface="IBM Plex Sans"/>
                <a:cs typeface="IBM Plex Sans"/>
                <a:sym typeface="IBM Plex Sans"/>
              </a:rPr>
              <a:t>erfahrensweisen, Richtlinien und künftige Initiativen für den Übergang zu einer nachhaltigeren Wirtschaft (C2)</a:t>
            </a:r>
            <a:endParaRPr/>
          </a:p>
        </p:txBody>
      </p:sp>
      <p:sp>
        <p:nvSpPr>
          <p:cNvPr id="212" name="Google Shape;212;p15"/>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13" name="Google Shape;213;p1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14" name="Google Shape;214;p15"/>
          <p:cNvGraphicFramePr/>
          <p:nvPr/>
        </p:nvGraphicFramePr>
        <p:xfrm>
          <a:off x="454797" y="1793460"/>
          <a:ext cx="2630906" cy="2630906"/>
        </p:xfrm>
        <a:graphic>
          <a:graphicData uri="http://schemas.openxmlformats.org/drawingml/2006/table">
            <a:tbl>
              <a:tblPr firstRow="1">
                <a:noFill/>
                <a:tableStyleId>{08659190-FCFE-4D70-9B86-54A6606F5F58}</a:tableStyleId>
              </a:tblPr>
              <a:tblGrid>
                <a:gridCol w="1681017"/>
                <a:gridCol w="2703562"/>
                <a:gridCol w="2703562"/>
                <a:gridCol w="2703562"/>
              </a:tblGrid>
              <a:tr h="306610">
                <a:tc row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Bereich</a:t>
                      </a:r>
                      <a:endParaRPr/>
                    </a:p>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47)</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Kurze Beschreibung </a:t>
                      </a:r>
                      <a:r>
                        <a:rPr b="1" lang="de-DE" sz="1050" u="none">
                          <a:solidFill>
                            <a:schemeClr val="dk2"/>
                          </a:solidFill>
                          <a:latin typeface="IBM Plex Sans"/>
                          <a:ea typeface="IBM Plex Sans"/>
                          <a:cs typeface="IBM Plex Sans"/>
                          <a:sym typeface="IBM Plex Sans"/>
                        </a:rPr>
                        <a:t>bestehender </a:t>
                      </a:r>
                      <a:r>
                        <a:rPr b="1" lang="de-DE" sz="1050">
                          <a:solidFill>
                            <a:schemeClr val="dk2"/>
                          </a:solidFill>
                          <a:latin typeface="IBM Plex Sans"/>
                          <a:ea typeface="IBM Plex Sans"/>
                          <a:cs typeface="IBM Plex Sans"/>
                          <a:sym typeface="IBM Plex Sans"/>
                        </a:rPr>
                        <a:t>Verfahrensweisen / Richtlinien / Maßnahmen (vgl. Angabe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Kurze Beschreibung etwaiger </a:t>
                      </a:r>
                      <a:r>
                        <a:rPr b="1" lang="de-DE" sz="1050" u="none">
                          <a:solidFill>
                            <a:schemeClr val="dk2"/>
                          </a:solidFill>
                          <a:latin typeface="IBM Plex Sans"/>
                          <a:ea typeface="IBM Plex Sans"/>
                          <a:cs typeface="IBM Plex Sans"/>
                          <a:sym typeface="IBM Plex Sans"/>
                        </a:rPr>
                        <a:t>künftiger</a:t>
                      </a:r>
                      <a:r>
                        <a:rPr b="1" lang="de-DE" sz="1050">
                          <a:solidFill>
                            <a:schemeClr val="dk2"/>
                          </a:solidFill>
                          <a:latin typeface="IBM Plex Sans"/>
                          <a:ea typeface="IBM Plex Sans"/>
                          <a:cs typeface="IBM Plex Sans"/>
                          <a:sym typeface="IBM Plex Sans"/>
                        </a:rPr>
                        <a:t> Ziele (vgl. Angabe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de-DE" sz="1050">
                          <a:solidFill>
                            <a:schemeClr val="lt1"/>
                          </a:solidFill>
                        </a:rPr>
                        <a:t>Diese Angabe </a:t>
                      </a:r>
                      <a:r>
                        <a:rPr b="1" lang="de-DE" sz="1050">
                          <a:solidFill>
                            <a:schemeClr val="lt1"/>
                          </a:solidFill>
                        </a:rPr>
                        <a:t>ist freiwillig</a:t>
                      </a:r>
                      <a:endParaRPr sz="1050">
                        <a:solidFill>
                          <a:schemeClr val="lt1"/>
                        </a:solidFill>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02218">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Höchste für die Umsetzung verantwortliche Personalebene im Unternehmen </a:t>
                      </a:r>
                      <a:r>
                        <a:rPr b="0" lang="de-DE" sz="1050">
                          <a:solidFill>
                            <a:schemeClr val="dk2"/>
                          </a:solidFill>
                          <a:latin typeface="IBM Plex Sans"/>
                          <a:ea typeface="IBM Plex Sans"/>
                          <a:cs typeface="IBM Plex Sans"/>
                          <a:sym typeface="IBM Plex Sans"/>
                        </a:rPr>
                        <a:t>(Nr. 48)</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6522">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Klimawandel</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Climate_C2_Description_Existing_Practices</a:t>
                      </a:r>
                      <a:r>
                        <a:rPr b="0" i="0" lang="de-DE"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Climate_C2_Future_Practices</a:t>
                      </a:r>
                      <a:r>
                        <a:rPr b="0" i="0" lang="de-DE"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Climate_C2_Management_Level</a:t>
                      </a:r>
                      <a:r>
                        <a:rPr b="0" i="0" lang="de-DE"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0890">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Umweltver­schmutzung</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Pollution_C2_Description_Existing_Practices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Pollution_C2_Future_Practices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Pollution_C2_Management_Level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Wasser- und Meeresressourcen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Water_C2_Description_Existing_Practices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Water_C2_Future_Practices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latin typeface="IBM Plex Sans"/>
                          <a:ea typeface="IBM Plex Sans"/>
                          <a:cs typeface="IBM Plex Sans"/>
                          <a:sym typeface="IBM Plex Sans"/>
                        </a:rPr>
                        <a:t>Water_C2_Management_Level</a:t>
                      </a:r>
                      <a:r>
                        <a:rPr b="0" i="0" lang="de-DE" sz="1050" u="none" strike="noStrike">
                          <a:solidFill>
                            <a:srgbClr val="1B4528"/>
                          </a:solidFill>
                          <a:latin typeface="Inter"/>
                          <a:ea typeface="Inter"/>
                          <a:cs typeface="Inter"/>
                          <a:sym typeface="Inter"/>
                        </a:rPr>
                        <a:t>}}</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050" u="none" strike="noStrike">
                        <a:solidFill>
                          <a:srgbClr val="1B4528"/>
                        </a:solidFill>
                        <a:latin typeface="Inter"/>
                        <a:ea typeface="Inter"/>
                        <a:cs typeface="Inter"/>
                        <a:sym typeface="Inter"/>
                      </a:endParaRPr>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Biodiversität und Ökosysteme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Bio_C2_Description_Existing_Practices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Bio_C2_Future_Practices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Bio_C2_Management_Level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Kreislaufwirt­schaft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Circular_C2_Description_Existing_Practices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Circular_C2_Future_Practices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Circular_C2_Management_Level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Arbeitskräfte des Unternehmens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Own_Workforce_C2_Description_Existing_Practices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Own_Workforce_C2_Future_Practices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Own_Workforce_C2_Management_Level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Arbeitskräfte in der Wertschöpfungs­kette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Workers_Value_Chain_C2_Description_Existing_Practices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Workers_Value_Chain_C2_Future_Practices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Workers_Value_Chain_C2_Management_Level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Betroffene Gemeinschaften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Affected_C2_Description_Existing_Practices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Affected_C2_Future_Practices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Affected_C2_Management_Level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Verbraucher und Endnutzer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Consumers_C2_Description_Existing_Practices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Consumers_C2_Future_Practices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Consumers_C2_Management_Level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Unternehmenspolitik</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Governance_C2_Description_Existing_Practices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Governance_C2_Future_Practices</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a:t>
                      </a:r>
                      <a:r>
                        <a:rPr b="0" i="0" lang="de-DE" sz="1050" u="none" strike="noStrike">
                          <a:solidFill>
                            <a:srgbClr val="1B4528"/>
                          </a:solidFill>
                        </a:rPr>
                        <a:t>Governance_C2_Management_Level</a:t>
                      </a:r>
                      <a:r>
                        <a:rPr b="0" i="0" lang="de-DE"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469926" y="903083"/>
            <a:ext cx="977657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lang="de-DE" sz="1050">
                <a:solidFill>
                  <a:schemeClr val="dk2"/>
                </a:solidFill>
                <a:latin typeface="IBM Plex Sans"/>
                <a:ea typeface="IBM Plex Sans"/>
                <a:cs typeface="IBM Plex Sans"/>
                <a:sym typeface="IBM Plex Sans"/>
              </a:rPr>
              <a:t>Die nachstehende Tabelle wurde ausgefüllt, da das Unternehmen bereits konkrete Verfahrensweisen, Richtlinien oder Initiativen eingeführt hat, die zum Übergang zu einer nachhaltigeren Wirtschaft beitragen. Das Unternehmen hat eine oder mehrere Angaben unter B2 im Basismodul mit ”JA” beantwortet. Nachstehend wird ausführlicher auf die Richtlinien, Initiativen und Verfahrensweisen eingegangen, die im Unternehmen für den Übergang zu einer nachhaltigeren Wirtschaft eingeleitet wurden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de-DE">
                <a:solidFill>
                  <a:srgbClr val="1B4528"/>
                </a:solidFill>
                <a:latin typeface="IBM Plex Sans"/>
                <a:ea typeface="IBM Plex Sans"/>
                <a:cs typeface="IBM Plex Sans"/>
                <a:sym typeface="IBM Plex Sans"/>
              </a:rPr>
              <a:t>CO₂e-Emissionen unter B3 im Basismodul</a:t>
            </a:r>
            <a:endParaRPr b="0"/>
          </a:p>
        </p:txBody>
      </p:sp>
      <p:sp>
        <p:nvSpPr>
          <p:cNvPr id="222" name="Google Shape;222;p16"/>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23" name="Google Shape;223;p1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454795" y="3510858"/>
          <a:ext cx="2630906" cy="2630906"/>
        </p:xfrm>
        <a:graphic>
          <a:graphicData uri="http://schemas.openxmlformats.org/drawingml/2006/table">
            <a:tbl>
              <a:tblPr firstRow="1">
                <a:noFill/>
                <a:tableStyleId>{08659190-FCFE-4D70-9B86-54A6606F5F58}</a:tableStyleId>
              </a:tblPr>
              <a:tblGrid>
                <a:gridCol w="3263901"/>
                <a:gridCol w="3263901"/>
                <a:gridCol w="3263901"/>
              </a:tblGrid>
              <a:tr h="245639">
                <a:tc gridSpan="3">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CO₂e-Reduktionsziele </a:t>
                      </a:r>
                      <a:r>
                        <a:rPr b="0" lang="de-DE" sz="1050">
                          <a:solidFill>
                            <a:schemeClr val="dk2"/>
                          </a:solidFill>
                          <a:latin typeface="IBM Plex Sans"/>
                          <a:ea typeface="IBM Plex Sans"/>
                          <a:cs typeface="IBM Plex Sans"/>
                          <a:sym typeface="IBM Plex Sans"/>
                        </a:rPr>
                        <a:t>(Nr. 53 a–d)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03716">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Zielwert im Jahr </a:t>
                      </a:r>
                      <a:r>
                        <a:rPr b="1" lang="de-DE" sz="1050">
                          <a:solidFill>
                            <a:srgbClr val="1B4528"/>
                          </a:solidFill>
                          <a:latin typeface="IBM Plex Sans"/>
                          <a:ea typeface="IBM Plex Sans"/>
                          <a:cs typeface="IBM Plex Sans"/>
                          <a:sym typeface="IBM Plex Sans"/>
                        </a:rPr>
                        <a:t>{{baseline_year-1}}</a:t>
                      </a:r>
                      <a:endParaRPr b="0" sz="1050">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CO₂e-Emissionen im Basisjahr:</a:t>
                      </a:r>
                      <a:r>
                        <a:rPr b="0" lang="de-DE" sz="1050">
                          <a:solidFill>
                            <a:schemeClr val="dk2"/>
                          </a:solidFill>
                          <a:latin typeface="IBM Plex Sans"/>
                          <a:ea typeface="IBM Plex Sans"/>
                          <a:cs typeface="IBM Plex Sans"/>
                          <a:sym typeface="IBM Plex Sans"/>
                        </a:rPr>
                        <a:t> </a:t>
                      </a:r>
                      <a:r>
                        <a:rPr b="1" lang="de-DE" sz="1050">
                          <a:solidFill>
                            <a:srgbClr val="1B4528"/>
                          </a:solidFill>
                          <a:latin typeface="IBM Plex Sans"/>
                          <a:ea typeface="IBM Plex Sans"/>
                          <a:cs typeface="IBM Plex Sans"/>
                          <a:sym typeface="IBM Plex Sans"/>
                        </a:rPr>
                        <a:t>{{Insert baseline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Scope 1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{{scope1_target}}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{{scope1_baseline}}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Scope 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{{scope2_target}}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{{scope2_baseline}}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Scope 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{{scope3_target}}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{{scope3_baseline}}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454794" y="5178656"/>
          <a:ext cx="2630906" cy="2630906"/>
        </p:xfrm>
        <a:graphic>
          <a:graphicData uri="http://schemas.openxmlformats.org/drawingml/2006/table">
            <a:tbl>
              <a:tblPr firstRow="1">
                <a:noFill/>
                <a:tableStyleId>{08659190-FCFE-4D70-9B86-54A6606F5F58}</a:tableStyleId>
              </a:tblPr>
              <a:tblGrid>
                <a:gridCol w="9791704"/>
              </a:tblGrid>
              <a:tr h="289728">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Auflistung der wesentlichen Maßnahmen, die </a:t>
                      </a:r>
                      <a:r>
                        <a:rPr b="1" lang="de-DE" sz="1050">
                          <a:solidFill>
                            <a:srgbClr val="1B4528"/>
                          </a:solidFill>
                          <a:latin typeface="IBM Plex Sans"/>
                          <a:ea typeface="IBM Plex Sans"/>
                          <a:cs typeface="IBM Plex Sans"/>
                          <a:sym typeface="IBM Plex Sans"/>
                        </a:rPr>
                        <a:t>{{Company name}} </a:t>
                      </a:r>
                      <a:r>
                        <a:rPr b="0" lang="de-DE" sz="1050">
                          <a:solidFill>
                            <a:srgbClr val="1B4528"/>
                          </a:solidFill>
                          <a:latin typeface="IBM Plex Sans"/>
                          <a:ea typeface="IBM Plex Sans"/>
                          <a:cs typeface="IBM Plex Sans"/>
                          <a:sym typeface="IBM Plex Sans"/>
                        </a:rPr>
                        <a:t> </a:t>
                      </a:r>
                      <a:r>
                        <a:rPr b="1" lang="de-DE" sz="1050">
                          <a:solidFill>
                            <a:schemeClr val="dk2"/>
                          </a:solidFill>
                          <a:latin typeface="IBM Plex Sans"/>
                          <a:ea typeface="IBM Plex Sans"/>
                          <a:cs typeface="IBM Plex Sans"/>
                          <a:sym typeface="IBM Plex Sans"/>
                        </a:rPr>
                        <a:t>zur Erreichung der CO₂e-Reduktionsziele durchführt </a:t>
                      </a:r>
                      <a:r>
                        <a:rPr b="0" lang="de-DE" sz="1050">
                          <a:solidFill>
                            <a:schemeClr val="dk2"/>
                          </a:solidFill>
                          <a:latin typeface="IBM Plex Sans"/>
                          <a:ea typeface="IBM Plex Sans"/>
                          <a:cs typeface="IBM Plex Sans"/>
                          <a:sym typeface="IBM Plex Sans"/>
                        </a:rPr>
                        <a:t>(Nr. 53e)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6877">
                <a:tc>
                  <a:txBody>
                    <a:bodyPr/>
                    <a:lstStyle/>
                    <a:p>
                      <a:pPr indent="0" lvl="0" marL="0" marR="0" rtl="0" algn="l">
                        <a:spcBef>
                          <a:spcPts val="0"/>
                        </a:spcBef>
                        <a:spcAft>
                          <a:spcPts val="0"/>
                        </a:spcAft>
                        <a:buNone/>
                      </a:pPr>
                      <a:r>
                        <a:rPr b="0" lang="de-DE" sz="1050">
                          <a:solidFill>
                            <a:srgbClr val="1B4528"/>
                          </a:solidFill>
                        </a:rPr>
                        <a:t>{{mainaction}}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454796" y="3119083"/>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575">
                <a:solidFill>
                  <a:schemeClr val="dk2"/>
                </a:solidFill>
                <a:latin typeface="IBM Plex Sans"/>
                <a:ea typeface="IBM Plex Sans"/>
                <a:cs typeface="IBM Plex Sans"/>
                <a:sym typeface="IBM Plex Sans"/>
              </a:rPr>
              <a:t>CO₂e-Reduktionsziele (C3)</a:t>
            </a:r>
            <a:endParaRPr/>
          </a:p>
        </p:txBody>
      </p:sp>
      <p:graphicFrame>
        <p:nvGraphicFramePr>
          <p:cNvPr id="227" name="Google Shape;227;p16"/>
          <p:cNvGraphicFramePr/>
          <p:nvPr/>
        </p:nvGraphicFramePr>
        <p:xfrm>
          <a:off x="454795" y="1623325"/>
          <a:ext cx="2630906" cy="2630906"/>
        </p:xfrm>
        <a:graphic>
          <a:graphicData uri="http://schemas.openxmlformats.org/drawingml/2006/table">
            <a:tbl>
              <a:tblPr firstRow="1">
                <a:noFill/>
                <a:tableStyleId>{08659190-FCFE-4D70-9B86-54A6606F5F58}</a:tableStyleId>
              </a:tblPr>
              <a:tblGrid>
                <a:gridCol w="7745101"/>
                <a:gridCol w="2037307"/>
              </a:tblGrid>
              <a:tr h="268637">
                <a:tc>
                  <a:txBody>
                    <a:bodyPr/>
                    <a:lstStyle/>
                    <a:p>
                      <a:pPr indent="0" lvl="0" marL="0" marR="0" rtl="0" algn="l">
                        <a:lnSpc>
                          <a:spcPct val="106000"/>
                        </a:lnSpc>
                        <a:spcBef>
                          <a:spcPts val="0"/>
                        </a:spcBef>
                        <a:spcAft>
                          <a:spcPts val="0"/>
                        </a:spcAft>
                        <a:buNone/>
                      </a:pPr>
                      <a:r>
                        <a:rPr b="1" lang="de-DE" sz="1050">
                          <a:solidFill>
                            <a:schemeClr val="dk2"/>
                          </a:solidFill>
                        </a:rPr>
                        <a:t>Treibhausgasemissionen –</a:t>
                      </a:r>
                      <a:r>
                        <a:rPr b="0" lang="de-DE" sz="1050">
                          <a:solidFill>
                            <a:schemeClr val="dk2"/>
                          </a:solidFill>
                        </a:rPr>
                        <a:t> (ergänzt Nr.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050">
                          <a:solidFill>
                            <a:schemeClr val="dk2"/>
                          </a:solidFill>
                        </a:rPr>
                        <a:t>Jahr </a:t>
                      </a:r>
                      <a:r>
                        <a:rPr b="1" lang="de-DE" sz="1050">
                          <a:solidFill>
                            <a:srgbClr val="1B4528"/>
                          </a:solidFill>
                          <a:latin typeface="Calibri"/>
                          <a:ea typeface="Calibri"/>
                          <a:cs typeface="Calibri"/>
                          <a:sym typeface="Calibri"/>
                        </a:rPr>
                        <a:t>{{Insert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4296">
                <a:tc>
                  <a:txBody>
                    <a:bodyPr/>
                    <a:lstStyle/>
                    <a:p>
                      <a:pPr indent="0" lvl="0" marL="0" marR="0" rtl="0" algn="r">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{{scope3_description_table}}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de-DE" sz="1050" u="none" cap="none" strike="noStrike">
                          <a:solidFill>
                            <a:srgbClr val="1B4528"/>
                          </a:solidFill>
                          <a:latin typeface="IBM Plex Sans"/>
                          <a:ea typeface="IBM Plex Sans"/>
                          <a:cs typeface="IBM Plex Sans"/>
                          <a:sym typeface="IBM Plex Sans"/>
                        </a:rPr>
                        <a:t>{{scope3_emissions_table}}</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296">
                <a:tc>
                  <a:txBody>
                    <a:bodyPr/>
                    <a:lstStyle/>
                    <a:p>
                      <a:pPr indent="0" lvl="0" marL="0" marR="0" rtl="0" algn="l">
                        <a:lnSpc>
                          <a:spcPct val="106000"/>
                        </a:lnSpc>
                        <a:spcBef>
                          <a:spcPts val="0"/>
                        </a:spcBef>
                        <a:spcAft>
                          <a:spcPts val="0"/>
                        </a:spcAft>
                        <a:buNone/>
                      </a:pPr>
                      <a:r>
                        <a:rPr b="1" lang="de-DE" sz="1050">
                          <a:solidFill>
                            <a:schemeClr val="dk2"/>
                          </a:solidFill>
                        </a:rPr>
                        <a:t>CO₂e-Emissionen in Scope 3 insgesamt (standortbezogen)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de-DE" sz="1050" u="none" cap="none" strike="noStrike">
                          <a:solidFill>
                            <a:srgbClr val="1B4528"/>
                          </a:solidFill>
                          <a:latin typeface="IBM Plex Sans"/>
                          <a:ea typeface="IBM Plex Sans"/>
                          <a:cs typeface="IBM Plex Sans"/>
                          <a:sym typeface="IBM Plex Sans"/>
                        </a:rPr>
                        <a:t>{{scope3}}</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4296">
                <a:tc>
                  <a:txBody>
                    <a:bodyPr/>
                    <a:lstStyle/>
                    <a:p>
                      <a:pPr indent="0" lvl="0" marL="0" marR="0" rtl="0" algn="l">
                        <a:lnSpc>
                          <a:spcPct val="106000"/>
                        </a:lnSpc>
                        <a:spcBef>
                          <a:spcPts val="0"/>
                        </a:spcBef>
                        <a:spcAft>
                          <a:spcPts val="0"/>
                        </a:spcAft>
                        <a:buNone/>
                      </a:pPr>
                      <a:r>
                        <a:rPr b="1" lang="de-DE" sz="1050">
                          <a:solidFill>
                            <a:schemeClr val="dk2"/>
                          </a:solidFill>
                        </a:rPr>
                        <a:t>Gesamte CO₂e-Emissionen für Scope 1, 2 und 3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6000"/>
                        </a:lnSpc>
                        <a:spcBef>
                          <a:spcPts val="0"/>
                        </a:spcBef>
                        <a:spcAft>
                          <a:spcPts val="0"/>
                        </a:spcAft>
                        <a:buClr>
                          <a:srgbClr val="1B4528"/>
                        </a:buClr>
                        <a:buSzPts val="1200"/>
                        <a:buFont typeface="IBM Plex Sans"/>
                        <a:buNone/>
                      </a:pPr>
                      <a:r>
                        <a:rPr b="0" i="0" lang="de-DE" sz="1050" u="none" cap="none" strike="noStrike">
                          <a:solidFill>
                            <a:srgbClr val="1B4528"/>
                          </a:solidFill>
                          <a:latin typeface="IBM Plex Sans"/>
                          <a:ea typeface="IBM Plex Sans"/>
                          <a:cs typeface="IBM Plex Sans"/>
                          <a:sym typeface="IBM Plex Sans"/>
                        </a:rPr>
                        <a:t>{{total_all_scopes}}</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einen Überblick über die Treibhausgasemissionen in Scope 3 nach dem THG-Protokoll angegeben. Das Unternehmen gibt die Gesamtemissionen und die standortbezogenen Emissionen aus Scope 3 an. Die CO₂e-Reduktionsziele des Unternehmens sind aufgeführt, einschließlich der wesentlichen Maßnahmen des Unternehmens zur Erreichung der Reduktionsziel</a:t>
            </a:r>
            <a:r>
              <a:rPr lang="de-DE" sz="1050">
                <a:solidFill>
                  <a:schemeClr val="dk2"/>
                </a:solidFill>
                <a:latin typeface="Inter"/>
                <a:ea typeface="Inter"/>
                <a:cs typeface="Inter"/>
                <a:sym typeface="Inter"/>
              </a:rPr>
              <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Ü</a:t>
            </a:r>
            <a:r>
              <a:rPr b="1" lang="de-DE" sz="1575">
                <a:solidFill>
                  <a:schemeClr val="dk2"/>
                </a:solidFill>
              </a:rPr>
              <a:t>bergang für den Klimaschutz (C3)</a:t>
            </a:r>
            <a:endParaRPr/>
          </a:p>
        </p:txBody>
      </p:sp>
      <p:sp>
        <p:nvSpPr>
          <p:cNvPr id="235" name="Google Shape;235;p1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36" name="Google Shape;236;p1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37" name="Google Shape;237;p17"/>
          <p:cNvGraphicFramePr/>
          <p:nvPr/>
        </p:nvGraphicFramePr>
        <p:xfrm>
          <a:off x="454789" y="3862731"/>
          <a:ext cx="2630906" cy="2630906"/>
        </p:xfrm>
        <a:graphic>
          <a:graphicData uri="http://schemas.openxmlformats.org/drawingml/2006/table">
            <a:tbl>
              <a:tblPr firstRow="1">
                <a:noFill/>
                <a:tableStyleId>{08659190-FCFE-4D70-9B86-54A6606F5F58}</a:tableStyleId>
              </a:tblPr>
              <a:tblGrid>
                <a:gridCol w="4900500"/>
                <a:gridCol w="4900500"/>
              </a:tblGrid>
              <a:tr h="287273">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Künftiger Übergangsplan </a:t>
                      </a:r>
                      <a:r>
                        <a:rPr b="0" lang="de-DE" sz="1050">
                          <a:solidFill>
                            <a:schemeClr val="dk2"/>
                          </a:solidFill>
                          <a:latin typeface="IBM Plex Sans"/>
                          <a:ea typeface="IBM Plex Sans"/>
                          <a:cs typeface="IBM Plex Sans"/>
                          <a:sym typeface="IBM Plex Sans"/>
                        </a:rPr>
                        <a:t>(Nr. 55)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93474">
                <a:tc>
                  <a:txBody>
                    <a:bodyPr/>
                    <a:lstStyle/>
                    <a:p>
                      <a:pPr indent="0" lvl="0" marL="0" marR="0" rtl="0" algn="l">
                        <a:spcBef>
                          <a:spcPts val="0"/>
                        </a:spcBef>
                        <a:spcAft>
                          <a:spcPts val="0"/>
                        </a:spcAft>
                        <a:buNone/>
                      </a:pPr>
                      <a:r>
                        <a:rPr b="1" lang="de-DE" sz="1050">
                          <a:solidFill>
                            <a:srgbClr val="1B4528"/>
                          </a:solidFill>
                          <a:latin typeface="IBM Plex Sans"/>
                          <a:ea typeface="IBM Plex Sans"/>
                          <a:cs typeface="IBM Plex Sans"/>
                          <a:sym typeface="IBM Plex Sans"/>
                        </a:rPr>
                        <a:t>{{company_name}} </a:t>
                      </a:r>
                      <a:r>
                        <a:rPr b="1" lang="de-DE" sz="1050">
                          <a:solidFill>
                            <a:schemeClr val="dk2"/>
                          </a:solidFill>
                          <a:latin typeface="IBM Plex Sans"/>
                          <a:ea typeface="IBM Plex Sans"/>
                          <a:cs typeface="IBM Plex Sans"/>
                          <a:sym typeface="IBM Plex Sans"/>
                        </a:rPr>
                        <a:t>wird einen konkreten Übergangsplan </a:t>
                      </a:r>
                      <a:r>
                        <a:rPr b="1" lang="de-DE" sz="1050">
                          <a:solidFill>
                            <a:schemeClr val="dk2"/>
                          </a:solidFill>
                        </a:rPr>
                        <a:t>für den Klimaschutz annehmen</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{{transition_plan?}}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9347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Zeitpunkt der Annahme des Übergangsplans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{{transition_plan_date}}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454789" y="1466441"/>
          <a:ext cx="2630906" cy="2630906"/>
        </p:xfrm>
        <a:graphic>
          <a:graphicData uri="http://schemas.openxmlformats.org/drawingml/2006/table">
            <a:tbl>
              <a:tblPr firstRow="1">
                <a:noFill/>
                <a:tableStyleId>{08659190-FCFE-4D70-9B86-54A6606F5F58}</a:tableStyleId>
              </a:tblPr>
              <a:tblGrid>
                <a:gridCol w="9801000"/>
              </a:tblGrid>
              <a:tr h="322988">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Übergangsplan für den Klimaschutz </a:t>
                      </a:r>
                      <a:r>
                        <a:rPr b="0" lang="de-DE" sz="1050">
                          <a:solidFill>
                            <a:schemeClr val="dk2"/>
                          </a:solidFill>
                          <a:latin typeface="IBM Plex Sans"/>
                          <a:ea typeface="IBM Plex Sans"/>
                          <a:cs typeface="IBM Plex Sans"/>
                          <a:sym typeface="IBM Plex Sans"/>
                        </a:rPr>
                        <a:t>(Nr. 54)</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385501">
                <a:tc>
                  <a:txBody>
                    <a:bodyPr/>
                    <a:lstStyle/>
                    <a:p>
                      <a:pPr indent="0" lvl="0" marL="0" marR="0" rtl="0" algn="l">
                        <a:spcBef>
                          <a:spcPts val="0"/>
                        </a:spcBef>
                        <a:spcAft>
                          <a:spcPts val="0"/>
                        </a:spcAft>
                        <a:buNone/>
                      </a:pPr>
                      <a:r>
                        <a:rPr b="0" lang="de-DE" sz="1050">
                          <a:solidFill>
                            <a:srgbClr val="1B4528"/>
                          </a:solidFill>
                        </a:rPr>
                        <a:t>{{transition_plan}}</a:t>
                      </a:r>
                      <a:endParaRPr/>
                    </a:p>
                    <a:p>
                      <a:pPr indent="0" lvl="0" marL="0" marR="0" rtl="0" algn="l">
                        <a:spcBef>
                          <a:spcPts val="0"/>
                        </a:spcBef>
                        <a:spcAft>
                          <a:spcPts val="0"/>
                        </a:spcAft>
                        <a:buNone/>
                      </a:pPr>
                      <a:r>
                        <a:t/>
                      </a:r>
                      <a:endParaRPr b="0" sz="1050">
                        <a:solidFill>
                          <a:srgbClr val="1B4528"/>
                        </a:solidFill>
                      </a:endParaRPr>
                    </a:p>
                    <a:p>
                      <a:pPr indent="0" lvl="0" marL="0" marR="0" rtl="0" algn="l">
                        <a:spcBef>
                          <a:spcPts val="0"/>
                        </a:spcBef>
                        <a:spcAft>
                          <a:spcPts val="0"/>
                        </a:spcAft>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445500" y="891000"/>
            <a:ext cx="9801000"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nachstehenden Angaben beziehen sich auf den Übergangsplan des Unternehmens für den Klimaschutz. Der Übergang steht im Zusammenhang mit den CO₂e-Reduktionszielen des Unternehmens.</a:t>
            </a:r>
            <a:endParaRPr/>
          </a:p>
        </p:txBody>
      </p:sp>
      <p:sp>
        <p:nvSpPr>
          <p:cNvPr id="240" name="Google Shape;240;p17"/>
          <p:cNvSpPr txBox="1"/>
          <p:nvPr/>
        </p:nvSpPr>
        <p:spPr>
          <a:xfrm>
            <a:off x="436211" y="3379961"/>
            <a:ext cx="9800998"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Diese Angabe wurde ausgefüllt, da das Unternehmen angegeben hat, dass es einen konkreten Übergangsplan einleiten wird, sowie das Datum der Annahme.</a:t>
            </a:r>
            <a:endParaRPr sz="1575">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K</a:t>
            </a:r>
            <a:r>
              <a:rPr b="1" lang="de-DE" sz="1575">
                <a:solidFill>
                  <a:schemeClr val="dk2"/>
                </a:solidFill>
              </a:rPr>
              <a:t>limabedingte Risiken (C4)</a:t>
            </a:r>
            <a:endParaRPr/>
          </a:p>
        </p:txBody>
      </p:sp>
      <p:sp>
        <p:nvSpPr>
          <p:cNvPr id="247" name="Google Shape;247;p1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248" name="Google Shape;248;p18"/>
          <p:cNvSpPr/>
          <p:nvPr/>
        </p:nvSpPr>
        <p:spPr>
          <a:xfrm>
            <a:off x="527761" y="3310338"/>
            <a:ext cx="181932" cy="203984"/>
          </a:xfrm>
          <a:prstGeom prst="rect">
            <a:avLst/>
          </a:prstGeom>
          <a:noFill/>
          <a:ln>
            <a:noFill/>
          </a:ln>
        </p:spPr>
      </p:sp>
      <p:sp>
        <p:nvSpPr>
          <p:cNvPr id="249" name="Google Shape;249;p18"/>
          <p:cNvSpPr/>
          <p:nvPr/>
        </p:nvSpPr>
        <p:spPr>
          <a:xfrm>
            <a:off x="527761" y="3860770"/>
            <a:ext cx="181932" cy="203984"/>
          </a:xfrm>
          <a:prstGeom prst="rect">
            <a:avLst/>
          </a:prstGeom>
          <a:noFill/>
          <a:ln>
            <a:noFill/>
          </a:ln>
        </p:spPr>
      </p:sp>
      <p:graphicFrame>
        <p:nvGraphicFramePr>
          <p:cNvPr id="250" name="Google Shape;250;p18"/>
          <p:cNvGraphicFramePr/>
          <p:nvPr/>
        </p:nvGraphicFramePr>
        <p:xfrm>
          <a:off x="454794" y="1359308"/>
          <a:ext cx="2630906" cy="2630906"/>
        </p:xfrm>
        <a:graphic>
          <a:graphicData uri="http://schemas.openxmlformats.org/drawingml/2006/table">
            <a:tbl>
              <a:tblPr firstRow="1">
                <a:noFill/>
                <a:tableStyleId>{08659190-FCFE-4D70-9B86-54A6606F5F58}</a:tableStyleId>
              </a:tblPr>
              <a:tblGrid>
                <a:gridCol w="1172266"/>
                <a:gridCol w="883458"/>
                <a:gridCol w="2774049"/>
                <a:gridCol w="1504067"/>
                <a:gridCol w="1376797"/>
                <a:gridCol w="1064421"/>
                <a:gridCol w="1016692"/>
              </a:tblGrid>
              <a:tr h="196572">
                <a:tc gridSpan="3">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56a)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56b)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56c)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56d)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478671">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Klimabedingte Risiken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Wo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Kurze Beschreibung der Risiken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Exposition </a:t>
                      </a:r>
                      <a:endParaRPr/>
                    </a:p>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rPr>
                        <a:t>(niedrig/mittel/hoch)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Anfälligkeit </a:t>
                      </a:r>
                      <a:endParaRPr/>
                    </a:p>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rPr>
                        <a:t>(niedrig/mittel/hoch)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Zeithorizont </a:t>
                      </a:r>
                      <a:endParaRPr/>
                    </a:p>
                    <a:p>
                      <a:pPr indent="0" lvl="0" marL="0" marR="0" rtl="0" algn="ctr">
                        <a:lnSpc>
                          <a:spcPct val="100000"/>
                        </a:lnSpc>
                        <a:spcBef>
                          <a:spcPts val="0"/>
                        </a:spcBef>
                        <a:spcAft>
                          <a:spcPts val="0"/>
                        </a:spcAft>
                        <a:buClr>
                          <a:schemeClr val="dk2"/>
                        </a:buClr>
                        <a:buSzPts val="1200"/>
                        <a:buFont typeface="IBM Plex Sans"/>
                        <a:buNone/>
                      </a:pPr>
                      <a:r>
                        <a:rPr b="0" i="0" lang="de-DE" sz="1050">
                          <a:solidFill>
                            <a:schemeClr val="dk2"/>
                          </a:solidFill>
                        </a:rPr>
                        <a:t>(0-1/2-5/&gt;5 Jahre)</a:t>
                      </a:r>
                      <a:endParaRPr b="0" i="0" sz="1050"/>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Anpassung ergriffen </a:t>
                      </a:r>
                      <a:r>
                        <a:rPr b="0" lang="de-DE" sz="1050">
                          <a:solidFill>
                            <a:schemeClr val="dk2"/>
                          </a:solidFill>
                        </a:rPr>
                        <a:t>(JA/NEIN)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Chronische Gefahren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Vermögens­werte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{{chronic_aktiver_description}}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{{chronic_aktiver_time}}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Tätigkeiten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{{chronic_aktivteter_eksponerning}}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{{chronic_aktivteter_time}}</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{{chronic_aktivteter_tilpasning}}</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Lieferkette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{{chronic_value_description}}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{{chronic_value_eksponerning}}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{{chronic_value_sårbarhed}}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{{chronic_value_time}}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{{chronic_value_tilpasning}}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Akute Gefahren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Vermögens­werte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{{akut_aktiver_description}}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Tätigkeiten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{{akut_aktiviteter_description}}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Lieferkette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{{akut_værdikæde_description}}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{{akut_værdikæde_tilpasning}}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Übergangs-ereignis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Vermögens­werte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{{omstilling_aktiver_description}}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Tätigkeiten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{{omstilling_aktiviteter_description}}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Lieferkette</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{{omstilling_værdikæde_description}}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{{omstilling_værdikæde_tilpasning}}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solidFill>
                  <a:srgbClr val="1B4528"/>
                </a:solidFill>
              </a:rPr>
              <a:t>‹#›</a:t>
            </a:fld>
            <a:endParaRPr>
              <a:solidFill>
                <a:srgbClr val="1B4528"/>
              </a:solidFill>
            </a:endParaRPr>
          </a:p>
        </p:txBody>
      </p:sp>
      <p:sp>
        <p:nvSpPr>
          <p:cNvPr id="252" name="Google Shape;252;p18"/>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einen Überblick über die klimabedingten Risiken angegeben, einschließlich der Frage, ob diese chronisch, akut oder übergangsbedingt sind und wo sie angesiedelt sind (Vermögenswerte, Tätigkeiten oder Wertschöpfungskette des Unternehmens). </a:t>
            </a:r>
            <a:endParaRPr sz="105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K</a:t>
            </a:r>
            <a:r>
              <a:rPr b="1" lang="de-DE" sz="1575">
                <a:solidFill>
                  <a:schemeClr val="dk2"/>
                </a:solidFill>
              </a:rPr>
              <a:t>limabedingte Risiken (C4) - Fortsetzung</a:t>
            </a:r>
            <a:endParaRPr/>
          </a:p>
        </p:txBody>
      </p:sp>
      <p:sp>
        <p:nvSpPr>
          <p:cNvPr id="259" name="Google Shape;259;p1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60" name="Google Shape;260;p1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61" name="Google Shape;261;p19"/>
          <p:cNvGraphicFramePr/>
          <p:nvPr/>
        </p:nvGraphicFramePr>
        <p:xfrm>
          <a:off x="437364" y="1339390"/>
          <a:ext cx="2630906" cy="2630906"/>
        </p:xfrm>
        <a:graphic>
          <a:graphicData uri="http://schemas.openxmlformats.org/drawingml/2006/table">
            <a:tbl>
              <a:tblPr firstRow="1">
                <a:noFill/>
                <a:tableStyleId>{08659190-FCFE-4D70-9B86-54A6606F5F58}</a:tableStyleId>
              </a:tblPr>
              <a:tblGrid>
                <a:gridCol w="2489648"/>
                <a:gridCol w="4645741"/>
                <a:gridCol w="1434633"/>
                <a:gridCol w="1221661"/>
              </a:tblGrid>
              <a:tr h="153579">
                <a:tc gridSpan="4">
                  <a:txBody>
                    <a:bodyPr/>
                    <a:lstStyle/>
                    <a:p>
                      <a:pPr indent="0" lvl="0" marL="0" marR="0" rtl="0" algn="l">
                        <a:spcBef>
                          <a:spcPts val="0"/>
                        </a:spcBef>
                        <a:spcAft>
                          <a:spcPts val="0"/>
                        </a:spcAft>
                        <a:buNone/>
                      </a:pPr>
                      <a:r>
                        <a:rPr b="0" lang="de-DE" sz="1050">
                          <a:solidFill>
                            <a:schemeClr val="dk2"/>
                          </a:solidFill>
                          <a:latin typeface="IBM Plex Sans"/>
                          <a:ea typeface="IBM Plex Sans"/>
                          <a:cs typeface="IBM Plex Sans"/>
                          <a:sym typeface="IBM Plex Sans"/>
                        </a:rPr>
                        <a:t>(Nr. 57)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40417">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Potenzielle nachteilige </a:t>
                      </a:r>
                      <a:r>
                        <a:rPr b="1" lang="de-DE" sz="1050">
                          <a:solidFill>
                            <a:schemeClr val="dk2"/>
                          </a:solidFill>
                          <a:latin typeface="IBM Plex Sans"/>
                          <a:ea typeface="IBM Plex Sans"/>
                          <a:cs typeface="IBM Plex Sans"/>
                          <a:sym typeface="IBM Plex Sans"/>
                        </a:rPr>
                        <a:t>Auswirkungen auf die finanzielle Leistungsfähigkeit und die Geschäftstätigkeit des Unternehmens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Finanzielles Risiko</a:t>
                      </a:r>
                      <a:endParaRPr/>
                    </a:p>
                    <a:p>
                      <a:pPr indent="0" lvl="0" marL="0" marR="0" rtl="0" algn="ctr">
                        <a:lnSpc>
                          <a:spcPct val="100000"/>
                        </a:lnSpc>
                        <a:spcBef>
                          <a:spcPts val="0"/>
                        </a:spcBef>
                        <a:spcAft>
                          <a:spcPts val="0"/>
                        </a:spcAft>
                        <a:buClr>
                          <a:schemeClr val="dk2"/>
                        </a:buClr>
                        <a:buSzPts val="1200"/>
                        <a:buFont typeface="IBM Plex Sans"/>
                        <a:buNone/>
                      </a:pPr>
                      <a:r>
                        <a:rPr b="0" lang="de-DE" sz="1050">
                          <a:solidFill>
                            <a:schemeClr val="dk2"/>
                          </a:solidFill>
                          <a:latin typeface="IBM Plex Sans"/>
                          <a:ea typeface="IBM Plex Sans"/>
                          <a:cs typeface="IBM Plex Sans"/>
                          <a:sym typeface="IBM Plex Sans"/>
                        </a:rPr>
                        <a:t>(niedrig/mittel/hoch)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rPr>
                        <a:t>Zeithorizont</a:t>
                      </a:r>
                      <a:endParaRPr/>
                    </a:p>
                    <a:p>
                      <a:pPr indent="0" lvl="0" marL="0" marR="0" rtl="0" algn="ctr">
                        <a:lnSpc>
                          <a:spcPct val="100000"/>
                        </a:lnSpc>
                        <a:spcBef>
                          <a:spcPts val="0"/>
                        </a:spcBef>
                        <a:spcAft>
                          <a:spcPts val="0"/>
                        </a:spcAft>
                        <a:buClr>
                          <a:schemeClr val="dk2"/>
                        </a:buClr>
                        <a:buSzPts val="1200"/>
                        <a:buFont typeface="IBM Plex Sans"/>
                        <a:buNone/>
                      </a:pPr>
                      <a:r>
                        <a:rPr b="0" i="0" lang="de-DE" sz="1050">
                          <a:solidFill>
                            <a:schemeClr val="dk2"/>
                          </a:solidFill>
                        </a:rPr>
                        <a:t>(0-1/2-5/&gt;5 Jahre)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Chronische Gefahren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{{chronic_hazards}}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{{chronic_time_horizon}}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Akute Gefahren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{{acute_hazards}}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{{acute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{{acute_financial_risk}}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{{acute_time_horizon}}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Übergangsrisiken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{{climate_related}}</a:t>
                      </a:r>
                      <a:endParaRPr sz="1575"/>
                    </a:p>
                    <a:p>
                      <a:pPr indent="0" lvl="0" marL="0" marR="0" rtl="0" algn="l">
                        <a:lnSpc>
                          <a:spcPct val="100000"/>
                        </a:lnSpc>
                        <a:spcBef>
                          <a:spcPts val="0"/>
                        </a:spcBef>
                        <a:spcAft>
                          <a:spcPts val="0"/>
                        </a:spcAft>
                        <a:buClr>
                          <a:schemeClr val="dk1"/>
                        </a:buClr>
                        <a:buSzPts val="1200"/>
                        <a:buFont typeface="IBM Plex Sans"/>
                        <a:buNone/>
                      </a:pPr>
                      <a:r>
                        <a:t/>
                      </a:r>
                      <a:endParaRPr b="0" i="0" sz="1050" u="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{{climate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{{climate_related_risk}}</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{{climate_time_horizon}}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Das Unternehmen hat einen Überblick über die klimabedingten Risiken angegeben, einschließlich, ob diese chronisch, akut oder übergangsbedingt sind und ob sie die finanzielle Leistungsfähigkeit und Geschäftstätigkeit nachteilig beeinflussen können.</a:t>
            </a:r>
            <a:endParaRPr sz="105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rPr>
              <a:t>Zusätzliche (allgemeine) Merkmale der Arbeitskräfte (C5)</a:t>
            </a:r>
            <a:endParaRPr/>
          </a:p>
        </p:txBody>
      </p:sp>
      <p:sp>
        <p:nvSpPr>
          <p:cNvPr id="269" name="Google Shape;269;p2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70" name="Google Shape;270;p2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71" name="Google Shape;271;p20"/>
          <p:cNvGraphicFramePr/>
          <p:nvPr/>
        </p:nvGraphicFramePr>
        <p:xfrm>
          <a:off x="5469788" y="1447652"/>
          <a:ext cx="4776716" cy="755444"/>
        </p:xfrm>
        <a:graphic>
          <a:graphicData uri="http://schemas.openxmlformats.org/drawingml/2006/table">
            <a:tbl>
              <a:tblPr firstRow="1">
                <a:noFill/>
                <a:tableStyleId>{08659190-FCFE-4D70-9B86-54A6606F5F58}</a:tableStyleId>
              </a:tblPr>
              <a:tblGrid>
                <a:gridCol w="3708481"/>
                <a:gridCol w="1068235"/>
              </a:tblGrid>
              <a:tr h="377722">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de-DE" sz="1050">
                          <a:solidFill>
                            <a:schemeClr val="dk2"/>
                          </a:solidFill>
                        </a:rPr>
                        <a:t>Zahlenmäßiges Verhältnis von Frauen zu Männern auf Führungsebene </a:t>
                      </a:r>
                      <a:r>
                        <a:rPr b="0" i="0" lang="de-DE" sz="1050">
                          <a:solidFill>
                            <a:schemeClr val="dk2"/>
                          </a:solidFill>
                        </a:rPr>
                        <a:t>(Nr. 59)</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de-DE" sz="1050" u="none" strike="noStrike">
                          <a:solidFill>
                            <a:srgbClr val="1B4528"/>
                          </a:solidFill>
                          <a:latin typeface="IBM Plex Sans"/>
                          <a:ea typeface="IBM Plex Sans"/>
                          <a:cs typeface="IBM Plex Sans"/>
                          <a:sym typeface="IBM Plex Sans"/>
                        </a:rPr>
                        <a:t>Jahr </a:t>
                      </a:r>
                      <a:r>
                        <a:rPr b="1" i="0" lang="de-DE"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7722">
                <a:tc vMerge="1"/>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{{gender_balance}}</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443203" y="1447652"/>
          <a:ext cx="4776716" cy="737161"/>
        </p:xfrm>
        <a:graphic>
          <a:graphicData uri="http://schemas.openxmlformats.org/drawingml/2006/table">
            <a:tbl>
              <a:tblPr firstRow="1">
                <a:noFill/>
                <a:tableStyleId>{08659190-FCFE-4D70-9B86-54A6606F5F58}</a:tableStyleId>
              </a:tblPr>
              <a:tblGrid>
                <a:gridCol w="3708481"/>
                <a:gridCol w="1068235"/>
              </a:tblGrid>
              <a:tr h="36858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de-DE" sz="1050">
                          <a:solidFill>
                            <a:schemeClr val="dk2"/>
                          </a:solidFill>
                        </a:rPr>
                        <a:t>Beschäftigtenfluktuation im Berichtsjahr </a:t>
                      </a:r>
                      <a:r>
                        <a:rPr b="0" i="0" lang="de-DE" sz="1050">
                          <a:solidFill>
                            <a:schemeClr val="dk2"/>
                          </a:solidFill>
                        </a:rPr>
                        <a:t>(Nr. 58)</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de-DE" sz="1050" u="none" strike="noStrike">
                          <a:solidFill>
                            <a:srgbClr val="1B4528"/>
                          </a:solidFill>
                          <a:latin typeface="IBM Plex Sans"/>
                          <a:ea typeface="IBM Plex Sans"/>
                          <a:cs typeface="IBM Plex Sans"/>
                          <a:sym typeface="IBM Plex Sans"/>
                        </a:rPr>
                        <a:t>Jahr </a:t>
                      </a:r>
                      <a:r>
                        <a:rPr b="1" i="0" lang="de-DE"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8580">
                <a:tc vMerge="1"/>
                <a:tc>
                  <a:txBody>
                    <a:bodyPr/>
                    <a:lstStyle/>
                    <a:p>
                      <a:pPr indent="0" lvl="0" marL="0" marR="0" rtl="0" algn="r">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{{omsatningsrate}}</a:t>
                      </a:r>
                      <a:endParaRPr/>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445500" y="891000"/>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nachstehenden Informationen ergänzen die übrigen Angaben zu den Arbeitskräften des Unternehmens, einschließlich der Frage, wie sich das Verhältnis von Männern und Frauen auf Führungsebene im Unternehmen verteilt.</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graphicFrame>
        <p:nvGraphicFramePr>
          <p:cNvPr id="274" name="Google Shape;274;p20"/>
          <p:cNvGraphicFramePr/>
          <p:nvPr/>
        </p:nvGraphicFramePr>
        <p:xfrm>
          <a:off x="445499" y="2882760"/>
          <a:ext cx="9791705" cy="2630906"/>
        </p:xfrm>
        <a:graphic>
          <a:graphicData uri="http://schemas.openxmlformats.org/drawingml/2006/table">
            <a:tbl>
              <a:tblPr firstRow="1">
                <a:noFill/>
                <a:tableStyleId>{08659190-FCFE-4D70-9B86-54A6606F5F58}</a:tableStyleId>
              </a:tblPr>
              <a:tblGrid>
                <a:gridCol w="7257726"/>
                <a:gridCol w="2533979"/>
              </a:tblGrid>
              <a:tr h="252567">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Selbstständige und Zeitarbeitskräfte </a:t>
                      </a:r>
                      <a:r>
                        <a:rPr b="0" lang="de-DE" sz="1050">
                          <a:solidFill>
                            <a:schemeClr val="dk2"/>
                          </a:solidFill>
                        </a:rPr>
                        <a:t>(Nr. 60)</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52567">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Anzahl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1" lang="de-DE" sz="1050">
                          <a:solidFill>
                            <a:schemeClr val="dk2"/>
                          </a:solidFill>
                        </a:rPr>
                        <a:t>Selbstständige (ohne eigenes Personal)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{{self-employeed}}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1" lang="de-DE" sz="1050">
                          <a:solidFill>
                            <a:schemeClr val="dk2"/>
                          </a:solidFill>
                        </a:rPr>
                        <a:t>Zeitarbeitskräfte (über eine Zeitarbeitsagentur bereitgestellt)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{{temp_workers}}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454795" y="2430996"/>
            <a:ext cx="97824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nachstehenden Informationen wurden ausgefüllt, um über die Anzahl der Selbstständigen und Zeitarbeitskräfte des Unternehmens zu informieren.</a:t>
            </a:r>
            <a:endParaRPr b="0" sz="105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latin typeface="IBM Plex Sans"/>
                <a:ea typeface="IBM Plex Sans"/>
                <a:cs typeface="IBM Plex Sans"/>
                <a:sym typeface="IBM Plex Sans"/>
              </a:rPr>
              <a:t>Menschenrechtsrichtlinien und -prozesse (C6</a:t>
            </a:r>
            <a:r>
              <a:rPr lang="de-DE"/>
              <a:t>) - Eigene Arbeitskräfte</a:t>
            </a:r>
            <a:endParaRPr/>
          </a:p>
        </p:txBody>
      </p:sp>
      <p:sp>
        <p:nvSpPr>
          <p:cNvPr id="281" name="Google Shape;281;p21"/>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82" name="Google Shape;282;p2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83" name="Google Shape;283;p21"/>
          <p:cNvGraphicFramePr/>
          <p:nvPr/>
        </p:nvGraphicFramePr>
        <p:xfrm>
          <a:off x="454796" y="1615123"/>
          <a:ext cx="2630906" cy="2630906"/>
        </p:xfrm>
        <a:graphic>
          <a:graphicData uri="http://schemas.openxmlformats.org/drawingml/2006/table">
            <a:tbl>
              <a:tblPr firstRow="1">
                <a:noFill/>
                <a:tableStyleId>{08659190-FCFE-4D70-9B86-54A6606F5F58}</a:tableStyleId>
              </a:tblPr>
              <a:tblGrid>
                <a:gridCol w="7527262"/>
                <a:gridCol w="2264442"/>
              </a:tblGrid>
              <a:tr h="448942">
                <a:tc>
                  <a:txBody>
                    <a:bodyPr/>
                    <a:lstStyle/>
                    <a:p>
                      <a:pPr indent="0" lvl="0" marL="0" marR="0" rtl="0" algn="l">
                        <a:lnSpc>
                          <a:spcPct val="100000"/>
                        </a:lnSpc>
                        <a:spcBef>
                          <a:spcPts val="0"/>
                        </a:spcBef>
                        <a:spcAft>
                          <a:spcPts val="0"/>
                        </a:spcAft>
                        <a:buClr>
                          <a:srgbClr val="1B4528"/>
                        </a:buClr>
                        <a:buSzPts val="1200"/>
                        <a:buFont typeface="IBM Plex Sans"/>
                        <a:buNone/>
                      </a:pPr>
                      <a:r>
                        <a:rPr b="1" lang="de-DE" sz="1050">
                          <a:solidFill>
                            <a:srgbClr val="1B4528"/>
                          </a:solidFill>
                          <a:latin typeface="IBM Plex Sans"/>
                          <a:ea typeface="IBM Plex Sans"/>
                          <a:cs typeface="IBM Plex Sans"/>
                          <a:sym typeface="IBM Plex Sans"/>
                        </a:rPr>
                        <a:t>{{company_name}}</a:t>
                      </a:r>
                      <a:r>
                        <a:rPr b="1" lang="de-DE" sz="1050">
                          <a:solidFill>
                            <a:schemeClr val="dk2"/>
                          </a:solidFill>
                        </a:rPr>
                        <a:t> verfügt über </a:t>
                      </a:r>
                      <a:r>
                        <a:rPr b="1" lang="de-DE" sz="1050">
                          <a:solidFill>
                            <a:schemeClr val="dk2"/>
                          </a:solidFill>
                          <a:latin typeface="IBM Plex Sans"/>
                          <a:ea typeface="IBM Plex Sans"/>
                          <a:cs typeface="IBM Plex Sans"/>
                          <a:sym typeface="IBM Plex Sans"/>
                        </a:rPr>
                        <a:t>einen Verhaltenskodex </a:t>
                      </a:r>
                      <a:r>
                        <a:rPr b="1" i="1" lang="de-DE" sz="1050">
                          <a:solidFill>
                            <a:schemeClr val="dk2"/>
                          </a:solidFill>
                          <a:latin typeface="IBM Plex Sans"/>
                          <a:ea typeface="IBM Plex Sans"/>
                          <a:cs typeface="IBM Plex Sans"/>
                          <a:sym typeface="IBM Plex Sans"/>
                        </a:rPr>
                        <a:t>und/oder</a:t>
                      </a:r>
                      <a:r>
                        <a:rPr b="1" lang="de-DE" sz="1050">
                          <a:solidFill>
                            <a:schemeClr val="dk2"/>
                          </a:solidFill>
                          <a:latin typeface="IBM Plex Sans"/>
                          <a:ea typeface="IBM Plex Sans"/>
                          <a:cs typeface="IBM Plex Sans"/>
                          <a:sym typeface="IBM Plex Sans"/>
                        </a:rPr>
                        <a:t> Richtlinien für die Achtung der Menschenrechte für unsere </a:t>
                      </a:r>
                      <a:r>
                        <a:rPr b="1" lang="de-DE" sz="1050" u="sng">
                          <a:solidFill>
                            <a:schemeClr val="dk2"/>
                          </a:solidFill>
                          <a:latin typeface="IBM Plex Sans"/>
                          <a:ea typeface="IBM Plex Sans"/>
                          <a:cs typeface="IBM Plex Sans"/>
                          <a:sym typeface="IBM Plex Sans"/>
                        </a:rPr>
                        <a:t>eigenen Arbeitskräfte</a:t>
                      </a:r>
                      <a:r>
                        <a:rPr b="0" lang="de-DE" sz="1050" u="none">
                          <a:solidFill>
                            <a:schemeClr val="dk2"/>
                          </a:solidFill>
                          <a:latin typeface="IBM Plex Sans"/>
                          <a:ea typeface="IBM Plex Sans"/>
                          <a:cs typeface="IBM Plex Sans"/>
                          <a:sym typeface="IBM Plex Sans"/>
                        </a:rPr>
                        <a:t> (Nr. 61a)</a:t>
                      </a:r>
                      <a:endParaRPr b="0" sz="1050" u="none">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de-DE" sz="1050">
                          <a:solidFill>
                            <a:srgbClr val="1B4528"/>
                          </a:solidFill>
                          <a:latin typeface="IBM Plex Sans"/>
                          <a:ea typeface="IBM Plex Sans"/>
                          <a:cs typeface="IBM Plex Sans"/>
                          <a:sym typeface="IBM Plex Sans"/>
                        </a:rPr>
                        <a:t>{{human_rights_policy?}}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de-DE" sz="1050">
                          <a:solidFill>
                            <a:schemeClr val="dk1"/>
                          </a:solidFill>
                          <a:latin typeface="IBM Plex Sans"/>
                          <a:ea typeface="IBM Plex Sans"/>
                          <a:cs typeface="IBM Plex Sans"/>
                          <a:sym typeface="IBM Plex Sans"/>
                        </a:rPr>
                        <a:t>Der Verhaltenskodex bzw. die Menschenrechtsrichtlinien decken folgende Aspekte ab: </a:t>
                      </a:r>
                      <a:r>
                        <a:rPr b="0" lang="de-DE" sz="1050" u="none">
                          <a:solidFill>
                            <a:schemeClr val="dk2"/>
                          </a:solidFill>
                          <a:latin typeface="IBM Plex Sans"/>
                          <a:ea typeface="IBM Plex Sans"/>
                          <a:cs typeface="IBM Plex Sans"/>
                          <a:sym typeface="IBM Plex Sans"/>
                        </a:rPr>
                        <a:t>(Nr. 61b)</a:t>
                      </a:r>
                      <a:endParaRPr b="0" sz="1050">
                        <a:solidFill>
                          <a:schemeClr val="dk1"/>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30884">
                <a:tc>
                  <a:txBody>
                    <a:bodyPr/>
                    <a:lstStyle/>
                    <a:p>
                      <a:pPr indent="0" lvl="1" marL="400950" marR="0" rtl="0" algn="l">
                        <a:spcBef>
                          <a:spcPts val="0"/>
                        </a:spcBef>
                        <a:spcAft>
                          <a:spcPts val="0"/>
                        </a:spcAft>
                        <a:buNone/>
                      </a:pPr>
                      <a:r>
                        <a:rPr b="0" lang="de-DE" sz="1050" u="none" cap="none" strike="noStrike">
                          <a:solidFill>
                            <a:schemeClr val="dk2"/>
                          </a:solidFill>
                        </a:rPr>
                        <a:t>Kinderarbeit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{{child_labour_polict?}}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de-DE" sz="1050" u="none" cap="none" strike="noStrike">
                          <a:solidFill>
                            <a:schemeClr val="dk2"/>
                          </a:solidFill>
                        </a:rPr>
                        <a:t>Zwangsarbeit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{{forced_labour_policy?}}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de-DE" sz="1050" u="none" cap="none" strike="noStrike">
                          <a:solidFill>
                            <a:schemeClr val="dk2"/>
                          </a:solidFill>
                        </a:rPr>
                        <a:t>Menschenhandel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{{human_policy?}}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de-DE" sz="1050" u="none" cap="none" strike="noStrike">
                          <a:solidFill>
                            <a:schemeClr val="dk2"/>
                          </a:solidFill>
                        </a:rPr>
                        <a:t>Diskriminierung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{{discrimanation_policy?}}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de-DE" sz="1050" u="none" cap="none" strike="noStrike">
                          <a:solidFill>
                            <a:schemeClr val="dk2"/>
                          </a:solidFill>
                        </a:rPr>
                        <a:t>Sicherheit und Unfallverhütung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{{safety_policy?}}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de-DE" sz="1050" u="none" cap="none" strike="noStrike">
                          <a:solidFill>
                            <a:schemeClr val="dk2"/>
                          </a:solidFill>
                        </a:rPr>
                        <a:t>Sonstiges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{{other_policy?}}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de-DE" sz="1050">
                          <a:solidFill>
                            <a:schemeClr val="dk2"/>
                          </a:solidFill>
                        </a:rPr>
                        <a:t>Falls ja zu ”Sonstiges”, bitte ausführen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731151">
                <a:tc gridSpan="2">
                  <a:txBody>
                    <a:bodyPr/>
                    <a:lstStyle/>
                    <a:p>
                      <a:pPr indent="0" lvl="0" marL="0" marR="0" rtl="0" algn="l">
                        <a:spcBef>
                          <a:spcPts val="0"/>
                        </a:spcBef>
                        <a:spcAft>
                          <a:spcPts val="0"/>
                        </a:spcAft>
                        <a:buNone/>
                      </a:pPr>
                      <a:r>
                        <a:t/>
                      </a:r>
                      <a:endParaRPr b="0" sz="1050">
                        <a:solidFill>
                          <a:schemeClr val="dk2"/>
                        </a:solidFill>
                      </a:endParaRPr>
                    </a:p>
                    <a:p>
                      <a:pPr indent="0" lvl="0" marL="0" marR="0" rtl="0" algn="r">
                        <a:lnSpc>
                          <a:spcPct val="100000"/>
                        </a:lnSpc>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{{C6_other_description}}</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445499" y="4809230"/>
          <a:ext cx="2630906" cy="2630906"/>
        </p:xfrm>
        <a:graphic>
          <a:graphicData uri="http://schemas.openxmlformats.org/drawingml/2006/table">
            <a:tbl>
              <a:tblPr firstRow="1">
                <a:noFill/>
                <a:tableStyleId>{08659190-FCFE-4D70-9B86-54A6606F5F58}</a:tableStyleId>
              </a:tblPr>
              <a:tblGrid>
                <a:gridCol w="7538114"/>
                <a:gridCol w="2267687"/>
              </a:tblGrid>
              <a:tr h="759520">
                <a:tc>
                  <a:txBody>
                    <a:bodyPr/>
                    <a:lstStyle/>
                    <a:p>
                      <a:pPr indent="0" lvl="0" marL="0" marR="0" rtl="0" algn="l">
                        <a:spcBef>
                          <a:spcPts val="0"/>
                        </a:spcBef>
                        <a:spcAft>
                          <a:spcPts val="0"/>
                        </a:spcAft>
                        <a:buNone/>
                      </a:pPr>
                      <a:r>
                        <a:rPr b="1" lang="de-DE" sz="1050">
                          <a:solidFill>
                            <a:schemeClr val="dk2"/>
                          </a:solidFill>
                        </a:rPr>
                        <a:t>Das Unternehmen verfügt über ein Verfahren zur Bearbeitung von Beschwerden unserer </a:t>
                      </a:r>
                      <a:r>
                        <a:rPr b="1" lang="de-DE" sz="1050" u="sng">
                          <a:solidFill>
                            <a:schemeClr val="dk2"/>
                          </a:solidFill>
                        </a:rPr>
                        <a:t>eigenen Arbeitskräfte</a:t>
                      </a:r>
                      <a:r>
                        <a:rPr b="0" lang="de-DE" sz="1050" u="sng">
                          <a:solidFill>
                            <a:schemeClr val="dk2"/>
                          </a:solidFill>
                        </a:rPr>
                        <a:t> </a:t>
                      </a:r>
                      <a:r>
                        <a:rPr b="0" lang="de-DE" sz="1050">
                          <a:solidFill>
                            <a:schemeClr val="dk2"/>
                          </a:solidFill>
                        </a:rPr>
                        <a:t>(Nr. 61c)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de-DE" sz="1050">
                          <a:solidFill>
                            <a:srgbClr val="1B4528"/>
                          </a:solidFill>
                          <a:latin typeface="IBM Plex Sans"/>
                          <a:ea typeface="IBM Plex Sans"/>
                          <a:cs typeface="IBM Plex Sans"/>
                          <a:sym typeface="IBM Plex Sans"/>
                        </a:rPr>
                        <a:t>{{whistleblower?}}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452474" y="891000"/>
            <a:ext cx="9794026"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de-DE" sz="1050" u="none" strike="noStrike">
                <a:solidFill>
                  <a:schemeClr val="dk2"/>
                </a:solidFill>
                <a:latin typeface="Inter"/>
                <a:ea typeface="Inter"/>
                <a:cs typeface="Inter"/>
                <a:sym typeface="Inter"/>
              </a:rPr>
              <a:t>Nachstehend sind </a:t>
            </a:r>
            <a:r>
              <a:rPr lang="de-DE" sz="1050">
                <a:solidFill>
                  <a:schemeClr val="dk2"/>
                </a:solidFill>
                <a:latin typeface="Inter"/>
                <a:ea typeface="Inter"/>
                <a:cs typeface="Inter"/>
                <a:sym typeface="Inter"/>
              </a:rPr>
              <a:t>Informationen über </a:t>
            </a:r>
            <a:r>
              <a:rPr b="0" i="0" lang="de-DE" sz="1050" u="none" strike="noStrike">
                <a:solidFill>
                  <a:schemeClr val="dk2"/>
                </a:solidFill>
                <a:latin typeface="Inter"/>
                <a:ea typeface="Inter"/>
                <a:cs typeface="Inter"/>
                <a:sym typeface="Inter"/>
              </a:rPr>
              <a:t>den Verhaltenskodex und/oder die Menschenrechtsrichtlinien des Unternehmens für die eigenen Arbeitskräft</a:t>
            </a:r>
            <a:r>
              <a:rPr lang="de-DE" sz="1050">
                <a:solidFill>
                  <a:schemeClr val="dk2"/>
                </a:solidFill>
                <a:latin typeface="Inter"/>
                <a:ea typeface="Inter"/>
                <a:cs typeface="Inter"/>
                <a:sym typeface="Inter"/>
              </a:rPr>
              <a:t>e angegeben. Ebenso wird angegeben, ob das Unternehmen über ein Verfahren zur Bearbeitung von Beschwerden verfügt, das es den Beschäftigten ermöglicht, Sachverhalte im Zusammenhang mit Menschenrechtsverletzungen, Diskriminierung, Belästigung oder anderen kritikwürdigen Vorgängen zu melden.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latin typeface="IBM Plex Sans"/>
                <a:ea typeface="IBM Plex Sans"/>
                <a:cs typeface="IBM Plex Sans"/>
                <a:sym typeface="IBM Plex Sans"/>
              </a:rPr>
              <a:t>Schwerwiegende negative Vorfälle im Zusammenhang mit Menschenrechten (C7</a:t>
            </a:r>
            <a:r>
              <a:rPr lang="de-DE"/>
              <a:t>) – Eigene Arbeitskräfte</a:t>
            </a:r>
            <a:endParaRPr/>
          </a:p>
        </p:txBody>
      </p:sp>
      <p:sp>
        <p:nvSpPr>
          <p:cNvPr id="291" name="Google Shape;291;p2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92" name="Google Shape;292;p2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454794" y="1470645"/>
          <a:ext cx="2630906" cy="2630906"/>
        </p:xfrm>
        <a:graphic>
          <a:graphicData uri="http://schemas.openxmlformats.org/drawingml/2006/table">
            <a:tbl>
              <a:tblPr firstRow="1">
                <a:noFill/>
                <a:tableStyleId>{08659190-FCFE-4D70-9B86-54A6606F5F58}</a:tableStyleId>
              </a:tblPr>
              <a:tblGrid>
                <a:gridCol w="3436664"/>
                <a:gridCol w="6355040"/>
              </a:tblGrid>
              <a:tr h="286374">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Sind unter den </a:t>
                      </a:r>
                      <a:r>
                        <a:rPr b="1" lang="de-DE" sz="1050" u="sng">
                          <a:solidFill>
                            <a:schemeClr val="dk2"/>
                          </a:solidFill>
                          <a:latin typeface="IBM Plex Sans"/>
                          <a:ea typeface="IBM Plex Sans"/>
                          <a:cs typeface="IBM Plex Sans"/>
                          <a:sym typeface="IBM Plex Sans"/>
                        </a:rPr>
                        <a:t>eigenen Arbeitskräften</a:t>
                      </a:r>
                      <a:r>
                        <a:rPr b="1" lang="de-DE" sz="1050" u="none">
                          <a:solidFill>
                            <a:schemeClr val="dk2"/>
                          </a:solidFill>
                          <a:latin typeface="IBM Plex Sans"/>
                          <a:ea typeface="IBM Plex Sans"/>
                          <a:cs typeface="IBM Plex Sans"/>
                          <a:sym typeface="IBM Plex Sans"/>
                        </a:rPr>
                        <a:t> des Unternehmens </a:t>
                      </a:r>
                      <a:r>
                        <a:rPr b="1" lang="de-DE" sz="1050">
                          <a:solidFill>
                            <a:schemeClr val="dk2"/>
                          </a:solidFill>
                          <a:latin typeface="IBM Plex Sans"/>
                          <a:ea typeface="IBM Plex Sans"/>
                          <a:cs typeface="IBM Plex Sans"/>
                          <a:sym typeface="IBM Plex Sans"/>
                        </a:rPr>
                        <a:t>bestätigte negative Vorfälle im Zusammenhang mit Folgendem aufgetreten </a:t>
                      </a:r>
                      <a:r>
                        <a:rPr b="0" lang="de-DE" sz="1050">
                          <a:solidFill>
                            <a:schemeClr val="dk2"/>
                          </a:solidFill>
                          <a:latin typeface="IBM Plex Sans"/>
                          <a:ea typeface="IBM Plex Sans"/>
                          <a:cs typeface="IBM Plex Sans"/>
                          <a:sym typeface="IBM Plex Sans"/>
                        </a:rPr>
                        <a:t>(Nr. 62a-b)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132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Kinderarbeit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{{child_labour_yes?}}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{{child_labour_desc}}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Zwangsarbeit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{{forced_labour_yes?}}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{{forced_labour_desc}}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Menschenhandel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{{human_trafficking_yes?}}</a:t>
                      </a:r>
                      <a:endParaRPr sz="1575"/>
                    </a:p>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{{human_trafficking_desc}}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Diskriminierung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{{discrimination_yes?}}</a:t>
                      </a:r>
                      <a:endParaRPr sz="1575"/>
                    </a:p>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rPr>
                        <a:t>{{discrimination_desc}}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991">
                <a:tc>
                  <a:txBody>
                    <a:bodyPr/>
                    <a:lstStyle/>
                    <a:p>
                      <a:pPr indent="0" lvl="0" marL="0" marR="0" rtl="0" algn="l">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Sonstiges </a:t>
                      </a:r>
                      <a:endParaRPr b="1" sz="1575">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{{other_yes?}}</a:t>
                      </a:r>
                      <a:endParaRPr b="0" i="0" sz="105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1B4528"/>
                        </a:buClr>
                        <a:buSzPts val="1200"/>
                        <a:buFont typeface="IBM Plex Sans"/>
                        <a:buNone/>
                      </a:pPr>
                      <a:r>
                        <a:rPr b="0" i="0" lang="de-DE" sz="1050" u="none" strike="noStrike">
                          <a:solidFill>
                            <a:srgbClr val="1B4528"/>
                          </a:solidFill>
                          <a:latin typeface="IBM Plex Sans"/>
                          <a:ea typeface="IBM Plex Sans"/>
                          <a:cs typeface="IBM Plex Sans"/>
                          <a:sym typeface="IBM Plex Sans"/>
                        </a:rPr>
                        <a:t>{{other_desc}}</a:t>
                      </a:r>
                      <a:endParaRPr b="0" i="0" sz="1050" u="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445499" y="891000"/>
            <a:ext cx="9791703"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de-DE" sz="1050" u="none" strike="noStrike">
                <a:solidFill>
                  <a:schemeClr val="dk2"/>
                </a:solidFill>
                <a:latin typeface="Inter"/>
                <a:ea typeface="Inter"/>
                <a:cs typeface="Inter"/>
                <a:sym typeface="Inter"/>
              </a:rPr>
              <a:t>Die folgenden Angabepflichten betreffen die Berichterstattung des Unternehmens über negative Vorfälle im Zusammenhang mit Kinderarbeit, Zwangsarbeit, Menschenhandel und Diskriminierung. In diesem Abschnitt gibt das Unternehmen an, ob sich das Vorstehende auf die eigenen Arbeitskräfte bezieht.</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latin typeface="IBM Plex Sans"/>
                <a:ea typeface="IBM Plex Sans"/>
                <a:cs typeface="IBM Plex Sans"/>
                <a:sym typeface="IBM Plex Sans"/>
              </a:rPr>
              <a:t>Schwerwiegende negative Vorfälle im Zusammenhang mit Menschenrechten (C7</a:t>
            </a:r>
            <a:r>
              <a:rPr lang="de-DE"/>
              <a:t>) – In der Wertschöpfungskette</a:t>
            </a:r>
            <a:endParaRPr/>
          </a:p>
        </p:txBody>
      </p:sp>
      <p:sp>
        <p:nvSpPr>
          <p:cNvPr id="301" name="Google Shape;301;p2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302" name="Google Shape;302;p2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sp>
        <p:nvSpPr>
          <p:cNvPr id="303" name="Google Shape;303;p23"/>
          <p:cNvSpPr/>
          <p:nvPr/>
        </p:nvSpPr>
        <p:spPr>
          <a:xfrm>
            <a:off x="527761" y="4029576"/>
            <a:ext cx="181932" cy="203984"/>
          </a:xfrm>
          <a:prstGeom prst="rect">
            <a:avLst/>
          </a:prstGeom>
          <a:noFill/>
          <a:ln>
            <a:noFill/>
          </a:ln>
        </p:spPr>
      </p:sp>
      <p:graphicFrame>
        <p:nvGraphicFramePr>
          <p:cNvPr id="304" name="Google Shape;304;p23"/>
          <p:cNvGraphicFramePr/>
          <p:nvPr/>
        </p:nvGraphicFramePr>
        <p:xfrm>
          <a:off x="454795" y="1436935"/>
          <a:ext cx="2630906" cy="2630906"/>
        </p:xfrm>
        <a:graphic>
          <a:graphicData uri="http://schemas.openxmlformats.org/drawingml/2006/table">
            <a:tbl>
              <a:tblPr firstRow="1">
                <a:noFill/>
                <a:tableStyleId>{08659190-FCFE-4D70-9B86-54A6606F5F58}</a:tableStyleId>
              </a:tblPr>
              <a:tblGrid>
                <a:gridCol w="2160127"/>
                <a:gridCol w="7631577"/>
              </a:tblGrid>
              <a:tr h="265195">
                <a:tc grid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Sind dem Unternehmen bestätigte negative Vorfälle im Zusammenhang mit Menschenrechten in </a:t>
                      </a:r>
                      <a:r>
                        <a:rPr b="1" lang="de-DE" sz="1050">
                          <a:solidFill>
                            <a:srgbClr val="1B4528"/>
                          </a:solidFill>
                          <a:latin typeface="IBM Plex Sans"/>
                          <a:ea typeface="IBM Plex Sans"/>
                          <a:cs typeface="IBM Plex Sans"/>
                          <a:sym typeface="IBM Plex Sans"/>
                        </a:rPr>
                        <a:t>{{company_name}}’s</a:t>
                      </a:r>
                      <a:r>
                        <a:rPr b="1" lang="de-DE" sz="1050">
                          <a:solidFill>
                            <a:schemeClr val="dk2"/>
                          </a:solidFill>
                          <a:latin typeface="IBM Plex Sans"/>
                          <a:ea typeface="IBM Plex Sans"/>
                          <a:cs typeface="IBM Plex Sans"/>
                          <a:sym typeface="IBM Plex Sans"/>
                        </a:rPr>
                        <a:t> Wertschöpfungskette bekannt </a:t>
                      </a:r>
                      <a:r>
                        <a:rPr b="0" lang="de-DE" sz="1050">
                          <a:solidFill>
                            <a:schemeClr val="dk2"/>
                          </a:solidFill>
                          <a:latin typeface="IBM Plex Sans"/>
                          <a:ea typeface="IBM Plex Sans"/>
                          <a:cs typeface="IBM Plex Sans"/>
                          <a:sym typeface="IBM Plex Sans"/>
                        </a:rPr>
                        <a:t>(Nr. 62c)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45637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Arbeitskräfte in der Wertschöpfungskette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{{incidents_workers_value_chain}}</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Betroffene Gemeinschaften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{{incidents_affected_communities}}</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Verbraucher und Endnutzer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{{incidents_consumers}}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452474" y="891000"/>
            <a:ext cx="9794026"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de-DE" sz="1050" u="none" strike="noStrike">
                <a:solidFill>
                  <a:schemeClr val="dk2"/>
                </a:solidFill>
                <a:latin typeface="Inter"/>
                <a:ea typeface="Inter"/>
                <a:cs typeface="Inter"/>
                <a:sym typeface="Inter"/>
              </a:rPr>
              <a:t>Nachstehend sind </a:t>
            </a:r>
            <a:r>
              <a:rPr lang="de-DE" sz="1050">
                <a:solidFill>
                  <a:schemeClr val="dk2"/>
                </a:solidFill>
                <a:latin typeface="Inter"/>
                <a:ea typeface="Inter"/>
                <a:cs typeface="Inter"/>
                <a:sym typeface="Inter"/>
              </a:rPr>
              <a:t>Informationen über </a:t>
            </a:r>
            <a:r>
              <a:rPr b="0" i="0" lang="de-DE" sz="1050" u="none" strike="noStrike">
                <a:solidFill>
                  <a:schemeClr val="dk2"/>
                </a:solidFill>
                <a:latin typeface="Inter"/>
                <a:ea typeface="Inter"/>
                <a:cs typeface="Inter"/>
                <a:sym typeface="Inter"/>
              </a:rPr>
              <a:t>die Kenntnis des Unternehmens von bestätigten negativen Vorfällen im Zusammenhang mit Menschenrechten in der Wertschöpfungskette des Unternehmens angegeben.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575" u="none" strike="noStrike">
                <a:solidFill>
                  <a:srgbClr val="1B4528"/>
                </a:solidFill>
              </a:rPr>
              <a:t>Umsatzerlöse aus bestimmten Tätigkeiten (C8)</a:t>
            </a:r>
            <a:endParaRPr/>
          </a:p>
        </p:txBody>
      </p:sp>
      <p:sp>
        <p:nvSpPr>
          <p:cNvPr id="311" name="Google Shape;311;p2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312" name="Google Shape;312;p2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454794" y="1250404"/>
          <a:ext cx="2630906" cy="2630906"/>
        </p:xfrm>
        <a:graphic>
          <a:graphicData uri="http://schemas.openxmlformats.org/drawingml/2006/table">
            <a:tbl>
              <a:tblPr firstRow="1">
                <a:noFill/>
                <a:tableStyleId>{08659190-FCFE-4D70-9B86-54A6606F5F58}</a:tableStyleId>
              </a:tblPr>
              <a:tblGrid>
                <a:gridCol w="6711111"/>
                <a:gridCol w="3080593"/>
              </a:tblGrid>
              <a:tr h="301524">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de-DE" sz="1050">
                          <a:solidFill>
                            <a:schemeClr val="dk2"/>
                          </a:solidFill>
                          <a:latin typeface="IBM Plex Sans"/>
                          <a:ea typeface="IBM Plex Sans"/>
                          <a:cs typeface="IBM Plex Sans"/>
                          <a:sym typeface="IBM Plex Sans"/>
                        </a:rPr>
                        <a:t>Umsatzerlöse aus bestimmten Sektoren</a:t>
                      </a:r>
                      <a:r>
                        <a:rPr b="0" lang="de-DE" sz="1050">
                          <a:solidFill>
                            <a:schemeClr val="dk2"/>
                          </a:solidFill>
                          <a:latin typeface="IBM Plex Sans"/>
                          <a:ea typeface="IBM Plex Sans"/>
                          <a:cs typeface="IBM Plex Sans"/>
                          <a:sym typeface="IBM Plex Sans"/>
                        </a:rPr>
                        <a:t> (Nr. 63 a-d)</a:t>
                      </a:r>
                      <a:endParaRPr/>
                    </a:p>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01524">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de-DE" sz="1050" u="none" strike="noStrike">
                          <a:solidFill>
                            <a:srgbClr val="1B4528"/>
                          </a:solidFill>
                          <a:latin typeface="IBM Plex Sans"/>
                          <a:ea typeface="IBM Plex Sans"/>
                          <a:cs typeface="IBM Plex Sans"/>
                          <a:sym typeface="IBM Plex Sans"/>
                        </a:rPr>
                        <a:t>Umsatzerlöse im Jahr </a:t>
                      </a:r>
                      <a:r>
                        <a:rPr b="1" i="0" lang="de-DE" sz="1050" u="none" strike="noStrike">
                          <a:solidFill>
                            <a:srgbClr val="1B4528"/>
                          </a:solidFill>
                          <a:latin typeface="Inter"/>
                          <a:ea typeface="Inter"/>
                          <a:cs typeface="Inter"/>
                          <a:sym typeface="Inter"/>
                        </a:rPr>
                        <a:t>{{Insert year}}</a:t>
                      </a:r>
                      <a:endParaRPr sz="1050"/>
                    </a:p>
                  </a:txBody>
                  <a:tcPr marT="22275" marB="22275"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Umstrittene Waffen (Antipersonenminen, Streumunition, chemische und biologische Waffen)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{{revenue_weapons}}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Anbau und/oder Produktion von Tabak</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{{revenue_cultivation}}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Fossile Brennstoffe: Kohle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{{revenue_coal}}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Fossile Brennstoffe: Erdöl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{{revenue_oil}}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Fossile Brennstoffe: Gas/Erdgas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{{revenue_gas}}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Herstellung von Chemikalien zur Produktion von Pestiziden und anderen agrochemischen Erzeugnissen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de-DE" sz="1050" u="none" strike="noStrike">
                          <a:solidFill>
                            <a:srgbClr val="1B4528"/>
                          </a:solidFill>
                          <a:latin typeface="Inter"/>
                          <a:ea typeface="Inter"/>
                          <a:cs typeface="Inter"/>
                          <a:sym typeface="Inter"/>
                        </a:rPr>
                        <a:t>{{revenue_chemichal}}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454794" y="891000"/>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de-DE" sz="1050">
                <a:solidFill>
                  <a:schemeClr val="dk2"/>
                </a:solidFill>
                <a:latin typeface="Inter"/>
                <a:ea typeface="Inter"/>
                <a:cs typeface="Inter"/>
                <a:sym typeface="Inter"/>
              </a:rPr>
              <a:t>D</a:t>
            </a:r>
            <a:r>
              <a:rPr b="0" i="0" lang="de-DE" sz="1050" u="none" strike="noStrike">
                <a:solidFill>
                  <a:schemeClr val="dk2"/>
                </a:solidFill>
                <a:latin typeface="Inter"/>
                <a:ea typeface="Inter"/>
                <a:cs typeface="Inter"/>
                <a:sym typeface="Inter"/>
              </a:rPr>
              <a:t>as Unternehmen hat die Umsatzerlöse aus bestimmten Sektoren und die Beträge aus diesen Tätigkeiten angegeben.</a:t>
            </a:r>
            <a:endParaRPr sz="1575">
              <a:solidFill>
                <a:schemeClr val="dk2"/>
              </a:solidFill>
              <a:latin typeface="IBM Plex Sans"/>
              <a:ea typeface="IBM Plex Sans"/>
              <a:cs typeface="IBM Plex Sans"/>
              <a:sym typeface="IBM Plex Sans"/>
            </a:endParaRPr>
          </a:p>
        </p:txBody>
      </p:sp>
      <p:sp>
        <p:nvSpPr>
          <p:cNvPr id="315" name="Google Shape;315;p24"/>
          <p:cNvSpPr txBox="1"/>
          <p:nvPr/>
        </p:nvSpPr>
        <p:spPr>
          <a:xfrm>
            <a:off x="454796" y="4164232"/>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de-DE" sz="1575">
                <a:solidFill>
                  <a:srgbClr val="1B4528"/>
                </a:solidFill>
                <a:latin typeface="IBM Plex Sans"/>
                <a:ea typeface="IBM Plex Sans"/>
                <a:cs typeface="IBM Plex Sans"/>
                <a:sym typeface="IBM Plex Sans"/>
              </a:rPr>
              <a:t>Geschlechtervielfalt im Leitungsorgan (C9)</a:t>
            </a:r>
            <a:endParaRPr b="1" sz="1575">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445498" y="4923932"/>
          <a:ext cx="2630906" cy="2630906"/>
        </p:xfrm>
        <a:graphic>
          <a:graphicData uri="http://schemas.openxmlformats.org/drawingml/2006/table">
            <a:tbl>
              <a:tblPr firstRow="1">
                <a:noFill/>
                <a:tableStyleId>{08659190-FCFE-4D70-9B86-54A6606F5F58}</a:tableStyleId>
              </a:tblPr>
              <a:tblGrid>
                <a:gridCol w="6756472"/>
                <a:gridCol w="3035232"/>
              </a:tblGrid>
              <a:tr h="252567">
                <a:tc rowSpan="2">
                  <a:txBody>
                    <a:bodyPr/>
                    <a:lstStyle/>
                    <a:p>
                      <a:pPr indent="0" lvl="0" marL="0" marR="0" rtl="0" algn="l">
                        <a:spcBef>
                          <a:spcPts val="0"/>
                        </a:spcBef>
                        <a:spcAft>
                          <a:spcPts val="0"/>
                        </a:spcAft>
                        <a:buNone/>
                      </a:pPr>
                      <a:r>
                        <a:rPr b="1" lang="de-DE" sz="1050">
                          <a:solidFill>
                            <a:schemeClr val="dk2"/>
                          </a:solidFill>
                          <a:latin typeface="IBM Plex Sans"/>
                          <a:ea typeface="IBM Plex Sans"/>
                          <a:cs typeface="IBM Plex Sans"/>
                          <a:sym typeface="IBM Plex Sans"/>
                        </a:rPr>
                        <a:t>Das zahlenmäßige Verhältnis von Frauen zu Männern im Leitungsorgan (</a:t>
                      </a:r>
                      <a:r>
                        <a:rPr b="0" lang="de-DE" sz="1050">
                          <a:solidFill>
                            <a:schemeClr val="dk2"/>
                          </a:solidFill>
                          <a:latin typeface="IBM Plex Sans"/>
                          <a:ea typeface="IBM Plex Sans"/>
                          <a:cs typeface="IBM Plex Sans"/>
                          <a:sym typeface="IBM Plex Sans"/>
                        </a:rPr>
                        <a:t>Nr. 64</a:t>
                      </a:r>
                      <a:r>
                        <a:rPr b="1" lang="de-DE" sz="1050">
                          <a:solidFill>
                            <a:schemeClr val="dk2"/>
                          </a:solidFill>
                          <a:latin typeface="IBM Plex Sans"/>
                          <a:ea typeface="IBM Plex Sans"/>
                          <a:cs typeface="IBM Plex Sans"/>
                          <a:sym typeface="IBM Plex Sans"/>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050">
                          <a:solidFill>
                            <a:schemeClr val="dk2"/>
                          </a:solidFill>
                        </a:rPr>
                        <a:t>Jahr </a:t>
                      </a:r>
                      <a:r>
                        <a:rPr b="1" i="0" lang="de-DE" sz="1050" u="none" strike="noStrike">
                          <a:solidFill>
                            <a:srgbClr val="1B4528"/>
                          </a:solidFill>
                          <a:latin typeface="Inter"/>
                          <a:ea typeface="Inter"/>
                          <a:cs typeface="Inter"/>
                          <a:sym typeface="Inter"/>
                        </a:rPr>
                        <a:t>{{Insert year}}</a:t>
                      </a:r>
                      <a:endParaRPr b="1" sz="1050">
                        <a:solidFill>
                          <a:schemeClr val="dk2"/>
                        </a:solidFill>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vMerge="1"/>
                <a:tc>
                  <a:txBody>
                    <a:bodyPr/>
                    <a:lstStyle/>
                    <a:p>
                      <a:pPr indent="0" lvl="0" marL="0" marR="0" rtl="0" algn="r">
                        <a:spcBef>
                          <a:spcPts val="0"/>
                        </a:spcBef>
                        <a:spcAft>
                          <a:spcPts val="0"/>
                        </a:spcAft>
                        <a:buNone/>
                      </a:pPr>
                      <a:r>
                        <a:rPr b="0" lang="de-DE" sz="1050">
                          <a:solidFill>
                            <a:srgbClr val="1B4528"/>
                          </a:solidFill>
                        </a:rPr>
                        <a:t>{{</a:t>
                      </a:r>
                      <a:r>
                        <a:rPr b="0" i="0" lang="de-DE" sz="1050" u="none" strike="noStrike">
                          <a:solidFill>
                            <a:srgbClr val="1B4528"/>
                          </a:solidFill>
                          <a:latin typeface="IBM Plex Sans"/>
                          <a:ea typeface="IBM Plex Sans"/>
                          <a:cs typeface="IBM Plex Sans"/>
                          <a:sym typeface="IBM Plex Sans"/>
                        </a:rPr>
                        <a:t>gender_supreme_body</a:t>
                      </a:r>
                      <a:r>
                        <a:rPr b="0" lang="de-DE" sz="1050">
                          <a:solidFill>
                            <a:srgbClr val="1B4528"/>
                          </a:solidFill>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2674261" y="2848961"/>
            <a:ext cx="5348520" cy="323893"/>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lang="de-DE" sz="1575">
                <a:solidFill>
                  <a:schemeClr val="dk1"/>
                </a:solidFill>
                <a:latin typeface="IBM Plex Sans"/>
                <a:ea typeface="IBM Plex Sans"/>
                <a:cs typeface="IBM Plex Sans"/>
                <a:sym typeface="IBM Plex Sans"/>
              </a:rPr>
              <a:t> </a:t>
            </a:r>
            <a:endParaRPr sz="1575">
              <a:solidFill>
                <a:schemeClr val="dk1"/>
              </a:solidFill>
              <a:latin typeface="IBM Plex Sans"/>
              <a:ea typeface="IBM Plex Sans"/>
              <a:cs typeface="IBM Plex Sans"/>
              <a:sym typeface="IBM Plex Sans"/>
            </a:endParaRPr>
          </a:p>
        </p:txBody>
      </p:sp>
      <p:sp>
        <p:nvSpPr>
          <p:cNvPr id="318" name="Google Shape;318;p24"/>
          <p:cNvSpPr txBox="1"/>
          <p:nvPr/>
        </p:nvSpPr>
        <p:spPr>
          <a:xfrm>
            <a:off x="461316" y="4496286"/>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de-DE" sz="1050">
                <a:solidFill>
                  <a:schemeClr val="dk2"/>
                </a:solidFill>
                <a:latin typeface="Inter"/>
                <a:ea typeface="Inter"/>
                <a:cs typeface="Inter"/>
                <a:sym typeface="Inter"/>
              </a:rPr>
              <a:t>D</a:t>
            </a:r>
            <a:r>
              <a:rPr b="0" i="0" lang="de-DE" sz="1050" u="none" strike="noStrike">
                <a:solidFill>
                  <a:schemeClr val="dk2"/>
                </a:solidFill>
                <a:latin typeface="Inter"/>
                <a:ea typeface="Inter"/>
                <a:cs typeface="Inter"/>
                <a:sym typeface="Inter"/>
              </a:rPr>
              <a:t>as Unternehmen hat das zahlenmäßige Verhältnis von Frauen zu Männern im Leitungsorgan angegeben.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3860535" y="3900259"/>
            <a:ext cx="3025224" cy="90706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de-DE" sz="1575">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175"/>
              </a:spcBef>
              <a:spcAft>
                <a:spcPts val="0"/>
              </a:spcAft>
              <a:buClr>
                <a:srgbClr val="FFFFFF"/>
              </a:buClr>
              <a:buSzPts val="1800"/>
              <a:buNone/>
            </a:pPr>
            <a:r>
              <a:rPr b="1" lang="de-DE" sz="1575">
                <a:solidFill>
                  <a:srgbClr val="FFFFFF"/>
                </a:solidFill>
                <a:latin typeface="IBM Plex Sans"/>
                <a:ea typeface="IBM Plex Sans"/>
                <a:cs typeface="IBM Plex Sans"/>
                <a:sym typeface="IBM Plex Sans"/>
              </a:rPr>
              <a:t>{{insert_year}}</a:t>
            </a:r>
            <a:br>
              <a:rPr b="1" lang="de-DE" sz="1575">
                <a:solidFill>
                  <a:srgbClr val="FFFFFF"/>
                </a:solidFill>
                <a:latin typeface="IBM Plex Sans"/>
                <a:ea typeface="IBM Plex Sans"/>
                <a:cs typeface="IBM Plex Sans"/>
                <a:sym typeface="IBM Plex Sans"/>
              </a:rPr>
            </a:br>
            <a:endParaRPr sz="1575"/>
          </a:p>
        </p:txBody>
      </p:sp>
      <p:sp>
        <p:nvSpPr>
          <p:cNvPr id="324" name="Google Shape;324;p2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