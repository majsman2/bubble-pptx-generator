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0"/>
  </p:notesMasterIdLst>
  <p:sldIdLst>
    <p:sldId id="258" r:id="rId5"/>
    <p:sldId id="331" r:id="rId6"/>
    <p:sldId id="355" r:id="rId7"/>
    <p:sldId id="326" r:id="rId8"/>
    <p:sldId id="314" r:id="rId9"/>
    <p:sldId id="327" r:id="rId10"/>
    <p:sldId id="316" r:id="rId11"/>
    <p:sldId id="297" r:id="rId12"/>
    <p:sldId id="300" r:id="rId13"/>
    <p:sldId id="301" r:id="rId14"/>
    <p:sldId id="302" r:id="rId15"/>
    <p:sldId id="307" r:id="rId16"/>
    <p:sldId id="272" r:id="rId29"/>
  </p:sldIdLst>
  <p:sldSz cx="10692000" cy="7560000" type="A4"/>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83CF3-0F17-4DA7-AC5F-396DF6463070}" v="36" dt="2026-08-04T20:47:23.299"/>
    <p1510:client id="{9CB8CBE5-AFE3-AE0A-C576-FD9E7262F5DA}" v="153" dt="2026-08-05T15:04:12.209"/>
    <p1510:client id="{9F9C41D0-6860-4C95-9D1A-3405FEFCCBF5}" v="56" dt="2026-08-06T18:34:10.3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9.xml"/><Relationship Id="rId3" Type="http://schemas.openxmlformats.org/officeDocument/2006/relationships/customXml" Target="../customXml/item3.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36" Type="http://schemas.microsoft.com/office/2018/10/relationships/authors" Target="authors.xml"/><Relationship Id="rId10" Type="http://schemas.openxmlformats.org/officeDocument/2006/relationships/slide" Target="slides/slide6.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a-DK" smtClean="0"/>
              <a:pPr/>
              <a:t>06-08-2026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a-DK" smtClean="0"/>
              <a:pPr/>
              <a:t>‹nr.›</a:t>
            </a:fld>
            <a:endParaRPr lang="da-DK"/>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a:t>
            </a:fld>
            <a:endParaRPr lang="da-DK"/>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2</a:t>
            </a:fld>
            <a:endParaRPr lang="da-DK"/>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3</a:t>
            </a:fld>
            <a:endParaRPr lang="da-DK"/>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4</a:t>
            </a:fld>
            <a:endParaRPr lang="da-DK"/>
          </a:p>
        </p:txBody>
      </p:sp>
    </p:spTree>
    <p:extLst>
      <p:ext uri="{BB962C8B-B14F-4D97-AF65-F5344CB8AC3E}">
        <p14:creationId xmlns:p14="http://schemas.microsoft.com/office/powerpoint/2010/main" val="33859973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Fjernet: </a:t>
            </a:r>
            <a:r>
              <a:rPr lang="en-GB" sz="1200" b="0" i="0" u="none" strike="noStrike" kern="1200">
                <a:solidFill>
                  <a:schemeClr val="tx1"/>
                </a:solidFill>
                <a:effectLst/>
                <a:latin typeface="IBM Plex Sans" panose="020B0503050203000203" pitchFamily="34" charset="0"/>
                <a:ea typeface="+mn-ea"/>
                <a:cs typeface="+mn-cs"/>
              </a:rPr>
              <a:t>{{documents_B2}}</a:t>
            </a:r>
          </a:p>
          <a:p>
            <a:r>
              <a:rPr lang="en-GB" sz="1200" b="0" i="0" u="none" strike="noStrike" kern="1200" err="1">
                <a:solidFill>
                  <a:schemeClr val="tx1"/>
                </a:solidFill>
                <a:effectLst/>
                <a:latin typeface="IBM Plex Sans" panose="020B0503050203000203" pitchFamily="34" charset="0"/>
                <a:ea typeface="+mn-ea"/>
                <a:cs typeface="+mn-cs"/>
              </a:rPr>
              <a:t>Tilføjet</a:t>
            </a:r>
            <a:r>
              <a:rPr lang="en-GB" sz="1200" b="0" i="0" u="none" strike="noStrike" kern="1200">
                <a:solidFill>
                  <a:schemeClr val="tx1"/>
                </a:solidFill>
                <a:effectLst/>
                <a:latin typeface="IBM Plex Sans" panose="020B0503050203000203" pitchFamily="34" charset="0"/>
                <a:ea typeface="+mn-ea"/>
                <a:cs typeface="+mn-cs"/>
              </a:rPr>
              <a:t>: </a:t>
            </a:r>
            <a:r>
              <a:rPr lang="en-GB" sz="1200" b="0" i="0" u="none" strike="noStrike" kern="1200" err="1">
                <a:solidFill>
                  <a:schemeClr val="tx1"/>
                </a:solidFill>
                <a:effectLst/>
                <a:latin typeface="IBM Plex Sans" panose="020B0503050203000203" pitchFamily="34" charset="0"/>
                <a:ea typeface="+mn-ea"/>
                <a:cs typeface="+mn-cs"/>
              </a:rPr>
              <a:t>kolonne</a:t>
            </a:r>
            <a:r>
              <a:rPr lang="en-GB" sz="1200" b="0" i="0" u="none" strike="noStrike" kern="1200">
                <a:solidFill>
                  <a:schemeClr val="tx1"/>
                </a:solidFill>
                <a:effectLst/>
                <a:latin typeface="IBM Plex Sans" panose="020B0503050203000203" pitchFamily="34" charset="0"/>
                <a:ea typeface="+mn-ea"/>
                <a:cs typeface="+mn-cs"/>
              </a:rPr>
              <a:t> om </a:t>
            </a:r>
            <a:r>
              <a:rPr lang="en-GB" sz="1200" b="0" i="0" u="none" strike="noStrike" kern="1200" err="1">
                <a:solidFill>
                  <a:schemeClr val="tx1"/>
                </a:solidFill>
                <a:effectLst/>
                <a:latin typeface="IBM Plex Sans" panose="020B0503050203000203" pitchFamily="34" charset="0"/>
                <a:ea typeface="+mn-ea"/>
                <a:cs typeface="+mn-cs"/>
              </a:rPr>
              <a:t>monitorering</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5</a:t>
            </a:fld>
            <a:endParaRPr lang="da-DK"/>
          </a:p>
        </p:txBody>
      </p:sp>
    </p:spTree>
    <p:extLst>
      <p:ext uri="{BB962C8B-B14F-4D97-AF65-F5344CB8AC3E}">
        <p14:creationId xmlns:p14="http://schemas.microsoft.com/office/powerpoint/2010/main" val="3400092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6</a:t>
            </a:fld>
            <a:endParaRPr lang="da-DK"/>
          </a:p>
        </p:txBody>
      </p:sp>
    </p:spTree>
    <p:extLst>
      <p:ext uri="{BB962C8B-B14F-4D97-AF65-F5344CB8AC3E}">
        <p14:creationId xmlns:p14="http://schemas.microsoft.com/office/powerpoint/2010/main" val="3098348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7</a:t>
            </a:fld>
            <a:endParaRPr lang="da-DK"/>
          </a:p>
        </p:txBody>
      </p:sp>
    </p:spTree>
    <p:extLst>
      <p:ext uri="{BB962C8B-B14F-4D97-AF65-F5344CB8AC3E}">
        <p14:creationId xmlns:p14="http://schemas.microsoft.com/office/powerpoint/2010/main" val="247428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waterstress_withdrawal</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a:p>
            <a:br>
              <a:rPr lang="en-GB"/>
            </a:br>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8</a:t>
            </a:fld>
            <a:endParaRPr lang="da-DK"/>
          </a:p>
        </p:txBody>
      </p:sp>
    </p:spTree>
    <p:extLst>
      <p:ext uri="{BB962C8B-B14F-4D97-AF65-F5344CB8AC3E}">
        <p14:creationId xmlns:p14="http://schemas.microsoft.com/office/powerpoint/2010/main" val="311205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9</a:t>
            </a:fld>
            <a:endParaRPr lang="da-DK"/>
          </a:p>
        </p:txBody>
      </p:sp>
    </p:spTree>
    <p:extLst>
      <p:ext uri="{BB962C8B-B14F-4D97-AF65-F5344CB8AC3E}">
        <p14:creationId xmlns:p14="http://schemas.microsoft.com/office/powerpoint/2010/main" val="2243809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rtl="0"/>
            <a:r>
              <a:rPr lang="da-DK"/>
              <a:t>Fjernet: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10</a:t>
            </a:fld>
            <a:endParaRPr lang="da-DK"/>
          </a:p>
        </p:txBody>
      </p:sp>
    </p:spTree>
    <p:extLst>
      <p:ext uri="{BB962C8B-B14F-4D97-AF65-F5344CB8AC3E}">
        <p14:creationId xmlns:p14="http://schemas.microsoft.com/office/powerpoint/2010/main" val="4064382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pPr rtl="0" eaLnBrk="1" fontAlgn="ctr" latinLnBrk="0" hangingPunct="1"/>
            <a:r>
              <a:rPr lang="da-DK" b="0">
                <a:effectLst/>
              </a:rPr>
              <a:t>Fjernet: </a:t>
            </a:r>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men_gennemsnitstimer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women_gennemsnitstimer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pPr rtl="0" eaLnBrk="1" fontAlgn="ctr" latinLnBrk="0" hangingPunct="1"/>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err="1">
                <a:solidFill>
                  <a:schemeClr val="tx1"/>
                </a:solidFill>
                <a:effectLst/>
                <a:latin typeface="IBM Plex Sans" panose="020B0503050203000203" pitchFamily="34" charset="0"/>
                <a:ea typeface="+mn-ea"/>
                <a:cs typeface="+mn-cs"/>
              </a:rPr>
              <a:t>other_gennemsnitstimer</a:t>
            </a:r>
            <a:r>
              <a:rPr lang="da-DK" sz="1200" b="0" i="0" u="none" strike="noStrike" kern="1200">
                <a:solidFill>
                  <a:schemeClr val="tx1"/>
                </a:solidFill>
                <a:effectLst/>
                <a:latin typeface="IBM Plex Sans" panose="020B0503050203000203" pitchFamily="34" charset="0"/>
                <a:ea typeface="+mn-ea"/>
                <a:cs typeface="+mn-cs"/>
              </a:rPr>
              <a:t>}}</a:t>
            </a:r>
            <a:endParaRPr lang="en-GB" sz="1200" b="0" i="0" u="none" strike="noStrike" kern="1200">
              <a:solidFill>
                <a:schemeClr val="tx1"/>
              </a:solidFill>
              <a:effectLst/>
              <a:latin typeface="IBM Plex Sans" panose="020B0503050203000203" pitchFamily="34" charset="0"/>
              <a:ea typeface="+mn-ea"/>
              <a:cs typeface="+mn-cs"/>
            </a:endParaRPr>
          </a:p>
          <a:p>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11</a:t>
            </a:fld>
            <a:endParaRPr lang="da-DK"/>
          </a:p>
        </p:txBody>
      </p:sp>
    </p:spTree>
    <p:extLst>
      <p:ext uri="{BB962C8B-B14F-4D97-AF65-F5344CB8AC3E}">
        <p14:creationId xmlns:p14="http://schemas.microsoft.com/office/powerpoint/2010/main" val="3599874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da-DK" smtClean="0"/>
              <a:pPr/>
              <a:t>12</a:t>
            </a:fld>
            <a:endParaRPr lang="da-DK"/>
          </a:p>
        </p:txBody>
      </p:sp>
    </p:spTree>
    <p:extLst>
      <p:ext uri="{BB962C8B-B14F-4D97-AF65-F5344CB8AC3E}">
        <p14:creationId xmlns:p14="http://schemas.microsoft.com/office/powerpoint/2010/main" val="306125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45500" y="890814"/>
            <a:ext cx="3080911" cy="4672738"/>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3804849" y="890815"/>
            <a:ext cx="3080910" cy="4672737"/>
          </a:xfrm>
        </p:spPr>
        <p:txBody>
          <a:bodyPr/>
          <a:lstStyle>
            <a:lvl1pPr marL="0" indent="0">
              <a:buNone/>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1043948"/>
            <a:ext cx="9960480" cy="3508791"/>
          </a:xfrm>
          <a:prstGeom prst="rect">
            <a:avLst/>
          </a:prstGeom>
          <a:noFill/>
        </p:spPr>
        <p:txBody>
          <a:bodyPr wrap="square" lIns="0" tIns="0" rIns="0" bIns="0" anchor="ctr">
            <a:noAutofit/>
          </a:bodyPr>
          <a:lstStyle/>
          <a:p>
            <a:pPr algn="ctr"/>
            <a:r>
              <a:rPr lang="en-GB" sz="20400" b="1" spc="-510" dirty="0">
                <a:solidFill>
                  <a:srgbClr val="FFFFFF"/>
                </a:solidFill>
                <a:latin typeface="+mn-lt"/>
              </a:rPr>
              <a:t>ESG</a:t>
            </a:r>
            <a:endParaRPr lang="en-GB" sz="20400" b="1" spc="-510"/>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3072658" y="4359745"/>
            <a:ext cx="4539794" cy="246616"/>
          </a:xfrm>
        </p:spPr>
        <p:txBody>
          <a:bodyPr/>
          <a:lstStyle>
            <a:lvl1pPr algn="ctr">
              <a:defRPr sz="1225">
                <a:solidFill>
                  <a:schemeClr val="bg1"/>
                </a:solidFill>
              </a:defRPr>
            </a:lvl1pPr>
          </a:lstStyle>
          <a:p>
            <a:r>
              <a:rPr lang="da-DK"/>
              <a:t>KLIK FOR AT INDSÆTTE FIRMANAVN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946688" y="4051289"/>
            <a:ext cx="8798625" cy="160254"/>
          </a:xfrm>
        </p:spPr>
        <p:txBody>
          <a:bodyPr/>
          <a:lstStyle>
            <a:lvl1pPr algn="ctr">
              <a:defRPr sz="950" spc="300">
                <a:solidFill>
                  <a:schemeClr val="bg1"/>
                </a:solidFill>
              </a:defRPr>
            </a:lvl1pPr>
          </a:lstStyle>
          <a:p>
            <a:r>
              <a:rPr lang="da-DK"/>
              <a:t>INDSÆT TITEL</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54795" y="864270"/>
            <a:ext cx="3997234" cy="4704480"/>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5675750" y="859072"/>
            <a:ext cx="3997234" cy="4704479"/>
          </a:xfrm>
        </p:spPr>
        <p:txBody>
          <a:bodyPr/>
          <a:lstStyle>
            <a:lvl1pPr marL="0" indent="0">
              <a:lnSpc>
                <a:spcPct val="129000"/>
              </a:lnSpc>
              <a:spcAft>
                <a:spcPts val="0"/>
              </a:spcAft>
              <a:buNone/>
              <a:tabLst>
                <a:tab pos="252567" algn="l"/>
                <a:tab pos="410421" algn="l"/>
                <a:tab pos="3599079" algn="r"/>
              </a:tabLst>
              <a:defRPr sz="775">
                <a:solidFill>
                  <a:schemeClr val="tx2"/>
                </a:solidFill>
              </a:defRPr>
            </a:lvl1pPr>
          </a:lstStyle>
          <a:p>
            <a:pPr lvl="0"/>
            <a:r>
              <a:rPr lang="da-DK" noProof="0" err="1"/>
              <a:t>Click</a:t>
            </a:r>
            <a:r>
              <a:rPr lang="da-DK" noProof="0"/>
              <a:t> to </a:t>
            </a:r>
            <a:r>
              <a:rPr lang="da-DK" noProof="0" err="1"/>
              <a:t>edit</a:t>
            </a:r>
            <a:r>
              <a:rPr lang="da-DK" noProof="0"/>
              <a:t> Master </a:t>
            </a:r>
            <a:r>
              <a:rPr lang="da-DK" noProof="0" err="1"/>
              <a:t>text</a:t>
            </a:r>
            <a:r>
              <a:rPr lang="da-DK"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a-DK"/>
              <a:t>KLIK FOR AT INDSÆTTE FIRMANAVN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a-DK" smtClean="0"/>
              <a:pPr/>
              <a:t>‹nr.›</a:t>
            </a:fld>
            <a:endParaRPr lang="da-DK"/>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a-DK"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a-DK" noProof="0"/>
              <a:t>KLIK FOR AT INDSÆTTE FIRMANAVN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946688" y="1392188"/>
            <a:ext cx="8798625" cy="1280812"/>
          </a:xfrm>
          <a:solidFill>
            <a:srgbClr val="1B4529"/>
          </a:solidFill>
        </p:spPr>
        <p:txBody>
          <a:bodyPr>
            <a:normAutofit/>
          </a:bodyPr>
          <a:lstStyle>
            <a:lvl1pPr marL="0" indent="0">
              <a:lnSpc>
                <a:spcPct val="100000"/>
              </a:lnSpc>
              <a:spcBef>
                <a:spcPts val="175"/>
              </a:spcBef>
              <a:buFontTx/>
              <a:buNone/>
              <a:defRPr sz="950">
                <a:solidFill>
                  <a:schemeClr val="bg1"/>
                </a:solidFill>
              </a:defRPr>
            </a:lvl1pPr>
            <a:lvl2pPr marL="157854" indent="0">
              <a:buFontTx/>
              <a:buNone/>
              <a:defRPr sz="950">
                <a:solidFill>
                  <a:schemeClr val="bg1"/>
                </a:solidFill>
              </a:defRPr>
            </a:lvl2pPr>
            <a:lvl3pPr marL="441992" indent="-142069">
              <a:defRPr sz="950">
                <a:solidFill>
                  <a:schemeClr val="bg1"/>
                </a:solidFill>
              </a:defRPr>
            </a:lvl3pPr>
            <a:lvl4pPr marL="615632" indent="-142069">
              <a:defRPr sz="950">
                <a:solidFill>
                  <a:schemeClr val="bg1"/>
                </a:solidFill>
              </a:defRPr>
            </a:lvl4pPr>
            <a:lvl5pPr marL="757701" indent="-142069">
              <a:defRPr sz="950">
                <a:solidFill>
                  <a:schemeClr val="bg1"/>
                </a:solidFill>
              </a:defRPr>
            </a:lvl5pPr>
          </a:lstStyle>
          <a:p>
            <a:pPr lvl="0"/>
            <a:r>
              <a:rPr lang="da-DK" noProof="0"/>
              <a:t>Indsæt virksomhedsinformation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a-DK" noProof="0" err="1"/>
              <a:t>Click</a:t>
            </a:r>
            <a:r>
              <a:rPr lang="da-DK" noProof="0"/>
              <a:t> to </a:t>
            </a:r>
            <a:r>
              <a:rPr lang="da-DK" noProof="0" err="1"/>
              <a:t>edit</a:t>
            </a:r>
            <a:r>
              <a:rPr lang="da-DK" noProof="0"/>
              <a:t> Master </a:t>
            </a:r>
            <a:r>
              <a:rPr lang="da-DK" noProof="0" err="1"/>
              <a:t>title</a:t>
            </a:r>
            <a:r>
              <a:rPr lang="da-DK"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a-DK" noProof="0"/>
              <a:t>KLIK FOR AT INDSÆTTE FIRMANAVN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54795" y="890999"/>
            <a:ext cx="9791703" cy="4672552"/>
          </a:xfrm>
          <a:prstGeom prst="rect">
            <a:avLst/>
          </a:prstGeom>
        </p:spPr>
        <p:txBody>
          <a:bodyPr vert="horz" lIns="0" tIns="0" rIns="0" bIns="0" rtlCol="0">
            <a:noAutofit/>
          </a:bodyPr>
          <a:lstStyle/>
          <a:p>
            <a:pPr lvl="0"/>
            <a:r>
              <a:rPr lang="da-DK" noProof="0"/>
              <a:t>Klik for at redigere teksttypografierne i masteren</a:t>
            </a:r>
          </a:p>
          <a:p>
            <a:pPr lvl="1"/>
            <a:r>
              <a:rPr lang="da-DK" noProof="0"/>
              <a:t>Andet niveau</a:t>
            </a:r>
          </a:p>
          <a:p>
            <a:pPr lvl="2"/>
            <a:r>
              <a:rPr lang="da-DK" noProof="0"/>
              <a:t>Tredje niveau</a:t>
            </a:r>
          </a:p>
          <a:p>
            <a:pPr lvl="3"/>
            <a:r>
              <a:rPr lang="da-DK" noProof="0"/>
              <a:t>Fjerde niveau</a:t>
            </a:r>
          </a:p>
          <a:p>
            <a:pPr lvl="4"/>
            <a:r>
              <a:rPr lang="da-DK" noProof="0"/>
              <a:t>Femte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35729" y="7202406"/>
            <a:ext cx="2405700" cy="134955"/>
          </a:xfrm>
          <a:prstGeom prst="rect">
            <a:avLst/>
          </a:prstGeom>
        </p:spPr>
        <p:txBody>
          <a:bodyPr vert="horz" lIns="0" tIns="0" rIns="0" bIns="0" rtlCol="0" anchor="t" anchorCtr="0">
            <a:noAutofit/>
          </a:bodyPr>
          <a:lstStyle>
            <a:lvl1pPr algn="l">
              <a:defRPr sz="875">
                <a:solidFill>
                  <a:srgbClr val="5F7D69"/>
                </a:solidFill>
                <a:latin typeface="IBM Plex Sans" panose="020B0503050203000203" pitchFamily="34" charset="0"/>
              </a:defRPr>
            </a:lvl1pPr>
          </a:lstStyle>
          <a:p>
            <a:endParaRPr lang="da-DK"/>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7261741" y="197293"/>
            <a:ext cx="3194529" cy="134955"/>
          </a:xfrm>
          <a:prstGeom prst="rect">
            <a:avLst/>
          </a:prstGeom>
        </p:spPr>
        <p:txBody>
          <a:bodyPr vert="horz" lIns="0" tIns="0" rIns="0" bIns="0" rtlCol="0" anchor="t" anchorCtr="0">
            <a:noAutofit/>
          </a:bodyPr>
          <a:lstStyle>
            <a:lvl1pPr algn="r">
              <a:defRPr sz="875" b="1">
                <a:solidFill>
                  <a:srgbClr val="5F7D69"/>
                </a:solidFill>
                <a:latin typeface="IBM Plex Sans" panose="020B0503050203000203" pitchFamily="34" charset="0"/>
              </a:defRPr>
            </a:lvl1pPr>
          </a:lstStyle>
          <a:p>
            <a:r>
              <a:rPr lang="da-DK"/>
              <a:t>KLIK FOR AT INDSÆTTE FIRMANAVN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8050571" y="7202406"/>
            <a:ext cx="2405700" cy="134955"/>
          </a:xfrm>
          <a:prstGeom prst="rect">
            <a:avLst/>
          </a:prstGeom>
        </p:spPr>
        <p:txBody>
          <a:bodyPr vert="horz" lIns="0" tIns="0" rIns="0" bIns="0" rtlCol="0" anchor="t" anchorCtr="0">
            <a:noAutofit/>
          </a:bodyPr>
          <a:lstStyle>
            <a:lvl1pPr algn="r">
              <a:defRPr sz="875">
                <a:solidFill>
                  <a:schemeClr val="tx2">
                    <a:alpha val="70000"/>
                  </a:schemeClr>
                </a:solidFill>
                <a:latin typeface="IBM Plex Sans" panose="020B0503050203000203" pitchFamily="34" charset="0"/>
              </a:defRPr>
            </a:lvl1pPr>
          </a:lstStyle>
          <a:p>
            <a:fld id="{5A0D23CF-C5A3-5445-819D-C647D180BB4B}" type="slidenum">
              <a:rPr lang="da-DK" smtClean="0"/>
              <a:pPr/>
              <a:t>‹nr.›</a:t>
            </a:fld>
            <a:endParaRPr lang="da-DK"/>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54796" y="450698"/>
            <a:ext cx="9791704" cy="218627"/>
          </a:xfrm>
          <a:prstGeom prst="rect">
            <a:avLst/>
          </a:prstGeom>
        </p:spPr>
        <p:txBody>
          <a:bodyPr vert="horz" wrap="square" lIns="0" tIns="0" rIns="0" bIns="0" rtlCol="0" anchor="t" anchorCtr="0">
            <a:spAutoFit/>
          </a:bodyPr>
          <a:lstStyle/>
          <a:p>
            <a:r>
              <a:rPr lang="da-DK" noProof="0"/>
              <a:t>Klik for at redigere titeltypografien i masteren</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p:titleStyle>
    <p:body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p:bodyStyle>
    <p:otherStyle>
      <a:defPPr>
        <a:defRPr lang="da-DK"/>
      </a:defPPr>
      <a:lvl1pPr marL="0" algn="l" defTabSz="914400" rtl="0" eaLnBrk="1" latinLnBrk="0" hangingPunct="1">
        <a:defRPr sz="1575" kern="1200">
          <a:solidFill>
            <a:schemeClr val="tx1"/>
          </a:solidFill>
          <a:latin typeface="+mn-lt"/>
          <a:ea typeface="+mn-ea"/>
          <a:cs typeface="+mn-cs"/>
        </a:defRPr>
      </a:lvl1pPr>
      <a:lvl2pPr marL="400950" algn="l" defTabSz="914400" rtl="0" eaLnBrk="1" latinLnBrk="0" hangingPunct="1">
        <a:defRPr sz="1575" kern="1200">
          <a:solidFill>
            <a:schemeClr val="tx1"/>
          </a:solidFill>
          <a:latin typeface="+mn-lt"/>
          <a:ea typeface="+mn-ea"/>
          <a:cs typeface="+mn-cs"/>
        </a:defRPr>
      </a:lvl2pPr>
      <a:lvl3pPr marL="801900" algn="l" defTabSz="914400" rtl="0" eaLnBrk="1" latinLnBrk="0" hangingPunct="1">
        <a:defRPr sz="1575" kern="1200">
          <a:solidFill>
            <a:schemeClr val="tx1"/>
          </a:solidFill>
          <a:latin typeface="+mn-lt"/>
          <a:ea typeface="+mn-ea"/>
          <a:cs typeface="+mn-cs"/>
        </a:defRPr>
      </a:lvl3pPr>
      <a:lvl4pPr marL="1202850" algn="l" defTabSz="914400" rtl="0" eaLnBrk="1" latinLnBrk="0" hangingPunct="1">
        <a:defRPr sz="1575" kern="1200">
          <a:solidFill>
            <a:schemeClr val="tx1"/>
          </a:solidFill>
          <a:latin typeface="+mn-lt"/>
          <a:ea typeface="+mn-ea"/>
          <a:cs typeface="+mn-cs"/>
        </a:defRPr>
      </a:lvl4pPr>
      <a:lvl5pPr marL="1603800" algn="l" defTabSz="914400" rtl="0" eaLnBrk="1" latinLnBrk="0" hangingPunct="1">
        <a:defRPr sz="1575" kern="1200">
          <a:solidFill>
            <a:schemeClr val="tx1"/>
          </a:solidFill>
          <a:latin typeface="+mn-lt"/>
          <a:ea typeface="+mn-ea"/>
          <a:cs typeface="+mn-cs"/>
        </a:defRPr>
      </a:lvl5pPr>
      <a:lvl6pPr marL="2004750" algn="l" defTabSz="914400" rtl="0" eaLnBrk="1" latinLnBrk="0" hangingPunct="1">
        <a:defRPr sz="1575" kern="1200">
          <a:solidFill>
            <a:schemeClr val="tx1"/>
          </a:solidFill>
          <a:latin typeface="+mn-lt"/>
          <a:ea typeface="+mn-ea"/>
          <a:cs typeface="+mn-cs"/>
        </a:defRPr>
      </a:lvl6pPr>
      <a:lvl7pPr marL="2405700" algn="l" defTabSz="914400" rtl="0" eaLnBrk="1" latinLnBrk="0" hangingPunct="1">
        <a:defRPr sz="1575" kern="1200">
          <a:solidFill>
            <a:schemeClr val="tx1"/>
          </a:solidFill>
          <a:latin typeface="+mn-lt"/>
          <a:ea typeface="+mn-ea"/>
          <a:cs typeface="+mn-cs"/>
        </a:defRPr>
      </a:lvl7pPr>
      <a:lvl8pPr marL="2806650" algn="l" defTabSz="914400" rtl="0" eaLnBrk="1" latinLnBrk="0" hangingPunct="1">
        <a:defRPr sz="1575" kern="1200">
          <a:solidFill>
            <a:schemeClr val="tx1"/>
          </a:solidFill>
          <a:latin typeface="+mn-lt"/>
          <a:ea typeface="+mn-ea"/>
          <a:cs typeface="+mn-cs"/>
        </a:defRPr>
      </a:lvl8pPr>
      <a:lvl9pPr marL="3207600" algn="l" defTabSz="914400" rtl="0" eaLnBrk="1" latinLnBrk="0" hangingPunct="1">
        <a:defRPr sz="15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946688" y="4051289"/>
            <a:ext cx="8798625" cy="133605"/>
          </a:xfrm>
        </p:spPr>
        <p:txBody>
          <a:bodyPr/>
          <a:lstStyle/>
          <a:p>
            <a:r>
              <a:rPr lang="da-DK" noProof="0"/>
              <a:t>OPGØRELSE {{</a:t>
            </a:r>
            <a:r>
              <a:rPr lang="da-DK" noProof="0" err="1"/>
              <a:t>insert_year</a:t>
            </a:r>
            <a:r>
              <a:rPr lang="da-DK" noProof="0"/>
              <a:t>}}</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3072658" y="4359745"/>
            <a:ext cx="4539794" cy="246616"/>
          </a:xfrm>
        </p:spPr>
        <p:txBody>
          <a:bodyPr/>
          <a:lstStyle/>
          <a:p>
            <a:r>
              <a:rPr lang="da-DK" noProof="0"/>
              <a:t>{{</a:t>
            </a:r>
            <a:r>
              <a:rPr lang="da-DK" noProof="0" err="1"/>
              <a:t>company_name</a:t>
            </a:r>
            <a:r>
              <a:rPr lang="da-DK" noProof="0"/>
              <a:t>}}</a:t>
            </a:r>
            <a:endParaRPr lang="da-DK"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54796" y="450698"/>
            <a:ext cx="9791704" cy="437255"/>
          </a:xfrm>
        </p:spPr>
        <p:txBody>
          <a:bodyPr/>
          <a:lstStyle/>
          <a:p>
            <a:r>
              <a:rPr lang="da-DK" noProof="0"/>
              <a:t>ESG opgørelse</a:t>
            </a:r>
            <a:r>
              <a:rPr lang="da-DK" b="0" noProof="0">
                <a:solidFill>
                  <a:srgbClr val="1B4528"/>
                </a:solidFill>
                <a:ea typeface="+mn-ea"/>
                <a:cs typeface="+mn-cs"/>
              </a:rPr>
              <a:t> </a:t>
            </a:r>
            <a:br>
              <a:rPr lang="da-DK" b="0" noProof="0">
                <a:solidFill>
                  <a:srgbClr val="1B4528"/>
                </a:solidFill>
                <a:ea typeface="+mn-ea"/>
                <a:cs typeface="+mn-cs"/>
              </a:rPr>
            </a:br>
            <a:endParaRPr lang="da-DK"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54793" y="864270"/>
            <a:ext cx="6880233" cy="4704480"/>
          </a:xfrm>
        </p:spPr>
        <p:txBody>
          <a:bodyPr/>
          <a:lstStyle/>
          <a:p>
            <a:pPr>
              <a:lnSpc>
                <a:spcPct val="150000"/>
              </a:lnSpc>
              <a:tabLst>
                <a:tab pos="251986" algn="l"/>
                <a:tab pos="409303" algn="l"/>
                <a:tab pos="3932930" algn="r"/>
              </a:tabLst>
            </a:pPr>
            <a:endParaRPr lang="da-DK" sz="1050" b="1" noProof="0">
              <a:latin typeface="+mj-lt"/>
            </a:endParaRPr>
          </a:p>
          <a:p>
            <a:pPr>
              <a:lnSpc>
                <a:spcPct val="150000"/>
              </a:lnSpc>
              <a:tabLst>
                <a:tab pos="251986" algn="l"/>
                <a:tab pos="409303" algn="l"/>
                <a:tab pos="3932930" algn="r"/>
              </a:tabLst>
            </a:pPr>
            <a:endParaRPr lang="da-DK" sz="1050" b="1" noProof="0">
              <a:latin typeface="+mj-lt"/>
            </a:endParaRPr>
          </a:p>
          <a:p>
            <a:pPr marL="200475" indent="-233624">
              <a:lnSpc>
                <a:spcPct val="150000"/>
              </a:lnSpc>
              <a:buFont typeface="+mj-lt"/>
              <a:buAutoNum type="arabicPeriod"/>
              <a:tabLst>
                <a:tab pos="251986" algn="l"/>
                <a:tab pos="409303" algn="l"/>
                <a:tab pos="3932930" algn="r"/>
              </a:tabLst>
            </a:pPr>
            <a:r>
              <a:rPr lang="da-DK" sz="1050" b="1" noProof="0">
                <a:latin typeface="+mj-lt"/>
              </a:rPr>
              <a:t>Generelle oplysninger				</a:t>
            </a:r>
            <a:endParaRPr lang="da-DK"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a-DK" sz="1050" b="1" kern="1200" spc="-10" noProof="0">
                <a:solidFill>
                  <a:schemeClr val="tx2"/>
                </a:solidFill>
                <a:latin typeface="+mn-lt"/>
                <a:ea typeface="+mn-ea"/>
                <a:cs typeface="+mn-cs"/>
              </a:rPr>
              <a:t>Indsatser, politikker og initiativer for omstilling til en mere bæredygtig økonomi	</a:t>
            </a:r>
            <a:endParaRPr lang="da-DK" sz="1050" b="1" noProof="0">
              <a:latin typeface="+mj-lt"/>
            </a:endParaRPr>
          </a:p>
          <a:p>
            <a:pPr marL="200475" indent="-233624">
              <a:lnSpc>
                <a:spcPct val="150000"/>
              </a:lnSpc>
              <a:buFont typeface="+mj-lt"/>
              <a:buAutoNum type="arabicPeriod"/>
              <a:tabLst>
                <a:tab pos="251986" algn="l"/>
                <a:tab pos="409303" algn="l"/>
                <a:tab pos="3932930" algn="r"/>
              </a:tabLst>
            </a:pPr>
            <a:r>
              <a:rPr lang="da-DK" sz="1050" b="1" noProof="0">
                <a:latin typeface="+mj-lt"/>
              </a:rPr>
              <a:t>Energiforbrug				</a:t>
            </a:r>
            <a:endParaRPr lang="da-DK" sz="1050" noProof="0">
              <a:latin typeface="+mj-lt"/>
            </a:endParaRPr>
          </a:p>
          <a:p>
            <a:pPr marL="200475" indent="-233624">
              <a:lnSpc>
                <a:spcPct val="150000"/>
              </a:lnSpc>
              <a:buFont typeface="+mj-lt"/>
              <a:buAutoNum type="arabicPeriod"/>
              <a:tabLst>
                <a:tab pos="251986" algn="l"/>
                <a:tab pos="409303" algn="l"/>
                <a:tab pos="3932930" algn="r"/>
              </a:tabLst>
            </a:pPr>
            <a:r>
              <a:rPr lang="da-DK" sz="1050" b="1" noProof="0" err="1">
                <a:latin typeface="+mj-lt"/>
              </a:rPr>
              <a:t>CO₂e</a:t>
            </a:r>
            <a:r>
              <a:rPr lang="da-DK" sz="1050" b="1" noProof="0">
                <a:latin typeface="+mj-lt"/>
              </a:rPr>
              <a:t> udledning 				</a:t>
            </a:r>
            <a:endParaRPr lang="da-DK" sz="1050" noProof="0">
              <a:latin typeface="+mj-lt"/>
            </a:endParaRPr>
          </a:p>
          <a:p>
            <a:pPr marL="200475" indent="-233624">
              <a:lnSpc>
                <a:spcPct val="150000"/>
              </a:lnSpc>
              <a:buFont typeface="+mj-lt"/>
              <a:buAutoNum type="arabicPeriod"/>
              <a:tabLst>
                <a:tab pos="251986" algn="l"/>
                <a:tab pos="409303" algn="l"/>
                <a:tab pos="3932930" algn="r"/>
              </a:tabLst>
            </a:pPr>
            <a:r>
              <a:rPr lang="da-DK" sz="1050" b="1" noProof="0">
                <a:latin typeface="+mj-lt"/>
              </a:rPr>
              <a:t>Forurening af luft, vand og jord</a:t>
            </a:r>
            <a:r>
              <a:rPr lang="da-DK" sz="1050" noProof="0">
                <a:latin typeface="+mj-lt"/>
              </a:rPr>
              <a:t>				</a:t>
            </a:r>
          </a:p>
          <a:p>
            <a:pPr marL="200475" indent="-233624">
              <a:lnSpc>
                <a:spcPct val="150000"/>
              </a:lnSpc>
              <a:buFont typeface="+mj-lt"/>
              <a:buAutoNum type="arabicPeriod"/>
              <a:tabLst>
                <a:tab pos="251986" algn="l"/>
                <a:tab pos="409303" algn="l"/>
                <a:tab pos="3932930" algn="r"/>
              </a:tabLst>
            </a:pPr>
            <a:r>
              <a:rPr lang="da-DK" sz="1050" b="1" noProof="0">
                <a:latin typeface="+mj-lt"/>
              </a:rPr>
              <a:t>Biodiversitet</a:t>
            </a:r>
            <a:r>
              <a:rPr lang="da-DK" sz="1050" noProof="0">
                <a:latin typeface="+mj-lt"/>
              </a:rPr>
              <a:t>				</a:t>
            </a:r>
          </a:p>
          <a:p>
            <a:pPr marL="200475" indent="-233624">
              <a:lnSpc>
                <a:spcPct val="150000"/>
              </a:lnSpc>
              <a:buFont typeface="+mj-lt"/>
              <a:buAutoNum type="arabicPeriod"/>
              <a:tabLst>
                <a:tab pos="251986" algn="l"/>
                <a:tab pos="409303" algn="l"/>
                <a:tab pos="3932930" algn="r"/>
              </a:tabLst>
            </a:pPr>
            <a:r>
              <a:rPr lang="da-DK" sz="1050" b="1" noProof="0">
                <a:latin typeface="+mj-lt"/>
              </a:rPr>
              <a:t>Vand	</a:t>
            </a:r>
            <a:r>
              <a:rPr lang="da-DK" sz="1050" noProof="0">
                <a:latin typeface="+mj-lt"/>
              </a:rPr>
              <a:t> 			</a:t>
            </a:r>
          </a:p>
          <a:p>
            <a:pPr marL="200475" indent="-233624">
              <a:lnSpc>
                <a:spcPct val="150000"/>
              </a:lnSpc>
              <a:buFont typeface="+mj-lt"/>
              <a:buAutoNum type="arabicPeriod"/>
              <a:tabLst>
                <a:tab pos="251986" algn="l"/>
                <a:tab pos="409303" algn="l"/>
                <a:tab pos="3932930" algn="r"/>
              </a:tabLst>
            </a:pPr>
            <a:r>
              <a:rPr lang="da-DK" sz="1050" b="1" noProof="0">
                <a:latin typeface="+mj-lt"/>
              </a:rPr>
              <a:t>Ressourceforbrug, cirkulærøkonomi og affaldshåndtering</a:t>
            </a:r>
            <a:r>
              <a:rPr lang="da-DK" sz="1050" noProof="0">
                <a:latin typeface="+mj-lt"/>
              </a:rPr>
              <a:t>				</a:t>
            </a:r>
            <a:endParaRPr lang="da-DK"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a-DK" sz="1050" b="1" noProof="0">
                <a:latin typeface="+mj-lt"/>
              </a:rPr>
              <a:t>Egen arbejdsstyrke: Generelle karakteristika</a:t>
            </a:r>
            <a:r>
              <a:rPr lang="da-DK" sz="1050" noProof="0">
                <a:latin typeface="+mj-lt"/>
              </a:rPr>
              <a:t>				</a:t>
            </a:r>
            <a:endParaRPr lang="da-DK"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a-DK" sz="1050" b="1" noProof="0">
                <a:latin typeface="+mj-lt"/>
              </a:rPr>
              <a:t>Egen arbejdsstyrke: Sundhed og sikkerhed</a:t>
            </a:r>
            <a:r>
              <a:rPr lang="da-DK" sz="1050" noProof="0">
                <a:latin typeface="+mj-lt"/>
              </a:rPr>
              <a:t>				</a:t>
            </a:r>
            <a:endParaRPr lang="da-DK"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a-DK" sz="1050" b="1" noProof="0">
                <a:latin typeface="+mj-lt"/>
              </a:rPr>
              <a:t>Egen arbejdsstyrke: Vederlag, overenskomster og uddannelse</a:t>
            </a:r>
            <a:r>
              <a:rPr lang="da-DK" sz="1050" noProof="0">
                <a:latin typeface="+mj-lt"/>
              </a:rPr>
              <a:t>		</a:t>
            </a:r>
            <a:endParaRPr lang="da-DK" sz="1050" noProof="0">
              <a:solidFill>
                <a:srgbClr val="1B4528"/>
              </a:solidFill>
              <a:latin typeface="+mj-lt"/>
            </a:endParaRPr>
          </a:p>
          <a:p>
            <a:pPr marL="200475" indent="-233624">
              <a:lnSpc>
                <a:spcPct val="150000"/>
              </a:lnSpc>
              <a:buFont typeface="+mj-lt"/>
              <a:buAutoNum type="arabicPeriod"/>
              <a:tabLst>
                <a:tab pos="251986" algn="l"/>
                <a:tab pos="409303" algn="l"/>
                <a:tab pos="3932930" algn="r"/>
              </a:tabLst>
            </a:pPr>
            <a:r>
              <a:rPr lang="da-DK" sz="1050" b="1" noProof="0">
                <a:latin typeface="+mj-lt"/>
              </a:rPr>
              <a:t>Virksomhedsadfærd</a:t>
            </a:r>
            <a:r>
              <a:rPr lang="da-DK" sz="1050" noProof="0">
                <a:latin typeface="+mj-lt"/>
              </a:rPr>
              <a:t>	 			</a:t>
            </a:r>
            <a:endParaRPr lang="da-DK" sz="1050" noProof="0">
              <a:solidFill>
                <a:srgbClr val="1B4528"/>
              </a:solidFill>
              <a:latin typeface="+mj-lt"/>
            </a:endParaRPr>
          </a:p>
          <a:p>
            <a:pPr>
              <a:tabLst>
                <a:tab pos="251986" algn="l"/>
                <a:tab pos="409303" algn="l"/>
                <a:tab pos="3932930" algn="r"/>
              </a:tabLst>
            </a:pPr>
            <a:endParaRPr lang="da-DK" sz="1050" noProof="0">
              <a:latin typeface="+mj-lt"/>
            </a:endParaRPr>
          </a:p>
          <a:p>
            <a:pPr>
              <a:tabLst>
                <a:tab pos="251986" algn="l"/>
                <a:tab pos="409303" algn="l"/>
                <a:tab pos="3932930" algn="r"/>
              </a:tabLst>
            </a:pPr>
            <a:endParaRPr lang="da-DK" sz="1050" noProof="0">
              <a:latin typeface="+mj-lt"/>
            </a:endParaRPr>
          </a:p>
          <a:p>
            <a:pPr>
              <a:tabLst>
                <a:tab pos="251986" algn="l"/>
                <a:tab pos="409303" algn="l"/>
                <a:tab pos="3932930" algn="r"/>
              </a:tabLst>
            </a:pPr>
            <a:endParaRPr lang="da-DK" noProof="0">
              <a:latin typeface="+mj-lt"/>
            </a:endParaRPr>
          </a:p>
          <a:p>
            <a:pPr>
              <a:tabLst>
                <a:tab pos="251986" algn="l"/>
                <a:tab pos="409303" algn="l"/>
                <a:tab pos="3932930" algn="r"/>
              </a:tabLst>
            </a:pPr>
            <a:endParaRPr lang="da-DK" noProof="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7261741" y="197293"/>
            <a:ext cx="3194529" cy="134955"/>
          </a:xfrm>
        </p:spPr>
        <p:txBody>
          <a:bodyPr/>
          <a:lstStyle/>
          <a:p>
            <a:r>
              <a:rPr lang="da-DK" noProof="0"/>
              <a:t>{{</a:t>
            </a:r>
            <a:r>
              <a:rPr lang="da-DK" noProof="0" err="1"/>
              <a:t>company_name</a:t>
            </a:r>
            <a:r>
              <a:rPr lang="da-DK" noProof="0"/>
              <a:t>}}</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8050571" y="7202406"/>
            <a:ext cx="2405700" cy="134955"/>
          </a:xfrm>
        </p:spPr>
        <p:txBody>
          <a:bodyPr/>
          <a:lstStyle/>
          <a:p>
            <a:fld id="{5A0D23CF-C5A3-5445-819D-C647D180BB4B}" type="slidenum">
              <a:rPr lang="da-DK" noProof="0" smtClean="0"/>
              <a:pPr/>
              <a:t>2</a:t>
            </a:fld>
            <a:endParaRPr lang="da-DK"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da-DK" noProof="0"/>
              <a:t>Grundlag for udarbejdelse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45500" y="2600430"/>
            <a:ext cx="3080911" cy="150659"/>
          </a:xfrm>
          <a:prstGeom prst="rect">
            <a:avLst/>
          </a:prstGeom>
        </p:spPr>
        <p:txBody>
          <a:bodyPr lIns="0" tIns="0" rIns="0" bIns="0"/>
          <a:lstStyle>
            <a:lvl1pPr marL="63142" indent="-63142" algn="l" defTabSz="914400" rtl="0" eaLnBrk="1" latinLnBrk="0" hangingPunct="1">
              <a:lnSpc>
                <a:spcPct val="106000"/>
              </a:lnSpc>
              <a:spcBef>
                <a:spcPts val="0"/>
              </a:spcBef>
              <a:buFont typeface="Arial" panose="020B0604020202020204" pitchFamily="34" charset="0"/>
              <a:buChar char="•"/>
              <a:defRPr sz="775" b="0" kern="1200" spc="-10" baseline="0">
                <a:solidFill>
                  <a:schemeClr val="tx2"/>
                </a:solidFill>
                <a:latin typeface="+mn-lt"/>
                <a:ea typeface="+mn-ea"/>
                <a:cs typeface="+mn-cs"/>
              </a:defRPr>
            </a:lvl1pPr>
            <a:lvl2pPr marL="126283"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2pPr>
            <a:lvl3pPr marL="189425"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3pPr>
            <a:lvl4pPr marL="252567"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4pPr>
            <a:lvl5pPr marL="315709" indent="-63142" algn="l" defTabSz="914400" rtl="0" eaLnBrk="1" latinLnBrk="0" hangingPunct="1">
              <a:lnSpc>
                <a:spcPct val="106000"/>
              </a:lnSpc>
              <a:spcBef>
                <a:spcPts val="0"/>
              </a:spcBef>
              <a:buFont typeface="Arial" panose="020B0604020202020204" pitchFamily="34" charset="0"/>
              <a:buChar char="•"/>
              <a:defRPr sz="775" kern="1200" spc="-10" baseline="0">
                <a:solidFill>
                  <a:schemeClr val="tx2"/>
                </a:solidFill>
                <a:latin typeface="+mn-lt"/>
                <a:ea typeface="+mn-ea"/>
                <a:cs typeface="+mn-cs"/>
              </a:defRPr>
            </a:lvl5pPr>
            <a:lvl6pPr marL="22052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6pPr>
            <a:lvl7pPr marL="26061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7pPr>
            <a:lvl8pPr marL="300712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8pPr>
            <a:lvl9pPr marL="3408075" indent="-200475" algn="l" defTabSz="914400" rtl="0" eaLnBrk="1" latinLnBrk="0" hangingPunct="1">
              <a:lnSpc>
                <a:spcPct val="90000"/>
              </a:lnSpc>
              <a:spcBef>
                <a:spcPts val="438"/>
              </a:spcBef>
              <a:buFont typeface="Arial" panose="020B0604020202020204" pitchFamily="34" charset="0"/>
              <a:buChar char="•"/>
              <a:defRPr sz="1575" kern="1200">
                <a:solidFill>
                  <a:schemeClr val="tx1"/>
                </a:solidFill>
                <a:latin typeface="+mn-lt"/>
                <a:ea typeface="+mn-ea"/>
                <a:cs typeface="+mn-cs"/>
              </a:defRPr>
            </a:lvl9pPr>
          </a:lstStyle>
          <a:p>
            <a:pPr marL="0" indent="0">
              <a:buNone/>
            </a:pPr>
            <a:endParaRPr lang="da-DK"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3677333342"/>
              </p:ext>
            </p:extLst>
          </p:nvPr>
        </p:nvGraphicFramePr>
        <p:xfrm>
          <a:off x="454795" y="4468749"/>
          <a:ext cx="6449555" cy="1092520"/>
        </p:xfrm>
        <a:graphic>
          <a:graphicData uri="http://schemas.openxmlformats.org/drawingml/2006/table">
            <a:tbl>
              <a:tblPr firstRow="1">
                <a:tableStyleId>{2A488322-F2BA-4B5B-9748-0D474271808F}</a:tableStyleId>
              </a:tblPr>
              <a:tblGrid>
                <a:gridCol w="2982453">
                  <a:extLst>
                    <a:ext uri="{9D8B030D-6E8A-4147-A177-3AD203B41FA5}">
                      <a16:colId xmlns:a16="http://schemas.microsoft.com/office/drawing/2014/main" val="1902117154"/>
                    </a:ext>
                  </a:extLst>
                </a:gridCol>
                <a:gridCol w="3467102">
                  <a:extLst>
                    <a:ext uri="{9D8B030D-6E8A-4147-A177-3AD203B41FA5}">
                      <a16:colId xmlns:a16="http://schemas.microsoft.com/office/drawing/2014/main" val="1904521774"/>
                    </a:ext>
                  </a:extLst>
                </a:gridCol>
              </a:tblGrid>
              <a:tr h="388551">
                <a:tc gridSpan="2">
                  <a:txBody>
                    <a:bodyPr/>
                    <a:lstStyle/>
                    <a:p>
                      <a:pPr marL="0" algn="l" defTabSz="914400" rtl="0" eaLnBrk="1" latinLnBrk="0" hangingPunct="1"/>
                      <a:r>
                        <a:rPr lang="da-DK" sz="1050" b="1" kern="1200" spc="-10" noProof="0">
                          <a:solidFill>
                            <a:schemeClr val="tx2"/>
                          </a:solidFill>
                          <a:latin typeface="+mn-lt"/>
                          <a:ea typeface="+mn-ea"/>
                          <a:cs typeface="+mn-cs"/>
                        </a:rPr>
                        <a:t>Oversigt over datterselskaber, der indgår i denne ESG-opgørelse </a:t>
                      </a:r>
                      <a:r>
                        <a:rPr lang="da-DK" sz="1050" b="0" kern="1200" spc="-10" noProof="0">
                          <a:solidFill>
                            <a:schemeClr val="tx2"/>
                          </a:solidFill>
                          <a:latin typeface="+mn-lt"/>
                          <a:ea typeface="+mn-ea"/>
                          <a:cs typeface="+mn-cs"/>
                        </a:rPr>
                        <a:t>(pkt. 27d)</a:t>
                      </a:r>
                      <a:endParaRPr lang="da-DK" sz="1050" b="0" i="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365697">
                <a:tc>
                  <a:txBody>
                    <a:bodyPr/>
                    <a:lstStyle/>
                    <a:p>
                      <a:pPr algn="l"/>
                      <a:r>
                        <a:rPr lang="da-DK" sz="1050" b="1" kern="1200" spc="-10" noProof="0">
                          <a:solidFill>
                            <a:schemeClr val="tx2"/>
                          </a:solidFill>
                          <a:latin typeface="+mn-lt"/>
                          <a:ea typeface="+mn-ea"/>
                          <a:cs typeface="+mn-cs"/>
                        </a:rPr>
                        <a:t>Navn på datterselskab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050" b="1" kern="1200" spc="-10" noProof="0">
                          <a:solidFill>
                            <a:schemeClr val="tx2"/>
                          </a:solidFill>
                          <a:latin typeface="+mn-lt"/>
                          <a:ea typeface="+mn-ea"/>
                          <a:cs typeface="+mn-cs"/>
                        </a:rPr>
                        <a:t>Adresse på datterselskab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38272">
                <a:tc>
                  <a:txBody>
                    <a:bodyPr/>
                    <a:lstStyle/>
                    <a:p>
                      <a:pPr rtl="0" fontAlgn="t" algn="l">
                        <a:buNone/>
                      </a:pPr>
                      <a:r>
                        <a:rPr lang="da-DK" sz="1050" b="0" i="0" u="none" strike="noStrike" noProof="0">
                          <a:solidFill>
                            <a:srgbClr val="1B4528"/>
                          </a:solidFill>
                          <a:effectLst/>
                          <a:latin typeface="Inter"/>
                        </a:rPr>
                        <a:t>{{subsidiary}}</a:t>
                      </a:r>
                      <a:endParaRPr lang="da-DK"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da-DK" sz="1050" b="0" i="0" u="none" strike="noStrike" noProof="0">
                          <a:solidFill>
                            <a:srgbClr val="1B4528"/>
                          </a:solidFill>
                          <a:effectLst/>
                          <a:latin typeface="Inter"/>
                        </a:rPr>
                        <a:t>{{subsidiary_address}}</a:t>
                      </a:r>
                      <a:endParaRPr lang="da-DK" sz="105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da-DK" noProof="0" smtClean="0"/>
              <a:pPr/>
              <a:t>3</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da-DK" noProof="0"/>
              <a:t>{{</a:t>
            </a:r>
            <a:r>
              <a:rPr lang="da-DK" noProof="0" err="1"/>
              <a:t>company_name</a:t>
            </a:r>
            <a:r>
              <a:rPr lang="da-DK" noProof="0"/>
              <a:t>}}</a:t>
            </a:r>
            <a:endParaRPr lang="da-DK" b="0" noProof="0"/>
          </a:p>
          <a:p>
            <a:br>
              <a:rPr lang="da-DK" noProof="0"/>
            </a:br>
            <a:endParaRPr lang="da-DK"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3344848158"/>
              </p:ext>
            </p:extLst>
          </p:nvPr>
        </p:nvGraphicFramePr>
        <p:xfrm>
          <a:off x="454795" y="3387189"/>
          <a:ext cx="6449555" cy="1064982"/>
        </p:xfrm>
        <a:graphic>
          <a:graphicData uri="http://schemas.openxmlformats.org/drawingml/2006/table">
            <a:tbl>
              <a:tblPr firstRow="1">
                <a:tableStyleId>{2A488322-F2BA-4B5B-9748-0D474271808F}</a:tableStyleId>
              </a:tblPr>
              <a:tblGrid>
                <a:gridCol w="5432324">
                  <a:extLst>
                    <a:ext uri="{9D8B030D-6E8A-4147-A177-3AD203B41FA5}">
                      <a16:colId xmlns:a16="http://schemas.microsoft.com/office/drawing/2014/main" val="2698153288"/>
                    </a:ext>
                  </a:extLst>
                </a:gridCol>
                <a:gridCol w="1017231">
                  <a:extLst>
                    <a:ext uri="{9D8B030D-6E8A-4147-A177-3AD203B41FA5}">
                      <a16:colId xmlns:a16="http://schemas.microsoft.com/office/drawing/2014/main" val="2119413191"/>
                    </a:ext>
                  </a:extLst>
                </a:gridCol>
              </a:tblGrid>
              <a:tr h="237678">
                <a:tc gridSpan="2">
                  <a:txBody>
                    <a:bodyPr/>
                    <a:lstStyle/>
                    <a:p>
                      <a:r>
                        <a:rPr lang="da-DK" sz="1050" b="1" noProof="0">
                          <a:solidFill>
                            <a:schemeClr val="tx2"/>
                          </a:solidFill>
                        </a:rPr>
                        <a:t>Individuel eller konsolideret rapportering</a:t>
                      </a:r>
                      <a:r>
                        <a:rPr lang="da-DK" sz="1050" b="0" noProof="0">
                          <a:solidFill>
                            <a:schemeClr val="tx2"/>
                          </a:solidFill>
                        </a:rPr>
                        <a:t> (pkt. 27c)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22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0" kern="1200" spc="-10" noProof="0">
                          <a:solidFill>
                            <a:schemeClr val="tx2"/>
                          </a:solidFill>
                          <a:latin typeface="+mn-lt"/>
                          <a:ea typeface="+mn-ea"/>
                          <a:cs typeface="+mn-cs"/>
                        </a:rPr>
                        <a:t>Opgørelsen er udarbejdet på </a:t>
                      </a:r>
                      <a:r>
                        <a:rPr lang="da-DK" sz="1050" b="1" kern="1200" spc="-10" noProof="0">
                          <a:solidFill>
                            <a:schemeClr val="tx2"/>
                          </a:solidFill>
                          <a:latin typeface="+mn-lt"/>
                          <a:ea typeface="+mn-ea"/>
                          <a:cs typeface="+mn-cs"/>
                        </a:rPr>
                        <a:t>individuel basis </a:t>
                      </a:r>
                      <a:r>
                        <a:rPr lang="da-DK" sz="1050" b="0" kern="1200" spc="-10" noProof="0">
                          <a:solidFill>
                            <a:schemeClr val="tx2"/>
                          </a:solidFill>
                          <a:latin typeface="+mn-lt"/>
                          <a:ea typeface="+mn-ea"/>
                          <a:cs typeface="+mn-cs"/>
                        </a:rPr>
                        <a:t>(dvs. opgørelsen dækker ikke eventuelle datterselskaber)</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yes_subsidiary</a:t>
                      </a:r>
                      <a:r>
                        <a:rPr lang="da-DK" sz="1050" b="0" i="0" u="none" strike="noStrike" noProof="0">
                          <a:solidFill>
                            <a:srgbClr val="1B4528"/>
                          </a:solidFill>
                          <a:effectLst/>
                          <a:latin typeface="Inter"/>
                        </a:rPr>
                        <a:t>?}}</a:t>
                      </a:r>
                      <a:endParaRPr lang="da-DK"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250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0" kern="1200" spc="-10" noProof="0">
                          <a:solidFill>
                            <a:schemeClr val="tx2"/>
                          </a:solidFill>
                          <a:latin typeface="+mn-lt"/>
                          <a:ea typeface="+mn-ea"/>
                          <a:cs typeface="+mn-cs"/>
                        </a:rPr>
                        <a:t>Opgørelsen er udarbejdet på et </a:t>
                      </a:r>
                      <a:r>
                        <a:rPr lang="da-DK" sz="1050" b="1" kern="1200" spc="-10" noProof="0">
                          <a:solidFill>
                            <a:schemeClr val="tx2"/>
                          </a:solidFill>
                          <a:latin typeface="+mn-lt"/>
                          <a:ea typeface="+mn-ea"/>
                          <a:cs typeface="+mn-cs"/>
                        </a:rPr>
                        <a:t>konsolideret grundlag </a:t>
                      </a:r>
                      <a:r>
                        <a:rPr lang="da-DK" sz="1050" b="0" kern="1200" spc="-10" noProof="0">
                          <a:solidFill>
                            <a:schemeClr val="tx2"/>
                          </a:solidFill>
                          <a:latin typeface="+mn-lt"/>
                          <a:ea typeface="+mn-ea"/>
                          <a:cs typeface="+mn-cs"/>
                        </a:rPr>
                        <a:t>(dvs. opgørelsen omfatter virksomhedens datterselskaber) </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no_subsidiary</a:t>
                      </a:r>
                      <a:r>
                        <a:rPr lang="da-DK" sz="1050" b="0" i="0" u="none" strike="noStrike" noProof="0">
                          <a:solidFill>
                            <a:srgbClr val="1B4528"/>
                          </a:solidFill>
                          <a:effectLst/>
                          <a:latin typeface="Inter"/>
                        </a:rPr>
                        <a:t>?}}</a:t>
                      </a:r>
                      <a:endParaRPr lang="da-DK"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1534085072"/>
              </p:ext>
            </p:extLst>
          </p:nvPr>
        </p:nvGraphicFramePr>
        <p:xfrm>
          <a:off x="454796" y="2003380"/>
          <a:ext cx="6449555" cy="1167535"/>
        </p:xfrm>
        <a:graphic>
          <a:graphicData uri="http://schemas.openxmlformats.org/drawingml/2006/table">
            <a:tbl>
              <a:tblPr firstRow="1">
                <a:tableStyleId>{2A488322-F2BA-4B5B-9748-0D474271808F}</a:tableStyleId>
              </a:tblPr>
              <a:tblGrid>
                <a:gridCol w="5442103">
                  <a:extLst>
                    <a:ext uri="{9D8B030D-6E8A-4147-A177-3AD203B41FA5}">
                      <a16:colId xmlns:a16="http://schemas.microsoft.com/office/drawing/2014/main" val="2698153288"/>
                    </a:ext>
                  </a:extLst>
                </a:gridCol>
                <a:gridCol w="1007453">
                  <a:extLst>
                    <a:ext uri="{9D8B030D-6E8A-4147-A177-3AD203B41FA5}">
                      <a16:colId xmlns:a16="http://schemas.microsoft.com/office/drawing/2014/main" val="2119413191"/>
                    </a:ext>
                  </a:extLst>
                </a:gridCol>
              </a:tblGrid>
              <a:tr h="343061">
                <a:tc gridSpan="2">
                  <a:txBody>
                    <a:bodyPr/>
                    <a:lstStyle/>
                    <a:p>
                      <a:r>
                        <a:rPr lang="da-DK" sz="1050" b="1" kern="1200" spc="-10" noProof="0" err="1">
                          <a:solidFill>
                            <a:schemeClr val="tx2"/>
                          </a:solidFill>
                          <a:latin typeface="+mn-lt"/>
                          <a:ea typeface="+mn-ea"/>
                          <a:cs typeface="+mn-cs"/>
                        </a:rPr>
                        <a:t>Basismodul</a:t>
                      </a:r>
                      <a:r>
                        <a:rPr lang="da-DK" sz="1050" b="1" kern="1200" spc="-10" noProof="0">
                          <a:solidFill>
                            <a:schemeClr val="tx2"/>
                          </a:solidFill>
                          <a:latin typeface="+mn-lt"/>
                          <a:ea typeface="+mn-ea"/>
                          <a:cs typeface="+mn-cs"/>
                        </a:rPr>
                        <a:t>, eller </a:t>
                      </a:r>
                      <a:r>
                        <a:rPr lang="da-DK" sz="1050" b="1" kern="1200" spc="-10" noProof="0" err="1">
                          <a:solidFill>
                            <a:schemeClr val="tx2"/>
                          </a:solidFill>
                          <a:latin typeface="+mn-lt"/>
                          <a:ea typeface="+mn-ea"/>
                          <a:cs typeface="+mn-cs"/>
                        </a:rPr>
                        <a:t>Basismodul</a:t>
                      </a:r>
                      <a:r>
                        <a:rPr lang="da-DK" sz="1050" b="1" kern="1200" spc="-10" noProof="0">
                          <a:solidFill>
                            <a:schemeClr val="tx2"/>
                          </a:solidFill>
                          <a:latin typeface="+mn-lt"/>
                          <a:ea typeface="+mn-ea"/>
                          <a:cs typeface="+mn-cs"/>
                        </a:rPr>
                        <a:t> +</a:t>
                      </a:r>
                      <a:r>
                        <a:rPr lang="da-DK" sz="1050" b="0" kern="1200" spc="-10" noProof="0">
                          <a:solidFill>
                            <a:schemeClr val="tx2"/>
                          </a:solidFill>
                          <a:latin typeface="+mn-lt"/>
                          <a:ea typeface="+mn-ea"/>
                          <a:cs typeface="+mn-cs"/>
                        </a:rPr>
                        <a:t> </a:t>
                      </a:r>
                      <a:r>
                        <a:rPr lang="da-DK" sz="1050" b="1" kern="1200" spc="-10" noProof="0">
                          <a:solidFill>
                            <a:schemeClr val="tx2"/>
                          </a:solidFill>
                          <a:latin typeface="+mn-lt"/>
                          <a:ea typeface="+mn-ea"/>
                          <a:cs typeface="+mn-cs"/>
                        </a:rPr>
                        <a:t>Udvidet Modul </a:t>
                      </a:r>
                      <a:r>
                        <a:rPr lang="da-DK" sz="1050" b="0" kern="1200" spc="-10" noProof="0">
                          <a:solidFill>
                            <a:schemeClr val="tx2"/>
                          </a:solidFill>
                          <a:latin typeface="+mn-lt"/>
                          <a:ea typeface="+mn-ea"/>
                          <a:cs typeface="+mn-cs"/>
                        </a:rPr>
                        <a:t>(pkt. 27a)</a:t>
                      </a:r>
                      <a:r>
                        <a:rPr lang="da-DK" sz="1050" b="1" kern="1200" spc="-10" noProof="0">
                          <a:solidFill>
                            <a:schemeClr val="tx2"/>
                          </a:solidFill>
                          <a:latin typeface="+mn-lt"/>
                          <a:ea typeface="+mn-ea"/>
                          <a:cs typeface="+mn-cs"/>
                        </a:rPr>
                        <a:t> </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0" kern="1200" spc="-10" noProof="0">
                          <a:solidFill>
                            <a:schemeClr val="tx2"/>
                          </a:solidFill>
                          <a:latin typeface="+mn-lt"/>
                          <a:ea typeface="+mn-ea"/>
                          <a:cs typeface="+mn-cs"/>
                        </a:rPr>
                        <a:t>Opgørelsen er baseret på </a:t>
                      </a:r>
                      <a:r>
                        <a:rPr lang="da-DK" sz="1050" b="1" kern="1200" spc="-10" noProof="0">
                          <a:solidFill>
                            <a:schemeClr val="tx2"/>
                          </a:solidFill>
                          <a:latin typeface="+mn-lt"/>
                          <a:ea typeface="+mn-ea"/>
                          <a:cs typeface="+mn-cs"/>
                        </a:rPr>
                        <a:t>Basismodulet</a:t>
                      </a:r>
                      <a:r>
                        <a:rPr lang="da-DK" sz="1050" b="0" kern="1200" spc="-10" noProof="0">
                          <a:solidFill>
                            <a:schemeClr val="tx2"/>
                          </a:solidFill>
                          <a:latin typeface="+mn-lt"/>
                          <a:ea typeface="+mn-ea"/>
                          <a:cs typeface="+mn-cs"/>
                        </a:rPr>
                        <a:t> i den frivillige SMV-standard </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basic_module</a:t>
                      </a:r>
                      <a:r>
                        <a:rPr lang="da-DK" sz="1050" b="0" i="0" u="none" strike="noStrike" noProof="0">
                          <a:solidFill>
                            <a:srgbClr val="1B4528"/>
                          </a:solidFill>
                          <a:effectLst/>
                          <a:latin typeface="Inter"/>
                        </a:rPr>
                        <a:t>?}}</a:t>
                      </a:r>
                      <a:endParaRPr lang="da-DK"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4659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0" kern="1200" spc="-10" noProof="0">
                          <a:solidFill>
                            <a:schemeClr val="tx2"/>
                          </a:solidFill>
                          <a:latin typeface="+mn-lt"/>
                          <a:ea typeface="+mn-ea"/>
                          <a:cs typeface="+mn-cs"/>
                        </a:rPr>
                        <a:t>Opgørelsen er baseret på </a:t>
                      </a:r>
                      <a:r>
                        <a:rPr lang="da-DK" sz="1050" b="1" kern="1200" spc="-10" noProof="0">
                          <a:solidFill>
                            <a:schemeClr val="tx2"/>
                          </a:solidFill>
                          <a:latin typeface="+mn-lt"/>
                          <a:ea typeface="+mn-ea"/>
                          <a:cs typeface="+mn-cs"/>
                        </a:rPr>
                        <a:t>Basismodulet</a:t>
                      </a:r>
                      <a:r>
                        <a:rPr lang="da-DK" sz="1050" b="0" kern="1200" spc="-10" noProof="0">
                          <a:solidFill>
                            <a:schemeClr val="tx2"/>
                          </a:solidFill>
                          <a:latin typeface="+mn-lt"/>
                          <a:ea typeface="+mn-ea"/>
                          <a:cs typeface="+mn-cs"/>
                        </a:rPr>
                        <a:t> og </a:t>
                      </a:r>
                      <a:r>
                        <a:rPr lang="da-DK" sz="1050" b="1" kern="1200" spc="-10" noProof="0">
                          <a:solidFill>
                            <a:schemeClr val="tx2"/>
                          </a:solidFill>
                          <a:latin typeface="+mn-lt"/>
                          <a:ea typeface="+mn-ea"/>
                          <a:cs typeface="+mn-cs"/>
                        </a:rPr>
                        <a:t>Udvidet Modul </a:t>
                      </a:r>
                      <a:r>
                        <a:rPr lang="da-DK" sz="1050" b="0" kern="1200" spc="-10" noProof="0">
                          <a:solidFill>
                            <a:schemeClr val="tx2"/>
                          </a:solidFill>
                          <a:latin typeface="+mn-lt"/>
                          <a:ea typeface="+mn-ea"/>
                          <a:cs typeface="+mn-cs"/>
                        </a:rPr>
                        <a:t>i den frivillige SMV-standard</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comprehensive</a:t>
                      </a:r>
                      <a:r>
                        <a:rPr lang="da-DK" sz="1050" b="0" i="0" u="none" strike="noStrike" noProof="0">
                          <a:solidFill>
                            <a:srgbClr val="1B4528"/>
                          </a:solidFill>
                          <a:effectLst/>
                          <a:latin typeface="Inter"/>
                        </a:rPr>
                        <a:t>?}}</a:t>
                      </a:r>
                      <a:endParaRPr lang="da-DK"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45500" y="891000"/>
            <a:ext cx="9791704" cy="890704"/>
          </a:xfrm>
          <a:prstGeom prst="rect">
            <a:avLst/>
          </a:prstGeom>
          <a:noFill/>
        </p:spPr>
        <p:txBody>
          <a:bodyPr wrap="square">
            <a:spAutoFit/>
          </a:bodyPr>
          <a:lstStyle/>
          <a:p>
            <a:pPr rtl="0">
              <a:buNone/>
            </a:pPr>
            <a:r>
              <a:rPr lang="da-DK" sz="1050" b="0" i="0" u="none" strike="noStrike" noProof="0">
                <a:solidFill>
                  <a:schemeClr val="tx2"/>
                </a:solidFill>
                <a:effectLst/>
                <a:latin typeface="Inter"/>
              </a:rPr>
              <a:t>Virksomheden har udarbejdet deres bæredygtighedsrapport gennem VS standarden, som følger en struktureret tilgang for at sikre, at de nødvendige oplysninger rapporteres standardiseret og gennemsigtigt. Rapporten afspejles af de bæredygtighedsmoduler, der er udvalgt og dækket af virksomheden. Derudover er det angivet, om bæredygtighedsrapporten udarbejdes på individuel basis (kun virksomhedens egne data) eller på konsolideret basis. Dette afsnit indeholder grundlæggende oplysninger om virksomheden, f.eks. dens retlige form, NACE-sektorkode(r), balancestørrelse og omsætning, antal ansatte samt oplysninger om virksomhedens primære driftsland og placeringen af andre væsentlige aktiver.</a:t>
            </a:r>
            <a:endParaRPr lang="da-DK" sz="1050"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1997386540"/>
              </p:ext>
            </p:extLst>
          </p:nvPr>
        </p:nvGraphicFramePr>
        <p:xfrm>
          <a:off x="7164197" y="3387189"/>
          <a:ext cx="3073007" cy="2174080"/>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1902117154"/>
                    </a:ext>
                  </a:extLst>
                </a:gridCol>
                <a:gridCol w="1651963">
                  <a:extLst>
                    <a:ext uri="{9D8B030D-6E8A-4147-A177-3AD203B41FA5}">
                      <a16:colId xmlns:a16="http://schemas.microsoft.com/office/drawing/2014/main" val="1904521774"/>
                    </a:ext>
                  </a:extLst>
                </a:gridCol>
              </a:tblGrid>
              <a:tr h="260254">
                <a:tc gridSpan="2">
                  <a:txBody>
                    <a:bodyPr/>
                    <a:lstStyle/>
                    <a:p>
                      <a:pPr algn="l"/>
                      <a:r>
                        <a:rPr lang="da-DK" sz="1050" b="1" kern="1200" spc="-10" noProof="0">
                          <a:solidFill>
                            <a:schemeClr val="tx2"/>
                          </a:solidFill>
                          <a:latin typeface="+mn-lt"/>
                          <a:ea typeface="+mn-ea"/>
                          <a:cs typeface="+mn-cs"/>
                        </a:rPr>
                        <a:t>Grundlæggende informationer om </a:t>
                      </a:r>
                      <a:r>
                        <a:rPr lang="da-DK" sz="1050" b="0" kern="1200" spc="-10" noProof="0">
                          <a:solidFill>
                            <a:schemeClr val="tx2"/>
                          </a:solidFill>
                          <a:latin typeface="+mn-lt"/>
                          <a:ea typeface="+mn-ea"/>
                          <a:cs typeface="+mn-cs"/>
                        </a:rPr>
                        <a:t> (pkt. 27e, i-v)</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406556">
                <a:tc>
                  <a:txBody>
                    <a:bodyPr/>
                    <a:lstStyle/>
                    <a:p>
                      <a:pPr algn="l"/>
                      <a:r>
                        <a:rPr lang="da-DK" sz="1050" b="1" kern="1200" spc="-10" noProof="0">
                          <a:solidFill>
                            <a:schemeClr val="tx2"/>
                          </a:solidFill>
                          <a:latin typeface="+mn-lt"/>
                          <a:ea typeface="+mn-ea"/>
                          <a:cs typeface="+mn-cs"/>
                        </a:rPr>
                        <a:t>Virksomhedsform</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1050" b="0" i="0" u="none" strike="noStrike" noProof="0">
                          <a:solidFill>
                            <a:srgbClr val="1B4528"/>
                          </a:solidFill>
                          <a:effectLst/>
                          <a:latin typeface="Inter"/>
                        </a:rPr>
                        <a:t>{{branchekode}}</a:t>
                      </a:r>
                      <a:endParaRPr lang="da-DK" sz="1050" b="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97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kern="1200" spc="-10" noProof="0">
                          <a:solidFill>
                            <a:schemeClr val="tx2"/>
                          </a:solidFill>
                          <a:latin typeface="+mn-lt"/>
                          <a:ea typeface="+mn-ea"/>
                          <a:cs typeface="+mn-cs"/>
                        </a:rPr>
                        <a:t>NACE sektor kode(r)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1050" b="0" i="0" u="none" strike="noStrike" noProof="0">
                          <a:solidFill>
                            <a:srgbClr val="1B4528"/>
                          </a:solidFill>
                          <a:effectLst/>
                          <a:latin typeface="Inter"/>
                        </a:rPr>
                        <a:t>{{NACE}}</a:t>
                      </a:r>
                      <a:endParaRPr lang="da-DK"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24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kern="1200" spc="-10" noProof="0">
                          <a:solidFill>
                            <a:schemeClr val="tx2"/>
                          </a:solidFill>
                          <a:latin typeface="+mn-lt"/>
                          <a:ea typeface="+mn-ea"/>
                          <a:cs typeface="+mn-cs"/>
                        </a:rPr>
                        <a:t>Balancesum (i Euro eller dk)</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1050" b="0" i="0" u="none" strike="noStrike" noProof="0">
                          <a:solidFill>
                            <a:srgbClr val="1B4528"/>
                          </a:solidFill>
                          <a:effectLst/>
                          <a:latin typeface="Inter"/>
                        </a:rPr>
                        <a:t>{{balance}}</a:t>
                      </a:r>
                      <a:endParaRPr lang="da-DK"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24801">
                <a:tc>
                  <a:txBody>
                    <a:bodyPr/>
                    <a:lstStyle/>
                    <a:p>
                      <a:pPr algn="l"/>
                      <a:r>
                        <a:rPr lang="da-DK" sz="1050" b="1" kern="1200" spc="-10" noProof="0">
                          <a:solidFill>
                            <a:schemeClr val="tx2"/>
                          </a:solidFill>
                          <a:latin typeface="+mn-lt"/>
                          <a:ea typeface="+mn-ea"/>
                          <a:cs typeface="+mn-cs"/>
                        </a:rPr>
                        <a:t>Omsætning (i Euro eller dk)</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1050" b="0" i="0" u="none" strike="noStrike" noProof="0">
                          <a:solidFill>
                            <a:srgbClr val="1B4528"/>
                          </a:solidFill>
                          <a:effectLst/>
                          <a:latin typeface="Inter"/>
                        </a:rPr>
                        <a:t>{{revenue}}</a:t>
                      </a:r>
                      <a:endParaRPr lang="da-DK"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60254">
                <a:tc>
                  <a:txBody>
                    <a:bodyPr/>
                    <a:lstStyle/>
                    <a:p>
                      <a:pPr algn="l"/>
                      <a:r>
                        <a:rPr lang="da-DK" sz="1050" b="1" kern="1200" spc="-10" noProof="0">
                          <a:solidFill>
                            <a:schemeClr val="tx2"/>
                          </a:solidFill>
                          <a:latin typeface="+mn-lt"/>
                          <a:ea typeface="+mn-ea"/>
                          <a:cs typeface="+mn-cs"/>
                        </a:rPr>
                        <a:t>Antal ansatte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1050" b="0" i="0" u="none" strike="noStrike" noProof="0">
                          <a:solidFill>
                            <a:srgbClr val="1B4528"/>
                          </a:solidFill>
                          <a:effectLst/>
                          <a:latin typeface="Inter"/>
                        </a:rPr>
                        <a:t>{{total_employees}}</a:t>
                      </a:r>
                      <a:endParaRPr lang="da-DK" sz="1050" noProof="0">
                        <a:effectLst/>
                      </a:endParaRPr>
                    </a:p>
                  </a:txBody>
                  <a:tcPr marL="33412" marR="33412" marT="22275" marB="22275">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169491624"/>
              </p:ext>
            </p:extLst>
          </p:nvPr>
        </p:nvGraphicFramePr>
        <p:xfrm>
          <a:off x="7164197" y="2005523"/>
          <a:ext cx="3073007" cy="1167534"/>
        </p:xfrm>
        <a:graphic>
          <a:graphicData uri="http://schemas.openxmlformats.org/drawingml/2006/table">
            <a:tbl>
              <a:tblPr firstRow="1">
                <a:tableStyleId>{2A488322-F2BA-4B5B-9748-0D474271808F}</a:tableStyleId>
              </a:tblPr>
              <a:tblGrid>
                <a:gridCol w="1421044">
                  <a:extLst>
                    <a:ext uri="{9D8B030D-6E8A-4147-A177-3AD203B41FA5}">
                      <a16:colId xmlns:a16="http://schemas.microsoft.com/office/drawing/2014/main" val="613205895"/>
                    </a:ext>
                  </a:extLst>
                </a:gridCol>
                <a:gridCol w="1651963">
                  <a:extLst>
                    <a:ext uri="{9D8B030D-6E8A-4147-A177-3AD203B41FA5}">
                      <a16:colId xmlns:a16="http://schemas.microsoft.com/office/drawing/2014/main" val="2415866723"/>
                    </a:ext>
                  </a:extLst>
                </a:gridCol>
              </a:tblGrid>
              <a:tr h="437299">
                <a:tc gridSpan="2">
                  <a:txBody>
                    <a:bodyPr/>
                    <a:lstStyle/>
                    <a:p>
                      <a:pPr algn="l"/>
                      <a:r>
                        <a:rPr lang="da-DK" sz="1050" b="1" kern="1200" spc="-10" noProof="0">
                          <a:solidFill>
                            <a:schemeClr val="tx2"/>
                          </a:solidFill>
                          <a:latin typeface="+mn-lt"/>
                          <a:ea typeface="+mn-ea"/>
                          <a:cs typeface="+mn-cs"/>
                        </a:rPr>
                        <a:t>ESG-opgørelsen indeholder udeladelser grundet sensitiv forretningsinformation </a:t>
                      </a:r>
                      <a:r>
                        <a:rPr lang="da-DK" sz="1050" b="0" kern="1200" spc="-10" noProof="0">
                          <a:solidFill>
                            <a:schemeClr val="tx2"/>
                          </a:solidFill>
                          <a:latin typeface="+mn-lt"/>
                          <a:ea typeface="+mn-ea"/>
                          <a:cs typeface="+mn-cs"/>
                        </a:rPr>
                        <a:t>(pkt. 27b)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7302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775" b="0" kern="1200" spc="-10" noProof="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1050" b="0" kern="1200" spc="-10" noProof="0">
                          <a:solidFill>
                            <a:schemeClr val="tx2"/>
                          </a:solidFill>
                          <a:latin typeface="+mn-lt"/>
                          <a:ea typeface="+mn-ea"/>
                          <a:cs typeface="+mn-cs"/>
                        </a:rPr>
                        <a:t>Følgende oplysnings-punkter er udeladt</a:t>
                      </a:r>
                    </a:p>
                    <a:p>
                      <a:pPr algn="l"/>
                      <a:endParaRPr lang="da-DK" sz="775" b="1" kern="1200" spc="-10" noProof="0">
                        <a:solidFill>
                          <a:schemeClr val="tx2"/>
                        </a:solidFill>
                        <a:latin typeface="+mn-lt"/>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a-DK" sz="1050" noProof="0">
                          <a:solidFill>
                            <a:srgbClr val="1B4528"/>
                          </a:solidFill>
                          <a:latin typeface="+mn-lt"/>
                          <a:cs typeface="Calibri" panose="020F0502020204030204" pitchFamily="34" charset="0"/>
                        </a:rPr>
                        <a:t>{{</a:t>
                      </a:r>
                      <a:r>
                        <a:rPr lang="da-DK" sz="1050" noProof="0" err="1">
                          <a:solidFill>
                            <a:srgbClr val="1B4528"/>
                          </a:solidFill>
                          <a:latin typeface="+mn-lt"/>
                          <a:cs typeface="Calibri" panose="020F0502020204030204" pitchFamily="34" charset="0"/>
                        </a:rPr>
                        <a:t>confidentiality_info</a:t>
                      </a:r>
                      <a:r>
                        <a:rPr lang="da-DK" sz="1050" noProof="0">
                          <a:solidFill>
                            <a:srgbClr val="1B4528"/>
                          </a:solidFill>
                          <a:latin typeface="+mn-lt"/>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54796" y="450698"/>
            <a:ext cx="9791704" cy="218627"/>
          </a:xfrm>
        </p:spPr>
        <p:txBody>
          <a:bodyPr/>
          <a:lstStyle/>
          <a:p>
            <a:r>
              <a:rPr lang="da-DK" noProof="0"/>
              <a:t>Grundlag for udarbejdelse (B1) - fortsat</a:t>
            </a:r>
          </a:p>
        </p:txBody>
      </p:sp>
      <p:pic>
        <p:nvPicPr>
          <p:cNvPr id="11" name="Graphic 10">
            <a:extLst>
              <a:ext uri="{FF2B5EF4-FFF2-40B4-BE49-F238E27FC236}">
                <a16:creationId xmlns:a16="http://schemas.microsoft.com/office/drawing/2014/main" id="{EC0A4FD9-CD66-4681-595B-4557A461B42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364" y="972291"/>
            <a:ext cx="181932" cy="203984"/>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da-DK" noProof="0" smtClean="0"/>
              <a:pPr/>
              <a:t>4</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7261741" y="197293"/>
            <a:ext cx="3194529" cy="134955"/>
          </a:xfrm>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2" name="Tabel 1">
            <a:extLst>
              <a:ext uri="{FF2B5EF4-FFF2-40B4-BE49-F238E27FC236}">
                <a16:creationId xmlns:a16="http://schemas.microsoft.com/office/drawing/2014/main" id="{7A907455-9CB7-376B-6B21-2E615B3A35EE}"/>
              </a:ext>
            </a:extLst>
          </p:cNvPr>
          <p:cNvGraphicFramePr>
            <a:graphicFrameLocks noGrp="1"/>
          </p:cNvGraphicFramePr>
          <p:nvPr>
            <p:extLst>
              <p:ext uri="{D42A27DB-BD31-4B8C-83A1-F6EECF244321}">
                <p14:modId xmlns:p14="http://schemas.microsoft.com/office/powerpoint/2010/main" val="748584387"/>
              </p:ext>
            </p:extLst>
          </p:nvPr>
        </p:nvGraphicFramePr>
        <p:xfrm>
          <a:off x="452474" y="4486588"/>
          <a:ext cx="9820006" cy="738074"/>
        </p:xfrm>
        <a:graphic>
          <a:graphicData uri="http://schemas.openxmlformats.org/drawingml/2006/table">
            <a:tbl>
              <a:tblPr firstRow="1">
                <a:tableStyleId>{2A488322-F2BA-4B5B-9748-0D474271808F}</a:tableStyleId>
              </a:tblPr>
              <a:tblGrid>
                <a:gridCol w="3375900">
                  <a:extLst>
                    <a:ext uri="{9D8B030D-6E8A-4147-A177-3AD203B41FA5}">
                      <a16:colId xmlns:a16="http://schemas.microsoft.com/office/drawing/2014/main" val="3746818765"/>
                    </a:ext>
                  </a:extLst>
                </a:gridCol>
                <a:gridCol w="3240094">
                  <a:extLst>
                    <a:ext uri="{9D8B030D-6E8A-4147-A177-3AD203B41FA5}">
                      <a16:colId xmlns:a16="http://schemas.microsoft.com/office/drawing/2014/main" val="465692987"/>
                    </a:ext>
                  </a:extLst>
                </a:gridCol>
                <a:gridCol w="1709097">
                  <a:extLst>
                    <a:ext uri="{9D8B030D-6E8A-4147-A177-3AD203B41FA5}">
                      <a16:colId xmlns:a16="http://schemas.microsoft.com/office/drawing/2014/main" val="857047578"/>
                    </a:ext>
                  </a:extLst>
                </a:gridCol>
                <a:gridCol w="1494915">
                  <a:extLst>
                    <a:ext uri="{9D8B030D-6E8A-4147-A177-3AD203B41FA5}">
                      <a16:colId xmlns:a16="http://schemas.microsoft.com/office/drawing/2014/main" val="1742107540"/>
                    </a:ext>
                  </a:extLst>
                </a:gridCol>
              </a:tblGrid>
              <a:tr h="220996">
                <a:tc>
                  <a:txBody>
                    <a:bodyPr/>
                    <a:lstStyle/>
                    <a:p>
                      <a:r>
                        <a:rPr lang="da-DK" sz="1050" b="1" kern="1200" spc="-10" noProof="0">
                          <a:solidFill>
                            <a:schemeClr val="tx2"/>
                          </a:solidFill>
                          <a:latin typeface="+mn-lt"/>
                          <a:ea typeface="+mn-ea"/>
                          <a:cs typeface="+mn-cs"/>
                        </a:rPr>
                        <a:t>Navn på ESG-certifikat/miljømærke </a:t>
                      </a:r>
                      <a:r>
                        <a:rPr lang="da-DK" sz="1050" b="0" kern="1200" spc="-10" noProof="0">
                          <a:solidFill>
                            <a:schemeClr val="tx2"/>
                          </a:solidFill>
                          <a:latin typeface="+mn-lt"/>
                          <a:ea typeface="+mn-ea"/>
                          <a:cs typeface="+mn-cs"/>
                        </a:rPr>
                        <a:t>(pkt. 28)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050" b="1" kern="1200" spc="-10" noProof="0">
                          <a:solidFill>
                            <a:schemeClr val="tx2"/>
                          </a:solidFill>
                          <a:latin typeface="+mn-lt"/>
                          <a:ea typeface="+mn-ea"/>
                          <a:cs typeface="+mn-cs"/>
                        </a:rPr>
                        <a:t>Kort beskrivelse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050" b="1" kern="1200" spc="-10" noProof="0">
                          <a:solidFill>
                            <a:schemeClr val="tx2"/>
                          </a:solidFill>
                          <a:latin typeface="+mn-lt"/>
                          <a:ea typeface="+mn-ea"/>
                          <a:cs typeface="+mn-cs"/>
                        </a:rPr>
                        <a:t>Dato for udstedelse/</a:t>
                      </a:r>
                    </a:p>
                    <a:p>
                      <a:pPr algn="l"/>
                      <a:r>
                        <a:rPr lang="da-DK" sz="1050" b="1" kern="1200" spc="-10" noProof="0">
                          <a:solidFill>
                            <a:schemeClr val="tx2"/>
                          </a:solidFill>
                          <a:latin typeface="+mn-lt"/>
                          <a:ea typeface="+mn-ea"/>
                          <a:cs typeface="+mn-cs"/>
                        </a:rPr>
                        <a:t>gyldighed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1050" b="1" kern="1200" spc="-10" noProof="0">
                          <a:solidFill>
                            <a:schemeClr val="tx2"/>
                          </a:solidFill>
                          <a:latin typeface="+mn-lt"/>
                          <a:ea typeface="+mn-ea"/>
                          <a:cs typeface="+mn-cs"/>
                        </a:rPr>
                        <a:t>Evt. rating</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20996">
                <a:tc>
                  <a:txBody>
                    <a:bodyPr/>
                    <a:lstStyle/>
                    <a:p>
                      <a:pPr rtl="0" fontAlgn="ctr" algn="l">
                        <a:buNone/>
                      </a:pPr>
                      <a:r>
                        <a:rPr lang="da-DK" sz="1050" b="0" i="0" u="none" strike="noStrike" noProof="0">
                          <a:solidFill>
                            <a:srgbClr val="1B4528"/>
                          </a:solidFill>
                          <a:effectLst/>
                          <a:latin typeface="Inter"/>
                        </a:rPr>
                        <a:t>{{certificate_or_ecolabel}}</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a-DK" sz="1050" b="0" i="0" u="none" strike="noStrike" noProof="0">
                          <a:solidFill>
                            <a:srgbClr val="1B4528"/>
                          </a:solidFill>
                          <a:effectLst/>
                          <a:latin typeface="Inter"/>
                        </a:rPr>
                        <a:t>{{description_certificate}}</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a-DK" sz="1050" b="0" i="0" u="none" strike="noStrike" noProof="0">
                          <a:solidFill>
                            <a:srgbClr val="1B4528"/>
                          </a:solidFill>
                          <a:effectLst/>
                          <a:latin typeface="Inter"/>
                        </a:rPr>
                        <a:t>{{date_certicate}}</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a-DK" sz="1050" b="0" i="0" u="none" strike="noStrike" noProof="0">
                          <a:solidFill>
                            <a:srgbClr val="1B4528"/>
                          </a:solidFill>
                          <a:effectLst/>
                          <a:latin typeface="Inter"/>
                        </a:rPr>
                        <a:t>{{certiciate_possible_rating}}</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0" name="Tabel 9">
            <a:extLst>
              <a:ext uri="{FF2B5EF4-FFF2-40B4-BE49-F238E27FC236}">
                <a16:creationId xmlns:a16="http://schemas.microsoft.com/office/drawing/2014/main" id="{AA9D6142-7148-BA87-D929-D03B1323ACFD}"/>
              </a:ext>
            </a:extLst>
          </p:cNvPr>
          <p:cNvGraphicFramePr>
            <a:graphicFrameLocks noGrp="1"/>
          </p:cNvGraphicFramePr>
          <p:nvPr>
            <p:extLst>
              <p:ext uri="{D42A27DB-BD31-4B8C-83A1-F6EECF244321}">
                <p14:modId xmlns:p14="http://schemas.microsoft.com/office/powerpoint/2010/main" val="2461615557"/>
              </p:ext>
            </p:extLst>
          </p:nvPr>
        </p:nvGraphicFramePr>
        <p:xfrm>
          <a:off x="468741" y="1568148"/>
          <a:ext cx="9770785" cy="1051941"/>
        </p:xfrm>
        <a:graphic>
          <a:graphicData uri="http://schemas.openxmlformats.org/drawingml/2006/table">
            <a:tbl>
              <a:tblPr firstRow="1">
                <a:tableStyleId>{2A488322-F2BA-4B5B-9748-0D474271808F}</a:tableStyleId>
              </a:tblPr>
              <a:tblGrid>
                <a:gridCol w="1780760">
                  <a:extLst>
                    <a:ext uri="{9D8B030D-6E8A-4147-A177-3AD203B41FA5}">
                      <a16:colId xmlns:a16="http://schemas.microsoft.com/office/drawing/2014/main" val="2041236584"/>
                    </a:ext>
                  </a:extLst>
                </a:gridCol>
                <a:gridCol w="1890996">
                  <a:extLst>
                    <a:ext uri="{9D8B030D-6E8A-4147-A177-3AD203B41FA5}">
                      <a16:colId xmlns:a16="http://schemas.microsoft.com/office/drawing/2014/main" val="2637180759"/>
                    </a:ext>
                  </a:extLst>
                </a:gridCol>
                <a:gridCol w="1444903">
                  <a:extLst>
                    <a:ext uri="{9D8B030D-6E8A-4147-A177-3AD203B41FA5}">
                      <a16:colId xmlns:a16="http://schemas.microsoft.com/office/drawing/2014/main" val="1126871569"/>
                    </a:ext>
                  </a:extLst>
                </a:gridCol>
                <a:gridCol w="1412061">
                  <a:extLst>
                    <a:ext uri="{9D8B030D-6E8A-4147-A177-3AD203B41FA5}">
                      <a16:colId xmlns:a16="http://schemas.microsoft.com/office/drawing/2014/main" val="573454477"/>
                    </a:ext>
                  </a:extLst>
                </a:gridCol>
                <a:gridCol w="1565312">
                  <a:extLst>
                    <a:ext uri="{9D8B030D-6E8A-4147-A177-3AD203B41FA5}">
                      <a16:colId xmlns:a16="http://schemas.microsoft.com/office/drawing/2014/main" val="3277283369"/>
                    </a:ext>
                  </a:extLst>
                </a:gridCol>
                <a:gridCol w="1676753">
                  <a:extLst>
                    <a:ext uri="{9D8B030D-6E8A-4147-A177-3AD203B41FA5}">
                      <a16:colId xmlns:a16="http://schemas.microsoft.com/office/drawing/2014/main" val="3975353283"/>
                    </a:ext>
                  </a:extLst>
                </a:gridCol>
              </a:tblGrid>
              <a:tr h="284138">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kern="1200" spc="-10" noProof="0">
                          <a:solidFill>
                            <a:schemeClr val="tx2"/>
                          </a:solidFill>
                          <a:latin typeface="+mn-lt"/>
                          <a:ea typeface="+mn-ea"/>
                          <a:cs typeface="+mn-cs"/>
                        </a:rPr>
                        <a:t>Adresser og geolokation på </a:t>
                      </a:r>
                      <a:r>
                        <a:rPr lang="da-DK" sz="1050" b="1" u="none" kern="1200" spc="-10" noProof="0">
                          <a:solidFill>
                            <a:schemeClr val="tx2"/>
                          </a:solidFill>
                          <a:latin typeface="+mn-lt"/>
                          <a:ea typeface="+mn-ea"/>
                          <a:cs typeface="+mn-cs"/>
                        </a:rPr>
                        <a:t>væsentlige</a:t>
                      </a:r>
                      <a:r>
                        <a:rPr lang="da-DK" sz="1050" b="1" kern="1200" spc="-10" noProof="0">
                          <a:solidFill>
                            <a:schemeClr val="tx2"/>
                          </a:solidFill>
                          <a:latin typeface="+mn-lt"/>
                          <a:ea typeface="+mn-ea"/>
                          <a:cs typeface="+mn-cs"/>
                        </a:rPr>
                        <a:t> aktiver og anlæg, som virksomheden</a:t>
                      </a:r>
                      <a:r>
                        <a:rPr lang="da-DK" sz="1050" b="0" kern="1200" spc="-10" noProof="0" dirty="0">
                          <a:solidFill>
                            <a:schemeClr val="tx2"/>
                          </a:solidFill>
                          <a:latin typeface="+mn-lt"/>
                          <a:ea typeface="+mn-ea"/>
                          <a:cs typeface="+mn-cs"/>
                        </a:rPr>
                        <a:t> </a:t>
                      </a:r>
                      <a:r>
                        <a:rPr lang="da-DK" sz="1050" b="1" kern="1200" spc="-10" noProof="0">
                          <a:solidFill>
                            <a:schemeClr val="tx2"/>
                          </a:solidFill>
                          <a:latin typeface="+mn-lt"/>
                          <a:ea typeface="+mn-ea"/>
                          <a:cs typeface="+mn-cs"/>
                        </a:rPr>
                        <a:t>ejer, lejer eller forvalter </a:t>
                      </a:r>
                      <a:r>
                        <a:rPr lang="da-DK" sz="1050" b="0" kern="1200" spc="-10" noProof="0">
                          <a:solidFill>
                            <a:schemeClr val="tx2"/>
                          </a:solidFill>
                          <a:latin typeface="+mn-lt"/>
                          <a:ea typeface="+mn-ea"/>
                          <a:cs typeface="+mn-cs"/>
                        </a:rPr>
                        <a:t>(pkt.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1050"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75" b="1" kern="1200" spc="-10" noProof="0">
                        <a:solidFill>
                          <a:schemeClr val="tx2"/>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84138">
                <a:tc>
                  <a:txBody>
                    <a:bodyPr/>
                    <a:lstStyle/>
                    <a:p>
                      <a:pPr algn="l"/>
                      <a:r>
                        <a:rPr lang="da-DK" sz="1050" b="1" kern="1200" spc="-10" noProof="0">
                          <a:solidFill>
                            <a:schemeClr val="tx2"/>
                          </a:solidFill>
                          <a:latin typeface="+mn-lt"/>
                          <a:ea typeface="+mn-ea"/>
                          <a:cs typeface="+mn-cs"/>
                        </a:rPr>
                        <a:t>Sted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050" b="1" kern="1200" spc="-10" noProof="0">
                          <a:solidFill>
                            <a:schemeClr val="tx2"/>
                          </a:solidFill>
                          <a:latin typeface="+mn-lt"/>
                          <a:ea typeface="+mn-ea"/>
                          <a:cs typeface="+mn-cs"/>
                        </a:rPr>
                        <a:t>Adresse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050" b="1" kern="1200" spc="-10" noProof="0">
                          <a:solidFill>
                            <a:schemeClr val="tx2"/>
                          </a:solidFill>
                          <a:latin typeface="+mn-lt"/>
                          <a:ea typeface="+mn-ea"/>
                          <a:cs typeface="+mn-cs"/>
                        </a:rPr>
                        <a:t>Postnummer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050" b="1" kern="1200" spc="-10" noProof="0">
                          <a:solidFill>
                            <a:schemeClr val="tx2"/>
                          </a:solidFill>
                          <a:latin typeface="+mn-lt"/>
                          <a:ea typeface="+mn-ea"/>
                          <a:cs typeface="+mn-cs"/>
                        </a:rPr>
                        <a:t>By</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050" b="1" kern="1200" spc="-10" noProof="0">
                          <a:solidFill>
                            <a:schemeClr val="tx2"/>
                          </a:solidFill>
                          <a:latin typeface="+mn-lt"/>
                          <a:ea typeface="+mn-ea"/>
                          <a:cs typeface="+mn-cs"/>
                        </a:rPr>
                        <a:t>Land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050" b="1" kern="1200" spc="-10" noProof="0">
                          <a:solidFill>
                            <a:schemeClr val="tx2"/>
                          </a:solidFill>
                          <a:latin typeface="+mn-lt"/>
                          <a:ea typeface="+mn-ea"/>
                          <a:cs typeface="+mn-cs"/>
                        </a:rPr>
                        <a:t>Geolokation (koordinater)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84138">
                <a:tc>
                  <a:txBody>
                    <a:bodyPr/>
                    <a:lstStyle/>
                    <a:p>
                      <a:pPr rtl="0" fontAlgn="t" algn="l">
                        <a:buNone/>
                      </a:pPr>
                      <a:r>
                        <a:rPr lang="da-DK" sz="1050" b="0" i="0" u="none" strike="noStrike" noProof="0">
                          <a:solidFill>
                            <a:srgbClr val="1B4528"/>
                          </a:solidFill>
                          <a:effectLst/>
                          <a:latin typeface="Inter"/>
                        </a:rPr>
                        <a:t>{{geolocation}}</a:t>
                      </a:r>
                      <a:endParaRPr lang="da-DK"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1050" b="0" i="0" u="none" strike="noStrike" noProof="0">
                          <a:solidFill>
                            <a:srgbClr val="1B4528"/>
                          </a:solidFill>
                          <a:effectLst/>
                          <a:latin typeface="Inter"/>
                        </a:rPr>
                        <a:t>{{geolocation_adress}}</a:t>
                      </a:r>
                      <a:endParaRPr lang="da-DK"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1050" b="0" i="0" u="none" strike="noStrike" noProof="0">
                          <a:solidFill>
                            <a:srgbClr val="1B4528"/>
                          </a:solidFill>
                          <a:effectLst/>
                          <a:latin typeface="Inter"/>
                        </a:rPr>
                        <a:t>{{geolocation_postcode}}</a:t>
                      </a:r>
                      <a:endParaRPr lang="da-DK"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1050" b="0" i="0" u="none" strike="noStrike" noProof="0">
                          <a:solidFill>
                            <a:srgbClr val="1B4528"/>
                          </a:solidFill>
                          <a:effectLst/>
                          <a:latin typeface="Inter"/>
                        </a:rPr>
                        <a:t>{{geolocation_city}}</a:t>
                      </a:r>
                      <a:endParaRPr lang="da-DK"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1050" b="0" i="0" u="none" strike="noStrike" noProof="0">
                          <a:solidFill>
                            <a:srgbClr val="1B4528"/>
                          </a:solidFill>
                          <a:effectLst/>
                          <a:latin typeface="Inter"/>
                        </a:rPr>
                        <a:t>{{geolocation_country}}</a:t>
                      </a:r>
                      <a:endParaRPr lang="da-DK"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1050" b="0" i="0" u="none" strike="noStrike" noProof="0">
                          <a:solidFill>
                            <a:srgbClr val="1B4528"/>
                          </a:solidFill>
                          <a:effectLst/>
                          <a:latin typeface="Inter"/>
                        </a:rPr>
                        <a:t>{{geolocation_coordinates}}</a:t>
                      </a:r>
                      <a:endParaRPr lang="da-DK" sz="1050" b="0" noProof="0">
                        <a:effectLst/>
                      </a:endParaRPr>
                    </a:p>
                  </a:txBody>
                  <a:tcPr marL="16706" marR="16706" marT="11138" marB="11138">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8" name="Tekstfelt 7">
            <a:extLst>
              <a:ext uri="{FF2B5EF4-FFF2-40B4-BE49-F238E27FC236}">
                <a16:creationId xmlns:a16="http://schemas.microsoft.com/office/drawing/2014/main" id="{8424FC7C-5277-3C04-10E3-491713542923}"/>
              </a:ext>
            </a:extLst>
          </p:cNvPr>
          <p:cNvSpPr txBox="1"/>
          <p:nvPr/>
        </p:nvSpPr>
        <p:spPr>
          <a:xfrm>
            <a:off x="452474" y="891000"/>
            <a:ext cx="9794026" cy="566812"/>
          </a:xfrm>
          <a:prstGeom prst="rect">
            <a:avLst/>
          </a:prstGeom>
          <a:noFill/>
        </p:spPr>
        <p:txBody>
          <a:bodyPr wrap="square">
            <a:spAutoFit/>
          </a:bodyPr>
          <a:lstStyle/>
          <a:p>
            <a:pPr>
              <a:spcBef>
                <a:spcPts val="789"/>
              </a:spcBef>
            </a:pPr>
            <a:r>
              <a:rPr lang="da-DK" sz="1050" b="0" i="0" u="none" strike="noStrike" noProof="0">
                <a:solidFill>
                  <a:schemeClr val="tx2"/>
                </a:solidFill>
                <a:effectLst/>
                <a:latin typeface="Inter"/>
              </a:rPr>
              <a:t>Nedenfor er en beskrivelse af virksomhedens geolokationer, samt hvor virksomheden opererer. Disse oplysninger kan anvendes til klimarelaterede risikozoner og giver oplysninger om virksomhedens anlæg, faciliteter og/eller hovedkvarter</a:t>
            </a:r>
            <a:r>
              <a:rPr lang="da-DK" sz="1050" noProof="0">
                <a:solidFill>
                  <a:schemeClr val="tx2"/>
                </a:solidFill>
                <a:latin typeface="Inter"/>
              </a:rPr>
              <a:t>. Relevante bæredygtighedscertificeringer eller -mærker er også angivet, herunder udsteder af certificeringen, dato og eventuel rating.</a:t>
            </a:r>
            <a:endParaRPr lang="da-DK" sz="1050" b="0" noProof="0">
              <a:solidFill>
                <a:schemeClr val="tx2"/>
              </a:solidFill>
              <a:effectLst/>
              <a:latin typeface="Inter"/>
            </a:endParaRPr>
          </a:p>
        </p:txBody>
      </p:sp>
      <p:sp>
        <p:nvSpPr>
          <p:cNvPr id="20" name="Tekstfelt 19">
            <a:extLst>
              <a:ext uri="{FF2B5EF4-FFF2-40B4-BE49-F238E27FC236}">
                <a16:creationId xmlns:a16="http://schemas.microsoft.com/office/drawing/2014/main" id="{EE6CA221-E8CE-159D-7634-30A647F356B9}"/>
              </a:ext>
            </a:extLst>
          </p:cNvPr>
          <p:cNvSpPr txBox="1"/>
          <p:nvPr/>
        </p:nvSpPr>
        <p:spPr>
          <a:xfrm>
            <a:off x="452474" y="4181436"/>
            <a:ext cx="7174107" cy="242919"/>
          </a:xfrm>
          <a:prstGeom prst="rect">
            <a:avLst/>
          </a:prstGeom>
          <a:noFill/>
        </p:spPr>
        <p:txBody>
          <a:bodyPr wrap="square">
            <a:spAutoFit/>
          </a:bodyPr>
          <a:lstStyle/>
          <a:p>
            <a:r>
              <a:rPr lang="da-DK" sz="1050" noProof="0">
                <a:solidFill>
                  <a:srgbClr val="487477"/>
                </a:solidFill>
                <a:latin typeface="Inter"/>
              </a:rPr>
              <a:t>Virksomhedens certifikater og miljømærker er listet nedenfor.</a:t>
            </a:r>
          </a:p>
        </p:txBody>
      </p:sp>
    </p:spTree>
    <p:extLst>
      <p:ext uri="{BB962C8B-B14F-4D97-AF65-F5344CB8AC3E}">
        <p14:creationId xmlns:p14="http://schemas.microsoft.com/office/powerpoint/2010/main" val="343958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54796" y="450698"/>
            <a:ext cx="9791704" cy="218627"/>
          </a:xfrm>
        </p:spPr>
        <p:txBody>
          <a:bodyPr/>
          <a:lstStyle/>
          <a:p>
            <a:r>
              <a:rPr lang="da-DK" noProof="0"/>
              <a:t>Indsatser, politikker og fremtidige initiativer for omstilling til en mere bæredygtig økonomi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54796" y="1501175"/>
          <a:ext cx="9791705" cy="3360057"/>
        </p:xfrm>
        <a:graphic>
          <a:graphicData uri="http://schemas.openxmlformats.org/drawingml/2006/table">
            <a:tbl>
              <a:tblPr firstRow="1">
                <a:tableStyleId>{2A488322-F2BA-4B5B-9748-0D474271808F}</a:tableStyleId>
              </a:tblPr>
              <a:tblGrid>
                <a:gridCol w="1750429">
                  <a:extLst>
                    <a:ext uri="{9D8B030D-6E8A-4147-A177-3AD203B41FA5}">
                      <a16:colId xmlns:a16="http://schemas.microsoft.com/office/drawing/2014/main" val="1902117154"/>
                    </a:ext>
                  </a:extLst>
                </a:gridCol>
                <a:gridCol w="1848825">
                  <a:extLst>
                    <a:ext uri="{9D8B030D-6E8A-4147-A177-3AD203B41FA5}">
                      <a16:colId xmlns:a16="http://schemas.microsoft.com/office/drawing/2014/main" val="1904521774"/>
                    </a:ext>
                  </a:extLst>
                </a:gridCol>
                <a:gridCol w="1447875">
                  <a:extLst>
                    <a:ext uri="{9D8B030D-6E8A-4147-A177-3AD203B41FA5}">
                      <a16:colId xmlns:a16="http://schemas.microsoft.com/office/drawing/2014/main" val="3164053669"/>
                    </a:ext>
                  </a:extLst>
                </a:gridCol>
                <a:gridCol w="2027025">
                  <a:extLst>
                    <a:ext uri="{9D8B030D-6E8A-4147-A177-3AD203B41FA5}">
                      <a16:colId xmlns:a16="http://schemas.microsoft.com/office/drawing/2014/main" val="1484983729"/>
                    </a:ext>
                  </a:extLst>
                </a:gridCol>
                <a:gridCol w="2717551">
                  <a:extLst>
                    <a:ext uri="{9D8B030D-6E8A-4147-A177-3AD203B41FA5}">
                      <a16:colId xmlns:a16="http://schemas.microsoft.com/office/drawing/2014/main" val="3920544300"/>
                    </a:ext>
                  </a:extLst>
                </a:gridCol>
              </a:tblGrid>
              <a:tr h="417684">
                <a:tc>
                  <a:txBody>
                    <a:bodyPr/>
                    <a:lstStyle/>
                    <a:p>
                      <a:r>
                        <a:rPr lang="da-DK" sz="1050" b="1" kern="1200" spc="-10" noProof="0">
                          <a:solidFill>
                            <a:schemeClr val="tx2"/>
                          </a:solidFill>
                          <a:latin typeface="+mn-lt"/>
                          <a:ea typeface="+mn-ea"/>
                          <a:cs typeface="+mn-cs"/>
                        </a:rPr>
                        <a:t>Område</a:t>
                      </a:r>
                    </a:p>
                    <a:p>
                      <a:r>
                        <a:rPr lang="da-DK" sz="1050" b="0" kern="1200" spc="-10" noProof="0">
                          <a:solidFill>
                            <a:schemeClr val="tx2"/>
                          </a:solidFill>
                          <a:latin typeface="+mn-lt"/>
                          <a:ea typeface="+mn-ea"/>
                          <a:cs typeface="+mn-cs"/>
                        </a:rPr>
                        <a:t>(pkt. 29a-d)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050" b="1" kern="1200" spc="-10" noProof="0">
                          <a:solidFill>
                            <a:schemeClr val="tx2"/>
                          </a:solidFill>
                          <a:latin typeface="+mn-lt"/>
                          <a:ea typeface="+mn-ea"/>
                          <a:cs typeface="+mn-cs"/>
                        </a:rPr>
                        <a:t>Virksomheden har en konkret indsats eller politik på området</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050" b="1" kern="1200" spc="-10" noProof="0">
                          <a:solidFill>
                            <a:schemeClr val="tx2"/>
                          </a:solidFill>
                          <a:latin typeface="+mn-lt"/>
                          <a:ea typeface="+mn-ea"/>
                          <a:cs typeface="+mn-cs"/>
                        </a:rPr>
                        <a:t>Er politikken offentligt tilgængelig? </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050" b="1" kern="1200" spc="-10" noProof="0">
                          <a:solidFill>
                            <a:schemeClr val="tx2"/>
                          </a:solidFill>
                          <a:latin typeface="+mn-lt"/>
                          <a:ea typeface="+mn-ea"/>
                          <a:cs typeface="+mn-cs"/>
                        </a:rPr>
                        <a:t>Virksomheden har fremtidige initiativer og planer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1050" b="1" kern="1200" spc="-10" noProof="0">
                          <a:solidFill>
                            <a:schemeClr val="tx2"/>
                          </a:solidFill>
                          <a:latin typeface="+mn-lt"/>
                          <a:ea typeface="+mn-ea"/>
                          <a:cs typeface="+mn-cs"/>
                        </a:rPr>
                        <a:t>Virksomheden har konkrete målsætninger til at monitorere implementering af indsatser og politikker?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67040">
                <a:tc>
                  <a:txBody>
                    <a:bodyPr/>
                    <a:lstStyle/>
                    <a:p>
                      <a:pPr algn="l"/>
                      <a:r>
                        <a:rPr lang="da-DK" sz="1050" b="1" kern="1200" spc="-10" noProof="0">
                          <a:solidFill>
                            <a:schemeClr val="tx2"/>
                          </a:solidFill>
                          <a:latin typeface="+mn-lt"/>
                          <a:ea typeface="+mn-ea"/>
                          <a:cs typeface="+mn-cs"/>
                        </a:rPr>
                        <a:t>Klimaforandringer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{{climate_change_concrete}}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{{climate_change_publicly}}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{{climate_change_future}}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{{climate_change_plan}}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53415">
                <a:tc>
                  <a:txBody>
                    <a:bodyPr/>
                    <a:lstStyle/>
                    <a:p>
                      <a:pPr algn="l"/>
                      <a:r>
                        <a:rPr lang="da-DK" sz="1050" b="1" kern="1200" spc="-10" noProof="0">
                          <a:solidFill>
                            <a:schemeClr val="tx2"/>
                          </a:solidFill>
                          <a:latin typeface="+mn-lt"/>
                          <a:ea typeface="+mn-ea"/>
                          <a:cs typeface="+mn-cs"/>
                        </a:rPr>
                        <a:t>Forurening</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{{pollution_concrete}}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{{pollution_publicly}}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{{pollution_future}}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{{pollution_plan}}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60612">
                <a:tc>
                  <a:txBody>
                    <a:bodyPr/>
                    <a:lstStyle/>
                    <a:p>
                      <a:pPr algn="l"/>
                      <a:r>
                        <a:rPr lang="da-DK" sz="1050" b="1" kern="1200" spc="-10" noProof="0">
                          <a:solidFill>
                            <a:schemeClr val="tx2"/>
                          </a:solidFill>
                          <a:latin typeface="+mn-lt"/>
                          <a:ea typeface="+mn-ea"/>
                          <a:cs typeface="+mn-cs"/>
                        </a:rPr>
                        <a:t>Vand -og Havressourcer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{{water_concrete}}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{{water_publicly}}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{{water_future}}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{{water_plan}}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60612">
                <a:tc>
                  <a:txBody>
                    <a:bodyPr/>
                    <a:lstStyle/>
                    <a:p>
                      <a:pPr algn="l"/>
                      <a:r>
                        <a:rPr lang="da-DK" sz="1050" b="1" kern="1200" spc="-10" noProof="0">
                          <a:solidFill>
                            <a:schemeClr val="tx2"/>
                          </a:solidFill>
                          <a:latin typeface="+mn-lt"/>
                          <a:ea typeface="+mn-ea"/>
                          <a:cs typeface="+mn-cs"/>
                        </a:rPr>
                        <a:t>Biodiversitet og Økosystemer</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{{biodiversity_concrete}}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{{biodiversity_publicly}}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{{biodiversity_future}}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{{biodiversity_plan}}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60612">
                <a:tc>
                  <a:txBody>
                    <a:bodyPr/>
                    <a:lstStyle/>
                    <a:p>
                      <a:pPr algn="l"/>
                      <a:r>
                        <a:rPr lang="da-DK" sz="1050" b="1" kern="1200" spc="-10" noProof="0">
                          <a:solidFill>
                            <a:schemeClr val="tx2"/>
                          </a:solidFill>
                          <a:latin typeface="+mn-lt"/>
                          <a:ea typeface="+mn-ea"/>
                          <a:cs typeface="+mn-cs"/>
                        </a:rPr>
                        <a:t>Cirkulær økonomi</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{{circular_concrete}}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{{circular_publicly}}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{{circular_future}}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{{circular_plan}}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60612">
                <a:tc>
                  <a:txBody>
                    <a:bodyPr/>
                    <a:lstStyle/>
                    <a:p>
                      <a:pPr algn="l"/>
                      <a:r>
                        <a:rPr lang="da-DK" sz="1050" b="1" kern="1200" spc="-10" noProof="0">
                          <a:solidFill>
                            <a:schemeClr val="tx2"/>
                          </a:solidFill>
                          <a:latin typeface="+mn-lt"/>
                          <a:ea typeface="+mn-ea"/>
                          <a:cs typeface="+mn-cs"/>
                        </a:rPr>
                        <a:t>Egen arbejdsstyrke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{{workforce_concrete}}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{{workforce_publicly}}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{{workforce_future}}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{{workforce_plan}}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60612">
                <a:tc>
                  <a:txBody>
                    <a:bodyPr/>
                    <a:lstStyle/>
                    <a:p>
                      <a:pPr algn="l"/>
                      <a:r>
                        <a:rPr lang="da-DK" sz="1050" b="1" kern="1200" spc="-10" noProof="0">
                          <a:solidFill>
                            <a:schemeClr val="tx2"/>
                          </a:solidFill>
                          <a:latin typeface="+mn-lt"/>
                          <a:ea typeface="+mn-ea"/>
                          <a:cs typeface="+mn-cs"/>
                        </a:rPr>
                        <a:t>Arbejdere i værdikæden</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{{workers_concrete}}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{{workers_publicly}}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{{workers_future}}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{{workers_plan}}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60612">
                <a:tc>
                  <a:txBody>
                    <a:bodyPr/>
                    <a:lstStyle/>
                    <a:p>
                      <a:pPr algn="l"/>
                      <a:r>
                        <a:rPr lang="da-DK" sz="1050" b="1" kern="1200" spc="-10" noProof="0">
                          <a:solidFill>
                            <a:schemeClr val="tx2"/>
                          </a:solidFill>
                          <a:latin typeface="+mn-lt"/>
                          <a:ea typeface="+mn-ea"/>
                          <a:cs typeface="+mn-cs"/>
                        </a:rPr>
                        <a:t>Berørte samfund</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{{communities_concrete}}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{{communities_publicly}}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{{communities_future}}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{{communities_plan}}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60612">
                <a:tc>
                  <a:txBody>
                    <a:bodyPr/>
                    <a:lstStyle/>
                    <a:p>
                      <a:pPr algn="l"/>
                      <a:r>
                        <a:rPr lang="da-DK" sz="1050" b="1" kern="1200" spc="-10" noProof="0">
                          <a:solidFill>
                            <a:schemeClr val="tx2"/>
                          </a:solidFill>
                          <a:latin typeface="+mn-lt"/>
                          <a:ea typeface="+mn-ea"/>
                          <a:cs typeface="+mn-cs"/>
                        </a:rPr>
                        <a:t>Forbrugere og slutbrugere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{{consumers_concrete}}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{{consumers_publicly}}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{{consumers_future}}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{{consumers_plan}}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60612">
                <a:tc>
                  <a:txBody>
                    <a:bodyPr/>
                    <a:lstStyle/>
                    <a:p>
                      <a:pPr algn="l"/>
                      <a:r>
                        <a:rPr lang="da-DK" sz="1050" b="1" kern="1200" spc="-10" noProof="0">
                          <a:solidFill>
                            <a:schemeClr val="tx2"/>
                          </a:solidFill>
                          <a:latin typeface="+mn-lt"/>
                          <a:ea typeface="+mn-ea"/>
                          <a:cs typeface="+mn-cs"/>
                        </a:rPr>
                        <a:t>Virksomhedsledelse</a:t>
                      </a: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1050" b="0" i="0" u="none" strike="noStrike" noProof="0">
                          <a:solidFill>
                            <a:srgbClr val="1B4528"/>
                          </a:solidFill>
                          <a:effectLst/>
                          <a:latin typeface="Inter"/>
                        </a:rPr>
                        <a:t>{{governance_concrete}}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{{governance_publicly}}</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1050" b="0" i="0" u="none" strike="noStrike" noProof="0">
                          <a:solidFill>
                            <a:srgbClr val="1B4528"/>
                          </a:solidFill>
                          <a:effectLst/>
                          <a:latin typeface="Inter"/>
                        </a:rPr>
                        <a:t>{{governance_future}}</a:t>
                      </a:r>
                      <a:endParaRPr lang="da-DK" sz="1050" b="0" noProof="0">
                        <a:effectLst/>
                      </a:endParaRPr>
                    </a:p>
                  </a:txBody>
                  <a:tcPr marL="22275" marR="22275" marT="16706" marB="1670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1050" b="0" i="0" u="none" strike="noStrike" noProof="0">
                          <a:solidFill>
                            <a:srgbClr val="1B4528"/>
                          </a:solidFill>
                          <a:latin typeface="Inter"/>
                        </a:rPr>
                        <a:t>{{governance_plan}}</a:t>
                      </a:r>
                      <a:endParaRPr lang="da-DK">
                        <a:latin typeface="Inter"/>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54796" y="891000"/>
            <a:ext cx="9782408" cy="566812"/>
          </a:xfrm>
          <a:prstGeom prst="rect">
            <a:avLst/>
          </a:prstGeom>
          <a:noFill/>
        </p:spPr>
        <p:txBody>
          <a:bodyPr wrap="square">
            <a:spAutoFit/>
          </a:bodyPr>
          <a:lstStyle/>
          <a:p>
            <a:pPr rtl="0">
              <a:spcBef>
                <a:spcPts val="789"/>
              </a:spcBef>
              <a:buNone/>
            </a:pPr>
            <a:r>
              <a:rPr lang="da-DK" sz="1050" b="0" i="0" u="none" strike="noStrike" noProof="0">
                <a:solidFill>
                  <a:schemeClr val="tx2"/>
                </a:solidFill>
                <a:effectLst/>
                <a:latin typeface="Inter"/>
              </a:rPr>
              <a:t>Dette afsnit skitserer de praksisser, politikker og fremtidige initiativer, som virksomheden har implementeret for at understøtte en bæredygtig økonomi. Dette omfatter angivelse af, hvilke konkrete tiltag virksomheden har taget for at reducere negative miljøpåvirkninger, forbedre arbejdsforhold og ligebehandling (JA/NEJ).</a:t>
            </a:r>
            <a:br>
              <a:rPr lang="da-DK" sz="1050" noProof="0">
                <a:solidFill>
                  <a:schemeClr val="tx2"/>
                </a:solidFill>
              </a:rPr>
            </a:br>
            <a:endParaRPr lang="da-DK" sz="1050"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8050571" y="7202406"/>
            <a:ext cx="2405700" cy="134955"/>
          </a:xfrm>
        </p:spPr>
        <p:txBody>
          <a:bodyPr/>
          <a:lstStyle/>
          <a:p>
            <a:fld id="{5A0D23CF-C5A3-5445-819D-C647D180BB4B}" type="slidenum">
              <a:rPr lang="da-DK" noProof="0" smtClean="0"/>
              <a:pPr/>
              <a:t>5</a:t>
            </a:fld>
            <a:endParaRPr lang="da-DK" noProof="0"/>
          </a:p>
        </p:txBody>
      </p:sp>
    </p:spTree>
    <p:extLst>
      <p:ext uri="{BB962C8B-B14F-4D97-AF65-F5344CB8AC3E}">
        <p14:creationId xmlns:p14="http://schemas.microsoft.com/office/powerpoint/2010/main" val="2000975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Energiforbrug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43369" y="1359604"/>
          <a:ext cx="9803131" cy="1687508"/>
        </p:xfrm>
        <a:graphic>
          <a:graphicData uri="http://schemas.openxmlformats.org/drawingml/2006/table">
            <a:tbl>
              <a:tblPr firstRow="1">
                <a:tableStyleId>{2A488322-F2BA-4B5B-9748-0D474271808F}</a:tableStyleId>
              </a:tblPr>
              <a:tblGrid>
                <a:gridCol w="2660545">
                  <a:extLst>
                    <a:ext uri="{9D8B030D-6E8A-4147-A177-3AD203B41FA5}">
                      <a16:colId xmlns:a16="http://schemas.microsoft.com/office/drawing/2014/main" val="2698153288"/>
                    </a:ext>
                  </a:extLst>
                </a:gridCol>
                <a:gridCol w="2469635">
                  <a:extLst>
                    <a:ext uri="{9D8B030D-6E8A-4147-A177-3AD203B41FA5}">
                      <a16:colId xmlns:a16="http://schemas.microsoft.com/office/drawing/2014/main" val="1451447067"/>
                    </a:ext>
                  </a:extLst>
                </a:gridCol>
                <a:gridCol w="2604428">
                  <a:extLst>
                    <a:ext uri="{9D8B030D-6E8A-4147-A177-3AD203B41FA5}">
                      <a16:colId xmlns:a16="http://schemas.microsoft.com/office/drawing/2014/main" val="2943870936"/>
                    </a:ext>
                  </a:extLst>
                </a:gridCol>
                <a:gridCol w="2068523">
                  <a:extLst>
                    <a:ext uri="{9D8B030D-6E8A-4147-A177-3AD203B41FA5}">
                      <a16:colId xmlns:a16="http://schemas.microsoft.com/office/drawing/2014/main" val="656209149"/>
                    </a:ext>
                  </a:extLst>
                </a:gridCol>
              </a:tblGrid>
              <a:tr h="218608">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050" b="1" noProof="0">
                          <a:solidFill>
                            <a:schemeClr val="tx2"/>
                          </a:solidFill>
                        </a:rPr>
                        <a:t>Energiforbrug i MWh </a:t>
                      </a:r>
                      <a:r>
                        <a:rPr lang="da-DK" sz="1050" b="0" noProof="0">
                          <a:solidFill>
                            <a:schemeClr val="tx2"/>
                          </a:solidFill>
                        </a:rPr>
                        <a:t>(pkt. 32)</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75"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a-DK" sz="775"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47564">
                <a:tc>
                  <a:txBody>
                    <a:bodyPr/>
                    <a:lstStyle/>
                    <a:p>
                      <a:pPr>
                        <a:lnSpc>
                          <a:spcPct val="106000"/>
                        </a:lnSpc>
                      </a:pPr>
                      <a:endParaRPr lang="da-DK"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1050" b="1" noProof="0">
                          <a:solidFill>
                            <a:schemeClr val="tx2"/>
                          </a:solidFill>
                        </a:rPr>
                        <a:t>Vedvarende energiforbrug</a:t>
                      </a:r>
                      <a:r>
                        <a:rPr lang="da-DK" sz="1050" b="1" noProof="0">
                          <a:solidFill>
                            <a:schemeClr val="tx2"/>
                          </a:solidFill>
                        </a:rPr>
                        <a:t>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1050" b="1" noProof="0">
                          <a:solidFill>
                            <a:schemeClr val="tx2"/>
                          </a:solidFill>
                        </a:rPr>
                        <a:t>Ikke-vedvarende energiforbrug</a:t>
                      </a:r>
                      <a:r>
                        <a:rPr lang="da-DK" sz="1050" b="1" noProof="0">
                          <a:solidFill>
                            <a:schemeClr val="tx2"/>
                          </a:solidFill>
                        </a:rPr>
                        <a:t> (MWh)</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050" b="1" noProof="0">
                          <a:solidFill>
                            <a:schemeClr val="tx2"/>
                          </a:solidFill>
                        </a:rPr>
                        <a:t>Total energiforbrug (MWh)</a:t>
                      </a:r>
                    </a:p>
                    <a:p>
                      <a:pPr marL="0" marR="0" lvl="0" indent="0" algn="r" defTabSz="914400" rtl="0" eaLnBrk="1" fontAlgn="auto" latinLnBrk="0" hangingPunct="1">
                        <a:lnSpc>
                          <a:spcPct val="106000"/>
                        </a:lnSpc>
                        <a:spcBef>
                          <a:spcPts val="0"/>
                        </a:spcBef>
                        <a:spcAft>
                          <a:spcPts val="0"/>
                        </a:spcAft>
                        <a:buClrTx/>
                        <a:buSzTx/>
                        <a:buFontTx/>
                        <a:buNone/>
                        <a:tabLst/>
                        <a:defRPr/>
                      </a:pPr>
                      <a:r>
                        <a:rPr lang="da-DK" sz="1050" b="1" noProof="0">
                          <a:solidFill>
                            <a:srgbClr val="1B4528"/>
                          </a:solidFill>
                        </a:rPr>
                        <a:t>{{</a:t>
                      </a:r>
                      <a:r>
                        <a:rPr lang="da-DK" sz="1050" b="1" noProof="0" err="1">
                          <a:solidFill>
                            <a:srgbClr val="1B4528"/>
                          </a:solidFill>
                        </a:rPr>
                        <a:t>insert_year</a:t>
                      </a:r>
                      <a:r>
                        <a:rPr lang="da-DK"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47564">
                <a:tc>
                  <a:txBody>
                    <a:bodyPr/>
                    <a:lstStyle/>
                    <a:p>
                      <a:pPr>
                        <a:lnSpc>
                          <a:spcPct val="106000"/>
                        </a:lnSpc>
                      </a:pPr>
                      <a:r>
                        <a:rPr lang="da-DK" sz="1050" b="1" noProof="0">
                          <a:solidFill>
                            <a:schemeClr val="tx2"/>
                          </a:solidFill>
                        </a:rPr>
                        <a:t>Elektricitet </a:t>
                      </a:r>
                      <a:r>
                        <a:rPr lang="da-DK" sz="1050" b="0" noProof="0">
                          <a:solidFill>
                            <a:schemeClr val="tx2"/>
                          </a:solidFill>
                        </a:rPr>
                        <a:t>(som det fremgår af virksomhedens forbrugsregninger)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electricity_renewable</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electricity_non_rewenable</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total_electricity</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18608">
                <a:tc>
                  <a:txBody>
                    <a:bodyPr/>
                    <a:lstStyle/>
                    <a:p>
                      <a:pPr>
                        <a:lnSpc>
                          <a:spcPct val="106000"/>
                        </a:lnSpc>
                      </a:pPr>
                      <a:r>
                        <a:rPr lang="da-DK" sz="1050" b="1" noProof="0">
                          <a:solidFill>
                            <a:schemeClr val="tx2"/>
                          </a:solidFill>
                        </a:rPr>
                        <a:t>Brændstoffer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fuel_renewable</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fuel_non_rewenable</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total_fuel</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18608">
                <a:tc>
                  <a:txBody>
                    <a:bodyPr/>
                    <a:lstStyle/>
                    <a:p>
                      <a:pPr>
                        <a:lnSpc>
                          <a:spcPct val="106000"/>
                        </a:lnSpc>
                      </a:pPr>
                      <a:r>
                        <a:rPr lang="da-DK" sz="1050" b="1" noProof="0">
                          <a:solidFill>
                            <a:schemeClr val="tx2"/>
                          </a:solidFill>
                        </a:rPr>
                        <a:t>Andet (fx fjernvarme)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district_heating_rewenable</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district_heating_non_rewenable</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total_district_heating</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18608">
                <a:tc>
                  <a:txBody>
                    <a:bodyPr/>
                    <a:lstStyle/>
                    <a:p>
                      <a:pPr>
                        <a:lnSpc>
                          <a:spcPct val="106000"/>
                        </a:lnSpc>
                      </a:pPr>
                      <a:r>
                        <a:rPr lang="da-DK" sz="1050" b="1" noProof="0">
                          <a:solidFill>
                            <a:schemeClr val="tx2"/>
                          </a:solidFill>
                        </a:rPr>
                        <a:t>Total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renewable_energy_total</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non_rewenable_energy_total</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BM Plex Sans" panose="020B0503050203000203" pitchFamily="34" charset="0"/>
                        </a:rPr>
                        <a:t>{{</a:t>
                      </a:r>
                      <a:r>
                        <a:rPr lang="da-DK" sz="1050" b="0" i="0" u="none" strike="noStrike" noProof="0" err="1">
                          <a:solidFill>
                            <a:srgbClr val="1B4528"/>
                          </a:solidFill>
                          <a:effectLst/>
                          <a:latin typeface="IBM Plex Sans" panose="020B0503050203000203" pitchFamily="34" charset="0"/>
                        </a:rPr>
                        <a:t>total_energy_consumption</a:t>
                      </a:r>
                      <a:r>
                        <a:rPr lang="da-DK" sz="1050" b="0" i="0" u="none" strike="noStrike" noProof="0">
                          <a:solidFill>
                            <a:srgbClr val="1B4528"/>
                          </a:solidFill>
                          <a:effectLst/>
                          <a:latin typeface="IBM Plex Sans" panose="020B0503050203000203" pitchFamily="34" charset="0"/>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6</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43369" y="898217"/>
            <a:ext cx="9803131" cy="3616799"/>
          </a:xfrm>
          <a:prstGeom prst="rect">
            <a:avLst/>
          </a:prstGeom>
          <a:noFill/>
        </p:spPr>
        <p:txBody>
          <a:bodyPr wrap="square" lIns="80190" tIns="40095" rIns="80190" bIns="40095" anchor="t">
            <a:spAutoFit/>
          </a:bodyPr>
          <a:lstStyle/>
          <a:p>
            <a:r>
              <a:rPr lang="da-DK" sz="1050" b="0" i="0" u="none" strike="noStrike" noProof="0">
                <a:solidFill>
                  <a:schemeClr val="tx2"/>
                </a:solidFill>
                <a:effectLst/>
                <a:latin typeface="Inter"/>
              </a:rPr>
              <a:t>Dette afsnit angiver virksomhedens CO2-udledning fra energiforbrug og angiver vedvarende og ikke-vedvarende forbrug. </a:t>
            </a:r>
            <a:r>
              <a:rPr lang="da-DK" sz="1050" noProof="0">
                <a:solidFill>
                  <a:schemeClr val="tx2"/>
                </a:solidFill>
                <a:latin typeface="Inter"/>
              </a:rPr>
              <a:t>Udledningerne er oplyst ud fra </a:t>
            </a:r>
            <a:r>
              <a:rPr lang="da-DK" sz="1050" b="0" i="0" u="none" strike="noStrike" noProof="0">
                <a:solidFill>
                  <a:schemeClr val="tx2"/>
                </a:solidFill>
                <a:effectLst/>
                <a:latin typeface="Inter"/>
              </a:rPr>
              <a:t>GHG-protokollens definitioner afhvad direkte og indirekte emissioner omfatter. </a:t>
            </a:r>
            <a:br>
              <a:rPr lang="da-DK" sz="1050" b="0" i="0" u="none" strike="noStrike" noProof="0" dirty="0">
                <a:effectLst/>
                <a:latin typeface="Inter"/>
              </a:rPr>
            </a:br>
            <a:br>
              <a:rPr lang="da-DK" sz="1050" dirty="0">
                <a:latin typeface="Inter"/>
              </a:rPr>
            </a:br>
            <a:r>
              <a:rPr lang="da-DK" sz="700" b="0" i="0" u="none" strike="noStrike" noProof="0" dirty="0">
                <a:solidFill>
                  <a:schemeClr val="tx2"/>
                </a:solidFill>
                <a:effectLst/>
                <a:latin typeface="Inter"/>
              </a:rPr>
              <a:t> </a:t>
            </a:r>
            <a:endParaRPr lang="da-DK" sz="1050" b="0" i="0" u="none" strike="noStrike" noProof="0" dirty="0">
              <a:solidFill>
                <a:schemeClr val="tx2"/>
              </a:solidFill>
              <a:effectLst/>
              <a:latin typeface="Inter"/>
            </a:endParaRPr>
          </a:p>
          <a:p>
            <a:pPr rtl="0">
              <a:buNone/>
            </a:pPr>
            <a:endParaRPr lang="da-DK" sz="1050" b="0" noProof="0">
              <a:solidFill>
                <a:schemeClr val="tx2"/>
              </a:solidFill>
              <a:effectLst/>
              <a:latin typeface="Inter"/>
            </a:endParaRPr>
          </a:p>
          <a:p>
            <a:pPr>
              <a:buNone/>
            </a:pPr>
            <a:endParaRPr lang="da-DK" b="0" noProof="0">
              <a:solidFill>
                <a:schemeClr val="tx2"/>
              </a:solidFill>
              <a:effectLst/>
              <a:latin typeface="Inter"/>
            </a:endParaRPr>
          </a:p>
          <a:p>
            <a:pPr>
              <a:buNone/>
            </a:pPr>
            <a:endParaRPr lang="da-DK" sz="1400" noProof="0">
              <a:solidFill>
                <a:schemeClr val="tx2"/>
              </a:solidFill>
              <a:latin typeface="Inter"/>
            </a:endParaRPr>
          </a:p>
          <a:p>
            <a:pPr>
              <a:buNone/>
            </a:pPr>
            <a:endParaRPr lang="da-DK" sz="1400" b="0" noProof="0">
              <a:solidFill>
                <a:schemeClr val="tx2"/>
              </a:solidFill>
              <a:effectLst/>
              <a:latin typeface="Inter"/>
            </a:endParaRPr>
          </a:p>
          <a:p>
            <a:pPr>
              <a:buNone/>
            </a:pPr>
            <a:endParaRPr lang="da-DK" sz="1400" noProof="0">
              <a:solidFill>
                <a:schemeClr val="tx2"/>
              </a:solidFill>
              <a:latin typeface="Inter"/>
            </a:endParaRPr>
          </a:p>
          <a:p>
            <a:pPr>
              <a:buNone/>
            </a:pPr>
            <a:endParaRPr lang="da-DK" sz="1400" b="0" noProof="0">
              <a:solidFill>
                <a:schemeClr val="tx2"/>
              </a:solidFill>
              <a:effectLst/>
              <a:latin typeface="Inter"/>
            </a:endParaRPr>
          </a:p>
          <a:p>
            <a:endParaRPr lang="da-DK" sz="1400" b="1">
              <a:latin typeface="+mj-lt"/>
            </a:endParaRPr>
          </a:p>
          <a:p>
            <a:endParaRPr lang="da-DK" sz="1400" b="1">
              <a:latin typeface="+mj-lt"/>
            </a:endParaRPr>
          </a:p>
          <a:p>
            <a:br>
              <a:rPr lang="da-DK" b="1" dirty="0">
                <a:latin typeface="+mj-lt"/>
              </a:rPr>
            </a:br>
            <a:r>
              <a:rPr lang="da-DK" b="1" i="0" u="none" strike="noStrike" noProof="0">
                <a:solidFill>
                  <a:schemeClr val="tx2"/>
                </a:solidFill>
                <a:effectLst/>
                <a:latin typeface="+mj-lt"/>
              </a:rPr>
              <a:t>CO₂e-udledning (B3)</a:t>
            </a:r>
            <a:endParaRPr lang="da-DK" noProof="0">
              <a:solidFill>
                <a:schemeClr val="tx2"/>
              </a:solidFill>
              <a:effectLst/>
              <a:latin typeface="+mj-lt"/>
            </a:endParaRPr>
          </a:p>
          <a:p>
            <a:r>
              <a:rPr lang="da-DK" sz="700" dirty="0">
                <a:latin typeface="Inter"/>
              </a:rPr>
              <a:t> </a:t>
            </a:r>
            <a:br>
              <a:rPr lang="da-DK" sz="1050" dirty="0">
                <a:solidFill>
                  <a:schemeClr val="tx2"/>
                </a:solidFill>
                <a:latin typeface="Inter"/>
              </a:rPr>
            </a:br>
            <a:r>
              <a:rPr lang="da-DK" sz="1050" b="0" i="0" u="none" strike="noStrike" noProof="0">
                <a:solidFill>
                  <a:schemeClr val="tx2"/>
                </a:solidFill>
                <a:effectLst/>
                <a:latin typeface="Inter"/>
              </a:rPr>
              <a:t>Pkt. 33 indeholder oplysninger om virksomhedens drivhusgasemissioner baseret på Scope 1- og Scope 2-emissioner. Scope 1 angiver de direkte drivhusgasemissioner og inkluderer emissioner fra kilder, som virksomheden ejer eller kontrollerer direkte. Dette omfatter for eksempel afbrænding af brændstof i firmakøretøjer eller opvarmning af bygninger med naturgas samt emissioner fra industrielle processer og lækager i systemer som f.eks. køling.</a:t>
            </a:r>
            <a:r>
              <a:rPr lang="da-DK" sz="1050" noProof="0">
                <a:solidFill>
                  <a:schemeClr val="tx2"/>
                </a:solidFill>
                <a:latin typeface="Inter"/>
              </a:rPr>
              <a:t> </a:t>
            </a:r>
            <a:r>
              <a:rPr lang="da-DK" sz="1050" b="0" i="0" u="none" strike="noStrike" noProof="0">
                <a:solidFill>
                  <a:schemeClr val="tx2"/>
                </a:solidFill>
                <a:effectLst/>
                <a:latin typeface="Inter"/>
              </a:rPr>
              <a:t>Scope 2</a:t>
            </a:r>
            <a:r>
              <a:rPr lang="da-DK" sz="1050" noProof="0">
                <a:solidFill>
                  <a:schemeClr val="tx2"/>
                </a:solidFill>
                <a:latin typeface="Inter"/>
              </a:rPr>
              <a:t> angiver i</a:t>
            </a:r>
            <a:r>
              <a:rPr lang="da-DK" sz="1050" b="0" i="0" u="none" strike="noStrike" noProof="0">
                <a:solidFill>
                  <a:schemeClr val="tx2"/>
                </a:solidFill>
                <a:effectLst/>
                <a:latin typeface="Inter"/>
              </a:rPr>
              <a:t>ndirekte emissioner fra køb af elektricitet, som refererer til emissioner fra produktion af den el, damp, varme eller køling, som virksomheden køber og bruger. Selvom disse emissioner stammer fra energiproducenterne, tilskrives de virksomheden, fordi den forbruger energien.</a:t>
            </a:r>
            <a:endParaRPr lang="da-DK" sz="1050" b="0" noProof="0">
              <a:solidFill>
                <a:schemeClr val="tx2"/>
              </a:solidFill>
              <a:effectLst/>
              <a:latin typeface="Inter"/>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45491" y="5125324"/>
          <a:ext cx="9801009" cy="950929"/>
        </p:xfrm>
        <a:graphic>
          <a:graphicData uri="http://schemas.openxmlformats.org/drawingml/2006/table">
            <a:tbl>
              <a:tblPr firstRow="1">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8485">
                <a:tc>
                  <a:txBody>
                    <a:bodyPr/>
                    <a:lstStyle/>
                    <a:p>
                      <a:pPr>
                        <a:lnSpc>
                          <a:spcPct val="106000"/>
                        </a:lnSpc>
                      </a:pPr>
                      <a:r>
                        <a:rPr lang="da-DK" sz="1050" b="1" noProof="0">
                          <a:solidFill>
                            <a:schemeClr val="tx2"/>
                          </a:solidFill>
                        </a:rPr>
                        <a:t>Udledning af drivhusgasser </a:t>
                      </a:r>
                      <a:r>
                        <a:rPr lang="da-DK" sz="1050" b="0" noProof="0">
                          <a:solidFill>
                            <a:schemeClr val="tx2"/>
                          </a:solidFill>
                        </a:rPr>
                        <a:t>(pkt. 33)</a:t>
                      </a:r>
                      <a:endParaRPr lang="da-DK"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050" b="1" noProof="0">
                          <a:solidFill>
                            <a:schemeClr val="tx2"/>
                          </a:solidFill>
                        </a:rPr>
                        <a:t>År </a:t>
                      </a:r>
                      <a:r>
                        <a:rPr lang="da-DK" sz="1050" b="1" noProof="0">
                          <a:solidFill>
                            <a:srgbClr val="1B4528"/>
                          </a:solidFill>
                          <a:latin typeface="Calibri" panose="020F0502020204030204" pitchFamily="34" charset="0"/>
                          <a:cs typeface="Calibri" panose="020F0502020204030204" pitchFamily="34" charset="0"/>
                        </a:rPr>
                        <a:t>{{</a:t>
                      </a:r>
                      <a:r>
                        <a:rPr lang="da-DK" sz="1050" b="1" noProof="0" err="1">
                          <a:solidFill>
                            <a:srgbClr val="1B4528"/>
                          </a:solidFill>
                          <a:latin typeface="Calibri" panose="020F0502020204030204" pitchFamily="34" charset="0"/>
                          <a:cs typeface="Calibri" panose="020F0502020204030204" pitchFamily="34" charset="0"/>
                        </a:rPr>
                        <a:t>insert_year</a:t>
                      </a:r>
                      <a:r>
                        <a:rPr lang="da-DK" sz="1050" b="1" noProof="0">
                          <a:solidFill>
                            <a:srgbClr val="1B4528"/>
                          </a:solidFill>
                          <a:latin typeface="Calibri" panose="020F0502020204030204" pitchFamily="34" charset="0"/>
                          <a:cs typeface="Calibri" panose="020F0502020204030204" pitchFamily="34" charset="0"/>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7481">
                <a:tc>
                  <a:txBody>
                    <a:bodyPr/>
                    <a:lstStyle/>
                    <a:p>
                      <a:pPr>
                        <a:lnSpc>
                          <a:spcPct val="106000"/>
                        </a:lnSpc>
                      </a:pPr>
                      <a:r>
                        <a:rPr lang="da-DK" sz="1050" b="1" noProof="0" err="1">
                          <a:solidFill>
                            <a:schemeClr val="tx2"/>
                          </a:solidFill>
                        </a:rPr>
                        <a:t>Scope</a:t>
                      </a:r>
                      <a:r>
                        <a:rPr lang="da-DK" sz="1050" b="1" noProof="0">
                          <a:solidFill>
                            <a:schemeClr val="tx2"/>
                          </a:solidFill>
                        </a:rPr>
                        <a:t> 1 </a:t>
                      </a:r>
                      <a:r>
                        <a:rPr lang="da-DK" sz="1050" b="1" noProof="0" err="1">
                          <a:solidFill>
                            <a:schemeClr val="tx2"/>
                          </a:solidFill>
                        </a:rPr>
                        <a:t>CO₂e-udledninger</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{{scope1}}</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7481">
                <a:tc>
                  <a:txBody>
                    <a:bodyPr/>
                    <a:lstStyle/>
                    <a:p>
                      <a:pPr>
                        <a:lnSpc>
                          <a:spcPct val="106000"/>
                        </a:lnSpc>
                      </a:pPr>
                      <a:r>
                        <a:rPr lang="da-DK" sz="1050" b="1" noProof="0" err="1">
                          <a:solidFill>
                            <a:schemeClr val="tx2"/>
                          </a:solidFill>
                        </a:rPr>
                        <a:t>Scope</a:t>
                      </a:r>
                      <a:r>
                        <a:rPr lang="da-DK" sz="1050" b="1" noProof="0">
                          <a:solidFill>
                            <a:schemeClr val="tx2"/>
                          </a:solidFill>
                        </a:rPr>
                        <a:t> 2 </a:t>
                      </a:r>
                      <a:r>
                        <a:rPr lang="da-DK" sz="1050" b="1" noProof="0" err="1">
                          <a:solidFill>
                            <a:schemeClr val="tx2"/>
                          </a:solidFill>
                        </a:rPr>
                        <a:t>CO₂e-udledninger</a:t>
                      </a:r>
                      <a:r>
                        <a:rPr lang="da-DK" sz="1050" b="1" noProof="0">
                          <a:solidFill>
                            <a:schemeClr val="tx2"/>
                          </a:solidFill>
                        </a:rPr>
                        <a:t> (lokationsbaseret) </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{{scope2}}</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da-DK" sz="1050" b="1" noProof="0">
                          <a:solidFill>
                            <a:schemeClr val="tx2"/>
                          </a:solidFill>
                        </a:rPr>
                        <a:t>Total </a:t>
                      </a:r>
                      <a:r>
                        <a:rPr lang="da-DK" sz="1050" b="1" noProof="0" err="1">
                          <a:solidFill>
                            <a:schemeClr val="tx2"/>
                          </a:solidFill>
                        </a:rPr>
                        <a:t>CO₂e-udledning</a:t>
                      </a:r>
                      <a:r>
                        <a:rPr lang="da-DK" sz="1050" b="1" noProof="0">
                          <a:solidFill>
                            <a:schemeClr val="tx2"/>
                          </a:solidFill>
                        </a:rPr>
                        <a:t> fra </a:t>
                      </a:r>
                      <a:r>
                        <a:rPr lang="da-DK" sz="1050" b="1" noProof="0" err="1">
                          <a:solidFill>
                            <a:schemeClr val="tx2"/>
                          </a:solidFill>
                        </a:rPr>
                        <a:t>scope</a:t>
                      </a:r>
                      <a:r>
                        <a:rPr lang="da-DK" sz="1050" b="1" noProof="0">
                          <a:solidFill>
                            <a:schemeClr val="tx2"/>
                          </a:solidFill>
                        </a:rPr>
                        <a:t> 1 og </a:t>
                      </a:r>
                      <a:r>
                        <a:rPr lang="da-DK" sz="1050" b="1" noProof="0" err="1">
                          <a:solidFill>
                            <a:schemeClr val="tx2"/>
                          </a:solidFill>
                        </a:rPr>
                        <a:t>scope</a:t>
                      </a:r>
                      <a:r>
                        <a:rPr lang="da-DK" sz="1050" b="1" noProof="0">
                          <a:solidFill>
                            <a:schemeClr val="tx2"/>
                          </a:solidFill>
                        </a:rPr>
                        <a:t> 2 </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total_scope</a:t>
                      </a:r>
                      <a:r>
                        <a:rPr lang="da-DK" sz="1050" b="0" i="0" u="none" strike="noStrike" noProof="0">
                          <a:solidFill>
                            <a:srgbClr val="1B4528"/>
                          </a:solidFill>
                          <a:effectLst/>
                          <a:latin typeface="Inter"/>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16" name="B3 market-based (voluntary)"/>
          <p:cNvGraphicFramePr>
            <a:graphicFrameLocks noGrp="1"/>
          </p:cNvGraphicFramePr>
          <p:nvPr>
            <p:extLst>
              <p:ext uri="{D42A27DB-BD31-4B8C-83A1-F6EECF244321}">
                <p14:modId xmlns:p14="http://schemas.microsoft.com/office/powerpoint/2010/main" val="4106924491"/>
              </p:ext>
            </p:extLst>
          </p:nvPr>
        </p:nvGraphicFramePr>
        <p:xfrm>
          <a:off x="445491" y="6252820"/>
          <a:ext cx="9801009" cy="474962"/>
        </p:xfrm>
        <a:graphic>
          <a:graphicData uri="http://schemas.openxmlformats.org/drawingml/2006/table">
            <a:tbl>
              <a:tblPr firstRow="0">
                <a:tableStyleId>{2A488322-F2BA-4B5B-9748-0D474271808F}</a:tableStyleId>
              </a:tblPr>
              <a:tblGrid>
                <a:gridCol w="7759816">
                  <a:extLst>
                    <a:ext uri="{9D8B030D-6E8A-4147-A177-3AD203B41FA5}">
                      <a16:colId xmlns:a16="http://schemas.microsoft.com/office/drawing/2014/main" val="2698153288"/>
                    </a:ext>
                  </a:extLst>
                </a:gridCol>
                <a:gridCol w="2041192">
                  <a:extLst>
                    <a:ext uri="{9D8B030D-6E8A-4147-A177-3AD203B41FA5}">
                      <a16:colId xmlns:a16="http://schemas.microsoft.com/office/drawing/2014/main" val="656209149"/>
                    </a:ext>
                  </a:extLst>
                </a:gridCol>
              </a:tblGrid>
              <a:tr h="237481">
                <a:tc>
                  <a:txBody>
                    <a:bodyPr/>
                    <a:lstStyle/>
                    <a:p>
                      <a:pPr>
                        <a:lnSpc>
                          <a:spcPct val="106000"/>
                        </a:lnSpc>
                      </a:pPr>
                      <a:r>
                        <a:rPr lang="da-DK" sz="1050" b="1" noProof="0" err="1">
                          <a:solidFill>
                            <a:schemeClr val="tx2"/>
                          </a:solidFill>
                        </a:rPr>
                        <a:t>Scope 2 CO₂e-udledninger (markedsbaseret) (frivillig)</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{{scope1_marked}}</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7481">
                <a:tc>
                  <a:txBody>
                    <a:bodyPr/>
                    <a:lstStyle/>
                    <a:p>
                      <a:pPr>
                        <a:lnSpc>
                          <a:spcPct val="106000"/>
                        </a:lnSpc>
                      </a:pPr>
                      <a:r>
                        <a:rPr lang="da-DK" sz="1050" b="1" noProof="0">
                          <a:solidFill>
                            <a:schemeClr val="tx2"/>
                          </a:solidFill>
                        </a:rPr>
                        <a:t>Total CO₂e-udledning fra scope 1 og scope 2 (markedsbaseret) (frivillig)</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{{scope2_marked}}</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Tree>
    <p:extLst>
      <p:ext uri="{BB962C8B-B14F-4D97-AF65-F5344CB8AC3E}">
        <p14:creationId xmlns:p14="http://schemas.microsoft.com/office/powerpoint/2010/main" val="291076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Forurening af luft, vand og jord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86996641"/>
              </p:ext>
            </p:extLst>
          </p:nvPr>
        </p:nvGraphicFramePr>
        <p:xfrm>
          <a:off x="445498" y="1458651"/>
          <a:ext cx="9784531" cy="701553"/>
        </p:xfrm>
        <a:graphic>
          <a:graphicData uri="http://schemas.openxmlformats.org/drawingml/2006/table">
            <a:tbl>
              <a:tblPr firstRow="1">
                <a:tableStyleId>{2A488322-F2BA-4B5B-9748-0D474271808F}</a:tableStyleId>
              </a:tblPr>
              <a:tblGrid>
                <a:gridCol w="3099832">
                  <a:extLst>
                    <a:ext uri="{9D8B030D-6E8A-4147-A177-3AD203B41FA5}">
                      <a16:colId xmlns:a16="http://schemas.microsoft.com/office/drawing/2014/main" val="2698153288"/>
                    </a:ext>
                  </a:extLst>
                </a:gridCol>
                <a:gridCol w="2988788">
                  <a:extLst>
                    <a:ext uri="{9D8B030D-6E8A-4147-A177-3AD203B41FA5}">
                      <a16:colId xmlns:a16="http://schemas.microsoft.com/office/drawing/2014/main" val="2119413191"/>
                    </a:ext>
                  </a:extLst>
                </a:gridCol>
                <a:gridCol w="3695912">
                  <a:extLst>
                    <a:ext uri="{9D8B030D-6E8A-4147-A177-3AD203B41FA5}">
                      <a16:colId xmlns:a16="http://schemas.microsoft.com/office/drawing/2014/main" val="683090399"/>
                    </a:ext>
                  </a:extLst>
                </a:gridCol>
              </a:tblGrid>
              <a:tr h="245049">
                <a:tc gridSpan="3">
                  <a:txBody>
                    <a:bodyPr/>
                    <a:lstStyle/>
                    <a:p>
                      <a:pPr>
                        <a:lnSpc>
                          <a:spcPct val="106000"/>
                        </a:lnSpc>
                      </a:pPr>
                      <a:r>
                        <a:rPr lang="da-DK" sz="1050" b="1" noProof="0">
                          <a:solidFill>
                            <a:schemeClr val="tx2"/>
                          </a:solidFill>
                        </a:rPr>
                        <a:t>Forurening af luft, vand og jord </a:t>
                      </a:r>
                      <a:r>
                        <a:rPr lang="da-DK" sz="1050" b="0" noProof="0">
                          <a:solidFill>
                            <a:schemeClr val="tx2"/>
                          </a:solidFill>
                        </a:rPr>
                        <a:t>(pkt. 34)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245049">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a-DK" sz="1050" b="1" noProof="0">
                          <a:solidFill>
                            <a:schemeClr val="tx2"/>
                          </a:solidFill>
                        </a:rPr>
                        <a:t>Type af forurening </a:t>
                      </a:r>
                      <a:r>
                        <a:rPr lang="da-DK" sz="1050" b="0" noProof="0">
                          <a:solidFill>
                            <a:schemeClr val="tx2"/>
                          </a:solidFill>
                        </a:rPr>
                        <a:t>(fx stof)</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1050" b="1" noProof="0">
                          <a:solidFill>
                            <a:schemeClr val="tx2"/>
                          </a:solidFill>
                        </a:rPr>
                        <a:t>Hvor? </a:t>
                      </a:r>
                      <a:r>
                        <a:rPr lang="da-DK" sz="1050" b="0" noProof="0">
                          <a:solidFill>
                            <a:schemeClr val="tx2"/>
                          </a:solidFill>
                        </a:rPr>
                        <a:t>(luft, vand, jord)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1050" b="1" noProof="0">
                          <a:solidFill>
                            <a:schemeClr val="tx2"/>
                          </a:solidFill>
                        </a:rPr>
                        <a:t>Omfang</a:t>
                      </a:r>
                      <a:endParaRPr lang="da-DK"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11456">
                <a:tc>
                  <a:txBody>
                    <a:bodyPr/>
                    <a:lstStyle/>
                    <a:p>
                      <a:pPr rtl="0" fontAlgn="ctr" algn="l">
                        <a:buNone/>
                      </a:pPr>
                      <a:r>
                        <a:rPr lang="da-DK" sz="1050" b="0" i="0" u="none" strike="noStrike" noProof="0">
                          <a:solidFill>
                            <a:srgbClr val="1B4528"/>
                          </a:solidFill>
                          <a:effectLst/>
                          <a:latin typeface="Inter"/>
                        </a:rPr>
                        <a:t>{{type_of_pollution}}</a:t>
                      </a:r>
                      <a:endParaRPr lang="da-DK"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da-DK" sz="1050" b="0" i="0" u="none" strike="noStrike" noProof="0">
                          <a:solidFill>
                            <a:srgbClr val="1B4528"/>
                          </a:solidFill>
                          <a:effectLst/>
                          <a:latin typeface="Inter"/>
                        </a:rPr>
                        <a:t>{{scope_pollution}}</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a-DK" sz="1050" b="0" i="0" u="none" strike="noStrike" noProof="0">
                          <a:solidFill>
                            <a:srgbClr val="1B4528"/>
                          </a:solidFill>
                          <a:effectLst/>
                          <a:latin typeface="Inter"/>
                        </a:rPr>
                        <a:t>{{pollution_medium}}</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7</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61968" y="891000"/>
            <a:ext cx="9784532" cy="404866"/>
          </a:xfrm>
          <a:prstGeom prst="rect">
            <a:avLst/>
          </a:prstGeom>
          <a:noFill/>
        </p:spPr>
        <p:txBody>
          <a:bodyPr wrap="square">
            <a:spAutoFit/>
          </a:bodyPr>
          <a:lstStyle/>
          <a:p>
            <a:pPr rtl="0">
              <a:buNone/>
            </a:pPr>
            <a:r>
              <a:rPr lang="da-DK" sz="1050" b="0" i="0" u="none" strike="noStrike" noProof="0">
                <a:solidFill>
                  <a:schemeClr val="tx2"/>
                </a:solidFill>
                <a:effectLst/>
                <a:latin typeface="Inter"/>
              </a:rPr>
              <a:t>Virksomheden rapporterer den samlede mængde af forurenende stoffer, der udledes fra deres anlæg. Rapportering om specifikke forurenende stoffer og deres mængder, der udledes til luft, vand og jord</a:t>
            </a:r>
            <a:r>
              <a:rPr lang="da-DK" sz="1050" noProof="0">
                <a:solidFill>
                  <a:schemeClr val="tx2"/>
                </a:solidFill>
                <a:latin typeface="Inter"/>
              </a:rPr>
              <a:t> er anført nedenfor.</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54796" y="2945868"/>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da-DK" noProof="0"/>
              <a:t>Biodiversitet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3123879907"/>
              </p:ext>
            </p:extLst>
          </p:nvPr>
        </p:nvGraphicFramePr>
        <p:xfrm>
          <a:off x="454795" y="4100380"/>
          <a:ext cx="9791703" cy="845625"/>
        </p:xfrm>
        <a:graphic>
          <a:graphicData uri="http://schemas.openxmlformats.org/drawingml/2006/table">
            <a:tbl>
              <a:tblPr firstRow="1">
                <a:tableStyleId>{2A488322-F2BA-4B5B-9748-0D474271808F}</a:tableStyleId>
              </a:tblPr>
              <a:tblGrid>
                <a:gridCol w="1778433">
                  <a:extLst>
                    <a:ext uri="{9D8B030D-6E8A-4147-A177-3AD203B41FA5}">
                      <a16:colId xmlns:a16="http://schemas.microsoft.com/office/drawing/2014/main" val="2698153288"/>
                    </a:ext>
                  </a:extLst>
                </a:gridCol>
                <a:gridCol w="2671090">
                  <a:extLst>
                    <a:ext uri="{9D8B030D-6E8A-4147-A177-3AD203B41FA5}">
                      <a16:colId xmlns:a16="http://schemas.microsoft.com/office/drawing/2014/main" val="2119413191"/>
                    </a:ext>
                  </a:extLst>
                </a:gridCol>
                <a:gridCol w="2671090">
                  <a:extLst>
                    <a:ext uri="{9D8B030D-6E8A-4147-A177-3AD203B41FA5}">
                      <a16:colId xmlns:a16="http://schemas.microsoft.com/office/drawing/2014/main" val="656209149"/>
                    </a:ext>
                  </a:extLst>
                </a:gridCol>
                <a:gridCol w="2671090">
                  <a:extLst>
                    <a:ext uri="{9D8B030D-6E8A-4147-A177-3AD203B41FA5}">
                      <a16:colId xmlns:a16="http://schemas.microsoft.com/office/drawing/2014/main" val="1502960985"/>
                    </a:ext>
                  </a:extLst>
                </a:gridCol>
              </a:tblGrid>
              <a:tr h="202471">
                <a:tc gridSpan="4">
                  <a:txBody>
                    <a:bodyPr/>
                    <a:lstStyle/>
                    <a:p>
                      <a:r>
                        <a:rPr lang="da-DK" sz="1050" b="1" noProof="0">
                          <a:solidFill>
                            <a:schemeClr val="tx2"/>
                          </a:solidFill>
                        </a:rPr>
                        <a:t>Områder i nærheden af eller i 'biodiversitetsfølsomme områder’, som virksomheden ejer, lejer eller forvalter </a:t>
                      </a:r>
                      <a:r>
                        <a:rPr lang="da-DK" sz="1050" b="0" noProof="0">
                          <a:solidFill>
                            <a:schemeClr val="tx2"/>
                          </a:solidFill>
                        </a:rPr>
                        <a:t>(pkt. 35)</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02743">
                <a:tc>
                  <a:txBody>
                    <a:bodyPr/>
                    <a:lstStyle/>
                    <a:p>
                      <a:r>
                        <a:rPr lang="da-DK" sz="1050" b="1" noProof="0">
                          <a:solidFill>
                            <a:schemeClr val="tx2"/>
                          </a:solidFill>
                        </a:rPr>
                        <a:t>Lokation</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050" b="1" noProof="0">
                          <a:solidFill>
                            <a:schemeClr val="tx2"/>
                          </a:solidFill>
                        </a:rPr>
                        <a:t>Areal opgjort i hektar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050" b="1" noProof="0">
                          <a:solidFill>
                            <a:schemeClr val="tx2"/>
                          </a:solidFill>
                        </a:rPr>
                        <a:t>Biodiversitetsfølsomt område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050" b="1" noProof="0">
                          <a:solidFill>
                            <a:schemeClr val="tx2"/>
                          </a:solidFill>
                        </a:rPr>
                        <a:t>Specifikation: I nærheden af eller i et biodiversitetsfølsomt område</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8201">
                <a:tc>
                  <a:txBody>
                    <a:bodyPr/>
                    <a:lstStyle/>
                    <a:p>
                      <a:pPr rtl="0" fontAlgn="ctr" algn="l">
                        <a:buNone/>
                      </a:pPr>
                      <a:r>
                        <a:rPr lang="da-DK" sz="1050" b="0" i="0" u="none" strike="noStrike" noProof="0">
                          <a:solidFill>
                            <a:srgbClr val="1B4528"/>
                          </a:solidFill>
                          <a:effectLst/>
                          <a:latin typeface="Inter"/>
                        </a:rPr>
                        <a:t>{{country_location}}</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a-DK" sz="1050" b="0" i="0" u="none" strike="noStrike" noProof="0">
                          <a:solidFill>
                            <a:srgbClr val="1B4528"/>
                          </a:solidFill>
                          <a:effectLst/>
                          <a:latin typeface="Inter"/>
                        </a:rPr>
                        <a:t> {{area_hect}}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nter"/>
                        </a:rPr>
                        <a:t>{{area_name}}</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nter"/>
                        </a:rPr>
                        <a:t>{{biosensitive_area}}</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45499" y="3291561"/>
            <a:ext cx="9791703" cy="566812"/>
          </a:xfrm>
          <a:prstGeom prst="rect">
            <a:avLst/>
          </a:prstGeom>
          <a:noFill/>
        </p:spPr>
        <p:txBody>
          <a:bodyPr wrap="square">
            <a:spAutoFit/>
          </a:bodyPr>
          <a:lstStyle/>
          <a:p>
            <a:pPr rtl="0">
              <a:spcBef>
                <a:spcPts val="789"/>
              </a:spcBef>
              <a:spcAft>
                <a:spcPts val="789"/>
              </a:spcAft>
              <a:buNone/>
            </a:pPr>
            <a:r>
              <a:rPr lang="da-DK" sz="1050" b="0" i="0" u="none" strike="noStrike" noProof="0">
                <a:solidFill>
                  <a:schemeClr val="tx2"/>
                </a:solidFill>
                <a:effectLst/>
                <a:latin typeface="Inter"/>
              </a:rPr>
              <a:t>Virksomhedens oplysninger vedrører de steder, den opererer på, som er placeret i eller i nærheden af biodiversitetsfølsomme områder. Biodiversitetsfølsomme områder defineres som sådanne i særlige naturbeskyttelsesbestemmelser på europæisk eller internationalt plan. Dette omfatter områder, der tilhører Natura 2000, UNESCO og vigtige biodiversitetsområder (</a:t>
            </a:r>
            <a:r>
              <a:rPr lang="da-DK" sz="1050" b="0" i="0" u="none" strike="noStrike" noProof="0" err="1">
                <a:solidFill>
                  <a:schemeClr val="tx2"/>
                </a:solidFill>
                <a:effectLst/>
                <a:latin typeface="Inter"/>
              </a:rPr>
              <a:t>KBA'er</a:t>
            </a:r>
            <a:r>
              <a:rPr lang="da-DK" sz="1050" b="0" i="0" u="none" strike="noStrike" noProof="0">
                <a:solidFill>
                  <a:schemeClr val="tx2"/>
                </a:solidFill>
                <a:effectLst/>
                <a:latin typeface="Inter"/>
              </a:rPr>
              <a:t>) samt andre beskyttede områder.</a:t>
            </a:r>
            <a:endParaRPr lang="da-DK" sz="1050" noProof="0">
              <a:solidFill>
                <a:schemeClr val="tx2"/>
              </a:solidFill>
              <a:latin typeface="Inter"/>
            </a:endParaRPr>
          </a:p>
        </p:txBody>
      </p:sp>
    </p:spTree>
    <p:extLst>
      <p:ext uri="{BB962C8B-B14F-4D97-AF65-F5344CB8AC3E}">
        <p14:creationId xmlns:p14="http://schemas.microsoft.com/office/powerpoint/2010/main" val="270564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Vand (B6)</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405295352"/>
              </p:ext>
            </p:extLst>
          </p:nvPr>
        </p:nvGraphicFramePr>
        <p:xfrm>
          <a:off x="454796" y="1505077"/>
          <a:ext cx="4220433" cy="965602"/>
        </p:xfrm>
        <a:graphic>
          <a:graphicData uri="http://schemas.openxmlformats.org/drawingml/2006/table">
            <a:tbl>
              <a:tblPr firstRow="1">
                <a:tableStyleId>{2A488322-F2BA-4B5B-9748-0D474271808F}</a:tableStyleId>
              </a:tblPr>
              <a:tblGrid>
                <a:gridCol w="2707414">
                  <a:extLst>
                    <a:ext uri="{9D8B030D-6E8A-4147-A177-3AD203B41FA5}">
                      <a16:colId xmlns:a16="http://schemas.microsoft.com/office/drawing/2014/main" val="2698153288"/>
                    </a:ext>
                  </a:extLst>
                </a:gridCol>
                <a:gridCol w="1513019">
                  <a:extLst>
                    <a:ext uri="{9D8B030D-6E8A-4147-A177-3AD203B41FA5}">
                      <a16:colId xmlns:a16="http://schemas.microsoft.com/office/drawing/2014/main" val="2119413191"/>
                    </a:ext>
                  </a:extLst>
                </a:gridCol>
              </a:tblGrid>
              <a:tr h="4873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Vandudtag </a:t>
                      </a:r>
                      <a:r>
                        <a:rPr lang="da-DK" sz="1050" b="0" noProof="0">
                          <a:solidFill>
                            <a:schemeClr val="tx2"/>
                          </a:solidFill>
                        </a:rPr>
                        <a:t>(pkt. 36)</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050" b="1" noProof="0">
                          <a:solidFill>
                            <a:schemeClr val="tx2"/>
                          </a:solidFill>
                        </a:rPr>
                        <a:t>År </a:t>
                      </a:r>
                      <a:r>
                        <a:rPr lang="da-DK" sz="1050" b="1" noProof="0">
                          <a:solidFill>
                            <a:srgbClr val="1B4528"/>
                          </a:solidFill>
                        </a:rPr>
                        <a:t>{{</a:t>
                      </a:r>
                      <a:r>
                        <a:rPr lang="da-DK" sz="1050" b="1" noProof="0" err="1">
                          <a:solidFill>
                            <a:srgbClr val="1B4528"/>
                          </a:solidFill>
                        </a:rPr>
                        <a:t>insert_year</a:t>
                      </a:r>
                      <a:r>
                        <a:rPr lang="da-DK"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78230">
                <a:tc>
                  <a:txBody>
                    <a:bodyPr/>
                    <a:lstStyle/>
                    <a:p>
                      <a:r>
                        <a:rPr lang="da-DK" sz="1050" b="0" noProof="0">
                          <a:solidFill>
                            <a:schemeClr val="tx2"/>
                          </a:solidFill>
                        </a:rPr>
                        <a:t>Samlet for alle lokationer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a-DK" sz="1050" b="0" i="0" u="none" strike="noStrike" kern="1200" cap="none" spc="0" normalizeH="0" baseline="0" noProof="0">
                          <a:ln>
                            <a:noFill/>
                          </a:ln>
                          <a:solidFill>
                            <a:srgbClr val="1B4528"/>
                          </a:solidFill>
                          <a:effectLst/>
                          <a:uLnTx/>
                          <a:uFillTx/>
                          <a:latin typeface="+mn-lt"/>
                          <a:ea typeface="+mn-ea"/>
                          <a:cs typeface="+mn-cs"/>
                        </a:rPr>
                        <a:t>{{</a:t>
                      </a:r>
                      <a:r>
                        <a:rPr kumimoji="0" lang="da-DK" sz="1050" b="0" i="0" u="none" strike="noStrike" kern="1200" cap="none" spc="0" normalizeH="0" baseline="0" noProof="0" err="1">
                          <a:ln>
                            <a:noFill/>
                          </a:ln>
                          <a:solidFill>
                            <a:srgbClr val="1B4528"/>
                          </a:solidFill>
                          <a:effectLst/>
                          <a:uLnTx/>
                          <a:uFillTx/>
                          <a:latin typeface="+mn-lt"/>
                          <a:ea typeface="+mn-ea"/>
                          <a:cs typeface="+mn-cs"/>
                        </a:rPr>
                        <a:t>total_withdrawal</a:t>
                      </a:r>
                      <a:r>
                        <a:rPr kumimoji="0" lang="da-DK"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7" name="Table 16">
            <a:extLst>
              <a:ext uri="{FF2B5EF4-FFF2-40B4-BE49-F238E27FC236}">
                <a16:creationId xmlns:a16="http://schemas.microsoft.com/office/drawing/2014/main" id="{129EF77F-F7DE-E3A9-5E62-3B0DED7F1A69}"/>
              </a:ext>
            </a:extLst>
          </p:cNvPr>
          <p:cNvGraphicFramePr>
            <a:graphicFrameLocks noGrp="1"/>
          </p:cNvGraphicFramePr>
          <p:nvPr>
            <p:extLst>
              <p:ext uri="{D42A27DB-BD31-4B8C-83A1-F6EECF244321}">
                <p14:modId xmlns:p14="http://schemas.microsoft.com/office/powerpoint/2010/main" val="44075883"/>
              </p:ext>
            </p:extLst>
          </p:nvPr>
        </p:nvGraphicFramePr>
        <p:xfrm>
          <a:off x="4856790" y="1505077"/>
          <a:ext cx="5389710" cy="965602"/>
        </p:xfrm>
        <a:graphic>
          <a:graphicData uri="http://schemas.openxmlformats.org/drawingml/2006/table">
            <a:tbl>
              <a:tblPr firstRow="1">
                <a:tableStyleId>{2A488322-F2BA-4B5B-9748-0D474271808F}</a:tableStyleId>
              </a:tblPr>
              <a:tblGrid>
                <a:gridCol w="4061893">
                  <a:extLst>
                    <a:ext uri="{9D8B030D-6E8A-4147-A177-3AD203B41FA5}">
                      <a16:colId xmlns:a16="http://schemas.microsoft.com/office/drawing/2014/main" val="2698153288"/>
                    </a:ext>
                  </a:extLst>
                </a:gridCol>
                <a:gridCol w="1327817">
                  <a:extLst>
                    <a:ext uri="{9D8B030D-6E8A-4147-A177-3AD203B41FA5}">
                      <a16:colId xmlns:a16="http://schemas.microsoft.com/office/drawing/2014/main" val="2119413191"/>
                    </a:ext>
                  </a:extLst>
                </a:gridCol>
              </a:tblGrid>
              <a:tr h="2525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Vandforbrug </a:t>
                      </a:r>
                      <a:r>
                        <a:rPr lang="da-DK" sz="1050" b="0" noProof="0">
                          <a:solidFill>
                            <a:schemeClr val="tx2"/>
                          </a:solidFill>
                        </a:rPr>
                        <a:t>(pkt. 37)</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1050" b="1" noProof="0">
                          <a:solidFill>
                            <a:schemeClr val="tx2"/>
                          </a:solidFill>
                        </a:rPr>
                        <a:t>År </a:t>
                      </a:r>
                      <a:r>
                        <a:rPr lang="da-DK" sz="1050" b="1" noProof="0">
                          <a:solidFill>
                            <a:srgbClr val="1B4528"/>
                          </a:solidFill>
                        </a:rPr>
                        <a:t>{{</a:t>
                      </a:r>
                      <a:r>
                        <a:rPr lang="da-DK" sz="1050" b="1" noProof="0" err="1">
                          <a:solidFill>
                            <a:srgbClr val="1B4528"/>
                          </a:solidFill>
                        </a:rPr>
                        <a:t>insert_year</a:t>
                      </a:r>
                      <a:r>
                        <a:rPr lang="da-DK"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6518">
                <a:tc>
                  <a:txBody>
                    <a:bodyPr/>
                    <a:lstStyle/>
                    <a:p>
                      <a:r>
                        <a:rPr lang="da-DK" sz="1050" b="0" noProof="0">
                          <a:solidFill>
                            <a:schemeClr val="tx2"/>
                          </a:solidFill>
                        </a:rPr>
                        <a:t>Samlet for alle lokationer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consumption_total</a:t>
                      </a:r>
                      <a:r>
                        <a:rPr lang="da-DK" sz="1050" b="0" i="0" u="none" strike="noStrike" noProof="0">
                          <a:solidFill>
                            <a:srgbClr val="1B4528"/>
                          </a:solidFill>
                          <a:effectLst/>
                          <a:latin typeface="Inter"/>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65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0" noProof="0">
                          <a:solidFill>
                            <a:schemeClr val="tx2"/>
                          </a:solidFill>
                        </a:rPr>
                        <a:t>Fra lokationer i områder med mangel på vand (højt vandstress)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consumption_waterstress</a:t>
                      </a:r>
                      <a:r>
                        <a:rPr lang="da-DK" sz="1050" b="0" i="0" u="none" strike="noStrike" noProof="0">
                          <a:solidFill>
                            <a:srgbClr val="1B4528"/>
                          </a:solidFill>
                          <a:effectLst/>
                          <a:latin typeface="Inter"/>
                        </a:rPr>
                        <a:t>}}</a:t>
                      </a:r>
                      <a:endParaRPr lang="da-DK" sz="105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8</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1" name="Tekstfelt 10">
            <a:extLst>
              <a:ext uri="{FF2B5EF4-FFF2-40B4-BE49-F238E27FC236}">
                <a16:creationId xmlns:a16="http://schemas.microsoft.com/office/drawing/2014/main" id="{ECB95649-80E1-C470-34F3-6ED206EE57AE}"/>
              </a:ext>
            </a:extLst>
          </p:cNvPr>
          <p:cNvSpPr txBox="1"/>
          <p:nvPr/>
        </p:nvSpPr>
        <p:spPr>
          <a:xfrm>
            <a:off x="445500" y="901932"/>
            <a:ext cx="9800999" cy="404866"/>
          </a:xfrm>
          <a:prstGeom prst="rect">
            <a:avLst/>
          </a:prstGeom>
          <a:noFill/>
        </p:spPr>
        <p:txBody>
          <a:bodyPr wrap="square">
            <a:spAutoFit/>
          </a:bodyPr>
          <a:lstStyle/>
          <a:p>
            <a:pPr rtl="0">
              <a:spcBef>
                <a:spcPts val="789"/>
              </a:spcBef>
              <a:buNone/>
            </a:pPr>
            <a:r>
              <a:rPr lang="da-DK" sz="1050" b="0" i="0" u="none" strike="noStrike" noProof="0">
                <a:solidFill>
                  <a:schemeClr val="tx2"/>
                </a:solidFill>
                <a:effectLst/>
                <a:latin typeface="Inter"/>
              </a:rPr>
              <a:t>Vandudtaget er den mængde vand, der anvendes af virksomheden, hvorunder </a:t>
            </a:r>
            <a:r>
              <a:rPr lang="da-DK" sz="1050" noProof="0">
                <a:solidFill>
                  <a:schemeClr val="tx2"/>
                </a:solidFill>
                <a:latin typeface="Inter"/>
              </a:rPr>
              <a:t>forbruget angiver vand der </a:t>
            </a:r>
            <a:r>
              <a:rPr lang="da-DK" sz="1050" b="0" i="0" u="none" strike="noStrike" noProof="0">
                <a:solidFill>
                  <a:schemeClr val="tx2"/>
                </a:solidFill>
                <a:effectLst/>
                <a:latin typeface="Inter"/>
              </a:rPr>
              <a:t>ikke udledes eller planlægges udledt tilbage til vandmiljøet eller til en tredjepart. I dette afsnit oplyses virksomhedens samlede vandudtag. Virksomhedens vandforbrug</a:t>
            </a:r>
            <a:r>
              <a:rPr lang="da-DK" sz="1050" noProof="0">
                <a:solidFill>
                  <a:schemeClr val="tx2"/>
                </a:solidFill>
                <a:latin typeface="Inter"/>
              </a:rPr>
              <a:t> </a:t>
            </a:r>
            <a:r>
              <a:rPr lang="da-DK" sz="1050" b="0" i="0" u="none" strike="noStrike" noProof="0">
                <a:solidFill>
                  <a:schemeClr val="tx2"/>
                </a:solidFill>
                <a:effectLst/>
                <a:latin typeface="Inter"/>
              </a:rPr>
              <a:t>og vandudledning fra områder med høj vandstress er anført nedenfor.</a:t>
            </a:r>
            <a:endParaRPr lang="da-DK" sz="1050" b="0" noProof="0">
              <a:solidFill>
                <a:schemeClr val="tx2"/>
              </a:solidFill>
              <a:effectLst/>
              <a:latin typeface="Inter"/>
            </a:endParaRPr>
          </a:p>
        </p:txBody>
      </p:sp>
      <p:sp>
        <p:nvSpPr>
          <p:cNvPr id="14" name="Title 3">
            <a:extLst>
              <a:ext uri="{FF2B5EF4-FFF2-40B4-BE49-F238E27FC236}">
                <a16:creationId xmlns:a16="http://schemas.microsoft.com/office/drawing/2014/main" id="{B30A223B-CD1E-62E4-7BF1-B5AAB10A8410}"/>
              </a:ext>
            </a:extLst>
          </p:cNvPr>
          <p:cNvSpPr txBox="1">
            <a:spLocks/>
          </p:cNvSpPr>
          <p:nvPr/>
        </p:nvSpPr>
        <p:spPr>
          <a:xfrm>
            <a:off x="454796" y="2742478"/>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da-DK" noProof="0"/>
              <a:t>Ressourceforbrug, cirkulær økonomi og affaldshåndtering (B7) </a:t>
            </a:r>
          </a:p>
        </p:txBody>
      </p:sp>
      <p:graphicFrame>
        <p:nvGraphicFramePr>
          <p:cNvPr id="15" name="Table 12">
            <a:extLst>
              <a:ext uri="{FF2B5EF4-FFF2-40B4-BE49-F238E27FC236}">
                <a16:creationId xmlns:a16="http://schemas.microsoft.com/office/drawing/2014/main" id="{DD005B21-4552-1869-0C74-C03ADA88E810}"/>
              </a:ext>
            </a:extLst>
          </p:cNvPr>
          <p:cNvGraphicFramePr>
            <a:graphicFrameLocks noGrp="1"/>
          </p:cNvGraphicFramePr>
          <p:nvPr>
            <p:extLst>
              <p:ext uri="{D42A27DB-BD31-4B8C-83A1-F6EECF244321}">
                <p14:modId xmlns:p14="http://schemas.microsoft.com/office/powerpoint/2010/main" val="1002212790"/>
              </p:ext>
            </p:extLst>
          </p:nvPr>
        </p:nvGraphicFramePr>
        <p:xfrm>
          <a:off x="4856790" y="3128095"/>
          <a:ext cx="5380408" cy="826615"/>
        </p:xfrm>
        <a:graphic>
          <a:graphicData uri="http://schemas.openxmlformats.org/drawingml/2006/table">
            <a:tbl>
              <a:tblPr firstRow="1">
                <a:tableStyleId>{2A488322-F2BA-4B5B-9748-0D474271808F}</a:tableStyleId>
              </a:tblPr>
              <a:tblGrid>
                <a:gridCol w="2128528">
                  <a:extLst>
                    <a:ext uri="{9D8B030D-6E8A-4147-A177-3AD203B41FA5}">
                      <a16:colId xmlns:a16="http://schemas.microsoft.com/office/drawing/2014/main" val="2698153288"/>
                    </a:ext>
                  </a:extLst>
                </a:gridCol>
                <a:gridCol w="1654020">
                  <a:extLst>
                    <a:ext uri="{9D8B030D-6E8A-4147-A177-3AD203B41FA5}">
                      <a16:colId xmlns:a16="http://schemas.microsoft.com/office/drawing/2014/main" val="2119413191"/>
                    </a:ext>
                  </a:extLst>
                </a:gridCol>
                <a:gridCol w="1597860">
                  <a:extLst>
                    <a:ext uri="{9D8B030D-6E8A-4147-A177-3AD203B41FA5}">
                      <a16:colId xmlns:a16="http://schemas.microsoft.com/office/drawing/2014/main" val="656209149"/>
                    </a:ext>
                  </a:extLst>
                </a:gridCol>
              </a:tblGrid>
              <a:tr h="236351">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Oplysning om anvendelse af principper fra cirkulær økonomi </a:t>
                      </a:r>
                      <a:r>
                        <a:rPr lang="da-DK" sz="1050" b="0" noProof="0">
                          <a:solidFill>
                            <a:schemeClr val="tx2"/>
                          </a:solidFill>
                        </a:rPr>
                        <a:t>(pkt. 38)</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6091">
                <a:tc rowSpan="2">
                  <a:txBody>
                    <a:bodyPr/>
                    <a:lstStyle/>
                    <a:p>
                      <a:r>
                        <a:rPr lang="da-DK" sz="1050" b="0" noProof="0">
                          <a:solidFill>
                            <a:schemeClr val="tx2"/>
                          </a:solidFill>
                        </a:rPr>
                        <a:t>Min virksomhed anvender principper fra cirkulær økonomi</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050" b="1" noProof="0">
                          <a:solidFill>
                            <a:schemeClr val="tx2"/>
                          </a:solidFill>
                        </a:rPr>
                        <a:t>Ja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050" b="1" noProof="0">
                          <a:solidFill>
                            <a:schemeClr val="tx2"/>
                          </a:solidFill>
                        </a:rPr>
                        <a:t>Nej</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0880">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circular_economy_princples_yes</a:t>
                      </a:r>
                      <a:r>
                        <a:rPr lang="da-DK" sz="1050" b="0" i="0" u="none" strike="noStrike" noProof="0">
                          <a:solidFill>
                            <a:srgbClr val="1B4528"/>
                          </a:solidFill>
                          <a:effectLst/>
                          <a:latin typeface="Inter"/>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circular_economy_princples_no</a:t>
                      </a:r>
                      <a:r>
                        <a:rPr lang="da-DK" sz="1050" b="0" i="0" u="none" strike="noStrike" noProof="0">
                          <a:solidFill>
                            <a:srgbClr val="1B4528"/>
                          </a:solidFill>
                          <a:effectLst/>
                          <a:latin typeface="Inter"/>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6" name="Table 2">
            <a:extLst>
              <a:ext uri="{FF2B5EF4-FFF2-40B4-BE49-F238E27FC236}">
                <a16:creationId xmlns:a16="http://schemas.microsoft.com/office/drawing/2014/main" id="{2AA2F1F9-7A09-1805-85EA-A61B8CDF034E}"/>
              </a:ext>
            </a:extLst>
          </p:cNvPr>
          <p:cNvGraphicFramePr>
            <a:graphicFrameLocks noGrp="1"/>
          </p:cNvGraphicFramePr>
          <p:nvPr>
            <p:extLst>
              <p:ext uri="{D42A27DB-BD31-4B8C-83A1-F6EECF244321}">
                <p14:modId xmlns:p14="http://schemas.microsoft.com/office/powerpoint/2010/main" val="3358194059"/>
              </p:ext>
            </p:extLst>
          </p:nvPr>
        </p:nvGraphicFramePr>
        <p:xfrm>
          <a:off x="445498" y="4074564"/>
          <a:ext cx="9791701" cy="1549905"/>
        </p:xfrm>
        <a:graphic>
          <a:graphicData uri="http://schemas.openxmlformats.org/drawingml/2006/table">
            <a:tbl>
              <a:tblPr firstRow="1">
                <a:tableStyleId>{2A488322-F2BA-4B5B-9748-0D474271808F}</a:tableStyleId>
              </a:tblPr>
              <a:tblGrid>
                <a:gridCol w="9791701">
                  <a:extLst>
                    <a:ext uri="{9D8B030D-6E8A-4147-A177-3AD203B41FA5}">
                      <a16:colId xmlns:a16="http://schemas.microsoft.com/office/drawing/2014/main" val="2698153288"/>
                    </a:ext>
                  </a:extLst>
                </a:gridCol>
              </a:tblGrid>
              <a:tr h="256676">
                <a:tc>
                  <a:txBody>
                    <a:bodyPr/>
                    <a:lstStyle/>
                    <a:p>
                      <a:r>
                        <a:rPr lang="da-DK" sz="1050" b="1" noProof="0">
                          <a:solidFill>
                            <a:schemeClr val="tx2"/>
                          </a:solidFill>
                        </a:rPr>
                        <a:t>Beskrivelse af, hvordan virksomheden arbejder med principper fra cirkulær økonomi </a:t>
                      </a:r>
                      <a:r>
                        <a:rPr lang="da-DK" sz="1050" b="0" noProof="0">
                          <a:solidFill>
                            <a:schemeClr val="tx2"/>
                          </a:solidFill>
                        </a:rPr>
                        <a:t>(pkt. 38 fortsat)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1293229">
                <a:tc>
                  <a:txBody>
                    <a:bodyPr/>
                    <a:lstStyle/>
                    <a:p>
                      <a:pPr algn="l"/>
                      <a:r>
                        <a:rPr lang="da-DK" sz="1050" b="0" kern="1200" noProof="0">
                          <a:solidFill>
                            <a:srgbClr val="1B4528"/>
                          </a:solidFill>
                          <a:latin typeface="+mn-lt"/>
                          <a:ea typeface="+mn-ea"/>
                          <a:cs typeface="+mn-cs"/>
                        </a:rPr>
                        <a:t>{{</a:t>
                      </a:r>
                      <a:r>
                        <a:rPr lang="da-DK" sz="1050" b="0" kern="1200" noProof="0" err="1">
                          <a:solidFill>
                            <a:srgbClr val="1B4528"/>
                          </a:solidFill>
                          <a:latin typeface="+mn-lt"/>
                          <a:ea typeface="+mn-ea"/>
                          <a:cs typeface="+mn-cs"/>
                        </a:rPr>
                        <a:t>description_of_circular_economies</a:t>
                      </a:r>
                      <a:r>
                        <a:rPr lang="da-DK" sz="1050" b="0" kern="1200" noProof="0">
                          <a:solidFill>
                            <a:srgbClr val="1B4528"/>
                          </a:solidFill>
                          <a:latin typeface="+mn-lt"/>
                          <a:ea typeface="+mn-ea"/>
                          <a:cs typeface="+mn-cs"/>
                        </a:rPr>
                        <a:t>}}</a:t>
                      </a:r>
                    </a:p>
                    <a:p>
                      <a:pPr algn="l"/>
                      <a:endParaRPr lang="da-DK" sz="1050" b="0" kern="1200" noProof="0">
                        <a:solidFill>
                          <a:srgbClr val="1B4528"/>
                        </a:solidFill>
                        <a:latin typeface="+mn-lt"/>
                        <a:ea typeface="+mn-ea"/>
                        <a:cs typeface="+mn-cs"/>
                      </a:endParaRPr>
                    </a:p>
                  </a:txBody>
                  <a:tcPr marL="47356" marR="47356" marT="31571" marB="31571">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5" name="Tekstfelt 24">
            <a:extLst>
              <a:ext uri="{FF2B5EF4-FFF2-40B4-BE49-F238E27FC236}">
                <a16:creationId xmlns:a16="http://schemas.microsoft.com/office/drawing/2014/main" id="{02BB91A8-5ECA-5F09-CF3C-575CB2D07459}"/>
              </a:ext>
            </a:extLst>
          </p:cNvPr>
          <p:cNvSpPr txBox="1"/>
          <p:nvPr/>
        </p:nvSpPr>
        <p:spPr>
          <a:xfrm>
            <a:off x="445765" y="3147944"/>
            <a:ext cx="4247524" cy="728758"/>
          </a:xfrm>
          <a:prstGeom prst="rect">
            <a:avLst/>
          </a:prstGeom>
          <a:noFill/>
        </p:spPr>
        <p:txBody>
          <a:bodyPr wrap="square" lIns="80190" tIns="40095" rIns="80190" bIns="40095" anchor="t">
            <a:spAutoFit/>
          </a:bodyPr>
          <a:lstStyle/>
          <a:p>
            <a:pPr rtl="0">
              <a:buNone/>
            </a:pPr>
            <a:r>
              <a:rPr lang="da-DK" sz="1050" b="0" i="0" u="none" strike="noStrike" noProof="0">
                <a:solidFill>
                  <a:schemeClr val="tx2"/>
                </a:solidFill>
                <a:effectLst/>
                <a:latin typeface="Inter"/>
              </a:rPr>
              <a:t>Dette informationskrav angiver information om hvorvidt virksomheden</a:t>
            </a:r>
            <a:r>
              <a:rPr lang="da-DK" sz="1050" noProof="0">
                <a:solidFill>
                  <a:schemeClr val="tx2"/>
                </a:solidFill>
                <a:latin typeface="Inter"/>
              </a:rPr>
              <a:t> anvender principper for cirkulær økonomi. Herunder, om der er principper i anvendelse når det kommer til reduktion af affald og forurening samt fokus på cirkulære produkter og materialer.</a:t>
            </a:r>
          </a:p>
        </p:txBody>
      </p:sp>
    </p:spTree>
    <p:extLst>
      <p:ext uri="{BB962C8B-B14F-4D97-AF65-F5344CB8AC3E}">
        <p14:creationId xmlns:p14="http://schemas.microsoft.com/office/powerpoint/2010/main" val="999658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Ressourceforbrug, cirkulær økonomi og affaldshåndtering (B7) – fortsat</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829584165"/>
              </p:ext>
            </p:extLst>
          </p:nvPr>
        </p:nvGraphicFramePr>
        <p:xfrm>
          <a:off x="445499" y="1442996"/>
          <a:ext cx="6440256" cy="1885752"/>
        </p:xfrm>
        <a:graphic>
          <a:graphicData uri="http://schemas.openxmlformats.org/drawingml/2006/table">
            <a:tbl>
              <a:tblPr firstRow="1">
                <a:tableStyleId>{2A488322-F2BA-4B5B-9748-0D474271808F}</a:tableStyleId>
              </a:tblPr>
              <a:tblGrid>
                <a:gridCol w="1995980">
                  <a:extLst>
                    <a:ext uri="{9D8B030D-6E8A-4147-A177-3AD203B41FA5}">
                      <a16:colId xmlns:a16="http://schemas.microsoft.com/office/drawing/2014/main" val="2698153288"/>
                    </a:ext>
                  </a:extLst>
                </a:gridCol>
                <a:gridCol w="2230323">
                  <a:extLst>
                    <a:ext uri="{9D8B030D-6E8A-4147-A177-3AD203B41FA5}">
                      <a16:colId xmlns:a16="http://schemas.microsoft.com/office/drawing/2014/main" val="2119413191"/>
                    </a:ext>
                  </a:extLst>
                </a:gridCol>
                <a:gridCol w="2213953">
                  <a:extLst>
                    <a:ext uri="{9D8B030D-6E8A-4147-A177-3AD203B41FA5}">
                      <a16:colId xmlns:a16="http://schemas.microsoft.com/office/drawing/2014/main" val="4075157689"/>
                    </a:ext>
                  </a:extLst>
                </a:gridCol>
              </a:tblGrid>
              <a:tr h="288168">
                <a:tc gridSpan="3">
                  <a:txBody>
                    <a:bodyPr/>
                    <a:lstStyle/>
                    <a:p>
                      <a:pPr algn="ctr"/>
                      <a:r>
                        <a:rPr lang="da-DK" sz="1050" b="1" noProof="0">
                          <a:solidFill>
                            <a:schemeClr val="tx2"/>
                          </a:solidFill>
                        </a:rPr>
                        <a:t>Samlet mængde affald årligt</a:t>
                      </a:r>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700" b="1">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585054">
                <a:tc>
                  <a:txBody>
                    <a:bodyPr/>
                    <a:lstStyle/>
                    <a:p>
                      <a:endParaRPr lang="da-DK" sz="1050" b="1"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050" b="1" noProof="0">
                          <a:solidFill>
                            <a:schemeClr val="tx2"/>
                          </a:solidFill>
                        </a:rPr>
                        <a:t>Samlet mængde affald </a:t>
                      </a:r>
                      <a:r>
                        <a:rPr lang="da-DK" sz="1050" b="0" noProof="0">
                          <a:solidFill>
                            <a:schemeClr val="tx2"/>
                          </a:solidFill>
                        </a:rPr>
                        <a:t>(pkt. 39a)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050" b="1" noProof="0">
                          <a:solidFill>
                            <a:schemeClr val="tx2"/>
                          </a:solidFill>
                        </a:rPr>
                        <a:t>Affald der omdirigeres til genanvendelse eller forberedelse mhp. genbrug </a:t>
                      </a:r>
                      <a:r>
                        <a:rPr lang="da-DK" sz="1050" b="0" noProof="0">
                          <a:solidFill>
                            <a:schemeClr val="tx2"/>
                          </a:solidFill>
                        </a:rPr>
                        <a:t>(pkt. 39b)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0134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Ikke-farligt affald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204917">
                <a:tc>
                  <a:txBody>
                    <a:bodyPr/>
                    <a:lstStyle/>
                    <a:p>
                      <a:pPr rtl="0" fontAlgn="ctr" algn="l">
                        <a:buNone/>
                      </a:pPr>
                      <a:r>
                        <a:rPr lang="da-DK" sz="1050" b="0" i="0" u="none" strike="noStrike" noProof="0">
                          <a:solidFill>
                            <a:srgbClr val="1B4528"/>
                          </a:solidFill>
                          <a:effectLst/>
                          <a:latin typeface="Inter"/>
                        </a:rPr>
                        <a:t>{{Type_af_affald}}</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{{kg_tons_total}}</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nter"/>
                        </a:rPr>
                        <a:t>{{genbrug_kg_tons}}</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01348">
                <a:tc>
                  <a:txBody>
                    <a:bodyPr/>
                    <a:lstStyle/>
                    <a:p>
                      <a:r>
                        <a:rPr lang="da-DK" sz="1050" b="1" noProof="0">
                          <a:solidFill>
                            <a:schemeClr val="tx2"/>
                          </a:solidFill>
                        </a:rPr>
                        <a:t>Farligt affald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1050" b="0" noProof="0">
                        <a:solidFill>
                          <a:schemeClr val="tx2"/>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204917">
                <a:tc>
                  <a:txBody>
                    <a:bodyPr/>
                    <a:lstStyle/>
                    <a:p>
                      <a:pPr rtl="0" fontAlgn="ctr" algn="l">
                        <a:buNone/>
                      </a:pPr>
                      <a:r>
                        <a:rPr lang="da-DK" sz="1050" b="0" i="0" u="none" strike="noStrike" noProof="0">
                          <a:solidFill>
                            <a:srgbClr val="1B4528"/>
                          </a:solidFill>
                          <a:effectLst/>
                          <a:latin typeface="Inter"/>
                        </a:rPr>
                        <a:t>{{Type_af_affald_farlig}}</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{{farlig_kg_tons}}</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1050" b="0" i="0" u="none" strike="noStrike" noProof="0">
                          <a:solidFill>
                            <a:srgbClr val="1B4528"/>
                          </a:solidFill>
                          <a:effectLst/>
                          <a:latin typeface="Inter"/>
                        </a:rPr>
                        <a:t>{{farlig_genbrug_kg_tons}}</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9</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54796" y="891000"/>
            <a:ext cx="9791704" cy="404866"/>
          </a:xfrm>
          <a:prstGeom prst="rect">
            <a:avLst/>
          </a:prstGeom>
          <a:noFill/>
        </p:spPr>
        <p:txBody>
          <a:bodyPr wrap="square">
            <a:spAutoFit/>
          </a:bodyPr>
          <a:lstStyle/>
          <a:p>
            <a:pPr rtl="0">
              <a:buNone/>
            </a:pPr>
            <a:r>
              <a:rPr lang="da-DK" sz="1050" b="0" i="0" u="none" strike="noStrike" noProof="0">
                <a:solidFill>
                  <a:schemeClr val="tx2"/>
                </a:solidFill>
                <a:effectLst/>
                <a:latin typeface="Inter"/>
              </a:rPr>
              <a:t>Følgende afsnit angiver oplysninger om materialeforbrug og affaldshåndtering. Oplysningerne er relateret til cirkulær økonomi og angiver virksomhedens samlede årlige affaldsproduktion (farligt/ikke-farligt) er fordelt og ligeledes anføres mængderne af væsentlige materialer. </a:t>
            </a:r>
            <a:endParaRPr lang="da-DK" sz="1050"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4113487528"/>
              </p:ext>
            </p:extLst>
          </p:nvPr>
        </p:nvGraphicFramePr>
        <p:xfrm>
          <a:off x="7156908" y="1442996"/>
          <a:ext cx="3080297" cy="1885752"/>
        </p:xfrm>
        <a:graphic>
          <a:graphicData uri="http://schemas.openxmlformats.org/drawingml/2006/table">
            <a:tbl>
              <a:tblPr firstRow="1">
                <a:tableStyleId>{2A488322-F2BA-4B5B-9748-0D474271808F}</a:tableStyleId>
              </a:tblPr>
              <a:tblGrid>
                <a:gridCol w="1976312">
                  <a:extLst>
                    <a:ext uri="{9D8B030D-6E8A-4147-A177-3AD203B41FA5}">
                      <a16:colId xmlns:a16="http://schemas.microsoft.com/office/drawing/2014/main" val="2698153288"/>
                    </a:ext>
                  </a:extLst>
                </a:gridCol>
                <a:gridCol w="1103985">
                  <a:extLst>
                    <a:ext uri="{9D8B030D-6E8A-4147-A177-3AD203B41FA5}">
                      <a16:colId xmlns:a16="http://schemas.microsoft.com/office/drawing/2014/main" val="2119413191"/>
                    </a:ext>
                  </a:extLst>
                </a:gridCol>
              </a:tblGrid>
              <a:tr h="1020579">
                <a:tc>
                  <a:txBody>
                    <a:bodyPr/>
                    <a:lstStyle/>
                    <a:p>
                      <a:r>
                        <a:rPr lang="da-DK" sz="1050" b="1" noProof="0">
                          <a:solidFill>
                            <a:schemeClr val="tx2"/>
                          </a:solidFill>
                        </a:rPr>
                        <a:t>Væsentlige materialer </a:t>
                      </a:r>
                      <a:r>
                        <a:rPr lang="da-DK" sz="1050" b="0" noProof="0">
                          <a:solidFill>
                            <a:schemeClr val="tx2"/>
                          </a:solidFill>
                        </a:rPr>
                        <a:t>(pkt. 39c)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1050" b="1" noProof="0">
                          <a:solidFill>
                            <a:schemeClr val="tx2"/>
                          </a:solidFill>
                        </a:rPr>
                        <a:t>Årligt masse-flow </a:t>
                      </a:r>
                      <a:r>
                        <a:rPr lang="da-DK" sz="1050" b="1" noProof="0">
                          <a:solidFill>
                            <a:srgbClr val="1B4528"/>
                          </a:solidFill>
                        </a:rPr>
                        <a:t>{{insert_year}}</a:t>
                      </a:r>
                      <a:endParaRPr lang="da-DK" sz="1050" b="0"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865174">
                <a:tc>
                  <a:txBody>
                    <a:bodyPr/>
                    <a:lstStyle/>
                    <a:p>
                      <a:pPr algn="l"/>
                      <a:r>
                        <a:rPr lang="da-DK" sz="1050" b="0" i="0" u="none" strike="noStrike" noProof="0">
                          <a:solidFill>
                            <a:srgbClr val="1B4528"/>
                          </a:solidFill>
                          <a:latin typeface="Inter"/>
                        </a:rPr>
                        <a:t>{{significant_material}}</a:t>
                      </a:r>
                      <a:endParaRPr lang="da-DK" sz="1050" b="0" noProof="0">
                        <a:solidFill>
                          <a:srgbClr val="1B4528"/>
                        </a:solidFill>
                        <a:latin typeface="Inter"/>
                        <a:cs typeface="Calibri"/>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1050" b="0" i="0" u="none" strike="noStrike" noProof="0">
                          <a:solidFill>
                            <a:srgbClr val="1B4528"/>
                          </a:solidFill>
                          <a:latin typeface="Inter"/>
                        </a:rPr>
                        <a:t>{{significant_material_unit}}</a:t>
                      </a:r>
                      <a:endParaRPr lang="da-DK" sz="1050" b="0" i="0" u="none" strike="noStrike" noProof="0">
                        <a:solidFill>
                          <a:srgbClr val="000000"/>
                        </a:solidFill>
                        <a:latin typeface="Inter"/>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Egen arbejdsstyrke: Generelle karakteristika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45493" y="1520475"/>
          <a:ext cx="4365905" cy="1736882"/>
        </p:xfrm>
        <a:graphic>
          <a:graphicData uri="http://schemas.openxmlformats.org/drawingml/2006/table">
            <a:tbl>
              <a:tblPr firstRow="1">
                <a:tableStyleId>{2A488322-F2BA-4B5B-9748-0D474271808F}</a:tableStyleId>
              </a:tblPr>
              <a:tblGrid>
                <a:gridCol w="2182953">
                  <a:extLst>
                    <a:ext uri="{9D8B030D-6E8A-4147-A177-3AD203B41FA5}">
                      <a16:colId xmlns:a16="http://schemas.microsoft.com/office/drawing/2014/main" val="2698153288"/>
                    </a:ext>
                  </a:extLst>
                </a:gridCol>
                <a:gridCol w="2182953">
                  <a:extLst>
                    <a:ext uri="{9D8B030D-6E8A-4147-A177-3AD203B41FA5}">
                      <a16:colId xmlns:a16="http://schemas.microsoft.com/office/drawing/2014/main" val="2119413191"/>
                    </a:ext>
                  </a:extLst>
                </a:gridCol>
              </a:tblGrid>
              <a:tr h="477688">
                <a:tc>
                  <a:txBody>
                    <a:bodyPr/>
                    <a:lstStyle/>
                    <a:p>
                      <a:r>
                        <a:rPr lang="da-DK" sz="1050" b="1" noProof="0">
                          <a:solidFill>
                            <a:schemeClr val="tx2"/>
                          </a:solidFill>
                        </a:rPr>
                        <a:t>Kontrakttype </a:t>
                      </a:r>
                      <a:r>
                        <a:rPr lang="da-DK" sz="1050" b="0" noProof="0">
                          <a:solidFill>
                            <a:schemeClr val="tx2"/>
                          </a:solidFill>
                        </a:rPr>
                        <a:t>(pkt. 40a)</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050" b="1" noProof="0">
                          <a:solidFill>
                            <a:schemeClr val="tx2"/>
                          </a:solidFill>
                        </a:rPr>
                        <a:t>Antal ansatte (antal personer eller fuldtidsækvivalenter)</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19731">
                <a:tc>
                  <a:txBody>
                    <a:bodyPr/>
                    <a:lstStyle/>
                    <a:p>
                      <a:r>
                        <a:rPr lang="da-DK" sz="1050" b="0" noProof="0">
                          <a:solidFill>
                            <a:schemeClr val="tx2"/>
                          </a:solidFill>
                        </a:rPr>
                        <a:t>Midlertidig ansættelse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temporary</a:t>
                      </a:r>
                      <a:r>
                        <a:rPr lang="da-DK" sz="1050" b="0" i="0" u="none" strike="noStrike" noProof="0">
                          <a:solidFill>
                            <a:srgbClr val="1B4528"/>
                          </a:solidFill>
                          <a:effectLst/>
                          <a:latin typeface="Inter"/>
                        </a:rPr>
                        <a:t>}}</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419731">
                <a:tc>
                  <a:txBody>
                    <a:bodyPr/>
                    <a:lstStyle/>
                    <a:p>
                      <a:r>
                        <a:rPr lang="da-DK" sz="1050" b="0" noProof="0">
                          <a:solidFill>
                            <a:schemeClr val="tx2"/>
                          </a:solidFill>
                        </a:rPr>
                        <a:t>Fastansættelse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fulltime</a:t>
                      </a:r>
                      <a:r>
                        <a:rPr lang="da-DK" sz="1050" b="0" i="0" u="none" strike="noStrike" noProof="0">
                          <a:solidFill>
                            <a:srgbClr val="1B4528"/>
                          </a:solidFill>
                          <a:effectLst/>
                          <a:latin typeface="Inter"/>
                        </a:rPr>
                        <a:t>}}</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419731">
                <a:tc>
                  <a:txBody>
                    <a:bodyPr/>
                    <a:lstStyle/>
                    <a:p>
                      <a:r>
                        <a:rPr lang="da-DK" sz="1050" b="0" noProof="0">
                          <a:solidFill>
                            <a:schemeClr val="tx2"/>
                          </a:solidFill>
                        </a:rPr>
                        <a:t>Totalt antal ansatte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total_employees</a:t>
                      </a:r>
                      <a:r>
                        <a:rPr lang="da-DK" sz="1050" b="0" i="0" u="none" strike="noStrike" noProof="0">
                          <a:solidFill>
                            <a:srgbClr val="1B4528"/>
                          </a:solidFill>
                          <a:effectLst/>
                          <a:latin typeface="Inter"/>
                        </a:rPr>
                        <a:t>}}</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5008093" y="1520477"/>
          <a:ext cx="5238408" cy="1736880"/>
        </p:xfrm>
        <a:graphic>
          <a:graphicData uri="http://schemas.openxmlformats.org/drawingml/2006/table">
            <a:tbl>
              <a:tblPr firstRow="1">
                <a:tableStyleId>{2A488322-F2BA-4B5B-9748-0D474271808F}</a:tableStyleId>
              </a:tblPr>
              <a:tblGrid>
                <a:gridCol w="2619204">
                  <a:extLst>
                    <a:ext uri="{9D8B030D-6E8A-4147-A177-3AD203B41FA5}">
                      <a16:colId xmlns:a16="http://schemas.microsoft.com/office/drawing/2014/main" val="2698153288"/>
                    </a:ext>
                  </a:extLst>
                </a:gridCol>
                <a:gridCol w="2619204">
                  <a:extLst>
                    <a:ext uri="{9D8B030D-6E8A-4147-A177-3AD203B41FA5}">
                      <a16:colId xmlns:a16="http://schemas.microsoft.com/office/drawing/2014/main" val="2119413191"/>
                    </a:ext>
                  </a:extLst>
                </a:gridCol>
              </a:tblGrid>
              <a:tr h="383942">
                <a:tc>
                  <a:txBody>
                    <a:bodyPr/>
                    <a:lstStyle/>
                    <a:p>
                      <a:r>
                        <a:rPr lang="da-DK" sz="1050" b="1" noProof="0">
                          <a:solidFill>
                            <a:schemeClr val="tx2"/>
                          </a:solidFill>
                          <a:latin typeface="+mn-lt"/>
                        </a:rPr>
                        <a:t>Køn</a:t>
                      </a:r>
                      <a:r>
                        <a:rPr lang="da-DK" sz="1050" b="0" noProof="0">
                          <a:solidFill>
                            <a:schemeClr val="tx2"/>
                          </a:solidFill>
                          <a:latin typeface="+mn-lt"/>
                        </a:rPr>
                        <a:t> </a:t>
                      </a:r>
                      <a:r>
                        <a:rPr lang="da-DK" sz="1050" b="0" noProof="0">
                          <a:solidFill>
                            <a:schemeClr val="tx2"/>
                          </a:solidFill>
                        </a:rPr>
                        <a:t>(pkt. 40b)</a:t>
                      </a:r>
                      <a:endParaRPr lang="da-DK" sz="1050" b="0"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050" b="1" noProof="0">
                          <a:solidFill>
                            <a:schemeClr val="tx2"/>
                          </a:solidFill>
                          <a:latin typeface="+mn-lt"/>
                        </a:rPr>
                        <a:t>Antal ansatte </a:t>
                      </a:r>
                      <a:r>
                        <a:rPr lang="da-DK" sz="1050" b="1" noProof="0">
                          <a:solidFill>
                            <a:schemeClr val="tx2"/>
                          </a:solidFill>
                        </a:rPr>
                        <a:t>(antal personer eller fuldtidsækvivalenter)</a:t>
                      </a:r>
                      <a:endParaRPr lang="da-DK" sz="1050" b="1" noProof="0">
                        <a:solidFill>
                          <a:schemeClr val="tx2"/>
                        </a:solidFill>
                        <a:latin typeface="+mn-lt"/>
                      </a:endParaRP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74244">
                <a:tc>
                  <a:txBody>
                    <a:bodyPr/>
                    <a:lstStyle/>
                    <a:p>
                      <a:r>
                        <a:rPr lang="da-DK" sz="1050" b="0" noProof="0">
                          <a:solidFill>
                            <a:schemeClr val="tx2"/>
                          </a:solidFill>
                          <a:latin typeface="+mn-lt"/>
                        </a:rPr>
                        <a:t>Mand</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{{men}}</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65103">
                <a:tc>
                  <a:txBody>
                    <a:bodyPr/>
                    <a:lstStyle/>
                    <a:p>
                      <a:r>
                        <a:rPr lang="da-DK" sz="1050" b="0" noProof="0">
                          <a:solidFill>
                            <a:schemeClr val="tx2"/>
                          </a:solidFill>
                          <a:latin typeface="+mn-lt"/>
                        </a:rPr>
                        <a:t>Kvinde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women</a:t>
                      </a:r>
                      <a:r>
                        <a:rPr lang="da-DK" sz="1050" b="0" i="0" u="none" strike="noStrike" noProof="0">
                          <a:solidFill>
                            <a:srgbClr val="1B4528"/>
                          </a:solidFill>
                          <a:effectLst/>
                          <a:latin typeface="Inter"/>
                        </a:rPr>
                        <a:t>}}</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74244">
                <a:tc>
                  <a:txBody>
                    <a:bodyPr/>
                    <a:lstStyle/>
                    <a:p>
                      <a:r>
                        <a:rPr lang="da-DK" sz="1050" b="0" noProof="0">
                          <a:solidFill>
                            <a:schemeClr val="tx2"/>
                          </a:solidFill>
                          <a:latin typeface="+mn-lt"/>
                        </a:rPr>
                        <a:t>Andet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others</a:t>
                      </a:r>
                      <a:r>
                        <a:rPr lang="da-DK" sz="1050" b="0" i="0" u="none" strike="noStrike" noProof="0">
                          <a:solidFill>
                            <a:srgbClr val="1B4528"/>
                          </a:solidFill>
                          <a:effectLst/>
                          <a:latin typeface="Inter"/>
                        </a:rPr>
                        <a:t>}}</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74244">
                <a:tc>
                  <a:txBody>
                    <a:bodyPr/>
                    <a:lstStyle/>
                    <a:p>
                      <a:r>
                        <a:rPr lang="da-DK" sz="1050" b="0" noProof="0">
                          <a:solidFill>
                            <a:schemeClr val="tx2"/>
                          </a:solidFill>
                          <a:latin typeface="+mn-lt"/>
                        </a:rPr>
                        <a:t>Ikke registreret</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not_registeret</a:t>
                      </a:r>
                      <a:r>
                        <a:rPr lang="da-DK" sz="1050" b="0" i="0" u="none" strike="noStrike" noProof="0">
                          <a:solidFill>
                            <a:srgbClr val="1B4528"/>
                          </a:solidFill>
                          <a:effectLst/>
                          <a:latin typeface="Inter"/>
                        </a:rPr>
                        <a:t>}}</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65103">
                <a:tc>
                  <a:txBody>
                    <a:bodyPr/>
                    <a:lstStyle/>
                    <a:p>
                      <a:r>
                        <a:rPr lang="da-DK" sz="1050" b="0" noProof="0">
                          <a:solidFill>
                            <a:schemeClr val="tx2"/>
                          </a:solidFill>
                          <a:latin typeface="+mn-lt"/>
                        </a:rPr>
                        <a:t>Totalt antal ansatte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total_employees</a:t>
                      </a:r>
                      <a:r>
                        <a:rPr lang="da-DK" sz="1050" b="0" i="0" u="none" strike="noStrike" noProof="0">
                          <a:solidFill>
                            <a:srgbClr val="1B4528"/>
                          </a:solidFill>
                          <a:effectLst/>
                          <a:latin typeface="Inter"/>
                        </a:rPr>
                        <a:t>}}</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10</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54796" y="913284"/>
            <a:ext cx="9791704" cy="728758"/>
          </a:xfrm>
          <a:prstGeom prst="rect">
            <a:avLst/>
          </a:prstGeom>
          <a:noFill/>
        </p:spPr>
        <p:txBody>
          <a:bodyPr wrap="square">
            <a:spAutoFit/>
          </a:bodyPr>
          <a:lstStyle/>
          <a:p>
            <a:pPr rtl="0">
              <a:buNone/>
            </a:pPr>
            <a:r>
              <a:rPr lang="da-DK" sz="1050" b="0" i="0" u="none" strike="noStrike" noProof="0">
                <a:solidFill>
                  <a:srgbClr val="25595D"/>
                </a:solidFill>
                <a:effectLst/>
                <a:latin typeface="Inter"/>
              </a:rPr>
              <a:t>Virksomheden har oplyst antallet af medarbejdere for følgende specifikationer: Type ansættelseskontrakt, hvor medarbejderne er opdelt i midlertidige og faste kontrakter; Køn, som giver indsigt i kønsfordelingen blandt medarbejderne; og ansættelseskontraktens land, hvilket er relevant, hvis virksomheden opererer i flere lande.</a:t>
            </a:r>
            <a:endParaRPr lang="da-DK" sz="1050" b="0" noProof="0">
              <a:effectLst/>
              <a:latin typeface="Inter"/>
            </a:endParaRPr>
          </a:p>
          <a:p>
            <a:pPr>
              <a:buNone/>
            </a:pPr>
            <a:br>
              <a:rPr lang="da-DK" sz="1050" noProof="0">
                <a:latin typeface="Inter"/>
              </a:rPr>
            </a:br>
            <a:endParaRPr lang="da-DK" sz="1050"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47022" y="3446606"/>
          <a:ext cx="9790181" cy="1010268"/>
        </p:xfrm>
        <a:graphic>
          <a:graphicData uri="http://schemas.openxmlformats.org/drawingml/2006/table">
            <a:tbl>
              <a:tblPr firstRow="1">
                <a:tableStyleId>{2A488322-F2BA-4B5B-9748-0D474271808F}</a:tableStyleId>
              </a:tblPr>
              <a:tblGrid>
                <a:gridCol w="5233603">
                  <a:extLst>
                    <a:ext uri="{9D8B030D-6E8A-4147-A177-3AD203B41FA5}">
                      <a16:colId xmlns:a16="http://schemas.microsoft.com/office/drawing/2014/main" val="2698153288"/>
                    </a:ext>
                  </a:extLst>
                </a:gridCol>
                <a:gridCol w="4556578">
                  <a:extLst>
                    <a:ext uri="{9D8B030D-6E8A-4147-A177-3AD203B41FA5}">
                      <a16:colId xmlns:a16="http://schemas.microsoft.com/office/drawing/2014/main" val="2119413191"/>
                    </a:ext>
                  </a:extLst>
                </a:gridCol>
              </a:tblGrid>
              <a:tr h="252567">
                <a:tc>
                  <a:txBody>
                    <a:bodyPr/>
                    <a:lstStyle/>
                    <a:p>
                      <a:r>
                        <a:rPr lang="da-DK" sz="1050" b="1" noProof="0">
                          <a:solidFill>
                            <a:schemeClr val="tx2"/>
                          </a:solidFill>
                        </a:rPr>
                        <a:t>Land (hvor ansættelseskontrakten er indgået) </a:t>
                      </a:r>
                      <a:r>
                        <a:rPr lang="da-DK" sz="1050" b="0" noProof="0">
                          <a:solidFill>
                            <a:schemeClr val="tx2"/>
                          </a:solidFill>
                        </a:rPr>
                        <a:t>(pkt. 40c)</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1050" b="1" noProof="0">
                          <a:solidFill>
                            <a:schemeClr val="tx2"/>
                          </a:solidFill>
                        </a:rPr>
                        <a:t>Antal ansatte (antal personer eller fuldtidsækvivalenter)</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52567">
                <a:tc>
                  <a:txBody>
                    <a:bodyPr/>
                    <a:lstStyle/>
                    <a:p>
                      <a:r>
                        <a:rPr lang="da-DK" sz="1050" b="0" noProof="0">
                          <a:solidFill>
                            <a:schemeClr val="tx2"/>
                          </a:solidFill>
                        </a:rPr>
                        <a:t>Danmark</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a-DK" sz="1050" b="0" i="0" u="none" strike="noStrike" noProof="0">
                          <a:solidFill>
                            <a:srgbClr val="1B4528"/>
                          </a:solidFill>
                          <a:effectLst/>
                          <a:latin typeface="Inter"/>
                        </a:rPr>
                        <a:t>{{Denmark}}</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52567">
                <a:tc>
                  <a:txBody>
                    <a:bodyPr/>
                    <a:lstStyle/>
                    <a:p>
                      <a:pPr rtl="0" fontAlgn="ctr" algn="l">
                        <a:buNone/>
                      </a:pPr>
                      <a:r>
                        <a:rPr lang="da-DK" sz="1050" b="0" i="0" u="none" strike="noStrike" noProof="0">
                          <a:solidFill>
                            <a:srgbClr val="1B4528"/>
                          </a:solidFill>
                          <a:effectLst/>
                          <a:latin typeface="Inter"/>
                        </a:rPr>
                        <a:t>{{Land_b}}</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a-DK" sz="1050" b="0" i="0" u="none" strike="noStrike" noProof="0">
                          <a:solidFill>
                            <a:srgbClr val="1B4528"/>
                          </a:solidFill>
                          <a:effectLst/>
                          <a:latin typeface="Inter"/>
                        </a:rPr>
                        <a:t>{{</a:t>
                      </a:r>
                      <a:r>
                        <a:rPr lang="da-DK" sz="1050" b="0" i="0" u="none" strike="noStrike" noProof="0">
                          <a:solidFill>
                            <a:srgbClr val="1B4528"/>
                          </a:solidFill>
                          <a:effectLst/>
                        </a:rPr>
                        <a:t>FTE_eller_antal_personer_land_b</a:t>
                      </a:r>
                      <a:r>
                        <a:rPr lang="da-DK" sz="1050" b="0" i="0" u="none" strike="noStrike" noProof="0">
                          <a:solidFill>
                            <a:srgbClr val="1B4528"/>
                          </a:solidFill>
                          <a:effectLst/>
                          <a:latin typeface="Inter"/>
                        </a:rPr>
                        <a:t>}}</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52567">
                <a:tc>
                  <a:txBody>
                    <a:bodyPr/>
                    <a:lstStyle/>
                    <a:p>
                      <a:r>
                        <a:rPr lang="da-DK" sz="1050" b="0" noProof="0">
                          <a:solidFill>
                            <a:schemeClr val="tx2"/>
                          </a:solidFill>
                        </a:rPr>
                        <a:t>Totalt antal ansatte</a:t>
                      </a:r>
                    </a:p>
                  </a:txBody>
                  <a:tcPr marL="47356" marR="47356" marT="18943" marB="1894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1050" b="0" i="0" u="none" strike="noStrike" noProof="0">
                          <a:solidFill>
                            <a:srgbClr val="1B4528"/>
                          </a:solidFill>
                          <a:effectLst/>
                          <a:latin typeface="Inter"/>
                        </a:rPr>
                        <a:t>{{Total_out_of_countries}}</a:t>
                      </a:r>
                      <a:endParaRPr lang="da-DK" sz="1050" b="0" noProof="0">
                        <a:effectLst/>
                      </a:endParaRPr>
                    </a:p>
                  </a:txBody>
                  <a:tcPr marL="22275" marR="22275" marT="11138" marB="11138"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Tree>
    <p:extLst>
      <p:ext uri="{BB962C8B-B14F-4D97-AF65-F5344CB8AC3E}">
        <p14:creationId xmlns:p14="http://schemas.microsoft.com/office/powerpoint/2010/main" val="2298971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Egen arbejdsstyrke: Sundhed og sikkerhed (B9)</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3735616830"/>
              </p:ext>
            </p:extLst>
          </p:nvPr>
        </p:nvGraphicFramePr>
        <p:xfrm>
          <a:off x="445500" y="1509220"/>
          <a:ext cx="4796551" cy="966505"/>
        </p:xfrm>
        <a:graphic>
          <a:graphicData uri="http://schemas.openxmlformats.org/drawingml/2006/table">
            <a:tbl>
              <a:tblPr firstRow="1">
                <a:tableStyleId>{2A488322-F2BA-4B5B-9748-0D474271808F}</a:tableStyleId>
              </a:tblPr>
              <a:tblGrid>
                <a:gridCol w="2656189">
                  <a:extLst>
                    <a:ext uri="{9D8B030D-6E8A-4147-A177-3AD203B41FA5}">
                      <a16:colId xmlns:a16="http://schemas.microsoft.com/office/drawing/2014/main" val="2698153288"/>
                    </a:ext>
                  </a:extLst>
                </a:gridCol>
                <a:gridCol w="2140363">
                  <a:extLst>
                    <a:ext uri="{9D8B030D-6E8A-4147-A177-3AD203B41FA5}">
                      <a16:colId xmlns:a16="http://schemas.microsoft.com/office/drawing/2014/main" val="2119413191"/>
                    </a:ext>
                  </a:extLst>
                </a:gridCol>
              </a:tblGrid>
              <a:tr h="3221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Registrerede arbejdsulykker </a:t>
                      </a:r>
                      <a:r>
                        <a:rPr lang="da-DK" sz="1050" b="0" noProof="0">
                          <a:solidFill>
                            <a:schemeClr val="tx2"/>
                          </a:solidFill>
                        </a:rPr>
                        <a:t>(pkt. 41a)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År</a:t>
                      </a:r>
                      <a:r>
                        <a:rPr lang="da-DK"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22168">
                <a:tc>
                  <a:txBody>
                    <a:bodyPr/>
                    <a:lstStyle/>
                    <a:p>
                      <a:r>
                        <a:rPr lang="da-DK" sz="1050" b="0" noProof="0">
                          <a:solidFill>
                            <a:schemeClr val="tx2"/>
                          </a:solidFill>
                        </a:rPr>
                        <a:t>Antal</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1050" b="0" i="0" u="none" strike="noStrike" kern="1200" cap="none" spc="0" normalizeH="0" baseline="0" noProof="0">
                          <a:ln>
                            <a:noFill/>
                          </a:ln>
                          <a:solidFill>
                            <a:srgbClr val="1B4528"/>
                          </a:solidFill>
                          <a:effectLst/>
                          <a:uLnTx/>
                          <a:uFillTx/>
                          <a:latin typeface="Inter"/>
                          <a:ea typeface="+mn-ea"/>
                          <a:cs typeface="+mn-cs"/>
                        </a:rPr>
                        <a:t>{{</a:t>
                      </a:r>
                      <a:r>
                        <a:rPr lang="da-DK" sz="1050" b="0" i="0" u="none" strike="noStrike" kern="1200" cap="none" spc="0" normalizeH="0" baseline="0" noProof="0">
                          <a:ln>
                            <a:noFill/>
                          </a:ln>
                          <a:solidFill>
                            <a:srgbClr val="1B4528"/>
                          </a:solidFill>
                          <a:effectLst/>
                          <a:uLnTx/>
                          <a:uFillTx/>
                          <a:latin typeface="Inter"/>
                        </a:rPr>
                        <a:t>indsat_antal_accidents</a:t>
                      </a:r>
                      <a:r>
                        <a:rPr lang="da-DK" sz="1050" b="0" i="0" u="none" strike="noStrike" kern="1200" cap="none" spc="0" normalizeH="0" baseline="0" noProof="0">
                          <a:ln>
                            <a:noFill/>
                          </a:ln>
                          <a:solidFill>
                            <a:srgbClr val="1B4528"/>
                          </a:solidFill>
                          <a:effectLst/>
                          <a:uLnTx/>
                          <a:uFillTx/>
                          <a:latin typeface="Inter"/>
                          <a:ea typeface="+mn-ea"/>
                          <a:cs typeface="+mn-cs"/>
                        </a:rPr>
                        <a:t>}}</a:t>
                      </a:r>
                      <a:endParaRPr kumimoji="0" lang="da-DK"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22168">
                <a:tc>
                  <a:txBody>
                    <a:bodyPr/>
                    <a:lstStyle/>
                    <a:p>
                      <a:r>
                        <a:rPr lang="da-DK" sz="1050" b="0" noProof="0">
                          <a:solidFill>
                            <a:schemeClr val="tx2"/>
                          </a:solidFill>
                        </a:rPr>
                        <a:t>Frekvens</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1050" b="0" i="0" u="none" strike="noStrike" kern="1200" cap="none" spc="0" normalizeH="0" baseline="0" noProof="0">
                          <a:ln>
                            <a:noFill/>
                          </a:ln>
                          <a:solidFill>
                            <a:srgbClr val="1B4528"/>
                          </a:solidFill>
                          <a:effectLst/>
                          <a:uLnTx/>
                          <a:uFillTx/>
                          <a:latin typeface="Inter"/>
                          <a:ea typeface="+mn-ea"/>
                          <a:cs typeface="+mn-cs"/>
                        </a:rPr>
                        <a:t>{{</a:t>
                      </a:r>
                      <a:r>
                        <a:rPr lang="da-DK" sz="1050" b="0" i="0" u="none" strike="noStrike" kern="1200" cap="none" spc="0" normalizeH="0" baseline="0" noProof="0">
                          <a:ln>
                            <a:noFill/>
                          </a:ln>
                          <a:solidFill>
                            <a:srgbClr val="1B4528"/>
                          </a:solidFill>
                          <a:effectLst/>
                          <a:uLnTx/>
                          <a:uFillTx/>
                          <a:latin typeface="Inter"/>
                        </a:rPr>
                        <a:t>indsat_accidents_frequents</a:t>
                      </a:r>
                      <a:r>
                        <a:rPr lang="da-DK" sz="1050" b="0" i="0" u="none" strike="noStrike" kern="1200" cap="none" spc="0" normalizeH="0" baseline="0" noProof="0">
                          <a:ln>
                            <a:noFill/>
                          </a:ln>
                          <a:solidFill>
                            <a:srgbClr val="1B4528"/>
                          </a:solidFill>
                          <a:effectLst/>
                          <a:uLnTx/>
                          <a:uFillTx/>
                          <a:latin typeface="Inter"/>
                          <a:ea typeface="+mn-ea"/>
                          <a:cs typeface="+mn-cs"/>
                        </a:rPr>
                        <a:t>}}</a:t>
                      </a:r>
                      <a:endParaRPr kumimoji="0" lang="da-DK"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 name="Table 8">
            <a:extLst>
              <a:ext uri="{FF2B5EF4-FFF2-40B4-BE49-F238E27FC236}">
                <a16:creationId xmlns:a16="http://schemas.microsoft.com/office/drawing/2014/main" id="{F34D7173-AC05-2CA2-966F-6F3A8736B5C6}"/>
              </a:ext>
            </a:extLst>
          </p:cNvPr>
          <p:cNvGraphicFramePr>
            <a:graphicFrameLocks noGrp="1"/>
          </p:cNvGraphicFramePr>
          <p:nvPr>
            <p:extLst>
              <p:ext uri="{D42A27DB-BD31-4B8C-83A1-F6EECF244321}">
                <p14:modId xmlns:p14="http://schemas.microsoft.com/office/powerpoint/2010/main" val="3388670097"/>
              </p:ext>
            </p:extLst>
          </p:nvPr>
        </p:nvGraphicFramePr>
        <p:xfrm>
          <a:off x="5440653" y="1509221"/>
          <a:ext cx="4796551" cy="966504"/>
        </p:xfrm>
        <a:graphic>
          <a:graphicData uri="http://schemas.openxmlformats.org/drawingml/2006/table">
            <a:tbl>
              <a:tblPr firstRow="1">
                <a:tableStyleId>{2A488322-F2BA-4B5B-9748-0D474271808F}</a:tableStyleId>
              </a:tblPr>
              <a:tblGrid>
                <a:gridCol w="3313422">
                  <a:extLst>
                    <a:ext uri="{9D8B030D-6E8A-4147-A177-3AD203B41FA5}">
                      <a16:colId xmlns:a16="http://schemas.microsoft.com/office/drawing/2014/main" val="2698153288"/>
                    </a:ext>
                  </a:extLst>
                </a:gridCol>
                <a:gridCol w="1483129">
                  <a:extLst>
                    <a:ext uri="{9D8B030D-6E8A-4147-A177-3AD203B41FA5}">
                      <a16:colId xmlns:a16="http://schemas.microsoft.com/office/drawing/2014/main" val="2119413191"/>
                    </a:ext>
                  </a:extLst>
                </a:gridCol>
              </a:tblGrid>
              <a:tr h="2912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Arbejdsrelaterede dødsfald </a:t>
                      </a:r>
                      <a:r>
                        <a:rPr lang="da-DK" sz="1050" b="0" noProof="0">
                          <a:solidFill>
                            <a:schemeClr val="tx2"/>
                          </a:solidFill>
                        </a:rPr>
                        <a:t>(pkt. 41b)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År</a:t>
                      </a:r>
                      <a:r>
                        <a:rPr lang="da-DK"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3942">
                <a:tc>
                  <a:txBody>
                    <a:bodyPr/>
                    <a:lstStyle/>
                    <a:p>
                      <a:r>
                        <a:rPr lang="da-DK" sz="1050" b="0" noProof="0">
                          <a:solidFill>
                            <a:schemeClr val="tx2"/>
                          </a:solidFill>
                        </a:rPr>
                        <a:t>Som følge af arbejdsskade/-ulykke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a:lnSpc>
                          <a:spcPct val="100000"/>
                        </a:lnSpc>
                        <a:spcBef>
                          <a:spcPts val="0"/>
                        </a:spcBef>
                        <a:spcAft>
                          <a:spcPts val="0"/>
                        </a:spcAft>
                        <a:buNone/>
                        <a:tabLst/>
                        <a:defRPr/>
                      </a:pPr>
                      <a:r>
                        <a:rPr lang="da-DK" sz="1050" b="0" i="0" u="none" strike="noStrike" kern="1200" cap="none" spc="0" normalizeH="0" baseline="0" noProof="0">
                          <a:ln>
                            <a:noFill/>
                          </a:ln>
                          <a:solidFill>
                            <a:srgbClr val="1B4528"/>
                          </a:solidFill>
                          <a:effectLst/>
                          <a:uLnTx/>
                          <a:uFillTx/>
                          <a:latin typeface="Inter"/>
                          <a:ea typeface="+mn-ea"/>
                          <a:cs typeface="+mn-cs"/>
                        </a:rPr>
                        <a:t>{{</a:t>
                      </a:r>
                      <a:r>
                        <a:rPr lang="da-DK" sz="1050" b="0" i="0" u="none" strike="noStrike" kern="1200" cap="none" spc="0" normalizeH="0" baseline="0" noProof="0">
                          <a:ln>
                            <a:noFill/>
                          </a:ln>
                          <a:solidFill>
                            <a:srgbClr val="1B4528"/>
                          </a:solidFill>
                          <a:effectLst/>
                          <a:uLnTx/>
                          <a:uFillTx/>
                          <a:latin typeface="Inter"/>
                        </a:rPr>
                        <a:t>deaths_by_accidents</a:t>
                      </a:r>
                      <a:r>
                        <a:rPr lang="da-DK" sz="1050" b="0" i="0" u="none" strike="noStrike" kern="1200" cap="none" spc="0" normalizeH="0" baseline="0" noProof="0">
                          <a:ln>
                            <a:noFill/>
                          </a:ln>
                          <a:solidFill>
                            <a:srgbClr val="1B4528"/>
                          </a:solidFill>
                          <a:effectLst/>
                          <a:uLnTx/>
                          <a:uFillTx/>
                          <a:latin typeface="Inter"/>
                          <a:ea typeface="+mn-ea"/>
                          <a:cs typeface="+mn-cs"/>
                        </a:rPr>
                        <a:t>}}</a:t>
                      </a:r>
                      <a:endParaRPr kumimoji="0" lang="da-DK"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91281">
                <a:tc>
                  <a:txBody>
                    <a:bodyPr/>
                    <a:lstStyle/>
                    <a:p>
                      <a:r>
                        <a:rPr lang="da-DK" sz="1050" b="0" noProof="0">
                          <a:solidFill>
                            <a:schemeClr val="tx2"/>
                          </a:solidFill>
                        </a:rPr>
                        <a:t>Som følge af arbejdsrelateret dårligt helbred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1050" b="0" i="0" u="none" strike="noStrike" kern="1200" cap="none" spc="0" normalizeH="0" baseline="0" noProof="0">
                          <a:ln>
                            <a:noFill/>
                          </a:ln>
                          <a:solidFill>
                            <a:srgbClr val="1B4528"/>
                          </a:solidFill>
                          <a:effectLst/>
                          <a:uLnTx/>
                          <a:uFillTx/>
                          <a:latin typeface="Inter"/>
                          <a:ea typeface="+mn-ea"/>
                          <a:cs typeface="+mn-cs"/>
                        </a:rPr>
                        <a:t>{{</a:t>
                      </a:r>
                      <a:r>
                        <a:rPr lang="da-DK" sz="1050" b="0" i="0" u="none" strike="noStrike" kern="1200" cap="none" spc="0" normalizeH="0" baseline="0" noProof="0">
                          <a:ln>
                            <a:noFill/>
                          </a:ln>
                          <a:solidFill>
                            <a:srgbClr val="1B4528"/>
                          </a:solidFill>
                          <a:effectLst/>
                          <a:uLnTx/>
                          <a:uFillTx/>
                          <a:latin typeface="Inter"/>
                        </a:rPr>
                        <a:t>deaths_by_health</a:t>
                      </a:r>
                      <a:r>
                        <a:rPr lang="da-DK" sz="1050" b="0" i="0" u="none" strike="noStrike" kern="1200" cap="none" spc="0" normalizeH="0" baseline="0" noProof="0">
                          <a:ln>
                            <a:noFill/>
                          </a:ln>
                          <a:solidFill>
                            <a:srgbClr val="1B4528"/>
                          </a:solidFill>
                          <a:effectLst/>
                          <a:uLnTx/>
                          <a:uFillTx/>
                          <a:latin typeface="Inter"/>
                          <a:ea typeface="+mn-ea"/>
                          <a:cs typeface="+mn-cs"/>
                        </a:rPr>
                        <a:t>}}</a:t>
                      </a:r>
                      <a:endParaRPr kumimoji="0" lang="da-DK" sz="1050" b="0" i="0" u="none" strike="noStrike" kern="1200" cap="none" spc="0" normalizeH="0" baseline="0" noProof="0">
                        <a:ln>
                          <a:noFill/>
                        </a:ln>
                        <a:solidFill>
                          <a:srgbClr val="1B4528"/>
                        </a:solidFill>
                        <a:effectLst/>
                        <a:uLnTx/>
                        <a:uFillTx/>
                        <a:latin typeface="Inter"/>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11</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br>
              <a:rPr lang="da-DK" noProof="0"/>
            </a:br>
            <a:endParaRPr lang="da-DK" noProof="0"/>
          </a:p>
        </p:txBody>
      </p:sp>
      <p:sp>
        <p:nvSpPr>
          <p:cNvPr id="23" name="Tekstfelt 22">
            <a:extLst>
              <a:ext uri="{FF2B5EF4-FFF2-40B4-BE49-F238E27FC236}">
                <a16:creationId xmlns:a16="http://schemas.microsoft.com/office/drawing/2014/main" id="{5D01A9BD-1028-6124-EDFA-F7528B760856}"/>
              </a:ext>
            </a:extLst>
          </p:cNvPr>
          <p:cNvSpPr txBox="1"/>
          <p:nvPr/>
        </p:nvSpPr>
        <p:spPr>
          <a:xfrm>
            <a:off x="454796" y="873256"/>
            <a:ext cx="9791704" cy="728758"/>
          </a:xfrm>
          <a:prstGeom prst="rect">
            <a:avLst/>
          </a:prstGeom>
          <a:noFill/>
        </p:spPr>
        <p:txBody>
          <a:bodyPr wrap="square">
            <a:spAutoFit/>
          </a:bodyPr>
          <a:lstStyle/>
          <a:p>
            <a:pPr rtl="0">
              <a:buNone/>
            </a:pPr>
            <a:r>
              <a:rPr lang="da-DK" sz="1050" b="0" i="0" u="none" strike="noStrike" noProof="0">
                <a:solidFill>
                  <a:schemeClr val="tx2"/>
                </a:solidFill>
                <a:effectLst/>
                <a:latin typeface="Inter"/>
              </a:rPr>
              <a:t>Virksomheden har givet oplysninger om antallet af registrerede arbejdsulykker og arbejdsrelaterede dødsfald for følgende specifikationer: Antal og hyppighed. Derudover, om arbejdsrelaterede dødsfald skyldes arbejdsskader/arbejdsulykker eller dårligt helbred.</a:t>
            </a:r>
            <a:endParaRPr lang="da-DK" sz="1050" b="0" noProof="0">
              <a:solidFill>
                <a:schemeClr val="tx2"/>
              </a:solidFill>
              <a:effectLst/>
              <a:latin typeface="Inter"/>
            </a:endParaRPr>
          </a:p>
          <a:p>
            <a:pPr>
              <a:buNone/>
            </a:pPr>
            <a:br>
              <a:rPr lang="da-DK" sz="1050" noProof="0">
                <a:solidFill>
                  <a:schemeClr val="tx2"/>
                </a:solidFill>
                <a:latin typeface="Inter"/>
              </a:rPr>
            </a:br>
            <a:endParaRPr lang="da-DK" sz="1050" noProof="0">
              <a:solidFill>
                <a:schemeClr val="tx2"/>
              </a:solidFill>
              <a:latin typeface="Inter"/>
            </a:endParaRPr>
          </a:p>
        </p:txBody>
      </p:sp>
      <p:sp>
        <p:nvSpPr>
          <p:cNvPr id="24" name="Title 3">
            <a:extLst>
              <a:ext uri="{FF2B5EF4-FFF2-40B4-BE49-F238E27FC236}">
                <a16:creationId xmlns:a16="http://schemas.microsoft.com/office/drawing/2014/main" id="{9671F0E7-ADFB-1E9D-A747-4277AC9D48F4}"/>
              </a:ext>
            </a:extLst>
          </p:cNvPr>
          <p:cNvSpPr txBox="1">
            <a:spLocks/>
          </p:cNvSpPr>
          <p:nvPr/>
        </p:nvSpPr>
        <p:spPr>
          <a:xfrm>
            <a:off x="454796" y="2676156"/>
            <a:ext cx="9791704" cy="218627"/>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575" b="1" kern="1200" spc="-10" baseline="0">
                <a:solidFill>
                  <a:schemeClr val="tx2"/>
                </a:solidFill>
                <a:latin typeface="+mj-lt"/>
                <a:ea typeface="+mj-ea"/>
                <a:cs typeface="+mj-cs"/>
              </a:defRPr>
            </a:lvl1pPr>
          </a:lstStyle>
          <a:p>
            <a:r>
              <a:rPr lang="da-DK" noProof="0"/>
              <a:t>Egen arbejdsstyrke: Vederlag, overenskomster og uddannelse (B10)</a:t>
            </a:r>
          </a:p>
        </p:txBody>
      </p:sp>
      <p:graphicFrame>
        <p:nvGraphicFramePr>
          <p:cNvPr id="26" name="Table 14">
            <a:extLst>
              <a:ext uri="{FF2B5EF4-FFF2-40B4-BE49-F238E27FC236}">
                <a16:creationId xmlns:a16="http://schemas.microsoft.com/office/drawing/2014/main" id="{B9DC9ED6-A05A-D3CE-334F-D39DB9606395}"/>
              </a:ext>
            </a:extLst>
          </p:cNvPr>
          <p:cNvGraphicFramePr>
            <a:graphicFrameLocks noGrp="1"/>
          </p:cNvGraphicFramePr>
          <p:nvPr>
            <p:extLst>
              <p:ext uri="{D42A27DB-BD31-4B8C-83A1-F6EECF244321}">
                <p14:modId xmlns:p14="http://schemas.microsoft.com/office/powerpoint/2010/main" val="2949925802"/>
              </p:ext>
            </p:extLst>
          </p:nvPr>
        </p:nvGraphicFramePr>
        <p:xfrm>
          <a:off x="5449949" y="3922747"/>
          <a:ext cx="4796550" cy="767803"/>
        </p:xfrm>
        <a:graphic>
          <a:graphicData uri="http://schemas.openxmlformats.org/drawingml/2006/table">
            <a:tbl>
              <a:tblPr firstRow="1">
                <a:tableStyleId>{2A488322-F2BA-4B5B-9748-0D474271808F}</a:tableStyleId>
              </a:tblPr>
              <a:tblGrid>
                <a:gridCol w="3337539">
                  <a:extLst>
                    <a:ext uri="{9D8B030D-6E8A-4147-A177-3AD203B41FA5}">
                      <a16:colId xmlns:a16="http://schemas.microsoft.com/office/drawing/2014/main" val="2698153288"/>
                    </a:ext>
                  </a:extLst>
                </a:gridCol>
                <a:gridCol w="1459012">
                  <a:extLst>
                    <a:ext uri="{9D8B030D-6E8A-4147-A177-3AD203B41FA5}">
                      <a16:colId xmlns:a16="http://schemas.microsoft.com/office/drawing/2014/main" val="2119413191"/>
                    </a:ext>
                  </a:extLst>
                </a:gridCol>
              </a:tblGrid>
              <a:tr h="293941">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Lønforskel mellem mandlige og kvindelige ansatte </a:t>
                      </a:r>
                      <a:r>
                        <a:rPr lang="da-DK" sz="1050" b="0" noProof="0">
                          <a:solidFill>
                            <a:schemeClr val="tx2"/>
                          </a:solidFill>
                        </a:rPr>
                        <a:t>(pkt. 42b)</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År</a:t>
                      </a:r>
                      <a:r>
                        <a:rPr lang="da-DK" sz="1050" b="1" noProof="0">
                          <a:solidFill>
                            <a:srgbClr val="1B4528"/>
                          </a:solidFill>
                          <a:latin typeface="Calibri" panose="020F0502020204030204" pitchFamily="34" charset="0"/>
                          <a:cs typeface="Calibri" panose="020F0502020204030204" pitchFamily="34" charset="0"/>
                        </a:rPr>
                        <a:t> </a:t>
                      </a:r>
                      <a:r>
                        <a:rPr lang="da-DK" sz="1050" b="1" noProof="0">
                          <a:solidFill>
                            <a:srgbClr val="1B4528"/>
                          </a:solidFill>
                        </a:rPr>
                        <a:t>{{</a:t>
                      </a:r>
                      <a:r>
                        <a:rPr lang="da-DK" sz="1050" b="1" noProof="0" err="1">
                          <a:solidFill>
                            <a:srgbClr val="1B4528"/>
                          </a:solidFill>
                        </a:rPr>
                        <a:t>insert_year</a:t>
                      </a:r>
                      <a:r>
                        <a:rPr lang="da-DK" sz="1050" b="1" noProof="0">
                          <a:solidFill>
                            <a:srgbClr val="1B4528"/>
                          </a:solidFill>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73862">
                <a:tc vMerge="1">
                  <a:txBody>
                    <a:bodyPr/>
                    <a:lstStyle/>
                    <a:p>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a-DK" sz="1050" b="0" noProof="0">
                          <a:solidFill>
                            <a:srgbClr val="1B4528"/>
                          </a:solidFill>
                        </a:rPr>
                        <a:t>{{</a:t>
                      </a:r>
                      <a:r>
                        <a:rPr lang="da-DK" sz="1050" b="0" noProof="0" err="1">
                          <a:solidFill>
                            <a:srgbClr val="1B4528"/>
                          </a:solidFill>
                        </a:rPr>
                        <a:t>indsat_procentvise_lonforskel</a:t>
                      </a:r>
                      <a:r>
                        <a:rPr lang="da-DK" sz="1050" b="0" noProof="0">
                          <a:solidFill>
                            <a:srgbClr val="1B4528"/>
                          </a:solidFill>
                        </a:rPr>
                        <a:t>}}</a:t>
                      </a:r>
                    </a:p>
                  </a:txBody>
                  <a:tcPr marL="31571" marR="31571"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27" name="Tabel 26">
            <a:extLst>
              <a:ext uri="{FF2B5EF4-FFF2-40B4-BE49-F238E27FC236}">
                <a16:creationId xmlns:a16="http://schemas.microsoft.com/office/drawing/2014/main" id="{6746C932-5E3F-E60C-3154-F9D424D47444}"/>
              </a:ext>
            </a:extLst>
          </p:cNvPr>
          <p:cNvGraphicFramePr>
            <a:graphicFrameLocks noGrp="1"/>
          </p:cNvGraphicFramePr>
          <p:nvPr>
            <p:extLst>
              <p:ext uri="{D42A27DB-BD31-4B8C-83A1-F6EECF244321}">
                <p14:modId xmlns:p14="http://schemas.microsoft.com/office/powerpoint/2010/main" val="1071495807"/>
              </p:ext>
            </p:extLst>
          </p:nvPr>
        </p:nvGraphicFramePr>
        <p:xfrm>
          <a:off x="445496" y="3922749"/>
          <a:ext cx="4800267" cy="758742"/>
        </p:xfrm>
        <a:graphic>
          <a:graphicData uri="http://schemas.openxmlformats.org/drawingml/2006/table">
            <a:tbl>
              <a:tblPr firstRow="1">
                <a:tableStyleId>{2A488322-F2BA-4B5B-9748-0D474271808F}</a:tableStyleId>
              </a:tblPr>
              <a:tblGrid>
                <a:gridCol w="2633550">
                  <a:extLst>
                    <a:ext uri="{9D8B030D-6E8A-4147-A177-3AD203B41FA5}">
                      <a16:colId xmlns:a16="http://schemas.microsoft.com/office/drawing/2014/main" val="160727125"/>
                    </a:ext>
                  </a:extLst>
                </a:gridCol>
                <a:gridCol w="1111137">
                  <a:extLst>
                    <a:ext uri="{9D8B030D-6E8A-4147-A177-3AD203B41FA5}">
                      <a16:colId xmlns:a16="http://schemas.microsoft.com/office/drawing/2014/main" val="1767985329"/>
                    </a:ext>
                  </a:extLst>
                </a:gridCol>
                <a:gridCol w="1055580">
                  <a:extLst>
                    <a:ext uri="{9D8B030D-6E8A-4147-A177-3AD203B41FA5}">
                      <a16:colId xmlns:a16="http://schemas.microsoft.com/office/drawing/2014/main" val="1397164534"/>
                    </a:ext>
                  </a:extLst>
                </a:gridCol>
              </a:tblGrid>
              <a:tr h="219395">
                <a:tc>
                  <a:txBody>
                    <a:bodyPr/>
                    <a:lstStyle/>
                    <a:p>
                      <a:r>
                        <a:rPr lang="da-DK" sz="1050" b="1" noProof="0">
                          <a:solidFill>
                            <a:schemeClr val="tx2"/>
                          </a:solidFill>
                        </a:rPr>
                        <a:t>Oplysninger om minimumsløn </a:t>
                      </a:r>
                      <a:r>
                        <a:rPr lang="da-DK" sz="1050" b="0" noProof="0">
                          <a:solidFill>
                            <a:schemeClr val="tx2"/>
                          </a:solidFill>
                        </a:rPr>
                        <a:t>(42a)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050" b="1" noProof="0">
                          <a:solidFill>
                            <a:schemeClr val="tx2"/>
                          </a:solidFill>
                        </a:rPr>
                        <a:t>Ja</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050" b="1" noProof="0">
                          <a:solidFill>
                            <a:schemeClr val="tx2"/>
                          </a:solidFill>
                        </a:rPr>
                        <a:t>Nej</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539347">
                <a:tc>
                  <a:txBody>
                    <a:bodyPr/>
                    <a:lstStyle/>
                    <a:p>
                      <a:r>
                        <a:rPr lang="da-DK" sz="1050" b="0" noProof="0">
                          <a:solidFill>
                            <a:schemeClr val="tx2"/>
                          </a:solidFill>
                        </a:rPr>
                        <a:t>I virksomheden modtager alle ansatte en løn, der som minimum er på niveau med minimumslønnen </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minumum_wage_yes</a:t>
                      </a:r>
                      <a:r>
                        <a:rPr lang="da-DK" sz="1050" b="0" i="0" u="none" strike="noStrike" noProof="0">
                          <a:solidFill>
                            <a:srgbClr val="1B4528"/>
                          </a:solidFill>
                          <a:effectLst/>
                          <a:latin typeface="Inter"/>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minimum_wage_no</a:t>
                      </a:r>
                      <a:r>
                        <a:rPr lang="da-DK" sz="1050" b="0" i="0" u="none" strike="noStrike" noProof="0">
                          <a:solidFill>
                            <a:srgbClr val="1B4528"/>
                          </a:solidFill>
                          <a:effectLst/>
                          <a:latin typeface="Inter"/>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29" name="Table 16">
            <a:extLst>
              <a:ext uri="{FF2B5EF4-FFF2-40B4-BE49-F238E27FC236}">
                <a16:creationId xmlns:a16="http://schemas.microsoft.com/office/drawing/2014/main" id="{9493B198-6182-0768-EF14-0EF37F9E9F4F}"/>
              </a:ext>
            </a:extLst>
          </p:cNvPr>
          <p:cNvGraphicFramePr>
            <a:graphicFrameLocks noGrp="1"/>
          </p:cNvGraphicFramePr>
          <p:nvPr>
            <p:extLst>
              <p:ext uri="{D42A27DB-BD31-4B8C-83A1-F6EECF244321}">
                <p14:modId xmlns:p14="http://schemas.microsoft.com/office/powerpoint/2010/main" val="654789346"/>
              </p:ext>
            </p:extLst>
          </p:nvPr>
        </p:nvGraphicFramePr>
        <p:xfrm>
          <a:off x="445498" y="4815858"/>
          <a:ext cx="4796552" cy="805477"/>
        </p:xfrm>
        <a:graphic>
          <a:graphicData uri="http://schemas.openxmlformats.org/drawingml/2006/table">
            <a:tbl>
              <a:tblPr firstRow="1">
                <a:tableStyleId>{2A488322-F2BA-4B5B-9748-0D474271808F}</a:tableStyleId>
              </a:tblPr>
              <a:tblGrid>
                <a:gridCol w="2650727">
                  <a:extLst>
                    <a:ext uri="{9D8B030D-6E8A-4147-A177-3AD203B41FA5}">
                      <a16:colId xmlns:a16="http://schemas.microsoft.com/office/drawing/2014/main" val="81046444"/>
                    </a:ext>
                  </a:extLst>
                </a:gridCol>
                <a:gridCol w="2145825">
                  <a:extLst>
                    <a:ext uri="{9D8B030D-6E8A-4147-A177-3AD203B41FA5}">
                      <a16:colId xmlns:a16="http://schemas.microsoft.com/office/drawing/2014/main" val="2119413191"/>
                    </a:ext>
                  </a:extLst>
                </a:gridCol>
              </a:tblGrid>
              <a:tr h="3656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Kollektiv overenskomst </a:t>
                      </a:r>
                      <a:r>
                        <a:rPr lang="da-DK" sz="1050" b="0" noProof="0">
                          <a:solidFill>
                            <a:schemeClr val="tx2"/>
                          </a:solidFill>
                        </a:rPr>
                        <a:t>(pkt. 42c)</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År</a:t>
                      </a:r>
                      <a:r>
                        <a:rPr lang="da-DK" sz="1050" b="1" noProof="0">
                          <a:solidFill>
                            <a:srgbClr val="1B4528"/>
                          </a:solidFill>
                          <a:latin typeface="Calibri" panose="020F0502020204030204" pitchFamily="34" charset="0"/>
                          <a:cs typeface="Calibri" panose="020F0502020204030204" pitchFamily="34" charset="0"/>
                        </a:rPr>
                        <a:t> {{</a:t>
                      </a:r>
                      <a:r>
                        <a:rPr lang="da-DK" sz="1050" b="1" noProof="0" err="1">
                          <a:solidFill>
                            <a:srgbClr val="1B4528"/>
                          </a:solidFill>
                          <a:latin typeface="Calibri" panose="020F0502020204030204" pitchFamily="34" charset="0"/>
                          <a:cs typeface="Calibri" panose="020F0502020204030204" pitchFamily="34" charset="0"/>
                        </a:rPr>
                        <a:t>insert_year</a:t>
                      </a:r>
                      <a:r>
                        <a:rPr lang="da-DK" sz="1050" b="1" noProof="0">
                          <a:solidFill>
                            <a:srgbClr val="1B4528"/>
                          </a:solidFill>
                          <a:latin typeface="Calibri" panose="020F0502020204030204" pitchFamily="34" charset="0"/>
                          <a:cs typeface="Calibri" panose="020F0502020204030204" pitchFamily="34" charset="0"/>
                        </a:rPr>
                        <a:t>}}</a:t>
                      </a:r>
                      <a:endParaRPr lang="da-DK" sz="1050" b="1" noProof="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397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1050" b="0" noProof="0">
                          <a:solidFill>
                            <a:schemeClr val="tx2"/>
                          </a:solidFill>
                        </a:rPr>
                        <a:t>Procentvis ansatte, der er dækket af en kollektiv overenskomst</a:t>
                      </a:r>
                      <a:endParaRPr kumimoji="0" lang="da-DK" sz="1050" b="0" i="0" u="none" strike="noStrike" kern="1200" cap="none" spc="0" normalizeH="0" baseline="0" noProof="0">
                        <a:ln>
                          <a:noFill/>
                        </a:ln>
                        <a:solidFill>
                          <a:srgbClr val="1B4528"/>
                        </a:solidFill>
                        <a:effectLst/>
                        <a:uLnTx/>
                        <a:uFillTx/>
                        <a:latin typeface="IBM Plex Sans"/>
                        <a:ea typeface="+mn-ea"/>
                        <a:cs typeface="+mn-cs"/>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a-DK" sz="1050" b="0" i="0" u="none" strike="noStrike" kern="1200" cap="none" spc="0" normalizeH="0" baseline="0" noProof="0">
                          <a:ln>
                            <a:noFill/>
                          </a:ln>
                          <a:solidFill>
                            <a:srgbClr val="1B4528"/>
                          </a:solidFill>
                          <a:effectLst/>
                          <a:uLnTx/>
                          <a:uFillTx/>
                          <a:latin typeface="+mn-lt"/>
                          <a:ea typeface="+mn-ea"/>
                          <a:cs typeface="+mn-cs"/>
                        </a:rPr>
                        <a:t>{{</a:t>
                      </a:r>
                      <a:r>
                        <a:rPr kumimoji="0" lang="da-DK" sz="1050" b="0" i="0" u="none" strike="noStrike" kern="1200" cap="none" spc="0" normalizeH="0" baseline="0" noProof="0" err="1">
                          <a:ln>
                            <a:noFill/>
                          </a:ln>
                          <a:solidFill>
                            <a:srgbClr val="1B4528"/>
                          </a:solidFill>
                          <a:effectLst/>
                          <a:uLnTx/>
                          <a:uFillTx/>
                          <a:latin typeface="+mn-lt"/>
                          <a:ea typeface="+mn-ea"/>
                          <a:cs typeface="+mn-cs"/>
                        </a:rPr>
                        <a:t>indsat_procentvis_ansatte</a:t>
                      </a:r>
                      <a:r>
                        <a:rPr kumimoji="0" lang="da-DK" sz="1050" b="0" i="0" u="none" strike="noStrike" kern="1200" cap="none" spc="0" normalizeH="0" baseline="0" noProof="0">
                          <a:ln>
                            <a:noFill/>
                          </a:ln>
                          <a:solidFill>
                            <a:srgbClr val="1B4528"/>
                          </a:solidFill>
                          <a:effectLst/>
                          <a:uLnTx/>
                          <a:uFillTx/>
                          <a:latin typeface="+mn-lt"/>
                          <a:ea typeface="+mn-ea"/>
                          <a:cs typeface="+mn-cs"/>
                        </a:rPr>
                        <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31" name="Table 19">
            <a:extLst>
              <a:ext uri="{FF2B5EF4-FFF2-40B4-BE49-F238E27FC236}">
                <a16:creationId xmlns:a16="http://schemas.microsoft.com/office/drawing/2014/main" id="{12B3A72C-4031-E6CE-E541-98C8068B1C36}"/>
              </a:ext>
            </a:extLst>
          </p:cNvPr>
          <p:cNvGraphicFramePr>
            <a:graphicFrameLocks noGrp="1"/>
          </p:cNvGraphicFramePr>
          <p:nvPr>
            <p:extLst>
              <p:ext uri="{D42A27DB-BD31-4B8C-83A1-F6EECF244321}">
                <p14:modId xmlns:p14="http://schemas.microsoft.com/office/powerpoint/2010/main" val="469699691"/>
              </p:ext>
            </p:extLst>
          </p:nvPr>
        </p:nvGraphicFramePr>
        <p:xfrm>
          <a:off x="5448102" y="4806633"/>
          <a:ext cx="4796550" cy="814702"/>
        </p:xfrm>
        <a:graphic>
          <a:graphicData uri="http://schemas.openxmlformats.org/drawingml/2006/table">
            <a:tbl>
              <a:tblPr firstRow="1">
                <a:tableStyleId>{2A488322-F2BA-4B5B-9748-0D474271808F}</a:tableStyleId>
              </a:tblPr>
              <a:tblGrid>
                <a:gridCol w="3339386">
                  <a:extLst>
                    <a:ext uri="{9D8B030D-6E8A-4147-A177-3AD203B41FA5}">
                      <a16:colId xmlns:a16="http://schemas.microsoft.com/office/drawing/2014/main" val="2698153288"/>
                    </a:ext>
                  </a:extLst>
                </a:gridCol>
                <a:gridCol w="1457165">
                  <a:extLst>
                    <a:ext uri="{9D8B030D-6E8A-4147-A177-3AD203B41FA5}">
                      <a16:colId xmlns:a16="http://schemas.microsoft.com/office/drawing/2014/main" val="2119413191"/>
                    </a:ext>
                  </a:extLst>
                </a:gridCol>
              </a:tblGrid>
              <a:tr h="411922">
                <a:tc>
                  <a:txBody>
                    <a:bodyPr/>
                    <a:lstStyle/>
                    <a:p>
                      <a:r>
                        <a:rPr lang="da-DK" sz="1050" b="1" noProof="0">
                          <a:solidFill>
                            <a:schemeClr val="tx2"/>
                          </a:solidFill>
                        </a:rPr>
                        <a:t>Uddannelsestimer i gennemsnit pr. ansat </a:t>
                      </a:r>
                      <a:r>
                        <a:rPr lang="da-DK" sz="1050" b="0" noProof="0">
                          <a:solidFill>
                            <a:schemeClr val="tx2"/>
                          </a:solidFill>
                        </a:rPr>
                        <a:t>(pkt. 42d)</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1050" b="1" noProof="0">
                          <a:solidFill>
                            <a:schemeClr val="tx2"/>
                          </a:solidFill>
                        </a:rPr>
                        <a:t>År</a:t>
                      </a:r>
                      <a:r>
                        <a:rPr lang="da-DK" sz="1050" b="1" noProof="0">
                          <a:solidFill>
                            <a:srgbClr val="1B4528"/>
                          </a:solidFill>
                          <a:latin typeface="Calibri"/>
                          <a:cs typeface="Calibri"/>
                        </a:rPr>
                        <a:t> {{insert_year}}</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02780">
                <a:tc>
                  <a:txBody>
                    <a:bodyPr/>
                    <a:lstStyle/>
                    <a:p>
                      <a:r>
                        <a:rPr lang="da-DK" sz="1050" b="0" noProof="0">
                          <a:solidFill>
                            <a:schemeClr val="tx2"/>
                          </a:solidFill>
                        </a:rPr>
                        <a:t>Time(r) pr. ansat</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1050" b="0" i="0" u="none" strike="noStrike" noProof="0">
                          <a:solidFill>
                            <a:srgbClr val="1B4528"/>
                          </a:solidFill>
                          <a:effectLst/>
                          <a:latin typeface="Inter"/>
                        </a:rPr>
                        <a:t>{{gennemsnitstimer}}</a:t>
                      </a:r>
                      <a:endParaRPr lang="da-DK" sz="1050" b="0" noProof="0">
                        <a:effectLst/>
                      </a:endParaRPr>
                    </a:p>
                  </a:txBody>
                  <a:tcPr marL="16706" marR="16706"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32" name="Tekstfelt 31">
            <a:extLst>
              <a:ext uri="{FF2B5EF4-FFF2-40B4-BE49-F238E27FC236}">
                <a16:creationId xmlns:a16="http://schemas.microsoft.com/office/drawing/2014/main" id="{067FE542-2FEF-EE03-D854-E2D5CB1E1DB8}"/>
              </a:ext>
            </a:extLst>
          </p:cNvPr>
          <p:cNvSpPr txBox="1"/>
          <p:nvPr/>
        </p:nvSpPr>
        <p:spPr>
          <a:xfrm>
            <a:off x="465933" y="3022746"/>
            <a:ext cx="9791704" cy="890704"/>
          </a:xfrm>
          <a:prstGeom prst="rect">
            <a:avLst/>
          </a:prstGeom>
          <a:noFill/>
        </p:spPr>
        <p:txBody>
          <a:bodyPr wrap="square">
            <a:spAutoFit/>
          </a:bodyPr>
          <a:lstStyle/>
          <a:p>
            <a:pPr rtl="0">
              <a:buNone/>
            </a:pPr>
            <a:r>
              <a:rPr lang="da-DK" sz="1050" b="0" i="0" u="none" strike="noStrike" noProof="0">
                <a:solidFill>
                  <a:schemeClr val="tx2"/>
                </a:solidFill>
                <a:effectLst/>
                <a:latin typeface="Inter"/>
              </a:rPr>
              <a:t>Virksomheden har angivet oplysninger om minimumsløn samt oplyst procentdelen af medarbejdere, der er omfattet af kollektive overenskomster, og det gennemsnitlige antal uddannelsestimer pr. medarbejder pr. år, opdelt efter køn. Hvis virksomheden allerede i henhold til EU-lovgivningen 8 eller andre nationale bestemmelser er forpligtet til at indberette den procentvise lønforskel mellem sine kvindelige og mandlige medarbejdere, skal den oplyse dette.</a:t>
            </a:r>
          </a:p>
          <a:p>
            <a:pPr>
              <a:buNone/>
            </a:pPr>
            <a:br>
              <a:rPr lang="da-DK" sz="1050" noProof="0">
                <a:solidFill>
                  <a:schemeClr val="tx2"/>
                </a:solidFill>
                <a:latin typeface="Inter"/>
              </a:rPr>
            </a:br>
            <a:endParaRPr lang="da-DK" sz="1050" noProof="0">
              <a:solidFill>
                <a:schemeClr val="tx2"/>
              </a:solidFill>
              <a:latin typeface="Inter"/>
            </a:endParaRPr>
          </a:p>
        </p:txBody>
      </p:sp>
    </p:spTree>
    <p:extLst>
      <p:ext uri="{BB962C8B-B14F-4D97-AF65-F5344CB8AC3E}">
        <p14:creationId xmlns:p14="http://schemas.microsoft.com/office/powerpoint/2010/main" val="103486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Virksomhedsadfærd: Antal domme og bøder i relation til korruption &amp; bestikkelse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45498" y="1706309"/>
          <a:ext cx="9791704" cy="536705"/>
        </p:xfrm>
        <a:graphic>
          <a:graphicData uri="http://schemas.openxmlformats.org/drawingml/2006/table">
            <a:tbl>
              <a:tblPr firstRow="1">
                <a:tableStyleId>{2A488322-F2BA-4B5B-9748-0D474271808F}</a:tableStyleId>
              </a:tblPr>
              <a:tblGrid>
                <a:gridCol w="3263901">
                  <a:extLst>
                    <a:ext uri="{9D8B030D-6E8A-4147-A177-3AD203B41FA5}">
                      <a16:colId xmlns:a16="http://schemas.microsoft.com/office/drawing/2014/main" val="2698153288"/>
                    </a:ext>
                  </a:extLst>
                </a:gridCol>
                <a:gridCol w="3263901">
                  <a:extLst>
                    <a:ext uri="{9D8B030D-6E8A-4147-A177-3AD203B41FA5}">
                      <a16:colId xmlns:a16="http://schemas.microsoft.com/office/drawing/2014/main" val="2119413191"/>
                    </a:ext>
                  </a:extLst>
                </a:gridCol>
                <a:gridCol w="3263901">
                  <a:extLst>
                    <a:ext uri="{9D8B030D-6E8A-4147-A177-3AD203B41FA5}">
                      <a16:colId xmlns:a16="http://schemas.microsoft.com/office/drawing/2014/main" val="1502960985"/>
                    </a:ext>
                  </a:extLst>
                </a:gridCol>
              </a:tblGrid>
              <a:tr h="268352">
                <a:tc rowSpan="2">
                  <a:txBody>
                    <a:bodyPr/>
                    <a:lstStyle/>
                    <a:p>
                      <a:r>
                        <a:rPr lang="da-DK" sz="1050" b="1" noProof="0">
                          <a:solidFill>
                            <a:schemeClr val="tx2"/>
                          </a:solidFill>
                        </a:rPr>
                        <a:t>Korruption og bestikkelse </a:t>
                      </a:r>
                      <a:r>
                        <a:rPr lang="da-DK" sz="1050" b="0" noProof="0">
                          <a:solidFill>
                            <a:schemeClr val="tx2"/>
                          </a:solidFill>
                        </a:rPr>
                        <a:t>(pkt. 43)</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1050" b="1" noProof="0">
                          <a:solidFill>
                            <a:schemeClr val="tx2"/>
                          </a:solidFill>
                        </a:rPr>
                        <a:t>Antal domme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1050" b="1" noProof="0">
                          <a:solidFill>
                            <a:schemeClr val="tx2"/>
                          </a:solidFill>
                        </a:rPr>
                        <a:t>Samlede bødestørrelse</a:t>
                      </a: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68352">
                <a:tc vMerge="1">
                  <a:txBody>
                    <a:bodyPr/>
                    <a:lstStyle/>
                    <a:p>
                      <a:endParaRPr lang="en-GB" sz="775" b="0">
                        <a:solidFill>
                          <a:srgbClr val="1B4528"/>
                        </a:solidFill>
                      </a:endParaRPr>
                    </a:p>
                  </a:txBody>
                  <a:tcPr marL="47356" marR="47356" marT="31571" marB="31571"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a-DK" sz="1050" b="0" i="0" u="none" strike="noStrike" noProof="0">
                          <a:solidFill>
                            <a:srgbClr val="1B4528"/>
                          </a:solidFill>
                          <a:effectLst/>
                          <a:latin typeface="Inter"/>
                        </a:rPr>
                        <a:t>{{domme}}</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a-DK" sz="1050" b="0" i="0" u="none" strike="noStrike" noProof="0">
                          <a:solidFill>
                            <a:srgbClr val="1B4528"/>
                          </a:solidFill>
                          <a:effectLst/>
                          <a:latin typeface="Inter"/>
                        </a:rPr>
                        <a:t>{{</a:t>
                      </a:r>
                      <a:r>
                        <a:rPr lang="da-DK" sz="1050" b="0" i="0" u="none" strike="noStrike" noProof="0" err="1">
                          <a:solidFill>
                            <a:srgbClr val="1B4528"/>
                          </a:solidFill>
                          <a:effectLst/>
                          <a:latin typeface="Inter"/>
                        </a:rPr>
                        <a:t>samlet_bodestorrelse</a:t>
                      </a:r>
                      <a:r>
                        <a:rPr lang="da-DK" sz="1050" b="0" i="0" u="none" strike="noStrike" noProof="0">
                          <a:solidFill>
                            <a:srgbClr val="1B4528"/>
                          </a:solidFill>
                          <a:effectLst/>
                          <a:latin typeface="Inter"/>
                        </a:rPr>
                        <a:t>}}</a:t>
                      </a:r>
                      <a:endParaRPr lang="da-DK" sz="1050" b="0" noProof="0">
                        <a:effectLst/>
                      </a:endParaRPr>
                    </a:p>
                  </a:txBody>
                  <a:tcPr marL="22275" marR="22275" marT="16706" marB="1670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12</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a:t>
            </a:r>
            <a:r>
              <a:rPr lang="da-DK" noProof="0" err="1"/>
              <a:t>company_name</a:t>
            </a:r>
            <a:r>
              <a:rPr lang="da-DK" noProof="0"/>
              <a:t>}}</a:t>
            </a:r>
            <a:endParaRPr lang="da-DK" b="0" noProof="0"/>
          </a:p>
          <a:p>
            <a:endParaRPr lang="da-DK"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54796" y="891000"/>
            <a:ext cx="9869667" cy="890704"/>
          </a:xfrm>
          <a:prstGeom prst="rect">
            <a:avLst/>
          </a:prstGeom>
          <a:noFill/>
        </p:spPr>
        <p:txBody>
          <a:bodyPr wrap="square">
            <a:spAutoFit/>
          </a:bodyPr>
          <a:lstStyle/>
          <a:p>
            <a:pPr rtl="0">
              <a:buNone/>
            </a:pPr>
            <a:r>
              <a:rPr lang="da-DK" sz="1050" b="0" i="0" u="none" strike="noStrike" noProof="0">
                <a:solidFill>
                  <a:schemeClr val="tx2"/>
                </a:solidFill>
                <a:effectLst/>
                <a:latin typeface="Inter"/>
              </a:rPr>
              <a:t>Virksomheden har angivet overtrædelser af anti-korruptions- og </a:t>
            </a:r>
            <a:r>
              <a:rPr lang="da-DK" sz="1050" b="0" i="0" u="none" strike="noStrike" noProof="0" err="1">
                <a:solidFill>
                  <a:schemeClr val="tx2"/>
                </a:solidFill>
                <a:effectLst/>
                <a:latin typeface="Inter"/>
              </a:rPr>
              <a:t>anti</a:t>
            </a:r>
            <a:r>
              <a:rPr lang="da-DK" sz="1050" b="0" i="0" u="none" strike="noStrike" noProof="0">
                <a:solidFill>
                  <a:schemeClr val="tx2"/>
                </a:solidFill>
                <a:effectLst/>
                <a:latin typeface="Inter"/>
              </a:rPr>
              <a:t>-bestikkelseslove i den rapporterede periode. Hvis virksomheden har været involveret i domme eller bøder for overtrædelse af disse love, er følgende oplysninger blevet offentliggjort: Antallet af domme og det samlede bødebeløb, der er pålagt som følge af overtrædelserne. Disse oplysninger vedrører virksomhedens forretningsetik og bæredygtighed, især i forhold til håndtering af korruption og bestikkelse og er anført nedenfor.</a:t>
            </a:r>
            <a:endParaRPr lang="da-DK" sz="1050" b="0" noProof="0">
              <a:solidFill>
                <a:schemeClr val="tx2"/>
              </a:solidFill>
              <a:effectLst/>
              <a:latin typeface="Inter"/>
            </a:endParaRPr>
          </a:p>
          <a:p>
            <a:pPr>
              <a:buNone/>
            </a:pPr>
            <a:br>
              <a:rPr lang="da-DK" sz="1050" noProof="0">
                <a:solidFill>
                  <a:schemeClr val="tx2"/>
                </a:solidFill>
                <a:latin typeface="Inter"/>
              </a:rPr>
            </a:br>
            <a:endParaRPr lang="da-DK" sz="1050"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3860535" y="3900259"/>
            <a:ext cx="3025224" cy="907065"/>
          </a:xfrm>
          <a:noFill/>
        </p:spPr>
        <p:txBody>
          <a:bodyPr>
            <a:normAutofit/>
          </a:bodyPr>
          <a:lstStyle/>
          <a:p>
            <a:pPr algn="ctr"/>
            <a:r>
              <a:rPr lang="da-DK" sz="1575" b="1" noProof="0">
                <a:solidFill>
                  <a:srgbClr val="FFFFFF"/>
                </a:solidFill>
                <a:latin typeface="IBM Plex Sans" panose="020B0503050203000203" pitchFamily="34" charset="0"/>
              </a:rPr>
              <a:t>{{</a:t>
            </a:r>
            <a:r>
              <a:rPr lang="da-DK" sz="1575" b="1" noProof="0" err="1">
                <a:solidFill>
                  <a:srgbClr val="FFFFFF"/>
                </a:solidFill>
                <a:latin typeface="IBM Plex Sans" panose="020B0503050203000203" pitchFamily="34" charset="0"/>
              </a:rPr>
              <a:t>company_name</a:t>
            </a:r>
            <a:r>
              <a:rPr lang="da-DK" sz="1575" b="1" noProof="0">
                <a:solidFill>
                  <a:srgbClr val="FFFFFF"/>
                </a:solidFill>
                <a:latin typeface="IBM Plex Sans" panose="020B0503050203000203" pitchFamily="34" charset="0"/>
              </a:rPr>
              <a:t>}}</a:t>
            </a:r>
          </a:p>
          <a:p>
            <a:pPr algn="ctr"/>
            <a:r>
              <a:rPr lang="da-DK" sz="1575" b="1" noProof="0">
                <a:solidFill>
                  <a:srgbClr val="FFFFFF"/>
                </a:solidFill>
                <a:latin typeface="IBM Plex Sans" panose="020B0503050203000203" pitchFamily="34" charset="0"/>
              </a:rPr>
              <a:t>{{</a:t>
            </a:r>
            <a:r>
              <a:rPr lang="da-DK" sz="1575" b="1" noProof="0" err="1">
                <a:solidFill>
                  <a:srgbClr val="FFFFFF"/>
                </a:solidFill>
                <a:latin typeface="IBM Plex Sans" panose="020B0503050203000203" pitchFamily="34" charset="0"/>
              </a:rPr>
              <a:t>insert_year</a:t>
            </a:r>
            <a:r>
              <a:rPr lang="da-DK" sz="1575" b="1" noProof="0">
                <a:solidFill>
                  <a:srgbClr val="FFFFFF"/>
                </a:solidFill>
                <a:latin typeface="IBM Plex Sans" panose="020B0503050203000203" pitchFamily="34" charset="0"/>
              </a:rPr>
              <a:t>}}</a:t>
            </a:r>
            <a:br>
              <a:rPr lang="da-DK" sz="1575" b="1" noProof="0">
                <a:solidFill>
                  <a:srgbClr val="FFFFFF"/>
                </a:solidFill>
                <a:latin typeface="IBM Plex Sans" panose="020B0503050203000203" pitchFamily="34" charset="0"/>
              </a:rPr>
            </a:br>
            <a:endParaRPr lang="da-DK" sz="15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8050571" y="7202406"/>
            <a:ext cx="2405700" cy="134955"/>
          </a:xfrm>
        </p:spPr>
        <p:txBody>
          <a:bodyPr/>
          <a:lstStyle/>
          <a:p>
            <a:fld id="{5A0D23CF-C5A3-5445-819D-C647D180BB4B}" type="slidenum">
              <a:rPr lang="da-DK" noProof="0" smtClean="0"/>
              <a:pPr/>
              <a:t>25</a:t>
            </a:fld>
            <a:endParaRPr lang="da-DK"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25</Slides>
  <Notes>21</Notes>
  <HiddenSlides>0</HiddenSlides>
  <ScaleCrop>false</ScaleCrop>
  <HeadingPairs>
    <vt:vector size="4" baseType="variant">
      <vt:variant>
        <vt:lpstr>Tema</vt:lpstr>
      </vt:variant>
      <vt:variant>
        <vt:i4>1</vt:i4>
      </vt:variant>
      <vt:variant>
        <vt:lpstr>Slidetitler</vt:lpstr>
      </vt:variant>
      <vt:variant>
        <vt:i4>25</vt:i4>
      </vt:variant>
    </vt:vector>
  </HeadingPairs>
  <TitlesOfParts>
    <vt:vector size="26" baseType="lpstr">
      <vt:lpstr>Tema ESG skabelon 2023</vt:lpstr>
      <vt:lpstr>OPGØRELSE {{insert_year}}</vt:lpstr>
      <vt:lpstr>ESG opgørelse  </vt:lpstr>
      <vt:lpstr>Grundlag for udarbejdelse (B1) </vt:lpstr>
      <vt:lpstr>Grundlag for udarbejdelse (B1) - fortsat</vt:lpstr>
      <vt:lpstr>Indsatser, politikker og fremtidige initiativer for omstilling til en mere bæredygtig økonomi (B2)</vt:lpstr>
      <vt:lpstr>Energiforbrug (B3)</vt:lpstr>
      <vt:lpstr>Forurening af luft, vand og jord (B4)</vt:lpstr>
      <vt:lpstr>Vand (B6)</vt:lpstr>
      <vt:lpstr>Ressourceforbrug, cirkulær økonomi og affaldshåndtering (B7) – fortsat</vt:lpstr>
      <vt:lpstr>Egen arbejdsstyrke: Generelle karakteristika (B8) </vt:lpstr>
      <vt:lpstr>Egen arbejdsstyrke: Sundhed og sikkerhed (B9)</vt:lpstr>
      <vt:lpstr>Virksomhedsadfærd: Antal domme og bøder i relation til korruption &amp; bestikkelse (B11) </vt:lpstr>
      <vt:lpstr>PowerPoint-præsentation</vt:lpstr>
      <vt:lpstr>Strategi: Forretningsmodel og bæredygtighedsrelaterede initiativer (C1)</vt:lpstr>
      <vt:lpstr>Indsatser, politikker og fremtidige initiativer for omstilling til en mere bæredygtig økonomi (C2)</vt:lpstr>
      <vt:lpstr>CO₂e-udledning under B3 i Basismodulet</vt:lpstr>
      <vt:lpstr>Klimaomstilling (C3)</vt:lpstr>
      <vt:lpstr>Klimarisici (C4)</vt:lpstr>
      <vt:lpstr>Klimarisici (C4) - fortsat</vt:lpstr>
      <vt:lpstr>Supplerende (generelle) oplysninger om arbejdsstyrken (C5)</vt:lpstr>
      <vt:lpstr>Menneskerettighedspolitikker og -processer (C6) - Egen arbejdsstyrke</vt:lpstr>
      <vt:lpstr>Alvorlige negative menneskerettighedshændelser (C7) – Egen arbejdsstyrke</vt:lpstr>
      <vt:lpstr>Alvorlige negative menneskerettighedshændelser (C7) – I værdikæden</vt:lpstr>
      <vt:lpstr>Indtægter fra bestemte aktiviteter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2025-02-28T18:51:17Z</dcterms:created>
  <dcterms:modified xsi:type="dcterms:W3CDTF">2026-08-06T18:34:12Z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