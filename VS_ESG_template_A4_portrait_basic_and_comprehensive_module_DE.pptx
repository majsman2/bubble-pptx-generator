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e-DE"/>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e-DE" smtClean="0"/>
              <a:pPr/>
              <a:t>12/08/2026</a:t>
            </a:fld>
            <a:endParaRPr lang="de-DE"/>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Click to edit Master text styles</a:t>
            </a:r>
          </a:p>
          <a:p>
            <a:pPr lvl="1"/>
            <a:r>
              <a:rPr lang="de-DE"/>
              <a:t xml:space="preserve">Zweite Ebene</a:t>
            </a:r>
          </a:p>
          <a:p>
            <a:pPr lvl="2"/>
            <a:r>
              <a:rPr lang="de-DE"/>
              <a:t xml:space="preserve">Dritte Ebene</a:t>
            </a:r>
          </a:p>
          <a:p>
            <a:pPr lvl="3"/>
            <a:r>
              <a:rPr lang="de-DE"/>
              <a:t xml:space="preserve">Vierte Ebene</a:t>
            </a:r>
          </a:p>
          <a:p>
            <a:pPr lvl="4"/>
            <a:r>
              <a:rPr lang="de-DE"/>
              <a:t xml:space="preserve">Fünfte Ebene</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e-DE"/>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e-DE" smtClean="0"/>
              <a:pPr/>
              <a:t>‹nr.›</a:t>
            </a:fld>
            <a:endParaRPr lang="de-DE"/>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a:t>
            </a:fld>
            <a:endParaRPr lang="de-DE"/>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2</a:t>
            </a:fld>
            <a:endParaRPr lang="de-DE"/>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3</a:t>
            </a:fld>
            <a:endParaRPr lang="de-DE"/>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{{documents_B2}}</a:t>
            </a:r>
          </a:p>
          <a:p>
            <a:r>
              <a:rPr lang="de-DE" sz="1200" b="0" i="0" u="none" strike="noStrike" kern="1200">
                <a:solidFill>
                  <a:schemeClr val="tx1"/>
                </a:solidFill>
                <a:effectLst/>
                <a:latin typeface="IBM Plex Sans" panose="020B0503050203000203" pitchFamily="34" charset="0"/>
                <a:ea typeface="+mn-ea"/>
                <a:cs typeface="+mn-cs"/>
              </a:rPr>
              <a:t xml:space="preserve">Hinzugefügt: Spalte zur Überwachung</a:t>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4</a:t>
            </a:fld>
            <a:endParaRPr lang="de-DE"/>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{{Insert_CO2e_intensity}}</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5</a:t>
            </a:fld>
            <a:endParaRPr lang="de-DE"/>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{{uploaded_documents_B4}}</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6</a:t>
            </a:fld>
            <a:endParaRPr lang="de-DE"/>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7</a:t>
            </a:fld>
            <a:endParaRPr lang="de-DE"/>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a:t>
            </a:r>
            <a:r>
              <a:rPr lang="de-DE" sz="1200" b="0" i="0" u="none" strike="noStrike" kern="1200">
                <a:solidFill>
                  <a:schemeClr val="tx1"/>
                </a:solidFill>
                <a:effectLst/>
                <a:latin typeface="IBM Plex Sans" panose="020B0503050203000203" pitchFamily="34" charset="0"/>
                <a:ea typeface="+mn-ea"/>
                <a:cs typeface="+mn-cs"/>
              </a:rPr>
              <a:t>omsatningsrate</a:t>
            </a:r>
            <a:r>
              <a:rPr lang="de-DE" sz="1200" b="0" i="0" u="none" strike="noStrike" kern="1200">
                <a:solidFill>
                  <a:schemeClr val="tx1"/>
                </a:solidFill>
                <a:effectLst/>
                <a:latin typeface="IBM Plex Sans" panose="020B0503050203000203" pitchFamily="34" charset="0"/>
                <a:ea typeface="+mn-ea"/>
                <a:cs typeface="+mn-cs"/>
              </a:rPr>
              <a:t>}}</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8</a:t>
            </a:fld>
            <a:endParaRPr lang="de-DE"/>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9</a:t>
            </a:fld>
            <a:endParaRPr lang="de-DE"/>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10</a:t>
            </a:fld>
            <a:endParaRPr lang="de-DE"/>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11</a:t>
            </a:fld>
            <a:endParaRPr lang="de-DE"/>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12</a:t>
            </a:fld>
            <a:endParaRPr lang="de-DE"/>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13</a:t>
            </a:fld>
            <a:endParaRPr lang="de-DE"/>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14</a:t>
            </a:fld>
            <a:endParaRPr lang="de-DE"/>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15</a:t>
            </a:fld>
            <a:endParaRPr lang="de-DE"/>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Hinzugefügt aus B8: </a:t>
            </a:r>
            <a:r>
              <a:rPr lang="de-DE" sz="1200" b="0" i="0" u="none" strike="noStrike" kern="1200">
                <a:solidFill>
                  <a:schemeClr val="tx1"/>
                </a:solidFill>
                <a:effectLst/>
                <a:latin typeface="IBM Plex Sans" panose="020B0503050203000203" pitchFamily="34" charset="0"/>
                <a:ea typeface="+mn-ea"/>
                <a:cs typeface="+mn-cs"/>
              </a:rPr>
              <a:t>{{</a:t>
            </a:r>
            <a:r>
              <a:rPr lang="de-DE" sz="1200" b="0" i="0" u="none" strike="noStrike" kern="1200">
                <a:solidFill>
                  <a:schemeClr val="tx1"/>
                </a:solidFill>
                <a:effectLst/>
                <a:latin typeface="IBM Plex Sans" panose="020B0503050203000203" pitchFamily="34" charset="0"/>
                <a:ea typeface="+mn-ea"/>
                <a:cs typeface="+mn-cs"/>
              </a:rPr>
              <a:t>omsatningsrate</a:t>
            </a:r>
            <a:r>
              <a:rPr lang="de-DE" sz="1200" b="0" i="0" u="none" strike="noStrike" kern="1200">
                <a:solidFill>
                  <a:schemeClr val="tx1"/>
                </a:solidFill>
                <a:effectLst/>
                <a:latin typeface="IBM Plex Sans" panose="020B0503050203000203" pitchFamily="34" charset="0"/>
                <a:ea typeface="+mn-ea"/>
                <a:cs typeface="+mn-cs"/>
              </a:rPr>
              <a:t>}}</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16</a:t>
            </a:fld>
            <a:endParaRPr lang="de-DE"/>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de-DE"/>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de-DE"/>
              <a:t xml:space="preserve">KLICKEN, UM FIRMENNAME EINZUFÜGEN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de-DE"/>
              <a:t xml:space="preserve">TITEL EINFÜGEN</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e-DE"/>
              <a:t xml:space="preserve">KLICKEN, UM FIRMENNAME EINZUFÜGEN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e-DE" smtClean="0"/>
              <a:pPr/>
              <a:t>‹nr.›</a:t>
            </a:fld>
            <a:endParaRPr lang="de-DE"/>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de-DE"/>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e-DE" noProof="0"/>
              <a:t>Click</a:t>
            </a:r>
            <a:r>
              <a:rPr lang="de-DE" noProof="0"/>
              <a:t> to </a:t>
            </a:r>
            <a:r>
              <a:rPr lang="de-DE" noProof="0"/>
              <a:t>edit</a:t>
            </a:r>
            <a:r>
              <a:rPr lang="de-DE" noProof="0"/>
              <a:t> Master </a:t>
            </a:r>
            <a:r>
              <a:rPr lang="de-DE" noProof="0"/>
              <a:t>title</a:t>
            </a:r>
            <a:r>
              <a:rPr lang="de-DE"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e-DE"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e-DE" noProof="0"/>
              <a:t xml:space="preserve">KLICKEN, UM FIRMENNAME EINZUFÜGEN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e-DE" noProof="0" smtClean="0"/>
              <a:pPr/>
              <a:t>‹nr.›</a:t>
            </a:fld>
            <a:endParaRPr lang="de-DE"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de-DE" noProof="0"/>
              <a:t xml:space="preserve">Unternehmensinformationen einfügen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e-DE" noProof="0"/>
              <a:t>Click</a:t>
            </a:r>
            <a:r>
              <a:rPr lang="de-DE" noProof="0"/>
              <a:t> to </a:t>
            </a:r>
            <a:r>
              <a:rPr lang="de-DE" noProof="0"/>
              <a:t>edit</a:t>
            </a:r>
            <a:r>
              <a:rPr lang="de-DE" noProof="0"/>
              <a:t> Master </a:t>
            </a:r>
            <a:r>
              <a:rPr lang="de-DE" noProof="0"/>
              <a:t>title</a:t>
            </a:r>
            <a:r>
              <a:rPr lang="de-DE"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e-DE" noProof="0"/>
              <a:t xml:space="preserve">KLICKEN, UM FIRMENNAME EINZUFÜGEN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e-DE" noProof="0" smtClean="0"/>
              <a:pPr/>
              <a:t>‹nr.›</a:t>
            </a:fld>
            <a:endParaRPr lang="de-DE"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de-DE" noProof="0"/>
              <a:t>Click to edit Master text styles</a:t>
            </a:r>
          </a:p>
          <a:p>
            <a:pPr lvl="1"/>
            <a:r>
              <a:rPr lang="de-DE" noProof="0"/>
              <a:t xml:space="preserve">Zweite Ebene</a:t>
            </a:r>
          </a:p>
          <a:p>
            <a:pPr lvl="2"/>
            <a:r>
              <a:rPr lang="de-DE" noProof="0"/>
              <a:t xml:space="preserve">Dritte Ebene</a:t>
            </a:r>
          </a:p>
          <a:p>
            <a:pPr lvl="3"/>
            <a:r>
              <a:rPr lang="de-DE" noProof="0"/>
              <a:t xml:space="preserve">Vierte Ebene</a:t>
            </a:r>
          </a:p>
          <a:p>
            <a:pPr lvl="4"/>
            <a:r>
              <a:rPr lang="de-DE" noProof="0"/>
              <a:t xml:space="preserve">Fünfte Ebene</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de-DE"/>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de-DE"/>
              <a:t xml:space="preserve">KLICKEN, UM FIRMENNAME EINZUFÜGEN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de-DE" smtClean="0"/>
              <a:pPr/>
              <a:t>‹nr.›</a:t>
            </a:fld>
            <a:endParaRPr lang="de-DE"/>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de-DE"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de-DE"/>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de-DE" noProof="0"/>
              <a:t xml:space="preserve">ESG-BERICHT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de-DE" noProof="0"/>
              <a:t>{{company_name}}</a:t>
            </a:r>
            <a:endParaRPr lang="de-DE"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de-DE" noProof="0"/>
              <a:t xml:space="preserve">ESG-Bericht</a:t>
            </a:r>
            <a:r>
              <a:rPr lang="de-DE" b="0" noProof="0">
                <a:solidFill>
                  <a:srgbClr val="1B4528"/>
                </a:solidFill>
                <a:ea typeface="+mn-ea"/>
                <a:cs typeface="+mn-cs"/>
              </a:rPr>
              <a:t> </a:t>
            </a:r>
            <a:br>
              <a:rPr lang="de-DE" b="0" noProof="0">
                <a:solidFill>
                  <a:srgbClr val="1B4528"/>
                </a:solidFill>
                <a:ea typeface="+mn-ea"/>
                <a:cs typeface="+mn-cs"/>
              </a:rPr>
            </a:br>
            <a:endParaRPr lang="de-DE"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de-DE" sz="975" b="1" noProof="0" dirty="0">
              <a:latin typeface="+mj-lt"/>
            </a:endParaRPr>
          </a:p>
          <a:p>
            <a:pPr>
              <a:lnSpc>
                <a:spcPct val="150000"/>
              </a:lnSpc>
              <a:tabLst>
                <a:tab pos="239439" algn="l"/>
                <a:tab pos="388922" algn="l"/>
                <a:tab pos="3737091" algn="r"/>
              </a:tabLst>
            </a:pPr>
            <a:endParaRPr lang="de-DE" sz="975" b="1"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Allgemeine Informationen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kern="1200" spc="-10" noProof="0">
                <a:solidFill>
                  <a:schemeClr val="tx2"/>
                </a:solidFill>
                <a:latin typeface="+mn-lt"/>
                <a:ea typeface="+mn-ea"/>
                <a:cs typeface="+mn-cs"/>
              </a:rPr>
              <a:t xml:space="preserve">Verfahrensweisen, Richtlinien und Initiativen für eine nachhaltigere Wirtschaft	</a:t>
            </a:r>
            <a:endParaRPr lang="de-DE" sz="975" b="1"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Energieverbrauch				</a:t>
            </a:r>
            <a:endParaRPr lang="de-DE" sz="975"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CO₂e-Emissionen 				</a:t>
            </a:r>
            <a:endParaRPr lang="de-DE" sz="975"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Luft-, Wasser- und Bodenverschmutzung</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Biodiversität</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Wasser	</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Ressourcennutzung, Kreislaufwirtschaft und Abfallbewirtschaftung</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Allgemeine Merkmale</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Gesundheit &amp; Sicherheit</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Vergütung, Tarifverhandlungen und Schulung</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Unternehmenspolitik</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Strategie: Geschäftsmodell und nachhaltigkeitsbezogene Initiativen</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Verfahrensweisen, Richtlinien und künftige Initiativen für den Übergang zu einer nachhaltigeren Wirtschaft</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CO₂e-Reduktionsziele</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Übergang für den Klimaschutz</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Klimabedingte Risiken</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Zusätzliche (allgemeine) Merkmale der Arbeitskräfte</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Menschenrechtsrichtlinien und -prozesse</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Schwerwiegende negative Vorfälle im Zusammenhang mit Menschenrechten</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Umsatzerlöse aus bestimmten Tätigkeiten</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Geschlechtervielfalt im Leitungsorgan</a:t>
            </a:r>
            <a:endParaRPr lang="de-DE" sz="975" noProof="0" dirty="0">
              <a:solidFill>
                <a:srgbClr val="1B4528"/>
              </a:solidFill>
              <a:latin typeface="+mj-lt"/>
            </a:endParaRPr>
          </a:p>
          <a:p>
            <a:pPr>
              <a:tabLst>
                <a:tab pos="239439" algn="l"/>
                <a:tab pos="388922" algn="l"/>
                <a:tab pos="3737091" algn="r"/>
              </a:tabLst>
            </a:pPr>
            <a:endParaRPr lang="de-DE" sz="975"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de-DE"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de-DE" noProof="0" smtClean="0"/>
              <a:pPr/>
              <a:t>2</a:t>
            </a:fld>
            <a:endParaRPr lang="de-DE"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de-DE" noProof="0"/>
              <a:t xml:space="preserve">Grundlagen für die Erstellung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de-DE"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566262"/>
          <a:ext cx="3295368" cy="1087544"/>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83809">
                <a:tc gridSpan="2">
                  <a:txBody>
                    <a:bodyPr/>
                    <a:lstStyle/>
                    <a:p>
                      <a:pPr marL="0" algn="l" defTabSz="914400" rtl="0" eaLnBrk="1" latinLnBrk="0" hangingPunct="1"/>
                      <a:r>
                        <a:rPr lang="de-DE" sz="975" b="1" kern="1200" spc="-10" noProof="0">
                          <a:solidFill>
                            <a:schemeClr val="tx2"/>
                          </a:solidFill>
                          <a:latin typeface="+mn-lt"/>
                          <a:ea typeface="+mn-ea"/>
                          <a:cs typeface="+mn-cs"/>
                        </a:rPr>
                        <a:t xml:space="preserve">Liste der in diesem ESG-Bericht erfassten Tochterunternehmen </a:t>
                      </a:r>
                      <a:r>
                        <a:rPr lang="de-DE" sz="975" b="0" kern="1200" spc="-10" noProof="0">
                          <a:solidFill>
                            <a:schemeClr val="tx2"/>
                          </a:solidFill>
                          <a:latin typeface="+mn-lt"/>
                          <a:ea typeface="+mn-ea"/>
                          <a:cs typeface="+mn-cs"/>
                        </a:rPr>
                        <a:t xml:space="preserve">(Nr. 27d)</a:t>
                      </a:r>
                      <a:endParaRPr lang="de-DE"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383809">
                <a:tc>
                  <a:txBody>
                    <a:bodyPr/>
                    <a:lstStyle/>
                    <a:p>
                      <a:pPr algn="l"/>
                      <a:r>
                        <a:rPr lang="de-DE" sz="975" b="1" kern="1200" spc="-10" noProof="0">
                          <a:solidFill>
                            <a:schemeClr val="tx2"/>
                          </a:solidFill>
                          <a:latin typeface="+mn-lt"/>
                          <a:ea typeface="+mn-ea"/>
                          <a:cs typeface="+mn-cs"/>
                        </a:rPr>
                        <a:t xml:space="preserve">Name des Tochterunternehmens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Anschrift des Tochterunternehmens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19926">
                <a:tc>
                  <a:txBody>
                    <a:bodyPr/>
                    <a:lstStyle/>
                    <a:p>
                      <a:pPr rtl="0" fontAlgn="t" algn="l">
                        <a:buNone/>
                      </a:pPr>
                      <a:r>
                        <a:rPr lang="de-DE" sz="975" b="0" i="0" u="none" strike="noStrike" noProof="0">
                          <a:solidFill>
                            <a:srgbClr val="1B4528"/>
                          </a:solidFill>
                          <a:effectLst/>
                          <a:latin typeface="Inter"/>
                        </a:rPr>
                        <a:t>{{subsidiary}}</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subsidiary_address</a:t>
                      </a:r>
                      <a:r>
                        <a:rPr lang="de-DE" sz="975" b="0" i="0" u="none" strike="noStrike" noProof="0">
                          <a:solidFill>
                            <a:srgbClr val="1B4528"/>
                          </a:solidFill>
                          <a:effectLst/>
                          <a:latin typeface="Inter"/>
                        </a:rPr>
                        <a:t>}}</a:t>
                      </a:r>
                      <a:endParaRPr lang="de-DE"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97818"/>
            <a:ext cx="6737040" cy="128235"/>
          </a:xfrm>
        </p:spPr>
        <p:txBody>
          <a:bodyPr/>
          <a:lstStyle/>
          <a:p>
            <a:fld id="{5A0D23CF-C5A3-5445-819D-C647D180BB4B}" type="slidenum">
              <a:rPr lang="de-DE" noProof="0" smtClean="0"/>
              <a:pPr/>
              <a:t>3</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de-DE" noProof="0"/>
              <a:t>{{company_name}}</a:t>
            </a:r>
            <a:endParaRPr lang="de-DE" b="0" noProof="0"/>
          </a:p>
          <a:p>
            <a:br>
              <a:rPr lang="de-DE" noProof="0"/>
            </a:br>
            <a:endParaRPr lang="de-DE"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466698"/>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383809">
                <a:tc gridSpan="2">
                  <a:txBody>
                    <a:bodyPr/>
                    <a:lstStyle/>
                    <a:p>
                      <a:r>
                        <a:rPr lang="de-DE" sz="975" b="1" noProof="0">
                          <a:solidFill>
                            <a:schemeClr val="tx2"/>
                          </a:solidFill>
                        </a:rPr>
                        <a:t xml:space="preserve">Individuelle oder konsolidierte Berichterstattung</a:t>
                      </a:r>
                      <a:r>
                        <a:rPr lang="de-DE" sz="975" b="0" noProof="0">
                          <a:solidFill>
                            <a:schemeClr val="tx2"/>
                          </a:solidFill>
                        </a:rPr>
                        <a:t xml:space="preserve"> (Nr.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wurde auf </a:t>
                      </a:r>
                      <a:r>
                        <a:rPr lang="de-DE" sz="975" b="1" kern="1200" spc="-10" noProof="0">
                          <a:solidFill>
                            <a:schemeClr val="tx2"/>
                          </a:solidFill>
                          <a:latin typeface="+mn-lt"/>
                          <a:ea typeface="+mn-ea"/>
                          <a:cs typeface="+mn-cs"/>
                        </a:rPr>
                        <a:t xml:space="preserve">individueller Basis </a:t>
                      </a:r>
                      <a:r>
                        <a:rPr lang="de-DE" sz="975" b="0" kern="1200" spc="-10" noProof="0">
                          <a:solidFill>
                            <a:schemeClr val="tx2"/>
                          </a:solidFill>
                          <a:latin typeface="+mn-lt"/>
                          <a:ea typeface="+mn-ea"/>
                          <a:cs typeface="+mn-cs"/>
                        </a:rPr>
                        <a:t xml:space="preserve">erstellt (d. h. der Bericht erfasst keine Tochterunternehmen)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{{yes_subsidiary?}}</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4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wurde auf </a:t>
                      </a:r>
                      <a:r>
                        <a:rPr lang="de-DE" sz="975" b="1" kern="1200" spc="-10" noProof="0">
                          <a:solidFill>
                            <a:schemeClr val="tx2"/>
                          </a:solidFill>
                          <a:latin typeface="+mn-lt"/>
                          <a:ea typeface="+mn-ea"/>
                          <a:cs typeface="+mn-cs"/>
                        </a:rPr>
                        <a:t xml:space="preserve">konsolidierter Basis </a:t>
                      </a:r>
                      <a:r>
                        <a:rPr lang="de-DE" sz="975" b="0" kern="1200" spc="-10" noProof="0">
                          <a:solidFill>
                            <a:schemeClr val="tx2"/>
                          </a:solidFill>
                          <a:latin typeface="+mn-lt"/>
                          <a:ea typeface="+mn-ea"/>
                          <a:cs typeface="+mn-cs"/>
                        </a:rPr>
                        <a:t xml:space="preserve">erstellt (d. h. der Bericht umfasst die Tochterunternehmen des Unternehmens)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{{no_subsidiary?}}</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98246"/>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56479">
                <a:tc gridSpan="2">
                  <a:txBody>
                    <a:bodyPr/>
                    <a:lstStyle/>
                    <a:p>
                      <a:r>
                        <a:rPr lang="de-DE" sz="975" b="1" kern="1200" spc="-10" noProof="0">
                          <a:solidFill>
                            <a:schemeClr val="tx2"/>
                          </a:solidFill>
                          <a:latin typeface="+mn-lt"/>
                          <a:ea typeface="+mn-ea"/>
                          <a:cs typeface="+mn-cs"/>
                        </a:rPr>
                        <a:t xml:space="preserve">Basismodul oder Basismodul +</a:t>
                      </a:r>
                      <a:r>
                        <a:rPr lang="de-DE" sz="975" b="0" kern="1200" spc="-10" noProof="0">
                          <a:solidFill>
                            <a:schemeClr val="tx2"/>
                          </a:solidFill>
                          <a:latin typeface="+mn-lt"/>
                          <a:ea typeface="+mn-ea"/>
                          <a:cs typeface="+mn-cs"/>
                        </a:rPr>
                        <a:t> </a:t>
                      </a:r>
                      <a:r>
                        <a:rPr lang="de-DE" sz="975" b="1" kern="1200" spc="-10" noProof="0">
                          <a:solidFill>
                            <a:schemeClr val="tx2"/>
                          </a:solidFill>
                          <a:latin typeface="+mn-lt"/>
                          <a:ea typeface="+mn-ea"/>
                          <a:cs typeface="+mn-cs"/>
                        </a:rPr>
                        <a:t xml:space="preserve">Zusatzmodul </a:t>
                      </a:r>
                      <a:r>
                        <a:rPr lang="de-DE" sz="975" b="0" kern="1200" spc="-10" noProof="0">
                          <a:solidFill>
                            <a:schemeClr val="tx2"/>
                          </a:solidFill>
                          <a:latin typeface="+mn-lt"/>
                          <a:ea typeface="+mn-ea"/>
                          <a:cs typeface="+mn-cs"/>
                        </a:rPr>
                        <a:t xml:space="preserve">(Nr. 27a)</a:t>
                      </a:r>
                      <a:r>
                        <a:rPr lang="de-DE" sz="975" b="1" kern="1200" spc="-10" noProof="0">
                          <a:solidFill>
                            <a:schemeClr val="tx2"/>
                          </a:solidFill>
                          <a:latin typeface="+mn-lt"/>
                          <a:ea typeface="+mn-ea"/>
                          <a:cs typeface="+mn-cs"/>
                        </a:rPr>
                        <a:t>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2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basiert auf dem </a:t>
                      </a:r>
                      <a:r>
                        <a:rPr lang="de-DE" sz="975" b="1" kern="1200" spc="-10" noProof="0">
                          <a:solidFill>
                            <a:schemeClr val="tx2"/>
                          </a:solidFill>
                          <a:latin typeface="+mn-lt"/>
                          <a:ea typeface="+mn-ea"/>
                          <a:cs typeface="+mn-cs"/>
                        </a:rPr>
                        <a:t xml:space="preserve">Basismodul</a:t>
                      </a:r>
                      <a:r>
                        <a:rPr lang="de-DE" sz="975" b="0" kern="1200" spc="-10" noProof="0">
                          <a:solidFill>
                            <a:schemeClr val="tx2"/>
                          </a:solidFill>
                          <a:latin typeface="+mn-lt"/>
                          <a:ea typeface="+mn-ea"/>
                          <a:cs typeface="+mn-cs"/>
                        </a:rPr>
                        <a:t xml:space="preserve"> des freiwilligen KMU-Standards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{{basic_module?}}</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basiert auf dem </a:t>
                      </a:r>
                      <a:r>
                        <a:rPr lang="de-DE" sz="975" b="1" kern="1200" spc="-10" noProof="0">
                          <a:solidFill>
                            <a:schemeClr val="tx2"/>
                          </a:solidFill>
                          <a:latin typeface="+mn-lt"/>
                          <a:ea typeface="+mn-ea"/>
                          <a:cs typeface="+mn-cs"/>
                        </a:rPr>
                        <a:t xml:space="preserve">Basismodul</a:t>
                      </a:r>
                      <a:r>
                        <a:rPr lang="de-DE" sz="975" b="0" kern="1200" spc="-10" noProof="0">
                          <a:solidFill>
                            <a:schemeClr val="tx2"/>
                          </a:solidFill>
                          <a:latin typeface="+mn-lt"/>
                          <a:ea typeface="+mn-ea"/>
                          <a:cs typeface="+mn-cs"/>
                        </a:rPr>
                        <a:t xml:space="preserve"> und </a:t>
                      </a:r>
                      <a:r>
                        <a:rPr lang="de-DE" sz="975" b="1" kern="1200" spc="-10" noProof="0">
                          <a:solidFill>
                            <a:schemeClr val="tx2"/>
                          </a:solidFill>
                          <a:latin typeface="+mn-lt"/>
                          <a:ea typeface="+mn-ea"/>
                          <a:cs typeface="+mn-cs"/>
                        </a:rPr>
                        <a:t xml:space="preserve">Zusatzmodul </a:t>
                      </a:r>
                      <a:r>
                        <a:rPr lang="de-DE" sz="975" b="0" kern="1200" spc="-10" noProof="0">
                          <a:solidFill>
                            <a:schemeClr val="tx2"/>
                          </a:solidFill>
                          <a:latin typeface="+mn-lt"/>
                          <a:ea typeface="+mn-ea"/>
                          <a:cs typeface="+mn-cs"/>
                        </a:rPr>
                        <a:t xml:space="preserve">des freiwilligen KMU-Standards</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{{comprehensive?}}</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seinen Nachhaltigkeitsbericht nach dem VSME-Standard erstellt, der einem strukturierten Ansatz folgt, um sicherzustellen, dass die erforderlichen Informationen standardisiert und transparent berichtet werden. Der Bericht spiegelt die vom Unternehmen ausgewählten und abgedeckten Nachhaltigkeitsmodule wider. Darüber hinaus ist angegeben, ob der Nachhaltigkeitsbericht auf individueller Basis (nur eigene Daten des Unternehmens) oder auf konsolidierter Basis erstellt wird. Dieser Abschnitt enthält grundlegende Informationen über das Unternehmen, z. B. seine Rechtsform, NACE-Code(s), Bilanzsumme und Umsatzerlöse, Zahl der Beschäftigten sowie Informationen über das Land der Hauptgeschäftstätigkeit und den Standort weiterer wesentlicher Vermögenswerte.</a:t>
            </a:r>
            <a:endParaRPr lang="de-DE"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562547"/>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550458">
                <a:tc gridSpan="2">
                  <a:txBody>
                    <a:bodyPr/>
                    <a:lstStyle/>
                    <a:p>
                      <a:pPr algn="l"/>
                      <a:r>
                        <a:rPr lang="de-DE" sz="975" b="1" kern="1200" spc="-10" noProof="0">
                          <a:solidFill>
                            <a:schemeClr val="tx2"/>
                          </a:solidFill>
                          <a:latin typeface="+mn-lt"/>
                          <a:ea typeface="+mn-ea"/>
                          <a:cs typeface="+mn-cs"/>
                        </a:rPr>
                        <a:t xml:space="preserve">Grundlegende Informationen über das Unternehmen</a:t>
                      </a:r>
                      <a:r>
                        <a:rPr lang="de-DE" sz="975" b="0" kern="1200" spc="-10" noProof="0">
                          <a:solidFill>
                            <a:schemeClr val="tx2"/>
                          </a:solidFill>
                          <a:latin typeface="+mn-lt"/>
                          <a:ea typeface="+mn-ea"/>
                          <a:cs typeface="+mn-cs"/>
                        </a:rPr>
                        <a:t xml:space="preserve"> (Nr.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04245">
                <a:tc>
                  <a:txBody>
                    <a:bodyPr/>
                    <a:lstStyle/>
                    <a:p>
                      <a:pPr algn="l"/>
                      <a:r>
                        <a:rPr lang="de-DE" sz="975" b="1" kern="1200" spc="-10" noProof="0">
                          <a:solidFill>
                            <a:schemeClr val="tx2"/>
                          </a:solidFill>
                          <a:latin typeface="+mn-lt"/>
                          <a:ea typeface="+mn-ea"/>
                          <a:cs typeface="+mn-cs"/>
                        </a:rPr>
                        <a:t xml:space="preserve">Rechtsform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{{branchekode}}</a:t>
                      </a:r>
                      <a:endParaRPr lang="de-DE"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04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NACE-Code(s)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{{NACE}}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04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Bilanzsumme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{{balance}}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4245">
                <a:tc>
                  <a:txBody>
                    <a:bodyPr/>
                    <a:lstStyle/>
                    <a:p>
                      <a:pPr algn="l"/>
                      <a:r>
                        <a:rPr lang="de-DE" sz="975" b="1" kern="1200" spc="-10" noProof="0">
                          <a:solidFill>
                            <a:schemeClr val="tx2"/>
                          </a:solidFill>
                          <a:latin typeface="+mn-lt"/>
                          <a:ea typeface="+mn-ea"/>
                          <a:cs typeface="+mn-cs"/>
                        </a:rPr>
                        <a:t xml:space="preserve">Umsatzerlöse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{{revenue}}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395107">
                <a:tc>
                  <a:txBody>
                    <a:bodyPr/>
                    <a:lstStyle/>
                    <a:p>
                      <a:pPr algn="l"/>
                      <a:r>
                        <a:rPr lang="de-DE" sz="975" b="1" kern="1200" spc="-10" noProof="0">
                          <a:solidFill>
                            <a:schemeClr val="tx2"/>
                          </a:solidFill>
                          <a:latin typeface="+mn-lt"/>
                          <a:ea typeface="+mn-ea"/>
                          <a:cs typeface="+mn-cs"/>
                        </a:rPr>
                        <a:t xml:space="preserve">Beschäftigte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{{total_employees}}</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94526"/>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87603">
                <a:tc gridSpan="2">
                  <a:txBody>
                    <a:bodyPr/>
                    <a:lstStyle/>
                    <a:p>
                      <a:pPr algn="l"/>
                      <a:r>
                        <a:rPr lang="de-DE" sz="975" b="1" kern="1200" spc="-10" noProof="0">
                          <a:solidFill>
                            <a:schemeClr val="tx2"/>
                          </a:solidFill>
                          <a:latin typeface="+mn-lt"/>
                          <a:ea typeface="+mn-ea"/>
                          <a:cs typeface="+mn-cs"/>
                        </a:rPr>
                        <a:t xml:space="preserve">Der ESG-Bericht enthält Auslassungen aufgrund vertraulicher Geschäftsinformationen </a:t>
                      </a:r>
                      <a:r>
                        <a:rPr lang="de-DE" sz="975" b="0" kern="1200" spc="-10" noProof="0">
                          <a:solidFill>
                            <a:schemeClr val="tx2"/>
                          </a:solidFill>
                          <a:latin typeface="+mn-lt"/>
                          <a:ea typeface="+mn-ea"/>
                          <a:cs typeface="+mn-cs"/>
                        </a:rPr>
                        <a:t xml:space="preserve">(Nr.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069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Folgende Angaben wurden ausgelassen</a:t>
                      </a:r>
                    </a:p>
                    <a:p>
                      <a:pPr algn="l"/>
                      <a:endParaRPr lang="de-DE"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e-DE" sz="975" noProof="0">
                          <a:solidFill>
                            <a:srgbClr val="1B4528"/>
                          </a:solidFill>
                          <a:latin typeface="+mn-lt"/>
                          <a:cs typeface="Calibri" panose="020F0502020204030204" pitchFamily="34" charset="0"/>
                        </a:rPr>
                        <a:t>{{</a:t>
                      </a:r>
                      <a:r>
                        <a:rPr lang="de-DE" sz="975" noProof="0">
                          <a:solidFill>
                            <a:srgbClr val="1B4528"/>
                          </a:solidFill>
                          <a:latin typeface="+mn-lt"/>
                          <a:cs typeface="Calibri" panose="020F0502020204030204" pitchFamily="34" charset="0"/>
                        </a:rPr>
                        <a:t>confidentiality_info</a:t>
                      </a:r>
                      <a:r>
                        <a:rPr lang="de-DE" sz="975" noProof="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763533"/>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400510"/>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de-DE" sz="975" b="1" kern="1200" spc="-10" noProof="0">
                          <a:solidFill>
                            <a:schemeClr val="tx2"/>
                          </a:solidFill>
                          <a:latin typeface="+mn-lt"/>
                          <a:ea typeface="+mn-ea"/>
                          <a:cs typeface="+mn-cs"/>
                        </a:rPr>
                        <a:t xml:space="preserve">Name des ESG-Zertifikats/Umweltsiegels </a:t>
                      </a:r>
                      <a:r>
                        <a:rPr lang="de-DE" sz="975" b="0" kern="1200" spc="-10" noProof="0">
                          <a:solidFill>
                            <a:schemeClr val="tx2"/>
                          </a:solidFill>
                          <a:latin typeface="+mn-lt"/>
                          <a:ea typeface="+mn-ea"/>
                          <a:cs typeface="+mn-cs"/>
                        </a:rPr>
                        <a:t xml:space="preserve">(Nr.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Kurze Beschreibung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Datum der Ausstellung/</a:t>
                      </a:r>
                    </a:p>
                    <a:p>
                      <a:pPr algn="l"/>
                      <a:r>
                        <a:rPr lang="de-DE" sz="975" b="1" kern="1200" spc="-10" noProof="0">
                          <a:solidFill>
                            <a:schemeClr val="tx2"/>
                          </a:solidFill>
                          <a:latin typeface="+mn-lt"/>
                          <a:ea typeface="+mn-ea"/>
                          <a:cs typeface="+mn-cs"/>
                        </a:rPr>
                        <a:t xml:space="preserve">Gültigkeit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Etwaige Bewertungsnote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de-DE" sz="975" b="0" i="0" u="none" strike="noStrike" noProof="0">
                          <a:solidFill>
                            <a:srgbClr val="1B4528"/>
                          </a:solidFill>
                          <a:effectLst/>
                          <a:latin typeface="Inter"/>
                        </a:rPr>
                        <a:t>{{certificate_or_ecolabel}}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975" b="0" i="0" u="none" strike="noStrike" noProof="0">
                          <a:solidFill>
                            <a:srgbClr val="1B4528"/>
                          </a:solidFill>
                          <a:effectLst/>
                          <a:latin typeface="Inter"/>
                        </a:rPr>
                        <a:t>{{description_certificate}}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date_certicate</a:t>
                      </a:r>
                      <a:r>
                        <a:rPr lang="de-DE" sz="975" b="0" i="0" u="none" strike="noStrike" noProof="0">
                          <a:solidFill>
                            <a:srgbClr val="1B4528"/>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certiciate_possible_rating</a:t>
                      </a:r>
                      <a:r>
                        <a:rPr lang="de-DE" sz="975" b="0" i="0" u="none" strike="noStrike" noProof="0">
                          <a:solidFill>
                            <a:srgbClr val="1B4528"/>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507669"/>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Anschriften und Geoposition </a:t>
                      </a:r>
                      <a:r>
                        <a:rPr lang="de-DE" sz="975" b="1" u="none" kern="1200" spc="-10" noProof="0">
                          <a:solidFill>
                            <a:schemeClr val="tx2"/>
                          </a:solidFill>
                          <a:latin typeface="+mn-lt"/>
                          <a:ea typeface="+mn-ea"/>
                          <a:cs typeface="+mn-cs"/>
                        </a:rPr>
                        <a:t xml:space="preserve">wesentlicher</a:t>
                      </a:r>
                      <a:r>
                        <a:rPr lang="de-DE" sz="975" b="1" kern="1200" spc="-10" noProof="0">
                          <a:solidFill>
                            <a:schemeClr val="tx2"/>
                          </a:solidFill>
                          <a:latin typeface="+mn-lt"/>
                          <a:ea typeface="+mn-ea"/>
                          <a:cs typeface="+mn-cs"/>
                        </a:rPr>
                        <a:t xml:space="preserve"> Vermögenswerte und Standorte, die das Unternehmen</a:t>
                      </a:r>
                      <a:r>
                        <a:rPr lang="de-DE" sz="975" b="0" kern="1200" spc="-10" noProof="0">
                          <a:solidFill>
                            <a:schemeClr val="tx2"/>
                          </a:solidFill>
                          <a:latin typeface="+mn-lt"/>
                          <a:ea typeface="+mn-ea"/>
                          <a:cs typeface="+mn-cs"/>
                        </a:rPr>
                        <a:t> </a:t>
                      </a:r>
                      <a:r>
                        <a:rPr lang="de-DE" sz="975" b="1" kern="1200" spc="-10" noProof="0">
                          <a:solidFill>
                            <a:schemeClr val="tx2"/>
                          </a:solidFill>
                          <a:latin typeface="+mn-lt"/>
                          <a:ea typeface="+mn-ea"/>
                          <a:cs typeface="+mn-cs"/>
                        </a:rPr>
                        <a:t xml:space="preserve">besitzt, gepachtet hat oder bewirtschaftet </a:t>
                      </a:r>
                      <a:r>
                        <a:rPr lang="de-DE" sz="975" b="0" kern="1200" spc="-10" noProof="0">
                          <a:solidFill>
                            <a:schemeClr val="tx2"/>
                          </a:solidFill>
                          <a:latin typeface="+mn-lt"/>
                          <a:ea typeface="+mn-ea"/>
                          <a:cs typeface="+mn-cs"/>
                        </a:rPr>
                        <a:t xml:space="preserve">(Nr.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de-DE" sz="975" b="1" kern="1200" spc="-10" noProof="0">
                          <a:solidFill>
                            <a:schemeClr val="tx2"/>
                          </a:solidFill>
                          <a:latin typeface="+mn-lt"/>
                          <a:ea typeface="+mn-ea"/>
                          <a:cs typeface="+mn-cs"/>
                        </a:rPr>
                        <a:t xml:space="preserve">Standort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Anschrift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PLZ</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Stadt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Land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Geoposition (Koordinaten)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de-DE" sz="975" b="0" i="0" u="none" strike="noStrike" noProof="0">
                          <a:solidFill>
                            <a:srgbClr val="1B4528"/>
                          </a:solidFill>
                          <a:effectLst/>
                          <a:latin typeface="Inter"/>
                        </a:rPr>
                        <a:t>{{geolocation}}</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geolocation_adress</a:t>
                      </a:r>
                      <a:r>
                        <a:rPr lang="de-DE" sz="975" b="0" i="0" u="none" strike="noStrike" noProof="0">
                          <a:solidFill>
                            <a:srgbClr val="1B4528"/>
                          </a:solidFill>
                          <a:effectLst/>
                          <a:latin typeface="Inter"/>
                        </a:rPr>
                        <a:t>}}</a:t>
                      </a:r>
                      <a:endParaRPr lang="de-DE"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{{geolocation_postcode}}</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{{geolocation_city}}</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{{geolocation_country}}</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geolocation_coordinates</a:t>
                      </a:r>
                      <a:r>
                        <a:rPr lang="de-DE" sz="975" b="0" i="0" u="none" strike="noStrike" noProof="0">
                          <a:solidFill>
                            <a:srgbClr val="1B4528"/>
                          </a:solidFill>
                          <a:effectLst/>
                          <a:latin typeface="Inter"/>
                        </a:rPr>
                        <a:t>}}</a:t>
                      </a:r>
                      <a:endParaRPr lang="de-DE"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795448"/>
            <a:ext cx="6737040" cy="538588"/>
          </a:xfrm>
          <a:prstGeom prst="rect">
            <a:avLst/>
          </a:prstGeom>
          <a:noFill/>
        </p:spPr>
        <p:txBody>
          <a:bodyPr wrap="square">
            <a:spAutoFit/>
          </a:bodyPr>
          <a:lstStyle/>
          <a:p>
            <a:pPr>
              <a:spcBef>
                <a:spcPts val="750"/>
              </a:spcBef>
            </a:pPr>
            <a:r>
              <a:rPr lang="de-DE" sz="975" b="0" i="0" u="none" strike="noStrike" noProof="0">
                <a:solidFill>
                  <a:schemeClr val="tx2"/>
                </a:solidFill>
                <a:effectLst/>
                <a:latin typeface="Inter"/>
              </a:rPr>
              <a:t xml:space="preserve">Nachstehend werden die Geopositionen des Unternehmens und die Orte seiner Tätigkeit beschrieben. Diese Angaben können für klimabedingte Risikozonen genutzt werden und informieren über Anlagen, Einrichtungen und/oder den Hauptsitz</a:t>
            </a:r>
            <a:r>
              <a:rPr lang="de-DE" sz="975" noProof="0">
                <a:solidFill>
                  <a:schemeClr val="tx2"/>
                </a:solidFill>
                <a:latin typeface="Inter"/>
              </a:rPr>
              <a:t xml:space="preserve">. Relevante Nachhaltigkeitszertifizierungen oder -siegel sind ebenfalls angegeben, einschließlich Aussteller, Datum und etwaiger Bewertungsnote.</a:t>
            </a:r>
            <a:endParaRPr lang="de-DE"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963107"/>
            <a:ext cx="6737040" cy="230823"/>
          </a:xfrm>
          <a:prstGeom prst="rect">
            <a:avLst/>
          </a:prstGeom>
          <a:noFill/>
        </p:spPr>
        <p:txBody>
          <a:bodyPr wrap="square">
            <a:spAutoFit/>
          </a:bodyPr>
          <a:lstStyle/>
          <a:p>
            <a:r>
              <a:rPr lang="de-DE" sz="975" noProof="0">
                <a:solidFill>
                  <a:srgbClr val="487477"/>
                </a:solidFill>
                <a:latin typeface="Inter"/>
              </a:rPr>
              <a:t xml:space="preserve">Die Zertifikate und Umweltsiegel des Unternehmens sind nachstehend aufgeführt.</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de-DE" noProof="0"/>
              <a:t xml:space="preserve">Verfahrensweisen, Richtlinien und künftige Initiativen für den Übergang zu einer nachhaltigeren Wirtschaft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de-DE" sz="975" b="1" kern="1200" spc="-10" noProof="0">
                          <a:solidFill>
                            <a:schemeClr val="tx2"/>
                          </a:solidFill>
                          <a:latin typeface="+mn-lt"/>
                          <a:ea typeface="+mn-ea"/>
                          <a:cs typeface="+mn-cs"/>
                        </a:rPr>
                        <a:t xml:space="preserve">Bereich</a:t>
                      </a:r>
                    </a:p>
                    <a:p>
                      <a:r>
                        <a:rPr lang="de-DE" sz="975" b="0" kern="1200" spc="-10" noProof="0">
                          <a:solidFill>
                            <a:schemeClr val="tx2"/>
                          </a:solidFill>
                          <a:latin typeface="+mn-lt"/>
                          <a:ea typeface="+mn-ea"/>
                          <a:cs typeface="+mn-cs"/>
                        </a:rPr>
                        <a:t xml:space="preserve">(Nr.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Konkrete Verfahrensweise oder Richtlinie vorhanden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Ist die Richtlinie öffentlich zugänglich?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Das Unternehmen hat künftige Initiativen und Pläne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Konkrete Ziele zur Überwachung der Umsetzung von Verfahrensweisen und Richtlinien vorhanden?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de-DE" sz="975" b="1" kern="1200" spc="-10" noProof="0">
                          <a:solidFill>
                            <a:schemeClr val="tx2"/>
                          </a:solidFill>
                          <a:latin typeface="+mn-lt"/>
                          <a:ea typeface="+mn-ea"/>
                          <a:cs typeface="+mn-cs"/>
                        </a:rPr>
                        <a:t xml:space="preserve">Klimawandel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{{climate_change_concrete}}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{{climate_change_publicly}}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{{climate_change_future}}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{{climate_change_plan}}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de-DE" sz="975" b="1" kern="1200" spc="-10" noProof="0">
                          <a:solidFill>
                            <a:schemeClr val="tx2"/>
                          </a:solidFill>
                          <a:latin typeface="+mn-lt"/>
                          <a:ea typeface="+mn-ea"/>
                          <a:cs typeface="+mn-cs"/>
                        </a:rPr>
                        <a:t xml:space="preserve">Umweltver­schmutzung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{{pollution_concrete}}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{{pollution_publicly}}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{{pollution_future}}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{{pollution_plan}}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de-DE" sz="975" b="1" kern="1200" spc="-10" noProof="0">
                          <a:solidFill>
                            <a:schemeClr val="tx2"/>
                          </a:solidFill>
                          <a:latin typeface="+mn-lt"/>
                          <a:ea typeface="+mn-ea"/>
                          <a:cs typeface="+mn-cs"/>
                        </a:rPr>
                        <a:t xml:space="preserve">Wasser- und Meeresressourcen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{{water_concrete}}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{{water_publicly}}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{{water_future}}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{{water_plan}}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de-DE" sz="975" b="1" kern="1200" spc="-10" noProof="0">
                          <a:solidFill>
                            <a:schemeClr val="tx2"/>
                          </a:solidFill>
                          <a:latin typeface="+mn-lt"/>
                          <a:ea typeface="+mn-ea"/>
                          <a:cs typeface="+mn-cs"/>
                        </a:rPr>
                        <a:t xml:space="preserve">Biodiversität und Ökosysteme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{{biodiversity_concrete}}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{{biodiversity_publicly}}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{{biodiversity_future}}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{{biodiversity_plan}}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de-DE" sz="975" b="1" kern="1200" spc="-10" noProof="0">
                          <a:solidFill>
                            <a:schemeClr val="tx2"/>
                          </a:solidFill>
                          <a:latin typeface="+mn-lt"/>
                          <a:ea typeface="+mn-ea"/>
                          <a:cs typeface="+mn-cs"/>
                        </a:rPr>
                        <a:t xml:space="preserve">Kreislaufwirt­schaft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{{circular_concrete}}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{{circular_publicly}}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{{circular_future}}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{{circular_plan}}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de-DE" sz="975" b="1" kern="1200" spc="-10" noProof="0">
                          <a:solidFill>
                            <a:schemeClr val="tx2"/>
                          </a:solidFill>
                          <a:latin typeface="+mn-lt"/>
                          <a:ea typeface="+mn-ea"/>
                          <a:cs typeface="+mn-cs"/>
                        </a:rPr>
                        <a:t xml:space="preserve">Arbeitskräfte des Unternehmens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{{workforce_concrete}}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{{workforce_publicly}}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{{workforce_future}}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{{workforce_plan}}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de-DE" sz="975" b="1" kern="1200" spc="-10" noProof="0">
                          <a:solidFill>
                            <a:schemeClr val="tx2"/>
                          </a:solidFill>
                          <a:latin typeface="+mn-lt"/>
                          <a:ea typeface="+mn-ea"/>
                          <a:cs typeface="+mn-cs"/>
                        </a:rPr>
                        <a:t xml:space="preserve">Arbeitskräfte in der Wertschöpfungs­kette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{{workers_concrete}}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{{workers_publicly}}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{{workers_future}}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{{workers_plan}}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de-DE" sz="975" b="1" kern="1200" spc="-10" noProof="0">
                          <a:solidFill>
                            <a:schemeClr val="tx2"/>
                          </a:solidFill>
                          <a:latin typeface="+mn-lt"/>
                          <a:ea typeface="+mn-ea"/>
                          <a:cs typeface="+mn-cs"/>
                        </a:rPr>
                        <a:t xml:space="preserve">Betroffene Gemeinschaften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{{communities_concrete}}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{{communities_publicly}}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{{communities_future}}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{{communities_plan}}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de-DE" sz="975" b="1" kern="1200" spc="-10" noProof="0">
                          <a:solidFill>
                            <a:schemeClr val="tx2"/>
                          </a:solidFill>
                          <a:latin typeface="+mn-lt"/>
                          <a:ea typeface="+mn-ea"/>
                          <a:cs typeface="+mn-cs"/>
                        </a:rPr>
                        <a:t xml:space="preserve">Verbraucher und Endnutzer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{{consumers_concrete}}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{{consumers_publicly}}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{{consumers_future}}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{{consumers_plan}}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de-DE" sz="975" b="1" kern="1200" spc="-10" noProof="0">
                          <a:solidFill>
                            <a:schemeClr val="tx2"/>
                          </a:solidFill>
                          <a:latin typeface="+mn-lt"/>
                          <a:ea typeface="+mn-ea"/>
                          <a:cs typeface="+mn-cs"/>
                        </a:rPr>
                        <a:t xml:space="preserve">Unternehmenspolitik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{{governance_concrete}}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{{governance_publicly}}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{{governance_future}}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{{governance_plan}}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de-DE" sz="975" b="0" i="0" u="none" strike="noStrike" noProof="0">
                <a:solidFill>
                  <a:schemeClr val="tx2"/>
                </a:solidFill>
                <a:effectLst/>
                <a:latin typeface="Inter"/>
              </a:rPr>
              <a:t xml:space="preserve">Dieser Abschnitt beschreibt die Verfahrensweisen, Richtlinien und künftigen Initiativen, die das Unternehmen zur Unterstützung einer nachhaltigen Wirtschaft umgesetzt hat. Dazu gehört die Angabe, welche konkreten Maßnahmen das Unternehmen ergriffen hat, um negative Umweltauswirkungen zu verringern und die Arbeitsbedingungen sowie die Gleichbehandlung zu verbessern (JA/NEIN).</a:t>
            </a:r>
            <a:br>
              <a:rPr lang="de-DE" sz="975" noProof="0">
                <a:solidFill>
                  <a:schemeClr val="tx2"/>
                </a:solidFill>
              </a:rPr>
            </a:br>
            <a:endParaRPr lang="de-DE"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e-DE" noProof="0" smtClean="0"/>
              <a:pPr/>
              <a:t>4</a:t>
            </a:fld>
            <a:endParaRPr lang="de-DE"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Energieverbrauch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Energieverbrauch in MWh </a:t>
                      </a:r>
                      <a:r>
                        <a:rPr lang="de-DE" sz="975" b="0" noProof="0">
                          <a:solidFill>
                            <a:schemeClr val="tx2"/>
                          </a:solidFill>
                        </a:rPr>
                        <a:t xml:space="preserve">(Nr.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e-DE"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975" b="1" noProof="0">
                          <a:solidFill>
                            <a:schemeClr val="tx2"/>
                          </a:solidFill>
                        </a:rPr>
                        <a:t xml:space="preserve">Erneuerbarer Energieverbrauch</a:t>
                      </a:r>
                      <a:r>
                        <a:rPr lang="de-DE"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975" b="1" noProof="0">
                          <a:solidFill>
                            <a:schemeClr val="tx2"/>
                          </a:solidFill>
                        </a:rPr>
                        <a:t xml:space="preserve">Nicht erneuerbarer Energieverbrauch</a:t>
                      </a:r>
                      <a:r>
                        <a:rPr lang="de-DE"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Gesamtenergieverbrauch (MWh)</a:t>
                      </a:r>
                    </a:p>
                    <a:p>
                      <a:pPr marL="0" marR="0" lvl="0" indent="0" algn="r" defTabSz="914400" rtl="0" eaLnBrk="1" fontAlgn="auto" latinLnBrk="0" hangingPunct="1">
                        <a:lnSpc>
                          <a:spcPct val="106000"/>
                        </a:lnSpc>
                        <a:spcBef>
                          <a:spcPts val="0"/>
                        </a:spcBef>
                        <a:spcAft>
                          <a:spcPts val="0"/>
                        </a:spcAft>
                        <a:buClrTx/>
                        <a:buSzTx/>
                        <a:buFontTx/>
                        <a:buNone/>
                        <a:tabLst/>
                        <a:defRPr/>
                      </a:pPr>
                      <a:r>
                        <a:rPr lang="de-DE"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de-DE" sz="975" b="1" noProof="0">
                          <a:solidFill>
                            <a:schemeClr val="tx2"/>
                          </a:solidFill>
                        </a:rPr>
                        <a:t xml:space="preserve">Strom </a:t>
                      </a:r>
                      <a:r>
                        <a:rPr lang="de-DE" sz="975" b="0" noProof="0">
                          <a:solidFill>
                            <a:schemeClr val="tx2"/>
                          </a:solidFill>
                        </a:rPr>
                        <a:t xml:space="preserve">(wie in den Rechnungen der Versorgungsunternehmen angegeben)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{{electricity_renewable}}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{{electricity_non_rewenable}}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{{total_electricity}}</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de-DE" sz="975" b="1" noProof="0">
                          <a:solidFill>
                            <a:schemeClr val="tx2"/>
                          </a:solidFill>
                        </a:rPr>
                        <a:t xml:space="preserve">Kraft-/Brennstoffe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{{fuel_renewable}}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{{fuel_non_rewenable}}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{{total_fuel}}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de-DE" sz="975" b="1" noProof="0">
                          <a:solidFill>
                            <a:schemeClr val="tx2"/>
                          </a:solidFill>
                        </a:rPr>
                        <a:t xml:space="preserve">Sonstiges (z. B. Fernwärme)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{{district_heating_rewenable}}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{{district_heating_non_rewenable}}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{{total_district_heating}}</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de-DE" sz="975" b="1" noProof="0">
                          <a:solidFill>
                            <a:schemeClr val="tx2"/>
                          </a:solidFill>
                        </a:rPr>
                        <a:t xml:space="preserve">Insgesamt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{{renewable_energy_total}}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{{non_rewenable_energy_total}}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{{total_energy_consumption}}</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5</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de-DE" sz="975" b="0" i="0" u="none" strike="noStrike" noProof="0">
                <a:solidFill>
                  <a:schemeClr val="tx2"/>
                </a:solidFill>
                <a:effectLst/>
                <a:latin typeface="Inter"/>
              </a:rPr>
              <a:t xml:space="preserve">Dieser Abschnitt gibt die CO2-Emissionen aus dem Energieverbrauch an, aufgeteilt in erneuerbaren und nicht erneuerbaren Verbrauch. </a:t>
            </a:r>
            <a:r>
              <a:rPr lang="de-DE" sz="975" noProof="0">
                <a:solidFill>
                  <a:schemeClr val="tx2"/>
                </a:solidFill>
                <a:latin typeface="Inter"/>
              </a:rPr>
              <a:t xml:space="preserve">Die Emissionen werden nach </a:t>
            </a:r>
            <a:r>
              <a:rPr lang="de-DE" sz="975" b="0" i="0" u="none" strike="noStrike" noProof="0">
                <a:solidFill>
                  <a:schemeClr val="tx2"/>
                </a:solidFill>
                <a:effectLst/>
                <a:latin typeface="Inter"/>
              </a:rPr>
              <a:t xml:space="preserve">den Festlegungen des THG-Protokolls zu direkten und indirekten Emissionen angegeben. </a:t>
            </a:r>
            <a:br>
              <a:rPr lang="de-DE" sz="975" b="0" i="0" u="none" strike="noStrike" noProof="0" dirty="0">
                <a:effectLst/>
                <a:latin typeface="Inter"/>
              </a:rPr>
            </a:br>
            <a:br>
              <a:rPr lang="de-DE" sz="975" dirty="0">
                <a:latin typeface="Inter"/>
              </a:rPr>
            </a:br>
            <a:r>
              <a:rPr lang="de-DE" sz="650" b="0" i="0" u="none" strike="noStrike" noProof="0">
                <a:solidFill>
                  <a:schemeClr val="tx2"/>
                </a:solidFill>
                <a:effectLst/>
                <a:latin typeface="Inter"/>
              </a:rPr>
              <a:t> </a:t>
            </a:r>
            <a:endParaRPr lang="de-DE" sz="975" b="0" i="0" u="none" strike="noStrike" noProof="0" dirty="0">
              <a:solidFill>
                <a:schemeClr val="tx2"/>
              </a:solidFill>
              <a:effectLst/>
              <a:latin typeface="Inter"/>
            </a:endParaRPr>
          </a:p>
          <a:p>
            <a:pPr rtl="0">
              <a:buNone/>
            </a:pPr>
            <a:endParaRPr lang="de-DE" sz="975" b="0" noProof="0">
              <a:solidFill>
                <a:schemeClr val="tx2"/>
              </a:solidFill>
              <a:effectLst/>
              <a:latin typeface="Inter"/>
            </a:endParaRPr>
          </a:p>
          <a:p>
            <a:pPr>
              <a:buNone/>
            </a:pPr>
            <a:endParaRPr lang="de-DE" b="0" noProof="0">
              <a:solidFill>
                <a:schemeClr val="tx2"/>
              </a:solidFill>
              <a:effectLst/>
              <a:latin typeface="Inter"/>
            </a:endParaRPr>
          </a:p>
          <a:p>
            <a:pPr>
              <a:buNone/>
            </a:pPr>
            <a:endParaRPr lang="de-DE" sz="1325" noProof="0">
              <a:solidFill>
                <a:schemeClr val="tx2"/>
              </a:solidFill>
              <a:latin typeface="Inter"/>
            </a:endParaRPr>
          </a:p>
          <a:p>
            <a:pPr>
              <a:buNone/>
            </a:pPr>
            <a:endParaRPr lang="de-DE" sz="1325" b="0" noProof="0">
              <a:solidFill>
                <a:schemeClr val="tx2"/>
              </a:solidFill>
              <a:effectLst/>
              <a:latin typeface="Inter"/>
            </a:endParaRPr>
          </a:p>
          <a:p>
            <a:pPr>
              <a:buNone/>
            </a:pPr>
            <a:endParaRPr lang="de-DE" sz="1325" noProof="0">
              <a:solidFill>
                <a:schemeClr val="tx2"/>
              </a:solidFill>
              <a:latin typeface="Inter"/>
            </a:endParaRPr>
          </a:p>
          <a:p>
            <a:pPr>
              <a:buNone/>
            </a:pPr>
            <a:endParaRPr lang="de-DE" sz="1325" b="0" noProof="0">
              <a:solidFill>
                <a:schemeClr val="tx2"/>
              </a:solidFill>
              <a:effectLst/>
              <a:latin typeface="Inter"/>
            </a:endParaRPr>
          </a:p>
          <a:p>
            <a:endParaRPr lang="de-DE"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de-DE" sz="975" b="1" noProof="0">
                          <a:solidFill>
                            <a:schemeClr val="tx2"/>
                          </a:solidFill>
                        </a:rPr>
                        <a:t xml:space="preserve">Treibhausgasemissionen </a:t>
                      </a:r>
                      <a:r>
                        <a:rPr lang="de-DE" sz="975" b="0" noProof="0">
                          <a:solidFill>
                            <a:schemeClr val="tx2"/>
                          </a:solidFill>
                        </a:rPr>
                        <a:t xml:space="preserve">(Nr. 33)</a:t>
                      </a: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Jahr </a:t>
                      </a:r>
                      <a:r>
                        <a:rPr lang="de-DE"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de-DE" sz="975" b="1" noProof="0">
                          <a:solidFill>
                            <a:schemeClr val="tx2"/>
                          </a:solidFill>
                        </a:rPr>
                        <a:t xml:space="preserve">Scope-1-CO₂e-Emissionen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{{scope1}}</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de-DE" sz="975" b="1" noProof="0">
                          <a:solidFill>
                            <a:schemeClr val="tx2"/>
                          </a:solidFill>
                        </a:rPr>
                        <a:t xml:space="preserve">Scope-2-CO₂e-Emissionen (standortbezogen)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{{scope2}}</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e-DE" sz="975" b="1" noProof="0">
                          <a:solidFill>
                            <a:schemeClr val="tx2"/>
                          </a:solidFill>
                        </a:rPr>
                        <a:t xml:space="preserve">Gesamte CO₂e-Emissionen aus Scope 1 und Scope 2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{{total_scope}}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de-DE" sz="975" b="1" noProof="0">
                          <a:solidFill>
                            <a:schemeClr val="tx2"/>
                          </a:solidFill>
                        </a:rPr>
                        <a:t xml:space="preserve">Scope-2-CO₂e-Emissionen (marktbezogen) (freiwillig)</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{{scope1_marked}}</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e-DE" sz="975" b="1" noProof="0">
                          <a:solidFill>
                            <a:schemeClr val="tx2"/>
                          </a:solidFill>
                        </a:rPr>
                        <a:t xml:space="preserve">Gesamte CO₂e-Emissionen aus Scope 1 und Scope 2 (marktbezogen) (freiwillig)</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{{scope2_marked}}</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de-DE" b="1" dirty="0">
                <a:latin typeface="+mj-lt"/>
              </a:rPr>
            </a:br>
            <a:r>
              <a:rPr lang="de-DE" b="1" i="0" u="none" strike="noStrike" noProof="0">
                <a:solidFill>
                  <a:schemeClr val="tx2"/>
                </a:solidFill>
                <a:effectLst/>
                <a:latin typeface="+mj-lt"/>
              </a:rPr>
              <a:t xml:space="preserve">CO₂e-Emissionen (B3)</a:t>
            </a:r>
            <a:endParaRPr lang="de-DE" noProof="0">
              <a:solidFill>
                <a:schemeClr val="tx2"/>
              </a:solidFill>
              <a:effectLst/>
              <a:latin typeface="+mj-lt"/>
            </a:endParaRPr>
          </a:p>
          <a:p>
            <a:r>
              <a:rPr lang="de-DE" sz="650">
                <a:latin typeface="Inter"/>
              </a:rPr>
              <a:t> </a:t>
            </a:r>
            <a:br>
              <a:rPr lang="de-DE" sz="975" dirty="0">
                <a:solidFill>
                  <a:schemeClr val="tx2"/>
                </a:solidFill>
                <a:latin typeface="Inter"/>
              </a:rPr>
            </a:br>
            <a:r>
              <a:rPr lang="de-DE" sz="975" b="0" i="0" u="none" strike="noStrike" noProof="0">
                <a:solidFill>
                  <a:schemeClr val="tx2"/>
                </a:solidFill>
                <a:effectLst/>
                <a:latin typeface="Inter"/>
              </a:rPr>
              <a:t xml:space="preserve">Nr. 33 enthält Angaben zu den Treibhausgasemissionen des Unternehmens auf Basis der Scope-1- und Scope-2-Emissionen. Scope 1 bezeichnet die direkten Emissionen aus Quellen, die das Unternehmen besitzt oder direkt kontrolliert, z. B. die Verbrennung von Kraftstoff in Firmenfahrzeugen, die Beheizung von Gebäuden mit Erdgas sowie Emissionen aus industriellen Prozessen und Leckagen in Systemen wie der Kühlung.</a:t>
            </a:r>
            <a:r>
              <a:rPr lang="de-DE" sz="975" noProof="0">
                <a:solidFill>
                  <a:schemeClr val="tx2"/>
                </a:solidFill>
                <a:latin typeface="Inter"/>
              </a:rPr>
              <a:t> </a:t>
            </a:r>
            <a:r>
              <a:rPr lang="de-DE" sz="975" b="0" i="0" u="none" strike="noStrike" noProof="0">
                <a:solidFill>
                  <a:schemeClr val="tx2"/>
                </a:solidFill>
                <a:effectLst/>
                <a:latin typeface="Inter"/>
              </a:rPr>
              <a:t>Scope 2</a:t>
            </a:r>
            <a:r>
              <a:rPr lang="de-DE" sz="975" noProof="0">
                <a:solidFill>
                  <a:schemeClr val="tx2"/>
                </a:solidFill>
                <a:latin typeface="Inter"/>
              </a:rPr>
              <a:t xml:space="preserve"> umfasst i</a:t>
            </a:r>
            <a:r>
              <a:rPr lang="de-DE" sz="975" b="0" i="0" u="none" strike="noStrike" noProof="0">
                <a:solidFill>
                  <a:schemeClr val="tx2"/>
                </a:solidFill>
                <a:effectLst/>
                <a:latin typeface="Inter"/>
              </a:rPr>
              <a:t xml:space="preserve">ndirekte Emissionen aus erworbenem Strom, d. h. aus der Erzeugung der vom Unternehmen erworbenen und genutzten Elektrizität, des Dampfes, der Wärme oder der Kühlung. Obwohl sie bei den Energieerzeugern entstehen, werden sie dem Unternehmen zugerechnet, weil es die Energie verbraucht.</a:t>
            </a:r>
            <a:endParaRPr lang="de-DE"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Luft-, Wasser- und Bodenverschmutzung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de-DE" sz="806" b="1" noProof="0">
                          <a:solidFill>
                            <a:schemeClr val="tx2"/>
                          </a:solidFill>
                        </a:rPr>
                        <a:t xml:space="preserve">Luft-, Wasser- und Bodenverschmutzung </a:t>
                      </a:r>
                      <a:r>
                        <a:rPr lang="de-DE" sz="806" b="0" noProof="0">
                          <a:solidFill>
                            <a:schemeClr val="tx2"/>
                          </a:solidFill>
                        </a:rPr>
                        <a:t xml:space="preserve">(Nr.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Art der Verschmutzung </a:t>
                      </a:r>
                      <a:r>
                        <a:rPr lang="de-DE" sz="806" b="0" noProof="0">
                          <a:solidFill>
                            <a:schemeClr val="tx2"/>
                          </a:solidFill>
                        </a:rPr>
                        <a:t xml:space="preserve">(z. B. Schadstoff)</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806" b="1" noProof="0">
                          <a:solidFill>
                            <a:schemeClr val="tx2"/>
                          </a:solidFill>
                        </a:rPr>
                        <a:t xml:space="preserve">Wo? </a:t>
                      </a:r>
                      <a:r>
                        <a:rPr lang="de-DE" sz="806" b="0" noProof="0">
                          <a:solidFill>
                            <a:schemeClr val="tx2"/>
                          </a:solidFill>
                        </a:rPr>
                        <a:t xml:space="preserve">(Luft, Wasser, Boden)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806" b="1" noProof="0">
                          <a:solidFill>
                            <a:schemeClr val="tx2"/>
                          </a:solidFill>
                        </a:rPr>
                        <a:t xml:space="preserve">Menge</a:t>
                      </a:r>
                      <a:endParaRPr lang="de-DE" sz="806"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de-DE" sz="806" b="0" i="0" u="none" strike="noStrike" noProof="0">
                          <a:solidFill>
                            <a:srgbClr val="1B4528"/>
                          </a:solidFill>
                          <a:effectLst/>
                          <a:latin typeface="Inter"/>
                        </a:rPr>
                        <a:t>{{type_of_pollution}}</a:t>
                      </a:r>
                      <a:endParaRPr lang="de-DE"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de-DE" sz="806" b="0" i="0" u="none" strike="noStrike" noProof="0">
                          <a:solidFill>
                            <a:srgbClr val="1B4528"/>
                          </a:solidFill>
                          <a:effectLst/>
                          <a:latin typeface="Inter"/>
                        </a:rPr>
                        <a:t>{{scope_pollution}}</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806" b="0" i="0" u="none" strike="noStrike" noProof="0">
                          <a:solidFill>
                            <a:srgbClr val="1B4528"/>
                          </a:solidFill>
                          <a:effectLst/>
                          <a:latin typeface="Inter"/>
                        </a:rPr>
                        <a:t>{{</a:t>
                      </a:r>
                      <a:r>
                        <a:rPr lang="de-DE" sz="806" b="0" i="0" u="none" strike="noStrike" noProof="0">
                          <a:solidFill>
                            <a:srgbClr val="1B4528"/>
                          </a:solidFill>
                          <a:effectLst/>
                          <a:latin typeface="Inter"/>
                        </a:rPr>
                        <a:t>pollution_medium</a:t>
                      </a:r>
                      <a:r>
                        <a:rPr lang="de-DE" sz="806" b="0" i="0" u="none" strike="noStrike" noProof="0">
                          <a:solidFill>
                            <a:srgbClr val="1B4528"/>
                          </a:solidFill>
                          <a:effectLst/>
                          <a:latin typeface="Inter"/>
                        </a:rPr>
                        <a:t>}}</a:t>
                      </a:r>
                      <a:endParaRPr lang="de-DE"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de-DE" sz="806" b="0" i="0" u="none" strike="noStrike" noProof="0">
                <a:solidFill>
                  <a:schemeClr val="tx2"/>
                </a:solidFill>
                <a:effectLst/>
                <a:latin typeface="Inter"/>
              </a:rPr>
              <a:t xml:space="preserve">Das Unternehmen berichtet die Gesamtmenge der Schadstoffe, die aus seinen Anlagen emittiert werden. Die Angaben zu den einzelnen Schadstoffen und deren Mengen, die in Luft, Wasser und Boden emittiert werden,</a:t>
            </a:r>
            <a:r>
              <a:rPr lang="de-DE" sz="806" noProof="0">
                <a:solidFill>
                  <a:schemeClr val="tx2"/>
                </a:solidFill>
                <a:latin typeface="Inter"/>
              </a:rPr>
              <a:t xml:space="preserve"> sind nachstehend aufgeführt.</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noProof="0"/>
              <a:t xml:space="preserve">Biodiversität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de-DE" sz="806" b="1" noProof="0">
                          <a:solidFill>
                            <a:schemeClr val="tx2"/>
                          </a:solidFill>
                        </a:rPr>
                        <a:t xml:space="preserve">Standorte in oder in der Nähe von ‚Gebieten mit schutzbedürftiger Biodiversität‘, die das Unternehmen besitzt, gepachtet hat oder bewirtschaftet </a:t>
                      </a:r>
                      <a:r>
                        <a:rPr lang="de-DE" sz="806" b="0" noProof="0">
                          <a:solidFill>
                            <a:schemeClr val="tx2"/>
                          </a:solidFill>
                        </a:rPr>
                        <a:t xml:space="preserve">(Nr.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de-DE" sz="806" b="1" noProof="0">
                          <a:solidFill>
                            <a:schemeClr val="tx2"/>
                          </a:solidFill>
                        </a:rPr>
                        <a:t xml:space="preserve">Standort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Fläche in Hektar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Gebiet mit schutzbedürftiger Biodiversität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Angabe: in oder in der Nähe eines Gebiets mit schutzbedürftiger Biodiversität</a:t>
                      </a:r>
                      <a:endParaRPr lang="de-DE"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de-DE" sz="806" b="0" i="0" u="none" strike="noStrike" noProof="0">
                          <a:solidFill>
                            <a:srgbClr val="1B4528"/>
                          </a:solidFill>
                          <a:effectLst/>
                          <a:latin typeface="Inter"/>
                        </a:rPr>
                        <a:t>{{country_location}}</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806" b="0" i="0" u="none" strike="noStrike" noProof="0">
                          <a:solidFill>
                            <a:srgbClr val="1B4528"/>
                          </a:solidFill>
                          <a:effectLst/>
                          <a:latin typeface="Inter"/>
                        </a:rPr>
                        <a:t> {{area_hect}}</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806" b="0" i="0" u="none" strike="noStrike" noProof="0">
                          <a:solidFill>
                            <a:srgbClr val="1B4528"/>
                          </a:solidFill>
                          <a:effectLst/>
                          <a:latin typeface="Inter"/>
                        </a:rPr>
                        <a:t>{{area_name}}</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806" b="0" i="0" u="none" strike="noStrike" noProof="0">
                          <a:solidFill>
                            <a:srgbClr val="1B4528"/>
                          </a:solidFill>
                          <a:effectLst/>
                          <a:latin typeface="Inter"/>
                        </a:rPr>
                        <a:t>{{</a:t>
                      </a:r>
                      <a:r>
                        <a:rPr lang="de-DE" sz="806" b="0" i="0" u="none" strike="noStrike" noProof="0">
                          <a:solidFill>
                            <a:srgbClr val="1B4528"/>
                          </a:solidFill>
                          <a:effectLst/>
                          <a:latin typeface="Inter"/>
                        </a:rPr>
                        <a:t>biosensitive_area</a:t>
                      </a:r>
                      <a:r>
                        <a:rPr lang="de-DE" sz="806" b="0" i="0" u="none" strike="noStrike" noProof="0">
                          <a:solidFill>
                            <a:srgbClr val="1B4528"/>
                          </a:solidFill>
                          <a:effectLst/>
                          <a:latin typeface="Inter"/>
                        </a:rPr>
                        <a:t>}}</a:t>
                      </a:r>
                      <a:endParaRPr lang="de-DE"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de-DE" sz="806" b="0" i="0" u="none" strike="noStrike" noProof="0">
                <a:solidFill>
                  <a:schemeClr val="tx2"/>
                </a:solidFill>
                <a:effectLst/>
                <a:latin typeface="Inter"/>
              </a:rPr>
              <a:t xml:space="preserve">Die Angaben des Unternehmens betreffen die Standorte, an denen es tätig ist und die in oder in der Nähe von Gebieten mit schutzbedürftiger Biodiversität liegen. Gebiete mit schutzbedürftiger Biodiversität sind als solche in besonderen Naturschutzvorschriften auf europäischer oder internationaler Ebene definiert. Dazu gehören Gebiete, die zu Natura 2000, zur UNESCO und zu den Schlüsselgebieten der Biodiversität (Key Biodiversity Areas, KBAs) zählen, sowie andere Schutzgebiete.</a:t>
            </a:r>
            <a:endParaRPr lang="de-DE"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761067"/>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a:t xml:space="preserve">Wasser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769811"/>
          <a:ext cx="3295368" cy="971791"/>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4858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Wasserentnahme </a:t>
                      </a:r>
                      <a:r>
                        <a:rPr lang="de-DE" sz="806" b="0" noProof="0">
                          <a:solidFill>
                            <a:schemeClr val="tx2"/>
                          </a:solidFill>
                        </a:rPr>
                        <a:t xml:space="preserve">(Nr.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Jahr </a:t>
                      </a:r>
                      <a:r>
                        <a:rPr lang="de-DE"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5895">
                <a:tc>
                  <a:txBody>
                    <a:bodyPr/>
                    <a:lstStyle/>
                    <a:p>
                      <a:r>
                        <a:rPr lang="de-DE" sz="806" b="0" noProof="0">
                          <a:solidFill>
                            <a:schemeClr val="tx2"/>
                          </a:solidFill>
                        </a:rPr>
                        <a:t xml:space="preserve">Insgesamt für alle Standorte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6" b="0" i="0" u="none" strike="noStrike" kern="1200" cap="none" spc="0" normalizeH="0" baseline="0" noProof="0">
                          <a:ln>
                            <a:noFill/>
                          </a:ln>
                          <a:solidFill>
                            <a:srgbClr val="1B4528"/>
                          </a:solidFill>
                          <a:effectLst/>
                          <a:uLnTx/>
                          <a:uFillTx/>
                          <a:latin typeface="+mn-lt"/>
                          <a:ea typeface="+mn-ea"/>
                          <a:cs typeface="+mn-cs"/>
                        </a:rPr>
                        <a:t>{{</a:t>
                      </a:r>
                      <a:r>
                        <a:rPr kumimoji="0" lang="de-DE" sz="806" b="0" i="0" u="none" strike="noStrike" kern="1200" cap="none" spc="0" normalizeH="0" baseline="0" noProof="0">
                          <a:ln>
                            <a:noFill/>
                          </a:ln>
                          <a:solidFill>
                            <a:srgbClr val="1B4528"/>
                          </a:solidFill>
                          <a:effectLst/>
                          <a:uLnTx/>
                          <a:uFillTx/>
                          <a:latin typeface="+mn-lt"/>
                          <a:ea typeface="+mn-ea"/>
                          <a:cs typeface="+mn-cs"/>
                        </a:rPr>
                        <a:t>total_withdrawal</a:t>
                      </a:r>
                      <a:r>
                        <a:rPr kumimoji="0" lang="de-DE" sz="806"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769811"/>
          <a:ext cx="3295368" cy="971791"/>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3199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Wasserverbrauch </a:t>
                      </a:r>
                      <a:r>
                        <a:rPr lang="de-DE" sz="806" b="0" noProof="0">
                          <a:solidFill>
                            <a:schemeClr val="tx2"/>
                          </a:solidFill>
                        </a:rPr>
                        <a:t xml:space="preserve">(Nr.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Jahr </a:t>
                      </a:r>
                      <a:r>
                        <a:rPr lang="de-DE"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16794">
                <a:tc>
                  <a:txBody>
                    <a:bodyPr/>
                    <a:lstStyle/>
                    <a:p>
                      <a:r>
                        <a:rPr lang="de-DE" sz="806" b="0" noProof="0">
                          <a:solidFill>
                            <a:schemeClr val="tx2"/>
                          </a:solidFill>
                        </a:rPr>
                        <a:t xml:space="preserve">Insgesamt für alle Standorte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{{consumption_total}}</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50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0" noProof="0">
                          <a:solidFill>
                            <a:schemeClr val="tx2"/>
                          </a:solidFill>
                        </a:rPr>
                        <a:t xml:space="preserve">Von Standorten in Gebieten mit Wasserknappheit (hoher Wasserstress)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a:t>
                      </a:r>
                      <a:r>
                        <a:rPr lang="de-DE" sz="806" b="0" i="0" u="none" strike="noStrike" noProof="0">
                          <a:solidFill>
                            <a:srgbClr val="1B4528"/>
                          </a:solidFill>
                          <a:effectLst/>
                          <a:latin typeface="Inter"/>
                        </a:rPr>
                        <a:t>consumption_waterstress</a:t>
                      </a:r>
                      <a:r>
                        <a:rPr lang="de-DE" sz="806" b="0" i="0" u="none" strike="noStrike" noProof="0">
                          <a:solidFill>
                            <a:srgbClr val="1B4528"/>
                          </a:solidFill>
                          <a:effectLst/>
                          <a:latin typeface="Inter"/>
                        </a:rPr>
                        <a:t>}}</a:t>
                      </a:r>
                      <a:endParaRPr lang="de-DE"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5091770"/>
            <a:ext cx="6737040" cy="384705"/>
          </a:xfrm>
          <a:prstGeom prst="rect">
            <a:avLst/>
          </a:prstGeom>
          <a:noFill/>
        </p:spPr>
        <p:txBody>
          <a:bodyPr wrap="square">
            <a:spAutoFit/>
          </a:bodyPr>
          <a:lstStyle/>
          <a:p>
            <a:pPr rtl="0">
              <a:spcBef>
                <a:spcPts val="750"/>
              </a:spcBef>
              <a:buNone/>
            </a:pPr>
            <a:r>
              <a:rPr lang="de-DE" sz="806" b="0" i="0" u="none" strike="noStrike" noProof="0">
                <a:solidFill>
                  <a:schemeClr val="tx2"/>
                </a:solidFill>
                <a:effectLst/>
                <a:latin typeface="Inter"/>
              </a:rPr>
              <a:t xml:space="preserve">Die Wasserentnahme ist die vom Unternehmen genutzte Wassermenge, wobei </a:t>
            </a:r>
            <a:r>
              <a:rPr lang="de-DE" sz="806" noProof="0">
                <a:solidFill>
                  <a:schemeClr val="tx2"/>
                </a:solidFill>
                <a:latin typeface="Inter"/>
              </a:rPr>
              <a:t xml:space="preserve">der Verbrauch das Wasser bezeichnet, das </a:t>
            </a:r>
            <a:r>
              <a:rPr lang="de-DE" sz="806" b="0" i="0" u="none" strike="noStrike" noProof="0">
                <a:solidFill>
                  <a:schemeClr val="tx2"/>
                </a:solidFill>
                <a:effectLst/>
                <a:latin typeface="Inter"/>
              </a:rPr>
              <a:t xml:space="preserve">nicht in Gewässer oder an Dritte abgeleitet wird bzw. werden soll. Dieser Abschnitt gibt die gesamte Wasserentnahme des Unternehmens an. Wasserverbrauch</a:t>
            </a:r>
            <a:r>
              <a:rPr lang="de-DE" sz="806" noProof="0">
                <a:solidFill>
                  <a:schemeClr val="tx2"/>
                </a:solidFill>
                <a:latin typeface="Inter"/>
              </a:rPr>
              <a:t> </a:t>
            </a:r>
            <a:r>
              <a:rPr lang="de-DE" sz="806" b="0" i="0" u="none" strike="noStrike" noProof="0">
                <a:solidFill>
                  <a:schemeClr val="tx2"/>
                </a:solidFill>
                <a:effectLst/>
                <a:latin typeface="Inter"/>
              </a:rPr>
              <a:t xml:space="preserve">und Wasserableitung aus Gebieten mit hohem Wasserstress sind nachstehend aufgeführt.</a:t>
            </a:r>
            <a:endParaRPr lang="de-DE"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162338"/>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noProof="0"/>
              <a:t xml:space="preserve">Ressourcennutzung, Kreislaufwirtschaft und Abfallbewirtschaftung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582850"/>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Anwendung der Grundsätze der Kreislaufwirtschaft </a:t>
                      </a:r>
                      <a:r>
                        <a:rPr lang="de-DE" sz="806" b="0" noProof="0">
                          <a:solidFill>
                            <a:schemeClr val="tx2"/>
                          </a:solidFill>
                        </a:rPr>
                        <a:t xml:space="preserve">(Nr.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de-DE" sz="806" b="0" noProof="0">
                          <a:solidFill>
                            <a:schemeClr val="tx2"/>
                          </a:solidFill>
                        </a:rPr>
                        <a:t xml:space="preserve">Mein Unternehmen wendet Kreislaufgrundsätze an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806"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806" b="1" noProof="0">
                          <a:solidFill>
                            <a:schemeClr val="tx2"/>
                          </a:solidFill>
                        </a:rPr>
                        <a:t xml:space="preserve">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{{circular_economy_princples_yes}}</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806" b="0" i="0" u="none" strike="noStrike" noProof="0">
                          <a:solidFill>
                            <a:srgbClr val="1B4528"/>
                          </a:solidFill>
                          <a:effectLst/>
                          <a:latin typeface="Inter"/>
                        </a:rPr>
                        <a:t>{{circular_economy_princples_no?}}</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565828"/>
            <a:ext cx="3295368" cy="692470"/>
          </a:xfrm>
          <a:prstGeom prst="rect">
            <a:avLst/>
          </a:prstGeom>
          <a:noFill/>
        </p:spPr>
        <p:txBody>
          <a:bodyPr wrap="square" lIns="76197" tIns="38098" rIns="76197" bIns="38098" anchor="t">
            <a:spAutoFit/>
          </a:bodyPr>
          <a:lstStyle/>
          <a:p>
            <a:pPr rtl="0">
              <a:buNone/>
            </a:pPr>
            <a:r>
              <a:rPr lang="de-DE" sz="806" b="0" i="0" u="none" strike="noStrike" noProof="0">
                <a:solidFill>
                  <a:schemeClr val="tx2"/>
                </a:solidFill>
                <a:effectLst/>
                <a:latin typeface="Inter"/>
              </a:rPr>
              <a:t xml:space="preserve">Diese Angabepflicht informiert darüber, ob das Unternehmen</a:t>
            </a:r>
            <a:r>
              <a:rPr lang="de-DE" sz="806" noProof="0">
                <a:solidFill>
                  <a:schemeClr val="tx2"/>
                </a:solidFill>
                <a:latin typeface="Inter"/>
              </a:rPr>
              <a:t xml:space="preserve"> die Grundsätze der Kreislaufwirtschaft anwendet, u. a. Grundsätze zur Verringerung von Abfall und Umweltverschmutzung sowie einen Fokus auf kreislauffähige Produkte und Materialien.</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694093"/>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de-DE" sz="806" b="1" noProof="0">
                          <a:solidFill>
                            <a:schemeClr val="tx2"/>
                          </a:solidFill>
                        </a:rPr>
                        <a:t xml:space="preserve">Beschreibung, wie das Unternehmen die Grundsätze der Kreislaufwirtschaft anwendet </a:t>
                      </a:r>
                      <a:r>
                        <a:rPr lang="de-DE" sz="806" b="0" noProof="0">
                          <a:solidFill>
                            <a:schemeClr val="tx2"/>
                          </a:solidFill>
                        </a:rPr>
                        <a:t xml:space="preserve">(Nr. 38 Fortsetzung)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de-DE" sz="806" b="0" kern="1200" noProof="0">
                          <a:solidFill>
                            <a:srgbClr val="1B4528"/>
                          </a:solidFill>
                          <a:latin typeface="+mn-lt"/>
                          <a:ea typeface="+mn-ea"/>
                          <a:cs typeface="+mn-cs"/>
                        </a:rPr>
                        <a:t>{{</a:t>
                      </a:r>
                      <a:r>
                        <a:rPr lang="de-DE" sz="806" b="0" kern="1200" noProof="0">
                          <a:solidFill>
                            <a:srgbClr val="1B4528"/>
                          </a:solidFill>
                          <a:latin typeface="+mn-lt"/>
                          <a:ea typeface="+mn-ea"/>
                          <a:cs typeface="+mn-cs"/>
                        </a:rPr>
                        <a:t>description_of_circular_economies</a:t>
                      </a:r>
                      <a:r>
                        <a:rPr lang="de-DE" sz="806" b="0" kern="1200" noProof="0">
                          <a:solidFill>
                            <a:srgbClr val="1B4528"/>
                          </a:solidFill>
                          <a:latin typeface="+mn-lt"/>
                          <a:ea typeface="+mn-ea"/>
                          <a:cs typeface="+mn-cs"/>
                        </a:rPr>
                        <a:t>}}</a:t>
                      </a:r>
                    </a:p>
                    <a:p>
                      <a:pPr algn="l"/>
                      <a:endParaRPr lang="de-DE" sz="806"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de-DE" noProof="0" smtClean="0"/>
              <a:pPr/>
              <a:t>6</a:t>
            </a:fld>
            <a:endParaRPr lang="de-DE"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Ressourcennutzung, Kreislaufwirtschaft und Abfallbewirtschaftung (B7) – Fortsetzung</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de-DE" sz="975" b="1" noProof="0">
                          <a:solidFill>
                            <a:schemeClr val="tx2"/>
                          </a:solidFill>
                        </a:rPr>
                        <a:t xml:space="preserve">Jährliches Gesamtabfallaufkommen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286343">
                <a:tc>
                  <a:txBody>
                    <a:bodyPr/>
                    <a:lstStyle/>
                    <a:p>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Gesamtabfallmenge </a:t>
                      </a:r>
                      <a:r>
                        <a:rPr lang="de-DE" sz="975" b="0" noProof="0">
                          <a:solidFill>
                            <a:schemeClr val="tx2"/>
                          </a:solidFill>
                        </a:rPr>
                        <a:t xml:space="preserve">(Nr.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Abfälle, die zum Recycling oder zur Vorbereitung der Wiederverwendung umgeleitet werden </a:t>
                      </a:r>
                      <a:r>
                        <a:rPr lang="de-DE" sz="975" b="0" noProof="0">
                          <a:solidFill>
                            <a:schemeClr val="tx2"/>
                          </a:solidFill>
                        </a:rPr>
                        <a:t xml:space="preserve">(Nr.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Nicht gefährliche Abfälle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de-DE" sz="975" b="0" i="0" u="none" strike="noStrike" noProof="0">
                          <a:solidFill>
                            <a:srgbClr val="1B4528"/>
                          </a:solidFill>
                          <a:effectLst/>
                          <a:latin typeface="Inter"/>
                        </a:rPr>
                        <a:t>{{Type_af_affald}}</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{{kg_tons_total}}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nter"/>
                        </a:rPr>
                        <a:t>{{genbrug_kg_tons}}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de-DE" sz="975" b="1" noProof="0">
                          <a:solidFill>
                            <a:schemeClr val="tx2"/>
                          </a:solidFill>
                        </a:rPr>
                        <a:t xml:space="preserve">Gefährliche Abfälle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de-DE" sz="975" b="0" i="0" u="none" strike="noStrike" noProof="0">
                          <a:solidFill>
                            <a:srgbClr val="1B4528"/>
                          </a:solidFill>
                          <a:effectLst/>
                          <a:latin typeface="Inter"/>
                        </a:rPr>
                        <a:t>{{Type_af_affald_farlig}}</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{{farlig_kg_tons}}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farlig_genbrug_kg_tons</a:t>
                      </a:r>
                      <a:r>
                        <a:rPr lang="de-DE" sz="975" b="0" i="0" u="none" strike="noStrike" noProof="0">
                          <a:solidFill>
                            <a:srgbClr val="1B4528"/>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7</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Der folgende Abschnitt enthält Informationen über den Materialverbrauch und die Abfallbewirtschaftung. Die Informationen beziehen sich auf die Kreislaufwirtschaft und zeigen, wie sich das jährliche Gesamtabfallaufkommen des Unternehmens (gefährlich/nicht gefährlich) aufteilt; ebenso werden die Mengen relevanter Materialien angegeben. </a:t>
            </a:r>
            <a:endParaRPr lang="de-DE"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de-DE" sz="975" b="1" noProof="0">
                          <a:solidFill>
                            <a:schemeClr val="tx2"/>
                          </a:solidFill>
                        </a:rPr>
                        <a:t xml:space="preserve">Relevante Materialien </a:t>
                      </a:r>
                      <a:r>
                        <a:rPr lang="de-DE" sz="975" b="0" noProof="0">
                          <a:solidFill>
                            <a:schemeClr val="tx2"/>
                          </a:solidFill>
                        </a:rPr>
                        <a:t xml:space="preserve">(Nr.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Jährlicher Massenstrom </a:t>
                      </a:r>
                      <a:r>
                        <a:rPr lang="de-DE" sz="975" b="1" noProof="0">
                          <a:solidFill>
                            <a:srgbClr val="1B4528"/>
                          </a:solidFill>
                        </a:rPr>
                        <a:t>{{insert_year}}</a:t>
                      </a: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de-DE" sz="975" b="0" i="0" u="none" strike="noStrike" noProof="0">
                          <a:solidFill>
                            <a:srgbClr val="1B4528"/>
                          </a:solidFill>
                          <a:latin typeface="Inter"/>
                        </a:rPr>
                        <a:t>{{significant_material}}</a:t>
                      </a:r>
                      <a:endParaRPr lang="de-DE"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e-DE" sz="975" b="0" i="0" u="none" strike="noStrike" noProof="0">
                          <a:solidFill>
                            <a:srgbClr val="1B4528"/>
                          </a:solidFill>
                          <a:latin typeface="Inter"/>
                        </a:rPr>
                        <a:t>{{</a:t>
                      </a:r>
                      <a:r>
                        <a:rPr lang="de-DE" sz="975" b="0" i="0" u="none" strike="noStrike" noProof="0">
                          <a:solidFill>
                            <a:srgbClr val="1B4528"/>
                          </a:solidFill>
                          <a:latin typeface="Inter"/>
                        </a:rPr>
                        <a:t>significant_material_unit</a:t>
                      </a:r>
                      <a:r>
                        <a:rPr lang="de-DE" sz="975" b="0" i="0" u="none" strike="noStrike" noProof="0">
                          <a:solidFill>
                            <a:srgbClr val="1B4528"/>
                          </a:solidFill>
                          <a:latin typeface="Inter"/>
                        </a:rPr>
                        <a:t>}}</a:t>
                      </a:r>
                      <a:endParaRPr lang="de-DE"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Eigene Arbeitskräfte: Allgemeine Merkmale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674659">
                <a:tc>
                  <a:txBody>
                    <a:bodyPr/>
                    <a:lstStyle/>
                    <a:p>
                      <a:r>
                        <a:rPr lang="de-DE" sz="975" b="1" noProof="0">
                          <a:solidFill>
                            <a:schemeClr val="tx2"/>
                          </a:solidFill>
                        </a:rPr>
                        <a:t xml:space="preserve">Art des Arbeitsvertrags </a:t>
                      </a:r>
                      <a:r>
                        <a:rPr lang="de-DE" sz="975" b="0" noProof="0">
                          <a:solidFill>
                            <a:schemeClr val="tx2"/>
                          </a:solidFill>
                        </a:rPr>
                        <a:t xml:space="preserve">(Nr.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5680">
                <a:tc>
                  <a:txBody>
                    <a:bodyPr/>
                    <a:lstStyle/>
                    <a:p>
                      <a:r>
                        <a:rPr lang="de-DE" sz="975" b="0" noProof="0">
                          <a:solidFill>
                            <a:schemeClr val="tx2"/>
                          </a:solidFill>
                        </a:rPr>
                        <a:t xml:space="preserve">Befristete Beschäftigung</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{{temporary}}</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54818">
                <a:tc>
                  <a:txBody>
                    <a:bodyPr/>
                    <a:lstStyle/>
                    <a:p>
                      <a:r>
                        <a:rPr lang="de-DE" sz="975" b="0" noProof="0">
                          <a:solidFill>
                            <a:schemeClr val="tx2"/>
                          </a:solidFill>
                        </a:rPr>
                        <a:t xml:space="preserve">Unbefristete Beschäftigung</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{{fulltime}}</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5680">
                <a:tc>
                  <a:txBody>
                    <a:bodyPr/>
                    <a:lstStyle/>
                    <a:p>
                      <a:r>
                        <a:rPr lang="de-DE" sz="975" b="0" noProof="0">
                          <a:solidFill>
                            <a:schemeClr val="tx2"/>
                          </a:solidFill>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{{total_employees}}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de-DE" sz="975" b="1" noProof="0">
                          <a:solidFill>
                            <a:schemeClr val="tx2"/>
                          </a:solidFill>
                          <a:latin typeface="+mn-lt"/>
                        </a:rPr>
                        <a:t xml:space="preserve">Geschlecht</a:t>
                      </a:r>
                      <a:r>
                        <a:rPr lang="de-DE" sz="975" b="0" noProof="0">
                          <a:solidFill>
                            <a:schemeClr val="tx2"/>
                          </a:solidFill>
                          <a:latin typeface="+mn-lt"/>
                        </a:rPr>
                        <a:t xml:space="preserve"> (Nr.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latin typeface="+mn-lt"/>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e-DE" sz="975" b="0" noProof="0">
                          <a:solidFill>
                            <a:schemeClr val="tx2"/>
                          </a:solidFill>
                          <a:latin typeface="+mn-lt"/>
                        </a:rPr>
                        <a:t xml:space="preserve">Männlich</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{{men}}</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975" b="0" noProof="0">
                          <a:solidFill>
                            <a:schemeClr val="tx2"/>
                          </a:solidFill>
                          <a:latin typeface="+mn-lt"/>
                        </a:rPr>
                        <a:t xml:space="preserve">Weiblich</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{{women}}</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de-DE" sz="975" b="0" noProof="0">
                          <a:solidFill>
                            <a:schemeClr val="tx2"/>
                          </a:solidFill>
                          <a:latin typeface="+mn-lt"/>
                        </a:rPr>
                        <a:t xml:space="preserve">Sonstiges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{{others}}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de-DE" sz="975" b="0" noProof="0">
                          <a:solidFill>
                            <a:schemeClr val="tx2"/>
                          </a:solidFill>
                          <a:latin typeface="+mn-lt"/>
                        </a:rPr>
                        <a:t xml:space="preserve">Nicht erfasst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{{not_registeret}}</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de-DE" sz="975" b="0" noProof="0">
                          <a:solidFill>
                            <a:schemeClr val="tx2"/>
                          </a:solidFill>
                          <a:latin typeface="+mn-lt"/>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{{total_employees}}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8</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de-DE" sz="975" b="0" i="0" u="none" strike="noStrike" noProof="0">
                <a:solidFill>
                  <a:srgbClr val="25595D"/>
                </a:solidFill>
                <a:effectLst/>
                <a:latin typeface="Inter"/>
              </a:rPr>
              <a:t xml:space="preserve">Das Unternehmen hat die Zahl der Beschäftigten zu folgenden Aufschlüsselungen angegeben: Art des Arbeitsvertrags, wobei die Beschäftigten nach befristeten und unbefristeten Verträgen unterteilt werden; Geschlecht, was Aufschluss über die Geschlechterverteilung unter den Beschäftigten gibt; und Land des Arbeitsvertrags, was relevant ist, wenn das Unternehmen in mehreren Ländern tätig ist.</a:t>
            </a:r>
            <a:endParaRPr lang="de-DE" sz="975" b="0" noProof="0">
              <a:effectLst/>
              <a:latin typeface="Inter"/>
            </a:endParaRPr>
          </a:p>
          <a:p>
            <a:pPr>
              <a:buNone/>
            </a:pPr>
            <a:br>
              <a:rPr lang="de-DE" sz="975" noProof="0">
                <a:latin typeface="Inter"/>
              </a:rPr>
            </a:br>
            <a:endParaRPr lang="de-DE"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de-DE" sz="975" b="1" noProof="0">
                          <a:solidFill>
                            <a:schemeClr val="tx2"/>
                          </a:solidFill>
                        </a:rPr>
                        <a:t xml:space="preserve">Land (in dem der Arbeitsvertrag geschlossen wurde) </a:t>
                      </a:r>
                      <a:r>
                        <a:rPr lang="de-DE" sz="975" b="0" noProof="0">
                          <a:solidFill>
                            <a:schemeClr val="tx2"/>
                          </a:solidFill>
                        </a:rPr>
                        <a:t xml:space="preserve">(Nr.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e-DE" sz="975" b="0" noProof="0">
                          <a:solidFill>
                            <a:schemeClr val="tx2"/>
                          </a:solidFill>
                        </a:rPr>
                        <a:t xml:space="preserve">Dänemark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975" b="0" i="0" u="none" strike="noStrike" noProof="0">
                          <a:solidFill>
                            <a:srgbClr val="1B4528"/>
                          </a:solidFill>
                          <a:effectLst/>
                          <a:latin typeface="Inter"/>
                        </a:rPr>
                        <a:t>{{Denmark}}</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de-DE" sz="975" b="0" i="0" u="none" strike="noStrike" noProof="0">
                          <a:solidFill>
                            <a:srgbClr val="1B4528"/>
                          </a:solidFill>
                          <a:effectLst/>
                          <a:latin typeface="Inter"/>
                        </a:rPr>
                        <a:t>{{Land_b}}</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975" b="0" i="0" u="none" strike="noStrike" noProof="0">
                          <a:solidFill>
                            <a:srgbClr val="1B4528"/>
                          </a:solidFill>
                          <a:effectLst/>
                          <a:latin typeface="Inter"/>
                        </a:rPr>
                        <a:t>{{</a:t>
                      </a:r>
                      <a:r>
                        <a:rPr lang="de-DE" sz="975" b="0" i="0" u="none" strike="noStrike" noProof="0">
                          <a:solidFill>
                            <a:srgbClr val="1B4528"/>
                          </a:solidFill>
                          <a:effectLst/>
                        </a:rPr>
                        <a:t>FTE_eller_antal_personer_land_b</a:t>
                      </a:r>
                      <a:r>
                        <a:rPr lang="de-DE" sz="975" b="0" i="0" u="none" strike="noStrike" noProof="0">
                          <a:solidFill>
                            <a:srgbClr val="1B4528"/>
                          </a:solidFill>
                          <a:effectLst/>
                          <a:latin typeface="Inter"/>
                        </a:rPr>
                        <a:t>}}</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975" b="0" noProof="0">
                          <a:solidFill>
                            <a:schemeClr val="tx2"/>
                          </a:solidFill>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{{Total_out_of_countries}}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a:t xml:space="preserve">Eigene Arbeitskräfte: Vergütung, Tarifverhandlungen und Schulung (B10)</a:t>
            </a:r>
            <a:endParaRPr lang="de-DE"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78322"/>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Entgeltgefälle zwischen männlichen und weiblichen Beschäftigten </a:t>
                      </a:r>
                      <a:r>
                        <a:rPr lang="de-DE" sz="975" b="0" noProof="0">
                          <a:solidFill>
                            <a:schemeClr val="tx2"/>
                          </a:solidFill>
                        </a:rPr>
                        <a:t xml:space="preserve">(Nr.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Year</a:t>
                      </a:r>
                      <a:r>
                        <a:rPr lang="de-DE" sz="975" b="1" noProof="0">
                          <a:solidFill>
                            <a:srgbClr val="1B4528"/>
                          </a:solidFill>
                          <a:latin typeface="Calibri" panose="020F0502020204030204" pitchFamily="34" charset="0"/>
                          <a:cs typeface="Calibri" panose="020F0502020204030204" pitchFamily="34" charset="0"/>
                        </a:rPr>
                        <a:t> </a:t>
                      </a:r>
                      <a:r>
                        <a:rPr lang="de-DE"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7470">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e-DE" sz="975" b="0" noProof="0">
                          <a:solidFill>
                            <a:srgbClr val="1B4528"/>
                          </a:solidFill>
                        </a:rPr>
                        <a:t>{{</a:t>
                      </a:r>
                      <a:r>
                        <a:rPr lang="de-DE" sz="975" b="0" noProof="0">
                          <a:solidFill>
                            <a:srgbClr val="1B4528"/>
                          </a:solidFill>
                        </a:rPr>
                        <a:t>indsat_procentvise_lonforskel</a:t>
                      </a:r>
                      <a:r>
                        <a:rPr lang="de-DE"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78320"/>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392947">
                <a:tc>
                  <a:txBody>
                    <a:bodyPr/>
                    <a:lstStyle/>
                    <a:p>
                      <a:r>
                        <a:rPr lang="de-DE" sz="975" b="1" noProof="0">
                          <a:solidFill>
                            <a:schemeClr val="tx2"/>
                          </a:solidFill>
                        </a:rPr>
                        <a:t xml:space="preserve">Angaben zum Mindestlohn </a:t>
                      </a:r>
                      <a:r>
                        <a:rPr lang="de-DE"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685373">
                <a:tc>
                  <a:txBody>
                    <a:bodyPr/>
                    <a:lstStyle/>
                    <a:p>
                      <a:r>
                        <a:rPr lang="de-DE" sz="975" b="0" noProof="0">
                          <a:solidFill>
                            <a:schemeClr val="tx2"/>
                          </a:solidFill>
                        </a:rPr>
                        <a:t xml:space="preserve">Im Unternehmen erhalten alle Beschäftigten ein Entgelt mindestens in Höhe des Mindestlohns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{{minumum_wage_yes?}}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975" b="0" i="0" u="none" strike="noStrike" noProof="0">
                          <a:solidFill>
                            <a:srgbClr val="1B4528"/>
                          </a:solidFill>
                          <a:effectLst/>
                          <a:latin typeface="Inter"/>
                        </a:rPr>
                        <a:t>{{minimum_wage_no?}}</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59691"/>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3599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Tarifvertrag </a:t>
                      </a:r>
                      <a:r>
                        <a:rPr lang="de-DE" sz="975" b="0" noProof="0">
                          <a:solidFill>
                            <a:schemeClr val="tx2"/>
                          </a:solidFill>
                        </a:rPr>
                        <a:t xml:space="preserve">(Nr.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Year</a:t>
                      </a:r>
                      <a:r>
                        <a:rPr lang="de-DE" sz="975" b="1" noProof="0">
                          <a:solidFill>
                            <a:srgbClr val="1B4528"/>
                          </a:solidFill>
                          <a:latin typeface="Calibri" panose="020F0502020204030204" pitchFamily="34" charset="0"/>
                          <a:cs typeface="Calibri" panose="020F0502020204030204" pitchFamily="34" charset="0"/>
                        </a:rPr>
                        <a:t> {{insert_year}}</a:t>
                      </a:r>
                      <a:endParaRPr lang="de-DE"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97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noProof="0">
                          <a:solidFill>
                            <a:schemeClr val="tx2"/>
                          </a:solidFill>
                        </a:rPr>
                        <a:t xml:space="preserve">Prozentualer Anteil der Beschäftigten, die von einem Tarifvertrag abgedeckt sind</a:t>
                      </a:r>
                      <a:endParaRPr kumimoji="0" lang="de-DE"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975" b="0" i="0" u="none" strike="noStrike" kern="1200" cap="none" spc="0" normalizeH="0" baseline="0" noProof="0">
                          <a:ln>
                            <a:noFill/>
                          </a:ln>
                          <a:solidFill>
                            <a:srgbClr val="1B4528"/>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59693"/>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93554">
                <a:tc>
                  <a:txBody>
                    <a:bodyPr/>
                    <a:lstStyle/>
                    <a:p>
                      <a:r>
                        <a:rPr lang="de-DE" sz="975" b="1" noProof="0">
                          <a:solidFill>
                            <a:schemeClr val="tx2"/>
                          </a:solidFill>
                        </a:rPr>
                        <a:t xml:space="preserve">Durchschnittliche Schulungsstunden je Beschäftigtem </a:t>
                      </a:r>
                      <a:r>
                        <a:rPr lang="de-DE" sz="975" b="0" noProof="0">
                          <a:solidFill>
                            <a:schemeClr val="tx2"/>
                          </a:solidFill>
                        </a:rPr>
                        <a:t xml:space="preserve">(Nr.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Year</a:t>
                      </a:r>
                      <a:r>
                        <a:rPr lang="de-DE"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66139">
                <a:tc>
                  <a:txBody>
                    <a:bodyPr/>
                    <a:lstStyle/>
                    <a:p>
                      <a:r>
                        <a:rPr lang="de-DE" sz="975" b="0" noProof="0">
                          <a:solidFill>
                            <a:schemeClr val="tx2"/>
                          </a:solidFill>
                        </a:rPr>
                        <a:t xml:space="preserve">Stunde(n) je Beschäftigtem</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gennemsnitstimer</a:t>
                      </a:r>
                      <a:r>
                        <a:rPr lang="de-DE" sz="975" b="0" i="0" u="none" strike="noStrike" noProof="0">
                          <a:solidFill>
                            <a:srgbClr val="1B4528"/>
                          </a:solidFill>
                          <a:effectLst/>
                          <a:latin typeface="Inter"/>
                        </a:rPr>
                        <a:t>}}</a:t>
                      </a:r>
                      <a:endParaRPr lang="de-DE"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Angaben zum Mindestlohn gemacht sowie den prozentualen Anteil der Beschäftigten angegeben, die von Tarifverträgen abgedeckt sind, und die durchschnittliche jährliche Stundenzahl der Schulungen je Beschäftigtem, aufgeschlüsselt nach Geschlecht. Ist das Unternehmen bereits nach EU-Rechtsvorschriften 8 oder anderen nationalen Vorschriften verpflichtet, das prozentuale Entgeltgefälle zwischen seinen weiblichen und männlichen Beschäftigten zu melden, so hat es dies anzugeben.</a:t>
            </a:r>
          </a:p>
          <a:p>
            <a:pPr>
              <a:buNone/>
            </a:pPr>
            <a:br>
              <a:rPr lang="de-DE" sz="975" noProof="0">
                <a:solidFill>
                  <a:schemeClr val="tx2"/>
                </a:solidFill>
                <a:latin typeface="Inter"/>
              </a:rPr>
            </a:br>
            <a:endParaRPr lang="de-DE"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Unternehmenspolitik: Anzahl der Verurteilungen und Geldstrafen wegen Korruption &amp; Bestechung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de-DE" sz="975" b="1" noProof="0">
                          <a:solidFill>
                            <a:schemeClr val="tx2"/>
                          </a:solidFill>
                        </a:rPr>
                        <a:t xml:space="preserve">Korruption und Bestechung </a:t>
                      </a:r>
                      <a:r>
                        <a:rPr lang="de-DE" sz="975" b="0" noProof="0">
                          <a:solidFill>
                            <a:schemeClr val="tx2"/>
                          </a:solidFill>
                        </a:rPr>
                        <a:t xml:space="preserve">(Nr.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e-DE" sz="975" b="1" noProof="0">
                          <a:solidFill>
                            <a:schemeClr val="tx2"/>
                          </a:solidFill>
                        </a:rPr>
                        <a:t xml:space="preserve">Anzahl der Verurteilungen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Gesamtbetrag der Geldstrafen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de-DE"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{{domme}}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975" b="0" i="0" u="none" strike="noStrike" noProof="0">
                          <a:solidFill>
                            <a:srgbClr val="1B4528"/>
                          </a:solidFill>
                          <a:effectLst/>
                          <a:latin typeface="Inter"/>
                        </a:rPr>
                        <a:t>{{samlet_bodestorrelse}}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9</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Verstöße gegen Vorschriften zur Bekämpfung von Korruption und Bestechung im Berichtszeitraum angegeben. War das Unternehmen an Verurteilungen oder Geldstrafen wegen solcher Verstöße beteiligt, wurden folgende Angaben offengelegt: Anzahl der Verurteilungen und Gesamtbetrag der verhängten Geldstrafen. Diese Angaben betreffen die Geschäftsethik und Nachhaltigkeit des Unternehmens, insbesondere den Umgang mit Korruption und Bestechung, und sind nachstehend aufgeführt.</a:t>
            </a:r>
            <a:endParaRPr lang="de-DE" sz="975" b="0" noProof="0">
              <a:solidFill>
                <a:schemeClr val="tx2"/>
              </a:solidFill>
              <a:effectLst/>
              <a:latin typeface="Inter"/>
            </a:endParaRPr>
          </a:p>
          <a:p>
            <a:pPr>
              <a:buNone/>
            </a:pPr>
            <a:br>
              <a:rPr lang="de-DE" sz="975" noProof="0">
                <a:solidFill>
                  <a:schemeClr val="tx2"/>
                </a:solidFill>
                <a:latin typeface="Inter"/>
              </a:rPr>
            </a:br>
            <a:endParaRPr lang="de-DE"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de-DE" sz="3325" b="1" noProof="0"/>
              <a:t xml:space="preserve">Angaben im Zusatzmodul</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e-DE" noProof="0" smtClean="0"/>
              <a:pPr/>
              <a:t>10</a:t>
            </a:fld>
            <a:endParaRPr lang="de-DE"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de-DE" sz="1475" b="1" i="0" u="none" strike="noStrike" kern="1200" spc="-10" noProof="0">
                <a:solidFill>
                  <a:srgbClr val="1B4528"/>
                </a:solidFill>
                <a:effectLst/>
                <a:latin typeface="IBM Plex Sans" panose="020B0503050203000203" pitchFamily="34" charset="0"/>
              </a:rPr>
              <a:t xml:space="preserve">Strategie: Geschäftsmodell und nachhaltigkeitsbezogene Initiativen (C1)</a:t>
            </a:r>
            <a:endParaRPr lang="de-DE"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11</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de-DE" sz="975" b="1" noProof="0">
                          <a:solidFill>
                            <a:schemeClr val="tx2"/>
                          </a:solidFill>
                        </a:rPr>
                        <a:t xml:space="preserve">Beschreibung bedeutender Gruppen von Produkten und/oder Dienstleistungen, die </a:t>
                      </a:r>
                      <a:r>
                        <a:rPr lang="de-DE" sz="975" b="1" kern="1200" noProof="0">
                          <a:solidFill>
                            <a:srgbClr val="1B4528"/>
                          </a:solidFill>
                          <a:latin typeface="+mn-lt"/>
                          <a:ea typeface="+mn-ea"/>
                          <a:cs typeface="+mn-cs"/>
                        </a:rPr>
                        <a:t>{{company_name}} </a:t>
                      </a:r>
                      <a:r>
                        <a:rPr lang="de-DE" sz="975" b="1" kern="1200" noProof="0">
                          <a:solidFill>
                            <a:schemeClr val="tx2"/>
                          </a:solidFill>
                          <a:latin typeface="+mn-lt"/>
                          <a:ea typeface="+mn-ea"/>
                          <a:cs typeface="+mn-cs"/>
                        </a:rPr>
                        <a:t xml:space="preserve">anbietet</a:t>
                      </a:r>
                      <a:r>
                        <a:rPr lang="de-DE" sz="975" b="1" noProof="0">
                          <a:solidFill>
                            <a:schemeClr val="tx2"/>
                          </a:solidFill>
                        </a:rPr>
                        <a:t> </a:t>
                      </a:r>
                      <a:r>
                        <a:rPr lang="de-DE" sz="975" b="0" noProof="0">
                          <a:solidFill>
                            <a:schemeClr val="tx2"/>
                          </a:solidFill>
                        </a:rPr>
                        <a:t xml:space="preserve">(Nr.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de-DE" sz="975" b="0" noProof="0">
                          <a:solidFill>
                            <a:srgbClr val="1B4528"/>
                          </a:solidFill>
                        </a:rPr>
                        <a:t>{{markets_description}}</a:t>
                      </a:r>
                      <a:endParaRPr lang="de-DE"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de-DE" sz="975" b="1" noProof="0">
                          <a:solidFill>
                            <a:schemeClr val="tx2"/>
                          </a:solidFill>
                        </a:rPr>
                        <a:t xml:space="preserve">Beschreibung der bedeutenden Märkte, auf denen </a:t>
                      </a:r>
                      <a:r>
                        <a:rPr lang="de-DE" sz="975" b="1" kern="1200" noProof="0">
                          <a:solidFill>
                            <a:srgbClr val="1B4528"/>
                          </a:solidFill>
                          <a:latin typeface="+mn-lt"/>
                          <a:ea typeface="+mn-ea"/>
                          <a:cs typeface="+mn-cs"/>
                        </a:rPr>
                        <a:t>{{company_name}} </a:t>
                      </a:r>
                      <a:r>
                        <a:rPr lang="de-DE" sz="975" b="1" noProof="0">
                          <a:solidFill>
                            <a:schemeClr val="tx2"/>
                          </a:solidFill>
                        </a:rPr>
                        <a:t xml:space="preserve">tätig ist </a:t>
                      </a:r>
                      <a:r>
                        <a:rPr lang="de-DE" sz="975" b="0" noProof="0">
                          <a:solidFill>
                            <a:schemeClr val="tx2"/>
                          </a:solidFill>
                        </a:rPr>
                        <a:t xml:space="preserve">(Nr.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de-DE" sz="975" b="0" noProof="0">
                          <a:solidFill>
                            <a:srgbClr val="1B4528"/>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de-DE" sz="975" b="1" noProof="0">
                          <a:solidFill>
                            <a:schemeClr val="tx2"/>
                          </a:solidFill>
                        </a:rPr>
                        <a:t xml:space="preserve">Beschreibung von </a:t>
                      </a:r>
                      <a:r>
                        <a:rPr lang="de-DE" sz="975" b="1" kern="1200" noProof="0">
                          <a:solidFill>
                            <a:srgbClr val="1B4528"/>
                          </a:solidFill>
                          <a:latin typeface="+mn-lt"/>
                          <a:ea typeface="+mn-ea"/>
                          <a:cs typeface="+mn-cs"/>
                        </a:rPr>
                        <a:t>{{company_name}}</a:t>
                      </a:r>
                      <a:r>
                        <a:rPr lang="de-DE" sz="975" b="1" kern="1200" noProof="0">
                          <a:solidFill>
                            <a:schemeClr val="accent1"/>
                          </a:solidFill>
                          <a:latin typeface="+mn-lt"/>
                          <a:ea typeface="+mn-ea"/>
                          <a:cs typeface="+mn-cs"/>
                        </a:rPr>
                        <a:t>’s</a:t>
                      </a:r>
                      <a:r>
                        <a:rPr lang="de-DE" sz="975" b="1" kern="1200" noProof="0">
                          <a:solidFill>
                            <a:srgbClr val="1B4528"/>
                          </a:solidFill>
                          <a:latin typeface="+mn-lt"/>
                          <a:ea typeface="+mn-ea"/>
                          <a:cs typeface="+mn-cs"/>
                        </a:rPr>
                        <a:t> </a:t>
                      </a:r>
                      <a:r>
                        <a:rPr lang="de-DE" sz="975" b="1" noProof="0">
                          <a:solidFill>
                            <a:schemeClr val="tx2"/>
                          </a:solidFill>
                        </a:rPr>
                        <a:t xml:space="preserve">wesentlichen Geschäftsbeziehungen </a:t>
                      </a:r>
                      <a:r>
                        <a:rPr lang="de-DE" sz="975" b="0" noProof="0">
                          <a:solidFill>
                            <a:schemeClr val="tx2"/>
                          </a:solidFill>
                        </a:rPr>
                        <a:t xml:space="preserve">(Nr.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de-DE" sz="975" b="0" noProof="0">
                          <a:solidFill>
                            <a:srgbClr val="1B4528"/>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de-DE" sz="975" b="1" noProof="0">
                          <a:solidFill>
                            <a:schemeClr val="tx2"/>
                          </a:solidFill>
                        </a:rPr>
                        <a:t xml:space="preserve">Beschreibung des übergeordneten Geschäftsmodells und der Strategie </a:t>
                      </a:r>
                      <a:r>
                        <a:rPr lang="de-DE" sz="975" b="0" noProof="0">
                          <a:solidFill>
                            <a:schemeClr val="tx2"/>
                          </a:solidFill>
                        </a:rPr>
                        <a:t xml:space="preserve">(Nr.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de-DE" sz="975" b="0" noProof="0">
                          <a:solidFill>
                            <a:srgbClr val="1B4528"/>
                          </a:solidFill>
                        </a:rPr>
                        <a:t>{{products_description}}</a:t>
                      </a:r>
                    </a:p>
                    <a:p>
                      <a:pPr algn="l"/>
                      <a:endParaRPr lang="de-DE"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de-DE" sz="975" b="1" noProof="0">
                          <a:solidFill>
                            <a:schemeClr val="tx2"/>
                          </a:solidFill>
                        </a:rPr>
                        <a:t xml:space="preserve">Beschreibung, wo </a:t>
                      </a:r>
                      <a:r>
                        <a:rPr lang="de-DE" sz="975" b="1" kern="1200" noProof="0">
                          <a:solidFill>
                            <a:srgbClr val="1B4528"/>
                          </a:solidFill>
                          <a:latin typeface="+mn-lt"/>
                          <a:ea typeface="+mn-ea"/>
                          <a:cs typeface="+mn-cs"/>
                        </a:rPr>
                        <a:t>{{company_name}}</a:t>
                      </a:r>
                      <a:r>
                        <a:rPr lang="de-DE" sz="975" b="1" kern="1200" noProof="0">
                          <a:solidFill>
                            <a:schemeClr val="accent1"/>
                          </a:solidFill>
                          <a:latin typeface="+mn-lt"/>
                          <a:ea typeface="+mn-ea"/>
                          <a:cs typeface="+mn-cs"/>
                        </a:rPr>
                        <a:t xml:space="preserve">´s Strategie und Geschäftsmodell nachhaltigkeitsbezogene Elemente aufweisen </a:t>
                      </a:r>
                      <a:r>
                        <a:rPr lang="de-DE" sz="975" b="0" noProof="0">
                          <a:solidFill>
                            <a:schemeClr val="tx2"/>
                          </a:solidFill>
                        </a:rPr>
                        <a:t xml:space="preserve">(Nr.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de-DE" sz="975" b="0" noProof="0">
                          <a:solidFill>
                            <a:srgbClr val="1B4528"/>
                          </a:solidFill>
                        </a:rPr>
                        <a:t>{{business_model}}</a:t>
                      </a:r>
                      <a:endParaRPr lang="de-DE"/>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das übergeordnete Geschäftsmodell und die Strategie, Produkte und/oder Dienstleistungen, Märkte und Geschäftsbeziehungen beschrieben sowie angegeben, ob das Geschäftsmodell nachhaltigkeitsbezogene Elemente aufweist. </a:t>
            </a:r>
            <a:endParaRPr lang="de-DE"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de-DE" noProof="0">
                <a:latin typeface="+mn-lt"/>
                <a:ea typeface="+mn-ea"/>
                <a:cs typeface="+mn-cs"/>
              </a:rPr>
              <a:t xml:space="preserve">V</a:t>
            </a:r>
            <a:r>
              <a:rPr lang="de-DE" sz="1475" b="1" kern="1200" spc="-10" noProof="0">
                <a:solidFill>
                  <a:schemeClr val="tx2"/>
                </a:solidFill>
                <a:latin typeface="+mn-lt"/>
                <a:ea typeface="+mn-ea"/>
                <a:cs typeface="+mn-cs"/>
              </a:rPr>
              <a:t xml:space="preserve">erfahrensweisen, Richtlinien und künftige Initiativen für den Übergang zu einer nachhaltigeren Wirtschaft (C2)</a:t>
            </a:r>
            <a:endParaRPr lang="de-DE"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12</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de-DE" sz="975" b="1" kern="1200" spc="-10" noProof="0">
                          <a:solidFill>
                            <a:schemeClr val="tx2"/>
                          </a:solidFill>
                          <a:latin typeface="+mn-lt"/>
                          <a:ea typeface="+mn-ea"/>
                          <a:cs typeface="+mn-cs"/>
                        </a:rPr>
                        <a:t xml:space="preserve">Bereich</a:t>
                      </a:r>
                    </a:p>
                    <a:p>
                      <a:pPr algn="l"/>
                      <a:r>
                        <a:rPr lang="de-DE" sz="975" b="0" kern="1200" spc="-10" noProof="0">
                          <a:solidFill>
                            <a:schemeClr val="tx2"/>
                          </a:solidFill>
                          <a:latin typeface="+mn-lt"/>
                          <a:ea typeface="+mn-ea"/>
                          <a:cs typeface="+mn-cs"/>
                        </a:rPr>
                        <a:t xml:space="preserve">(Nr.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e-DE" sz="975" b="1" kern="1200" spc="-10" noProof="0">
                          <a:solidFill>
                            <a:schemeClr val="tx2"/>
                          </a:solidFill>
                          <a:latin typeface="+mn-lt"/>
                          <a:ea typeface="+mn-ea"/>
                          <a:cs typeface="+mn-cs"/>
                        </a:rPr>
                        <a:t xml:space="preserve">Kurze Beschreibung </a:t>
                      </a:r>
                      <a:r>
                        <a:rPr lang="de-DE" sz="975" b="1" u="none" kern="1200" spc="-10" noProof="0">
                          <a:solidFill>
                            <a:schemeClr val="tx2"/>
                          </a:solidFill>
                          <a:latin typeface="+mn-lt"/>
                          <a:ea typeface="+mn-ea"/>
                          <a:cs typeface="+mn-cs"/>
                        </a:rPr>
                        <a:t xml:space="preserve">bestehender </a:t>
                      </a:r>
                      <a:r>
                        <a:rPr lang="de-DE" sz="975" b="1" kern="1200" spc="-10" noProof="0">
                          <a:solidFill>
                            <a:schemeClr val="tx2"/>
                          </a:solidFill>
                          <a:latin typeface="+mn-lt"/>
                          <a:ea typeface="+mn-ea"/>
                          <a:cs typeface="+mn-cs"/>
                        </a:rPr>
                        <a:t xml:space="preserve">Verfahrensweisen / Richtlinien / Maßnahmen (vgl. Angabe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e-DE" sz="975" b="1" kern="1200" spc="-10" noProof="0">
                          <a:solidFill>
                            <a:schemeClr val="tx2"/>
                          </a:solidFill>
                          <a:latin typeface="+mn-lt"/>
                          <a:ea typeface="+mn-ea"/>
                          <a:cs typeface="+mn-cs"/>
                        </a:rPr>
                        <a:t xml:space="preserve">Kurze Beschreibung etwaiger </a:t>
                      </a:r>
                      <a:r>
                        <a:rPr lang="de-DE" sz="975" b="1" u="none" kern="1200" spc="-10" noProof="0">
                          <a:solidFill>
                            <a:schemeClr val="tx2"/>
                          </a:solidFill>
                          <a:latin typeface="+mn-lt"/>
                          <a:ea typeface="+mn-ea"/>
                          <a:cs typeface="+mn-cs"/>
                        </a:rPr>
                        <a:t xml:space="preserve">künftiger</a:t>
                      </a:r>
                      <a:r>
                        <a:rPr lang="de-DE" sz="975" b="1" kern="1200" spc="-10" noProof="0">
                          <a:solidFill>
                            <a:schemeClr val="tx2"/>
                          </a:solidFill>
                          <a:latin typeface="+mn-lt"/>
                          <a:ea typeface="+mn-ea"/>
                          <a:cs typeface="+mn-cs"/>
                        </a:rPr>
                        <a:t xml:space="preserve"> Ziele (vgl. Angabe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spc="-10" noProof="0">
                          <a:solidFill>
                            <a:schemeClr val="bg1"/>
                          </a:solidFill>
                        </a:rPr>
                        <a:t xml:space="preserve">Diese Angabe </a:t>
                      </a:r>
                      <a:r>
                        <a:rPr lang="de-DE" sz="975" b="1" spc="-10" noProof="0">
                          <a:solidFill>
                            <a:schemeClr val="bg1"/>
                          </a:solidFill>
                        </a:rPr>
                        <a:t xml:space="preserve">ist freiwillig</a:t>
                      </a:r>
                      <a:endParaRPr lang="de-DE"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de-DE"/>
                    </a:p>
                  </a:txBody>
                  <a:tcPr/>
                </a:tc>
                <a:tc vMerge="1">
                  <a:txBody>
                    <a:bodyPr/>
                    <a:lstStyle/>
                    <a:p>
                      <a:endParaRPr lang="de-DE"/>
                    </a:p>
                  </a:txBody>
                  <a:tcPr/>
                </a:tc>
                <a:tc vMerge="1">
                  <a:txBody>
                    <a:bodyPr/>
                    <a:lstStyle/>
                    <a:p>
                      <a:endParaRPr lang="de-DE"/>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Höchste für die Umsetzung verantwortliche Personalebene im Unternehmen </a:t>
                      </a:r>
                      <a:r>
                        <a:rPr lang="de-DE" sz="975" b="0" kern="1200" spc="-10" noProof="0">
                          <a:solidFill>
                            <a:schemeClr val="tx2"/>
                          </a:solidFill>
                          <a:latin typeface="+mn-lt"/>
                          <a:ea typeface="+mn-ea"/>
                          <a:cs typeface="+mn-cs"/>
                        </a:rPr>
                        <a:t xml:space="preserve">(Nr.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de-DE" sz="975" b="1" kern="1200" spc="-10" noProof="0">
                          <a:solidFill>
                            <a:schemeClr val="tx2"/>
                          </a:solidFill>
                          <a:latin typeface="+mn-lt"/>
                          <a:ea typeface="+mn-ea"/>
                          <a:cs typeface="+mn-cs"/>
                        </a:rPr>
                        <a:t xml:space="preserve">Klimawandel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Climate_C2_Description_Existing_Practices</a:t>
                      </a:r>
                      <a:r>
                        <a:rPr lang="de-DE" sz="975" b="0" i="0" u="none" strike="noStrike" noProof="0">
                          <a:solidFill>
                            <a:srgbClr val="1B4528"/>
                          </a:solidFill>
                          <a:effectLst/>
                          <a:latin typeface="Inter"/>
                        </a:rPr>
                        <a:t>}}</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Climate_C2_Future_Practices</a:t>
                      </a:r>
                      <a:r>
                        <a:rPr lang="de-DE" sz="975" b="0" i="0" u="none" strike="noStrike" noProof="0">
                          <a:solidFill>
                            <a:srgbClr val="1B4528"/>
                          </a:solidFill>
                          <a:effectLst/>
                          <a:latin typeface="Inter"/>
                        </a:rPr>
                        <a:t>}}</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Climate_C2_Management_Level</a:t>
                      </a:r>
                      <a:r>
                        <a:rPr lang="de-DE" sz="975" b="0" i="0" u="none" strike="noStrike" noProof="0">
                          <a:solidFill>
                            <a:srgbClr val="1B4528"/>
                          </a:solidFill>
                          <a:effectLst/>
                          <a:latin typeface="Inter"/>
                        </a:rPr>
                        <a:t>}}</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de-DE" sz="975" b="1" kern="1200" spc="-10" noProof="0">
                          <a:solidFill>
                            <a:schemeClr val="tx2"/>
                          </a:solidFill>
                          <a:latin typeface="+mn-lt"/>
                          <a:ea typeface="+mn-ea"/>
                          <a:cs typeface="+mn-cs"/>
                        </a:rPr>
                        <a:t xml:space="preserve">Umweltver­schmutzung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Pollution_C2_Description_Existing_Practices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Pollution_C2_Future_Practices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Pollution_C2_Management_Level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de-DE" sz="975" b="1" kern="1200" spc="-10" noProof="0">
                          <a:solidFill>
                            <a:schemeClr val="tx2"/>
                          </a:solidFill>
                          <a:latin typeface="+mn-lt"/>
                          <a:ea typeface="+mn-ea"/>
                          <a:cs typeface="+mn-cs"/>
                        </a:rPr>
                        <a:t xml:space="preserve">Wasser- und Meeresressourcen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Water_C2_Description_Existing_Practices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Water_C2_Future_Practices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BM Plex Sans"/>
                        </a:rPr>
                        <a:t>Water_C2_Management_Level</a:t>
                      </a:r>
                      <a:r>
                        <a:rPr lang="de-DE" sz="975" b="0" i="0" u="none" strike="noStrike" noProof="0">
                          <a:solidFill>
                            <a:srgbClr val="1B4528"/>
                          </a:solidFill>
                          <a:effectLst/>
                          <a:latin typeface="Inter"/>
                        </a:rPr>
                        <a:t>}}</a:t>
                      </a:r>
                      <a:endParaRPr lang="de-DE" sz="975" b="0" i="0" u="none" strike="noStrike" noProof="0">
                        <a:solidFill>
                          <a:srgbClr val="000000"/>
                        </a:solidFill>
                        <a:effectLst/>
                        <a:latin typeface="Inter"/>
                      </a:endParaRPr>
                    </a:p>
                    <a:p>
                      <a:pPr lvl="0">
                        <a:buNone/>
                      </a:pPr>
                      <a:endParaRPr lang="de-DE" sz="975" b="0" i="0" u="none" strike="noStrike" noProof="0">
                        <a:solidFill>
                          <a:srgbClr val="1B4528"/>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de-DE" sz="975" b="1" kern="1200" spc="-10" noProof="0">
                          <a:solidFill>
                            <a:schemeClr val="tx2"/>
                          </a:solidFill>
                          <a:latin typeface="+mn-lt"/>
                          <a:ea typeface="+mn-ea"/>
                          <a:cs typeface="+mn-cs"/>
                        </a:rPr>
                        <a:t xml:space="preserve">Biodiversität und Ökosysteme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Bio_C2_Description_Existing_Practices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Bio_C2_Future_Practices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Bio_C2_Management_Level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de-DE" sz="975" b="1" kern="1200" spc="-10" noProof="0">
                          <a:solidFill>
                            <a:schemeClr val="tx2"/>
                          </a:solidFill>
                          <a:latin typeface="+mn-lt"/>
                          <a:ea typeface="+mn-ea"/>
                          <a:cs typeface="+mn-cs"/>
                        </a:rPr>
                        <a:t xml:space="preserve">Kreislaufwirt­schaft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Circular_C2_Description_Existing_Practices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Circular_C2_Future_Practices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Circular_C2_Management_Level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de-DE" sz="975" b="1" kern="1200" spc="-10" noProof="0">
                          <a:solidFill>
                            <a:schemeClr val="tx2"/>
                          </a:solidFill>
                          <a:latin typeface="+mn-lt"/>
                          <a:ea typeface="+mn-ea"/>
                          <a:cs typeface="+mn-cs"/>
                        </a:rPr>
                        <a:t xml:space="preserve">Arbeitskräfte des Unternehmens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Own_Workforce_C2_Description_Existing_Practices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Own_Workforce_C2_Future_Practices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Own_Workforce_C2_Management_Level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de-DE" sz="975" b="1" kern="1200" spc="-10" noProof="0">
                          <a:solidFill>
                            <a:schemeClr val="tx2"/>
                          </a:solidFill>
                          <a:latin typeface="+mn-lt"/>
                          <a:ea typeface="+mn-ea"/>
                          <a:cs typeface="+mn-cs"/>
                        </a:rPr>
                        <a:t xml:space="preserve">Arbeitskräfte in der Wertschöpfungs­kette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Workers_Value_Chain_C2_Description_Existing_Practices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Workers_Value_Chain_C2_Future_Practices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Workers_Value_Chain_C2_Management_Level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de-DE" sz="975" b="1" kern="1200" spc="-10" noProof="0">
                          <a:solidFill>
                            <a:schemeClr val="tx2"/>
                          </a:solidFill>
                          <a:latin typeface="+mn-lt"/>
                          <a:ea typeface="+mn-ea"/>
                          <a:cs typeface="+mn-cs"/>
                        </a:rPr>
                        <a:t xml:space="preserve">Betroffene Gemeinschaften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Affected_C2_Description_Existing_Practices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Affected_C2_Future_Practices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Affected_C2_Management_Level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de-DE" sz="975" b="1" kern="1200" spc="-10" noProof="0">
                          <a:solidFill>
                            <a:schemeClr val="tx2"/>
                          </a:solidFill>
                          <a:latin typeface="+mn-lt"/>
                          <a:ea typeface="+mn-ea"/>
                          <a:cs typeface="+mn-cs"/>
                        </a:rPr>
                        <a:t xml:space="preserve">Verbraucher und Endnutzer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Consumers_C2_Description_Existing_Practices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Consumers_C2_Future_Practices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Consumers_C2_Management_Level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de-DE" sz="975" b="1" kern="1200" spc="-10" noProof="0">
                          <a:solidFill>
                            <a:schemeClr val="tx2"/>
                          </a:solidFill>
                          <a:latin typeface="+mn-lt"/>
                          <a:ea typeface="+mn-ea"/>
                          <a:cs typeface="+mn-cs"/>
                        </a:rPr>
                        <a:t xml:space="preserve">Unternehmenspolitik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Governance_C2_Description_Existing_Practices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Governance_C2_Future_Practices</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a:t>
                      </a:r>
                      <a:r>
                        <a:rPr lang="de-DE" sz="975" b="0" i="0" u="none" strike="noStrike" noProof="0">
                          <a:solidFill>
                            <a:srgbClr val="1B4528"/>
                          </a:solidFill>
                          <a:effectLst/>
                        </a:rPr>
                        <a:t>Governance_C2_Management_Level</a:t>
                      </a:r>
                      <a:r>
                        <a:rPr lang="de-DE" sz="975" b="0" i="0" u="none" strike="noStrike" noProof="0">
                          <a:solidFill>
                            <a:srgbClr val="1B4528"/>
                          </a:solidFill>
                          <a:effectLst/>
                          <a:latin typeface="Inter"/>
                        </a:rPr>
                        <a:t>}}</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de-DE" sz="975" noProof="0">
                <a:solidFill>
                  <a:schemeClr val="tx2"/>
                </a:solidFill>
              </a:rPr>
              <a:t xml:space="preserve">Die nachstehende Tabelle wurde ausgefüllt, da das Unternehmen bereits konkrete Verfahrensweisen, Richtlinien oder Initiativen eingeführt hat, die zum Übergang zu einer nachhaltigeren Wirtschaft beitragen. Das Unternehmen hat eine oder mehrere Angaben unter B2 im Basismodul mit ”JA” beantwortet. Nachstehend wird ausführlicher auf die Richtlinien, Initiativen und Verfahrensweisen eingegangen, die im Unternehmen für den Übergang zu einer nachhaltigeren Wirtschaft eingeleitet wurden</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de-DE" noProof="0">
                <a:solidFill>
                  <a:srgbClr val="1B4528"/>
                </a:solidFill>
                <a:latin typeface="IBM Plex Sans" panose="020B0503050203000203" pitchFamily="34" charset="0"/>
              </a:rPr>
              <a:t xml:space="preserve">CO₂e-Emissionen unter B3 im Basismodul</a:t>
            </a:r>
            <a:endParaRPr lang="de-DE"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13</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de-DE" sz="975" b="1" kern="1200" spc="-10" noProof="0">
                          <a:solidFill>
                            <a:schemeClr val="tx2"/>
                          </a:solidFill>
                          <a:latin typeface="+mn-lt"/>
                          <a:ea typeface="+mn-ea"/>
                          <a:cs typeface="+mn-cs"/>
                        </a:rPr>
                        <a:t xml:space="preserve">CO₂e-Reduktionsziele </a:t>
                      </a:r>
                      <a:r>
                        <a:rPr lang="de-DE" sz="975" b="0" kern="1200" spc="-10" noProof="0">
                          <a:solidFill>
                            <a:schemeClr val="tx2"/>
                          </a:solidFill>
                          <a:latin typeface="+mn-lt"/>
                          <a:ea typeface="+mn-ea"/>
                          <a:cs typeface="+mn-cs"/>
                        </a:rPr>
                        <a:t xml:space="preserve">(Nr.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de-DE"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Zielwert im Jahr </a:t>
                      </a:r>
                      <a:r>
                        <a:rPr lang="de-DE" sz="975" b="1" kern="1200" spc="-10" noProof="0">
                          <a:solidFill>
                            <a:srgbClr val="1B4528"/>
                          </a:solidFill>
                          <a:latin typeface="+mn-lt"/>
                          <a:ea typeface="+mn-ea"/>
                          <a:cs typeface="+mn-cs"/>
                        </a:rPr>
                        <a:t>{{baseline_year-1}}</a:t>
                      </a:r>
                      <a:endParaRPr lang="de-DE" sz="975" b="0" kern="1200" spc="-10" noProof="0">
                        <a:solidFill>
                          <a:srgbClr val="1B4528"/>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CO₂e-Emissionen im Basisjahr:</a:t>
                      </a:r>
                      <a:r>
                        <a:rPr lang="de-DE" sz="975" b="0" kern="1200" spc="-10" noProof="0">
                          <a:solidFill>
                            <a:schemeClr val="tx2"/>
                          </a:solidFill>
                          <a:latin typeface="+mn-lt"/>
                          <a:ea typeface="+mn-ea"/>
                          <a:cs typeface="+mn-cs"/>
                        </a:rPr>
                        <a:t> </a:t>
                      </a:r>
                      <a:r>
                        <a:rPr lang="de-DE" sz="975" b="1" kern="1200" spc="-10" noProof="0">
                          <a:solidFill>
                            <a:srgbClr val="1B4528"/>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e-DE" sz="975" b="0" i="0" u="none" strike="noStrike" noProof="0">
                          <a:solidFill>
                            <a:srgbClr val="1B4528"/>
                          </a:solidFill>
                          <a:effectLst/>
                          <a:latin typeface="Inter"/>
                        </a:rPr>
                        <a:t>{{scope1_target}}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de-DE" sz="975" b="0" i="0" u="none" strike="noStrike" noProof="0">
                          <a:solidFill>
                            <a:srgbClr val="1B4528"/>
                          </a:solidFill>
                          <a:effectLst/>
                          <a:latin typeface="Inter"/>
                        </a:rPr>
                        <a:t>{{scope1_baseline}}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e-DE" sz="975" b="0" i="0" u="none" strike="noStrike" noProof="0">
                          <a:solidFill>
                            <a:srgbClr val="1B4528"/>
                          </a:solidFill>
                          <a:effectLst/>
                          <a:latin typeface="Inter"/>
                        </a:rPr>
                        <a:t>{{scope2_target}}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de-DE" sz="975" b="0" i="0" u="none" strike="noStrike" noProof="0">
                          <a:solidFill>
                            <a:srgbClr val="1B4528"/>
                          </a:solidFill>
                          <a:effectLst/>
                          <a:latin typeface="Inter"/>
                        </a:rPr>
                        <a:t>{{scope2_baseline}}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de-DE"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e-DE" sz="975" b="0" i="0" u="none" strike="noStrike" noProof="0">
                          <a:solidFill>
                            <a:srgbClr val="1B4528"/>
                          </a:solidFill>
                          <a:effectLst/>
                          <a:latin typeface="Inter"/>
                        </a:rPr>
                        <a:t>{{scope3_target}}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de-DE" sz="975" b="0" i="0" u="none" strike="noStrike" noProof="0">
                          <a:solidFill>
                            <a:srgbClr val="1B4528"/>
                          </a:solidFill>
                          <a:effectLst/>
                          <a:latin typeface="Inter"/>
                        </a:rPr>
                        <a:t>{{scope3_baseline}}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de-DE" sz="975" b="1" kern="1200" spc="-10" noProof="0">
                          <a:solidFill>
                            <a:schemeClr val="tx2"/>
                          </a:solidFill>
                          <a:latin typeface="+mn-lt"/>
                          <a:ea typeface="+mn-ea"/>
                          <a:cs typeface="+mn-cs"/>
                        </a:rPr>
                        <a:t xml:space="preserve">Auflistung der wesentlichen Maßnahmen, die </a:t>
                      </a:r>
                      <a:r>
                        <a:rPr lang="de-DE" sz="975" b="1" kern="1200" noProof="0">
                          <a:solidFill>
                            <a:srgbClr val="1B4528"/>
                          </a:solidFill>
                          <a:latin typeface="+mn-lt"/>
                          <a:ea typeface="+mn-ea"/>
                          <a:cs typeface="+mn-cs"/>
                        </a:rPr>
                        <a:t>{{Company name}} </a:t>
                      </a:r>
                      <a:r>
                        <a:rPr lang="de-DE" sz="975" b="0" kern="1200" noProof="0">
                          <a:solidFill>
                            <a:srgbClr val="1B4528"/>
                          </a:solidFill>
                          <a:latin typeface="+mn-lt"/>
                          <a:ea typeface="+mn-ea"/>
                          <a:cs typeface="+mn-cs"/>
                        </a:rPr>
                        <a:t> </a:t>
                      </a:r>
                      <a:r>
                        <a:rPr lang="de-DE" sz="975" b="1" kern="1200" spc="-10" noProof="0">
                          <a:solidFill>
                            <a:schemeClr val="tx2"/>
                          </a:solidFill>
                          <a:latin typeface="+mn-lt"/>
                          <a:ea typeface="+mn-ea"/>
                          <a:cs typeface="+mn-cs"/>
                        </a:rPr>
                        <a:t xml:space="preserve">zur Erreichung der CO₂e-Reduktionsziele durchführt </a:t>
                      </a:r>
                      <a:r>
                        <a:rPr lang="de-DE" sz="975" b="0" kern="1200" spc="-10" noProof="0">
                          <a:solidFill>
                            <a:schemeClr val="tx2"/>
                          </a:solidFill>
                          <a:latin typeface="+mn-lt"/>
                          <a:ea typeface="+mn-ea"/>
                          <a:cs typeface="+mn-cs"/>
                        </a:rPr>
                        <a:t xml:space="preserve">(Nr.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de-DE" sz="975" b="0" noProof="0">
                          <a:solidFill>
                            <a:srgbClr val="1B4528"/>
                          </a:solidFill>
                        </a:rPr>
                        <a:t>{{</a:t>
                      </a:r>
                      <a:r>
                        <a:rPr lang="de-DE" sz="975" b="0" noProof="0">
                          <a:solidFill>
                            <a:srgbClr val="1B4528"/>
                          </a:solidFill>
                        </a:rPr>
                        <a:t>mainaction</a:t>
                      </a:r>
                      <a:r>
                        <a:rPr lang="de-DE" sz="975" b="0"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noProof="0"/>
              <a:t xml:space="preserve">CO₂e-Reduktionsziele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de-DE" sz="975" b="1" noProof="0">
                          <a:solidFill>
                            <a:schemeClr val="tx2"/>
                          </a:solidFill>
                        </a:rPr>
                        <a:t xml:space="preserve">Treibhausgasemissionen –</a:t>
                      </a:r>
                      <a:r>
                        <a:rPr lang="de-DE" sz="975" b="0" noProof="0">
                          <a:solidFill>
                            <a:schemeClr val="tx2"/>
                          </a:solidFill>
                        </a:rPr>
                        <a:t xml:space="preserve"> (ergänzt Nr. 33)</a:t>
                      </a: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Jahr </a:t>
                      </a:r>
                      <a:r>
                        <a:rPr lang="de-DE" sz="975" b="1" noProof="0">
                          <a:solidFill>
                            <a:srgbClr val="1B4528"/>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r">
                        <a:lnSpc>
                          <a:spcPct val="100000"/>
                        </a:lnSpc>
                        <a:spcBef>
                          <a:spcPts val="0"/>
                        </a:spcBef>
                        <a:spcAft>
                          <a:spcPts val="0"/>
                        </a:spcAft>
                        <a:buNone/>
                      </a:pPr>
                      <a:r>
                        <a:rPr lang="de-DE" sz="975" b="0" i="0" u="none" strike="noStrike" kern="1200" noProof="0">
                          <a:solidFill>
                            <a:srgbClr val="1B4528"/>
                          </a:solidFill>
                          <a:latin typeface="IBM Plex Sans"/>
                          <a:ea typeface="+mn-ea"/>
                          <a:cs typeface="+mn-cs"/>
                        </a:rPr>
                        <a:t>{{scope3_description_table}}</a:t>
                      </a:r>
                      <a:endParaRPr lang="de-DE"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r">
                        <a:lnSpc>
                          <a:spcPct val="100000"/>
                        </a:lnSpc>
                        <a:spcBef>
                          <a:spcPts val="0"/>
                        </a:spcBef>
                        <a:spcAft>
                          <a:spcPts val="0"/>
                        </a:spcAft>
                        <a:buNone/>
                      </a:pPr>
                      <a:r>
                        <a:rPr lang="de-DE" sz="975" b="0" i="0" u="none" strike="noStrike" kern="1200" cap="none" spc="0" normalizeH="0" baseline="0" noProof="0">
                          <a:ln>
                            <a:noFill/>
                          </a:ln>
                          <a:solidFill>
                            <a:srgbClr val="1B4528"/>
                          </a:solidFill>
                          <a:effectLst/>
                          <a:uLnTx/>
                          <a:uFillTx/>
                          <a:latin typeface="IBM Plex Sans"/>
                          <a:ea typeface="+mn-ea"/>
                          <a:cs typeface="+mn-cs"/>
                        </a:rPr>
                        <a:t>{{scope3_emissions_table}}</a:t>
                      </a:r>
                      <a:endParaRPr lang="de-DE"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de-DE" sz="975" b="1" noProof="0">
                          <a:solidFill>
                            <a:schemeClr val="tx2"/>
                          </a:solidFill>
                        </a:rPr>
                        <a:t xml:space="preserve">CO₂e-Emissionen in Scope 3 insgesamt (standortbezogen)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r">
                        <a:lnSpc>
                          <a:spcPct val="100000"/>
                        </a:lnSpc>
                        <a:spcBef>
                          <a:spcPts val="0"/>
                        </a:spcBef>
                        <a:spcAft>
                          <a:spcPts val="0"/>
                        </a:spcAft>
                        <a:buNone/>
                      </a:pPr>
                      <a:r>
                        <a:rPr lang="de-DE" sz="975" b="0" i="0" u="none" strike="noStrike" kern="1200" cap="none" spc="0" normalizeH="0" baseline="0" noProof="0">
                          <a:ln>
                            <a:noFill/>
                          </a:ln>
                          <a:solidFill>
                            <a:srgbClr val="1B4528"/>
                          </a:solidFill>
                          <a:effectLst/>
                          <a:uLnTx/>
                          <a:uFillTx/>
                          <a:latin typeface="IBM Plex Sans"/>
                          <a:ea typeface="+mn-ea"/>
                          <a:cs typeface="+mn-cs"/>
                        </a:rPr>
                        <a:t>{{scope3}}</a:t>
                      </a:r>
                      <a:endParaRPr lang="de-DE"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de-DE" sz="975" b="1" noProof="0">
                          <a:solidFill>
                            <a:schemeClr val="tx2"/>
                          </a:solidFill>
                        </a:rPr>
                        <a:t xml:space="preserve">Gesamte CO₂e-Emissionen für Scope 1, 2 und 3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6000"/>
                        </a:lnSpc>
                        <a:spcBef>
                          <a:spcPts val="0"/>
                        </a:spcBef>
                        <a:spcAft>
                          <a:spcPts val="0"/>
                        </a:spcAft>
                        <a:buClrTx/>
                        <a:buSzTx/>
                        <a:buFontTx/>
                        <a:buNone/>
                        <a:tabLst/>
                        <a:defRPr/>
                      </a:pPr>
                      <a:r>
                        <a:rPr kumimoji="0" lang="de-DE" sz="975" b="0" i="0" u="none" strike="noStrike" kern="1200" cap="none" spc="0" normalizeH="0" baseline="0" noProof="0">
                          <a:ln>
                            <a:noFill/>
                          </a:ln>
                          <a:solidFill>
                            <a:srgbClr val="1B4528"/>
                          </a:solidFill>
                          <a:effectLst/>
                          <a:uLnTx/>
                          <a:uFillTx/>
                          <a:latin typeface="+mn-lt"/>
                          <a:ea typeface="+mn-ea"/>
                          <a:cs typeface="+mn-cs"/>
                        </a:rPr>
                        <a:t>{{</a:t>
                      </a:r>
                      <a:r>
                        <a:rPr kumimoji="0" lang="de-DE" sz="975" b="0" i="0" u="none" strike="noStrike" kern="1200" cap="none" spc="0" normalizeH="0" baseline="0" noProof="0">
                          <a:ln>
                            <a:noFill/>
                          </a:ln>
                          <a:solidFill>
                            <a:srgbClr val="1B4528"/>
                          </a:solidFill>
                          <a:effectLst/>
                          <a:uLnTx/>
                          <a:uFillTx/>
                          <a:latin typeface="+mn-lt"/>
                          <a:ea typeface="+mn-ea"/>
                          <a:cs typeface="+mn-cs"/>
                        </a:rPr>
                        <a:t>total_all_scopes</a:t>
                      </a:r>
                      <a:r>
                        <a:rPr kumimoji="0" lang="de-DE" sz="975" b="0" i="0" u="none" strike="noStrike" kern="1200" cap="none" spc="0" normalizeH="0" baseline="0" noProof="0">
                          <a:ln>
                            <a:noFill/>
                          </a:ln>
                          <a:solidFill>
                            <a:srgbClr val="1B4528"/>
                          </a:solidFill>
                          <a:effectLst/>
                          <a:uLnTx/>
                          <a:uFillTx/>
                          <a:latin typeface="+mn-lt"/>
                          <a:ea typeface="+mn-ea"/>
                          <a:cs typeface="+mn-cs"/>
                        </a:rPr>
                        <a:t>}}</a:t>
                      </a:r>
                      <a:endParaRPr kumimoji="0" lang="de-DE" sz="975" b="0" i="0" u="none" strike="noStrike" kern="1200" cap="none" spc="0" normalizeH="0" baseline="0" noProof="0" dirty="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einen Überblick über die Treibhausgasemissionen in Scope 3 nach dem THG-Protokoll angegeben. Das Unternehmen gibt die Gesamtemissionen und die standortbezogenen Emissionen aus Scope 3 an. Die CO₂e-Reduktionsziele des Unternehmens sind aufgeführt, einschließlich der wesentlichen Maßnahmen des Unternehmens zur Erreichung der Reduktionsziel</a:t>
            </a:r>
            <a:r>
              <a:rPr lang="de-DE" sz="975" noProof="0">
                <a:solidFill>
                  <a:schemeClr val="tx2"/>
                </a:solidFill>
                <a:latin typeface="Inter"/>
              </a:rPr>
              <a:t xml:space="preserve">e.</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a:t xml:space="preserve">Übergang für den Klimaschutz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de-DE" sz="975" b="1" kern="1200" spc="-10" noProof="0">
                          <a:solidFill>
                            <a:schemeClr val="tx2"/>
                          </a:solidFill>
                          <a:latin typeface="+mn-lt"/>
                          <a:ea typeface="+mn-ea"/>
                          <a:cs typeface="+mn-cs"/>
                        </a:rPr>
                        <a:t xml:space="preserve">Künftiger Übergangsplan </a:t>
                      </a:r>
                      <a:r>
                        <a:rPr lang="de-DE" sz="975" b="0" kern="1200" spc="-10" noProof="0">
                          <a:solidFill>
                            <a:schemeClr val="tx2"/>
                          </a:solidFill>
                          <a:latin typeface="+mn-lt"/>
                          <a:ea typeface="+mn-ea"/>
                          <a:cs typeface="+mn-cs"/>
                        </a:rPr>
                        <a:t xml:space="preserve">(Nr.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e-DE"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de-DE" sz="975" b="1" kern="1200" noProof="0">
                          <a:solidFill>
                            <a:srgbClr val="1B4528"/>
                          </a:solidFill>
                          <a:latin typeface="+mn-lt"/>
                          <a:ea typeface="+mn-ea"/>
                          <a:cs typeface="+mn-cs"/>
                        </a:rPr>
                        <a:t>{{company_name}} </a:t>
                      </a:r>
                      <a:r>
                        <a:rPr lang="de-DE" sz="975" b="1" kern="1200" noProof="0">
                          <a:solidFill>
                            <a:schemeClr val="tx2"/>
                          </a:solidFill>
                          <a:latin typeface="+mn-lt"/>
                          <a:ea typeface="+mn-ea"/>
                          <a:cs typeface="+mn-cs"/>
                        </a:rPr>
                        <a:t xml:space="preserve">wird einen konkreten Übergangsplan </a:t>
                      </a:r>
                      <a:r>
                        <a:rPr lang="de-DE" sz="975" b="1" noProof="0">
                          <a:solidFill>
                            <a:schemeClr val="tx2"/>
                          </a:solidFill>
                        </a:rPr>
                        <a:t xml:space="preserve">für den Klimaschutz annehmen</a:t>
                      </a:r>
                      <a:endParaRPr lang="de-DE"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e-DE" sz="975" b="0" i="0" u="none" strike="noStrike" noProof="0">
                          <a:solidFill>
                            <a:srgbClr val="1B4528"/>
                          </a:solidFill>
                          <a:effectLst/>
                          <a:latin typeface="Inter"/>
                        </a:rPr>
                        <a:t>{{transition_plan?}}</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de-DE" sz="975" b="1" kern="1200" noProof="0">
                          <a:solidFill>
                            <a:schemeClr val="tx2"/>
                          </a:solidFill>
                          <a:latin typeface="+mn-lt"/>
                          <a:ea typeface="+mn-ea"/>
                          <a:cs typeface="+mn-cs"/>
                        </a:rPr>
                        <a:t xml:space="preserve">Zeitpunkt der Annahme des Übergangsplans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transition_plan_date</a:t>
                      </a:r>
                      <a:r>
                        <a:rPr lang="de-DE" sz="975" b="0" i="0" u="none" strike="noStrike" noProof="0">
                          <a:solidFill>
                            <a:srgbClr val="1B4528"/>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de-DE" sz="975" b="1" kern="1200" spc="-10" noProof="0">
                          <a:solidFill>
                            <a:schemeClr val="tx2"/>
                          </a:solidFill>
                          <a:latin typeface="+mn-lt"/>
                          <a:ea typeface="+mn-ea"/>
                          <a:cs typeface="+mn-cs"/>
                        </a:rPr>
                        <a:t xml:space="preserve">Übergangsplan für den Klimaschutz </a:t>
                      </a:r>
                      <a:r>
                        <a:rPr lang="de-DE" sz="975" b="0" kern="1200" spc="-10" noProof="0">
                          <a:solidFill>
                            <a:schemeClr val="tx2"/>
                          </a:solidFill>
                          <a:latin typeface="+mn-lt"/>
                          <a:ea typeface="+mn-ea"/>
                          <a:cs typeface="+mn-cs"/>
                        </a:rPr>
                        <a:t xml:space="preserve">(Nr.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de-DE" sz="975" b="0" noProof="0">
                          <a:solidFill>
                            <a:srgbClr val="1B4528"/>
                          </a:solidFill>
                        </a:rPr>
                        <a:t>{{</a:t>
                      </a:r>
                      <a:r>
                        <a:rPr lang="de-DE" sz="975" b="0" noProof="0">
                          <a:solidFill>
                            <a:srgbClr val="1B4528"/>
                          </a:solidFill>
                        </a:rPr>
                        <a:t>transition_plan</a:t>
                      </a:r>
                      <a:r>
                        <a:rPr lang="de-DE" sz="975" b="0" noProof="0">
                          <a:solidFill>
                            <a:srgbClr val="1B4528"/>
                          </a:solidFill>
                        </a:rPr>
                        <a:t>}}</a:t>
                      </a:r>
                    </a:p>
                    <a:p>
                      <a:pPr algn="l"/>
                      <a:endParaRPr lang="de-DE" sz="975" b="0" noProof="0" dirty="0">
                        <a:solidFill>
                          <a:srgbClr val="1B4528"/>
                        </a:solidFill>
                      </a:endParaRPr>
                    </a:p>
                    <a:p>
                      <a:pPr algn="l"/>
                      <a:endParaRPr lang="de-DE" sz="975" b="0" noProof="0" dirty="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Die nachstehenden Angaben beziehen sich auf den Übergangsplan des Unternehmens für den Klimaschutz. Der Übergang steht im Zusammenhang mit den CO₂e-Reduktionszielen des Unternehmens.</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Diese Angabe wurde ausgefüllt, da das Unternehmen angegeben hat, dass es einen konkreten Übergangsplan einleiten wird, sowie das Datum der Annahme.</a:t>
            </a:r>
            <a:endParaRPr lang="de-DE"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de-DE" noProof="0"/>
              <a:t xml:space="preserve">K</a:t>
            </a:r>
            <a:r>
              <a:rPr lang="de-DE" sz="1475" b="1" noProof="0">
                <a:solidFill>
                  <a:schemeClr val="tx2"/>
                </a:solidFill>
              </a:rPr>
              <a:t xml:space="preserve">limabedingte Risiken (C4)</a:t>
            </a:r>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de-DE" sz="825" b="0" kern="1200" noProof="0">
                          <a:solidFill>
                            <a:schemeClr val="tx2"/>
                          </a:solidFill>
                          <a:latin typeface="+mn-lt"/>
                          <a:ea typeface="+mn-ea"/>
                          <a:cs typeface="+mn-cs"/>
                        </a:rPr>
                        <a:t xml:space="preserve">(Nr.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de-DE" sz="825" b="0" kern="1200" noProof="0">
                          <a:solidFill>
                            <a:schemeClr val="tx2"/>
                          </a:solidFill>
                          <a:latin typeface="+mn-lt"/>
                          <a:ea typeface="+mn-ea"/>
                          <a:cs typeface="+mn-cs"/>
                        </a:rPr>
                        <a:t xml:space="preserve">(Nr.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e-DE" sz="825" b="0" kern="1200" noProof="0">
                          <a:solidFill>
                            <a:schemeClr val="tx2"/>
                          </a:solidFill>
                          <a:latin typeface="+mn-lt"/>
                          <a:ea typeface="+mn-ea"/>
                          <a:cs typeface="+mn-cs"/>
                        </a:rPr>
                        <a:t xml:space="preserve">(Nr.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e-DE" sz="825" b="0" kern="1200" noProof="0">
                          <a:solidFill>
                            <a:schemeClr val="tx2"/>
                          </a:solidFill>
                          <a:latin typeface="+mn-lt"/>
                          <a:ea typeface="+mn-ea"/>
                          <a:cs typeface="+mn-cs"/>
                        </a:rPr>
                        <a:t xml:space="preserve">(Nr.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Klimabedingte Risiken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Wo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Kurze Beschreibung der Risiken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Exposition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noProof="0">
                          <a:solidFill>
                            <a:schemeClr val="tx2"/>
                          </a:solidFill>
                        </a:rPr>
                        <a:t xml:space="preserve">(niedrig/mittel/hoch)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Anfälligkeit </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noProof="0">
                          <a:solidFill>
                            <a:schemeClr val="tx2"/>
                          </a:solidFill>
                        </a:rPr>
                        <a:t xml:space="preserve">(niedrig/mittel/hoch)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Zeithorizont </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i="0" noProof="0">
                          <a:solidFill>
                            <a:schemeClr val="tx2"/>
                          </a:solidFill>
                        </a:rPr>
                        <a:t xml:space="preserve">(0-1/2-5/&gt;5 Jahre)</a:t>
                      </a:r>
                      <a:endParaRPr lang="de-DE"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Anpassung ergriffen </a:t>
                      </a:r>
                      <a:r>
                        <a:rPr lang="de-DE" sz="825" b="0" noProof="0">
                          <a:solidFill>
                            <a:schemeClr val="tx2"/>
                          </a:solidFill>
                        </a:rPr>
                        <a:t xml:space="preserve">(JA/NEIN)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noProof="0">
                          <a:solidFill>
                            <a:schemeClr val="tx2"/>
                          </a:solidFill>
                        </a:rPr>
                        <a:t xml:space="preserve">Chronische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Vermögens­werte</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{{chronic_aktiver_description}}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{{chronic_aktiver_eksponerning}}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{{chronic_aktiver_time}}</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Tätigkeiten</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{{chronic_aktiveter_description}}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{{chronic_aktivteter_eksponerning}}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{{chronic_aktivteter_sårbarhed}}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{{chronic_aktivteter_time}}</a:t>
                      </a:r>
                      <a:endParaRPr lang="de-DE"/>
                    </a:p>
                    <a:p>
                      <a:pPr lvl="0" algn="ctr">
                        <a:lnSpc>
                          <a:spcPct val="100000"/>
                        </a:lnSpc>
                        <a:spcBef>
                          <a:spcPts val="0"/>
                        </a:spcBef>
                        <a:spcAft>
                          <a:spcPts val="0"/>
                        </a:spcAft>
                        <a:buNone/>
                      </a:pP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{{chronic_aktivteter_tilpasning}}</a:t>
                      </a:r>
                      <a:endParaRPr lang="de-DE"/>
                    </a:p>
                    <a:p>
                      <a:pPr marL="0" marR="0" lvl="0" indent="0" algn="ctr">
                        <a:lnSpc>
                          <a:spcPct val="100000"/>
                        </a:lnSpc>
                        <a:spcBef>
                          <a:spcPts val="0"/>
                        </a:spcBef>
                        <a:spcAft>
                          <a:spcPts val="0"/>
                        </a:spcAft>
                        <a:buClrTx/>
                        <a:buSzTx/>
                        <a:buFontTx/>
                        <a:buNone/>
                      </a:pP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Lieferkette</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{{chronic_value_description}}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{{chronic_value_eksponerning}}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{{chronic_value_sårbarhed}}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{{chronic_value_time}}</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{{chronic_value_tilpasning}}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kern="1200" noProof="0">
                          <a:solidFill>
                            <a:schemeClr val="tx2"/>
                          </a:solidFill>
                          <a:latin typeface="+mn-lt"/>
                          <a:ea typeface="+mn-ea"/>
                          <a:cs typeface="+mn-cs"/>
                        </a:rPr>
                        <a:t xml:space="preserve">Akute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Vermögens­werte</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{{akut_aktiver_description}}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Tätigkeiten</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{{akut_aktiviteter_description}}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{{akut_aktiviteter_eksponering}}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{{akut_aktiviteter_sårbarhed}}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{{akut_aktiviteter_tidshorisont}}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{{akut_aktiviteter_tilpasning}}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Lieferkette</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{{akut_værdikæde_description}}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{{akut_værdikæde_eksponering}}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{{akut_værdikæde_sårbarhed}}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{{akut_værdikæde_tidshorisont}}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{{akut_værdikæde_tilpasning}}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1" kern="1200" noProof="0">
                          <a:solidFill>
                            <a:schemeClr val="tx2"/>
                          </a:solidFill>
                          <a:latin typeface="+mn-lt"/>
                          <a:ea typeface="+mn-ea"/>
                          <a:cs typeface="+mn-cs"/>
                        </a:rPr>
                        <a:t xml:space="preserve">Übergangs-ereignis</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Vermögens­werte</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{{omstilling_aktiver_description}}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Tätigkeiten</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{{omstilling_aktiviteter_description}}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{{omstilling_aktiviteter_eksponering}}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{{omstilling_aktiviteter_sårbarhed}}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{{omstilling_aktiviteter_tidshorisont}}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{{omstilling_aktiviteter_tilpasning}}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25" b="0" kern="1200" noProof="0">
                          <a:solidFill>
                            <a:schemeClr val="tx2"/>
                          </a:solidFill>
                          <a:latin typeface="+mn-lt"/>
                          <a:ea typeface="+mn-ea"/>
                          <a:cs typeface="+mn-cs"/>
                        </a:rPr>
                        <a:t xml:space="preserve">Lieferkette</a:t>
                      </a:r>
                      <a:endParaRPr lang="de-DE"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rPr>
                        <a:t>{{omstilling_værdikæde_description}}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{{omstilling_værdikæde_eksponering}}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{{omstilling_værdikæde_sårbarhed}}</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{{omstilling_værdikæde_tidshorisont}}</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825" b="0" i="0" u="none" strike="noStrike" noProof="0">
                          <a:solidFill>
                            <a:srgbClr val="1B4528"/>
                          </a:solidFill>
                          <a:latin typeface="IBM Plex Sans"/>
                        </a:rPr>
                        <a:t>{{omstilling_værdikæde_tilpasning}}</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de-DE" dirty="0">
                <a:solidFill>
                  <a:srgbClr val="1B4528">
                    <a:alpha val="70000"/>
                  </a:srgbClr>
                </a:solidFill>
              </a:rPr>
              <a:t>14</a:t>
            </a:fld>
            <a:endParaRPr lang="de-DE"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einen Überblick über die klimabedingten Risiken angegeben, einschließlich der Frage, ob diese chronisch, akut oder übergangsbedingt sind und wo sie angesiedelt sind (Vermögenswerte, Tätigkeiten oder Wertschöpfungskette des Unternehmens). </a:t>
            </a:r>
            <a:endParaRPr lang="de-DE"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de-DE" noProof="0"/>
              <a:t xml:space="preserve">K</a:t>
            </a:r>
            <a:r>
              <a:rPr lang="de-DE" sz="1475" b="1" noProof="0">
                <a:solidFill>
                  <a:schemeClr val="tx2"/>
                </a:solidFill>
              </a:rPr>
              <a:t xml:space="preserve">limabedingte Risiken (C4) - Fortsetzung</a:t>
            </a:r>
            <a:endParaRPr lang="de-DE"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15</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de-DE" sz="975" b="0" kern="1200" noProof="0">
                          <a:solidFill>
                            <a:schemeClr val="tx2"/>
                          </a:solidFill>
                          <a:latin typeface="+mn-lt"/>
                          <a:ea typeface="+mn-ea"/>
                          <a:cs typeface="+mn-cs"/>
                        </a:rPr>
                        <a:t xml:space="preserve">(Nr.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Potenzielle nachteilige </a:t>
                      </a:r>
                      <a:r>
                        <a:rPr lang="de-DE" sz="975" b="1" kern="1200" noProof="0">
                          <a:solidFill>
                            <a:schemeClr val="tx2"/>
                          </a:solidFill>
                          <a:latin typeface="+mn-lt"/>
                          <a:ea typeface="+mn-ea"/>
                          <a:cs typeface="+mn-cs"/>
                        </a:rPr>
                        <a:t xml:space="preserve">Auswirkungen auf die finanzielle Leistungsfähigkeit und die Geschäftstätigkeit des Unternehmens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Finanzielles Risiko</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0" kern="1200" noProof="0">
                          <a:solidFill>
                            <a:schemeClr val="tx2"/>
                          </a:solidFill>
                          <a:latin typeface="+mn-lt"/>
                          <a:ea typeface="+mn-ea"/>
                          <a:cs typeface="+mn-cs"/>
                        </a:rPr>
                        <a:t xml:space="preserve">(niedrig/mittel/hoch)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Zeithorizont</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0" i="0" noProof="0">
                          <a:solidFill>
                            <a:schemeClr val="tx2"/>
                          </a:solidFill>
                        </a:rPr>
                        <a:t xml:space="preserve">(0-1/2-5/&gt;5 Jahre)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Chronische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de-DE" sz="975" b="0" i="0" u="none" strike="noStrike" noProof="0">
                          <a:solidFill>
                            <a:srgbClr val="1B4528"/>
                          </a:solidFill>
                        </a:rPr>
                        <a:t>{{chronic_hazards}}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{{chronic connection financial </a:t>
                      </a:r>
                      <a:r>
                        <a:rPr lang="de-DE" sz="975" b="0" i="0" u="none" strike="noStrike" noProof="0">
                          <a:solidFill>
                            <a:srgbClr val="1B4528"/>
                          </a:solidFill>
                          <a:latin typeface="IBM Plex Sans"/>
                          <a:ea typeface="+mn-ea"/>
                          <a:cs typeface="+mn-cs"/>
                        </a:rPr>
                        <a:t>and operations}}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{{chronic_financial_risk}}</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{{chronic_time_horizon}}</a:t>
                      </a:r>
                      <a:endParaRPr lang="de-DE"/>
                    </a:p>
                    <a:p>
                      <a:pPr marL="0" marR="0" lvl="0" indent="0" algn="ctr" defTabSz="914400">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Akute Gefahren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de-DE" sz="975" b="0" i="0" u="none" strike="noStrike" noProof="0">
                          <a:solidFill>
                            <a:srgbClr val="1B4528"/>
                          </a:solidFill>
                        </a:rPr>
                        <a:t>{{acute_hazards}}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{{acute connection </a:t>
                      </a:r>
                      <a:r>
                        <a:rPr lang="de-DE" sz="975" b="0" i="0" u="none" strike="noStrike" noProof="0">
                          <a:solidFill>
                            <a:srgbClr val="1B4528"/>
                          </a:solidFill>
                          <a:latin typeface="IBM Plex Sans"/>
                          <a:ea typeface="+mn-ea"/>
                          <a:cs typeface="+mn-cs"/>
                        </a:rPr>
                        <a:t>financial and operations}}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{{acute_financial_risk}}</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{{acute_time_horizon}}</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noProof="0">
                          <a:solidFill>
                            <a:schemeClr val="tx2"/>
                          </a:solidFill>
                          <a:latin typeface="+mn-lt"/>
                          <a:ea typeface="+mn-ea"/>
                          <a:cs typeface="+mn-cs"/>
                        </a:rPr>
                        <a:t xml:space="preserve">Übergangsrisiken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de-DE" sz="975" b="0" i="0" u="none" strike="noStrike" noProof="0">
                          <a:solidFill>
                            <a:srgbClr val="1B4528"/>
                          </a:solidFill>
                        </a:rPr>
                        <a:t>{{climate_related}}</a:t>
                      </a:r>
                      <a:endParaRPr lang="de-DE"/>
                    </a:p>
                    <a:p>
                      <a:pPr lvl="0" algn="l">
                        <a:lnSpc>
                          <a:spcPct val="100000"/>
                        </a:lnSpc>
                        <a:spcBef>
                          <a:spcPts val="0"/>
                        </a:spcBef>
                        <a:spcAft>
                          <a:spcPts val="0"/>
                        </a:spcAft>
                        <a:buNone/>
                      </a:pPr>
                      <a:endParaRPr lang="de-DE" sz="975" b="0" i="0" u="none" strike="noStrike" noProof="0">
                        <a:solidFill>
                          <a:srgbClr val="1B4528"/>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{{climate connection financial </a:t>
                      </a:r>
                      <a:r>
                        <a:rPr lang="de-DE" sz="975" b="0" i="0" u="none" strike="noStrike" noProof="0">
                          <a:solidFill>
                            <a:srgbClr val="1B4528"/>
                          </a:solidFill>
                          <a:latin typeface="IBM Plex Sans"/>
                          <a:ea typeface="+mn-ea"/>
                          <a:cs typeface="+mn-cs"/>
                        </a:rPr>
                        <a:t>and operations}}</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{{climate_related_risk}}</a:t>
                      </a:r>
                      <a:endParaRPr lang="de-DE"/>
                    </a:p>
                    <a:p>
                      <a:pPr lvl="0" algn="ctr">
                        <a:lnSpc>
                          <a:spcPct val="100000"/>
                        </a:lnSpc>
                        <a:spcBef>
                          <a:spcPts val="0"/>
                        </a:spcBef>
                        <a:spcAft>
                          <a:spcPts val="0"/>
                        </a:spcAft>
                        <a:buNone/>
                      </a:pP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e-DE" sz="975" b="0" i="0" u="none" strike="noStrike" noProof="0">
                          <a:solidFill>
                            <a:srgbClr val="1B4528"/>
                          </a:solidFill>
                          <a:latin typeface="IBM Plex Sans"/>
                        </a:rPr>
                        <a:t>{{climate_time_horizon}}</a:t>
                      </a:r>
                      <a:endParaRPr lang="de-DE"/>
                    </a:p>
                    <a:p>
                      <a:pPr marL="0" marR="0" lvl="0" indent="0" algn="ctr" defTabSz="914400">
                        <a:lnSpc>
                          <a:spcPct val="100000"/>
                        </a:lnSpc>
                        <a:spcBef>
                          <a:spcPts val="0"/>
                        </a:spcBef>
                        <a:spcAft>
                          <a:spcPts val="0"/>
                        </a:spcAft>
                        <a:buClrTx/>
                        <a:buSzTx/>
                        <a:buFontTx/>
                        <a:buNone/>
                        <a:tabLst/>
                        <a:defRPr/>
                      </a:pP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einen Überblick über die klimabedingten Risiken angegeben, einschließlich, ob diese chronisch, akut oder übergangsbedingt sind und ob sie die finanzielle Leistungsfähigkeit und Geschäftstätigkeit nachteilig beeinflussen können.</a:t>
            </a:r>
            <a:endParaRPr lang="de-DE"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de-DE" sz="1220" b="1" i="0" u="none" strike="noStrike" kern="1200" spc="-10" noProof="0">
                <a:solidFill>
                  <a:srgbClr val="1B4528"/>
                </a:solidFill>
              </a:rPr>
              <a:t xml:space="preserve">Zusätzliche (allgemeine) Merkmale der Arbeitskräfte (C5)</a:t>
            </a:r>
            <a:endParaRPr lang="de-DE"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16</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589330"/>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9466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i="0" noProof="0">
                          <a:solidFill>
                            <a:schemeClr val="tx2"/>
                          </a:solidFill>
                        </a:rPr>
                        <a:t xml:space="preserve">Zahlenmäßiges Verhältnis von Frauen zu Männern auf Führungsebene </a:t>
                      </a:r>
                      <a:r>
                        <a:rPr lang="de-DE" sz="806" b="0" i="0" noProof="0">
                          <a:solidFill>
                            <a:schemeClr val="tx2"/>
                          </a:solidFill>
                        </a:rPr>
                        <a:t xml:space="preserve">(Nr.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806" b="1" i="0" u="none" strike="noStrike" noProof="0">
                          <a:solidFill>
                            <a:srgbClr val="1B4528"/>
                          </a:solidFill>
                          <a:effectLst/>
                          <a:latin typeface="IBM Plex Sans" panose="020B0503050203000203" pitchFamily="34" charset="0"/>
                        </a:rPr>
                        <a:t xml:space="preserve">Jahr </a:t>
                      </a:r>
                      <a:r>
                        <a:rPr lang="de-DE" sz="806" b="1" i="0" u="none" strike="noStrike" noProof="0">
                          <a:solidFill>
                            <a:srgbClr val="1B4528"/>
                          </a:solidFill>
                          <a:effectLst/>
                          <a:latin typeface="IBM Plex Sans" panose="020B0503050203000203" pitchFamily="34" charset="0"/>
                        </a:rPr>
                        <a:t>{{Insert year}}</a:t>
                      </a:r>
                      <a:endParaRPr lang="de-DE"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94665">
                <a:tc vMerge="1">
                  <a:txBody>
                    <a:bodyPr/>
                    <a:lstStyle/>
                    <a:p>
                      <a:endParaRPr lang="de-DE"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806" b="0" i="0" u="none" strike="noStrike" noProof="0">
                          <a:solidFill>
                            <a:srgbClr val="1B4528"/>
                          </a:solidFill>
                          <a:effectLst/>
                          <a:latin typeface="IBM Plex Sans" panose="020B0503050203000203" pitchFamily="34" charset="0"/>
                        </a:rPr>
                        <a:t>{{gender_balance}}</a:t>
                      </a:r>
                      <a:endParaRPr lang="de-DE"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58019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90096">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i="0" noProof="0">
                          <a:solidFill>
                            <a:schemeClr val="tx2"/>
                          </a:solidFill>
                        </a:rPr>
                        <a:t xml:space="preserve">Beschäftigtenfluktuation im Berichtsjahr </a:t>
                      </a:r>
                      <a:r>
                        <a:rPr lang="de-DE" sz="806" b="0" i="0" noProof="0">
                          <a:solidFill>
                            <a:schemeClr val="tx2"/>
                          </a:solidFill>
                        </a:rPr>
                        <a:t xml:space="preserve">(Nr.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e-DE" sz="806" b="1" i="0" u="none" strike="noStrike" noProof="0">
                          <a:solidFill>
                            <a:srgbClr val="1B4528"/>
                          </a:solidFill>
                          <a:effectLst/>
                          <a:latin typeface="IBM Plex Sans" panose="020B0503050203000203" pitchFamily="34" charset="0"/>
                        </a:rPr>
                        <a:t xml:space="preserve">Jahr </a:t>
                      </a:r>
                      <a:r>
                        <a:rPr lang="de-DE" sz="806" b="1" i="0" u="none" strike="noStrike" noProof="0">
                          <a:solidFill>
                            <a:srgbClr val="1B4528"/>
                          </a:solidFill>
                          <a:effectLst/>
                          <a:latin typeface="IBM Plex Sans" panose="020B0503050203000203" pitchFamily="34" charset="0"/>
                        </a:rPr>
                        <a:t>{{Insert year}}</a:t>
                      </a:r>
                      <a:endParaRPr lang="de-DE" sz="806"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90096">
                <a:tc vMerge="1">
                  <a:txBody>
                    <a:bodyPr/>
                    <a:lstStyle/>
                    <a:p>
                      <a:endParaRPr lang="de-DE"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806" b="0" i="0" u="none" strike="noStrike" noProof="0">
                          <a:solidFill>
                            <a:srgbClr val="1B4528"/>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de-DE" sz="806" b="0" i="0" u="none" strike="noStrike" noProof="0">
                <a:solidFill>
                  <a:schemeClr val="tx2"/>
                </a:solidFill>
                <a:effectLst/>
                <a:latin typeface="Inter"/>
              </a:rPr>
              <a:t xml:space="preserve">Die nachstehenden Informationen ergänzen die übrigen Angaben zu den Arbeitskräften des Unternehmens, einschließlich der Frage, wie sich das Verhältnis von Männern und Frauen auf Führungsebene im Unternehmen verteilt.</a:t>
            </a:r>
            <a:endParaRPr lang="de-DE" sz="806" b="0" noProof="0">
              <a:solidFill>
                <a:schemeClr val="tx2"/>
              </a:solidFill>
              <a:effectLst/>
              <a:latin typeface="Inter"/>
            </a:endParaRPr>
          </a:p>
          <a:p>
            <a:pPr>
              <a:buNone/>
            </a:pPr>
            <a:br>
              <a:rPr lang="de-DE" sz="806" noProof="0">
                <a:solidFill>
                  <a:schemeClr val="tx2"/>
                </a:solidFill>
                <a:latin typeface="Inter"/>
              </a:rPr>
            </a:br>
            <a:endParaRPr lang="de-DE" sz="806"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6" b="1" kern="1200" noProof="0">
                          <a:solidFill>
                            <a:schemeClr val="tx2"/>
                          </a:solidFill>
                          <a:latin typeface="+mn-lt"/>
                          <a:ea typeface="+mn-ea"/>
                          <a:cs typeface="+mn-cs"/>
                        </a:rPr>
                        <a:t xml:space="preserve">Selbstständige und Zeitarbeitskräfte </a:t>
                      </a:r>
                      <a:r>
                        <a:rPr lang="de-DE" sz="806" b="0" noProof="0">
                          <a:solidFill>
                            <a:schemeClr val="tx2"/>
                          </a:solidFill>
                        </a:rPr>
                        <a:t xml:space="preserve">(Nr. 60)</a:t>
                      </a:r>
                      <a:endParaRPr lang="de-DE" sz="806"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806"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6" b="1" kern="1200" noProof="0">
                          <a:solidFill>
                            <a:schemeClr val="tx2"/>
                          </a:solidFill>
                          <a:latin typeface="+mn-lt"/>
                          <a:ea typeface="+mn-ea"/>
                          <a:cs typeface="+mn-cs"/>
                        </a:rPr>
                        <a:t xml:space="preserve">Anzahl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de-DE" sz="806" b="1" noProof="0">
                          <a:solidFill>
                            <a:schemeClr val="tx2"/>
                          </a:solidFill>
                        </a:rPr>
                        <a:t xml:space="preserve">Selbstständige (ohne eigenes Personal)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{{self-employeed}}</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806" b="1" noProof="0">
                          <a:solidFill>
                            <a:schemeClr val="tx2"/>
                          </a:solidFill>
                        </a:rPr>
                        <a:t xml:space="preserve">Zeitarbeitskräfte (über eine Zeitarbeitsagentur bereitgestellt) </a:t>
                      </a:r>
                      <a:endParaRPr lang="de-DE"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a:t>
                      </a:r>
                      <a:r>
                        <a:rPr lang="de-DE" sz="806" b="0" i="0" u="none" strike="noStrike" noProof="0">
                          <a:solidFill>
                            <a:srgbClr val="1B4528"/>
                          </a:solidFill>
                          <a:effectLst/>
                          <a:latin typeface="Inter"/>
                        </a:rPr>
                        <a:t>temp_workers</a:t>
                      </a:r>
                      <a:r>
                        <a:rPr lang="de-DE" sz="806" b="0" i="0" u="none" strike="noStrike" noProof="0">
                          <a:solidFill>
                            <a:srgbClr val="1B4528"/>
                          </a:solidFill>
                          <a:effectLst/>
                          <a:latin typeface="Inter"/>
                        </a:rPr>
                        <a:t>}}</a:t>
                      </a:r>
                      <a:endParaRPr lang="de-DE"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de-DE" sz="806" b="0" i="0" u="none" strike="noStrike" noProof="0">
                <a:solidFill>
                  <a:schemeClr val="tx2"/>
                </a:solidFill>
                <a:effectLst/>
                <a:latin typeface="Inter"/>
              </a:rPr>
              <a:t xml:space="preserve">Die nachstehenden Informationen wurden ausgefüllt, um über die Anzahl der Selbstständigen und Zeitarbeitskräfte des Unternehmens zu informieren.</a:t>
            </a:r>
            <a:endParaRPr lang="de-DE" sz="806"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a:solidFill>
                  <a:srgbClr val="1B4528"/>
                </a:solidFill>
                <a:latin typeface="+mn-lt"/>
                <a:ea typeface="+mn-ea"/>
                <a:cs typeface="+mn-cs"/>
              </a:rPr>
              <a:t xml:space="preserve">Menschenrechtsrichtlinien und -prozesse (C6</a:t>
            </a:r>
            <a:r>
              <a:rPr lang="de-DE"/>
              <a:t xml:space="preserve">) - Eigene Arbeitskräfte</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kern="1200" noProof="0">
                          <a:solidFill>
                            <a:srgbClr val="1B4528"/>
                          </a:solidFill>
                          <a:latin typeface="+mn-lt"/>
                          <a:ea typeface="+mn-ea"/>
                          <a:cs typeface="+mn-cs"/>
                        </a:rPr>
                        <a:t>{{company_name}}</a:t>
                      </a:r>
                      <a:r>
                        <a:rPr lang="de-DE" sz="806" b="1" noProof="0">
                          <a:solidFill>
                            <a:schemeClr val="tx2"/>
                          </a:solidFill>
                        </a:rPr>
                        <a:t xml:space="preserve"> verfügt über </a:t>
                      </a:r>
                      <a:r>
                        <a:rPr lang="de-DE" sz="806" b="1" kern="1200" spc="-10" noProof="0">
                          <a:solidFill>
                            <a:schemeClr val="tx2"/>
                          </a:solidFill>
                          <a:latin typeface="+mn-lt"/>
                          <a:ea typeface="+mn-ea"/>
                          <a:cs typeface="+mn-cs"/>
                        </a:rPr>
                        <a:t xml:space="preserve">einen Verhaltenskodex </a:t>
                      </a:r>
                      <a:r>
                        <a:rPr lang="de-DE" sz="806" b="1" i="1" kern="1200" spc="-10" noProof="0">
                          <a:solidFill>
                            <a:schemeClr val="tx2"/>
                          </a:solidFill>
                          <a:latin typeface="+mn-lt"/>
                          <a:ea typeface="+mn-ea"/>
                          <a:cs typeface="+mn-cs"/>
                        </a:rPr>
                        <a:t xml:space="preserve">und/oder</a:t>
                      </a:r>
                      <a:r>
                        <a:rPr lang="de-DE" sz="806" b="1" kern="1200" spc="-10" noProof="0">
                          <a:solidFill>
                            <a:schemeClr val="tx2"/>
                          </a:solidFill>
                          <a:latin typeface="+mn-lt"/>
                          <a:ea typeface="+mn-ea"/>
                          <a:cs typeface="+mn-cs"/>
                        </a:rPr>
                        <a:t xml:space="preserve"> Richtlinien für die Achtung der Menschenrechte für unsere </a:t>
                      </a:r>
                      <a:r>
                        <a:rPr lang="de-DE" sz="806" b="1" u="sng" kern="1200" spc="-10" noProof="0">
                          <a:solidFill>
                            <a:schemeClr val="tx2"/>
                          </a:solidFill>
                          <a:latin typeface="+mn-lt"/>
                          <a:ea typeface="+mn-ea"/>
                          <a:cs typeface="+mn-cs"/>
                        </a:rPr>
                        <a:t xml:space="preserve">eigenen Arbeitskräfte</a:t>
                      </a:r>
                      <a:r>
                        <a:rPr lang="de-DE" sz="806" b="0" u="none" kern="1200" spc="-10" noProof="0">
                          <a:solidFill>
                            <a:schemeClr val="tx2"/>
                          </a:solidFill>
                          <a:latin typeface="+mn-lt"/>
                          <a:ea typeface="+mn-ea"/>
                          <a:cs typeface="+mn-cs"/>
                        </a:rPr>
                        <a:t xml:space="preserve"> (Nr. 61a)</a:t>
                      </a:r>
                      <a:endParaRPr lang="de-DE" sz="806"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806" b="0" noProof="0">
                          <a:solidFill>
                            <a:srgbClr val="1B4528"/>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de-DE" sz="806" b="1" kern="1200" noProof="0">
                          <a:solidFill>
                            <a:schemeClr val="tx1"/>
                          </a:solidFill>
                          <a:latin typeface="+mn-lt"/>
                          <a:ea typeface="+mn-ea"/>
                          <a:cs typeface="+mn-cs"/>
                        </a:rPr>
                        <a:t xml:space="preserve">Der Verhaltenskodex bzw. die Menschenrechtsrichtlinien decken folgende Aspekte ab: </a:t>
                      </a:r>
                      <a:r>
                        <a:rPr lang="de-DE" sz="806" b="0" u="none" kern="1200" spc="-10" noProof="0">
                          <a:solidFill>
                            <a:schemeClr val="tx2"/>
                          </a:solidFill>
                          <a:latin typeface="+mn-lt"/>
                          <a:ea typeface="+mn-ea"/>
                          <a:cs typeface="+mn-cs"/>
                        </a:rPr>
                        <a:t xml:space="preserve">(Nr. 61b)</a:t>
                      </a:r>
                      <a:endParaRPr lang="de-DE" sz="806"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5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de-DE" sz="806" b="0" noProof="0">
                          <a:solidFill>
                            <a:schemeClr val="tx2"/>
                          </a:solidFill>
                        </a:rPr>
                        <a:t xml:space="preserve">Kinderarbeit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{{child_labour_polict?}}</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de-DE" sz="806" b="0" noProof="0">
                          <a:solidFill>
                            <a:schemeClr val="tx2"/>
                          </a:solidFill>
                        </a:rPr>
                        <a:t xml:space="preserve">Zwangsarbeit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{{forced_labour_policy?}}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de-DE" sz="806" b="0" noProof="0">
                          <a:solidFill>
                            <a:schemeClr val="tx2"/>
                          </a:solidFill>
                        </a:rPr>
                        <a:t xml:space="preserve">Menschenhandel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{{human_policy?}}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de-DE" sz="806" b="0" noProof="0">
                          <a:solidFill>
                            <a:schemeClr val="tx2"/>
                          </a:solidFill>
                        </a:rPr>
                        <a:t xml:space="preserve">Diskriminierung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{{discrimanation_policy?}}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de-DE" sz="806" b="0" noProof="0">
                          <a:solidFill>
                            <a:schemeClr val="tx2"/>
                          </a:solidFill>
                        </a:rPr>
                        <a:t xml:space="preserve">Sicherheit und Unfallverhütung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{{safety_policy?}}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de-DE" sz="806" b="0" noProof="0">
                          <a:solidFill>
                            <a:schemeClr val="tx2"/>
                          </a:solidFill>
                        </a:rPr>
                        <a:t xml:space="preserve">Sonstiges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{{other_policy?}}</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de-DE" sz="806" b="1" noProof="0">
                          <a:solidFill>
                            <a:schemeClr val="tx2"/>
                          </a:solidFill>
                        </a:rPr>
                        <a:t xml:space="preserve">Falls ja zu ”Sonstiges”, bitte ausführen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de-DE" sz="806" b="0" noProof="0" dirty="0">
                        <a:solidFill>
                          <a:schemeClr val="tx2"/>
                        </a:solidFill>
                      </a:endParaRPr>
                    </a:p>
                    <a:p>
                      <a:pPr lvl="0" algn="r">
                        <a:lnSpc>
                          <a:spcPct val="100000"/>
                        </a:lnSpc>
                        <a:spcBef>
                          <a:spcPts val="0"/>
                        </a:spcBef>
                        <a:spcAft>
                          <a:spcPts val="0"/>
                        </a:spcAft>
                        <a:buNone/>
                      </a:pPr>
                      <a:r>
                        <a:rPr lang="de-DE" sz="806" b="0" i="0" u="none" strike="noStrike" kern="1200" noProof="0">
                          <a:solidFill>
                            <a:srgbClr val="1B4528"/>
                          </a:solidFill>
                          <a:latin typeface="Inter"/>
                          <a:ea typeface="+mn-ea"/>
                          <a:cs typeface="+mn-cs"/>
                        </a:rPr>
                        <a:t>{{C6_other_description}}</a:t>
                      </a:r>
                      <a:endParaRPr lang="de-DE" sz="806" b="0" i="0" u="none" strike="noStrike" kern="1200" noProof="0" dirty="0">
                        <a:solidFill>
                          <a:srgbClr val="000000"/>
                        </a:solidFill>
                        <a:latin typeface="Inter"/>
                        <a:ea typeface="+mn-ea"/>
                        <a:cs typeface="+mn-cs"/>
                      </a:endParaRPr>
                    </a:p>
                    <a:p>
                      <a:endParaRPr lang="de-DE" sz="806"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e-DE"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de-DE" sz="806" b="1" noProof="0">
                          <a:solidFill>
                            <a:schemeClr val="tx2"/>
                          </a:solidFill>
                        </a:rPr>
                        <a:t xml:space="preserve">Das Unternehmen verfügt über ein Verfahren zur Bearbeitung von Beschwerden unserer </a:t>
                      </a:r>
                      <a:r>
                        <a:rPr lang="de-DE" sz="806" b="1" u="sng" noProof="0">
                          <a:solidFill>
                            <a:schemeClr val="tx2"/>
                          </a:solidFill>
                        </a:rPr>
                        <a:t xml:space="preserve">eigenen Arbeitskräfte</a:t>
                      </a:r>
                      <a:r>
                        <a:rPr lang="de-DE" sz="806" b="0" u="sng" noProof="0">
                          <a:solidFill>
                            <a:schemeClr val="tx2"/>
                          </a:solidFill>
                        </a:rPr>
                        <a:t> </a:t>
                      </a:r>
                      <a:r>
                        <a:rPr lang="de-DE" sz="806" b="0" noProof="0">
                          <a:solidFill>
                            <a:schemeClr val="tx2"/>
                          </a:solidFill>
                        </a:rPr>
                        <a:t xml:space="preserve">(Nr.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806" b="0" noProof="0">
                          <a:solidFill>
                            <a:srgbClr val="1B4528"/>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de-DE" sz="806" b="0" i="0" u="none" strike="noStrike" noProof="0">
                <a:solidFill>
                  <a:schemeClr val="tx2"/>
                </a:solidFill>
                <a:effectLst/>
                <a:latin typeface="Inter"/>
              </a:rPr>
              <a:t xml:space="preserve">Nachstehend sind </a:t>
            </a:r>
            <a:r>
              <a:rPr lang="de-DE" sz="806" noProof="0">
                <a:solidFill>
                  <a:schemeClr val="tx2"/>
                </a:solidFill>
                <a:latin typeface="Inter"/>
              </a:rPr>
              <a:t xml:space="preserve">Informationen über </a:t>
            </a:r>
            <a:r>
              <a:rPr lang="de-DE" sz="806" b="0" i="0" u="none" strike="noStrike" noProof="0">
                <a:solidFill>
                  <a:schemeClr val="tx2"/>
                </a:solidFill>
                <a:effectLst/>
                <a:latin typeface="Inter"/>
              </a:rPr>
              <a:t xml:space="preserve">den Verhaltenskodex und/oder die Menschenrechtsrichtlinien des Unternehmens für die eigenen Arbeitskräft</a:t>
            </a:r>
            <a:r>
              <a:rPr lang="de-DE" sz="806" noProof="0">
                <a:solidFill>
                  <a:schemeClr val="tx2"/>
                </a:solidFill>
                <a:latin typeface="Inter"/>
              </a:rPr>
              <a:t xml:space="preserve">e angegeben. Ebenso wird angegeben, ob das Unternehmen über ein Verfahren zur Bearbeitung von Beschwerden verfügt, das es den Beschäftigten ermöglicht, Sachverhalte im Zusammenhang mit Menschenrechtsverletzungen, Diskriminierung, Belästigung oder anderen kritikwürdigen Vorgängen zu melden.</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de-DE" sz="1327" b="1" i="0" u="none" strike="noStrike" kern="1200" spc="-10" noProof="0">
                <a:solidFill>
                  <a:srgbClr val="1B4528"/>
                </a:solidFill>
                <a:latin typeface="+mn-lt"/>
                <a:ea typeface="+mn-ea"/>
                <a:cs typeface="+mn-cs"/>
              </a:rPr>
              <a:t xml:space="preserve">Schwerwiegende negative Vorfälle im Zusammenhang mit Menschenrechten (C7</a:t>
            </a:r>
            <a:r>
              <a:rPr lang="de-DE" noProof="0"/>
              <a:t xml:space="preserve">) – Eigene Arbeitskräfte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17</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de-DE" sz="877" b="1" kern="1200" spc="-10" noProof="0">
                          <a:solidFill>
                            <a:schemeClr val="tx2"/>
                          </a:solidFill>
                          <a:latin typeface="+mn-lt"/>
                          <a:ea typeface="+mn-ea"/>
                          <a:cs typeface="+mn-cs"/>
                        </a:rPr>
                        <a:t xml:space="preserve">Sind unter den </a:t>
                      </a:r>
                      <a:r>
                        <a:rPr lang="de-DE" sz="877" b="1" u="sng" kern="1200" spc="-10" noProof="0">
                          <a:solidFill>
                            <a:schemeClr val="tx2"/>
                          </a:solidFill>
                          <a:latin typeface="+mn-lt"/>
                          <a:ea typeface="+mn-ea"/>
                          <a:cs typeface="+mn-cs"/>
                        </a:rPr>
                        <a:t xml:space="preserve">eigenen Arbeitskräften</a:t>
                      </a:r>
                      <a:r>
                        <a:rPr lang="de-DE" sz="877" b="1" u="none" kern="1200" spc="-10" noProof="0">
                          <a:solidFill>
                            <a:schemeClr val="tx2"/>
                          </a:solidFill>
                          <a:latin typeface="+mn-lt"/>
                          <a:ea typeface="+mn-ea"/>
                          <a:cs typeface="+mn-cs"/>
                        </a:rPr>
                        <a:t xml:space="preserve"> des Unternehmens </a:t>
                      </a:r>
                      <a:r>
                        <a:rPr lang="de-DE" sz="877" b="1" kern="1200" spc="-10" noProof="0">
                          <a:solidFill>
                            <a:schemeClr val="tx2"/>
                          </a:solidFill>
                          <a:latin typeface="+mn-lt"/>
                          <a:ea typeface="+mn-ea"/>
                          <a:cs typeface="+mn-cs"/>
                        </a:rPr>
                        <a:t xml:space="preserve">bestätigte negative Vorfälle im Zusammenhang mit Folgendem aufgetreten </a:t>
                      </a:r>
                      <a:r>
                        <a:rPr lang="de-DE" sz="877" b="0" kern="1200" spc="-10" noProof="0">
                          <a:solidFill>
                            <a:schemeClr val="tx2"/>
                          </a:solidFill>
                          <a:latin typeface="+mn-lt"/>
                          <a:ea typeface="+mn-ea"/>
                          <a:cs typeface="+mn-cs"/>
                        </a:rPr>
                        <a:t xml:space="preserve">(Nr.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50"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de-DE" sz="877" b="1" kern="1200" spc="-10" noProof="0">
                          <a:solidFill>
                            <a:schemeClr val="tx2"/>
                          </a:solidFill>
                          <a:latin typeface="+mn-lt"/>
                          <a:ea typeface="+mn-ea"/>
                          <a:cs typeface="+mn-cs"/>
                        </a:rPr>
                        <a:t xml:space="preserve">Kinderarbeit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rgbClr val="1B4528"/>
                          </a:solidFill>
                        </a:rPr>
                        <a:t>{{child_labour_yes?}}</a:t>
                      </a:r>
                      <a:endParaRPr lang="de-DE"/>
                    </a:p>
                    <a:p>
                      <a:pPr lvl="0" algn="l">
                        <a:lnSpc>
                          <a:spcPct val="100000"/>
                        </a:lnSpc>
                        <a:spcBef>
                          <a:spcPts val="0"/>
                        </a:spcBef>
                        <a:spcAft>
                          <a:spcPts val="0"/>
                        </a:spcAft>
                        <a:buNone/>
                      </a:pPr>
                      <a:r>
                        <a:rPr lang="de-DE" sz="877" b="0" i="0" u="none" strike="noStrike" noProof="0">
                          <a:solidFill>
                            <a:srgbClr val="1B4528"/>
                          </a:solidFill>
                        </a:rPr>
                        <a:t>{{child_labour_desc}}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de-DE" sz="877" b="1" kern="1200" spc="-10" noProof="0">
                          <a:solidFill>
                            <a:schemeClr val="tx2"/>
                          </a:solidFill>
                          <a:latin typeface="+mn-lt"/>
                          <a:ea typeface="+mn-ea"/>
                          <a:cs typeface="+mn-cs"/>
                        </a:rPr>
                        <a:t xml:space="preserve">Zwangsarbeit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rgbClr val="1B4528"/>
                          </a:solidFill>
                        </a:rPr>
                        <a:t>{{forced_labour_yes?}}</a:t>
                      </a:r>
                      <a:endParaRPr lang="de-DE"/>
                    </a:p>
                    <a:p>
                      <a:pPr lvl="0" algn="l" defTabSz="914400">
                        <a:lnSpc>
                          <a:spcPct val="100000"/>
                        </a:lnSpc>
                        <a:spcBef>
                          <a:spcPts val="0"/>
                        </a:spcBef>
                        <a:spcAft>
                          <a:spcPts val="0"/>
                        </a:spcAft>
                        <a:buNone/>
                        <a:tabLst/>
                        <a:defRPr/>
                      </a:pPr>
                      <a:r>
                        <a:rPr lang="de-DE" sz="877" b="0" i="0" u="none" strike="noStrike" noProof="0">
                          <a:solidFill>
                            <a:srgbClr val="1B4528"/>
                          </a:solidFill>
                        </a:rPr>
                        <a:t>{{forced_labour_desc}}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de-DE" sz="877" b="1" kern="1200" spc="-10" noProof="0">
                          <a:solidFill>
                            <a:schemeClr val="tx2"/>
                          </a:solidFill>
                          <a:latin typeface="+mn-lt"/>
                          <a:ea typeface="+mn-ea"/>
                          <a:cs typeface="+mn-cs"/>
                        </a:rPr>
                        <a:t xml:space="preserve">Menschenhandel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rgbClr val="1B4528"/>
                          </a:solidFill>
                        </a:rPr>
                        <a:t>{{human_trafficking_yes?}}</a:t>
                      </a:r>
                      <a:endParaRPr lang="de-DE"/>
                    </a:p>
                    <a:p>
                      <a:pPr lvl="0" algn="l" defTabSz="914400">
                        <a:lnSpc>
                          <a:spcPct val="100000"/>
                        </a:lnSpc>
                        <a:spcBef>
                          <a:spcPts val="0"/>
                        </a:spcBef>
                        <a:spcAft>
                          <a:spcPts val="0"/>
                        </a:spcAft>
                        <a:buNone/>
                        <a:tabLst/>
                        <a:defRPr/>
                      </a:pPr>
                      <a:r>
                        <a:rPr lang="de-DE" sz="877" b="0" i="0" u="none" strike="noStrike" noProof="0">
                          <a:solidFill>
                            <a:srgbClr val="1B4528"/>
                          </a:solidFill>
                        </a:rPr>
                        <a:t>{{human_trafficking_desc}}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de-DE" sz="877" b="1" kern="1200" spc="-10" noProof="0">
                          <a:solidFill>
                            <a:schemeClr val="tx2"/>
                          </a:solidFill>
                          <a:latin typeface="+mn-lt"/>
                          <a:ea typeface="+mn-ea"/>
                          <a:cs typeface="+mn-cs"/>
                        </a:rPr>
                        <a:t xml:space="preserve">Diskriminierung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rgbClr val="1B4528"/>
                          </a:solidFill>
                        </a:rPr>
                        <a:t>{{discrimination_yes?}}</a:t>
                      </a:r>
                      <a:endParaRPr lang="de-DE"/>
                    </a:p>
                    <a:p>
                      <a:pPr lvl="0" algn="l" defTabSz="914400">
                        <a:lnSpc>
                          <a:spcPct val="100000"/>
                        </a:lnSpc>
                        <a:spcBef>
                          <a:spcPts val="0"/>
                        </a:spcBef>
                        <a:spcAft>
                          <a:spcPts val="0"/>
                        </a:spcAft>
                        <a:buNone/>
                        <a:tabLst/>
                        <a:defRPr/>
                      </a:pPr>
                      <a:r>
                        <a:rPr lang="de-DE" sz="877" b="0" i="0" u="none" strike="noStrike" noProof="0">
                          <a:solidFill>
                            <a:srgbClr val="1B4528"/>
                          </a:solidFill>
                        </a:rPr>
                        <a:t>{{discrimination_desc}}</a:t>
                      </a:r>
                      <a:endParaRPr lang="de-DE"/>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de-DE" sz="877" b="1" kern="1200" spc="-10" noProof="0">
                          <a:solidFill>
                            <a:schemeClr val="tx2"/>
                          </a:solidFill>
                          <a:latin typeface="+mn-lt"/>
                          <a:ea typeface="+mn-ea"/>
                          <a:cs typeface="+mn-cs"/>
                        </a:rPr>
                        <a:t xml:space="preserve">Sonstiges </a:t>
                      </a:r>
                      <a:endParaRPr lang="de-DE"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e-DE" sz="877" b="0" i="0" u="none" strike="noStrike" noProof="0">
                          <a:solidFill>
                            <a:srgbClr val="1B4528"/>
                          </a:solidFill>
                          <a:latin typeface="IBM Plex Sans"/>
                          <a:cs typeface="Calibri"/>
                        </a:rPr>
                        <a:t>{{other</a:t>
                      </a:r>
                      <a:r>
                        <a:rPr lang="de-DE" sz="877" b="0" i="0" u="none" strike="noStrike" noProof="0">
                          <a:solidFill>
                            <a:srgbClr val="1B4528"/>
                          </a:solidFill>
                          <a:latin typeface="IBM Plex Sans"/>
                        </a:rPr>
                        <a:t>_yes?}}</a:t>
                      </a:r>
                      <a:endParaRPr lang="de-DE" sz="877"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de-DE" sz="877" b="0" i="0" u="none" strike="noStrike" noProof="0">
                          <a:solidFill>
                            <a:srgbClr val="1B4528"/>
                          </a:solidFill>
                          <a:latin typeface="IBM Plex Sans"/>
                        </a:rPr>
                        <a:t>{{other_desc}}</a:t>
                      </a:r>
                      <a:endParaRPr lang="de-DE" sz="877"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de-DE" sz="877" b="0" i="0" u="none" strike="noStrike" noProof="0">
                <a:solidFill>
                  <a:schemeClr val="tx2"/>
                </a:solidFill>
                <a:effectLst/>
                <a:latin typeface="Inter"/>
              </a:rPr>
              <a:t xml:space="preserve">Die folgenden Angabepflichten betreffen die Berichterstattung des Unternehmens über negative Vorfälle im Zusammenhang mit Kinderarbeit, Zwangsarbeit, Menschenhandel und Diskriminierung. In diesem Abschnitt gibt das Unternehmen an, ob sich das Vorstehende auf die eigenen Arbeitskräfte bezieht.</a:t>
            </a:r>
            <a:endParaRPr lang="de-DE" sz="877" b="0" noProof="0">
              <a:solidFill>
                <a:schemeClr val="tx2"/>
              </a:solidFill>
              <a:effectLst/>
              <a:latin typeface="Inter"/>
            </a:endParaRPr>
          </a:p>
          <a:p>
            <a:pPr>
              <a:buNone/>
            </a:pPr>
            <a:br>
              <a:rPr lang="de-DE" sz="877" noProof="0">
                <a:solidFill>
                  <a:schemeClr val="tx2"/>
                </a:solidFill>
                <a:latin typeface="Inter"/>
              </a:rPr>
            </a:br>
            <a:endParaRPr lang="de-DE" sz="877"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de-DE">
                <a:solidFill>
                  <a:srgbClr val="1B4528"/>
                </a:solidFill>
                <a:latin typeface="+mn-lt"/>
                <a:ea typeface="+mn-ea"/>
                <a:cs typeface="+mn-cs"/>
              </a:rPr>
              <a:t xml:space="preserve">Schwerwiegende negative Vorfälle im Zusammenhang mit Menschenrechten (C7</a:t>
            </a:r>
            <a:r>
              <a:rPr lang="de-DE"/>
              <a:t xml:space="preserve">) – In der Wertschöpfungskette</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de-DE" sz="877" b="1" kern="1200" spc="-10" noProof="0">
                          <a:solidFill>
                            <a:schemeClr val="tx2"/>
                          </a:solidFill>
                          <a:latin typeface="+mn-lt"/>
                          <a:ea typeface="+mn-ea"/>
                          <a:cs typeface="+mn-cs"/>
                        </a:rPr>
                        <a:t xml:space="preserve">Sind dem Unternehmen bestätigte negative Vorfälle im Zusammenhang mit Menschenrechten in </a:t>
                      </a:r>
                      <a:r>
                        <a:rPr lang="de-DE" sz="877" b="1" kern="1200" noProof="0">
                          <a:solidFill>
                            <a:srgbClr val="1B4528"/>
                          </a:solidFill>
                          <a:latin typeface="+mn-lt"/>
                          <a:ea typeface="+mn-ea"/>
                          <a:cs typeface="+mn-cs"/>
                        </a:rPr>
                        <a:t>{{company_name}}’s</a:t>
                      </a:r>
                      <a:r>
                        <a:rPr lang="de-DE" sz="877" b="1" kern="1200" noProof="0">
                          <a:solidFill>
                            <a:schemeClr val="tx2"/>
                          </a:solidFill>
                          <a:latin typeface="+mn-lt"/>
                          <a:ea typeface="+mn-ea"/>
                          <a:cs typeface="+mn-cs"/>
                        </a:rPr>
                        <a:t> </a:t>
                      </a:r>
                      <a:r>
                        <a:rPr lang="de-DE" sz="877" b="1" kern="1200" spc="-10" noProof="0">
                          <a:solidFill>
                            <a:schemeClr val="tx2"/>
                          </a:solidFill>
                          <a:latin typeface="+mn-lt"/>
                          <a:ea typeface="+mn-ea"/>
                          <a:cs typeface="+mn-cs"/>
                        </a:rPr>
                        <a:t xml:space="preserve">Wertschöpfungskette bekannt </a:t>
                      </a:r>
                      <a:r>
                        <a:rPr lang="de-DE" sz="877" b="0" kern="1200" spc="-10" noProof="0">
                          <a:solidFill>
                            <a:schemeClr val="tx2"/>
                          </a:solidFill>
                          <a:latin typeface="+mn-lt"/>
                          <a:ea typeface="+mn-ea"/>
                          <a:cs typeface="+mn-cs"/>
                        </a:rPr>
                        <a:t xml:space="preserve">(Nr.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50"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de-DE" sz="877" b="1" kern="1200" spc="-10" noProof="0">
                          <a:solidFill>
                            <a:schemeClr val="tx2"/>
                          </a:solidFill>
                          <a:latin typeface="+mn-lt"/>
                          <a:ea typeface="+mn-ea"/>
                          <a:cs typeface="+mn-cs"/>
                        </a:rPr>
                        <a:t xml:space="preserve">Arbeitskräfte in der Wertschöpfungs­kette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de-DE" sz="877" b="0" i="0" u="none" strike="noStrike" noProof="0">
                          <a:solidFill>
                            <a:srgbClr val="1B4528"/>
                          </a:solidFill>
                          <a:effectLst/>
                          <a:latin typeface="Inter"/>
                        </a:rPr>
                        <a:t>{{incidents_workers_value_chain}}</a:t>
                      </a:r>
                      <a:endParaRPr lang="de-DE" sz="877" noProof="0">
                        <a:solidFill>
                          <a:srgbClr val="1B4528"/>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de-DE" sz="877" b="1" kern="1200" spc="-10" noProof="0">
                          <a:solidFill>
                            <a:schemeClr val="tx2"/>
                          </a:solidFill>
                          <a:latin typeface="+mn-lt"/>
                          <a:ea typeface="+mn-ea"/>
                          <a:cs typeface="+mn-cs"/>
                        </a:rPr>
                        <a:t xml:space="preserve">Betroffene Gemeinschaften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de-DE" sz="877" b="0" i="0" u="none" strike="noStrike" noProof="0">
                          <a:solidFill>
                            <a:srgbClr val="1B4528"/>
                          </a:solidFill>
                          <a:effectLst/>
                          <a:latin typeface="Inter"/>
                        </a:rPr>
                        <a:t>{{incidents_affected_communities}}</a:t>
                      </a:r>
                      <a:endParaRPr lang="de-DE" sz="877" kern="1200" noProof="0">
                        <a:solidFill>
                          <a:srgbClr val="1B4528"/>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de-DE" sz="877" b="1" kern="1200" spc="-10" noProof="0">
                          <a:solidFill>
                            <a:schemeClr val="tx2"/>
                          </a:solidFill>
                          <a:latin typeface="+mn-lt"/>
                          <a:ea typeface="+mn-ea"/>
                          <a:cs typeface="+mn-cs"/>
                        </a:rPr>
                        <a:t xml:space="preserve">Verbraucher und Endnutzer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de-DE" sz="877" b="0" i="0" u="none" strike="noStrike" noProof="0">
                          <a:solidFill>
                            <a:srgbClr val="1B4528"/>
                          </a:solidFill>
                          <a:effectLst/>
                          <a:latin typeface="Inter"/>
                        </a:rPr>
                        <a:t>{{</a:t>
                      </a:r>
                      <a:r>
                        <a:rPr lang="de-DE" sz="877" b="0" i="0" u="none" strike="noStrike" noProof="0">
                          <a:solidFill>
                            <a:srgbClr val="1B4528"/>
                          </a:solidFill>
                          <a:effectLst/>
                          <a:latin typeface="Inter"/>
                        </a:rPr>
                        <a:t>incidents_consumers</a:t>
                      </a:r>
                      <a:r>
                        <a:rPr lang="de-DE" sz="877" b="0" i="0" u="none" strike="noStrike" noProof="0">
                          <a:solidFill>
                            <a:srgbClr val="1B4528"/>
                          </a:solidFill>
                          <a:effectLst/>
                          <a:latin typeface="Inter"/>
                        </a:rPr>
                        <a:t>}}</a:t>
                      </a:r>
                      <a:endParaRPr lang="de-DE" sz="877"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de-DE" sz="877" b="0" i="0" u="none" strike="noStrike" noProof="0">
                <a:solidFill>
                  <a:schemeClr val="tx2"/>
                </a:solidFill>
                <a:effectLst/>
                <a:latin typeface="Inter"/>
              </a:rPr>
              <a:t xml:space="preserve">Nachstehend sind </a:t>
            </a:r>
            <a:r>
              <a:rPr lang="de-DE" sz="877" noProof="0">
                <a:solidFill>
                  <a:schemeClr val="tx2"/>
                </a:solidFill>
                <a:latin typeface="Inter"/>
              </a:rPr>
              <a:t xml:space="preserve">Informationen über </a:t>
            </a:r>
            <a:r>
              <a:rPr lang="de-DE" sz="877" b="0" i="0" u="none" strike="noStrike" noProof="0">
                <a:solidFill>
                  <a:schemeClr val="tx2"/>
                </a:solidFill>
                <a:effectLst/>
                <a:latin typeface="Inter"/>
              </a:rPr>
              <a:t xml:space="preserve">die Kenntnis des Unternehmens von bestätigten negativen Vorfällen im Zusammenhang mit Menschenrechten in der Wertschöpfungskette des Unternehmens angegeben.</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de-DE" sz="1475" b="1" i="0" u="none" strike="noStrike" kern="1200" spc="-10" noProof="0">
                <a:solidFill>
                  <a:srgbClr val="1B4528"/>
                </a:solidFill>
              </a:rPr>
              <a:t xml:space="preserve">Umsatzerlöse aus bestimmten Tätigkeiten (C8)</a:t>
            </a:r>
            <a:endParaRPr lang="de-DE"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18</a:t>
            </a:fld>
            <a:endParaRPr lang="de-DE"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Umsatzerlöse aus bestimmten Sektoren</a:t>
                      </a:r>
                      <a:r>
                        <a:rPr lang="de-DE" sz="975" b="0" kern="1200" spc="-10" noProof="0">
                          <a:solidFill>
                            <a:schemeClr val="tx2"/>
                          </a:solidFill>
                          <a:latin typeface="+mn-lt"/>
                          <a:ea typeface="+mn-ea"/>
                          <a:cs typeface="+mn-cs"/>
                        </a:rPr>
                        <a:t xml:space="preserve"> (Nr. 63 a-d)</a:t>
                      </a:r>
                    </a:p>
                    <a:p>
                      <a:pPr algn="l"/>
                      <a:endParaRPr lang="de-DE"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725"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de-DE"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e-DE" sz="975" b="1" i="0" u="none" strike="noStrike" noProof="0">
                          <a:solidFill>
                            <a:srgbClr val="1B4528"/>
                          </a:solidFill>
                          <a:effectLst/>
                          <a:latin typeface="IBM Plex Sans" panose="020B0503050203000203" pitchFamily="34" charset="0"/>
                        </a:rPr>
                        <a:t xml:space="preserve">Umsatzerlöse im Jahr </a:t>
                      </a:r>
                      <a:r>
                        <a:rPr lang="de-DE" sz="975" b="1" i="0" u="none" strike="noStrike" noProof="0">
                          <a:solidFill>
                            <a:srgbClr val="1B4528"/>
                          </a:solidFill>
                          <a:effectLst/>
                          <a:latin typeface="Inter"/>
                        </a:rPr>
                        <a:t>{{Insert year}}</a:t>
                      </a:r>
                      <a:endParaRPr lang="de-DE"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de-DE" sz="975" b="1" kern="1200" spc="-10" noProof="0">
                          <a:solidFill>
                            <a:schemeClr val="tx2"/>
                          </a:solidFill>
                          <a:latin typeface="+mn-lt"/>
                          <a:ea typeface="+mn-ea"/>
                          <a:cs typeface="+mn-cs"/>
                        </a:rPr>
                        <a:t xml:space="preserve">Umstrittene Waffen (Antipersonenminen, Streumunition, chemische und biologische Waffen)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{{revenue_weapons}}</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de-DE" sz="975" b="1" kern="1200" spc="-10" noProof="0">
                          <a:solidFill>
                            <a:schemeClr val="tx2"/>
                          </a:solidFill>
                          <a:latin typeface="+mn-lt"/>
                          <a:ea typeface="+mn-ea"/>
                          <a:cs typeface="+mn-cs"/>
                        </a:rPr>
                        <a:t xml:space="preserve">Anbau und/oder Produktion von Tabak</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{{revenue_cultivation}}</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de-DE" sz="975" b="1" kern="1200" spc="-10" noProof="0">
                          <a:solidFill>
                            <a:schemeClr val="tx2"/>
                          </a:solidFill>
                          <a:latin typeface="+mn-lt"/>
                          <a:ea typeface="+mn-ea"/>
                          <a:cs typeface="+mn-cs"/>
                        </a:rPr>
                        <a:t xml:space="preserve">Fossile Brennstoffe: Kohle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{{revenue_coal}}</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de-DE" sz="975" b="1" kern="1200" spc="-10" noProof="0">
                          <a:solidFill>
                            <a:schemeClr val="tx2"/>
                          </a:solidFill>
                          <a:latin typeface="+mn-lt"/>
                          <a:ea typeface="+mn-ea"/>
                          <a:cs typeface="+mn-cs"/>
                        </a:rPr>
                        <a:t xml:space="preserve">Fossile Brennstoffe: Erdöl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{{revenue_oil}}</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de-DE" sz="975" b="1" kern="1200" spc="-10" noProof="0">
                          <a:solidFill>
                            <a:schemeClr val="tx2"/>
                          </a:solidFill>
                          <a:latin typeface="+mn-lt"/>
                          <a:ea typeface="+mn-ea"/>
                          <a:cs typeface="+mn-cs"/>
                        </a:rPr>
                        <a:t xml:space="preserve">Fossile Brennstoffe: Gas/Erdgas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{{revenue_gas}}</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de-DE" sz="975" b="1" kern="1200" spc="-10" noProof="0">
                          <a:solidFill>
                            <a:schemeClr val="tx2"/>
                          </a:solidFill>
                          <a:latin typeface="+mn-lt"/>
                          <a:ea typeface="+mn-ea"/>
                          <a:cs typeface="+mn-cs"/>
                        </a:rPr>
                        <a:t xml:space="preserve">Herstellung von Chemikalien zur Produktion von Pestiziden und anderen agrochemischen Erzeugnissen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{{revenue_chemichal}}</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de-DE" sz="975" noProof="0">
                <a:solidFill>
                  <a:schemeClr val="tx2"/>
                </a:solidFill>
                <a:latin typeface="Inter"/>
              </a:rPr>
              <a:t xml:space="preserve">D</a:t>
            </a:r>
            <a:r>
              <a:rPr lang="de-DE" sz="975" b="0" i="0" u="none" strike="noStrike" noProof="0">
                <a:solidFill>
                  <a:schemeClr val="tx2"/>
                </a:solidFill>
                <a:effectLst/>
                <a:latin typeface="Inter"/>
              </a:rPr>
              <a:t xml:space="preserve">as Unternehmen hat die Umsatzerlöse aus bestimmten Sektoren und die Beträge aus diesen Tätigkeiten angegeben.</a:t>
            </a:r>
            <a:endParaRPr lang="de-DE"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noProof="0">
                <a:solidFill>
                  <a:srgbClr val="1B4528"/>
                </a:solidFill>
              </a:rPr>
              <a:t xml:space="preserve">Geschlechtervielfalt im Leitungsorgan (C9)</a:t>
            </a:r>
            <a:endParaRPr lang="de-DE"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de-DE" sz="975" b="1" kern="1200" spc="-10" noProof="0">
                          <a:solidFill>
                            <a:schemeClr val="tx2"/>
                          </a:solidFill>
                          <a:latin typeface="+mj-lt"/>
                          <a:ea typeface="+mn-ea"/>
                          <a:cs typeface="+mn-cs"/>
                        </a:rPr>
                        <a:t xml:space="preserve">Das zahlenmäßige Verhältnis von Frauen zu Männern im Leitungsorgan (</a:t>
                      </a:r>
                      <a:r>
                        <a:rPr lang="de-DE" sz="975" b="0" kern="1200" spc="-10" noProof="0">
                          <a:solidFill>
                            <a:schemeClr val="tx2"/>
                          </a:solidFill>
                          <a:latin typeface="+mj-lt"/>
                          <a:ea typeface="+mn-ea"/>
                          <a:cs typeface="+mn-cs"/>
                        </a:rPr>
                        <a:t xml:space="preserve">Nr. 64</a:t>
                      </a:r>
                      <a:r>
                        <a:rPr lang="de-DE"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Jahr </a:t>
                      </a:r>
                      <a:r>
                        <a:rPr lang="de-DE" sz="975" b="1" i="0" u="none" strike="noStrike" noProof="0">
                          <a:solidFill>
                            <a:srgbClr val="1B4528"/>
                          </a:solidFill>
                          <a:effectLst/>
                          <a:latin typeface="Inter"/>
                        </a:rPr>
                        <a:t>{{Insert year}}</a:t>
                      </a:r>
                      <a:endParaRPr lang="de-DE"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e-DE"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a:r>
                        <a:rPr lang="de-DE" sz="975" b="0" noProof="0">
                          <a:solidFill>
                            <a:srgbClr val="1B4528"/>
                          </a:solidFill>
                        </a:rPr>
                        <a:t>{{</a:t>
                      </a:r>
                      <a:r>
                        <a:rPr lang="de-DE" sz="975" b="0" i="0" u="none" strike="noStrike" noProof="0">
                          <a:solidFill>
                            <a:srgbClr val="1B4528"/>
                          </a:solidFill>
                          <a:latin typeface="IBM Plex Sans"/>
                        </a:rPr>
                        <a:t>gender_supreme_body</a:t>
                      </a:r>
                      <a:r>
                        <a:rPr lang="de-DE" sz="975" b="0" noProof="0">
                          <a:solidFill>
                            <a:srgbClr val="1B4528"/>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de-DE" b="0" noProof="0">
                <a:effectLst/>
              </a:rPr>
              <a:t> </a:t>
            </a:r>
            <a:endParaRPr lang="de-DE"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de-DE" sz="975" noProof="0">
                <a:solidFill>
                  <a:schemeClr val="tx2"/>
                </a:solidFill>
                <a:latin typeface="Inter"/>
              </a:rPr>
              <a:t xml:space="preserve">D</a:t>
            </a:r>
            <a:r>
              <a:rPr lang="de-DE" sz="975" b="0" i="0" u="none" strike="noStrike" noProof="0">
                <a:solidFill>
                  <a:schemeClr val="tx2"/>
                </a:solidFill>
                <a:effectLst/>
                <a:latin typeface="Inter"/>
              </a:rPr>
              <a:t xml:space="preserve">as Unternehmen hat das zahlenmäßige Verhältnis von Frauen zu Männern im Leitungsorgan angegeben.</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de-DE" sz="1475" b="1" noProof="0">
                <a:solidFill>
                  <a:srgbClr val="FFFFFF"/>
                </a:solidFill>
                <a:latin typeface="IBM Plex Sans" panose="020B0503050203000203" pitchFamily="34" charset="0"/>
              </a:rPr>
              <a:t>{{company_name}}</a:t>
            </a:r>
          </a:p>
          <a:p>
            <a:pPr algn="ctr"/>
            <a:r>
              <a:rPr lang="de-DE" sz="1475" b="1" noProof="0">
                <a:solidFill>
                  <a:srgbClr val="FFFFFF"/>
                </a:solidFill>
                <a:latin typeface="IBM Plex Sans" panose="020B0503050203000203" pitchFamily="34" charset="0"/>
              </a:rPr>
              <a:t>{{insert_year}}</a:t>
            </a:r>
            <a:br>
              <a:rPr lang="de-DE" sz="1475" b="1" noProof="0">
                <a:solidFill>
                  <a:srgbClr val="FFFFFF"/>
                </a:solidFill>
                <a:latin typeface="IBM Plex Sans" panose="020B0503050203000203" pitchFamily="34" charset="0"/>
              </a:rPr>
            </a:br>
            <a:endParaRPr lang="de-DE"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de-DE" noProof="0" smtClean="0"/>
              <a:pPr/>
              <a:t>19</a:t>
            </a:fld>
            <a:endParaRPr lang="de-DE"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