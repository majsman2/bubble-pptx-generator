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335" r:id="rId17"/>
    <p:sldId id="334" r:id="rId18"/>
    <p:sldId id="337" r:id="rId19"/>
    <p:sldId id="339" r:id="rId20"/>
    <p:sldId id="340" r:id="rId21"/>
    <p:sldId id="352" r:id="rId22"/>
    <p:sldId id="356" r:id="rId23"/>
    <p:sldId id="345" r:id="rId24"/>
    <p:sldId id="359" r:id="rId25"/>
    <p:sldId id="342" r:id="rId26"/>
    <p:sldId id="343" r:id="rId27"/>
    <p:sldId id="348" r:id="rId28"/>
    <p:sldId id="272" r:id="rId29"/>
  </p:sldIdLst>
  <p:sldSz cx="10692000" cy="7560000" type="A4"/>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 xml:space="preserve">06-08-2026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 xml:space="preserve">Κάντε κλικ για επεξεργασία των στυλ κειμένου του υποδείγματος</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 xml:space="preserve">‹#›</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4</a:t>
            </a:fld>
            <a:endParaRPr lang="el-GR"/>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Προστέθηκε</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στήλη</a:t>
            </a:r>
            <a:r>
              <a:rPr lang="en-GB" sz="1200" b="0" i="0" u="none" strike="noStrike" kern="1200">
                <a:solidFill>
                  <a:schemeClr val="tx1"/>
                </a:solidFill>
                <a:effectLst/>
                <a:latin typeface="IBM Plex Sans" panose="020B0503050203000203" pitchFamily="34" charset="0"/>
                <a:ea typeface="+mn-ea"/>
                <a:cs typeface="+mn-cs"/>
              </a:rPr>
              <a:t xml:space="preserve"> για </a:t>
            </a:r>
            <a:r>
              <a:rPr lang="en-GB" sz="1200" b="0" i="0" u="none" strike="noStrike" kern="1200" err="1">
                <a:solidFill>
                  <a:schemeClr val="tx1"/>
                </a:solidFill>
                <a:effectLst/>
                <a:latin typeface="IBM Plex Sans" panose="020B0503050203000203" pitchFamily="34" charset="0"/>
                <a:ea typeface="+mn-ea"/>
                <a:cs typeface="+mn-cs"/>
              </a:rPr>
              <a:t xml:space="preserve">παρακολούθηση</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5</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6</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7</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8</a:t>
            </a:fld>
            <a:endParaRPr lang="el-GR"/>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9</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10</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eaLnBrk="1" fontAlgn="ctr" latinLnBrk="0" hangingPunct="1"/>
            <a:r>
              <a:rPr lang="el-GR" b="0">
                <a:effectLst/>
              </a:rPr>
              <a:t xml:space="preserve">Αφαιρέθηκε: </a:t>
            </a:r>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women_gennemsnitstimer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other_gennemsnitstimer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11</a:t>
            </a:fld>
            <a:endParaRPr lang="el-GR"/>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12</a:t>
            </a:fld>
            <a:endParaRPr lang="el-GR"/>
          </a:p>
        </p:txBody>
      </p:sp>
    </p:spTree>
    <p:extLst>
      <p:ext uri="{BB962C8B-B14F-4D97-AF65-F5344CB8AC3E}">
        <p14:creationId xmlns:p14="http://schemas.microsoft.com/office/powerpoint/2010/main" val="3061253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13</a:t>
            </a:fld>
            <a:endParaRPr lang="el-GR"/>
          </a:p>
        </p:txBody>
      </p:sp>
    </p:spTree>
    <p:extLst>
      <p:ext uri="{BB962C8B-B14F-4D97-AF65-F5344CB8AC3E}">
        <p14:creationId xmlns:p14="http://schemas.microsoft.com/office/powerpoint/2010/main" val="3222916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14</a:t>
            </a:fld>
            <a:endParaRPr lang="el-GR"/>
          </a:p>
        </p:txBody>
      </p:sp>
    </p:spTree>
    <p:extLst>
      <p:ext uri="{BB962C8B-B14F-4D97-AF65-F5344CB8AC3E}">
        <p14:creationId xmlns:p14="http://schemas.microsoft.com/office/powerpoint/2010/main" val="19230645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15</a:t>
            </a:fld>
            <a:endParaRPr lang="el-GR"/>
          </a:p>
        </p:txBody>
      </p:sp>
    </p:spTree>
    <p:extLst>
      <p:ext uri="{BB962C8B-B14F-4D97-AF65-F5344CB8AC3E}">
        <p14:creationId xmlns:p14="http://schemas.microsoft.com/office/powerpoint/2010/main" val="31252046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16</a:t>
            </a:fld>
            <a:endParaRPr lang="el-GR"/>
          </a:p>
        </p:txBody>
      </p:sp>
    </p:spTree>
    <p:extLst>
      <p:ext uri="{BB962C8B-B14F-4D97-AF65-F5344CB8AC3E}">
        <p14:creationId xmlns:p14="http://schemas.microsoft.com/office/powerpoint/2010/main" val="36580621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17</a:t>
            </a:fld>
            <a:endParaRPr lang="el-GR"/>
          </a:p>
        </p:txBody>
      </p:sp>
    </p:spTree>
    <p:extLst>
      <p:ext uri="{BB962C8B-B14F-4D97-AF65-F5344CB8AC3E}">
        <p14:creationId xmlns:p14="http://schemas.microsoft.com/office/powerpoint/2010/main" val="38426451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18</a:t>
            </a:fld>
            <a:endParaRPr lang="el-GR"/>
          </a:p>
        </p:txBody>
      </p:sp>
    </p:spTree>
    <p:extLst>
      <p:ext uri="{BB962C8B-B14F-4D97-AF65-F5344CB8AC3E}">
        <p14:creationId xmlns:p14="http://schemas.microsoft.com/office/powerpoint/2010/main" val="29765479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19</a:t>
            </a:fld>
            <a:endParaRPr lang="el-GR"/>
          </a:p>
        </p:txBody>
      </p:sp>
    </p:spTree>
    <p:extLst>
      <p:ext uri="{BB962C8B-B14F-4D97-AF65-F5344CB8AC3E}">
        <p14:creationId xmlns:p14="http://schemas.microsoft.com/office/powerpoint/2010/main" val="29765479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Προστέθηκε από B8: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20</a:t>
            </a:fld>
            <a:endParaRPr lang="el-GR"/>
          </a:p>
        </p:txBody>
      </p:sp>
    </p:spTree>
    <p:extLst>
      <p:ext uri="{BB962C8B-B14F-4D97-AF65-F5344CB8AC3E}">
        <p14:creationId xmlns:p14="http://schemas.microsoft.com/office/powerpoint/2010/main" val="3942370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l-GR"/>
              <a:t xml:space="preserve">Αφαιρέθηκε: EU benchmark </a:t>
            </a:r>
            <a:r>
              <a:rPr lang="el-GR" err="1"/>
              <a:t xml:space="preserve">exclusion</a:t>
            </a:r>
            <a:endParaRPr lang="el-GR"/>
          </a:p>
          <a:p>
            <a:r>
              <a:rPr lang="el-GR"/>
              <a:t xml:space="preserve">Αφαιρέθηκε: </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23</a:t>
            </a:fld>
            <a:endParaRPr lang="el-GR"/>
          </a:p>
        </p:txBody>
      </p:sp>
    </p:spTree>
    <p:extLst>
      <p:ext uri="{BB962C8B-B14F-4D97-AF65-F5344CB8AC3E}">
        <p14:creationId xmlns:p14="http://schemas.microsoft.com/office/powerpoint/2010/main" val="2905105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15600" b="1" spc="-390" dirty="0">
                <a:solidFill>
                  <a:srgbClr val="FFFFFF"/>
                </a:solidFill>
                <a:latin typeface="+mn-lt"/>
              </a:rPr>
              <a:t>ESG</a:t>
            </a:r>
            <a:endParaRPr lang="en-GB" sz="15600" b="1" spc="-39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 xml:space="preserve">‹#›</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el-GR" noProof="0"/>
              <a:t xml:space="preserve">Κάντε κλικ για επεξεργασία των στυλ κειμένου του υποδείγματος</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el-GR" smtClean="0"/>
              <a:pPr/>
              <a:t xml:space="preserve">‹#›</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el-GR" noProof="0"/>
              <a:t xml:space="preserve">Κάντε κλικ για επεξεργασία του στυλ τίτλου</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el-GR"/>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el-GR" noProof="0"/>
              <a:t xml:space="preserve">ΕΚΘΕΣΗ ESG {{insert_year}}</a:t>
            </a:r>
            <a:r>
              <a:rPr lang="el-GR" noProof="0"/>
              <a:t xml:space="preserve"/>
            </a:r>
            <a:r>
              <a:rPr lang="el-GR"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el-GR" noProof="0"/>
              <a:t>{{</a:t>
            </a:r>
            <a:r>
              <a:rPr lang="el-GR" noProof="0"/>
              <a:t>company_name</a:t>
            </a:r>
            <a:r>
              <a:rPr lang="el-GR" noProof="0"/>
              <a:t>}}</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el-GR" noProof="0"/>
              <a:t xml:space="preserve">Έκθεση ESG</a:t>
            </a:r>
            <a:r>
              <a:rPr lang="el-GR" b="0" noProof="0">
                <a:solidFill>
                  <a:srgbClr val="1B4528"/>
                </a:solidFill>
                <a:ea typeface="+mn-ea"/>
                <a:cs typeface="+mn-cs"/>
              </a:rPr>
              <a:t> </a:t>
            </a:r>
            <a:br>
              <a:rPr lang="el-GR" b="0" noProof="0">
                <a:solidFill>
                  <a:srgbClr val="1B4528"/>
                </a:solidFill>
                <a:ea typeface="+mn-ea"/>
                <a:cs typeface="+mn-cs"/>
              </a:rPr>
            </a:br>
            <a:endParaRPr lang="el-G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el-GR" sz="1050" b="1" noProof="0">
              <a:latin typeface="+mj-lt"/>
            </a:endParaRPr>
          </a:p>
          <a:p>
            <a:pPr>
              <a:lnSpc>
                <a:spcPct val="150000"/>
              </a:lnSpc>
              <a:tabLst>
                <a:tab pos="251986" algn="l"/>
                <a:tab pos="409303" algn="l"/>
                <a:tab pos="3932930" algn="r"/>
              </a:tabLst>
            </a:pP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Γενικές πληροφορίες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Κατανάλωση ενέργειας				</a:t>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Εκπομπές CO₂e 				</a:t>
            </a:r>
            <a:r>
              <a:rPr lang="el-GR" sz="1050" b="1" noProof="0">
                <a:latin typeface="+mj-lt"/>
              </a:rPr>
              <a:t xml:space="preserve"/>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Ρύπανση αέρα, νερού και εδάφους</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Βιοποικιλότητα</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Νερό	</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Χρήση πόρων, κυκλική οικονομία και διαχείριση αποβλήτων</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γενικά χαρακτηριστικά</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υγεία και ασφάλεια</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Εργατικό δυναμικό: αμοιβές, συλλογικές συμβάσεις, κατάρτιση</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Επιχειρηματική δεοντολογία</a:t>
            </a:r>
            <a:r>
              <a:rPr lang="el-GR" sz="1050" noProof="0">
                <a:latin typeface="+mj-lt"/>
              </a:rPr>
              <a:t>	 			</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Στρατηγική: επιχειρηματικό μοντέλο και πρωτοβουλίες βιωσιμότητας</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Πρακτικές, πολιτικές και μελλοντικές πρωτοβουλίες για μετάβαση σε πιο βιώσιμη οικονομία</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Στόχοι μείωσης CO₂e</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Κλιματική μετάβαση</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Κλιματικοί κίνδυνοι</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Πρόσθετα (γενικά) χαρακτηριστικά του εργατικού δυναμικού</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Πολιτικές και διαδικασίες ανθρωπίνων δικαιωμάτων</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Σοβαρά αρνητικά περιστατικά ανθρωπίνων δικαιωμάτων</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Έσοδα από ορισμένες δραστηριότητες</a:t>
            </a:r>
            <a:endParaRPr lang="el-G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Έμφυλη πολυμορφία στο όργανο διοίκησης</a:t>
            </a:r>
            <a:endParaRPr lang="el-GR" sz="1050" noProof="0">
              <a:solidFill>
                <a:srgbClr val="1B4528"/>
              </a:solidFill>
              <a:latin typeface="+mj-lt"/>
            </a:endParaRPr>
          </a:p>
          <a:p>
            <a:pPr>
              <a:tabLst>
                <a:tab pos="251986" algn="l"/>
                <a:tab pos="409303" algn="l"/>
                <a:tab pos="3932930" algn="r"/>
              </a:tabLst>
            </a:pPr>
            <a:endParaRPr lang="el-GR" sz="1050"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el-GR" noProof="0"/>
              <a:t>{{</a:t>
            </a:r>
            <a:r>
              <a:rPr lang="el-GR" noProof="0"/>
              <a:t>company_name</a:t>
            </a:r>
            <a:r>
              <a:rPr lang="el-GR"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el-G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el-GR" sz="1050"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1050" b="0" kern="1200" spc="-10" noProof="0">
                          <a:solidFill>
                            <a:schemeClr val="tx2"/>
                          </a:solidFill>
                          <a:latin typeface="+mn-lt"/>
                          <a:ea typeface="+mn-ea"/>
                          <a:cs typeface="+mn-cs"/>
                        </a:rPr>
                        <a:t xml:space="preserve">(παρ. 27d)</a:t>
                      </a:r>
                      <a:endParaRPr lang="el-GR"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el-GR" sz="1050" b="1" kern="1200" spc="-10" noProof="0">
                          <a:solidFill>
                            <a:schemeClr val="tx2"/>
                          </a:solidFill>
                          <a:latin typeface="+mn-lt"/>
                          <a:ea typeface="+mn-ea"/>
                          <a:cs typeface="+mn-cs"/>
                        </a:rPr>
                        <a:t xml:space="preserve">Επωνυμία θυγατρικής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Έδρα θυγατρικής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lgn="l">
                        <a:buNone/>
                      </a:pPr>
                      <a:r>
                        <a:rPr lang="el-GR" sz="1050" b="0" i="0" u="none" strike="noStrike" noProof="0">
                          <a:solidFill>
                            <a:srgbClr val="1B4528"/>
                          </a:solidFill>
                          <a:effectLst/>
                          <a:latin typeface="Inter"/>
                        </a:rPr>
                        <a:t>{{subsidiary}}</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l-GR" sz="1050" b="0" i="0" u="none" strike="noStrike" noProof="0">
                          <a:solidFill>
                            <a:srgbClr val="1B4528"/>
                          </a:solidFill>
                          <a:effectLst/>
                          <a:latin typeface="Inter"/>
                        </a:rPr>
                        <a:t>{{subsidiary_address}}</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el-GR" sz="1050" b="1" noProof="0">
                          <a:solidFill>
                            <a:schemeClr val="tx2"/>
                          </a:solidFill>
                        </a:rPr>
                        <a:t xml:space="preserve">Ατομική ή ενοποιημένη αναφορά</a:t>
                      </a:r>
                      <a:r>
                        <a:rPr lang="el-GR" sz="1050" b="0" noProof="0">
                          <a:solidFill>
                            <a:schemeClr val="tx2"/>
                          </a:solidFill>
                        </a:rPr>
                        <a:t xml:space="preserve"> (παρ.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ατομική βάση </a:t>
                      </a:r>
                      <a:r>
                        <a:rPr lang="el-GR" sz="1050" b="0" kern="1200" spc="-10" noProof="0">
                          <a:solidFill>
                            <a:schemeClr val="tx2"/>
                          </a:solidFill>
                          <a:latin typeface="+mn-lt"/>
                          <a:ea typeface="+mn-ea"/>
                          <a:cs typeface="+mn-cs"/>
                        </a:rPr>
                        <a:t xml:space="preserve">(δηλ. δεν καλύπτει θυγατρικές)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yes_subsidiary</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ενοποιημένη βάση </a:t>
                      </a:r>
                      <a:r>
                        <a:rPr lang="el-GR" sz="1050" b="0" kern="1200" spc="-10" noProof="0">
                          <a:solidFill>
                            <a:schemeClr val="tx2"/>
                          </a:solidFill>
                          <a:latin typeface="+mn-lt"/>
                          <a:ea typeface="+mn-ea"/>
                          <a:cs typeface="+mn-cs"/>
                        </a:rPr>
                        <a:t xml:space="preserve">(δηλ. περιλαμβάνει τις θυγατρικές της επιχείρησης)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no_subsidiary</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el-GR" sz="1050" b="1" kern="1200" spc="-10" noProof="0">
                          <a:solidFill>
                            <a:schemeClr val="tx2"/>
                          </a:solidFill>
                          <a:latin typeface="+mn-lt"/>
                          <a:ea typeface="+mn-ea"/>
                          <a:cs typeface="+mn-cs"/>
                        </a:rPr>
                        <a:t xml:space="preserve">Βασική ενότητα ή Βασική ενότητα +</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(παρ. 27a)</a:t>
                      </a:r>
                      <a:r>
                        <a:rPr lang="el-GR" sz="1050" b="1" kern="1200" spc="-10" noProof="0">
                          <a:solidFill>
                            <a:schemeClr val="tx2"/>
                          </a:solidFill>
                          <a:latin typeface="+mn-lt"/>
                          <a:ea typeface="+mn-ea"/>
                          <a:cs typeface="+mn-cs"/>
                        </a:rPr>
                        <a:t>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του προαιρετικού προτύπου για τις ΜμΕ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basic_module</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και την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του προαιρετικού προτύπου για τις ΜμΕ</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comprehensive</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el-GR" sz="1050" b="1" kern="1200" spc="-10" noProof="0">
                          <a:solidFill>
                            <a:schemeClr val="tx2"/>
                          </a:solidFill>
                          <a:latin typeface="+mn-lt"/>
                          <a:ea typeface="+mn-ea"/>
                          <a:cs typeface="+mn-cs"/>
                        </a:rPr>
                        <a:t xml:space="preserve">Βασικές πληροφορίες για την επιχείρηση</a:t>
                      </a:r>
                      <a:r>
                        <a:rPr lang="el-GR" sz="1050" b="0" kern="1200" spc="-10" noProof="0">
                          <a:solidFill>
                            <a:schemeClr val="tx2"/>
                          </a:solidFill>
                          <a:latin typeface="+mn-lt"/>
                          <a:ea typeface="+mn-ea"/>
                          <a:cs typeface="+mn-cs"/>
                        </a:rPr>
                        <a:t xml:space="preserve"> (παρ.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el-GR" sz="1050" b="1" kern="1200" spc="-10" noProof="0">
                          <a:solidFill>
                            <a:schemeClr val="tx2"/>
                          </a:solidFill>
                          <a:latin typeface="+mn-lt"/>
                          <a:ea typeface="+mn-ea"/>
                          <a:cs typeface="+mn-cs"/>
                        </a:rPr>
                        <a:t xml:space="preserve">Νομική μορφή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{{branchekode}}</a:t>
                      </a:r>
                      <a:endParaRPr lang="el-GR"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Κωδικοί NACE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{{NACE}}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Ισολογισμός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{{balance}}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el-GR" sz="1050" b="1" kern="1200" spc="-10" noProof="0">
                          <a:solidFill>
                            <a:schemeClr val="tx2"/>
                          </a:solidFill>
                          <a:latin typeface="+mn-lt"/>
                          <a:ea typeface="+mn-ea"/>
                          <a:cs typeface="+mn-cs"/>
                        </a:rPr>
                        <a:t xml:space="preserve">Κύκλος εργασιών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{{revenue}}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el-GR" sz="1050" b="1" kern="1200" spc="-10" noProof="0">
                          <a:solidFill>
                            <a:schemeClr val="tx2"/>
                          </a:solidFill>
                          <a:latin typeface="+mn-lt"/>
                          <a:ea typeface="+mn-ea"/>
                          <a:cs typeface="+mn-cs"/>
                        </a:rPr>
                        <a:t xml:space="preserve">Εργαζόμενοι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1050" b="0" i="0" u="none" strike="noStrike" noProof="0">
                          <a:solidFill>
                            <a:srgbClr val="1B4528"/>
                          </a:solidFill>
                          <a:effectLst/>
                          <a:latin typeface="Inter"/>
                        </a:rPr>
                        <a:t>{{total_employees}}</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el-GR" sz="1050"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1050" b="0" kern="1200" spc="-10" noProof="0">
                          <a:solidFill>
                            <a:schemeClr val="tx2"/>
                          </a:solidFill>
                          <a:latin typeface="+mn-lt"/>
                          <a:ea typeface="+mn-ea"/>
                          <a:cs typeface="+mn-cs"/>
                        </a:rPr>
                        <a:t xml:space="preserve">(παρ.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Παραλείφθηκαν οι εξής γνωστοποιήσεις</a:t>
                      </a:r>
                    </a:p>
                    <a:p>
                      <a:pPr algn="l"/>
                      <a:endParaRPr lang="el-G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1050" noProof="0">
                          <a:solidFill>
                            <a:srgbClr val="1B4528"/>
                          </a:solidFill>
                          <a:latin typeface="+mn-lt"/>
                          <a:cs typeface="Calibri" panose="020F0502020204030204" pitchFamily="34" charset="0"/>
                        </a:rPr>
                        <a:t>{{</a:t>
                      </a:r>
                      <a:r>
                        <a:rPr lang="el-GR" sz="1050" noProof="0">
                          <a:solidFill>
                            <a:srgbClr val="1B4528"/>
                          </a:solidFill>
                          <a:latin typeface="+mn-lt"/>
                          <a:cs typeface="Calibri" panose="020F0502020204030204" pitchFamily="34" charset="0"/>
                        </a:rPr>
                        <a:t>confidentiality_info</a:t>
                      </a:r>
                      <a:r>
                        <a:rPr lang="el-GR"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 συνέχεια</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4</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endParaRPr lang="el-GR"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el-GR" sz="1050" b="1" kern="1200" spc="-10" noProof="0">
                          <a:solidFill>
                            <a:schemeClr val="tx2"/>
                          </a:solidFill>
                          <a:latin typeface="+mn-lt"/>
                          <a:ea typeface="+mn-ea"/>
                          <a:cs typeface="+mn-cs"/>
                        </a:rPr>
                        <a:t xml:space="preserve">Ονομασία πιστοποιητικού ESG/οικολογικού σήματος </a:t>
                      </a:r>
                      <a:r>
                        <a:rPr lang="el-GR" sz="1050" b="0" kern="1200" spc="-10" noProof="0">
                          <a:solidFill>
                            <a:schemeClr val="tx2"/>
                          </a:solidFill>
                          <a:latin typeface="+mn-lt"/>
                          <a:ea typeface="+mn-ea"/>
                          <a:cs typeface="+mn-cs"/>
                        </a:rPr>
                        <a:t xml:space="preserve">(παρ.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Σύντομη περιγραφή</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Ημερομηνία έκδοσης/</a:t>
                      </a:r>
                    </a:p>
                    <a:p>
                      <a:pPr algn="l"/>
                      <a:r>
                        <a:rPr lang="el-GR" sz="1050" b="1" kern="1200" spc="-10" noProof="0">
                          <a:solidFill>
                            <a:schemeClr val="tx2"/>
                          </a:solidFill>
                          <a:latin typeface="+mn-lt"/>
                          <a:ea typeface="+mn-ea"/>
                          <a:cs typeface="+mn-cs"/>
                        </a:rPr>
                        <a:t xml:space="preserve">ισχύος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Τυχόν βαθμολογία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el-GR" sz="1050" b="0" i="0" u="none" strike="noStrike" noProof="0">
                          <a:solidFill>
                            <a:srgbClr val="1B4528"/>
                          </a:solidFill>
                          <a:effectLst/>
                          <a:latin typeface="Inter"/>
                        </a:rPr>
                        <a:t>{{certificate_or_ecolabel}}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{{description_certificate}}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{{date_certicate}}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1050" b="0" i="0" u="none" strike="noStrike" noProof="0">
                          <a:solidFill>
                            <a:srgbClr val="1B4528"/>
                          </a:solidFill>
                          <a:effectLst/>
                          <a:latin typeface="Inter"/>
                        </a:rPr>
                        <a:t>{{certiciate_possible_rating}}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Διευθύνσεις και γεωεντοπισμός </a:t>
                      </a:r>
                      <a:r>
                        <a:rPr lang="el-GR" sz="1050" b="1" u="none" kern="1200" spc="-10" noProof="0">
                          <a:solidFill>
                            <a:schemeClr val="tx2"/>
                          </a:solidFill>
                          <a:latin typeface="+mn-lt"/>
                          <a:ea typeface="+mn-ea"/>
                          <a:cs typeface="+mn-cs"/>
                        </a:rPr>
                        <a:t xml:space="preserve">σημαντικών</a:t>
                      </a:r>
                      <a:r>
                        <a:rPr lang="el-GR" sz="1050" b="1" kern="1200" spc="-10" noProof="0">
                          <a:solidFill>
                            <a:schemeClr val="tx2"/>
                          </a:solidFill>
                          <a:latin typeface="+mn-lt"/>
                          <a:ea typeface="+mn-ea"/>
                          <a:cs typeface="+mn-cs"/>
                        </a:rPr>
                        <a:t xml:space="preserve"> στοιχείων ενεργητικού και εγκαταστάσεων που η επιχείρηση</a:t>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κατέχει, μισθώνει ή διαχειρίζεται </a:t>
                      </a:r>
                      <a:r>
                        <a:rPr lang="el-GR" sz="1050"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el-GR" sz="1050" b="1" kern="1200" spc="-10" noProof="0">
                          <a:solidFill>
                            <a:schemeClr val="tx2"/>
                          </a:solidFill>
                          <a:latin typeface="+mn-lt"/>
                          <a:ea typeface="+mn-ea"/>
                          <a:cs typeface="+mn-cs"/>
                        </a:rPr>
                        <a:t xml:space="preserve">Τοποθεσία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Διεύθυνση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Τ.Κ.</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Πόλη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Χώρα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Γεωεντοπισμός (συντεταγμένες)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el-GR" sz="1050" b="0" i="0" u="none" strike="noStrike" noProof="0">
                          <a:solidFill>
                            <a:srgbClr val="1B4528"/>
                          </a:solidFill>
                          <a:effectLst/>
                          <a:latin typeface="Inter"/>
                        </a:rPr>
                        <a:t>{{geolocation}}</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{{geolocation_adress}}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{{geolocation_postcode}}</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{{geolocation_city}}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{{geolocation_country}}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1050" b="0" i="0" u="none" strike="noStrike" noProof="0">
                          <a:solidFill>
                            <a:srgbClr val="1B4528"/>
                          </a:solidFill>
                          <a:effectLst/>
                          <a:latin typeface="Inter"/>
                        </a:rPr>
                        <a:t>{{geolocation_coordinates}}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el-GR" sz="1050"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1050"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el-GR" sz="1050"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el-GR" sz="1050" b="1" kern="1200" spc="-10" noProof="0">
                          <a:solidFill>
                            <a:schemeClr val="tx2"/>
                          </a:solidFill>
                          <a:latin typeface="+mn-lt"/>
                          <a:ea typeface="+mn-ea"/>
                          <a:cs typeface="+mn-cs"/>
                        </a:rPr>
                        <a:t xml:space="preserve">Τομέας</a:t>
                      </a:r>
                    </a:p>
                    <a:p>
                      <a:r>
                        <a:rPr lang="el-GR" sz="1050" b="0" kern="1200" spc="-10" noProof="0">
                          <a:solidFill>
                            <a:schemeClr val="tx2"/>
                          </a:solidFill>
                          <a:latin typeface="+mn-lt"/>
                          <a:ea typeface="+mn-ea"/>
                          <a:cs typeface="+mn-cs"/>
                        </a:rPr>
                        <a:t xml:space="preserve">(παρ.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Υπάρχει συγκεκριμένη πρακτική ή πολιτική στον τομέα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Είναι η πολιτική δημόσια διαθέσιμη;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Η επιχείρηση έχει μελλοντικές πρωτοβουλίες και σχέδια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el-GR" sz="1050" b="1" kern="1200" spc="-10" noProof="0">
                          <a:solidFill>
                            <a:schemeClr val="tx2"/>
                          </a:solidFill>
                          <a:latin typeface="+mn-lt"/>
                          <a:ea typeface="+mn-ea"/>
                          <a:cs typeface="+mn-cs"/>
                        </a:rPr>
                        <a:t xml:space="preserve">Κλιματική αλλαγή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{{climate_change_concrete}}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{{climate_change_publicly}}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{{climate_change_future}}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{{climate_change_plan}}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el-GR" sz="1050" b="1" kern="1200" spc="-10" noProof="0">
                          <a:solidFill>
                            <a:schemeClr val="tx2"/>
                          </a:solidFill>
                          <a:latin typeface="+mn-lt"/>
                          <a:ea typeface="+mn-ea"/>
                          <a:cs typeface="+mn-cs"/>
                        </a:rPr>
                        <a:t xml:space="preserve">Ρύπανση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{{pollution_concrete}}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{{pollution_publicly}}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{{pollution_future}}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{{pollution_plan}}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el-GR" sz="1050" b="1" kern="1200" spc="-10" noProof="0">
                          <a:solidFill>
                            <a:schemeClr val="tx2"/>
                          </a:solidFill>
                          <a:latin typeface="+mn-lt"/>
                          <a:ea typeface="+mn-ea"/>
                          <a:cs typeface="+mn-cs"/>
                        </a:rPr>
                        <a:t xml:space="preserve">Υδάτινοι και θαλάσσιοι πόροι</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{{water_concrete}}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{{water_publicly}}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{{water_future}}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{{water_plan}}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el-GR" sz="1050" b="1" kern="1200" spc="-10" noProof="0">
                          <a:solidFill>
                            <a:schemeClr val="tx2"/>
                          </a:solidFill>
                          <a:latin typeface="+mn-lt"/>
                          <a:ea typeface="+mn-ea"/>
                          <a:cs typeface="+mn-cs"/>
                        </a:rPr>
                        <a:t xml:space="preserve">Βιοποικιλότητα και οικοσυστήματα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{{biodiversity_concrete}}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{{biodiversity_publicly}}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{{biodiversity_future}}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{{biodiversity_plan}}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el-GR" sz="1050" b="1" kern="1200" spc="-10" noProof="0">
                          <a:solidFill>
                            <a:schemeClr val="tx2"/>
                          </a:solidFill>
                          <a:latin typeface="+mn-lt"/>
                          <a:ea typeface="+mn-ea"/>
                          <a:cs typeface="+mn-cs"/>
                        </a:rPr>
                        <a:t xml:space="preserve">Κυκλική οικονομία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{{circular_concrete}}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{{circular_publicly}}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{{circular_future}}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{{circular_plan}}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el-GR" sz="1050" b="1" kern="1200" spc="-10" noProof="0">
                          <a:solidFill>
                            <a:schemeClr val="tx2"/>
                          </a:solidFill>
                          <a:latin typeface="+mn-lt"/>
                          <a:ea typeface="+mn-ea"/>
                          <a:cs typeface="+mn-cs"/>
                        </a:rPr>
                        <a:t xml:space="preserve">Ίδιο εργατικό δυναμικό</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{{workforce_concrete}}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{{workforce_publicly}}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{{workforce_future}}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{{workforce_plan}}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el-GR" sz="1050" b="1" kern="1200" spc="-10" noProof="0">
                          <a:solidFill>
                            <a:schemeClr val="tx2"/>
                          </a:solidFill>
                          <a:latin typeface="+mn-lt"/>
                          <a:ea typeface="+mn-ea"/>
                          <a:cs typeface="+mn-cs"/>
                        </a:rPr>
                        <a:t xml:space="preserve">Εργαζόμενοι στην αλυσίδα αξίας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{{workers_concrete}}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{{workers_future}}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{{workers_plan}}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el-GR" sz="1050" b="1" kern="1200" spc="-10" noProof="0">
                          <a:solidFill>
                            <a:schemeClr val="tx2"/>
                          </a:solidFill>
                          <a:latin typeface="+mn-lt"/>
                          <a:ea typeface="+mn-ea"/>
                          <a:cs typeface="+mn-cs"/>
                        </a:rPr>
                        <a:t xml:space="preserve">Επηρεαζόμενες κοινότητες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{{communities_concrete}}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{{communities_publicly}}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{{communities_future}}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{{communities_plan}}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el-GR" sz="1050" b="1" kern="1200" spc="-10" noProof="0">
                          <a:solidFill>
                            <a:schemeClr val="tx2"/>
                          </a:solidFill>
                          <a:latin typeface="+mn-lt"/>
                          <a:ea typeface="+mn-ea"/>
                          <a:cs typeface="+mn-cs"/>
                        </a:rPr>
                        <a:t xml:space="preserve">Καταναλωτές και τελικοί χρήστες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{{consumers_concrete}}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{{consumers_publicly}}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{{consumers_future}}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{{consumers_plan}}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el-GR" sz="1050" b="1" kern="1200" spc="-10" noProof="0">
                          <a:solidFill>
                            <a:schemeClr val="tx2"/>
                          </a:solidFill>
                          <a:latin typeface="+mn-lt"/>
                          <a:ea typeface="+mn-ea"/>
                          <a:cs typeface="+mn-cs"/>
                        </a:rPr>
                        <a:t xml:space="preserve">Επιχειρηματική δεοντολογία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{{governance_concrete}}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{{governance_publicly}}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{{governance_future}}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latin typeface="Inter"/>
                        </a:rPr>
                        <a:t>{{governance_plan}}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1050" noProof="0">
                <a:solidFill>
                  <a:schemeClr val="tx2"/>
                </a:solidFill>
              </a:rPr>
            </a:br>
            <a:endParaRPr lang="el-GR"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5</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Κατανάλωση ενέργειας σε MWh </a:t>
                      </a:r>
                      <a:r>
                        <a:rPr lang="el-GR" sz="1050" b="0" noProof="0">
                          <a:solidFill>
                            <a:schemeClr val="tx2"/>
                          </a:solidFill>
                        </a:rPr>
                        <a:t xml:space="preserve">(παρ.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Ανανεώσιμη κατανάλωση</a:t>
                      </a:r>
                      <a:r>
                        <a:rPr lang="el-G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Μη ανανεώσιμη κατανάλωση</a:t>
                      </a:r>
                      <a:r>
                        <a:rPr lang="el-G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Συνολική κατανάλωση (MWh)</a:t>
                      </a:r>
                    </a:p>
                    <a:p>
                      <a:pPr marL="0" marR="0" lvl="0" indent="0" algn="r" defTabSz="914400" rtl="0" eaLnBrk="1" fontAlgn="auto" latinLnBrk="0" hangingPunct="1">
                        <a:lnSpc>
                          <a:spcPct val="106000"/>
                        </a:lnSpc>
                        <a:spcBef>
                          <a:spcPts val="0"/>
                        </a:spcBef>
                        <a:spcAft>
                          <a:spcPts val="0"/>
                        </a:spcAft>
                        <a:buClrTx/>
                        <a:buSzTx/>
                        <a:buFontTx/>
                        <a:buNone/>
                        <a:tabLst/>
                        <a:defRPr/>
                      </a:pP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el-GR" sz="1050" b="1" noProof="0">
                          <a:solidFill>
                            <a:schemeClr val="tx2"/>
                          </a:solidFill>
                        </a:rPr>
                        <a:t xml:space="preserve">Ηλεκτρική ενέργεια </a:t>
                      </a:r>
                      <a:r>
                        <a:rPr lang="el-GR" sz="1050" b="0" noProof="0">
                          <a:solidFill>
                            <a:schemeClr val="tx2"/>
                          </a:solidFill>
                        </a:rPr>
                        <a:t xml:space="preserve">(όπως προκύπτει από τους λογαριασμούς παροχών)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electricity_renewable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electricity_non_rewenable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total_electricity</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el-GR" sz="1050" b="1" noProof="0">
                          <a:solidFill>
                            <a:schemeClr val="tx2"/>
                          </a:solidFill>
                        </a:rPr>
                        <a:t xml:space="preserve">Καύσιμα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fuel_renewable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fuel_non_rewenable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total_fuel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el-GR" sz="1050" b="1" noProof="0">
                          <a:solidFill>
                            <a:schemeClr val="tx2"/>
                          </a:solidFill>
                        </a:rPr>
                        <a:t xml:space="preserve">Άλλο (π.χ. τηλεθέρμανση)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district_heating_rewenable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district_heating_non_rewenable</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total_district_heating</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el-GR" sz="1050" b="1" noProof="0">
                          <a:solidFill>
                            <a:schemeClr val="tx2"/>
                          </a:solidFill>
                        </a:rPr>
                        <a:t xml:space="preserve">Σύνολο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renewable_energy_total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non_rewenable_energy_total</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total_energy_consumption</a:t>
                      </a:r>
                      <a:r>
                        <a:rPr lang="el-GR" sz="1050" b="0" i="0" u="none" strike="noStrike" noProof="0">
                          <a:solidFill>
                            <a:srgbClr val="1B4528"/>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6</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el-GR" sz="1050"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1050" noProof="0">
                <a:solidFill>
                  <a:schemeClr val="tx2"/>
                </a:solidFill>
                <a:latin typeface="Inter"/>
              </a:rPr>
              <a:t xml:space="preserve">Οι εκπομπές αναφέρονται βάσει </a:t>
            </a:r>
            <a:r>
              <a:rPr lang="el-GR" sz="1050"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1050" b="0" i="0" u="none" strike="noStrike" noProof="0" dirty="0">
                <a:effectLst/>
                <a:latin typeface="Inter"/>
              </a:rPr>
            </a:br>
            <a:br>
              <a:rPr lang="el-GR" sz="1050" dirty="0">
                <a:latin typeface="Inter"/>
              </a:rPr>
            </a:br>
            <a:r>
              <a:rPr lang="el-GR" sz="700" b="0" i="0" u="none" strike="noStrike" noProof="0">
                <a:solidFill>
                  <a:schemeClr val="tx2"/>
                </a:solidFill>
                <a:effectLst/>
                <a:latin typeface="Inter"/>
              </a:rPr>
              <a:t> </a:t>
            </a:r>
            <a:endParaRPr lang="el-GR" sz="1050" b="0" i="0" u="none" strike="noStrike" noProof="0" dirty="0">
              <a:solidFill>
                <a:schemeClr val="tx2"/>
              </a:solidFill>
              <a:effectLst/>
              <a:latin typeface="Inter"/>
            </a:endParaRPr>
          </a:p>
          <a:p>
            <a:pPr rtl="0">
              <a:buNone/>
            </a:pPr>
            <a:endParaRPr lang="el-GR" sz="1050"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endParaRPr lang="el-GR" sz="1400" b="1">
              <a:latin typeface="+mj-lt"/>
            </a:endParaRPr>
          </a:p>
          <a:p>
            <a:endParaRPr lang="el-GR" sz="1400" b="1">
              <a:latin typeface="+mj-lt"/>
            </a:endParaRPr>
          </a:p>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700">
                <a:latin typeface="Inter"/>
              </a:rPr>
              <a:t> </a:t>
            </a:r>
            <a:br>
              <a:rPr lang="el-GR" sz="1050" dirty="0">
                <a:solidFill>
                  <a:schemeClr val="tx2"/>
                </a:solidFill>
                <a:latin typeface="Inter"/>
              </a:rPr>
            </a:br>
            <a:r>
              <a:rPr lang="el-GR" sz="1050"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1050" noProof="0">
                <a:solidFill>
                  <a:schemeClr val="tx2"/>
                </a:solidFill>
                <a:latin typeface="Inter"/>
              </a:rPr>
              <a:t> </a:t>
            </a:r>
            <a:r>
              <a:rPr lang="el-GR" sz="1050" b="0" i="0" u="none" strike="noStrike" noProof="0">
                <a:solidFill>
                  <a:schemeClr val="tx2"/>
                </a:solidFill>
                <a:effectLst/>
                <a:latin typeface="Inter"/>
              </a:rPr>
              <a:t xml:space="preserve">Το Scope 2</a:t>
            </a:r>
            <a:r>
              <a:rPr lang="el-GR" sz="1050" noProof="0">
                <a:solidFill>
                  <a:schemeClr val="tx2"/>
                </a:solidFill>
                <a:latin typeface="Inter"/>
              </a:rPr>
              <a:t xml:space="preserve"> αφορά τις έ</a:t>
            </a:r>
            <a:r>
              <a:rPr lang="el-GR" sz="1050"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el-GR" sz="1050" b="1" noProof="0">
                          <a:solidFill>
                            <a:schemeClr val="tx2"/>
                          </a:solidFill>
                        </a:rPr>
                        <a:t xml:space="preserve">Εκπομπές αερίων του θερμοκηπίου </a:t>
                      </a:r>
                      <a:r>
                        <a:rPr lang="el-GR" sz="1050" b="0" noProof="0">
                          <a:solidFill>
                            <a:schemeClr val="tx2"/>
                          </a:solidFill>
                        </a:rPr>
                        <a:t xml:space="preserve">(παρ. 33)</a:t>
                      </a: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latin typeface="Calibri" panose="020F0502020204030204" pitchFamily="34" charset="0"/>
                          <a:cs typeface="Calibri" panose="020F0502020204030204" pitchFamily="34" charset="0"/>
                        </a:rPr>
                        <a:t>{{</a:t>
                      </a:r>
                      <a:r>
                        <a:rPr lang="el-GR" sz="1050" b="1" noProof="0">
                          <a:solidFill>
                            <a:srgbClr val="1B4528"/>
                          </a:solidFill>
                          <a:latin typeface="Calibri" panose="020F0502020204030204" pitchFamily="34" charset="0"/>
                          <a:cs typeface="Calibri" panose="020F0502020204030204" pitchFamily="34" charset="0"/>
                        </a:rPr>
                        <a:t>insert_year</a:t>
                      </a:r>
                      <a:r>
                        <a:rPr lang="el-GR"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el-GR" sz="1050" b="1" noProof="0">
                          <a:solidFill>
                            <a:schemeClr val="tx2"/>
                          </a:solidFill>
                        </a:rPr>
                        <a:t xml:space="preserve">Εκπομπές CO₂e Scope 1</a:t>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{{scope1}}</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el-GR" sz="1050" b="1" noProof="0">
                          <a:solidFill>
                            <a:schemeClr val="tx2"/>
                          </a:solidFill>
                        </a:rPr>
                        <a:t xml:space="preserve">Εκπομπές CO₂e Scope 2 (βάσει τοποθεσίας)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{{scope2}}</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el-GR" sz="1050" b="1" noProof="0">
                          <a:solidFill>
                            <a:schemeClr val="tx2"/>
                          </a:solidFill>
                        </a:rPr>
                        <a:t xml:space="preserve">Συνολικές εκπομπές CO₂e Scope 1 και 2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total_scope</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el-GR" sz="1050" b="1" noProof="0">
                          <a:solidFill>
                            <a:schemeClr val="tx2"/>
                          </a:solidFill>
                        </a:rPr>
                        <a:t xml:space="preserve">Ρύπανση του αέρα, του νερού και του εδάφους </a:t>
                      </a:r>
                      <a:r>
                        <a:rPr lang="el-GR" sz="1050" b="0" noProof="0">
                          <a:solidFill>
                            <a:schemeClr val="tx2"/>
                          </a:solidFill>
                        </a:rPr>
                        <a:t xml:space="preserve">(παρ.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Τύπος ρύπανσης </a:t>
                      </a:r>
                      <a:r>
                        <a:rPr lang="el-GR" sz="1050" b="0" noProof="0">
                          <a:solidFill>
                            <a:schemeClr val="tx2"/>
                          </a:solidFill>
                        </a:rPr>
                        <a:t xml:space="preserve">(π.χ. ουσία)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Πού; </a:t>
                      </a:r>
                      <a:r>
                        <a:rPr lang="el-GR" sz="1050" b="0" noProof="0">
                          <a:solidFill>
                            <a:schemeClr val="tx2"/>
                          </a:solidFill>
                        </a:rPr>
                        <a:t xml:space="preserve">(αέρας, νερό, έδαφος)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Ποσότητα</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el-GR" sz="1050" b="0" i="0" u="none" strike="noStrike" noProof="0">
                          <a:solidFill>
                            <a:srgbClr val="1B4528"/>
                          </a:solidFill>
                          <a:effectLst/>
                          <a:latin typeface="Inter"/>
                        </a:rPr>
                        <a:t>{{type_of_pollution}}</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l-GR" sz="1050" b="0" i="0" u="none" strike="noStrike" noProof="0">
                          <a:solidFill>
                            <a:srgbClr val="1B4528"/>
                          </a:solidFill>
                          <a:effectLst/>
                          <a:latin typeface="Inter"/>
                        </a:rPr>
                        <a:t>{{scope_pollution}}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{{pollution_medium}}</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1050"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el-GR" sz="1050"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1050" b="0" noProof="0">
                          <a:solidFill>
                            <a:schemeClr val="tx2"/>
                          </a:solidFill>
                        </a:rPr>
                        <a:t xml:space="preserve">(παρ.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el-GR" sz="1050" b="1" noProof="0">
                          <a:solidFill>
                            <a:schemeClr val="tx2"/>
                          </a:solidFill>
                        </a:rPr>
                        <a:t xml:space="preserve">Τοποθεσία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Έκταση σε εκτάρια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Ευαίσθητη περιοχή βιοποικιλότητας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Διευκρίνιση: εντός ή πλησίον ευαίσθητης περιοχής βιοποικιλότητας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el-GR" sz="1050" b="0" i="0" u="none" strike="noStrike" noProof="0">
                          <a:solidFill>
                            <a:srgbClr val="1B4528"/>
                          </a:solidFill>
                          <a:effectLst/>
                          <a:latin typeface="Inter"/>
                        </a:rPr>
                        <a:t>{{country_location}}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 {{area_hect}}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{{area_name}}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{{biosensitive_area}}</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el-GR" sz="1050"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Νερό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Άντληση νερού </a:t>
                      </a:r>
                      <a:r>
                        <a:rPr lang="el-GR" sz="1050" b="0" noProof="0">
                          <a:solidFill>
                            <a:schemeClr val="tx2"/>
                          </a:solidFill>
                        </a:rPr>
                        <a:t xml:space="preserve">(παρ.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1B4528"/>
                          </a:solidFill>
                          <a:effectLst/>
                          <a:uLnTx/>
                          <a:uFillTx/>
                          <a:latin typeface="+mn-lt"/>
                          <a:ea typeface="+mn-ea"/>
                          <a:cs typeface="+mn-cs"/>
                        </a:rPr>
                        <a:t>{{</a:t>
                      </a:r>
                      <a:r>
                        <a:rPr kumimoji="0" lang="el-GR" sz="1050" b="0" i="0" u="none" strike="noStrike" kern="1200" cap="none" spc="0" normalizeH="0" baseline="0" noProof="0">
                          <a:ln>
                            <a:noFill/>
                          </a:ln>
                          <a:solidFill>
                            <a:srgbClr val="1B4528"/>
                          </a:solidFill>
                          <a:effectLst/>
                          <a:uLnTx/>
                          <a:uFillTx/>
                          <a:latin typeface="+mn-lt"/>
                          <a:ea typeface="+mn-ea"/>
                          <a:cs typeface="+mn-cs"/>
                        </a:rPr>
                        <a:t>total_withdrawal</a:t>
                      </a:r>
                      <a:r>
                        <a:rPr kumimoji="0" lang="el-G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Κατανάλωση νερού </a:t>
                      </a:r>
                      <a:r>
                        <a:rPr lang="el-GR" sz="1050" b="0" noProof="0">
                          <a:solidFill>
                            <a:schemeClr val="tx2"/>
                          </a:solidFill>
                        </a:rPr>
                        <a:t xml:space="preserve">(παρ.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consumption_total</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Από τοποθεσίες σε περιοχές λειψυδρίας (υψηλή υδατική καταπόνηση)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consumption_waterstress</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1050" noProof="0">
                <a:solidFill>
                  <a:schemeClr val="tx2"/>
                </a:solidFill>
                <a:latin typeface="Inter"/>
              </a:rPr>
              <a:t xml:space="preserve">η κατανάλωση δηλώνει το νερό που </a:t>
            </a:r>
            <a:r>
              <a:rPr lang="el-GR" sz="1050"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1050" noProof="0">
                <a:solidFill>
                  <a:schemeClr val="tx2"/>
                </a:solidFill>
                <a:latin typeface="Inter"/>
              </a:rPr>
              <a:t> </a:t>
            </a:r>
            <a:r>
              <a:rPr lang="el-GR" sz="1050"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Εφαρμογή αρχών κυκλικής οικονομίας </a:t>
                      </a:r>
                      <a:r>
                        <a:rPr lang="el-GR" sz="1050" b="0" noProof="0">
                          <a:solidFill>
                            <a:schemeClr val="tx2"/>
                          </a:solidFill>
                        </a:rPr>
                        <a:t xml:space="preserve">(παρ.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el-GR" sz="1050" b="0" noProof="0">
                          <a:solidFill>
                            <a:schemeClr val="tx2"/>
                          </a:solidFill>
                        </a:rPr>
                        <a:t xml:space="preserve">Η επιχείρησή μου εφαρμόζει αρχές κυκλικής οικονομίας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circular_economy_princples_yes</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circular_economy_princples_no</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el-GR" sz="1050" b="1" noProof="0">
                          <a:solidFill>
                            <a:schemeClr val="tx2"/>
                          </a:solidFill>
                        </a:rPr>
                        <a:t xml:space="preserve">Περιγραφή του τρόπου εφαρμογής των αρχών κυκλικής οικονομίας </a:t>
                      </a:r>
                      <a:r>
                        <a:rPr lang="el-GR" sz="1050" b="0" noProof="0">
                          <a:solidFill>
                            <a:schemeClr val="tx2"/>
                          </a:solidFill>
                        </a:rPr>
                        <a:t xml:space="preserve">(παρ. 38 συνέχεια)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el-GR" sz="1050" b="0" kern="1200" noProof="0">
                          <a:solidFill>
                            <a:srgbClr val="1B4528"/>
                          </a:solidFill>
                          <a:latin typeface="+mn-lt"/>
                          <a:ea typeface="+mn-ea"/>
                          <a:cs typeface="+mn-cs"/>
                        </a:rPr>
                        <a:t>{{</a:t>
                      </a:r>
                      <a:r>
                        <a:rPr lang="el-GR" sz="1050" b="0" kern="1200" noProof="0">
                          <a:solidFill>
                            <a:srgbClr val="1B4528"/>
                          </a:solidFill>
                          <a:latin typeface="+mn-lt"/>
                          <a:ea typeface="+mn-ea"/>
                          <a:cs typeface="+mn-cs"/>
                        </a:rPr>
                        <a:t>description_of_circular_economies</a:t>
                      </a:r>
                      <a:r>
                        <a:rPr lang="el-GR" sz="1050" b="0" kern="1200" noProof="0">
                          <a:solidFill>
                            <a:srgbClr val="1B4528"/>
                          </a:solidFill>
                          <a:latin typeface="+mn-lt"/>
                          <a:ea typeface="+mn-ea"/>
                          <a:cs typeface="+mn-cs"/>
                        </a:rPr>
                        <a:t>}}</a:t>
                      </a:r>
                    </a:p>
                    <a:p>
                      <a:pPr algn="l"/>
                      <a:endParaRPr lang="el-GR"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el-GR" sz="1050" b="0" i="0" u="none" strike="noStrike" noProof="0">
                <a:solidFill>
                  <a:schemeClr val="tx2"/>
                </a:solidFill>
                <a:effectLst/>
                <a:latin typeface="Inter"/>
              </a:rPr>
              <a:t xml:space="preserve">Η γνωστοποίηση αυτή αναφέρει εάν η επιχείρηση</a:t>
            </a:r>
            <a:r>
              <a:rPr lang="el-GR" sz="1050"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el-GR" sz="1050" b="1" noProof="0">
                          <a:solidFill>
                            <a:schemeClr val="tx2"/>
                          </a:solidFill>
                        </a:rPr>
                        <a:t xml:space="preserve">Συνολική ετήσια παραγωγή αποβλήτων</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Συνολική ποσότητα αποβλήτων </a:t>
                      </a:r>
                      <a:r>
                        <a:rPr lang="el-GR" sz="1050" b="0" noProof="0">
                          <a:solidFill>
                            <a:schemeClr val="tx2"/>
                          </a:solidFill>
                        </a:rPr>
                        <a:t xml:space="preserve">(παρ.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Απόβλητα που διοχετεύονται σε ανακύκλωση ή προετοιμασία επαναχρησιμοποίησης </a:t>
                      </a:r>
                      <a:r>
                        <a:rPr lang="el-GR" sz="1050" b="0" noProof="0">
                          <a:solidFill>
                            <a:schemeClr val="tx2"/>
                          </a:solidFill>
                        </a:rPr>
                        <a:t xml:space="preserve">(παρ.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Μη επικίνδυνα απόβλητα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el-GR" sz="1050" b="0" i="0" u="none" strike="noStrike" noProof="0">
                          <a:solidFill>
                            <a:srgbClr val="1B4528"/>
                          </a:solidFill>
                          <a:effectLst/>
                          <a:latin typeface="Inter"/>
                        </a:rPr>
                        <a:t>{{Type_af_affald}}</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{{kg_tons_total}}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el-GR" sz="1050" b="1" noProof="0">
                          <a:solidFill>
                            <a:schemeClr val="tx2"/>
                          </a:solidFill>
                        </a:rPr>
                        <a:t xml:space="preserve">Επικίνδυνα απόβλητα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el-GR" sz="1050" b="0" i="0" u="none" strike="noStrike" noProof="0">
                          <a:solidFill>
                            <a:srgbClr val="1B4528"/>
                          </a:solidFill>
                          <a:effectLst/>
                          <a:latin typeface="Inter"/>
                        </a:rPr>
                        <a:t>{{Type_af_affald_farlig}}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{{farlig_kg_tons}}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1050" b="0" i="0" u="none" strike="noStrike" noProof="0">
                          <a:solidFill>
                            <a:srgbClr val="1B4528"/>
                          </a:solidFill>
                          <a:effectLst/>
                          <a:latin typeface="Inter"/>
                        </a:rPr>
                        <a:t>{{farlig_genbrug_kg_tons}}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226538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215816">
                <a:tc>
                  <a:txBody>
                    <a:bodyPr/>
                    <a:lstStyle/>
                    <a:p>
                      <a:r>
                        <a:rPr lang="el-GR" sz="1050" b="1" noProof="0">
                          <a:solidFill>
                            <a:schemeClr val="tx2"/>
                          </a:solidFill>
                        </a:rPr>
                        <a:t xml:space="preserve">Σημαντικά υλικά </a:t>
                      </a:r>
                      <a:r>
                        <a:rPr lang="el-GR" sz="1050" b="0" noProof="0">
                          <a:solidFill>
                            <a:schemeClr val="tx2"/>
                          </a:solidFill>
                        </a:rPr>
                        <a:t xml:space="preserve">(παρ.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Ετήσια ροή μάζας </a:t>
                      </a:r>
                      <a:r>
                        <a:rPr lang="el-GR" sz="1050" b="1" noProof="0">
                          <a:solidFill>
                            <a:srgbClr val="1B4528"/>
                          </a:solidFill>
                        </a:rPr>
                        <a:t>{{insert_year}}</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1051270">
                <a:tc>
                  <a:txBody>
                    <a:bodyPr/>
                    <a:lstStyle/>
                    <a:p>
                      <a:pPr algn="l"/>
                      <a:r>
                        <a:rPr lang="el-GR" sz="1050" b="0" i="0" u="none" strike="noStrike" noProof="0">
                          <a:solidFill>
                            <a:srgbClr val="1B4528"/>
                          </a:solidFill>
                          <a:latin typeface="Inter"/>
                        </a:rPr>
                        <a:t>{{significant_material}}</a:t>
                      </a:r>
                      <a:endParaRPr lang="el-GR"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nter"/>
                        </a:rPr>
                        <a:t>{{significant_material_unit}}</a:t>
                      </a:r>
                      <a:endParaRPr lang="el-GR"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el-GR" sz="1050" b="1" noProof="0">
                          <a:solidFill>
                            <a:schemeClr val="tx2"/>
                          </a:solidFill>
                        </a:rPr>
                        <a:t xml:space="preserve">Τύπος σύμβασης </a:t>
                      </a:r>
                      <a:r>
                        <a:rPr lang="el-GR" sz="1050" b="0" noProof="0">
                          <a:solidFill>
                            <a:schemeClr val="tx2"/>
                          </a:solidFill>
                        </a:rPr>
                        <a:t xml:space="preserve">(παρ.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el-GR" sz="1050" b="0" noProof="0">
                          <a:solidFill>
                            <a:schemeClr val="tx2"/>
                          </a:solidFill>
                        </a:rPr>
                        <a:t xml:space="preserve">Προσωρινή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temporary</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el-GR" sz="1050" b="0" noProof="0">
                          <a:solidFill>
                            <a:schemeClr val="tx2"/>
                          </a:solidFill>
                        </a:rPr>
                        <a:t xml:space="preserve">Μόνιμη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fulltime</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total_employees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el-GR" sz="1050" b="1" noProof="0">
                          <a:solidFill>
                            <a:schemeClr val="tx2"/>
                          </a:solidFill>
                          <a:latin typeface="+mn-lt"/>
                        </a:rPr>
                        <a:t xml:space="preserve">Φύλο</a:t>
                      </a:r>
                      <a:r>
                        <a:rPr lang="el-GR" sz="1050" b="0" noProof="0">
                          <a:solidFill>
                            <a:schemeClr val="tx2"/>
                          </a:solidFill>
                          <a:latin typeface="+mn-lt"/>
                        </a:rPr>
                        <a:t xml:space="preserve"> (παρ. 40b)</a:t>
                      </a:r>
                      <a:r>
                        <a:rPr lang="el-GR" sz="1050" b="0" noProof="0">
                          <a:solidFill>
                            <a:schemeClr val="tx2"/>
                          </a:solidFill>
                        </a:rPr>
                        <a:t xml:space="preserve"/>
                      </a:r>
                      <a:endParaRPr lang="el-GR"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latin typeface="+mn-lt"/>
                        </a:rPr>
                        <a:t xml:space="preserve">Αριθμός εργαζομένων (άτομα ή ισοδύναμα πλήρους απασχόλησης)</a:t>
                      </a:r>
                      <a:r>
                        <a:rPr lang="el-GR" sz="1050" b="1" noProof="0">
                          <a:solidFill>
                            <a:schemeClr val="tx2"/>
                          </a:solidFill>
                        </a:rPr>
                        <a:t xml:space="preserve"/>
                      </a:r>
                      <a:endParaRPr lang="el-GR"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latin typeface="+mn-lt"/>
                        </a:rPr>
                        <a:t xml:space="preserve">Άνδρας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{{men}}</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latin typeface="+mn-lt"/>
                        </a:rPr>
                        <a:t xml:space="preserve">Γυναίκα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women</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el-GR" sz="1050" b="0" noProof="0">
                          <a:solidFill>
                            <a:schemeClr val="tx2"/>
                          </a:solidFill>
                          <a:latin typeface="+mn-lt"/>
                        </a:rPr>
                        <a:t xml:space="preserve">Άλλο</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others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el-GR" sz="1050" b="0" noProof="0">
                          <a:solidFill>
                            <a:schemeClr val="tx2"/>
                          </a:solidFill>
                          <a:latin typeface="+mn-lt"/>
                        </a:rPr>
                        <a:t xml:space="preserve">Δεν καταγράφηκε</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not_registeret</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el-GR" sz="1050" b="0" noProof="0">
                          <a:solidFill>
                            <a:schemeClr val="tx2"/>
                          </a:solidFill>
                          <a:latin typeface="+mn-lt"/>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total_employees</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10</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el-GR" sz="1050"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1050" b="0" noProof="0">
              <a:effectLst/>
              <a:latin typeface="Inter"/>
            </a:endParaRPr>
          </a:p>
          <a:p>
            <a:pPr>
              <a:buNone/>
            </a:pPr>
            <a:br>
              <a:rPr lang="el-GR" sz="1050" noProof="0">
                <a:latin typeface="Inter"/>
              </a:rPr>
            </a:br>
            <a:endParaRPr lang="el-GR"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el-GR" sz="1050" b="1" noProof="0">
                          <a:solidFill>
                            <a:schemeClr val="tx2"/>
                          </a:solidFill>
                        </a:rPr>
                        <a:t xml:space="preserve">Χώρα (σύναψης της σύμβασης εργασίας) </a:t>
                      </a:r>
                      <a:r>
                        <a:rPr lang="el-GR" sz="1050" b="0" noProof="0">
                          <a:solidFill>
                            <a:schemeClr val="tx2"/>
                          </a:solidFill>
                        </a:rPr>
                        <a:t xml:space="preserve">(παρ.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rPr>
                        <a:t xml:space="preserve">Δανία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{{Denmark}}</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el-GR" sz="1050" b="0" i="0" u="none" strike="noStrike" noProof="0">
                          <a:solidFill>
                            <a:srgbClr val="1B4528"/>
                          </a:solidFill>
                          <a:effectLst/>
                          <a:latin typeface="Inter"/>
                        </a:rPr>
                        <a:t>{{Land_b}}</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FTE_eller_antal_personer_land_b</a:t>
                      </a:r>
                      <a:r>
                        <a:rPr lang="el-GR" sz="1050" b="0" i="0" u="none" strike="noStrike" noProof="0">
                          <a:solidFill>
                            <a:srgbClr val="1B4528"/>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nter"/>
                        </a:rPr>
                        <a:t>{{Total_out_of_countries}}</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υγεία και ασφάλεια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Καταγραπτέα εργατικά ατυχήματα </a:t>
                      </a:r>
                      <a:r>
                        <a:rPr lang="el-GR" sz="1050" b="0" noProof="0">
                          <a:solidFill>
                            <a:schemeClr val="tx2"/>
                          </a:solidFill>
                        </a:rPr>
                        <a:t xml:space="preserve">(παρ.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el-GR" sz="1050" b="0" noProof="0">
                          <a:solidFill>
                            <a:schemeClr val="tx2"/>
                          </a:solidFill>
                        </a:rPr>
                        <a:t xml:space="preserve">Αριθμός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indsat_antal_accidents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el-GR" sz="1050" b="0" noProof="0">
                          <a:solidFill>
                            <a:schemeClr val="tx2"/>
                          </a:solidFill>
                        </a:rPr>
                        <a:t xml:space="preserve">Δείκτης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indsat_accidents_frequents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Θάνατοι λόγω εργασίας </a:t>
                      </a:r>
                      <a:r>
                        <a:rPr lang="el-GR" sz="1050" b="0" noProof="0">
                          <a:solidFill>
                            <a:schemeClr val="tx2"/>
                          </a:solidFill>
                        </a:rPr>
                        <a:t xml:space="preserve">(παρ.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el-GR" sz="1050" b="0" noProof="0">
                          <a:solidFill>
                            <a:schemeClr val="tx2"/>
                          </a:solidFill>
                        </a:rPr>
                        <a:t xml:space="preserve">Λόγω εργατικού τραυματισμού/ατυχήματος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deaths_by_accidents</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el-GR" sz="1050" b="0" noProof="0">
                          <a:solidFill>
                            <a:schemeClr val="tx2"/>
                          </a:solidFill>
                        </a:rPr>
                        <a:t xml:space="preserve">Λόγω ασθένειας σχετιζόμενης με την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1B4528"/>
                          </a:solidFill>
                          <a:effectLst/>
                          <a:uLnTx/>
                          <a:uFillTx/>
                          <a:latin typeface="Inter"/>
                          <a:ea typeface="+mn-ea"/>
                          <a:cs typeface="+mn-cs"/>
                        </a:rPr>
                        <a:t>{{</a:t>
                      </a:r>
                      <a:r>
                        <a:rPr lang="el-GR" sz="1050" b="0" i="0" u="none" strike="noStrike" kern="1200" cap="none" spc="0" normalizeH="0" baseline="0" noProof="0">
                          <a:ln>
                            <a:noFill/>
                          </a:ln>
                          <a:solidFill>
                            <a:srgbClr val="1B4528"/>
                          </a:solidFill>
                          <a:effectLst/>
                          <a:uLnTx/>
                          <a:uFillTx/>
                          <a:latin typeface="Inter"/>
                        </a:rPr>
                        <a:t>deaths_by_health</a:t>
                      </a:r>
                      <a:r>
                        <a:rPr lang="el-GR" sz="1050" b="0" i="0" u="none" strike="noStrike" kern="1200" cap="none" spc="0" normalizeH="0" baseline="0" noProof="0">
                          <a:ln>
                            <a:noFill/>
                          </a:ln>
                          <a:solidFill>
                            <a:srgbClr val="1B4528"/>
                          </a:solidFill>
                          <a:effectLst/>
                          <a:uLnTx/>
                          <a:uFillTx/>
                          <a:latin typeface="Inter"/>
                          <a:ea typeface="+mn-ea"/>
                          <a:cs typeface="+mn-cs"/>
                        </a:rPr>
                        <a:t>}}</a:t>
                      </a:r>
                      <a:endParaRPr kumimoji="0" lang="el-G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αριθμό καταγραπτέων εργατικών ατυχημάτων και θανάτων λόγω εργασίας για τις εξής κατανομές: αριθμός και δείκτης. Αναφέρει επίσης εάν οι θάνατοι οφείλονται σε τραυματισμούς/ατυχήματα ή σε ασθένεια.</a:t>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Εργατικό δυναμικό: αμοιβές, συλλογικές συμβάσεις και κατάρτιση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Μισθολογικό χάσμα ανδρών και γυναικών εργαζομένων </a:t>
                      </a:r>
                      <a:r>
                        <a:rPr lang="el-GR" sz="1050" b="0" noProof="0">
                          <a:solidFill>
                            <a:schemeClr val="tx2"/>
                          </a:solidFill>
                        </a:rPr>
                        <a:t xml:space="preserve">(παρ.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panose="020F0502020204030204" pitchFamily="34" charset="0"/>
                          <a:cs typeface="Calibri" panose="020F0502020204030204" pitchFamily="34" charset="0"/>
                        </a:rPr>
                        <a:t> </a:t>
                      </a:r>
                      <a:r>
                        <a:rPr lang="el-GR" sz="1050" b="1" noProof="0">
                          <a:solidFill>
                            <a:srgbClr val="1B4528"/>
                          </a:solidFill>
                        </a:rPr>
                        <a:t>{{</a:t>
                      </a:r>
                      <a:r>
                        <a:rPr lang="el-GR" sz="1050" b="1" noProof="0">
                          <a:solidFill>
                            <a:srgbClr val="1B4528"/>
                          </a:solidFill>
                        </a:rPr>
                        <a:t>insert_year</a:t>
                      </a:r>
                      <a:r>
                        <a:rPr lang="el-G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1050" b="0" noProof="0">
                          <a:solidFill>
                            <a:srgbClr val="1B4528"/>
                          </a:solidFill>
                        </a:rPr>
                        <a:t>{{</a:t>
                      </a:r>
                      <a:r>
                        <a:rPr lang="el-GR" sz="1050" b="0" noProof="0">
                          <a:solidFill>
                            <a:srgbClr val="1B4528"/>
                          </a:solidFill>
                        </a:rPr>
                        <a:t>indsat_procentvise_lonforskel</a:t>
                      </a:r>
                      <a:r>
                        <a:rPr lang="el-GR"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el-GR" sz="1050" b="1" noProof="0">
                          <a:solidFill>
                            <a:schemeClr val="tx2"/>
                          </a:solidFill>
                        </a:rPr>
                        <a:t xml:space="preserve">Στοιχεία για τον κατώτατο μισθό </a:t>
                      </a:r>
                      <a:r>
                        <a:rPr lang="el-GR"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el-GR" sz="1050"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minumum_wage_yes</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minimum_wage_no</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Συλλογική σύμβαση εργασίας </a:t>
                      </a:r>
                      <a:r>
                        <a:rPr lang="el-GR" sz="1050" b="0" noProof="0">
                          <a:solidFill>
                            <a:schemeClr val="tx2"/>
                          </a:solidFill>
                        </a:rPr>
                        <a:t xml:space="preserve">(παρ.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panose="020F0502020204030204" pitchFamily="34" charset="0"/>
                          <a:cs typeface="Calibri" panose="020F0502020204030204" pitchFamily="34" charset="0"/>
                        </a:rPr>
                        <a:t> {{</a:t>
                      </a:r>
                      <a:r>
                        <a:rPr lang="el-GR" sz="1050" b="1" noProof="0">
                          <a:solidFill>
                            <a:srgbClr val="1B4528"/>
                          </a:solidFill>
                          <a:latin typeface="Calibri" panose="020F0502020204030204" pitchFamily="34" charset="0"/>
                          <a:cs typeface="Calibri" panose="020F0502020204030204" pitchFamily="34" charset="0"/>
                        </a:rPr>
                        <a:t>insert_year</a:t>
                      </a:r>
                      <a:r>
                        <a:rPr lang="el-GR" sz="1050" b="1" noProof="0">
                          <a:solidFill>
                            <a:srgbClr val="1B4528"/>
                          </a:solidFill>
                          <a:latin typeface="Calibri" panose="020F0502020204030204" pitchFamily="34" charset="0"/>
                          <a:cs typeface="Calibri" panose="020F0502020204030204" pitchFamily="34" charset="0"/>
                        </a:rPr>
                        <a:t>}}</a:t>
                      </a:r>
                      <a:endParaRPr lang="el-GR"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Ποσοστό εργαζομένων που καλύπτονται από συλλογική σύμβαση</a:t>
                      </a:r>
                      <a:endParaRPr kumimoji="0" lang="el-GR"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1B4528"/>
                          </a:solidFill>
                          <a:effectLst/>
                          <a:uLnTx/>
                          <a:uFillTx/>
                          <a:latin typeface="+mn-lt"/>
                          <a:ea typeface="+mn-ea"/>
                          <a:cs typeface="+mn-cs"/>
                        </a:rPr>
                        <a:t>{{</a:t>
                      </a:r>
                      <a:r>
                        <a:rPr kumimoji="0" lang="el-GR" sz="1050" b="0" i="0" u="none" strike="noStrike" kern="1200" cap="none" spc="0" normalizeH="0" baseline="0" noProof="0">
                          <a:ln>
                            <a:noFill/>
                          </a:ln>
                          <a:solidFill>
                            <a:srgbClr val="1B4528"/>
                          </a:solidFill>
                          <a:effectLst/>
                          <a:uLnTx/>
                          <a:uFillTx/>
                          <a:latin typeface="+mn-lt"/>
                          <a:ea typeface="+mn-ea"/>
                          <a:cs typeface="+mn-cs"/>
                        </a:rPr>
                        <a:t>indsat_procentvis_ansatte</a:t>
                      </a:r>
                      <a:r>
                        <a:rPr kumimoji="0" lang="el-G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el-GR" sz="1050" b="1" noProof="0">
                          <a:solidFill>
                            <a:schemeClr val="tx2"/>
                          </a:solidFill>
                        </a:rPr>
                        <a:t xml:space="preserve">Μέσες ώρες κατάρτισης ανά εργαζόμενο </a:t>
                      </a:r>
                      <a:r>
                        <a:rPr lang="el-GR" sz="1050" b="0" noProof="0">
                          <a:solidFill>
                            <a:schemeClr val="tx2"/>
                          </a:solidFill>
                        </a:rPr>
                        <a:t xml:space="preserve">(παρ.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el-GR" sz="1050" b="0" noProof="0">
                          <a:solidFill>
                            <a:schemeClr val="tx2"/>
                          </a:solidFill>
                        </a:rPr>
                        <a:t xml:space="preserve">Ώρα/ες ανά εργαζόμενο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{{gennemsnitstimer}}</a:t>
                      </a:r>
                      <a:endParaRPr lang="el-GR"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el-GR" sz="1050" b="1" noProof="0">
                          <a:solidFill>
                            <a:schemeClr val="tx2"/>
                          </a:solidFill>
                        </a:rPr>
                        <a:t xml:space="preserve">Διαφθορά και δωροδοκία </a:t>
                      </a:r>
                      <a:r>
                        <a:rPr lang="el-GR" sz="1050" b="0" noProof="0">
                          <a:solidFill>
                            <a:schemeClr val="tx2"/>
                          </a:solidFill>
                        </a:rPr>
                        <a:t xml:space="preserve">(παρ.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1050" b="1" noProof="0">
                          <a:solidFill>
                            <a:schemeClr val="tx2"/>
                          </a:solidFill>
                        </a:rPr>
                        <a:t xml:space="preserve">Αριθμός καταδικών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Συνολικό ύψος προστίμων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{{domme}}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samlet_bodestorrelse</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12</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842440" y="2366719"/>
            <a:ext cx="8798625" cy="1280812"/>
          </a:xfrm>
        </p:spPr>
        <p:txBody>
          <a:bodyPr>
            <a:normAutofit/>
          </a:bodyPr>
          <a:lstStyle/>
          <a:p>
            <a:r>
              <a:rPr lang="el-GR" sz="3500" b="1" noProof="0"/>
              <a:t xml:space="preserve">Γνωστοποιήσεις της Ολοκληρωμένης ενότητας</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el-GR" noProof="0" smtClean="0"/>
              <a:pPr/>
              <a:t>13</a:t>
            </a:fld>
            <a:endParaRPr lang="el-GR" noProof="0"/>
          </a:p>
        </p:txBody>
      </p:sp>
    </p:spTree>
    <p:extLst>
      <p:ext uri="{BB962C8B-B14F-4D97-AF65-F5344CB8AC3E}">
        <p14:creationId xmlns:p14="http://schemas.microsoft.com/office/powerpoint/2010/main" val="959639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24700"/>
          </a:xfrm>
        </p:spPr>
        <p:txBody>
          <a:bodyPr/>
          <a:lstStyle/>
          <a:p>
            <a:pPr marL="0" algn="l" rtl="0" eaLnBrk="1" fontAlgn="t" latinLnBrk="0" hangingPunct="1">
              <a:spcBef>
                <a:spcPts val="0"/>
              </a:spcBef>
              <a:spcAft>
                <a:spcPts val="0"/>
              </a:spcAft>
            </a:pPr>
            <a:r>
              <a:rPr lang="el-GR" sz="1575" b="1" i="0" u="none" strike="noStrike" kern="1200" spc="-10" noProof="0">
                <a:solidFill>
                  <a:srgbClr val="1B4528"/>
                </a:solidFill>
                <a:effectLst/>
                <a:latin typeface="IBM Plex Sans" panose="020B0503050203000203" pitchFamily="34" charset="0"/>
              </a:rPr>
              <a:t xml:space="preserve">Στρατηγική: επιχειρηματικό μοντέλο και πρωτοβουλίες βιωσιμότητας (C1)</a:t>
            </a:r>
            <a:endParaRPr lang="el-GR"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056" y="4129657"/>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14</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8112507"/>
              </p:ext>
            </p:extLst>
          </p:nvPr>
        </p:nvGraphicFramePr>
        <p:xfrm>
          <a:off x="464093" y="2080389"/>
          <a:ext cx="9791704" cy="691580"/>
        </p:xfrm>
        <a:graphic>
          <a:graphicData uri="http://schemas.openxmlformats.org/drawingml/2006/table">
            <a:tbl>
              <a:tblPr firstRow="1">
                <a:tableStyleId>{2A488322-F2BA-4B5B-9748-0D474271808F}</a:tableStyleId>
              </a:tblPr>
              <a:tblGrid>
                <a:gridCol w="9791704">
                  <a:extLst>
                    <a:ext uri="{9D8B030D-6E8A-4147-A177-3AD203B41FA5}">
                      <a16:colId xmlns:a16="http://schemas.microsoft.com/office/drawing/2014/main" val="2698153288"/>
                    </a:ext>
                  </a:extLst>
                </a:gridCol>
              </a:tblGrid>
              <a:tr h="157845">
                <a:tc>
                  <a:txBody>
                    <a:bodyPr/>
                    <a:lstStyle/>
                    <a:p>
                      <a:r>
                        <a:rPr lang="el-GR" sz="1050" b="1" noProof="0">
                          <a:solidFill>
                            <a:schemeClr val="tx2"/>
                          </a:solidFill>
                        </a:rPr>
                        <a:t xml:space="preserve">Περιγραφή σημαντικών ομάδων προϊόντων και/ή υπηρεσιών που προσφέρει η</a:t>
                      </a:r>
                      <a:r>
                        <a:rPr lang="el-GR" sz="1050" b="1" kern="1200" noProof="0">
                          <a:solidFill>
                            <a:srgbClr val="1B4528"/>
                          </a:solidFill>
                          <a:latin typeface="+mn-lt"/>
                          <a:ea typeface="+mn-ea"/>
                          <a:cs typeface="+mn-cs"/>
                        </a:rPr>
                        <a:t>{{</a:t>
                      </a:r>
                      <a:r>
                        <a:rPr lang="el-GR" sz="1050" b="1" kern="1200" noProof="0">
                          <a:solidFill>
                            <a:srgbClr val="1B4528"/>
                          </a:solidFill>
                          <a:latin typeface="+mn-lt"/>
                          <a:ea typeface="+mn-ea"/>
                          <a:cs typeface="+mn-cs"/>
                        </a:rPr>
                        <a:t>company_name</a:t>
                      </a:r>
                      <a:r>
                        <a:rPr lang="el-GR" sz="1050" b="1" kern="1200" noProof="0">
                          <a:solidFill>
                            <a:srgbClr val="1B4528"/>
                          </a:solidFill>
                          <a:latin typeface="+mn-lt"/>
                          <a:ea typeface="+mn-ea"/>
                          <a:cs typeface="+mn-cs"/>
                        </a:rPr>
                        <a:t>}} </a:t>
                      </a:r>
                      <a:r>
                        <a:rPr lang="el-GR" sz="1050" b="1" kern="1200" noProof="0">
                          <a:solidFill>
                            <a:schemeClr val="tx2"/>
                          </a:solidFill>
                          <a:latin typeface="+mn-lt"/>
                          <a:ea typeface="+mn-ea"/>
                          <a:cs typeface="+mn-cs"/>
                        </a:rPr>
                        <a:t xml:space="preserve"/>
                      </a:r>
                      <a:r>
                        <a:rPr lang="el-GR" sz="1050" b="1" noProof="0">
                          <a:solidFill>
                            <a:schemeClr val="tx2"/>
                          </a:solidFill>
                        </a:rPr>
                        <a:t xml:space="preserve"/>
                      </a:r>
                      <a:r>
                        <a:rPr lang="el-GR" sz="1050" b="0" noProof="0">
                          <a:solidFill>
                            <a:schemeClr val="tx2"/>
                          </a:solidFill>
                        </a:rPr>
                        <a:t xml:space="preserve">(παρ. 46a)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68058">
                <a:tc>
                  <a:txBody>
                    <a:bodyPr/>
                    <a:lstStyle/>
                    <a:p>
                      <a:pPr algn="l"/>
                      <a:r>
                        <a:rPr lang="el-GR" sz="1050" b="0" noProof="0">
                          <a:solidFill>
                            <a:srgbClr val="1B4528"/>
                          </a:solidFill>
                        </a:rPr>
                        <a:t>{{</a:t>
                      </a:r>
                      <a:r>
                        <a:rPr lang="el-GR" sz="1050" b="0" noProof="0">
                          <a:solidFill>
                            <a:srgbClr val="1B4528"/>
                          </a:solidFill>
                        </a:rPr>
                        <a:t>markets_description</a:t>
                      </a:r>
                      <a:r>
                        <a:rPr lang="el-GR" sz="1050" b="0" noProof="0">
                          <a:solidFill>
                            <a:srgbClr val="1B4528"/>
                          </a:solidFill>
                        </a:rPr>
                        <a:t>}}</a:t>
                      </a:r>
                      <a:endParaRPr lang="el-GR"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1513519141"/>
              </p:ext>
            </p:extLst>
          </p:nvPr>
        </p:nvGraphicFramePr>
        <p:xfrm>
          <a:off x="464093" y="2891378"/>
          <a:ext cx="9791704" cy="901511"/>
        </p:xfrm>
        <a:graphic>
          <a:graphicData uri="http://schemas.openxmlformats.org/drawingml/2006/table">
            <a:tbl>
              <a:tblPr firstRow="1">
                <a:tableStyleId>{2A488322-F2BA-4B5B-9748-0D474271808F}</a:tableStyleId>
              </a:tblPr>
              <a:tblGrid>
                <a:gridCol w="9791704">
                  <a:extLst>
                    <a:ext uri="{9D8B030D-6E8A-4147-A177-3AD203B41FA5}">
                      <a16:colId xmlns:a16="http://schemas.microsoft.com/office/drawing/2014/main" val="2698153288"/>
                    </a:ext>
                  </a:extLst>
                </a:gridCol>
              </a:tblGrid>
              <a:tr h="170826">
                <a:tc>
                  <a:txBody>
                    <a:bodyPr/>
                    <a:lstStyle/>
                    <a:p>
                      <a:r>
                        <a:rPr lang="el-GR" sz="1050" b="1" noProof="0">
                          <a:solidFill>
                            <a:schemeClr val="tx2"/>
                          </a:solidFill>
                        </a:rPr>
                        <a:t xml:space="preserve">Περιγραφή των σημαντικών αγορών όπου δραστηριοποιείται η</a:t>
                      </a:r>
                      <a:r>
                        <a:rPr lang="el-GR" sz="1050" b="1" kern="1200" noProof="0">
                          <a:solidFill>
                            <a:srgbClr val="1B4528"/>
                          </a:solidFill>
                          <a:latin typeface="+mn-lt"/>
                          <a:ea typeface="+mn-ea"/>
                          <a:cs typeface="+mn-cs"/>
                        </a:rPr>
                        <a:t>{{</a:t>
                      </a:r>
                      <a:r>
                        <a:rPr lang="el-GR" sz="1050" b="1" kern="1200" noProof="0">
                          <a:solidFill>
                            <a:srgbClr val="1B4528"/>
                          </a:solidFill>
                          <a:latin typeface="+mn-lt"/>
                          <a:ea typeface="+mn-ea"/>
                          <a:cs typeface="+mn-cs"/>
                        </a:rPr>
                        <a:t>company_name</a:t>
                      </a:r>
                      <a:r>
                        <a:rPr lang="el-GR" sz="1050" b="1" kern="1200" noProof="0">
                          <a:solidFill>
                            <a:srgbClr val="1B4528"/>
                          </a:solidFill>
                          <a:latin typeface="+mn-lt"/>
                          <a:ea typeface="+mn-ea"/>
                          <a:cs typeface="+mn-cs"/>
                        </a:rPr>
                        <a:t>}} </a:t>
                      </a:r>
                      <a:r>
                        <a:rPr lang="el-GR" sz="1050" b="1" noProof="0">
                          <a:solidFill>
                            <a:schemeClr val="tx2"/>
                          </a:solidFill>
                        </a:rPr>
                        <a:t xml:space="preserve"/>
                      </a:r>
                      <a:r>
                        <a:rPr lang="el-GR" sz="1050" b="0" noProof="0">
                          <a:solidFill>
                            <a:schemeClr val="tx2"/>
                          </a:solidFill>
                        </a:rPr>
                        <a:t xml:space="preserve">(παρ. 46b)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77990">
                <a:tc>
                  <a:txBody>
                    <a:bodyPr/>
                    <a:lstStyle/>
                    <a:p>
                      <a:pPr algn="l"/>
                      <a:r>
                        <a:rPr lang="el-GR" sz="1050" b="0" noProof="0">
                          <a:solidFill>
                            <a:srgbClr val="1B4528"/>
                          </a:solidFill>
                        </a:rPr>
                        <a:t>{{</a:t>
                      </a:r>
                      <a:r>
                        <a:rPr lang="el-GR" sz="1050" b="0" noProof="0">
                          <a:solidFill>
                            <a:srgbClr val="1B4528"/>
                          </a:solidFill>
                        </a:rPr>
                        <a:t>business_relationships</a:t>
                      </a:r>
                      <a:r>
                        <a:rPr lang="el-GR" sz="1050" b="0" noProof="0">
                          <a:solidFill>
                            <a:srgbClr val="1B4528"/>
                          </a:solidFill>
                        </a:rPr>
                        <a: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2840991552"/>
              </p:ext>
            </p:extLst>
          </p:nvPr>
        </p:nvGraphicFramePr>
        <p:xfrm>
          <a:off x="464093" y="3890345"/>
          <a:ext cx="9791704" cy="879319"/>
        </p:xfrm>
        <a:graphic>
          <a:graphicData uri="http://schemas.openxmlformats.org/drawingml/2006/table">
            <a:tbl>
              <a:tblPr firstRow="1">
                <a:tableStyleId>{2A488322-F2BA-4B5B-9748-0D474271808F}</a:tableStyleId>
              </a:tblPr>
              <a:tblGrid>
                <a:gridCol w="9791704">
                  <a:extLst>
                    <a:ext uri="{9D8B030D-6E8A-4147-A177-3AD203B41FA5}">
                      <a16:colId xmlns:a16="http://schemas.microsoft.com/office/drawing/2014/main" val="2698153288"/>
                    </a:ext>
                  </a:extLst>
                </a:gridCol>
              </a:tblGrid>
              <a:tr h="155982">
                <a:tc>
                  <a:txBody>
                    <a:bodyPr/>
                    <a:lstStyle/>
                    <a:p>
                      <a:r>
                        <a:rPr lang="el-GR" sz="1050" b="1" noProof="0">
                          <a:solidFill>
                            <a:schemeClr val="tx2"/>
                          </a:solidFill>
                        </a:rPr>
                        <a:t xml:space="preserve">Περιγραφή των κύριων επιχειρηματικών σχέσεων της</a:t>
                      </a:r>
                      <a:r>
                        <a:rPr lang="el-GR" sz="1050" b="1" kern="1200" noProof="0">
                          <a:solidFill>
                            <a:srgbClr val="1B4528"/>
                          </a:solidFill>
                          <a:latin typeface="+mn-lt"/>
                          <a:ea typeface="+mn-ea"/>
                          <a:cs typeface="+mn-cs"/>
                        </a:rPr>
                        <a:t>{{</a:t>
                      </a:r>
                      <a:r>
                        <a:rPr lang="el-GR" sz="1050" b="1" kern="1200" noProof="0">
                          <a:solidFill>
                            <a:srgbClr val="1B4528"/>
                          </a:solidFill>
                          <a:latin typeface="+mn-lt"/>
                          <a:ea typeface="+mn-ea"/>
                          <a:cs typeface="+mn-cs"/>
                        </a:rPr>
                        <a:t>company_name</a:t>
                      </a:r>
                      <a:r>
                        <a:rPr lang="el-GR" sz="1050" b="1" kern="1200" noProof="0">
                          <a:solidFill>
                            <a:srgbClr val="1B4528"/>
                          </a:solidFill>
                          <a:latin typeface="+mn-lt"/>
                          <a:ea typeface="+mn-ea"/>
                          <a:cs typeface="+mn-cs"/>
                        </a:rPr>
                        <a:t>}}</a:t>
                      </a:r>
                      <a:r>
                        <a:rPr lang="el-GR" sz="1050" b="1" kern="1200" noProof="0">
                          <a:solidFill>
                            <a:schemeClr val="accent1"/>
                          </a:solidFill>
                          <a:latin typeface="+mn-lt"/>
                          <a:ea typeface="+mn-ea"/>
                          <a:cs typeface="+mn-cs"/>
                        </a:rPr>
                        <a:t xml:space="preserve"/>
                      </a:r>
                      <a:r>
                        <a:rPr lang="el-GR" sz="1050" b="1" kern="1200" noProof="0">
                          <a:solidFill>
                            <a:srgbClr val="1B4528"/>
                          </a:solidFill>
                          <a:latin typeface="+mn-lt"/>
                          <a:ea typeface="+mn-ea"/>
                          <a:cs typeface="+mn-cs"/>
                        </a:rPr>
                        <a:t> </a:t>
                      </a:r>
                      <a:r>
                        <a:rPr lang="el-GR" sz="1050" b="1" noProof="0">
                          <a:solidFill>
                            <a:schemeClr val="tx2"/>
                          </a:solidFill>
                        </a:rPr>
                        <a:t xml:space="preserve"/>
                      </a:r>
                      <a:r>
                        <a:rPr lang="el-GR" sz="1050" b="0" noProof="0">
                          <a:solidFill>
                            <a:schemeClr val="tx2"/>
                          </a:solidFill>
                        </a:rPr>
                        <a:t xml:space="preserve">(παρ. 46c)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55797">
                <a:tc>
                  <a:txBody>
                    <a:bodyPr/>
                    <a:lstStyle/>
                    <a:p>
                      <a:pPr algn="l"/>
                      <a:r>
                        <a:rPr lang="el-GR" sz="1050" b="0" noProof="0">
                          <a:solidFill>
                            <a:srgbClr val="1B4528"/>
                          </a:solidFill>
                        </a:rPr>
                        <a:t>{{</a:t>
                      </a:r>
                      <a:r>
                        <a:rPr lang="el-GR" sz="1050" b="0" noProof="0">
                          <a:solidFill>
                            <a:srgbClr val="1B4528"/>
                          </a:solidFill>
                        </a:rPr>
                        <a:t>strategy</a:t>
                      </a:r>
                      <a:r>
                        <a:rPr lang="el-GR" sz="1050" b="0" noProof="0">
                          <a:solidFill>
                            <a:srgbClr val="1B4528"/>
                          </a:solidFill>
                        </a:rPr>
                        <a: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54796" y="1387112"/>
          <a:ext cx="9791704" cy="607423"/>
        </p:xfrm>
        <a:graphic>
          <a:graphicData uri="http://schemas.openxmlformats.org/drawingml/2006/table">
            <a:tbl>
              <a:tblPr firstRow="1">
                <a:tableStyleId>{2A488322-F2BA-4B5B-9748-0D474271808F}</a:tableStyleId>
              </a:tblPr>
              <a:tblGrid>
                <a:gridCol w="9791704">
                  <a:extLst>
                    <a:ext uri="{9D8B030D-6E8A-4147-A177-3AD203B41FA5}">
                      <a16:colId xmlns:a16="http://schemas.microsoft.com/office/drawing/2014/main" val="2698153288"/>
                    </a:ext>
                  </a:extLst>
                </a:gridCol>
              </a:tblGrid>
              <a:tr h="163914">
                <a:tc>
                  <a:txBody>
                    <a:bodyPr/>
                    <a:lstStyle/>
                    <a:p>
                      <a:r>
                        <a:rPr lang="el-GR" sz="1050" b="1" noProof="0">
                          <a:solidFill>
                            <a:schemeClr val="tx2"/>
                          </a:solidFill>
                        </a:rPr>
                        <a:t xml:space="preserve">Περιγραφή του συνολικού επιχειρηματικού μοντέλου και της στρατηγικής </a:t>
                      </a:r>
                      <a:r>
                        <a:rPr lang="el-GR" sz="1050" b="0" noProof="0">
                          <a:solidFill>
                            <a:schemeClr val="tx2"/>
                          </a:solidFill>
                        </a:rPr>
                        <a:t xml:space="preserve">(παρ. 46)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78893">
                <a:tc>
                  <a:txBody>
                    <a:bodyPr/>
                    <a:lstStyle/>
                    <a:p>
                      <a:pPr algn="l"/>
                      <a:r>
                        <a:rPr lang="el-GR" sz="1050" b="0" noProof="0">
                          <a:solidFill>
                            <a:srgbClr val="1B4528"/>
                          </a:solidFill>
                        </a:rPr>
                        <a:t>{{</a:t>
                      </a:r>
                      <a:r>
                        <a:rPr lang="el-GR" sz="1050" b="0" noProof="0">
                          <a:solidFill>
                            <a:srgbClr val="1B4528"/>
                          </a:solidFill>
                        </a:rPr>
                        <a:t>products_description</a:t>
                      </a:r>
                      <a:r>
                        <a:rPr lang="el-GR" sz="1050" b="0" noProof="0">
                          <a:solidFill>
                            <a:srgbClr val="1B4528"/>
                          </a:solidFill>
                        </a:rPr>
                        <a:t>}}</a:t>
                      </a:r>
                    </a:p>
                    <a:p>
                      <a:pPr algn="l"/>
                      <a:endParaRPr lang="el-GR"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2119427327"/>
              </p:ext>
            </p:extLst>
          </p:nvPr>
        </p:nvGraphicFramePr>
        <p:xfrm>
          <a:off x="454794" y="4868397"/>
          <a:ext cx="9791704" cy="698183"/>
        </p:xfrm>
        <a:graphic>
          <a:graphicData uri="http://schemas.openxmlformats.org/drawingml/2006/table">
            <a:tbl>
              <a:tblPr firstRow="1">
                <a:tableStyleId>{2A488322-F2BA-4B5B-9748-0D474271808F}</a:tableStyleId>
              </a:tblPr>
              <a:tblGrid>
                <a:gridCol w="9791704">
                  <a:extLst>
                    <a:ext uri="{9D8B030D-6E8A-4147-A177-3AD203B41FA5}">
                      <a16:colId xmlns:a16="http://schemas.microsoft.com/office/drawing/2014/main" val="2698153288"/>
                    </a:ext>
                  </a:extLst>
                </a:gridCol>
              </a:tblGrid>
              <a:tr h="132763">
                <a:tc>
                  <a:txBody>
                    <a:bodyPr/>
                    <a:lstStyle/>
                    <a:p>
                      <a:r>
                        <a:rPr lang="el-GR" sz="1050" b="1" noProof="0">
                          <a:solidFill>
                            <a:schemeClr val="tx2"/>
                          </a:solidFill>
                        </a:rPr>
                        <a:t xml:space="preserve">Περιγραφή των σημείων όπου η στρατηγική και το επιχειρηματικό μοντέλο της</a:t>
                      </a:r>
                      <a:r>
                        <a:rPr lang="el-GR" sz="1050" b="1" kern="1200" noProof="0">
                          <a:solidFill>
                            <a:srgbClr val="1B4528"/>
                          </a:solidFill>
                          <a:latin typeface="+mn-lt"/>
                          <a:ea typeface="+mn-ea"/>
                          <a:cs typeface="+mn-cs"/>
                        </a:rPr>
                        <a:t>{{company_name}}</a:t>
                      </a:r>
                      <a:r>
                        <a:rPr lang="el-GR" sz="1050" b="1" kern="1200" noProof="0">
                          <a:solidFill>
                            <a:schemeClr val="accent1"/>
                          </a:solidFill>
                          <a:latin typeface="+mn-lt"/>
                          <a:ea typeface="+mn-ea"/>
                          <a:cs typeface="+mn-cs"/>
                        </a:rPr>
                        <a:t xml:space="preserve"> έχουν στοιχεία σχετικά με τη βιωσιμότητα </a:t>
                      </a:r>
                      <a:r>
                        <a:rPr lang="el-GR" sz="1050" b="0" noProof="0">
                          <a:solidFill>
                            <a:schemeClr val="tx2"/>
                          </a:solidFill>
                        </a:rPr>
                        <a:t xml:space="preserve">(παρ. 46d)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74661">
                <a:tc>
                  <a:txBody>
                    <a:bodyPr/>
                    <a:lstStyle/>
                    <a:p>
                      <a:pPr lvl="0" algn="l">
                        <a:buNone/>
                      </a:pPr>
                      <a:r>
                        <a:rPr lang="el-GR" sz="1050" b="0" noProof="0">
                          <a:solidFill>
                            <a:srgbClr val="1B4528"/>
                          </a:solidFill>
                        </a:rPr>
                        <a:t>{{business_model}}</a:t>
                      </a:r>
                      <a:endParaRPr lang="el-G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54796" y="891000"/>
            <a:ext cx="9869667"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περιέγραψε το συνολικό επιχειρηματικό μοντέλο και τη στρατηγική, τα προϊόντα και/ή τις υπηρεσίες, τις αγορές και τις επιχειρηματικές σχέσεις, και ανέφερε εάν το μοντέλο έχει στοιχεία σχετικά με τη βιωσιμότητα. </a:t>
            </a:r>
            <a:endParaRPr lang="el-GR" sz="1050"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latin typeface="+mn-lt"/>
                <a:ea typeface="+mn-ea"/>
                <a:cs typeface="+mn-cs"/>
              </a:rPr>
              <a:t xml:space="preserve">Π</a:t>
            </a:r>
            <a:r>
              <a:rPr lang="el-GR" sz="1575" b="1" kern="1200" spc="-10" noProof="0">
                <a:solidFill>
                  <a:schemeClr val="tx2"/>
                </a:solidFill>
                <a:latin typeface="+mn-lt"/>
                <a:ea typeface="+mn-ea"/>
                <a:cs typeface="+mn-cs"/>
              </a:rPr>
              <a:t xml:space="preserve">ρακτικές, πολιτικές και μελλοντικές πρωτοβουλίες για μετάβαση σε πιο βιώσιμη οικονομία (C2)</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15</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54797" y="1793460"/>
          <a:ext cx="9791702" cy="4452074"/>
        </p:xfrm>
        <a:graphic>
          <a:graphicData uri="http://schemas.openxmlformats.org/drawingml/2006/table">
            <a:tbl>
              <a:tblPr firstRow="1">
                <a:tableStyleId>{2A488322-F2BA-4B5B-9748-0D474271808F}</a:tableStyleId>
              </a:tblPr>
              <a:tblGrid>
                <a:gridCol w="1681007">
                  <a:extLst>
                    <a:ext uri="{9D8B030D-6E8A-4147-A177-3AD203B41FA5}">
                      <a16:colId xmlns:a16="http://schemas.microsoft.com/office/drawing/2014/main" val="1902117154"/>
                    </a:ext>
                  </a:extLst>
                </a:gridCol>
                <a:gridCol w="2703565">
                  <a:extLst>
                    <a:ext uri="{9D8B030D-6E8A-4147-A177-3AD203B41FA5}">
                      <a16:colId xmlns:a16="http://schemas.microsoft.com/office/drawing/2014/main" val="1904521774"/>
                    </a:ext>
                  </a:extLst>
                </a:gridCol>
                <a:gridCol w="2703565">
                  <a:extLst>
                    <a:ext uri="{9D8B030D-6E8A-4147-A177-3AD203B41FA5}">
                      <a16:colId xmlns:a16="http://schemas.microsoft.com/office/drawing/2014/main" val="3164053669"/>
                    </a:ext>
                  </a:extLst>
                </a:gridCol>
                <a:gridCol w="2703565">
                  <a:extLst>
                    <a:ext uri="{9D8B030D-6E8A-4147-A177-3AD203B41FA5}">
                      <a16:colId xmlns:a16="http://schemas.microsoft.com/office/drawing/2014/main" val="1484983729"/>
                    </a:ext>
                  </a:extLst>
                </a:gridCol>
              </a:tblGrid>
              <a:tr h="306609">
                <a:tc rowSpan="2">
                  <a:txBody>
                    <a:bodyPr/>
                    <a:lstStyle/>
                    <a:p>
                      <a:pPr algn="l"/>
                      <a:r>
                        <a:rPr lang="el-GR" sz="1050" b="1" kern="1200" spc="-10" noProof="0">
                          <a:solidFill>
                            <a:schemeClr val="tx2"/>
                          </a:solidFill>
                          <a:latin typeface="+mn-lt"/>
                          <a:ea typeface="+mn-ea"/>
                          <a:cs typeface="+mn-cs"/>
                        </a:rPr>
                        <a:t xml:space="preserve">Τομέας</a:t>
                      </a:r>
                    </a:p>
                    <a:p>
                      <a:pPr algn="l"/>
                      <a:r>
                        <a:rPr lang="el-GR" sz="1050" b="0" kern="1200" spc="-10" noProof="0">
                          <a:solidFill>
                            <a:schemeClr val="tx2"/>
                          </a:solidFill>
                          <a:latin typeface="+mn-lt"/>
                          <a:ea typeface="+mn-ea"/>
                          <a:cs typeface="+mn-cs"/>
                        </a:rPr>
                        <a:t xml:space="preserve">(παρ. 47)</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l-GR" sz="1050" b="1" kern="1200" spc="-10" noProof="0">
                          <a:solidFill>
                            <a:schemeClr val="tx2"/>
                          </a:solidFill>
                          <a:latin typeface="+mn-lt"/>
                          <a:ea typeface="+mn-ea"/>
                          <a:cs typeface="+mn-cs"/>
                        </a:rPr>
                        <a:t xml:space="preserve">Σύντομη περιγραφή </a:t>
                      </a:r>
                      <a:r>
                        <a:rPr lang="el-GR" sz="1050" b="1" u="none" kern="1200" spc="-10" noProof="0">
                          <a:solidFill>
                            <a:schemeClr val="tx2"/>
                          </a:solidFill>
                          <a:latin typeface="+mn-lt"/>
                          <a:ea typeface="+mn-ea"/>
                          <a:cs typeface="+mn-cs"/>
                        </a:rPr>
                        <a:t xml:space="preserve">των υφιστάμενων </a:t>
                      </a:r>
                      <a:r>
                        <a:rPr lang="el-GR" sz="1050" b="1" kern="1200" spc="-10" noProof="0">
                          <a:solidFill>
                            <a:schemeClr val="tx2"/>
                          </a:solidFill>
                          <a:latin typeface="+mn-lt"/>
                          <a:ea typeface="+mn-ea"/>
                          <a:cs typeface="+mn-cs"/>
                        </a:rPr>
                        <a:t xml:space="preserve">πρακτικών/πολιτικών/δράσεων (βλ. B2)</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l-GR" sz="1050" b="1" kern="1200" spc="-10" noProof="0">
                          <a:solidFill>
                            <a:schemeClr val="tx2"/>
                          </a:solidFill>
                          <a:latin typeface="+mn-lt"/>
                          <a:ea typeface="+mn-ea"/>
                          <a:cs typeface="+mn-cs"/>
                        </a:rPr>
                        <a:t xml:space="preserve">Σύντομη περιγραφή τυχόν </a:t>
                      </a:r>
                      <a:r>
                        <a:rPr lang="el-GR" sz="1050" b="1" u="none" kern="1200" spc="-10" noProof="0">
                          <a:solidFill>
                            <a:schemeClr val="tx2"/>
                          </a:solidFill>
                          <a:latin typeface="+mn-lt"/>
                          <a:ea typeface="+mn-ea"/>
                          <a:cs typeface="+mn-cs"/>
                        </a:rPr>
                        <a:t xml:space="preserve">μελλοντικών</a:t>
                      </a:r>
                      <a:r>
                        <a:rPr lang="el-GR" sz="1050" b="1" kern="1200" spc="-10" noProof="0">
                          <a:solidFill>
                            <a:schemeClr val="tx2"/>
                          </a:solidFill>
                          <a:latin typeface="+mn-lt"/>
                          <a:ea typeface="+mn-ea"/>
                          <a:cs typeface="+mn-cs"/>
                        </a:rPr>
                        <a:t xml:space="preserve"> στόχων (βλ. B2)</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spc="-10" noProof="0">
                          <a:solidFill>
                            <a:schemeClr val="bg1"/>
                          </a:solidFill>
                        </a:rPr>
                        <a:t xml:space="preserve">Προαιρετική </a:t>
                      </a:r>
                      <a:r>
                        <a:rPr lang="el-GR" sz="1050" b="1" spc="-10" noProof="0">
                          <a:solidFill>
                            <a:schemeClr val="bg1"/>
                          </a:solidFill>
                        </a:rPr>
                        <a:t xml:space="preserve">γνωστοποίηση</a:t>
                      </a:r>
                      <a:endParaRPr lang="el-GR" sz="1050" spc="-10" noProof="0">
                        <a:solidFill>
                          <a:schemeClr val="bg1"/>
                        </a:solidFill>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502227">
                <a:tc vMerge="1">
                  <a:txBody>
                    <a:bodyPr/>
                    <a:lstStyle/>
                    <a:p>
                      <a:endParaRPr lang="en-GB"/>
                    </a:p>
                  </a:txBody>
                  <a:tcPr/>
                </a:tc>
                <a:tc vMerge="1">
                  <a:txBody>
                    <a:bodyPr/>
                    <a:lstStyle/>
                    <a:p>
                      <a:endParaRPr lang="en-GB"/>
                    </a:p>
                  </a:txBody>
                  <a:tcPr/>
                </a:tc>
                <a:tc vMerge="1">
                  <a:txBody>
                    <a:bodyPr/>
                    <a:lstStyle/>
                    <a:p>
                      <a:endParaRPr lang="en-GB"/>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Ανώτατο ιεραρχικό επίπεδο υπεύθυνο για την εφαρμογή </a:t>
                      </a:r>
                      <a:r>
                        <a:rPr lang="el-GR" sz="1050" b="0" kern="1200" spc="-10" noProof="0">
                          <a:solidFill>
                            <a:schemeClr val="tx2"/>
                          </a:solidFill>
                          <a:latin typeface="+mn-lt"/>
                          <a:ea typeface="+mn-ea"/>
                          <a:cs typeface="+mn-cs"/>
                        </a:rPr>
                        <a:t xml:space="preserve">(παρ. 48)</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306527">
                <a:tc>
                  <a:txBody>
                    <a:bodyPr/>
                    <a:lstStyle/>
                    <a:p>
                      <a:pPr algn="l"/>
                      <a:r>
                        <a:rPr lang="el-GR" sz="1050" b="1" kern="1200" spc="-10" noProof="0">
                          <a:solidFill>
                            <a:schemeClr val="tx2"/>
                          </a:solidFill>
                          <a:latin typeface="+mn-lt"/>
                          <a:ea typeface="+mn-ea"/>
                          <a:cs typeface="+mn-cs"/>
                        </a:rPr>
                        <a:t xml:space="preserve">Κλιματική αλλαγή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Climate_C2_Description_Existing_Practices</a:t>
                      </a:r>
                      <a:r>
                        <a:rPr lang="el-GR" sz="1050" b="0" i="0" u="none" strike="noStrike" noProof="0">
                          <a:solidFill>
                            <a:srgbClr val="1B4528"/>
                          </a:solidFill>
                          <a:effectLst/>
                          <a:latin typeface="Inter"/>
                        </a:rPr>
                        <a:t>}}</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Climate_C2_Future_Practices</a:t>
                      </a:r>
                      <a:r>
                        <a:rPr lang="el-GR" sz="1050" b="0" i="0" u="none" strike="noStrike" noProof="0">
                          <a:solidFill>
                            <a:srgbClr val="1B4528"/>
                          </a:solidFill>
                          <a:effectLst/>
                          <a:latin typeface="Inter"/>
                        </a:rPr>
                        <a:t>}}</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Climate_C2_Management_Level</a:t>
                      </a:r>
                      <a:r>
                        <a:rPr lang="el-GR" sz="1050" b="0" i="0" u="none" strike="noStrike" noProof="0">
                          <a:solidFill>
                            <a:srgbClr val="1B4528"/>
                          </a:solidFill>
                          <a:effectLst/>
                          <a:latin typeface="Inter"/>
                        </a:rPr>
                        <a:t>}}</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90888">
                <a:tc>
                  <a:txBody>
                    <a:bodyPr/>
                    <a:lstStyle/>
                    <a:p>
                      <a:pPr algn="l"/>
                      <a:r>
                        <a:rPr lang="el-GR" sz="1050" b="1" kern="1200" spc="-10" noProof="0">
                          <a:solidFill>
                            <a:schemeClr val="tx2"/>
                          </a:solidFill>
                          <a:latin typeface="+mn-lt"/>
                          <a:ea typeface="+mn-ea"/>
                          <a:cs typeface="+mn-cs"/>
                        </a:rPr>
                        <a:t xml:space="preserve">Ρύπανση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Pollution_C2_Description_Existing_Practices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Pollution_C2_Future_Practices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Pollution_C2_Management_Level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99150">
                <a:tc>
                  <a:txBody>
                    <a:bodyPr/>
                    <a:lstStyle/>
                    <a:p>
                      <a:pPr algn="l"/>
                      <a:r>
                        <a:rPr lang="el-GR" sz="1050" b="1" kern="1200" spc="-10" noProof="0">
                          <a:solidFill>
                            <a:schemeClr val="tx2"/>
                          </a:solidFill>
                          <a:latin typeface="+mn-lt"/>
                          <a:ea typeface="+mn-ea"/>
                          <a:cs typeface="+mn-cs"/>
                        </a:rPr>
                        <a:t xml:space="preserve">Υδάτινοι και θαλάσσιοι πόροι</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Water_C2_Description_Existing_Practices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Water_C2_Future_Practices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BM Plex Sans"/>
                        </a:rPr>
                        <a:t>Water_C2_Management_Level</a:t>
                      </a:r>
                      <a:r>
                        <a:rPr lang="el-GR" sz="1050" b="0" i="0" u="none" strike="noStrike" noProof="0">
                          <a:solidFill>
                            <a:srgbClr val="1B4528"/>
                          </a:solidFill>
                          <a:effectLst/>
                          <a:latin typeface="Inter"/>
                        </a:rPr>
                        <a:t>}}</a:t>
                      </a:r>
                      <a:endParaRPr lang="el-GR" sz="1050" b="0" i="0" u="none" strike="noStrike" noProof="0">
                        <a:solidFill>
                          <a:srgbClr val="000000"/>
                        </a:solidFill>
                        <a:effectLst/>
                        <a:latin typeface="Inter"/>
                      </a:endParaRPr>
                    </a:p>
                    <a:p>
                      <a:pPr lvl="0">
                        <a:buNone/>
                      </a:pPr>
                      <a:endParaRPr lang="el-GR" sz="1050" b="0" i="0" u="none" strike="noStrike" noProof="0">
                        <a:solidFill>
                          <a:srgbClr val="1B4528"/>
                        </a:solidFill>
                        <a:effectLst/>
                        <a:latin typeface="Inter"/>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239">
                <a:tc>
                  <a:txBody>
                    <a:bodyPr/>
                    <a:lstStyle/>
                    <a:p>
                      <a:pPr algn="l"/>
                      <a:r>
                        <a:rPr lang="el-GR" sz="1050" b="1" kern="1200" spc="-10" noProof="0">
                          <a:solidFill>
                            <a:schemeClr val="tx2"/>
                          </a:solidFill>
                          <a:latin typeface="+mn-lt"/>
                          <a:ea typeface="+mn-ea"/>
                          <a:cs typeface="+mn-cs"/>
                        </a:rPr>
                        <a:t xml:space="preserve">Βιοποικιλότητα και οικοσυστήματα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Bio_C2_Description_Existing_Practices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Bio_C2_Future_Practices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Bio_C2_Management_Level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99150">
                <a:tc>
                  <a:txBody>
                    <a:bodyPr/>
                    <a:lstStyle/>
                    <a:p>
                      <a:pPr algn="l"/>
                      <a:r>
                        <a:rPr lang="el-GR" sz="1050" b="1" kern="1200" spc="-10" noProof="0">
                          <a:solidFill>
                            <a:schemeClr val="tx2"/>
                          </a:solidFill>
                          <a:latin typeface="+mn-lt"/>
                          <a:ea typeface="+mn-ea"/>
                          <a:cs typeface="+mn-cs"/>
                        </a:rPr>
                        <a:t xml:space="preserve">Κυκλική οικονομία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Circular_C2_Description_Existing_Practices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Circular_C2_Future_Practices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Circular_C2_Management_Level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99150">
                <a:tc>
                  <a:txBody>
                    <a:bodyPr/>
                    <a:lstStyle/>
                    <a:p>
                      <a:pPr algn="l"/>
                      <a:r>
                        <a:rPr lang="el-GR" sz="1050" b="1" kern="1200" spc="-10" noProof="0">
                          <a:solidFill>
                            <a:schemeClr val="tx2"/>
                          </a:solidFill>
                          <a:latin typeface="+mn-lt"/>
                          <a:ea typeface="+mn-ea"/>
                          <a:cs typeface="+mn-cs"/>
                        </a:rPr>
                        <a:t xml:space="preserve">Ίδιο εργατικό δυναμικό</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Own_Workforce_C2_Description_Existing_Practices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Own_Workforce_C2_Future_Practices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Own_Workforce_C2_Management_Level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99150">
                <a:tc>
                  <a:txBody>
                    <a:bodyPr/>
                    <a:lstStyle/>
                    <a:p>
                      <a:pPr algn="l"/>
                      <a:r>
                        <a:rPr lang="el-GR" sz="1050" b="1" kern="1200" spc="-10" noProof="0">
                          <a:solidFill>
                            <a:schemeClr val="tx2"/>
                          </a:solidFill>
                          <a:latin typeface="+mn-lt"/>
                          <a:ea typeface="+mn-ea"/>
                          <a:cs typeface="+mn-cs"/>
                        </a:rPr>
                        <a:t xml:space="preserve">Εργαζόμενοι στην αλυσίδα αξίας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Workers_Value_Chain_C2_Description_Existing_Practices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Workers_Value_Chain_C2_Future_Practices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Workers_Value_Chain_C2_Management_Level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99150">
                <a:tc>
                  <a:txBody>
                    <a:bodyPr/>
                    <a:lstStyle/>
                    <a:p>
                      <a:pPr algn="l"/>
                      <a:r>
                        <a:rPr lang="el-GR" sz="1050" b="1" kern="1200" spc="-10" noProof="0">
                          <a:solidFill>
                            <a:schemeClr val="tx2"/>
                          </a:solidFill>
                          <a:latin typeface="+mn-lt"/>
                          <a:ea typeface="+mn-ea"/>
                          <a:cs typeface="+mn-cs"/>
                        </a:rPr>
                        <a:t xml:space="preserve">Επηρεαζόμενες κοινότητες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Affected_C2_Description_Existing_Practices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Affected_C2_Future_Practices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Affected_C2_Management_Level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54239">
                <a:tc>
                  <a:txBody>
                    <a:bodyPr/>
                    <a:lstStyle/>
                    <a:p>
                      <a:pPr algn="l"/>
                      <a:r>
                        <a:rPr lang="el-GR" sz="1050" b="1" kern="1200" spc="-10" noProof="0">
                          <a:solidFill>
                            <a:schemeClr val="tx2"/>
                          </a:solidFill>
                          <a:latin typeface="+mn-lt"/>
                          <a:ea typeface="+mn-ea"/>
                          <a:cs typeface="+mn-cs"/>
                        </a:rPr>
                        <a:t xml:space="preserve">Καταναλωτές και τελικοί χρήστες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Consumers_C2_Description_Existing_Practices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Consumers_C2_Future_Practices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Consumers_C2_Management_Level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99150">
                <a:tc>
                  <a:txBody>
                    <a:bodyPr/>
                    <a:lstStyle/>
                    <a:p>
                      <a:pPr algn="l"/>
                      <a:r>
                        <a:rPr lang="el-GR" sz="1050" b="1" kern="1200" spc="-10" noProof="0">
                          <a:solidFill>
                            <a:schemeClr val="tx2"/>
                          </a:solidFill>
                          <a:latin typeface="+mn-lt"/>
                          <a:ea typeface="+mn-ea"/>
                          <a:cs typeface="+mn-cs"/>
                        </a:rPr>
                        <a:t xml:space="preserve">Επιχειρηματική δεοντολογία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Governance_C2_Description_Existing_Practices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Governance_C2_Future_Practices</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rPr>
                        <a:t>Governance_C2_Management_Level</a:t>
                      </a:r>
                      <a:r>
                        <a:rPr lang="el-GR" sz="1050" b="0" i="0" u="none" strike="noStrike" noProof="0">
                          <a:solidFill>
                            <a:srgbClr val="1B4528"/>
                          </a:solidFill>
                          <a:effectLst/>
                          <a:latin typeface="Inter"/>
                        </a:rPr>
                        <a:t>}}</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69926" y="903083"/>
            <a:ext cx="9776573" cy="566812"/>
          </a:xfrm>
          <a:prstGeom prst="rect">
            <a:avLst/>
          </a:prstGeom>
          <a:noFill/>
        </p:spPr>
        <p:txBody>
          <a:bodyPr wrap="square">
            <a:spAutoFit/>
          </a:bodyPr>
          <a:lstStyle/>
          <a:p>
            <a:r>
              <a:rPr lang="el-GR" sz="1050" noProof="0">
                <a:solidFill>
                  <a:schemeClr val="tx2"/>
                </a:solidFill>
              </a:rPr>
              <a:t xml:space="preserve">Ο κατωτέρω πίνακας συμπληρώθηκε επειδή η επιχείρηση έχει ήδη θεσπίσει συγκεκριμένες πρακτικές, πολιτικές ή πρωτοβουλίες που συμβάλλουν στη μετάβαση σε πιο βιώσιμη οικονομία. Η επιχείρηση απάντησε ”ΝΑΙ” σε μία ή περισσότερες γνωστοποιήσεις του B2 της Βασικής ενότητας. Ακολουθεί πληρέστερη παρουσίαση των πολιτικών, πρωτοβουλιών και πρακτικών που έχουν δρομολογηθεί</a:t>
            </a:r>
          </a:p>
        </p:txBody>
      </p:sp>
    </p:spTree>
    <p:extLst>
      <p:ext uri="{BB962C8B-B14F-4D97-AF65-F5344CB8AC3E}">
        <p14:creationId xmlns:p14="http://schemas.microsoft.com/office/powerpoint/2010/main" val="9724709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solidFill>
                  <a:srgbClr val="1B4528"/>
                </a:solidFill>
                <a:latin typeface="IBM Plex Sans" panose="020B0503050203000203" pitchFamily="34" charset="0"/>
              </a:rPr>
              <a:t xml:space="preserve">Εκπομπές CO₂e στο πλαίσιο του B3 της Βασικής ενότητας</a:t>
            </a:r>
            <a:r>
              <a:rPr lang="el-GR" noProof="0">
                <a:solidFill>
                  <a:srgbClr val="1B4528"/>
                </a:solidFill>
                <a:latin typeface="IBM Plex Sans" panose="020B0503050203000203" pitchFamily="34" charset="0"/>
              </a:rPr>
              <a:t xml:space="preserve"/>
            </a:r>
            <a:endParaRPr lang="el-GR"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16</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468745460"/>
              </p:ext>
            </p:extLst>
          </p:nvPr>
        </p:nvGraphicFramePr>
        <p:xfrm>
          <a:off x="454795" y="3510858"/>
          <a:ext cx="9791704" cy="1540671"/>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1902117154"/>
                    </a:ext>
                  </a:extLst>
                </a:gridCol>
                <a:gridCol w="3263901">
                  <a:extLst>
                    <a:ext uri="{9D8B030D-6E8A-4147-A177-3AD203B41FA5}">
                      <a16:colId xmlns:a16="http://schemas.microsoft.com/office/drawing/2014/main" val="1904521774"/>
                    </a:ext>
                  </a:extLst>
                </a:gridCol>
                <a:gridCol w="3263901">
                  <a:extLst>
                    <a:ext uri="{9D8B030D-6E8A-4147-A177-3AD203B41FA5}">
                      <a16:colId xmlns:a16="http://schemas.microsoft.com/office/drawing/2014/main" val="2605332690"/>
                    </a:ext>
                  </a:extLst>
                </a:gridCol>
              </a:tblGrid>
              <a:tr h="245634">
                <a:tc gridSpan="3">
                  <a:txBody>
                    <a:bodyPr/>
                    <a:lstStyle/>
                    <a:p>
                      <a:r>
                        <a:rPr lang="el-GR" sz="1050" b="1" kern="1200" spc="-10" noProof="0">
                          <a:solidFill>
                            <a:schemeClr val="tx2"/>
                          </a:solidFill>
                          <a:latin typeface="+mn-lt"/>
                          <a:ea typeface="+mn-ea"/>
                          <a:cs typeface="+mn-cs"/>
                        </a:rPr>
                        <a:t xml:space="preserve">Στόχοι μείωσης CO₂e </a:t>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xml:space="preserve">(παρ. 53 a–d)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303712">
                <a:tc>
                  <a:txBody>
                    <a:bodyPr/>
                    <a:lstStyle/>
                    <a:p>
                      <a:pPr algn="l"/>
                      <a:endParaRPr lang="el-GR" sz="1050" b="0"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Στόχος για το έτος </a:t>
                      </a:r>
                      <a:r>
                        <a:rPr lang="el-GR" sz="1050" b="1" kern="1200" spc="-10" noProof="0">
                          <a:solidFill>
                            <a:srgbClr val="1B4528"/>
                          </a:solidFill>
                          <a:latin typeface="+mn-lt"/>
                          <a:ea typeface="+mn-ea"/>
                          <a:cs typeface="+mn-cs"/>
                        </a:rPr>
                        <a:t>{{baseline_year-1}}</a:t>
                      </a:r>
                      <a:endParaRPr lang="el-GR" sz="1050" b="0" kern="1200" spc="-10" noProof="0">
                        <a:solidFill>
                          <a:srgbClr val="1B4528"/>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Εκπομπές CO₂e στο έτος βάσης:</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a:t>
                      </a:r>
                      <a:r>
                        <a:rPr lang="el-GR" sz="1050" b="1" kern="1200" spc="-10" noProof="0">
                          <a:solidFill>
                            <a:srgbClr val="1B4528"/>
                          </a:solidFill>
                          <a:latin typeface="+mn-lt"/>
                          <a:ea typeface="+mn-ea"/>
                          <a:cs typeface="+mn-cs"/>
                        </a:rPr>
                        <a:t>{{</a:t>
                      </a:r>
                      <a:r>
                        <a:rPr lang="el-GR" sz="1050" b="1" kern="1200" spc="-10" noProof="0">
                          <a:solidFill>
                            <a:srgbClr val="1B4528"/>
                          </a:solidFill>
                          <a:latin typeface="+mn-lt"/>
                          <a:ea typeface="+mn-ea"/>
                          <a:cs typeface="+mn-cs"/>
                        </a:rPr>
                        <a:t>Insert</a:t>
                      </a:r>
                      <a:r>
                        <a:rPr lang="el-GR" sz="1050" b="1" kern="1200" spc="-10" noProof="0">
                          <a:solidFill>
                            <a:srgbClr val="1B4528"/>
                          </a:solidFill>
                          <a:latin typeface="+mn-lt"/>
                          <a:ea typeface="+mn-ea"/>
                          <a:cs typeface="+mn-cs"/>
                        </a:rPr>
                        <a:t> baseline </a:t>
                      </a:r>
                      <a:r>
                        <a:rPr lang="el-GR" sz="1050" b="1" kern="1200" spc="-10" noProof="0">
                          <a:solidFill>
                            <a:srgbClr val="1B4528"/>
                          </a:solidFill>
                          <a:latin typeface="+mn-lt"/>
                          <a:ea typeface="+mn-ea"/>
                          <a:cs typeface="+mn-cs"/>
                        </a:rPr>
                        <a:t>year</a:t>
                      </a:r>
                      <a:r>
                        <a:rPr lang="el-GR" sz="1050" b="1" kern="1200" spc="-10" noProof="0">
                          <a:solidFill>
                            <a:srgbClr val="1B4528"/>
                          </a:solidFill>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30371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Scope</a:t>
                      </a:r>
                      <a:r>
                        <a:rPr lang="el-GR" sz="1050" b="1" kern="1200" spc="-10" noProof="0">
                          <a:solidFill>
                            <a:schemeClr val="tx2"/>
                          </a:solidFill>
                          <a:latin typeface="+mn-lt"/>
                          <a:ea typeface="+mn-ea"/>
                          <a:cs typeface="+mn-cs"/>
                        </a:rPr>
                        <a:t> 1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1050" b="0" i="0" u="none" strike="noStrike" noProof="0">
                          <a:solidFill>
                            <a:srgbClr val="1B4528"/>
                          </a:solidFill>
                          <a:effectLst/>
                          <a:latin typeface="Inter"/>
                        </a:rPr>
                        <a:t>{{scope1-2_target}}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1050" b="0" i="0" u="none" strike="noStrike" noProof="0">
                          <a:solidFill>
                            <a:srgbClr val="1B4528"/>
                          </a:solidFill>
                          <a:effectLst/>
                          <a:latin typeface="Inter"/>
                        </a:rPr>
                        <a:t>{{scope1-2_baseline}}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0371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Scope</a:t>
                      </a:r>
                      <a:r>
                        <a:rPr lang="el-GR" sz="1050" b="1" kern="1200" spc="-10" noProof="0">
                          <a:solidFill>
                            <a:schemeClr val="tx2"/>
                          </a:solidFill>
                          <a:latin typeface="+mn-lt"/>
                          <a:ea typeface="+mn-ea"/>
                          <a:cs typeface="+mn-cs"/>
                        </a:rPr>
                        <a:t> 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1050" b="0" i="0" u="none" strike="noStrike" noProof="0">
                          <a:solidFill>
                            <a:srgbClr val="1B4528"/>
                          </a:solidFill>
                          <a:effectLst/>
                          <a:latin typeface="Inter"/>
                        </a:rPr>
                        <a:t>{{scope1-2_target}}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1050" b="0" i="0" u="none" strike="noStrike" noProof="0">
                          <a:solidFill>
                            <a:srgbClr val="1B4528"/>
                          </a:solidFill>
                          <a:effectLst/>
                          <a:latin typeface="Inter"/>
                        </a:rPr>
                        <a:t>{{scope1-2_baseline}}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303712">
                <a:tc>
                  <a:txBody>
                    <a:bodyPr/>
                    <a:lstStyle/>
                    <a:p>
                      <a:pPr algn="l"/>
                      <a:r>
                        <a:rPr lang="el-GR" sz="1050" b="1" kern="1200" spc="-10" noProof="0">
                          <a:solidFill>
                            <a:schemeClr val="tx2"/>
                          </a:solidFill>
                          <a:latin typeface="+mn-lt"/>
                          <a:ea typeface="+mn-ea"/>
                          <a:cs typeface="+mn-cs"/>
                        </a:rPr>
                        <a:t>Scope</a:t>
                      </a:r>
                      <a:r>
                        <a:rPr lang="el-GR" sz="1050" b="1" kern="1200" spc="-10" noProof="0">
                          <a:solidFill>
                            <a:schemeClr val="tx2"/>
                          </a:solidFill>
                          <a:latin typeface="+mn-lt"/>
                          <a:ea typeface="+mn-ea"/>
                          <a:cs typeface="+mn-cs"/>
                        </a:rPr>
                        <a:t> 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1050" b="0" i="0" u="none" strike="noStrike" noProof="0">
                          <a:solidFill>
                            <a:srgbClr val="1B4528"/>
                          </a:solidFill>
                          <a:effectLst/>
                          <a:latin typeface="Inter"/>
                        </a:rPr>
                        <a:t>{{scope3_target}}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1050" b="0" i="0" u="none" strike="noStrike" noProof="0">
                          <a:solidFill>
                            <a:srgbClr val="1B4528"/>
                          </a:solidFill>
                          <a:effectLst/>
                          <a:latin typeface="Inter"/>
                        </a:rPr>
                        <a:t>{{scope3_baseline}}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3618635351"/>
              </p:ext>
            </p:extLst>
          </p:nvPr>
        </p:nvGraphicFramePr>
        <p:xfrm>
          <a:off x="454794" y="5178656"/>
          <a:ext cx="9791709" cy="666608"/>
        </p:xfrm>
        <a:graphic>
          <a:graphicData uri="http://schemas.openxmlformats.org/drawingml/2006/table">
            <a:tbl>
              <a:tblPr firstRow="1">
                <a:tableStyleId>{2A488322-F2BA-4B5B-9748-0D474271808F}</a:tableStyleId>
              </a:tblPr>
              <a:tblGrid>
                <a:gridCol w="9791709">
                  <a:extLst>
                    <a:ext uri="{9D8B030D-6E8A-4147-A177-3AD203B41FA5}">
                      <a16:colId xmlns:a16="http://schemas.microsoft.com/office/drawing/2014/main" val="2119413191"/>
                    </a:ext>
                  </a:extLst>
                </a:gridCol>
              </a:tblGrid>
              <a:tr h="289726">
                <a:tc>
                  <a:txBody>
                    <a:bodyPr/>
                    <a:lstStyle/>
                    <a:p>
                      <a:pPr marL="0" algn="l" defTabSz="914400" rtl="0" eaLnBrk="1" latinLnBrk="0" hangingPunct="1"/>
                      <a:r>
                        <a:rPr lang="el-GR" sz="1050" b="1" kern="1200" spc="-10" noProof="0">
                          <a:solidFill>
                            <a:schemeClr val="tx2"/>
                          </a:solidFill>
                          <a:latin typeface="+mn-lt"/>
                          <a:ea typeface="+mn-ea"/>
                          <a:cs typeface="+mn-cs"/>
                        </a:rPr>
                        <a:t xml:space="preserve">Κατάλογος των κύριων δράσεων που υλοποιεί η </a:t>
                      </a:r>
                      <a:r>
                        <a:rPr lang="el-GR" sz="1050" b="1" kern="1200" noProof="0">
                          <a:solidFill>
                            <a:srgbClr val="1B4528"/>
                          </a:solidFill>
                          <a:latin typeface="+mn-lt"/>
                          <a:ea typeface="+mn-ea"/>
                          <a:cs typeface="+mn-cs"/>
                        </a:rPr>
                        <a:t>{{Company </a:t>
                      </a:r>
                      <a:r>
                        <a:rPr lang="el-GR" sz="1050" b="1" kern="1200" noProof="0">
                          <a:solidFill>
                            <a:srgbClr val="1B4528"/>
                          </a:solidFill>
                          <a:latin typeface="+mn-lt"/>
                          <a:ea typeface="+mn-ea"/>
                          <a:cs typeface="+mn-cs"/>
                        </a:rPr>
                        <a:t>name</a:t>
                      </a:r>
                      <a:r>
                        <a:rPr lang="el-GR" sz="1050" b="1" kern="1200" noProof="0">
                          <a:solidFill>
                            <a:srgbClr val="1B4528"/>
                          </a:solidFill>
                          <a:latin typeface="+mn-lt"/>
                          <a:ea typeface="+mn-ea"/>
                          <a:cs typeface="+mn-cs"/>
                        </a:rPr>
                        <a:t>}} </a:t>
                      </a:r>
                      <a:r>
                        <a:rPr lang="el-GR" sz="1050" b="0" kern="1200" noProof="0">
                          <a:solidFill>
                            <a:srgbClr val="1B4528"/>
                          </a:solidFill>
                          <a:latin typeface="+mn-lt"/>
                          <a:ea typeface="+mn-ea"/>
                          <a:cs typeface="+mn-cs"/>
                        </a:rPr>
                        <a:t> </a:t>
                      </a:r>
                      <a:r>
                        <a:rPr lang="el-GR" sz="1050" b="1" kern="1200" spc="-10" noProof="0">
                          <a:solidFill>
                            <a:schemeClr val="tx2"/>
                          </a:solidFill>
                          <a:latin typeface="+mn-lt"/>
                          <a:ea typeface="+mn-ea"/>
                          <a:cs typeface="+mn-cs"/>
                        </a:rPr>
                        <a:t xml:space="preserve">για την επίτευξη των στόχων μείωσης CO₂e </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xml:space="preserve">(παρ. 53e)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6882">
                <a:tc>
                  <a:txBody>
                    <a:bodyPr/>
                    <a:lstStyle/>
                    <a:p>
                      <a:pPr algn="l"/>
                      <a:r>
                        <a:rPr lang="el-GR" sz="1050" b="0" noProof="0">
                          <a:solidFill>
                            <a:srgbClr val="1B4528"/>
                          </a:solidFill>
                        </a:rPr>
                        <a:t>{{</a:t>
                      </a:r>
                      <a:r>
                        <a:rPr lang="el-GR" sz="1050" b="0" noProof="0">
                          <a:solidFill>
                            <a:srgbClr val="1B4528"/>
                          </a:solidFill>
                        </a:rPr>
                        <a:t>mainaction</a:t>
                      </a:r>
                      <a:r>
                        <a:rPr lang="el-GR" sz="1050" b="0"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54796" y="3119083"/>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Στόχοι μείωσης CO₂e (C3)</a:t>
            </a:r>
            <a:r>
              <a:rPr lang="el-GR" noProof="0"/>
              <a:t xml:space="preserve"/>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936518452"/>
              </p:ext>
            </p:extLst>
          </p:nvPr>
        </p:nvGraphicFramePr>
        <p:xfrm>
          <a:off x="454795" y="1623325"/>
          <a:ext cx="9782407" cy="1061534"/>
        </p:xfrm>
        <a:graphic>
          <a:graphicData uri="http://schemas.openxmlformats.org/drawingml/2006/table">
            <a:tbl>
              <a:tblPr firstRow="1">
                <a:tableStyleId>{2A488322-F2BA-4B5B-9748-0D474271808F}</a:tableStyleId>
              </a:tblPr>
              <a:tblGrid>
                <a:gridCol w="7745090">
                  <a:extLst>
                    <a:ext uri="{9D8B030D-6E8A-4147-A177-3AD203B41FA5}">
                      <a16:colId xmlns:a16="http://schemas.microsoft.com/office/drawing/2014/main" val="2698153288"/>
                    </a:ext>
                  </a:extLst>
                </a:gridCol>
                <a:gridCol w="2037317">
                  <a:extLst>
                    <a:ext uri="{9D8B030D-6E8A-4147-A177-3AD203B41FA5}">
                      <a16:colId xmlns:a16="http://schemas.microsoft.com/office/drawing/2014/main" val="656209149"/>
                    </a:ext>
                  </a:extLst>
                </a:gridCol>
              </a:tblGrid>
              <a:tr h="268648">
                <a:tc>
                  <a:txBody>
                    <a:bodyPr/>
                    <a:lstStyle/>
                    <a:p>
                      <a:pPr>
                        <a:lnSpc>
                          <a:spcPct val="106000"/>
                        </a:lnSpc>
                      </a:pPr>
                      <a:r>
                        <a:rPr lang="el-GR" sz="1050" b="1" noProof="0">
                          <a:solidFill>
                            <a:schemeClr val="tx2"/>
                          </a:solidFill>
                        </a:rPr>
                        <a:t xml:space="preserve">Εκπομπές αερίων του θερμοκηπίου –</a:t>
                      </a:r>
                      <a:r>
                        <a:rPr lang="el-GR" sz="1050" b="0" noProof="0">
                          <a:solidFill>
                            <a:schemeClr val="tx2"/>
                          </a:solidFill>
                        </a:rPr>
                        <a:t xml:space="preserve"> (προσθήκη στην παρ. 33)</a:t>
                      </a: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rgbClr val="1B4528"/>
                          </a:solidFill>
                          <a:latin typeface="Calibri"/>
                          <a:cs typeface="Calibri"/>
                        </a:rPr>
                        <a:t>{{Insert 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64296">
                <a:tc>
                  <a:txBody>
                    <a:bodyPr/>
                    <a:lstStyle/>
                    <a:p>
                      <a:pPr lvl="0" algn="r">
                        <a:lnSpc>
                          <a:spcPct val="100000"/>
                        </a:lnSpc>
                        <a:spcBef>
                          <a:spcPts val="0"/>
                        </a:spcBef>
                        <a:spcAft>
                          <a:spcPts val="0"/>
                        </a:spcAft>
                        <a:buNone/>
                      </a:pPr>
                      <a:r>
                        <a:rPr lang="el-GR" sz="1050" b="0" i="0" u="none" strike="noStrike" kern="1200" noProof="0">
                          <a:solidFill>
                            <a:srgbClr val="1B4528"/>
                          </a:solidFill>
                          <a:latin typeface="IBM Plex Sans"/>
                          <a:ea typeface="+mn-ea"/>
                          <a:cs typeface="+mn-cs"/>
                        </a:rPr>
                        <a:t>{{scope3_description_table}}</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el-GR" sz="1050" b="0" i="0" u="none" strike="noStrike" kern="1200" cap="none" spc="0" normalizeH="0" baseline="0" noProof="0">
                          <a:ln>
                            <a:noFill/>
                          </a:ln>
                          <a:solidFill>
                            <a:srgbClr val="1B4528"/>
                          </a:solidFill>
                          <a:effectLst/>
                          <a:uLnTx/>
                          <a:uFillTx/>
                          <a:latin typeface="IBM Plex Sans"/>
                          <a:ea typeface="+mn-ea"/>
                          <a:cs typeface="+mn-cs"/>
                        </a:rPr>
                        <a:t>{{scope3_emissions_table}}</a:t>
                      </a:r>
                      <a:endParaRPr lang="el-GR" sz="1050" b="0" i="0" u="none" strike="noStrike" kern="1200" cap="none" spc="0" normalizeH="0" baseline="0" noProof="0">
                        <a:ln>
                          <a:noFill/>
                        </a:ln>
                        <a:solidFill>
                          <a:srgbClr val="000000"/>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64296">
                <a:tc>
                  <a:txBody>
                    <a:bodyPr/>
                    <a:lstStyle/>
                    <a:p>
                      <a:pPr>
                        <a:lnSpc>
                          <a:spcPct val="106000"/>
                        </a:lnSpc>
                      </a:pPr>
                      <a:r>
                        <a:rPr lang="el-GR" sz="1050" b="1" noProof="0">
                          <a:solidFill>
                            <a:schemeClr val="tx2"/>
                          </a:solidFill>
                        </a:rPr>
                        <a:t xml:space="preserve">Συνολικές εκπομπές CO₂e Scope 3 (βάσει τοποθεσίας)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el-GR" sz="1050" b="0" i="0" u="none" strike="noStrike" kern="1200" cap="none" spc="0" normalizeH="0" baseline="0" noProof="0">
                          <a:ln>
                            <a:noFill/>
                          </a:ln>
                          <a:solidFill>
                            <a:srgbClr val="1B4528"/>
                          </a:solidFill>
                          <a:effectLst/>
                          <a:uLnTx/>
                          <a:uFillTx/>
                          <a:latin typeface="IBM Plex Sans"/>
                          <a:ea typeface="+mn-ea"/>
                          <a:cs typeface="+mn-cs"/>
                        </a:rPr>
                        <a:t>{{scope3}}</a:t>
                      </a:r>
                      <a:endParaRPr lang="el-GR" sz="1050" b="0" i="0" u="none" strike="noStrike" kern="1200" cap="none" spc="0" normalizeH="0" baseline="0" noProof="0">
                        <a:ln>
                          <a:noFill/>
                        </a:ln>
                        <a:solidFill>
                          <a:srgbClr val="000000"/>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64296">
                <a:tc>
                  <a:txBody>
                    <a:bodyPr/>
                    <a:lstStyle/>
                    <a:p>
                      <a:pPr>
                        <a:lnSpc>
                          <a:spcPct val="106000"/>
                        </a:lnSpc>
                      </a:pPr>
                      <a:r>
                        <a:rPr lang="el-GR" sz="1050" b="1" noProof="0">
                          <a:solidFill>
                            <a:schemeClr val="tx2"/>
                          </a:solidFill>
                        </a:rPr>
                        <a:t xml:space="preserve">Συνολικές εκπομπές CO₂e Scope 1, 2 και 3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el-GR" sz="1050" b="0" i="0" u="none" strike="noStrike" kern="1200" cap="none" spc="0" normalizeH="0" baseline="0" noProof="0">
                          <a:ln>
                            <a:noFill/>
                          </a:ln>
                          <a:solidFill>
                            <a:srgbClr val="1B4528"/>
                          </a:solidFill>
                          <a:effectLst/>
                          <a:uLnTx/>
                          <a:uFillTx/>
                          <a:latin typeface="+mn-lt"/>
                          <a:ea typeface="+mn-ea"/>
                          <a:cs typeface="+mn-cs"/>
                        </a:rPr>
                        <a:t>{{total_all_scopes}}</a:t>
                      </a:r>
                      <a:endParaRPr kumimoji="0" lang="el-GR"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54796" y="891000"/>
            <a:ext cx="9869667"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παρουσίασε επισκόπηση των εκπομπών αερίων του θερμοκηπίου Scope 3 βάσει του Πρωτοκόλλου GHG. Αναφέρει τις συνολικές εκπομπές και τις εκπομπές Scope 3 βάσει τοποθεσίας. Παρατίθενται οι στόχοι μείωσης CO₂e και οι κύριες δράσεις για την επίτευξη των στόχω</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noProof="0">
                <a:solidFill>
                  <a:schemeClr val="tx2"/>
                </a:solidFill>
                <a:latin typeface="Inter"/>
              </a:rPr>
              <a:t xml:space="preserve">ν.</a:t>
            </a:r>
          </a:p>
        </p:txBody>
      </p:sp>
    </p:spTree>
    <p:extLst>
      <p:ext uri="{BB962C8B-B14F-4D97-AF65-F5344CB8AC3E}">
        <p14:creationId xmlns:p14="http://schemas.microsoft.com/office/powerpoint/2010/main" val="3123940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Κ</a:t>
            </a:r>
            <a:r>
              <a:rPr lang="el-GR" sz="1575" b="1" noProof="0">
                <a:solidFill>
                  <a:schemeClr val="tx2"/>
                </a:solidFill>
              </a:rPr>
              <a:t xml:space="preserve">λιματική μετάβαση (C3)</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17</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13" name="Table 21">
            <a:extLst>
              <a:ext uri="{FF2B5EF4-FFF2-40B4-BE49-F238E27FC236}">
                <a16:creationId xmlns:a16="http://schemas.microsoft.com/office/drawing/2014/main" id="{60394E66-F1DF-2C1C-1CDA-17DF2DA7445E}"/>
              </a:ext>
            </a:extLst>
          </p:cNvPr>
          <p:cNvGraphicFramePr>
            <a:graphicFrameLocks noGrp="1"/>
          </p:cNvGraphicFramePr>
          <p:nvPr>
            <p:extLst>
              <p:ext uri="{D42A27DB-BD31-4B8C-83A1-F6EECF244321}">
                <p14:modId xmlns:p14="http://schemas.microsoft.com/office/powerpoint/2010/main" val="401732485"/>
              </p:ext>
            </p:extLst>
          </p:nvPr>
        </p:nvGraphicFramePr>
        <p:xfrm>
          <a:off x="454789" y="3862731"/>
          <a:ext cx="9801000" cy="1074232"/>
        </p:xfrm>
        <a:graphic>
          <a:graphicData uri="http://schemas.openxmlformats.org/drawingml/2006/table">
            <a:tbl>
              <a:tblPr firstRow="1">
                <a:tableStyleId>{2A488322-F2BA-4B5B-9748-0D474271808F}</a:tableStyleId>
              </a:tblPr>
              <a:tblGrid>
                <a:gridCol w="4900500">
                  <a:extLst>
                    <a:ext uri="{9D8B030D-6E8A-4147-A177-3AD203B41FA5}">
                      <a16:colId xmlns:a16="http://schemas.microsoft.com/office/drawing/2014/main" val="2119413191"/>
                    </a:ext>
                  </a:extLst>
                </a:gridCol>
                <a:gridCol w="4900500">
                  <a:extLst>
                    <a:ext uri="{9D8B030D-6E8A-4147-A177-3AD203B41FA5}">
                      <a16:colId xmlns:a16="http://schemas.microsoft.com/office/drawing/2014/main" val="970155923"/>
                    </a:ext>
                  </a:extLst>
                </a:gridCol>
              </a:tblGrid>
              <a:tr h="287276">
                <a:tc gridSpan="2">
                  <a:txBody>
                    <a:bodyPr/>
                    <a:lstStyle/>
                    <a:p>
                      <a:r>
                        <a:rPr lang="el-GR" sz="1050" b="1" kern="1200" spc="-10" noProof="0">
                          <a:solidFill>
                            <a:schemeClr val="tx2"/>
                          </a:solidFill>
                          <a:latin typeface="+mn-lt"/>
                          <a:ea typeface="+mn-ea"/>
                          <a:cs typeface="+mn-cs"/>
                        </a:rPr>
                        <a:t xml:space="preserve">Μελλοντικό σχέδιο μετάβασης </a:t>
                      </a:r>
                      <a:r>
                        <a:rPr lang="el-GR" sz="1050" b="0" kern="1200" spc="-10" noProof="0">
                          <a:solidFill>
                            <a:schemeClr val="tx2"/>
                          </a:solidFill>
                          <a:latin typeface="+mn-lt"/>
                          <a:ea typeface="+mn-ea"/>
                          <a:cs typeface="+mn-cs"/>
                        </a:rPr>
                        <a:t xml:space="preserve">(παρ. 55)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el-GR" sz="775"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93478">
                <a:tc>
                  <a:txBody>
                    <a:bodyPr/>
                    <a:lstStyle/>
                    <a:p>
                      <a:pPr algn="l"/>
                      <a:r>
                        <a:rPr lang="el-GR" sz="1050" b="1" kern="1200" noProof="0">
                          <a:solidFill>
                            <a:srgbClr val="1B4528"/>
                          </a:solidFill>
                          <a:latin typeface="+mn-lt"/>
                          <a:ea typeface="+mn-ea"/>
                          <a:cs typeface="+mn-cs"/>
                        </a:rPr>
                        <a:t>{{</a:t>
                      </a:r>
                      <a:r>
                        <a:rPr lang="el-GR" sz="1050" b="1" kern="1200" noProof="0">
                          <a:solidFill>
                            <a:srgbClr val="1B4528"/>
                          </a:solidFill>
                          <a:latin typeface="+mn-lt"/>
                          <a:ea typeface="+mn-ea"/>
                          <a:cs typeface="+mn-cs"/>
                        </a:rPr>
                        <a:t>company_name</a:t>
                      </a:r>
                      <a:r>
                        <a:rPr lang="el-GR" sz="1050" b="1" kern="1200" noProof="0">
                          <a:solidFill>
                            <a:srgbClr val="1B4528"/>
                          </a:solidFill>
                          <a:latin typeface="+mn-lt"/>
                          <a:ea typeface="+mn-ea"/>
                          <a:cs typeface="+mn-cs"/>
                        </a:rPr>
                        <a:t>}} </a:t>
                      </a:r>
                      <a:r>
                        <a:rPr lang="el-GR" sz="1050" b="1" kern="1200" noProof="0">
                          <a:solidFill>
                            <a:schemeClr val="tx2"/>
                          </a:solidFill>
                          <a:latin typeface="+mn-lt"/>
                          <a:ea typeface="+mn-ea"/>
                          <a:cs typeface="+mn-cs"/>
                        </a:rPr>
                        <a:t xml:space="preserve">θα υιοθετήσει συγκεκριμένο σχέδιο μετάβασης </a:t>
                      </a:r>
                      <a:r>
                        <a:rPr lang="el-GR" sz="1050" b="1" noProof="0">
                          <a:solidFill>
                            <a:schemeClr val="tx2"/>
                          </a:solidFill>
                        </a:rPr>
                        <a:t xml:space="preserve">για τον μετριασμό της κλιματικής αλλαγής</a:t>
                      </a:r>
                      <a:endParaRPr lang="el-GR" sz="1050" b="1" kern="120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transition_plan</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3478">
                <a:tc>
                  <a:txBody>
                    <a:bodyPr/>
                    <a:lstStyle/>
                    <a:p>
                      <a:pPr algn="l"/>
                      <a:r>
                        <a:rPr lang="el-GR" sz="1050" b="1" kern="1200" noProof="0">
                          <a:solidFill>
                            <a:schemeClr val="tx2"/>
                          </a:solidFill>
                          <a:latin typeface="+mn-lt"/>
                          <a:ea typeface="+mn-ea"/>
                          <a:cs typeface="+mn-cs"/>
                        </a:rPr>
                        <a:t xml:space="preserve">Χρόνος υιοθέτησης του σχεδίου μετάβασης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transition_plan_date</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12" name="Table 21">
            <a:extLst>
              <a:ext uri="{FF2B5EF4-FFF2-40B4-BE49-F238E27FC236}">
                <a16:creationId xmlns:a16="http://schemas.microsoft.com/office/drawing/2014/main" id="{EF0A7234-75D3-BD9B-6E3A-4C179BDAF467}"/>
              </a:ext>
            </a:extLst>
          </p:cNvPr>
          <p:cNvGraphicFramePr>
            <a:graphicFrameLocks noGrp="1"/>
          </p:cNvGraphicFramePr>
          <p:nvPr>
            <p:extLst>
              <p:ext uri="{D42A27DB-BD31-4B8C-83A1-F6EECF244321}">
                <p14:modId xmlns:p14="http://schemas.microsoft.com/office/powerpoint/2010/main" val="3129752944"/>
              </p:ext>
            </p:extLst>
          </p:nvPr>
        </p:nvGraphicFramePr>
        <p:xfrm>
          <a:off x="454789" y="1466441"/>
          <a:ext cx="9800999" cy="1708487"/>
        </p:xfrm>
        <a:graphic>
          <a:graphicData uri="http://schemas.openxmlformats.org/drawingml/2006/table">
            <a:tbl>
              <a:tblPr firstRow="1">
                <a:tableStyleId>{2A488322-F2BA-4B5B-9748-0D474271808F}</a:tableStyleId>
              </a:tblPr>
              <a:tblGrid>
                <a:gridCol w="9800999">
                  <a:extLst>
                    <a:ext uri="{9D8B030D-6E8A-4147-A177-3AD203B41FA5}">
                      <a16:colId xmlns:a16="http://schemas.microsoft.com/office/drawing/2014/main" val="2119413191"/>
                    </a:ext>
                  </a:extLst>
                </a:gridCol>
              </a:tblGrid>
              <a:tr h="322981">
                <a:tc>
                  <a:txBody>
                    <a:bodyPr/>
                    <a:lstStyle/>
                    <a:p>
                      <a:r>
                        <a:rPr lang="el-GR" sz="1050" b="1" kern="1200" spc="-10" noProof="0">
                          <a:solidFill>
                            <a:schemeClr val="tx2"/>
                          </a:solidFill>
                          <a:latin typeface="+mn-lt"/>
                          <a:ea typeface="+mn-ea"/>
                          <a:cs typeface="+mn-cs"/>
                        </a:rPr>
                        <a:t xml:space="preserve">Σχέδιο μετάβασης για τον μετριασμό της κλιματικής αλλαγής </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xml:space="preserve">(παρ. 54)</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1385506">
                <a:tc>
                  <a:txBody>
                    <a:bodyPr/>
                    <a:lstStyle/>
                    <a:p>
                      <a:pPr algn="l"/>
                      <a:r>
                        <a:rPr lang="el-GR" sz="1050" b="0" noProof="0">
                          <a:solidFill>
                            <a:srgbClr val="1B4528"/>
                          </a:solidFill>
                        </a:rPr>
                        <a:t>{{</a:t>
                      </a:r>
                      <a:r>
                        <a:rPr lang="el-GR" sz="1050" b="0" noProof="0">
                          <a:solidFill>
                            <a:srgbClr val="1B4528"/>
                          </a:solidFill>
                        </a:rPr>
                        <a:t>transition_plan</a:t>
                      </a:r>
                      <a:r>
                        <a:rPr lang="el-GR" sz="1050" b="0" noProof="0">
                          <a:solidFill>
                            <a:srgbClr val="1B4528"/>
                          </a:solidFill>
                        </a:rPr>
                        <a:t>}}</a:t>
                      </a:r>
                    </a:p>
                    <a:p>
                      <a:pPr algn="l"/>
                      <a:endParaRPr lang="el-GR" sz="1050" b="0" noProof="0">
                        <a:solidFill>
                          <a:srgbClr val="1B4528"/>
                        </a:solidFill>
                      </a:endParaRPr>
                    </a:p>
                    <a:p>
                      <a:pPr algn="l"/>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AC9B8171-ABE2-D159-1C91-356C7C492445}"/>
              </a:ext>
            </a:extLst>
          </p:cNvPr>
          <p:cNvSpPr txBox="1"/>
          <p:nvPr/>
        </p:nvSpPr>
        <p:spPr>
          <a:xfrm>
            <a:off x="445500" y="891000"/>
            <a:ext cx="9801000"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Τα κατωτέρω στοιχεία αφορούν το σχέδιο μετάβασης της επιχείρησης για τον μετριασμό της κλιματικής αλλαγής. Η μετάβαση συνδέεται με τους στόχους μείωσης CO₂e της επιχείρησης.</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p>
        </p:txBody>
      </p:sp>
      <p:sp>
        <p:nvSpPr>
          <p:cNvPr id="17" name="Tekstfelt 16">
            <a:extLst>
              <a:ext uri="{FF2B5EF4-FFF2-40B4-BE49-F238E27FC236}">
                <a16:creationId xmlns:a16="http://schemas.microsoft.com/office/drawing/2014/main" id="{E9EB0680-18EB-4050-A7F1-10CA34390DC8}"/>
              </a:ext>
            </a:extLst>
          </p:cNvPr>
          <p:cNvSpPr txBox="1"/>
          <p:nvPr/>
        </p:nvSpPr>
        <p:spPr>
          <a:xfrm>
            <a:off x="436211" y="3379961"/>
            <a:ext cx="9800998" cy="242919"/>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γνωστοποίηση συμπληρώθηκε επειδή η επιχείρηση ανέφερε ότι θα δρομολογήσει συγκεκριμένο σχέδιο μετάβασης, καθώς και την ημερομηνία υιοθέτησης.</a:t>
            </a:r>
            <a:endParaRPr lang="el-GR" noProof="0">
              <a:solidFill>
                <a:schemeClr val="tx2"/>
              </a:solidFill>
            </a:endParaRPr>
          </a:p>
        </p:txBody>
      </p:sp>
    </p:spTree>
    <p:extLst>
      <p:ext uri="{BB962C8B-B14F-4D97-AF65-F5344CB8AC3E}">
        <p14:creationId xmlns:p14="http://schemas.microsoft.com/office/powerpoint/2010/main" val="5060129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Κ</a:t>
            </a:r>
            <a:r>
              <a:rPr lang="el-GR" sz="1575" b="1" noProof="0">
                <a:solidFill>
                  <a:schemeClr val="tx2"/>
                </a:solidFill>
              </a:rPr>
              <a:t xml:space="preserve">λιματικοί κίνδυνοι (C4)</a:t>
            </a:r>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7761" y="3310338"/>
            <a:ext cx="181932" cy="203984"/>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7761" y="3860770"/>
            <a:ext cx="181932" cy="203984"/>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54794" y="1359308"/>
          <a:ext cx="9791697" cy="5345579"/>
        </p:xfrm>
        <a:graphic>
          <a:graphicData uri="http://schemas.openxmlformats.org/drawingml/2006/table">
            <a:tbl>
              <a:tblPr firstRow="1">
                <a:tableStyleId>{2A488322-F2BA-4B5B-9748-0D474271808F}</a:tableStyleId>
              </a:tblPr>
              <a:tblGrid>
                <a:gridCol w="1172268">
                  <a:extLst>
                    <a:ext uri="{9D8B030D-6E8A-4147-A177-3AD203B41FA5}">
                      <a16:colId xmlns:a16="http://schemas.microsoft.com/office/drawing/2014/main" val="1904521774"/>
                    </a:ext>
                  </a:extLst>
                </a:gridCol>
                <a:gridCol w="883448">
                  <a:extLst>
                    <a:ext uri="{9D8B030D-6E8A-4147-A177-3AD203B41FA5}">
                      <a16:colId xmlns:a16="http://schemas.microsoft.com/office/drawing/2014/main" val="3691300808"/>
                    </a:ext>
                  </a:extLst>
                </a:gridCol>
                <a:gridCol w="2774041">
                  <a:extLst>
                    <a:ext uri="{9D8B030D-6E8A-4147-A177-3AD203B41FA5}">
                      <a16:colId xmlns:a16="http://schemas.microsoft.com/office/drawing/2014/main" val="1169754581"/>
                    </a:ext>
                  </a:extLst>
                </a:gridCol>
                <a:gridCol w="1504056">
                  <a:extLst>
                    <a:ext uri="{9D8B030D-6E8A-4147-A177-3AD203B41FA5}">
                      <a16:colId xmlns:a16="http://schemas.microsoft.com/office/drawing/2014/main" val="519320573"/>
                    </a:ext>
                  </a:extLst>
                </a:gridCol>
                <a:gridCol w="1376792">
                  <a:extLst>
                    <a:ext uri="{9D8B030D-6E8A-4147-A177-3AD203B41FA5}">
                      <a16:colId xmlns:a16="http://schemas.microsoft.com/office/drawing/2014/main" val="43798019"/>
                    </a:ext>
                  </a:extLst>
                </a:gridCol>
                <a:gridCol w="1064410">
                  <a:extLst>
                    <a:ext uri="{9D8B030D-6E8A-4147-A177-3AD203B41FA5}">
                      <a16:colId xmlns:a16="http://schemas.microsoft.com/office/drawing/2014/main" val="3164053669"/>
                    </a:ext>
                  </a:extLst>
                </a:gridCol>
                <a:gridCol w="1016681">
                  <a:extLst>
                    <a:ext uri="{9D8B030D-6E8A-4147-A177-3AD203B41FA5}">
                      <a16:colId xmlns:a16="http://schemas.microsoft.com/office/drawing/2014/main" val="1484983729"/>
                    </a:ext>
                  </a:extLst>
                </a:gridCol>
              </a:tblGrid>
              <a:tr h="196580">
                <a:tc gridSpan="3">
                  <a:txBody>
                    <a:bodyPr/>
                    <a:lstStyle/>
                    <a:p>
                      <a:r>
                        <a:rPr lang="el-GR" sz="1050" b="0" kern="1200" noProof="0">
                          <a:solidFill>
                            <a:schemeClr val="tx2"/>
                          </a:solidFill>
                          <a:latin typeface="+mn-lt"/>
                          <a:ea typeface="+mn-ea"/>
                          <a:cs typeface="+mn-cs"/>
                        </a:rPr>
                        <a:t xml:space="preserve">(παρ. 56a)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el-GR" sz="1050" b="0" kern="1200" noProof="0">
                          <a:solidFill>
                            <a:schemeClr val="tx2"/>
                          </a:solidFill>
                          <a:latin typeface="+mn-lt"/>
                          <a:ea typeface="+mn-ea"/>
                          <a:cs typeface="+mn-cs"/>
                        </a:rPr>
                        <a:t xml:space="preserve">(παρ. 56b)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l-GR" sz="1050" b="0" kern="1200" noProof="0">
                          <a:solidFill>
                            <a:schemeClr val="tx2"/>
                          </a:solidFill>
                          <a:latin typeface="+mn-lt"/>
                          <a:ea typeface="+mn-ea"/>
                          <a:cs typeface="+mn-cs"/>
                        </a:rPr>
                        <a:t xml:space="preserve">(παρ. 56c)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l-GR" sz="1050" b="0" kern="1200" noProof="0">
                          <a:solidFill>
                            <a:schemeClr val="tx2"/>
                          </a:solidFill>
                          <a:latin typeface="+mn-lt"/>
                          <a:ea typeface="+mn-ea"/>
                          <a:cs typeface="+mn-cs"/>
                        </a:rPr>
                        <a:t xml:space="preserve">(παρ. 56d)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786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Κλιματικοί κίνδυνοι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Πού</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Σύντομη περιγραφή κινδύνων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Έκθεση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(χαμηλή/μέση/υψηλή)</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Ευαισθησία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(χαμηλή/μέση/υψηλή)</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Χρονικός ορίζοντας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i="0" noProof="0">
                          <a:solidFill>
                            <a:schemeClr val="tx2"/>
                          </a:solidFill>
                        </a:rPr>
                        <a:t xml:space="preserve">(0-1/2-5/&gt;5 έτη)</a:t>
                      </a:r>
                      <a:endParaRPr lang="el-GR" sz="1050" b="0" i="0" noProof="0"/>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Προσαρ­μογή </a:t>
                      </a:r>
                      <a:r>
                        <a:rPr lang="el-GR" sz="1050" b="0" noProof="0">
                          <a:solidFill>
                            <a:schemeClr val="tx2"/>
                          </a:solidFill>
                        </a:rPr>
                        <a:t xml:space="preserve">(ΝΑΙ/ΟΧΙ)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37629">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Χρόνιοι κίνδυνοι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Ενεργητικό</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{{chronic_aktiver_description}}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{{chronic_aktiver_eksponerning}}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{{chronic_aktiver_time}}</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{{chronic_aktiver_tilpasning}}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Δραστηριό­τητες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{{chronic_aktiveter_description}}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{{chronic_aktivteter_eksponerning}}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{{chronic_aktivteter_sårbarhed}}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{{chronic_aktivteter_time}}</a:t>
                      </a:r>
                      <a:endParaRPr lang="el-GR"/>
                    </a:p>
                    <a:p>
                      <a:pPr lvl="0" algn="ctr">
                        <a:lnSpc>
                          <a:spcPct val="100000"/>
                        </a:lnSpc>
                        <a:spcBef>
                          <a:spcPts val="0"/>
                        </a:spcBef>
                        <a:spcAft>
                          <a:spcPts val="0"/>
                        </a:spcAft>
                        <a:buNone/>
                      </a:pP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{{chronic_aktivteter_tilpasning}}</a:t>
                      </a:r>
                      <a:endParaRPr lang="el-GR"/>
                    </a:p>
                    <a:p>
                      <a:pPr marL="0" marR="0" lvl="0" indent="0" algn="ctr">
                        <a:lnSpc>
                          <a:spcPct val="100000"/>
                        </a:lnSpc>
                        <a:spcBef>
                          <a:spcPts val="0"/>
                        </a:spcBef>
                        <a:spcAft>
                          <a:spcPts val="0"/>
                        </a:spcAft>
                        <a:buClrTx/>
                        <a:buSzTx/>
                        <a:buFontTx/>
                        <a:buNone/>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Αλυσίδα αξίας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{{chronic_value_description}}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{{chronic_value_eksponerning}}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{{chronic_value_sårbarhed}}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{{chronic_value_time}}</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{{chronic_value_tilpasning}}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37629">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Οξείς κίνδυνοι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Ενεργητικό</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{{akut_aktiver_description}}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{{akut_aktiver_eksponering}}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{{akut_aktiver_tidshorisont}}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{{akut_aktiver_tilpasning}}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Δραστηριό­τητες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{{akut_aktiviteter_description}}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{{akut_aktiviteter_eksponering}}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{{akut_aktiviteter_sårbarhed}}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{{akut_aktiviteter_tidshorisont}}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{{akut_aktiviteter_tilpasning}}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Αλυσίδα αξίας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{{akut_værdikæde_description}}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{{akut_værdikæde_eksponering}}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{{akut_værdikæde_sårbarhed}}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{{akut_værdikæde_tidshorisont}}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{{akut_værdikæde_tilpasning}}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37629">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Γεγονός μετάβασης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Ενεργητικό</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{{omstilling_aktiver_description}}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{{omstilling_aktiver_eksponering}}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{{omstilling_aktiver_tidshorisont}}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{{omstilling_aktiver_tilpasning}}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Δραστηριό­τητες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{{omstilling_aktiviteter_description}}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{{omstilling_aktiviteter_eksponering}}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{{omstilling_aktiviteter_sårbarhed}}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{{omstilling_aktiviteter_tidshorisont}}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{{omstilling_aktiviteter_tilpasning}}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3762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Αλυσίδα αξίας</a:t>
                      </a: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rPr>
                        <a:t>{{omstilling_værdikæde_description}}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{{omstilling_værdikæde_eksponering}}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{{omstilling_værdikæde_sårbarhed}}</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{{omstilling_værdikæde_tidshorisont}}</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{{omstilling_værdikæde_tilpasning}}</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4702451B-F4AF-4B05-87B1-F468C54F2952}" type="slidenum">
              <a:rPr lang="el-GR" dirty="0">
                <a:solidFill>
                  <a:srgbClr val="1B4528">
                    <a:alpha val="70000"/>
                  </a:srgbClr>
                </a:solidFill>
              </a:rPr>
              <a:t>18</a:t>
            </a:fld>
            <a:endParaRPr lang="el-GR"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54796" y="891000"/>
            <a:ext cx="9869667"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παρουσίασε επισκόπηση των κλιματικών κινδύνων, με αναφορά στο εάν είναι χρόνιοι, οξείς ή σχετικοί με τη μετάβαση και στο πού εντοπίζονται (ενεργητικό, δραστηριότητες ή αλυσίδα αξίας). </a:t>
            </a:r>
            <a:endParaRPr lang="el-GR" sz="1050"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Κ</a:t>
            </a:r>
            <a:r>
              <a:rPr lang="el-GR" sz="1575" b="1" noProof="0">
                <a:solidFill>
                  <a:schemeClr val="tx2"/>
                </a:solidFill>
              </a:rPr>
              <a:t xml:space="preserve">λιματικοί κίνδυνοι (C4) - συνέχεια</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19</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37364" y="1339390"/>
          <a:ext cx="9791703" cy="2991024"/>
        </p:xfrm>
        <a:graphic>
          <a:graphicData uri="http://schemas.openxmlformats.org/drawingml/2006/table">
            <a:tbl>
              <a:tblPr firstRow="1">
                <a:tableStyleId>{2A488322-F2BA-4B5B-9748-0D474271808F}</a:tableStyleId>
              </a:tblPr>
              <a:tblGrid>
                <a:gridCol w="2489656">
                  <a:extLst>
                    <a:ext uri="{9D8B030D-6E8A-4147-A177-3AD203B41FA5}">
                      <a16:colId xmlns:a16="http://schemas.microsoft.com/office/drawing/2014/main" val="1904521774"/>
                    </a:ext>
                  </a:extLst>
                </a:gridCol>
                <a:gridCol w="4645737">
                  <a:extLst>
                    <a:ext uri="{9D8B030D-6E8A-4147-A177-3AD203B41FA5}">
                      <a16:colId xmlns:a16="http://schemas.microsoft.com/office/drawing/2014/main" val="3164053669"/>
                    </a:ext>
                  </a:extLst>
                </a:gridCol>
                <a:gridCol w="1434641">
                  <a:extLst>
                    <a:ext uri="{9D8B030D-6E8A-4147-A177-3AD203B41FA5}">
                      <a16:colId xmlns:a16="http://schemas.microsoft.com/office/drawing/2014/main" val="1263457420"/>
                    </a:ext>
                  </a:extLst>
                </a:gridCol>
                <a:gridCol w="1221670">
                  <a:extLst>
                    <a:ext uri="{9D8B030D-6E8A-4147-A177-3AD203B41FA5}">
                      <a16:colId xmlns:a16="http://schemas.microsoft.com/office/drawing/2014/main" val="1484983729"/>
                    </a:ext>
                  </a:extLst>
                </a:gridCol>
              </a:tblGrid>
              <a:tr h="153574">
                <a:tc gridSpan="4">
                  <a:txBody>
                    <a:bodyPr/>
                    <a:lstStyle/>
                    <a:p>
                      <a:r>
                        <a:rPr lang="el-GR" sz="1050" b="0" kern="1200" noProof="0">
                          <a:solidFill>
                            <a:schemeClr val="tx2"/>
                          </a:solidFill>
                          <a:latin typeface="+mn-lt"/>
                          <a:ea typeface="+mn-ea"/>
                          <a:cs typeface="+mn-cs"/>
                        </a:rPr>
                        <a:t xml:space="preserve">(παρ. 57)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kern="120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i="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4040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Πιθανή αρνητική </a:t>
                      </a:r>
                      <a:r>
                        <a:rPr lang="el-GR" sz="1050" b="1" kern="1200" noProof="0">
                          <a:solidFill>
                            <a:schemeClr val="tx2"/>
                          </a:solidFill>
                          <a:latin typeface="+mn-lt"/>
                          <a:ea typeface="+mn-ea"/>
                          <a:cs typeface="+mn-cs"/>
                        </a:rPr>
                        <a:t xml:space="preserve">επίπτωση στη χρηματοοικονομική επίδοση και τη λειτουργία της επιχείρησης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Χρηματοοικονομικός κίνδυνος</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kern="1200" noProof="0">
                          <a:solidFill>
                            <a:schemeClr val="tx2"/>
                          </a:solidFill>
                          <a:latin typeface="+mn-lt"/>
                          <a:ea typeface="+mn-ea"/>
                          <a:cs typeface="+mn-cs"/>
                        </a:rPr>
                        <a:t xml:space="preserve">(χαμηλός/μέσος/υψηλός)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Χρονικός ορίζοντας</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i="0" noProof="0">
                          <a:solidFill>
                            <a:schemeClr val="tx2"/>
                          </a:solidFill>
                        </a:rPr>
                        <a:t xml:space="preserve">(0-1/2-5/&gt;5 έτη)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09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Χρόνιοι κίνδυνοι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209067">
                <a:tc>
                  <a:txBody>
                    <a:bodyPr/>
                    <a:lstStyle/>
                    <a:p>
                      <a:pPr lvl="0" algn="l">
                        <a:lnSpc>
                          <a:spcPct val="100000"/>
                        </a:lnSpc>
                        <a:spcBef>
                          <a:spcPts val="0"/>
                        </a:spcBef>
                        <a:spcAft>
                          <a:spcPts val="0"/>
                        </a:spcAft>
                        <a:buNone/>
                      </a:pPr>
                      <a:r>
                        <a:rPr lang="el-GR" sz="1050" b="0" i="0" u="none" strike="noStrike" noProof="0">
                          <a:solidFill>
                            <a:srgbClr val="1B4528"/>
                          </a:solidFill>
                        </a:rPr>
                        <a:t>{{chronic_hazards}}</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 connection financial </a:t>
                      </a:r>
                      <a:r>
                        <a:rPr lang="el-GR" sz="1050" b="0" i="0" u="none" strike="noStrike" noProof="0">
                          <a:solidFill>
                            <a:srgbClr val="1B4528"/>
                          </a:solidFill>
                          <a:latin typeface="IBM Plex Sans"/>
                          <a:ea typeface="+mn-ea"/>
                          <a:cs typeface="+mn-cs"/>
                        </a:rPr>
                        <a:t>and operations}}</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{{chronic_financial_risk}}</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{{chronic_time_horizon}}</a:t>
                      </a:r>
                      <a:endParaRPr lang="el-GR"/>
                    </a:p>
                    <a:p>
                      <a:pPr marL="0" marR="0" lvl="0" indent="0" algn="ctr" defTabSz="914400">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209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Οξείς κίνδυνοι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209067">
                <a:tc>
                  <a:txBody>
                    <a:bodyPr/>
                    <a:lstStyle/>
                    <a:p>
                      <a:pPr lvl="0" algn="l">
                        <a:lnSpc>
                          <a:spcPct val="100000"/>
                        </a:lnSpc>
                        <a:spcBef>
                          <a:spcPts val="0"/>
                        </a:spcBef>
                        <a:spcAft>
                          <a:spcPts val="0"/>
                        </a:spcAft>
                        <a:buNone/>
                      </a:pPr>
                      <a:r>
                        <a:rPr lang="el-GR" sz="1050" b="0" i="0" u="none" strike="noStrike" noProof="0">
                          <a:solidFill>
                            <a:srgbClr val="1B4528"/>
                          </a:solidFill>
                        </a:rPr>
                        <a:t>{{acute_hazards}}</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{{acute connection </a:t>
                      </a:r>
                      <a:r>
                        <a:rPr lang="el-GR" sz="1050" b="0" i="0" u="none" strike="noStrike" noProof="0">
                          <a:solidFill>
                            <a:srgbClr val="1B4528"/>
                          </a:solidFill>
                          <a:latin typeface="IBM Plex Sans"/>
                          <a:ea typeface="+mn-ea"/>
                          <a:cs typeface="+mn-cs"/>
                        </a:rPr>
                        <a:t>financial and operations}}</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{{acute_financial_risk}}</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{{acute_time_horizon}}</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209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Κίνδυνοι μετάβασης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209067">
                <a:tc>
                  <a:txBody>
                    <a:bodyPr/>
                    <a:lstStyle/>
                    <a:p>
                      <a:pPr lvl="0" algn="l">
                        <a:lnSpc>
                          <a:spcPct val="100000"/>
                        </a:lnSpc>
                        <a:spcBef>
                          <a:spcPts val="0"/>
                        </a:spcBef>
                        <a:spcAft>
                          <a:spcPts val="0"/>
                        </a:spcAft>
                        <a:buNone/>
                      </a:pPr>
                      <a:r>
                        <a:rPr lang="el-GR" sz="1050" b="0" i="0" u="none" strike="noStrike" noProof="0">
                          <a:solidFill>
                            <a:srgbClr val="1B4528"/>
                          </a:solidFill>
                        </a:rPr>
                        <a:t>{{climate_related}}</a:t>
                      </a:r>
                      <a:endParaRPr lang="el-GR"/>
                    </a:p>
                    <a:p>
                      <a:pPr lvl="0" algn="l">
                        <a:lnSpc>
                          <a:spcPct val="100000"/>
                        </a:lnSpc>
                        <a:spcBef>
                          <a:spcPts val="0"/>
                        </a:spcBef>
                        <a:spcAft>
                          <a:spcPts val="0"/>
                        </a:spcAft>
                        <a:buNone/>
                      </a:pPr>
                      <a:endParaRPr lang="el-GR" sz="1050" b="0" i="0" u="none" strike="noStrike" noProof="0">
                        <a:solidFill>
                          <a:srgbClr val="1B4528"/>
                        </a:solidFill>
                        <a:latin typeface="IBM Plex San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{{climate connection financial </a:t>
                      </a:r>
                      <a:r>
                        <a:rPr lang="el-GR" sz="1050" b="0" i="0" u="none" strike="noStrike" noProof="0">
                          <a:solidFill>
                            <a:srgbClr val="1B4528"/>
                          </a:solidFill>
                          <a:latin typeface="IBM Plex Sans"/>
                          <a:ea typeface="+mn-ea"/>
                          <a:cs typeface="+mn-cs"/>
                        </a:rPr>
                        <a:t>and operations}}</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{{climate_related_risk}}</a:t>
                      </a:r>
                      <a:endParaRPr lang="el-GR"/>
                    </a:p>
                    <a:p>
                      <a:pPr lvl="0" algn="ctr">
                        <a:lnSpc>
                          <a:spcPct val="100000"/>
                        </a:lnSpc>
                        <a:spcBef>
                          <a:spcPts val="0"/>
                        </a:spcBef>
                        <a:spcAft>
                          <a:spcPts val="0"/>
                        </a:spcAft>
                        <a:buNone/>
                      </a:pP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rPr>
                        <a:t>{{climate_time_horizon}}</a:t>
                      </a:r>
                      <a:endParaRPr lang="el-GR"/>
                    </a:p>
                    <a:p>
                      <a:pPr marL="0" marR="0" lvl="0" indent="0" algn="ctr" defTabSz="914400">
                        <a:lnSpc>
                          <a:spcPct val="100000"/>
                        </a:lnSpc>
                        <a:spcBef>
                          <a:spcPts val="0"/>
                        </a:spcBef>
                        <a:spcAft>
                          <a:spcPts val="0"/>
                        </a:spcAft>
                        <a:buClrTx/>
                        <a:buSzTx/>
                        <a:buFontTx/>
                        <a:buNone/>
                        <a:tabLst/>
                        <a:defRPr/>
                      </a:pPr>
                      <a:endParaRPr lang="el-G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54796" y="891000"/>
            <a:ext cx="9869667"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παρουσίασε επισκόπηση των κλιματικών κινδύνων, με αναφορά στο εάν είναι χρόνιοι, οξείς ή σχετικοί με τη μετάβαση και εάν μπορούν να επηρεάσουν αρνητικά τη χρηματοοικονομική επίδοση και τη λειτουργία της.</a:t>
            </a:r>
            <a:endParaRPr lang="el-GR" sz="1050"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sz="1575" b="1" i="0" u="none" strike="noStrike" kern="1200" spc="-10" noProof="0">
                <a:solidFill>
                  <a:srgbClr val="1B4528"/>
                </a:solidFill>
              </a:rPr>
              <a:t xml:space="preserve">Πρόσθετα (γενικά) χαρακτηριστικά του εργατικού δυναμικού (C5)</a:t>
            </a:r>
            <a:endParaRPr lang="el-GR"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20</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5469788" y="1447652"/>
          <a:ext cx="4776712" cy="686070"/>
        </p:xfrm>
        <a:graphic>
          <a:graphicData uri="http://schemas.openxmlformats.org/drawingml/2006/table">
            <a:tbl>
              <a:tblPr firstRow="1">
                <a:tableStyleId>{2A488322-F2BA-4B5B-9748-0D474271808F}</a:tableStyleId>
              </a:tblPr>
              <a:tblGrid>
                <a:gridCol w="3708472">
                  <a:extLst>
                    <a:ext uri="{9D8B030D-6E8A-4147-A177-3AD203B41FA5}">
                      <a16:colId xmlns:a16="http://schemas.microsoft.com/office/drawing/2014/main" val="2698153288"/>
                    </a:ext>
                  </a:extLst>
                </a:gridCol>
                <a:gridCol w="1068240">
                  <a:extLst>
                    <a:ext uri="{9D8B030D-6E8A-4147-A177-3AD203B41FA5}">
                      <a16:colId xmlns:a16="http://schemas.microsoft.com/office/drawing/2014/main" val="2119413191"/>
                    </a:ext>
                  </a:extLst>
                </a:gridCol>
              </a:tblGrid>
              <a:tr h="25256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i="0" noProof="0">
                          <a:solidFill>
                            <a:schemeClr val="tx2"/>
                          </a:solidFill>
                        </a:rPr>
                        <a:t xml:space="preserve">Αναλογία γυναικών προς άνδρες σε διοικητικές θέσεις </a:t>
                      </a:r>
                      <a:r>
                        <a:rPr lang="el-GR" sz="1050" b="0" i="0" noProof="0">
                          <a:solidFill>
                            <a:schemeClr val="tx2"/>
                          </a:solidFill>
                        </a:rPr>
                        <a:t xml:space="preserve">(παρ. 59)</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1" i="0" u="none" strike="noStrike" noProof="0">
                          <a:solidFill>
                            <a:srgbClr val="1B4528"/>
                          </a:solidFill>
                          <a:effectLst/>
                          <a:latin typeface="IBM Plex Sans" panose="020B0503050203000203" pitchFamily="34" charset="0"/>
                        </a:rPr>
                        <a:t xml:space="preserve">Έτος </a:t>
                      </a:r>
                      <a:r>
                        <a:rPr lang="el-GR" sz="1050" b="1" i="0" u="none" strike="noStrike" noProof="0">
                          <a:solidFill>
                            <a:srgbClr val="1B4528"/>
                          </a:solidFill>
                          <a:effectLst/>
                          <a:latin typeface="IBM Plex Sans" panose="020B0503050203000203" pitchFamily="34" charset="0"/>
                        </a:rPr>
                        <a:t>{{</a:t>
                      </a:r>
                      <a:r>
                        <a:rPr lang="el-GR" sz="1050" b="1" i="0" u="none" strike="noStrike" noProof="0">
                          <a:solidFill>
                            <a:srgbClr val="1B4528"/>
                          </a:solidFill>
                          <a:effectLst/>
                          <a:latin typeface="IBM Plex Sans" panose="020B0503050203000203" pitchFamily="34" charset="0"/>
                        </a:rPr>
                        <a:t>Insert</a:t>
                      </a:r>
                      <a:r>
                        <a:rPr lang="el-GR" sz="1050" b="1" i="0" u="none" strike="noStrike" noProof="0">
                          <a:solidFill>
                            <a:srgbClr val="1B4528"/>
                          </a:solidFill>
                          <a:effectLst/>
                          <a:latin typeface="IBM Plex Sans" panose="020B0503050203000203" pitchFamily="34" charset="0"/>
                        </a:rPr>
                        <a:t> </a:t>
                      </a:r>
                      <a:r>
                        <a:rPr lang="el-GR" sz="1050" b="1" i="0" u="none" strike="noStrike" noProof="0">
                          <a:solidFill>
                            <a:srgbClr val="1B4528"/>
                          </a:solidFill>
                          <a:effectLst/>
                          <a:latin typeface="IBM Plex Sans" panose="020B0503050203000203" pitchFamily="34" charset="0"/>
                        </a:rPr>
                        <a:t>year</a:t>
                      </a:r>
                      <a:r>
                        <a:rPr lang="el-GR" sz="1050" b="1" i="0" u="none" strike="noStrike" noProof="0">
                          <a:solidFill>
                            <a:srgbClr val="1B4528"/>
                          </a:solidFill>
                          <a:effectLst/>
                          <a:latin typeface="IBM Plex Sans" panose="020B0503050203000203" pitchFamily="34" charset="0"/>
                        </a:rPr>
                        <a:t>}}</a:t>
                      </a:r>
                      <a:endParaRPr lang="el-GR" sz="1050" noProof="0">
                        <a:effectLst/>
                      </a:endParaRPr>
                    </a:p>
                  </a:txBody>
                  <a:tcPr marL="33412" marR="33412"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vMerge="1">
                  <a:txBody>
                    <a:bodyPr/>
                    <a:lstStyle/>
                    <a:p>
                      <a:endParaRPr lang="el-GR" sz="775" b="0" noProof="0">
                        <a:solidFill>
                          <a:schemeClr val="tx2"/>
                        </a:solidFill>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gender_balance</a:t>
                      </a:r>
                      <a:r>
                        <a:rPr lang="el-GR" sz="1050" b="0" i="0" u="none" strike="noStrike" noProof="0">
                          <a:solidFill>
                            <a:srgbClr val="1B4528"/>
                          </a:solidFill>
                          <a:effectLst/>
                          <a:latin typeface="IBM Plex Sans" panose="020B0503050203000203" pitchFamily="34" charset="0"/>
                        </a:rPr>
                        <a:t>}}</a:t>
                      </a:r>
                      <a:endParaRPr lang="el-GR" sz="1050" noProof="0">
                        <a:effectLst/>
                      </a:endParaRPr>
                    </a:p>
                  </a:txBody>
                  <a:tcPr marL="33412" marR="33412"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43203" y="1447652"/>
          <a:ext cx="4776712" cy="686070"/>
        </p:xfrm>
        <a:graphic>
          <a:graphicData uri="http://schemas.openxmlformats.org/drawingml/2006/table">
            <a:tbl>
              <a:tblPr firstRow="1">
                <a:tableStyleId>{2A488322-F2BA-4B5B-9748-0D474271808F}</a:tableStyleId>
              </a:tblPr>
              <a:tblGrid>
                <a:gridCol w="3708472">
                  <a:extLst>
                    <a:ext uri="{9D8B030D-6E8A-4147-A177-3AD203B41FA5}">
                      <a16:colId xmlns:a16="http://schemas.microsoft.com/office/drawing/2014/main" val="2698153288"/>
                    </a:ext>
                  </a:extLst>
                </a:gridCol>
                <a:gridCol w="1068240">
                  <a:extLst>
                    <a:ext uri="{9D8B030D-6E8A-4147-A177-3AD203B41FA5}">
                      <a16:colId xmlns:a16="http://schemas.microsoft.com/office/drawing/2014/main" val="2119413191"/>
                    </a:ext>
                  </a:extLst>
                </a:gridCol>
              </a:tblGrid>
              <a:tr h="25256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i="0" noProof="0">
                          <a:solidFill>
                            <a:schemeClr val="tx2"/>
                          </a:solidFill>
                        </a:rPr>
                        <a:t xml:space="preserve">Κινητικότητα εργαζομένων στο έτος αναφοράς </a:t>
                      </a:r>
                      <a:r>
                        <a:rPr lang="el-GR" sz="1050" b="0" i="0" noProof="0">
                          <a:solidFill>
                            <a:schemeClr val="tx2"/>
                          </a:solidFill>
                        </a:rPr>
                        <a:t xml:space="preserve">(παρ. 58)</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1" i="0" u="none" strike="noStrike" noProof="0">
                          <a:solidFill>
                            <a:srgbClr val="1B4528"/>
                          </a:solidFill>
                          <a:effectLst/>
                          <a:latin typeface="IBM Plex Sans" panose="020B0503050203000203" pitchFamily="34" charset="0"/>
                        </a:rPr>
                        <a:t xml:space="preserve">Έτος </a:t>
                      </a:r>
                      <a:r>
                        <a:rPr lang="el-GR" sz="1050" b="1" i="0" u="none" strike="noStrike" noProof="0">
                          <a:solidFill>
                            <a:srgbClr val="1B4528"/>
                          </a:solidFill>
                          <a:effectLst/>
                          <a:latin typeface="IBM Plex Sans" panose="020B0503050203000203" pitchFamily="34" charset="0"/>
                        </a:rPr>
                        <a:t>{{</a:t>
                      </a:r>
                      <a:r>
                        <a:rPr lang="el-GR" sz="1050" b="1" i="0" u="none" strike="noStrike" noProof="0">
                          <a:solidFill>
                            <a:srgbClr val="1B4528"/>
                          </a:solidFill>
                          <a:effectLst/>
                          <a:latin typeface="IBM Plex Sans" panose="020B0503050203000203" pitchFamily="34" charset="0"/>
                        </a:rPr>
                        <a:t>Insert</a:t>
                      </a:r>
                      <a:r>
                        <a:rPr lang="el-GR" sz="1050" b="1" i="0" u="none" strike="noStrike" noProof="0">
                          <a:solidFill>
                            <a:srgbClr val="1B4528"/>
                          </a:solidFill>
                          <a:effectLst/>
                          <a:latin typeface="IBM Plex Sans" panose="020B0503050203000203" pitchFamily="34" charset="0"/>
                        </a:rPr>
                        <a:t> </a:t>
                      </a:r>
                      <a:r>
                        <a:rPr lang="el-GR" sz="1050" b="1" i="0" u="none" strike="noStrike" noProof="0">
                          <a:solidFill>
                            <a:srgbClr val="1B4528"/>
                          </a:solidFill>
                          <a:effectLst/>
                          <a:latin typeface="IBM Plex Sans" panose="020B0503050203000203" pitchFamily="34" charset="0"/>
                        </a:rPr>
                        <a:t>year</a:t>
                      </a:r>
                      <a:r>
                        <a:rPr lang="el-GR" sz="1050" b="1" i="0" u="none" strike="noStrike" noProof="0">
                          <a:solidFill>
                            <a:srgbClr val="1B4528"/>
                          </a:solidFill>
                          <a:effectLst/>
                          <a:latin typeface="IBM Plex Sans" panose="020B0503050203000203" pitchFamily="34" charset="0"/>
                        </a:rPr>
                        <a:t>}}</a:t>
                      </a:r>
                      <a:endParaRPr lang="el-GR" sz="1050" noProof="0">
                        <a:effectLst/>
                      </a:endParaRPr>
                    </a:p>
                  </a:txBody>
                  <a:tcPr marL="33412" marR="33412"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vMerge="1">
                  <a:txBody>
                    <a:bodyPr/>
                    <a:lstStyle/>
                    <a:p>
                      <a:endParaRPr lang="el-GR" sz="775" b="0" noProof="0">
                        <a:solidFill>
                          <a:schemeClr val="tx2"/>
                        </a:solidFill>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1050" b="0" i="0" u="none" strike="noStrike" noProof="0">
                          <a:solidFill>
                            <a:srgbClr val="1B4528"/>
                          </a:solidFill>
                          <a:effectLst/>
                          <a:latin typeface="IBM Plex Sans" panose="020B0503050203000203" pitchFamily="34" charset="0"/>
                        </a:rPr>
                        <a:t>{{</a:t>
                      </a:r>
                      <a:r>
                        <a:rPr lang="el-GR" sz="1050" b="0" i="0" u="none" strike="noStrike" noProof="0">
                          <a:solidFill>
                            <a:srgbClr val="1B4528"/>
                          </a:solidFill>
                          <a:effectLst/>
                          <a:latin typeface="IBM Plex Sans" panose="020B0503050203000203" pitchFamily="34" charset="0"/>
                        </a:rPr>
                        <a:t>omsatningsrate</a:t>
                      </a:r>
                      <a:r>
                        <a:rPr lang="el-GR" sz="1050" b="0" i="0" u="none" strike="noStrike" noProof="0">
                          <a:solidFill>
                            <a:srgbClr val="1B4528"/>
                          </a:solidFill>
                          <a:effectLst/>
                          <a:latin typeface="IBM Plex Sans" panose="020B0503050203000203" pitchFamily="34" charset="0"/>
                        </a:rPr>
                        <a:t>}}</a:t>
                      </a:r>
                    </a:p>
                  </a:txBody>
                  <a:tcPr marL="33412" marR="33412"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45500" y="891000"/>
            <a:ext cx="9791704" cy="728758"/>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Τα κατωτέρω στοιχεία συμπληρώνουν τις άλλες γνωστοποιήσεις για το εργατικό δυναμικό, μεταξύ άλλων την κατανομή ανδρών και γυναικών σε διοικητικές θέσεις.</a:t>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235781758"/>
              </p:ext>
            </p:extLst>
          </p:nvPr>
        </p:nvGraphicFramePr>
        <p:xfrm>
          <a:off x="445499" y="2882760"/>
          <a:ext cx="9791704" cy="1010268"/>
        </p:xfrm>
        <a:graphic>
          <a:graphicData uri="http://schemas.openxmlformats.org/drawingml/2006/table">
            <a:tbl>
              <a:tblPr firstRow="1">
                <a:tableStyleId>{2A488322-F2BA-4B5B-9748-0D474271808F}</a:tableStyleId>
              </a:tblPr>
              <a:tblGrid>
                <a:gridCol w="7257726">
                  <a:extLst>
                    <a:ext uri="{9D8B030D-6E8A-4147-A177-3AD203B41FA5}">
                      <a16:colId xmlns:a16="http://schemas.microsoft.com/office/drawing/2014/main" val="2698153288"/>
                    </a:ext>
                  </a:extLst>
                </a:gridCol>
                <a:gridCol w="2533978">
                  <a:extLst>
                    <a:ext uri="{9D8B030D-6E8A-4147-A177-3AD203B41FA5}">
                      <a16:colId xmlns:a16="http://schemas.microsoft.com/office/drawing/2014/main" val="2119413191"/>
                    </a:ext>
                  </a:extLst>
                </a:gridCol>
              </a:tblGrid>
              <a:tr h="25256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Αυτοαπασχολούμενοι και προσωρινοί εργαζόμενοι </a:t>
                      </a:r>
                      <a:r>
                        <a:rPr lang="el-GR" sz="1050" b="0" noProof="0">
                          <a:solidFill>
                            <a:schemeClr val="tx2"/>
                          </a:solidFill>
                        </a:rPr>
                        <a:t xml:space="preserve">(παρ. 60)</a:t>
                      </a:r>
                      <a:endParaRPr lang="el-GR" sz="1050" b="1" kern="120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noProof="0">
                          <a:solidFill>
                            <a:schemeClr val="tx2"/>
                          </a:solidFill>
                          <a:latin typeface="+mn-lt"/>
                          <a:ea typeface="+mn-ea"/>
                          <a:cs typeface="+mn-cs"/>
                        </a:rPr>
                        <a:t xml:space="preserve">Αριθμός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l-GR" sz="1050" b="1" noProof="0">
                          <a:solidFill>
                            <a:schemeClr val="tx2"/>
                          </a:solidFill>
                        </a:rPr>
                        <a:t xml:space="preserve">Αυτοαπασχολούμενοι (χωρίς προσωπικό)</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self-employeed</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1" noProof="0">
                          <a:solidFill>
                            <a:schemeClr val="tx2"/>
                          </a:solidFill>
                        </a:rPr>
                        <a:t xml:space="preserve">Προσωρινοί εργαζόμενοι (μέσω γραφείου εύρεσης εργασίας)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temp_workers</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54795" y="2430996"/>
            <a:ext cx="9782407" cy="242919"/>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Τα κατωτέρω στοιχεία συμπληρώθηκαν για να αναφερθεί ο αριθμός αυτοαπασχολούμενων και προσωρινών εργαζομένων της επιχείρησης.</a:t>
            </a:r>
            <a:endParaRPr lang="el-GR" sz="1050" b="0" noProof="0">
              <a:solidFill>
                <a:schemeClr val="tx2"/>
              </a:solidFill>
              <a:effectLst/>
              <a:latin typeface="Inter"/>
            </a:endParaRPr>
          </a:p>
        </p:txBody>
      </p:sp>
    </p:spTree>
    <p:extLst>
      <p:ext uri="{BB962C8B-B14F-4D97-AF65-F5344CB8AC3E}">
        <p14:creationId xmlns:p14="http://schemas.microsoft.com/office/powerpoint/2010/main" val="10959130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8E5C9-19EA-93EF-10E2-5882DFA2D1D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A01B3D3-ECCC-E485-0BE0-6FF0F1558D63}"/>
              </a:ext>
            </a:extLst>
          </p:cNvPr>
          <p:cNvSpPr>
            <a:spLocks noGrp="1"/>
          </p:cNvSpPr>
          <p:nvPr>
            <p:ph type="title"/>
          </p:nvPr>
        </p:nvSpPr>
        <p:spPr>
          <a:xfrm>
            <a:off x="454796" y="450698"/>
            <a:ext cx="9791704" cy="218627"/>
          </a:xfrm>
        </p:spPr>
        <p:txBody>
          <a:bodyPr/>
          <a:lstStyle/>
          <a:p>
            <a:r>
              <a:rPr lang="el-GR" sz="1575" b="1" i="0" u="none" strike="noStrike" kern="1200" spc="-10" noProof="0">
                <a:solidFill>
                  <a:srgbClr val="1B4528"/>
                </a:solidFill>
                <a:latin typeface="+mn-lt"/>
                <a:ea typeface="+mn-ea"/>
                <a:cs typeface="+mn-cs"/>
              </a:rPr>
              <a:t xml:space="preserve">Πολιτικές και διαδικασίες ανθρωπίνων δικαιωμάτων (C6</a:t>
            </a:r>
            <a:r>
              <a:rPr lang="el-GR" noProof="0"/>
              <a:t xml:space="preserve">) - Ίδιο εργατικό δυναμικό</a:t>
            </a:r>
          </a:p>
        </p:txBody>
      </p:sp>
      <p:sp>
        <p:nvSpPr>
          <p:cNvPr id="2" name="Slide Number Placeholder 1">
            <a:extLst>
              <a:ext uri="{FF2B5EF4-FFF2-40B4-BE49-F238E27FC236}">
                <a16:creationId xmlns:a16="http://schemas.microsoft.com/office/drawing/2014/main" id="{7F4B2DDC-B47C-8EC5-7967-2A58A7546BE1}"/>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21</a:t>
            </a:fld>
            <a:endParaRPr lang="el-GR" noProof="0"/>
          </a:p>
        </p:txBody>
      </p:sp>
      <p:sp>
        <p:nvSpPr>
          <p:cNvPr id="5" name="Footer Placeholder 4">
            <a:extLst>
              <a:ext uri="{FF2B5EF4-FFF2-40B4-BE49-F238E27FC236}">
                <a16:creationId xmlns:a16="http://schemas.microsoft.com/office/drawing/2014/main" id="{12C8F095-7936-9AF5-ED2E-CAF996EA0C77}"/>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7" name="Table 12">
            <a:extLst>
              <a:ext uri="{FF2B5EF4-FFF2-40B4-BE49-F238E27FC236}">
                <a16:creationId xmlns:a16="http://schemas.microsoft.com/office/drawing/2014/main" id="{28CCF2F2-67F8-E6B4-823D-CCF80EE37382}"/>
              </a:ext>
            </a:extLst>
          </p:cNvPr>
          <p:cNvGraphicFramePr>
            <a:graphicFrameLocks noGrp="1"/>
          </p:cNvGraphicFramePr>
          <p:nvPr>
            <p:extLst>
              <p:ext uri="{D42A27DB-BD31-4B8C-83A1-F6EECF244321}">
                <p14:modId xmlns:p14="http://schemas.microsoft.com/office/powerpoint/2010/main" val="2313881061"/>
              </p:ext>
            </p:extLst>
          </p:nvPr>
        </p:nvGraphicFramePr>
        <p:xfrm>
          <a:off x="454796" y="1615123"/>
          <a:ext cx="9791704" cy="3027172"/>
        </p:xfrm>
        <a:graphic>
          <a:graphicData uri="http://schemas.openxmlformats.org/drawingml/2006/table">
            <a:tbl>
              <a:tblPr firstRow="1">
                <a:tableStyleId>{2A488322-F2BA-4B5B-9748-0D474271808F}</a:tableStyleId>
              </a:tblPr>
              <a:tblGrid>
                <a:gridCol w="7527272">
                  <a:extLst>
                    <a:ext uri="{9D8B030D-6E8A-4147-A177-3AD203B41FA5}">
                      <a16:colId xmlns:a16="http://schemas.microsoft.com/office/drawing/2014/main" val="2698153288"/>
                    </a:ext>
                  </a:extLst>
                </a:gridCol>
                <a:gridCol w="2264432">
                  <a:extLst>
                    <a:ext uri="{9D8B030D-6E8A-4147-A177-3AD203B41FA5}">
                      <a16:colId xmlns:a16="http://schemas.microsoft.com/office/drawing/2014/main" val="2119413191"/>
                    </a:ext>
                  </a:extLst>
                </a:gridCol>
              </a:tblGrid>
              <a:tr h="44894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noProof="0">
                          <a:solidFill>
                            <a:srgbClr val="1B4528"/>
                          </a:solidFill>
                          <a:latin typeface="+mn-lt"/>
                          <a:ea typeface="+mn-ea"/>
                          <a:cs typeface="+mn-cs"/>
                        </a:rPr>
                        <a:t>{{company_name}}</a:t>
                      </a:r>
                      <a:r>
                        <a:rPr lang="el-GR" sz="1050" b="1" noProof="0">
                          <a:solidFill>
                            <a:schemeClr val="tx2"/>
                          </a:solidFill>
                        </a:rPr>
                        <a:t xml:space="preserve"> διαθέτει </a:t>
                      </a:r>
                      <a:r>
                        <a:rPr lang="el-GR" sz="1050" b="1" kern="1200" spc="-10" noProof="0">
                          <a:solidFill>
                            <a:schemeClr val="tx2"/>
                          </a:solidFill>
                          <a:latin typeface="+mn-lt"/>
                          <a:ea typeface="+mn-ea"/>
                          <a:cs typeface="+mn-cs"/>
                        </a:rPr>
                        <a:t xml:space="preserve">κώδικα δεοντολογίας </a:t>
                      </a:r>
                      <a:r>
                        <a:rPr lang="el-GR" sz="1050" b="1" i="1" kern="1200" spc="-10" noProof="0">
                          <a:solidFill>
                            <a:schemeClr val="tx2"/>
                          </a:solidFill>
                          <a:latin typeface="+mn-lt"/>
                          <a:ea typeface="+mn-ea"/>
                          <a:cs typeface="+mn-cs"/>
                        </a:rPr>
                        <a:t xml:space="preserve">και/ή</a:t>
                      </a:r>
                      <a:r>
                        <a:rPr lang="el-GR" sz="1050" b="1" kern="1200" spc="-10" noProof="0">
                          <a:solidFill>
                            <a:schemeClr val="tx2"/>
                          </a:solidFill>
                          <a:latin typeface="+mn-lt"/>
                          <a:ea typeface="+mn-ea"/>
                          <a:cs typeface="+mn-cs"/>
                        </a:rPr>
                        <a:t xml:space="preserve"> πολιτική ανθρωπίνων δικαιωμάτων για το </a:t>
                      </a:r>
                      <a:r>
                        <a:rPr lang="el-GR" sz="1050" b="1" u="sng" kern="1200" spc="-10" noProof="0">
                          <a:solidFill>
                            <a:schemeClr val="tx2"/>
                          </a:solidFill>
                          <a:latin typeface="+mn-lt"/>
                          <a:ea typeface="+mn-ea"/>
                          <a:cs typeface="+mn-cs"/>
                        </a:rPr>
                        <a:t xml:space="preserve">ίδιο εργατικό δυναμικό</a:t>
                      </a:r>
                      <a:r>
                        <a:rPr lang="el-GR" sz="1050" b="0" u="none" kern="1200" spc="-10" noProof="0">
                          <a:solidFill>
                            <a:schemeClr val="tx2"/>
                          </a:solidFill>
                          <a:latin typeface="+mn-lt"/>
                          <a:ea typeface="+mn-ea"/>
                          <a:cs typeface="+mn-cs"/>
                        </a:rPr>
                        <a:t xml:space="preserve"> (παρ. 61a)</a:t>
                      </a:r>
                      <a:endParaRPr lang="el-GR" sz="1050" b="0" u="none"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noProof="0">
                          <a:solidFill>
                            <a:srgbClr val="1B4528"/>
                          </a:solidFill>
                          <a:latin typeface="+mn-lt"/>
                          <a:cs typeface="Calibri"/>
                        </a:rPr>
                        <a:t>{{human_rights_policy?}}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30886">
                <a:tc gridSpan="2">
                  <a:txBody>
                    <a:bodyPr/>
                    <a:lstStyle/>
                    <a:p>
                      <a:r>
                        <a:rPr lang="el-GR" sz="1050" b="1" kern="1200" noProof="0">
                          <a:solidFill>
                            <a:schemeClr val="tx1"/>
                          </a:solidFill>
                          <a:latin typeface="+mn-lt"/>
                          <a:ea typeface="+mn-ea"/>
                          <a:cs typeface="+mn-cs"/>
                        </a:rPr>
                        <a:t xml:space="preserve">Ο κώδικας δεοντολογίας ή η πολιτική ανθρωπίνων δικαιωμάτων καλύπτει τα εξής: </a:t>
                      </a:r>
                      <a:r>
                        <a:rPr lang="el-GR" sz="1050" b="0" u="none" kern="1200" spc="-10" noProof="0">
                          <a:solidFill>
                            <a:schemeClr val="tx2"/>
                          </a:solidFill>
                          <a:latin typeface="+mn-lt"/>
                          <a:ea typeface="+mn-ea"/>
                          <a:cs typeface="+mn-cs"/>
                        </a:rPr>
                        <a:t xml:space="preserve">(παρ. 61b)</a:t>
                      </a:r>
                      <a:endParaRPr lang="el-GR" sz="1050" b="0" noProof="0">
                        <a:solidFill>
                          <a:schemeClr val="tx1"/>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noProof="0">
                        <a:solidFill>
                          <a:srgbClr val="1B4528"/>
                        </a:solidFill>
                        <a:latin typeface="+mn-lt"/>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30886">
                <a:tc>
                  <a:txBody>
                    <a:bodyPr/>
                    <a:lstStyle/>
                    <a:p>
                      <a:pPr lvl="1"/>
                      <a:r>
                        <a:rPr lang="el-GR" sz="1050" b="0" noProof="0">
                          <a:solidFill>
                            <a:schemeClr val="tx2"/>
                          </a:solidFill>
                        </a:rPr>
                        <a:t xml:space="preserve">Παιδική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{{child_labour_polict?}}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30886">
                <a:tc>
                  <a:txBody>
                    <a:bodyPr/>
                    <a:lstStyle/>
                    <a:p>
                      <a:pPr lvl="1"/>
                      <a:r>
                        <a:rPr lang="el-GR" sz="1050" b="0" noProof="0">
                          <a:solidFill>
                            <a:schemeClr val="tx2"/>
                          </a:solidFill>
                        </a:rPr>
                        <a:t xml:space="preserve">Καταναγκαστική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{{forced_labour_policy?}}</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30886">
                <a:tc>
                  <a:txBody>
                    <a:bodyPr/>
                    <a:lstStyle/>
                    <a:p>
                      <a:pPr lvl="1"/>
                      <a:r>
                        <a:rPr lang="el-GR" sz="1050" b="0" noProof="0">
                          <a:solidFill>
                            <a:schemeClr val="tx2"/>
                          </a:solidFill>
                        </a:rPr>
                        <a:t xml:space="preserve">Εμπορία ανθρώπων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{{human_policy?}}</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30886">
                <a:tc>
                  <a:txBody>
                    <a:bodyPr/>
                    <a:lstStyle/>
                    <a:p>
                      <a:pPr lvl="1"/>
                      <a:r>
                        <a:rPr lang="el-GR" sz="1050" b="0" noProof="0">
                          <a:solidFill>
                            <a:schemeClr val="tx2"/>
                          </a:solidFill>
                        </a:rPr>
                        <a:t xml:space="preserve">Διακρίσεις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{{discrimanation_policy?}}</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30886">
                <a:tc>
                  <a:txBody>
                    <a:bodyPr/>
                    <a:lstStyle/>
                    <a:p>
                      <a:pPr lvl="1"/>
                      <a:r>
                        <a:rPr lang="el-GR" sz="1050" b="0" noProof="0">
                          <a:solidFill>
                            <a:schemeClr val="tx2"/>
                          </a:solidFill>
                        </a:rPr>
                        <a:t xml:space="preserve">Ασφάλεια και πρόληψη ατυχημάτων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{{safety_policy?}}</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30886">
                <a:tc>
                  <a:txBody>
                    <a:bodyPr/>
                    <a:lstStyle/>
                    <a:p>
                      <a:pPr lvl="1"/>
                      <a:r>
                        <a:rPr lang="el-GR" sz="1050" b="0" noProof="0">
                          <a:solidFill>
                            <a:schemeClr val="tx2"/>
                          </a:solidFill>
                        </a:rPr>
                        <a:t xml:space="preserve">Άλλο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other_policy</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30886">
                <a:tc gridSpan="2">
                  <a:txBody>
                    <a:bodyPr/>
                    <a:lstStyle/>
                    <a:p>
                      <a:r>
                        <a:rPr lang="el-GR" sz="1050" b="1" noProof="0">
                          <a:solidFill>
                            <a:schemeClr val="tx2"/>
                          </a:solidFill>
                        </a:rPr>
                        <a:t xml:space="preserve">Εάν ναι στο ”Άλλο”, προσδιορίστε</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noProof="0">
                        <a:solidFill>
                          <a:srgbClr val="1B4528"/>
                        </a:solidFill>
                        <a:latin typeface="+mn-lt"/>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731142">
                <a:tc gridSpan="2">
                  <a:txBody>
                    <a:bodyPr/>
                    <a:lstStyle/>
                    <a:p>
                      <a:endParaRPr lang="el-GR" sz="1050" b="0" noProof="0">
                        <a:solidFill>
                          <a:schemeClr val="tx2"/>
                        </a:solidFill>
                      </a:endParaRPr>
                    </a:p>
                    <a:p>
                      <a:pPr lvl="0" algn="r">
                        <a:lnSpc>
                          <a:spcPct val="100000"/>
                        </a:lnSpc>
                        <a:spcBef>
                          <a:spcPts val="0"/>
                        </a:spcBef>
                        <a:spcAft>
                          <a:spcPts val="0"/>
                        </a:spcAft>
                        <a:buNone/>
                      </a:pPr>
                      <a:r>
                        <a:rPr lang="el-GR" sz="1050" b="0" i="0" u="none" strike="noStrike" kern="1200" noProof="0">
                          <a:solidFill>
                            <a:srgbClr val="1B4528"/>
                          </a:solidFill>
                          <a:latin typeface="Inter"/>
                          <a:ea typeface="+mn-ea"/>
                          <a:cs typeface="+mn-cs"/>
                        </a:rPr>
                        <a:t>{{C6_other_description}}</a:t>
                      </a:r>
                      <a:endParaRPr lang="el-GR" sz="1050" b="0" i="0" u="none" strike="noStrike" kern="1200" noProof="0">
                        <a:solidFill>
                          <a:srgbClr val="000000"/>
                        </a:solidFill>
                        <a:latin typeface="Inter"/>
                        <a:ea typeface="+mn-ea"/>
                        <a:cs typeface="+mn-cs"/>
                      </a:endParaRPr>
                    </a:p>
                    <a:p>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75" b="0" noProof="0">
                        <a:solidFill>
                          <a:srgbClr val="1B4528"/>
                        </a:solidFill>
                        <a:latin typeface="+mn-lt"/>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18" name="Table 12">
            <a:extLst>
              <a:ext uri="{FF2B5EF4-FFF2-40B4-BE49-F238E27FC236}">
                <a16:creationId xmlns:a16="http://schemas.microsoft.com/office/drawing/2014/main" id="{DB79A87E-D29B-1775-517F-11F70A44D342}"/>
              </a:ext>
            </a:extLst>
          </p:cNvPr>
          <p:cNvGraphicFramePr>
            <a:graphicFrameLocks noGrp="1"/>
          </p:cNvGraphicFramePr>
          <p:nvPr>
            <p:extLst>
              <p:ext uri="{D42A27DB-BD31-4B8C-83A1-F6EECF244321}">
                <p14:modId xmlns:p14="http://schemas.microsoft.com/office/powerpoint/2010/main" val="3266126802"/>
              </p:ext>
            </p:extLst>
          </p:nvPr>
        </p:nvGraphicFramePr>
        <p:xfrm>
          <a:off x="445499" y="4809230"/>
          <a:ext cx="9805817" cy="759520"/>
        </p:xfrm>
        <a:graphic>
          <a:graphicData uri="http://schemas.openxmlformats.org/drawingml/2006/table">
            <a:tbl>
              <a:tblPr firstRow="1">
                <a:tableStyleId>{2A488322-F2BA-4B5B-9748-0D474271808F}</a:tableStyleId>
              </a:tblPr>
              <a:tblGrid>
                <a:gridCol w="7538121">
                  <a:extLst>
                    <a:ext uri="{9D8B030D-6E8A-4147-A177-3AD203B41FA5}">
                      <a16:colId xmlns:a16="http://schemas.microsoft.com/office/drawing/2014/main" val="2698153288"/>
                    </a:ext>
                  </a:extLst>
                </a:gridCol>
                <a:gridCol w="2267696">
                  <a:extLst>
                    <a:ext uri="{9D8B030D-6E8A-4147-A177-3AD203B41FA5}">
                      <a16:colId xmlns:a16="http://schemas.microsoft.com/office/drawing/2014/main" val="2119413191"/>
                    </a:ext>
                  </a:extLst>
                </a:gridCol>
              </a:tblGrid>
              <a:tr h="759520">
                <a:tc>
                  <a:txBody>
                    <a:bodyPr/>
                    <a:lstStyle/>
                    <a:p>
                      <a:r>
                        <a:rPr lang="el-GR" sz="1050" b="1" noProof="0">
                          <a:solidFill>
                            <a:schemeClr val="tx2"/>
                          </a:solidFill>
                        </a:rPr>
                        <a:t xml:space="preserve">Η επιχείρηση διαθέτει μηχανισμό διαχείρισης καταγγελιών για το </a:t>
                      </a:r>
                      <a:r>
                        <a:rPr lang="el-GR" sz="1050" b="1" u="sng" noProof="0">
                          <a:solidFill>
                            <a:schemeClr val="tx2"/>
                          </a:solidFill>
                        </a:rPr>
                        <a:t xml:space="preserve">ίδιο εργατικό δυναμικό</a:t>
                      </a:r>
                      <a:r>
                        <a:rPr lang="el-GR" sz="1050" b="0" u="sng" noProof="0">
                          <a:solidFill>
                            <a:schemeClr val="tx2"/>
                          </a:solidFill>
                        </a:rPr>
                        <a:t> </a:t>
                      </a:r>
                      <a:r>
                        <a:rPr lang="el-GR" sz="1050" b="0" noProof="0">
                          <a:solidFill>
                            <a:schemeClr val="tx2"/>
                          </a:solidFill>
                        </a:rPr>
                        <a:t xml:space="preserve">(παρ. 61c)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1050" b="0" noProof="0">
                          <a:solidFill>
                            <a:srgbClr val="1B4528"/>
                          </a:solidFill>
                          <a:latin typeface="+mn-lt"/>
                          <a:cs typeface="Calibri"/>
                        </a:rPr>
                        <a:t>{{whistleblower?}}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1" name="Tekstfelt 10">
            <a:extLst>
              <a:ext uri="{FF2B5EF4-FFF2-40B4-BE49-F238E27FC236}">
                <a16:creationId xmlns:a16="http://schemas.microsoft.com/office/drawing/2014/main" id="{7C4038A4-75FD-FD52-35A4-14C7ED85BEEF}"/>
              </a:ext>
            </a:extLst>
          </p:cNvPr>
          <p:cNvSpPr txBox="1"/>
          <p:nvPr/>
        </p:nvSpPr>
        <p:spPr>
          <a:xfrm>
            <a:off x="452474" y="891000"/>
            <a:ext cx="9794026" cy="404866"/>
          </a:xfrm>
          <a:prstGeom prst="rect">
            <a:avLst/>
          </a:prstGeom>
          <a:noFill/>
        </p:spPr>
        <p:txBody>
          <a:bodyPr wrap="square">
            <a:spAutoFit/>
          </a:bodyPr>
          <a:lstStyle/>
          <a:p>
            <a:pPr>
              <a:spcBef>
                <a:spcPts val="789"/>
              </a:spcBef>
            </a:pPr>
            <a:r>
              <a:rPr lang="el-GR" sz="1050" b="0" i="0" u="none" strike="noStrike" noProof="0">
                <a:solidFill>
                  <a:schemeClr val="tx2"/>
                </a:solidFill>
                <a:effectLst/>
                <a:latin typeface="Inter"/>
              </a:rPr>
              <a:t xml:space="preserve">Κατωτέρω </a:t>
            </a:r>
            <a:r>
              <a:rPr lang="el-GR" sz="1050" noProof="0">
                <a:solidFill>
                  <a:schemeClr val="tx2"/>
                </a:solidFill>
                <a:latin typeface="Inter"/>
              </a:rPr>
              <a:t xml:space="preserve">παρατίθενται στοιχεία για </a:t>
            </a:r>
            <a:r>
              <a:rPr lang="el-GR" sz="1050" b="0" i="0" u="none" strike="noStrike" noProof="0">
                <a:solidFill>
                  <a:schemeClr val="tx2"/>
                </a:solidFill>
                <a:effectLst/>
                <a:latin typeface="Inter"/>
              </a:rPr>
              <a:t xml:space="preserve">τον κώδικα δεοντολογίας και/ή την πολιτική ανθρωπίνων δικαιωμάτων για το ίδιο εργατικό δυναμικ</a:t>
            </a:r>
            <a:r>
              <a:rPr lang="el-GR" sz="1050" noProof="0">
                <a:solidFill>
                  <a:schemeClr val="tx2"/>
                </a:solidFill>
                <a:latin typeface="Inter"/>
              </a:rPr>
              <a:t xml:space="preserve">ό. Αναφέρεται επίσης εάν η επιχείρηση διαθέτει μηχανισμό διαχείρισης καταγγελιών που επιτρέπει στους εργαζομένους να αναφέρουν περιστατικά παραβίασης ανθρωπίνων δικαιωμάτων, διακρίσεων, παρενόχλησης ή άλλων επιλήψιμων συμπεριφορών.</a:t>
            </a:r>
          </a:p>
        </p:txBody>
      </p:sp>
    </p:spTree>
    <p:extLst>
      <p:ext uri="{BB962C8B-B14F-4D97-AF65-F5344CB8AC3E}">
        <p14:creationId xmlns:p14="http://schemas.microsoft.com/office/powerpoint/2010/main" val="1386602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sz="1575" b="1" i="0" u="none" strike="noStrike" kern="1200" spc="-10" noProof="0">
                <a:solidFill>
                  <a:srgbClr val="1B4528"/>
                </a:solidFill>
                <a:latin typeface="+mn-lt"/>
                <a:ea typeface="+mn-ea"/>
                <a:cs typeface="+mn-cs"/>
              </a:rPr>
              <a:t xml:space="preserve">Σοβαρά αρνητικά περιστατικά ανθρωπίνων δικαιωμάτων (C7</a:t>
            </a:r>
            <a:r>
              <a:rPr lang="el-GR" noProof="0"/>
              <a:t xml:space="preserve">) – Ίδιο εργατικό δυναμικό</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22</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54794" y="1470645"/>
          <a:ext cx="9791703" cy="2723194"/>
        </p:xfrm>
        <a:graphic>
          <a:graphicData uri="http://schemas.openxmlformats.org/drawingml/2006/table">
            <a:tbl>
              <a:tblPr firstRow="1">
                <a:tableStyleId>{2A488322-F2BA-4B5B-9748-0D474271808F}</a:tableStyleId>
              </a:tblPr>
              <a:tblGrid>
                <a:gridCol w="3436664">
                  <a:extLst>
                    <a:ext uri="{9D8B030D-6E8A-4147-A177-3AD203B41FA5}">
                      <a16:colId xmlns:a16="http://schemas.microsoft.com/office/drawing/2014/main" val="1902117154"/>
                    </a:ext>
                  </a:extLst>
                </a:gridCol>
                <a:gridCol w="6355039">
                  <a:extLst>
                    <a:ext uri="{9D8B030D-6E8A-4147-A177-3AD203B41FA5}">
                      <a16:colId xmlns:a16="http://schemas.microsoft.com/office/drawing/2014/main" val="1904521774"/>
                    </a:ext>
                  </a:extLst>
                </a:gridCol>
              </a:tblGrid>
              <a:tr h="286383">
                <a:tc gridSpan="2">
                  <a:txBody>
                    <a:bodyPr/>
                    <a:lstStyle/>
                    <a:p>
                      <a:pPr algn="l"/>
                      <a:r>
                        <a:rPr lang="el-GR" sz="1050" b="1" kern="1200" spc="-10" noProof="0">
                          <a:solidFill>
                            <a:schemeClr val="tx2"/>
                          </a:solidFill>
                          <a:latin typeface="+mn-lt"/>
                          <a:ea typeface="+mn-ea"/>
                          <a:cs typeface="+mn-cs"/>
                        </a:rPr>
                        <a:t xml:space="preserve">Υπάρχουν, για το </a:t>
                      </a:r>
                      <a:r>
                        <a:rPr lang="el-GR" sz="1050" b="1" u="sng" kern="1200" spc="-10" noProof="0">
                          <a:solidFill>
                            <a:schemeClr val="tx2"/>
                          </a:solidFill>
                          <a:latin typeface="+mn-lt"/>
                          <a:ea typeface="+mn-ea"/>
                          <a:cs typeface="+mn-cs"/>
                        </a:rPr>
                        <a:t xml:space="preserve">ίδιο εργατικό δυναμικό</a:t>
                      </a:r>
                      <a:r>
                        <a:rPr lang="el-GR" sz="1050" b="1" u="none" kern="1200" spc="-10" noProof="0">
                          <a:solidFill>
                            <a:schemeClr val="tx2"/>
                          </a:solidFill>
                          <a:latin typeface="+mn-lt"/>
                          <a:ea typeface="+mn-ea"/>
                          <a:cs typeface="+mn-cs"/>
                        </a:rPr>
                        <a:t xml:space="preserve"> της επιχείρησης, </a:t>
                      </a:r>
                      <a:r>
                        <a:rPr lang="el-GR" sz="1050" b="1" kern="1200" spc="-10" noProof="0">
                          <a:solidFill>
                            <a:schemeClr val="tx2"/>
                          </a:solidFill>
                          <a:latin typeface="+mn-lt"/>
                          <a:ea typeface="+mn-ea"/>
                          <a:cs typeface="+mn-cs"/>
                        </a:rPr>
                        <a:t xml:space="preserve">επιβεβαιωμένα αρνητικά περιστατικά σχετικά με τα εξής </a:t>
                      </a:r>
                      <a:r>
                        <a:rPr lang="el-GR" sz="1050" b="0" kern="1200" spc="-10" noProof="0">
                          <a:solidFill>
                            <a:schemeClr val="tx2"/>
                          </a:solidFill>
                          <a:latin typeface="+mn-lt"/>
                          <a:ea typeface="+mn-ea"/>
                          <a:cs typeface="+mn-cs"/>
                        </a:rPr>
                        <a:t xml:space="preserve">(παρ. 62a-b)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513227">
                <a:tc>
                  <a:txBody>
                    <a:bodyPr/>
                    <a:lstStyle/>
                    <a:p>
                      <a:pPr algn="l"/>
                      <a:r>
                        <a:rPr lang="el-GR" sz="1050" b="1" kern="1200" spc="-10" noProof="0">
                          <a:solidFill>
                            <a:schemeClr val="tx2"/>
                          </a:solidFill>
                          <a:latin typeface="+mn-lt"/>
                          <a:ea typeface="+mn-ea"/>
                          <a:cs typeface="+mn-cs"/>
                        </a:rPr>
                        <a:t xml:space="preserve">Παιδική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1050" b="0" i="0" u="none" strike="noStrike" noProof="0">
                          <a:solidFill>
                            <a:srgbClr val="1B4528"/>
                          </a:solidFill>
                        </a:rPr>
                        <a:t>{{child_labour_yes?}}</a:t>
                      </a:r>
                      <a:endParaRPr lang="el-GR"/>
                    </a:p>
                    <a:p>
                      <a:pPr lvl="0" algn="l">
                        <a:lnSpc>
                          <a:spcPct val="100000"/>
                        </a:lnSpc>
                        <a:spcBef>
                          <a:spcPts val="0"/>
                        </a:spcBef>
                        <a:spcAft>
                          <a:spcPts val="0"/>
                        </a:spcAft>
                        <a:buNone/>
                      </a:pPr>
                      <a:r>
                        <a:rPr lang="el-GR" sz="1050" b="0" i="0" u="none" strike="noStrike" noProof="0">
                          <a:solidFill>
                            <a:srgbClr val="1B4528"/>
                          </a:solidFill>
                        </a:rPr>
                        <a:t>{{child_labour_desc}}</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513227">
                <a:tc>
                  <a:txBody>
                    <a:bodyPr/>
                    <a:lstStyle/>
                    <a:p>
                      <a:pPr algn="l"/>
                      <a:r>
                        <a:rPr lang="el-GR" sz="1050" b="1" kern="1200" spc="-10" noProof="0">
                          <a:solidFill>
                            <a:schemeClr val="tx2"/>
                          </a:solidFill>
                          <a:latin typeface="+mn-lt"/>
                          <a:ea typeface="+mn-ea"/>
                          <a:cs typeface="+mn-cs"/>
                        </a:rPr>
                        <a:t xml:space="preserve">Καταναγκαστική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1050" b="0" i="0" u="none" strike="noStrike" noProof="0">
                          <a:solidFill>
                            <a:srgbClr val="1B4528"/>
                          </a:solidFill>
                        </a:rPr>
                        <a:t>{{forced_labour_yes?}}</a:t>
                      </a:r>
                      <a:endParaRPr lang="el-GR"/>
                    </a:p>
                    <a:p>
                      <a:pPr lvl="0" algn="l" defTabSz="914400">
                        <a:lnSpc>
                          <a:spcPct val="100000"/>
                        </a:lnSpc>
                        <a:spcBef>
                          <a:spcPts val="0"/>
                        </a:spcBef>
                        <a:spcAft>
                          <a:spcPts val="0"/>
                        </a:spcAft>
                        <a:buNone/>
                        <a:tabLst/>
                        <a:defRPr/>
                      </a:pPr>
                      <a:r>
                        <a:rPr lang="el-GR" sz="1050" b="0" i="0" u="none" strike="noStrike" noProof="0">
                          <a:solidFill>
                            <a:srgbClr val="1B4528"/>
                          </a:solidFill>
                        </a:rPr>
                        <a:t>{{forced_labour_desc}}</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513227">
                <a:tc>
                  <a:txBody>
                    <a:bodyPr/>
                    <a:lstStyle/>
                    <a:p>
                      <a:pPr algn="l"/>
                      <a:r>
                        <a:rPr lang="el-GR" sz="1050" b="1" kern="1200" spc="-10" noProof="0">
                          <a:solidFill>
                            <a:schemeClr val="tx2"/>
                          </a:solidFill>
                          <a:latin typeface="+mn-lt"/>
                          <a:ea typeface="+mn-ea"/>
                          <a:cs typeface="+mn-cs"/>
                        </a:rPr>
                        <a:t xml:space="preserve">Εμπορία ανθρώπων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1050" b="0" i="0" u="none" strike="noStrike" noProof="0">
                          <a:solidFill>
                            <a:srgbClr val="1B4528"/>
                          </a:solidFill>
                        </a:rPr>
                        <a:t>{{human_trafficking_yes?}}</a:t>
                      </a:r>
                      <a:endParaRPr lang="el-GR"/>
                    </a:p>
                    <a:p>
                      <a:pPr lvl="0" algn="l" defTabSz="914400">
                        <a:lnSpc>
                          <a:spcPct val="100000"/>
                        </a:lnSpc>
                        <a:spcBef>
                          <a:spcPts val="0"/>
                        </a:spcBef>
                        <a:spcAft>
                          <a:spcPts val="0"/>
                        </a:spcAft>
                        <a:buNone/>
                        <a:tabLst/>
                        <a:defRPr/>
                      </a:pPr>
                      <a:r>
                        <a:rPr lang="el-GR" sz="1050" b="0" i="0" u="none" strike="noStrike" noProof="0">
                          <a:solidFill>
                            <a:srgbClr val="1B4528"/>
                          </a:solidFill>
                        </a:rPr>
                        <a:t>{{human_trafficking_desc}}</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513227">
                <a:tc>
                  <a:txBody>
                    <a:bodyPr/>
                    <a:lstStyle/>
                    <a:p>
                      <a:pPr algn="l"/>
                      <a:r>
                        <a:rPr lang="el-GR" sz="1050" b="1" kern="1200" spc="-10" noProof="0">
                          <a:solidFill>
                            <a:schemeClr val="tx2"/>
                          </a:solidFill>
                          <a:latin typeface="+mn-lt"/>
                          <a:ea typeface="+mn-ea"/>
                          <a:cs typeface="+mn-cs"/>
                        </a:rPr>
                        <a:t xml:space="preserve">Διακρίσεις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1050" b="0" i="0" u="none" strike="noStrike" noProof="0">
                          <a:solidFill>
                            <a:srgbClr val="1B4528"/>
                          </a:solidFill>
                        </a:rPr>
                        <a:t>{{discrimination_yes?}}</a:t>
                      </a:r>
                      <a:endParaRPr lang="el-GR"/>
                    </a:p>
                    <a:p>
                      <a:pPr lvl="0" algn="l" defTabSz="914400">
                        <a:lnSpc>
                          <a:spcPct val="100000"/>
                        </a:lnSpc>
                        <a:spcBef>
                          <a:spcPts val="0"/>
                        </a:spcBef>
                        <a:spcAft>
                          <a:spcPts val="0"/>
                        </a:spcAft>
                        <a:buNone/>
                        <a:tabLst/>
                        <a:defRPr/>
                      </a:pPr>
                      <a:r>
                        <a:rPr lang="el-GR" sz="1050" b="0" i="0" u="none" strike="noStrike" noProof="0">
                          <a:solidFill>
                            <a:srgbClr val="1B4528"/>
                          </a:solidFill>
                        </a:rPr>
                        <a:t>{{discrimination_desc}}</a:t>
                      </a:r>
                      <a:endParaRPr lang="el-G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61998">
                <a:tc>
                  <a:txBody>
                    <a:bodyPr/>
                    <a:lstStyle/>
                    <a:p>
                      <a:pPr lvl="0" algn="l">
                        <a:buNone/>
                      </a:pPr>
                      <a:r>
                        <a:rPr lang="el-GR" sz="1050" b="1" kern="1200" spc="-10" noProof="0">
                          <a:solidFill>
                            <a:schemeClr val="tx2"/>
                          </a:solidFill>
                          <a:latin typeface="+mn-lt"/>
                          <a:ea typeface="+mn-ea"/>
                          <a:cs typeface="+mn-cs"/>
                        </a:rPr>
                        <a:t xml:space="preserve">Άλλο </a:t>
                      </a:r>
                      <a:endParaRPr lang="en-US" b="1">
                        <a:latin typeface="+mn-lt"/>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1050" b="0" i="0" u="none" strike="noStrike" noProof="0">
                          <a:solidFill>
                            <a:srgbClr val="1B4528"/>
                          </a:solidFill>
                          <a:latin typeface="IBM Plex Sans"/>
                          <a:cs typeface="Calibri"/>
                        </a:rPr>
                        <a:t>{{other</a:t>
                      </a:r>
                      <a:r>
                        <a:rPr lang="el-GR" sz="1050" b="0" i="0" u="none" strike="noStrike" noProof="0">
                          <a:solidFill>
                            <a:srgbClr val="1B4528"/>
                          </a:solidFill>
                          <a:latin typeface="IBM Plex Sans"/>
                        </a:rPr>
                        <a:t>_yes?}}</a:t>
                      </a:r>
                      <a:endParaRPr lang="el-GR" sz="1050"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el-GR" sz="1050" b="0" i="0" u="none" strike="noStrike" noProof="0">
                          <a:solidFill>
                            <a:srgbClr val="1B4528"/>
                          </a:solidFill>
                          <a:latin typeface="IBM Plex Sans"/>
                        </a:rPr>
                        <a:t>{{other_desc}}</a:t>
                      </a:r>
                      <a:endParaRPr lang="el-GR" sz="1050" b="0" i="0" u="none" strike="noStrike" noProof="0">
                        <a:solidFill>
                          <a:srgbClr val="000000"/>
                        </a:solidFill>
                        <a:latin typeface="IBM Plex San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45499" y="891000"/>
            <a:ext cx="9791703" cy="728758"/>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Οι επόμενες γνωστοποιήσεις αφορούν την αναφορά από την επιχείρηση αρνητικών περιστατικών σχετικών με παιδική εργασία, καταναγκαστική εργασία, εμπορία ανθρώπων και διακρίσεις. Στην ενότητα αυτή η επιχείρηση αναφέρει εάν τα ανωτέρω αφορούν το ίδιο εργατικό δυναμικό.</a:t>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3705068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sz="1575" b="1" i="0" u="none" strike="noStrike" kern="1200" spc="-10" noProof="0">
                <a:solidFill>
                  <a:srgbClr val="1B4528"/>
                </a:solidFill>
                <a:latin typeface="+mn-lt"/>
                <a:ea typeface="+mn-ea"/>
                <a:cs typeface="+mn-cs"/>
              </a:rPr>
              <a:t xml:space="preserve">Σοβαρά αρνητικά περιστατικά ανθρωπίνων δικαιωμάτων (C7</a:t>
            </a:r>
            <a:r>
              <a:rPr lang="el-GR" noProof="0"/>
              <a:t xml:space="preserve">) – Στην αλυσίδα αξίας</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23</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pic>
        <p:nvPicPr>
          <p:cNvPr id="12" name="Graphic 9">
            <a:extLst>
              <a:ext uri="{FF2B5EF4-FFF2-40B4-BE49-F238E27FC236}">
                <a16:creationId xmlns:a16="http://schemas.microsoft.com/office/drawing/2014/main" id="{4B0E4A81-6D87-9920-AA37-8B4DE23275C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7761" y="4029576"/>
            <a:ext cx="181932" cy="203984"/>
          </a:xfrm>
          <a:prstGeom prst="rect">
            <a:avLst/>
          </a:prstGeom>
        </p:spPr>
      </p:pic>
      <p:graphicFrame>
        <p:nvGraphicFramePr>
          <p:cNvPr id="13" name="Table 2">
            <a:extLst>
              <a:ext uri="{FF2B5EF4-FFF2-40B4-BE49-F238E27FC236}">
                <a16:creationId xmlns:a16="http://schemas.microsoft.com/office/drawing/2014/main" id="{8F64AECA-5641-240D-7A32-215621E37E93}"/>
              </a:ext>
            </a:extLst>
          </p:cNvPr>
          <p:cNvGraphicFramePr>
            <a:graphicFrameLocks noGrp="1"/>
          </p:cNvGraphicFramePr>
          <p:nvPr>
            <p:extLst>
              <p:ext uri="{D42A27DB-BD31-4B8C-83A1-F6EECF244321}">
                <p14:modId xmlns:p14="http://schemas.microsoft.com/office/powerpoint/2010/main" val="643922417"/>
              </p:ext>
            </p:extLst>
          </p:nvPr>
        </p:nvGraphicFramePr>
        <p:xfrm>
          <a:off x="454795" y="1436935"/>
          <a:ext cx="9791703" cy="1634320"/>
        </p:xfrm>
        <a:graphic>
          <a:graphicData uri="http://schemas.openxmlformats.org/drawingml/2006/table">
            <a:tbl>
              <a:tblPr firstRow="1">
                <a:tableStyleId>{2A488322-F2BA-4B5B-9748-0D474271808F}</a:tableStyleId>
              </a:tblPr>
              <a:tblGrid>
                <a:gridCol w="2160129">
                  <a:extLst>
                    <a:ext uri="{9D8B030D-6E8A-4147-A177-3AD203B41FA5}">
                      <a16:colId xmlns:a16="http://schemas.microsoft.com/office/drawing/2014/main" val="1902117154"/>
                    </a:ext>
                  </a:extLst>
                </a:gridCol>
                <a:gridCol w="7631575">
                  <a:extLst>
                    <a:ext uri="{9D8B030D-6E8A-4147-A177-3AD203B41FA5}">
                      <a16:colId xmlns:a16="http://schemas.microsoft.com/office/drawing/2014/main" val="1904521774"/>
                    </a:ext>
                  </a:extLst>
                </a:gridCol>
              </a:tblGrid>
              <a:tr h="265187">
                <a:tc gridSpan="2">
                  <a:txBody>
                    <a:bodyPr/>
                    <a:lstStyle/>
                    <a:p>
                      <a:pPr algn="l"/>
                      <a:r>
                        <a:rPr lang="el-GR" sz="1050" b="1" kern="1200" spc="-10" noProof="0">
                          <a:solidFill>
                            <a:schemeClr val="tx2"/>
                          </a:solidFill>
                          <a:latin typeface="+mn-lt"/>
                          <a:ea typeface="+mn-ea"/>
                          <a:cs typeface="+mn-cs"/>
                        </a:rPr>
                        <a:t xml:space="preserve">Γνωρίζει η επιχείρηση επιβεβαιωμένα αρνητικά περιστατικά ανθρωπίνων δικαιωμάτων στην αλυσίδα αξίας της </a:t>
                      </a:r>
                      <a:r>
                        <a:rPr lang="el-GR" sz="1050" b="1" kern="1200" noProof="0">
                          <a:solidFill>
                            <a:srgbClr val="1B4528"/>
                          </a:solidFill>
                          <a:latin typeface="+mn-lt"/>
                          <a:ea typeface="+mn-ea"/>
                          <a:cs typeface="+mn-cs"/>
                        </a:rPr>
                        <a:t xml:space="preserve">{{company_name}}</a:t>
                      </a:r>
                      <a:r>
                        <a:rPr lang="el-GR" sz="1050" b="1" kern="120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xml:space="preserve">(παρ. 62c)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6378">
                <a:tc>
                  <a:txBody>
                    <a:bodyPr/>
                    <a:lstStyle/>
                    <a:p>
                      <a:pPr algn="l"/>
                      <a:r>
                        <a:rPr lang="el-GR" sz="1050" b="1" kern="1200" spc="-10" noProof="0">
                          <a:solidFill>
                            <a:schemeClr val="tx2"/>
                          </a:solidFill>
                          <a:latin typeface="+mn-lt"/>
                          <a:ea typeface="+mn-ea"/>
                          <a:cs typeface="+mn-cs"/>
                        </a:rPr>
                        <a:t xml:space="preserve">Εργαζόμενοι στην αλυσίδα αξίας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incidents_workers_value_chain</a:t>
                      </a:r>
                      <a:r>
                        <a:rPr lang="el-GR" sz="1050" b="0" i="0" u="none" strike="noStrike" noProof="0">
                          <a:solidFill>
                            <a:srgbClr val="1B4528"/>
                          </a:solidFill>
                          <a:effectLst/>
                          <a:latin typeface="Inter"/>
                        </a:rPr>
                        <a:t>}}</a:t>
                      </a:r>
                      <a:endParaRPr lang="el-GR" sz="1050" noProof="0">
                        <a:solidFill>
                          <a:srgbClr val="1B4528"/>
                        </a:solidFill>
                        <a:latin typeface="+mn-lt"/>
                        <a:cs typeface="Calibri"/>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56378">
                <a:tc>
                  <a:txBody>
                    <a:bodyPr/>
                    <a:lstStyle/>
                    <a:p>
                      <a:pPr algn="l"/>
                      <a:r>
                        <a:rPr lang="el-GR" sz="1050" b="1" kern="1200" spc="-10" noProof="0">
                          <a:solidFill>
                            <a:schemeClr val="tx2"/>
                          </a:solidFill>
                          <a:latin typeface="+mn-lt"/>
                          <a:ea typeface="+mn-ea"/>
                          <a:cs typeface="+mn-cs"/>
                        </a:rPr>
                        <a:t xml:space="preserve">Επηρεαζόμενες κοινότητες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incidents_affected_communities</a:t>
                      </a:r>
                      <a:r>
                        <a:rPr lang="el-GR" sz="1050" b="0" i="0" u="none" strike="noStrike" noProof="0">
                          <a:solidFill>
                            <a:srgbClr val="1B4528"/>
                          </a:solidFill>
                          <a:effectLst/>
                          <a:latin typeface="Inter"/>
                        </a:rPr>
                        <a:t>}}</a:t>
                      </a:r>
                      <a:endParaRPr lang="el-GR" sz="1050" kern="1200" noProof="0">
                        <a:solidFill>
                          <a:srgbClr val="1B4528"/>
                        </a:solidFill>
                        <a:latin typeface="+mn-lt"/>
                        <a:ea typeface="+mn-ea"/>
                        <a:cs typeface="Calibri"/>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56378">
                <a:tc>
                  <a:txBody>
                    <a:bodyPr/>
                    <a:lstStyle/>
                    <a:p>
                      <a:pPr algn="l"/>
                      <a:r>
                        <a:rPr lang="el-GR" sz="1050" b="1" kern="1200" spc="-10" noProof="0">
                          <a:solidFill>
                            <a:schemeClr val="tx2"/>
                          </a:solidFill>
                          <a:latin typeface="+mn-lt"/>
                          <a:ea typeface="+mn-ea"/>
                          <a:cs typeface="+mn-cs"/>
                        </a:rPr>
                        <a:t xml:space="preserve">Καταναλωτές και τελικοί χρήστες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incidents_consumers</a:t>
                      </a:r>
                      <a:r>
                        <a:rPr lang="el-GR" sz="1050" b="0" i="0" u="none" strike="noStrike" noProof="0">
                          <a:solidFill>
                            <a:srgbClr val="1B4528"/>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14" name="Tekstfelt 13">
            <a:extLst>
              <a:ext uri="{FF2B5EF4-FFF2-40B4-BE49-F238E27FC236}">
                <a16:creationId xmlns:a16="http://schemas.microsoft.com/office/drawing/2014/main" id="{242457FC-408B-5451-1EF0-8D381F9C10EE}"/>
              </a:ext>
            </a:extLst>
          </p:cNvPr>
          <p:cNvSpPr txBox="1"/>
          <p:nvPr/>
        </p:nvSpPr>
        <p:spPr>
          <a:xfrm>
            <a:off x="452474" y="891000"/>
            <a:ext cx="9794026" cy="242919"/>
          </a:xfrm>
          <a:prstGeom prst="rect">
            <a:avLst/>
          </a:prstGeom>
          <a:noFill/>
        </p:spPr>
        <p:txBody>
          <a:bodyPr wrap="square">
            <a:spAutoFit/>
          </a:bodyPr>
          <a:lstStyle/>
          <a:p>
            <a:pPr>
              <a:spcBef>
                <a:spcPts val="789"/>
              </a:spcBef>
            </a:pPr>
            <a:r>
              <a:rPr lang="el-GR" sz="1050" b="0" i="0" u="none" strike="noStrike" noProof="0">
                <a:solidFill>
                  <a:schemeClr val="tx2"/>
                </a:solidFill>
                <a:effectLst/>
                <a:latin typeface="Inter"/>
              </a:rPr>
              <a:t xml:space="preserve">Κατωτέρω </a:t>
            </a:r>
            <a:r>
              <a:rPr lang="el-GR" sz="1050" noProof="0">
                <a:solidFill>
                  <a:schemeClr val="tx2"/>
                </a:solidFill>
                <a:latin typeface="Inter"/>
              </a:rPr>
              <a:t xml:space="preserve">παρατίθενται στοιχεία για </a:t>
            </a:r>
            <a:r>
              <a:rPr lang="el-GR" sz="1050" b="0" i="0" u="none" strike="noStrike" noProof="0">
                <a:solidFill>
                  <a:schemeClr val="tx2"/>
                </a:solidFill>
                <a:effectLst/>
                <a:latin typeface="Inter"/>
              </a:rPr>
              <a:t xml:space="preserve">τη γνώση της επιχείρησης σχετικά με επιβεβαιωμένα αρνητικά περιστατικά ανθρωπίνων δικαιωμάτων στην αλυσίδα αξίας της.</a:t>
            </a:r>
          </a:p>
        </p:txBody>
      </p:sp>
    </p:spTree>
    <p:extLst>
      <p:ext uri="{BB962C8B-B14F-4D97-AF65-F5344CB8AC3E}">
        <p14:creationId xmlns:p14="http://schemas.microsoft.com/office/powerpoint/2010/main" val="17397921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sz="1575" b="1" i="0" u="none" strike="noStrike" kern="1200" spc="-10" noProof="0">
                <a:solidFill>
                  <a:srgbClr val="1B4528"/>
                </a:solidFill>
              </a:rPr>
              <a:t xml:space="preserve">Έσοδα από ορισμένες δραστηριότητες (C8)</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24</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54794" y="1250404"/>
          <a:ext cx="9791705" cy="2494617"/>
        </p:xfrm>
        <a:graphic>
          <a:graphicData uri="http://schemas.openxmlformats.org/drawingml/2006/table">
            <a:tbl>
              <a:tblPr firstRow="1">
                <a:tableStyleId>{2A488322-F2BA-4B5B-9748-0D474271808F}</a:tableStyleId>
              </a:tblPr>
              <a:tblGrid>
                <a:gridCol w="6711121">
                  <a:extLst>
                    <a:ext uri="{9D8B030D-6E8A-4147-A177-3AD203B41FA5}">
                      <a16:colId xmlns:a16="http://schemas.microsoft.com/office/drawing/2014/main" val="1902117154"/>
                    </a:ext>
                  </a:extLst>
                </a:gridCol>
                <a:gridCol w="3080584">
                  <a:extLst>
                    <a:ext uri="{9D8B030D-6E8A-4147-A177-3AD203B41FA5}">
                      <a16:colId xmlns:a16="http://schemas.microsoft.com/office/drawing/2014/main" val="1904521774"/>
                    </a:ext>
                  </a:extLst>
                </a:gridCol>
              </a:tblGrid>
              <a:tr h="301531">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Έσοδα από ορισμένους τομείς</a:t>
                      </a:r>
                      <a:r>
                        <a:rPr lang="el-GR" sz="1050" b="0" kern="1200" spc="-10" noProof="0">
                          <a:solidFill>
                            <a:schemeClr val="tx2"/>
                          </a:solidFill>
                          <a:latin typeface="+mn-lt"/>
                          <a:ea typeface="+mn-ea"/>
                          <a:cs typeface="+mn-cs"/>
                        </a:rPr>
                        <a:t xml:space="preserve"> (παρ. 63 a-d)</a:t>
                      </a:r>
                      <a:r>
                        <a:rPr lang="el-GR" sz="1050" b="0"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xml:space="preserve"/>
                      </a:r>
                    </a:p>
                    <a:p>
                      <a:pPr algn="l"/>
                      <a:endParaRPr lang="el-GR" sz="1050" b="0"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noProof="0">
                        <a:solidFill>
                          <a:srgbClr val="1B4528"/>
                        </a:solidFill>
                        <a:latin typeface="+mn-lt"/>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301531">
                <a:tc>
                  <a:txBody>
                    <a:bodyPr/>
                    <a:lstStyle/>
                    <a:p>
                      <a:pPr algn="l"/>
                      <a:endParaRPr lang="el-GR" sz="1050" b="0"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el-GR" sz="1050" b="1" i="0" u="none" strike="noStrike" noProof="0">
                          <a:solidFill>
                            <a:srgbClr val="1B4528"/>
                          </a:solidFill>
                          <a:effectLst/>
                          <a:latin typeface="IBM Plex Sans" panose="020B0503050203000203" pitchFamily="34" charset="0"/>
                        </a:rPr>
                        <a:t xml:space="preserve">Έσοδα στο έτος </a:t>
                      </a:r>
                      <a:r>
                        <a:rPr lang="el-GR" sz="1050" b="1" i="0" u="none" strike="noStrike" noProof="0">
                          <a:solidFill>
                            <a:srgbClr val="1B4528"/>
                          </a:solidFill>
                          <a:effectLst/>
                          <a:latin typeface="Inter"/>
                        </a:rPr>
                        <a:t>{{</a:t>
                      </a:r>
                      <a:r>
                        <a:rPr lang="el-GR" sz="1050" b="1" i="0" u="none" strike="noStrike" noProof="0">
                          <a:solidFill>
                            <a:srgbClr val="1B4528"/>
                          </a:solidFill>
                          <a:effectLst/>
                          <a:latin typeface="Inter"/>
                        </a:rPr>
                        <a:t>Insert</a:t>
                      </a:r>
                      <a:r>
                        <a:rPr lang="el-GR" sz="1050" b="1" i="0" u="none" strike="noStrike" noProof="0">
                          <a:solidFill>
                            <a:srgbClr val="1B4528"/>
                          </a:solidFill>
                          <a:effectLst/>
                          <a:latin typeface="Inter"/>
                        </a:rPr>
                        <a:t> </a:t>
                      </a:r>
                      <a:r>
                        <a:rPr lang="el-GR" sz="1050" b="1" i="0" u="none" strike="noStrike" noProof="0">
                          <a:solidFill>
                            <a:srgbClr val="1B4528"/>
                          </a:solidFill>
                          <a:effectLst/>
                          <a:latin typeface="Inter"/>
                        </a:rPr>
                        <a:t>year</a:t>
                      </a:r>
                      <a:r>
                        <a:rPr lang="el-GR" sz="1050" b="1" i="0" u="none" strike="noStrike" noProof="0">
                          <a:solidFill>
                            <a:srgbClr val="1B4528"/>
                          </a:solidFill>
                          <a:effectLst/>
                          <a:latin typeface="Inter"/>
                        </a:rPr>
                        <a:t>}}</a:t>
                      </a:r>
                      <a:endParaRPr lang="el-GR" sz="1050" noProof="0">
                        <a:effectLst/>
                      </a:endParaRPr>
                    </a:p>
                  </a:txBody>
                  <a:tcPr marL="33412" marR="33412" marT="22275" marB="22275"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301531">
                <a:tc>
                  <a:txBody>
                    <a:bodyPr/>
                    <a:lstStyle/>
                    <a:p>
                      <a:pPr algn="l"/>
                      <a:r>
                        <a:rPr lang="el-GR" sz="1050" b="1" kern="1200" spc="-10" noProof="0">
                          <a:solidFill>
                            <a:schemeClr val="tx2"/>
                          </a:solidFill>
                          <a:latin typeface="+mn-lt"/>
                          <a:ea typeface="+mn-ea"/>
                          <a:cs typeface="+mn-cs"/>
                        </a:rPr>
                        <a:t xml:space="preserve">Αμφιλεγόμενα όπλα (αντιπροσωπικές μίνες, πυρομαχικά διασποράς, χημικά και βιολογικά όπλα)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revenue_weapons</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01531">
                <a:tc>
                  <a:txBody>
                    <a:bodyPr/>
                    <a:lstStyle/>
                    <a:p>
                      <a:pPr algn="l"/>
                      <a:r>
                        <a:rPr lang="el-GR" sz="1050" b="1" kern="1200" spc="-10" noProof="0">
                          <a:solidFill>
                            <a:schemeClr val="tx2"/>
                          </a:solidFill>
                          <a:latin typeface="+mn-lt"/>
                          <a:ea typeface="+mn-ea"/>
                          <a:cs typeface="+mn-cs"/>
                        </a:rPr>
                        <a:t xml:space="preserve">Καλλιέργεια και/ή παραγωγή καπνού</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revenue_cultivation</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01531">
                <a:tc>
                  <a:txBody>
                    <a:bodyPr/>
                    <a:lstStyle/>
                    <a:p>
                      <a:pPr algn="l"/>
                      <a:r>
                        <a:rPr lang="el-GR" sz="1050" b="1" kern="1200" spc="-10" noProof="0">
                          <a:solidFill>
                            <a:schemeClr val="tx2"/>
                          </a:solidFill>
                          <a:latin typeface="+mn-lt"/>
                          <a:ea typeface="+mn-ea"/>
                          <a:cs typeface="+mn-cs"/>
                        </a:rPr>
                        <a:t xml:space="preserve">Ορυκτά καύσιμα: άνθρακας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revenue_coal</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01531">
                <a:tc>
                  <a:txBody>
                    <a:bodyPr/>
                    <a:lstStyle/>
                    <a:p>
                      <a:pPr algn="l"/>
                      <a:r>
                        <a:rPr lang="el-GR" sz="1050" b="1" kern="1200" spc="-10" noProof="0">
                          <a:solidFill>
                            <a:schemeClr val="tx2"/>
                          </a:solidFill>
                          <a:latin typeface="+mn-lt"/>
                          <a:ea typeface="+mn-ea"/>
                          <a:cs typeface="+mn-cs"/>
                        </a:rPr>
                        <a:t xml:space="preserve">Ορυκτά καύσιμα: πετρέλαιο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revenue_oil</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01531">
                <a:tc>
                  <a:txBody>
                    <a:bodyPr/>
                    <a:lstStyle/>
                    <a:p>
                      <a:pPr algn="l"/>
                      <a:r>
                        <a:rPr lang="el-GR" sz="1050" b="1" kern="1200" spc="-10" noProof="0">
                          <a:solidFill>
                            <a:schemeClr val="tx2"/>
                          </a:solidFill>
                          <a:latin typeface="+mn-lt"/>
                          <a:ea typeface="+mn-ea"/>
                          <a:cs typeface="+mn-cs"/>
                        </a:rPr>
                        <a:t xml:space="preserve">Ορυκτά καύσιμα: αέριο/φυσικό αέριο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revenue_gas</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301531">
                <a:tc>
                  <a:txBody>
                    <a:bodyPr/>
                    <a:lstStyle/>
                    <a:p>
                      <a:pPr algn="l"/>
                      <a:r>
                        <a:rPr lang="el-GR" sz="1050" b="1" kern="1200" spc="-10" noProof="0">
                          <a:solidFill>
                            <a:schemeClr val="tx2"/>
                          </a:solidFill>
                          <a:latin typeface="+mn-lt"/>
                          <a:ea typeface="+mn-ea"/>
                          <a:cs typeface="+mn-cs"/>
                        </a:rPr>
                        <a:t xml:space="preserve">Παραγωγή χημικών για φυτοφάρμακα και άλλα αγροχημικά προϊόντα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1050" b="0" i="0" u="none" strike="noStrike" noProof="0">
                          <a:solidFill>
                            <a:srgbClr val="1B4528"/>
                          </a:solidFill>
                          <a:effectLst/>
                          <a:latin typeface="Inter"/>
                        </a:rPr>
                        <a:t>{{</a:t>
                      </a:r>
                      <a:r>
                        <a:rPr lang="el-GR" sz="1050" b="0" i="0" u="none" strike="noStrike" noProof="0">
                          <a:solidFill>
                            <a:srgbClr val="1B4528"/>
                          </a:solidFill>
                          <a:effectLst/>
                          <a:latin typeface="Inter"/>
                        </a:rPr>
                        <a:t>revenue_chemichal</a:t>
                      </a:r>
                      <a:r>
                        <a:rPr lang="el-GR" sz="1050" b="0" i="0" u="none" strike="noStrike" noProof="0">
                          <a:solidFill>
                            <a:srgbClr val="1B4528"/>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54794" y="891000"/>
            <a:ext cx="9791705" cy="242919"/>
          </a:xfrm>
          <a:prstGeom prst="rect">
            <a:avLst/>
          </a:prstGeom>
          <a:noFill/>
        </p:spPr>
        <p:txBody>
          <a:bodyPr wrap="square">
            <a:spAutoFit/>
          </a:bodyPr>
          <a:lstStyle/>
          <a:p>
            <a:pPr rtl="0">
              <a:buNone/>
            </a:pPr>
            <a:r>
              <a:rPr lang="el-GR" sz="1050" noProof="0">
                <a:solidFill>
                  <a:schemeClr val="tx2"/>
                </a:solidFill>
                <a:latin typeface="Inter"/>
              </a:rPr>
              <a:t xml:space="preserve">Η</a:t>
            </a:r>
            <a:r>
              <a:rPr lang="el-GR" sz="1050" b="0" i="0" u="none" strike="noStrike" noProof="0">
                <a:solidFill>
                  <a:schemeClr val="tx2"/>
                </a:solidFill>
                <a:effectLst/>
                <a:latin typeface="Inter"/>
              </a:rPr>
              <a:t xml:space="preserve"> επιχείρηση ανέφερε τα έσοδα από ορισμένους τομείς και τα ποσά από τις δραστηριότητες αυτές.</a:t>
            </a:r>
            <a:endParaRPr lang="el-GR"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54796" y="4164232"/>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solidFill>
                  <a:srgbClr val="1B4528"/>
                </a:solidFill>
              </a:rPr>
              <a:t xml:space="preserve">Έμφυλη πολυμορφία στο όργανο διοίκησης (C9)</a:t>
            </a:r>
            <a:endParaRPr lang="el-GR"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45498" y="4923932"/>
          <a:ext cx="9791703" cy="505134"/>
        </p:xfrm>
        <a:graphic>
          <a:graphicData uri="http://schemas.openxmlformats.org/drawingml/2006/table">
            <a:tbl>
              <a:tblPr firstRow="1">
                <a:tableStyleId>{2A488322-F2BA-4B5B-9748-0D474271808F}</a:tableStyleId>
              </a:tblPr>
              <a:tblGrid>
                <a:gridCol w="6756471">
                  <a:extLst>
                    <a:ext uri="{9D8B030D-6E8A-4147-A177-3AD203B41FA5}">
                      <a16:colId xmlns:a16="http://schemas.microsoft.com/office/drawing/2014/main" val="2698153288"/>
                    </a:ext>
                  </a:extLst>
                </a:gridCol>
                <a:gridCol w="3035232">
                  <a:extLst>
                    <a:ext uri="{9D8B030D-6E8A-4147-A177-3AD203B41FA5}">
                      <a16:colId xmlns:a16="http://schemas.microsoft.com/office/drawing/2014/main" val="2119413191"/>
                    </a:ext>
                  </a:extLst>
                </a:gridCol>
              </a:tblGrid>
              <a:tr h="252567">
                <a:tc rowSpan="2">
                  <a:txBody>
                    <a:bodyPr/>
                    <a:lstStyle/>
                    <a:p>
                      <a:r>
                        <a:rPr lang="el-GR" sz="1050" b="1" kern="1200" spc="-10" noProof="0">
                          <a:solidFill>
                            <a:schemeClr val="tx2"/>
                          </a:solidFill>
                          <a:latin typeface="+mj-lt"/>
                          <a:ea typeface="+mn-ea"/>
                          <a:cs typeface="+mn-cs"/>
                        </a:rPr>
                        <a:t xml:space="preserve">Αναλογία γυναικών προς άνδρες στο όργανο διοίκησης (</a:t>
                      </a:r>
                      <a:r>
                        <a:rPr lang="el-GR" sz="1050" b="0" kern="1200" spc="-10" noProof="0">
                          <a:solidFill>
                            <a:schemeClr val="tx2"/>
                          </a:solidFill>
                          <a:latin typeface="+mj-lt"/>
                          <a:ea typeface="+mn-ea"/>
                          <a:cs typeface="+mn-cs"/>
                        </a:rPr>
                        <a:t xml:space="preserve">παρ. 64</a:t>
                      </a:r>
                      <a:r>
                        <a:rPr lang="el-GR" sz="1050" b="1" kern="1200" spc="-10" noProof="0">
                          <a:solidFill>
                            <a:schemeClr val="tx2"/>
                          </a:solidFill>
                          <a:latin typeface="+mj-lt"/>
                          <a:ea typeface="+mn-ea"/>
                          <a:cs typeface="+mn-cs"/>
                        </a:rPr>
                        <a: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Έτος </a:t>
                      </a:r>
                      <a:r>
                        <a:rPr lang="el-GR" sz="1050" b="1" i="0" u="none" strike="noStrike" noProof="0">
                          <a:solidFill>
                            <a:srgbClr val="1B4528"/>
                          </a:solidFill>
                          <a:effectLst/>
                          <a:latin typeface="Inter"/>
                        </a:rPr>
                        <a:t>{{Insert year}}</a:t>
                      </a:r>
                      <a:endParaRPr lang="el-GR" sz="1050" b="1" noProof="0">
                        <a:solidFill>
                          <a:schemeClr val="tx2"/>
                        </a:solidFill>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vMerge="1">
                  <a:txBody>
                    <a:bodyPr/>
                    <a:lstStyle/>
                    <a:p>
                      <a:endParaRPr lang="el-GR" sz="775" b="0" noProof="0">
                        <a:solidFill>
                          <a:schemeClr val="tx2"/>
                        </a:solidFill>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el-GR" sz="1050" b="0" noProof="0">
                          <a:solidFill>
                            <a:srgbClr val="1B4528"/>
                          </a:solidFill>
                        </a:rPr>
                        <a:t>{{</a:t>
                      </a:r>
                      <a:r>
                        <a:rPr lang="el-GR" sz="1050" b="0" i="0" u="none" strike="noStrike" noProof="0">
                          <a:solidFill>
                            <a:srgbClr val="1B4528"/>
                          </a:solidFill>
                          <a:latin typeface="IBM Plex Sans"/>
                        </a:rPr>
                        <a:t>gender_supreme_body</a:t>
                      </a:r>
                      <a:r>
                        <a:rPr lang="el-GR" sz="1050" b="0" noProof="0">
                          <a:solidFill>
                            <a:srgbClr val="1B4528"/>
                          </a:solidFill>
                        </a:rPr>
                        <a: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2674261" y="2848961"/>
            <a:ext cx="5348520" cy="323893"/>
          </a:xfrm>
          <a:prstGeom prst="rect">
            <a:avLst/>
          </a:prstGeom>
          <a:noFill/>
        </p:spPr>
        <p:txBody>
          <a:bodyPr wrap="square">
            <a:spAutoFit/>
          </a:bodyPr>
          <a:lstStyle/>
          <a:p>
            <a:r>
              <a:rPr lang="el-GR" b="0" noProof="0">
                <a:effectLst/>
              </a:rPr>
              <a:t> </a:t>
            </a:r>
            <a:endParaRPr lang="el-GR"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61316" y="4496286"/>
            <a:ext cx="9791705" cy="242919"/>
          </a:xfrm>
          <a:prstGeom prst="rect">
            <a:avLst/>
          </a:prstGeom>
          <a:noFill/>
        </p:spPr>
        <p:txBody>
          <a:bodyPr wrap="square">
            <a:spAutoFit/>
          </a:bodyPr>
          <a:lstStyle/>
          <a:p>
            <a:pPr rtl="0">
              <a:buNone/>
            </a:pPr>
            <a:r>
              <a:rPr lang="el-GR" sz="1050" noProof="0">
                <a:solidFill>
                  <a:schemeClr val="tx2"/>
                </a:solidFill>
                <a:latin typeface="Inter"/>
              </a:rPr>
              <a:t xml:space="preserve">Η</a:t>
            </a:r>
            <a:r>
              <a:rPr lang="el-GR" sz="1050" b="0" i="0" u="none" strike="noStrike" noProof="0">
                <a:solidFill>
                  <a:schemeClr val="tx2"/>
                </a:solidFill>
                <a:effectLst/>
                <a:latin typeface="Inter"/>
              </a:rPr>
              <a:t xml:space="preserve"> επιχείρηση ανέφερε την αναλογία γυναικών προς άνδρες στο όργανο διοίκησης.</a:t>
            </a:r>
          </a:p>
        </p:txBody>
      </p:sp>
    </p:spTree>
    <p:extLst>
      <p:ext uri="{BB962C8B-B14F-4D97-AF65-F5344CB8AC3E}">
        <p14:creationId xmlns:p14="http://schemas.microsoft.com/office/powerpoint/2010/main" val="3739817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company_name</a:t>
            </a:r>
            <a:r>
              <a:rPr lang="el-GR" sz="1575" b="1" noProof="0">
                <a:solidFill>
                  <a:srgbClr val="FFFFFF"/>
                </a:solidFill>
                <a:latin typeface="IBM Plex Sans" panose="020B0503050203000203" pitchFamily="34" charset="0"/>
              </a:rPr>
              <a:t>}}</a:t>
            </a:r>
          </a:p>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insert_year</a:t>
            </a:r>
            <a:r>
              <a:rPr lang="el-GR" sz="1575" b="1" noProof="0">
                <a:solidFill>
                  <a:srgbClr val="FFFFFF"/>
                </a:solidFill>
                <a:latin typeface="IBM Plex Sans" panose="020B0503050203000203" pitchFamily="34" charset="0"/>
              </a:rPr>
              <a:t>}}</a:t>
            </a:r>
            <a:br>
              <a:rPr lang="el-GR" sz="1575" b="1" noProof="0">
                <a:solidFill>
                  <a:srgbClr val="FFFFFF"/>
                </a:solidFill>
                <a:latin typeface="IBM Plex Sans" panose="020B0503050203000203" pitchFamily="34" charset="0"/>
              </a:rPr>
            </a:br>
            <a:endParaRPr lang="el-GR"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el-GR" noProof="0" smtClean="0"/>
              <a:pPr/>
              <a:t>25</a:t>
            </a:fld>
            <a:endParaRPr lang="el-G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