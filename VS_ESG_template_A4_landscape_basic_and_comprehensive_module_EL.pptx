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5" r:id="rId4"/>
  </p:sldMasterIdLst>
  <p:notesMasterIdLst>
    <p:notesMasterId r:id="rId30"/>
  </p:notesMasterIdLst>
  <p:sldIdLst>
    <p:sldId id="258" r:id="rId5"/>
    <p:sldId id="331" r:id="rId6"/>
    <p:sldId id="355" r:id="rId7"/>
    <p:sldId id="326" r:id="rId8"/>
    <p:sldId id="314" r:id="rId9"/>
    <p:sldId id="327" r:id="rId10"/>
    <p:sldId id="316" r:id="rId11"/>
    <p:sldId id="297" r:id="rId12"/>
    <p:sldId id="300" r:id="rId13"/>
    <p:sldId id="301" r:id="rId14"/>
    <p:sldId id="302" r:id="rId15"/>
    <p:sldId id="307" r:id="rId16"/>
    <p:sldId id="335" r:id="rId17"/>
    <p:sldId id="334" r:id="rId18"/>
    <p:sldId id="337" r:id="rId19"/>
    <p:sldId id="339" r:id="rId20"/>
    <p:sldId id="340" r:id="rId21"/>
    <p:sldId id="352" r:id="rId22"/>
    <p:sldId id="356" r:id="rId23"/>
    <p:sldId id="345" r:id="rId24"/>
    <p:sldId id="359" r:id="rId25"/>
    <p:sldId id="342" r:id="rId26"/>
    <p:sldId id="343" r:id="rId27"/>
    <p:sldId id="348" r:id="rId28"/>
    <p:sldId id="272" r:id="rId29"/>
  </p:sldIdLst>
  <p:sldSz cx="10692000" cy="7560000" type="A4"/>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Forfatter" initials="A" userId="Author" providerId="AD"/>
  <p188:author id="{5A717729-70A1-A95A-729B-0270D7318E5A}" name="Amanda Simonsen" initials="AS" userId="S::amanda.simonsen@cphchangery.dk::11aad7e9-3369-4d2e-bd33-a826dd209a06" providerId="AD"/>
  <p188:author id="{95582667-6102-27E7-ED8E-01A166EB4B6B}" name="Guest User" initials="GU" userId="Guest User" providerId="Windows Live"/>
  <p188:author id="{D710FB69-54CF-AFDB-ADF5-2ED737B81BDA}" name="Nicolai Petersen" initials="NP" userId="6925884bbfe4e3a6"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7477"/>
    <a:srgbClr val="D1DAD4"/>
    <a:srgbClr val="0000FF"/>
    <a:srgbClr val="1B4529"/>
    <a:srgbClr val="FFFF99"/>
    <a:srgbClr val="1B24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383CF3-0F17-4DA7-AC5F-396DF6463070}" v="36" dt="2026-08-04T20:47:23.299"/>
    <p1510:client id="{9CB8CBE5-AFE3-AE0A-C576-FD9E7262F5DA}" v="153" dt="2026-08-05T15:04:12.209"/>
    <p1510:client id="{9F9C41D0-6860-4C95-9D1A-3405FEFCCBF5}" v="56" dt="2026-08-06T18:34:10.3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IBM Plex Sans" panose="020B0503050203000203" pitchFamily="34" charset="0"/>
              </a:defRPr>
            </a:lvl1pPr>
          </a:lstStyle>
          <a:p>
            <a:endParaRPr lang="el-GR"/>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IBM Plex Sans" panose="020B0503050203000203" pitchFamily="34" charset="0"/>
              </a:defRPr>
            </a:lvl1pPr>
          </a:lstStyle>
          <a:p>
            <a:fld id="{12DFE416-DAD6-D749-857D-2E29C861AEBD}" type="datetimeFigureOut">
              <a:rPr lang="el-GR" smtClean="0"/>
              <a:pPr/>
              <a:t xml:space="preserve">06-08-2026</a:t>
            </a:fld>
            <a:endParaRPr lang="el-GR"/>
          </a:p>
        </p:txBody>
      </p:sp>
      <p:sp>
        <p:nvSpPr>
          <p:cNvPr id="4" name="Pladsholder til slidebille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l-GR"/>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l-GR"/>
              <a:t xml:space="preserve">Κάντε κλικ για επεξεργασία των στυλ κειμένου του υποδείγματος</a:t>
            </a:r>
          </a:p>
          <a:p>
            <a:pPr lvl="1"/>
            <a:r>
              <a:rPr lang="el-GR"/>
              <a:t xml:space="preserve">Δεύτερο επίπεδο</a:t>
            </a:r>
          </a:p>
          <a:p>
            <a:pPr lvl="2"/>
            <a:r>
              <a:rPr lang="el-GR"/>
              <a:t xml:space="preserve">Τρίτο επίπεδο</a:t>
            </a:r>
          </a:p>
          <a:p>
            <a:pPr lvl="3"/>
            <a:r>
              <a:rPr lang="el-GR"/>
              <a:t xml:space="preserve">Τέταρτο επίπεδο</a:t>
            </a:r>
          </a:p>
          <a:p>
            <a:pPr lvl="4"/>
            <a:r>
              <a:rPr lang="el-GR"/>
              <a:t xml:space="preserve">Πέμπτο επίπεδο</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IBM Plex Sans" panose="020B0503050203000203" pitchFamily="34" charset="0"/>
              </a:defRPr>
            </a:lvl1pPr>
          </a:lstStyle>
          <a:p>
            <a:endParaRPr lang="el-GR"/>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IBM Plex Sans" panose="020B0503050203000203" pitchFamily="34" charset="0"/>
              </a:defRPr>
            </a:lvl1pPr>
          </a:lstStyle>
          <a:p>
            <a:fld id="{45BFCFCE-5A78-CB4C-8592-F27D9484E3BD}" type="slidenum">
              <a:rPr lang="el-GR" smtClean="0"/>
              <a:pPr/>
              <a:t xml:space="preserve">‹#›</a:t>
            </a:fld>
            <a:endParaRPr lang="el-GR"/>
          </a:p>
        </p:txBody>
      </p:sp>
    </p:spTree>
    <p:extLst>
      <p:ext uri="{BB962C8B-B14F-4D97-AF65-F5344CB8AC3E}">
        <p14:creationId xmlns:p14="http://schemas.microsoft.com/office/powerpoint/2010/main" val="2960237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IBM Plex Sans" panose="020B0503050203000203" pitchFamily="34" charset="0"/>
        <a:ea typeface="+mn-ea"/>
        <a:cs typeface="+mn-cs"/>
      </a:defRPr>
    </a:lvl1pPr>
    <a:lvl2pPr marL="457200" algn="l" defTabSz="914400" rtl="0" eaLnBrk="1" latinLnBrk="0" hangingPunct="1">
      <a:defRPr sz="1200" kern="1200">
        <a:solidFill>
          <a:schemeClr val="tx1"/>
        </a:solidFill>
        <a:latin typeface="IBM Plex Sans" panose="020B0503050203000203" pitchFamily="34" charset="0"/>
        <a:ea typeface="+mn-ea"/>
        <a:cs typeface="+mn-cs"/>
      </a:defRPr>
    </a:lvl2pPr>
    <a:lvl3pPr marL="914400" algn="l" defTabSz="914400" rtl="0" eaLnBrk="1" latinLnBrk="0" hangingPunct="1">
      <a:defRPr sz="1200" kern="1200">
        <a:solidFill>
          <a:schemeClr val="tx1"/>
        </a:solidFill>
        <a:latin typeface="IBM Plex Sans" panose="020B0503050203000203" pitchFamily="34" charset="0"/>
        <a:ea typeface="+mn-ea"/>
        <a:cs typeface="+mn-cs"/>
      </a:defRPr>
    </a:lvl3pPr>
    <a:lvl4pPr marL="1371600" algn="l" defTabSz="914400" rtl="0" eaLnBrk="1" latinLnBrk="0" hangingPunct="1">
      <a:defRPr sz="1200" kern="1200">
        <a:solidFill>
          <a:schemeClr val="tx1"/>
        </a:solidFill>
        <a:latin typeface="IBM Plex Sans" panose="020B0503050203000203" pitchFamily="34" charset="0"/>
        <a:ea typeface="+mn-ea"/>
        <a:cs typeface="+mn-cs"/>
      </a:defRPr>
    </a:lvl4pPr>
    <a:lvl5pPr marL="1828800" algn="l" defTabSz="914400" rtl="0" eaLnBrk="1" latinLnBrk="0" hangingPunct="1">
      <a:defRPr sz="1200" kern="1200">
        <a:solidFill>
          <a:schemeClr val="tx1"/>
        </a:solidFill>
        <a:latin typeface="IBM Plex Sans" panose="020B05030502030002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1</a:t>
            </a:fld>
            <a:endParaRPr lang="el-GR"/>
          </a:p>
        </p:txBody>
      </p:sp>
    </p:spTree>
    <p:extLst>
      <p:ext uri="{BB962C8B-B14F-4D97-AF65-F5344CB8AC3E}">
        <p14:creationId xmlns:p14="http://schemas.microsoft.com/office/powerpoint/2010/main" val="804952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2</a:t>
            </a:fld>
            <a:endParaRPr lang="el-GR"/>
          </a:p>
        </p:txBody>
      </p:sp>
    </p:spTree>
    <p:extLst>
      <p:ext uri="{BB962C8B-B14F-4D97-AF65-F5344CB8AC3E}">
        <p14:creationId xmlns:p14="http://schemas.microsoft.com/office/powerpoint/2010/main" val="3631039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3</a:t>
            </a:fld>
            <a:endParaRPr lang="el-GR"/>
          </a:p>
        </p:txBody>
      </p:sp>
    </p:spTree>
    <p:extLst>
      <p:ext uri="{BB962C8B-B14F-4D97-AF65-F5344CB8AC3E}">
        <p14:creationId xmlns:p14="http://schemas.microsoft.com/office/powerpoint/2010/main" val="3059604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4</a:t>
            </a:fld>
            <a:endParaRPr lang="el-GR"/>
          </a:p>
        </p:txBody>
      </p:sp>
    </p:spTree>
    <p:extLst>
      <p:ext uri="{BB962C8B-B14F-4D97-AF65-F5344CB8AC3E}">
        <p14:creationId xmlns:p14="http://schemas.microsoft.com/office/powerpoint/2010/main" val="33859973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el-GR"/>
              <a:t xml:space="preserve">Αφαιρέθηκε: </a:t>
            </a:r>
            <a:r>
              <a:rPr lang="en-GB" sz="1200" b="0" i="0" u="none" strike="noStrike" kern="1200">
                <a:solidFill>
                  <a:schemeClr val="tx1"/>
                </a:solidFill>
                <a:effectLst/>
                <a:latin typeface="IBM Plex Sans" panose="020B0503050203000203" pitchFamily="34" charset="0"/>
                <a:ea typeface="+mn-ea"/>
                <a:cs typeface="+mn-cs"/>
              </a:rPr>
              <a:t xml:space="preserve">{{documents_B2}}</a:t>
            </a:r>
          </a:p>
          <a:p>
            <a:r>
              <a:rPr lang="en-GB" sz="1200" b="0" i="0" u="none" strike="noStrike" kern="1200" err="1">
                <a:solidFill>
                  <a:schemeClr val="tx1"/>
                </a:solidFill>
                <a:effectLst/>
                <a:latin typeface="IBM Plex Sans" panose="020B0503050203000203" pitchFamily="34" charset="0"/>
                <a:ea typeface="+mn-ea"/>
                <a:cs typeface="+mn-cs"/>
              </a:rPr>
              <a:t xml:space="preserve">Προστέθηκε</a:t>
            </a:r>
            <a:r>
              <a:rPr lang="en-GB" sz="1200" b="0" i="0" u="none" strike="noStrike" kern="1200">
                <a:solidFill>
                  <a:schemeClr val="tx1"/>
                </a:solidFill>
                <a:effectLst/>
                <a:latin typeface="IBM Plex Sans" panose="020B0503050203000203" pitchFamily="34" charset="0"/>
                <a:ea typeface="+mn-ea"/>
                <a:cs typeface="+mn-cs"/>
              </a:rPr>
              <a:t xml:space="preserve">: </a:t>
            </a:r>
            <a:r>
              <a:rPr lang="en-GB" sz="1200" b="0" i="0" u="none" strike="noStrike" kern="1200" err="1">
                <a:solidFill>
                  <a:schemeClr val="tx1"/>
                </a:solidFill>
                <a:effectLst/>
                <a:latin typeface="IBM Plex Sans" panose="020B0503050203000203" pitchFamily="34" charset="0"/>
                <a:ea typeface="+mn-ea"/>
                <a:cs typeface="+mn-cs"/>
              </a:rPr>
              <a:t xml:space="preserve">στήλη</a:t>
            </a:r>
            <a:r>
              <a:rPr lang="en-GB" sz="1200" b="0" i="0" u="none" strike="noStrike" kern="1200">
                <a:solidFill>
                  <a:schemeClr val="tx1"/>
                </a:solidFill>
                <a:effectLst/>
                <a:latin typeface="IBM Plex Sans" panose="020B0503050203000203" pitchFamily="34" charset="0"/>
                <a:ea typeface="+mn-ea"/>
                <a:cs typeface="+mn-cs"/>
              </a:rPr>
              <a:t xml:space="preserve"> για </a:t>
            </a:r>
            <a:r>
              <a:rPr lang="en-GB" sz="1200" b="0" i="0" u="none" strike="noStrike" kern="1200" err="1">
                <a:solidFill>
                  <a:schemeClr val="tx1"/>
                </a:solidFill>
                <a:effectLst/>
                <a:latin typeface="IBM Plex Sans" panose="020B0503050203000203" pitchFamily="34" charset="0"/>
                <a:ea typeface="+mn-ea"/>
                <a:cs typeface="+mn-cs"/>
              </a:rPr>
              <a:t xml:space="preserve">παρακολούθηση</a:t>
            </a:r>
            <a:endParaRPr lang="en-GB"/>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5</a:t>
            </a:fld>
            <a:endParaRPr lang="el-GR"/>
          </a:p>
        </p:txBody>
      </p:sp>
    </p:spTree>
    <p:extLst>
      <p:ext uri="{BB962C8B-B14F-4D97-AF65-F5344CB8AC3E}">
        <p14:creationId xmlns:p14="http://schemas.microsoft.com/office/powerpoint/2010/main" val="34000920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el-GR"/>
          </a:p>
        </p:txBody>
      </p:sp>
      <p:sp>
        <p:nvSpPr>
          <p:cNvPr id="3" name="Pladsholder til noter 2"/>
          <p:cNvSpPr>
            <a:spLocks noGrp="1"/>
          </p:cNvSpPr>
          <p:nvPr>
            <p:ph type="body" idx="1"/>
          </p:nvPr>
        </p:nvSpPr>
        <p:spPr/>
        <p:txBody>
          <a:bodyPr/>
          <a:lstStyle/>
          <a:p>
            <a:pPr rtl="0"/>
            <a:r>
              <a:rPr lang="el-GR"/>
              <a:t xml:space="preserve">Αφαιρέθηκε: </a:t>
            </a:r>
            <a:r>
              <a:rPr lang="en-GB" sz="1200" b="0" i="0" u="none" strike="noStrike" kern="1200">
                <a:solidFill>
                  <a:schemeClr val="tx1"/>
                </a:solidFill>
                <a:effectLst/>
                <a:latin typeface="IBM Plex Sans" panose="020B0503050203000203" pitchFamily="34" charset="0"/>
                <a:ea typeface="+mn-ea"/>
                <a:cs typeface="+mn-cs"/>
              </a:rPr>
              <a:t xml:space="preserve">{{Insert_CO2e_intensity}}</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6</a:t>
            </a:fld>
            <a:endParaRPr lang="el-GR"/>
          </a:p>
        </p:txBody>
      </p:sp>
    </p:spTree>
    <p:extLst>
      <p:ext uri="{BB962C8B-B14F-4D97-AF65-F5344CB8AC3E}">
        <p14:creationId xmlns:p14="http://schemas.microsoft.com/office/powerpoint/2010/main" val="30983482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pPr rtl="0"/>
            <a:r>
              <a:rPr lang="el-GR"/>
              <a:t xml:space="preserve">Αφαιρέθηκε: </a:t>
            </a:r>
            <a:r>
              <a:rPr lang="en-GB" sz="1200" b="0" i="0" u="none" strike="noStrike" kern="1200">
                <a:solidFill>
                  <a:schemeClr val="tx1"/>
                </a:solidFill>
                <a:effectLst/>
                <a:latin typeface="IBM Plex Sans" panose="020B0503050203000203" pitchFamily="34" charset="0"/>
                <a:ea typeface="+mn-ea"/>
                <a:cs typeface="+mn-cs"/>
              </a:rPr>
              <a:t xml:space="preserve">{{uploaded_documents_B4}}</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7</a:t>
            </a:fld>
            <a:endParaRPr lang="el-GR"/>
          </a:p>
        </p:txBody>
      </p:sp>
    </p:spTree>
    <p:extLst>
      <p:ext uri="{BB962C8B-B14F-4D97-AF65-F5344CB8AC3E}">
        <p14:creationId xmlns:p14="http://schemas.microsoft.com/office/powerpoint/2010/main" val="2474281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pPr rtl="0"/>
            <a:r>
              <a:rPr lang="el-GR"/>
              <a:t xml:space="preserve">Αφαιρέθηκε: </a:t>
            </a:r>
            <a:r>
              <a:rPr lang="en-GB" sz="1200" b="0" i="0" u="none" strike="noStrike" kern="1200">
                <a:solidFill>
                  <a:schemeClr val="tx1"/>
                </a:solidFill>
                <a:effectLst/>
                <a:latin typeface="IBM Plex Sans" panose="020B0503050203000203" pitchFamily="34" charset="0"/>
                <a:ea typeface="+mn-ea"/>
                <a:cs typeface="+mn-cs"/>
              </a:rPr>
              <a:t xml:space="preserve">{{</a:t>
            </a:r>
            <a:r>
              <a:rPr lang="en-GB" sz="1200" b="0" i="0" u="none" strike="noStrike" kern="1200" err="1">
                <a:solidFill>
                  <a:schemeClr val="tx1"/>
                </a:solidFill>
                <a:effectLst/>
                <a:latin typeface="IBM Plex Sans" panose="020B0503050203000203" pitchFamily="34" charset="0"/>
                <a:ea typeface="+mn-ea"/>
                <a:cs typeface="+mn-cs"/>
              </a:rPr>
              <a:t xml:space="preserve">waterstress_withdrawal</a:t>
            </a:r>
            <a:r>
              <a:rPr lang="en-GB" sz="1200" b="0" i="0" u="none" strike="noStrike" kern="1200">
                <a:solidFill>
                  <a:schemeClr val="tx1"/>
                </a:solidFill>
                <a:effectLst/>
                <a:latin typeface="IBM Plex Sans" panose="020B0503050203000203" pitchFamily="34" charset="0"/>
                <a:ea typeface="+mn-ea"/>
                <a:cs typeface="+mn-cs"/>
              </a:rPr>
              <a:t xml:space="preserve">}}</a:t>
            </a:r>
            <a:endParaRPr lang="en-GB" b="0">
              <a:effectLst/>
            </a:endParaRPr>
          </a:p>
          <a:p>
            <a:br>
              <a:rPr lang="en-GB"/>
            </a:br>
            <a:endParaRPr lang="en-GB"/>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8</a:t>
            </a:fld>
            <a:endParaRPr lang="el-GR"/>
          </a:p>
        </p:txBody>
      </p:sp>
    </p:spTree>
    <p:extLst>
      <p:ext uri="{BB962C8B-B14F-4D97-AF65-F5344CB8AC3E}">
        <p14:creationId xmlns:p14="http://schemas.microsoft.com/office/powerpoint/2010/main" val="3112050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el-GR"/>
          </a:p>
        </p:txBody>
      </p:sp>
      <p:sp>
        <p:nvSpPr>
          <p:cNvPr id="3" name="Pladsholder til noter 2"/>
          <p:cNvSpPr>
            <a:spLocks noGrp="1"/>
          </p:cNvSpPr>
          <p:nvPr>
            <p:ph type="body" idx="1"/>
          </p:nvPr>
        </p:nvSpPr>
        <p:spPr/>
        <p:txBody>
          <a:bodyPr/>
          <a:lstStyle/>
          <a:p>
            <a:endParaRPr lang="el-GR"/>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9</a:t>
            </a:fld>
            <a:endParaRPr lang="el-GR"/>
          </a:p>
        </p:txBody>
      </p:sp>
    </p:spTree>
    <p:extLst>
      <p:ext uri="{BB962C8B-B14F-4D97-AF65-F5344CB8AC3E}">
        <p14:creationId xmlns:p14="http://schemas.microsoft.com/office/powerpoint/2010/main" val="22438095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pPr rtl="0"/>
            <a:r>
              <a:rPr lang="el-GR"/>
              <a:t xml:space="preserve">Αφαιρέθηκε: </a:t>
            </a:r>
            <a:r>
              <a:rPr lang="en-GB" sz="1200" b="0" i="0" u="none" strike="noStrike" kern="1200">
                <a:solidFill>
                  <a:schemeClr val="tx1"/>
                </a:solidFill>
                <a:effectLst/>
                <a:latin typeface="IBM Plex Sans" panose="020B0503050203000203" pitchFamily="34" charset="0"/>
                <a:ea typeface="+mn-ea"/>
                <a:cs typeface="+mn-cs"/>
              </a:rPr>
              <a:t xml:space="preserve">{{</a:t>
            </a:r>
            <a:r>
              <a:rPr lang="en-GB" sz="1200" b="0" i="0" u="none" strike="noStrike" kern="1200" err="1">
                <a:solidFill>
                  <a:schemeClr val="tx1"/>
                </a:solidFill>
                <a:effectLst/>
                <a:latin typeface="IBM Plex Sans" panose="020B0503050203000203" pitchFamily="34" charset="0"/>
                <a:ea typeface="+mn-ea"/>
                <a:cs typeface="+mn-cs"/>
              </a:rPr>
              <a:t xml:space="preserve">omsatningsrate</a:t>
            </a:r>
            <a:r>
              <a:rPr lang="en-GB" sz="1200" b="0" i="0" u="none" strike="noStrike" kern="1200">
                <a:solidFill>
                  <a:schemeClr val="tx1"/>
                </a:solidFill>
                <a:effectLst/>
                <a:latin typeface="IBM Plex Sans" panose="020B0503050203000203" pitchFamily="34" charset="0"/>
                <a:ea typeface="+mn-ea"/>
                <a:cs typeface="+mn-cs"/>
              </a:rPr>
              <a:t xml:space="preserve">}}</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10</a:t>
            </a:fld>
            <a:endParaRPr lang="el-GR"/>
          </a:p>
        </p:txBody>
      </p:sp>
    </p:spTree>
    <p:extLst>
      <p:ext uri="{BB962C8B-B14F-4D97-AF65-F5344CB8AC3E}">
        <p14:creationId xmlns:p14="http://schemas.microsoft.com/office/powerpoint/2010/main" val="40643826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el-GR"/>
          </a:p>
        </p:txBody>
      </p:sp>
      <p:sp>
        <p:nvSpPr>
          <p:cNvPr id="3" name="Pladsholder til noter 2"/>
          <p:cNvSpPr>
            <a:spLocks noGrp="1"/>
          </p:cNvSpPr>
          <p:nvPr>
            <p:ph type="body" idx="1"/>
          </p:nvPr>
        </p:nvSpPr>
        <p:spPr/>
        <p:txBody>
          <a:bodyPr/>
          <a:lstStyle/>
          <a:p>
            <a:pPr rtl="0" eaLnBrk="1" fontAlgn="ctr" latinLnBrk="0" hangingPunct="1"/>
            <a:r>
              <a:rPr lang="el-GR" b="0">
                <a:effectLst/>
              </a:rPr>
              <a:t xml:space="preserve">Αφαιρέθηκε: </a:t>
            </a:r>
            <a:r>
              <a:rPr lang="el-GR" sz="1200" b="0" i="0" u="none" strike="noStrike" kern="1200">
                <a:solidFill>
                  <a:schemeClr val="tx1"/>
                </a:solidFill>
                <a:effectLst/>
                <a:latin typeface="IBM Plex Sans" panose="020B0503050203000203" pitchFamily="34" charset="0"/>
                <a:ea typeface="+mn-ea"/>
                <a:cs typeface="+mn-cs"/>
              </a:rPr>
              <a:t xml:space="preserve">{{</a:t>
            </a:r>
            <a:r>
              <a:rPr lang="el-GR" sz="1200" b="0" i="0" u="none" strike="noStrike" kern="1200" err="1">
                <a:solidFill>
                  <a:schemeClr val="tx1"/>
                </a:solidFill>
                <a:effectLst/>
                <a:latin typeface="IBM Plex Sans" panose="020B0503050203000203" pitchFamily="34" charset="0"/>
                <a:ea typeface="+mn-ea"/>
                <a:cs typeface="+mn-cs"/>
              </a:rPr>
              <a:t xml:space="preserve">men_gennemsnitstimer</a:t>
            </a:r>
            <a:r>
              <a:rPr lang="el-GR" sz="1200" b="0" i="0" u="none" strike="noStrike" kern="1200">
                <a:solidFill>
                  <a:schemeClr val="tx1"/>
                </a:solidFill>
                <a:effectLst/>
                <a:latin typeface="IBM Plex Sans" panose="020B0503050203000203" pitchFamily="34" charset="0"/>
                <a:ea typeface="+mn-ea"/>
                <a:cs typeface="+mn-cs"/>
              </a:rPr>
              <a:t xml:space="preserve">}}</a:t>
            </a:r>
            <a:endParaRPr lang="en-GB" sz="1200" b="0" i="0" u="none" strike="noStrike" kern="1200">
              <a:solidFill>
                <a:schemeClr val="tx1"/>
              </a:solidFill>
              <a:effectLst/>
              <a:latin typeface="IBM Plex Sans" panose="020B0503050203000203" pitchFamily="34" charset="0"/>
              <a:ea typeface="+mn-ea"/>
              <a:cs typeface="+mn-cs"/>
            </a:endParaRPr>
          </a:p>
          <a:p>
            <a:pPr rtl="0" eaLnBrk="1" fontAlgn="ctr" latinLnBrk="0" hangingPunct="1"/>
            <a:r>
              <a:rPr lang="el-GR" sz="1200" b="0" i="0" u="none" strike="noStrike" kern="1200">
                <a:solidFill>
                  <a:schemeClr val="tx1"/>
                </a:solidFill>
                <a:effectLst/>
                <a:latin typeface="IBM Plex Sans" panose="020B0503050203000203" pitchFamily="34" charset="0"/>
                <a:ea typeface="+mn-ea"/>
                <a:cs typeface="+mn-cs"/>
              </a:rPr>
              <a:t xml:space="preserve">{{</a:t>
            </a:r>
            <a:r>
              <a:rPr lang="el-GR" sz="1200" b="0" i="0" u="none" strike="noStrike" kern="1200" err="1">
                <a:solidFill>
                  <a:schemeClr val="tx1"/>
                </a:solidFill>
                <a:effectLst/>
                <a:latin typeface="IBM Plex Sans" panose="020B0503050203000203" pitchFamily="34" charset="0"/>
                <a:ea typeface="+mn-ea"/>
                <a:cs typeface="+mn-cs"/>
              </a:rPr>
              <a:t xml:space="preserve">women_gennemsnitstimer</a:t>
            </a:r>
            <a:r>
              <a:rPr lang="el-GR" sz="1200" b="0" i="0" u="none" strike="noStrike" kern="1200">
                <a:solidFill>
                  <a:schemeClr val="tx1"/>
                </a:solidFill>
                <a:effectLst/>
                <a:latin typeface="IBM Plex Sans" panose="020B0503050203000203" pitchFamily="34" charset="0"/>
                <a:ea typeface="+mn-ea"/>
                <a:cs typeface="+mn-cs"/>
              </a:rPr>
              <a:t xml:space="preserve">}}</a:t>
            </a:r>
            <a:endParaRPr lang="en-GB" sz="1200" b="0" i="0" u="none" strike="noStrike" kern="1200">
              <a:solidFill>
                <a:schemeClr val="tx1"/>
              </a:solidFill>
              <a:effectLst/>
              <a:latin typeface="IBM Plex Sans" panose="020B0503050203000203" pitchFamily="34" charset="0"/>
              <a:ea typeface="+mn-ea"/>
              <a:cs typeface="+mn-cs"/>
            </a:endParaRPr>
          </a:p>
          <a:p>
            <a:pPr rtl="0" eaLnBrk="1" fontAlgn="ctr" latinLnBrk="0" hangingPunct="1"/>
            <a:r>
              <a:rPr lang="el-GR" sz="1200" b="0" i="0" u="none" strike="noStrike" kern="1200">
                <a:solidFill>
                  <a:schemeClr val="tx1"/>
                </a:solidFill>
                <a:effectLst/>
                <a:latin typeface="IBM Plex Sans" panose="020B0503050203000203" pitchFamily="34" charset="0"/>
                <a:ea typeface="+mn-ea"/>
                <a:cs typeface="+mn-cs"/>
              </a:rPr>
              <a:t xml:space="preserve">{{</a:t>
            </a:r>
            <a:r>
              <a:rPr lang="el-GR" sz="1200" b="0" i="0" u="none" strike="noStrike" kern="1200" err="1">
                <a:solidFill>
                  <a:schemeClr val="tx1"/>
                </a:solidFill>
                <a:effectLst/>
                <a:latin typeface="IBM Plex Sans" panose="020B0503050203000203" pitchFamily="34" charset="0"/>
                <a:ea typeface="+mn-ea"/>
                <a:cs typeface="+mn-cs"/>
              </a:rPr>
              <a:t xml:space="preserve">other_gennemsnitstimer</a:t>
            </a:r>
            <a:r>
              <a:rPr lang="el-GR" sz="1200" b="0" i="0" u="none" strike="noStrike" kern="1200">
                <a:solidFill>
                  <a:schemeClr val="tx1"/>
                </a:solidFill>
                <a:effectLst/>
                <a:latin typeface="IBM Plex Sans" panose="020B0503050203000203" pitchFamily="34" charset="0"/>
                <a:ea typeface="+mn-ea"/>
                <a:cs typeface="+mn-cs"/>
              </a:rPr>
              <a:t xml:space="preserve">}}</a:t>
            </a:r>
            <a:endParaRPr lang="en-GB" sz="1200" b="0" i="0" u="none" strike="noStrike" kern="1200">
              <a:solidFill>
                <a:schemeClr val="tx1"/>
              </a:solidFill>
              <a:effectLst/>
              <a:latin typeface="IBM Plex Sans" panose="020B0503050203000203" pitchFamily="34" charset="0"/>
              <a:ea typeface="+mn-ea"/>
              <a:cs typeface="+mn-cs"/>
            </a:endParaRPr>
          </a:p>
          <a:p>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11</a:t>
            </a:fld>
            <a:endParaRPr lang="el-GR"/>
          </a:p>
        </p:txBody>
      </p:sp>
    </p:spTree>
    <p:extLst>
      <p:ext uri="{BB962C8B-B14F-4D97-AF65-F5344CB8AC3E}">
        <p14:creationId xmlns:p14="http://schemas.microsoft.com/office/powerpoint/2010/main" val="35998746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12</a:t>
            </a:fld>
            <a:endParaRPr lang="el-GR"/>
          </a:p>
        </p:txBody>
      </p:sp>
    </p:spTree>
    <p:extLst>
      <p:ext uri="{BB962C8B-B14F-4D97-AF65-F5344CB8AC3E}">
        <p14:creationId xmlns:p14="http://schemas.microsoft.com/office/powerpoint/2010/main" val="3061253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13</a:t>
            </a:fld>
            <a:endParaRPr lang="el-GR"/>
          </a:p>
        </p:txBody>
      </p:sp>
    </p:spTree>
    <p:extLst>
      <p:ext uri="{BB962C8B-B14F-4D97-AF65-F5344CB8AC3E}">
        <p14:creationId xmlns:p14="http://schemas.microsoft.com/office/powerpoint/2010/main" val="3222916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14</a:t>
            </a:fld>
            <a:endParaRPr lang="el-GR"/>
          </a:p>
        </p:txBody>
      </p:sp>
    </p:spTree>
    <p:extLst>
      <p:ext uri="{BB962C8B-B14F-4D97-AF65-F5344CB8AC3E}">
        <p14:creationId xmlns:p14="http://schemas.microsoft.com/office/powerpoint/2010/main" val="19230645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15</a:t>
            </a:fld>
            <a:endParaRPr lang="el-GR"/>
          </a:p>
        </p:txBody>
      </p:sp>
    </p:spTree>
    <p:extLst>
      <p:ext uri="{BB962C8B-B14F-4D97-AF65-F5344CB8AC3E}">
        <p14:creationId xmlns:p14="http://schemas.microsoft.com/office/powerpoint/2010/main" val="31252046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16</a:t>
            </a:fld>
            <a:endParaRPr lang="el-GR"/>
          </a:p>
        </p:txBody>
      </p:sp>
    </p:spTree>
    <p:extLst>
      <p:ext uri="{BB962C8B-B14F-4D97-AF65-F5344CB8AC3E}">
        <p14:creationId xmlns:p14="http://schemas.microsoft.com/office/powerpoint/2010/main" val="36580621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17</a:t>
            </a:fld>
            <a:endParaRPr lang="el-GR"/>
          </a:p>
        </p:txBody>
      </p:sp>
    </p:spTree>
    <p:extLst>
      <p:ext uri="{BB962C8B-B14F-4D97-AF65-F5344CB8AC3E}">
        <p14:creationId xmlns:p14="http://schemas.microsoft.com/office/powerpoint/2010/main" val="38426451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el-GR"/>
          </a:p>
        </p:txBody>
      </p:sp>
      <p:sp>
        <p:nvSpPr>
          <p:cNvPr id="3" name="Pladsholder til noter 2"/>
          <p:cNvSpPr>
            <a:spLocks noGrp="1"/>
          </p:cNvSpPr>
          <p:nvPr>
            <p:ph type="body" idx="1"/>
          </p:nvPr>
        </p:nvSpPr>
        <p:spPr/>
        <p:txBody>
          <a:bodyPr/>
          <a:lstStyle/>
          <a:p>
            <a:endParaRPr lang="el-GR"/>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18</a:t>
            </a:fld>
            <a:endParaRPr lang="el-GR"/>
          </a:p>
        </p:txBody>
      </p:sp>
    </p:spTree>
    <p:extLst>
      <p:ext uri="{BB962C8B-B14F-4D97-AF65-F5344CB8AC3E}">
        <p14:creationId xmlns:p14="http://schemas.microsoft.com/office/powerpoint/2010/main" val="29765479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el-GR"/>
          </a:p>
        </p:txBody>
      </p:sp>
      <p:sp>
        <p:nvSpPr>
          <p:cNvPr id="3" name="Pladsholder til noter 2"/>
          <p:cNvSpPr>
            <a:spLocks noGrp="1"/>
          </p:cNvSpPr>
          <p:nvPr>
            <p:ph type="body" idx="1"/>
          </p:nvPr>
        </p:nvSpPr>
        <p:spPr/>
        <p:txBody>
          <a:bodyPr/>
          <a:lstStyle/>
          <a:p>
            <a:endParaRPr lang="el-GR"/>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19</a:t>
            </a:fld>
            <a:endParaRPr lang="el-GR"/>
          </a:p>
        </p:txBody>
      </p:sp>
    </p:spTree>
    <p:extLst>
      <p:ext uri="{BB962C8B-B14F-4D97-AF65-F5344CB8AC3E}">
        <p14:creationId xmlns:p14="http://schemas.microsoft.com/office/powerpoint/2010/main" val="29765479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pPr rtl="0"/>
            <a:r>
              <a:rPr lang="el-GR"/>
              <a:t xml:space="preserve">Προστέθηκε από B8: </a:t>
            </a:r>
            <a:r>
              <a:rPr lang="en-GB" sz="1200" b="0" i="0" u="none" strike="noStrike" kern="1200">
                <a:solidFill>
                  <a:schemeClr val="tx1"/>
                </a:solidFill>
                <a:effectLst/>
                <a:latin typeface="IBM Plex Sans" panose="020B0503050203000203" pitchFamily="34" charset="0"/>
                <a:ea typeface="+mn-ea"/>
                <a:cs typeface="+mn-cs"/>
              </a:rPr>
              <a:t xml:space="preserve">{{</a:t>
            </a:r>
            <a:r>
              <a:rPr lang="en-GB" sz="1200" b="0" i="0" u="none" strike="noStrike" kern="1200" err="1">
                <a:solidFill>
                  <a:schemeClr val="tx1"/>
                </a:solidFill>
                <a:effectLst/>
                <a:latin typeface="IBM Plex Sans" panose="020B0503050203000203" pitchFamily="34" charset="0"/>
                <a:ea typeface="+mn-ea"/>
                <a:cs typeface="+mn-cs"/>
              </a:rPr>
              <a:t xml:space="preserve">omsatningsrate</a:t>
            </a:r>
            <a:r>
              <a:rPr lang="en-GB" sz="1200" b="0" i="0" u="none" strike="noStrike" kern="1200">
                <a:solidFill>
                  <a:schemeClr val="tx1"/>
                </a:solidFill>
                <a:effectLst/>
                <a:latin typeface="IBM Plex Sans" panose="020B0503050203000203" pitchFamily="34" charset="0"/>
                <a:ea typeface="+mn-ea"/>
                <a:cs typeface="+mn-cs"/>
              </a:rPr>
              <a:t xml:space="preserve">}}</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20</a:t>
            </a:fld>
            <a:endParaRPr lang="el-GR"/>
          </a:p>
        </p:txBody>
      </p:sp>
    </p:spTree>
    <p:extLst>
      <p:ext uri="{BB962C8B-B14F-4D97-AF65-F5344CB8AC3E}">
        <p14:creationId xmlns:p14="http://schemas.microsoft.com/office/powerpoint/2010/main" val="39423708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el-GR"/>
              <a:t xml:space="preserve">Αφαιρέθηκε: EU benchmark </a:t>
            </a:r>
            <a:r>
              <a:rPr lang="el-GR" err="1"/>
              <a:t xml:space="preserve">exclusion</a:t>
            </a:r>
            <a:endParaRPr lang="el-GR"/>
          </a:p>
          <a:p>
            <a:r>
              <a:rPr lang="el-GR"/>
              <a:t xml:space="preserve">Αφαιρέθηκε: </a:t>
            </a:r>
            <a:endParaRPr lang="en-GB"/>
          </a:p>
        </p:txBody>
      </p:sp>
      <p:sp>
        <p:nvSpPr>
          <p:cNvPr id="4" name="Pladsholder til slidenummer 3"/>
          <p:cNvSpPr>
            <a:spLocks noGrp="1"/>
          </p:cNvSpPr>
          <p:nvPr>
            <p:ph type="sldNum" sz="quarter" idx="5"/>
          </p:nvPr>
        </p:nvSpPr>
        <p:spPr/>
        <p:txBody>
          <a:bodyPr/>
          <a:lstStyle/>
          <a:p>
            <a:fld id="{45BFCFCE-5A78-CB4C-8592-F27D9484E3BD}" type="slidenum">
              <a:rPr lang="el-GR" smtClean="0"/>
              <a:pPr/>
              <a:t xml:space="preserve">23</a:t>
            </a:fld>
            <a:endParaRPr lang="el-GR"/>
          </a:p>
        </p:txBody>
      </p:sp>
    </p:spTree>
    <p:extLst>
      <p:ext uri="{BB962C8B-B14F-4D97-AF65-F5344CB8AC3E}">
        <p14:creationId xmlns:p14="http://schemas.microsoft.com/office/powerpoint/2010/main" val="29051058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 templat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52E31B1D-D5FA-1144-A6D9-FDFA19DD3A3B}"/>
              </a:ext>
            </a:extLst>
          </p:cNvPr>
          <p:cNvSpPr>
            <a:spLocks noGrp="1"/>
          </p:cNvSpPr>
          <p:nvPr>
            <p:ph type="body" sz="quarter" idx="14"/>
          </p:nvPr>
        </p:nvSpPr>
        <p:spPr>
          <a:xfrm>
            <a:off x="445500" y="890814"/>
            <a:ext cx="3080911" cy="4672738"/>
          </a:xfrm>
        </p:spPr>
        <p:txBody>
          <a:bodyPr/>
          <a:lstStyle>
            <a:lvl1pPr marL="0" indent="0">
              <a:buNone/>
              <a:defRPr/>
            </a:lvl1pPr>
          </a:lstStyle>
          <a:p>
            <a:pPr lvl="0"/>
            <a:r>
              <a:rPr lang="el-GR" noProof="0" err="1"/>
              <a:t xml:space="preserve">Click</a:t>
            </a:r>
            <a:r>
              <a:rPr lang="el-GR" noProof="0"/>
              <a:t xml:space="preserve"> to </a:t>
            </a:r>
            <a:r>
              <a:rPr lang="el-GR" noProof="0" err="1"/>
              <a:t xml:space="preserve">edit</a:t>
            </a:r>
            <a:r>
              <a:rPr lang="el-GR" noProof="0"/>
              <a:t xml:space="preserve"> Master </a:t>
            </a:r>
            <a:r>
              <a:rPr lang="el-GR" noProof="0" err="1"/>
              <a:t xml:space="preserve">text</a:t>
            </a:r>
            <a:r>
              <a:rPr lang="el-GR" noProof="0"/>
              <a:t xml:space="preserve"> styles</a:t>
            </a:r>
          </a:p>
        </p:txBody>
      </p:sp>
      <p:sp>
        <p:nvSpPr>
          <p:cNvPr id="11" name="Text Placeholder 9">
            <a:extLst>
              <a:ext uri="{FF2B5EF4-FFF2-40B4-BE49-F238E27FC236}">
                <a16:creationId xmlns:a16="http://schemas.microsoft.com/office/drawing/2014/main" id="{F1EF6F5B-4C89-A089-DA32-6A1686CD0B74}"/>
              </a:ext>
            </a:extLst>
          </p:cNvPr>
          <p:cNvSpPr>
            <a:spLocks noGrp="1"/>
          </p:cNvSpPr>
          <p:nvPr>
            <p:ph type="body" sz="quarter" idx="15"/>
          </p:nvPr>
        </p:nvSpPr>
        <p:spPr>
          <a:xfrm>
            <a:off x="3804849" y="890815"/>
            <a:ext cx="3080910" cy="4672737"/>
          </a:xfrm>
        </p:spPr>
        <p:txBody>
          <a:bodyPr/>
          <a:lstStyle>
            <a:lvl1pPr marL="0" indent="0">
              <a:buNone/>
              <a:defRPr/>
            </a:lvl1pPr>
          </a:lstStyle>
          <a:p>
            <a:pPr lvl="0"/>
            <a:r>
              <a:rPr lang="el-GR" noProof="0" err="1"/>
              <a:t xml:space="preserve">Click</a:t>
            </a:r>
            <a:r>
              <a:rPr lang="el-GR" noProof="0"/>
              <a:t xml:space="preserve"> to </a:t>
            </a:r>
            <a:r>
              <a:rPr lang="el-GR" noProof="0" err="1"/>
              <a:t xml:space="preserve">edit</a:t>
            </a:r>
            <a:r>
              <a:rPr lang="el-GR" noProof="0"/>
              <a:t xml:space="preserve"> Master </a:t>
            </a:r>
            <a:r>
              <a:rPr lang="el-GR" noProof="0" err="1"/>
              <a:t xml:space="preserve">text</a:t>
            </a:r>
            <a:r>
              <a:rPr lang="el-GR" noProof="0"/>
              <a:t xml:space="preserve"> styles</a:t>
            </a:r>
          </a:p>
        </p:txBody>
      </p:sp>
      <p:sp>
        <p:nvSpPr>
          <p:cNvPr id="2" name="Title 1">
            <a:extLst>
              <a:ext uri="{FF2B5EF4-FFF2-40B4-BE49-F238E27FC236}">
                <a16:creationId xmlns:a16="http://schemas.microsoft.com/office/drawing/2014/main" id="{4149F0AB-3484-3BD8-5F17-C0910484351A}"/>
              </a:ext>
            </a:extLst>
          </p:cNvPr>
          <p:cNvSpPr>
            <a:spLocks noGrp="1"/>
          </p:cNvSpPr>
          <p:nvPr>
            <p:ph type="title"/>
          </p:nvPr>
        </p:nvSpPr>
        <p:spPr/>
        <p:txBody>
          <a:bodyPr/>
          <a:lstStyle/>
          <a:p>
            <a:r>
              <a:rPr lang="en-GB"/>
              <a:t xml:space="preserve">Click to edit Master title style</a:t>
            </a:r>
          </a:p>
        </p:txBody>
      </p:sp>
    </p:spTree>
    <p:extLst>
      <p:ext uri="{BB962C8B-B14F-4D97-AF65-F5344CB8AC3E}">
        <p14:creationId xmlns:p14="http://schemas.microsoft.com/office/powerpoint/2010/main" val="3469057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rside med billedebaggru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ESG wordmark"/>
          <p:cNvSpPr txBox="1"/>
          <p:nvPr/>
        </p:nvSpPr>
        <p:spPr>
          <a:xfrm>
            <a:off x="365760" y="1043948"/>
            <a:ext cx="9960480" cy="3508791"/>
          </a:xfrm>
          <a:prstGeom prst="rect">
            <a:avLst/>
          </a:prstGeom>
          <a:noFill/>
        </p:spPr>
        <p:txBody>
          <a:bodyPr wrap="square" lIns="0" tIns="0" rIns="0" bIns="0" anchor="ctr">
            <a:noAutofit/>
          </a:bodyPr>
          <a:lstStyle/>
          <a:p>
            <a:pPr algn="ctr"/>
            <a:r>
              <a:rPr lang="en-GB" sz="15600" b="1" spc="-390" dirty="0">
                <a:solidFill>
                  <a:srgbClr val="FFFFFF"/>
                </a:solidFill>
                <a:latin typeface="+mn-lt"/>
              </a:rPr>
              <a:t>ESG</a:t>
            </a:r>
            <a:endParaRPr lang="en-GB" sz="15600" b="1" spc="-390"/>
          </a:p>
        </p:txBody>
      </p:sp>
      <p:sp>
        <p:nvSpPr>
          <p:cNvPr id="7" name="Footer Placeholder 6">
            <a:extLst>
              <a:ext uri="{FF2B5EF4-FFF2-40B4-BE49-F238E27FC236}">
                <a16:creationId xmlns:a16="http://schemas.microsoft.com/office/drawing/2014/main" id="{85E44590-AE8B-6098-6E3A-22BBF073CF8E}"/>
              </a:ext>
            </a:extLst>
          </p:cNvPr>
          <p:cNvSpPr>
            <a:spLocks noGrp="1"/>
          </p:cNvSpPr>
          <p:nvPr>
            <p:ph type="ftr" sz="quarter" idx="15"/>
          </p:nvPr>
        </p:nvSpPr>
        <p:spPr>
          <a:xfrm>
            <a:off x="3072658" y="4359745"/>
            <a:ext cx="4539794" cy="246616"/>
          </a:xfrm>
        </p:spPr>
        <p:txBody>
          <a:bodyPr/>
          <a:lstStyle>
            <a:lvl1pPr algn="ctr">
              <a:defRPr sz="1225">
                <a:solidFill>
                  <a:schemeClr val="bg1"/>
                </a:solidFill>
              </a:defRPr>
            </a:lvl1pPr>
          </a:lstStyle>
          <a:p>
            <a:r>
              <a:rPr lang="el-GR"/>
              <a:t xml:space="preserve">ΚΛΙΚ ΓΙΑ ΕΙΣΑΓΩΓΗ ΕΠΩΝΥΜΙΑΣ</a:t>
            </a:r>
          </a:p>
        </p:txBody>
      </p:sp>
      <p:sp>
        <p:nvSpPr>
          <p:cNvPr id="5" name="Titel 4">
            <a:extLst>
              <a:ext uri="{FF2B5EF4-FFF2-40B4-BE49-F238E27FC236}">
                <a16:creationId xmlns:a16="http://schemas.microsoft.com/office/drawing/2014/main" id="{A3676786-DF78-2A13-71BF-8354606B0D04}"/>
              </a:ext>
            </a:extLst>
          </p:cNvPr>
          <p:cNvSpPr>
            <a:spLocks noGrp="1"/>
          </p:cNvSpPr>
          <p:nvPr>
            <p:ph type="title" hasCustomPrompt="1"/>
          </p:nvPr>
        </p:nvSpPr>
        <p:spPr>
          <a:xfrm>
            <a:off x="946688" y="4051289"/>
            <a:ext cx="8798625" cy="160254"/>
          </a:xfrm>
        </p:spPr>
        <p:txBody>
          <a:bodyPr/>
          <a:lstStyle>
            <a:lvl1pPr algn="ctr">
              <a:defRPr sz="950" spc="300">
                <a:solidFill>
                  <a:schemeClr val="bg1"/>
                </a:solidFill>
              </a:defRPr>
            </a:lvl1pPr>
          </a:lstStyle>
          <a:p>
            <a:r>
              <a:rPr lang="el-GR"/>
              <a:t xml:space="preserve">ΕΙΣΑΓΩΓΗ ΤΙΤΛΟΥ</a:t>
            </a:r>
          </a:p>
        </p:txBody>
      </p:sp>
    </p:spTree>
    <p:extLst>
      <p:ext uri="{BB962C8B-B14F-4D97-AF65-F5344CB8AC3E}">
        <p14:creationId xmlns:p14="http://schemas.microsoft.com/office/powerpoint/2010/main" val="2290891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SG opgørels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9358A1A1-81A1-00B9-5F3F-17B9B899E502}"/>
              </a:ext>
            </a:extLst>
          </p:cNvPr>
          <p:cNvSpPr>
            <a:spLocks noGrp="1"/>
          </p:cNvSpPr>
          <p:nvPr>
            <p:ph type="body" sz="quarter" idx="17"/>
          </p:nvPr>
        </p:nvSpPr>
        <p:spPr>
          <a:xfrm>
            <a:off x="454795" y="864270"/>
            <a:ext cx="3997234" cy="4704480"/>
          </a:xfrm>
        </p:spPr>
        <p:txBody>
          <a:bodyPr/>
          <a:lstStyle>
            <a:lvl1pPr marL="0" indent="0">
              <a:lnSpc>
                <a:spcPct val="129000"/>
              </a:lnSpc>
              <a:spcAft>
                <a:spcPts val="0"/>
              </a:spcAft>
              <a:buNone/>
              <a:tabLst>
                <a:tab pos="252567" algn="l"/>
                <a:tab pos="410421" algn="l"/>
                <a:tab pos="3599079" algn="r"/>
              </a:tabLst>
              <a:defRPr sz="775">
                <a:solidFill>
                  <a:schemeClr val="tx2"/>
                </a:solidFill>
              </a:defRPr>
            </a:lvl1pPr>
          </a:lstStyle>
          <a:p>
            <a:pPr lvl="0"/>
            <a:r>
              <a:rPr lang="el-GR" noProof="0" err="1"/>
              <a:t xml:space="preserve">Click</a:t>
            </a:r>
            <a:r>
              <a:rPr lang="el-GR" noProof="0"/>
              <a:t xml:space="preserve"> to </a:t>
            </a:r>
            <a:r>
              <a:rPr lang="el-GR" noProof="0" err="1"/>
              <a:t xml:space="preserve">edit</a:t>
            </a:r>
            <a:r>
              <a:rPr lang="el-GR" noProof="0"/>
              <a:t xml:space="preserve"> Master </a:t>
            </a:r>
            <a:r>
              <a:rPr lang="el-GR" noProof="0" err="1"/>
              <a:t xml:space="preserve">text</a:t>
            </a:r>
            <a:r>
              <a:rPr lang="el-GR" noProof="0"/>
              <a:t xml:space="preserve"> styles</a:t>
            </a:r>
          </a:p>
        </p:txBody>
      </p:sp>
      <p:sp>
        <p:nvSpPr>
          <p:cNvPr id="2" name="Text Placeholder 9">
            <a:extLst>
              <a:ext uri="{FF2B5EF4-FFF2-40B4-BE49-F238E27FC236}">
                <a16:creationId xmlns:a16="http://schemas.microsoft.com/office/drawing/2014/main" id="{DDD3249A-9EA8-2D06-EED5-368B4A02469F}"/>
              </a:ext>
            </a:extLst>
          </p:cNvPr>
          <p:cNvSpPr>
            <a:spLocks noGrp="1"/>
          </p:cNvSpPr>
          <p:nvPr>
            <p:ph type="body" sz="quarter" idx="20"/>
          </p:nvPr>
        </p:nvSpPr>
        <p:spPr>
          <a:xfrm>
            <a:off x="5675750" y="859072"/>
            <a:ext cx="3997234" cy="4704479"/>
          </a:xfrm>
        </p:spPr>
        <p:txBody>
          <a:bodyPr/>
          <a:lstStyle>
            <a:lvl1pPr marL="0" indent="0">
              <a:lnSpc>
                <a:spcPct val="129000"/>
              </a:lnSpc>
              <a:spcAft>
                <a:spcPts val="0"/>
              </a:spcAft>
              <a:buNone/>
              <a:tabLst>
                <a:tab pos="252567" algn="l"/>
                <a:tab pos="410421" algn="l"/>
                <a:tab pos="3599079" algn="r"/>
              </a:tabLst>
              <a:defRPr sz="775">
                <a:solidFill>
                  <a:schemeClr val="tx2"/>
                </a:solidFill>
              </a:defRPr>
            </a:lvl1pPr>
          </a:lstStyle>
          <a:p>
            <a:pPr lvl="0"/>
            <a:r>
              <a:rPr lang="el-GR" noProof="0" err="1"/>
              <a:t xml:space="preserve">Click</a:t>
            </a:r>
            <a:r>
              <a:rPr lang="el-GR" noProof="0"/>
              <a:t xml:space="preserve"> to </a:t>
            </a:r>
            <a:r>
              <a:rPr lang="el-GR" noProof="0" err="1"/>
              <a:t xml:space="preserve">edit</a:t>
            </a:r>
            <a:r>
              <a:rPr lang="el-GR" noProof="0"/>
              <a:t xml:space="preserve"> Master </a:t>
            </a:r>
            <a:r>
              <a:rPr lang="el-GR" noProof="0" err="1"/>
              <a:t xml:space="preserve">text</a:t>
            </a:r>
            <a:r>
              <a:rPr lang="el-GR" noProof="0"/>
              <a:t xml:space="preserve"> styles</a:t>
            </a:r>
          </a:p>
        </p:txBody>
      </p:sp>
      <p:sp>
        <p:nvSpPr>
          <p:cNvPr id="6" name="Footer Placeholder 5">
            <a:extLst>
              <a:ext uri="{FF2B5EF4-FFF2-40B4-BE49-F238E27FC236}">
                <a16:creationId xmlns:a16="http://schemas.microsoft.com/office/drawing/2014/main" id="{CB27BA12-0C2B-874F-CB3D-A69B54828ED2}"/>
              </a:ext>
            </a:extLst>
          </p:cNvPr>
          <p:cNvSpPr>
            <a:spLocks noGrp="1"/>
          </p:cNvSpPr>
          <p:nvPr>
            <p:ph type="ftr" sz="quarter" idx="22"/>
          </p:nvPr>
        </p:nvSpPr>
        <p:spPr/>
        <p:txBody>
          <a:bodyPr/>
          <a:lstStyle/>
          <a:p>
            <a:r>
              <a:rPr lang="el-GR"/>
              <a:t xml:space="preserve">ΚΛΙΚ ΓΙΑ ΕΙΣΑΓΩΓΗ ΕΠΩΝΥΜΙΑΣ</a:t>
            </a:r>
          </a:p>
        </p:txBody>
      </p:sp>
      <p:sp>
        <p:nvSpPr>
          <p:cNvPr id="8" name="Slide Number Placeholder 7">
            <a:extLst>
              <a:ext uri="{FF2B5EF4-FFF2-40B4-BE49-F238E27FC236}">
                <a16:creationId xmlns:a16="http://schemas.microsoft.com/office/drawing/2014/main" id="{A28E22E3-1CE9-39F0-37B9-6694C2F99A83}"/>
              </a:ext>
            </a:extLst>
          </p:cNvPr>
          <p:cNvSpPr>
            <a:spLocks noGrp="1"/>
          </p:cNvSpPr>
          <p:nvPr>
            <p:ph type="sldNum" sz="quarter" idx="23"/>
          </p:nvPr>
        </p:nvSpPr>
        <p:spPr/>
        <p:txBody>
          <a:bodyPr/>
          <a:lstStyle/>
          <a:p>
            <a:fld id="{5A0D23CF-C5A3-5445-819D-C647D180BB4B}" type="slidenum">
              <a:rPr lang="el-GR" smtClean="0"/>
              <a:pPr/>
              <a:t xml:space="preserve">‹#›</a:t>
            </a:fld>
            <a:endParaRPr lang="el-GR"/>
          </a:p>
        </p:txBody>
      </p:sp>
      <p:sp>
        <p:nvSpPr>
          <p:cNvPr id="9" name="Title 8">
            <a:extLst>
              <a:ext uri="{FF2B5EF4-FFF2-40B4-BE49-F238E27FC236}">
                <a16:creationId xmlns:a16="http://schemas.microsoft.com/office/drawing/2014/main" id="{9EC510F1-C32E-301D-A9BE-CDD982DBFB2C}"/>
              </a:ext>
            </a:extLst>
          </p:cNvPr>
          <p:cNvSpPr>
            <a:spLocks noGrp="1"/>
          </p:cNvSpPr>
          <p:nvPr>
            <p:ph type="title"/>
          </p:nvPr>
        </p:nvSpPr>
        <p:spPr/>
        <p:txBody>
          <a:bodyPr/>
          <a:lstStyle/>
          <a:p>
            <a:r>
              <a:rPr lang="en-GB"/>
              <a:t xml:space="preserve">Click to edit Master title style</a:t>
            </a:r>
          </a:p>
        </p:txBody>
      </p:sp>
    </p:spTree>
    <p:extLst>
      <p:ext uri="{BB962C8B-B14F-4D97-AF65-F5344CB8AC3E}">
        <p14:creationId xmlns:p14="http://schemas.microsoft.com/office/powerpoint/2010/main" val="2992085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AB499-BDA0-E170-C4FB-7C73F109F59F}"/>
              </a:ext>
            </a:extLst>
          </p:cNvPr>
          <p:cNvSpPr>
            <a:spLocks noGrp="1"/>
          </p:cNvSpPr>
          <p:nvPr>
            <p:ph type="title"/>
          </p:nvPr>
        </p:nvSpPr>
        <p:spPr/>
        <p:txBody>
          <a:bodyPr/>
          <a:lstStyle/>
          <a:p>
            <a:r>
              <a:rPr lang="el-GR" noProof="0" err="1"/>
              <a:t xml:space="preserve">Click</a:t>
            </a:r>
            <a:r>
              <a:rPr lang="el-GR" noProof="0"/>
              <a:t xml:space="preserve"> to </a:t>
            </a:r>
            <a:r>
              <a:rPr lang="el-GR" noProof="0" err="1"/>
              <a:t xml:space="preserve">edit</a:t>
            </a:r>
            <a:r>
              <a:rPr lang="el-GR" noProof="0"/>
              <a:t xml:space="preserve"> Master </a:t>
            </a:r>
            <a:r>
              <a:rPr lang="el-GR" noProof="0" err="1"/>
              <a:t xml:space="preserve">title</a:t>
            </a:r>
            <a:r>
              <a:rPr lang="el-GR" noProof="0"/>
              <a:t xml:space="preserve"> style</a:t>
            </a:r>
          </a:p>
        </p:txBody>
      </p:sp>
      <p:sp>
        <p:nvSpPr>
          <p:cNvPr id="3" name="Date Placeholder 2">
            <a:extLst>
              <a:ext uri="{FF2B5EF4-FFF2-40B4-BE49-F238E27FC236}">
                <a16:creationId xmlns:a16="http://schemas.microsoft.com/office/drawing/2014/main" id="{85623CC7-2A44-6728-81B8-5D1C36C8A523}"/>
              </a:ext>
            </a:extLst>
          </p:cNvPr>
          <p:cNvSpPr>
            <a:spLocks noGrp="1"/>
          </p:cNvSpPr>
          <p:nvPr>
            <p:ph type="dt" sz="half" idx="10"/>
          </p:nvPr>
        </p:nvSpPr>
        <p:spPr/>
        <p:txBody>
          <a:bodyPr/>
          <a:lstStyle/>
          <a:p>
            <a:endParaRPr lang="el-GR" noProof="0"/>
          </a:p>
        </p:txBody>
      </p:sp>
      <p:sp>
        <p:nvSpPr>
          <p:cNvPr id="4" name="Footer Placeholder 3">
            <a:extLst>
              <a:ext uri="{FF2B5EF4-FFF2-40B4-BE49-F238E27FC236}">
                <a16:creationId xmlns:a16="http://schemas.microsoft.com/office/drawing/2014/main" id="{2B78E23B-9CAA-A290-D3B6-2404D06EC1A2}"/>
              </a:ext>
            </a:extLst>
          </p:cNvPr>
          <p:cNvSpPr>
            <a:spLocks noGrp="1"/>
          </p:cNvSpPr>
          <p:nvPr>
            <p:ph type="ftr" sz="quarter" idx="11"/>
          </p:nvPr>
        </p:nvSpPr>
        <p:spPr/>
        <p:txBody>
          <a:bodyPr/>
          <a:lstStyle/>
          <a:p>
            <a:r>
              <a:rPr lang="el-GR" noProof="0"/>
              <a:t xml:space="preserve">ΚΛΙΚ ΓΙΑ ΕΙΣΑΓΩΓΗ ΕΠΩΝΥΜΙΑΣ</a:t>
            </a:r>
          </a:p>
        </p:txBody>
      </p:sp>
      <p:sp>
        <p:nvSpPr>
          <p:cNvPr id="5" name="Slide Number Placeholder 4">
            <a:extLst>
              <a:ext uri="{FF2B5EF4-FFF2-40B4-BE49-F238E27FC236}">
                <a16:creationId xmlns:a16="http://schemas.microsoft.com/office/drawing/2014/main" id="{A316B95B-509A-04EA-4971-5BB7A30A29F3}"/>
              </a:ext>
            </a:extLst>
          </p:cNvPr>
          <p:cNvSpPr>
            <a:spLocks noGrp="1"/>
          </p:cNvSpPr>
          <p:nvPr>
            <p:ph type="sldNum" sz="quarter" idx="12"/>
          </p:nvPr>
        </p:nvSpPr>
        <p:spPr/>
        <p:txBody>
          <a:bodyPr/>
          <a:lstStyle/>
          <a:p>
            <a:fld id="{5A0D23CF-C5A3-5445-819D-C647D180BB4B}" type="slidenum">
              <a:rPr lang="el-GR" noProof="0" smtClean="0"/>
              <a:pPr/>
              <a:t xml:space="preserve">‹#›</a:t>
            </a:fld>
            <a:endParaRPr lang="el-GR" noProof="0"/>
          </a:p>
        </p:txBody>
      </p:sp>
    </p:spTree>
    <p:extLst>
      <p:ext uri="{BB962C8B-B14F-4D97-AF65-F5344CB8AC3E}">
        <p14:creationId xmlns:p14="http://schemas.microsoft.com/office/powerpoint/2010/main" val="1832852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fslutningsslide">
    <p:bg>
      <p:bgPr>
        <a:solidFill>
          <a:srgbClr val="1B4529"/>
        </a:solidFill>
        <a:effectLst/>
      </p:bgPr>
    </p:bg>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5FF3099D-2911-2DC2-30C9-600914A49C92}"/>
              </a:ext>
            </a:extLst>
          </p:cNvPr>
          <p:cNvSpPr>
            <a:spLocks noGrp="1"/>
          </p:cNvSpPr>
          <p:nvPr>
            <p:ph idx="1" hasCustomPrompt="1"/>
          </p:nvPr>
        </p:nvSpPr>
        <p:spPr>
          <a:xfrm>
            <a:off x="946688" y="1392188"/>
            <a:ext cx="8798625" cy="1280812"/>
          </a:xfrm>
          <a:solidFill>
            <a:srgbClr val="1B4529"/>
          </a:solidFill>
        </p:spPr>
        <p:txBody>
          <a:bodyPr>
            <a:normAutofit/>
          </a:bodyPr>
          <a:lstStyle>
            <a:lvl1pPr marL="0" indent="0">
              <a:lnSpc>
                <a:spcPct val="100000"/>
              </a:lnSpc>
              <a:spcBef>
                <a:spcPts val="175"/>
              </a:spcBef>
              <a:buFontTx/>
              <a:buNone/>
              <a:defRPr sz="950">
                <a:solidFill>
                  <a:schemeClr val="bg1"/>
                </a:solidFill>
              </a:defRPr>
            </a:lvl1pPr>
            <a:lvl2pPr marL="157854" indent="0">
              <a:buFontTx/>
              <a:buNone/>
              <a:defRPr sz="950">
                <a:solidFill>
                  <a:schemeClr val="bg1"/>
                </a:solidFill>
              </a:defRPr>
            </a:lvl2pPr>
            <a:lvl3pPr marL="441992" indent="-142069">
              <a:defRPr sz="950">
                <a:solidFill>
                  <a:schemeClr val="bg1"/>
                </a:solidFill>
              </a:defRPr>
            </a:lvl3pPr>
            <a:lvl4pPr marL="615632" indent="-142069">
              <a:defRPr sz="950">
                <a:solidFill>
                  <a:schemeClr val="bg1"/>
                </a:solidFill>
              </a:defRPr>
            </a:lvl4pPr>
            <a:lvl5pPr marL="757701" indent="-142069">
              <a:defRPr sz="950">
                <a:solidFill>
                  <a:schemeClr val="bg1"/>
                </a:solidFill>
              </a:defRPr>
            </a:lvl5pPr>
          </a:lstStyle>
          <a:p>
            <a:pPr lvl="0"/>
            <a:r>
              <a:rPr lang="el-GR" noProof="0"/>
              <a:t xml:space="preserve">Εισαγωγή στοιχείων επιχείρησης</a:t>
            </a:r>
          </a:p>
        </p:txBody>
      </p:sp>
      <p:sp>
        <p:nvSpPr>
          <p:cNvPr id="4" name="Title 3">
            <a:extLst>
              <a:ext uri="{FF2B5EF4-FFF2-40B4-BE49-F238E27FC236}">
                <a16:creationId xmlns:a16="http://schemas.microsoft.com/office/drawing/2014/main" id="{6DF97A03-6A5A-CE52-A825-964660171C82}"/>
              </a:ext>
            </a:extLst>
          </p:cNvPr>
          <p:cNvSpPr>
            <a:spLocks noGrp="1"/>
          </p:cNvSpPr>
          <p:nvPr>
            <p:ph type="title"/>
          </p:nvPr>
        </p:nvSpPr>
        <p:spPr/>
        <p:txBody>
          <a:bodyPr/>
          <a:lstStyle>
            <a:lvl1pPr>
              <a:defRPr>
                <a:solidFill>
                  <a:schemeClr val="bg1"/>
                </a:solidFill>
              </a:defRPr>
            </a:lvl1pPr>
          </a:lstStyle>
          <a:p>
            <a:r>
              <a:rPr lang="el-GR" noProof="0" err="1"/>
              <a:t xml:space="preserve">Click</a:t>
            </a:r>
            <a:r>
              <a:rPr lang="el-GR" noProof="0"/>
              <a:t xml:space="preserve"> to </a:t>
            </a:r>
            <a:r>
              <a:rPr lang="el-GR" noProof="0" err="1"/>
              <a:t xml:space="preserve">edit</a:t>
            </a:r>
            <a:r>
              <a:rPr lang="el-GR" noProof="0"/>
              <a:t xml:space="preserve"> Master </a:t>
            </a:r>
            <a:r>
              <a:rPr lang="el-GR" noProof="0" err="1"/>
              <a:t xml:space="preserve">title</a:t>
            </a:r>
            <a:r>
              <a:rPr lang="el-GR" noProof="0"/>
              <a:t xml:space="preserve"> style</a:t>
            </a:r>
          </a:p>
        </p:txBody>
      </p:sp>
      <p:sp>
        <p:nvSpPr>
          <p:cNvPr id="10" name="Footer Placeholder 9">
            <a:extLst>
              <a:ext uri="{FF2B5EF4-FFF2-40B4-BE49-F238E27FC236}">
                <a16:creationId xmlns:a16="http://schemas.microsoft.com/office/drawing/2014/main" id="{C0ED9E13-9DB5-7219-D300-DD32B15B25DA}"/>
              </a:ext>
            </a:extLst>
          </p:cNvPr>
          <p:cNvSpPr>
            <a:spLocks noGrp="1"/>
          </p:cNvSpPr>
          <p:nvPr>
            <p:ph type="ftr" sz="quarter" idx="15"/>
          </p:nvPr>
        </p:nvSpPr>
        <p:spPr/>
        <p:txBody>
          <a:bodyPr/>
          <a:lstStyle>
            <a:lvl1pPr>
              <a:defRPr>
                <a:solidFill>
                  <a:schemeClr val="bg1"/>
                </a:solidFill>
              </a:defRPr>
            </a:lvl1pPr>
          </a:lstStyle>
          <a:p>
            <a:r>
              <a:rPr lang="el-GR" noProof="0"/>
              <a:t xml:space="preserve">ΚΛΙΚ ΓΙΑ ΕΙΣΑΓΩΓΗ ΕΠΩΝΥΜΙΑΣ</a:t>
            </a:r>
          </a:p>
        </p:txBody>
      </p:sp>
      <p:sp>
        <p:nvSpPr>
          <p:cNvPr id="11" name="Slide Number Placeholder 10">
            <a:extLst>
              <a:ext uri="{FF2B5EF4-FFF2-40B4-BE49-F238E27FC236}">
                <a16:creationId xmlns:a16="http://schemas.microsoft.com/office/drawing/2014/main" id="{85AA5A7D-770A-67C5-6EFF-8AD1F28FC232}"/>
              </a:ext>
            </a:extLst>
          </p:cNvPr>
          <p:cNvSpPr>
            <a:spLocks noGrp="1"/>
          </p:cNvSpPr>
          <p:nvPr>
            <p:ph type="sldNum" sz="quarter" idx="16"/>
          </p:nvPr>
        </p:nvSpPr>
        <p:spPr/>
        <p:txBody>
          <a:bodyPr/>
          <a:lstStyle>
            <a:lvl1pPr>
              <a:defRPr>
                <a:solidFill>
                  <a:schemeClr val="bg1">
                    <a:alpha val="70000"/>
                  </a:schemeClr>
                </a:solidFill>
              </a:defRPr>
            </a:lvl1pPr>
          </a:lstStyle>
          <a:p>
            <a:fld id="{5A0D23CF-C5A3-5445-819D-C647D180BB4B}" type="slidenum">
              <a:rPr lang="el-GR" noProof="0" smtClean="0"/>
              <a:pPr/>
              <a:t xml:space="preserve">‹#›</a:t>
            </a:fld>
            <a:endParaRPr lang="el-GR" noProof="0"/>
          </a:p>
        </p:txBody>
      </p:sp>
    </p:spTree>
    <p:extLst>
      <p:ext uri="{BB962C8B-B14F-4D97-AF65-F5344CB8AC3E}">
        <p14:creationId xmlns:p14="http://schemas.microsoft.com/office/powerpoint/2010/main" val="2348340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Pladsholder til tekst 2">
            <a:extLst>
              <a:ext uri="{FF2B5EF4-FFF2-40B4-BE49-F238E27FC236}">
                <a16:creationId xmlns:a16="http://schemas.microsoft.com/office/drawing/2014/main" id="{3B61CC4E-F6A2-4C3F-CE7B-BB195B240393}"/>
              </a:ext>
            </a:extLst>
          </p:cNvPr>
          <p:cNvSpPr>
            <a:spLocks noGrp="1"/>
          </p:cNvSpPr>
          <p:nvPr>
            <p:ph type="body" idx="1"/>
          </p:nvPr>
        </p:nvSpPr>
        <p:spPr>
          <a:xfrm>
            <a:off x="454795" y="890999"/>
            <a:ext cx="9791703" cy="4672552"/>
          </a:xfrm>
          <a:prstGeom prst="rect">
            <a:avLst/>
          </a:prstGeom>
        </p:spPr>
        <p:txBody>
          <a:bodyPr vert="horz" lIns="0" tIns="0" rIns="0" bIns="0" rtlCol="0">
            <a:noAutofit/>
          </a:bodyPr>
          <a:lstStyle/>
          <a:p>
            <a:pPr lvl="0"/>
            <a:r>
              <a:rPr lang="el-GR" noProof="0"/>
              <a:t xml:space="preserve">Κάντε κλικ για επεξεργασία των στυλ κειμένου του υποδείγματος</a:t>
            </a:r>
          </a:p>
          <a:p>
            <a:pPr lvl="1"/>
            <a:r>
              <a:rPr lang="el-GR" noProof="0"/>
              <a:t xml:space="preserve">Δεύτερο επίπεδο</a:t>
            </a:r>
          </a:p>
          <a:p>
            <a:pPr lvl="2"/>
            <a:r>
              <a:rPr lang="el-GR" noProof="0"/>
              <a:t xml:space="preserve">Τρίτο επίπεδο</a:t>
            </a:r>
          </a:p>
          <a:p>
            <a:pPr lvl="3"/>
            <a:r>
              <a:rPr lang="el-GR" noProof="0"/>
              <a:t xml:space="preserve">Τέταρτο επίπεδο</a:t>
            </a:r>
          </a:p>
          <a:p>
            <a:pPr lvl="4"/>
            <a:r>
              <a:rPr lang="el-GR" noProof="0"/>
              <a:t xml:space="preserve">Πέμπτο επίπεδο</a:t>
            </a:r>
          </a:p>
        </p:txBody>
      </p:sp>
      <p:sp>
        <p:nvSpPr>
          <p:cNvPr id="4" name="Pladsholder til dato 3">
            <a:extLst>
              <a:ext uri="{FF2B5EF4-FFF2-40B4-BE49-F238E27FC236}">
                <a16:creationId xmlns:a16="http://schemas.microsoft.com/office/drawing/2014/main" id="{8550164C-751B-845B-9F9B-5F2B4F1FB4E6}"/>
              </a:ext>
            </a:extLst>
          </p:cNvPr>
          <p:cNvSpPr>
            <a:spLocks noGrp="1"/>
          </p:cNvSpPr>
          <p:nvPr>
            <p:ph type="dt" sz="half" idx="2"/>
          </p:nvPr>
        </p:nvSpPr>
        <p:spPr>
          <a:xfrm>
            <a:off x="235729" y="7202406"/>
            <a:ext cx="2405700" cy="134955"/>
          </a:xfrm>
          <a:prstGeom prst="rect">
            <a:avLst/>
          </a:prstGeom>
        </p:spPr>
        <p:txBody>
          <a:bodyPr vert="horz" lIns="0" tIns="0" rIns="0" bIns="0" rtlCol="0" anchor="t" anchorCtr="0">
            <a:noAutofit/>
          </a:bodyPr>
          <a:lstStyle>
            <a:lvl1pPr algn="l">
              <a:defRPr sz="875">
                <a:solidFill>
                  <a:srgbClr val="5F7D69"/>
                </a:solidFill>
                <a:latin typeface="IBM Plex Sans" panose="020B0503050203000203" pitchFamily="34" charset="0"/>
              </a:defRPr>
            </a:lvl1pPr>
          </a:lstStyle>
          <a:p>
            <a:endParaRPr lang="el-GR"/>
          </a:p>
        </p:txBody>
      </p:sp>
      <p:sp>
        <p:nvSpPr>
          <p:cNvPr id="5" name="Pladsholder til sidefod 4">
            <a:extLst>
              <a:ext uri="{FF2B5EF4-FFF2-40B4-BE49-F238E27FC236}">
                <a16:creationId xmlns:a16="http://schemas.microsoft.com/office/drawing/2014/main" id="{7AB68935-0A2D-A618-8989-FB93D31273FE}"/>
              </a:ext>
            </a:extLst>
          </p:cNvPr>
          <p:cNvSpPr>
            <a:spLocks noGrp="1"/>
          </p:cNvSpPr>
          <p:nvPr>
            <p:ph type="ftr" sz="quarter" idx="3"/>
          </p:nvPr>
        </p:nvSpPr>
        <p:spPr>
          <a:xfrm>
            <a:off x="7261741" y="197293"/>
            <a:ext cx="3194529" cy="134955"/>
          </a:xfrm>
          <a:prstGeom prst="rect">
            <a:avLst/>
          </a:prstGeom>
        </p:spPr>
        <p:txBody>
          <a:bodyPr vert="horz" lIns="0" tIns="0" rIns="0" bIns="0" rtlCol="0" anchor="t" anchorCtr="0">
            <a:noAutofit/>
          </a:bodyPr>
          <a:lstStyle>
            <a:lvl1pPr algn="r">
              <a:defRPr sz="875" b="1">
                <a:solidFill>
                  <a:srgbClr val="5F7D69"/>
                </a:solidFill>
                <a:latin typeface="IBM Plex Sans" panose="020B0503050203000203" pitchFamily="34" charset="0"/>
              </a:defRPr>
            </a:lvl1pPr>
          </a:lstStyle>
          <a:p>
            <a:r>
              <a:rPr lang="el-GR"/>
              <a:t xml:space="preserve">ΚΛΙΚ ΓΙΑ ΕΙΣΑΓΩΓΗ ΕΠΩΝΥΜΙΑΣ</a:t>
            </a:r>
          </a:p>
        </p:txBody>
      </p:sp>
      <p:sp>
        <p:nvSpPr>
          <p:cNvPr id="6" name="Pladsholder til slidenummer 5">
            <a:extLst>
              <a:ext uri="{FF2B5EF4-FFF2-40B4-BE49-F238E27FC236}">
                <a16:creationId xmlns:a16="http://schemas.microsoft.com/office/drawing/2014/main" id="{77E57B8E-CD4B-57B4-607F-20E2BE60DB5F}"/>
              </a:ext>
            </a:extLst>
          </p:cNvPr>
          <p:cNvSpPr>
            <a:spLocks noGrp="1"/>
          </p:cNvSpPr>
          <p:nvPr>
            <p:ph type="sldNum" sz="quarter" idx="4"/>
          </p:nvPr>
        </p:nvSpPr>
        <p:spPr>
          <a:xfrm>
            <a:off x="8050571" y="7202406"/>
            <a:ext cx="2405700" cy="134955"/>
          </a:xfrm>
          <a:prstGeom prst="rect">
            <a:avLst/>
          </a:prstGeom>
        </p:spPr>
        <p:txBody>
          <a:bodyPr vert="horz" lIns="0" tIns="0" rIns="0" bIns="0" rtlCol="0" anchor="t" anchorCtr="0">
            <a:noAutofit/>
          </a:bodyPr>
          <a:lstStyle>
            <a:lvl1pPr algn="r">
              <a:defRPr sz="875">
                <a:solidFill>
                  <a:schemeClr val="tx2">
                    <a:alpha val="70000"/>
                  </a:schemeClr>
                </a:solidFill>
                <a:latin typeface="IBM Plex Sans" panose="020B0503050203000203" pitchFamily="34" charset="0"/>
              </a:defRPr>
            </a:lvl1pPr>
          </a:lstStyle>
          <a:p>
            <a:fld id="{5A0D23CF-C5A3-5445-819D-C647D180BB4B}" type="slidenum">
              <a:rPr lang="el-GR" smtClean="0"/>
              <a:pPr/>
              <a:t xml:space="preserve">‹#›</a:t>
            </a:fld>
            <a:endParaRPr lang="el-GR"/>
          </a:p>
        </p:txBody>
      </p:sp>
      <p:sp>
        <p:nvSpPr>
          <p:cNvPr id="7" name="Title Placeholder 6">
            <a:extLst>
              <a:ext uri="{FF2B5EF4-FFF2-40B4-BE49-F238E27FC236}">
                <a16:creationId xmlns:a16="http://schemas.microsoft.com/office/drawing/2014/main" id="{8788DFCC-4D37-4C1B-5213-E1D68A373009}"/>
              </a:ext>
            </a:extLst>
          </p:cNvPr>
          <p:cNvSpPr>
            <a:spLocks noGrp="1"/>
          </p:cNvSpPr>
          <p:nvPr>
            <p:ph type="title"/>
          </p:nvPr>
        </p:nvSpPr>
        <p:spPr>
          <a:xfrm>
            <a:off x="454796" y="450698"/>
            <a:ext cx="9791704" cy="218627"/>
          </a:xfrm>
          <a:prstGeom prst="rect">
            <a:avLst/>
          </a:prstGeom>
        </p:spPr>
        <p:txBody>
          <a:bodyPr vert="horz" wrap="square" lIns="0" tIns="0" rIns="0" bIns="0" rtlCol="0" anchor="t" anchorCtr="0">
            <a:spAutoFit/>
          </a:bodyPr>
          <a:lstStyle/>
          <a:p>
            <a:r>
              <a:rPr lang="el-GR" noProof="0"/>
              <a:t xml:space="preserve">Κάντε κλικ για επεξεργασία του στυλ τίτλου</a:t>
            </a:r>
          </a:p>
        </p:txBody>
      </p:sp>
    </p:spTree>
    <p:extLst>
      <p:ext uri="{BB962C8B-B14F-4D97-AF65-F5344CB8AC3E}">
        <p14:creationId xmlns:p14="http://schemas.microsoft.com/office/powerpoint/2010/main" val="3535313756"/>
      </p:ext>
    </p:extLst>
  </p:cSld>
  <p:clrMap bg1="lt1" tx1="dk1" bg2="lt2" tx2="dk2" accent1="accent1" accent2="accent2" accent3="accent3" accent4="accent4" accent5="accent5" accent6="accent6" hlink="hlink" folHlink="folHlink"/>
  <p:sldLayoutIdLst>
    <p:sldLayoutId id="2147483678" r:id="rId1"/>
    <p:sldLayoutId id="2147483681" r:id="rId2"/>
    <p:sldLayoutId id="2147483694" r:id="rId3"/>
    <p:sldLayoutId id="2147483696" r:id="rId4"/>
    <p:sldLayoutId id="2147483690" r:id="rId5"/>
  </p:sldLayoutIdLst>
  <p:hf hdr="0" dt="0"/>
  <p:txStyles>
    <p:titleStyle>
      <a:lvl1pPr algn="l" defTabSz="914400" rtl="0" eaLnBrk="1" latinLnBrk="0" hangingPunct="1">
        <a:lnSpc>
          <a:spcPct val="90000"/>
        </a:lnSpc>
        <a:spcBef>
          <a:spcPct val="0"/>
        </a:spcBef>
        <a:buNone/>
        <a:defRPr sz="1575" b="1" kern="1200" spc="-10" baseline="0">
          <a:solidFill>
            <a:schemeClr val="tx2"/>
          </a:solidFill>
          <a:latin typeface="+mj-lt"/>
          <a:ea typeface="+mj-ea"/>
          <a:cs typeface="+mj-cs"/>
        </a:defRPr>
      </a:lvl1pPr>
    </p:titleStyle>
    <p:bodyStyle>
      <a:lvl1pPr marL="63142" indent="-63142" algn="l" defTabSz="914400" rtl="0" eaLnBrk="1" latinLnBrk="0" hangingPunct="1">
        <a:lnSpc>
          <a:spcPct val="106000"/>
        </a:lnSpc>
        <a:spcBef>
          <a:spcPts val="0"/>
        </a:spcBef>
        <a:buFont typeface="Arial" panose="020B0604020202020204" pitchFamily="34" charset="0"/>
        <a:buChar char="•"/>
        <a:defRPr sz="775" b="0" kern="1200" spc="-10" baseline="0">
          <a:solidFill>
            <a:schemeClr val="tx2"/>
          </a:solidFill>
          <a:latin typeface="+mn-lt"/>
          <a:ea typeface="+mn-ea"/>
          <a:cs typeface="+mn-cs"/>
        </a:defRPr>
      </a:lvl1pPr>
      <a:lvl2pPr marL="126283"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2pPr>
      <a:lvl3pPr marL="189425"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3pPr>
      <a:lvl4pPr marL="252567"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4pPr>
      <a:lvl5pPr marL="315709"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5pPr>
      <a:lvl6pPr marL="220522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6pPr>
      <a:lvl7pPr marL="260617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7pPr>
      <a:lvl8pPr marL="300712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8pPr>
      <a:lvl9pPr marL="340807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9pPr>
    </p:bodyStyle>
    <p:otherStyle>
      <a:defPPr>
        <a:defRPr lang="el-GR"/>
      </a:defPPr>
      <a:lvl1pPr marL="0" algn="l" defTabSz="914400" rtl="0" eaLnBrk="1" latinLnBrk="0" hangingPunct="1">
        <a:defRPr sz="1575" kern="1200">
          <a:solidFill>
            <a:schemeClr val="tx1"/>
          </a:solidFill>
          <a:latin typeface="+mn-lt"/>
          <a:ea typeface="+mn-ea"/>
          <a:cs typeface="+mn-cs"/>
        </a:defRPr>
      </a:lvl1pPr>
      <a:lvl2pPr marL="400950" algn="l" defTabSz="914400" rtl="0" eaLnBrk="1" latinLnBrk="0" hangingPunct="1">
        <a:defRPr sz="1575" kern="1200">
          <a:solidFill>
            <a:schemeClr val="tx1"/>
          </a:solidFill>
          <a:latin typeface="+mn-lt"/>
          <a:ea typeface="+mn-ea"/>
          <a:cs typeface="+mn-cs"/>
        </a:defRPr>
      </a:lvl2pPr>
      <a:lvl3pPr marL="801900" algn="l" defTabSz="914400" rtl="0" eaLnBrk="1" latinLnBrk="0" hangingPunct="1">
        <a:defRPr sz="1575" kern="1200">
          <a:solidFill>
            <a:schemeClr val="tx1"/>
          </a:solidFill>
          <a:latin typeface="+mn-lt"/>
          <a:ea typeface="+mn-ea"/>
          <a:cs typeface="+mn-cs"/>
        </a:defRPr>
      </a:lvl3pPr>
      <a:lvl4pPr marL="1202850" algn="l" defTabSz="914400" rtl="0" eaLnBrk="1" latinLnBrk="0" hangingPunct="1">
        <a:defRPr sz="1575" kern="1200">
          <a:solidFill>
            <a:schemeClr val="tx1"/>
          </a:solidFill>
          <a:latin typeface="+mn-lt"/>
          <a:ea typeface="+mn-ea"/>
          <a:cs typeface="+mn-cs"/>
        </a:defRPr>
      </a:lvl4pPr>
      <a:lvl5pPr marL="1603800" algn="l" defTabSz="914400" rtl="0" eaLnBrk="1" latinLnBrk="0" hangingPunct="1">
        <a:defRPr sz="1575" kern="1200">
          <a:solidFill>
            <a:schemeClr val="tx1"/>
          </a:solidFill>
          <a:latin typeface="+mn-lt"/>
          <a:ea typeface="+mn-ea"/>
          <a:cs typeface="+mn-cs"/>
        </a:defRPr>
      </a:lvl5pPr>
      <a:lvl6pPr marL="2004750" algn="l" defTabSz="914400" rtl="0" eaLnBrk="1" latinLnBrk="0" hangingPunct="1">
        <a:defRPr sz="1575" kern="1200">
          <a:solidFill>
            <a:schemeClr val="tx1"/>
          </a:solidFill>
          <a:latin typeface="+mn-lt"/>
          <a:ea typeface="+mn-ea"/>
          <a:cs typeface="+mn-cs"/>
        </a:defRPr>
      </a:lvl6pPr>
      <a:lvl7pPr marL="2405700" algn="l" defTabSz="914400" rtl="0" eaLnBrk="1" latinLnBrk="0" hangingPunct="1">
        <a:defRPr sz="1575" kern="1200">
          <a:solidFill>
            <a:schemeClr val="tx1"/>
          </a:solidFill>
          <a:latin typeface="+mn-lt"/>
          <a:ea typeface="+mn-ea"/>
          <a:cs typeface="+mn-cs"/>
        </a:defRPr>
      </a:lvl7pPr>
      <a:lvl8pPr marL="2806650" algn="l" defTabSz="914400" rtl="0" eaLnBrk="1" latinLnBrk="0" hangingPunct="1">
        <a:defRPr sz="1575" kern="1200">
          <a:solidFill>
            <a:schemeClr val="tx1"/>
          </a:solidFill>
          <a:latin typeface="+mn-lt"/>
          <a:ea typeface="+mn-ea"/>
          <a:cs typeface="+mn-cs"/>
        </a:defRPr>
      </a:lvl8pPr>
      <a:lvl9pPr marL="3207600" algn="l" defTabSz="914400" rtl="0" eaLnBrk="1" latinLnBrk="0" hangingPunct="1">
        <a:defRPr sz="1575"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20" userDrawn="1">
          <p15:clr>
            <a:srgbClr val="F26B43"/>
          </p15:clr>
        </p15:guide>
        <p15:guide id="4" pos="2533" userDrawn="1">
          <p15:clr>
            <a:srgbClr val="F26B43"/>
          </p15:clr>
        </p15:guide>
        <p15:guide id="5" pos="2733" userDrawn="1">
          <p15:clr>
            <a:srgbClr val="F26B43"/>
          </p15:clr>
        </p15:guide>
        <p15:guide id="6" pos="4946" userDrawn="1">
          <p15:clr>
            <a:srgbClr val="F26B43"/>
          </p15:clr>
        </p15:guide>
        <p15:guide id="7" pos="5146" userDrawn="1">
          <p15:clr>
            <a:srgbClr val="F26B43"/>
          </p15:clr>
        </p15:guide>
        <p15:guide id="8" pos="7360" userDrawn="1">
          <p15:clr>
            <a:srgbClr val="F26B43"/>
          </p15:clr>
        </p15:guide>
        <p15:guide id="9" orient="horz" userDrawn="1">
          <p15:clr>
            <a:srgbClr val="F26B43"/>
          </p15:clr>
        </p15:guide>
        <p15:guide id="10" orient="horz" pos="4320" userDrawn="1">
          <p15:clr>
            <a:srgbClr val="F26B43"/>
          </p15:clr>
        </p15:guide>
        <p15:guide id="11" orient="horz" pos="320" userDrawn="1">
          <p15:clr>
            <a:srgbClr val="F26B43"/>
          </p15:clr>
        </p15:guide>
        <p15:guide id="12" orient="horz" pos="4000" userDrawn="1">
          <p15:clr>
            <a:srgbClr val="F26B43"/>
          </p15:clr>
        </p15:guide>
        <p15:guide id="13" orient="horz" pos="6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92A8525A-459C-C975-663E-23EF33D3BFBC}"/>
              </a:ext>
            </a:extLst>
          </p:cNvPr>
          <p:cNvSpPr>
            <a:spLocks noGrp="1"/>
          </p:cNvSpPr>
          <p:nvPr>
            <p:ph type="title"/>
          </p:nvPr>
        </p:nvSpPr>
        <p:spPr>
          <a:xfrm>
            <a:off x="946688" y="4051289"/>
            <a:ext cx="8798625" cy="133605"/>
          </a:xfrm>
        </p:spPr>
        <p:txBody>
          <a:bodyPr/>
          <a:lstStyle/>
          <a:p>
            <a:r>
              <a:rPr lang="el-GR" noProof="0"/>
              <a:t xml:space="preserve">ΕΚΘΕΣΗ ESG {{insert_year}}</a:t>
            </a:r>
            <a:r>
              <a:rPr lang="el-GR" noProof="0"/>
              <a:t xml:space="preserve"/>
            </a:r>
            <a:r>
              <a:rPr lang="el-GR" noProof="0"/>
              <a:t xml:space="preserve"/>
            </a:r>
          </a:p>
        </p:txBody>
      </p:sp>
      <p:sp>
        <p:nvSpPr>
          <p:cNvPr id="4" name="Footer Placeholder 3">
            <a:extLst>
              <a:ext uri="{FF2B5EF4-FFF2-40B4-BE49-F238E27FC236}">
                <a16:creationId xmlns:a16="http://schemas.microsoft.com/office/drawing/2014/main" id="{734E8629-539E-87AE-7B49-CC26832ADCE2}"/>
              </a:ext>
            </a:extLst>
          </p:cNvPr>
          <p:cNvSpPr>
            <a:spLocks noGrp="1"/>
          </p:cNvSpPr>
          <p:nvPr>
            <p:ph type="ftr" sz="quarter" idx="15"/>
          </p:nvPr>
        </p:nvSpPr>
        <p:spPr>
          <a:xfrm>
            <a:off x="3072658" y="4359745"/>
            <a:ext cx="4539794" cy="246616"/>
          </a:xfrm>
        </p:spPr>
        <p:txBody>
          <a:bodyPr/>
          <a:lstStyle/>
          <a:p>
            <a:r>
              <a:rPr lang="el-GR" noProof="0"/>
              <a:t>{{</a:t>
            </a:r>
            <a:r>
              <a:rPr lang="el-GR" noProof="0"/>
              <a:t>company_name</a:t>
            </a:r>
            <a:r>
              <a:rPr lang="el-GR" noProof="0"/>
              <a:t>}}</a:t>
            </a:r>
            <a:endParaRPr lang="el-GR" b="0" noProof="0"/>
          </a:p>
        </p:txBody>
      </p:sp>
    </p:spTree>
    <p:extLst>
      <p:ext uri="{BB962C8B-B14F-4D97-AF65-F5344CB8AC3E}">
        <p14:creationId xmlns:p14="http://schemas.microsoft.com/office/powerpoint/2010/main" val="2428557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1FDDEE7-C270-1824-E7E0-80B15F3FDDC2}"/>
              </a:ext>
            </a:extLst>
          </p:cNvPr>
          <p:cNvSpPr>
            <a:spLocks noGrp="1"/>
          </p:cNvSpPr>
          <p:nvPr>
            <p:ph type="title"/>
          </p:nvPr>
        </p:nvSpPr>
        <p:spPr>
          <a:xfrm>
            <a:off x="454796" y="450698"/>
            <a:ext cx="9791704" cy="437255"/>
          </a:xfrm>
        </p:spPr>
        <p:txBody>
          <a:bodyPr/>
          <a:lstStyle/>
          <a:p>
            <a:r>
              <a:rPr lang="el-GR" noProof="0"/>
              <a:t xml:space="preserve">Έκθεση ESG</a:t>
            </a:r>
            <a:r>
              <a:rPr lang="el-GR" b="0" noProof="0">
                <a:solidFill>
                  <a:srgbClr val="1B4528"/>
                </a:solidFill>
                <a:ea typeface="+mn-ea"/>
                <a:cs typeface="+mn-cs"/>
              </a:rPr>
              <a:t> </a:t>
            </a:r>
            <a:br>
              <a:rPr lang="el-GR" b="0" noProof="0">
                <a:solidFill>
                  <a:srgbClr val="1B4528"/>
                </a:solidFill>
                <a:ea typeface="+mn-ea"/>
                <a:cs typeface="+mn-cs"/>
              </a:rPr>
            </a:br>
            <a:endParaRPr lang="el-GR" b="0" noProof="0">
              <a:solidFill>
                <a:srgbClr val="1B4528"/>
              </a:solidFill>
              <a:ea typeface="+mn-ea"/>
              <a:cs typeface="+mn-cs"/>
            </a:endParaRPr>
          </a:p>
        </p:txBody>
      </p:sp>
      <p:sp>
        <p:nvSpPr>
          <p:cNvPr id="4" name="Text Placeholder 2">
            <a:extLst>
              <a:ext uri="{FF2B5EF4-FFF2-40B4-BE49-F238E27FC236}">
                <a16:creationId xmlns:a16="http://schemas.microsoft.com/office/drawing/2014/main" id="{34D83B42-66BB-638E-55C1-84FD1F7A8354}"/>
              </a:ext>
            </a:extLst>
          </p:cNvPr>
          <p:cNvSpPr>
            <a:spLocks noGrp="1"/>
          </p:cNvSpPr>
          <p:nvPr>
            <p:ph type="body" sz="quarter" idx="17"/>
          </p:nvPr>
        </p:nvSpPr>
        <p:spPr>
          <a:xfrm>
            <a:off x="454793" y="864270"/>
            <a:ext cx="6880233" cy="4704480"/>
          </a:xfrm>
        </p:spPr>
        <p:txBody>
          <a:bodyPr/>
          <a:lstStyle/>
          <a:p>
            <a:pPr>
              <a:lnSpc>
                <a:spcPct val="150000"/>
              </a:lnSpc>
              <a:tabLst>
                <a:tab pos="251986" algn="l"/>
                <a:tab pos="409303" algn="l"/>
                <a:tab pos="3932930" algn="r"/>
              </a:tabLst>
            </a:pPr>
            <a:endParaRPr lang="el-GR" sz="1050" b="1" noProof="0">
              <a:latin typeface="+mj-lt"/>
            </a:endParaRPr>
          </a:p>
          <a:p>
            <a:pPr>
              <a:lnSpc>
                <a:spcPct val="150000"/>
              </a:lnSpc>
              <a:tabLst>
                <a:tab pos="251986" algn="l"/>
                <a:tab pos="409303" algn="l"/>
                <a:tab pos="3932930" algn="r"/>
              </a:tabLst>
            </a:pPr>
            <a:endParaRPr lang="el-GR" sz="1050" b="1" noProof="0">
              <a:latin typeface="+mj-lt"/>
            </a:endParaRPr>
          </a:p>
          <a:p>
            <a:pPr marL="200475" indent="-233624">
              <a:lnSpc>
                <a:spcPct val="150000"/>
              </a:lnSpc>
              <a:buFont typeface="+mj-lt"/>
              <a:buAutoNum type="arabicPeriod"/>
              <a:tabLst>
                <a:tab pos="251986" algn="l"/>
                <a:tab pos="409303" algn="l"/>
                <a:tab pos="3932930" algn="r"/>
              </a:tabLst>
            </a:pPr>
            <a:r>
              <a:rPr lang="el-GR" sz="1050" b="1" noProof="0">
                <a:latin typeface="+mj-lt"/>
              </a:rPr>
              <a:t xml:space="preserve">Γενικές πληροφορίες				</a:t>
            </a:r>
            <a:endParaRPr lang="el-GR" sz="1050" noProof="0">
              <a:solidFill>
                <a:srgbClr val="1B4528"/>
              </a:solidFill>
              <a:latin typeface="+mj-lt"/>
            </a:endParaRPr>
          </a:p>
          <a:p>
            <a:pPr marL="200475" indent="-233624">
              <a:lnSpc>
                <a:spcPct val="150000"/>
              </a:lnSpc>
              <a:buFont typeface="+mj-lt"/>
              <a:buAutoNum type="arabicPeriod"/>
              <a:tabLst>
                <a:tab pos="251986" algn="l"/>
                <a:tab pos="409303" algn="l"/>
                <a:tab pos="3932930" algn="r"/>
              </a:tabLst>
            </a:pPr>
            <a:r>
              <a:rPr lang="el-GR" sz="1050" b="1" kern="1200" spc="-10" noProof="0">
                <a:solidFill>
                  <a:schemeClr val="tx2"/>
                </a:solidFill>
                <a:latin typeface="+mn-lt"/>
                <a:ea typeface="+mn-ea"/>
                <a:cs typeface="+mn-cs"/>
              </a:rPr>
              <a:t xml:space="preserve">Πρακτικές, πολιτικές και πρωτοβουλίες για πιο βιώσιμη οικονομία	</a:t>
            </a:r>
            <a:endParaRPr lang="el-GR" sz="1050" b="1" noProof="0">
              <a:latin typeface="+mj-lt"/>
            </a:endParaRPr>
          </a:p>
          <a:p>
            <a:pPr marL="200475" indent="-233624">
              <a:lnSpc>
                <a:spcPct val="150000"/>
              </a:lnSpc>
              <a:buFont typeface="+mj-lt"/>
              <a:buAutoNum type="arabicPeriod"/>
              <a:tabLst>
                <a:tab pos="251986" algn="l"/>
                <a:tab pos="409303" algn="l"/>
                <a:tab pos="3932930" algn="r"/>
              </a:tabLst>
            </a:pPr>
            <a:r>
              <a:rPr lang="el-GR" sz="1050" b="1" noProof="0">
                <a:latin typeface="+mj-lt"/>
              </a:rPr>
              <a:t xml:space="preserve">Κατανάλωση ενέργειας				</a:t>
            </a:r>
            <a:endParaRPr lang="el-GR" sz="1050" noProof="0">
              <a:latin typeface="+mj-lt"/>
            </a:endParaRPr>
          </a:p>
          <a:p>
            <a:pPr marL="200475" indent="-233624">
              <a:lnSpc>
                <a:spcPct val="150000"/>
              </a:lnSpc>
              <a:buFont typeface="+mj-lt"/>
              <a:buAutoNum type="arabicPeriod"/>
              <a:tabLst>
                <a:tab pos="251986" algn="l"/>
                <a:tab pos="409303" algn="l"/>
                <a:tab pos="3932930" algn="r"/>
              </a:tabLst>
            </a:pPr>
            <a:r>
              <a:rPr lang="el-GR" sz="1050" b="1" noProof="0">
                <a:latin typeface="+mj-lt"/>
              </a:rPr>
              <a:t xml:space="preserve">Εκπομπές CO₂e 				</a:t>
            </a:r>
            <a:r>
              <a:rPr lang="el-GR" sz="1050" b="1" noProof="0">
                <a:latin typeface="+mj-lt"/>
              </a:rPr>
              <a:t xml:space="preserve"/>
            </a:r>
            <a:endParaRPr lang="el-GR" sz="1050" noProof="0">
              <a:latin typeface="+mj-lt"/>
            </a:endParaRPr>
          </a:p>
          <a:p>
            <a:pPr marL="200475" indent="-233624">
              <a:lnSpc>
                <a:spcPct val="150000"/>
              </a:lnSpc>
              <a:buFont typeface="+mj-lt"/>
              <a:buAutoNum type="arabicPeriod"/>
              <a:tabLst>
                <a:tab pos="251986" algn="l"/>
                <a:tab pos="409303" algn="l"/>
                <a:tab pos="3932930" algn="r"/>
              </a:tabLst>
            </a:pPr>
            <a:r>
              <a:rPr lang="el-GR" sz="1050" b="1" noProof="0">
                <a:latin typeface="+mj-lt"/>
              </a:rPr>
              <a:t xml:space="preserve">Ρύπανση αέρα, νερού και εδάφους</a:t>
            </a:r>
            <a:r>
              <a:rPr lang="el-GR" sz="1050" noProof="0">
                <a:latin typeface="+mj-lt"/>
              </a:rPr>
              <a:t>				</a:t>
            </a:r>
          </a:p>
          <a:p>
            <a:pPr marL="200475" indent="-233624">
              <a:lnSpc>
                <a:spcPct val="150000"/>
              </a:lnSpc>
              <a:buFont typeface="+mj-lt"/>
              <a:buAutoNum type="arabicPeriod"/>
              <a:tabLst>
                <a:tab pos="251986" algn="l"/>
                <a:tab pos="409303" algn="l"/>
                <a:tab pos="3932930" algn="r"/>
              </a:tabLst>
            </a:pPr>
            <a:r>
              <a:rPr lang="el-GR" sz="1050" b="1" noProof="0">
                <a:latin typeface="+mj-lt"/>
              </a:rPr>
              <a:t xml:space="preserve">Βιοποικιλότητα</a:t>
            </a:r>
            <a:r>
              <a:rPr lang="el-GR" sz="1050" noProof="0">
                <a:latin typeface="+mj-lt"/>
              </a:rPr>
              <a:t>				</a:t>
            </a:r>
          </a:p>
          <a:p>
            <a:pPr marL="200475" indent="-233624">
              <a:lnSpc>
                <a:spcPct val="150000"/>
              </a:lnSpc>
              <a:buFont typeface="+mj-lt"/>
              <a:buAutoNum type="arabicPeriod"/>
              <a:tabLst>
                <a:tab pos="251986" algn="l"/>
                <a:tab pos="409303" algn="l"/>
                <a:tab pos="3932930" algn="r"/>
              </a:tabLst>
            </a:pPr>
            <a:r>
              <a:rPr lang="el-GR" sz="1050" b="1" noProof="0">
                <a:latin typeface="+mj-lt"/>
              </a:rPr>
              <a:t xml:space="preserve">Νερό	</a:t>
            </a:r>
            <a:r>
              <a:rPr lang="el-GR" sz="1050" noProof="0">
                <a:latin typeface="+mj-lt"/>
              </a:rPr>
              <a:t> 			</a:t>
            </a:r>
          </a:p>
          <a:p>
            <a:pPr marL="200475" indent="-233624">
              <a:lnSpc>
                <a:spcPct val="150000"/>
              </a:lnSpc>
              <a:buFont typeface="+mj-lt"/>
              <a:buAutoNum type="arabicPeriod"/>
              <a:tabLst>
                <a:tab pos="251986" algn="l"/>
                <a:tab pos="409303" algn="l"/>
                <a:tab pos="3932930" algn="r"/>
              </a:tabLst>
            </a:pPr>
            <a:r>
              <a:rPr lang="el-GR" sz="1050" b="1" noProof="0">
                <a:latin typeface="+mj-lt"/>
              </a:rPr>
              <a:t xml:space="preserve">Χρήση πόρων, κυκλική οικονομία και διαχείριση αποβλήτων</a:t>
            </a:r>
            <a:r>
              <a:rPr lang="el-GR" sz="1050" noProof="0">
                <a:latin typeface="+mj-lt"/>
              </a:rPr>
              <a:t>				</a:t>
            </a:r>
            <a:endParaRPr lang="el-GR" sz="1050" noProof="0">
              <a:solidFill>
                <a:srgbClr val="1B4528"/>
              </a:solidFill>
              <a:latin typeface="+mj-lt"/>
            </a:endParaRPr>
          </a:p>
          <a:p>
            <a:pPr marL="200475" indent="-233624">
              <a:lnSpc>
                <a:spcPct val="150000"/>
              </a:lnSpc>
              <a:buFont typeface="+mj-lt"/>
              <a:buAutoNum type="arabicPeriod"/>
              <a:tabLst>
                <a:tab pos="251986" algn="l"/>
                <a:tab pos="409303" algn="l"/>
                <a:tab pos="3932930" algn="r"/>
              </a:tabLst>
            </a:pPr>
            <a:r>
              <a:rPr lang="el-GR" sz="1050" b="1" noProof="0">
                <a:latin typeface="+mj-lt"/>
              </a:rPr>
              <a:t xml:space="preserve">Ίδιο εργατικό δυναμικό: γενικά χαρακτηριστικά</a:t>
            </a:r>
            <a:r>
              <a:rPr lang="el-GR" sz="1050" noProof="0">
                <a:latin typeface="+mj-lt"/>
              </a:rPr>
              <a:t>				</a:t>
            </a:r>
            <a:endParaRPr lang="el-GR" sz="1050" noProof="0">
              <a:solidFill>
                <a:srgbClr val="1B4528"/>
              </a:solidFill>
              <a:latin typeface="+mj-lt"/>
            </a:endParaRPr>
          </a:p>
          <a:p>
            <a:pPr marL="200475" indent="-233624">
              <a:lnSpc>
                <a:spcPct val="150000"/>
              </a:lnSpc>
              <a:buFont typeface="+mj-lt"/>
              <a:buAutoNum type="arabicPeriod"/>
              <a:tabLst>
                <a:tab pos="251986" algn="l"/>
                <a:tab pos="409303" algn="l"/>
                <a:tab pos="3932930" algn="r"/>
              </a:tabLst>
            </a:pPr>
            <a:r>
              <a:rPr lang="el-GR" sz="1050" b="1" noProof="0">
                <a:latin typeface="+mj-lt"/>
              </a:rPr>
              <a:t xml:space="preserve">Ίδιο εργατικό δυναμικό: υγεία και ασφάλεια</a:t>
            </a:r>
            <a:r>
              <a:rPr lang="el-GR" sz="1050" noProof="0">
                <a:latin typeface="+mj-lt"/>
              </a:rPr>
              <a:t>				</a:t>
            </a:r>
            <a:endParaRPr lang="el-GR" sz="1050" noProof="0">
              <a:solidFill>
                <a:srgbClr val="1B4528"/>
              </a:solidFill>
              <a:latin typeface="+mj-lt"/>
            </a:endParaRPr>
          </a:p>
          <a:p>
            <a:pPr marL="200475" indent="-233624">
              <a:lnSpc>
                <a:spcPct val="150000"/>
              </a:lnSpc>
              <a:buFont typeface="+mj-lt"/>
              <a:buAutoNum type="arabicPeriod"/>
              <a:tabLst>
                <a:tab pos="251986" algn="l"/>
                <a:tab pos="409303" algn="l"/>
                <a:tab pos="3932930" algn="r"/>
              </a:tabLst>
            </a:pPr>
            <a:r>
              <a:rPr lang="el-GR" sz="1050" b="1" noProof="0">
                <a:latin typeface="+mj-lt"/>
              </a:rPr>
              <a:t xml:space="preserve">Εργατικό δυναμικό: αμοιβές, συλλογικές συμβάσεις, κατάρτιση</a:t>
            </a:r>
            <a:r>
              <a:rPr lang="el-GR" sz="1050" noProof="0">
                <a:latin typeface="+mj-lt"/>
              </a:rPr>
              <a:t>		</a:t>
            </a:r>
            <a:endParaRPr lang="el-GR" sz="1050" noProof="0">
              <a:solidFill>
                <a:srgbClr val="1B4528"/>
              </a:solidFill>
              <a:latin typeface="+mj-lt"/>
            </a:endParaRPr>
          </a:p>
          <a:p>
            <a:pPr marL="200475" indent="-233624">
              <a:lnSpc>
                <a:spcPct val="150000"/>
              </a:lnSpc>
              <a:buFont typeface="+mj-lt"/>
              <a:buAutoNum type="arabicPeriod"/>
              <a:tabLst>
                <a:tab pos="251986" algn="l"/>
                <a:tab pos="409303" algn="l"/>
                <a:tab pos="3932930" algn="r"/>
              </a:tabLst>
            </a:pPr>
            <a:r>
              <a:rPr lang="el-GR" sz="1050" b="1" noProof="0">
                <a:latin typeface="+mj-lt"/>
              </a:rPr>
              <a:t xml:space="preserve">Επιχειρηματική δεοντολογία</a:t>
            </a:r>
            <a:r>
              <a:rPr lang="el-GR" sz="1050" noProof="0">
                <a:latin typeface="+mj-lt"/>
              </a:rPr>
              <a:t>	 			</a:t>
            </a:r>
            <a:endParaRPr lang="el-GR" sz="1050" noProof="0">
              <a:solidFill>
                <a:srgbClr val="1B4528"/>
              </a:solidFill>
              <a:latin typeface="+mj-lt"/>
            </a:endParaRPr>
          </a:p>
          <a:p>
            <a:pPr marL="200475" indent="-233624">
              <a:lnSpc>
                <a:spcPct val="150000"/>
              </a:lnSpc>
              <a:buFont typeface="+mj-lt"/>
              <a:buAutoNum type="arabicPeriod"/>
              <a:tabLst>
                <a:tab pos="251986" algn="l"/>
                <a:tab pos="409303" algn="l"/>
                <a:tab pos="3932930" algn="r"/>
              </a:tabLst>
            </a:pPr>
            <a:r>
              <a:rPr lang="el-GR" sz="1050" b="1" noProof="0">
                <a:latin typeface="+mj-lt"/>
              </a:rPr>
              <a:t xml:space="preserve">Στρατηγική: επιχειρηματικό μοντέλο και πρωτοβουλίες βιωσιμότητας</a:t>
            </a:r>
            <a:endParaRPr lang="el-GR" sz="1050" noProof="0">
              <a:solidFill>
                <a:srgbClr val="1B4528"/>
              </a:solidFill>
              <a:latin typeface="+mj-lt"/>
            </a:endParaRPr>
          </a:p>
          <a:p>
            <a:pPr marL="200475" indent="-233624">
              <a:lnSpc>
                <a:spcPct val="150000"/>
              </a:lnSpc>
              <a:buFont typeface="+mj-lt"/>
              <a:buAutoNum type="arabicPeriod"/>
              <a:tabLst>
                <a:tab pos="251986" algn="l"/>
                <a:tab pos="409303" algn="l"/>
                <a:tab pos="3932930" algn="r"/>
              </a:tabLst>
            </a:pPr>
            <a:r>
              <a:rPr lang="el-GR" sz="1050" b="1" noProof="0">
                <a:latin typeface="+mj-lt"/>
              </a:rPr>
              <a:t xml:space="preserve">Πρακτικές, πολιτικές και μελλοντικές πρωτοβουλίες για μετάβαση σε πιο βιώσιμη οικονομία</a:t>
            </a:r>
            <a:endParaRPr lang="el-GR" sz="1050" noProof="0">
              <a:solidFill>
                <a:srgbClr val="1B4528"/>
              </a:solidFill>
              <a:latin typeface="+mj-lt"/>
            </a:endParaRPr>
          </a:p>
          <a:p>
            <a:pPr marL="200475" indent="-233624">
              <a:lnSpc>
                <a:spcPct val="150000"/>
              </a:lnSpc>
              <a:buFont typeface="+mj-lt"/>
              <a:buAutoNum type="arabicPeriod"/>
              <a:tabLst>
                <a:tab pos="251986" algn="l"/>
                <a:tab pos="409303" algn="l"/>
                <a:tab pos="3932930" algn="r"/>
              </a:tabLst>
            </a:pPr>
            <a:r>
              <a:rPr lang="el-GR" sz="1050" b="1" noProof="0">
                <a:latin typeface="+mj-lt"/>
              </a:rPr>
              <a:t xml:space="preserve">Στόχοι μείωσης CO₂e</a:t>
            </a:r>
            <a:endParaRPr lang="el-GR" sz="1050" noProof="0">
              <a:solidFill>
                <a:srgbClr val="1B4528"/>
              </a:solidFill>
              <a:latin typeface="+mj-lt"/>
            </a:endParaRPr>
          </a:p>
          <a:p>
            <a:pPr marL="200475" indent="-233624">
              <a:lnSpc>
                <a:spcPct val="150000"/>
              </a:lnSpc>
              <a:buFont typeface="+mj-lt"/>
              <a:buAutoNum type="arabicPeriod"/>
              <a:tabLst>
                <a:tab pos="251986" algn="l"/>
                <a:tab pos="409303" algn="l"/>
                <a:tab pos="3932930" algn="r"/>
              </a:tabLst>
            </a:pPr>
            <a:r>
              <a:rPr lang="el-GR" sz="1050" b="1" noProof="0">
                <a:latin typeface="+mj-lt"/>
              </a:rPr>
              <a:t xml:space="preserve">Κλιματική μετάβαση</a:t>
            </a:r>
            <a:endParaRPr lang="el-GR" sz="1050" noProof="0">
              <a:solidFill>
                <a:srgbClr val="1B4528"/>
              </a:solidFill>
              <a:latin typeface="+mj-lt"/>
            </a:endParaRPr>
          </a:p>
          <a:p>
            <a:pPr marL="200475" indent="-233624">
              <a:lnSpc>
                <a:spcPct val="150000"/>
              </a:lnSpc>
              <a:buFont typeface="+mj-lt"/>
              <a:buAutoNum type="arabicPeriod"/>
              <a:tabLst>
                <a:tab pos="251986" algn="l"/>
                <a:tab pos="409303" algn="l"/>
                <a:tab pos="3932930" algn="r"/>
              </a:tabLst>
            </a:pPr>
            <a:r>
              <a:rPr lang="el-GR" sz="1050" b="1" noProof="0">
                <a:latin typeface="+mj-lt"/>
              </a:rPr>
              <a:t xml:space="preserve">Κλιματικοί κίνδυνοι</a:t>
            </a:r>
            <a:endParaRPr lang="el-GR" sz="1050" noProof="0">
              <a:solidFill>
                <a:srgbClr val="1B4528"/>
              </a:solidFill>
              <a:latin typeface="+mj-lt"/>
            </a:endParaRPr>
          </a:p>
          <a:p>
            <a:pPr marL="200475" indent="-233624">
              <a:lnSpc>
                <a:spcPct val="150000"/>
              </a:lnSpc>
              <a:buFont typeface="+mj-lt"/>
              <a:buAutoNum type="arabicPeriod"/>
              <a:tabLst>
                <a:tab pos="251986" algn="l"/>
                <a:tab pos="409303" algn="l"/>
                <a:tab pos="3932930" algn="r"/>
              </a:tabLst>
            </a:pPr>
            <a:r>
              <a:rPr lang="el-GR" sz="1050" b="1" noProof="0">
                <a:latin typeface="+mj-lt"/>
              </a:rPr>
              <a:t xml:space="preserve">Πρόσθετα (γενικά) χαρακτηριστικά του εργατικού δυναμικού</a:t>
            </a:r>
            <a:endParaRPr lang="el-GR" sz="1050" noProof="0">
              <a:solidFill>
                <a:srgbClr val="1B4528"/>
              </a:solidFill>
              <a:latin typeface="+mj-lt"/>
            </a:endParaRPr>
          </a:p>
          <a:p>
            <a:pPr marL="200475" indent="-233624">
              <a:lnSpc>
                <a:spcPct val="150000"/>
              </a:lnSpc>
              <a:buFont typeface="+mj-lt"/>
              <a:buAutoNum type="arabicPeriod"/>
              <a:tabLst>
                <a:tab pos="251986" algn="l"/>
                <a:tab pos="409303" algn="l"/>
                <a:tab pos="3932930" algn="r"/>
              </a:tabLst>
            </a:pPr>
            <a:r>
              <a:rPr lang="el-GR" sz="1050" b="1" noProof="0">
                <a:latin typeface="+mj-lt"/>
              </a:rPr>
              <a:t xml:space="preserve">Πολιτικές και διαδικασίες ανθρωπίνων δικαιωμάτων</a:t>
            </a:r>
            <a:endParaRPr lang="el-GR" sz="1050" noProof="0">
              <a:solidFill>
                <a:srgbClr val="1B4528"/>
              </a:solidFill>
              <a:latin typeface="+mj-lt"/>
            </a:endParaRPr>
          </a:p>
          <a:p>
            <a:pPr marL="200475" indent="-233624">
              <a:lnSpc>
                <a:spcPct val="150000"/>
              </a:lnSpc>
              <a:buFont typeface="+mj-lt"/>
              <a:buAutoNum type="arabicPeriod"/>
              <a:tabLst>
                <a:tab pos="251986" algn="l"/>
                <a:tab pos="409303" algn="l"/>
                <a:tab pos="3932930" algn="r"/>
              </a:tabLst>
            </a:pPr>
            <a:r>
              <a:rPr lang="el-GR" sz="1050" b="1" noProof="0">
                <a:latin typeface="+mj-lt"/>
              </a:rPr>
              <a:t xml:space="preserve">Σοβαρά αρνητικά περιστατικά ανθρωπίνων δικαιωμάτων</a:t>
            </a:r>
            <a:endParaRPr lang="el-GR" sz="1050" noProof="0">
              <a:solidFill>
                <a:srgbClr val="1B4528"/>
              </a:solidFill>
              <a:latin typeface="+mj-lt"/>
            </a:endParaRPr>
          </a:p>
          <a:p>
            <a:pPr marL="200475" indent="-233624">
              <a:lnSpc>
                <a:spcPct val="150000"/>
              </a:lnSpc>
              <a:buFont typeface="+mj-lt"/>
              <a:buAutoNum type="arabicPeriod"/>
              <a:tabLst>
                <a:tab pos="251986" algn="l"/>
                <a:tab pos="409303" algn="l"/>
                <a:tab pos="3932930" algn="r"/>
              </a:tabLst>
            </a:pPr>
            <a:r>
              <a:rPr lang="el-GR" sz="1050" b="1" noProof="0">
                <a:latin typeface="+mj-lt"/>
              </a:rPr>
              <a:t xml:space="preserve">Έσοδα από ορισμένες δραστηριότητες</a:t>
            </a:r>
            <a:endParaRPr lang="el-GR" sz="1050" noProof="0">
              <a:solidFill>
                <a:srgbClr val="1B4528"/>
              </a:solidFill>
              <a:latin typeface="+mj-lt"/>
            </a:endParaRPr>
          </a:p>
          <a:p>
            <a:pPr marL="200475" indent="-233624">
              <a:lnSpc>
                <a:spcPct val="150000"/>
              </a:lnSpc>
              <a:buFont typeface="+mj-lt"/>
              <a:buAutoNum type="arabicPeriod"/>
              <a:tabLst>
                <a:tab pos="251986" algn="l"/>
                <a:tab pos="409303" algn="l"/>
                <a:tab pos="3932930" algn="r"/>
              </a:tabLst>
            </a:pPr>
            <a:r>
              <a:rPr lang="el-GR" sz="1050" b="1" noProof="0">
                <a:latin typeface="+mj-lt"/>
              </a:rPr>
              <a:t xml:space="preserve">Έμφυλη πολυμορφία στο όργανο διοίκησης</a:t>
            </a:r>
            <a:endParaRPr lang="el-GR" sz="1050" noProof="0">
              <a:solidFill>
                <a:srgbClr val="1B4528"/>
              </a:solidFill>
              <a:latin typeface="+mj-lt"/>
            </a:endParaRPr>
          </a:p>
          <a:p>
            <a:pPr>
              <a:tabLst>
                <a:tab pos="251986" algn="l"/>
                <a:tab pos="409303" algn="l"/>
                <a:tab pos="3932930" algn="r"/>
              </a:tabLst>
            </a:pPr>
            <a:endParaRPr lang="el-GR" sz="1050" noProof="0">
              <a:latin typeface="+mj-lt"/>
            </a:endParaRPr>
          </a:p>
        </p:txBody>
      </p:sp>
      <p:sp>
        <p:nvSpPr>
          <p:cNvPr id="5" name="Footer Placeholder 4">
            <a:extLst>
              <a:ext uri="{FF2B5EF4-FFF2-40B4-BE49-F238E27FC236}">
                <a16:creationId xmlns:a16="http://schemas.microsoft.com/office/drawing/2014/main" id="{663AAC2A-0E1A-03B9-5DD7-E396252E7CF3}"/>
              </a:ext>
              <a:ext uri="{C183D7F6-B498-43B3-948B-1728B52AA6E4}">
                <adec:decorative xmlns:adec="http://schemas.microsoft.com/office/drawing/2017/decorative" val="1"/>
              </a:ext>
            </a:extLst>
          </p:cNvPr>
          <p:cNvSpPr>
            <a:spLocks noGrp="1"/>
          </p:cNvSpPr>
          <p:nvPr>
            <p:ph type="ftr" sz="quarter" idx="22"/>
          </p:nvPr>
        </p:nvSpPr>
        <p:spPr>
          <a:xfrm>
            <a:off x="7261741" y="197293"/>
            <a:ext cx="3194529" cy="134955"/>
          </a:xfrm>
        </p:spPr>
        <p:txBody>
          <a:bodyPr/>
          <a:lstStyle/>
          <a:p>
            <a:r>
              <a:rPr lang="el-GR" noProof="0"/>
              <a:t>{{</a:t>
            </a:r>
            <a:r>
              <a:rPr lang="el-GR" noProof="0"/>
              <a:t>company_name</a:t>
            </a:r>
            <a:r>
              <a:rPr lang="el-GR" noProof="0"/>
              <a:t>}}</a:t>
            </a:r>
          </a:p>
        </p:txBody>
      </p:sp>
      <p:sp>
        <p:nvSpPr>
          <p:cNvPr id="2" name="Slide Number Placeholder 5">
            <a:extLst>
              <a:ext uri="{FF2B5EF4-FFF2-40B4-BE49-F238E27FC236}">
                <a16:creationId xmlns:a16="http://schemas.microsoft.com/office/drawing/2014/main" id="{EAF64D3B-AE78-BA15-5D3D-CEE3410664A0}"/>
              </a:ext>
              <a:ext uri="{C183D7F6-B498-43B3-948B-1728B52AA6E4}">
                <adec:decorative xmlns:adec="http://schemas.microsoft.com/office/drawing/2017/decorative" val="1"/>
              </a:ext>
            </a:extLst>
          </p:cNvPr>
          <p:cNvSpPr>
            <a:spLocks noGrp="1"/>
          </p:cNvSpPr>
          <p:nvPr>
            <p:ph type="sldNum" sz="quarter" idx="23"/>
          </p:nvPr>
        </p:nvSpPr>
        <p:spPr>
          <a:xfrm>
            <a:off x="8050571" y="7202406"/>
            <a:ext cx="2405700" cy="134955"/>
          </a:xfrm>
        </p:spPr>
        <p:txBody>
          <a:bodyPr/>
          <a:lstStyle/>
          <a:p>
            <a:fld id="{5A0D23CF-C5A3-5445-819D-C647D180BB4B}" type="slidenum">
              <a:rPr lang="el-GR" noProof="0" smtClean="0"/>
              <a:pPr/>
              <a:t>2</a:t>
            </a:fld>
            <a:endParaRPr lang="el-GR" noProof="0"/>
          </a:p>
        </p:txBody>
      </p:sp>
    </p:spTree>
    <p:extLst>
      <p:ext uri="{BB962C8B-B14F-4D97-AF65-F5344CB8AC3E}">
        <p14:creationId xmlns:p14="http://schemas.microsoft.com/office/powerpoint/2010/main" val="1720570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54796" y="450698"/>
            <a:ext cx="9791704" cy="218627"/>
          </a:xfrm>
        </p:spPr>
        <p:txBody>
          <a:bodyPr/>
          <a:lstStyle/>
          <a:p>
            <a:r>
              <a:rPr lang="el-GR" noProof="0"/>
              <a:t xml:space="preserve">Βάση κατάρτισης (B1) </a:t>
            </a:r>
          </a:p>
        </p:txBody>
      </p:sp>
      <p:sp>
        <p:nvSpPr>
          <p:cNvPr id="15" name="Text Placeholder 2">
            <a:extLst>
              <a:ext uri="{FF2B5EF4-FFF2-40B4-BE49-F238E27FC236}">
                <a16:creationId xmlns:a16="http://schemas.microsoft.com/office/drawing/2014/main" id="{BACC1DA0-DFDE-C844-7562-0528953EC068}"/>
              </a:ext>
            </a:extLst>
          </p:cNvPr>
          <p:cNvSpPr txBox="1">
            <a:spLocks/>
          </p:cNvSpPr>
          <p:nvPr/>
        </p:nvSpPr>
        <p:spPr>
          <a:xfrm>
            <a:off x="445500" y="2600430"/>
            <a:ext cx="3080911" cy="150659"/>
          </a:xfrm>
          <a:prstGeom prst="rect">
            <a:avLst/>
          </a:prstGeom>
        </p:spPr>
        <p:txBody>
          <a:bodyPr lIns="0" tIns="0" rIns="0" bIns="0"/>
          <a:lstStyle>
            <a:lvl1pPr marL="63142" indent="-63142" algn="l" defTabSz="914400" rtl="0" eaLnBrk="1" latinLnBrk="0" hangingPunct="1">
              <a:lnSpc>
                <a:spcPct val="106000"/>
              </a:lnSpc>
              <a:spcBef>
                <a:spcPts val="0"/>
              </a:spcBef>
              <a:buFont typeface="Arial" panose="020B0604020202020204" pitchFamily="34" charset="0"/>
              <a:buChar char="•"/>
              <a:defRPr sz="775" b="0" kern="1200" spc="-10" baseline="0">
                <a:solidFill>
                  <a:schemeClr val="tx2"/>
                </a:solidFill>
                <a:latin typeface="+mn-lt"/>
                <a:ea typeface="+mn-ea"/>
                <a:cs typeface="+mn-cs"/>
              </a:defRPr>
            </a:lvl1pPr>
            <a:lvl2pPr marL="126283"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2pPr>
            <a:lvl3pPr marL="189425"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3pPr>
            <a:lvl4pPr marL="252567"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4pPr>
            <a:lvl5pPr marL="315709"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5pPr>
            <a:lvl6pPr marL="220522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6pPr>
            <a:lvl7pPr marL="260617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7pPr>
            <a:lvl8pPr marL="300712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8pPr>
            <a:lvl9pPr marL="340807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9pPr>
          </a:lstStyle>
          <a:p>
            <a:pPr marL="0" indent="0">
              <a:buNone/>
            </a:pPr>
            <a:endParaRPr lang="el-GR" noProof="0">
              <a:solidFill>
                <a:srgbClr val="1B4528"/>
              </a:solidFill>
            </a:endParaRPr>
          </a:p>
        </p:txBody>
      </p:sp>
      <p:graphicFrame>
        <p:nvGraphicFramePr>
          <p:cNvPr id="16" name="Table 2">
            <a:extLst>
              <a:ext uri="{FF2B5EF4-FFF2-40B4-BE49-F238E27FC236}">
                <a16:creationId xmlns:a16="http://schemas.microsoft.com/office/drawing/2014/main" id="{693470FC-B633-430A-0791-18B9C81D050C}"/>
              </a:ext>
            </a:extLst>
          </p:cNvPr>
          <p:cNvGraphicFramePr>
            <a:graphicFrameLocks noGrp="1"/>
          </p:cNvGraphicFramePr>
          <p:nvPr>
            <p:extLst>
              <p:ext uri="{D42A27DB-BD31-4B8C-83A1-F6EECF244321}">
                <p14:modId xmlns:p14="http://schemas.microsoft.com/office/powerpoint/2010/main" val="3677333342"/>
              </p:ext>
            </p:extLst>
          </p:nvPr>
        </p:nvGraphicFramePr>
        <p:xfrm>
          <a:off x="454795" y="4476714"/>
          <a:ext cx="6449555" cy="1078808"/>
        </p:xfrm>
        <a:graphic>
          <a:graphicData uri="http://schemas.openxmlformats.org/drawingml/2006/table">
            <a:tbl>
              <a:tblPr firstRow="1">
                <a:tableStyleId>{2A488322-F2BA-4B5B-9748-0D474271808F}</a:tableStyleId>
              </a:tblPr>
              <a:tblGrid>
                <a:gridCol w="2982453">
                  <a:extLst>
                    <a:ext uri="{9D8B030D-6E8A-4147-A177-3AD203B41FA5}">
                      <a16:colId xmlns:a16="http://schemas.microsoft.com/office/drawing/2014/main" val="1902117154"/>
                    </a:ext>
                  </a:extLst>
                </a:gridCol>
                <a:gridCol w="3467102">
                  <a:extLst>
                    <a:ext uri="{9D8B030D-6E8A-4147-A177-3AD203B41FA5}">
                      <a16:colId xmlns:a16="http://schemas.microsoft.com/office/drawing/2014/main" val="1904521774"/>
                    </a:ext>
                  </a:extLst>
                </a:gridCol>
              </a:tblGrid>
              <a:tr h="374838">
                <a:tc gridSpan="2">
                  <a:txBody>
                    <a:bodyPr/>
                    <a:lstStyle/>
                    <a:p>
                      <a:pPr marL="0" algn="l" defTabSz="914400" rtl="0" eaLnBrk="1" latinLnBrk="0" hangingPunct="1"/>
                      <a:r>
                        <a:rPr lang="el-GR" sz="1050" b="1" kern="1200" spc="-10" noProof="0">
                          <a:solidFill>
                            <a:schemeClr val="tx2"/>
                          </a:solidFill>
                          <a:latin typeface="+mn-lt"/>
                          <a:ea typeface="+mn-ea"/>
                          <a:cs typeface="+mn-cs"/>
                        </a:rPr>
                        <a:t xml:space="preserve">Κατάλογος θυγατρικών που περιλαμβάνονται στην παρούσα έκθεση ESG </a:t>
                      </a:r>
                      <a:r>
                        <a:rPr lang="el-GR" sz="1050" b="0" kern="1200" spc="-10" noProof="0">
                          <a:solidFill>
                            <a:schemeClr val="tx2"/>
                          </a:solidFill>
                          <a:latin typeface="+mn-lt"/>
                          <a:ea typeface="+mn-ea"/>
                          <a:cs typeface="+mn-cs"/>
                        </a:rPr>
                        <a:t xml:space="preserve">(παρ. 27d)</a:t>
                      </a:r>
                      <a:endParaRPr lang="el-GR" sz="1050" b="0" i="1" kern="1200" spc="-10" noProof="0">
                        <a:solidFill>
                          <a:schemeClr val="tx2"/>
                        </a:solidFill>
                        <a:latin typeface="+mn-lt"/>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a:p>
                  </a:txBody>
                  <a:tcPr/>
                </a:tc>
                <a:extLst>
                  <a:ext uri="{0D108BD9-81ED-4DB2-BD59-A6C34878D82A}">
                    <a16:rowId xmlns:a16="http://schemas.microsoft.com/office/drawing/2014/main" val="625231048"/>
                  </a:ext>
                </a:extLst>
              </a:tr>
              <a:tr h="365697">
                <a:tc>
                  <a:txBody>
                    <a:bodyPr/>
                    <a:lstStyle/>
                    <a:p>
                      <a:pPr algn="l"/>
                      <a:r>
                        <a:rPr lang="el-GR" sz="1050" b="1" kern="1200" spc="-10" noProof="0">
                          <a:solidFill>
                            <a:schemeClr val="tx2"/>
                          </a:solidFill>
                          <a:latin typeface="+mn-lt"/>
                          <a:ea typeface="+mn-ea"/>
                          <a:cs typeface="+mn-cs"/>
                        </a:rPr>
                        <a:t xml:space="preserve">Επωνυμία θυγατρικής </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l-GR" sz="1050" b="1" kern="1200" spc="-10" noProof="0">
                          <a:solidFill>
                            <a:schemeClr val="tx2"/>
                          </a:solidFill>
                          <a:latin typeface="+mn-lt"/>
                          <a:ea typeface="+mn-ea"/>
                          <a:cs typeface="+mn-cs"/>
                        </a:rPr>
                        <a:t xml:space="preserve">Έδρα θυγατρικής</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338272">
                <a:tc>
                  <a:txBody>
                    <a:bodyPr/>
                    <a:lstStyle/>
                    <a:p>
                      <a:pPr rtl="0" fontAlgn="t" algn="l">
                        <a:buNone/>
                      </a:pPr>
                      <a:r>
                        <a:rPr lang="el-GR" sz="1050" b="0" i="0" u="none" strike="noStrike" noProof="0">
                          <a:solidFill>
                            <a:srgbClr val="1B4528"/>
                          </a:solidFill>
                          <a:effectLst/>
                          <a:latin typeface="Inter"/>
                        </a:rPr>
                        <a:t>{{subsidiary}}</a:t>
                      </a:r>
                      <a:endParaRPr lang="el-GR" sz="105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r">
                        <a:buNone/>
                      </a:pPr>
                      <a:r>
                        <a:rPr lang="el-GR" sz="1050" b="0" i="0" u="none" strike="noStrike" noProof="0">
                          <a:solidFill>
                            <a:srgbClr val="1B4528"/>
                          </a:solidFill>
                          <a:effectLst/>
                          <a:latin typeface="Inter"/>
                        </a:rPr>
                        <a:t>{{subsidiary_address}}</a:t>
                      </a:r>
                      <a:endParaRPr lang="el-GR" sz="105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a:xfrm>
            <a:off x="8050571" y="7202406"/>
            <a:ext cx="2405700" cy="134955"/>
          </a:xfrm>
        </p:spPr>
        <p:txBody>
          <a:bodyPr/>
          <a:lstStyle/>
          <a:p>
            <a:fld id="{5A0D23CF-C5A3-5445-819D-C647D180BB4B}" type="slidenum">
              <a:rPr lang="el-GR" noProof="0" smtClean="0"/>
              <a:pPr/>
              <a:t>3</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a:xfrm>
            <a:off x="7261741" y="197293"/>
            <a:ext cx="3194529" cy="134955"/>
          </a:xfrm>
        </p:spPr>
        <p:txBody>
          <a:bodyPr/>
          <a:lstStyle/>
          <a:p>
            <a:r>
              <a:rPr lang="el-GR" noProof="0"/>
              <a:t>{{</a:t>
            </a:r>
            <a:r>
              <a:rPr lang="el-GR" noProof="0"/>
              <a:t>company_name</a:t>
            </a:r>
            <a:r>
              <a:rPr lang="el-GR" noProof="0"/>
              <a:t>}}</a:t>
            </a:r>
            <a:endParaRPr lang="el-GR" b="0" noProof="0"/>
          </a:p>
          <a:p>
            <a:br>
              <a:rPr lang="el-GR" noProof="0"/>
            </a:br>
            <a:endParaRPr lang="el-GR" noProof="0"/>
          </a:p>
        </p:txBody>
      </p:sp>
      <p:graphicFrame>
        <p:nvGraphicFramePr>
          <p:cNvPr id="2" name="Table 12">
            <a:extLst>
              <a:ext uri="{FF2B5EF4-FFF2-40B4-BE49-F238E27FC236}">
                <a16:creationId xmlns:a16="http://schemas.microsoft.com/office/drawing/2014/main" id="{AA61E98C-E974-CA6B-E7E0-7ED257077648}"/>
              </a:ext>
            </a:extLst>
          </p:cNvPr>
          <p:cNvGraphicFramePr>
            <a:graphicFrameLocks noGrp="1"/>
          </p:cNvGraphicFramePr>
          <p:nvPr>
            <p:extLst>
              <p:ext uri="{D42A27DB-BD31-4B8C-83A1-F6EECF244321}">
                <p14:modId xmlns:p14="http://schemas.microsoft.com/office/powerpoint/2010/main" val="3344848158"/>
              </p:ext>
            </p:extLst>
          </p:nvPr>
        </p:nvGraphicFramePr>
        <p:xfrm>
          <a:off x="454795" y="3395154"/>
          <a:ext cx="6449555" cy="996421"/>
        </p:xfrm>
        <a:graphic>
          <a:graphicData uri="http://schemas.openxmlformats.org/drawingml/2006/table">
            <a:tbl>
              <a:tblPr firstRow="1">
                <a:tableStyleId>{2A488322-F2BA-4B5B-9748-0D474271808F}</a:tableStyleId>
              </a:tblPr>
              <a:tblGrid>
                <a:gridCol w="5432324">
                  <a:extLst>
                    <a:ext uri="{9D8B030D-6E8A-4147-A177-3AD203B41FA5}">
                      <a16:colId xmlns:a16="http://schemas.microsoft.com/office/drawing/2014/main" val="2698153288"/>
                    </a:ext>
                  </a:extLst>
                </a:gridCol>
                <a:gridCol w="1017231">
                  <a:extLst>
                    <a:ext uri="{9D8B030D-6E8A-4147-A177-3AD203B41FA5}">
                      <a16:colId xmlns:a16="http://schemas.microsoft.com/office/drawing/2014/main" val="2119413191"/>
                    </a:ext>
                  </a:extLst>
                </a:gridCol>
              </a:tblGrid>
              <a:tr h="237678">
                <a:tc gridSpan="2">
                  <a:txBody>
                    <a:bodyPr/>
                    <a:lstStyle/>
                    <a:p>
                      <a:r>
                        <a:rPr lang="el-GR" sz="1050" b="1" noProof="0">
                          <a:solidFill>
                            <a:schemeClr val="tx2"/>
                          </a:solidFill>
                        </a:rPr>
                        <a:t xml:space="preserve">Ατομική ή ενοποιημένη αναφορά</a:t>
                      </a:r>
                      <a:r>
                        <a:rPr lang="el-GR" sz="1050" b="0" noProof="0">
                          <a:solidFill>
                            <a:schemeClr val="tx2"/>
                          </a:solidFill>
                        </a:rPr>
                        <a:t xml:space="preserve"> (παρ. 27c)</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775"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565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050" b="0" kern="1200" spc="-10" noProof="0">
                          <a:solidFill>
                            <a:schemeClr val="tx2"/>
                          </a:solidFill>
                          <a:latin typeface="+mn-lt"/>
                          <a:ea typeface="+mn-ea"/>
                          <a:cs typeface="+mn-cs"/>
                        </a:rPr>
                        <a:t xml:space="preserve">Η έκθεση καταρτίστηκε σε </a:t>
                      </a:r>
                      <a:r>
                        <a:rPr lang="el-GR" sz="1050" b="1" kern="1200" spc="-10" noProof="0">
                          <a:solidFill>
                            <a:schemeClr val="tx2"/>
                          </a:solidFill>
                          <a:latin typeface="+mn-lt"/>
                          <a:ea typeface="+mn-ea"/>
                          <a:cs typeface="+mn-cs"/>
                        </a:rPr>
                        <a:t xml:space="preserve">ατομική βάση </a:t>
                      </a:r>
                      <a:r>
                        <a:rPr lang="el-GR" sz="1050" b="0" kern="1200" spc="-10" noProof="0">
                          <a:solidFill>
                            <a:schemeClr val="tx2"/>
                          </a:solidFill>
                          <a:latin typeface="+mn-lt"/>
                          <a:ea typeface="+mn-ea"/>
                          <a:cs typeface="+mn-cs"/>
                        </a:rPr>
                        <a:t xml:space="preserve">(δηλ. δεν καλύπτει θυγατρικές)</a:t>
                      </a:r>
                      <a:endParaRPr lang="el-G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yes_subsidiary</a:t>
                      </a:r>
                      <a:r>
                        <a:rPr lang="el-GR" sz="1050" b="0" i="0" u="none" strike="noStrike" noProof="0">
                          <a:solidFill>
                            <a:srgbClr val="1B4528"/>
                          </a:solidFill>
                          <a:effectLst/>
                          <a:latin typeface="Inter"/>
                        </a:rPr>
                        <a:t>?}}</a:t>
                      </a:r>
                      <a:endParaRPr lang="el-GR" sz="105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4022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050" b="0" kern="1200" spc="-10" noProof="0">
                          <a:solidFill>
                            <a:schemeClr val="tx2"/>
                          </a:solidFill>
                          <a:latin typeface="+mn-lt"/>
                          <a:ea typeface="+mn-ea"/>
                          <a:cs typeface="+mn-cs"/>
                        </a:rPr>
                        <a:t xml:space="preserve">Η έκθεση καταρτίστηκε σε </a:t>
                      </a:r>
                      <a:r>
                        <a:rPr lang="el-GR" sz="1050" b="1" kern="1200" spc="-10" noProof="0">
                          <a:solidFill>
                            <a:schemeClr val="tx2"/>
                          </a:solidFill>
                          <a:latin typeface="+mn-lt"/>
                          <a:ea typeface="+mn-ea"/>
                          <a:cs typeface="+mn-cs"/>
                        </a:rPr>
                        <a:t xml:space="preserve">ενοποιημένη βάση </a:t>
                      </a:r>
                      <a:r>
                        <a:rPr lang="el-GR" sz="1050" b="0" kern="1200" spc="-10" noProof="0">
                          <a:solidFill>
                            <a:schemeClr val="tx2"/>
                          </a:solidFill>
                          <a:latin typeface="+mn-lt"/>
                          <a:ea typeface="+mn-ea"/>
                          <a:cs typeface="+mn-cs"/>
                        </a:rPr>
                        <a:t xml:space="preserve">(δηλ. περιλαμβάνει τις θυγατρικές της επιχείρησης) </a:t>
                      </a:r>
                      <a:endParaRPr lang="el-G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no_subsidiary</a:t>
                      </a:r>
                      <a:r>
                        <a:rPr lang="el-GR" sz="1050" b="0" i="0" u="none" strike="noStrike" noProof="0">
                          <a:solidFill>
                            <a:srgbClr val="1B4528"/>
                          </a:solidFill>
                          <a:effectLst/>
                          <a:latin typeface="Inter"/>
                        </a:rPr>
                        <a:t>?}}</a:t>
                      </a:r>
                      <a:endParaRPr lang="el-GR" sz="105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graphicFrame>
        <p:nvGraphicFramePr>
          <p:cNvPr id="8" name="Table 12">
            <a:extLst>
              <a:ext uri="{FF2B5EF4-FFF2-40B4-BE49-F238E27FC236}">
                <a16:creationId xmlns:a16="http://schemas.microsoft.com/office/drawing/2014/main" id="{C0F79360-A773-09D0-5119-A3FDBC3F6D97}"/>
              </a:ext>
            </a:extLst>
          </p:cNvPr>
          <p:cNvGraphicFramePr>
            <a:graphicFrameLocks noGrp="1"/>
          </p:cNvGraphicFramePr>
          <p:nvPr>
            <p:extLst>
              <p:ext uri="{D42A27DB-BD31-4B8C-83A1-F6EECF244321}">
                <p14:modId xmlns:p14="http://schemas.microsoft.com/office/powerpoint/2010/main" val="1534085072"/>
              </p:ext>
            </p:extLst>
          </p:nvPr>
        </p:nvGraphicFramePr>
        <p:xfrm>
          <a:off x="454796" y="2003380"/>
          <a:ext cx="6449555" cy="1167535"/>
        </p:xfrm>
        <a:graphic>
          <a:graphicData uri="http://schemas.openxmlformats.org/drawingml/2006/table">
            <a:tbl>
              <a:tblPr firstRow="1">
                <a:tableStyleId>{2A488322-F2BA-4B5B-9748-0D474271808F}</a:tableStyleId>
              </a:tblPr>
              <a:tblGrid>
                <a:gridCol w="5442103">
                  <a:extLst>
                    <a:ext uri="{9D8B030D-6E8A-4147-A177-3AD203B41FA5}">
                      <a16:colId xmlns:a16="http://schemas.microsoft.com/office/drawing/2014/main" val="2698153288"/>
                    </a:ext>
                  </a:extLst>
                </a:gridCol>
                <a:gridCol w="1007453">
                  <a:extLst>
                    <a:ext uri="{9D8B030D-6E8A-4147-A177-3AD203B41FA5}">
                      <a16:colId xmlns:a16="http://schemas.microsoft.com/office/drawing/2014/main" val="2119413191"/>
                    </a:ext>
                  </a:extLst>
                </a:gridCol>
              </a:tblGrid>
              <a:tr h="343061">
                <a:tc gridSpan="2">
                  <a:txBody>
                    <a:bodyPr/>
                    <a:lstStyle/>
                    <a:p>
                      <a:r>
                        <a:rPr lang="el-GR" sz="1050" b="1" kern="1200" spc="-10" noProof="0">
                          <a:solidFill>
                            <a:schemeClr val="tx2"/>
                          </a:solidFill>
                          <a:latin typeface="+mn-lt"/>
                          <a:ea typeface="+mn-ea"/>
                          <a:cs typeface="+mn-cs"/>
                        </a:rPr>
                        <a:t xml:space="preserve">Βασική ενότητα ή Βασική ενότητα +</a:t>
                      </a:r>
                      <a:r>
                        <a:rPr lang="el-GR" sz="1050" b="1" kern="1200" spc="-10" noProof="0">
                          <a:solidFill>
                            <a:schemeClr val="tx2"/>
                          </a:solidFill>
                          <a:latin typeface="+mn-lt"/>
                          <a:ea typeface="+mn-ea"/>
                          <a:cs typeface="+mn-cs"/>
                        </a:rPr>
                        <a:t xml:space="preserve"/>
                      </a:r>
                      <a:r>
                        <a:rPr lang="el-GR" sz="1050" b="1" kern="1200" spc="-10" noProof="0">
                          <a:solidFill>
                            <a:schemeClr val="tx2"/>
                          </a:solidFill>
                          <a:latin typeface="+mn-lt"/>
                          <a:ea typeface="+mn-ea"/>
                          <a:cs typeface="+mn-cs"/>
                        </a:rPr>
                        <a:t xml:space="preserve"/>
                      </a:r>
                      <a:r>
                        <a:rPr lang="el-GR" sz="1050" b="1" kern="1200" spc="-10" noProof="0">
                          <a:solidFill>
                            <a:schemeClr val="tx2"/>
                          </a:solidFill>
                          <a:latin typeface="+mn-lt"/>
                          <a:ea typeface="+mn-ea"/>
                          <a:cs typeface="+mn-cs"/>
                        </a:rPr>
                        <a:t xml:space="preserve"/>
                      </a:r>
                      <a:r>
                        <a:rPr lang="el-GR" sz="1050" b="0" kern="1200" spc="-10" noProof="0">
                          <a:solidFill>
                            <a:schemeClr val="tx2"/>
                          </a:solidFill>
                          <a:latin typeface="+mn-lt"/>
                          <a:ea typeface="+mn-ea"/>
                          <a:cs typeface="+mn-cs"/>
                        </a:rPr>
                        <a:t> </a:t>
                      </a:r>
                      <a:r>
                        <a:rPr lang="el-GR" sz="1050" b="1" kern="1200" spc="-10" noProof="0">
                          <a:solidFill>
                            <a:schemeClr val="tx2"/>
                          </a:solidFill>
                          <a:latin typeface="+mn-lt"/>
                          <a:ea typeface="+mn-ea"/>
                          <a:cs typeface="+mn-cs"/>
                        </a:rPr>
                        <a:t xml:space="preserve">Ολοκληρωμένη ενότητα </a:t>
                      </a:r>
                      <a:r>
                        <a:rPr lang="el-GR" sz="1050" b="0" kern="1200" spc="-10" noProof="0">
                          <a:solidFill>
                            <a:schemeClr val="tx2"/>
                          </a:solidFill>
                          <a:latin typeface="+mn-lt"/>
                          <a:ea typeface="+mn-ea"/>
                          <a:cs typeface="+mn-cs"/>
                        </a:rPr>
                        <a:t xml:space="preserve">(παρ. 27a)</a:t>
                      </a:r>
                      <a:r>
                        <a:rPr lang="el-GR" sz="1050" b="1" kern="1200" spc="-10" noProof="0">
                          <a:solidFill>
                            <a:schemeClr val="tx2"/>
                          </a:solidFill>
                          <a:latin typeface="+mn-lt"/>
                          <a:ea typeface="+mn-ea"/>
                          <a:cs typeface="+mn-cs"/>
                        </a:rPr>
                        <a:t> </a:t>
                      </a:r>
                      <a:endParaRPr lang="el-G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775"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585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050" b="0" kern="1200" spc="-10" noProof="0">
                          <a:solidFill>
                            <a:schemeClr val="tx2"/>
                          </a:solidFill>
                          <a:latin typeface="+mn-lt"/>
                          <a:ea typeface="+mn-ea"/>
                          <a:cs typeface="+mn-cs"/>
                        </a:rPr>
                        <a:t xml:space="preserve">Η έκθεση βασίζεται στη </a:t>
                      </a:r>
                      <a:r>
                        <a:rPr lang="el-GR" sz="1050" b="1" kern="1200" spc="-10" noProof="0">
                          <a:solidFill>
                            <a:schemeClr val="tx2"/>
                          </a:solidFill>
                          <a:latin typeface="+mn-lt"/>
                          <a:ea typeface="+mn-ea"/>
                          <a:cs typeface="+mn-cs"/>
                        </a:rPr>
                        <a:t xml:space="preserve">Βασική ενότητα</a:t>
                      </a:r>
                      <a:r>
                        <a:rPr lang="el-GR" sz="1050" b="0" kern="1200" spc="-10" noProof="0">
                          <a:solidFill>
                            <a:schemeClr val="tx2"/>
                          </a:solidFill>
                          <a:latin typeface="+mn-lt"/>
                          <a:ea typeface="+mn-ea"/>
                          <a:cs typeface="+mn-cs"/>
                        </a:rPr>
                        <a:t xml:space="preserve"> του προαιρετικού προτύπου για τις ΜμΕ </a:t>
                      </a:r>
                      <a:endParaRPr lang="el-G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basic_module</a:t>
                      </a:r>
                      <a:r>
                        <a:rPr lang="el-GR" sz="1050" b="0" i="0" u="none" strike="noStrike" noProof="0">
                          <a:solidFill>
                            <a:srgbClr val="1B4528"/>
                          </a:solidFill>
                          <a:effectLst/>
                          <a:latin typeface="Inter"/>
                        </a:rPr>
                        <a:t>?}}</a:t>
                      </a:r>
                      <a:endParaRPr lang="el-GR" sz="105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4659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050" b="0" kern="1200" spc="-10" noProof="0">
                          <a:solidFill>
                            <a:schemeClr val="tx2"/>
                          </a:solidFill>
                          <a:latin typeface="+mn-lt"/>
                          <a:ea typeface="+mn-ea"/>
                          <a:cs typeface="+mn-cs"/>
                        </a:rPr>
                        <a:t xml:space="preserve">Η έκθεση βασίζεται στη </a:t>
                      </a:r>
                      <a:r>
                        <a:rPr lang="el-GR" sz="1050" b="1" kern="1200" spc="-10" noProof="0">
                          <a:solidFill>
                            <a:schemeClr val="tx2"/>
                          </a:solidFill>
                          <a:latin typeface="+mn-lt"/>
                          <a:ea typeface="+mn-ea"/>
                          <a:cs typeface="+mn-cs"/>
                        </a:rPr>
                        <a:t xml:space="preserve">Βασική ενότητα</a:t>
                      </a:r>
                      <a:r>
                        <a:rPr lang="el-GR" sz="1050" b="0" kern="1200" spc="-10" noProof="0">
                          <a:solidFill>
                            <a:schemeClr val="tx2"/>
                          </a:solidFill>
                          <a:latin typeface="+mn-lt"/>
                          <a:ea typeface="+mn-ea"/>
                          <a:cs typeface="+mn-cs"/>
                        </a:rPr>
                        <a:t xml:space="preserve"> και την </a:t>
                      </a:r>
                      <a:r>
                        <a:rPr lang="el-GR" sz="1050" b="1" kern="1200" spc="-10" noProof="0">
                          <a:solidFill>
                            <a:schemeClr val="tx2"/>
                          </a:solidFill>
                          <a:latin typeface="+mn-lt"/>
                          <a:ea typeface="+mn-ea"/>
                          <a:cs typeface="+mn-cs"/>
                        </a:rPr>
                        <a:t xml:space="preserve">Ολοκληρωμένη ενότητα </a:t>
                      </a:r>
                      <a:r>
                        <a:rPr lang="el-GR" sz="1050" b="0" kern="1200" spc="-10" noProof="0">
                          <a:solidFill>
                            <a:schemeClr val="tx2"/>
                          </a:solidFill>
                          <a:latin typeface="+mn-lt"/>
                          <a:ea typeface="+mn-ea"/>
                          <a:cs typeface="+mn-cs"/>
                        </a:rPr>
                        <a:t xml:space="preserve">του προαιρετικού προτύπου για τις ΜμΕ</a:t>
                      </a:r>
                      <a:endParaRPr lang="el-G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comprehensive</a:t>
                      </a:r>
                      <a:r>
                        <a:rPr lang="el-GR" sz="1050" b="0" i="0" u="none" strike="noStrike" noProof="0">
                          <a:solidFill>
                            <a:srgbClr val="1B4528"/>
                          </a:solidFill>
                          <a:effectLst/>
                          <a:latin typeface="Inter"/>
                        </a:rPr>
                        <a:t>?}}</a:t>
                      </a:r>
                      <a:endParaRPr lang="el-GR" sz="105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sp>
        <p:nvSpPr>
          <p:cNvPr id="10" name="Tekstfelt 9">
            <a:extLst>
              <a:ext uri="{FF2B5EF4-FFF2-40B4-BE49-F238E27FC236}">
                <a16:creationId xmlns:a16="http://schemas.microsoft.com/office/drawing/2014/main" id="{08CE8BB8-760E-14A7-E273-1C19DEAB1C88}"/>
              </a:ext>
            </a:extLst>
          </p:cNvPr>
          <p:cNvSpPr txBox="1"/>
          <p:nvPr/>
        </p:nvSpPr>
        <p:spPr>
          <a:xfrm>
            <a:off x="445500" y="891000"/>
            <a:ext cx="9791704" cy="890704"/>
          </a:xfrm>
          <a:prstGeom prst="rect">
            <a:avLst/>
          </a:prstGeom>
          <a:noFill/>
        </p:spPr>
        <p:txBody>
          <a:bodyPr wrap="square">
            <a:spAutoFit/>
          </a:bodyPr>
          <a:lstStyle/>
          <a:p>
            <a:pPr rtl="0">
              <a:buNone/>
            </a:pPr>
            <a:r>
              <a:rPr lang="el-GR" sz="1050" b="0" i="0" u="none" strike="noStrike" noProof="0">
                <a:solidFill>
                  <a:schemeClr val="tx2"/>
                </a:solidFill>
                <a:effectLst/>
                <a:latin typeface="Inter"/>
              </a:rPr>
              <a:t xml:space="preserve">Η επιχείρηση κατάρτισε την έκθεση βιωσιμότητας βάσει του προτύπου VSME, το οποίο ακολουθεί δομημένη προσέγγιση ώστε οι απαιτούμενες πληροφορίες να αναφέρονται τυποποιημένα και με διαφάνεια. Η έκθεση αντικατοπτρίζει τις ενότητες βιωσιμότητας που επέλεξε και καλύπτει η επιχείρηση. Αναφέρεται επίσης εάν η έκθεση καταρτίζεται σε ατομική βάση (μόνο ίδια στοιχεία) ή σε ενοποιημένη βάση. Η ενότητα αυτή περιέχει βασικές πληροφορίες για την επιχείρηση, π.χ. τη νομική μορφή, τους κωδικούς NACE, το σύνολο ισολογισμού και τον κύκλο εργασιών, τον αριθμό εργαζομένων, καθώς και τη χώρα κύριας δραστηριότητας και τη θέση άλλων σημαντικών στοιχείων ενεργητικού.</a:t>
            </a:r>
            <a:endParaRPr lang="el-GR" sz="1050" b="0" noProof="0">
              <a:solidFill>
                <a:schemeClr val="tx2"/>
              </a:solidFill>
              <a:effectLst/>
            </a:endParaRPr>
          </a:p>
        </p:txBody>
      </p:sp>
      <p:graphicFrame>
        <p:nvGraphicFramePr>
          <p:cNvPr id="13" name="Table 2">
            <a:extLst>
              <a:ext uri="{FF2B5EF4-FFF2-40B4-BE49-F238E27FC236}">
                <a16:creationId xmlns:a16="http://schemas.microsoft.com/office/drawing/2014/main" id="{34E7B75C-B2E3-1B8A-2080-FEF363E738AC}"/>
              </a:ext>
            </a:extLst>
          </p:cNvPr>
          <p:cNvGraphicFramePr>
            <a:graphicFrameLocks noGrp="1"/>
          </p:cNvGraphicFramePr>
          <p:nvPr>
            <p:extLst>
              <p:ext uri="{D42A27DB-BD31-4B8C-83A1-F6EECF244321}">
                <p14:modId xmlns:p14="http://schemas.microsoft.com/office/powerpoint/2010/main" val="1997386540"/>
              </p:ext>
            </p:extLst>
          </p:nvPr>
        </p:nvGraphicFramePr>
        <p:xfrm>
          <a:off x="7164197" y="3389646"/>
          <a:ext cx="3073007" cy="2165876"/>
        </p:xfrm>
        <a:graphic>
          <a:graphicData uri="http://schemas.openxmlformats.org/drawingml/2006/table">
            <a:tbl>
              <a:tblPr firstRow="1">
                <a:tableStyleId>{2A488322-F2BA-4B5B-9748-0D474271808F}</a:tableStyleId>
              </a:tblPr>
              <a:tblGrid>
                <a:gridCol w="1421044">
                  <a:extLst>
                    <a:ext uri="{9D8B030D-6E8A-4147-A177-3AD203B41FA5}">
                      <a16:colId xmlns:a16="http://schemas.microsoft.com/office/drawing/2014/main" val="1902117154"/>
                    </a:ext>
                  </a:extLst>
                </a:gridCol>
                <a:gridCol w="1651963">
                  <a:extLst>
                    <a:ext uri="{9D8B030D-6E8A-4147-A177-3AD203B41FA5}">
                      <a16:colId xmlns:a16="http://schemas.microsoft.com/office/drawing/2014/main" val="1904521774"/>
                    </a:ext>
                  </a:extLst>
                </a:gridCol>
              </a:tblGrid>
              <a:tr h="400573">
                <a:tc gridSpan="2">
                  <a:txBody>
                    <a:bodyPr/>
                    <a:lstStyle/>
                    <a:p>
                      <a:pPr algn="l"/>
                      <a:r>
                        <a:rPr lang="el-GR" sz="1050" b="1" kern="1200" spc="-10" noProof="0">
                          <a:solidFill>
                            <a:schemeClr val="tx2"/>
                          </a:solidFill>
                          <a:latin typeface="+mn-lt"/>
                          <a:ea typeface="+mn-ea"/>
                          <a:cs typeface="+mn-cs"/>
                        </a:rPr>
                        <a:t xml:space="preserve">Βασικές πληροφορίες για την επιχείρηση</a:t>
                      </a:r>
                      <a:r>
                        <a:rPr lang="el-GR" sz="1050" b="0" kern="1200" spc="-10" noProof="0">
                          <a:solidFill>
                            <a:schemeClr val="tx2"/>
                          </a:solidFill>
                          <a:latin typeface="+mn-lt"/>
                          <a:ea typeface="+mn-ea"/>
                          <a:cs typeface="+mn-cs"/>
                        </a:rPr>
                        <a:t xml:space="preserve"> (παρ. 27e, i-v)</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373187">
                <a:tc>
                  <a:txBody>
                    <a:bodyPr/>
                    <a:lstStyle/>
                    <a:p>
                      <a:pPr algn="l"/>
                      <a:r>
                        <a:rPr lang="el-GR" sz="1050" b="1" kern="1200" spc="-10" noProof="0">
                          <a:solidFill>
                            <a:schemeClr val="tx2"/>
                          </a:solidFill>
                          <a:latin typeface="+mn-lt"/>
                          <a:ea typeface="+mn-ea"/>
                          <a:cs typeface="+mn-cs"/>
                        </a:rPr>
                        <a:t xml:space="preserve">Νομική μορφή</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el-GR" sz="1050" b="0" i="0" u="none" strike="noStrike" noProof="0">
                          <a:solidFill>
                            <a:srgbClr val="1B4528"/>
                          </a:solidFill>
                          <a:effectLst/>
                          <a:latin typeface="Inter"/>
                        </a:rPr>
                        <a:t>{{branchekode}}</a:t>
                      </a:r>
                      <a:endParaRPr lang="el-GR" sz="1050" b="0" noProof="0">
                        <a:effectLst/>
                      </a:endParaRPr>
                    </a:p>
                  </a:txBody>
                  <a:tcPr marL="33412" marR="33412" marT="22275" marB="22275">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823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050" b="1" kern="1200" spc="-10" noProof="0">
                          <a:solidFill>
                            <a:schemeClr val="tx2"/>
                          </a:solidFill>
                          <a:latin typeface="+mn-lt"/>
                          <a:ea typeface="+mn-ea"/>
                          <a:cs typeface="+mn-cs"/>
                        </a:rPr>
                        <a:t xml:space="preserve">Κωδικοί NACE</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el-GR" sz="1050" b="0" i="0" u="none" strike="noStrike" noProof="0">
                          <a:solidFill>
                            <a:srgbClr val="1B4528"/>
                          </a:solidFill>
                          <a:effectLst/>
                          <a:latin typeface="Inter"/>
                        </a:rPr>
                        <a:t>{{NACE}}</a:t>
                      </a:r>
                      <a:endParaRPr lang="el-GR" sz="1050" noProof="0">
                        <a:effectLst/>
                      </a:endParaRPr>
                    </a:p>
                  </a:txBody>
                  <a:tcPr marL="33412" marR="33412" marT="22275" marB="22275">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37318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050" b="1" kern="1200" spc="-10" noProof="0">
                          <a:solidFill>
                            <a:schemeClr val="tx2"/>
                          </a:solidFill>
                          <a:latin typeface="+mn-lt"/>
                          <a:ea typeface="+mn-ea"/>
                          <a:cs typeface="+mn-cs"/>
                        </a:rPr>
                        <a:t xml:space="preserve">Ισολογισμός (EUR)</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el-GR" sz="1050" b="0" i="0" u="none" strike="noStrike" noProof="0">
                          <a:solidFill>
                            <a:srgbClr val="1B4528"/>
                          </a:solidFill>
                          <a:effectLst/>
                          <a:latin typeface="Inter"/>
                        </a:rPr>
                        <a:t>{{balance}}</a:t>
                      </a:r>
                      <a:endParaRPr lang="el-GR" sz="1050" noProof="0">
                        <a:effectLst/>
                      </a:endParaRPr>
                    </a:p>
                  </a:txBody>
                  <a:tcPr marL="33412" marR="33412" marT="22275" marB="22275">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400573">
                <a:tc>
                  <a:txBody>
                    <a:bodyPr/>
                    <a:lstStyle/>
                    <a:p>
                      <a:pPr algn="l"/>
                      <a:r>
                        <a:rPr lang="el-GR" sz="1050" b="1" kern="1200" spc="-10" noProof="0">
                          <a:solidFill>
                            <a:schemeClr val="tx2"/>
                          </a:solidFill>
                          <a:latin typeface="+mn-lt"/>
                          <a:ea typeface="+mn-ea"/>
                          <a:cs typeface="+mn-cs"/>
                        </a:rPr>
                        <a:t xml:space="preserve">Κύκλος εργασιών (EUR)</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el-GR" sz="1050" b="0" i="0" u="none" strike="noStrike" noProof="0">
                          <a:solidFill>
                            <a:srgbClr val="1B4528"/>
                          </a:solidFill>
                          <a:effectLst/>
                          <a:latin typeface="Inter"/>
                        </a:rPr>
                        <a:t>{{revenue}}</a:t>
                      </a:r>
                      <a:endParaRPr lang="el-GR" sz="1050" noProof="0">
                        <a:effectLst/>
                      </a:endParaRPr>
                    </a:p>
                  </a:txBody>
                  <a:tcPr marL="33412" marR="33412" marT="22275" marB="22275">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75682954"/>
                  </a:ext>
                </a:extLst>
              </a:tr>
              <a:tr h="236027">
                <a:tc>
                  <a:txBody>
                    <a:bodyPr/>
                    <a:lstStyle/>
                    <a:p>
                      <a:pPr algn="l"/>
                      <a:r>
                        <a:rPr lang="el-GR" sz="1050" b="1" kern="1200" spc="-10" noProof="0">
                          <a:solidFill>
                            <a:schemeClr val="tx2"/>
                          </a:solidFill>
                          <a:latin typeface="+mn-lt"/>
                          <a:ea typeface="+mn-ea"/>
                          <a:cs typeface="+mn-cs"/>
                        </a:rPr>
                        <a:t xml:space="preserve">Εργαζόμενοι </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el-GR" sz="1050" b="0" i="0" u="none" strike="noStrike" noProof="0">
                          <a:solidFill>
                            <a:srgbClr val="1B4528"/>
                          </a:solidFill>
                          <a:effectLst/>
                          <a:latin typeface="Inter"/>
                        </a:rPr>
                        <a:t>{{total_employees}}</a:t>
                      </a:r>
                      <a:endParaRPr lang="el-GR" sz="1050" noProof="0">
                        <a:effectLst/>
                      </a:endParaRPr>
                    </a:p>
                  </a:txBody>
                  <a:tcPr marL="33412" marR="33412" marT="22275" marB="22275">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78571433"/>
                  </a:ext>
                </a:extLst>
              </a:tr>
            </a:tbl>
          </a:graphicData>
        </a:graphic>
      </p:graphicFrame>
      <p:graphicFrame>
        <p:nvGraphicFramePr>
          <p:cNvPr id="17" name="Tabel 16">
            <a:extLst>
              <a:ext uri="{FF2B5EF4-FFF2-40B4-BE49-F238E27FC236}">
                <a16:creationId xmlns:a16="http://schemas.microsoft.com/office/drawing/2014/main" id="{13BBF8C9-04F7-33C5-AAA0-F953F0D5DFD7}"/>
              </a:ext>
            </a:extLst>
          </p:cNvPr>
          <p:cNvGraphicFramePr>
            <a:graphicFrameLocks noGrp="1"/>
          </p:cNvGraphicFramePr>
          <p:nvPr>
            <p:extLst>
              <p:ext uri="{D42A27DB-BD31-4B8C-83A1-F6EECF244321}">
                <p14:modId xmlns:p14="http://schemas.microsoft.com/office/powerpoint/2010/main" val="1169491624"/>
              </p:ext>
            </p:extLst>
          </p:nvPr>
        </p:nvGraphicFramePr>
        <p:xfrm>
          <a:off x="7164197" y="2005523"/>
          <a:ext cx="3073007" cy="1269582"/>
        </p:xfrm>
        <a:graphic>
          <a:graphicData uri="http://schemas.openxmlformats.org/drawingml/2006/table">
            <a:tbl>
              <a:tblPr firstRow="1">
                <a:tableStyleId>{2A488322-F2BA-4B5B-9748-0D474271808F}</a:tableStyleId>
              </a:tblPr>
              <a:tblGrid>
                <a:gridCol w="1421044">
                  <a:extLst>
                    <a:ext uri="{9D8B030D-6E8A-4147-A177-3AD203B41FA5}">
                      <a16:colId xmlns:a16="http://schemas.microsoft.com/office/drawing/2014/main" val="613205895"/>
                    </a:ext>
                  </a:extLst>
                </a:gridCol>
                <a:gridCol w="1651963">
                  <a:extLst>
                    <a:ext uri="{9D8B030D-6E8A-4147-A177-3AD203B41FA5}">
                      <a16:colId xmlns:a16="http://schemas.microsoft.com/office/drawing/2014/main" val="2415866723"/>
                    </a:ext>
                  </a:extLst>
                </a:gridCol>
              </a:tblGrid>
              <a:tr h="539347">
                <a:tc gridSpan="2">
                  <a:txBody>
                    <a:bodyPr/>
                    <a:lstStyle/>
                    <a:p>
                      <a:pPr algn="l"/>
                      <a:r>
                        <a:rPr lang="el-GR" sz="1050" b="1" kern="1200" spc="-10" noProof="0">
                          <a:solidFill>
                            <a:schemeClr val="tx2"/>
                          </a:solidFill>
                          <a:latin typeface="+mn-lt"/>
                          <a:ea typeface="+mn-ea"/>
                          <a:cs typeface="+mn-cs"/>
                        </a:rPr>
                        <a:t xml:space="preserve">Η έκθεση ESG περιέχει παραλείψεις λόγω ευαίσθητων επιχειρηματικών πληροφοριών </a:t>
                      </a:r>
                      <a:r>
                        <a:rPr lang="el-GR" sz="1050" b="0" kern="1200" spc="-10" noProof="0">
                          <a:solidFill>
                            <a:schemeClr val="tx2"/>
                          </a:solidFill>
                          <a:latin typeface="+mn-lt"/>
                          <a:ea typeface="+mn-ea"/>
                          <a:cs typeface="+mn-cs"/>
                        </a:rPr>
                        <a:t xml:space="preserve">(παρ. 27b)</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76069134"/>
                  </a:ext>
                </a:extLst>
              </a:tr>
              <a:tr h="7302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775" b="0" kern="1200" spc="-10" noProof="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l-GR" sz="1050" b="0" kern="1200" spc="-10" noProof="0">
                          <a:solidFill>
                            <a:schemeClr val="tx2"/>
                          </a:solidFill>
                          <a:latin typeface="+mn-lt"/>
                          <a:ea typeface="+mn-ea"/>
                          <a:cs typeface="+mn-cs"/>
                        </a:rPr>
                        <a:t xml:space="preserve">Παραλείφθηκαν οι εξής γνωστοποιήσεις</a:t>
                      </a:r>
                    </a:p>
                    <a:p>
                      <a:pPr algn="l"/>
                      <a:endParaRPr lang="el-GR" sz="775" b="1" kern="1200" spc="-10" noProof="0">
                        <a:solidFill>
                          <a:schemeClr val="tx2"/>
                        </a:solidFill>
                        <a:latin typeface="+mn-lt"/>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a:r>
                        <a:rPr lang="el-GR" sz="1050" noProof="0">
                          <a:solidFill>
                            <a:srgbClr val="1B4528"/>
                          </a:solidFill>
                          <a:latin typeface="+mn-lt"/>
                          <a:cs typeface="Calibri" panose="020F0502020204030204" pitchFamily="34" charset="0"/>
                        </a:rPr>
                        <a:t>{{</a:t>
                      </a:r>
                      <a:r>
                        <a:rPr lang="el-GR" sz="1050" noProof="0">
                          <a:solidFill>
                            <a:srgbClr val="1B4528"/>
                          </a:solidFill>
                          <a:latin typeface="+mn-lt"/>
                          <a:cs typeface="Calibri" panose="020F0502020204030204" pitchFamily="34" charset="0"/>
                        </a:rPr>
                        <a:t>confidentiality_info</a:t>
                      </a:r>
                      <a:r>
                        <a:rPr lang="el-GR" sz="1050" noProof="0">
                          <a:solidFill>
                            <a:srgbClr val="1B4528"/>
                          </a:solidFill>
                          <a:latin typeface="+mn-lt"/>
                          <a:cs typeface="Calibri" panose="020F0502020204030204" pitchFamily="34" charset="0"/>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74898051"/>
                  </a:ext>
                </a:extLst>
              </a:tr>
            </a:tbl>
          </a:graphicData>
        </a:graphic>
      </p:graphicFrame>
    </p:spTree>
    <p:extLst>
      <p:ext uri="{BB962C8B-B14F-4D97-AF65-F5344CB8AC3E}">
        <p14:creationId xmlns:p14="http://schemas.microsoft.com/office/powerpoint/2010/main" val="4169988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54796" y="450698"/>
            <a:ext cx="9791704" cy="218627"/>
          </a:xfrm>
        </p:spPr>
        <p:txBody>
          <a:bodyPr/>
          <a:lstStyle/>
          <a:p>
            <a:r>
              <a:rPr lang="el-GR" noProof="0"/>
              <a:t xml:space="preserve">Βάση κατάρτισης (B1) - συνέχεια</a:t>
            </a:r>
          </a:p>
        </p:txBody>
      </p:sp>
      <p:pic>
        <p:nvPicPr>
          <p:cNvPr id="11" name="Graphic 10">
            <a:extLst>
              <a:ext uri="{FF2B5EF4-FFF2-40B4-BE49-F238E27FC236}">
                <a16:creationId xmlns:a16="http://schemas.microsoft.com/office/drawing/2014/main" id="{EC0A4FD9-CD66-4681-595B-4557A461B42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0364" y="972291"/>
            <a:ext cx="181932" cy="203984"/>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a:xfrm>
            <a:off x="8050571" y="7202406"/>
            <a:ext cx="2405700" cy="134955"/>
          </a:xfrm>
        </p:spPr>
        <p:txBody>
          <a:bodyPr/>
          <a:lstStyle/>
          <a:p>
            <a:fld id="{5A0D23CF-C5A3-5445-819D-C647D180BB4B}" type="slidenum">
              <a:rPr lang="el-GR" noProof="0" smtClean="0"/>
              <a:pPr/>
              <a:t>4</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a:xfrm>
            <a:off x="7261741" y="197293"/>
            <a:ext cx="3194529" cy="134955"/>
          </a:xfrm>
        </p:spPr>
        <p:txBody>
          <a:bodyPr/>
          <a:lstStyle/>
          <a:p>
            <a:r>
              <a:rPr lang="el-GR" noProof="0"/>
              <a:t>{{</a:t>
            </a:r>
            <a:r>
              <a:rPr lang="el-GR" noProof="0"/>
              <a:t>company_name</a:t>
            </a:r>
            <a:r>
              <a:rPr lang="el-GR" noProof="0"/>
              <a:t>}}</a:t>
            </a:r>
            <a:endParaRPr lang="el-GR" b="0" noProof="0"/>
          </a:p>
          <a:p>
            <a:endParaRPr lang="el-GR" noProof="0"/>
          </a:p>
        </p:txBody>
      </p:sp>
      <p:graphicFrame>
        <p:nvGraphicFramePr>
          <p:cNvPr id="2" name="Tabel 1">
            <a:extLst>
              <a:ext uri="{FF2B5EF4-FFF2-40B4-BE49-F238E27FC236}">
                <a16:creationId xmlns:a16="http://schemas.microsoft.com/office/drawing/2014/main" id="{7A907455-9CB7-376B-6B21-2E615B3A35EE}"/>
              </a:ext>
            </a:extLst>
          </p:cNvPr>
          <p:cNvGraphicFramePr>
            <a:graphicFrameLocks noGrp="1"/>
          </p:cNvGraphicFramePr>
          <p:nvPr>
            <p:extLst>
              <p:ext uri="{D42A27DB-BD31-4B8C-83A1-F6EECF244321}">
                <p14:modId xmlns:p14="http://schemas.microsoft.com/office/powerpoint/2010/main" val="748584387"/>
              </p:ext>
            </p:extLst>
          </p:nvPr>
        </p:nvGraphicFramePr>
        <p:xfrm>
          <a:off x="452474" y="4486588"/>
          <a:ext cx="9820006" cy="738074"/>
        </p:xfrm>
        <a:graphic>
          <a:graphicData uri="http://schemas.openxmlformats.org/drawingml/2006/table">
            <a:tbl>
              <a:tblPr firstRow="1">
                <a:tableStyleId>{2A488322-F2BA-4B5B-9748-0D474271808F}</a:tableStyleId>
              </a:tblPr>
              <a:tblGrid>
                <a:gridCol w="3375900">
                  <a:extLst>
                    <a:ext uri="{9D8B030D-6E8A-4147-A177-3AD203B41FA5}">
                      <a16:colId xmlns:a16="http://schemas.microsoft.com/office/drawing/2014/main" val="3746818765"/>
                    </a:ext>
                  </a:extLst>
                </a:gridCol>
                <a:gridCol w="3240094">
                  <a:extLst>
                    <a:ext uri="{9D8B030D-6E8A-4147-A177-3AD203B41FA5}">
                      <a16:colId xmlns:a16="http://schemas.microsoft.com/office/drawing/2014/main" val="465692987"/>
                    </a:ext>
                  </a:extLst>
                </a:gridCol>
                <a:gridCol w="1709097">
                  <a:extLst>
                    <a:ext uri="{9D8B030D-6E8A-4147-A177-3AD203B41FA5}">
                      <a16:colId xmlns:a16="http://schemas.microsoft.com/office/drawing/2014/main" val="857047578"/>
                    </a:ext>
                  </a:extLst>
                </a:gridCol>
                <a:gridCol w="1494915">
                  <a:extLst>
                    <a:ext uri="{9D8B030D-6E8A-4147-A177-3AD203B41FA5}">
                      <a16:colId xmlns:a16="http://schemas.microsoft.com/office/drawing/2014/main" val="1742107540"/>
                    </a:ext>
                  </a:extLst>
                </a:gridCol>
              </a:tblGrid>
              <a:tr h="220996">
                <a:tc>
                  <a:txBody>
                    <a:bodyPr/>
                    <a:lstStyle/>
                    <a:p>
                      <a:r>
                        <a:rPr lang="el-GR" sz="1050" b="1" kern="1200" spc="-10" noProof="0">
                          <a:solidFill>
                            <a:schemeClr val="tx2"/>
                          </a:solidFill>
                          <a:latin typeface="+mn-lt"/>
                          <a:ea typeface="+mn-ea"/>
                          <a:cs typeface="+mn-cs"/>
                        </a:rPr>
                        <a:t xml:space="preserve">Ονομασία πιστοποιητικού ESG/οικολογικού σήματος </a:t>
                      </a:r>
                      <a:r>
                        <a:rPr lang="el-GR" sz="1050" b="0" kern="1200" spc="-10" noProof="0">
                          <a:solidFill>
                            <a:schemeClr val="tx2"/>
                          </a:solidFill>
                          <a:latin typeface="+mn-lt"/>
                          <a:ea typeface="+mn-ea"/>
                          <a:cs typeface="+mn-cs"/>
                        </a:rPr>
                        <a:t xml:space="preserve">(παρ. 28)</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l-GR" sz="1050" b="1" kern="1200" spc="-10" noProof="0">
                          <a:solidFill>
                            <a:schemeClr val="tx2"/>
                          </a:solidFill>
                          <a:latin typeface="+mn-lt"/>
                          <a:ea typeface="+mn-ea"/>
                          <a:cs typeface="+mn-cs"/>
                        </a:rPr>
                        <a:t xml:space="preserve">Σύντομη περιγραφή</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l-GR" sz="1050" b="1" kern="1200" spc="-10" noProof="0">
                          <a:solidFill>
                            <a:schemeClr val="tx2"/>
                          </a:solidFill>
                          <a:latin typeface="+mn-lt"/>
                          <a:ea typeface="+mn-ea"/>
                          <a:cs typeface="+mn-cs"/>
                        </a:rPr>
                        <a:t xml:space="preserve">Ημερομηνία έκδοσης/</a:t>
                      </a:r>
                    </a:p>
                    <a:p>
                      <a:pPr algn="l"/>
                      <a:r>
                        <a:rPr lang="el-GR" sz="1050" b="1" kern="1200" spc="-10" noProof="0">
                          <a:solidFill>
                            <a:schemeClr val="tx2"/>
                          </a:solidFill>
                          <a:latin typeface="+mn-lt"/>
                          <a:ea typeface="+mn-ea"/>
                          <a:cs typeface="+mn-cs"/>
                        </a:rPr>
                        <a:t xml:space="preserve">ισχύος</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l-GR" sz="1050" b="1" kern="1200" spc="-10" noProof="0">
                          <a:solidFill>
                            <a:schemeClr val="tx2"/>
                          </a:solidFill>
                          <a:latin typeface="+mn-lt"/>
                          <a:ea typeface="+mn-ea"/>
                          <a:cs typeface="+mn-cs"/>
                        </a:rPr>
                        <a:t xml:space="preserve">Τυχόν βαθμολογία</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613430332"/>
                  </a:ext>
                </a:extLst>
              </a:tr>
              <a:tr h="220996">
                <a:tc>
                  <a:txBody>
                    <a:bodyPr/>
                    <a:lstStyle/>
                    <a:p>
                      <a:pPr rtl="0" fontAlgn="ctr" algn="l">
                        <a:buNone/>
                      </a:pPr>
                      <a:r>
                        <a:rPr lang="el-GR" sz="1050" b="0" i="0" u="none" strike="noStrike" noProof="0">
                          <a:solidFill>
                            <a:srgbClr val="1B4528"/>
                          </a:solidFill>
                          <a:effectLst/>
                          <a:latin typeface="Inter"/>
                        </a:rPr>
                        <a:t>{{certificate_or_ecolabel}}</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l">
                        <a:buNone/>
                      </a:pPr>
                      <a:r>
                        <a:rPr lang="el-GR" sz="1050" b="0" i="0" u="none" strike="noStrike" noProof="0">
                          <a:solidFill>
                            <a:srgbClr val="1B4528"/>
                          </a:solidFill>
                          <a:effectLst/>
                          <a:latin typeface="Inter"/>
                        </a:rPr>
                        <a:t>{{description_certificate}}</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l">
                        <a:buNone/>
                      </a:pPr>
                      <a:r>
                        <a:rPr lang="el-GR" sz="1050" b="0" i="0" u="none" strike="noStrike" noProof="0">
                          <a:solidFill>
                            <a:srgbClr val="1B4528"/>
                          </a:solidFill>
                          <a:effectLst/>
                          <a:latin typeface="Inter"/>
                        </a:rPr>
                        <a:t>{{date_certicate}}</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l">
                        <a:buNone/>
                      </a:pPr>
                      <a:r>
                        <a:rPr lang="el-GR" sz="1050" b="0" i="0" u="none" strike="noStrike" noProof="0">
                          <a:solidFill>
                            <a:srgbClr val="1B4528"/>
                          </a:solidFill>
                          <a:effectLst/>
                          <a:latin typeface="Inter"/>
                        </a:rPr>
                        <a:t>{{certiciate_possible_rating}}</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5006062"/>
                  </a:ext>
                </a:extLst>
              </a:tr>
            </a:tbl>
          </a:graphicData>
        </a:graphic>
      </p:graphicFrame>
      <p:graphicFrame>
        <p:nvGraphicFramePr>
          <p:cNvPr id="10" name="Tabel 9">
            <a:extLst>
              <a:ext uri="{FF2B5EF4-FFF2-40B4-BE49-F238E27FC236}">
                <a16:creationId xmlns:a16="http://schemas.microsoft.com/office/drawing/2014/main" id="{AA9D6142-7148-BA87-D929-D03B1323ACFD}"/>
              </a:ext>
            </a:extLst>
          </p:cNvPr>
          <p:cNvGraphicFramePr>
            <a:graphicFrameLocks noGrp="1"/>
          </p:cNvGraphicFramePr>
          <p:nvPr>
            <p:extLst>
              <p:ext uri="{D42A27DB-BD31-4B8C-83A1-F6EECF244321}">
                <p14:modId xmlns:p14="http://schemas.microsoft.com/office/powerpoint/2010/main" val="2461615557"/>
              </p:ext>
            </p:extLst>
          </p:nvPr>
        </p:nvGraphicFramePr>
        <p:xfrm>
          <a:off x="468741" y="1568148"/>
          <a:ext cx="9770785" cy="1051941"/>
        </p:xfrm>
        <a:graphic>
          <a:graphicData uri="http://schemas.openxmlformats.org/drawingml/2006/table">
            <a:tbl>
              <a:tblPr firstRow="1">
                <a:tableStyleId>{2A488322-F2BA-4B5B-9748-0D474271808F}</a:tableStyleId>
              </a:tblPr>
              <a:tblGrid>
                <a:gridCol w="1780760">
                  <a:extLst>
                    <a:ext uri="{9D8B030D-6E8A-4147-A177-3AD203B41FA5}">
                      <a16:colId xmlns:a16="http://schemas.microsoft.com/office/drawing/2014/main" val="2041236584"/>
                    </a:ext>
                  </a:extLst>
                </a:gridCol>
                <a:gridCol w="1890996">
                  <a:extLst>
                    <a:ext uri="{9D8B030D-6E8A-4147-A177-3AD203B41FA5}">
                      <a16:colId xmlns:a16="http://schemas.microsoft.com/office/drawing/2014/main" val="2637180759"/>
                    </a:ext>
                  </a:extLst>
                </a:gridCol>
                <a:gridCol w="1444903">
                  <a:extLst>
                    <a:ext uri="{9D8B030D-6E8A-4147-A177-3AD203B41FA5}">
                      <a16:colId xmlns:a16="http://schemas.microsoft.com/office/drawing/2014/main" val="1126871569"/>
                    </a:ext>
                  </a:extLst>
                </a:gridCol>
                <a:gridCol w="1412061">
                  <a:extLst>
                    <a:ext uri="{9D8B030D-6E8A-4147-A177-3AD203B41FA5}">
                      <a16:colId xmlns:a16="http://schemas.microsoft.com/office/drawing/2014/main" val="573454477"/>
                    </a:ext>
                  </a:extLst>
                </a:gridCol>
                <a:gridCol w="1565312">
                  <a:extLst>
                    <a:ext uri="{9D8B030D-6E8A-4147-A177-3AD203B41FA5}">
                      <a16:colId xmlns:a16="http://schemas.microsoft.com/office/drawing/2014/main" val="3277283369"/>
                    </a:ext>
                  </a:extLst>
                </a:gridCol>
                <a:gridCol w="1676753">
                  <a:extLst>
                    <a:ext uri="{9D8B030D-6E8A-4147-A177-3AD203B41FA5}">
                      <a16:colId xmlns:a16="http://schemas.microsoft.com/office/drawing/2014/main" val="3975353283"/>
                    </a:ext>
                  </a:extLst>
                </a:gridCol>
              </a:tblGrid>
              <a:tr h="284138">
                <a:tc grid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050" b="1" kern="1200" spc="-10" noProof="0">
                          <a:solidFill>
                            <a:schemeClr val="tx2"/>
                          </a:solidFill>
                          <a:latin typeface="+mn-lt"/>
                          <a:ea typeface="+mn-ea"/>
                          <a:cs typeface="+mn-cs"/>
                        </a:rPr>
                        <a:t xml:space="preserve">Διευθύνσεις και γεωεντοπισμός </a:t>
                      </a:r>
                      <a:r>
                        <a:rPr lang="el-GR" sz="1050" b="1" u="none" kern="1200" spc="-10" noProof="0">
                          <a:solidFill>
                            <a:schemeClr val="tx2"/>
                          </a:solidFill>
                          <a:latin typeface="+mn-lt"/>
                          <a:ea typeface="+mn-ea"/>
                          <a:cs typeface="+mn-cs"/>
                        </a:rPr>
                        <a:t xml:space="preserve">σημαντικών</a:t>
                      </a:r>
                      <a:r>
                        <a:rPr lang="el-GR" sz="1050" b="1" kern="1200" spc="-10" noProof="0">
                          <a:solidFill>
                            <a:schemeClr val="tx2"/>
                          </a:solidFill>
                          <a:latin typeface="+mn-lt"/>
                          <a:ea typeface="+mn-ea"/>
                          <a:cs typeface="+mn-cs"/>
                        </a:rPr>
                        <a:t xml:space="preserve"> στοιχείων ενεργητικού και εγκαταστάσεων που η επιχείρηση</a:t>
                      </a:r>
                      <a:r>
                        <a:rPr lang="el-GR" sz="1050" b="0" kern="1200" spc="-10" noProof="0">
                          <a:solidFill>
                            <a:schemeClr val="tx2"/>
                          </a:solidFill>
                          <a:latin typeface="+mn-lt"/>
                          <a:ea typeface="+mn-ea"/>
                          <a:cs typeface="+mn-cs"/>
                        </a:rPr>
                        <a:t> </a:t>
                      </a:r>
                      <a:r>
                        <a:rPr lang="el-GR" sz="1050" b="1" kern="1200" spc="-10" noProof="0">
                          <a:solidFill>
                            <a:schemeClr val="tx2"/>
                          </a:solidFill>
                          <a:latin typeface="+mn-lt"/>
                          <a:ea typeface="+mn-ea"/>
                          <a:cs typeface="+mn-cs"/>
                        </a:rPr>
                        <a:t xml:space="preserve">κατέχει, μισθώνει ή διαχειρίζεται </a:t>
                      </a:r>
                      <a:r>
                        <a:rPr lang="el-GR" sz="1050" b="0" kern="1200" spc="-10" noProof="0">
                          <a:solidFill>
                            <a:schemeClr val="tx2"/>
                          </a:solidFill>
                          <a:latin typeface="+mn-lt"/>
                          <a:ea typeface="+mn-ea"/>
                          <a:cs typeface="+mn-cs"/>
                        </a:rPr>
                        <a:t xml:space="preserve">(παρ. 27e, vi, vii)</a:t>
                      </a:r>
                    </a:p>
                    <a:p>
                      <a:pPr marL="0" marR="0" lvl="0" indent="0" algn="l" defTabSz="914400" rtl="0" eaLnBrk="1" fontAlgn="auto" latinLnBrk="0" hangingPunct="1">
                        <a:lnSpc>
                          <a:spcPct val="100000"/>
                        </a:lnSpc>
                        <a:spcBef>
                          <a:spcPts val="0"/>
                        </a:spcBef>
                        <a:spcAft>
                          <a:spcPts val="0"/>
                        </a:spcAft>
                        <a:buClrTx/>
                        <a:buSzTx/>
                        <a:buFontTx/>
                        <a:buNone/>
                        <a:tabLst/>
                        <a:defRPr/>
                      </a:pPr>
                      <a:endParaRPr lang="el-GR" sz="1050" b="1" kern="1200" spc="-10" noProof="0">
                        <a:solidFill>
                          <a:schemeClr val="tx2"/>
                        </a:solidFill>
                        <a:latin typeface="+mn-lt"/>
                        <a:ea typeface="+mn-ea"/>
                        <a:cs typeface="+mn-cs"/>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l-GR" sz="775" b="1" kern="1200" spc="-10" noProof="0">
                        <a:solidFill>
                          <a:schemeClr val="tx2"/>
                        </a:solidFill>
                        <a:latin typeface="+mn-lt"/>
                        <a:ea typeface="+mn-ea"/>
                        <a:cs typeface="+mn-cs"/>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l-GR" sz="775" b="1" kern="1200" spc="-10" noProof="0">
                        <a:solidFill>
                          <a:schemeClr val="tx2"/>
                        </a:solidFill>
                        <a:latin typeface="+mn-lt"/>
                        <a:ea typeface="+mn-ea"/>
                        <a:cs typeface="+mn-cs"/>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l-GR" sz="775" b="1" kern="1200" spc="-10" noProof="0">
                        <a:solidFill>
                          <a:schemeClr val="tx2"/>
                        </a:solidFill>
                        <a:latin typeface="+mn-lt"/>
                        <a:ea typeface="+mn-ea"/>
                        <a:cs typeface="+mn-cs"/>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l-GR" sz="775" b="1" kern="1200" spc="-10" noProof="0">
                        <a:solidFill>
                          <a:schemeClr val="tx2"/>
                        </a:solidFill>
                        <a:latin typeface="+mn-lt"/>
                        <a:ea typeface="+mn-ea"/>
                        <a:cs typeface="+mn-cs"/>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l-GR" sz="775" b="1" kern="1200" spc="-10" noProof="0">
                        <a:solidFill>
                          <a:schemeClr val="tx2"/>
                        </a:solidFill>
                        <a:latin typeface="+mn-lt"/>
                        <a:ea typeface="+mn-ea"/>
                        <a:cs typeface="+mn-cs"/>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2108498375"/>
                  </a:ext>
                </a:extLst>
              </a:tr>
              <a:tr h="284138">
                <a:tc>
                  <a:txBody>
                    <a:bodyPr/>
                    <a:lstStyle/>
                    <a:p>
                      <a:pPr algn="l"/>
                      <a:r>
                        <a:rPr lang="el-GR" sz="1050" b="1" kern="1200" spc="-10" noProof="0">
                          <a:solidFill>
                            <a:schemeClr val="tx2"/>
                          </a:solidFill>
                          <a:latin typeface="+mn-lt"/>
                          <a:ea typeface="+mn-ea"/>
                          <a:cs typeface="+mn-cs"/>
                        </a:rPr>
                        <a:t xml:space="preserve">Τοποθεσία</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1050" b="1" kern="1200" spc="-10" noProof="0">
                          <a:solidFill>
                            <a:schemeClr val="tx2"/>
                          </a:solidFill>
                          <a:latin typeface="+mn-lt"/>
                          <a:ea typeface="+mn-ea"/>
                          <a:cs typeface="+mn-cs"/>
                        </a:rPr>
                        <a:t xml:space="preserve">Διεύθυνση</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1050" b="1" kern="1200" spc="-10" noProof="0">
                          <a:solidFill>
                            <a:schemeClr val="tx2"/>
                          </a:solidFill>
                          <a:latin typeface="+mn-lt"/>
                          <a:ea typeface="+mn-ea"/>
                          <a:cs typeface="+mn-cs"/>
                        </a:rPr>
                        <a:t xml:space="preserve">Τ.Κ.</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1050" b="1" kern="1200" spc="-10" noProof="0">
                          <a:solidFill>
                            <a:schemeClr val="tx2"/>
                          </a:solidFill>
                          <a:latin typeface="+mn-lt"/>
                          <a:ea typeface="+mn-ea"/>
                          <a:cs typeface="+mn-cs"/>
                        </a:rPr>
                        <a:t xml:space="preserve">Πόλη</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1050" b="1" kern="1200" spc="-10" noProof="0">
                          <a:solidFill>
                            <a:schemeClr val="tx2"/>
                          </a:solidFill>
                          <a:latin typeface="+mn-lt"/>
                          <a:ea typeface="+mn-ea"/>
                          <a:cs typeface="+mn-cs"/>
                        </a:rPr>
                        <a:t xml:space="preserve">Χώρα</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1050" b="1" kern="1200" spc="-10" noProof="0">
                          <a:solidFill>
                            <a:schemeClr val="tx2"/>
                          </a:solidFill>
                          <a:latin typeface="+mn-lt"/>
                          <a:ea typeface="+mn-ea"/>
                          <a:cs typeface="+mn-cs"/>
                        </a:rPr>
                        <a:t xml:space="preserve">Γεωεντοπισμός (συντεταγμένες)</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282431150"/>
                  </a:ext>
                </a:extLst>
              </a:tr>
              <a:tr h="284138">
                <a:tc>
                  <a:txBody>
                    <a:bodyPr/>
                    <a:lstStyle/>
                    <a:p>
                      <a:pPr rtl="0" fontAlgn="t" algn="l">
                        <a:buNone/>
                      </a:pPr>
                      <a:r>
                        <a:rPr lang="el-GR" sz="1050" b="0" i="0" u="none" strike="noStrike" noProof="0">
                          <a:solidFill>
                            <a:srgbClr val="1B4528"/>
                          </a:solidFill>
                          <a:effectLst/>
                          <a:latin typeface="Inter"/>
                        </a:rPr>
                        <a:t>{{geolocation}}</a:t>
                      </a:r>
                      <a:endParaRPr lang="el-GR" sz="1050" b="0" noProof="0">
                        <a:effectLst/>
                      </a:endParaRPr>
                    </a:p>
                  </a:txBody>
                  <a:tcPr marL="16706" marR="16706" marT="11138" marB="11138">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el-GR" sz="1050" b="0" i="0" u="none" strike="noStrike" noProof="0">
                          <a:solidFill>
                            <a:srgbClr val="1B4528"/>
                          </a:solidFill>
                          <a:effectLst/>
                          <a:latin typeface="Inter"/>
                        </a:rPr>
                        <a:t>{{geolocation_adress}}</a:t>
                      </a:r>
                      <a:endParaRPr lang="el-GR" sz="1050" b="0" noProof="0">
                        <a:effectLst/>
                      </a:endParaRPr>
                    </a:p>
                  </a:txBody>
                  <a:tcPr marL="16706" marR="16706" marT="11138" marB="11138">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el-GR" sz="1050" b="0" i="0" u="none" strike="noStrike" noProof="0">
                          <a:solidFill>
                            <a:srgbClr val="1B4528"/>
                          </a:solidFill>
                          <a:effectLst/>
                          <a:latin typeface="Inter"/>
                        </a:rPr>
                        <a:t>{{geolocation_postcode}}</a:t>
                      </a:r>
                      <a:endParaRPr lang="el-GR" sz="1050" b="0" noProof="0">
                        <a:effectLst/>
                      </a:endParaRPr>
                    </a:p>
                  </a:txBody>
                  <a:tcPr marL="16706" marR="16706" marT="11138" marB="11138">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el-GR" sz="1050" b="0" i="0" u="none" strike="noStrike" noProof="0">
                          <a:solidFill>
                            <a:srgbClr val="1B4528"/>
                          </a:solidFill>
                          <a:effectLst/>
                          <a:latin typeface="Inter"/>
                        </a:rPr>
                        <a:t>{{geolocation_city}}</a:t>
                      </a:r>
                      <a:endParaRPr lang="el-GR" sz="1050" b="0" noProof="0">
                        <a:effectLst/>
                      </a:endParaRPr>
                    </a:p>
                  </a:txBody>
                  <a:tcPr marL="16706" marR="16706" marT="11138" marB="11138">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el-GR" sz="1050" b="0" i="0" u="none" strike="noStrike" noProof="0">
                          <a:solidFill>
                            <a:srgbClr val="1B4528"/>
                          </a:solidFill>
                          <a:effectLst/>
                          <a:latin typeface="Inter"/>
                        </a:rPr>
                        <a:t>{{geolocation_country}}</a:t>
                      </a:r>
                      <a:endParaRPr lang="el-GR" sz="1050" b="0" noProof="0">
                        <a:effectLst/>
                      </a:endParaRPr>
                    </a:p>
                  </a:txBody>
                  <a:tcPr marL="16706" marR="16706" marT="11138" marB="11138">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el-GR" sz="1050" b="0" i="0" u="none" strike="noStrike" noProof="0">
                          <a:solidFill>
                            <a:srgbClr val="1B4528"/>
                          </a:solidFill>
                          <a:effectLst/>
                          <a:latin typeface="Inter"/>
                        </a:rPr>
                        <a:t>{{geolocation_coordinates}}</a:t>
                      </a:r>
                      <a:endParaRPr lang="el-GR" sz="1050" b="0" noProof="0">
                        <a:effectLst/>
                      </a:endParaRPr>
                    </a:p>
                  </a:txBody>
                  <a:tcPr marL="16706" marR="16706" marT="11138" marB="11138">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669926511"/>
                  </a:ext>
                </a:extLst>
              </a:tr>
            </a:tbl>
          </a:graphicData>
        </a:graphic>
      </p:graphicFrame>
      <p:sp>
        <p:nvSpPr>
          <p:cNvPr id="8" name="Tekstfelt 7">
            <a:extLst>
              <a:ext uri="{FF2B5EF4-FFF2-40B4-BE49-F238E27FC236}">
                <a16:creationId xmlns:a16="http://schemas.microsoft.com/office/drawing/2014/main" id="{8424FC7C-5277-3C04-10E3-491713542923}"/>
              </a:ext>
            </a:extLst>
          </p:cNvPr>
          <p:cNvSpPr txBox="1"/>
          <p:nvPr/>
        </p:nvSpPr>
        <p:spPr>
          <a:xfrm>
            <a:off x="452474" y="891000"/>
            <a:ext cx="9794026" cy="566812"/>
          </a:xfrm>
          <a:prstGeom prst="rect">
            <a:avLst/>
          </a:prstGeom>
          <a:noFill/>
        </p:spPr>
        <p:txBody>
          <a:bodyPr wrap="square">
            <a:spAutoFit/>
          </a:bodyPr>
          <a:lstStyle/>
          <a:p>
            <a:pPr>
              <a:spcBef>
                <a:spcPts val="789"/>
              </a:spcBef>
            </a:pPr>
            <a:r>
              <a:rPr lang="el-GR" sz="1050" b="0" i="0" u="none" strike="noStrike" noProof="0">
                <a:solidFill>
                  <a:schemeClr val="tx2"/>
                </a:solidFill>
                <a:effectLst/>
                <a:latin typeface="Inter"/>
              </a:rPr>
              <a:t xml:space="preserve">Κατωτέρω περιγράφονται οι θέσεις της επιχείρησης και οι τόποι όπου δραστηριοποιείται. Τα στοιχεία αυτά μπορούν να χρησιμοποιηθούν για κλιματικές ζώνες κινδύνου και ενημερώνουν για τις εγκαταστάσεις και/ή την έδρα</a:t>
            </a:r>
            <a:r>
              <a:rPr lang="el-GR" sz="1050" noProof="0">
                <a:solidFill>
                  <a:schemeClr val="tx2"/>
                </a:solidFill>
                <a:latin typeface="Inter"/>
              </a:rPr>
              <a:t xml:space="preserve">. Αναφέρονται επίσης οι σχετικές πιστοποιήσεις ή σήματα βιωσιμότητας, με τον φορέα έκδοσης, την ημερομηνία και τυχόν βαθμολογία.</a:t>
            </a:r>
            <a:endParaRPr lang="el-GR" sz="1050" b="0" noProof="0">
              <a:solidFill>
                <a:schemeClr val="tx2"/>
              </a:solidFill>
              <a:effectLst/>
              <a:latin typeface="Inter"/>
            </a:endParaRPr>
          </a:p>
        </p:txBody>
      </p:sp>
      <p:sp>
        <p:nvSpPr>
          <p:cNvPr id="20" name="Tekstfelt 19">
            <a:extLst>
              <a:ext uri="{FF2B5EF4-FFF2-40B4-BE49-F238E27FC236}">
                <a16:creationId xmlns:a16="http://schemas.microsoft.com/office/drawing/2014/main" id="{EE6CA221-E8CE-159D-7634-30A647F356B9}"/>
              </a:ext>
            </a:extLst>
          </p:cNvPr>
          <p:cNvSpPr txBox="1"/>
          <p:nvPr/>
        </p:nvSpPr>
        <p:spPr>
          <a:xfrm>
            <a:off x="452474" y="4181436"/>
            <a:ext cx="7174107" cy="242919"/>
          </a:xfrm>
          <a:prstGeom prst="rect">
            <a:avLst/>
          </a:prstGeom>
          <a:noFill/>
        </p:spPr>
        <p:txBody>
          <a:bodyPr wrap="square">
            <a:spAutoFit/>
          </a:bodyPr>
          <a:lstStyle/>
          <a:p>
            <a:r>
              <a:rPr lang="el-GR" sz="1050" noProof="0">
                <a:solidFill>
                  <a:srgbClr val="487477"/>
                </a:solidFill>
                <a:latin typeface="Inter"/>
              </a:rPr>
              <a:t xml:space="preserve">Τα πιστοποιητικά και τα οικολογικά σήματα της επιχείρησης παρατίθενται κατωτέρω.</a:t>
            </a:r>
          </a:p>
        </p:txBody>
      </p:sp>
    </p:spTree>
    <p:extLst>
      <p:ext uri="{BB962C8B-B14F-4D97-AF65-F5344CB8AC3E}">
        <p14:creationId xmlns:p14="http://schemas.microsoft.com/office/powerpoint/2010/main" val="34395824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54796" y="450698"/>
            <a:ext cx="9791704" cy="218627"/>
          </a:xfrm>
        </p:spPr>
        <p:txBody>
          <a:bodyPr/>
          <a:lstStyle/>
          <a:p>
            <a:r>
              <a:rPr lang="el-GR" noProof="0"/>
              <a:t xml:space="preserve">Πρακτικές, πολιτικές και μελλοντικές πρωτοβουλίες για μετάβαση σε πιο βιώσιμη οικονομία (B2)</a:t>
            </a:r>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endParaRPr lang="el-GR"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877360368"/>
              </p:ext>
            </p:extLst>
          </p:nvPr>
        </p:nvGraphicFramePr>
        <p:xfrm>
          <a:off x="454796" y="1501175"/>
          <a:ext cx="9791705" cy="3360057"/>
        </p:xfrm>
        <a:graphic>
          <a:graphicData uri="http://schemas.openxmlformats.org/drawingml/2006/table">
            <a:tbl>
              <a:tblPr firstRow="1">
                <a:tableStyleId>{2A488322-F2BA-4B5B-9748-0D474271808F}</a:tableStyleId>
              </a:tblPr>
              <a:tblGrid>
                <a:gridCol w="1750429">
                  <a:extLst>
                    <a:ext uri="{9D8B030D-6E8A-4147-A177-3AD203B41FA5}">
                      <a16:colId xmlns:a16="http://schemas.microsoft.com/office/drawing/2014/main" val="1902117154"/>
                    </a:ext>
                  </a:extLst>
                </a:gridCol>
                <a:gridCol w="1848825">
                  <a:extLst>
                    <a:ext uri="{9D8B030D-6E8A-4147-A177-3AD203B41FA5}">
                      <a16:colId xmlns:a16="http://schemas.microsoft.com/office/drawing/2014/main" val="1904521774"/>
                    </a:ext>
                  </a:extLst>
                </a:gridCol>
                <a:gridCol w="1447875">
                  <a:extLst>
                    <a:ext uri="{9D8B030D-6E8A-4147-A177-3AD203B41FA5}">
                      <a16:colId xmlns:a16="http://schemas.microsoft.com/office/drawing/2014/main" val="3164053669"/>
                    </a:ext>
                  </a:extLst>
                </a:gridCol>
                <a:gridCol w="2027025">
                  <a:extLst>
                    <a:ext uri="{9D8B030D-6E8A-4147-A177-3AD203B41FA5}">
                      <a16:colId xmlns:a16="http://schemas.microsoft.com/office/drawing/2014/main" val="1484983729"/>
                    </a:ext>
                  </a:extLst>
                </a:gridCol>
                <a:gridCol w="2717551">
                  <a:extLst>
                    <a:ext uri="{9D8B030D-6E8A-4147-A177-3AD203B41FA5}">
                      <a16:colId xmlns:a16="http://schemas.microsoft.com/office/drawing/2014/main" val="3920544300"/>
                    </a:ext>
                  </a:extLst>
                </a:gridCol>
              </a:tblGrid>
              <a:tr h="417684">
                <a:tc>
                  <a:txBody>
                    <a:bodyPr/>
                    <a:lstStyle/>
                    <a:p>
                      <a:r>
                        <a:rPr lang="el-GR" sz="1050" b="1" kern="1200" spc="-10" noProof="0">
                          <a:solidFill>
                            <a:schemeClr val="tx2"/>
                          </a:solidFill>
                          <a:latin typeface="+mn-lt"/>
                          <a:ea typeface="+mn-ea"/>
                          <a:cs typeface="+mn-cs"/>
                        </a:rPr>
                        <a:t xml:space="preserve">Τομέας</a:t>
                      </a:r>
                    </a:p>
                    <a:p>
                      <a:r>
                        <a:rPr lang="el-GR" sz="1050" b="0" kern="1200" spc="-10" noProof="0">
                          <a:solidFill>
                            <a:schemeClr val="tx2"/>
                          </a:solidFill>
                          <a:latin typeface="+mn-lt"/>
                          <a:ea typeface="+mn-ea"/>
                          <a:cs typeface="+mn-cs"/>
                        </a:rPr>
                        <a:t xml:space="preserve">(παρ. 29a-d)</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1050" b="1" kern="1200" spc="-10" noProof="0">
                          <a:solidFill>
                            <a:schemeClr val="tx2"/>
                          </a:solidFill>
                          <a:latin typeface="+mn-lt"/>
                          <a:ea typeface="+mn-ea"/>
                          <a:cs typeface="+mn-cs"/>
                        </a:rPr>
                        <a:t xml:space="preserve">Υπάρχει συγκεκριμένη πρακτική ή πολιτική στον τομέα</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1050" b="1" kern="1200" spc="-10" noProof="0">
                          <a:solidFill>
                            <a:schemeClr val="tx2"/>
                          </a:solidFill>
                          <a:latin typeface="+mn-lt"/>
                          <a:ea typeface="+mn-ea"/>
                          <a:cs typeface="+mn-cs"/>
                        </a:rPr>
                        <a:t xml:space="preserve">Είναι η πολιτική δημόσια διαθέσιμη; </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1050" b="1" kern="1200" spc="-10" noProof="0">
                          <a:solidFill>
                            <a:schemeClr val="tx2"/>
                          </a:solidFill>
                          <a:latin typeface="+mn-lt"/>
                          <a:ea typeface="+mn-ea"/>
                          <a:cs typeface="+mn-cs"/>
                        </a:rPr>
                        <a:t xml:space="preserve">Η επιχείρηση έχει μελλοντικές πρωτοβουλίες και σχέδια</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1050" b="1" kern="1200" spc="-10" noProof="0">
                          <a:solidFill>
                            <a:schemeClr val="tx2"/>
                          </a:solidFill>
                          <a:latin typeface="+mn-lt"/>
                          <a:ea typeface="+mn-ea"/>
                          <a:cs typeface="+mn-cs"/>
                        </a:rPr>
                        <a:t xml:space="preserve">Υπάρχουν συγκεκριμένοι στόχοι παρακολούθησης της εφαρμογής πρακτικών και πολιτικών;</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267040">
                <a:tc>
                  <a:txBody>
                    <a:bodyPr/>
                    <a:lstStyle/>
                    <a:p>
                      <a:pPr algn="l"/>
                      <a:r>
                        <a:rPr lang="el-GR" sz="1050" b="1" kern="1200" spc="-10" noProof="0">
                          <a:solidFill>
                            <a:schemeClr val="tx2"/>
                          </a:solidFill>
                          <a:latin typeface="+mn-lt"/>
                          <a:ea typeface="+mn-ea"/>
                          <a:cs typeface="+mn-cs"/>
                        </a:rPr>
                        <a:t xml:space="preserve">Κλιματική αλλαγή</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1050" b="0" i="0" u="none" strike="noStrike" noProof="0">
                          <a:solidFill>
                            <a:srgbClr val="1B4528"/>
                          </a:solidFill>
                          <a:effectLst/>
                          <a:latin typeface="Inter"/>
                        </a:rPr>
                        <a:t>{{climate_change_concrete}}</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{{climate_change_publicly}}</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{{climate_change_future}}</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050" b="0" i="0" u="none" strike="noStrike" noProof="0">
                          <a:solidFill>
                            <a:srgbClr val="1B4528"/>
                          </a:solidFill>
                          <a:latin typeface="Inter"/>
                        </a:rPr>
                        <a:t>{{climate_change_plan}}</a:t>
                      </a:r>
                      <a:endParaRPr lang="el-GR">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53415">
                <a:tc>
                  <a:txBody>
                    <a:bodyPr/>
                    <a:lstStyle/>
                    <a:p>
                      <a:pPr algn="l"/>
                      <a:r>
                        <a:rPr lang="el-GR" sz="1050" b="1" kern="1200" spc="-10" noProof="0">
                          <a:solidFill>
                            <a:schemeClr val="tx2"/>
                          </a:solidFill>
                          <a:latin typeface="+mn-lt"/>
                          <a:ea typeface="+mn-ea"/>
                          <a:cs typeface="+mn-cs"/>
                        </a:rPr>
                        <a:t xml:space="preserve">Ρύπανση</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1050" b="0" i="0" u="none" strike="noStrike" noProof="0">
                          <a:solidFill>
                            <a:srgbClr val="1B4528"/>
                          </a:solidFill>
                          <a:effectLst/>
                          <a:latin typeface="Inter"/>
                        </a:rPr>
                        <a:t>{{pollution_concrete}}</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{{pollution_publicly}}</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{{pollution_future}}</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050" b="0" i="0" u="none" strike="noStrike" noProof="0">
                          <a:solidFill>
                            <a:srgbClr val="1B4528"/>
                          </a:solidFill>
                          <a:latin typeface="Inter"/>
                        </a:rPr>
                        <a:t>{{pollution_plan}}</a:t>
                      </a:r>
                      <a:endParaRPr lang="el-GR">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60612">
                <a:tc>
                  <a:txBody>
                    <a:bodyPr/>
                    <a:lstStyle/>
                    <a:p>
                      <a:pPr algn="l"/>
                      <a:r>
                        <a:rPr lang="el-GR" sz="1050" b="1" kern="1200" spc="-10" noProof="0">
                          <a:solidFill>
                            <a:schemeClr val="tx2"/>
                          </a:solidFill>
                          <a:latin typeface="+mn-lt"/>
                          <a:ea typeface="+mn-ea"/>
                          <a:cs typeface="+mn-cs"/>
                        </a:rPr>
                        <a:t xml:space="preserve">Υδάτινοι και θαλάσσιοι πόροι</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1050" b="0" i="0" u="none" strike="noStrike" noProof="0">
                          <a:solidFill>
                            <a:srgbClr val="1B4528"/>
                          </a:solidFill>
                          <a:effectLst/>
                          <a:latin typeface="Inter"/>
                        </a:rPr>
                        <a:t>{{water_concrete}}</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{{water_publicly}}</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{{water_future}}</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050" b="0" i="0" u="none" strike="noStrike" noProof="0">
                          <a:solidFill>
                            <a:srgbClr val="1B4528"/>
                          </a:solidFill>
                          <a:latin typeface="Inter"/>
                        </a:rPr>
                        <a:t>{{water_plan}}</a:t>
                      </a:r>
                      <a:endParaRPr lang="el-GR">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260612">
                <a:tc>
                  <a:txBody>
                    <a:bodyPr/>
                    <a:lstStyle/>
                    <a:p>
                      <a:pPr algn="l"/>
                      <a:r>
                        <a:rPr lang="el-GR" sz="1050" b="1" kern="1200" spc="-10" noProof="0">
                          <a:solidFill>
                            <a:schemeClr val="tx2"/>
                          </a:solidFill>
                          <a:latin typeface="+mn-lt"/>
                          <a:ea typeface="+mn-ea"/>
                          <a:cs typeface="+mn-cs"/>
                        </a:rPr>
                        <a:t xml:space="preserve">Βιοποικιλότητα και οικοσυστήματα</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1050" b="0" i="0" u="none" strike="noStrike" noProof="0">
                          <a:solidFill>
                            <a:srgbClr val="1B4528"/>
                          </a:solidFill>
                          <a:effectLst/>
                          <a:latin typeface="Inter"/>
                        </a:rPr>
                        <a:t>{{biodiversity_concrete}}</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{{biodiversity_publicly}}</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{{biodiversity_future}}</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050" b="0" i="0" u="none" strike="noStrike" noProof="0">
                          <a:solidFill>
                            <a:srgbClr val="1B4528"/>
                          </a:solidFill>
                          <a:latin typeface="Inter"/>
                        </a:rPr>
                        <a:t>{{biodiversity_plan}}</a:t>
                      </a:r>
                      <a:endParaRPr lang="el-GR">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260612">
                <a:tc>
                  <a:txBody>
                    <a:bodyPr/>
                    <a:lstStyle/>
                    <a:p>
                      <a:pPr algn="l"/>
                      <a:r>
                        <a:rPr lang="el-GR" sz="1050" b="1" kern="1200" spc="-10" noProof="0">
                          <a:solidFill>
                            <a:schemeClr val="tx2"/>
                          </a:solidFill>
                          <a:latin typeface="+mn-lt"/>
                          <a:ea typeface="+mn-ea"/>
                          <a:cs typeface="+mn-cs"/>
                        </a:rPr>
                        <a:t xml:space="preserve">Κυκλική οικονομία</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1050" b="0" i="0" u="none" strike="noStrike" noProof="0">
                          <a:solidFill>
                            <a:srgbClr val="1B4528"/>
                          </a:solidFill>
                          <a:effectLst/>
                          <a:latin typeface="Inter"/>
                        </a:rPr>
                        <a:t>{{circular_concrete}}</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{{circular_publicly}}</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{{circular_future}}</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050" b="0" i="0" u="none" strike="noStrike" noProof="0">
                          <a:solidFill>
                            <a:srgbClr val="1B4528"/>
                          </a:solidFill>
                          <a:latin typeface="Inter"/>
                        </a:rPr>
                        <a:t>{{circular_plan}}</a:t>
                      </a:r>
                      <a:endParaRPr lang="el-GR">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260612">
                <a:tc>
                  <a:txBody>
                    <a:bodyPr/>
                    <a:lstStyle/>
                    <a:p>
                      <a:pPr algn="l"/>
                      <a:r>
                        <a:rPr lang="el-GR" sz="1050" b="1" kern="1200" spc="-10" noProof="0">
                          <a:solidFill>
                            <a:schemeClr val="tx2"/>
                          </a:solidFill>
                          <a:latin typeface="+mn-lt"/>
                          <a:ea typeface="+mn-ea"/>
                          <a:cs typeface="+mn-cs"/>
                        </a:rPr>
                        <a:t xml:space="preserve">Ίδιο εργατικό δυναμικό</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1050" b="0" i="0" u="none" strike="noStrike" noProof="0">
                          <a:solidFill>
                            <a:srgbClr val="1B4528"/>
                          </a:solidFill>
                          <a:effectLst/>
                          <a:latin typeface="Inter"/>
                        </a:rPr>
                        <a:t>{{workforce_concrete}}</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{{workforce_publicly}}</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{{workforce_future}}</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050" b="0" i="0" u="none" strike="noStrike" noProof="0">
                          <a:solidFill>
                            <a:srgbClr val="1B4528"/>
                          </a:solidFill>
                          <a:latin typeface="Inter"/>
                        </a:rPr>
                        <a:t>{{workforce_plan}}</a:t>
                      </a:r>
                      <a:endParaRPr lang="el-GR">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7384999"/>
                  </a:ext>
                </a:extLst>
              </a:tr>
              <a:tr h="260612">
                <a:tc>
                  <a:txBody>
                    <a:bodyPr/>
                    <a:lstStyle/>
                    <a:p>
                      <a:pPr algn="l"/>
                      <a:r>
                        <a:rPr lang="el-GR" sz="1050" b="1" kern="1200" spc="-10" noProof="0">
                          <a:solidFill>
                            <a:schemeClr val="tx2"/>
                          </a:solidFill>
                          <a:latin typeface="+mn-lt"/>
                          <a:ea typeface="+mn-ea"/>
                          <a:cs typeface="+mn-cs"/>
                        </a:rPr>
                        <a:t xml:space="preserve">Εργαζόμενοι στην αλυσίδα αξίας</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1050" b="0" i="0" u="none" strike="noStrike" noProof="0">
                          <a:solidFill>
                            <a:srgbClr val="1B4528"/>
                          </a:solidFill>
                          <a:effectLst/>
                          <a:latin typeface="Inter"/>
                        </a:rPr>
                        <a:t>{{workers_concrete}}</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{{workers_publicly}}</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{{workers_future}}</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050" b="0" i="0" u="none" strike="noStrike" noProof="0">
                          <a:solidFill>
                            <a:srgbClr val="1B4528"/>
                          </a:solidFill>
                          <a:latin typeface="Inter"/>
                        </a:rPr>
                        <a:t>{{workers_plan}}</a:t>
                      </a:r>
                      <a:endParaRPr lang="el-GR">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1919361"/>
                  </a:ext>
                </a:extLst>
              </a:tr>
              <a:tr h="260612">
                <a:tc>
                  <a:txBody>
                    <a:bodyPr/>
                    <a:lstStyle/>
                    <a:p>
                      <a:pPr algn="l"/>
                      <a:r>
                        <a:rPr lang="el-GR" sz="1050" b="1" kern="1200" spc="-10" noProof="0">
                          <a:solidFill>
                            <a:schemeClr val="tx2"/>
                          </a:solidFill>
                          <a:latin typeface="+mn-lt"/>
                          <a:ea typeface="+mn-ea"/>
                          <a:cs typeface="+mn-cs"/>
                        </a:rPr>
                        <a:t xml:space="preserve">Επηρεαζόμενες κοινότητες</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1050" b="0" i="0" u="none" strike="noStrike" noProof="0">
                          <a:solidFill>
                            <a:srgbClr val="1B4528"/>
                          </a:solidFill>
                          <a:effectLst/>
                          <a:latin typeface="Inter"/>
                        </a:rPr>
                        <a:t>{{communities_concrete}}</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{{communities_publicly}}</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{{communities_future}}</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050" b="0" i="0" u="none" strike="noStrike" noProof="0">
                          <a:solidFill>
                            <a:srgbClr val="1B4528"/>
                          </a:solidFill>
                          <a:latin typeface="Inter"/>
                        </a:rPr>
                        <a:t>{{communities_plan}}</a:t>
                      </a:r>
                      <a:endParaRPr lang="el-GR">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36877917"/>
                  </a:ext>
                </a:extLst>
              </a:tr>
              <a:tr h="260612">
                <a:tc>
                  <a:txBody>
                    <a:bodyPr/>
                    <a:lstStyle/>
                    <a:p>
                      <a:pPr algn="l"/>
                      <a:r>
                        <a:rPr lang="el-GR" sz="1050" b="1" kern="1200" spc="-10" noProof="0">
                          <a:solidFill>
                            <a:schemeClr val="tx2"/>
                          </a:solidFill>
                          <a:latin typeface="+mn-lt"/>
                          <a:ea typeface="+mn-ea"/>
                          <a:cs typeface="+mn-cs"/>
                        </a:rPr>
                        <a:t xml:space="preserve">Καταναλωτές και τελικοί χρήστες</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1050" b="0" i="0" u="none" strike="noStrike" noProof="0">
                          <a:solidFill>
                            <a:srgbClr val="1B4528"/>
                          </a:solidFill>
                          <a:effectLst/>
                          <a:latin typeface="Inter"/>
                        </a:rPr>
                        <a:t>{{consumers_concrete}}</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{{consumers_publicly}}</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{{consumers_future}}</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050" b="0" i="0" u="none" strike="noStrike" noProof="0">
                          <a:solidFill>
                            <a:srgbClr val="1B4528"/>
                          </a:solidFill>
                          <a:latin typeface="Inter"/>
                        </a:rPr>
                        <a:t>{{consumers_plan}}</a:t>
                      </a:r>
                      <a:endParaRPr lang="el-GR">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15053185"/>
                  </a:ext>
                </a:extLst>
              </a:tr>
              <a:tr h="260612">
                <a:tc>
                  <a:txBody>
                    <a:bodyPr/>
                    <a:lstStyle/>
                    <a:p>
                      <a:pPr algn="l"/>
                      <a:r>
                        <a:rPr lang="el-GR" sz="1050" b="1" kern="1200" spc="-10" noProof="0">
                          <a:solidFill>
                            <a:schemeClr val="tx2"/>
                          </a:solidFill>
                          <a:latin typeface="+mn-lt"/>
                          <a:ea typeface="+mn-ea"/>
                          <a:cs typeface="+mn-cs"/>
                        </a:rPr>
                        <a:t xml:space="preserve">Επιχειρηματική δεοντολογία</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1050" b="0" i="0" u="none" strike="noStrike" noProof="0">
                          <a:solidFill>
                            <a:srgbClr val="1B4528"/>
                          </a:solidFill>
                          <a:effectLst/>
                          <a:latin typeface="Inter"/>
                        </a:rPr>
                        <a:t>{{governance_concrete}}</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{{governance_publicly}}</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{{governance_future}}</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050" b="0" i="0" u="none" strike="noStrike" noProof="0">
                          <a:solidFill>
                            <a:srgbClr val="1B4528"/>
                          </a:solidFill>
                          <a:latin typeface="Inter"/>
                        </a:rPr>
                        <a:t>{{governance_plan}}</a:t>
                      </a:r>
                      <a:endParaRPr lang="el-GR">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04057792"/>
                  </a:ext>
                </a:extLst>
              </a:tr>
            </a:tbl>
          </a:graphicData>
        </a:graphic>
      </p:graphicFrame>
      <p:sp>
        <p:nvSpPr>
          <p:cNvPr id="16" name="Tekstfelt 15">
            <a:extLst>
              <a:ext uri="{FF2B5EF4-FFF2-40B4-BE49-F238E27FC236}">
                <a16:creationId xmlns:a16="http://schemas.microsoft.com/office/drawing/2014/main" id="{E7AD2C12-E6AC-4ADE-675B-7B86B0E0EA4B}"/>
              </a:ext>
            </a:extLst>
          </p:cNvPr>
          <p:cNvSpPr txBox="1"/>
          <p:nvPr/>
        </p:nvSpPr>
        <p:spPr>
          <a:xfrm>
            <a:off x="454796" y="891000"/>
            <a:ext cx="9782408" cy="566812"/>
          </a:xfrm>
          <a:prstGeom prst="rect">
            <a:avLst/>
          </a:prstGeom>
          <a:noFill/>
        </p:spPr>
        <p:txBody>
          <a:bodyPr wrap="square">
            <a:spAutoFit/>
          </a:bodyPr>
          <a:lstStyle/>
          <a:p>
            <a:pPr rtl="0">
              <a:spcBef>
                <a:spcPts val="789"/>
              </a:spcBef>
              <a:buNone/>
            </a:pPr>
            <a:r>
              <a:rPr lang="el-GR" sz="1050" b="0" i="0" u="none" strike="noStrike" noProof="0">
                <a:solidFill>
                  <a:schemeClr val="tx2"/>
                </a:solidFill>
                <a:effectLst/>
                <a:latin typeface="Inter"/>
              </a:rPr>
              <a:t xml:space="preserve">Η ενότητα αυτή παρουσιάζει τις πρακτικές, πολιτικές και μελλοντικές πρωτοβουλίες που εφάρμοσε η επιχείρηση για τη στήριξη μιας βιώσιμης οικονομίας. Περιλαμβάνει τα συγκεκριμένα μέτρα που έλαβε για τη μείωση των αρνητικών περιβαλλοντικών επιπτώσεων και τη βελτίωση των συνθηκών εργασίας και της ίσης μεταχείρισης (ΝΑΙ/ΟΧΙ).</a:t>
            </a:r>
            <a:br>
              <a:rPr lang="el-GR" sz="1050" noProof="0">
                <a:solidFill>
                  <a:schemeClr val="tx2"/>
                </a:solidFill>
              </a:rPr>
            </a:br>
            <a:endParaRPr lang="el-GR" sz="1050" noProof="0">
              <a:solidFill>
                <a:schemeClr val="tx2"/>
              </a:solidFill>
            </a:endParaRPr>
          </a:p>
        </p:txBody>
      </p:sp>
      <p:sp>
        <p:nvSpPr>
          <p:cNvPr id="17" name="Slide Number Placeholder 5">
            <a:extLst>
              <a:ext uri="{FF2B5EF4-FFF2-40B4-BE49-F238E27FC236}">
                <a16:creationId xmlns:a16="http://schemas.microsoft.com/office/drawing/2014/main" id="{9D599EAE-DDC4-5624-F234-BCDE014B0531}"/>
              </a:ext>
              <a:ext uri="{C183D7F6-B498-43B3-948B-1728B52AA6E4}">
                <adec:decorative xmlns:adec="http://schemas.microsoft.com/office/drawing/2017/decorative" val="1"/>
              </a:ext>
            </a:extLst>
          </p:cNvPr>
          <p:cNvSpPr>
            <a:spLocks noGrp="1"/>
          </p:cNvSpPr>
          <p:nvPr>
            <p:ph type="sldNum" sz="quarter" idx="12"/>
          </p:nvPr>
        </p:nvSpPr>
        <p:spPr>
          <a:xfrm>
            <a:off x="8050571" y="7202406"/>
            <a:ext cx="2405700" cy="134955"/>
          </a:xfrm>
        </p:spPr>
        <p:txBody>
          <a:bodyPr/>
          <a:lstStyle/>
          <a:p>
            <a:fld id="{5A0D23CF-C5A3-5445-819D-C647D180BB4B}" type="slidenum">
              <a:rPr lang="el-GR" noProof="0" smtClean="0"/>
              <a:pPr/>
              <a:t>5</a:t>
            </a:fld>
            <a:endParaRPr lang="el-GR" noProof="0"/>
          </a:p>
        </p:txBody>
      </p:sp>
    </p:spTree>
    <p:extLst>
      <p:ext uri="{BB962C8B-B14F-4D97-AF65-F5344CB8AC3E}">
        <p14:creationId xmlns:p14="http://schemas.microsoft.com/office/powerpoint/2010/main" val="2000975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l-GR" noProof="0"/>
              <a:t xml:space="preserve">Κατανάλωση ενέργειας (B3)</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21529703"/>
              </p:ext>
            </p:extLst>
          </p:nvPr>
        </p:nvGraphicFramePr>
        <p:xfrm>
          <a:off x="443369" y="1359604"/>
          <a:ext cx="9803131" cy="1687508"/>
        </p:xfrm>
        <a:graphic>
          <a:graphicData uri="http://schemas.openxmlformats.org/drawingml/2006/table">
            <a:tbl>
              <a:tblPr firstRow="1">
                <a:tableStyleId>{2A488322-F2BA-4B5B-9748-0D474271808F}</a:tableStyleId>
              </a:tblPr>
              <a:tblGrid>
                <a:gridCol w="2660545">
                  <a:extLst>
                    <a:ext uri="{9D8B030D-6E8A-4147-A177-3AD203B41FA5}">
                      <a16:colId xmlns:a16="http://schemas.microsoft.com/office/drawing/2014/main" val="2698153288"/>
                    </a:ext>
                  </a:extLst>
                </a:gridCol>
                <a:gridCol w="2469635">
                  <a:extLst>
                    <a:ext uri="{9D8B030D-6E8A-4147-A177-3AD203B41FA5}">
                      <a16:colId xmlns:a16="http://schemas.microsoft.com/office/drawing/2014/main" val="1451447067"/>
                    </a:ext>
                  </a:extLst>
                </a:gridCol>
                <a:gridCol w="2604428">
                  <a:extLst>
                    <a:ext uri="{9D8B030D-6E8A-4147-A177-3AD203B41FA5}">
                      <a16:colId xmlns:a16="http://schemas.microsoft.com/office/drawing/2014/main" val="2943870936"/>
                    </a:ext>
                  </a:extLst>
                </a:gridCol>
                <a:gridCol w="2068523">
                  <a:extLst>
                    <a:ext uri="{9D8B030D-6E8A-4147-A177-3AD203B41FA5}">
                      <a16:colId xmlns:a16="http://schemas.microsoft.com/office/drawing/2014/main" val="656209149"/>
                    </a:ext>
                  </a:extLst>
                </a:gridCol>
              </a:tblGrid>
              <a:tr h="218608">
                <a:tc gridSpan="4">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l-GR" sz="1050" b="1" noProof="0">
                          <a:solidFill>
                            <a:schemeClr val="tx2"/>
                          </a:solidFill>
                        </a:rPr>
                        <a:t xml:space="preserve">Κατανάλωση ενέργειας σε MWh </a:t>
                      </a:r>
                      <a:r>
                        <a:rPr lang="el-GR" sz="1050" b="0" noProof="0">
                          <a:solidFill>
                            <a:schemeClr val="tx2"/>
                          </a:solidFill>
                        </a:rPr>
                        <a:t xml:space="preserve">(παρ. 32)</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en-GB" sz="775"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en-GB" sz="775"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endParaRPr lang="el-GR" sz="775" b="1"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38440226"/>
                  </a:ext>
                </a:extLst>
              </a:tr>
              <a:tr h="347564">
                <a:tc>
                  <a:txBody>
                    <a:bodyPr/>
                    <a:lstStyle/>
                    <a:p>
                      <a:pPr>
                        <a:lnSpc>
                          <a:spcPct val="106000"/>
                        </a:lnSpc>
                      </a:pPr>
                      <a:endParaRPr lang="el-GR" sz="1050" b="1"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el-GR" sz="1050" b="1" noProof="0">
                          <a:solidFill>
                            <a:schemeClr val="tx2"/>
                          </a:solidFill>
                        </a:rPr>
                        <a:t xml:space="preserve">Ανανεώσιμη κατανάλωση</a:t>
                      </a:r>
                      <a:r>
                        <a:rPr lang="el-GR" sz="1050" b="1" noProof="0">
                          <a:solidFill>
                            <a:schemeClr val="tx2"/>
                          </a:solidFill>
                        </a:rPr>
                        <a:t xml:space="preserve"> (MWh)</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el-GR" sz="1050" b="1" noProof="0">
                          <a:solidFill>
                            <a:schemeClr val="tx2"/>
                          </a:solidFill>
                        </a:rPr>
                        <a:t xml:space="preserve">Μη ανανεώσιμη κατανάλωση</a:t>
                      </a:r>
                      <a:r>
                        <a:rPr lang="el-GR" sz="1050" b="1" noProof="0">
                          <a:solidFill>
                            <a:schemeClr val="tx2"/>
                          </a:solidFill>
                        </a:rPr>
                        <a:t xml:space="preserve"> (MWh)</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l-GR" sz="1050" b="1" noProof="0">
                          <a:solidFill>
                            <a:schemeClr val="tx2"/>
                          </a:solidFill>
                        </a:rPr>
                        <a:t xml:space="preserve">Συνολική κατανάλωση (MWh)</a:t>
                      </a:r>
                    </a:p>
                    <a:p>
                      <a:pPr marL="0" marR="0" lvl="0" indent="0" algn="r" defTabSz="914400" rtl="0" eaLnBrk="1" fontAlgn="auto" latinLnBrk="0" hangingPunct="1">
                        <a:lnSpc>
                          <a:spcPct val="106000"/>
                        </a:lnSpc>
                        <a:spcBef>
                          <a:spcPts val="0"/>
                        </a:spcBef>
                        <a:spcAft>
                          <a:spcPts val="0"/>
                        </a:spcAft>
                        <a:buClrTx/>
                        <a:buSzTx/>
                        <a:buFontTx/>
                        <a:buNone/>
                        <a:tabLst/>
                        <a:defRPr/>
                      </a:pPr>
                      <a:r>
                        <a:rPr lang="el-GR" sz="1050" b="1" noProof="0">
                          <a:solidFill>
                            <a:srgbClr val="1B4528"/>
                          </a:solidFill>
                        </a:rPr>
                        <a:t>{{</a:t>
                      </a:r>
                      <a:r>
                        <a:rPr lang="el-GR" sz="1050" b="1" noProof="0">
                          <a:solidFill>
                            <a:srgbClr val="1B4528"/>
                          </a:solidFill>
                        </a:rPr>
                        <a:t>insert_year</a:t>
                      </a:r>
                      <a:r>
                        <a:rPr lang="el-GR" sz="1050" b="1" noProof="0">
                          <a:solidFill>
                            <a:srgbClr val="1B4528"/>
                          </a:solidFill>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47564">
                <a:tc>
                  <a:txBody>
                    <a:bodyPr/>
                    <a:lstStyle/>
                    <a:p>
                      <a:pPr>
                        <a:lnSpc>
                          <a:spcPct val="106000"/>
                        </a:lnSpc>
                      </a:pPr>
                      <a:r>
                        <a:rPr lang="el-GR" sz="1050" b="1" noProof="0">
                          <a:solidFill>
                            <a:schemeClr val="tx2"/>
                          </a:solidFill>
                        </a:rPr>
                        <a:t xml:space="preserve">Ηλεκτρική ενέργεια </a:t>
                      </a:r>
                      <a:r>
                        <a:rPr lang="el-GR" sz="1050" b="0" noProof="0">
                          <a:solidFill>
                            <a:schemeClr val="tx2"/>
                          </a:solidFill>
                        </a:rPr>
                        <a:t xml:space="preserve">(όπως προκύπτει από τους λογαριασμούς παροχών)</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1050" b="0" i="0" u="none" strike="noStrike" noProof="0">
                          <a:solidFill>
                            <a:srgbClr val="1B4528"/>
                          </a:solidFill>
                          <a:effectLst/>
                          <a:latin typeface="IBM Plex Sans" panose="020B0503050203000203" pitchFamily="34" charset="0"/>
                        </a:rPr>
                        <a:t>{{</a:t>
                      </a:r>
                      <a:r>
                        <a:rPr lang="el-GR" sz="1050" b="0" i="0" u="none" strike="noStrike" noProof="0">
                          <a:solidFill>
                            <a:srgbClr val="1B4528"/>
                          </a:solidFill>
                          <a:effectLst/>
                          <a:latin typeface="IBM Plex Sans" panose="020B0503050203000203" pitchFamily="34" charset="0"/>
                        </a:rPr>
                        <a:t>electricity_renewable</a:t>
                      </a:r>
                      <a:r>
                        <a:rPr lang="el-GR" sz="1050" b="0" i="0" u="none" strike="noStrike" noProof="0">
                          <a:solidFill>
                            <a:srgbClr val="1B4528"/>
                          </a:solidFill>
                          <a:effectLst/>
                          <a:latin typeface="IBM Plex Sans" panose="020B0503050203000203" pitchFamily="34" charset="0"/>
                        </a:rPr>
                        <a: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1050" b="0" i="0" u="none" strike="noStrike" noProof="0">
                          <a:solidFill>
                            <a:srgbClr val="1B4528"/>
                          </a:solidFill>
                          <a:effectLst/>
                          <a:latin typeface="IBM Plex Sans" panose="020B0503050203000203" pitchFamily="34" charset="0"/>
                        </a:rPr>
                        <a:t>{{</a:t>
                      </a:r>
                      <a:r>
                        <a:rPr lang="el-GR" sz="1050" b="0" i="0" u="none" strike="noStrike" noProof="0">
                          <a:solidFill>
                            <a:srgbClr val="1B4528"/>
                          </a:solidFill>
                          <a:effectLst/>
                          <a:latin typeface="IBM Plex Sans" panose="020B0503050203000203" pitchFamily="34" charset="0"/>
                        </a:rPr>
                        <a:t>electricity_non_rewenable</a:t>
                      </a:r>
                      <a:r>
                        <a:rPr lang="el-GR" sz="1050" b="0" i="0" u="none" strike="noStrike" noProof="0">
                          <a:solidFill>
                            <a:srgbClr val="1B4528"/>
                          </a:solidFill>
                          <a:effectLst/>
                          <a:latin typeface="IBM Plex Sans" panose="020B0503050203000203" pitchFamily="34" charset="0"/>
                        </a:rPr>
                        <a: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1050" b="0" i="0" u="none" strike="noStrike" noProof="0">
                          <a:solidFill>
                            <a:srgbClr val="1B4528"/>
                          </a:solidFill>
                          <a:effectLst/>
                          <a:latin typeface="IBM Plex Sans" panose="020B0503050203000203" pitchFamily="34" charset="0"/>
                        </a:rPr>
                        <a:t>{{</a:t>
                      </a:r>
                      <a:r>
                        <a:rPr lang="el-GR" sz="1050" b="0" i="0" u="none" strike="noStrike" noProof="0">
                          <a:solidFill>
                            <a:srgbClr val="1B4528"/>
                          </a:solidFill>
                          <a:effectLst/>
                          <a:latin typeface="IBM Plex Sans" panose="020B0503050203000203" pitchFamily="34" charset="0"/>
                        </a:rPr>
                        <a:t>total_electricity</a:t>
                      </a:r>
                      <a:r>
                        <a:rPr lang="el-GR" sz="1050" b="0" i="0" u="none" strike="noStrike" noProof="0">
                          <a:solidFill>
                            <a:srgbClr val="1B4528"/>
                          </a:solidFill>
                          <a:effectLst/>
                          <a:latin typeface="IBM Plex Sans" panose="020B0503050203000203" pitchFamily="34" charset="0"/>
                        </a:rPr>
                        <a: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18608">
                <a:tc>
                  <a:txBody>
                    <a:bodyPr/>
                    <a:lstStyle/>
                    <a:p>
                      <a:pPr>
                        <a:lnSpc>
                          <a:spcPct val="106000"/>
                        </a:lnSpc>
                      </a:pPr>
                      <a:r>
                        <a:rPr lang="el-GR" sz="1050" b="1" noProof="0">
                          <a:solidFill>
                            <a:schemeClr val="tx2"/>
                          </a:solidFill>
                        </a:rPr>
                        <a:t xml:space="preserve">Καύσιμα</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1050" b="0" i="0" u="none" strike="noStrike" noProof="0">
                          <a:solidFill>
                            <a:srgbClr val="1B4528"/>
                          </a:solidFill>
                          <a:effectLst/>
                          <a:latin typeface="IBM Plex Sans" panose="020B0503050203000203" pitchFamily="34" charset="0"/>
                        </a:rPr>
                        <a:t>{{</a:t>
                      </a:r>
                      <a:r>
                        <a:rPr lang="el-GR" sz="1050" b="0" i="0" u="none" strike="noStrike" noProof="0">
                          <a:solidFill>
                            <a:srgbClr val="1B4528"/>
                          </a:solidFill>
                          <a:effectLst/>
                          <a:latin typeface="IBM Plex Sans" panose="020B0503050203000203" pitchFamily="34" charset="0"/>
                        </a:rPr>
                        <a:t>fuel_renewable</a:t>
                      </a:r>
                      <a:r>
                        <a:rPr lang="el-GR" sz="1050" b="0" i="0" u="none" strike="noStrike" noProof="0">
                          <a:solidFill>
                            <a:srgbClr val="1B4528"/>
                          </a:solidFill>
                          <a:effectLst/>
                          <a:latin typeface="IBM Plex Sans" panose="020B0503050203000203" pitchFamily="34" charset="0"/>
                        </a:rPr>
                        <a: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1050" b="0" i="0" u="none" strike="noStrike" noProof="0">
                          <a:solidFill>
                            <a:srgbClr val="1B4528"/>
                          </a:solidFill>
                          <a:effectLst/>
                          <a:latin typeface="IBM Plex Sans" panose="020B0503050203000203" pitchFamily="34" charset="0"/>
                        </a:rPr>
                        <a:t>{{</a:t>
                      </a:r>
                      <a:r>
                        <a:rPr lang="el-GR" sz="1050" b="0" i="0" u="none" strike="noStrike" noProof="0">
                          <a:solidFill>
                            <a:srgbClr val="1B4528"/>
                          </a:solidFill>
                          <a:effectLst/>
                          <a:latin typeface="IBM Plex Sans" panose="020B0503050203000203" pitchFamily="34" charset="0"/>
                        </a:rPr>
                        <a:t>fuel_non_rewenable</a:t>
                      </a:r>
                      <a:r>
                        <a:rPr lang="el-GR" sz="1050" b="0" i="0" u="none" strike="noStrike" noProof="0">
                          <a:solidFill>
                            <a:srgbClr val="1B4528"/>
                          </a:solidFill>
                          <a:effectLst/>
                          <a:latin typeface="IBM Plex Sans" panose="020B0503050203000203" pitchFamily="34" charset="0"/>
                        </a:rPr>
                        <a: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1050" b="0" i="0" u="none" strike="noStrike" noProof="0">
                          <a:solidFill>
                            <a:srgbClr val="1B4528"/>
                          </a:solidFill>
                          <a:effectLst/>
                          <a:latin typeface="IBM Plex Sans" panose="020B0503050203000203" pitchFamily="34" charset="0"/>
                        </a:rPr>
                        <a:t>{{</a:t>
                      </a:r>
                      <a:r>
                        <a:rPr lang="el-GR" sz="1050" b="0" i="0" u="none" strike="noStrike" noProof="0">
                          <a:solidFill>
                            <a:srgbClr val="1B4528"/>
                          </a:solidFill>
                          <a:effectLst/>
                          <a:latin typeface="IBM Plex Sans" panose="020B0503050203000203" pitchFamily="34" charset="0"/>
                        </a:rPr>
                        <a:t>total_fuel</a:t>
                      </a:r>
                      <a:r>
                        <a:rPr lang="el-GR" sz="1050" b="0" i="0" u="none" strike="noStrike" noProof="0">
                          <a:solidFill>
                            <a:srgbClr val="1B4528"/>
                          </a:solidFill>
                          <a:effectLst/>
                          <a:latin typeface="IBM Plex Sans" panose="020B0503050203000203" pitchFamily="34" charset="0"/>
                        </a:rPr>
                        <a: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228766998"/>
                  </a:ext>
                </a:extLst>
              </a:tr>
              <a:tr h="218608">
                <a:tc>
                  <a:txBody>
                    <a:bodyPr/>
                    <a:lstStyle/>
                    <a:p>
                      <a:pPr>
                        <a:lnSpc>
                          <a:spcPct val="106000"/>
                        </a:lnSpc>
                      </a:pPr>
                      <a:r>
                        <a:rPr lang="el-GR" sz="1050" b="1" noProof="0">
                          <a:solidFill>
                            <a:schemeClr val="tx2"/>
                          </a:solidFill>
                        </a:rPr>
                        <a:t xml:space="preserve">Άλλο (π.χ. τηλεθέρμανση)</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1050" b="0" i="0" u="none" strike="noStrike" noProof="0">
                          <a:solidFill>
                            <a:srgbClr val="1B4528"/>
                          </a:solidFill>
                          <a:effectLst/>
                          <a:latin typeface="IBM Plex Sans" panose="020B0503050203000203" pitchFamily="34" charset="0"/>
                        </a:rPr>
                        <a:t>{{</a:t>
                      </a:r>
                      <a:r>
                        <a:rPr lang="el-GR" sz="1050" b="0" i="0" u="none" strike="noStrike" noProof="0">
                          <a:solidFill>
                            <a:srgbClr val="1B4528"/>
                          </a:solidFill>
                          <a:effectLst/>
                          <a:latin typeface="IBM Plex Sans" panose="020B0503050203000203" pitchFamily="34" charset="0"/>
                        </a:rPr>
                        <a:t>district_heating_rewenable</a:t>
                      </a:r>
                      <a:r>
                        <a:rPr lang="el-GR" sz="1050" b="0" i="0" u="none" strike="noStrike" noProof="0">
                          <a:solidFill>
                            <a:srgbClr val="1B4528"/>
                          </a:solidFill>
                          <a:effectLst/>
                          <a:latin typeface="IBM Plex Sans" panose="020B0503050203000203" pitchFamily="34" charset="0"/>
                        </a:rPr>
                        <a: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1050" b="0" i="0" u="none" strike="noStrike" noProof="0">
                          <a:solidFill>
                            <a:srgbClr val="1B4528"/>
                          </a:solidFill>
                          <a:effectLst/>
                          <a:latin typeface="IBM Plex Sans" panose="020B0503050203000203" pitchFamily="34" charset="0"/>
                        </a:rPr>
                        <a:t>{{</a:t>
                      </a:r>
                      <a:r>
                        <a:rPr lang="el-GR" sz="1050" b="0" i="0" u="none" strike="noStrike" noProof="0">
                          <a:solidFill>
                            <a:srgbClr val="1B4528"/>
                          </a:solidFill>
                          <a:effectLst/>
                          <a:latin typeface="IBM Plex Sans" panose="020B0503050203000203" pitchFamily="34" charset="0"/>
                        </a:rPr>
                        <a:t>district_heating_non_rewenable</a:t>
                      </a:r>
                      <a:r>
                        <a:rPr lang="el-GR" sz="1050" b="0" i="0" u="none" strike="noStrike" noProof="0">
                          <a:solidFill>
                            <a:srgbClr val="1B4528"/>
                          </a:solidFill>
                          <a:effectLst/>
                          <a:latin typeface="IBM Plex Sans" panose="020B0503050203000203" pitchFamily="34" charset="0"/>
                        </a:rPr>
                        <a: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1050" b="0" i="0" u="none" strike="noStrike" noProof="0">
                          <a:solidFill>
                            <a:srgbClr val="1B4528"/>
                          </a:solidFill>
                          <a:effectLst/>
                          <a:latin typeface="IBM Plex Sans" panose="020B0503050203000203" pitchFamily="34" charset="0"/>
                        </a:rPr>
                        <a:t>{{</a:t>
                      </a:r>
                      <a:r>
                        <a:rPr lang="el-GR" sz="1050" b="0" i="0" u="none" strike="noStrike" noProof="0">
                          <a:solidFill>
                            <a:srgbClr val="1B4528"/>
                          </a:solidFill>
                          <a:effectLst/>
                          <a:latin typeface="IBM Plex Sans" panose="020B0503050203000203" pitchFamily="34" charset="0"/>
                        </a:rPr>
                        <a:t>total_district_heating</a:t>
                      </a:r>
                      <a:r>
                        <a:rPr lang="el-GR" sz="1050" b="0" i="0" u="none" strike="noStrike" noProof="0">
                          <a:solidFill>
                            <a:srgbClr val="1B4528"/>
                          </a:solidFill>
                          <a:effectLst/>
                          <a:latin typeface="IBM Plex Sans" panose="020B0503050203000203" pitchFamily="34" charset="0"/>
                        </a:rPr>
                        <a: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62237485"/>
                  </a:ext>
                </a:extLst>
              </a:tr>
              <a:tr h="218608">
                <a:tc>
                  <a:txBody>
                    <a:bodyPr/>
                    <a:lstStyle/>
                    <a:p>
                      <a:pPr>
                        <a:lnSpc>
                          <a:spcPct val="106000"/>
                        </a:lnSpc>
                      </a:pPr>
                      <a:r>
                        <a:rPr lang="el-GR" sz="1050" b="1" noProof="0">
                          <a:solidFill>
                            <a:schemeClr val="tx2"/>
                          </a:solidFill>
                        </a:rPr>
                        <a:t xml:space="preserve">Σύνολο</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1050" b="0" i="0" u="none" strike="noStrike" noProof="0">
                          <a:solidFill>
                            <a:srgbClr val="1B4528"/>
                          </a:solidFill>
                          <a:effectLst/>
                          <a:latin typeface="IBM Plex Sans" panose="020B0503050203000203" pitchFamily="34" charset="0"/>
                        </a:rPr>
                        <a:t>{{</a:t>
                      </a:r>
                      <a:r>
                        <a:rPr lang="el-GR" sz="1050" b="0" i="0" u="none" strike="noStrike" noProof="0">
                          <a:solidFill>
                            <a:srgbClr val="1B4528"/>
                          </a:solidFill>
                          <a:effectLst/>
                          <a:latin typeface="IBM Plex Sans" panose="020B0503050203000203" pitchFamily="34" charset="0"/>
                        </a:rPr>
                        <a:t>renewable_energy_total</a:t>
                      </a:r>
                      <a:r>
                        <a:rPr lang="el-GR" sz="1050" b="0" i="0" u="none" strike="noStrike" noProof="0">
                          <a:solidFill>
                            <a:srgbClr val="1B4528"/>
                          </a:solidFill>
                          <a:effectLst/>
                          <a:latin typeface="IBM Plex Sans" panose="020B0503050203000203" pitchFamily="34" charset="0"/>
                        </a:rPr>
                        <a: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1050" b="0" i="0" u="none" strike="noStrike" noProof="0">
                          <a:solidFill>
                            <a:srgbClr val="1B4528"/>
                          </a:solidFill>
                          <a:effectLst/>
                          <a:latin typeface="IBM Plex Sans" panose="020B0503050203000203" pitchFamily="34" charset="0"/>
                        </a:rPr>
                        <a:t>{{</a:t>
                      </a:r>
                      <a:r>
                        <a:rPr lang="el-GR" sz="1050" b="0" i="0" u="none" strike="noStrike" noProof="0">
                          <a:solidFill>
                            <a:srgbClr val="1B4528"/>
                          </a:solidFill>
                          <a:effectLst/>
                          <a:latin typeface="IBM Plex Sans" panose="020B0503050203000203" pitchFamily="34" charset="0"/>
                        </a:rPr>
                        <a:t>non_rewenable_energy_total</a:t>
                      </a:r>
                      <a:r>
                        <a:rPr lang="el-GR" sz="1050" b="0" i="0" u="none" strike="noStrike" noProof="0">
                          <a:solidFill>
                            <a:srgbClr val="1B4528"/>
                          </a:solidFill>
                          <a:effectLst/>
                          <a:latin typeface="IBM Plex Sans" panose="020B0503050203000203" pitchFamily="34" charset="0"/>
                        </a:rPr>
                        <a: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1050" b="0" i="0" u="none" strike="noStrike" noProof="0">
                          <a:solidFill>
                            <a:srgbClr val="1B4528"/>
                          </a:solidFill>
                          <a:effectLst/>
                          <a:latin typeface="IBM Plex Sans" panose="020B0503050203000203" pitchFamily="34" charset="0"/>
                        </a:rPr>
                        <a:t>{{</a:t>
                      </a:r>
                      <a:r>
                        <a:rPr lang="el-GR" sz="1050" b="0" i="0" u="none" strike="noStrike" noProof="0">
                          <a:solidFill>
                            <a:srgbClr val="1B4528"/>
                          </a:solidFill>
                          <a:effectLst/>
                          <a:latin typeface="IBM Plex Sans" panose="020B0503050203000203" pitchFamily="34" charset="0"/>
                        </a:rPr>
                        <a:t>total_energy_consumption</a:t>
                      </a:r>
                      <a:r>
                        <a:rPr lang="el-GR" sz="1050" b="0" i="0" u="none" strike="noStrike" noProof="0">
                          <a:solidFill>
                            <a:srgbClr val="1B4528"/>
                          </a:solidFill>
                          <a:effectLst/>
                          <a:latin typeface="IBM Plex Sans" panose="020B0503050203000203" pitchFamily="34" charset="0"/>
                        </a:rPr>
                        <a: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855206388"/>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6</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br>
              <a:rPr lang="el-GR" noProof="0"/>
            </a:br>
            <a:endParaRPr lang="el-GR" noProof="0"/>
          </a:p>
        </p:txBody>
      </p:sp>
      <p:sp>
        <p:nvSpPr>
          <p:cNvPr id="12" name="Tekstfelt 11">
            <a:extLst>
              <a:ext uri="{FF2B5EF4-FFF2-40B4-BE49-F238E27FC236}">
                <a16:creationId xmlns:a16="http://schemas.microsoft.com/office/drawing/2014/main" id="{4EDC705C-923B-3F7B-2016-F3C31DC2828B}"/>
              </a:ext>
            </a:extLst>
          </p:cNvPr>
          <p:cNvSpPr txBox="1"/>
          <p:nvPr/>
        </p:nvSpPr>
        <p:spPr>
          <a:xfrm>
            <a:off x="443369" y="898217"/>
            <a:ext cx="9803131" cy="3616799"/>
          </a:xfrm>
          <a:prstGeom prst="rect">
            <a:avLst/>
          </a:prstGeom>
          <a:noFill/>
        </p:spPr>
        <p:txBody>
          <a:bodyPr wrap="square" lIns="80190" tIns="40095" rIns="80190" bIns="40095" anchor="t">
            <a:spAutoFit/>
          </a:bodyPr>
          <a:lstStyle/>
          <a:p>
            <a:r>
              <a:rPr lang="el-GR" sz="1050" b="0" i="0" u="none" strike="noStrike" noProof="0">
                <a:solidFill>
                  <a:schemeClr val="tx2"/>
                </a:solidFill>
                <a:effectLst/>
                <a:latin typeface="Inter"/>
              </a:rPr>
              <a:t xml:space="preserve">Η ενότητα αυτή αναφέρει τις εκπομπές CO2 από την κατανάλωση ενέργειας, με διάκριση ανανεώσιμης και μη ανανεώσιμης κατανάλωσης. </a:t>
            </a:r>
            <a:r>
              <a:rPr lang="el-GR" sz="1050" noProof="0">
                <a:solidFill>
                  <a:schemeClr val="tx2"/>
                </a:solidFill>
                <a:latin typeface="Inter"/>
              </a:rPr>
              <a:t xml:space="preserve">Οι εκπομπές αναφέρονται βάσει </a:t>
            </a:r>
            <a:r>
              <a:rPr lang="el-GR" sz="1050" b="0" i="0" u="none" strike="noStrike" noProof="0">
                <a:solidFill>
                  <a:schemeClr val="tx2"/>
                </a:solidFill>
                <a:effectLst/>
                <a:latin typeface="Inter"/>
              </a:rPr>
              <a:t xml:space="preserve">των ορισμών του Πρωτοκόλλου GHG για τις άμεσες και έμμεσες εκπομπές. </a:t>
            </a:r>
            <a:br>
              <a:rPr lang="el-GR" sz="1050" b="0" i="0" u="none" strike="noStrike" noProof="0" dirty="0">
                <a:effectLst/>
                <a:latin typeface="Inter"/>
              </a:rPr>
            </a:br>
            <a:br>
              <a:rPr lang="el-GR" sz="1050" dirty="0">
                <a:latin typeface="Inter"/>
              </a:rPr>
            </a:br>
            <a:r>
              <a:rPr lang="el-GR" sz="700" b="0" i="0" u="none" strike="noStrike" noProof="0">
                <a:solidFill>
                  <a:schemeClr val="tx2"/>
                </a:solidFill>
                <a:effectLst/>
                <a:latin typeface="Inter"/>
              </a:rPr>
              <a:t> </a:t>
            </a:r>
            <a:endParaRPr lang="el-GR" sz="1050" b="0" i="0" u="none" strike="noStrike" noProof="0" dirty="0">
              <a:solidFill>
                <a:schemeClr val="tx2"/>
              </a:solidFill>
              <a:effectLst/>
              <a:latin typeface="Inter"/>
            </a:endParaRPr>
          </a:p>
          <a:p>
            <a:pPr rtl="0">
              <a:buNone/>
            </a:pPr>
            <a:endParaRPr lang="el-GR" sz="1050" b="0" noProof="0">
              <a:solidFill>
                <a:schemeClr val="tx2"/>
              </a:solidFill>
              <a:effectLst/>
              <a:latin typeface="Inter"/>
            </a:endParaRPr>
          </a:p>
          <a:p>
            <a:pPr>
              <a:buNone/>
            </a:pPr>
            <a:endParaRPr lang="el-GR" b="0" noProof="0">
              <a:solidFill>
                <a:schemeClr val="tx2"/>
              </a:solidFill>
              <a:effectLst/>
              <a:latin typeface="Inter"/>
            </a:endParaRPr>
          </a:p>
          <a:p>
            <a:pPr>
              <a:buNone/>
            </a:pPr>
            <a:endParaRPr lang="el-GR" sz="1400" noProof="0">
              <a:solidFill>
                <a:schemeClr val="tx2"/>
              </a:solidFill>
              <a:latin typeface="Inter"/>
            </a:endParaRPr>
          </a:p>
          <a:p>
            <a:pPr>
              <a:buNone/>
            </a:pPr>
            <a:endParaRPr lang="el-GR" sz="1400" b="0" noProof="0">
              <a:solidFill>
                <a:schemeClr val="tx2"/>
              </a:solidFill>
              <a:effectLst/>
              <a:latin typeface="Inter"/>
            </a:endParaRPr>
          </a:p>
          <a:p>
            <a:pPr>
              <a:buNone/>
            </a:pPr>
            <a:endParaRPr lang="el-GR" sz="1400" noProof="0">
              <a:solidFill>
                <a:schemeClr val="tx2"/>
              </a:solidFill>
              <a:latin typeface="Inter"/>
            </a:endParaRPr>
          </a:p>
          <a:p>
            <a:pPr>
              <a:buNone/>
            </a:pPr>
            <a:endParaRPr lang="el-GR" sz="1400" b="0" noProof="0">
              <a:solidFill>
                <a:schemeClr val="tx2"/>
              </a:solidFill>
              <a:effectLst/>
              <a:latin typeface="Inter"/>
            </a:endParaRPr>
          </a:p>
          <a:p>
            <a:endParaRPr lang="el-GR" sz="1400" b="1">
              <a:latin typeface="+mj-lt"/>
            </a:endParaRPr>
          </a:p>
          <a:p>
            <a:endParaRPr lang="el-GR" sz="1400" b="1">
              <a:latin typeface="+mj-lt"/>
            </a:endParaRPr>
          </a:p>
          <a:p>
            <a:br>
              <a:rPr lang="el-GR" b="1" dirty="0">
                <a:latin typeface="+mj-lt"/>
              </a:rPr>
            </a:br>
            <a:r>
              <a:rPr lang="el-GR" b="1" i="0" u="none" strike="noStrike" noProof="0">
                <a:solidFill>
                  <a:schemeClr val="tx2"/>
                </a:solidFill>
                <a:effectLst/>
                <a:latin typeface="+mj-lt"/>
              </a:rPr>
              <a:t xml:space="preserve">Εκπομπές CO₂e (B3)</a:t>
            </a:r>
            <a:endParaRPr lang="el-GR" noProof="0">
              <a:solidFill>
                <a:schemeClr val="tx2"/>
              </a:solidFill>
              <a:effectLst/>
              <a:latin typeface="+mj-lt"/>
            </a:endParaRPr>
          </a:p>
          <a:p>
            <a:r>
              <a:rPr lang="el-GR" sz="700">
                <a:latin typeface="Inter"/>
              </a:rPr>
              <a:t> </a:t>
            </a:r>
            <a:br>
              <a:rPr lang="el-GR" sz="1050" dirty="0">
                <a:solidFill>
                  <a:schemeClr val="tx2"/>
                </a:solidFill>
                <a:latin typeface="Inter"/>
              </a:rPr>
            </a:br>
            <a:r>
              <a:rPr lang="el-GR" sz="1050" b="0" i="0" u="none" strike="noStrike" noProof="0">
                <a:solidFill>
                  <a:schemeClr val="tx2"/>
                </a:solidFill>
                <a:effectLst/>
                <a:latin typeface="Inter"/>
              </a:rPr>
              <a:t xml:space="preserve">Η παρ. 33 περιέχει στοιχεία για τις εκπομπές αερίων του θερμοκηπίου της επιχείρησης, βάσει των εκπομπών Scope 1 και Scope 2. Το Scope 1 αφορά τις άμεσες εκπομπές από πηγές που η επιχείρηση κατέχει ή ελέγχει άμεσα, π.χ. καύση καυσίμου σε εταιρικά οχήματα, θέρμανση κτιρίων με φυσικό αέριο, καθώς και εκπομπές από βιομηχανικές διεργασίες και διαρροές σε συστήματα όπως η ψύξη.</a:t>
            </a:r>
            <a:r>
              <a:rPr lang="el-GR" sz="1050" noProof="0">
                <a:solidFill>
                  <a:schemeClr val="tx2"/>
                </a:solidFill>
                <a:latin typeface="Inter"/>
              </a:rPr>
              <a:t> </a:t>
            </a:r>
            <a:r>
              <a:rPr lang="el-GR" sz="1050" b="0" i="0" u="none" strike="noStrike" noProof="0">
                <a:solidFill>
                  <a:schemeClr val="tx2"/>
                </a:solidFill>
                <a:effectLst/>
                <a:latin typeface="Inter"/>
              </a:rPr>
              <a:t xml:space="preserve">Το Scope 2</a:t>
            </a:r>
            <a:r>
              <a:rPr lang="el-GR" sz="1050" noProof="0">
                <a:solidFill>
                  <a:schemeClr val="tx2"/>
                </a:solidFill>
                <a:latin typeface="Inter"/>
              </a:rPr>
              <a:t xml:space="preserve"> αφορά τις έ</a:t>
            </a:r>
            <a:r>
              <a:rPr lang="el-GR" sz="1050" b="0" i="0" u="none" strike="noStrike" noProof="0">
                <a:solidFill>
                  <a:schemeClr val="tx2"/>
                </a:solidFill>
                <a:effectLst/>
                <a:latin typeface="Inter"/>
              </a:rPr>
              <a:t xml:space="preserve">μμεσες εκπομπές από αγορασθείσα ηλεκτρική ενέργεια, δηλ. εκπομπές από την παραγωγή ηλεκτρικής ενέργειας, ατμού, θερμότητας ή ψύξης που αγοράζει και χρησιμοποιεί η επιχείρηση. Παρότι προέρχονται από τους παραγωγούς ενέργειας, αποδίδονται στην επιχείρηση, καθώς αυτή καταναλώνει την ενέργεια.</a:t>
            </a:r>
            <a:endParaRPr lang="el-GR" sz="1050" b="0" noProof="0">
              <a:solidFill>
                <a:schemeClr val="tx2"/>
              </a:solidFill>
              <a:effectLst/>
              <a:latin typeface="Inter"/>
            </a:endParaRPr>
          </a:p>
        </p:txBody>
      </p:sp>
      <p:graphicFrame>
        <p:nvGraphicFramePr>
          <p:cNvPr id="15" name="Table 18">
            <a:extLst>
              <a:ext uri="{FF2B5EF4-FFF2-40B4-BE49-F238E27FC236}">
                <a16:creationId xmlns:a16="http://schemas.microsoft.com/office/drawing/2014/main" id="{550C2B5F-F365-2A58-DF02-C096E906DD7B}"/>
              </a:ext>
            </a:extLst>
          </p:cNvPr>
          <p:cNvGraphicFramePr>
            <a:graphicFrameLocks noGrp="1"/>
          </p:cNvGraphicFramePr>
          <p:nvPr>
            <p:extLst>
              <p:ext uri="{D42A27DB-BD31-4B8C-83A1-F6EECF244321}">
                <p14:modId xmlns:p14="http://schemas.microsoft.com/office/powerpoint/2010/main" val="4106924491"/>
              </p:ext>
            </p:extLst>
          </p:nvPr>
        </p:nvGraphicFramePr>
        <p:xfrm>
          <a:off x="445491" y="5125324"/>
          <a:ext cx="9801009" cy="950929"/>
        </p:xfrm>
        <a:graphic>
          <a:graphicData uri="http://schemas.openxmlformats.org/drawingml/2006/table">
            <a:tbl>
              <a:tblPr firstRow="1">
                <a:tableStyleId>{2A488322-F2BA-4B5B-9748-0D474271808F}</a:tableStyleId>
              </a:tblPr>
              <a:tblGrid>
                <a:gridCol w="7759816">
                  <a:extLst>
                    <a:ext uri="{9D8B030D-6E8A-4147-A177-3AD203B41FA5}">
                      <a16:colId xmlns:a16="http://schemas.microsoft.com/office/drawing/2014/main" val="2698153288"/>
                    </a:ext>
                  </a:extLst>
                </a:gridCol>
                <a:gridCol w="2041192">
                  <a:extLst>
                    <a:ext uri="{9D8B030D-6E8A-4147-A177-3AD203B41FA5}">
                      <a16:colId xmlns:a16="http://schemas.microsoft.com/office/drawing/2014/main" val="656209149"/>
                    </a:ext>
                  </a:extLst>
                </a:gridCol>
              </a:tblGrid>
              <a:tr h="238485">
                <a:tc>
                  <a:txBody>
                    <a:bodyPr/>
                    <a:lstStyle/>
                    <a:p>
                      <a:pPr>
                        <a:lnSpc>
                          <a:spcPct val="106000"/>
                        </a:lnSpc>
                      </a:pPr>
                      <a:r>
                        <a:rPr lang="el-GR" sz="1050" b="1" noProof="0">
                          <a:solidFill>
                            <a:schemeClr val="tx2"/>
                          </a:solidFill>
                        </a:rPr>
                        <a:t xml:space="preserve">Εκπομπές αερίων του θερμοκηπίου </a:t>
                      </a:r>
                      <a:r>
                        <a:rPr lang="el-GR" sz="1050" b="0" noProof="0">
                          <a:solidFill>
                            <a:schemeClr val="tx2"/>
                          </a:solidFill>
                        </a:rPr>
                        <a:t xml:space="preserve">(παρ. 33)</a:t>
                      </a:r>
                      <a:endParaRPr lang="el-GR" sz="1050" b="1"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l-GR" sz="1050" b="1" noProof="0">
                          <a:solidFill>
                            <a:schemeClr val="tx2"/>
                          </a:solidFill>
                        </a:rPr>
                        <a:t xml:space="preserve">Έτος </a:t>
                      </a:r>
                      <a:r>
                        <a:rPr lang="el-GR" sz="1050" b="1" noProof="0">
                          <a:solidFill>
                            <a:srgbClr val="1B4528"/>
                          </a:solidFill>
                          <a:latin typeface="Calibri" panose="020F0502020204030204" pitchFamily="34" charset="0"/>
                          <a:cs typeface="Calibri" panose="020F0502020204030204" pitchFamily="34" charset="0"/>
                        </a:rPr>
                        <a:t>{{</a:t>
                      </a:r>
                      <a:r>
                        <a:rPr lang="el-GR" sz="1050" b="1" noProof="0">
                          <a:solidFill>
                            <a:srgbClr val="1B4528"/>
                          </a:solidFill>
                          <a:latin typeface="Calibri" panose="020F0502020204030204" pitchFamily="34" charset="0"/>
                          <a:cs typeface="Calibri" panose="020F0502020204030204" pitchFamily="34" charset="0"/>
                        </a:rPr>
                        <a:t>insert_year</a:t>
                      </a:r>
                      <a:r>
                        <a:rPr lang="el-GR" sz="1050" b="1" noProof="0">
                          <a:solidFill>
                            <a:srgbClr val="1B4528"/>
                          </a:solidFill>
                          <a:latin typeface="Calibri" panose="020F0502020204030204" pitchFamily="34" charset="0"/>
                          <a:cs typeface="Calibri" panose="020F0502020204030204" pitchFamily="34" charset="0"/>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7481">
                <a:tc>
                  <a:txBody>
                    <a:bodyPr/>
                    <a:lstStyle/>
                    <a:p>
                      <a:pPr>
                        <a:lnSpc>
                          <a:spcPct val="106000"/>
                        </a:lnSpc>
                      </a:pPr>
                      <a:r>
                        <a:rPr lang="el-GR" sz="1050" b="1" noProof="0">
                          <a:solidFill>
                            <a:schemeClr val="tx2"/>
                          </a:solidFill>
                        </a:rPr>
                        <a:t xml:space="preserve">Εκπομπές CO₂e Scope 1</a:t>
                      </a:r>
                      <a:r>
                        <a:rPr lang="el-GR" sz="1050" b="1" noProof="0">
                          <a:solidFill>
                            <a:schemeClr val="tx2"/>
                          </a:solidFill>
                        </a:rPr>
                        <a:t xml:space="preserve"/>
                      </a:r>
                      <a:r>
                        <a:rPr lang="el-GR" sz="1050" b="1" noProof="0">
                          <a:solidFill>
                            <a:schemeClr val="tx2"/>
                          </a:solidFill>
                        </a:rPr>
                        <a:t xml:space="preserve"/>
                      </a:r>
                      <a:endParaRPr lang="el-G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1050" b="0" i="0" u="none" strike="noStrike" noProof="0">
                          <a:solidFill>
                            <a:srgbClr val="1B4528"/>
                          </a:solidFill>
                          <a:effectLst/>
                          <a:latin typeface="Inter"/>
                        </a:rPr>
                        <a:t>{{scope1}}</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37481">
                <a:tc>
                  <a:txBody>
                    <a:bodyPr/>
                    <a:lstStyle/>
                    <a:p>
                      <a:pPr>
                        <a:lnSpc>
                          <a:spcPct val="106000"/>
                        </a:lnSpc>
                      </a:pPr>
                      <a:r>
                        <a:rPr lang="el-GR" sz="1050" b="1" noProof="0">
                          <a:solidFill>
                            <a:schemeClr val="tx2"/>
                          </a:solidFill>
                        </a:rPr>
                        <a:t xml:space="preserve">Εκπομπές CO₂e Scope 2 (βάσει τοποθεσίας) </a:t>
                      </a:r>
                      <a:r>
                        <a:rPr lang="el-GR" sz="1050" b="1" noProof="0">
                          <a:solidFill>
                            <a:schemeClr val="tx2"/>
                          </a:solidFill>
                        </a:rPr>
                        <a:t xml:space="preserve"/>
                      </a:r>
                      <a:r>
                        <a:rPr lang="el-GR" sz="1050" b="1" noProof="0">
                          <a:solidFill>
                            <a:schemeClr val="tx2"/>
                          </a:solidFill>
                        </a:rPr>
                        <a:t xml:space="preserve"/>
                      </a:r>
                      <a:r>
                        <a:rPr lang="el-GR" sz="1050" b="1" noProof="0">
                          <a:solidFill>
                            <a:schemeClr val="tx2"/>
                          </a:solidFill>
                        </a:rPr>
                        <a:t xml:space="preserve"/>
                      </a:r>
                      <a:endParaRPr lang="el-G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1050" b="0" i="0" u="none" strike="noStrike" noProof="0">
                          <a:solidFill>
                            <a:srgbClr val="1B4528"/>
                          </a:solidFill>
                          <a:effectLst/>
                          <a:latin typeface="Inter"/>
                        </a:rPr>
                        <a:t>{{scope2}}</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7481">
                <a:tc>
                  <a:txBody>
                    <a:bodyPr/>
                    <a:lstStyle/>
                    <a:p>
                      <a:pPr>
                        <a:lnSpc>
                          <a:spcPct val="106000"/>
                        </a:lnSpc>
                      </a:pPr>
                      <a:r>
                        <a:rPr lang="el-GR" sz="1050" b="1" noProof="0">
                          <a:solidFill>
                            <a:schemeClr val="tx2"/>
                          </a:solidFill>
                        </a:rPr>
                        <a:t xml:space="preserve">Συνολικές εκπομπές CO₂e Scope 1 και 2 </a:t>
                      </a:r>
                      <a:r>
                        <a:rPr lang="el-GR" sz="1050" b="1" noProof="0">
                          <a:solidFill>
                            <a:schemeClr val="tx2"/>
                          </a:solidFill>
                        </a:rPr>
                        <a:t xml:space="preserve"/>
                      </a:r>
                      <a:r>
                        <a:rPr lang="el-GR" sz="1050" b="1" noProof="0">
                          <a:solidFill>
                            <a:schemeClr val="tx2"/>
                          </a:solidFill>
                        </a:rPr>
                        <a:t xml:space="preserve"/>
                      </a:r>
                      <a:r>
                        <a:rPr lang="el-GR" sz="1050" b="1" noProof="0">
                          <a:solidFill>
                            <a:schemeClr val="tx2"/>
                          </a:solidFill>
                        </a:rPr>
                        <a:t xml:space="preserve"/>
                      </a:r>
                      <a:r>
                        <a:rPr lang="el-GR" sz="1050" b="1" noProof="0">
                          <a:solidFill>
                            <a:schemeClr val="tx2"/>
                          </a:solidFill>
                        </a:rPr>
                        <a:t xml:space="preserve"/>
                      </a:r>
                      <a:r>
                        <a:rPr lang="el-GR" sz="1050" b="1" noProof="0">
                          <a:solidFill>
                            <a:schemeClr val="tx2"/>
                          </a:solidFill>
                        </a:rPr>
                        <a:t xml:space="preserve"/>
                      </a:r>
                      <a:r>
                        <a:rPr lang="el-GR" sz="1050" b="1" noProof="0">
                          <a:solidFill>
                            <a:schemeClr val="tx2"/>
                          </a:solidFill>
                        </a:rPr>
                        <a:t xml:space="preserve"/>
                      </a:r>
                      <a:endParaRPr lang="el-G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total_scope</a:t>
                      </a:r>
                      <a:r>
                        <a:rPr lang="el-GR" sz="1050" b="0" i="0" u="none" strike="noStrike" noProof="0">
                          <a:solidFill>
                            <a:srgbClr val="1B4528"/>
                          </a:solidFill>
                          <a:effectLst/>
                          <a:latin typeface="Inter"/>
                        </a:rPr>
                        <a: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graphicFrame>
        <p:nvGraphicFramePr>
          <p:cNvPr id="16" name="B3 market-based (voluntary)"/>
          <p:cNvGraphicFramePr>
            <a:graphicFrameLocks noGrp="1"/>
          </p:cNvGraphicFramePr>
          <p:nvPr>
            <p:extLst>
              <p:ext uri="{D42A27DB-BD31-4B8C-83A1-F6EECF244321}">
                <p14:modId xmlns:p14="http://schemas.microsoft.com/office/powerpoint/2010/main" val="4106924491"/>
              </p:ext>
            </p:extLst>
          </p:nvPr>
        </p:nvGraphicFramePr>
        <p:xfrm>
          <a:off x="445491" y="6252820"/>
          <a:ext cx="9801009" cy="474962"/>
        </p:xfrm>
        <a:graphic>
          <a:graphicData uri="http://schemas.openxmlformats.org/drawingml/2006/table">
            <a:tbl>
              <a:tblPr firstRow="0">
                <a:tableStyleId>{2A488322-F2BA-4B5B-9748-0D474271808F}</a:tableStyleId>
              </a:tblPr>
              <a:tblGrid>
                <a:gridCol w="7759816">
                  <a:extLst>
                    <a:ext uri="{9D8B030D-6E8A-4147-A177-3AD203B41FA5}">
                      <a16:colId xmlns:a16="http://schemas.microsoft.com/office/drawing/2014/main" val="2698153288"/>
                    </a:ext>
                  </a:extLst>
                </a:gridCol>
                <a:gridCol w="2041192">
                  <a:extLst>
                    <a:ext uri="{9D8B030D-6E8A-4147-A177-3AD203B41FA5}">
                      <a16:colId xmlns:a16="http://schemas.microsoft.com/office/drawing/2014/main" val="656209149"/>
                    </a:ext>
                  </a:extLst>
                </a:gridCol>
              </a:tblGrid>
              <a:tr h="237481">
                <a:tc>
                  <a:txBody>
                    <a:bodyPr/>
                    <a:lstStyle/>
                    <a:p>
                      <a:pPr>
                        <a:lnSpc>
                          <a:spcPct val="106000"/>
                        </a:lnSpc>
                      </a:pPr>
                      <a:r>
                        <a:rPr lang="el-GR" sz="1050" b="1" noProof="0">
                          <a:solidFill>
                            <a:schemeClr val="tx2"/>
                          </a:solidFill>
                        </a:rPr>
                        <a:t xml:space="preserve">Εκπομπές CO₂e Scope 2 (βάσει αγοράς) (προαιρετικό)</a:t>
                      </a:r>
                      <a:endParaRPr lang="el-G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1050" b="0" i="0" u="none" strike="noStrike" noProof="0">
                          <a:solidFill>
                            <a:srgbClr val="1B4528"/>
                          </a:solidFill>
                          <a:effectLst/>
                          <a:latin typeface="Inter"/>
                        </a:rPr>
                        <a:t>{{scope1_marked}}</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7481">
                <a:tc>
                  <a:txBody>
                    <a:bodyPr/>
                    <a:lstStyle/>
                    <a:p>
                      <a:pPr>
                        <a:lnSpc>
                          <a:spcPct val="106000"/>
                        </a:lnSpc>
                      </a:pPr>
                      <a:r>
                        <a:rPr lang="el-GR" sz="1050" b="1" noProof="0">
                          <a:solidFill>
                            <a:schemeClr val="tx2"/>
                          </a:solidFill>
                        </a:rPr>
                        <a:t xml:space="preserve">Συνολικές εκπομπές CO₂e Scope 1 και 2 (βάσει αγοράς) (προαιρετικό)</a:t>
                      </a:r>
                      <a:endParaRPr lang="el-G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1050" b="0" i="0" u="none" strike="noStrike" noProof="0">
                          <a:solidFill>
                            <a:srgbClr val="1B4528"/>
                          </a:solidFill>
                          <a:effectLst/>
                          <a:latin typeface="Inter"/>
                        </a:rPr>
                        <a:t>{{scope2_marked}}</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Tree>
    <p:extLst>
      <p:ext uri="{BB962C8B-B14F-4D97-AF65-F5344CB8AC3E}">
        <p14:creationId xmlns:p14="http://schemas.microsoft.com/office/powerpoint/2010/main" val="29107655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l-GR" noProof="0"/>
              <a:t xml:space="preserve">Ρύπανση του αέρα, του νερού και του εδάφους (B4)</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386996641"/>
              </p:ext>
            </p:extLst>
          </p:nvPr>
        </p:nvGraphicFramePr>
        <p:xfrm>
          <a:off x="445498" y="1458651"/>
          <a:ext cx="9784531" cy="701553"/>
        </p:xfrm>
        <a:graphic>
          <a:graphicData uri="http://schemas.openxmlformats.org/drawingml/2006/table">
            <a:tbl>
              <a:tblPr firstRow="1">
                <a:tableStyleId>{2A488322-F2BA-4B5B-9748-0D474271808F}</a:tableStyleId>
              </a:tblPr>
              <a:tblGrid>
                <a:gridCol w="3099832">
                  <a:extLst>
                    <a:ext uri="{9D8B030D-6E8A-4147-A177-3AD203B41FA5}">
                      <a16:colId xmlns:a16="http://schemas.microsoft.com/office/drawing/2014/main" val="2698153288"/>
                    </a:ext>
                  </a:extLst>
                </a:gridCol>
                <a:gridCol w="2988788">
                  <a:extLst>
                    <a:ext uri="{9D8B030D-6E8A-4147-A177-3AD203B41FA5}">
                      <a16:colId xmlns:a16="http://schemas.microsoft.com/office/drawing/2014/main" val="2119413191"/>
                    </a:ext>
                  </a:extLst>
                </a:gridCol>
                <a:gridCol w="3695912">
                  <a:extLst>
                    <a:ext uri="{9D8B030D-6E8A-4147-A177-3AD203B41FA5}">
                      <a16:colId xmlns:a16="http://schemas.microsoft.com/office/drawing/2014/main" val="683090399"/>
                    </a:ext>
                  </a:extLst>
                </a:gridCol>
              </a:tblGrid>
              <a:tr h="245049">
                <a:tc gridSpan="3">
                  <a:txBody>
                    <a:bodyPr/>
                    <a:lstStyle/>
                    <a:p>
                      <a:pPr>
                        <a:lnSpc>
                          <a:spcPct val="106000"/>
                        </a:lnSpc>
                      </a:pPr>
                      <a:r>
                        <a:rPr lang="el-GR" sz="1050" b="1" noProof="0">
                          <a:solidFill>
                            <a:schemeClr val="tx2"/>
                          </a:solidFill>
                        </a:rPr>
                        <a:t xml:space="preserve">Ρύπανση του αέρα, του νερού και του εδάφους </a:t>
                      </a:r>
                      <a:r>
                        <a:rPr lang="el-GR" sz="1050" b="0" noProof="0">
                          <a:solidFill>
                            <a:schemeClr val="tx2"/>
                          </a:solidFill>
                        </a:rPr>
                        <a:t xml:space="preserve">(παρ. 34) </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700"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l-GR"/>
                    </a:p>
                  </a:txBody>
                  <a:tcPr/>
                </a:tc>
                <a:extLst>
                  <a:ext uri="{0D108BD9-81ED-4DB2-BD59-A6C34878D82A}">
                    <a16:rowId xmlns:a16="http://schemas.microsoft.com/office/drawing/2014/main" val="625231048"/>
                  </a:ext>
                </a:extLst>
              </a:tr>
              <a:tr h="245049">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lang="el-GR" sz="1050" b="1" noProof="0">
                          <a:solidFill>
                            <a:schemeClr val="tx2"/>
                          </a:solidFill>
                        </a:rPr>
                        <a:t xml:space="preserve">Τύπος ρύπανσης </a:t>
                      </a:r>
                      <a:r>
                        <a:rPr lang="el-GR" sz="1050" b="0" noProof="0">
                          <a:solidFill>
                            <a:schemeClr val="tx2"/>
                          </a:solidFill>
                        </a:rPr>
                        <a:t xml:space="preserve">(π.χ. ουσία)</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el-GR" sz="1050" b="1" noProof="0">
                          <a:solidFill>
                            <a:schemeClr val="tx2"/>
                          </a:solidFill>
                        </a:rPr>
                        <a:t xml:space="preserve">Πού; </a:t>
                      </a:r>
                      <a:r>
                        <a:rPr lang="el-GR" sz="1050" b="0" noProof="0">
                          <a:solidFill>
                            <a:schemeClr val="tx2"/>
                          </a:solidFill>
                        </a:rPr>
                        <a:t xml:space="preserve">(αέρας, νερό, έδαφος)</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el-GR" sz="1050" b="1" noProof="0">
                          <a:solidFill>
                            <a:schemeClr val="tx2"/>
                          </a:solidFill>
                        </a:rPr>
                        <a:t xml:space="preserve">Ποσότητα</a:t>
                      </a:r>
                      <a:endParaRPr lang="el-GR" sz="1050" b="0"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11456">
                <a:tc>
                  <a:txBody>
                    <a:bodyPr/>
                    <a:lstStyle/>
                    <a:p>
                      <a:pPr rtl="0" fontAlgn="ctr" algn="l">
                        <a:buNone/>
                      </a:pPr>
                      <a:r>
                        <a:rPr lang="el-GR" sz="1050" b="0" i="0" u="none" strike="noStrike" noProof="0">
                          <a:solidFill>
                            <a:srgbClr val="1B4528"/>
                          </a:solidFill>
                          <a:effectLst/>
                          <a:latin typeface="Inter"/>
                        </a:rPr>
                        <a:t>{{type_of_pollution}}</a:t>
                      </a:r>
                      <a:endParaRPr lang="el-GR" sz="105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r" rtl="0" fontAlgn="ctr">
                        <a:buNone/>
                      </a:pPr>
                      <a:r>
                        <a:rPr lang="el-GR" sz="1050" b="0" i="0" u="none" strike="noStrike" noProof="0">
                          <a:solidFill>
                            <a:srgbClr val="1B4528"/>
                          </a:solidFill>
                          <a:effectLst/>
                          <a:latin typeface="Inter"/>
                        </a:rPr>
                        <a:t>{{scope_pollution}}</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el-GR" sz="1050" b="0" i="0" u="none" strike="noStrike" noProof="0">
                          <a:solidFill>
                            <a:srgbClr val="1B4528"/>
                          </a:solidFill>
                          <a:effectLst/>
                          <a:latin typeface="Inter"/>
                        </a:rPr>
                        <a:t>{{pollution_medium}}</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7</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br>
              <a:rPr lang="el-GR" noProof="0"/>
            </a:br>
            <a:endParaRPr lang="el-GR" noProof="0"/>
          </a:p>
        </p:txBody>
      </p:sp>
      <p:sp>
        <p:nvSpPr>
          <p:cNvPr id="10" name="Tekstfelt 9">
            <a:extLst>
              <a:ext uri="{FF2B5EF4-FFF2-40B4-BE49-F238E27FC236}">
                <a16:creationId xmlns:a16="http://schemas.microsoft.com/office/drawing/2014/main" id="{CADEAD42-343C-93CC-A8B0-E63EFFC56411}"/>
              </a:ext>
            </a:extLst>
          </p:cNvPr>
          <p:cNvSpPr txBox="1"/>
          <p:nvPr/>
        </p:nvSpPr>
        <p:spPr>
          <a:xfrm>
            <a:off x="461968" y="891000"/>
            <a:ext cx="9784532" cy="404866"/>
          </a:xfrm>
          <a:prstGeom prst="rect">
            <a:avLst/>
          </a:prstGeom>
          <a:noFill/>
        </p:spPr>
        <p:txBody>
          <a:bodyPr wrap="square">
            <a:spAutoFit/>
          </a:bodyPr>
          <a:lstStyle/>
          <a:p>
            <a:pPr rtl="0">
              <a:buNone/>
            </a:pPr>
            <a:r>
              <a:rPr lang="el-GR" sz="1050" b="0" i="0" u="none" strike="noStrike" noProof="0">
                <a:solidFill>
                  <a:schemeClr val="tx2"/>
                </a:solidFill>
                <a:effectLst/>
                <a:latin typeface="Inter"/>
              </a:rPr>
              <a:t xml:space="preserve">Η επιχείρηση αναφέρει τη συνολική ποσότητα ρύπων που εκπέμπονται από τις εγκαταστάσεις της. Οι συγκεκριμένοι ρύποι και οι ποσότητές τους στον αέρα, το νερό και το έδαφος</a:t>
            </a:r>
            <a:r>
              <a:rPr lang="el-GR" sz="1050" noProof="0">
                <a:solidFill>
                  <a:schemeClr val="tx2"/>
                </a:solidFill>
                <a:latin typeface="Inter"/>
              </a:rPr>
              <a:t xml:space="preserve"> παρατίθενται κατωτέρω.</a:t>
            </a:r>
          </a:p>
        </p:txBody>
      </p:sp>
      <p:sp>
        <p:nvSpPr>
          <p:cNvPr id="16" name="Title 3">
            <a:extLst>
              <a:ext uri="{FF2B5EF4-FFF2-40B4-BE49-F238E27FC236}">
                <a16:creationId xmlns:a16="http://schemas.microsoft.com/office/drawing/2014/main" id="{82FDC1C8-BB82-8F83-2FCB-640700A5A089}"/>
              </a:ext>
            </a:extLst>
          </p:cNvPr>
          <p:cNvSpPr txBox="1">
            <a:spLocks/>
          </p:cNvSpPr>
          <p:nvPr/>
        </p:nvSpPr>
        <p:spPr>
          <a:xfrm>
            <a:off x="454796" y="2945868"/>
            <a:ext cx="9791704" cy="218627"/>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575" b="1" kern="1200" spc="-10" baseline="0">
                <a:solidFill>
                  <a:schemeClr val="tx2"/>
                </a:solidFill>
                <a:latin typeface="+mj-lt"/>
                <a:ea typeface="+mj-ea"/>
                <a:cs typeface="+mj-cs"/>
              </a:defRPr>
            </a:lvl1pPr>
          </a:lstStyle>
          <a:p>
            <a:r>
              <a:rPr lang="el-GR" noProof="0"/>
              <a:t xml:space="preserve">Βιοποικιλότητα (B5) </a:t>
            </a:r>
          </a:p>
        </p:txBody>
      </p:sp>
      <p:graphicFrame>
        <p:nvGraphicFramePr>
          <p:cNvPr id="17" name="Table 12">
            <a:extLst>
              <a:ext uri="{FF2B5EF4-FFF2-40B4-BE49-F238E27FC236}">
                <a16:creationId xmlns:a16="http://schemas.microsoft.com/office/drawing/2014/main" id="{2F8CEDBC-7529-8ACB-98F8-C532E7876A9C}"/>
              </a:ext>
            </a:extLst>
          </p:cNvPr>
          <p:cNvGraphicFramePr>
            <a:graphicFrameLocks noGrp="1"/>
          </p:cNvGraphicFramePr>
          <p:nvPr>
            <p:extLst>
              <p:ext uri="{D42A27DB-BD31-4B8C-83A1-F6EECF244321}">
                <p14:modId xmlns:p14="http://schemas.microsoft.com/office/powerpoint/2010/main" val="3123879907"/>
              </p:ext>
            </p:extLst>
          </p:nvPr>
        </p:nvGraphicFramePr>
        <p:xfrm>
          <a:off x="454795" y="4100380"/>
          <a:ext cx="9791703" cy="845625"/>
        </p:xfrm>
        <a:graphic>
          <a:graphicData uri="http://schemas.openxmlformats.org/drawingml/2006/table">
            <a:tbl>
              <a:tblPr firstRow="1">
                <a:tableStyleId>{2A488322-F2BA-4B5B-9748-0D474271808F}</a:tableStyleId>
              </a:tblPr>
              <a:tblGrid>
                <a:gridCol w="1778433">
                  <a:extLst>
                    <a:ext uri="{9D8B030D-6E8A-4147-A177-3AD203B41FA5}">
                      <a16:colId xmlns:a16="http://schemas.microsoft.com/office/drawing/2014/main" val="2698153288"/>
                    </a:ext>
                  </a:extLst>
                </a:gridCol>
                <a:gridCol w="2671090">
                  <a:extLst>
                    <a:ext uri="{9D8B030D-6E8A-4147-A177-3AD203B41FA5}">
                      <a16:colId xmlns:a16="http://schemas.microsoft.com/office/drawing/2014/main" val="2119413191"/>
                    </a:ext>
                  </a:extLst>
                </a:gridCol>
                <a:gridCol w="2671090">
                  <a:extLst>
                    <a:ext uri="{9D8B030D-6E8A-4147-A177-3AD203B41FA5}">
                      <a16:colId xmlns:a16="http://schemas.microsoft.com/office/drawing/2014/main" val="656209149"/>
                    </a:ext>
                  </a:extLst>
                </a:gridCol>
                <a:gridCol w="2671090">
                  <a:extLst>
                    <a:ext uri="{9D8B030D-6E8A-4147-A177-3AD203B41FA5}">
                      <a16:colId xmlns:a16="http://schemas.microsoft.com/office/drawing/2014/main" val="1502960985"/>
                    </a:ext>
                  </a:extLst>
                </a:gridCol>
              </a:tblGrid>
              <a:tr h="202471">
                <a:tc gridSpan="4">
                  <a:txBody>
                    <a:bodyPr/>
                    <a:lstStyle/>
                    <a:p>
                      <a:r>
                        <a:rPr lang="el-GR" sz="1050" b="1" noProof="0">
                          <a:solidFill>
                            <a:schemeClr val="tx2"/>
                          </a:solidFill>
                        </a:rPr>
                        <a:t xml:space="preserve">Τοποθεσίες εντός ή πλησίον «περιοχών ευαίσθητων ως προς τη βιοποικιλότητα» που η επιχείρηση κατέχει, μισθώνει ή διαχειρίζεται </a:t>
                      </a:r>
                      <a:r>
                        <a:rPr lang="el-GR" sz="1050" b="0" noProof="0">
                          <a:solidFill>
                            <a:schemeClr val="tx2"/>
                          </a:solidFill>
                        </a:rPr>
                        <a:t xml:space="preserve">(παρ. 35)</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700"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700"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700"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02743">
                <a:tc>
                  <a:txBody>
                    <a:bodyPr/>
                    <a:lstStyle/>
                    <a:p>
                      <a:r>
                        <a:rPr lang="el-GR" sz="1050" b="1" noProof="0">
                          <a:solidFill>
                            <a:schemeClr val="tx2"/>
                          </a:solidFill>
                        </a:rPr>
                        <a:t xml:space="preserve">Τοποθεσία</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l-GR" sz="1050" b="1" noProof="0">
                          <a:solidFill>
                            <a:schemeClr val="tx2"/>
                          </a:solidFill>
                        </a:rPr>
                        <a:t xml:space="preserve">Έκταση σε εκτάρια</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l-GR" sz="1050" b="1" noProof="0">
                          <a:solidFill>
                            <a:schemeClr val="tx2"/>
                          </a:solidFill>
                        </a:rPr>
                        <a:t xml:space="preserve">Ευαίσθητη περιοχή βιοποικιλότητας</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l-GR" sz="1050" b="1" noProof="0">
                          <a:solidFill>
                            <a:schemeClr val="tx2"/>
                          </a:solidFill>
                        </a:rPr>
                        <a:t xml:space="preserve">Διευκρίνιση: εντός ή πλησίον ευαίσθητης περιοχής βιοποικιλότητας</a:t>
                      </a:r>
                      <a:endParaRPr lang="el-G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38201">
                <a:tc>
                  <a:txBody>
                    <a:bodyPr/>
                    <a:lstStyle/>
                    <a:p>
                      <a:pPr rtl="0" fontAlgn="ctr" algn="l">
                        <a:buNone/>
                      </a:pPr>
                      <a:r>
                        <a:rPr lang="el-GR" sz="1050" b="0" i="0" u="none" strike="noStrike" noProof="0">
                          <a:solidFill>
                            <a:srgbClr val="1B4528"/>
                          </a:solidFill>
                          <a:effectLst/>
                          <a:latin typeface="Inter"/>
                        </a:rPr>
                        <a:t>{{country_location}}</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lgn="r">
                        <a:buNone/>
                      </a:pPr>
                      <a:r>
                        <a:rPr lang="el-GR" sz="1050" b="0" i="0" u="none" strike="noStrike" noProof="0">
                          <a:solidFill>
                            <a:srgbClr val="1B4528"/>
                          </a:solidFill>
                          <a:effectLst/>
                          <a:latin typeface="Inter"/>
                        </a:rPr>
                        <a:t> {{area_hect}}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1050" b="0" i="0" u="none" strike="noStrike" noProof="0">
                          <a:solidFill>
                            <a:srgbClr val="1B4528"/>
                          </a:solidFill>
                          <a:effectLst/>
                          <a:latin typeface="Inter"/>
                        </a:rPr>
                        <a:t>{{area_name}}</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1050" b="0" i="0" u="none" strike="noStrike" noProof="0">
                          <a:solidFill>
                            <a:srgbClr val="1B4528"/>
                          </a:solidFill>
                          <a:effectLst/>
                          <a:latin typeface="Inter"/>
                        </a:rPr>
                        <a:t>{{biosensitive_area}}</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8" name="Tekstfelt 17">
            <a:extLst>
              <a:ext uri="{FF2B5EF4-FFF2-40B4-BE49-F238E27FC236}">
                <a16:creationId xmlns:a16="http://schemas.microsoft.com/office/drawing/2014/main" id="{6378062B-84AF-684A-9726-0422CE54B0A8}"/>
              </a:ext>
            </a:extLst>
          </p:cNvPr>
          <p:cNvSpPr txBox="1"/>
          <p:nvPr/>
        </p:nvSpPr>
        <p:spPr>
          <a:xfrm>
            <a:off x="445499" y="3291561"/>
            <a:ext cx="9791703" cy="566812"/>
          </a:xfrm>
          <a:prstGeom prst="rect">
            <a:avLst/>
          </a:prstGeom>
          <a:noFill/>
        </p:spPr>
        <p:txBody>
          <a:bodyPr wrap="square">
            <a:spAutoFit/>
          </a:bodyPr>
          <a:lstStyle/>
          <a:p>
            <a:pPr rtl="0">
              <a:spcBef>
                <a:spcPts val="789"/>
              </a:spcBef>
              <a:spcAft>
                <a:spcPts val="789"/>
              </a:spcAft>
              <a:buNone/>
            </a:pPr>
            <a:r>
              <a:rPr lang="el-GR" sz="1050" b="0" i="0" u="none" strike="noStrike" noProof="0">
                <a:solidFill>
                  <a:schemeClr val="tx2"/>
                </a:solidFill>
                <a:effectLst/>
                <a:latin typeface="Inter"/>
              </a:rPr>
              <a:t xml:space="preserve">Τα στοιχεία της επιχείρησης αφορούν τις τοποθεσίες δραστηριότητας που βρίσκονται εντός ή πλησίον περιοχών ευαίσθητων ως προς τη βιοποικιλότητα. Οι περιοχές αυτές ορίζονται ως τέτοιες από ειδικές διατάξεις προστασίας της φύσης σε ευρωπαϊκό ή διεθνές επίπεδο. Περιλαμβάνουν περιοχές Natura 2000, UNESCO και βασικές περιοχές βιοποικιλότητας (KBA), καθώς και άλλες προστατευόμενες περιοχές.</a:t>
            </a:r>
            <a:r>
              <a:rPr lang="el-GR" sz="1050" b="0" i="0" u="none" strike="noStrike" noProof="0">
                <a:solidFill>
                  <a:schemeClr val="tx2"/>
                </a:solidFill>
                <a:effectLst/>
                <a:latin typeface="Inter"/>
              </a:rPr>
              <a:t xml:space="preserve"/>
            </a:r>
            <a:r>
              <a:rPr lang="el-GR" sz="1050" b="0" i="0" u="none" strike="noStrike" noProof="0">
                <a:solidFill>
                  <a:schemeClr val="tx2"/>
                </a:solidFill>
                <a:effectLst/>
                <a:latin typeface="Inter"/>
              </a:rPr>
              <a:t xml:space="preserve"/>
            </a:r>
            <a:endParaRPr lang="el-GR" sz="1050" noProof="0">
              <a:solidFill>
                <a:schemeClr val="tx2"/>
              </a:solidFill>
              <a:latin typeface="Inter"/>
            </a:endParaRPr>
          </a:p>
        </p:txBody>
      </p:sp>
    </p:spTree>
    <p:extLst>
      <p:ext uri="{BB962C8B-B14F-4D97-AF65-F5344CB8AC3E}">
        <p14:creationId xmlns:p14="http://schemas.microsoft.com/office/powerpoint/2010/main" val="2705646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l-GR" noProof="0"/>
              <a:t xml:space="preserve">Νερό (B6)</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405295352"/>
              </p:ext>
            </p:extLst>
          </p:nvPr>
        </p:nvGraphicFramePr>
        <p:xfrm>
          <a:off x="454796" y="1505077"/>
          <a:ext cx="4220433" cy="1188392"/>
        </p:xfrm>
        <a:graphic>
          <a:graphicData uri="http://schemas.openxmlformats.org/drawingml/2006/table">
            <a:tbl>
              <a:tblPr firstRow="1">
                <a:tableStyleId>{2A488322-F2BA-4B5B-9748-0D474271808F}</a:tableStyleId>
              </a:tblPr>
              <a:tblGrid>
                <a:gridCol w="2707414">
                  <a:extLst>
                    <a:ext uri="{9D8B030D-6E8A-4147-A177-3AD203B41FA5}">
                      <a16:colId xmlns:a16="http://schemas.microsoft.com/office/drawing/2014/main" val="2698153288"/>
                    </a:ext>
                  </a:extLst>
                </a:gridCol>
                <a:gridCol w="1513019">
                  <a:extLst>
                    <a:ext uri="{9D8B030D-6E8A-4147-A177-3AD203B41FA5}">
                      <a16:colId xmlns:a16="http://schemas.microsoft.com/office/drawing/2014/main" val="2119413191"/>
                    </a:ext>
                  </a:extLst>
                </a:gridCol>
              </a:tblGrid>
              <a:tr h="5987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050" b="1" noProof="0">
                          <a:solidFill>
                            <a:schemeClr val="tx2"/>
                          </a:solidFill>
                        </a:rPr>
                        <a:t xml:space="preserve">Άντληση νερού </a:t>
                      </a:r>
                      <a:r>
                        <a:rPr lang="el-GR" sz="1050" b="0" noProof="0">
                          <a:solidFill>
                            <a:schemeClr val="tx2"/>
                          </a:solidFill>
                        </a:rPr>
                        <a:t xml:space="preserve">(παρ. 36)</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l-GR" sz="1050" b="1" noProof="0">
                          <a:solidFill>
                            <a:schemeClr val="tx2"/>
                          </a:solidFill>
                        </a:rPr>
                        <a:t xml:space="preserve">Έτος </a:t>
                      </a:r>
                      <a:r>
                        <a:rPr lang="el-GR" sz="1050" b="1" noProof="0">
                          <a:solidFill>
                            <a:srgbClr val="1B4528"/>
                          </a:solidFill>
                        </a:rPr>
                        <a:t>{{</a:t>
                      </a:r>
                      <a:r>
                        <a:rPr lang="el-GR" sz="1050" b="1" noProof="0">
                          <a:solidFill>
                            <a:srgbClr val="1B4528"/>
                          </a:solidFill>
                        </a:rPr>
                        <a:t>insert_year</a:t>
                      </a:r>
                      <a:r>
                        <a:rPr lang="el-GR" sz="1050" b="1" noProof="0">
                          <a:solidFill>
                            <a:srgbClr val="1B4528"/>
                          </a:solidFill>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89625">
                <a:tc>
                  <a:txBody>
                    <a:bodyPr/>
                    <a:lstStyle/>
                    <a:p>
                      <a:r>
                        <a:rPr lang="el-GR" sz="1050" b="0" noProof="0">
                          <a:solidFill>
                            <a:schemeClr val="tx2"/>
                          </a:solidFill>
                        </a:rPr>
                        <a:t xml:space="preserve">Σύνολο για όλες τις τοποθεσίες</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050" b="0" i="0" u="none" strike="noStrike" kern="1200" cap="none" spc="0" normalizeH="0" baseline="0" noProof="0">
                          <a:ln>
                            <a:noFill/>
                          </a:ln>
                          <a:solidFill>
                            <a:srgbClr val="1B4528"/>
                          </a:solidFill>
                          <a:effectLst/>
                          <a:uLnTx/>
                          <a:uFillTx/>
                          <a:latin typeface="+mn-lt"/>
                          <a:ea typeface="+mn-ea"/>
                          <a:cs typeface="+mn-cs"/>
                        </a:rPr>
                        <a:t>{{</a:t>
                      </a:r>
                      <a:r>
                        <a:rPr kumimoji="0" lang="el-GR" sz="1050" b="0" i="0" u="none" strike="noStrike" kern="1200" cap="none" spc="0" normalizeH="0" baseline="0" noProof="0">
                          <a:ln>
                            <a:noFill/>
                          </a:ln>
                          <a:solidFill>
                            <a:srgbClr val="1B4528"/>
                          </a:solidFill>
                          <a:effectLst/>
                          <a:uLnTx/>
                          <a:uFillTx/>
                          <a:latin typeface="+mn-lt"/>
                          <a:ea typeface="+mn-ea"/>
                          <a:cs typeface="+mn-cs"/>
                        </a:rPr>
                        <a:t>total_withdrawal</a:t>
                      </a:r>
                      <a:r>
                        <a:rPr kumimoji="0" lang="el-GR" sz="1050" b="0" i="0" u="none" strike="noStrike" kern="1200" cap="none" spc="0" normalizeH="0" baseline="0" noProof="0">
                          <a:ln>
                            <a:noFill/>
                          </a:ln>
                          <a:solidFill>
                            <a:srgbClr val="1B4528"/>
                          </a:solidFill>
                          <a:effectLst/>
                          <a:uLnTx/>
                          <a:uFillTx/>
                          <a:latin typeface="+mn-lt"/>
                          <a:ea typeface="+mn-ea"/>
                          <a:cs typeface="+mn-cs"/>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17" name="Table 16">
            <a:extLst>
              <a:ext uri="{FF2B5EF4-FFF2-40B4-BE49-F238E27FC236}">
                <a16:creationId xmlns:a16="http://schemas.microsoft.com/office/drawing/2014/main" id="{129EF77F-F7DE-E3A9-5E62-3B0DED7F1A69}"/>
              </a:ext>
            </a:extLst>
          </p:cNvPr>
          <p:cNvGraphicFramePr>
            <a:graphicFrameLocks noGrp="1"/>
          </p:cNvGraphicFramePr>
          <p:nvPr>
            <p:extLst>
              <p:ext uri="{D42A27DB-BD31-4B8C-83A1-F6EECF244321}">
                <p14:modId xmlns:p14="http://schemas.microsoft.com/office/powerpoint/2010/main" val="44075883"/>
              </p:ext>
            </p:extLst>
          </p:nvPr>
        </p:nvGraphicFramePr>
        <p:xfrm>
          <a:off x="4856790" y="1505077"/>
          <a:ext cx="5389710" cy="1188392"/>
        </p:xfrm>
        <a:graphic>
          <a:graphicData uri="http://schemas.openxmlformats.org/drawingml/2006/table">
            <a:tbl>
              <a:tblPr firstRow="1">
                <a:tableStyleId>{2A488322-F2BA-4B5B-9748-0D474271808F}</a:tableStyleId>
              </a:tblPr>
              <a:tblGrid>
                <a:gridCol w="4061893">
                  <a:extLst>
                    <a:ext uri="{9D8B030D-6E8A-4147-A177-3AD203B41FA5}">
                      <a16:colId xmlns:a16="http://schemas.microsoft.com/office/drawing/2014/main" val="2698153288"/>
                    </a:ext>
                  </a:extLst>
                </a:gridCol>
                <a:gridCol w="1327817">
                  <a:extLst>
                    <a:ext uri="{9D8B030D-6E8A-4147-A177-3AD203B41FA5}">
                      <a16:colId xmlns:a16="http://schemas.microsoft.com/office/drawing/2014/main" val="2119413191"/>
                    </a:ext>
                  </a:extLst>
                </a:gridCol>
              </a:tblGrid>
              <a:tr h="42964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050" b="1" noProof="0">
                          <a:solidFill>
                            <a:schemeClr val="tx2"/>
                          </a:solidFill>
                        </a:rPr>
                        <a:t xml:space="preserve">Κατανάλωση νερού </a:t>
                      </a:r>
                      <a:r>
                        <a:rPr lang="el-GR" sz="1050" b="0" noProof="0">
                          <a:solidFill>
                            <a:schemeClr val="tx2"/>
                          </a:solidFill>
                        </a:rPr>
                        <a:t xml:space="preserve">(παρ. 37)</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l-GR" sz="1050" b="1" noProof="0">
                          <a:solidFill>
                            <a:schemeClr val="tx2"/>
                          </a:solidFill>
                        </a:rPr>
                        <a:t xml:space="preserve">Έτος </a:t>
                      </a:r>
                      <a:r>
                        <a:rPr lang="el-GR" sz="1050" b="1" noProof="0">
                          <a:solidFill>
                            <a:srgbClr val="1B4528"/>
                          </a:solidFill>
                        </a:rPr>
                        <a:t>{{</a:t>
                      </a:r>
                      <a:r>
                        <a:rPr lang="el-GR" sz="1050" b="1" noProof="0">
                          <a:solidFill>
                            <a:srgbClr val="1B4528"/>
                          </a:solidFill>
                        </a:rPr>
                        <a:t>insert_year</a:t>
                      </a:r>
                      <a:r>
                        <a:rPr lang="el-GR" sz="1050" b="1" noProof="0">
                          <a:solidFill>
                            <a:srgbClr val="1B4528"/>
                          </a:solidFill>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56518">
                <a:tc>
                  <a:txBody>
                    <a:bodyPr/>
                    <a:lstStyle/>
                    <a:p>
                      <a:r>
                        <a:rPr lang="el-GR" sz="1050" b="0" noProof="0">
                          <a:solidFill>
                            <a:schemeClr val="tx2"/>
                          </a:solidFill>
                        </a:rPr>
                        <a:t xml:space="preserve">Σύνολο για όλες τις τοποθεσίες</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consumption_total</a:t>
                      </a:r>
                      <a:r>
                        <a:rPr lang="el-GR" sz="1050" b="0" i="0" u="none" strike="noStrike" noProof="0">
                          <a:solidFill>
                            <a:srgbClr val="1B4528"/>
                          </a:solidFill>
                          <a:effectLst/>
                          <a:latin typeface="Inter"/>
                        </a:rPr>
                        <a: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4022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050" b="0" noProof="0">
                          <a:solidFill>
                            <a:schemeClr val="tx2"/>
                          </a:solidFill>
                        </a:rPr>
                        <a:t xml:space="preserve">Από τοποθεσίες σε περιοχές λειψυδρίας (υψηλή υδατική καταπόνηση)</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consumption_waterstress</a:t>
                      </a:r>
                      <a:r>
                        <a:rPr lang="el-GR" sz="1050" b="0" i="0" u="none" strike="noStrike" noProof="0">
                          <a:solidFill>
                            <a:srgbClr val="1B4528"/>
                          </a:solidFill>
                          <a:effectLst/>
                          <a:latin typeface="Inter"/>
                        </a:rPr>
                        <a:t>}}</a:t>
                      </a:r>
                      <a:endParaRPr lang="el-GR" sz="105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75797269"/>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8</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br>
              <a:rPr lang="el-GR" noProof="0"/>
            </a:br>
            <a:endParaRPr lang="el-GR" noProof="0"/>
          </a:p>
        </p:txBody>
      </p:sp>
      <p:sp>
        <p:nvSpPr>
          <p:cNvPr id="11" name="Tekstfelt 10">
            <a:extLst>
              <a:ext uri="{FF2B5EF4-FFF2-40B4-BE49-F238E27FC236}">
                <a16:creationId xmlns:a16="http://schemas.microsoft.com/office/drawing/2014/main" id="{ECB95649-80E1-C470-34F3-6ED206EE57AE}"/>
              </a:ext>
            </a:extLst>
          </p:cNvPr>
          <p:cNvSpPr txBox="1"/>
          <p:nvPr/>
        </p:nvSpPr>
        <p:spPr>
          <a:xfrm>
            <a:off x="445500" y="901932"/>
            <a:ext cx="9800999" cy="404866"/>
          </a:xfrm>
          <a:prstGeom prst="rect">
            <a:avLst/>
          </a:prstGeom>
          <a:noFill/>
        </p:spPr>
        <p:txBody>
          <a:bodyPr wrap="square">
            <a:spAutoFit/>
          </a:bodyPr>
          <a:lstStyle/>
          <a:p>
            <a:pPr rtl="0">
              <a:spcBef>
                <a:spcPts val="789"/>
              </a:spcBef>
              <a:buNone/>
            </a:pPr>
            <a:r>
              <a:rPr lang="el-GR" sz="1050" b="0" i="0" u="none" strike="noStrike" noProof="0">
                <a:solidFill>
                  <a:schemeClr val="tx2"/>
                </a:solidFill>
                <a:effectLst/>
                <a:latin typeface="Inter"/>
              </a:rPr>
              <a:t xml:space="preserve">Η άντληση νερού είναι η ποσότητα νερού που χρησιμοποιεί η επιχείρηση, όπου </a:t>
            </a:r>
            <a:r>
              <a:rPr lang="el-GR" sz="1050" noProof="0">
                <a:solidFill>
                  <a:schemeClr val="tx2"/>
                </a:solidFill>
                <a:latin typeface="Inter"/>
              </a:rPr>
              <a:t xml:space="preserve">η κατανάλωση δηλώνει το νερό που </a:t>
            </a:r>
            <a:r>
              <a:rPr lang="el-GR" sz="1050" b="0" i="0" u="none" strike="noStrike" noProof="0">
                <a:solidFill>
                  <a:schemeClr val="tx2"/>
                </a:solidFill>
                <a:effectLst/>
                <a:latin typeface="Inter"/>
              </a:rPr>
              <a:t xml:space="preserve">δεν απορρίπτεται, ούτε προβλέπεται να απορριφθεί, στο υδάτινο περιβάλλον ή σε τρίτους. Η ενότητα αυτή αναφέρει τη συνολική άντληση νερού. Η κατανάλωση</a:t>
            </a:r>
            <a:r>
              <a:rPr lang="el-GR" sz="1050" noProof="0">
                <a:solidFill>
                  <a:schemeClr val="tx2"/>
                </a:solidFill>
                <a:latin typeface="Inter"/>
              </a:rPr>
              <a:t> </a:t>
            </a:r>
            <a:r>
              <a:rPr lang="el-GR" sz="1050" b="0" i="0" u="none" strike="noStrike" noProof="0">
                <a:solidFill>
                  <a:schemeClr val="tx2"/>
                </a:solidFill>
                <a:effectLst/>
                <a:latin typeface="Inter"/>
              </a:rPr>
              <a:t xml:space="preserve">και η απόρριψη νερού από περιοχές υψηλής υδατικής καταπόνησης παρατίθενται κατωτέρω.</a:t>
            </a:r>
            <a:endParaRPr lang="el-GR" sz="1050" b="0" noProof="0">
              <a:solidFill>
                <a:schemeClr val="tx2"/>
              </a:solidFill>
              <a:effectLst/>
              <a:latin typeface="Inter"/>
            </a:endParaRPr>
          </a:p>
        </p:txBody>
      </p:sp>
      <p:sp>
        <p:nvSpPr>
          <p:cNvPr id="14" name="Title 3">
            <a:extLst>
              <a:ext uri="{FF2B5EF4-FFF2-40B4-BE49-F238E27FC236}">
                <a16:creationId xmlns:a16="http://schemas.microsoft.com/office/drawing/2014/main" id="{B30A223B-CD1E-62E4-7BF1-B5AAB10A8410}"/>
              </a:ext>
            </a:extLst>
          </p:cNvPr>
          <p:cNvSpPr txBox="1">
            <a:spLocks/>
          </p:cNvSpPr>
          <p:nvPr/>
        </p:nvSpPr>
        <p:spPr>
          <a:xfrm>
            <a:off x="454796" y="2803197"/>
            <a:ext cx="9791704" cy="218627"/>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575" b="1" kern="1200" spc="-10" baseline="0">
                <a:solidFill>
                  <a:schemeClr val="tx2"/>
                </a:solidFill>
                <a:latin typeface="+mj-lt"/>
                <a:ea typeface="+mj-ea"/>
                <a:cs typeface="+mj-cs"/>
              </a:defRPr>
            </a:lvl1pPr>
          </a:lstStyle>
          <a:p>
            <a:r>
              <a:rPr lang="el-GR" noProof="0"/>
              <a:t xml:space="preserve">Χρήση πόρων, κυκλική οικονομία και διαχείριση αποβλήτων (B7) </a:t>
            </a:r>
          </a:p>
        </p:txBody>
      </p:sp>
      <p:graphicFrame>
        <p:nvGraphicFramePr>
          <p:cNvPr id="15" name="Table 12">
            <a:extLst>
              <a:ext uri="{FF2B5EF4-FFF2-40B4-BE49-F238E27FC236}">
                <a16:creationId xmlns:a16="http://schemas.microsoft.com/office/drawing/2014/main" id="{DD005B21-4552-1869-0C74-C03ADA88E810}"/>
              </a:ext>
            </a:extLst>
          </p:cNvPr>
          <p:cNvGraphicFramePr>
            <a:graphicFrameLocks noGrp="1"/>
          </p:cNvGraphicFramePr>
          <p:nvPr>
            <p:extLst>
              <p:ext uri="{D42A27DB-BD31-4B8C-83A1-F6EECF244321}">
                <p14:modId xmlns:p14="http://schemas.microsoft.com/office/powerpoint/2010/main" val="1002212790"/>
              </p:ext>
            </p:extLst>
          </p:nvPr>
        </p:nvGraphicFramePr>
        <p:xfrm>
          <a:off x="4856790" y="3188814"/>
          <a:ext cx="5380408" cy="826615"/>
        </p:xfrm>
        <a:graphic>
          <a:graphicData uri="http://schemas.openxmlformats.org/drawingml/2006/table">
            <a:tbl>
              <a:tblPr firstRow="1">
                <a:tableStyleId>{2A488322-F2BA-4B5B-9748-0D474271808F}</a:tableStyleId>
              </a:tblPr>
              <a:tblGrid>
                <a:gridCol w="2128528">
                  <a:extLst>
                    <a:ext uri="{9D8B030D-6E8A-4147-A177-3AD203B41FA5}">
                      <a16:colId xmlns:a16="http://schemas.microsoft.com/office/drawing/2014/main" val="2698153288"/>
                    </a:ext>
                  </a:extLst>
                </a:gridCol>
                <a:gridCol w="1654020">
                  <a:extLst>
                    <a:ext uri="{9D8B030D-6E8A-4147-A177-3AD203B41FA5}">
                      <a16:colId xmlns:a16="http://schemas.microsoft.com/office/drawing/2014/main" val="2119413191"/>
                    </a:ext>
                  </a:extLst>
                </a:gridCol>
                <a:gridCol w="1597860">
                  <a:extLst>
                    <a:ext uri="{9D8B030D-6E8A-4147-A177-3AD203B41FA5}">
                      <a16:colId xmlns:a16="http://schemas.microsoft.com/office/drawing/2014/main" val="656209149"/>
                    </a:ext>
                  </a:extLst>
                </a:gridCol>
              </a:tblGrid>
              <a:tr h="236351">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050" b="1" noProof="0">
                          <a:solidFill>
                            <a:schemeClr val="tx2"/>
                          </a:solidFill>
                        </a:rPr>
                        <a:t xml:space="preserve">Εφαρμογή αρχών κυκλικής οικονομίας </a:t>
                      </a:r>
                      <a:r>
                        <a:rPr lang="el-GR" sz="1050" b="0" noProof="0">
                          <a:solidFill>
                            <a:schemeClr val="tx2"/>
                          </a:solidFill>
                        </a:rPr>
                        <a:t xml:space="preserve">(παρ. 38)</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700"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700"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6091">
                <a:tc rowSpan="2">
                  <a:txBody>
                    <a:bodyPr/>
                    <a:lstStyle/>
                    <a:p>
                      <a:r>
                        <a:rPr lang="el-GR" sz="1050" b="0" noProof="0">
                          <a:solidFill>
                            <a:schemeClr val="tx2"/>
                          </a:solidFill>
                        </a:rPr>
                        <a:t xml:space="preserve">Η επιχείρησή μου εφαρμόζει αρχές κυκλικής οικονομίας</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l-GR" sz="1050" b="1" noProof="0">
                          <a:solidFill>
                            <a:schemeClr val="tx2"/>
                          </a:solidFill>
                        </a:rPr>
                        <a:t xml:space="preserve">Ναι</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l-GR" sz="1050" b="1" noProof="0">
                          <a:solidFill>
                            <a:schemeClr val="tx2"/>
                          </a:solidFill>
                        </a:rPr>
                        <a:t xml:space="preserve">Όχι</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00880">
                <a:tc vMerge="1">
                  <a:txBody>
                    <a:bodyPr/>
                    <a:lstStyle/>
                    <a:p>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circular_economy_princples_yes</a:t>
                      </a:r>
                      <a:r>
                        <a:rPr lang="el-GR" sz="1050" b="0" i="0" u="none" strike="noStrike" noProof="0">
                          <a:solidFill>
                            <a:srgbClr val="1B4528"/>
                          </a:solidFill>
                          <a:effectLst/>
                          <a:latin typeface="Inter"/>
                        </a:rPr>
                        <a: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circular_economy_princples_no</a:t>
                      </a:r>
                      <a:r>
                        <a:rPr lang="el-GR" sz="1050" b="0" i="0" u="none" strike="noStrike" noProof="0">
                          <a:solidFill>
                            <a:srgbClr val="1B4528"/>
                          </a:solidFill>
                          <a:effectLst/>
                          <a:latin typeface="Inter"/>
                        </a:rPr>
                        <a: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16" name="Table 2">
            <a:extLst>
              <a:ext uri="{FF2B5EF4-FFF2-40B4-BE49-F238E27FC236}">
                <a16:creationId xmlns:a16="http://schemas.microsoft.com/office/drawing/2014/main" id="{2AA2F1F9-7A09-1805-85EA-A61B8CDF034E}"/>
              </a:ext>
            </a:extLst>
          </p:cNvPr>
          <p:cNvGraphicFramePr>
            <a:graphicFrameLocks noGrp="1"/>
          </p:cNvGraphicFramePr>
          <p:nvPr>
            <p:extLst>
              <p:ext uri="{D42A27DB-BD31-4B8C-83A1-F6EECF244321}">
                <p14:modId xmlns:p14="http://schemas.microsoft.com/office/powerpoint/2010/main" val="3358194059"/>
              </p:ext>
            </p:extLst>
          </p:nvPr>
        </p:nvGraphicFramePr>
        <p:xfrm>
          <a:off x="445498" y="4135283"/>
          <a:ext cx="9791701" cy="1549905"/>
        </p:xfrm>
        <a:graphic>
          <a:graphicData uri="http://schemas.openxmlformats.org/drawingml/2006/table">
            <a:tbl>
              <a:tblPr firstRow="1">
                <a:tableStyleId>{2A488322-F2BA-4B5B-9748-0D474271808F}</a:tableStyleId>
              </a:tblPr>
              <a:tblGrid>
                <a:gridCol w="9791701">
                  <a:extLst>
                    <a:ext uri="{9D8B030D-6E8A-4147-A177-3AD203B41FA5}">
                      <a16:colId xmlns:a16="http://schemas.microsoft.com/office/drawing/2014/main" val="2698153288"/>
                    </a:ext>
                  </a:extLst>
                </a:gridCol>
              </a:tblGrid>
              <a:tr h="256676">
                <a:tc>
                  <a:txBody>
                    <a:bodyPr/>
                    <a:lstStyle/>
                    <a:p>
                      <a:r>
                        <a:rPr lang="el-GR" sz="1050" b="1" noProof="0">
                          <a:solidFill>
                            <a:schemeClr val="tx2"/>
                          </a:solidFill>
                        </a:rPr>
                        <a:t xml:space="preserve">Περιγραφή του τρόπου εφαρμογής των αρχών κυκλικής οικονομίας </a:t>
                      </a:r>
                      <a:r>
                        <a:rPr lang="el-GR" sz="1050" b="0" noProof="0">
                          <a:solidFill>
                            <a:schemeClr val="tx2"/>
                          </a:solidFill>
                        </a:rPr>
                        <a:t xml:space="preserve">(παρ. 38 συνέχεια)</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1293229">
                <a:tc>
                  <a:txBody>
                    <a:bodyPr/>
                    <a:lstStyle/>
                    <a:p>
                      <a:pPr algn="l"/>
                      <a:r>
                        <a:rPr lang="el-GR" sz="1050" b="0" kern="1200" noProof="0">
                          <a:solidFill>
                            <a:srgbClr val="1B4528"/>
                          </a:solidFill>
                          <a:latin typeface="+mn-lt"/>
                          <a:ea typeface="+mn-ea"/>
                          <a:cs typeface="+mn-cs"/>
                        </a:rPr>
                        <a:t>{{</a:t>
                      </a:r>
                      <a:r>
                        <a:rPr lang="el-GR" sz="1050" b="0" kern="1200" noProof="0">
                          <a:solidFill>
                            <a:srgbClr val="1B4528"/>
                          </a:solidFill>
                          <a:latin typeface="+mn-lt"/>
                          <a:ea typeface="+mn-ea"/>
                          <a:cs typeface="+mn-cs"/>
                        </a:rPr>
                        <a:t>description_of_circular_economies</a:t>
                      </a:r>
                      <a:r>
                        <a:rPr lang="el-GR" sz="1050" b="0" kern="1200" noProof="0">
                          <a:solidFill>
                            <a:srgbClr val="1B4528"/>
                          </a:solidFill>
                          <a:latin typeface="+mn-lt"/>
                          <a:ea typeface="+mn-ea"/>
                          <a:cs typeface="+mn-cs"/>
                        </a:rPr>
                        <a:t>}}</a:t>
                      </a:r>
                    </a:p>
                    <a:p>
                      <a:pPr algn="l"/>
                      <a:endParaRPr lang="el-GR" sz="1050" b="0" kern="1200" noProof="0">
                        <a:solidFill>
                          <a:srgbClr val="1B4528"/>
                        </a:solidFill>
                        <a:latin typeface="+mn-lt"/>
                        <a:ea typeface="+mn-ea"/>
                        <a:cs typeface="+mn-cs"/>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sp>
        <p:nvSpPr>
          <p:cNvPr id="25" name="Tekstfelt 24">
            <a:extLst>
              <a:ext uri="{FF2B5EF4-FFF2-40B4-BE49-F238E27FC236}">
                <a16:creationId xmlns:a16="http://schemas.microsoft.com/office/drawing/2014/main" id="{02BB91A8-5ECA-5F09-CF3C-575CB2D07459}"/>
              </a:ext>
            </a:extLst>
          </p:cNvPr>
          <p:cNvSpPr txBox="1"/>
          <p:nvPr/>
        </p:nvSpPr>
        <p:spPr>
          <a:xfrm>
            <a:off x="445765" y="3208663"/>
            <a:ext cx="4247524" cy="728758"/>
          </a:xfrm>
          <a:prstGeom prst="rect">
            <a:avLst/>
          </a:prstGeom>
          <a:noFill/>
        </p:spPr>
        <p:txBody>
          <a:bodyPr wrap="square" lIns="80190" tIns="40095" rIns="80190" bIns="40095" anchor="t">
            <a:spAutoFit/>
          </a:bodyPr>
          <a:lstStyle/>
          <a:p>
            <a:pPr rtl="0">
              <a:buNone/>
            </a:pPr>
            <a:r>
              <a:rPr lang="el-GR" sz="1050" b="0" i="0" u="none" strike="noStrike" noProof="0">
                <a:solidFill>
                  <a:schemeClr val="tx2"/>
                </a:solidFill>
                <a:effectLst/>
                <a:latin typeface="Inter"/>
              </a:rPr>
              <a:t xml:space="preserve">Η γνωστοποίηση αυτή αναφέρει εάν η επιχείρηση</a:t>
            </a:r>
            <a:r>
              <a:rPr lang="el-GR" sz="1050" noProof="0">
                <a:solidFill>
                  <a:schemeClr val="tx2"/>
                </a:solidFill>
                <a:latin typeface="Inter"/>
              </a:rPr>
              <a:t xml:space="preserve"> εφαρμόζει αρχές κυκλικής οικονομίας, μεταξύ άλλων αρχές μείωσης αποβλήτων και ρύπανσης και έμφαση σε κυκλικά προϊόντα και υλικά.</a:t>
            </a:r>
          </a:p>
        </p:txBody>
      </p:sp>
    </p:spTree>
    <p:extLst>
      <p:ext uri="{BB962C8B-B14F-4D97-AF65-F5344CB8AC3E}">
        <p14:creationId xmlns:p14="http://schemas.microsoft.com/office/powerpoint/2010/main" val="9996588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l-GR" noProof="0"/>
              <a:t xml:space="preserve">Χρήση πόρων, κυκλική οικονομία και διαχείριση αποβλήτων (B7) – συνέχεια</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829584165"/>
              </p:ext>
            </p:extLst>
          </p:nvPr>
        </p:nvGraphicFramePr>
        <p:xfrm>
          <a:off x="445499" y="1442996"/>
          <a:ext cx="6440256" cy="1885752"/>
        </p:xfrm>
        <a:graphic>
          <a:graphicData uri="http://schemas.openxmlformats.org/drawingml/2006/table">
            <a:tbl>
              <a:tblPr firstRow="1">
                <a:tableStyleId>{2A488322-F2BA-4B5B-9748-0D474271808F}</a:tableStyleId>
              </a:tblPr>
              <a:tblGrid>
                <a:gridCol w="1995980">
                  <a:extLst>
                    <a:ext uri="{9D8B030D-6E8A-4147-A177-3AD203B41FA5}">
                      <a16:colId xmlns:a16="http://schemas.microsoft.com/office/drawing/2014/main" val="2698153288"/>
                    </a:ext>
                  </a:extLst>
                </a:gridCol>
                <a:gridCol w="2230323">
                  <a:extLst>
                    <a:ext uri="{9D8B030D-6E8A-4147-A177-3AD203B41FA5}">
                      <a16:colId xmlns:a16="http://schemas.microsoft.com/office/drawing/2014/main" val="2119413191"/>
                    </a:ext>
                  </a:extLst>
                </a:gridCol>
                <a:gridCol w="2213953">
                  <a:extLst>
                    <a:ext uri="{9D8B030D-6E8A-4147-A177-3AD203B41FA5}">
                      <a16:colId xmlns:a16="http://schemas.microsoft.com/office/drawing/2014/main" val="4075157689"/>
                    </a:ext>
                  </a:extLst>
                </a:gridCol>
              </a:tblGrid>
              <a:tr h="288168">
                <a:tc gridSpan="3">
                  <a:txBody>
                    <a:bodyPr/>
                    <a:lstStyle/>
                    <a:p>
                      <a:pPr algn="ctr"/>
                      <a:r>
                        <a:rPr lang="el-GR" sz="1050" b="1" noProof="0">
                          <a:solidFill>
                            <a:schemeClr val="tx2"/>
                          </a:solidFill>
                        </a:rPr>
                        <a:t xml:space="preserve">Συνολική ετήσια παραγωγή αποβλήτων</a:t>
                      </a:r>
                      <a:endParaRPr lang="el-G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700"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a:p>
                  </a:txBody>
                  <a:tcPr/>
                </a:tc>
                <a:extLst>
                  <a:ext uri="{0D108BD9-81ED-4DB2-BD59-A6C34878D82A}">
                    <a16:rowId xmlns:a16="http://schemas.microsoft.com/office/drawing/2014/main" val="625231048"/>
                  </a:ext>
                </a:extLst>
              </a:tr>
              <a:tr h="585054">
                <a:tc>
                  <a:txBody>
                    <a:bodyPr/>
                    <a:lstStyle/>
                    <a:p>
                      <a:endParaRPr lang="el-GR" sz="1050" b="1"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l-GR" sz="1050" b="1" noProof="0">
                          <a:solidFill>
                            <a:schemeClr val="tx2"/>
                          </a:solidFill>
                        </a:rPr>
                        <a:t xml:space="preserve">Συνολική ποσότητα αποβλήτων </a:t>
                      </a:r>
                      <a:r>
                        <a:rPr lang="el-GR" sz="1050" b="0" noProof="0">
                          <a:solidFill>
                            <a:schemeClr val="tx2"/>
                          </a:solidFill>
                        </a:rPr>
                        <a:t xml:space="preserve">(παρ. 39a)</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l-GR" sz="1050" b="1" noProof="0">
                          <a:solidFill>
                            <a:schemeClr val="tx2"/>
                          </a:solidFill>
                        </a:rPr>
                        <a:t xml:space="preserve">Απόβλητα που διοχετεύονται σε ανακύκλωση ή προετοιμασία επαναχρησιμοποίησης </a:t>
                      </a:r>
                      <a:r>
                        <a:rPr lang="el-GR" sz="1050" b="0" noProof="0">
                          <a:solidFill>
                            <a:schemeClr val="tx2"/>
                          </a:solidFill>
                        </a:rPr>
                        <a:t xml:space="preserve">(παρ. 39b)</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013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050" b="1" noProof="0">
                          <a:solidFill>
                            <a:schemeClr val="tx2"/>
                          </a:solidFill>
                        </a:rPr>
                        <a:t xml:space="preserve">Μη επικίνδυνα απόβλητα </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el-G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el-G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3316940764"/>
                  </a:ext>
                </a:extLst>
              </a:tr>
              <a:tr h="204917">
                <a:tc>
                  <a:txBody>
                    <a:bodyPr/>
                    <a:lstStyle/>
                    <a:p>
                      <a:pPr rtl="0" fontAlgn="ctr" algn="l">
                        <a:buNone/>
                      </a:pPr>
                      <a:r>
                        <a:rPr lang="el-GR" sz="1050" b="0" i="0" u="none" strike="noStrike" noProof="0">
                          <a:solidFill>
                            <a:srgbClr val="1B4528"/>
                          </a:solidFill>
                          <a:effectLst/>
                          <a:latin typeface="Inter"/>
                        </a:rPr>
                        <a:t>{{Type_af_affald}}</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1050" b="0" i="0" u="none" strike="noStrike" noProof="0">
                          <a:solidFill>
                            <a:srgbClr val="1B4528"/>
                          </a:solidFill>
                          <a:effectLst/>
                          <a:latin typeface="Inter"/>
                        </a:rPr>
                        <a:t>{{kg_tons_total}}</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1050" b="0" i="0" u="none" strike="noStrike" noProof="0">
                          <a:solidFill>
                            <a:srgbClr val="1B4528"/>
                          </a:solidFill>
                          <a:effectLst/>
                          <a:latin typeface="Inter"/>
                        </a:rPr>
                        <a:t>{{genbrug_kg_tons}}</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01348">
                <a:tc>
                  <a:txBody>
                    <a:bodyPr/>
                    <a:lstStyle/>
                    <a:p>
                      <a:r>
                        <a:rPr lang="el-GR" sz="1050" b="1" noProof="0">
                          <a:solidFill>
                            <a:schemeClr val="tx2"/>
                          </a:solidFill>
                        </a:rPr>
                        <a:t xml:space="preserve">Επικίνδυνα απόβλητα</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el-G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el-G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269942695"/>
                  </a:ext>
                </a:extLst>
              </a:tr>
              <a:tr h="204917">
                <a:tc>
                  <a:txBody>
                    <a:bodyPr/>
                    <a:lstStyle/>
                    <a:p>
                      <a:pPr rtl="0" fontAlgn="ctr" algn="l">
                        <a:buNone/>
                      </a:pPr>
                      <a:r>
                        <a:rPr lang="el-GR" sz="1050" b="0" i="0" u="none" strike="noStrike" noProof="0">
                          <a:solidFill>
                            <a:srgbClr val="1B4528"/>
                          </a:solidFill>
                          <a:effectLst/>
                          <a:latin typeface="Inter"/>
                        </a:rPr>
                        <a:t>{{Type_af_affald_farlig}}</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1050" b="0" i="0" u="none" strike="noStrike" noProof="0">
                          <a:solidFill>
                            <a:srgbClr val="1B4528"/>
                          </a:solidFill>
                          <a:effectLst/>
                          <a:latin typeface="Inter"/>
                        </a:rPr>
                        <a:t>{{farlig_kg_tons}}</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l-GR" sz="1050" b="0" i="0" u="none" strike="noStrike" noProof="0">
                          <a:solidFill>
                            <a:srgbClr val="1B4528"/>
                          </a:solidFill>
                          <a:effectLst/>
                          <a:latin typeface="Inter"/>
                        </a:rPr>
                        <a:t>{{farlig_genbrug_kg_tons}}</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02232709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9</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br>
              <a:rPr lang="el-GR" noProof="0"/>
            </a:br>
            <a:endParaRPr lang="el-GR" noProof="0"/>
          </a:p>
        </p:txBody>
      </p:sp>
      <p:sp>
        <p:nvSpPr>
          <p:cNvPr id="12" name="Tekstfelt 11">
            <a:extLst>
              <a:ext uri="{FF2B5EF4-FFF2-40B4-BE49-F238E27FC236}">
                <a16:creationId xmlns:a16="http://schemas.microsoft.com/office/drawing/2014/main" id="{482E45A0-0E1E-550D-794B-89296A5D4E7E}"/>
              </a:ext>
            </a:extLst>
          </p:cNvPr>
          <p:cNvSpPr txBox="1"/>
          <p:nvPr/>
        </p:nvSpPr>
        <p:spPr>
          <a:xfrm>
            <a:off x="454796" y="891000"/>
            <a:ext cx="9791704" cy="404866"/>
          </a:xfrm>
          <a:prstGeom prst="rect">
            <a:avLst/>
          </a:prstGeom>
          <a:noFill/>
        </p:spPr>
        <p:txBody>
          <a:bodyPr wrap="square">
            <a:spAutoFit/>
          </a:bodyPr>
          <a:lstStyle/>
          <a:p>
            <a:pPr rtl="0">
              <a:buNone/>
            </a:pPr>
            <a:r>
              <a:rPr lang="el-GR" sz="1050" b="0" i="0" u="none" strike="noStrike" noProof="0">
                <a:solidFill>
                  <a:schemeClr val="tx2"/>
                </a:solidFill>
                <a:effectLst/>
                <a:latin typeface="Inter"/>
              </a:rPr>
              <a:t xml:space="preserve">Η ενότητα που ακολουθεί περιέχει στοιχεία για τη χρήση υλικών και τη διαχείριση αποβλήτων. Τα στοιχεία αφορούν την κυκλική οικονομία και δείχνουν την κατανομή της συνολικής ετήσιας παραγωγής αποβλήτων (επικίνδυνα/μη επικίνδυνα), καθώς και τις ποσότητες σημαντικών υλικών. </a:t>
            </a:r>
            <a:endParaRPr lang="el-GR" sz="1050" noProof="0">
              <a:solidFill>
                <a:schemeClr val="tx2"/>
              </a:solidFill>
              <a:latin typeface="Inter"/>
            </a:endParaRPr>
          </a:p>
        </p:txBody>
      </p:sp>
      <p:graphicFrame>
        <p:nvGraphicFramePr>
          <p:cNvPr id="15" name="Table 12">
            <a:extLst>
              <a:ext uri="{FF2B5EF4-FFF2-40B4-BE49-F238E27FC236}">
                <a16:creationId xmlns:a16="http://schemas.microsoft.com/office/drawing/2014/main" id="{D0A6EC25-74E1-FBFB-6875-6CDF69A95318}"/>
              </a:ext>
            </a:extLst>
          </p:cNvPr>
          <p:cNvGraphicFramePr>
            <a:graphicFrameLocks noGrp="1"/>
          </p:cNvGraphicFramePr>
          <p:nvPr>
            <p:extLst>
              <p:ext uri="{D42A27DB-BD31-4B8C-83A1-F6EECF244321}">
                <p14:modId xmlns:p14="http://schemas.microsoft.com/office/powerpoint/2010/main" val="4113487528"/>
              </p:ext>
            </p:extLst>
          </p:nvPr>
        </p:nvGraphicFramePr>
        <p:xfrm>
          <a:off x="7156908" y="1442996"/>
          <a:ext cx="3080297" cy="1885752"/>
        </p:xfrm>
        <a:graphic>
          <a:graphicData uri="http://schemas.openxmlformats.org/drawingml/2006/table">
            <a:tbl>
              <a:tblPr firstRow="1">
                <a:tableStyleId>{2A488322-F2BA-4B5B-9748-0D474271808F}</a:tableStyleId>
              </a:tblPr>
              <a:tblGrid>
                <a:gridCol w="1976312">
                  <a:extLst>
                    <a:ext uri="{9D8B030D-6E8A-4147-A177-3AD203B41FA5}">
                      <a16:colId xmlns:a16="http://schemas.microsoft.com/office/drawing/2014/main" val="2698153288"/>
                    </a:ext>
                  </a:extLst>
                </a:gridCol>
                <a:gridCol w="1103985">
                  <a:extLst>
                    <a:ext uri="{9D8B030D-6E8A-4147-A177-3AD203B41FA5}">
                      <a16:colId xmlns:a16="http://schemas.microsoft.com/office/drawing/2014/main" val="2119413191"/>
                    </a:ext>
                  </a:extLst>
                </a:gridCol>
              </a:tblGrid>
              <a:tr h="1020579">
                <a:tc>
                  <a:txBody>
                    <a:bodyPr/>
                    <a:lstStyle/>
                    <a:p>
                      <a:r>
                        <a:rPr lang="el-GR" sz="1050" b="1" noProof="0">
                          <a:solidFill>
                            <a:schemeClr val="tx2"/>
                          </a:solidFill>
                        </a:rPr>
                        <a:t xml:space="preserve">Σημαντικά υλικά </a:t>
                      </a:r>
                      <a:r>
                        <a:rPr lang="el-GR" sz="1050" b="0" noProof="0">
                          <a:solidFill>
                            <a:schemeClr val="tx2"/>
                          </a:solidFill>
                        </a:rPr>
                        <a:t xml:space="preserve">(παρ. 39c)</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l-GR" sz="1050" b="1" noProof="0">
                          <a:solidFill>
                            <a:schemeClr val="tx2"/>
                          </a:solidFill>
                        </a:rPr>
                        <a:t xml:space="preserve">Ετήσια ροή μάζας </a:t>
                      </a:r>
                      <a:r>
                        <a:rPr lang="el-GR" sz="1050" b="1" noProof="0">
                          <a:solidFill>
                            <a:srgbClr val="1B4528"/>
                          </a:solidFill>
                        </a:rPr>
                        <a:t>{{insert_year}}</a:t>
                      </a:r>
                      <a:endParaRPr lang="el-GR" sz="1050" b="0"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865174">
                <a:tc>
                  <a:txBody>
                    <a:bodyPr/>
                    <a:lstStyle/>
                    <a:p>
                      <a:pPr algn="l"/>
                      <a:r>
                        <a:rPr lang="el-GR" sz="1050" b="0" i="0" u="none" strike="noStrike" noProof="0">
                          <a:solidFill>
                            <a:srgbClr val="1B4528"/>
                          </a:solidFill>
                          <a:latin typeface="Inter"/>
                        </a:rPr>
                        <a:t>{{significant_material}}</a:t>
                      </a:r>
                      <a:endParaRPr lang="el-GR" sz="1050" b="0" noProof="0">
                        <a:solidFill>
                          <a:srgbClr val="1B4528"/>
                        </a:solidFill>
                        <a:latin typeface="Inter"/>
                        <a:cs typeface="Calibri"/>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nter"/>
                        </a:rPr>
                        <a:t>{{significant_material_unit}}</a:t>
                      </a:r>
                      <a:endParaRPr lang="el-GR" sz="1050" b="0" i="0" u="none" strike="noStrike" noProof="0">
                        <a:solidFill>
                          <a:srgbClr val="000000"/>
                        </a:solidFill>
                        <a:latin typeface="Inter"/>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Tree>
    <p:extLst>
      <p:ext uri="{BB962C8B-B14F-4D97-AF65-F5344CB8AC3E}">
        <p14:creationId xmlns:p14="http://schemas.microsoft.com/office/powerpoint/2010/main" val="20965089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l-GR" noProof="0"/>
              <a:t xml:space="preserve">Ίδιο εργατικό δυναμικό: γενικά χαρακτηριστικά (B8) </a:t>
            </a:r>
          </a:p>
        </p:txBody>
      </p:sp>
      <p:graphicFrame>
        <p:nvGraphicFramePr>
          <p:cNvPr id="8" name="Table 7">
            <a:extLst>
              <a:ext uri="{FF2B5EF4-FFF2-40B4-BE49-F238E27FC236}">
                <a16:creationId xmlns:a16="http://schemas.microsoft.com/office/drawing/2014/main" id="{CE6D2864-50B1-0967-9DFF-408DD8B377E5}"/>
              </a:ext>
            </a:extLst>
          </p:cNvPr>
          <p:cNvGraphicFramePr>
            <a:graphicFrameLocks noGrp="1"/>
          </p:cNvGraphicFramePr>
          <p:nvPr>
            <p:extLst>
              <p:ext uri="{D42A27DB-BD31-4B8C-83A1-F6EECF244321}">
                <p14:modId xmlns:p14="http://schemas.microsoft.com/office/powerpoint/2010/main" val="3894231013"/>
              </p:ext>
            </p:extLst>
          </p:nvPr>
        </p:nvGraphicFramePr>
        <p:xfrm>
          <a:off x="445493" y="1520475"/>
          <a:ext cx="4365905" cy="1646779"/>
        </p:xfrm>
        <a:graphic>
          <a:graphicData uri="http://schemas.openxmlformats.org/drawingml/2006/table">
            <a:tbl>
              <a:tblPr firstRow="1">
                <a:tableStyleId>{2A488322-F2BA-4B5B-9748-0D474271808F}</a:tableStyleId>
              </a:tblPr>
              <a:tblGrid>
                <a:gridCol w="2182953">
                  <a:extLst>
                    <a:ext uri="{9D8B030D-6E8A-4147-A177-3AD203B41FA5}">
                      <a16:colId xmlns:a16="http://schemas.microsoft.com/office/drawing/2014/main" val="2698153288"/>
                    </a:ext>
                  </a:extLst>
                </a:gridCol>
                <a:gridCol w="2182953">
                  <a:extLst>
                    <a:ext uri="{9D8B030D-6E8A-4147-A177-3AD203B41FA5}">
                      <a16:colId xmlns:a16="http://schemas.microsoft.com/office/drawing/2014/main" val="2119413191"/>
                    </a:ext>
                  </a:extLst>
                </a:gridCol>
              </a:tblGrid>
              <a:tr h="569357">
                <a:tc>
                  <a:txBody>
                    <a:bodyPr/>
                    <a:lstStyle/>
                    <a:p>
                      <a:r>
                        <a:rPr lang="el-GR" sz="1050" b="1" noProof="0">
                          <a:solidFill>
                            <a:schemeClr val="tx2"/>
                          </a:solidFill>
                        </a:rPr>
                        <a:t xml:space="preserve">Τύπος σύμβασης </a:t>
                      </a:r>
                      <a:r>
                        <a:rPr lang="el-GR" sz="1050" b="0" noProof="0">
                          <a:solidFill>
                            <a:schemeClr val="tx2"/>
                          </a:solidFill>
                        </a:rPr>
                        <a:t xml:space="preserve">(παρ. 40a)</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el-GR" sz="1050" b="1" noProof="0">
                          <a:solidFill>
                            <a:schemeClr val="tx2"/>
                          </a:solidFill>
                        </a:rPr>
                        <a:t xml:space="preserve">Αριθμός εργαζομένων (άτομα ή ισοδύναμα πλήρους απασχόλησης)</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59141">
                <a:tc>
                  <a:txBody>
                    <a:bodyPr/>
                    <a:lstStyle/>
                    <a:p>
                      <a:r>
                        <a:rPr lang="el-GR" sz="1050" b="0" noProof="0">
                          <a:solidFill>
                            <a:schemeClr val="tx2"/>
                          </a:solidFill>
                        </a:rPr>
                        <a:t xml:space="preserve">Προσωρινή απασχόληση</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temporary</a:t>
                      </a:r>
                      <a:r>
                        <a:rPr lang="el-GR" sz="1050" b="0" i="0" u="none" strike="noStrike" noProof="0">
                          <a:solidFill>
                            <a:srgbClr val="1B4528"/>
                          </a:solidFill>
                          <a:effectLst/>
                          <a:latin typeface="Inter"/>
                        </a:rPr>
                        <a:t>}}</a:t>
                      </a:r>
                      <a:endParaRPr lang="el-GR"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359141">
                <a:tc>
                  <a:txBody>
                    <a:bodyPr/>
                    <a:lstStyle/>
                    <a:p>
                      <a:r>
                        <a:rPr lang="el-GR" sz="1050" b="0" noProof="0">
                          <a:solidFill>
                            <a:schemeClr val="tx2"/>
                          </a:solidFill>
                        </a:rPr>
                        <a:t xml:space="preserve">Μόνιμη απασχόληση</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fulltime</a:t>
                      </a:r>
                      <a:r>
                        <a:rPr lang="el-GR" sz="1050" b="0" i="0" u="none" strike="noStrike" noProof="0">
                          <a:solidFill>
                            <a:srgbClr val="1B4528"/>
                          </a:solidFill>
                          <a:effectLst/>
                          <a:latin typeface="Inter"/>
                        </a:rPr>
                        <a:t>}}</a:t>
                      </a:r>
                      <a:endParaRPr lang="el-GR"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59141">
                <a:tc>
                  <a:txBody>
                    <a:bodyPr/>
                    <a:lstStyle/>
                    <a:p>
                      <a:r>
                        <a:rPr lang="el-GR" sz="1050" b="0" noProof="0">
                          <a:solidFill>
                            <a:schemeClr val="tx2"/>
                          </a:solidFill>
                        </a:rPr>
                        <a:t xml:space="preserve">Σύνολο εργαζομένων</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total_employees</a:t>
                      </a:r>
                      <a:r>
                        <a:rPr lang="el-GR" sz="1050" b="0" i="0" u="none" strike="noStrike" noProof="0">
                          <a:solidFill>
                            <a:srgbClr val="1B4528"/>
                          </a:solidFill>
                          <a:effectLst/>
                          <a:latin typeface="Inter"/>
                        </a:rPr>
                        <a:t>}}</a:t>
                      </a:r>
                      <a:endParaRPr lang="el-GR"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bl>
          </a:graphicData>
        </a:graphic>
      </p:graphicFrame>
      <p:graphicFrame>
        <p:nvGraphicFramePr>
          <p:cNvPr id="9" name="Table 8">
            <a:extLst>
              <a:ext uri="{FF2B5EF4-FFF2-40B4-BE49-F238E27FC236}">
                <a16:creationId xmlns:a16="http://schemas.microsoft.com/office/drawing/2014/main" id="{746843BE-938A-9316-3C8E-320134DF837C}"/>
              </a:ext>
            </a:extLst>
          </p:cNvPr>
          <p:cNvGraphicFramePr>
            <a:graphicFrameLocks noGrp="1"/>
          </p:cNvGraphicFramePr>
          <p:nvPr>
            <p:extLst>
              <p:ext uri="{D42A27DB-BD31-4B8C-83A1-F6EECF244321}">
                <p14:modId xmlns:p14="http://schemas.microsoft.com/office/powerpoint/2010/main" val="3482765489"/>
              </p:ext>
            </p:extLst>
          </p:nvPr>
        </p:nvGraphicFramePr>
        <p:xfrm>
          <a:off x="5008093" y="1520477"/>
          <a:ext cx="5238408" cy="1646777"/>
        </p:xfrm>
        <a:graphic>
          <a:graphicData uri="http://schemas.openxmlformats.org/drawingml/2006/table">
            <a:tbl>
              <a:tblPr firstRow="1">
                <a:tableStyleId>{2A488322-F2BA-4B5B-9748-0D474271808F}</a:tableStyleId>
              </a:tblPr>
              <a:tblGrid>
                <a:gridCol w="2619204">
                  <a:extLst>
                    <a:ext uri="{9D8B030D-6E8A-4147-A177-3AD203B41FA5}">
                      <a16:colId xmlns:a16="http://schemas.microsoft.com/office/drawing/2014/main" val="2698153288"/>
                    </a:ext>
                  </a:extLst>
                </a:gridCol>
                <a:gridCol w="2619204">
                  <a:extLst>
                    <a:ext uri="{9D8B030D-6E8A-4147-A177-3AD203B41FA5}">
                      <a16:colId xmlns:a16="http://schemas.microsoft.com/office/drawing/2014/main" val="2119413191"/>
                    </a:ext>
                  </a:extLst>
                </a:gridCol>
              </a:tblGrid>
              <a:tr h="383942">
                <a:tc>
                  <a:txBody>
                    <a:bodyPr/>
                    <a:lstStyle/>
                    <a:p>
                      <a:r>
                        <a:rPr lang="el-GR" sz="1050" b="1" noProof="0">
                          <a:solidFill>
                            <a:schemeClr val="tx2"/>
                          </a:solidFill>
                          <a:latin typeface="+mn-lt"/>
                        </a:rPr>
                        <a:t xml:space="preserve">Φύλο</a:t>
                      </a:r>
                      <a:r>
                        <a:rPr lang="el-GR" sz="1050" b="0" noProof="0">
                          <a:solidFill>
                            <a:schemeClr val="tx2"/>
                          </a:solidFill>
                          <a:latin typeface="+mn-lt"/>
                        </a:rPr>
                        <a:t xml:space="preserve"> (παρ. 40b)</a:t>
                      </a:r>
                      <a:r>
                        <a:rPr lang="el-GR" sz="1050" b="0" noProof="0">
                          <a:solidFill>
                            <a:schemeClr val="tx2"/>
                          </a:solidFill>
                        </a:rPr>
                        <a:t xml:space="preserve"/>
                      </a:r>
                      <a:endParaRPr lang="el-GR" sz="1050" b="0" noProof="0">
                        <a:solidFill>
                          <a:schemeClr val="tx2"/>
                        </a:solidFill>
                        <a:latin typeface="+mn-lt"/>
                      </a:endParaRP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el-GR" sz="1050" b="1" noProof="0">
                          <a:solidFill>
                            <a:schemeClr val="tx2"/>
                          </a:solidFill>
                          <a:latin typeface="+mn-lt"/>
                        </a:rPr>
                        <a:t xml:space="preserve">Αριθμός εργαζομένων (άτομα ή ισοδύναμα πλήρους απασχόλησης)</a:t>
                      </a:r>
                      <a:r>
                        <a:rPr lang="el-GR" sz="1050" b="1" noProof="0">
                          <a:solidFill>
                            <a:schemeClr val="tx2"/>
                          </a:solidFill>
                        </a:rPr>
                        <a:t xml:space="preserve"/>
                      </a:r>
                      <a:endParaRPr lang="el-GR" sz="1050" b="1" noProof="0">
                        <a:solidFill>
                          <a:schemeClr val="tx2"/>
                        </a:solidFill>
                        <a:latin typeface="+mn-lt"/>
                      </a:endParaRP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52567">
                <a:tc>
                  <a:txBody>
                    <a:bodyPr/>
                    <a:lstStyle/>
                    <a:p>
                      <a:r>
                        <a:rPr lang="el-GR" sz="1050" b="0" noProof="0">
                          <a:solidFill>
                            <a:schemeClr val="tx2"/>
                          </a:solidFill>
                          <a:latin typeface="+mn-lt"/>
                        </a:rPr>
                        <a:t xml:space="preserve">Άνδρας</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1050" b="0" i="0" u="none" strike="noStrike" noProof="0">
                          <a:solidFill>
                            <a:srgbClr val="1B4528"/>
                          </a:solidFill>
                          <a:effectLst/>
                          <a:latin typeface="Inter"/>
                        </a:rPr>
                        <a:t>{{men}}</a:t>
                      </a:r>
                      <a:endParaRPr lang="el-GR"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52567">
                <a:tc>
                  <a:txBody>
                    <a:bodyPr/>
                    <a:lstStyle/>
                    <a:p>
                      <a:r>
                        <a:rPr lang="el-GR" sz="1050" b="0" noProof="0">
                          <a:solidFill>
                            <a:schemeClr val="tx2"/>
                          </a:solidFill>
                          <a:latin typeface="+mn-lt"/>
                        </a:rPr>
                        <a:t xml:space="preserve">Γυναίκα</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women</a:t>
                      </a:r>
                      <a:r>
                        <a:rPr lang="el-GR" sz="1050" b="0" i="0" u="none" strike="noStrike" noProof="0">
                          <a:solidFill>
                            <a:srgbClr val="1B4528"/>
                          </a:solidFill>
                          <a:effectLst/>
                          <a:latin typeface="Inter"/>
                        </a:rPr>
                        <a:t>}}</a:t>
                      </a:r>
                      <a:endParaRPr lang="el-GR"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r h="252567">
                <a:tc>
                  <a:txBody>
                    <a:bodyPr/>
                    <a:lstStyle/>
                    <a:p>
                      <a:r>
                        <a:rPr lang="el-GR" sz="1050" b="0" noProof="0">
                          <a:solidFill>
                            <a:schemeClr val="tx2"/>
                          </a:solidFill>
                          <a:latin typeface="+mn-lt"/>
                        </a:rPr>
                        <a:t xml:space="preserve">Άλλο</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others</a:t>
                      </a:r>
                      <a:r>
                        <a:rPr lang="el-GR" sz="1050" b="0" i="0" u="none" strike="noStrike" noProof="0">
                          <a:solidFill>
                            <a:srgbClr val="1B4528"/>
                          </a:solidFill>
                          <a:effectLst/>
                          <a:latin typeface="Inter"/>
                        </a:rPr>
                        <a:t>}}</a:t>
                      </a:r>
                      <a:endParaRPr lang="el-GR"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r h="252567">
                <a:tc>
                  <a:txBody>
                    <a:bodyPr/>
                    <a:lstStyle/>
                    <a:p>
                      <a:r>
                        <a:rPr lang="el-GR" sz="1050" b="0" noProof="0">
                          <a:solidFill>
                            <a:schemeClr val="tx2"/>
                          </a:solidFill>
                          <a:latin typeface="+mn-lt"/>
                        </a:rPr>
                        <a:t xml:space="preserve">Δεν καταγράφηκε</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not_registeret</a:t>
                      </a:r>
                      <a:r>
                        <a:rPr lang="el-GR" sz="1050" b="0" i="0" u="none" strike="noStrike" noProof="0">
                          <a:solidFill>
                            <a:srgbClr val="1B4528"/>
                          </a:solidFill>
                          <a:effectLst/>
                          <a:latin typeface="Inter"/>
                        </a:rPr>
                        <a:t>}}</a:t>
                      </a:r>
                      <a:endParaRPr lang="el-GR"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151098499"/>
                  </a:ext>
                </a:extLst>
              </a:tr>
              <a:tr h="252567">
                <a:tc>
                  <a:txBody>
                    <a:bodyPr/>
                    <a:lstStyle/>
                    <a:p>
                      <a:r>
                        <a:rPr lang="el-GR" sz="1050" b="0" noProof="0">
                          <a:solidFill>
                            <a:schemeClr val="tx2"/>
                          </a:solidFill>
                          <a:latin typeface="+mn-lt"/>
                        </a:rPr>
                        <a:t xml:space="preserve">Σύνολο εργαζομένων</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total_employees</a:t>
                      </a:r>
                      <a:r>
                        <a:rPr lang="el-GR" sz="1050" b="0" i="0" u="none" strike="noStrike" noProof="0">
                          <a:solidFill>
                            <a:srgbClr val="1B4528"/>
                          </a:solidFill>
                          <a:effectLst/>
                          <a:latin typeface="Inter"/>
                        </a:rPr>
                        <a:t>}}</a:t>
                      </a:r>
                      <a:endParaRPr lang="el-GR"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4190025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10</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br>
              <a:rPr lang="el-GR" noProof="0"/>
            </a:br>
            <a:endParaRPr lang="el-GR" noProof="0"/>
          </a:p>
        </p:txBody>
      </p:sp>
      <p:sp>
        <p:nvSpPr>
          <p:cNvPr id="3" name="Tekstfelt 2">
            <a:extLst>
              <a:ext uri="{FF2B5EF4-FFF2-40B4-BE49-F238E27FC236}">
                <a16:creationId xmlns:a16="http://schemas.microsoft.com/office/drawing/2014/main" id="{B45D574B-3D14-8531-DB71-2FD2A411CD63}"/>
              </a:ext>
            </a:extLst>
          </p:cNvPr>
          <p:cNvSpPr txBox="1"/>
          <p:nvPr/>
        </p:nvSpPr>
        <p:spPr>
          <a:xfrm>
            <a:off x="454796" y="913284"/>
            <a:ext cx="9791704" cy="728758"/>
          </a:xfrm>
          <a:prstGeom prst="rect">
            <a:avLst/>
          </a:prstGeom>
          <a:noFill/>
        </p:spPr>
        <p:txBody>
          <a:bodyPr wrap="square">
            <a:spAutoFit/>
          </a:bodyPr>
          <a:lstStyle/>
          <a:p>
            <a:pPr rtl="0">
              <a:buNone/>
            </a:pPr>
            <a:r>
              <a:rPr lang="el-GR" sz="1050" b="0" i="0" u="none" strike="noStrike" noProof="0">
                <a:solidFill>
                  <a:srgbClr val="25595D"/>
                </a:solidFill>
                <a:effectLst/>
                <a:latin typeface="Inter"/>
              </a:rPr>
              <a:t xml:space="preserve">Η επιχείρηση ανέφερε τον αριθμό εργαζομένων για τις εξής κατανομές: τύπος σύμβασης εργασίας, με διάκριση σε προσωρινές και μόνιμες συμβάσεις· φύλο, που δείχνει την κατανομή ανά φύλο· και χώρα σύναψης της σύμβασης εργασίας, που έχει σημασία εάν η επιχείρηση δραστηριοποιείται σε πολλές χώρες.</a:t>
            </a:r>
            <a:endParaRPr lang="el-GR" sz="1050" b="0" noProof="0">
              <a:effectLst/>
              <a:latin typeface="Inter"/>
            </a:endParaRPr>
          </a:p>
          <a:p>
            <a:pPr>
              <a:buNone/>
            </a:pPr>
            <a:br>
              <a:rPr lang="el-GR" sz="1050" noProof="0">
                <a:latin typeface="Inter"/>
              </a:rPr>
            </a:br>
            <a:endParaRPr lang="el-GR" sz="1050" noProof="0">
              <a:latin typeface="Inter"/>
            </a:endParaRPr>
          </a:p>
        </p:txBody>
      </p:sp>
      <p:graphicFrame>
        <p:nvGraphicFramePr>
          <p:cNvPr id="13" name="Table 13">
            <a:extLst>
              <a:ext uri="{FF2B5EF4-FFF2-40B4-BE49-F238E27FC236}">
                <a16:creationId xmlns:a16="http://schemas.microsoft.com/office/drawing/2014/main" id="{42F1F305-B426-7DDF-1FC3-46007564CD01}"/>
              </a:ext>
            </a:extLst>
          </p:cNvPr>
          <p:cNvGraphicFramePr>
            <a:graphicFrameLocks noGrp="1"/>
          </p:cNvGraphicFramePr>
          <p:nvPr>
            <p:extLst>
              <p:ext uri="{D42A27DB-BD31-4B8C-83A1-F6EECF244321}">
                <p14:modId xmlns:p14="http://schemas.microsoft.com/office/powerpoint/2010/main" val="2261046685"/>
              </p:ext>
            </p:extLst>
          </p:nvPr>
        </p:nvGraphicFramePr>
        <p:xfrm>
          <a:off x="447022" y="3446606"/>
          <a:ext cx="9790181" cy="1010268"/>
        </p:xfrm>
        <a:graphic>
          <a:graphicData uri="http://schemas.openxmlformats.org/drawingml/2006/table">
            <a:tbl>
              <a:tblPr firstRow="1">
                <a:tableStyleId>{2A488322-F2BA-4B5B-9748-0D474271808F}</a:tableStyleId>
              </a:tblPr>
              <a:tblGrid>
                <a:gridCol w="5233603">
                  <a:extLst>
                    <a:ext uri="{9D8B030D-6E8A-4147-A177-3AD203B41FA5}">
                      <a16:colId xmlns:a16="http://schemas.microsoft.com/office/drawing/2014/main" val="2698153288"/>
                    </a:ext>
                  </a:extLst>
                </a:gridCol>
                <a:gridCol w="4556578">
                  <a:extLst>
                    <a:ext uri="{9D8B030D-6E8A-4147-A177-3AD203B41FA5}">
                      <a16:colId xmlns:a16="http://schemas.microsoft.com/office/drawing/2014/main" val="2119413191"/>
                    </a:ext>
                  </a:extLst>
                </a:gridCol>
              </a:tblGrid>
              <a:tr h="252567">
                <a:tc>
                  <a:txBody>
                    <a:bodyPr/>
                    <a:lstStyle/>
                    <a:p>
                      <a:r>
                        <a:rPr lang="el-GR" sz="1050" b="1" noProof="0">
                          <a:solidFill>
                            <a:schemeClr val="tx2"/>
                          </a:solidFill>
                        </a:rPr>
                        <a:t xml:space="preserve">Χώρα (σύναψης της σύμβασης εργασίας) </a:t>
                      </a:r>
                      <a:r>
                        <a:rPr lang="el-GR" sz="1050" b="0" noProof="0">
                          <a:solidFill>
                            <a:schemeClr val="tx2"/>
                          </a:solidFill>
                        </a:rPr>
                        <a:t xml:space="preserve">(παρ. 40c)</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el-GR" sz="1050" b="1" noProof="0">
                          <a:solidFill>
                            <a:schemeClr val="tx2"/>
                          </a:solidFill>
                        </a:rPr>
                        <a:t xml:space="preserve">Αριθμός εργαζομένων (άτομα ή ισοδύναμα πλήρους απασχόλησης)</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52567">
                <a:tc>
                  <a:txBody>
                    <a:bodyPr/>
                    <a:lstStyle/>
                    <a:p>
                      <a:r>
                        <a:rPr lang="el-GR" sz="1050" b="0" noProof="0">
                          <a:solidFill>
                            <a:schemeClr val="tx2"/>
                          </a:solidFill>
                        </a:rPr>
                        <a:t xml:space="preserve">Δανία</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lgn="r">
                        <a:buNone/>
                      </a:pPr>
                      <a:r>
                        <a:rPr lang="el-GR" sz="1050" b="0" i="0" u="none" strike="noStrike" noProof="0">
                          <a:solidFill>
                            <a:srgbClr val="1B4528"/>
                          </a:solidFill>
                          <a:effectLst/>
                          <a:latin typeface="Inter"/>
                        </a:rPr>
                        <a:t>{{Denmark}}</a:t>
                      </a:r>
                      <a:endParaRPr lang="el-GR"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52567">
                <a:tc>
                  <a:txBody>
                    <a:bodyPr/>
                    <a:lstStyle/>
                    <a:p>
                      <a:pPr rtl="0" fontAlgn="ctr" algn="l">
                        <a:buNone/>
                      </a:pPr>
                      <a:r>
                        <a:rPr lang="el-GR" sz="1050" b="0" i="0" u="none" strike="noStrike" noProof="0">
                          <a:solidFill>
                            <a:srgbClr val="1B4528"/>
                          </a:solidFill>
                          <a:effectLst/>
                          <a:latin typeface="Inter"/>
                        </a:rPr>
                        <a:t>{{Land_b}}</a:t>
                      </a:r>
                      <a:endParaRPr lang="el-GR"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lgn="r">
                        <a:buNone/>
                      </a:pPr>
                      <a:r>
                        <a:rPr lang="el-GR" sz="1050" b="0" i="0" u="none" strike="noStrike" noProof="0">
                          <a:solidFill>
                            <a:srgbClr val="1B4528"/>
                          </a:solidFill>
                          <a:effectLst/>
                          <a:latin typeface="Inter"/>
                        </a:rPr>
                        <a:t>{{</a:t>
                      </a:r>
                      <a:r>
                        <a:rPr lang="el-GR" sz="1050" b="0" i="0" u="none" strike="noStrike" noProof="0">
                          <a:solidFill>
                            <a:srgbClr val="1B4528"/>
                          </a:solidFill>
                          <a:effectLst/>
                        </a:rPr>
                        <a:t>FTE_eller_antal_personer_land_b</a:t>
                      </a:r>
                      <a:r>
                        <a:rPr lang="el-GR" sz="1050" b="0" i="0" u="none" strike="noStrike" noProof="0">
                          <a:solidFill>
                            <a:srgbClr val="1B4528"/>
                          </a:solidFill>
                          <a:effectLst/>
                          <a:latin typeface="Inter"/>
                        </a:rPr>
                        <a:t>}}</a:t>
                      </a:r>
                      <a:endParaRPr lang="el-GR"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52567">
                <a:tc>
                  <a:txBody>
                    <a:bodyPr/>
                    <a:lstStyle/>
                    <a:p>
                      <a:r>
                        <a:rPr lang="el-GR" sz="1050" b="0" noProof="0">
                          <a:solidFill>
                            <a:schemeClr val="tx2"/>
                          </a:solidFill>
                        </a:rPr>
                        <a:t xml:space="preserve">Σύνολο εργαζομένων</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1050" b="0" i="0" u="none" strike="noStrike" noProof="0">
                          <a:solidFill>
                            <a:srgbClr val="1B4528"/>
                          </a:solidFill>
                          <a:effectLst/>
                          <a:latin typeface="Inter"/>
                        </a:rPr>
                        <a:t>{{Total_out_of_countries}}</a:t>
                      </a:r>
                      <a:endParaRPr lang="el-GR"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bl>
          </a:graphicData>
        </a:graphic>
      </p:graphicFrame>
    </p:spTree>
    <p:extLst>
      <p:ext uri="{BB962C8B-B14F-4D97-AF65-F5344CB8AC3E}">
        <p14:creationId xmlns:p14="http://schemas.microsoft.com/office/powerpoint/2010/main" val="22989718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l-GR" noProof="0"/>
              <a:t xml:space="preserve">Ίδιο εργατικό δυναμικό: υγεία και ασφάλεια (B9)</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3735616830"/>
              </p:ext>
            </p:extLst>
          </p:nvPr>
        </p:nvGraphicFramePr>
        <p:xfrm>
          <a:off x="445500" y="1509220"/>
          <a:ext cx="4796551" cy="994915"/>
        </p:xfrm>
        <a:graphic>
          <a:graphicData uri="http://schemas.openxmlformats.org/drawingml/2006/table">
            <a:tbl>
              <a:tblPr firstRow="1">
                <a:tableStyleId>{2A488322-F2BA-4B5B-9748-0D474271808F}</a:tableStyleId>
              </a:tblPr>
              <a:tblGrid>
                <a:gridCol w="2656189">
                  <a:extLst>
                    <a:ext uri="{9D8B030D-6E8A-4147-A177-3AD203B41FA5}">
                      <a16:colId xmlns:a16="http://schemas.microsoft.com/office/drawing/2014/main" val="2698153288"/>
                    </a:ext>
                  </a:extLst>
                </a:gridCol>
                <a:gridCol w="2140363">
                  <a:extLst>
                    <a:ext uri="{9D8B030D-6E8A-4147-A177-3AD203B41FA5}">
                      <a16:colId xmlns:a16="http://schemas.microsoft.com/office/drawing/2014/main" val="2119413191"/>
                    </a:ext>
                  </a:extLst>
                </a:gridCol>
              </a:tblGrid>
              <a:tr h="4022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050" b="1" noProof="0">
                          <a:solidFill>
                            <a:schemeClr val="tx2"/>
                          </a:solidFill>
                        </a:rPr>
                        <a:t xml:space="preserve">Καταγραπτέα εργατικά ατυχήματα </a:t>
                      </a:r>
                      <a:r>
                        <a:rPr lang="el-GR" sz="1050" b="0" noProof="0">
                          <a:solidFill>
                            <a:schemeClr val="tx2"/>
                          </a:solidFill>
                        </a:rPr>
                        <a:t xml:space="preserve">(παρ. 41a)</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050" b="1" noProof="0">
                          <a:solidFill>
                            <a:schemeClr val="tx2"/>
                          </a:solidFill>
                        </a:rPr>
                        <a:t xml:space="preserve">Έτος</a:t>
                      </a:r>
                      <a:r>
                        <a:rPr lang="el-GR" sz="1050" b="1" noProof="0">
                          <a:solidFill>
                            <a:srgbClr val="1B4528"/>
                          </a:solidFill>
                          <a:latin typeface="Calibri"/>
                          <a:cs typeface="Calibri"/>
                        </a:rPr>
                        <a:t> {{insert_year}}</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96345">
                <a:tc>
                  <a:txBody>
                    <a:bodyPr/>
                    <a:lstStyle/>
                    <a:p>
                      <a:r>
                        <a:rPr lang="el-GR" sz="1050" b="0" noProof="0">
                          <a:solidFill>
                            <a:schemeClr val="tx2"/>
                          </a:solidFill>
                        </a:rPr>
                        <a:t xml:space="preserve">Αριθμός</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l-GR" sz="1050" b="0" i="0" u="none" strike="noStrike" kern="1200" cap="none" spc="0" normalizeH="0" baseline="0" noProof="0">
                          <a:ln>
                            <a:noFill/>
                          </a:ln>
                          <a:solidFill>
                            <a:srgbClr val="1B4528"/>
                          </a:solidFill>
                          <a:effectLst/>
                          <a:uLnTx/>
                          <a:uFillTx/>
                          <a:latin typeface="Inter"/>
                          <a:ea typeface="+mn-ea"/>
                          <a:cs typeface="+mn-cs"/>
                        </a:rPr>
                        <a:t>{{</a:t>
                      </a:r>
                      <a:r>
                        <a:rPr lang="el-GR" sz="1050" b="0" i="0" u="none" strike="noStrike" kern="1200" cap="none" spc="0" normalizeH="0" baseline="0" noProof="0">
                          <a:ln>
                            <a:noFill/>
                          </a:ln>
                          <a:solidFill>
                            <a:srgbClr val="1B4528"/>
                          </a:solidFill>
                          <a:effectLst/>
                          <a:uLnTx/>
                          <a:uFillTx/>
                          <a:latin typeface="Inter"/>
                        </a:rPr>
                        <a:t>indsat_antal_accidents</a:t>
                      </a:r>
                      <a:r>
                        <a:rPr lang="el-GR" sz="1050" b="0" i="0" u="none" strike="noStrike" kern="1200" cap="none" spc="0" normalizeH="0" baseline="0" noProof="0">
                          <a:ln>
                            <a:noFill/>
                          </a:ln>
                          <a:solidFill>
                            <a:srgbClr val="1B4528"/>
                          </a:solidFill>
                          <a:effectLst/>
                          <a:uLnTx/>
                          <a:uFillTx/>
                          <a:latin typeface="Inter"/>
                          <a:ea typeface="+mn-ea"/>
                          <a:cs typeface="+mn-cs"/>
                        </a:rPr>
                        <a:t>}}</a:t>
                      </a:r>
                      <a:endParaRPr kumimoji="0" lang="el-GR" sz="1050" b="0" i="0" u="none" strike="noStrike" kern="1200" cap="none" spc="0" normalizeH="0" baseline="0" noProof="0">
                        <a:ln>
                          <a:noFill/>
                        </a:ln>
                        <a:solidFill>
                          <a:srgbClr val="1B4528"/>
                        </a:solidFill>
                        <a:effectLst/>
                        <a:uLnTx/>
                        <a:uFillTx/>
                        <a:latin typeface="Inter"/>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96345">
                <a:tc>
                  <a:txBody>
                    <a:bodyPr/>
                    <a:lstStyle/>
                    <a:p>
                      <a:r>
                        <a:rPr lang="el-GR" sz="1050" b="0" noProof="0">
                          <a:solidFill>
                            <a:schemeClr val="tx2"/>
                          </a:solidFill>
                        </a:rPr>
                        <a:t xml:space="preserve">Δείκτης</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l-GR" sz="1050" b="0" i="0" u="none" strike="noStrike" kern="1200" cap="none" spc="0" normalizeH="0" baseline="0" noProof="0">
                          <a:ln>
                            <a:noFill/>
                          </a:ln>
                          <a:solidFill>
                            <a:srgbClr val="1B4528"/>
                          </a:solidFill>
                          <a:effectLst/>
                          <a:uLnTx/>
                          <a:uFillTx/>
                          <a:latin typeface="Inter"/>
                          <a:ea typeface="+mn-ea"/>
                          <a:cs typeface="+mn-cs"/>
                        </a:rPr>
                        <a:t>{{</a:t>
                      </a:r>
                      <a:r>
                        <a:rPr lang="el-GR" sz="1050" b="0" i="0" u="none" strike="noStrike" kern="1200" cap="none" spc="0" normalizeH="0" baseline="0" noProof="0">
                          <a:ln>
                            <a:noFill/>
                          </a:ln>
                          <a:solidFill>
                            <a:srgbClr val="1B4528"/>
                          </a:solidFill>
                          <a:effectLst/>
                          <a:uLnTx/>
                          <a:uFillTx/>
                          <a:latin typeface="Inter"/>
                        </a:rPr>
                        <a:t>indsat_accidents_frequents</a:t>
                      </a:r>
                      <a:r>
                        <a:rPr lang="el-GR" sz="1050" b="0" i="0" u="none" strike="noStrike" kern="1200" cap="none" spc="0" normalizeH="0" baseline="0" noProof="0">
                          <a:ln>
                            <a:noFill/>
                          </a:ln>
                          <a:solidFill>
                            <a:srgbClr val="1B4528"/>
                          </a:solidFill>
                          <a:effectLst/>
                          <a:uLnTx/>
                          <a:uFillTx/>
                          <a:latin typeface="Inter"/>
                          <a:ea typeface="+mn-ea"/>
                          <a:cs typeface="+mn-cs"/>
                        </a:rPr>
                        <a:t>}}</a:t>
                      </a:r>
                      <a:endParaRPr kumimoji="0" lang="el-GR" sz="1050" b="0" i="0" u="none" strike="noStrike" kern="1200" cap="none" spc="0" normalizeH="0" baseline="0" noProof="0">
                        <a:ln>
                          <a:noFill/>
                        </a:ln>
                        <a:solidFill>
                          <a:srgbClr val="1B4528"/>
                        </a:solidFill>
                        <a:effectLst/>
                        <a:uLnTx/>
                        <a:uFillTx/>
                        <a:latin typeface="Inter"/>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graphicFrame>
        <p:nvGraphicFramePr>
          <p:cNvPr id="9" name="Table 8">
            <a:extLst>
              <a:ext uri="{FF2B5EF4-FFF2-40B4-BE49-F238E27FC236}">
                <a16:creationId xmlns:a16="http://schemas.microsoft.com/office/drawing/2014/main" id="{F34D7173-AC05-2CA2-966F-6F3A8736B5C6}"/>
              </a:ext>
            </a:extLst>
          </p:cNvPr>
          <p:cNvGraphicFramePr>
            <a:graphicFrameLocks noGrp="1"/>
          </p:cNvGraphicFramePr>
          <p:nvPr>
            <p:extLst>
              <p:ext uri="{D42A27DB-BD31-4B8C-83A1-F6EECF244321}">
                <p14:modId xmlns:p14="http://schemas.microsoft.com/office/powerpoint/2010/main" val="3388670097"/>
              </p:ext>
            </p:extLst>
          </p:nvPr>
        </p:nvGraphicFramePr>
        <p:xfrm>
          <a:off x="5440653" y="1509221"/>
          <a:ext cx="4796551" cy="994914"/>
        </p:xfrm>
        <a:graphic>
          <a:graphicData uri="http://schemas.openxmlformats.org/drawingml/2006/table">
            <a:tbl>
              <a:tblPr firstRow="1">
                <a:tableStyleId>{2A488322-F2BA-4B5B-9748-0D474271808F}</a:tableStyleId>
              </a:tblPr>
              <a:tblGrid>
                <a:gridCol w="3313422">
                  <a:extLst>
                    <a:ext uri="{9D8B030D-6E8A-4147-A177-3AD203B41FA5}">
                      <a16:colId xmlns:a16="http://schemas.microsoft.com/office/drawing/2014/main" val="2698153288"/>
                    </a:ext>
                  </a:extLst>
                </a:gridCol>
                <a:gridCol w="1483129">
                  <a:extLst>
                    <a:ext uri="{9D8B030D-6E8A-4147-A177-3AD203B41FA5}">
                      <a16:colId xmlns:a16="http://schemas.microsoft.com/office/drawing/2014/main" val="2119413191"/>
                    </a:ext>
                  </a:extLst>
                </a:gridCol>
              </a:tblGrid>
              <a:tr h="3007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050" b="1" noProof="0">
                          <a:solidFill>
                            <a:schemeClr val="tx2"/>
                          </a:solidFill>
                        </a:rPr>
                        <a:t xml:space="preserve">Θάνατοι λόγω εργασίας </a:t>
                      </a:r>
                      <a:r>
                        <a:rPr lang="el-GR" sz="1050" b="0" noProof="0">
                          <a:solidFill>
                            <a:schemeClr val="tx2"/>
                          </a:solidFill>
                        </a:rPr>
                        <a:t xml:space="preserve">(παρ. 41b)</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050" b="1" noProof="0">
                          <a:solidFill>
                            <a:schemeClr val="tx2"/>
                          </a:solidFill>
                        </a:rPr>
                        <a:t xml:space="preserve">Έτος</a:t>
                      </a:r>
                      <a:r>
                        <a:rPr lang="el-GR" sz="1050" b="1" noProof="0">
                          <a:solidFill>
                            <a:srgbClr val="1B4528"/>
                          </a:solidFill>
                          <a:latin typeface="Calibri"/>
                          <a:cs typeface="Calibri"/>
                        </a:rPr>
                        <a:t> {{insert_year}}</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93412">
                <a:tc>
                  <a:txBody>
                    <a:bodyPr/>
                    <a:lstStyle/>
                    <a:p>
                      <a:r>
                        <a:rPr lang="el-GR" sz="1050" b="0" noProof="0">
                          <a:solidFill>
                            <a:schemeClr val="tx2"/>
                          </a:solidFill>
                        </a:rPr>
                        <a:t xml:space="preserve">Λόγω εργατικού τραυματισμού/ατυχήματος</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a:lnSpc>
                          <a:spcPct val="100000"/>
                        </a:lnSpc>
                        <a:spcBef>
                          <a:spcPts val="0"/>
                        </a:spcBef>
                        <a:spcAft>
                          <a:spcPts val="0"/>
                        </a:spcAft>
                        <a:buNone/>
                        <a:tabLst/>
                        <a:defRPr/>
                      </a:pPr>
                      <a:r>
                        <a:rPr lang="el-GR" sz="1050" b="0" i="0" u="none" strike="noStrike" kern="1200" cap="none" spc="0" normalizeH="0" baseline="0" noProof="0">
                          <a:ln>
                            <a:noFill/>
                          </a:ln>
                          <a:solidFill>
                            <a:srgbClr val="1B4528"/>
                          </a:solidFill>
                          <a:effectLst/>
                          <a:uLnTx/>
                          <a:uFillTx/>
                          <a:latin typeface="Inter"/>
                          <a:ea typeface="+mn-ea"/>
                          <a:cs typeface="+mn-cs"/>
                        </a:rPr>
                        <a:t>{{</a:t>
                      </a:r>
                      <a:r>
                        <a:rPr lang="el-GR" sz="1050" b="0" i="0" u="none" strike="noStrike" kern="1200" cap="none" spc="0" normalizeH="0" baseline="0" noProof="0">
                          <a:ln>
                            <a:noFill/>
                          </a:ln>
                          <a:solidFill>
                            <a:srgbClr val="1B4528"/>
                          </a:solidFill>
                          <a:effectLst/>
                          <a:uLnTx/>
                          <a:uFillTx/>
                          <a:latin typeface="Inter"/>
                        </a:rPr>
                        <a:t>deaths_by_accidents</a:t>
                      </a:r>
                      <a:r>
                        <a:rPr lang="el-GR" sz="1050" b="0" i="0" u="none" strike="noStrike" kern="1200" cap="none" spc="0" normalizeH="0" baseline="0" noProof="0">
                          <a:ln>
                            <a:noFill/>
                          </a:ln>
                          <a:solidFill>
                            <a:srgbClr val="1B4528"/>
                          </a:solidFill>
                          <a:effectLst/>
                          <a:uLnTx/>
                          <a:uFillTx/>
                          <a:latin typeface="Inter"/>
                          <a:ea typeface="+mn-ea"/>
                          <a:cs typeface="+mn-cs"/>
                        </a:rPr>
                        <a:t>}}</a:t>
                      </a:r>
                      <a:endParaRPr kumimoji="0" lang="el-GR" sz="1050" b="0" i="0" u="none" strike="noStrike" kern="1200" cap="none" spc="0" normalizeH="0" baseline="0" noProof="0">
                        <a:ln>
                          <a:noFill/>
                        </a:ln>
                        <a:solidFill>
                          <a:srgbClr val="1B4528"/>
                        </a:solidFill>
                        <a:effectLst/>
                        <a:uLnTx/>
                        <a:uFillTx/>
                        <a:latin typeface="Inter"/>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00751">
                <a:tc>
                  <a:txBody>
                    <a:bodyPr/>
                    <a:lstStyle/>
                    <a:p>
                      <a:r>
                        <a:rPr lang="el-GR" sz="1050" b="0" noProof="0">
                          <a:solidFill>
                            <a:schemeClr val="tx2"/>
                          </a:solidFill>
                        </a:rPr>
                        <a:t xml:space="preserve">Λόγω ασθένειας σχετιζόμενης με την εργασία</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l-GR" sz="1050" b="0" i="0" u="none" strike="noStrike" kern="1200" cap="none" spc="0" normalizeH="0" baseline="0" noProof="0">
                          <a:ln>
                            <a:noFill/>
                          </a:ln>
                          <a:solidFill>
                            <a:srgbClr val="1B4528"/>
                          </a:solidFill>
                          <a:effectLst/>
                          <a:uLnTx/>
                          <a:uFillTx/>
                          <a:latin typeface="Inter"/>
                          <a:ea typeface="+mn-ea"/>
                          <a:cs typeface="+mn-cs"/>
                        </a:rPr>
                        <a:t>{{</a:t>
                      </a:r>
                      <a:r>
                        <a:rPr lang="el-GR" sz="1050" b="0" i="0" u="none" strike="noStrike" kern="1200" cap="none" spc="0" normalizeH="0" baseline="0" noProof="0">
                          <a:ln>
                            <a:noFill/>
                          </a:ln>
                          <a:solidFill>
                            <a:srgbClr val="1B4528"/>
                          </a:solidFill>
                          <a:effectLst/>
                          <a:uLnTx/>
                          <a:uFillTx/>
                          <a:latin typeface="Inter"/>
                        </a:rPr>
                        <a:t>deaths_by_health</a:t>
                      </a:r>
                      <a:r>
                        <a:rPr lang="el-GR" sz="1050" b="0" i="0" u="none" strike="noStrike" kern="1200" cap="none" spc="0" normalizeH="0" baseline="0" noProof="0">
                          <a:ln>
                            <a:noFill/>
                          </a:ln>
                          <a:solidFill>
                            <a:srgbClr val="1B4528"/>
                          </a:solidFill>
                          <a:effectLst/>
                          <a:uLnTx/>
                          <a:uFillTx/>
                          <a:latin typeface="Inter"/>
                          <a:ea typeface="+mn-ea"/>
                          <a:cs typeface="+mn-cs"/>
                        </a:rPr>
                        <a:t>}}</a:t>
                      </a:r>
                      <a:endParaRPr kumimoji="0" lang="el-GR" sz="1050" b="0" i="0" u="none" strike="noStrike" kern="1200" cap="none" spc="0" normalizeH="0" baseline="0" noProof="0">
                        <a:ln>
                          <a:noFill/>
                        </a:ln>
                        <a:solidFill>
                          <a:srgbClr val="1B4528"/>
                        </a:solidFill>
                        <a:effectLst/>
                        <a:uLnTx/>
                        <a:uFillTx/>
                        <a:latin typeface="Inter"/>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11</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br>
              <a:rPr lang="el-GR" noProof="0"/>
            </a:br>
            <a:endParaRPr lang="el-GR" noProof="0"/>
          </a:p>
        </p:txBody>
      </p:sp>
      <p:sp>
        <p:nvSpPr>
          <p:cNvPr id="23" name="Tekstfelt 22">
            <a:extLst>
              <a:ext uri="{FF2B5EF4-FFF2-40B4-BE49-F238E27FC236}">
                <a16:creationId xmlns:a16="http://schemas.microsoft.com/office/drawing/2014/main" id="{5D01A9BD-1028-6124-EDFA-F7528B760856}"/>
              </a:ext>
            </a:extLst>
          </p:cNvPr>
          <p:cNvSpPr txBox="1"/>
          <p:nvPr/>
        </p:nvSpPr>
        <p:spPr>
          <a:xfrm>
            <a:off x="454796" y="873256"/>
            <a:ext cx="9791704" cy="728758"/>
          </a:xfrm>
          <a:prstGeom prst="rect">
            <a:avLst/>
          </a:prstGeom>
          <a:noFill/>
        </p:spPr>
        <p:txBody>
          <a:bodyPr wrap="square">
            <a:spAutoFit/>
          </a:bodyPr>
          <a:lstStyle/>
          <a:p>
            <a:pPr rtl="0">
              <a:buNone/>
            </a:pPr>
            <a:r>
              <a:rPr lang="el-GR" sz="1050" b="0" i="0" u="none" strike="noStrike" noProof="0">
                <a:solidFill>
                  <a:schemeClr val="tx2"/>
                </a:solidFill>
                <a:effectLst/>
                <a:latin typeface="Inter"/>
              </a:rPr>
              <a:t xml:space="preserve">Η επιχείρηση ανέφερε στοιχεία για τον αριθμό καταγραπτέων εργατικών ατυχημάτων και θανάτων λόγω εργασίας για τις εξής κατανομές: αριθμός και δείκτης. Αναφέρει επίσης εάν οι θάνατοι οφείλονται σε τραυματισμούς/ατυχήματα ή σε ασθένεια.</a:t>
            </a:r>
            <a:endParaRPr lang="el-GR" sz="1050" b="0" noProof="0">
              <a:solidFill>
                <a:schemeClr val="tx2"/>
              </a:solidFill>
              <a:effectLst/>
              <a:latin typeface="Inter"/>
            </a:endParaRPr>
          </a:p>
          <a:p>
            <a:pPr>
              <a:buNone/>
            </a:pPr>
            <a:br>
              <a:rPr lang="el-GR" sz="1050" noProof="0">
                <a:solidFill>
                  <a:schemeClr val="tx2"/>
                </a:solidFill>
                <a:latin typeface="Inter"/>
              </a:rPr>
            </a:br>
            <a:endParaRPr lang="el-GR" sz="1050" noProof="0">
              <a:solidFill>
                <a:schemeClr val="tx2"/>
              </a:solidFill>
              <a:latin typeface="Inter"/>
            </a:endParaRPr>
          </a:p>
        </p:txBody>
      </p:sp>
      <p:sp>
        <p:nvSpPr>
          <p:cNvPr id="24" name="Title 3">
            <a:extLst>
              <a:ext uri="{FF2B5EF4-FFF2-40B4-BE49-F238E27FC236}">
                <a16:creationId xmlns:a16="http://schemas.microsoft.com/office/drawing/2014/main" id="{9671F0E7-ADFB-1E9D-A747-4277AC9D48F4}"/>
              </a:ext>
            </a:extLst>
          </p:cNvPr>
          <p:cNvSpPr txBox="1">
            <a:spLocks/>
          </p:cNvSpPr>
          <p:nvPr/>
        </p:nvSpPr>
        <p:spPr>
          <a:xfrm>
            <a:off x="454796" y="2676156"/>
            <a:ext cx="9791704" cy="218627"/>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575" b="1" kern="1200" spc="-10" baseline="0">
                <a:solidFill>
                  <a:schemeClr val="tx2"/>
                </a:solidFill>
                <a:latin typeface="+mj-lt"/>
                <a:ea typeface="+mj-ea"/>
                <a:cs typeface="+mj-cs"/>
              </a:defRPr>
            </a:lvl1pPr>
          </a:lstStyle>
          <a:p>
            <a:r>
              <a:rPr lang="el-GR" noProof="0"/>
              <a:t xml:space="preserve">Εργατικό δυναμικό: αμοιβές, συλλογικές συμβάσεις και κατάρτιση (B10)</a:t>
            </a:r>
          </a:p>
        </p:txBody>
      </p:sp>
      <p:graphicFrame>
        <p:nvGraphicFramePr>
          <p:cNvPr id="26" name="Table 14">
            <a:extLst>
              <a:ext uri="{FF2B5EF4-FFF2-40B4-BE49-F238E27FC236}">
                <a16:creationId xmlns:a16="http://schemas.microsoft.com/office/drawing/2014/main" id="{B9DC9ED6-A05A-D3CE-334F-D39DB9606395}"/>
              </a:ext>
            </a:extLst>
          </p:cNvPr>
          <p:cNvGraphicFramePr>
            <a:graphicFrameLocks noGrp="1"/>
          </p:cNvGraphicFramePr>
          <p:nvPr>
            <p:extLst>
              <p:ext uri="{D42A27DB-BD31-4B8C-83A1-F6EECF244321}">
                <p14:modId xmlns:p14="http://schemas.microsoft.com/office/powerpoint/2010/main" val="2949925802"/>
              </p:ext>
            </p:extLst>
          </p:nvPr>
        </p:nvGraphicFramePr>
        <p:xfrm>
          <a:off x="5449949" y="3922747"/>
          <a:ext cx="4796550" cy="767803"/>
        </p:xfrm>
        <a:graphic>
          <a:graphicData uri="http://schemas.openxmlformats.org/drawingml/2006/table">
            <a:tbl>
              <a:tblPr firstRow="1">
                <a:tableStyleId>{2A488322-F2BA-4B5B-9748-0D474271808F}</a:tableStyleId>
              </a:tblPr>
              <a:tblGrid>
                <a:gridCol w="3337539">
                  <a:extLst>
                    <a:ext uri="{9D8B030D-6E8A-4147-A177-3AD203B41FA5}">
                      <a16:colId xmlns:a16="http://schemas.microsoft.com/office/drawing/2014/main" val="2698153288"/>
                    </a:ext>
                  </a:extLst>
                </a:gridCol>
                <a:gridCol w="1459012">
                  <a:extLst>
                    <a:ext uri="{9D8B030D-6E8A-4147-A177-3AD203B41FA5}">
                      <a16:colId xmlns:a16="http://schemas.microsoft.com/office/drawing/2014/main" val="2119413191"/>
                    </a:ext>
                  </a:extLst>
                </a:gridCol>
              </a:tblGrid>
              <a:tr h="293941">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050" b="1" noProof="0">
                          <a:solidFill>
                            <a:schemeClr val="tx2"/>
                          </a:solidFill>
                        </a:rPr>
                        <a:t xml:space="preserve">Μισθολογικό χάσμα ανδρών και γυναικών εργαζομένων </a:t>
                      </a:r>
                      <a:r>
                        <a:rPr lang="el-GR" sz="1050" b="0" noProof="0">
                          <a:solidFill>
                            <a:schemeClr val="tx2"/>
                          </a:solidFill>
                        </a:rPr>
                        <a:t xml:space="preserve">(παρ. 42b)</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050" b="1" noProof="0">
                          <a:solidFill>
                            <a:schemeClr val="tx2"/>
                          </a:solidFill>
                        </a:rPr>
                        <a:t xml:space="preserve">Έτος</a:t>
                      </a:r>
                      <a:r>
                        <a:rPr lang="el-GR" sz="1050" b="1" noProof="0">
                          <a:solidFill>
                            <a:srgbClr val="1B4528"/>
                          </a:solidFill>
                          <a:latin typeface="Calibri" panose="020F0502020204030204" pitchFamily="34" charset="0"/>
                          <a:cs typeface="Calibri" panose="020F0502020204030204" pitchFamily="34" charset="0"/>
                        </a:rPr>
                        <a:t> </a:t>
                      </a:r>
                      <a:r>
                        <a:rPr lang="el-GR" sz="1050" b="1" noProof="0">
                          <a:solidFill>
                            <a:srgbClr val="1B4528"/>
                          </a:solidFill>
                        </a:rPr>
                        <a:t>{{</a:t>
                      </a:r>
                      <a:r>
                        <a:rPr lang="el-GR" sz="1050" b="1" noProof="0">
                          <a:solidFill>
                            <a:srgbClr val="1B4528"/>
                          </a:solidFill>
                        </a:rPr>
                        <a:t>insert_year</a:t>
                      </a:r>
                      <a:r>
                        <a:rPr lang="el-GR" sz="1050" b="1" noProof="0">
                          <a:solidFill>
                            <a:srgbClr val="1B4528"/>
                          </a:solidFill>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73862">
                <a:tc vMerge="1">
                  <a:txBody>
                    <a:bodyPr/>
                    <a:lstStyle/>
                    <a:p>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a:r>
                        <a:rPr lang="el-GR" sz="1050" b="0" noProof="0">
                          <a:solidFill>
                            <a:srgbClr val="1B4528"/>
                          </a:solidFill>
                        </a:rPr>
                        <a:t>{{</a:t>
                      </a:r>
                      <a:r>
                        <a:rPr lang="el-GR" sz="1050" b="0" noProof="0">
                          <a:solidFill>
                            <a:srgbClr val="1B4528"/>
                          </a:solidFill>
                        </a:rPr>
                        <a:t>indsat_procentvise_lonforskel</a:t>
                      </a:r>
                      <a:r>
                        <a:rPr lang="el-GR" sz="1050" b="0" noProof="0">
                          <a:solidFill>
                            <a:srgbClr val="1B4528"/>
                          </a:solidFill>
                        </a:rPr>
                        <a:t>}}</a:t>
                      </a:r>
                    </a:p>
                  </a:txBody>
                  <a:tcPr marL="31571" marR="31571"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27" name="Tabel 26">
            <a:extLst>
              <a:ext uri="{FF2B5EF4-FFF2-40B4-BE49-F238E27FC236}">
                <a16:creationId xmlns:a16="http://schemas.microsoft.com/office/drawing/2014/main" id="{6746C932-5E3F-E60C-3154-F9D424D47444}"/>
              </a:ext>
            </a:extLst>
          </p:cNvPr>
          <p:cNvGraphicFramePr>
            <a:graphicFrameLocks noGrp="1"/>
          </p:cNvGraphicFramePr>
          <p:nvPr>
            <p:extLst>
              <p:ext uri="{D42A27DB-BD31-4B8C-83A1-F6EECF244321}">
                <p14:modId xmlns:p14="http://schemas.microsoft.com/office/powerpoint/2010/main" val="1071495807"/>
              </p:ext>
            </p:extLst>
          </p:nvPr>
        </p:nvGraphicFramePr>
        <p:xfrm>
          <a:off x="445496" y="3922749"/>
          <a:ext cx="4800267" cy="758742"/>
        </p:xfrm>
        <a:graphic>
          <a:graphicData uri="http://schemas.openxmlformats.org/drawingml/2006/table">
            <a:tbl>
              <a:tblPr firstRow="1">
                <a:tableStyleId>{2A488322-F2BA-4B5B-9748-0D474271808F}</a:tableStyleId>
              </a:tblPr>
              <a:tblGrid>
                <a:gridCol w="2633550">
                  <a:extLst>
                    <a:ext uri="{9D8B030D-6E8A-4147-A177-3AD203B41FA5}">
                      <a16:colId xmlns:a16="http://schemas.microsoft.com/office/drawing/2014/main" val="160727125"/>
                    </a:ext>
                  </a:extLst>
                </a:gridCol>
                <a:gridCol w="1111137">
                  <a:extLst>
                    <a:ext uri="{9D8B030D-6E8A-4147-A177-3AD203B41FA5}">
                      <a16:colId xmlns:a16="http://schemas.microsoft.com/office/drawing/2014/main" val="1767985329"/>
                    </a:ext>
                  </a:extLst>
                </a:gridCol>
                <a:gridCol w="1055580">
                  <a:extLst>
                    <a:ext uri="{9D8B030D-6E8A-4147-A177-3AD203B41FA5}">
                      <a16:colId xmlns:a16="http://schemas.microsoft.com/office/drawing/2014/main" val="1397164534"/>
                    </a:ext>
                  </a:extLst>
                </a:gridCol>
              </a:tblGrid>
              <a:tr h="219395">
                <a:tc>
                  <a:txBody>
                    <a:bodyPr/>
                    <a:lstStyle/>
                    <a:p>
                      <a:r>
                        <a:rPr lang="el-GR" sz="1050" b="1" noProof="0">
                          <a:solidFill>
                            <a:schemeClr val="tx2"/>
                          </a:solidFill>
                        </a:rPr>
                        <a:t xml:space="preserve">Στοιχεία για τον κατώτατο μισθό </a:t>
                      </a:r>
                      <a:r>
                        <a:rPr lang="el-GR" sz="1050" b="0" noProof="0">
                          <a:solidFill>
                            <a:schemeClr val="tx2"/>
                          </a:solidFill>
                        </a:rPr>
                        <a:t>(42a)</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l-GR" sz="1050" b="1" noProof="0">
                          <a:solidFill>
                            <a:schemeClr val="tx2"/>
                          </a:solidFill>
                        </a:rPr>
                        <a:t xml:space="preserve">Ναι</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l-GR" sz="1050" b="1" noProof="0">
                          <a:solidFill>
                            <a:schemeClr val="tx2"/>
                          </a:solidFill>
                        </a:rPr>
                        <a:t xml:space="preserve">Όχι</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4203607533"/>
                  </a:ext>
                </a:extLst>
              </a:tr>
              <a:tr h="539347">
                <a:tc>
                  <a:txBody>
                    <a:bodyPr/>
                    <a:lstStyle/>
                    <a:p>
                      <a:r>
                        <a:rPr lang="el-GR" sz="1050" b="0" noProof="0">
                          <a:solidFill>
                            <a:schemeClr val="tx2"/>
                          </a:solidFill>
                        </a:rPr>
                        <a:t xml:space="preserve">Στην επιχείρηση όλοι οι εργαζόμενοι λαμβάνουν αμοιβή τουλάχιστον στο επίπεδο του κατώτατου μισθού </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minumum_wage_yes</a:t>
                      </a:r>
                      <a:r>
                        <a:rPr lang="el-GR" sz="1050" b="0" i="0" u="none" strike="noStrike" noProof="0">
                          <a:solidFill>
                            <a:srgbClr val="1B4528"/>
                          </a:solidFill>
                          <a:effectLst/>
                          <a:latin typeface="Inter"/>
                        </a:rPr>
                        <a: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minimum_wage_no</a:t>
                      </a:r>
                      <a:r>
                        <a:rPr lang="el-GR" sz="1050" b="0" i="0" u="none" strike="noStrike" noProof="0">
                          <a:solidFill>
                            <a:srgbClr val="1B4528"/>
                          </a:solidFill>
                          <a:effectLst/>
                          <a:latin typeface="Inter"/>
                        </a:rPr>
                        <a: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393907362"/>
                  </a:ext>
                </a:extLst>
              </a:tr>
            </a:tbl>
          </a:graphicData>
        </a:graphic>
      </p:graphicFrame>
      <p:graphicFrame>
        <p:nvGraphicFramePr>
          <p:cNvPr id="29" name="Table 16">
            <a:extLst>
              <a:ext uri="{FF2B5EF4-FFF2-40B4-BE49-F238E27FC236}">
                <a16:creationId xmlns:a16="http://schemas.microsoft.com/office/drawing/2014/main" id="{9493B198-6182-0768-EF14-0EF37F9E9F4F}"/>
              </a:ext>
            </a:extLst>
          </p:cNvPr>
          <p:cNvGraphicFramePr>
            <a:graphicFrameLocks noGrp="1"/>
          </p:cNvGraphicFramePr>
          <p:nvPr>
            <p:extLst>
              <p:ext uri="{D42A27DB-BD31-4B8C-83A1-F6EECF244321}">
                <p14:modId xmlns:p14="http://schemas.microsoft.com/office/powerpoint/2010/main" val="654789346"/>
              </p:ext>
            </p:extLst>
          </p:nvPr>
        </p:nvGraphicFramePr>
        <p:xfrm>
          <a:off x="445498" y="4815858"/>
          <a:ext cx="4796552" cy="805477"/>
        </p:xfrm>
        <a:graphic>
          <a:graphicData uri="http://schemas.openxmlformats.org/drawingml/2006/table">
            <a:tbl>
              <a:tblPr firstRow="1">
                <a:tableStyleId>{2A488322-F2BA-4B5B-9748-0D474271808F}</a:tableStyleId>
              </a:tblPr>
              <a:tblGrid>
                <a:gridCol w="2650727">
                  <a:extLst>
                    <a:ext uri="{9D8B030D-6E8A-4147-A177-3AD203B41FA5}">
                      <a16:colId xmlns:a16="http://schemas.microsoft.com/office/drawing/2014/main" val="81046444"/>
                    </a:ext>
                  </a:extLst>
                </a:gridCol>
                <a:gridCol w="2145825">
                  <a:extLst>
                    <a:ext uri="{9D8B030D-6E8A-4147-A177-3AD203B41FA5}">
                      <a16:colId xmlns:a16="http://schemas.microsoft.com/office/drawing/2014/main" val="2119413191"/>
                    </a:ext>
                  </a:extLst>
                </a:gridCol>
              </a:tblGrid>
              <a:tr h="3656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050" b="1" noProof="0">
                          <a:solidFill>
                            <a:schemeClr val="tx2"/>
                          </a:solidFill>
                        </a:rPr>
                        <a:t xml:space="preserve">Συλλογική σύμβαση εργασίας </a:t>
                      </a:r>
                      <a:r>
                        <a:rPr lang="el-GR" sz="1050" b="0" noProof="0">
                          <a:solidFill>
                            <a:schemeClr val="tx2"/>
                          </a:solidFill>
                        </a:rPr>
                        <a:t xml:space="preserve">(παρ. 42c)</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050" b="1" noProof="0">
                          <a:solidFill>
                            <a:schemeClr val="tx2"/>
                          </a:solidFill>
                        </a:rPr>
                        <a:t xml:space="preserve">Έτος</a:t>
                      </a:r>
                      <a:r>
                        <a:rPr lang="el-GR" sz="1050" b="1" noProof="0">
                          <a:solidFill>
                            <a:srgbClr val="1B4528"/>
                          </a:solidFill>
                          <a:latin typeface="Calibri" panose="020F0502020204030204" pitchFamily="34" charset="0"/>
                          <a:cs typeface="Calibri" panose="020F0502020204030204" pitchFamily="34" charset="0"/>
                        </a:rPr>
                        <a:t> {{</a:t>
                      </a:r>
                      <a:r>
                        <a:rPr lang="el-GR" sz="1050" b="1" noProof="0">
                          <a:solidFill>
                            <a:srgbClr val="1B4528"/>
                          </a:solidFill>
                          <a:latin typeface="Calibri" panose="020F0502020204030204" pitchFamily="34" charset="0"/>
                          <a:cs typeface="Calibri" panose="020F0502020204030204" pitchFamily="34" charset="0"/>
                        </a:rPr>
                        <a:t>insert_year</a:t>
                      </a:r>
                      <a:r>
                        <a:rPr lang="el-GR" sz="1050" b="1" noProof="0">
                          <a:solidFill>
                            <a:srgbClr val="1B4528"/>
                          </a:solidFill>
                          <a:latin typeface="Calibri" panose="020F0502020204030204" pitchFamily="34" charset="0"/>
                          <a:cs typeface="Calibri" panose="020F0502020204030204" pitchFamily="34" charset="0"/>
                        </a:rPr>
                        <a:t>}}</a:t>
                      </a:r>
                      <a:endParaRPr lang="el-GR" sz="1050" b="1"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397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050" b="0" noProof="0">
                          <a:solidFill>
                            <a:schemeClr val="tx2"/>
                          </a:solidFill>
                        </a:rPr>
                        <a:t xml:space="preserve">Ποσοστό εργαζομένων που καλύπτονται από συλλογική σύμβαση</a:t>
                      </a:r>
                      <a:endParaRPr kumimoji="0" lang="el-GR" sz="1050" b="0" i="0" u="none" strike="noStrike" kern="1200" cap="none" spc="0" normalizeH="0" baseline="0" noProof="0">
                        <a:ln>
                          <a:noFill/>
                        </a:ln>
                        <a:solidFill>
                          <a:srgbClr val="1B4528"/>
                        </a:solidFill>
                        <a:effectLst/>
                        <a:uLnTx/>
                        <a:uFillTx/>
                        <a:latin typeface="IBM Plex Sans"/>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050" b="0" i="0" u="none" strike="noStrike" kern="1200" cap="none" spc="0" normalizeH="0" baseline="0" noProof="0">
                          <a:ln>
                            <a:noFill/>
                          </a:ln>
                          <a:solidFill>
                            <a:srgbClr val="1B4528"/>
                          </a:solidFill>
                          <a:effectLst/>
                          <a:uLnTx/>
                          <a:uFillTx/>
                          <a:latin typeface="+mn-lt"/>
                          <a:ea typeface="+mn-ea"/>
                          <a:cs typeface="+mn-cs"/>
                        </a:rPr>
                        <a:t>{{</a:t>
                      </a:r>
                      <a:r>
                        <a:rPr kumimoji="0" lang="el-GR" sz="1050" b="0" i="0" u="none" strike="noStrike" kern="1200" cap="none" spc="0" normalizeH="0" baseline="0" noProof="0">
                          <a:ln>
                            <a:noFill/>
                          </a:ln>
                          <a:solidFill>
                            <a:srgbClr val="1B4528"/>
                          </a:solidFill>
                          <a:effectLst/>
                          <a:uLnTx/>
                          <a:uFillTx/>
                          <a:latin typeface="+mn-lt"/>
                          <a:ea typeface="+mn-ea"/>
                          <a:cs typeface="+mn-cs"/>
                        </a:rPr>
                        <a:t>indsat_procentvis_ansatte</a:t>
                      </a:r>
                      <a:r>
                        <a:rPr kumimoji="0" lang="el-GR" sz="1050" b="0" i="0" u="none" strike="noStrike" kern="1200" cap="none" spc="0" normalizeH="0" baseline="0" noProof="0">
                          <a:ln>
                            <a:noFill/>
                          </a:ln>
                          <a:solidFill>
                            <a:srgbClr val="1B4528"/>
                          </a:solidFill>
                          <a:effectLst/>
                          <a:uLnTx/>
                          <a:uFillTx/>
                          <a:latin typeface="+mn-lt"/>
                          <a:ea typeface="+mn-ea"/>
                          <a:cs typeface="+mn-cs"/>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31" name="Table 19">
            <a:extLst>
              <a:ext uri="{FF2B5EF4-FFF2-40B4-BE49-F238E27FC236}">
                <a16:creationId xmlns:a16="http://schemas.microsoft.com/office/drawing/2014/main" id="{12B3A72C-4031-E6CE-E541-98C8068B1C36}"/>
              </a:ext>
            </a:extLst>
          </p:cNvPr>
          <p:cNvGraphicFramePr>
            <a:graphicFrameLocks noGrp="1"/>
          </p:cNvGraphicFramePr>
          <p:nvPr>
            <p:extLst>
              <p:ext uri="{D42A27DB-BD31-4B8C-83A1-F6EECF244321}">
                <p14:modId xmlns:p14="http://schemas.microsoft.com/office/powerpoint/2010/main" val="469699691"/>
              </p:ext>
            </p:extLst>
          </p:nvPr>
        </p:nvGraphicFramePr>
        <p:xfrm>
          <a:off x="5448102" y="4806633"/>
          <a:ext cx="4796550" cy="814702"/>
        </p:xfrm>
        <a:graphic>
          <a:graphicData uri="http://schemas.openxmlformats.org/drawingml/2006/table">
            <a:tbl>
              <a:tblPr firstRow="1">
                <a:tableStyleId>{2A488322-F2BA-4B5B-9748-0D474271808F}</a:tableStyleId>
              </a:tblPr>
              <a:tblGrid>
                <a:gridCol w="3339386">
                  <a:extLst>
                    <a:ext uri="{9D8B030D-6E8A-4147-A177-3AD203B41FA5}">
                      <a16:colId xmlns:a16="http://schemas.microsoft.com/office/drawing/2014/main" val="2698153288"/>
                    </a:ext>
                  </a:extLst>
                </a:gridCol>
                <a:gridCol w="1457165">
                  <a:extLst>
                    <a:ext uri="{9D8B030D-6E8A-4147-A177-3AD203B41FA5}">
                      <a16:colId xmlns:a16="http://schemas.microsoft.com/office/drawing/2014/main" val="2119413191"/>
                    </a:ext>
                  </a:extLst>
                </a:gridCol>
              </a:tblGrid>
              <a:tr h="411922">
                <a:tc>
                  <a:txBody>
                    <a:bodyPr/>
                    <a:lstStyle/>
                    <a:p>
                      <a:r>
                        <a:rPr lang="el-GR" sz="1050" b="1" noProof="0">
                          <a:solidFill>
                            <a:schemeClr val="tx2"/>
                          </a:solidFill>
                        </a:rPr>
                        <a:t xml:space="preserve">Μέσες ώρες κατάρτισης ανά εργαζόμενο </a:t>
                      </a:r>
                      <a:r>
                        <a:rPr lang="el-GR" sz="1050" b="0" noProof="0">
                          <a:solidFill>
                            <a:schemeClr val="tx2"/>
                          </a:solidFill>
                        </a:rPr>
                        <a:t xml:space="preserve">(παρ. 42d)</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050" b="1" noProof="0">
                          <a:solidFill>
                            <a:schemeClr val="tx2"/>
                          </a:solidFill>
                        </a:rPr>
                        <a:t xml:space="preserve">Έτος</a:t>
                      </a:r>
                      <a:r>
                        <a:rPr lang="el-GR" sz="1050" b="1" noProof="0">
                          <a:solidFill>
                            <a:srgbClr val="1B4528"/>
                          </a:solidFill>
                          <a:latin typeface="Calibri"/>
                          <a:cs typeface="Calibri"/>
                        </a:rPr>
                        <a:t> {{insert_year}}</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02780">
                <a:tc>
                  <a:txBody>
                    <a:bodyPr/>
                    <a:lstStyle/>
                    <a:p>
                      <a:r>
                        <a:rPr lang="el-GR" sz="1050" b="0" noProof="0">
                          <a:solidFill>
                            <a:schemeClr val="tx2"/>
                          </a:solidFill>
                        </a:rPr>
                        <a:t xml:space="preserve">Ώρα/ες ανά εργαζόμενο</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1050" b="0" i="0" u="none" strike="noStrike" noProof="0">
                          <a:solidFill>
                            <a:srgbClr val="1B4528"/>
                          </a:solidFill>
                          <a:effectLst/>
                          <a:latin typeface="Inter"/>
                        </a:rPr>
                        <a:t>{{gennemsnitstimer}}</a:t>
                      </a:r>
                      <a:endParaRPr lang="el-GR" sz="1050" b="0" noProof="0">
                        <a:effectLst/>
                      </a:endParaRPr>
                    </a:p>
                  </a:txBody>
                  <a:tcPr marL="16706" marR="16706"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00585068"/>
                  </a:ext>
                </a:extLst>
              </a:tr>
            </a:tbl>
          </a:graphicData>
        </a:graphic>
      </p:graphicFrame>
      <p:sp>
        <p:nvSpPr>
          <p:cNvPr id="32" name="Tekstfelt 31">
            <a:extLst>
              <a:ext uri="{FF2B5EF4-FFF2-40B4-BE49-F238E27FC236}">
                <a16:creationId xmlns:a16="http://schemas.microsoft.com/office/drawing/2014/main" id="{067FE542-2FEF-EE03-D854-E2D5CB1E1DB8}"/>
              </a:ext>
            </a:extLst>
          </p:cNvPr>
          <p:cNvSpPr txBox="1"/>
          <p:nvPr/>
        </p:nvSpPr>
        <p:spPr>
          <a:xfrm>
            <a:off x="465933" y="3022746"/>
            <a:ext cx="9791704" cy="890704"/>
          </a:xfrm>
          <a:prstGeom prst="rect">
            <a:avLst/>
          </a:prstGeom>
          <a:noFill/>
        </p:spPr>
        <p:txBody>
          <a:bodyPr wrap="square">
            <a:spAutoFit/>
          </a:bodyPr>
          <a:lstStyle/>
          <a:p>
            <a:pPr rtl="0">
              <a:buNone/>
            </a:pPr>
            <a:r>
              <a:rPr lang="el-GR" sz="1050" b="0" i="0" u="none" strike="noStrike" noProof="0">
                <a:solidFill>
                  <a:schemeClr val="tx2"/>
                </a:solidFill>
                <a:effectLst/>
                <a:latin typeface="Inter"/>
              </a:rPr>
              <a:t xml:space="preserve">Η επιχείρηση ανέφερε στοιχεία για τον κατώτατο μισθό, το ποσοστό εργαζομένων που καλύπτονται από συλλογικές συμβάσεις και τον μέσο ετήσιο αριθμό ωρών κατάρτισης ανά εργαζόμενο, ανά φύλο. Εάν η επιχείρηση υποχρεούται ήδη, βάσει της νομοθεσίας της ΕΕ 8 ή άλλων εθνικών διατάξεων, να αναφέρει το ποσοστιαίο μισθολογικό χάσμα μεταξύ γυναικών και ανδρών εργαζομένων, το γνωστοποιεί.</a:t>
            </a:r>
          </a:p>
          <a:p>
            <a:pPr>
              <a:buNone/>
            </a:pPr>
            <a:br>
              <a:rPr lang="el-GR" sz="1050" noProof="0">
                <a:solidFill>
                  <a:schemeClr val="tx2"/>
                </a:solidFill>
                <a:latin typeface="Inter"/>
              </a:rPr>
            </a:br>
            <a:endParaRPr lang="el-GR" sz="1050" noProof="0">
              <a:solidFill>
                <a:schemeClr val="tx2"/>
              </a:solidFill>
              <a:latin typeface="Inter"/>
            </a:endParaRPr>
          </a:p>
        </p:txBody>
      </p:sp>
    </p:spTree>
    <p:extLst>
      <p:ext uri="{BB962C8B-B14F-4D97-AF65-F5344CB8AC3E}">
        <p14:creationId xmlns:p14="http://schemas.microsoft.com/office/powerpoint/2010/main" val="10348620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l-GR" noProof="0"/>
              <a:t xml:space="preserve">Επιχειρηματική δεοντολογία: καταδίκες και πρόστιμα για διαφθορά &amp; δωροδοκία (B11) </a:t>
            </a:r>
          </a:p>
        </p:txBody>
      </p:sp>
      <p:graphicFrame>
        <p:nvGraphicFramePr>
          <p:cNvPr id="22" name="Table 21">
            <a:extLst>
              <a:ext uri="{FF2B5EF4-FFF2-40B4-BE49-F238E27FC236}">
                <a16:creationId xmlns:a16="http://schemas.microsoft.com/office/drawing/2014/main" id="{AF65586E-0EF1-899A-1FCC-C083408ADE09}"/>
              </a:ext>
            </a:extLst>
          </p:cNvPr>
          <p:cNvGraphicFramePr>
            <a:graphicFrameLocks noGrp="1"/>
          </p:cNvGraphicFramePr>
          <p:nvPr>
            <p:extLst>
              <p:ext uri="{D42A27DB-BD31-4B8C-83A1-F6EECF244321}">
                <p14:modId xmlns:p14="http://schemas.microsoft.com/office/powerpoint/2010/main" val="2655272026"/>
              </p:ext>
            </p:extLst>
          </p:nvPr>
        </p:nvGraphicFramePr>
        <p:xfrm>
          <a:off x="445498" y="1706309"/>
          <a:ext cx="9791704" cy="536705"/>
        </p:xfrm>
        <a:graphic>
          <a:graphicData uri="http://schemas.openxmlformats.org/drawingml/2006/table">
            <a:tbl>
              <a:tblPr firstRow="1">
                <a:tableStyleId>{2A488322-F2BA-4B5B-9748-0D474271808F}</a:tableStyleId>
              </a:tblPr>
              <a:tblGrid>
                <a:gridCol w="3263901">
                  <a:extLst>
                    <a:ext uri="{9D8B030D-6E8A-4147-A177-3AD203B41FA5}">
                      <a16:colId xmlns:a16="http://schemas.microsoft.com/office/drawing/2014/main" val="2698153288"/>
                    </a:ext>
                  </a:extLst>
                </a:gridCol>
                <a:gridCol w="3263901">
                  <a:extLst>
                    <a:ext uri="{9D8B030D-6E8A-4147-A177-3AD203B41FA5}">
                      <a16:colId xmlns:a16="http://schemas.microsoft.com/office/drawing/2014/main" val="2119413191"/>
                    </a:ext>
                  </a:extLst>
                </a:gridCol>
                <a:gridCol w="3263901">
                  <a:extLst>
                    <a:ext uri="{9D8B030D-6E8A-4147-A177-3AD203B41FA5}">
                      <a16:colId xmlns:a16="http://schemas.microsoft.com/office/drawing/2014/main" val="1502960985"/>
                    </a:ext>
                  </a:extLst>
                </a:gridCol>
              </a:tblGrid>
              <a:tr h="268352">
                <a:tc rowSpan="2">
                  <a:txBody>
                    <a:bodyPr/>
                    <a:lstStyle/>
                    <a:p>
                      <a:r>
                        <a:rPr lang="el-GR" sz="1050" b="1" noProof="0">
                          <a:solidFill>
                            <a:schemeClr val="tx2"/>
                          </a:solidFill>
                        </a:rPr>
                        <a:t xml:space="preserve">Διαφθορά και δωροδοκία </a:t>
                      </a:r>
                      <a:r>
                        <a:rPr lang="el-GR" sz="1050" b="0" noProof="0">
                          <a:solidFill>
                            <a:schemeClr val="tx2"/>
                          </a:solidFill>
                        </a:rPr>
                        <a:t xml:space="preserve">(παρ. 43)</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a:r>
                        <a:rPr lang="el-GR" sz="1050" b="1" noProof="0">
                          <a:solidFill>
                            <a:schemeClr val="tx2"/>
                          </a:solidFill>
                        </a:rPr>
                        <a:t xml:space="preserve">Αριθμός καταδικών</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l-GR" sz="1050" b="1" noProof="0">
                          <a:solidFill>
                            <a:schemeClr val="tx2"/>
                          </a:solidFill>
                        </a:rPr>
                        <a:t xml:space="preserve">Συνολικό ύψος προστίμων</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68352">
                <a:tc vMerge="1">
                  <a:txBody>
                    <a:bodyPr/>
                    <a:lstStyle/>
                    <a:p>
                      <a:endParaRPr lang="en-GB" sz="775" b="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el-GR" sz="1050" b="0" i="0" u="none" strike="noStrike" noProof="0">
                          <a:solidFill>
                            <a:srgbClr val="1B4528"/>
                          </a:solidFill>
                          <a:effectLst/>
                          <a:latin typeface="Inter"/>
                        </a:rPr>
                        <a:t>{{domme}}</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samlet_bodestorrelse</a:t>
                      </a:r>
                      <a:r>
                        <a:rPr lang="el-GR" sz="1050" b="0" i="0" u="none" strike="noStrike" noProof="0">
                          <a:solidFill>
                            <a:srgbClr val="1B4528"/>
                          </a:solidFill>
                          <a:effectLst/>
                          <a:latin typeface="Inter"/>
                        </a:rPr>
                        <a: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12</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endParaRPr lang="el-GR" noProof="0"/>
          </a:p>
        </p:txBody>
      </p:sp>
      <p:sp>
        <p:nvSpPr>
          <p:cNvPr id="9" name="Tekstfelt 8">
            <a:extLst>
              <a:ext uri="{FF2B5EF4-FFF2-40B4-BE49-F238E27FC236}">
                <a16:creationId xmlns:a16="http://schemas.microsoft.com/office/drawing/2014/main" id="{18D9DD8E-27FC-601F-5895-E2455B4CB3B0}"/>
              </a:ext>
            </a:extLst>
          </p:cNvPr>
          <p:cNvSpPr txBox="1"/>
          <p:nvPr/>
        </p:nvSpPr>
        <p:spPr>
          <a:xfrm>
            <a:off x="454796" y="891000"/>
            <a:ext cx="9869667" cy="890704"/>
          </a:xfrm>
          <a:prstGeom prst="rect">
            <a:avLst/>
          </a:prstGeom>
          <a:noFill/>
        </p:spPr>
        <p:txBody>
          <a:bodyPr wrap="square">
            <a:spAutoFit/>
          </a:bodyPr>
          <a:lstStyle/>
          <a:p>
            <a:pPr rtl="0">
              <a:buNone/>
            </a:pPr>
            <a:r>
              <a:rPr lang="el-GR" sz="1050" b="0" i="0" u="none" strike="noStrike" noProof="0">
                <a:solidFill>
                  <a:schemeClr val="tx2"/>
                </a:solidFill>
                <a:effectLst/>
                <a:latin typeface="Inter"/>
              </a:rPr>
              <a:t xml:space="preserve">Η επιχείρηση ανέφερε παραβάσεις της νομοθεσίας για την καταπολέμηση της διαφθοράς και της δωροδοκίας κατά την περίοδο αναφοράς. Εάν υπήρξαν καταδίκες ή πρόστιμα για τέτοιες παραβάσεις, γνωστοποιήθηκαν τα εξής: ο αριθμός των καταδικών και το συνολικό ύψος των επιβληθέντων προστίμων. Τα στοιχεία αυτά αφορούν την επιχειρηματική δεοντολογία και τη βιωσιμότητα της επιχείρησης, ιδίως τη διαχείριση της διαφθοράς, και παρατίθενται κατωτέρω.</a:t>
            </a:r>
            <a:r>
              <a:rPr lang="el-GR" sz="1050" b="0" i="0" u="none" strike="noStrike" noProof="0">
                <a:solidFill>
                  <a:schemeClr val="tx2"/>
                </a:solidFill>
                <a:effectLst/>
                <a:latin typeface="Inter"/>
              </a:rPr>
              <a:t xml:space="preserve"/>
            </a:r>
            <a:r>
              <a:rPr lang="el-GR" sz="1050" b="0" i="0" u="none" strike="noStrike" noProof="0">
                <a:solidFill>
                  <a:schemeClr val="tx2"/>
                </a:solidFill>
                <a:effectLst/>
                <a:latin typeface="Inter"/>
              </a:rPr>
              <a:t xml:space="preserve"/>
            </a:r>
            <a:endParaRPr lang="el-GR" sz="1050" b="0" noProof="0">
              <a:solidFill>
                <a:schemeClr val="tx2"/>
              </a:solidFill>
              <a:effectLst/>
              <a:latin typeface="Inter"/>
            </a:endParaRPr>
          </a:p>
          <a:p>
            <a:pPr>
              <a:buNone/>
            </a:pPr>
            <a:br>
              <a:rPr lang="el-GR" sz="1050" noProof="0">
                <a:solidFill>
                  <a:schemeClr val="tx2"/>
                </a:solidFill>
                <a:latin typeface="Inter"/>
              </a:rPr>
            </a:br>
            <a:endParaRPr lang="el-GR" sz="1050" noProof="0">
              <a:solidFill>
                <a:schemeClr val="tx2"/>
              </a:solidFill>
              <a:latin typeface="Inter"/>
            </a:endParaRPr>
          </a:p>
        </p:txBody>
      </p:sp>
    </p:spTree>
    <p:extLst>
      <p:ext uri="{BB962C8B-B14F-4D97-AF65-F5344CB8AC3E}">
        <p14:creationId xmlns:p14="http://schemas.microsoft.com/office/powerpoint/2010/main" val="26821186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indhold 1">
            <a:extLst>
              <a:ext uri="{FF2B5EF4-FFF2-40B4-BE49-F238E27FC236}">
                <a16:creationId xmlns:a16="http://schemas.microsoft.com/office/drawing/2014/main" id="{8929CC52-5059-1012-5A40-D359AA36AE2B}"/>
              </a:ext>
            </a:extLst>
          </p:cNvPr>
          <p:cNvSpPr>
            <a:spLocks noGrp="1"/>
          </p:cNvSpPr>
          <p:nvPr>
            <p:ph idx="1"/>
          </p:nvPr>
        </p:nvSpPr>
        <p:spPr>
          <a:xfrm>
            <a:off x="842440" y="2366719"/>
            <a:ext cx="8798625" cy="1280812"/>
          </a:xfrm>
        </p:spPr>
        <p:txBody>
          <a:bodyPr>
            <a:normAutofit/>
          </a:bodyPr>
          <a:lstStyle/>
          <a:p>
            <a:r>
              <a:rPr lang="el-GR" sz="3500" b="1" noProof="0"/>
              <a:t xml:space="preserve">Γνωστοποιήσεις της Ολοκληρωμένης ενότητας</a:t>
            </a:r>
          </a:p>
        </p:txBody>
      </p:sp>
      <p:sp>
        <p:nvSpPr>
          <p:cNvPr id="5" name="Pladsholder til slidenummer 4">
            <a:extLst>
              <a:ext uri="{FF2B5EF4-FFF2-40B4-BE49-F238E27FC236}">
                <a16:creationId xmlns:a16="http://schemas.microsoft.com/office/drawing/2014/main" id="{8A923573-02E7-36F8-863E-7A551AE1CD30}"/>
              </a:ext>
            </a:extLst>
          </p:cNvPr>
          <p:cNvSpPr>
            <a:spLocks noGrp="1"/>
          </p:cNvSpPr>
          <p:nvPr>
            <p:ph type="sldNum" sz="quarter" idx="16"/>
          </p:nvPr>
        </p:nvSpPr>
        <p:spPr/>
        <p:txBody>
          <a:bodyPr/>
          <a:lstStyle/>
          <a:p>
            <a:fld id="{5A0D23CF-C5A3-5445-819D-C647D180BB4B}" type="slidenum">
              <a:rPr lang="el-GR" noProof="0" smtClean="0"/>
              <a:pPr/>
              <a:t>13</a:t>
            </a:fld>
            <a:endParaRPr lang="el-GR" noProof="0"/>
          </a:p>
        </p:txBody>
      </p:sp>
    </p:spTree>
    <p:extLst>
      <p:ext uri="{BB962C8B-B14F-4D97-AF65-F5344CB8AC3E}">
        <p14:creationId xmlns:p14="http://schemas.microsoft.com/office/powerpoint/2010/main" val="9596397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54796" y="450698"/>
            <a:ext cx="9791704" cy="224700"/>
          </a:xfrm>
        </p:spPr>
        <p:txBody>
          <a:bodyPr/>
          <a:lstStyle/>
          <a:p>
            <a:pPr marL="0" algn="l" rtl="0" eaLnBrk="1" fontAlgn="t" latinLnBrk="0" hangingPunct="1">
              <a:spcBef>
                <a:spcPts val="0"/>
              </a:spcBef>
              <a:spcAft>
                <a:spcPts val="0"/>
              </a:spcAft>
            </a:pPr>
            <a:r>
              <a:rPr lang="el-GR" sz="1575" b="1" i="0" u="none" strike="noStrike" kern="1200" spc="-10" noProof="0">
                <a:solidFill>
                  <a:srgbClr val="1B4528"/>
                </a:solidFill>
                <a:effectLst/>
                <a:latin typeface="IBM Plex Sans" panose="020B0503050203000203" pitchFamily="34" charset="0"/>
              </a:rPr>
              <a:t xml:space="preserve">Στρατηγική: επιχειρηματικό μοντέλο και πρωτοβουλίες βιωσιμότητας (C1)</a:t>
            </a:r>
            <a:endParaRPr lang="el-GR" noProof="0"/>
          </a:p>
        </p:txBody>
      </p:sp>
      <p:pic>
        <p:nvPicPr>
          <p:cNvPr id="24" name="Graphic 23">
            <a:extLst>
              <a:ext uri="{FF2B5EF4-FFF2-40B4-BE49-F238E27FC236}">
                <a16:creationId xmlns:a16="http://schemas.microsoft.com/office/drawing/2014/main" id="{C1CB6473-45A0-323E-9329-E3AEC5C2FC3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7056" y="4129657"/>
            <a:ext cx="181932" cy="203984"/>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14</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br>
              <a:rPr lang="el-GR" noProof="0"/>
            </a:br>
            <a:endParaRPr lang="el-GR" noProof="0"/>
          </a:p>
        </p:txBody>
      </p:sp>
      <p:graphicFrame>
        <p:nvGraphicFramePr>
          <p:cNvPr id="2" name="Table 2">
            <a:extLst>
              <a:ext uri="{FF2B5EF4-FFF2-40B4-BE49-F238E27FC236}">
                <a16:creationId xmlns:a16="http://schemas.microsoft.com/office/drawing/2014/main" id="{73C59346-F692-8EEE-6728-75E283DC6C9B}"/>
              </a:ext>
            </a:extLst>
          </p:cNvPr>
          <p:cNvGraphicFramePr>
            <a:graphicFrameLocks noGrp="1"/>
          </p:cNvGraphicFramePr>
          <p:nvPr>
            <p:extLst>
              <p:ext uri="{D42A27DB-BD31-4B8C-83A1-F6EECF244321}">
                <p14:modId xmlns:p14="http://schemas.microsoft.com/office/powerpoint/2010/main" val="18112507"/>
              </p:ext>
            </p:extLst>
          </p:nvPr>
        </p:nvGraphicFramePr>
        <p:xfrm>
          <a:off x="464093" y="2080389"/>
          <a:ext cx="9791704" cy="691580"/>
        </p:xfrm>
        <a:graphic>
          <a:graphicData uri="http://schemas.openxmlformats.org/drawingml/2006/table">
            <a:tbl>
              <a:tblPr firstRow="1">
                <a:tableStyleId>{2A488322-F2BA-4B5B-9748-0D474271808F}</a:tableStyleId>
              </a:tblPr>
              <a:tblGrid>
                <a:gridCol w="9791704">
                  <a:extLst>
                    <a:ext uri="{9D8B030D-6E8A-4147-A177-3AD203B41FA5}">
                      <a16:colId xmlns:a16="http://schemas.microsoft.com/office/drawing/2014/main" val="2698153288"/>
                    </a:ext>
                  </a:extLst>
                </a:gridCol>
              </a:tblGrid>
              <a:tr h="157845">
                <a:tc>
                  <a:txBody>
                    <a:bodyPr/>
                    <a:lstStyle/>
                    <a:p>
                      <a:r>
                        <a:rPr lang="el-GR" sz="1050" b="1" noProof="0">
                          <a:solidFill>
                            <a:schemeClr val="tx2"/>
                          </a:solidFill>
                        </a:rPr>
                        <a:t xml:space="preserve">Περιγραφή σημαντικών ομάδων προϊόντων και/ή υπηρεσιών που προσφέρει η</a:t>
                      </a:r>
                      <a:r>
                        <a:rPr lang="el-GR" sz="1050" b="1" kern="1200" noProof="0">
                          <a:solidFill>
                            <a:srgbClr val="1B4528"/>
                          </a:solidFill>
                          <a:latin typeface="+mn-lt"/>
                          <a:ea typeface="+mn-ea"/>
                          <a:cs typeface="+mn-cs"/>
                        </a:rPr>
                        <a:t>{{</a:t>
                      </a:r>
                      <a:r>
                        <a:rPr lang="el-GR" sz="1050" b="1" kern="1200" noProof="0">
                          <a:solidFill>
                            <a:srgbClr val="1B4528"/>
                          </a:solidFill>
                          <a:latin typeface="+mn-lt"/>
                          <a:ea typeface="+mn-ea"/>
                          <a:cs typeface="+mn-cs"/>
                        </a:rPr>
                        <a:t>company_name</a:t>
                      </a:r>
                      <a:r>
                        <a:rPr lang="el-GR" sz="1050" b="1" kern="1200" noProof="0">
                          <a:solidFill>
                            <a:srgbClr val="1B4528"/>
                          </a:solidFill>
                          <a:latin typeface="+mn-lt"/>
                          <a:ea typeface="+mn-ea"/>
                          <a:cs typeface="+mn-cs"/>
                        </a:rPr>
                        <a:t>}} </a:t>
                      </a:r>
                      <a:r>
                        <a:rPr lang="el-GR" sz="1050" b="1" kern="1200" noProof="0">
                          <a:solidFill>
                            <a:schemeClr val="tx2"/>
                          </a:solidFill>
                          <a:latin typeface="+mn-lt"/>
                          <a:ea typeface="+mn-ea"/>
                          <a:cs typeface="+mn-cs"/>
                        </a:rPr>
                        <a:t xml:space="preserve"/>
                      </a:r>
                      <a:r>
                        <a:rPr lang="el-GR" sz="1050" b="1" noProof="0">
                          <a:solidFill>
                            <a:schemeClr val="tx2"/>
                          </a:solidFill>
                        </a:rPr>
                        <a:t xml:space="preserve"/>
                      </a:r>
                      <a:r>
                        <a:rPr lang="el-GR" sz="1050" b="0" noProof="0">
                          <a:solidFill>
                            <a:schemeClr val="tx2"/>
                          </a:solidFill>
                        </a:rPr>
                        <a:t xml:space="preserve">(παρ. 46a)</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468058">
                <a:tc>
                  <a:txBody>
                    <a:bodyPr/>
                    <a:lstStyle/>
                    <a:p>
                      <a:pPr algn="l"/>
                      <a:r>
                        <a:rPr lang="el-GR" sz="1050" b="0" noProof="0">
                          <a:solidFill>
                            <a:srgbClr val="1B4528"/>
                          </a:solidFill>
                        </a:rPr>
                        <a:t>{{</a:t>
                      </a:r>
                      <a:r>
                        <a:rPr lang="el-GR" sz="1050" b="0" noProof="0">
                          <a:solidFill>
                            <a:srgbClr val="1B4528"/>
                          </a:solidFill>
                        </a:rPr>
                        <a:t>markets_description</a:t>
                      </a:r>
                      <a:r>
                        <a:rPr lang="el-GR" sz="1050" b="0" noProof="0">
                          <a:solidFill>
                            <a:srgbClr val="1B4528"/>
                          </a:solidFill>
                        </a:rPr>
                        <a:t>}}</a:t>
                      </a:r>
                      <a:endParaRPr lang="el-GR" sz="1050" b="0" kern="1200" noProof="0">
                        <a:solidFill>
                          <a:srgbClr val="1B4528"/>
                        </a:solidFill>
                        <a:latin typeface="+mn-lt"/>
                        <a:ea typeface="+mn-ea"/>
                        <a:cs typeface="+mn-cs"/>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2" name="Table 2">
            <a:extLst>
              <a:ext uri="{FF2B5EF4-FFF2-40B4-BE49-F238E27FC236}">
                <a16:creationId xmlns:a16="http://schemas.microsoft.com/office/drawing/2014/main" id="{BF7B7D4C-4B08-C9C0-EA8D-D975600D4842}"/>
              </a:ext>
            </a:extLst>
          </p:cNvPr>
          <p:cNvGraphicFramePr>
            <a:graphicFrameLocks noGrp="1"/>
          </p:cNvGraphicFramePr>
          <p:nvPr>
            <p:extLst>
              <p:ext uri="{D42A27DB-BD31-4B8C-83A1-F6EECF244321}">
                <p14:modId xmlns:p14="http://schemas.microsoft.com/office/powerpoint/2010/main" val="1513519141"/>
              </p:ext>
            </p:extLst>
          </p:nvPr>
        </p:nvGraphicFramePr>
        <p:xfrm>
          <a:off x="464093" y="2891378"/>
          <a:ext cx="9791704" cy="901511"/>
        </p:xfrm>
        <a:graphic>
          <a:graphicData uri="http://schemas.openxmlformats.org/drawingml/2006/table">
            <a:tbl>
              <a:tblPr firstRow="1">
                <a:tableStyleId>{2A488322-F2BA-4B5B-9748-0D474271808F}</a:tableStyleId>
              </a:tblPr>
              <a:tblGrid>
                <a:gridCol w="9791704">
                  <a:extLst>
                    <a:ext uri="{9D8B030D-6E8A-4147-A177-3AD203B41FA5}">
                      <a16:colId xmlns:a16="http://schemas.microsoft.com/office/drawing/2014/main" val="2698153288"/>
                    </a:ext>
                  </a:extLst>
                </a:gridCol>
              </a:tblGrid>
              <a:tr h="170826">
                <a:tc>
                  <a:txBody>
                    <a:bodyPr/>
                    <a:lstStyle/>
                    <a:p>
                      <a:r>
                        <a:rPr lang="el-GR" sz="1050" b="1" noProof="0">
                          <a:solidFill>
                            <a:schemeClr val="tx2"/>
                          </a:solidFill>
                        </a:rPr>
                        <a:t xml:space="preserve">Περιγραφή των σημαντικών αγορών όπου δραστηριοποιείται η</a:t>
                      </a:r>
                      <a:r>
                        <a:rPr lang="el-GR" sz="1050" b="1" kern="1200" noProof="0">
                          <a:solidFill>
                            <a:srgbClr val="1B4528"/>
                          </a:solidFill>
                          <a:latin typeface="+mn-lt"/>
                          <a:ea typeface="+mn-ea"/>
                          <a:cs typeface="+mn-cs"/>
                        </a:rPr>
                        <a:t>{{</a:t>
                      </a:r>
                      <a:r>
                        <a:rPr lang="el-GR" sz="1050" b="1" kern="1200" noProof="0">
                          <a:solidFill>
                            <a:srgbClr val="1B4528"/>
                          </a:solidFill>
                          <a:latin typeface="+mn-lt"/>
                          <a:ea typeface="+mn-ea"/>
                          <a:cs typeface="+mn-cs"/>
                        </a:rPr>
                        <a:t>company_name</a:t>
                      </a:r>
                      <a:r>
                        <a:rPr lang="el-GR" sz="1050" b="1" kern="1200" noProof="0">
                          <a:solidFill>
                            <a:srgbClr val="1B4528"/>
                          </a:solidFill>
                          <a:latin typeface="+mn-lt"/>
                          <a:ea typeface="+mn-ea"/>
                          <a:cs typeface="+mn-cs"/>
                        </a:rPr>
                        <a:t>}} </a:t>
                      </a:r>
                      <a:r>
                        <a:rPr lang="el-GR" sz="1050" b="1" noProof="0">
                          <a:solidFill>
                            <a:schemeClr val="tx2"/>
                          </a:solidFill>
                        </a:rPr>
                        <a:t xml:space="preserve"/>
                      </a:r>
                      <a:r>
                        <a:rPr lang="el-GR" sz="1050" b="0" noProof="0">
                          <a:solidFill>
                            <a:schemeClr val="tx2"/>
                          </a:solidFill>
                        </a:rPr>
                        <a:t xml:space="preserve">(παρ. 46b)</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677990">
                <a:tc>
                  <a:txBody>
                    <a:bodyPr/>
                    <a:lstStyle/>
                    <a:p>
                      <a:pPr algn="l"/>
                      <a:r>
                        <a:rPr lang="el-GR" sz="1050" b="0" noProof="0">
                          <a:solidFill>
                            <a:srgbClr val="1B4528"/>
                          </a:solidFill>
                        </a:rPr>
                        <a:t>{{</a:t>
                      </a:r>
                      <a:r>
                        <a:rPr lang="el-GR" sz="1050" b="0" noProof="0">
                          <a:solidFill>
                            <a:srgbClr val="1B4528"/>
                          </a:solidFill>
                        </a:rPr>
                        <a:t>business_relationships</a:t>
                      </a:r>
                      <a:r>
                        <a:rPr lang="el-GR" sz="1050" b="0" noProof="0">
                          <a:solidFill>
                            <a:srgbClr val="1B4528"/>
                          </a:solidFill>
                        </a:rPr>
                        <a:t>}}</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4" name="Table 2">
            <a:extLst>
              <a:ext uri="{FF2B5EF4-FFF2-40B4-BE49-F238E27FC236}">
                <a16:creationId xmlns:a16="http://schemas.microsoft.com/office/drawing/2014/main" id="{9A35FA09-5062-B526-C260-BC3A7A5ED36B}"/>
              </a:ext>
            </a:extLst>
          </p:cNvPr>
          <p:cNvGraphicFramePr>
            <a:graphicFrameLocks noGrp="1"/>
          </p:cNvGraphicFramePr>
          <p:nvPr>
            <p:extLst>
              <p:ext uri="{D42A27DB-BD31-4B8C-83A1-F6EECF244321}">
                <p14:modId xmlns:p14="http://schemas.microsoft.com/office/powerpoint/2010/main" val="2840991552"/>
              </p:ext>
            </p:extLst>
          </p:nvPr>
        </p:nvGraphicFramePr>
        <p:xfrm>
          <a:off x="464093" y="3890345"/>
          <a:ext cx="9791704" cy="879319"/>
        </p:xfrm>
        <a:graphic>
          <a:graphicData uri="http://schemas.openxmlformats.org/drawingml/2006/table">
            <a:tbl>
              <a:tblPr firstRow="1">
                <a:tableStyleId>{2A488322-F2BA-4B5B-9748-0D474271808F}</a:tableStyleId>
              </a:tblPr>
              <a:tblGrid>
                <a:gridCol w="9791704">
                  <a:extLst>
                    <a:ext uri="{9D8B030D-6E8A-4147-A177-3AD203B41FA5}">
                      <a16:colId xmlns:a16="http://schemas.microsoft.com/office/drawing/2014/main" val="2698153288"/>
                    </a:ext>
                  </a:extLst>
                </a:gridCol>
              </a:tblGrid>
              <a:tr h="155982">
                <a:tc>
                  <a:txBody>
                    <a:bodyPr/>
                    <a:lstStyle/>
                    <a:p>
                      <a:r>
                        <a:rPr lang="el-GR" sz="1050" b="1" noProof="0">
                          <a:solidFill>
                            <a:schemeClr val="tx2"/>
                          </a:solidFill>
                        </a:rPr>
                        <a:t xml:space="preserve">Περιγραφή των κύριων επιχειρηματικών σχέσεων της</a:t>
                      </a:r>
                      <a:r>
                        <a:rPr lang="el-GR" sz="1050" b="1" kern="1200" noProof="0">
                          <a:solidFill>
                            <a:srgbClr val="1B4528"/>
                          </a:solidFill>
                          <a:latin typeface="+mn-lt"/>
                          <a:ea typeface="+mn-ea"/>
                          <a:cs typeface="+mn-cs"/>
                        </a:rPr>
                        <a:t>{{</a:t>
                      </a:r>
                      <a:r>
                        <a:rPr lang="el-GR" sz="1050" b="1" kern="1200" noProof="0">
                          <a:solidFill>
                            <a:srgbClr val="1B4528"/>
                          </a:solidFill>
                          <a:latin typeface="+mn-lt"/>
                          <a:ea typeface="+mn-ea"/>
                          <a:cs typeface="+mn-cs"/>
                        </a:rPr>
                        <a:t>company_name</a:t>
                      </a:r>
                      <a:r>
                        <a:rPr lang="el-GR" sz="1050" b="1" kern="1200" noProof="0">
                          <a:solidFill>
                            <a:srgbClr val="1B4528"/>
                          </a:solidFill>
                          <a:latin typeface="+mn-lt"/>
                          <a:ea typeface="+mn-ea"/>
                          <a:cs typeface="+mn-cs"/>
                        </a:rPr>
                        <a:t>}}</a:t>
                      </a:r>
                      <a:r>
                        <a:rPr lang="el-GR" sz="1050" b="1" kern="1200" noProof="0">
                          <a:solidFill>
                            <a:schemeClr val="accent1"/>
                          </a:solidFill>
                          <a:latin typeface="+mn-lt"/>
                          <a:ea typeface="+mn-ea"/>
                          <a:cs typeface="+mn-cs"/>
                        </a:rPr>
                        <a:t xml:space="preserve"/>
                      </a:r>
                      <a:r>
                        <a:rPr lang="el-GR" sz="1050" b="1" kern="1200" noProof="0">
                          <a:solidFill>
                            <a:srgbClr val="1B4528"/>
                          </a:solidFill>
                          <a:latin typeface="+mn-lt"/>
                          <a:ea typeface="+mn-ea"/>
                          <a:cs typeface="+mn-cs"/>
                        </a:rPr>
                        <a:t> </a:t>
                      </a:r>
                      <a:r>
                        <a:rPr lang="el-GR" sz="1050" b="1" noProof="0">
                          <a:solidFill>
                            <a:schemeClr val="tx2"/>
                          </a:solidFill>
                        </a:rPr>
                        <a:t xml:space="preserve"/>
                      </a:r>
                      <a:r>
                        <a:rPr lang="el-GR" sz="1050" b="0" noProof="0">
                          <a:solidFill>
                            <a:schemeClr val="tx2"/>
                          </a:solidFill>
                        </a:rPr>
                        <a:t xml:space="preserve">(παρ. 46c)</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655797">
                <a:tc>
                  <a:txBody>
                    <a:bodyPr/>
                    <a:lstStyle/>
                    <a:p>
                      <a:pPr algn="l"/>
                      <a:r>
                        <a:rPr lang="el-GR" sz="1050" b="0" noProof="0">
                          <a:solidFill>
                            <a:srgbClr val="1B4528"/>
                          </a:solidFill>
                        </a:rPr>
                        <a:t>{{</a:t>
                      </a:r>
                      <a:r>
                        <a:rPr lang="el-GR" sz="1050" b="0" noProof="0">
                          <a:solidFill>
                            <a:srgbClr val="1B4528"/>
                          </a:solidFill>
                        </a:rPr>
                        <a:t>strategy</a:t>
                      </a:r>
                      <a:r>
                        <a:rPr lang="el-GR" sz="1050" b="0" noProof="0">
                          <a:solidFill>
                            <a:srgbClr val="1B4528"/>
                          </a:solidFill>
                        </a:rPr>
                        <a:t>}}</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3" name="Table 2">
            <a:extLst>
              <a:ext uri="{FF2B5EF4-FFF2-40B4-BE49-F238E27FC236}">
                <a16:creationId xmlns:a16="http://schemas.microsoft.com/office/drawing/2014/main" id="{7F017BC3-E5E3-8830-A914-2C6CAB704D65}"/>
              </a:ext>
            </a:extLst>
          </p:cNvPr>
          <p:cNvGraphicFramePr>
            <a:graphicFrameLocks noGrp="1"/>
          </p:cNvGraphicFramePr>
          <p:nvPr>
            <p:extLst>
              <p:ext uri="{D42A27DB-BD31-4B8C-83A1-F6EECF244321}">
                <p14:modId xmlns:p14="http://schemas.microsoft.com/office/powerpoint/2010/main" val="3842437383"/>
              </p:ext>
            </p:extLst>
          </p:nvPr>
        </p:nvGraphicFramePr>
        <p:xfrm>
          <a:off x="454796" y="1387112"/>
          <a:ext cx="9791704" cy="607423"/>
        </p:xfrm>
        <a:graphic>
          <a:graphicData uri="http://schemas.openxmlformats.org/drawingml/2006/table">
            <a:tbl>
              <a:tblPr firstRow="1">
                <a:tableStyleId>{2A488322-F2BA-4B5B-9748-0D474271808F}</a:tableStyleId>
              </a:tblPr>
              <a:tblGrid>
                <a:gridCol w="9791704">
                  <a:extLst>
                    <a:ext uri="{9D8B030D-6E8A-4147-A177-3AD203B41FA5}">
                      <a16:colId xmlns:a16="http://schemas.microsoft.com/office/drawing/2014/main" val="2698153288"/>
                    </a:ext>
                  </a:extLst>
                </a:gridCol>
              </a:tblGrid>
              <a:tr h="163914">
                <a:tc>
                  <a:txBody>
                    <a:bodyPr/>
                    <a:lstStyle/>
                    <a:p>
                      <a:r>
                        <a:rPr lang="el-GR" sz="1050" b="1" noProof="0">
                          <a:solidFill>
                            <a:schemeClr val="tx2"/>
                          </a:solidFill>
                        </a:rPr>
                        <a:t xml:space="preserve">Περιγραφή του συνολικού επιχειρηματικού μοντέλου και της στρατηγικής </a:t>
                      </a:r>
                      <a:r>
                        <a:rPr lang="el-GR" sz="1050" b="0" noProof="0">
                          <a:solidFill>
                            <a:schemeClr val="tx2"/>
                          </a:solidFill>
                        </a:rPr>
                        <a:t xml:space="preserve">(παρ. 46)</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78893">
                <a:tc>
                  <a:txBody>
                    <a:bodyPr/>
                    <a:lstStyle/>
                    <a:p>
                      <a:pPr algn="l"/>
                      <a:r>
                        <a:rPr lang="el-GR" sz="1050" b="0" noProof="0">
                          <a:solidFill>
                            <a:srgbClr val="1B4528"/>
                          </a:solidFill>
                        </a:rPr>
                        <a:t>{{</a:t>
                      </a:r>
                      <a:r>
                        <a:rPr lang="el-GR" sz="1050" b="0" noProof="0">
                          <a:solidFill>
                            <a:srgbClr val="1B4528"/>
                          </a:solidFill>
                        </a:rPr>
                        <a:t>products_description</a:t>
                      </a:r>
                      <a:r>
                        <a:rPr lang="el-GR" sz="1050" b="0" noProof="0">
                          <a:solidFill>
                            <a:srgbClr val="1B4528"/>
                          </a:solidFill>
                        </a:rPr>
                        <a:t>}}</a:t>
                      </a:r>
                    </a:p>
                    <a:p>
                      <a:pPr algn="l"/>
                      <a:endParaRPr lang="el-GR" sz="1050" b="0" kern="1200" noProof="0">
                        <a:solidFill>
                          <a:srgbClr val="1B4528"/>
                        </a:solidFill>
                        <a:latin typeface="+mn-lt"/>
                        <a:ea typeface="+mn-ea"/>
                        <a:cs typeface="+mn-cs"/>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3" name="Table 2">
            <a:extLst>
              <a:ext uri="{FF2B5EF4-FFF2-40B4-BE49-F238E27FC236}">
                <a16:creationId xmlns:a16="http://schemas.microsoft.com/office/drawing/2014/main" id="{82F97D4B-910A-955C-8249-17FCA8C2C83B}"/>
              </a:ext>
            </a:extLst>
          </p:cNvPr>
          <p:cNvGraphicFramePr>
            <a:graphicFrameLocks noGrp="1"/>
          </p:cNvGraphicFramePr>
          <p:nvPr>
            <p:extLst>
              <p:ext uri="{D42A27DB-BD31-4B8C-83A1-F6EECF244321}">
                <p14:modId xmlns:p14="http://schemas.microsoft.com/office/powerpoint/2010/main" val="2119427327"/>
              </p:ext>
            </p:extLst>
          </p:nvPr>
        </p:nvGraphicFramePr>
        <p:xfrm>
          <a:off x="454794" y="4868397"/>
          <a:ext cx="9791704" cy="698183"/>
        </p:xfrm>
        <a:graphic>
          <a:graphicData uri="http://schemas.openxmlformats.org/drawingml/2006/table">
            <a:tbl>
              <a:tblPr firstRow="1">
                <a:tableStyleId>{2A488322-F2BA-4B5B-9748-0D474271808F}</a:tableStyleId>
              </a:tblPr>
              <a:tblGrid>
                <a:gridCol w="9791704">
                  <a:extLst>
                    <a:ext uri="{9D8B030D-6E8A-4147-A177-3AD203B41FA5}">
                      <a16:colId xmlns:a16="http://schemas.microsoft.com/office/drawing/2014/main" val="2698153288"/>
                    </a:ext>
                  </a:extLst>
                </a:gridCol>
              </a:tblGrid>
              <a:tr h="132763">
                <a:tc>
                  <a:txBody>
                    <a:bodyPr/>
                    <a:lstStyle/>
                    <a:p>
                      <a:r>
                        <a:rPr lang="el-GR" sz="1050" b="1" noProof="0">
                          <a:solidFill>
                            <a:schemeClr val="tx2"/>
                          </a:solidFill>
                        </a:rPr>
                        <a:t xml:space="preserve">Περιγραφή των σημείων όπου η στρατηγική και το επιχειρηματικό μοντέλο της</a:t>
                      </a:r>
                      <a:r>
                        <a:rPr lang="el-GR" sz="1050" b="1" kern="1200" noProof="0">
                          <a:solidFill>
                            <a:srgbClr val="1B4528"/>
                          </a:solidFill>
                          <a:latin typeface="+mn-lt"/>
                          <a:ea typeface="+mn-ea"/>
                          <a:cs typeface="+mn-cs"/>
                        </a:rPr>
                        <a:t>{{company_name}}</a:t>
                      </a:r>
                      <a:r>
                        <a:rPr lang="el-GR" sz="1050" b="1" kern="1200" noProof="0">
                          <a:solidFill>
                            <a:schemeClr val="accent1"/>
                          </a:solidFill>
                          <a:latin typeface="+mn-lt"/>
                          <a:ea typeface="+mn-ea"/>
                          <a:cs typeface="+mn-cs"/>
                        </a:rPr>
                        <a:t xml:space="preserve"> έχουν στοιχεία σχετικά με τη βιωσιμότητα </a:t>
                      </a:r>
                      <a:r>
                        <a:rPr lang="el-GR" sz="1050" b="0" noProof="0">
                          <a:solidFill>
                            <a:schemeClr val="tx2"/>
                          </a:solidFill>
                        </a:rPr>
                        <a:t xml:space="preserve">(παρ. 46d)</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474661">
                <a:tc>
                  <a:txBody>
                    <a:bodyPr/>
                    <a:lstStyle/>
                    <a:p>
                      <a:pPr lvl="0" algn="l">
                        <a:buNone/>
                      </a:pPr>
                      <a:r>
                        <a:rPr lang="el-GR" sz="1050" b="0" noProof="0">
                          <a:solidFill>
                            <a:srgbClr val="1B4528"/>
                          </a:solidFill>
                        </a:rPr>
                        <a:t>{{business_model}}</a:t>
                      </a:r>
                      <a:endParaRPr lang="el-G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sp>
        <p:nvSpPr>
          <p:cNvPr id="19" name="Tekstfelt 18">
            <a:extLst>
              <a:ext uri="{FF2B5EF4-FFF2-40B4-BE49-F238E27FC236}">
                <a16:creationId xmlns:a16="http://schemas.microsoft.com/office/drawing/2014/main" id="{6B666E4C-70AB-0C7E-E428-3654C2D744C6}"/>
              </a:ext>
            </a:extLst>
          </p:cNvPr>
          <p:cNvSpPr txBox="1"/>
          <p:nvPr/>
        </p:nvSpPr>
        <p:spPr>
          <a:xfrm>
            <a:off x="454796" y="891000"/>
            <a:ext cx="9869667" cy="404866"/>
          </a:xfrm>
          <a:prstGeom prst="rect">
            <a:avLst/>
          </a:prstGeom>
          <a:noFill/>
        </p:spPr>
        <p:txBody>
          <a:bodyPr wrap="square">
            <a:spAutoFit/>
          </a:bodyPr>
          <a:lstStyle/>
          <a:p>
            <a:pPr rtl="0">
              <a:buNone/>
            </a:pPr>
            <a:r>
              <a:rPr lang="el-GR" sz="1050" b="0" i="0" u="none" strike="noStrike" noProof="0">
                <a:solidFill>
                  <a:schemeClr val="tx2"/>
                </a:solidFill>
                <a:effectLst/>
                <a:latin typeface="Inter"/>
              </a:rPr>
              <a:t xml:space="preserve">Η επιχείρηση περιέγραψε το συνολικό επιχειρηματικό μοντέλο και τη στρατηγική, τα προϊόντα και/ή τις υπηρεσίες, τις αγορές και τις επιχειρηματικές σχέσεις, και ανέφερε εάν το μοντέλο έχει στοιχεία σχετικά με τη βιωσιμότητα. </a:t>
            </a:r>
            <a:endParaRPr lang="el-GR" sz="1050" noProof="0">
              <a:solidFill>
                <a:schemeClr val="tx2"/>
              </a:solidFill>
              <a:latin typeface="Inter"/>
            </a:endParaRPr>
          </a:p>
        </p:txBody>
      </p:sp>
    </p:spTree>
    <p:extLst>
      <p:ext uri="{BB962C8B-B14F-4D97-AF65-F5344CB8AC3E}">
        <p14:creationId xmlns:p14="http://schemas.microsoft.com/office/powerpoint/2010/main" val="35089370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54796" y="450698"/>
            <a:ext cx="9791704" cy="218627"/>
          </a:xfrm>
        </p:spPr>
        <p:txBody>
          <a:bodyPr/>
          <a:lstStyle/>
          <a:p>
            <a:r>
              <a:rPr lang="el-GR" noProof="0">
                <a:latin typeface="+mn-lt"/>
                <a:ea typeface="+mn-ea"/>
                <a:cs typeface="+mn-cs"/>
              </a:rPr>
              <a:t xml:space="preserve">Π</a:t>
            </a:r>
            <a:r>
              <a:rPr lang="el-GR" sz="1575" b="1" kern="1200" spc="-10" noProof="0">
                <a:solidFill>
                  <a:schemeClr val="tx2"/>
                </a:solidFill>
                <a:latin typeface="+mn-lt"/>
                <a:ea typeface="+mn-ea"/>
                <a:cs typeface="+mn-cs"/>
              </a:rPr>
              <a:t xml:space="preserve">ρακτικές, πολιτικές και μελλοντικές πρωτοβουλίες για μετάβαση σε πιο βιώσιμη οικονομία (C2)</a:t>
            </a:r>
            <a:endParaRPr lang="el-GR"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15</a:t>
            </a:fld>
            <a:endParaRPr lang="el-GR"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br>
              <a:rPr lang="el-GR" noProof="0"/>
            </a:br>
            <a:endParaRPr lang="el-GR"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924185767"/>
              </p:ext>
            </p:extLst>
          </p:nvPr>
        </p:nvGraphicFramePr>
        <p:xfrm>
          <a:off x="454797" y="1793460"/>
          <a:ext cx="9791702" cy="4452074"/>
        </p:xfrm>
        <a:graphic>
          <a:graphicData uri="http://schemas.openxmlformats.org/drawingml/2006/table">
            <a:tbl>
              <a:tblPr firstRow="1">
                <a:tableStyleId>{2A488322-F2BA-4B5B-9748-0D474271808F}</a:tableStyleId>
              </a:tblPr>
              <a:tblGrid>
                <a:gridCol w="1681007">
                  <a:extLst>
                    <a:ext uri="{9D8B030D-6E8A-4147-A177-3AD203B41FA5}">
                      <a16:colId xmlns:a16="http://schemas.microsoft.com/office/drawing/2014/main" val="1902117154"/>
                    </a:ext>
                  </a:extLst>
                </a:gridCol>
                <a:gridCol w="2703565">
                  <a:extLst>
                    <a:ext uri="{9D8B030D-6E8A-4147-A177-3AD203B41FA5}">
                      <a16:colId xmlns:a16="http://schemas.microsoft.com/office/drawing/2014/main" val="1904521774"/>
                    </a:ext>
                  </a:extLst>
                </a:gridCol>
                <a:gridCol w="2703565">
                  <a:extLst>
                    <a:ext uri="{9D8B030D-6E8A-4147-A177-3AD203B41FA5}">
                      <a16:colId xmlns:a16="http://schemas.microsoft.com/office/drawing/2014/main" val="3164053669"/>
                    </a:ext>
                  </a:extLst>
                </a:gridCol>
                <a:gridCol w="2703565">
                  <a:extLst>
                    <a:ext uri="{9D8B030D-6E8A-4147-A177-3AD203B41FA5}">
                      <a16:colId xmlns:a16="http://schemas.microsoft.com/office/drawing/2014/main" val="1484983729"/>
                    </a:ext>
                  </a:extLst>
                </a:gridCol>
              </a:tblGrid>
              <a:tr h="306609">
                <a:tc rowSpan="2">
                  <a:txBody>
                    <a:bodyPr/>
                    <a:lstStyle/>
                    <a:p>
                      <a:pPr algn="l"/>
                      <a:r>
                        <a:rPr lang="el-GR" sz="1050" b="1" kern="1200" spc="-10" noProof="0">
                          <a:solidFill>
                            <a:schemeClr val="tx2"/>
                          </a:solidFill>
                          <a:latin typeface="+mn-lt"/>
                          <a:ea typeface="+mn-ea"/>
                          <a:cs typeface="+mn-cs"/>
                        </a:rPr>
                        <a:t xml:space="preserve">Τομέας</a:t>
                      </a:r>
                    </a:p>
                    <a:p>
                      <a:pPr algn="l"/>
                      <a:r>
                        <a:rPr lang="el-GR" sz="1050" b="0" kern="1200" spc="-10" noProof="0">
                          <a:solidFill>
                            <a:schemeClr val="tx2"/>
                          </a:solidFill>
                          <a:latin typeface="+mn-lt"/>
                          <a:ea typeface="+mn-ea"/>
                          <a:cs typeface="+mn-cs"/>
                        </a:rPr>
                        <a:t xml:space="preserve">(παρ. 47)</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rowSpan="2">
                  <a:txBody>
                    <a:bodyPr/>
                    <a:lstStyle/>
                    <a:p>
                      <a:pPr algn="l"/>
                      <a:r>
                        <a:rPr lang="el-GR" sz="1050" b="1" kern="1200" spc="-10" noProof="0">
                          <a:solidFill>
                            <a:schemeClr val="tx2"/>
                          </a:solidFill>
                          <a:latin typeface="+mn-lt"/>
                          <a:ea typeface="+mn-ea"/>
                          <a:cs typeface="+mn-cs"/>
                        </a:rPr>
                        <a:t xml:space="preserve">Σύντομη περιγραφή </a:t>
                      </a:r>
                      <a:r>
                        <a:rPr lang="el-GR" sz="1050" b="1" u="none" kern="1200" spc="-10" noProof="0">
                          <a:solidFill>
                            <a:schemeClr val="tx2"/>
                          </a:solidFill>
                          <a:latin typeface="+mn-lt"/>
                          <a:ea typeface="+mn-ea"/>
                          <a:cs typeface="+mn-cs"/>
                        </a:rPr>
                        <a:t xml:space="preserve">των υφιστάμενων </a:t>
                      </a:r>
                      <a:r>
                        <a:rPr lang="el-GR" sz="1050" b="1" kern="1200" spc="-10" noProof="0">
                          <a:solidFill>
                            <a:schemeClr val="tx2"/>
                          </a:solidFill>
                          <a:latin typeface="+mn-lt"/>
                          <a:ea typeface="+mn-ea"/>
                          <a:cs typeface="+mn-cs"/>
                        </a:rPr>
                        <a:t xml:space="preserve">πρακτικών/πολιτικών/δράσεων (βλ. B2)</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rowSpan="2">
                  <a:txBody>
                    <a:bodyPr/>
                    <a:lstStyle/>
                    <a:p>
                      <a:pPr algn="l"/>
                      <a:r>
                        <a:rPr lang="el-GR" sz="1050" b="1" kern="1200" spc="-10" noProof="0">
                          <a:solidFill>
                            <a:schemeClr val="tx2"/>
                          </a:solidFill>
                          <a:latin typeface="+mn-lt"/>
                          <a:ea typeface="+mn-ea"/>
                          <a:cs typeface="+mn-cs"/>
                        </a:rPr>
                        <a:t xml:space="preserve">Σύντομη περιγραφή τυχόν </a:t>
                      </a:r>
                      <a:r>
                        <a:rPr lang="el-GR" sz="1050" b="1" u="none" kern="1200" spc="-10" noProof="0">
                          <a:solidFill>
                            <a:schemeClr val="tx2"/>
                          </a:solidFill>
                          <a:latin typeface="+mn-lt"/>
                          <a:ea typeface="+mn-ea"/>
                          <a:cs typeface="+mn-cs"/>
                        </a:rPr>
                        <a:t xml:space="preserve">μελλοντικών</a:t>
                      </a:r>
                      <a:r>
                        <a:rPr lang="el-GR" sz="1050" b="1" kern="1200" spc="-10" noProof="0">
                          <a:solidFill>
                            <a:schemeClr val="tx2"/>
                          </a:solidFill>
                          <a:latin typeface="+mn-lt"/>
                          <a:ea typeface="+mn-ea"/>
                          <a:cs typeface="+mn-cs"/>
                        </a:rPr>
                        <a:t xml:space="preserve"> στόχων (βλ. B2)</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050" spc="-10" noProof="0">
                          <a:solidFill>
                            <a:schemeClr val="bg1"/>
                          </a:solidFill>
                        </a:rPr>
                        <a:t xml:space="preserve">Προαιρετική </a:t>
                      </a:r>
                      <a:r>
                        <a:rPr lang="el-GR" sz="1050" b="1" spc="-10" noProof="0">
                          <a:solidFill>
                            <a:schemeClr val="bg1"/>
                          </a:solidFill>
                        </a:rPr>
                        <a:t xml:space="preserve">γνωστοποίηση</a:t>
                      </a:r>
                      <a:endParaRPr lang="el-GR" sz="1050" spc="-10" noProof="0">
                        <a:solidFill>
                          <a:schemeClr val="bg1"/>
                        </a:solidFill>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1B4529"/>
                    </a:solidFill>
                  </a:tcPr>
                </a:tc>
                <a:extLst>
                  <a:ext uri="{0D108BD9-81ED-4DB2-BD59-A6C34878D82A}">
                    <a16:rowId xmlns:a16="http://schemas.microsoft.com/office/drawing/2014/main" val="3642311251"/>
                  </a:ext>
                </a:extLst>
              </a:tr>
              <a:tr h="502227">
                <a:tc vMerge="1">
                  <a:txBody>
                    <a:bodyPr/>
                    <a:lstStyle/>
                    <a:p>
                      <a:endParaRPr lang="en-GB"/>
                    </a:p>
                  </a:txBody>
                  <a:tcPr/>
                </a:tc>
                <a:tc vMerge="1">
                  <a:txBody>
                    <a:bodyPr/>
                    <a:lstStyle/>
                    <a:p>
                      <a:endParaRPr lang="en-GB"/>
                    </a:p>
                  </a:txBody>
                  <a:tcPr/>
                </a:tc>
                <a:tc vMerge="1">
                  <a:txBody>
                    <a:bodyPr/>
                    <a:lstStyle/>
                    <a:p>
                      <a:endParaRPr lang="en-GB"/>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050" b="1" kern="1200" spc="-10" noProof="0">
                          <a:solidFill>
                            <a:schemeClr val="tx2"/>
                          </a:solidFill>
                          <a:latin typeface="+mn-lt"/>
                          <a:ea typeface="+mn-ea"/>
                          <a:cs typeface="+mn-cs"/>
                        </a:rPr>
                        <a:t xml:space="preserve">Ανώτατο ιεραρχικό επίπεδο υπεύθυνο για την εφαρμογή </a:t>
                      </a:r>
                      <a:r>
                        <a:rPr lang="el-GR" sz="1050" b="0" kern="1200" spc="-10" noProof="0">
                          <a:solidFill>
                            <a:schemeClr val="tx2"/>
                          </a:solidFill>
                          <a:latin typeface="+mn-lt"/>
                          <a:ea typeface="+mn-ea"/>
                          <a:cs typeface="+mn-cs"/>
                        </a:rPr>
                        <a:t xml:space="preserve">(παρ. 48)</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168422229"/>
                  </a:ext>
                </a:extLst>
              </a:tr>
              <a:tr h="306527">
                <a:tc>
                  <a:txBody>
                    <a:bodyPr/>
                    <a:lstStyle/>
                    <a:p>
                      <a:pPr algn="l"/>
                      <a:r>
                        <a:rPr lang="el-GR" sz="1050" b="1" kern="1200" spc="-10" noProof="0">
                          <a:solidFill>
                            <a:schemeClr val="tx2"/>
                          </a:solidFill>
                          <a:latin typeface="+mn-lt"/>
                          <a:ea typeface="+mn-ea"/>
                          <a:cs typeface="+mn-cs"/>
                        </a:rPr>
                        <a:t xml:space="preserve">Κλιματική αλλαγή</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rPr>
                        <a:t>Climate_C2_Description_Existing_Practices</a:t>
                      </a:r>
                      <a:r>
                        <a:rPr lang="el-GR" sz="1050" b="0" i="0" u="none" strike="noStrike" noProof="0">
                          <a:solidFill>
                            <a:srgbClr val="1B4528"/>
                          </a:solidFill>
                          <a:effectLst/>
                          <a:latin typeface="Inter"/>
                        </a:rPr>
                        <a:t>}}</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rPr>
                        <a:t>Climate_C2_Future_Practices</a:t>
                      </a:r>
                      <a:r>
                        <a:rPr lang="el-GR" sz="1050" b="0" i="0" u="none" strike="noStrike" noProof="0">
                          <a:solidFill>
                            <a:srgbClr val="1B4528"/>
                          </a:solidFill>
                          <a:effectLst/>
                          <a:latin typeface="Inter"/>
                        </a:rPr>
                        <a:t>}}</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rPr>
                        <a:t>Climate_C2_Management_Level</a:t>
                      </a:r>
                      <a:r>
                        <a:rPr lang="el-GR" sz="1050" b="0" i="0" u="none" strike="noStrike" noProof="0">
                          <a:solidFill>
                            <a:srgbClr val="1B4528"/>
                          </a:solidFill>
                          <a:effectLst/>
                          <a:latin typeface="Inter"/>
                        </a:rPr>
                        <a:t>}}</a:t>
                      </a:r>
                      <a:endParaRPr lang="el-GR"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90888">
                <a:tc>
                  <a:txBody>
                    <a:bodyPr/>
                    <a:lstStyle/>
                    <a:p>
                      <a:pPr algn="l"/>
                      <a:r>
                        <a:rPr lang="el-GR" sz="1050" b="1" kern="1200" spc="-10" noProof="0">
                          <a:solidFill>
                            <a:schemeClr val="tx2"/>
                          </a:solidFill>
                          <a:latin typeface="+mn-lt"/>
                          <a:ea typeface="+mn-ea"/>
                          <a:cs typeface="+mn-cs"/>
                        </a:rPr>
                        <a:t xml:space="preserve">Ρύπανση</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rPr>
                        <a:t>Pollution_C2_Description_Existing_Practices</a:t>
                      </a:r>
                      <a:r>
                        <a:rPr lang="el-GR" sz="1050" b="0" i="0" u="none" strike="noStrike" noProof="0">
                          <a:solidFill>
                            <a:srgbClr val="1B4528"/>
                          </a:solidFill>
                          <a:effectLst/>
                          <a:latin typeface="Inter"/>
                        </a:rPr>
                        <a:t>}}</a:t>
                      </a:r>
                      <a:endParaRPr lang="el-GR" sz="105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rPr>
                        <a:t>Pollution_C2_Future_Practices</a:t>
                      </a:r>
                      <a:r>
                        <a:rPr lang="el-GR" sz="1050" b="0" i="0" u="none" strike="noStrike" noProof="0">
                          <a:solidFill>
                            <a:srgbClr val="1B4528"/>
                          </a:solidFill>
                          <a:effectLst/>
                          <a:latin typeface="Inter"/>
                        </a:rPr>
                        <a:t>}}</a:t>
                      </a:r>
                      <a:endParaRPr lang="el-GR" sz="105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rPr>
                        <a:t>Pollution_C2_Management_Level</a:t>
                      </a:r>
                      <a:r>
                        <a:rPr lang="el-GR" sz="1050" b="0" i="0" u="none" strike="noStrike" noProof="0">
                          <a:solidFill>
                            <a:srgbClr val="1B4528"/>
                          </a:solidFill>
                          <a:effectLst/>
                          <a:latin typeface="Inter"/>
                        </a:rPr>
                        <a:t>}}</a:t>
                      </a:r>
                      <a:endParaRPr lang="el-GR" sz="105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99150">
                <a:tc>
                  <a:txBody>
                    <a:bodyPr/>
                    <a:lstStyle/>
                    <a:p>
                      <a:pPr algn="l"/>
                      <a:r>
                        <a:rPr lang="el-GR" sz="1050" b="1" kern="1200" spc="-10" noProof="0">
                          <a:solidFill>
                            <a:schemeClr val="tx2"/>
                          </a:solidFill>
                          <a:latin typeface="+mn-lt"/>
                          <a:ea typeface="+mn-ea"/>
                          <a:cs typeface="+mn-cs"/>
                        </a:rPr>
                        <a:t xml:space="preserve">Υδάτινοι και θαλάσσιοι πόροι</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rPr>
                        <a:t>Water_C2_Description_Existing_Practices</a:t>
                      </a:r>
                      <a:r>
                        <a:rPr lang="el-GR" sz="1050" b="0" i="0" u="none" strike="noStrike" noProof="0">
                          <a:solidFill>
                            <a:srgbClr val="1B4528"/>
                          </a:solidFill>
                          <a:effectLst/>
                          <a:latin typeface="Inter"/>
                        </a:rPr>
                        <a:t>}}</a:t>
                      </a:r>
                      <a:endParaRPr lang="el-GR" sz="105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rPr>
                        <a:t>Water_C2_Future_Practices</a:t>
                      </a:r>
                      <a:r>
                        <a:rPr lang="el-GR" sz="1050" b="0" i="0" u="none" strike="noStrike" noProof="0">
                          <a:solidFill>
                            <a:srgbClr val="1B4528"/>
                          </a:solidFill>
                          <a:effectLst/>
                          <a:latin typeface="Inter"/>
                        </a:rPr>
                        <a:t>}}</a:t>
                      </a:r>
                      <a:endParaRPr lang="el-GR" sz="105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BM Plex Sans"/>
                        </a:rPr>
                        <a:t>Water_C2_Management_Level</a:t>
                      </a:r>
                      <a:r>
                        <a:rPr lang="el-GR" sz="1050" b="0" i="0" u="none" strike="noStrike" noProof="0">
                          <a:solidFill>
                            <a:srgbClr val="1B4528"/>
                          </a:solidFill>
                          <a:effectLst/>
                          <a:latin typeface="Inter"/>
                        </a:rPr>
                        <a:t>}}</a:t>
                      </a:r>
                      <a:endParaRPr lang="el-GR" sz="1050" b="0" i="0" u="none" strike="noStrike" noProof="0">
                        <a:solidFill>
                          <a:srgbClr val="000000"/>
                        </a:solidFill>
                        <a:effectLst/>
                        <a:latin typeface="Inter"/>
                      </a:endParaRPr>
                    </a:p>
                    <a:p>
                      <a:pPr lvl="0">
                        <a:buNone/>
                      </a:pPr>
                      <a:endParaRPr lang="el-GR" sz="1050" b="0" i="0" u="none" strike="noStrike" noProof="0">
                        <a:solidFill>
                          <a:srgbClr val="1B4528"/>
                        </a:solidFill>
                        <a:effectLst/>
                        <a:latin typeface="Inter"/>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354239">
                <a:tc>
                  <a:txBody>
                    <a:bodyPr/>
                    <a:lstStyle/>
                    <a:p>
                      <a:pPr algn="l"/>
                      <a:r>
                        <a:rPr lang="el-GR" sz="1050" b="1" kern="1200" spc="-10" noProof="0">
                          <a:solidFill>
                            <a:schemeClr val="tx2"/>
                          </a:solidFill>
                          <a:latin typeface="+mn-lt"/>
                          <a:ea typeface="+mn-ea"/>
                          <a:cs typeface="+mn-cs"/>
                        </a:rPr>
                        <a:t xml:space="preserve">Βιοποικιλότητα και οικοσυστήματα</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rPr>
                        <a:t>Bio_C2_Description_Existing_Practices</a:t>
                      </a:r>
                      <a:r>
                        <a:rPr lang="el-GR" sz="1050" b="0" i="0" u="none" strike="noStrike" noProof="0">
                          <a:solidFill>
                            <a:srgbClr val="1B4528"/>
                          </a:solidFill>
                          <a:effectLst/>
                          <a:latin typeface="Inter"/>
                        </a:rPr>
                        <a:t>}}</a:t>
                      </a:r>
                      <a:endParaRPr lang="el-GR" sz="105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rPr>
                        <a:t>Bio_C2_Future_Practices</a:t>
                      </a:r>
                      <a:r>
                        <a:rPr lang="el-GR" sz="1050" b="0" i="0" u="none" strike="noStrike" noProof="0">
                          <a:solidFill>
                            <a:srgbClr val="1B4528"/>
                          </a:solidFill>
                          <a:effectLst/>
                          <a:latin typeface="Inter"/>
                        </a:rPr>
                        <a:t>}}</a:t>
                      </a:r>
                      <a:endParaRPr lang="el-GR" sz="105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rPr>
                        <a:t>Bio_C2_Management_Level</a:t>
                      </a:r>
                      <a:r>
                        <a:rPr lang="el-GR" sz="1050" b="0" i="0" u="none" strike="noStrike" noProof="0">
                          <a:solidFill>
                            <a:srgbClr val="1B4528"/>
                          </a:solidFill>
                          <a:effectLst/>
                          <a:latin typeface="Inter"/>
                        </a:rPr>
                        <a:t>}}</a:t>
                      </a:r>
                      <a:endParaRPr lang="el-GR" sz="105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299150">
                <a:tc>
                  <a:txBody>
                    <a:bodyPr/>
                    <a:lstStyle/>
                    <a:p>
                      <a:pPr algn="l"/>
                      <a:r>
                        <a:rPr lang="el-GR" sz="1050" b="1" kern="1200" spc="-10" noProof="0">
                          <a:solidFill>
                            <a:schemeClr val="tx2"/>
                          </a:solidFill>
                          <a:latin typeface="+mn-lt"/>
                          <a:ea typeface="+mn-ea"/>
                          <a:cs typeface="+mn-cs"/>
                        </a:rPr>
                        <a:t xml:space="preserve">Κυκλική οικονομία</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rPr>
                        <a:t>Circular_C2_Description_Existing_Practices</a:t>
                      </a:r>
                      <a:r>
                        <a:rPr lang="el-GR" sz="1050" b="0" i="0" u="none" strike="noStrike" noProof="0">
                          <a:solidFill>
                            <a:srgbClr val="1B4528"/>
                          </a:solidFill>
                          <a:effectLst/>
                          <a:latin typeface="Inter"/>
                        </a:rPr>
                        <a:t>}}</a:t>
                      </a:r>
                      <a:endParaRPr lang="el-GR" sz="105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rPr>
                        <a:t>Circular_C2_Future_Practices</a:t>
                      </a:r>
                      <a:r>
                        <a:rPr lang="el-GR" sz="1050" b="0" i="0" u="none" strike="noStrike" noProof="0">
                          <a:solidFill>
                            <a:srgbClr val="1B4528"/>
                          </a:solidFill>
                          <a:effectLst/>
                          <a:latin typeface="Inter"/>
                        </a:rPr>
                        <a:t>}}</a:t>
                      </a:r>
                      <a:endParaRPr lang="el-GR" sz="105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rPr>
                        <a:t>Circular_C2_Management_Level</a:t>
                      </a:r>
                      <a:r>
                        <a:rPr lang="el-GR" sz="1050" b="0" i="0" u="none" strike="noStrike" noProof="0">
                          <a:solidFill>
                            <a:srgbClr val="1B4528"/>
                          </a:solidFill>
                          <a:effectLst/>
                          <a:latin typeface="Inter"/>
                        </a:rPr>
                        <a:t>}}</a:t>
                      </a:r>
                      <a:endParaRPr lang="el-GR" sz="105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299150">
                <a:tc>
                  <a:txBody>
                    <a:bodyPr/>
                    <a:lstStyle/>
                    <a:p>
                      <a:pPr algn="l"/>
                      <a:r>
                        <a:rPr lang="el-GR" sz="1050" b="1" kern="1200" spc="-10" noProof="0">
                          <a:solidFill>
                            <a:schemeClr val="tx2"/>
                          </a:solidFill>
                          <a:latin typeface="+mn-lt"/>
                          <a:ea typeface="+mn-ea"/>
                          <a:cs typeface="+mn-cs"/>
                        </a:rPr>
                        <a:t xml:space="preserve">Ίδιο εργατικό δυναμικό</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rPr>
                        <a:t>Own_Workforce_C2_Description_Existing_Practices</a:t>
                      </a:r>
                      <a:r>
                        <a:rPr lang="el-GR" sz="1050" b="0" i="0" u="none" strike="noStrike" noProof="0">
                          <a:solidFill>
                            <a:srgbClr val="1B4528"/>
                          </a:solidFill>
                          <a:effectLst/>
                          <a:latin typeface="Inter"/>
                        </a:rPr>
                        <a:t>}}</a:t>
                      </a:r>
                      <a:endParaRPr lang="el-GR" sz="105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rPr>
                        <a:t>Own_Workforce_C2_Future_Practices</a:t>
                      </a:r>
                      <a:r>
                        <a:rPr lang="el-GR" sz="1050" b="0" i="0" u="none" strike="noStrike" noProof="0">
                          <a:solidFill>
                            <a:srgbClr val="1B4528"/>
                          </a:solidFill>
                          <a:effectLst/>
                          <a:latin typeface="Inter"/>
                        </a:rPr>
                        <a:t>}}</a:t>
                      </a:r>
                      <a:endParaRPr lang="el-GR" sz="105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rPr>
                        <a:t>Own_Workforce_C2_Management_Level</a:t>
                      </a:r>
                      <a:r>
                        <a:rPr lang="el-GR" sz="1050" b="0" i="0" u="none" strike="noStrike" noProof="0">
                          <a:solidFill>
                            <a:srgbClr val="1B4528"/>
                          </a:solidFill>
                          <a:effectLst/>
                          <a:latin typeface="Inter"/>
                        </a:rPr>
                        <a:t>}}</a:t>
                      </a:r>
                      <a:endParaRPr lang="el-GR" sz="105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7384999"/>
                  </a:ext>
                </a:extLst>
              </a:tr>
              <a:tr h="299150">
                <a:tc>
                  <a:txBody>
                    <a:bodyPr/>
                    <a:lstStyle/>
                    <a:p>
                      <a:pPr algn="l"/>
                      <a:r>
                        <a:rPr lang="el-GR" sz="1050" b="1" kern="1200" spc="-10" noProof="0">
                          <a:solidFill>
                            <a:schemeClr val="tx2"/>
                          </a:solidFill>
                          <a:latin typeface="+mn-lt"/>
                          <a:ea typeface="+mn-ea"/>
                          <a:cs typeface="+mn-cs"/>
                        </a:rPr>
                        <a:t xml:space="preserve">Εργαζόμενοι στην αλυσίδα αξίας</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rPr>
                        <a:t>Workers_Value_Chain_C2_Description_Existing_Practices</a:t>
                      </a:r>
                      <a:r>
                        <a:rPr lang="el-GR" sz="1050" b="0" i="0" u="none" strike="noStrike" noProof="0">
                          <a:solidFill>
                            <a:srgbClr val="1B4528"/>
                          </a:solidFill>
                          <a:effectLst/>
                          <a:latin typeface="Inter"/>
                        </a:rPr>
                        <a:t>}}</a:t>
                      </a:r>
                      <a:endParaRPr lang="el-GR" sz="105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rPr>
                        <a:t>Workers_Value_Chain_C2_Future_Practices</a:t>
                      </a:r>
                      <a:r>
                        <a:rPr lang="el-GR" sz="1050" b="0" i="0" u="none" strike="noStrike" noProof="0">
                          <a:solidFill>
                            <a:srgbClr val="1B4528"/>
                          </a:solidFill>
                          <a:effectLst/>
                          <a:latin typeface="Inter"/>
                        </a:rPr>
                        <a:t>}}</a:t>
                      </a:r>
                      <a:endParaRPr lang="el-GR" sz="105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rPr>
                        <a:t>Workers_Value_Chain_C2_Management_Level</a:t>
                      </a:r>
                      <a:r>
                        <a:rPr lang="el-GR" sz="1050" b="0" i="0" u="none" strike="noStrike" noProof="0">
                          <a:solidFill>
                            <a:srgbClr val="1B4528"/>
                          </a:solidFill>
                          <a:effectLst/>
                          <a:latin typeface="Inter"/>
                        </a:rPr>
                        <a:t>}}</a:t>
                      </a:r>
                      <a:endParaRPr lang="el-GR" sz="105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1919361"/>
                  </a:ext>
                </a:extLst>
              </a:tr>
              <a:tr h="299150">
                <a:tc>
                  <a:txBody>
                    <a:bodyPr/>
                    <a:lstStyle/>
                    <a:p>
                      <a:pPr algn="l"/>
                      <a:r>
                        <a:rPr lang="el-GR" sz="1050" b="1" kern="1200" spc="-10" noProof="0">
                          <a:solidFill>
                            <a:schemeClr val="tx2"/>
                          </a:solidFill>
                          <a:latin typeface="+mn-lt"/>
                          <a:ea typeface="+mn-ea"/>
                          <a:cs typeface="+mn-cs"/>
                        </a:rPr>
                        <a:t xml:space="preserve">Επηρεαζόμενες κοινότητες</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rPr>
                        <a:t>Affected_C2_Description_Existing_Practices</a:t>
                      </a:r>
                      <a:r>
                        <a:rPr lang="el-GR" sz="1050" b="0" i="0" u="none" strike="noStrike" noProof="0">
                          <a:solidFill>
                            <a:srgbClr val="1B4528"/>
                          </a:solidFill>
                          <a:effectLst/>
                          <a:latin typeface="Inter"/>
                        </a:rPr>
                        <a:t>}}</a:t>
                      </a:r>
                      <a:endParaRPr lang="el-GR" sz="105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rPr>
                        <a:t>Affected_C2_Future_Practices</a:t>
                      </a:r>
                      <a:r>
                        <a:rPr lang="el-GR" sz="1050" b="0" i="0" u="none" strike="noStrike" noProof="0">
                          <a:solidFill>
                            <a:srgbClr val="1B4528"/>
                          </a:solidFill>
                          <a:effectLst/>
                          <a:latin typeface="Inter"/>
                        </a:rPr>
                        <a:t>}}</a:t>
                      </a:r>
                      <a:endParaRPr lang="el-GR" sz="105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rPr>
                        <a:t>Affected_C2_Management_Level</a:t>
                      </a:r>
                      <a:r>
                        <a:rPr lang="el-GR" sz="1050" b="0" i="0" u="none" strike="noStrike" noProof="0">
                          <a:solidFill>
                            <a:srgbClr val="1B4528"/>
                          </a:solidFill>
                          <a:effectLst/>
                          <a:latin typeface="Inter"/>
                        </a:rPr>
                        <a:t>}}</a:t>
                      </a:r>
                      <a:endParaRPr lang="el-GR" sz="105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36877917"/>
                  </a:ext>
                </a:extLst>
              </a:tr>
              <a:tr h="354239">
                <a:tc>
                  <a:txBody>
                    <a:bodyPr/>
                    <a:lstStyle/>
                    <a:p>
                      <a:pPr algn="l"/>
                      <a:r>
                        <a:rPr lang="el-GR" sz="1050" b="1" kern="1200" spc="-10" noProof="0">
                          <a:solidFill>
                            <a:schemeClr val="tx2"/>
                          </a:solidFill>
                          <a:latin typeface="+mn-lt"/>
                          <a:ea typeface="+mn-ea"/>
                          <a:cs typeface="+mn-cs"/>
                        </a:rPr>
                        <a:t xml:space="preserve">Καταναλωτές και τελικοί χρήστες</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rPr>
                        <a:t>Consumers_C2_Description_Existing_Practices</a:t>
                      </a:r>
                      <a:r>
                        <a:rPr lang="el-GR" sz="1050" b="0" i="0" u="none" strike="noStrike" noProof="0">
                          <a:solidFill>
                            <a:srgbClr val="1B4528"/>
                          </a:solidFill>
                          <a:effectLst/>
                          <a:latin typeface="Inter"/>
                        </a:rPr>
                        <a:t>}}</a:t>
                      </a:r>
                      <a:endParaRPr lang="el-GR" sz="105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rPr>
                        <a:t>Consumers_C2_Future_Practices</a:t>
                      </a:r>
                      <a:r>
                        <a:rPr lang="el-GR" sz="1050" b="0" i="0" u="none" strike="noStrike" noProof="0">
                          <a:solidFill>
                            <a:srgbClr val="1B4528"/>
                          </a:solidFill>
                          <a:effectLst/>
                          <a:latin typeface="Inter"/>
                        </a:rPr>
                        <a:t>}}</a:t>
                      </a:r>
                      <a:endParaRPr lang="el-GR" sz="105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rPr>
                        <a:t>Consumers_C2_Management_Level</a:t>
                      </a:r>
                      <a:r>
                        <a:rPr lang="el-GR" sz="1050" b="0" i="0" u="none" strike="noStrike" noProof="0">
                          <a:solidFill>
                            <a:srgbClr val="1B4528"/>
                          </a:solidFill>
                          <a:effectLst/>
                          <a:latin typeface="Inter"/>
                        </a:rPr>
                        <a:t>}}</a:t>
                      </a:r>
                      <a:endParaRPr lang="el-GR" sz="105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15053185"/>
                  </a:ext>
                </a:extLst>
              </a:tr>
              <a:tr h="299150">
                <a:tc>
                  <a:txBody>
                    <a:bodyPr/>
                    <a:lstStyle/>
                    <a:p>
                      <a:pPr algn="l"/>
                      <a:r>
                        <a:rPr lang="el-GR" sz="1050" b="1" kern="1200" spc="-10" noProof="0">
                          <a:solidFill>
                            <a:schemeClr val="tx2"/>
                          </a:solidFill>
                          <a:latin typeface="+mn-lt"/>
                          <a:ea typeface="+mn-ea"/>
                          <a:cs typeface="+mn-cs"/>
                        </a:rPr>
                        <a:t xml:space="preserve">Επιχειρηματική δεοντολογία</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rPr>
                        <a:t>Governance_C2_Description_Existing_Practices</a:t>
                      </a:r>
                      <a:r>
                        <a:rPr lang="el-GR" sz="1050" b="0" i="0" u="none" strike="noStrike" noProof="0">
                          <a:solidFill>
                            <a:srgbClr val="1B4528"/>
                          </a:solidFill>
                          <a:effectLst/>
                          <a:latin typeface="Inter"/>
                        </a:rPr>
                        <a:t>}}</a:t>
                      </a:r>
                      <a:endParaRPr lang="el-GR" sz="105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rPr>
                        <a:t>Governance_C2_Future_Practices</a:t>
                      </a:r>
                      <a:r>
                        <a:rPr lang="el-GR" sz="1050" b="0" i="0" u="none" strike="noStrike" noProof="0">
                          <a:solidFill>
                            <a:srgbClr val="1B4528"/>
                          </a:solidFill>
                          <a:effectLst/>
                          <a:latin typeface="Inter"/>
                        </a:rPr>
                        <a:t>}}</a:t>
                      </a:r>
                      <a:endParaRPr lang="el-GR" sz="105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rPr>
                        <a:t>Governance_C2_Management_Level</a:t>
                      </a:r>
                      <a:r>
                        <a:rPr lang="el-GR" sz="1050" b="0" i="0" u="none" strike="noStrike" noProof="0">
                          <a:solidFill>
                            <a:srgbClr val="1B4528"/>
                          </a:solidFill>
                          <a:effectLst/>
                          <a:latin typeface="Inter"/>
                        </a:rPr>
                        <a:t>}}</a:t>
                      </a:r>
                      <a:endParaRPr lang="el-GR" sz="105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04057792"/>
                  </a:ext>
                </a:extLst>
              </a:tr>
            </a:tbl>
          </a:graphicData>
        </a:graphic>
      </p:graphicFrame>
      <p:sp>
        <p:nvSpPr>
          <p:cNvPr id="17" name="Tekstfelt 16">
            <a:extLst>
              <a:ext uri="{FF2B5EF4-FFF2-40B4-BE49-F238E27FC236}">
                <a16:creationId xmlns:a16="http://schemas.microsoft.com/office/drawing/2014/main" id="{2A776A89-A1FF-B14E-F93A-876E75156091}"/>
              </a:ext>
            </a:extLst>
          </p:cNvPr>
          <p:cNvSpPr txBox="1"/>
          <p:nvPr/>
        </p:nvSpPr>
        <p:spPr>
          <a:xfrm>
            <a:off x="469926" y="903083"/>
            <a:ext cx="9776573" cy="566812"/>
          </a:xfrm>
          <a:prstGeom prst="rect">
            <a:avLst/>
          </a:prstGeom>
          <a:noFill/>
        </p:spPr>
        <p:txBody>
          <a:bodyPr wrap="square">
            <a:spAutoFit/>
          </a:bodyPr>
          <a:lstStyle/>
          <a:p>
            <a:r>
              <a:rPr lang="el-GR" sz="1050" noProof="0">
                <a:solidFill>
                  <a:schemeClr val="tx2"/>
                </a:solidFill>
              </a:rPr>
              <a:t xml:space="preserve">Ο κατωτέρω πίνακας συμπληρώθηκε επειδή η επιχείρηση έχει ήδη θεσπίσει συγκεκριμένες πρακτικές, πολιτικές ή πρωτοβουλίες που συμβάλλουν στη μετάβαση σε πιο βιώσιμη οικονομία. Η επιχείρηση απάντησε ”ΝΑΙ” σε μία ή περισσότερες γνωστοποιήσεις του B2 της Βασικής ενότητας. Ακολουθεί πληρέστερη παρουσίαση των πολιτικών, πρωτοβουλιών και πρακτικών που έχουν δρομολογηθεί</a:t>
            </a:r>
          </a:p>
        </p:txBody>
      </p:sp>
    </p:spTree>
    <p:extLst>
      <p:ext uri="{BB962C8B-B14F-4D97-AF65-F5344CB8AC3E}">
        <p14:creationId xmlns:p14="http://schemas.microsoft.com/office/powerpoint/2010/main" val="9724709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54796" y="450698"/>
            <a:ext cx="9791704" cy="218627"/>
          </a:xfrm>
        </p:spPr>
        <p:txBody>
          <a:bodyPr/>
          <a:lstStyle/>
          <a:p>
            <a:r>
              <a:rPr lang="el-GR" noProof="0">
                <a:solidFill>
                  <a:srgbClr val="1B4528"/>
                </a:solidFill>
                <a:latin typeface="IBM Plex Sans" panose="020B0503050203000203" pitchFamily="34" charset="0"/>
              </a:rPr>
              <a:t xml:space="preserve">Εκπομπές CO₂e στο πλαίσιο του B3 της Βασικής ενότητας</a:t>
            </a:r>
            <a:r>
              <a:rPr lang="el-GR" noProof="0">
                <a:solidFill>
                  <a:srgbClr val="1B4528"/>
                </a:solidFill>
                <a:latin typeface="IBM Plex Sans" panose="020B0503050203000203" pitchFamily="34" charset="0"/>
              </a:rPr>
              <a:t xml:space="preserve"/>
            </a:r>
            <a:endParaRPr lang="el-GR" b="0"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16</a:t>
            </a:fld>
            <a:endParaRPr lang="el-GR"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endParaRPr lang="el-GR"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468745460"/>
              </p:ext>
            </p:extLst>
          </p:nvPr>
        </p:nvGraphicFramePr>
        <p:xfrm>
          <a:off x="454795" y="3510858"/>
          <a:ext cx="9791704" cy="1540671"/>
        </p:xfrm>
        <a:graphic>
          <a:graphicData uri="http://schemas.openxmlformats.org/drawingml/2006/table">
            <a:tbl>
              <a:tblPr firstRow="1">
                <a:tableStyleId>{2A488322-F2BA-4B5B-9748-0D474271808F}</a:tableStyleId>
              </a:tblPr>
              <a:tblGrid>
                <a:gridCol w="3263901">
                  <a:extLst>
                    <a:ext uri="{9D8B030D-6E8A-4147-A177-3AD203B41FA5}">
                      <a16:colId xmlns:a16="http://schemas.microsoft.com/office/drawing/2014/main" val="1902117154"/>
                    </a:ext>
                  </a:extLst>
                </a:gridCol>
                <a:gridCol w="3263901">
                  <a:extLst>
                    <a:ext uri="{9D8B030D-6E8A-4147-A177-3AD203B41FA5}">
                      <a16:colId xmlns:a16="http://schemas.microsoft.com/office/drawing/2014/main" val="1904521774"/>
                    </a:ext>
                  </a:extLst>
                </a:gridCol>
                <a:gridCol w="3263901">
                  <a:extLst>
                    <a:ext uri="{9D8B030D-6E8A-4147-A177-3AD203B41FA5}">
                      <a16:colId xmlns:a16="http://schemas.microsoft.com/office/drawing/2014/main" val="2605332690"/>
                    </a:ext>
                  </a:extLst>
                </a:gridCol>
              </a:tblGrid>
              <a:tr h="245634">
                <a:tc gridSpan="3">
                  <a:txBody>
                    <a:bodyPr/>
                    <a:lstStyle/>
                    <a:p>
                      <a:r>
                        <a:rPr lang="el-GR" sz="1050" b="1" kern="1200" spc="-10" noProof="0">
                          <a:solidFill>
                            <a:schemeClr val="tx2"/>
                          </a:solidFill>
                          <a:latin typeface="+mn-lt"/>
                          <a:ea typeface="+mn-ea"/>
                          <a:cs typeface="+mn-cs"/>
                        </a:rPr>
                        <a:t xml:space="preserve">Στόχοι μείωσης CO₂e </a:t>
                      </a:r>
                      <a:r>
                        <a:rPr lang="el-GR" sz="1050" b="1" kern="1200" spc="-10" noProof="0">
                          <a:solidFill>
                            <a:schemeClr val="tx2"/>
                          </a:solidFill>
                          <a:latin typeface="+mn-lt"/>
                          <a:ea typeface="+mn-ea"/>
                          <a:cs typeface="+mn-cs"/>
                        </a:rPr>
                        <a:t xml:space="preserve"/>
                      </a:r>
                      <a:r>
                        <a:rPr lang="el-GR" sz="1050" b="0" kern="1200" spc="-10" noProof="0">
                          <a:solidFill>
                            <a:schemeClr val="tx2"/>
                          </a:solidFill>
                          <a:latin typeface="+mn-lt"/>
                          <a:ea typeface="+mn-ea"/>
                          <a:cs typeface="+mn-cs"/>
                        </a:rPr>
                        <a:t xml:space="preserve">(παρ. 53 a–d)</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775" b="0" kern="1200" spc="-10" noProof="0">
                        <a:solidFill>
                          <a:schemeClr val="tx2"/>
                        </a:solidFill>
                        <a:latin typeface="+mn-lt"/>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909213315"/>
                  </a:ext>
                </a:extLst>
              </a:tr>
              <a:tr h="303712">
                <a:tc>
                  <a:txBody>
                    <a:bodyPr/>
                    <a:lstStyle/>
                    <a:p>
                      <a:pPr algn="l"/>
                      <a:endParaRPr lang="el-GR" sz="1050" b="0" kern="1200" spc="-10" noProof="0">
                        <a:solidFill>
                          <a:schemeClr val="tx2"/>
                        </a:solidFill>
                        <a:latin typeface="+mn-lt"/>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1050" b="1" kern="1200" spc="-10" noProof="0">
                          <a:solidFill>
                            <a:schemeClr val="tx2"/>
                          </a:solidFill>
                          <a:latin typeface="+mn-lt"/>
                          <a:ea typeface="+mn-ea"/>
                          <a:cs typeface="+mn-cs"/>
                        </a:rPr>
                        <a:t xml:space="preserve">Στόχος για το έτος </a:t>
                      </a:r>
                      <a:r>
                        <a:rPr lang="el-GR" sz="1050" b="1" kern="1200" spc="-10" noProof="0">
                          <a:solidFill>
                            <a:srgbClr val="1B4528"/>
                          </a:solidFill>
                          <a:latin typeface="+mn-lt"/>
                          <a:ea typeface="+mn-ea"/>
                          <a:cs typeface="+mn-cs"/>
                        </a:rPr>
                        <a:t>{{baseline_year-1}}</a:t>
                      </a:r>
                      <a:endParaRPr lang="el-GR" sz="1050" b="0" kern="1200" spc="-10" noProof="0">
                        <a:solidFill>
                          <a:srgbClr val="1B4528"/>
                        </a:solidFill>
                        <a:latin typeface="+mn-lt"/>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050" b="1" kern="1200" spc="-10" noProof="0">
                          <a:solidFill>
                            <a:schemeClr val="tx2"/>
                          </a:solidFill>
                          <a:latin typeface="+mn-lt"/>
                          <a:ea typeface="+mn-ea"/>
                          <a:cs typeface="+mn-cs"/>
                        </a:rPr>
                        <a:t xml:space="preserve">Εκπομπές CO₂e στο έτος βάσης:</a:t>
                      </a:r>
                      <a:r>
                        <a:rPr lang="el-GR" sz="1050" b="1" kern="1200" spc="-10" noProof="0">
                          <a:solidFill>
                            <a:schemeClr val="tx2"/>
                          </a:solidFill>
                          <a:latin typeface="+mn-lt"/>
                          <a:ea typeface="+mn-ea"/>
                          <a:cs typeface="+mn-cs"/>
                        </a:rPr>
                        <a:t xml:space="preserve"/>
                      </a:r>
                      <a:r>
                        <a:rPr lang="el-GR" sz="1050" b="1" kern="1200" spc="-10" noProof="0">
                          <a:solidFill>
                            <a:schemeClr val="tx2"/>
                          </a:solidFill>
                          <a:latin typeface="+mn-lt"/>
                          <a:ea typeface="+mn-ea"/>
                          <a:cs typeface="+mn-cs"/>
                        </a:rPr>
                        <a:t xml:space="preserve"/>
                      </a:r>
                      <a:r>
                        <a:rPr lang="el-GR" sz="1050" b="1" kern="1200" spc="-10" noProof="0">
                          <a:solidFill>
                            <a:schemeClr val="tx2"/>
                          </a:solidFill>
                          <a:latin typeface="+mn-lt"/>
                          <a:ea typeface="+mn-ea"/>
                          <a:cs typeface="+mn-cs"/>
                        </a:rPr>
                        <a:t xml:space="preserve"/>
                      </a:r>
                      <a:r>
                        <a:rPr lang="el-GR" sz="1050" b="0" kern="1200" spc="-10" noProof="0">
                          <a:solidFill>
                            <a:schemeClr val="tx2"/>
                          </a:solidFill>
                          <a:latin typeface="+mn-lt"/>
                          <a:ea typeface="+mn-ea"/>
                          <a:cs typeface="+mn-cs"/>
                        </a:rPr>
                        <a:t> </a:t>
                      </a:r>
                      <a:r>
                        <a:rPr lang="el-GR" sz="1050" b="1" kern="1200" spc="-10" noProof="0">
                          <a:solidFill>
                            <a:srgbClr val="1B4528"/>
                          </a:solidFill>
                          <a:latin typeface="+mn-lt"/>
                          <a:ea typeface="+mn-ea"/>
                          <a:cs typeface="+mn-cs"/>
                        </a:rPr>
                        <a:t>{{</a:t>
                      </a:r>
                      <a:r>
                        <a:rPr lang="el-GR" sz="1050" b="1" kern="1200" spc="-10" noProof="0">
                          <a:solidFill>
                            <a:srgbClr val="1B4528"/>
                          </a:solidFill>
                          <a:latin typeface="+mn-lt"/>
                          <a:ea typeface="+mn-ea"/>
                          <a:cs typeface="+mn-cs"/>
                        </a:rPr>
                        <a:t>Insert</a:t>
                      </a:r>
                      <a:r>
                        <a:rPr lang="el-GR" sz="1050" b="1" kern="1200" spc="-10" noProof="0">
                          <a:solidFill>
                            <a:srgbClr val="1B4528"/>
                          </a:solidFill>
                          <a:latin typeface="+mn-lt"/>
                          <a:ea typeface="+mn-ea"/>
                          <a:cs typeface="+mn-cs"/>
                        </a:rPr>
                        <a:t> baseline </a:t>
                      </a:r>
                      <a:r>
                        <a:rPr lang="el-GR" sz="1050" b="1" kern="1200" spc="-10" noProof="0">
                          <a:solidFill>
                            <a:srgbClr val="1B4528"/>
                          </a:solidFill>
                          <a:latin typeface="+mn-lt"/>
                          <a:ea typeface="+mn-ea"/>
                          <a:cs typeface="+mn-cs"/>
                        </a:rPr>
                        <a:t>year</a:t>
                      </a:r>
                      <a:r>
                        <a:rPr lang="el-GR" sz="1050" b="1" kern="1200" spc="-10" noProof="0">
                          <a:solidFill>
                            <a:srgbClr val="1B4528"/>
                          </a:solidFill>
                          <a:latin typeface="+mn-lt"/>
                          <a:ea typeface="+mn-ea"/>
                          <a:cs typeface="+mn-cs"/>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3037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050" b="1" kern="1200" spc="-10" noProof="0">
                          <a:solidFill>
                            <a:schemeClr val="tx2"/>
                          </a:solidFill>
                          <a:latin typeface="+mn-lt"/>
                          <a:ea typeface="+mn-ea"/>
                          <a:cs typeface="+mn-cs"/>
                        </a:rPr>
                        <a:t>Scope</a:t>
                      </a:r>
                      <a:r>
                        <a:rPr lang="el-GR" sz="1050" b="1" kern="1200" spc="-10" noProof="0">
                          <a:solidFill>
                            <a:schemeClr val="tx2"/>
                          </a:solidFill>
                          <a:latin typeface="+mn-lt"/>
                          <a:ea typeface="+mn-ea"/>
                          <a:cs typeface="+mn-cs"/>
                        </a:rPr>
                        <a:t> 1 </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r">
                        <a:buNone/>
                      </a:pPr>
                      <a:r>
                        <a:rPr lang="el-GR" sz="1050" b="0" i="0" u="none" strike="noStrike" noProof="0">
                          <a:solidFill>
                            <a:srgbClr val="1B4528"/>
                          </a:solidFill>
                          <a:effectLst/>
                          <a:latin typeface="Inter"/>
                        </a:rPr>
                        <a:t>{{scope1_target}}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r">
                        <a:buNone/>
                      </a:pPr>
                      <a:r>
                        <a:rPr lang="el-GR" sz="1050" b="0" i="0" u="none" strike="noStrike" noProof="0">
                          <a:solidFill>
                            <a:srgbClr val="1B4528"/>
                          </a:solidFill>
                          <a:effectLst/>
                          <a:latin typeface="Inter"/>
                        </a:rPr>
                        <a:t>{{scope1_baseline}}</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037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050" b="1" kern="1200" spc="-10" noProof="0">
                          <a:solidFill>
                            <a:schemeClr val="tx2"/>
                          </a:solidFill>
                          <a:latin typeface="+mn-lt"/>
                          <a:ea typeface="+mn-ea"/>
                          <a:cs typeface="+mn-cs"/>
                        </a:rPr>
                        <a:t>Scope</a:t>
                      </a:r>
                      <a:r>
                        <a:rPr lang="el-GR" sz="1050" b="1" kern="1200" spc="-10" noProof="0">
                          <a:solidFill>
                            <a:schemeClr val="tx2"/>
                          </a:solidFill>
                          <a:latin typeface="+mn-lt"/>
                          <a:ea typeface="+mn-ea"/>
                          <a:cs typeface="+mn-cs"/>
                        </a:rPr>
                        <a:t> 2</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r">
                        <a:buNone/>
                      </a:pPr>
                      <a:r>
                        <a:rPr lang="el-GR" sz="1050" b="0" i="0" u="none" strike="noStrike" noProof="0">
                          <a:solidFill>
                            <a:srgbClr val="1B4528"/>
                          </a:solidFill>
                          <a:effectLst/>
                          <a:latin typeface="Inter"/>
                        </a:rPr>
                        <a:t>{{scope2_target}}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r">
                        <a:buNone/>
                      </a:pPr>
                      <a:r>
                        <a:rPr lang="el-GR" sz="1050" b="0" i="0" u="none" strike="noStrike" noProof="0">
                          <a:solidFill>
                            <a:srgbClr val="1B4528"/>
                          </a:solidFill>
                          <a:effectLst/>
                          <a:latin typeface="Inter"/>
                        </a:rPr>
                        <a:t>{{scope2_baseline}}</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6173805"/>
                  </a:ext>
                </a:extLst>
              </a:tr>
              <a:tr h="303712">
                <a:tc>
                  <a:txBody>
                    <a:bodyPr/>
                    <a:lstStyle/>
                    <a:p>
                      <a:pPr algn="l"/>
                      <a:r>
                        <a:rPr lang="el-GR" sz="1050" b="1" kern="1200" spc="-10" noProof="0">
                          <a:solidFill>
                            <a:schemeClr val="tx2"/>
                          </a:solidFill>
                          <a:latin typeface="+mn-lt"/>
                          <a:ea typeface="+mn-ea"/>
                          <a:cs typeface="+mn-cs"/>
                        </a:rPr>
                        <a:t>Scope</a:t>
                      </a:r>
                      <a:r>
                        <a:rPr lang="el-GR" sz="1050" b="1" kern="1200" spc="-10" noProof="0">
                          <a:solidFill>
                            <a:schemeClr val="tx2"/>
                          </a:solidFill>
                          <a:latin typeface="+mn-lt"/>
                          <a:ea typeface="+mn-ea"/>
                          <a:cs typeface="+mn-cs"/>
                        </a:rPr>
                        <a:t> 3</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r">
                        <a:buNone/>
                      </a:pPr>
                      <a:r>
                        <a:rPr lang="el-GR" sz="1050" b="0" i="0" u="none" strike="noStrike" noProof="0">
                          <a:solidFill>
                            <a:srgbClr val="1B4528"/>
                          </a:solidFill>
                          <a:effectLst/>
                          <a:latin typeface="Inter"/>
                        </a:rPr>
                        <a:t>{{scope3_target}}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r">
                        <a:buNone/>
                      </a:pPr>
                      <a:r>
                        <a:rPr lang="el-GR" sz="1050" b="0" i="0" u="none" strike="noStrike" noProof="0">
                          <a:solidFill>
                            <a:srgbClr val="1B4528"/>
                          </a:solidFill>
                          <a:effectLst/>
                          <a:latin typeface="Inter"/>
                        </a:rPr>
                        <a:t>{{scope3_baseline}}</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bl>
          </a:graphicData>
        </a:graphic>
      </p:graphicFrame>
      <p:graphicFrame>
        <p:nvGraphicFramePr>
          <p:cNvPr id="7" name="Table 21">
            <a:extLst>
              <a:ext uri="{FF2B5EF4-FFF2-40B4-BE49-F238E27FC236}">
                <a16:creationId xmlns:a16="http://schemas.microsoft.com/office/drawing/2014/main" id="{C5FA6A58-54C9-F06A-6108-64DA6FC7E9AC}"/>
              </a:ext>
            </a:extLst>
          </p:cNvPr>
          <p:cNvGraphicFramePr>
            <a:graphicFrameLocks noGrp="1"/>
          </p:cNvGraphicFramePr>
          <p:nvPr>
            <p:extLst>
              <p:ext uri="{D42A27DB-BD31-4B8C-83A1-F6EECF244321}">
                <p14:modId xmlns:p14="http://schemas.microsoft.com/office/powerpoint/2010/main" val="3618635351"/>
              </p:ext>
            </p:extLst>
          </p:nvPr>
        </p:nvGraphicFramePr>
        <p:xfrm>
          <a:off x="454794" y="5178656"/>
          <a:ext cx="9791709" cy="666608"/>
        </p:xfrm>
        <a:graphic>
          <a:graphicData uri="http://schemas.openxmlformats.org/drawingml/2006/table">
            <a:tbl>
              <a:tblPr firstRow="1">
                <a:tableStyleId>{2A488322-F2BA-4B5B-9748-0D474271808F}</a:tableStyleId>
              </a:tblPr>
              <a:tblGrid>
                <a:gridCol w="9791709">
                  <a:extLst>
                    <a:ext uri="{9D8B030D-6E8A-4147-A177-3AD203B41FA5}">
                      <a16:colId xmlns:a16="http://schemas.microsoft.com/office/drawing/2014/main" val="2119413191"/>
                    </a:ext>
                  </a:extLst>
                </a:gridCol>
              </a:tblGrid>
              <a:tr h="289726">
                <a:tc>
                  <a:txBody>
                    <a:bodyPr/>
                    <a:lstStyle/>
                    <a:p>
                      <a:pPr marL="0" algn="l" defTabSz="914400" rtl="0" eaLnBrk="1" latinLnBrk="0" hangingPunct="1"/>
                      <a:r>
                        <a:rPr lang="el-GR" sz="1050" b="1" kern="1200" spc="-10" noProof="0">
                          <a:solidFill>
                            <a:schemeClr val="tx2"/>
                          </a:solidFill>
                          <a:latin typeface="+mn-lt"/>
                          <a:ea typeface="+mn-ea"/>
                          <a:cs typeface="+mn-cs"/>
                        </a:rPr>
                        <a:t xml:space="preserve">Κατάλογος των κύριων δράσεων που υλοποιεί η </a:t>
                      </a:r>
                      <a:r>
                        <a:rPr lang="el-GR" sz="1050" b="1" kern="1200" noProof="0">
                          <a:solidFill>
                            <a:srgbClr val="1B4528"/>
                          </a:solidFill>
                          <a:latin typeface="+mn-lt"/>
                          <a:ea typeface="+mn-ea"/>
                          <a:cs typeface="+mn-cs"/>
                        </a:rPr>
                        <a:t>{{Company </a:t>
                      </a:r>
                      <a:r>
                        <a:rPr lang="el-GR" sz="1050" b="1" kern="1200" noProof="0">
                          <a:solidFill>
                            <a:srgbClr val="1B4528"/>
                          </a:solidFill>
                          <a:latin typeface="+mn-lt"/>
                          <a:ea typeface="+mn-ea"/>
                          <a:cs typeface="+mn-cs"/>
                        </a:rPr>
                        <a:t>name</a:t>
                      </a:r>
                      <a:r>
                        <a:rPr lang="el-GR" sz="1050" b="1" kern="1200" noProof="0">
                          <a:solidFill>
                            <a:srgbClr val="1B4528"/>
                          </a:solidFill>
                          <a:latin typeface="+mn-lt"/>
                          <a:ea typeface="+mn-ea"/>
                          <a:cs typeface="+mn-cs"/>
                        </a:rPr>
                        <a:t>}} </a:t>
                      </a:r>
                      <a:r>
                        <a:rPr lang="el-GR" sz="1050" b="0" kern="1200" noProof="0">
                          <a:solidFill>
                            <a:srgbClr val="1B4528"/>
                          </a:solidFill>
                          <a:latin typeface="+mn-lt"/>
                          <a:ea typeface="+mn-ea"/>
                          <a:cs typeface="+mn-cs"/>
                        </a:rPr>
                        <a:t> </a:t>
                      </a:r>
                      <a:r>
                        <a:rPr lang="el-GR" sz="1050" b="1" kern="1200" spc="-10" noProof="0">
                          <a:solidFill>
                            <a:schemeClr val="tx2"/>
                          </a:solidFill>
                          <a:latin typeface="+mn-lt"/>
                          <a:ea typeface="+mn-ea"/>
                          <a:cs typeface="+mn-cs"/>
                        </a:rPr>
                        <a:t xml:space="preserve">για την επίτευξη των στόχων μείωσης CO₂e </a:t>
                      </a:r>
                      <a:r>
                        <a:rPr lang="el-GR" sz="1050" b="1" kern="1200" spc="-10" noProof="0">
                          <a:solidFill>
                            <a:schemeClr val="tx2"/>
                          </a:solidFill>
                          <a:latin typeface="+mn-lt"/>
                          <a:ea typeface="+mn-ea"/>
                          <a:cs typeface="+mn-cs"/>
                        </a:rPr>
                        <a:t xml:space="preserve"/>
                      </a:r>
                      <a:r>
                        <a:rPr lang="el-GR" sz="1050" b="1" kern="1200" spc="-10" noProof="0">
                          <a:solidFill>
                            <a:schemeClr val="tx2"/>
                          </a:solidFill>
                          <a:latin typeface="+mn-lt"/>
                          <a:ea typeface="+mn-ea"/>
                          <a:cs typeface="+mn-cs"/>
                        </a:rPr>
                        <a:t xml:space="preserve"/>
                      </a:r>
                      <a:r>
                        <a:rPr lang="el-GR" sz="1050" b="0" kern="1200" spc="-10" noProof="0">
                          <a:solidFill>
                            <a:schemeClr val="tx2"/>
                          </a:solidFill>
                          <a:latin typeface="+mn-lt"/>
                          <a:ea typeface="+mn-ea"/>
                          <a:cs typeface="+mn-cs"/>
                        </a:rPr>
                        <a:t xml:space="preserve">(παρ. 53e)</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76882">
                <a:tc>
                  <a:txBody>
                    <a:bodyPr/>
                    <a:lstStyle/>
                    <a:p>
                      <a:pPr algn="l"/>
                      <a:r>
                        <a:rPr lang="el-GR" sz="1050" b="0" noProof="0">
                          <a:solidFill>
                            <a:srgbClr val="1B4528"/>
                          </a:solidFill>
                        </a:rPr>
                        <a:t>{{</a:t>
                      </a:r>
                      <a:r>
                        <a:rPr lang="el-GR" sz="1050" b="0" noProof="0">
                          <a:solidFill>
                            <a:srgbClr val="1B4528"/>
                          </a:solidFill>
                        </a:rPr>
                        <a:t>mainaction</a:t>
                      </a:r>
                      <a:r>
                        <a:rPr lang="el-GR" sz="1050" b="0" noProof="0">
                          <a:solidFill>
                            <a:srgbClr val="1B4528"/>
                          </a:solidFill>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9" name="Title 2">
            <a:extLst>
              <a:ext uri="{FF2B5EF4-FFF2-40B4-BE49-F238E27FC236}">
                <a16:creationId xmlns:a16="http://schemas.microsoft.com/office/drawing/2014/main" id="{4A504496-2FBB-B5B8-A62A-D1611D632D81}"/>
              </a:ext>
            </a:extLst>
          </p:cNvPr>
          <p:cNvSpPr txBox="1">
            <a:spLocks/>
          </p:cNvSpPr>
          <p:nvPr/>
        </p:nvSpPr>
        <p:spPr>
          <a:xfrm>
            <a:off x="454796" y="3119083"/>
            <a:ext cx="9791704" cy="218627"/>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575" b="1" kern="1200" spc="-10" baseline="0">
                <a:solidFill>
                  <a:schemeClr val="tx2"/>
                </a:solidFill>
                <a:latin typeface="+mj-lt"/>
                <a:ea typeface="+mj-ea"/>
                <a:cs typeface="+mj-cs"/>
              </a:defRPr>
            </a:lvl1pPr>
          </a:lstStyle>
          <a:p>
            <a:r>
              <a:rPr lang="el-GR" noProof="0"/>
              <a:t xml:space="preserve">Στόχοι μείωσης CO₂e (C3)</a:t>
            </a:r>
            <a:r>
              <a:rPr lang="el-GR" noProof="0"/>
              <a:t xml:space="preserve"/>
            </a:r>
          </a:p>
        </p:txBody>
      </p:sp>
      <p:graphicFrame>
        <p:nvGraphicFramePr>
          <p:cNvPr id="21" name="Table 18">
            <a:extLst>
              <a:ext uri="{FF2B5EF4-FFF2-40B4-BE49-F238E27FC236}">
                <a16:creationId xmlns:a16="http://schemas.microsoft.com/office/drawing/2014/main" id="{7441C3F1-F61D-6925-5ACB-A4A2D6F92D40}"/>
              </a:ext>
            </a:extLst>
          </p:cNvPr>
          <p:cNvGraphicFramePr>
            <a:graphicFrameLocks noGrp="1"/>
          </p:cNvGraphicFramePr>
          <p:nvPr>
            <p:extLst>
              <p:ext uri="{D42A27DB-BD31-4B8C-83A1-F6EECF244321}">
                <p14:modId xmlns:p14="http://schemas.microsoft.com/office/powerpoint/2010/main" val="936518452"/>
              </p:ext>
            </p:extLst>
          </p:nvPr>
        </p:nvGraphicFramePr>
        <p:xfrm>
          <a:off x="454795" y="1623325"/>
          <a:ext cx="9782407" cy="1061534"/>
        </p:xfrm>
        <a:graphic>
          <a:graphicData uri="http://schemas.openxmlformats.org/drawingml/2006/table">
            <a:tbl>
              <a:tblPr firstRow="1">
                <a:tableStyleId>{2A488322-F2BA-4B5B-9748-0D474271808F}</a:tableStyleId>
              </a:tblPr>
              <a:tblGrid>
                <a:gridCol w="7745090">
                  <a:extLst>
                    <a:ext uri="{9D8B030D-6E8A-4147-A177-3AD203B41FA5}">
                      <a16:colId xmlns:a16="http://schemas.microsoft.com/office/drawing/2014/main" val="2698153288"/>
                    </a:ext>
                  </a:extLst>
                </a:gridCol>
                <a:gridCol w="2037317">
                  <a:extLst>
                    <a:ext uri="{9D8B030D-6E8A-4147-A177-3AD203B41FA5}">
                      <a16:colId xmlns:a16="http://schemas.microsoft.com/office/drawing/2014/main" val="656209149"/>
                    </a:ext>
                  </a:extLst>
                </a:gridCol>
              </a:tblGrid>
              <a:tr h="268648">
                <a:tc>
                  <a:txBody>
                    <a:bodyPr/>
                    <a:lstStyle/>
                    <a:p>
                      <a:pPr>
                        <a:lnSpc>
                          <a:spcPct val="106000"/>
                        </a:lnSpc>
                      </a:pPr>
                      <a:r>
                        <a:rPr lang="el-GR" sz="1050" b="1" noProof="0">
                          <a:solidFill>
                            <a:schemeClr val="tx2"/>
                          </a:solidFill>
                        </a:rPr>
                        <a:t xml:space="preserve">Εκπομπές αερίων του θερμοκηπίου –</a:t>
                      </a:r>
                      <a:r>
                        <a:rPr lang="el-GR" sz="1050" b="0" noProof="0">
                          <a:solidFill>
                            <a:schemeClr val="tx2"/>
                          </a:solidFill>
                        </a:rPr>
                        <a:t xml:space="preserve"> (προσθήκη στην παρ. 33)</a:t>
                      </a:r>
                      <a:endParaRPr lang="el-GR" sz="1050" b="1"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l-GR" sz="1050" b="1" noProof="0">
                          <a:solidFill>
                            <a:schemeClr val="tx2"/>
                          </a:solidFill>
                        </a:rPr>
                        <a:t xml:space="preserve">Έτος </a:t>
                      </a:r>
                      <a:r>
                        <a:rPr lang="el-GR" sz="1050" b="1" noProof="0">
                          <a:solidFill>
                            <a:srgbClr val="1B4528"/>
                          </a:solidFill>
                          <a:latin typeface="Calibri"/>
                          <a:cs typeface="Calibri"/>
                        </a:rPr>
                        <a:t>{{Insert year}}</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64296">
                <a:tc>
                  <a:txBody>
                    <a:bodyPr/>
                    <a:lstStyle/>
                    <a:p>
                      <a:pPr lvl="0" algn="r">
                        <a:lnSpc>
                          <a:spcPct val="100000"/>
                        </a:lnSpc>
                        <a:spcBef>
                          <a:spcPts val="0"/>
                        </a:spcBef>
                        <a:spcAft>
                          <a:spcPts val="0"/>
                        </a:spcAft>
                        <a:buNone/>
                      </a:pPr>
                      <a:r>
                        <a:rPr lang="el-GR" sz="1050" b="0" i="0" u="none" strike="noStrike" kern="1200" noProof="0">
                          <a:solidFill>
                            <a:srgbClr val="1B4528"/>
                          </a:solidFill>
                          <a:latin typeface="IBM Plex Sans"/>
                          <a:ea typeface="+mn-ea"/>
                          <a:cs typeface="+mn-cs"/>
                        </a:rPr>
                        <a:t>{{scope3_description_table}}</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lvl="0" algn="r">
                        <a:lnSpc>
                          <a:spcPct val="100000"/>
                        </a:lnSpc>
                        <a:spcBef>
                          <a:spcPts val="0"/>
                        </a:spcBef>
                        <a:spcAft>
                          <a:spcPts val="0"/>
                        </a:spcAft>
                        <a:buNone/>
                      </a:pPr>
                      <a:r>
                        <a:rPr lang="el-GR" sz="1050" b="0" i="0" u="none" strike="noStrike" kern="1200" cap="none" spc="0" normalizeH="0" baseline="0" noProof="0">
                          <a:ln>
                            <a:noFill/>
                          </a:ln>
                          <a:solidFill>
                            <a:srgbClr val="1B4528"/>
                          </a:solidFill>
                          <a:effectLst/>
                          <a:uLnTx/>
                          <a:uFillTx/>
                          <a:latin typeface="IBM Plex Sans"/>
                          <a:ea typeface="+mn-ea"/>
                          <a:cs typeface="+mn-cs"/>
                        </a:rPr>
                        <a:t>{{scope3_emissions_table}}</a:t>
                      </a:r>
                      <a:endParaRPr lang="el-GR" sz="1050" b="0" i="0" u="none" strike="noStrike" kern="1200" cap="none" spc="0" normalizeH="0" baseline="0" noProof="0">
                        <a:ln>
                          <a:noFill/>
                        </a:ln>
                        <a:solidFill>
                          <a:srgbClr val="000000"/>
                        </a:solidFill>
                        <a:effectLst/>
                        <a:uLnTx/>
                        <a:uFillTx/>
                        <a:latin typeface="IBM Plex Sans"/>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775587356"/>
                  </a:ext>
                </a:extLst>
              </a:tr>
              <a:tr h="264296">
                <a:tc>
                  <a:txBody>
                    <a:bodyPr/>
                    <a:lstStyle/>
                    <a:p>
                      <a:pPr>
                        <a:lnSpc>
                          <a:spcPct val="106000"/>
                        </a:lnSpc>
                      </a:pPr>
                      <a:r>
                        <a:rPr lang="el-GR" sz="1050" b="1" noProof="0">
                          <a:solidFill>
                            <a:schemeClr val="tx2"/>
                          </a:solidFill>
                        </a:rPr>
                        <a:t xml:space="preserve">Συνολικές εκπομπές CO₂e Scope 3 (βάσει τοποθεσίας) </a:t>
                      </a:r>
                      <a:endParaRPr lang="el-G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lvl="0" algn="r">
                        <a:lnSpc>
                          <a:spcPct val="100000"/>
                        </a:lnSpc>
                        <a:spcBef>
                          <a:spcPts val="0"/>
                        </a:spcBef>
                        <a:spcAft>
                          <a:spcPts val="0"/>
                        </a:spcAft>
                        <a:buNone/>
                      </a:pPr>
                      <a:r>
                        <a:rPr lang="el-GR" sz="1050" b="0" i="0" u="none" strike="noStrike" kern="1200" cap="none" spc="0" normalizeH="0" baseline="0" noProof="0">
                          <a:ln>
                            <a:noFill/>
                          </a:ln>
                          <a:solidFill>
                            <a:srgbClr val="1B4528"/>
                          </a:solidFill>
                          <a:effectLst/>
                          <a:uLnTx/>
                          <a:uFillTx/>
                          <a:latin typeface="IBM Plex Sans"/>
                          <a:ea typeface="+mn-ea"/>
                          <a:cs typeface="+mn-cs"/>
                        </a:rPr>
                        <a:t>{{scope3}}</a:t>
                      </a:r>
                      <a:endParaRPr lang="el-GR" sz="1050" b="0" i="0" u="none" strike="noStrike" kern="1200" cap="none" spc="0" normalizeH="0" baseline="0" noProof="0">
                        <a:ln>
                          <a:noFill/>
                        </a:ln>
                        <a:solidFill>
                          <a:srgbClr val="000000"/>
                        </a:solidFill>
                        <a:effectLst/>
                        <a:uLnTx/>
                        <a:uFillTx/>
                        <a:latin typeface="IBM Plex Sans"/>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r h="264296">
                <a:tc>
                  <a:txBody>
                    <a:bodyPr/>
                    <a:lstStyle/>
                    <a:p>
                      <a:pPr>
                        <a:lnSpc>
                          <a:spcPct val="106000"/>
                        </a:lnSpc>
                      </a:pPr>
                      <a:r>
                        <a:rPr lang="el-GR" sz="1050" b="1" noProof="0">
                          <a:solidFill>
                            <a:schemeClr val="tx2"/>
                          </a:solidFill>
                        </a:rPr>
                        <a:t xml:space="preserve">Συνολικές εκπομπές CO₂e Scope 1, 2 και 3   </a:t>
                      </a:r>
                      <a:endParaRPr lang="el-G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6000"/>
                        </a:lnSpc>
                        <a:spcBef>
                          <a:spcPts val="0"/>
                        </a:spcBef>
                        <a:spcAft>
                          <a:spcPts val="0"/>
                        </a:spcAft>
                        <a:buClrTx/>
                        <a:buSzTx/>
                        <a:buFontTx/>
                        <a:buNone/>
                        <a:tabLst/>
                        <a:defRPr/>
                      </a:pPr>
                      <a:r>
                        <a:rPr kumimoji="0" lang="el-GR" sz="1050" b="0" i="0" u="none" strike="noStrike" kern="1200" cap="none" spc="0" normalizeH="0" baseline="0" noProof="0">
                          <a:ln>
                            <a:noFill/>
                          </a:ln>
                          <a:solidFill>
                            <a:srgbClr val="1B4528"/>
                          </a:solidFill>
                          <a:effectLst/>
                          <a:uLnTx/>
                          <a:uFillTx/>
                          <a:latin typeface="+mn-lt"/>
                          <a:ea typeface="+mn-ea"/>
                          <a:cs typeface="+mn-cs"/>
                        </a:rPr>
                        <a:t>{{total_all_scopes}}</a:t>
                      </a:r>
                      <a:endParaRPr kumimoji="0" lang="el-GR" sz="1050" b="0" i="0" u="none" strike="noStrike" kern="1200" cap="none" spc="0" normalizeH="0" baseline="0" noProof="0">
                        <a:ln>
                          <a:noFill/>
                        </a:ln>
                        <a:solidFill>
                          <a:srgbClr val="1B4528"/>
                        </a:solidFill>
                        <a:effectLst/>
                        <a:uLnTx/>
                        <a:uFillTx/>
                        <a:latin typeface="IBM Plex Sans"/>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423150282"/>
                  </a:ext>
                </a:extLst>
              </a:tr>
            </a:tbl>
          </a:graphicData>
        </a:graphic>
      </p:graphicFrame>
      <p:sp>
        <p:nvSpPr>
          <p:cNvPr id="23" name="Tekstfelt 22">
            <a:extLst>
              <a:ext uri="{FF2B5EF4-FFF2-40B4-BE49-F238E27FC236}">
                <a16:creationId xmlns:a16="http://schemas.microsoft.com/office/drawing/2014/main" id="{2E9E5E59-EFEC-9D92-05CF-169227F7ABCF}"/>
              </a:ext>
            </a:extLst>
          </p:cNvPr>
          <p:cNvSpPr txBox="1"/>
          <p:nvPr/>
        </p:nvSpPr>
        <p:spPr>
          <a:xfrm>
            <a:off x="454796" y="891000"/>
            <a:ext cx="9869667" cy="404866"/>
          </a:xfrm>
          <a:prstGeom prst="rect">
            <a:avLst/>
          </a:prstGeom>
          <a:noFill/>
        </p:spPr>
        <p:txBody>
          <a:bodyPr wrap="square">
            <a:spAutoFit/>
          </a:bodyPr>
          <a:lstStyle/>
          <a:p>
            <a:pPr rtl="0">
              <a:buNone/>
            </a:pPr>
            <a:r>
              <a:rPr lang="el-GR" sz="1050" b="0" i="0" u="none" strike="noStrike" noProof="0">
                <a:solidFill>
                  <a:schemeClr val="tx2"/>
                </a:solidFill>
                <a:effectLst/>
                <a:latin typeface="Inter"/>
              </a:rPr>
              <a:t xml:space="preserve">Η επιχείρηση παρουσίασε επισκόπηση των εκπομπών αερίων του θερμοκηπίου Scope 3 βάσει του Πρωτοκόλλου GHG. Αναφέρει τις συνολικές εκπομπές και τις εκπομπές Scope 3 βάσει τοποθεσίας. Παρατίθενται οι στόχοι μείωσης CO₂e και οι κύριες δράσεις για την επίτευξη των στόχω</a:t>
            </a:r>
            <a:r>
              <a:rPr lang="el-GR" sz="1050" b="0" i="0" u="none" strike="noStrike" noProof="0">
                <a:solidFill>
                  <a:schemeClr val="tx2"/>
                </a:solidFill>
                <a:effectLst/>
                <a:latin typeface="Inter"/>
              </a:rPr>
              <a:t xml:space="preserve"/>
            </a:r>
            <a:r>
              <a:rPr lang="el-GR" sz="1050" b="0" i="0" u="none" strike="noStrike" noProof="0">
                <a:solidFill>
                  <a:schemeClr val="tx2"/>
                </a:solidFill>
                <a:effectLst/>
                <a:latin typeface="Inter"/>
              </a:rPr>
              <a:t xml:space="preserve"/>
            </a:r>
            <a:r>
              <a:rPr lang="el-GR" sz="1050" b="0" i="0" u="none" strike="noStrike" noProof="0">
                <a:solidFill>
                  <a:schemeClr val="tx2"/>
                </a:solidFill>
                <a:effectLst/>
                <a:latin typeface="Inter"/>
              </a:rPr>
              <a:t xml:space="preserve"/>
            </a:r>
            <a:r>
              <a:rPr lang="el-GR" sz="1050" b="0" i="0" u="none" strike="noStrike" noProof="0">
                <a:solidFill>
                  <a:schemeClr val="tx2"/>
                </a:solidFill>
                <a:effectLst/>
                <a:latin typeface="Inter"/>
              </a:rPr>
              <a:t xml:space="preserve"/>
            </a:r>
            <a:r>
              <a:rPr lang="el-GR" sz="1050" b="0" i="0" u="none" strike="noStrike" noProof="0">
                <a:solidFill>
                  <a:schemeClr val="tx2"/>
                </a:solidFill>
                <a:effectLst/>
                <a:latin typeface="Inter"/>
              </a:rPr>
              <a:t xml:space="preserve"/>
            </a:r>
            <a:r>
              <a:rPr lang="el-GR" sz="1050" b="0" i="0" u="none" strike="noStrike" noProof="0">
                <a:solidFill>
                  <a:schemeClr val="tx2"/>
                </a:solidFill>
                <a:effectLst/>
                <a:latin typeface="Inter"/>
              </a:rPr>
              <a:t xml:space="preserve"/>
            </a:r>
            <a:r>
              <a:rPr lang="el-GR" sz="1050" noProof="0">
                <a:solidFill>
                  <a:schemeClr val="tx2"/>
                </a:solidFill>
                <a:latin typeface="Inter"/>
              </a:rPr>
              <a:t xml:space="preserve">ν.</a:t>
            </a:r>
          </a:p>
        </p:txBody>
      </p:sp>
    </p:spTree>
    <p:extLst>
      <p:ext uri="{BB962C8B-B14F-4D97-AF65-F5344CB8AC3E}">
        <p14:creationId xmlns:p14="http://schemas.microsoft.com/office/powerpoint/2010/main" val="31239409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54796" y="450698"/>
            <a:ext cx="9791704" cy="218627"/>
          </a:xfrm>
        </p:spPr>
        <p:txBody>
          <a:bodyPr/>
          <a:lstStyle/>
          <a:p>
            <a:r>
              <a:rPr lang="el-GR" noProof="0"/>
              <a:t xml:space="preserve">Κ</a:t>
            </a:r>
            <a:r>
              <a:rPr lang="el-GR" sz="1575" b="1" noProof="0">
                <a:solidFill>
                  <a:schemeClr val="tx2"/>
                </a:solidFill>
              </a:rPr>
              <a:t xml:space="preserve">λιματική μετάβαση (C3)</a:t>
            </a:r>
            <a:endParaRPr lang="el-GR"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17</a:t>
            </a:fld>
            <a:endParaRPr lang="el-GR"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br>
              <a:rPr lang="el-GR" noProof="0"/>
            </a:br>
            <a:endParaRPr lang="el-GR" noProof="0"/>
          </a:p>
        </p:txBody>
      </p:sp>
      <p:graphicFrame>
        <p:nvGraphicFramePr>
          <p:cNvPr id="13" name="Table 21">
            <a:extLst>
              <a:ext uri="{FF2B5EF4-FFF2-40B4-BE49-F238E27FC236}">
                <a16:creationId xmlns:a16="http://schemas.microsoft.com/office/drawing/2014/main" id="{60394E66-F1DF-2C1C-1CDA-17DF2DA7445E}"/>
              </a:ext>
            </a:extLst>
          </p:cNvPr>
          <p:cNvGraphicFramePr>
            <a:graphicFrameLocks noGrp="1"/>
          </p:cNvGraphicFramePr>
          <p:nvPr>
            <p:extLst>
              <p:ext uri="{D42A27DB-BD31-4B8C-83A1-F6EECF244321}">
                <p14:modId xmlns:p14="http://schemas.microsoft.com/office/powerpoint/2010/main" val="401732485"/>
              </p:ext>
            </p:extLst>
          </p:nvPr>
        </p:nvGraphicFramePr>
        <p:xfrm>
          <a:off x="454789" y="3862731"/>
          <a:ext cx="9801000" cy="1074232"/>
        </p:xfrm>
        <a:graphic>
          <a:graphicData uri="http://schemas.openxmlformats.org/drawingml/2006/table">
            <a:tbl>
              <a:tblPr firstRow="1">
                <a:tableStyleId>{2A488322-F2BA-4B5B-9748-0D474271808F}</a:tableStyleId>
              </a:tblPr>
              <a:tblGrid>
                <a:gridCol w="4900500">
                  <a:extLst>
                    <a:ext uri="{9D8B030D-6E8A-4147-A177-3AD203B41FA5}">
                      <a16:colId xmlns:a16="http://schemas.microsoft.com/office/drawing/2014/main" val="2119413191"/>
                    </a:ext>
                  </a:extLst>
                </a:gridCol>
                <a:gridCol w="4900500">
                  <a:extLst>
                    <a:ext uri="{9D8B030D-6E8A-4147-A177-3AD203B41FA5}">
                      <a16:colId xmlns:a16="http://schemas.microsoft.com/office/drawing/2014/main" val="970155923"/>
                    </a:ext>
                  </a:extLst>
                </a:gridCol>
              </a:tblGrid>
              <a:tr h="287276">
                <a:tc gridSpan="2">
                  <a:txBody>
                    <a:bodyPr/>
                    <a:lstStyle/>
                    <a:p>
                      <a:r>
                        <a:rPr lang="el-GR" sz="1050" b="1" kern="1200" spc="-10" noProof="0">
                          <a:solidFill>
                            <a:schemeClr val="tx2"/>
                          </a:solidFill>
                          <a:latin typeface="+mn-lt"/>
                          <a:ea typeface="+mn-ea"/>
                          <a:cs typeface="+mn-cs"/>
                        </a:rPr>
                        <a:t xml:space="preserve">Μελλοντικό σχέδιο μετάβασης </a:t>
                      </a:r>
                      <a:r>
                        <a:rPr lang="el-GR" sz="1050" b="0" kern="1200" spc="-10" noProof="0">
                          <a:solidFill>
                            <a:schemeClr val="tx2"/>
                          </a:solidFill>
                          <a:latin typeface="+mn-lt"/>
                          <a:ea typeface="+mn-ea"/>
                          <a:cs typeface="+mn-cs"/>
                        </a:rPr>
                        <a:t xml:space="preserve">(παρ. 55)</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l"/>
                      <a:endParaRPr lang="el-GR" sz="775" b="1"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93478">
                <a:tc>
                  <a:txBody>
                    <a:bodyPr/>
                    <a:lstStyle/>
                    <a:p>
                      <a:pPr algn="l"/>
                      <a:r>
                        <a:rPr lang="el-GR" sz="1050" b="1" kern="1200" noProof="0">
                          <a:solidFill>
                            <a:srgbClr val="1B4528"/>
                          </a:solidFill>
                          <a:latin typeface="+mn-lt"/>
                          <a:ea typeface="+mn-ea"/>
                          <a:cs typeface="+mn-cs"/>
                        </a:rPr>
                        <a:t>{{</a:t>
                      </a:r>
                      <a:r>
                        <a:rPr lang="el-GR" sz="1050" b="1" kern="1200" noProof="0">
                          <a:solidFill>
                            <a:srgbClr val="1B4528"/>
                          </a:solidFill>
                          <a:latin typeface="+mn-lt"/>
                          <a:ea typeface="+mn-ea"/>
                          <a:cs typeface="+mn-cs"/>
                        </a:rPr>
                        <a:t>company_name</a:t>
                      </a:r>
                      <a:r>
                        <a:rPr lang="el-GR" sz="1050" b="1" kern="1200" noProof="0">
                          <a:solidFill>
                            <a:srgbClr val="1B4528"/>
                          </a:solidFill>
                          <a:latin typeface="+mn-lt"/>
                          <a:ea typeface="+mn-ea"/>
                          <a:cs typeface="+mn-cs"/>
                        </a:rPr>
                        <a:t>}} </a:t>
                      </a:r>
                      <a:r>
                        <a:rPr lang="el-GR" sz="1050" b="1" kern="1200" noProof="0">
                          <a:solidFill>
                            <a:schemeClr val="tx2"/>
                          </a:solidFill>
                          <a:latin typeface="+mn-lt"/>
                          <a:ea typeface="+mn-ea"/>
                          <a:cs typeface="+mn-cs"/>
                        </a:rPr>
                        <a:t xml:space="preserve">θα υιοθετήσει συγκεκριμένο σχέδιο μετάβασης </a:t>
                      </a:r>
                      <a:r>
                        <a:rPr lang="el-GR" sz="1050" b="1" noProof="0">
                          <a:solidFill>
                            <a:schemeClr val="tx2"/>
                          </a:solidFill>
                        </a:rPr>
                        <a:t xml:space="preserve">για τον μετριασμό της κλιματικής αλλαγής</a:t>
                      </a:r>
                      <a:endParaRPr lang="el-GR" sz="1050" b="1" kern="1200" noProof="0">
                        <a:solidFill>
                          <a:schemeClr val="tx2"/>
                        </a:solidFill>
                        <a:latin typeface="+mn-lt"/>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transition_plan</a:t>
                      </a:r>
                      <a:r>
                        <a:rPr lang="el-GR" sz="1050" b="0" i="0" u="none" strike="noStrike" noProof="0">
                          <a:solidFill>
                            <a:srgbClr val="1B4528"/>
                          </a:solidFill>
                          <a:effectLst/>
                          <a:latin typeface="Inter"/>
                        </a:rPr>
                        <a: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93478">
                <a:tc>
                  <a:txBody>
                    <a:bodyPr/>
                    <a:lstStyle/>
                    <a:p>
                      <a:pPr algn="l"/>
                      <a:r>
                        <a:rPr lang="el-GR" sz="1050" b="1" kern="1200" noProof="0">
                          <a:solidFill>
                            <a:schemeClr val="tx2"/>
                          </a:solidFill>
                          <a:latin typeface="+mn-lt"/>
                          <a:ea typeface="+mn-ea"/>
                          <a:cs typeface="+mn-cs"/>
                        </a:rPr>
                        <a:t xml:space="preserve">Χρόνος υιοθέτησης του σχεδίου μετάβασης</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transition_plan_date</a:t>
                      </a:r>
                      <a:r>
                        <a:rPr lang="el-GR" sz="1050" b="0" i="0" u="none" strike="noStrike" noProof="0">
                          <a:solidFill>
                            <a:srgbClr val="1B4528"/>
                          </a:solidFill>
                          <a:effectLst/>
                          <a:latin typeface="Inter"/>
                        </a:rPr>
                        <a: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68096352"/>
                  </a:ext>
                </a:extLst>
              </a:tr>
            </a:tbl>
          </a:graphicData>
        </a:graphic>
      </p:graphicFrame>
      <p:graphicFrame>
        <p:nvGraphicFramePr>
          <p:cNvPr id="12" name="Table 21">
            <a:extLst>
              <a:ext uri="{FF2B5EF4-FFF2-40B4-BE49-F238E27FC236}">
                <a16:creationId xmlns:a16="http://schemas.microsoft.com/office/drawing/2014/main" id="{EF0A7234-75D3-BD9B-6E3A-4C179BDAF467}"/>
              </a:ext>
            </a:extLst>
          </p:cNvPr>
          <p:cNvGraphicFramePr>
            <a:graphicFrameLocks noGrp="1"/>
          </p:cNvGraphicFramePr>
          <p:nvPr>
            <p:extLst>
              <p:ext uri="{D42A27DB-BD31-4B8C-83A1-F6EECF244321}">
                <p14:modId xmlns:p14="http://schemas.microsoft.com/office/powerpoint/2010/main" val="3129752944"/>
              </p:ext>
            </p:extLst>
          </p:nvPr>
        </p:nvGraphicFramePr>
        <p:xfrm>
          <a:off x="454789" y="1466441"/>
          <a:ext cx="9800999" cy="1708487"/>
        </p:xfrm>
        <a:graphic>
          <a:graphicData uri="http://schemas.openxmlformats.org/drawingml/2006/table">
            <a:tbl>
              <a:tblPr firstRow="1">
                <a:tableStyleId>{2A488322-F2BA-4B5B-9748-0D474271808F}</a:tableStyleId>
              </a:tblPr>
              <a:tblGrid>
                <a:gridCol w="9800999">
                  <a:extLst>
                    <a:ext uri="{9D8B030D-6E8A-4147-A177-3AD203B41FA5}">
                      <a16:colId xmlns:a16="http://schemas.microsoft.com/office/drawing/2014/main" val="2119413191"/>
                    </a:ext>
                  </a:extLst>
                </a:gridCol>
              </a:tblGrid>
              <a:tr h="322981">
                <a:tc>
                  <a:txBody>
                    <a:bodyPr/>
                    <a:lstStyle/>
                    <a:p>
                      <a:r>
                        <a:rPr lang="el-GR" sz="1050" b="1" kern="1200" spc="-10" noProof="0">
                          <a:solidFill>
                            <a:schemeClr val="tx2"/>
                          </a:solidFill>
                          <a:latin typeface="+mn-lt"/>
                          <a:ea typeface="+mn-ea"/>
                          <a:cs typeface="+mn-cs"/>
                        </a:rPr>
                        <a:t xml:space="preserve">Σχέδιο μετάβασης για τον μετριασμό της κλιματικής αλλαγής </a:t>
                      </a:r>
                      <a:r>
                        <a:rPr lang="el-GR" sz="1050" b="1" kern="1200" spc="-10" noProof="0">
                          <a:solidFill>
                            <a:schemeClr val="tx2"/>
                          </a:solidFill>
                          <a:latin typeface="+mn-lt"/>
                          <a:ea typeface="+mn-ea"/>
                          <a:cs typeface="+mn-cs"/>
                        </a:rPr>
                        <a:t xml:space="preserve"/>
                      </a:r>
                      <a:r>
                        <a:rPr lang="el-GR" sz="1050" b="1" kern="1200" spc="-10" noProof="0">
                          <a:solidFill>
                            <a:schemeClr val="tx2"/>
                          </a:solidFill>
                          <a:latin typeface="+mn-lt"/>
                          <a:ea typeface="+mn-ea"/>
                          <a:cs typeface="+mn-cs"/>
                        </a:rPr>
                        <a:t xml:space="preserve"/>
                      </a:r>
                      <a:r>
                        <a:rPr lang="el-GR" sz="1050" b="0" kern="1200" spc="-10" noProof="0">
                          <a:solidFill>
                            <a:schemeClr val="tx2"/>
                          </a:solidFill>
                          <a:latin typeface="+mn-lt"/>
                          <a:ea typeface="+mn-ea"/>
                          <a:cs typeface="+mn-cs"/>
                        </a:rPr>
                        <a:t xml:space="preserve">(παρ. 54)</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1385506">
                <a:tc>
                  <a:txBody>
                    <a:bodyPr/>
                    <a:lstStyle/>
                    <a:p>
                      <a:pPr algn="l"/>
                      <a:r>
                        <a:rPr lang="el-GR" sz="1050" b="0" noProof="0">
                          <a:solidFill>
                            <a:srgbClr val="1B4528"/>
                          </a:solidFill>
                        </a:rPr>
                        <a:t>{{</a:t>
                      </a:r>
                      <a:r>
                        <a:rPr lang="el-GR" sz="1050" b="0" noProof="0">
                          <a:solidFill>
                            <a:srgbClr val="1B4528"/>
                          </a:solidFill>
                        </a:rPr>
                        <a:t>transition_plan</a:t>
                      </a:r>
                      <a:r>
                        <a:rPr lang="el-GR" sz="1050" b="0" noProof="0">
                          <a:solidFill>
                            <a:srgbClr val="1B4528"/>
                          </a:solidFill>
                        </a:rPr>
                        <a:t>}}</a:t>
                      </a:r>
                    </a:p>
                    <a:p>
                      <a:pPr algn="l"/>
                      <a:endParaRPr lang="el-GR" sz="1050" b="0" noProof="0">
                        <a:solidFill>
                          <a:srgbClr val="1B4528"/>
                        </a:solidFill>
                      </a:endParaRPr>
                    </a:p>
                    <a:p>
                      <a:pPr algn="l"/>
                      <a:endParaRPr lang="el-GR" sz="1050" b="0"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4" name="Tekstfelt 13">
            <a:extLst>
              <a:ext uri="{FF2B5EF4-FFF2-40B4-BE49-F238E27FC236}">
                <a16:creationId xmlns:a16="http://schemas.microsoft.com/office/drawing/2014/main" id="{AC9B8171-ABE2-D159-1C91-356C7C492445}"/>
              </a:ext>
            </a:extLst>
          </p:cNvPr>
          <p:cNvSpPr txBox="1"/>
          <p:nvPr/>
        </p:nvSpPr>
        <p:spPr>
          <a:xfrm>
            <a:off x="445500" y="891000"/>
            <a:ext cx="9801000" cy="404866"/>
          </a:xfrm>
          <a:prstGeom prst="rect">
            <a:avLst/>
          </a:prstGeom>
          <a:noFill/>
        </p:spPr>
        <p:txBody>
          <a:bodyPr wrap="square">
            <a:spAutoFit/>
          </a:bodyPr>
          <a:lstStyle/>
          <a:p>
            <a:pPr rtl="0">
              <a:buNone/>
            </a:pPr>
            <a:r>
              <a:rPr lang="el-GR" sz="1050" b="0" i="0" u="none" strike="noStrike" noProof="0">
                <a:solidFill>
                  <a:schemeClr val="tx2"/>
                </a:solidFill>
                <a:effectLst/>
                <a:latin typeface="Inter"/>
              </a:rPr>
              <a:t xml:space="preserve">Τα κατωτέρω στοιχεία αφορούν το σχέδιο μετάβασης της επιχείρησης για τον μετριασμό της κλιματικής αλλαγής. Η μετάβαση συνδέεται με τους στόχους μείωσης CO₂e της επιχείρησης.</a:t>
            </a:r>
            <a:r>
              <a:rPr lang="el-GR" sz="1050" b="0" i="0" u="none" strike="noStrike" noProof="0">
                <a:solidFill>
                  <a:schemeClr val="tx2"/>
                </a:solidFill>
                <a:effectLst/>
                <a:latin typeface="Inter"/>
              </a:rPr>
              <a:t xml:space="preserve"/>
            </a:r>
            <a:r>
              <a:rPr lang="el-GR" sz="1050" b="0" i="0" u="none" strike="noStrike" noProof="0">
                <a:solidFill>
                  <a:schemeClr val="tx2"/>
                </a:solidFill>
                <a:effectLst/>
                <a:latin typeface="Inter"/>
              </a:rPr>
              <a:t xml:space="preserve"/>
            </a:r>
            <a:r>
              <a:rPr lang="el-GR" sz="1050" b="0" i="0" u="none" strike="noStrike" noProof="0">
                <a:solidFill>
                  <a:schemeClr val="tx2"/>
                </a:solidFill>
                <a:effectLst/>
                <a:latin typeface="Inter"/>
              </a:rPr>
              <a:t xml:space="preserve"/>
            </a:r>
            <a:r>
              <a:rPr lang="el-GR" sz="1050" b="0" i="0" u="none" strike="noStrike" noProof="0">
                <a:solidFill>
                  <a:schemeClr val="tx2"/>
                </a:solidFill>
                <a:effectLst/>
                <a:latin typeface="Inter"/>
              </a:rPr>
              <a:t xml:space="preserve"/>
            </a:r>
          </a:p>
        </p:txBody>
      </p:sp>
      <p:sp>
        <p:nvSpPr>
          <p:cNvPr id="17" name="Tekstfelt 16">
            <a:extLst>
              <a:ext uri="{FF2B5EF4-FFF2-40B4-BE49-F238E27FC236}">
                <a16:creationId xmlns:a16="http://schemas.microsoft.com/office/drawing/2014/main" id="{E9EB0680-18EB-4050-A7F1-10CA34390DC8}"/>
              </a:ext>
            </a:extLst>
          </p:cNvPr>
          <p:cNvSpPr txBox="1"/>
          <p:nvPr/>
        </p:nvSpPr>
        <p:spPr>
          <a:xfrm>
            <a:off x="436211" y="3379961"/>
            <a:ext cx="9800998" cy="242919"/>
          </a:xfrm>
          <a:prstGeom prst="rect">
            <a:avLst/>
          </a:prstGeom>
          <a:noFill/>
        </p:spPr>
        <p:txBody>
          <a:bodyPr wrap="square">
            <a:spAutoFit/>
          </a:bodyPr>
          <a:lstStyle/>
          <a:p>
            <a:pPr rtl="0">
              <a:buNone/>
            </a:pPr>
            <a:r>
              <a:rPr lang="el-GR" sz="1050" b="0" i="0" u="none" strike="noStrike" noProof="0">
                <a:solidFill>
                  <a:schemeClr val="tx2"/>
                </a:solidFill>
                <a:effectLst/>
                <a:latin typeface="Inter"/>
              </a:rPr>
              <a:t xml:space="preserve">Η γνωστοποίηση συμπληρώθηκε επειδή η επιχείρηση ανέφερε ότι θα δρομολογήσει συγκεκριμένο σχέδιο μετάβασης, καθώς και την ημερομηνία υιοθέτησης.</a:t>
            </a:r>
            <a:endParaRPr lang="el-GR" noProof="0">
              <a:solidFill>
                <a:schemeClr val="tx2"/>
              </a:solidFill>
            </a:endParaRPr>
          </a:p>
        </p:txBody>
      </p:sp>
    </p:spTree>
    <p:extLst>
      <p:ext uri="{BB962C8B-B14F-4D97-AF65-F5344CB8AC3E}">
        <p14:creationId xmlns:p14="http://schemas.microsoft.com/office/powerpoint/2010/main" val="5060129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54796" y="450698"/>
            <a:ext cx="9791704" cy="218627"/>
          </a:xfrm>
        </p:spPr>
        <p:txBody>
          <a:bodyPr/>
          <a:lstStyle/>
          <a:p>
            <a:r>
              <a:rPr lang="el-GR" noProof="0"/>
              <a:t xml:space="preserve">Κ</a:t>
            </a:r>
            <a:r>
              <a:rPr lang="el-GR" sz="1575" b="1" noProof="0">
                <a:solidFill>
                  <a:schemeClr val="tx2"/>
                </a:solidFill>
              </a:rPr>
              <a:t xml:space="preserve">λιματικοί κίνδυνοι (C4)</a:t>
            </a:r>
            <a:endParaRPr lang="el-GR"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br>
              <a:rPr lang="el-GR" noProof="0"/>
            </a:br>
            <a:endParaRPr lang="el-GR" noProof="0"/>
          </a:p>
        </p:txBody>
      </p:sp>
      <p:pic>
        <p:nvPicPr>
          <p:cNvPr id="16" name="Graphic 9">
            <a:extLst>
              <a:ext uri="{FF2B5EF4-FFF2-40B4-BE49-F238E27FC236}">
                <a16:creationId xmlns:a16="http://schemas.microsoft.com/office/drawing/2014/main" id="{033648F6-FE58-4D8D-89DB-42FC37C8706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7761" y="3310338"/>
            <a:ext cx="181932" cy="203984"/>
          </a:xfrm>
          <a:prstGeom prst="rect">
            <a:avLst/>
          </a:prstGeom>
        </p:spPr>
      </p:pic>
      <p:pic>
        <p:nvPicPr>
          <p:cNvPr id="9" name="Graphic 9">
            <a:extLst>
              <a:ext uri="{FF2B5EF4-FFF2-40B4-BE49-F238E27FC236}">
                <a16:creationId xmlns:a16="http://schemas.microsoft.com/office/drawing/2014/main" id="{701FC5B6-C71C-4B3D-30F9-DBF0A8F39E1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7761" y="3860770"/>
            <a:ext cx="181932" cy="203984"/>
          </a:xfrm>
          <a:prstGeom prst="rect">
            <a:avLst/>
          </a:prstGeom>
        </p:spPr>
      </p:pic>
      <p:graphicFrame>
        <p:nvGraphicFramePr>
          <p:cNvPr id="13" name="Table 2">
            <a:extLst>
              <a:ext uri="{FF2B5EF4-FFF2-40B4-BE49-F238E27FC236}">
                <a16:creationId xmlns:a16="http://schemas.microsoft.com/office/drawing/2014/main" id="{6B6532BD-8830-D325-3A0A-E3778F929B7C}"/>
              </a:ext>
            </a:extLst>
          </p:cNvPr>
          <p:cNvGraphicFramePr>
            <a:graphicFrameLocks noGrp="1"/>
          </p:cNvGraphicFramePr>
          <p:nvPr>
            <p:extLst>
              <p:ext uri="{D42A27DB-BD31-4B8C-83A1-F6EECF244321}">
                <p14:modId xmlns:p14="http://schemas.microsoft.com/office/powerpoint/2010/main" val="2382858557"/>
              </p:ext>
            </p:extLst>
          </p:nvPr>
        </p:nvGraphicFramePr>
        <p:xfrm>
          <a:off x="454794" y="1359308"/>
          <a:ext cx="9791697" cy="5345579"/>
        </p:xfrm>
        <a:graphic>
          <a:graphicData uri="http://schemas.openxmlformats.org/drawingml/2006/table">
            <a:tbl>
              <a:tblPr firstRow="1">
                <a:tableStyleId>{2A488322-F2BA-4B5B-9748-0D474271808F}</a:tableStyleId>
              </a:tblPr>
              <a:tblGrid>
                <a:gridCol w="1172268">
                  <a:extLst>
                    <a:ext uri="{9D8B030D-6E8A-4147-A177-3AD203B41FA5}">
                      <a16:colId xmlns:a16="http://schemas.microsoft.com/office/drawing/2014/main" val="1904521774"/>
                    </a:ext>
                  </a:extLst>
                </a:gridCol>
                <a:gridCol w="883448">
                  <a:extLst>
                    <a:ext uri="{9D8B030D-6E8A-4147-A177-3AD203B41FA5}">
                      <a16:colId xmlns:a16="http://schemas.microsoft.com/office/drawing/2014/main" val="3691300808"/>
                    </a:ext>
                  </a:extLst>
                </a:gridCol>
                <a:gridCol w="2774041">
                  <a:extLst>
                    <a:ext uri="{9D8B030D-6E8A-4147-A177-3AD203B41FA5}">
                      <a16:colId xmlns:a16="http://schemas.microsoft.com/office/drawing/2014/main" val="1169754581"/>
                    </a:ext>
                  </a:extLst>
                </a:gridCol>
                <a:gridCol w="1504056">
                  <a:extLst>
                    <a:ext uri="{9D8B030D-6E8A-4147-A177-3AD203B41FA5}">
                      <a16:colId xmlns:a16="http://schemas.microsoft.com/office/drawing/2014/main" val="519320573"/>
                    </a:ext>
                  </a:extLst>
                </a:gridCol>
                <a:gridCol w="1376792">
                  <a:extLst>
                    <a:ext uri="{9D8B030D-6E8A-4147-A177-3AD203B41FA5}">
                      <a16:colId xmlns:a16="http://schemas.microsoft.com/office/drawing/2014/main" val="43798019"/>
                    </a:ext>
                  </a:extLst>
                </a:gridCol>
                <a:gridCol w="1064410">
                  <a:extLst>
                    <a:ext uri="{9D8B030D-6E8A-4147-A177-3AD203B41FA5}">
                      <a16:colId xmlns:a16="http://schemas.microsoft.com/office/drawing/2014/main" val="3164053669"/>
                    </a:ext>
                  </a:extLst>
                </a:gridCol>
                <a:gridCol w="1016681">
                  <a:extLst>
                    <a:ext uri="{9D8B030D-6E8A-4147-A177-3AD203B41FA5}">
                      <a16:colId xmlns:a16="http://schemas.microsoft.com/office/drawing/2014/main" val="1484983729"/>
                    </a:ext>
                  </a:extLst>
                </a:gridCol>
              </a:tblGrid>
              <a:tr h="196580">
                <a:tc gridSpan="3">
                  <a:txBody>
                    <a:bodyPr/>
                    <a:lstStyle/>
                    <a:p>
                      <a:r>
                        <a:rPr lang="el-GR" sz="1050" b="0" kern="1200" noProof="0">
                          <a:solidFill>
                            <a:schemeClr val="tx2"/>
                          </a:solidFill>
                          <a:latin typeface="+mn-lt"/>
                          <a:ea typeface="+mn-ea"/>
                          <a:cs typeface="+mn-cs"/>
                        </a:rPr>
                        <a:t xml:space="preserve">(παρ. 56a)</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775" b="1"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gridSpan="2">
                  <a:txBody>
                    <a:bodyPr/>
                    <a:lstStyle/>
                    <a:p>
                      <a:r>
                        <a:rPr lang="el-GR" sz="1050" b="0" kern="1200" noProof="0">
                          <a:solidFill>
                            <a:schemeClr val="tx2"/>
                          </a:solidFill>
                          <a:latin typeface="+mn-lt"/>
                          <a:ea typeface="+mn-ea"/>
                          <a:cs typeface="+mn-cs"/>
                        </a:rPr>
                        <a:t xml:space="preserve">(παρ. 56b)</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775"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r>
                        <a:rPr lang="el-GR" sz="1050" b="0" kern="1200" noProof="0">
                          <a:solidFill>
                            <a:schemeClr val="tx2"/>
                          </a:solidFill>
                          <a:latin typeface="+mn-lt"/>
                          <a:ea typeface="+mn-ea"/>
                          <a:cs typeface="+mn-cs"/>
                        </a:rPr>
                        <a:t xml:space="preserve">(παρ. 56c)</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r>
                        <a:rPr lang="el-GR" sz="1050" b="0" kern="1200" noProof="0">
                          <a:solidFill>
                            <a:schemeClr val="tx2"/>
                          </a:solidFill>
                          <a:latin typeface="+mn-lt"/>
                          <a:ea typeface="+mn-ea"/>
                          <a:cs typeface="+mn-cs"/>
                        </a:rPr>
                        <a:t xml:space="preserve">(παρ. 56d)</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47867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050" b="1" noProof="0">
                          <a:solidFill>
                            <a:schemeClr val="tx2"/>
                          </a:solidFill>
                        </a:rPr>
                        <a:t xml:space="preserve">Κλιματικοί κίνδυνοι</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050" b="1" noProof="0">
                          <a:solidFill>
                            <a:schemeClr val="tx2"/>
                          </a:solidFill>
                        </a:rPr>
                        <a:t xml:space="preserve">Πού</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050" b="1" noProof="0">
                          <a:solidFill>
                            <a:schemeClr val="tx2"/>
                          </a:solidFill>
                        </a:rPr>
                        <a:t xml:space="preserve">Σύντομη περιγραφή κινδύνων</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050" b="1" noProof="0">
                          <a:solidFill>
                            <a:schemeClr val="tx2"/>
                          </a:solidFill>
                        </a:rPr>
                        <a:t xml:space="preserve">Έκθεση </a:t>
                      </a:r>
                    </a:p>
                    <a:p>
                      <a:pPr marL="0" marR="0" lvl="0" indent="0" algn="ctr" defTabSz="914400" rtl="0" eaLnBrk="1" fontAlgn="auto" latinLnBrk="0" hangingPunct="1">
                        <a:lnSpc>
                          <a:spcPct val="100000"/>
                        </a:lnSpc>
                        <a:spcBef>
                          <a:spcPts val="0"/>
                        </a:spcBef>
                        <a:spcAft>
                          <a:spcPts val="0"/>
                        </a:spcAft>
                        <a:buClrTx/>
                        <a:buSzTx/>
                        <a:buFontTx/>
                        <a:buNone/>
                        <a:tabLst/>
                        <a:defRPr/>
                      </a:pPr>
                      <a:r>
                        <a:rPr lang="el-GR" sz="1050" b="0" noProof="0">
                          <a:solidFill>
                            <a:schemeClr val="tx2"/>
                          </a:solidFill>
                        </a:rPr>
                        <a:t xml:space="preserve">(χαμηλή/μέση/υψηλή)</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050" b="1" noProof="0">
                          <a:solidFill>
                            <a:schemeClr val="tx2"/>
                          </a:solidFill>
                        </a:rPr>
                        <a:t xml:space="preserve">Ευαισθησία </a:t>
                      </a:r>
                    </a:p>
                    <a:p>
                      <a:pPr marL="0" marR="0" lvl="0" indent="0" algn="ctr" defTabSz="914400" rtl="0" eaLnBrk="1" fontAlgn="auto" latinLnBrk="0" hangingPunct="1">
                        <a:lnSpc>
                          <a:spcPct val="100000"/>
                        </a:lnSpc>
                        <a:spcBef>
                          <a:spcPts val="0"/>
                        </a:spcBef>
                        <a:spcAft>
                          <a:spcPts val="0"/>
                        </a:spcAft>
                        <a:buClrTx/>
                        <a:buSzTx/>
                        <a:buFontTx/>
                        <a:buNone/>
                        <a:tabLst/>
                        <a:defRPr/>
                      </a:pPr>
                      <a:r>
                        <a:rPr lang="el-GR" sz="1050" b="0" noProof="0">
                          <a:solidFill>
                            <a:schemeClr val="tx2"/>
                          </a:solidFill>
                        </a:rPr>
                        <a:t xml:space="preserve">(χαμηλή/μέση/υψηλή)</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050" b="1" noProof="0">
                          <a:solidFill>
                            <a:schemeClr val="tx2"/>
                          </a:solidFill>
                        </a:rPr>
                        <a:t xml:space="preserve">Χρονικός ορίζοντας </a:t>
                      </a:r>
                    </a:p>
                    <a:p>
                      <a:pPr marL="0" marR="0" lvl="0" indent="0" algn="ctr" defTabSz="914400" rtl="0" eaLnBrk="1" fontAlgn="auto" latinLnBrk="0" hangingPunct="1">
                        <a:lnSpc>
                          <a:spcPct val="100000"/>
                        </a:lnSpc>
                        <a:spcBef>
                          <a:spcPts val="0"/>
                        </a:spcBef>
                        <a:spcAft>
                          <a:spcPts val="0"/>
                        </a:spcAft>
                        <a:buClrTx/>
                        <a:buSzTx/>
                        <a:buFontTx/>
                        <a:buNone/>
                        <a:tabLst/>
                        <a:defRPr/>
                      </a:pPr>
                      <a:r>
                        <a:rPr lang="el-GR" sz="1050" b="0" i="0" noProof="0">
                          <a:solidFill>
                            <a:schemeClr val="tx2"/>
                          </a:solidFill>
                        </a:rPr>
                        <a:t xml:space="preserve">(0-1/2-5/&gt;5 έτη)</a:t>
                      </a:r>
                      <a:endParaRPr lang="el-GR" sz="1050" b="0" i="0" noProof="0"/>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050" b="1" noProof="0">
                          <a:solidFill>
                            <a:schemeClr val="tx2"/>
                          </a:solidFill>
                        </a:rPr>
                        <a:t xml:space="preserve">Προσαρ­μογή </a:t>
                      </a:r>
                      <a:r>
                        <a:rPr lang="el-GR" sz="1050" b="0" noProof="0">
                          <a:solidFill>
                            <a:schemeClr val="tx2"/>
                          </a:solidFill>
                        </a:rPr>
                        <a:t xml:space="preserve">(ΝΑΙ/ΟΧΙ)</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729970087"/>
                  </a:ext>
                </a:extLst>
              </a:tr>
              <a:tr h="337629">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050" b="1" noProof="0">
                          <a:solidFill>
                            <a:schemeClr val="tx2"/>
                          </a:solidFill>
                        </a:rPr>
                        <a:t xml:space="preserve">Χρόνιοι κίνδυνοι</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050" b="0" kern="1200" noProof="0">
                          <a:solidFill>
                            <a:schemeClr val="tx2"/>
                          </a:solidFill>
                          <a:latin typeface="+mn-lt"/>
                          <a:ea typeface="+mn-ea"/>
                          <a:cs typeface="+mn-cs"/>
                        </a:rPr>
                        <a:t xml:space="preserve">Ενεργητικό</a:t>
                      </a:r>
                      <a:endParaRPr lang="el-GR" sz="1050" b="0"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rPr>
                        <a:t>{{chronic_aktiver_description}}</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rPr>
                        <a:t>{{chronic_aktiver_eksponerning}}</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rPr>
                        <a:t>{{chronic_aktiver_sårbarhed}}</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rPr>
                        <a:t>{{chronic_aktiver_time}}</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rPr>
                        <a:t>{{chronic_aktiver_tilpasning}}</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37629">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775" b="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050" b="0" kern="1200" noProof="0">
                          <a:solidFill>
                            <a:schemeClr val="tx2"/>
                          </a:solidFill>
                          <a:latin typeface="+mn-lt"/>
                          <a:ea typeface="+mn-ea"/>
                          <a:cs typeface="+mn-cs"/>
                        </a:rPr>
                        <a:t xml:space="preserve">Δραστηριό­τητες</a:t>
                      </a:r>
                      <a:endParaRPr lang="el-GR" sz="1050" b="0"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rPr>
                        <a:t>{{chronic_aktiveter_description}}</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rPr>
                        <a:t>{{chronic_aktivteter_eksponerning}}</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rPr>
                        <a:t>{{chronic_aktivteter_sårbarhed}}</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rPr>
                        <a:t>{{chronic_aktivteter_time}}</a:t>
                      </a:r>
                      <a:endParaRPr lang="el-GR"/>
                    </a:p>
                    <a:p>
                      <a:pPr lvl="0" algn="ctr">
                        <a:lnSpc>
                          <a:spcPct val="100000"/>
                        </a:lnSpc>
                        <a:spcBef>
                          <a:spcPts val="0"/>
                        </a:spcBef>
                        <a:spcAft>
                          <a:spcPts val="0"/>
                        </a:spcAft>
                        <a:buNone/>
                      </a:pP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rPr>
                        <a:t>{{chronic_aktivteter_tilpasning}}</a:t>
                      </a:r>
                      <a:endParaRPr lang="el-GR"/>
                    </a:p>
                    <a:p>
                      <a:pPr marL="0" marR="0" lvl="0" indent="0" algn="ctr">
                        <a:lnSpc>
                          <a:spcPct val="100000"/>
                        </a:lnSpc>
                        <a:spcBef>
                          <a:spcPts val="0"/>
                        </a:spcBef>
                        <a:spcAft>
                          <a:spcPts val="0"/>
                        </a:spcAft>
                        <a:buClrTx/>
                        <a:buSzTx/>
                        <a:buFontTx/>
                        <a:buNone/>
                      </a:pPr>
                      <a:endParaRPr lang="el-GR" sz="1050" b="0"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94372718"/>
                  </a:ext>
                </a:extLst>
              </a:tr>
              <a:tr h="337629">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775" b="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050" b="0" kern="1200" noProof="0">
                          <a:solidFill>
                            <a:schemeClr val="tx2"/>
                          </a:solidFill>
                          <a:latin typeface="+mn-lt"/>
                          <a:ea typeface="+mn-ea"/>
                          <a:cs typeface="+mn-cs"/>
                        </a:rPr>
                        <a:t xml:space="preserve">Αλυσίδα αξίας</a:t>
                      </a:r>
                      <a:endParaRPr lang="el-GR" sz="1050" b="0"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rPr>
                        <a:t>{{chronic_value_description}}</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rPr>
                        <a:t>{{chronic_value_eksponerning}}</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rPr>
                        <a:t>{{chronic_value_sårbarhed}}</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rPr>
                        <a:t>{{chronic_value_time}}</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rPr>
                        <a:t>{{chronic_value_tilpasning}}</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58144899"/>
                  </a:ext>
                </a:extLst>
              </a:tr>
              <a:tr h="337629">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050" b="1" kern="1200" noProof="0">
                          <a:solidFill>
                            <a:schemeClr val="tx2"/>
                          </a:solidFill>
                          <a:latin typeface="+mn-lt"/>
                          <a:ea typeface="+mn-ea"/>
                          <a:cs typeface="+mn-cs"/>
                        </a:rPr>
                        <a:t xml:space="preserve">Οξείς κίνδυνοι</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050" b="0" kern="1200" noProof="0">
                          <a:solidFill>
                            <a:schemeClr val="tx2"/>
                          </a:solidFill>
                          <a:latin typeface="+mn-lt"/>
                          <a:ea typeface="+mn-ea"/>
                          <a:cs typeface="+mn-cs"/>
                        </a:rPr>
                        <a:t xml:space="preserve">Ενεργητικό</a:t>
                      </a:r>
                      <a:endParaRPr lang="el-GR" sz="1050" b="0"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rPr>
                        <a:t>{{akut_aktiver_description}}</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rPr>
                        <a:t>{{akut_aktiver_eksponering}}</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rPr>
                        <a:t>{{akut_aktiver_sårbarhed}}</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rPr>
                        <a:t>{{akut_aktiver_tidshorisont}}</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rPr>
                        <a:t>{{akut_aktiver_tilpasning}}</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00158845"/>
                  </a:ext>
                </a:extLst>
              </a:tr>
              <a:tr h="337629">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775" b="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050" b="0" kern="1200" noProof="0">
                          <a:solidFill>
                            <a:schemeClr val="tx2"/>
                          </a:solidFill>
                          <a:latin typeface="+mn-lt"/>
                          <a:ea typeface="+mn-ea"/>
                          <a:cs typeface="+mn-cs"/>
                        </a:rPr>
                        <a:t xml:space="preserve">Δραστηριό­τητες</a:t>
                      </a:r>
                      <a:endParaRPr lang="el-GR" sz="1050" b="0"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rPr>
                        <a:t>{{akut_aktiviteter_description}}</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rPr>
                        <a:t>{{akut_aktiviteter_eksponering}}</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rPr>
                        <a:t>{{akut_aktiviteter_sårbarhed}}</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rPr>
                        <a:t>{{akut_aktiviteter_tidshorisont}}</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rPr>
                        <a:t>{{akut_aktiviteter_tilpasning}}</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4281780729"/>
                  </a:ext>
                </a:extLst>
              </a:tr>
              <a:tr h="337629">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775" b="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050" b="0" kern="1200" noProof="0">
                          <a:solidFill>
                            <a:schemeClr val="tx2"/>
                          </a:solidFill>
                          <a:latin typeface="+mn-lt"/>
                          <a:ea typeface="+mn-ea"/>
                          <a:cs typeface="+mn-cs"/>
                        </a:rPr>
                        <a:t xml:space="preserve">Αλυσίδα αξίας</a:t>
                      </a:r>
                      <a:endParaRPr lang="el-GR" sz="1050" b="0"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rPr>
                        <a:t>{{akut_værdikæde_description}}</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rPr>
                        <a:t>{{akut_værdikæde_eksponering}}</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rPr>
                        <a:t>{{akut_værdikæde_sårbarhed}}</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rPr>
                        <a:t>{{akut_værdikæde_tidshorisont}}</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rPr>
                        <a:t>{{akut_værdikæde_tilpasning}}</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4169359558"/>
                  </a:ext>
                </a:extLst>
              </a:tr>
              <a:tr h="337629">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050" b="1" kern="1200" noProof="0">
                          <a:solidFill>
                            <a:schemeClr val="tx2"/>
                          </a:solidFill>
                          <a:latin typeface="+mn-lt"/>
                          <a:ea typeface="+mn-ea"/>
                          <a:cs typeface="+mn-cs"/>
                        </a:rPr>
                        <a:t xml:space="preserve">Γεγονός μετάβασης</a:t>
                      </a:r>
                      <a:endParaRPr lang="el-GR" sz="1050" b="0"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050" b="0" kern="1200" noProof="0">
                          <a:solidFill>
                            <a:schemeClr val="tx2"/>
                          </a:solidFill>
                          <a:latin typeface="+mn-lt"/>
                          <a:ea typeface="+mn-ea"/>
                          <a:cs typeface="+mn-cs"/>
                        </a:rPr>
                        <a:t xml:space="preserve">Ενεργητικό</a:t>
                      </a:r>
                      <a:endParaRPr lang="el-GR" sz="1050" b="0"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rPr>
                        <a:t>{{omstilling_aktiver_description}}</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rPr>
                        <a:t>{{omstilling_aktiver_eksponering}}</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rPr>
                        <a:t>{{omstilling_aktiver_sårbarhed}}</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rPr>
                        <a:t>{{omstilling_aktiver_tidshorisont}}</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rPr>
                        <a:t>{{omstilling_aktiver_tilpasning}}</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47315044"/>
                  </a:ext>
                </a:extLst>
              </a:tr>
              <a:tr h="337629">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775" b="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050" b="0" kern="1200" noProof="0">
                          <a:solidFill>
                            <a:schemeClr val="tx2"/>
                          </a:solidFill>
                          <a:latin typeface="+mn-lt"/>
                          <a:ea typeface="+mn-ea"/>
                          <a:cs typeface="+mn-cs"/>
                        </a:rPr>
                        <a:t xml:space="preserve">Δραστηριό­τητες</a:t>
                      </a:r>
                      <a:endParaRPr lang="el-GR" sz="1050" b="0"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rPr>
                        <a:t>{{omstilling_aktiviteter_description}}</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rPr>
                        <a:t>{{omstilling_aktiviteter_eksponering}}</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rPr>
                        <a:t>{{omstilling_aktiviteter_sårbarhed}}</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rPr>
                        <a:t>{{omstilling_aktiviteter_tidshorisont}}</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rPr>
                        <a:t>{{omstilling_aktiviteter_tilpasning}}</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681005516"/>
                  </a:ext>
                </a:extLst>
              </a:tr>
              <a:tr h="337629">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775" b="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050" b="0" kern="1200" noProof="0">
                          <a:solidFill>
                            <a:schemeClr val="tx2"/>
                          </a:solidFill>
                          <a:latin typeface="+mn-lt"/>
                          <a:ea typeface="+mn-ea"/>
                          <a:cs typeface="+mn-cs"/>
                        </a:rPr>
                        <a:t xml:space="preserve">Αλυσίδα αξίας</a:t>
                      </a:r>
                      <a:endParaRPr lang="el-GR" sz="1050" b="0"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rPr>
                        <a:t>{{omstilling_værdikæde_description}}</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rPr>
                        <a:t>{{omstilling_værdikæde_eksponering}}</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rPr>
                        <a:t>{{omstilling_værdikæde_sårbarhed}}</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rPr>
                        <a:t>{{omstilling_værdikæde_tidshorisont}}</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rPr>
                        <a:t>{{omstilling_værdikæde_tilpasning}}</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065361783"/>
                  </a:ext>
                </a:extLst>
              </a:tr>
            </a:tbl>
          </a:graphicData>
        </a:graphic>
      </p:graphicFrame>
      <p:sp>
        <p:nvSpPr>
          <p:cNvPr id="4" name="Slide Number Placeholder 1">
            <a:extLst>
              <a:ext uri="{FF2B5EF4-FFF2-40B4-BE49-F238E27FC236}">
                <a16:creationId xmlns:a16="http://schemas.microsoft.com/office/drawing/2014/main" id="{1BCA9577-CEBB-E934-0086-6454617DB7C5}"/>
              </a:ext>
              <a:ext uri="{C183D7F6-B498-43B3-948B-1728B52AA6E4}">
                <adec:decorative xmlns:adec="http://schemas.microsoft.com/office/drawing/2017/decorative" val="1"/>
              </a:ext>
            </a:extLst>
          </p:cNvPr>
          <p:cNvSpPr>
            <a:spLocks noGrp="1"/>
          </p:cNvSpPr>
          <p:nvPr>
            <p:ph type="sldNum" sz="quarter" idx="12"/>
          </p:nvPr>
        </p:nvSpPr>
        <p:spPr>
          <a:xfrm>
            <a:off x="8050571" y="7202406"/>
            <a:ext cx="2405700" cy="134955"/>
          </a:xfrm>
        </p:spPr>
        <p:txBody>
          <a:bodyPr/>
          <a:lstStyle/>
          <a:p>
            <a:fld id="{4702451B-F4AF-4B05-87B1-F468C54F2952}" type="slidenum">
              <a:rPr lang="el-GR" dirty="0">
                <a:solidFill>
                  <a:srgbClr val="1B4528">
                    <a:alpha val="70000"/>
                  </a:srgbClr>
                </a:solidFill>
              </a:rPr>
              <a:t>18</a:t>
            </a:fld>
            <a:endParaRPr lang="el-GR" noProof="0">
              <a:solidFill>
                <a:srgbClr val="1B4528">
                  <a:alpha val="70000"/>
                </a:srgbClr>
              </a:solidFill>
            </a:endParaRPr>
          </a:p>
        </p:txBody>
      </p:sp>
      <p:sp>
        <p:nvSpPr>
          <p:cNvPr id="14" name="Tekstfelt 13">
            <a:extLst>
              <a:ext uri="{FF2B5EF4-FFF2-40B4-BE49-F238E27FC236}">
                <a16:creationId xmlns:a16="http://schemas.microsoft.com/office/drawing/2014/main" id="{95516DC4-723D-47D3-815C-1521BE5CD573}"/>
              </a:ext>
            </a:extLst>
          </p:cNvPr>
          <p:cNvSpPr txBox="1"/>
          <p:nvPr/>
        </p:nvSpPr>
        <p:spPr>
          <a:xfrm>
            <a:off x="454796" y="891000"/>
            <a:ext cx="9869667" cy="404866"/>
          </a:xfrm>
          <a:prstGeom prst="rect">
            <a:avLst/>
          </a:prstGeom>
          <a:noFill/>
        </p:spPr>
        <p:txBody>
          <a:bodyPr wrap="square">
            <a:spAutoFit/>
          </a:bodyPr>
          <a:lstStyle/>
          <a:p>
            <a:pPr rtl="0">
              <a:buNone/>
            </a:pPr>
            <a:r>
              <a:rPr lang="el-GR" sz="1050" b="0" i="0" u="none" strike="noStrike" noProof="0">
                <a:solidFill>
                  <a:schemeClr val="tx2"/>
                </a:solidFill>
                <a:effectLst/>
                <a:latin typeface="Inter"/>
              </a:rPr>
              <a:t xml:space="preserve">Η επιχείρηση παρουσίασε επισκόπηση των κλιματικών κινδύνων, με αναφορά στο εάν είναι χρόνιοι, οξείς ή σχετικοί με τη μετάβαση και στο πού εντοπίζονται (ενεργητικό, δραστηριότητες ή αλυσίδα αξίας). </a:t>
            </a:r>
            <a:endParaRPr lang="el-GR" sz="1050" noProof="0">
              <a:solidFill>
                <a:schemeClr val="tx2"/>
              </a:solidFill>
              <a:latin typeface="Inter"/>
            </a:endParaRPr>
          </a:p>
        </p:txBody>
      </p:sp>
    </p:spTree>
    <p:extLst>
      <p:ext uri="{BB962C8B-B14F-4D97-AF65-F5344CB8AC3E}">
        <p14:creationId xmlns:p14="http://schemas.microsoft.com/office/powerpoint/2010/main" val="11687187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54796" y="450698"/>
            <a:ext cx="9791704" cy="218627"/>
          </a:xfrm>
        </p:spPr>
        <p:txBody>
          <a:bodyPr/>
          <a:lstStyle/>
          <a:p>
            <a:r>
              <a:rPr lang="el-GR" noProof="0"/>
              <a:t xml:space="preserve">Κ</a:t>
            </a:r>
            <a:r>
              <a:rPr lang="el-GR" sz="1575" b="1" noProof="0">
                <a:solidFill>
                  <a:schemeClr val="tx2"/>
                </a:solidFill>
              </a:rPr>
              <a:t xml:space="preserve">λιματικοί κίνδυνοι (C4) - συνέχεια</a:t>
            </a:r>
            <a:endParaRPr lang="el-GR"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19</a:t>
            </a:fld>
            <a:endParaRPr lang="el-GR"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br>
              <a:rPr lang="el-GR" noProof="0"/>
            </a:br>
            <a:endParaRPr lang="el-GR" noProof="0"/>
          </a:p>
        </p:txBody>
      </p:sp>
      <p:graphicFrame>
        <p:nvGraphicFramePr>
          <p:cNvPr id="6" name="Table 2">
            <a:extLst>
              <a:ext uri="{FF2B5EF4-FFF2-40B4-BE49-F238E27FC236}">
                <a16:creationId xmlns:a16="http://schemas.microsoft.com/office/drawing/2014/main" id="{EF97A137-22B1-3AE3-C34C-FFADFEC612CC}"/>
              </a:ext>
            </a:extLst>
          </p:cNvPr>
          <p:cNvGraphicFramePr>
            <a:graphicFrameLocks noGrp="1"/>
          </p:cNvGraphicFramePr>
          <p:nvPr>
            <p:extLst>
              <p:ext uri="{D42A27DB-BD31-4B8C-83A1-F6EECF244321}">
                <p14:modId xmlns:p14="http://schemas.microsoft.com/office/powerpoint/2010/main" val="2591302557"/>
              </p:ext>
            </p:extLst>
          </p:nvPr>
        </p:nvGraphicFramePr>
        <p:xfrm>
          <a:off x="437364" y="1339390"/>
          <a:ext cx="9791703" cy="2991024"/>
        </p:xfrm>
        <a:graphic>
          <a:graphicData uri="http://schemas.openxmlformats.org/drawingml/2006/table">
            <a:tbl>
              <a:tblPr firstRow="1">
                <a:tableStyleId>{2A488322-F2BA-4B5B-9748-0D474271808F}</a:tableStyleId>
              </a:tblPr>
              <a:tblGrid>
                <a:gridCol w="2489656">
                  <a:extLst>
                    <a:ext uri="{9D8B030D-6E8A-4147-A177-3AD203B41FA5}">
                      <a16:colId xmlns:a16="http://schemas.microsoft.com/office/drawing/2014/main" val="1904521774"/>
                    </a:ext>
                  </a:extLst>
                </a:gridCol>
                <a:gridCol w="4645737">
                  <a:extLst>
                    <a:ext uri="{9D8B030D-6E8A-4147-A177-3AD203B41FA5}">
                      <a16:colId xmlns:a16="http://schemas.microsoft.com/office/drawing/2014/main" val="3164053669"/>
                    </a:ext>
                  </a:extLst>
                </a:gridCol>
                <a:gridCol w="1434641">
                  <a:extLst>
                    <a:ext uri="{9D8B030D-6E8A-4147-A177-3AD203B41FA5}">
                      <a16:colId xmlns:a16="http://schemas.microsoft.com/office/drawing/2014/main" val="1263457420"/>
                    </a:ext>
                  </a:extLst>
                </a:gridCol>
                <a:gridCol w="1221670">
                  <a:extLst>
                    <a:ext uri="{9D8B030D-6E8A-4147-A177-3AD203B41FA5}">
                      <a16:colId xmlns:a16="http://schemas.microsoft.com/office/drawing/2014/main" val="1484983729"/>
                    </a:ext>
                  </a:extLst>
                </a:gridCol>
              </a:tblGrid>
              <a:tr h="153574">
                <a:tc gridSpan="4">
                  <a:txBody>
                    <a:bodyPr/>
                    <a:lstStyle/>
                    <a:p>
                      <a:r>
                        <a:rPr lang="el-GR" sz="1050" b="0" kern="1200" noProof="0">
                          <a:solidFill>
                            <a:schemeClr val="tx2"/>
                          </a:solidFill>
                          <a:latin typeface="+mn-lt"/>
                          <a:ea typeface="+mn-ea"/>
                          <a:cs typeface="+mn-cs"/>
                        </a:rPr>
                        <a:t xml:space="preserve">(παρ. 57)</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775" b="0" kern="1200">
                        <a:solidFill>
                          <a:schemeClr val="tx2"/>
                        </a:solidFill>
                        <a:latin typeface="+mn-lt"/>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775" b="0" i="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806123079"/>
                  </a:ext>
                </a:extLst>
              </a:tr>
              <a:tr h="34040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1050" b="1"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050" b="1" noProof="0">
                          <a:solidFill>
                            <a:schemeClr val="tx2"/>
                          </a:solidFill>
                        </a:rPr>
                        <a:t xml:space="preserve">Πιθανή αρνητική </a:t>
                      </a:r>
                      <a:r>
                        <a:rPr lang="el-GR" sz="1050" b="1" kern="1200" noProof="0">
                          <a:solidFill>
                            <a:schemeClr val="tx2"/>
                          </a:solidFill>
                          <a:latin typeface="+mn-lt"/>
                          <a:ea typeface="+mn-ea"/>
                          <a:cs typeface="+mn-cs"/>
                        </a:rPr>
                        <a:t xml:space="preserve">επίπτωση στη χρηματοοικονομική επίδοση και τη λειτουργία της επιχείρησης </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050" b="1" kern="1200" noProof="0">
                          <a:solidFill>
                            <a:schemeClr val="tx2"/>
                          </a:solidFill>
                          <a:latin typeface="+mn-lt"/>
                          <a:ea typeface="+mn-ea"/>
                          <a:cs typeface="+mn-cs"/>
                        </a:rPr>
                        <a:t xml:space="preserve">Χρηματοοικονομικός κίνδυνος</a:t>
                      </a:r>
                    </a:p>
                    <a:p>
                      <a:pPr marL="0" marR="0" lvl="0" indent="0" algn="ctr" defTabSz="914400" rtl="0" eaLnBrk="1" fontAlgn="auto" latinLnBrk="0" hangingPunct="1">
                        <a:lnSpc>
                          <a:spcPct val="100000"/>
                        </a:lnSpc>
                        <a:spcBef>
                          <a:spcPts val="0"/>
                        </a:spcBef>
                        <a:spcAft>
                          <a:spcPts val="0"/>
                        </a:spcAft>
                        <a:buClrTx/>
                        <a:buSzTx/>
                        <a:buFontTx/>
                        <a:buNone/>
                        <a:tabLst/>
                        <a:defRPr/>
                      </a:pPr>
                      <a:r>
                        <a:rPr lang="el-GR" sz="1050" b="0" kern="1200" noProof="0">
                          <a:solidFill>
                            <a:schemeClr val="tx2"/>
                          </a:solidFill>
                          <a:latin typeface="+mn-lt"/>
                          <a:ea typeface="+mn-ea"/>
                          <a:cs typeface="+mn-cs"/>
                        </a:rPr>
                        <a:t xml:space="preserve">(χαμηλός/μέσος/υψηλός)</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050" b="1" noProof="0">
                          <a:solidFill>
                            <a:schemeClr val="tx2"/>
                          </a:solidFill>
                        </a:rPr>
                        <a:t xml:space="preserve">Χρονικός ορίζοντας</a:t>
                      </a:r>
                    </a:p>
                    <a:p>
                      <a:pPr marL="0" marR="0" lvl="0" indent="0" algn="ctr" defTabSz="914400" rtl="0" eaLnBrk="1" fontAlgn="auto" latinLnBrk="0" hangingPunct="1">
                        <a:lnSpc>
                          <a:spcPct val="100000"/>
                        </a:lnSpc>
                        <a:spcBef>
                          <a:spcPts val="0"/>
                        </a:spcBef>
                        <a:spcAft>
                          <a:spcPts val="0"/>
                        </a:spcAft>
                        <a:buClrTx/>
                        <a:buSzTx/>
                        <a:buFontTx/>
                        <a:buNone/>
                        <a:tabLst/>
                        <a:defRPr/>
                      </a:pPr>
                      <a:r>
                        <a:rPr lang="el-GR" sz="1050" b="0" i="0" noProof="0">
                          <a:solidFill>
                            <a:schemeClr val="tx2"/>
                          </a:solidFill>
                        </a:rPr>
                        <a:t xml:space="preserve">(0-1/2-5/&gt;5 έτη)</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2090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050" b="1" kern="1200" noProof="0">
                          <a:solidFill>
                            <a:schemeClr val="tx2"/>
                          </a:solidFill>
                          <a:latin typeface="+mn-lt"/>
                          <a:ea typeface="+mn-ea"/>
                          <a:cs typeface="+mn-cs"/>
                        </a:rPr>
                        <a:t xml:space="preserve">Χρόνιοι κίνδυνοι</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1050" b="0"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1050" b="0"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1050" b="0"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074311986"/>
                  </a:ext>
                </a:extLst>
              </a:tr>
              <a:tr h="209067">
                <a:tc>
                  <a:txBody>
                    <a:bodyPr/>
                    <a:lstStyle/>
                    <a:p>
                      <a:pPr lvl="0" algn="l">
                        <a:lnSpc>
                          <a:spcPct val="100000"/>
                        </a:lnSpc>
                        <a:spcBef>
                          <a:spcPts val="0"/>
                        </a:spcBef>
                        <a:spcAft>
                          <a:spcPts val="0"/>
                        </a:spcAft>
                        <a:buNone/>
                      </a:pPr>
                      <a:r>
                        <a:rPr lang="el-GR" sz="1050" b="0" i="0" u="none" strike="noStrike" noProof="0">
                          <a:solidFill>
                            <a:srgbClr val="1B4528"/>
                          </a:solidFill>
                        </a:rPr>
                        <a:t>{{chronic_hazards}}</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rPr>
                        <a:t>{{chronic connection financial </a:t>
                      </a:r>
                      <a:r>
                        <a:rPr lang="el-GR" sz="1050" b="0" i="0" u="none" strike="noStrike" noProof="0">
                          <a:solidFill>
                            <a:srgbClr val="1B4528"/>
                          </a:solidFill>
                          <a:latin typeface="IBM Plex Sans"/>
                          <a:ea typeface="+mn-ea"/>
                          <a:cs typeface="+mn-cs"/>
                        </a:rPr>
                        <a:t>and operations}}</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rPr>
                        <a:t>{{chronic_financial_risk}}</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rPr>
                        <a:t>{{chronic_time_horizon}}</a:t>
                      </a:r>
                      <a:endParaRPr lang="el-GR"/>
                    </a:p>
                    <a:p>
                      <a:pPr marL="0" marR="0" lvl="0" indent="0" algn="ctr" defTabSz="914400">
                        <a:lnSpc>
                          <a:spcPct val="100000"/>
                        </a:lnSpc>
                        <a:spcBef>
                          <a:spcPts val="0"/>
                        </a:spcBef>
                        <a:spcAft>
                          <a:spcPts val="0"/>
                        </a:spcAft>
                        <a:buClrTx/>
                        <a:buSzTx/>
                        <a:buFontTx/>
                        <a:buNone/>
                        <a:tabLst/>
                        <a:defRPr/>
                      </a:pPr>
                      <a:endParaRPr lang="el-GR" sz="1050" b="0"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737070102"/>
                  </a:ext>
                </a:extLst>
              </a:tr>
              <a:tr h="2090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050" b="1" kern="1200" noProof="0">
                          <a:solidFill>
                            <a:schemeClr val="tx2"/>
                          </a:solidFill>
                          <a:latin typeface="+mn-lt"/>
                          <a:ea typeface="+mn-ea"/>
                          <a:cs typeface="+mn-cs"/>
                        </a:rPr>
                        <a:t xml:space="preserve">Οξείς κίνδυνοι</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1050" b="0"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1050" b="0"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1050" b="0"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48636619"/>
                  </a:ext>
                </a:extLst>
              </a:tr>
              <a:tr h="209067">
                <a:tc>
                  <a:txBody>
                    <a:bodyPr/>
                    <a:lstStyle/>
                    <a:p>
                      <a:pPr lvl="0" algn="l">
                        <a:lnSpc>
                          <a:spcPct val="100000"/>
                        </a:lnSpc>
                        <a:spcBef>
                          <a:spcPts val="0"/>
                        </a:spcBef>
                        <a:spcAft>
                          <a:spcPts val="0"/>
                        </a:spcAft>
                        <a:buNone/>
                      </a:pPr>
                      <a:r>
                        <a:rPr lang="el-GR" sz="1050" b="0" i="0" u="none" strike="noStrike" noProof="0">
                          <a:solidFill>
                            <a:srgbClr val="1B4528"/>
                          </a:solidFill>
                        </a:rPr>
                        <a:t>{{acute_hazards}}</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rPr>
                        <a:t>{{acute connection </a:t>
                      </a:r>
                      <a:r>
                        <a:rPr lang="el-GR" sz="1050" b="0" i="0" u="none" strike="noStrike" noProof="0">
                          <a:solidFill>
                            <a:srgbClr val="1B4528"/>
                          </a:solidFill>
                          <a:latin typeface="IBM Plex Sans"/>
                          <a:ea typeface="+mn-ea"/>
                          <a:cs typeface="+mn-cs"/>
                        </a:rPr>
                        <a:t>financial and operations}}</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rPr>
                        <a:t>{{acute_financial_risk}}</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rPr>
                        <a:t>{{acute_time_horizon}}</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23552898"/>
                  </a:ext>
                </a:extLst>
              </a:tr>
              <a:tr h="2090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050" b="1" kern="1200" noProof="0">
                          <a:solidFill>
                            <a:schemeClr val="tx2"/>
                          </a:solidFill>
                          <a:latin typeface="+mn-lt"/>
                          <a:ea typeface="+mn-ea"/>
                          <a:cs typeface="+mn-cs"/>
                        </a:rPr>
                        <a:t xml:space="preserve">Κίνδυνοι μετάβασης</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1050" b="0"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1050" b="0"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1050" b="0"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670555600"/>
                  </a:ext>
                </a:extLst>
              </a:tr>
              <a:tr h="209067">
                <a:tc>
                  <a:txBody>
                    <a:bodyPr/>
                    <a:lstStyle/>
                    <a:p>
                      <a:pPr lvl="0" algn="l">
                        <a:lnSpc>
                          <a:spcPct val="100000"/>
                        </a:lnSpc>
                        <a:spcBef>
                          <a:spcPts val="0"/>
                        </a:spcBef>
                        <a:spcAft>
                          <a:spcPts val="0"/>
                        </a:spcAft>
                        <a:buNone/>
                      </a:pPr>
                      <a:r>
                        <a:rPr lang="el-GR" sz="1050" b="0" i="0" u="none" strike="noStrike" noProof="0">
                          <a:solidFill>
                            <a:srgbClr val="1B4528"/>
                          </a:solidFill>
                        </a:rPr>
                        <a:t>{{climate_related}}</a:t>
                      </a:r>
                      <a:endParaRPr lang="el-GR"/>
                    </a:p>
                    <a:p>
                      <a:pPr lvl="0" algn="l">
                        <a:lnSpc>
                          <a:spcPct val="100000"/>
                        </a:lnSpc>
                        <a:spcBef>
                          <a:spcPts val="0"/>
                        </a:spcBef>
                        <a:spcAft>
                          <a:spcPts val="0"/>
                        </a:spcAft>
                        <a:buNone/>
                      </a:pPr>
                      <a:endParaRPr lang="el-GR" sz="1050" b="0" i="0" u="none" strike="noStrike" noProof="0">
                        <a:solidFill>
                          <a:srgbClr val="1B4528"/>
                        </a:solidFill>
                        <a:latin typeface="IBM Plex San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rPr>
                        <a:t>{{climate connection financial </a:t>
                      </a:r>
                      <a:r>
                        <a:rPr lang="el-GR" sz="1050" b="0" i="0" u="none" strike="noStrike" noProof="0">
                          <a:solidFill>
                            <a:srgbClr val="1B4528"/>
                          </a:solidFill>
                          <a:latin typeface="IBM Plex Sans"/>
                          <a:ea typeface="+mn-ea"/>
                          <a:cs typeface="+mn-cs"/>
                        </a:rPr>
                        <a:t>and operations}}</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rPr>
                        <a:t>{{climate_related_risk}}</a:t>
                      </a:r>
                      <a:endParaRPr lang="el-GR"/>
                    </a:p>
                    <a:p>
                      <a:pPr lvl="0" algn="ctr">
                        <a:lnSpc>
                          <a:spcPct val="100000"/>
                        </a:lnSpc>
                        <a:spcBef>
                          <a:spcPts val="0"/>
                        </a:spcBef>
                        <a:spcAft>
                          <a:spcPts val="0"/>
                        </a:spcAft>
                        <a:buNone/>
                      </a:pP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rPr>
                        <a:t>{{climate_time_horizon}}</a:t>
                      </a:r>
                      <a:endParaRPr lang="el-GR"/>
                    </a:p>
                    <a:p>
                      <a:pPr marL="0" marR="0" lvl="0" indent="0" algn="ctr" defTabSz="914400">
                        <a:lnSpc>
                          <a:spcPct val="100000"/>
                        </a:lnSpc>
                        <a:spcBef>
                          <a:spcPts val="0"/>
                        </a:spcBef>
                        <a:spcAft>
                          <a:spcPts val="0"/>
                        </a:spcAft>
                        <a:buClrTx/>
                        <a:buSzTx/>
                        <a:buFontTx/>
                        <a:buNone/>
                        <a:tabLst/>
                        <a:defRPr/>
                      </a:pPr>
                      <a:endParaRPr lang="el-GR" sz="1050" b="0"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6258133"/>
                  </a:ext>
                </a:extLst>
              </a:tr>
            </a:tbl>
          </a:graphicData>
        </a:graphic>
      </p:graphicFrame>
      <p:sp>
        <p:nvSpPr>
          <p:cNvPr id="9" name="Tekstfelt 8">
            <a:extLst>
              <a:ext uri="{FF2B5EF4-FFF2-40B4-BE49-F238E27FC236}">
                <a16:creationId xmlns:a16="http://schemas.microsoft.com/office/drawing/2014/main" id="{9077FE99-B8D2-4CF3-47CF-D201C45554CD}"/>
              </a:ext>
            </a:extLst>
          </p:cNvPr>
          <p:cNvSpPr txBox="1"/>
          <p:nvPr/>
        </p:nvSpPr>
        <p:spPr>
          <a:xfrm>
            <a:off x="454796" y="891000"/>
            <a:ext cx="9869667" cy="404866"/>
          </a:xfrm>
          <a:prstGeom prst="rect">
            <a:avLst/>
          </a:prstGeom>
          <a:noFill/>
        </p:spPr>
        <p:txBody>
          <a:bodyPr wrap="square">
            <a:spAutoFit/>
          </a:bodyPr>
          <a:lstStyle/>
          <a:p>
            <a:pPr rtl="0">
              <a:buNone/>
            </a:pPr>
            <a:r>
              <a:rPr lang="el-GR" sz="1050" b="0" i="0" u="none" strike="noStrike" noProof="0">
                <a:solidFill>
                  <a:schemeClr val="tx2"/>
                </a:solidFill>
                <a:effectLst/>
                <a:latin typeface="Inter"/>
              </a:rPr>
              <a:t xml:space="preserve">Η επιχείρηση παρουσίασε επισκόπηση των κλιματικών κινδύνων, με αναφορά στο εάν είναι χρόνιοι, οξείς ή σχετικοί με τη μετάβαση και εάν μπορούν να επηρεάσουν αρνητικά τη χρηματοοικονομική επίδοση και τη λειτουργία της.</a:t>
            </a:r>
            <a:endParaRPr lang="el-GR" sz="1050" noProof="0">
              <a:solidFill>
                <a:schemeClr val="tx2"/>
              </a:solidFill>
              <a:latin typeface="Inter"/>
            </a:endParaRPr>
          </a:p>
        </p:txBody>
      </p:sp>
    </p:spTree>
    <p:extLst>
      <p:ext uri="{BB962C8B-B14F-4D97-AF65-F5344CB8AC3E}">
        <p14:creationId xmlns:p14="http://schemas.microsoft.com/office/powerpoint/2010/main" val="40019431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54796" y="450698"/>
            <a:ext cx="9791704" cy="218627"/>
          </a:xfrm>
        </p:spPr>
        <p:txBody>
          <a:bodyPr/>
          <a:lstStyle/>
          <a:p>
            <a:r>
              <a:rPr lang="el-GR" sz="1575" b="1" i="0" u="none" strike="noStrike" kern="1200" spc="-10" noProof="0">
                <a:solidFill>
                  <a:srgbClr val="1B4528"/>
                </a:solidFill>
              </a:rPr>
              <a:t xml:space="preserve">Πρόσθετα (γενικά) χαρακτηριστικά του εργατικού δυναμικού (C5)</a:t>
            </a:r>
            <a:endParaRPr lang="el-GR" noProof="0"/>
          </a:p>
        </p:txBody>
      </p:sp>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20</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br>
              <a:rPr lang="el-GR" noProof="0"/>
            </a:br>
            <a:endParaRPr lang="el-GR" noProof="0"/>
          </a:p>
        </p:txBody>
      </p:sp>
      <p:graphicFrame>
        <p:nvGraphicFramePr>
          <p:cNvPr id="8" name="Table 7">
            <a:extLst>
              <a:ext uri="{FF2B5EF4-FFF2-40B4-BE49-F238E27FC236}">
                <a16:creationId xmlns:a16="http://schemas.microsoft.com/office/drawing/2014/main" id="{93255C96-A783-191D-6874-59444594070E}"/>
              </a:ext>
            </a:extLst>
          </p:cNvPr>
          <p:cNvGraphicFramePr>
            <a:graphicFrameLocks noGrp="1"/>
          </p:cNvGraphicFramePr>
          <p:nvPr>
            <p:extLst>
              <p:ext uri="{D42A27DB-BD31-4B8C-83A1-F6EECF244321}">
                <p14:modId xmlns:p14="http://schemas.microsoft.com/office/powerpoint/2010/main" val="2495306731"/>
              </p:ext>
            </p:extLst>
          </p:nvPr>
        </p:nvGraphicFramePr>
        <p:xfrm>
          <a:off x="5469788" y="1447652"/>
          <a:ext cx="4776712" cy="755444"/>
        </p:xfrm>
        <a:graphic>
          <a:graphicData uri="http://schemas.openxmlformats.org/drawingml/2006/table">
            <a:tbl>
              <a:tblPr firstRow="1">
                <a:tableStyleId>{2A488322-F2BA-4B5B-9748-0D474271808F}</a:tableStyleId>
              </a:tblPr>
              <a:tblGrid>
                <a:gridCol w="3708472">
                  <a:extLst>
                    <a:ext uri="{9D8B030D-6E8A-4147-A177-3AD203B41FA5}">
                      <a16:colId xmlns:a16="http://schemas.microsoft.com/office/drawing/2014/main" val="2698153288"/>
                    </a:ext>
                  </a:extLst>
                </a:gridCol>
                <a:gridCol w="1068240">
                  <a:extLst>
                    <a:ext uri="{9D8B030D-6E8A-4147-A177-3AD203B41FA5}">
                      <a16:colId xmlns:a16="http://schemas.microsoft.com/office/drawing/2014/main" val="2119413191"/>
                    </a:ext>
                  </a:extLst>
                </a:gridCol>
              </a:tblGrid>
              <a:tr h="377722">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050" b="1" i="0" noProof="0">
                          <a:solidFill>
                            <a:schemeClr val="tx2"/>
                          </a:solidFill>
                        </a:rPr>
                        <a:t xml:space="preserve">Αναλογία γυναικών προς άνδρες σε διοικητικές θέσεις </a:t>
                      </a:r>
                      <a:r>
                        <a:rPr lang="el-GR" sz="1050" b="0" i="0" noProof="0">
                          <a:solidFill>
                            <a:schemeClr val="tx2"/>
                          </a:solidFill>
                        </a:rPr>
                        <a:t xml:space="preserve">(παρ. 59)</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1050" b="1" i="0" u="none" strike="noStrike" noProof="0">
                          <a:solidFill>
                            <a:srgbClr val="1B4528"/>
                          </a:solidFill>
                          <a:effectLst/>
                          <a:latin typeface="IBM Plex Sans" panose="020B0503050203000203" pitchFamily="34" charset="0"/>
                        </a:rPr>
                        <a:t xml:space="preserve">Έτος </a:t>
                      </a:r>
                      <a:r>
                        <a:rPr lang="el-GR" sz="1050" b="1" i="0" u="none" strike="noStrike" noProof="0">
                          <a:solidFill>
                            <a:srgbClr val="1B4528"/>
                          </a:solidFill>
                          <a:effectLst/>
                          <a:latin typeface="IBM Plex Sans" panose="020B0503050203000203" pitchFamily="34" charset="0"/>
                        </a:rPr>
                        <a:t>{{</a:t>
                      </a:r>
                      <a:r>
                        <a:rPr lang="el-GR" sz="1050" b="1" i="0" u="none" strike="noStrike" noProof="0">
                          <a:solidFill>
                            <a:srgbClr val="1B4528"/>
                          </a:solidFill>
                          <a:effectLst/>
                          <a:latin typeface="IBM Plex Sans" panose="020B0503050203000203" pitchFamily="34" charset="0"/>
                        </a:rPr>
                        <a:t>Insert</a:t>
                      </a:r>
                      <a:r>
                        <a:rPr lang="el-GR" sz="1050" b="1" i="0" u="none" strike="noStrike" noProof="0">
                          <a:solidFill>
                            <a:srgbClr val="1B4528"/>
                          </a:solidFill>
                          <a:effectLst/>
                          <a:latin typeface="IBM Plex Sans" panose="020B0503050203000203" pitchFamily="34" charset="0"/>
                        </a:rPr>
                        <a:t> </a:t>
                      </a:r>
                      <a:r>
                        <a:rPr lang="el-GR" sz="1050" b="1" i="0" u="none" strike="noStrike" noProof="0">
                          <a:solidFill>
                            <a:srgbClr val="1B4528"/>
                          </a:solidFill>
                          <a:effectLst/>
                          <a:latin typeface="IBM Plex Sans" panose="020B0503050203000203" pitchFamily="34" charset="0"/>
                        </a:rPr>
                        <a:t>year</a:t>
                      </a:r>
                      <a:r>
                        <a:rPr lang="el-GR" sz="1050" b="1" i="0" u="none" strike="noStrike" noProof="0">
                          <a:solidFill>
                            <a:srgbClr val="1B4528"/>
                          </a:solidFill>
                          <a:effectLst/>
                          <a:latin typeface="IBM Plex Sans" panose="020B0503050203000203" pitchFamily="34" charset="0"/>
                        </a:rPr>
                        <a:t>}}</a:t>
                      </a:r>
                      <a:endParaRPr lang="el-GR" sz="1050" noProof="0">
                        <a:effectLst/>
                      </a:endParaRPr>
                    </a:p>
                  </a:txBody>
                  <a:tcPr marL="33412" marR="33412"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77722">
                <a:tc vMerge="1">
                  <a:txBody>
                    <a:bodyPr/>
                    <a:lstStyle/>
                    <a:p>
                      <a:endParaRPr lang="el-GR" sz="775" b="0" noProof="0">
                        <a:solidFill>
                          <a:schemeClr val="tx2"/>
                        </a:solidFill>
                      </a:endParaRP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1050" b="0" i="0" u="none" strike="noStrike" noProof="0">
                          <a:solidFill>
                            <a:srgbClr val="1B4528"/>
                          </a:solidFill>
                          <a:effectLst/>
                          <a:latin typeface="IBM Plex Sans" panose="020B0503050203000203" pitchFamily="34" charset="0"/>
                        </a:rPr>
                        <a:t>{{</a:t>
                      </a:r>
                      <a:r>
                        <a:rPr lang="el-GR" sz="1050" b="0" i="0" u="none" strike="noStrike" noProof="0">
                          <a:solidFill>
                            <a:srgbClr val="1B4528"/>
                          </a:solidFill>
                          <a:effectLst/>
                          <a:latin typeface="IBM Plex Sans" panose="020B0503050203000203" pitchFamily="34" charset="0"/>
                        </a:rPr>
                        <a:t>gender_balance</a:t>
                      </a:r>
                      <a:r>
                        <a:rPr lang="el-GR" sz="1050" b="0" i="0" u="none" strike="noStrike" noProof="0">
                          <a:solidFill>
                            <a:srgbClr val="1B4528"/>
                          </a:solidFill>
                          <a:effectLst/>
                          <a:latin typeface="IBM Plex Sans" panose="020B0503050203000203" pitchFamily="34" charset="0"/>
                        </a:rPr>
                        <a:t>}}</a:t>
                      </a:r>
                      <a:endParaRPr lang="el-GR" sz="1050" noProof="0">
                        <a:effectLst/>
                      </a:endParaRPr>
                    </a:p>
                  </a:txBody>
                  <a:tcPr marL="33412" marR="33412"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graphicFrame>
        <p:nvGraphicFramePr>
          <p:cNvPr id="2" name="Table 7">
            <a:extLst>
              <a:ext uri="{FF2B5EF4-FFF2-40B4-BE49-F238E27FC236}">
                <a16:creationId xmlns:a16="http://schemas.microsoft.com/office/drawing/2014/main" id="{69535A26-01A9-A0FA-67C0-F2DDC3A1A436}"/>
              </a:ext>
            </a:extLst>
          </p:cNvPr>
          <p:cNvGraphicFramePr>
            <a:graphicFrameLocks noGrp="1"/>
          </p:cNvGraphicFramePr>
          <p:nvPr>
            <p:extLst>
              <p:ext uri="{D42A27DB-BD31-4B8C-83A1-F6EECF244321}">
                <p14:modId xmlns:p14="http://schemas.microsoft.com/office/powerpoint/2010/main" val="2131584882"/>
              </p:ext>
            </p:extLst>
          </p:nvPr>
        </p:nvGraphicFramePr>
        <p:xfrm>
          <a:off x="443203" y="1447652"/>
          <a:ext cx="4776712" cy="737161"/>
        </p:xfrm>
        <a:graphic>
          <a:graphicData uri="http://schemas.openxmlformats.org/drawingml/2006/table">
            <a:tbl>
              <a:tblPr firstRow="1">
                <a:tableStyleId>{2A488322-F2BA-4B5B-9748-0D474271808F}</a:tableStyleId>
              </a:tblPr>
              <a:tblGrid>
                <a:gridCol w="3708472">
                  <a:extLst>
                    <a:ext uri="{9D8B030D-6E8A-4147-A177-3AD203B41FA5}">
                      <a16:colId xmlns:a16="http://schemas.microsoft.com/office/drawing/2014/main" val="2698153288"/>
                    </a:ext>
                  </a:extLst>
                </a:gridCol>
                <a:gridCol w="1068240">
                  <a:extLst>
                    <a:ext uri="{9D8B030D-6E8A-4147-A177-3AD203B41FA5}">
                      <a16:colId xmlns:a16="http://schemas.microsoft.com/office/drawing/2014/main" val="2119413191"/>
                    </a:ext>
                  </a:extLst>
                </a:gridCol>
              </a:tblGrid>
              <a:tr h="36858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050" b="1" i="0" noProof="0">
                          <a:solidFill>
                            <a:schemeClr val="tx2"/>
                          </a:solidFill>
                        </a:rPr>
                        <a:t xml:space="preserve">Κινητικότητα εργαζομένων στο έτος αναφοράς </a:t>
                      </a:r>
                      <a:r>
                        <a:rPr lang="el-GR" sz="1050" b="0" i="0" noProof="0">
                          <a:solidFill>
                            <a:schemeClr val="tx2"/>
                          </a:solidFill>
                        </a:rPr>
                        <a:t xml:space="preserve">(παρ. 58)</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1050" b="1" i="0" u="none" strike="noStrike" noProof="0">
                          <a:solidFill>
                            <a:srgbClr val="1B4528"/>
                          </a:solidFill>
                          <a:effectLst/>
                          <a:latin typeface="IBM Plex Sans" panose="020B0503050203000203" pitchFamily="34" charset="0"/>
                        </a:rPr>
                        <a:t xml:space="preserve">Έτος </a:t>
                      </a:r>
                      <a:r>
                        <a:rPr lang="el-GR" sz="1050" b="1" i="0" u="none" strike="noStrike" noProof="0">
                          <a:solidFill>
                            <a:srgbClr val="1B4528"/>
                          </a:solidFill>
                          <a:effectLst/>
                          <a:latin typeface="IBM Plex Sans" panose="020B0503050203000203" pitchFamily="34" charset="0"/>
                        </a:rPr>
                        <a:t>{{</a:t>
                      </a:r>
                      <a:r>
                        <a:rPr lang="el-GR" sz="1050" b="1" i="0" u="none" strike="noStrike" noProof="0">
                          <a:solidFill>
                            <a:srgbClr val="1B4528"/>
                          </a:solidFill>
                          <a:effectLst/>
                          <a:latin typeface="IBM Plex Sans" panose="020B0503050203000203" pitchFamily="34" charset="0"/>
                        </a:rPr>
                        <a:t>Insert</a:t>
                      </a:r>
                      <a:r>
                        <a:rPr lang="el-GR" sz="1050" b="1" i="0" u="none" strike="noStrike" noProof="0">
                          <a:solidFill>
                            <a:srgbClr val="1B4528"/>
                          </a:solidFill>
                          <a:effectLst/>
                          <a:latin typeface="IBM Plex Sans" panose="020B0503050203000203" pitchFamily="34" charset="0"/>
                        </a:rPr>
                        <a:t> </a:t>
                      </a:r>
                      <a:r>
                        <a:rPr lang="el-GR" sz="1050" b="1" i="0" u="none" strike="noStrike" noProof="0">
                          <a:solidFill>
                            <a:srgbClr val="1B4528"/>
                          </a:solidFill>
                          <a:effectLst/>
                          <a:latin typeface="IBM Plex Sans" panose="020B0503050203000203" pitchFamily="34" charset="0"/>
                        </a:rPr>
                        <a:t>year</a:t>
                      </a:r>
                      <a:r>
                        <a:rPr lang="el-GR" sz="1050" b="1" i="0" u="none" strike="noStrike" noProof="0">
                          <a:solidFill>
                            <a:srgbClr val="1B4528"/>
                          </a:solidFill>
                          <a:effectLst/>
                          <a:latin typeface="IBM Plex Sans" panose="020B0503050203000203" pitchFamily="34" charset="0"/>
                        </a:rPr>
                        <a:t>}}</a:t>
                      </a:r>
                      <a:endParaRPr lang="el-GR" sz="1050" noProof="0">
                        <a:effectLst/>
                      </a:endParaRPr>
                    </a:p>
                  </a:txBody>
                  <a:tcPr marL="33412" marR="33412"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68580">
                <a:tc vMerge="1">
                  <a:txBody>
                    <a:bodyPr/>
                    <a:lstStyle/>
                    <a:p>
                      <a:endParaRPr lang="el-GR" sz="775" b="0" noProof="0">
                        <a:solidFill>
                          <a:schemeClr val="tx2"/>
                        </a:solidFill>
                      </a:endParaRP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l-GR" sz="1050" b="0" i="0" u="none" strike="noStrike" noProof="0">
                          <a:solidFill>
                            <a:srgbClr val="1B4528"/>
                          </a:solidFill>
                          <a:effectLst/>
                          <a:latin typeface="IBM Plex Sans" panose="020B0503050203000203" pitchFamily="34" charset="0"/>
                        </a:rPr>
                        <a:t>{{</a:t>
                      </a:r>
                      <a:r>
                        <a:rPr lang="el-GR" sz="1050" b="0" i="0" u="none" strike="noStrike" noProof="0">
                          <a:solidFill>
                            <a:srgbClr val="1B4528"/>
                          </a:solidFill>
                          <a:effectLst/>
                          <a:latin typeface="IBM Plex Sans" panose="020B0503050203000203" pitchFamily="34" charset="0"/>
                        </a:rPr>
                        <a:t>omsatningsrate</a:t>
                      </a:r>
                      <a:r>
                        <a:rPr lang="el-GR" sz="1050" b="0" i="0" u="none" strike="noStrike" noProof="0">
                          <a:solidFill>
                            <a:srgbClr val="1B4528"/>
                          </a:solidFill>
                          <a:effectLst/>
                          <a:latin typeface="IBM Plex Sans" panose="020B0503050203000203" pitchFamily="34" charset="0"/>
                        </a:rPr>
                        <a:t>}}</a:t>
                      </a:r>
                    </a:p>
                  </a:txBody>
                  <a:tcPr marL="33412" marR="33412"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sp>
        <p:nvSpPr>
          <p:cNvPr id="13" name="Tekstfelt 12">
            <a:extLst>
              <a:ext uri="{FF2B5EF4-FFF2-40B4-BE49-F238E27FC236}">
                <a16:creationId xmlns:a16="http://schemas.microsoft.com/office/drawing/2014/main" id="{02AD3E18-6260-CBA0-2A83-112A686452CC}"/>
              </a:ext>
            </a:extLst>
          </p:cNvPr>
          <p:cNvSpPr txBox="1"/>
          <p:nvPr/>
        </p:nvSpPr>
        <p:spPr>
          <a:xfrm>
            <a:off x="445500" y="891000"/>
            <a:ext cx="9791704" cy="728758"/>
          </a:xfrm>
          <a:prstGeom prst="rect">
            <a:avLst/>
          </a:prstGeom>
          <a:noFill/>
        </p:spPr>
        <p:txBody>
          <a:bodyPr wrap="square">
            <a:spAutoFit/>
          </a:bodyPr>
          <a:lstStyle/>
          <a:p>
            <a:pPr rtl="0">
              <a:buNone/>
            </a:pPr>
            <a:r>
              <a:rPr lang="el-GR" sz="1050" b="0" i="0" u="none" strike="noStrike" noProof="0">
                <a:solidFill>
                  <a:schemeClr val="tx2"/>
                </a:solidFill>
                <a:effectLst/>
                <a:latin typeface="Inter"/>
              </a:rPr>
              <a:t xml:space="preserve">Τα κατωτέρω στοιχεία συμπληρώνουν τις άλλες γνωστοποιήσεις για το εργατικό δυναμικό, μεταξύ άλλων την κατανομή ανδρών και γυναικών σε διοικητικές θέσεις.</a:t>
            </a:r>
            <a:endParaRPr lang="el-GR" sz="1050" b="0" noProof="0">
              <a:solidFill>
                <a:schemeClr val="tx2"/>
              </a:solidFill>
              <a:effectLst/>
              <a:latin typeface="Inter"/>
            </a:endParaRPr>
          </a:p>
          <a:p>
            <a:pPr>
              <a:buNone/>
            </a:pPr>
            <a:br>
              <a:rPr lang="el-GR" sz="1050" noProof="0">
                <a:solidFill>
                  <a:schemeClr val="tx2"/>
                </a:solidFill>
                <a:latin typeface="Inter"/>
              </a:rPr>
            </a:br>
            <a:endParaRPr lang="el-GR" sz="1050" noProof="0">
              <a:solidFill>
                <a:schemeClr val="tx2"/>
              </a:solidFill>
              <a:latin typeface="Inter"/>
            </a:endParaRPr>
          </a:p>
        </p:txBody>
      </p:sp>
      <p:graphicFrame>
        <p:nvGraphicFramePr>
          <p:cNvPr id="17" name="Table 8">
            <a:extLst>
              <a:ext uri="{FF2B5EF4-FFF2-40B4-BE49-F238E27FC236}">
                <a16:creationId xmlns:a16="http://schemas.microsoft.com/office/drawing/2014/main" id="{A0192DD3-B257-9166-AD07-2538AE6407A8}"/>
              </a:ext>
            </a:extLst>
          </p:cNvPr>
          <p:cNvGraphicFramePr>
            <a:graphicFrameLocks noGrp="1"/>
          </p:cNvGraphicFramePr>
          <p:nvPr>
            <p:extLst>
              <p:ext uri="{D42A27DB-BD31-4B8C-83A1-F6EECF244321}">
                <p14:modId xmlns:p14="http://schemas.microsoft.com/office/powerpoint/2010/main" val="1235781758"/>
              </p:ext>
            </p:extLst>
          </p:nvPr>
        </p:nvGraphicFramePr>
        <p:xfrm>
          <a:off x="445499" y="2882760"/>
          <a:ext cx="9791704" cy="1010268"/>
        </p:xfrm>
        <a:graphic>
          <a:graphicData uri="http://schemas.openxmlformats.org/drawingml/2006/table">
            <a:tbl>
              <a:tblPr firstRow="1">
                <a:tableStyleId>{2A488322-F2BA-4B5B-9748-0D474271808F}</a:tableStyleId>
              </a:tblPr>
              <a:tblGrid>
                <a:gridCol w="7257726">
                  <a:extLst>
                    <a:ext uri="{9D8B030D-6E8A-4147-A177-3AD203B41FA5}">
                      <a16:colId xmlns:a16="http://schemas.microsoft.com/office/drawing/2014/main" val="2698153288"/>
                    </a:ext>
                  </a:extLst>
                </a:gridCol>
                <a:gridCol w="2533978">
                  <a:extLst>
                    <a:ext uri="{9D8B030D-6E8A-4147-A177-3AD203B41FA5}">
                      <a16:colId xmlns:a16="http://schemas.microsoft.com/office/drawing/2014/main" val="2119413191"/>
                    </a:ext>
                  </a:extLst>
                </a:gridCol>
              </a:tblGrid>
              <a:tr h="252567">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050" b="1" kern="1200" noProof="0">
                          <a:solidFill>
                            <a:schemeClr val="tx2"/>
                          </a:solidFill>
                          <a:latin typeface="+mn-lt"/>
                          <a:ea typeface="+mn-ea"/>
                          <a:cs typeface="+mn-cs"/>
                        </a:rPr>
                        <a:t xml:space="preserve">Αυτοαπασχολούμενοι και προσωρινοί εργαζόμενοι </a:t>
                      </a:r>
                      <a:r>
                        <a:rPr lang="el-GR" sz="1050" b="0" noProof="0">
                          <a:solidFill>
                            <a:schemeClr val="tx2"/>
                          </a:solidFill>
                        </a:rPr>
                        <a:t xml:space="preserve">(παρ. 60)</a:t>
                      </a:r>
                      <a:endParaRPr lang="el-GR" sz="1050" b="1" kern="1200" noProof="0">
                        <a:solidFill>
                          <a:schemeClr val="tx2"/>
                        </a:solidFill>
                        <a:latin typeface="+mn-lt"/>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804764708"/>
                  </a:ext>
                </a:extLst>
              </a:tr>
              <a:tr h="2525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1050" b="1"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050" b="1" kern="1200" noProof="0">
                          <a:solidFill>
                            <a:schemeClr val="tx2"/>
                          </a:solidFill>
                          <a:latin typeface="+mn-lt"/>
                          <a:ea typeface="+mn-ea"/>
                          <a:cs typeface="+mn-cs"/>
                        </a:rPr>
                        <a:t xml:space="preserve">Αριθμός</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52567">
                <a:tc>
                  <a:txBody>
                    <a:bodyPr/>
                    <a:lstStyle/>
                    <a:p>
                      <a:r>
                        <a:rPr lang="el-GR" sz="1050" b="1" noProof="0">
                          <a:solidFill>
                            <a:schemeClr val="tx2"/>
                          </a:solidFill>
                        </a:rPr>
                        <a:t xml:space="preserve">Αυτοαπασχολούμενοι (χωρίς προσωπικό)</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self-employeed</a:t>
                      </a:r>
                      <a:r>
                        <a:rPr lang="el-GR" sz="1050" b="0" i="0" u="none" strike="noStrike" noProof="0">
                          <a:solidFill>
                            <a:srgbClr val="1B4528"/>
                          </a:solidFill>
                          <a:effectLst/>
                          <a:latin typeface="Inter"/>
                        </a:rPr>
                        <a: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52567">
                <a:tc>
                  <a:txBody>
                    <a:bodyPr/>
                    <a:lstStyle/>
                    <a:p>
                      <a:r>
                        <a:rPr lang="el-GR" sz="1050" b="1" noProof="0">
                          <a:solidFill>
                            <a:schemeClr val="tx2"/>
                          </a:solidFill>
                        </a:rPr>
                        <a:t xml:space="preserve">Προσωρινοί εργαζόμενοι (μέσω γραφείου εύρεσης εργασίας) </a:t>
                      </a:r>
                      <a:endParaRPr lang="el-G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temp_workers</a:t>
                      </a:r>
                      <a:r>
                        <a:rPr lang="el-GR" sz="1050" b="0" i="0" u="none" strike="noStrike" noProof="0">
                          <a:solidFill>
                            <a:srgbClr val="1B4528"/>
                          </a:solidFill>
                          <a:effectLst/>
                          <a:latin typeface="Inter"/>
                        </a:rPr>
                        <a:t>}}</a:t>
                      </a:r>
                      <a:endParaRPr lang="el-GR" sz="105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23" name="Tekstfelt 22">
            <a:extLst>
              <a:ext uri="{FF2B5EF4-FFF2-40B4-BE49-F238E27FC236}">
                <a16:creationId xmlns:a16="http://schemas.microsoft.com/office/drawing/2014/main" id="{D60EF1D1-D1F5-4064-9ED3-DE93382F39C3}"/>
              </a:ext>
            </a:extLst>
          </p:cNvPr>
          <p:cNvSpPr txBox="1"/>
          <p:nvPr/>
        </p:nvSpPr>
        <p:spPr>
          <a:xfrm>
            <a:off x="454795" y="2430996"/>
            <a:ext cx="9782407" cy="242919"/>
          </a:xfrm>
          <a:prstGeom prst="rect">
            <a:avLst/>
          </a:prstGeom>
          <a:noFill/>
        </p:spPr>
        <p:txBody>
          <a:bodyPr wrap="square">
            <a:spAutoFit/>
          </a:bodyPr>
          <a:lstStyle/>
          <a:p>
            <a:pPr rtl="0">
              <a:buNone/>
            </a:pPr>
            <a:r>
              <a:rPr lang="el-GR" sz="1050" b="0" i="0" u="none" strike="noStrike" noProof="0">
                <a:solidFill>
                  <a:schemeClr val="tx2"/>
                </a:solidFill>
                <a:effectLst/>
                <a:latin typeface="Inter"/>
              </a:rPr>
              <a:t xml:space="preserve">Τα κατωτέρω στοιχεία συμπληρώθηκαν για να αναφερθεί ο αριθμός αυτοαπασχολούμενων και προσωρινών εργαζομένων της επιχείρησης.</a:t>
            </a:r>
            <a:endParaRPr lang="el-GR" sz="1050" b="0" noProof="0">
              <a:solidFill>
                <a:schemeClr val="tx2"/>
              </a:solidFill>
              <a:effectLst/>
              <a:latin typeface="Inter"/>
            </a:endParaRPr>
          </a:p>
        </p:txBody>
      </p:sp>
    </p:spTree>
    <p:extLst>
      <p:ext uri="{BB962C8B-B14F-4D97-AF65-F5344CB8AC3E}">
        <p14:creationId xmlns:p14="http://schemas.microsoft.com/office/powerpoint/2010/main" val="10959130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8E5C9-19EA-93EF-10E2-5882DFA2D1D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A01B3D3-ECCC-E485-0BE0-6FF0F1558D63}"/>
              </a:ext>
            </a:extLst>
          </p:cNvPr>
          <p:cNvSpPr>
            <a:spLocks noGrp="1"/>
          </p:cNvSpPr>
          <p:nvPr>
            <p:ph type="title"/>
          </p:nvPr>
        </p:nvSpPr>
        <p:spPr>
          <a:xfrm>
            <a:off x="454796" y="450698"/>
            <a:ext cx="9791704" cy="218627"/>
          </a:xfrm>
        </p:spPr>
        <p:txBody>
          <a:bodyPr/>
          <a:lstStyle/>
          <a:p>
            <a:r>
              <a:rPr lang="el-GR" sz="1575" b="1" i="0" u="none" strike="noStrike" kern="1200" spc="-10" noProof="0">
                <a:solidFill>
                  <a:srgbClr val="1B4528"/>
                </a:solidFill>
                <a:latin typeface="+mn-lt"/>
                <a:ea typeface="+mn-ea"/>
                <a:cs typeface="+mn-cs"/>
              </a:rPr>
              <a:t xml:space="preserve">Πολιτικές και διαδικασίες ανθρωπίνων δικαιωμάτων (C6</a:t>
            </a:r>
            <a:r>
              <a:rPr lang="el-GR" noProof="0"/>
              <a:t xml:space="preserve">) - Ίδιο εργατικό δυναμικό</a:t>
            </a:r>
          </a:p>
        </p:txBody>
      </p:sp>
      <p:sp>
        <p:nvSpPr>
          <p:cNvPr id="2" name="Slide Number Placeholder 1">
            <a:extLst>
              <a:ext uri="{FF2B5EF4-FFF2-40B4-BE49-F238E27FC236}">
                <a16:creationId xmlns:a16="http://schemas.microsoft.com/office/drawing/2014/main" id="{7F4B2DDC-B47C-8EC5-7967-2A58A7546BE1}"/>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21</a:t>
            </a:fld>
            <a:endParaRPr lang="el-GR" noProof="0"/>
          </a:p>
        </p:txBody>
      </p:sp>
      <p:sp>
        <p:nvSpPr>
          <p:cNvPr id="5" name="Footer Placeholder 4">
            <a:extLst>
              <a:ext uri="{FF2B5EF4-FFF2-40B4-BE49-F238E27FC236}">
                <a16:creationId xmlns:a16="http://schemas.microsoft.com/office/drawing/2014/main" id="{12C8F095-7936-9AF5-ED2E-CAF996EA0C77}"/>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br>
              <a:rPr lang="el-GR" noProof="0"/>
            </a:br>
            <a:endParaRPr lang="el-GR" noProof="0"/>
          </a:p>
        </p:txBody>
      </p:sp>
      <p:graphicFrame>
        <p:nvGraphicFramePr>
          <p:cNvPr id="7" name="Table 12">
            <a:extLst>
              <a:ext uri="{FF2B5EF4-FFF2-40B4-BE49-F238E27FC236}">
                <a16:creationId xmlns:a16="http://schemas.microsoft.com/office/drawing/2014/main" id="{28CCF2F2-67F8-E6B4-823D-CCF80EE37382}"/>
              </a:ext>
            </a:extLst>
          </p:cNvPr>
          <p:cNvGraphicFramePr>
            <a:graphicFrameLocks noGrp="1"/>
          </p:cNvGraphicFramePr>
          <p:nvPr>
            <p:extLst>
              <p:ext uri="{D42A27DB-BD31-4B8C-83A1-F6EECF244321}">
                <p14:modId xmlns:p14="http://schemas.microsoft.com/office/powerpoint/2010/main" val="2313881061"/>
              </p:ext>
            </p:extLst>
          </p:nvPr>
        </p:nvGraphicFramePr>
        <p:xfrm>
          <a:off x="454796" y="1615123"/>
          <a:ext cx="9791704" cy="3027172"/>
        </p:xfrm>
        <a:graphic>
          <a:graphicData uri="http://schemas.openxmlformats.org/drawingml/2006/table">
            <a:tbl>
              <a:tblPr firstRow="1">
                <a:tableStyleId>{2A488322-F2BA-4B5B-9748-0D474271808F}</a:tableStyleId>
              </a:tblPr>
              <a:tblGrid>
                <a:gridCol w="7527272">
                  <a:extLst>
                    <a:ext uri="{9D8B030D-6E8A-4147-A177-3AD203B41FA5}">
                      <a16:colId xmlns:a16="http://schemas.microsoft.com/office/drawing/2014/main" val="2698153288"/>
                    </a:ext>
                  </a:extLst>
                </a:gridCol>
                <a:gridCol w="2264432">
                  <a:extLst>
                    <a:ext uri="{9D8B030D-6E8A-4147-A177-3AD203B41FA5}">
                      <a16:colId xmlns:a16="http://schemas.microsoft.com/office/drawing/2014/main" val="2119413191"/>
                    </a:ext>
                  </a:extLst>
                </a:gridCol>
              </a:tblGrid>
              <a:tr h="44894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050" b="1" kern="1200" noProof="0">
                          <a:solidFill>
                            <a:srgbClr val="1B4528"/>
                          </a:solidFill>
                          <a:latin typeface="+mn-lt"/>
                          <a:ea typeface="+mn-ea"/>
                          <a:cs typeface="+mn-cs"/>
                        </a:rPr>
                        <a:t>{{company_name}}</a:t>
                      </a:r>
                      <a:r>
                        <a:rPr lang="el-GR" sz="1050" b="1" noProof="0">
                          <a:solidFill>
                            <a:schemeClr val="tx2"/>
                          </a:solidFill>
                        </a:rPr>
                        <a:t xml:space="preserve"> διαθέτει </a:t>
                      </a:r>
                      <a:r>
                        <a:rPr lang="el-GR" sz="1050" b="1" kern="1200" spc="-10" noProof="0">
                          <a:solidFill>
                            <a:schemeClr val="tx2"/>
                          </a:solidFill>
                          <a:latin typeface="+mn-lt"/>
                          <a:ea typeface="+mn-ea"/>
                          <a:cs typeface="+mn-cs"/>
                        </a:rPr>
                        <a:t xml:space="preserve">κώδικα δεοντολογίας </a:t>
                      </a:r>
                      <a:r>
                        <a:rPr lang="el-GR" sz="1050" b="1" i="1" kern="1200" spc="-10" noProof="0">
                          <a:solidFill>
                            <a:schemeClr val="tx2"/>
                          </a:solidFill>
                          <a:latin typeface="+mn-lt"/>
                          <a:ea typeface="+mn-ea"/>
                          <a:cs typeface="+mn-cs"/>
                        </a:rPr>
                        <a:t xml:space="preserve">και/ή</a:t>
                      </a:r>
                      <a:r>
                        <a:rPr lang="el-GR" sz="1050" b="1" kern="1200" spc="-10" noProof="0">
                          <a:solidFill>
                            <a:schemeClr val="tx2"/>
                          </a:solidFill>
                          <a:latin typeface="+mn-lt"/>
                          <a:ea typeface="+mn-ea"/>
                          <a:cs typeface="+mn-cs"/>
                        </a:rPr>
                        <a:t xml:space="preserve"> πολιτική ανθρωπίνων δικαιωμάτων για το </a:t>
                      </a:r>
                      <a:r>
                        <a:rPr lang="el-GR" sz="1050" b="1" u="sng" kern="1200" spc="-10" noProof="0">
                          <a:solidFill>
                            <a:schemeClr val="tx2"/>
                          </a:solidFill>
                          <a:latin typeface="+mn-lt"/>
                          <a:ea typeface="+mn-ea"/>
                          <a:cs typeface="+mn-cs"/>
                        </a:rPr>
                        <a:t xml:space="preserve">ίδιο εργατικό δυναμικό</a:t>
                      </a:r>
                      <a:r>
                        <a:rPr lang="el-GR" sz="1050" b="0" u="none" kern="1200" spc="-10" noProof="0">
                          <a:solidFill>
                            <a:schemeClr val="tx2"/>
                          </a:solidFill>
                          <a:latin typeface="+mn-lt"/>
                          <a:ea typeface="+mn-ea"/>
                          <a:cs typeface="+mn-cs"/>
                        </a:rPr>
                        <a:t xml:space="preserve"> (παρ. 61a)</a:t>
                      </a:r>
                      <a:endParaRPr lang="el-GR" sz="1050" b="0" u="none"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l-GR" sz="1050" b="0" noProof="0">
                          <a:solidFill>
                            <a:srgbClr val="1B4528"/>
                          </a:solidFill>
                          <a:latin typeface="+mn-lt"/>
                          <a:cs typeface="Calibri"/>
                        </a:rPr>
                        <a:t>{{human_rights_policy?}}</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91168870"/>
                  </a:ext>
                </a:extLst>
              </a:tr>
              <a:tr h="230886">
                <a:tc gridSpan="2">
                  <a:txBody>
                    <a:bodyPr/>
                    <a:lstStyle/>
                    <a:p>
                      <a:r>
                        <a:rPr lang="el-GR" sz="1050" b="1" kern="1200" noProof="0">
                          <a:solidFill>
                            <a:schemeClr val="tx1"/>
                          </a:solidFill>
                          <a:latin typeface="+mn-lt"/>
                          <a:ea typeface="+mn-ea"/>
                          <a:cs typeface="+mn-cs"/>
                        </a:rPr>
                        <a:t xml:space="preserve">Ο κώδικας δεοντολογίας ή η πολιτική ανθρωπίνων δικαιωμάτων καλύπτει τα εξής: </a:t>
                      </a:r>
                      <a:r>
                        <a:rPr lang="el-GR" sz="1050" b="0" u="none" kern="1200" spc="-10" noProof="0">
                          <a:solidFill>
                            <a:schemeClr val="tx2"/>
                          </a:solidFill>
                          <a:latin typeface="+mn-lt"/>
                          <a:ea typeface="+mn-ea"/>
                          <a:cs typeface="+mn-cs"/>
                        </a:rPr>
                        <a:t xml:space="preserve">(παρ. 61b)</a:t>
                      </a:r>
                      <a:endParaRPr lang="el-GR" sz="1050" b="0" noProof="0">
                        <a:solidFill>
                          <a:schemeClr val="tx1"/>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775" noProof="0">
                        <a:solidFill>
                          <a:srgbClr val="1B4528"/>
                        </a:solidFill>
                        <a:latin typeface="+mn-lt"/>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903441729"/>
                  </a:ext>
                </a:extLst>
              </a:tr>
              <a:tr h="230886">
                <a:tc>
                  <a:txBody>
                    <a:bodyPr/>
                    <a:lstStyle/>
                    <a:p>
                      <a:pPr lvl="1"/>
                      <a:r>
                        <a:rPr lang="el-GR" sz="1050" b="0" noProof="0">
                          <a:solidFill>
                            <a:schemeClr val="tx2"/>
                          </a:solidFill>
                        </a:rPr>
                        <a:t xml:space="preserve">Παιδική εργασία</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1050" b="0" i="0" u="none" strike="noStrike" noProof="0">
                          <a:solidFill>
                            <a:srgbClr val="1B4528"/>
                          </a:solidFill>
                          <a:effectLst/>
                          <a:latin typeface="Inter"/>
                        </a:rPr>
                        <a:t>{{child_labour_polict?}}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09313864"/>
                  </a:ext>
                </a:extLst>
              </a:tr>
              <a:tr h="230886">
                <a:tc>
                  <a:txBody>
                    <a:bodyPr/>
                    <a:lstStyle/>
                    <a:p>
                      <a:pPr lvl="1"/>
                      <a:r>
                        <a:rPr lang="el-GR" sz="1050" b="0" noProof="0">
                          <a:solidFill>
                            <a:schemeClr val="tx2"/>
                          </a:solidFill>
                        </a:rPr>
                        <a:t xml:space="preserve">Καταναγκαστική εργασία</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1050" b="0" i="0" u="none" strike="noStrike" noProof="0">
                          <a:solidFill>
                            <a:srgbClr val="1B4528"/>
                          </a:solidFill>
                          <a:effectLst/>
                          <a:latin typeface="Inter"/>
                        </a:rPr>
                        <a:t>{{forced_labour_policy?}}</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828850338"/>
                  </a:ext>
                </a:extLst>
              </a:tr>
              <a:tr h="230886">
                <a:tc>
                  <a:txBody>
                    <a:bodyPr/>
                    <a:lstStyle/>
                    <a:p>
                      <a:pPr lvl="1"/>
                      <a:r>
                        <a:rPr lang="el-GR" sz="1050" b="0" noProof="0">
                          <a:solidFill>
                            <a:schemeClr val="tx2"/>
                          </a:solidFill>
                        </a:rPr>
                        <a:t xml:space="preserve">Εμπορία ανθρώπων</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1050" b="0" i="0" u="none" strike="noStrike" noProof="0">
                          <a:solidFill>
                            <a:srgbClr val="1B4528"/>
                          </a:solidFill>
                          <a:effectLst/>
                          <a:latin typeface="Inter"/>
                        </a:rPr>
                        <a:t>{{human_policy?}}</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946288779"/>
                  </a:ext>
                </a:extLst>
              </a:tr>
              <a:tr h="230886">
                <a:tc>
                  <a:txBody>
                    <a:bodyPr/>
                    <a:lstStyle/>
                    <a:p>
                      <a:pPr lvl="1"/>
                      <a:r>
                        <a:rPr lang="el-GR" sz="1050" b="0" noProof="0">
                          <a:solidFill>
                            <a:schemeClr val="tx2"/>
                          </a:solidFill>
                        </a:rPr>
                        <a:t xml:space="preserve">Διακρίσεις</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1050" b="0" i="0" u="none" strike="noStrike" noProof="0">
                          <a:solidFill>
                            <a:srgbClr val="1B4528"/>
                          </a:solidFill>
                          <a:effectLst/>
                          <a:latin typeface="Inter"/>
                        </a:rPr>
                        <a:t>{{discrimanation_policy?}}</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269962095"/>
                  </a:ext>
                </a:extLst>
              </a:tr>
              <a:tr h="230886">
                <a:tc>
                  <a:txBody>
                    <a:bodyPr/>
                    <a:lstStyle/>
                    <a:p>
                      <a:pPr lvl="1"/>
                      <a:r>
                        <a:rPr lang="el-GR" sz="1050" b="0" noProof="0">
                          <a:solidFill>
                            <a:schemeClr val="tx2"/>
                          </a:solidFill>
                        </a:rPr>
                        <a:t xml:space="preserve">Ασφάλεια και πρόληψη ατυχημάτων</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1050" b="0" i="0" u="none" strike="noStrike" noProof="0">
                          <a:solidFill>
                            <a:srgbClr val="1B4528"/>
                          </a:solidFill>
                          <a:effectLst/>
                          <a:latin typeface="Inter"/>
                        </a:rPr>
                        <a:t>{{safety_policy?}}</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923512640"/>
                  </a:ext>
                </a:extLst>
              </a:tr>
              <a:tr h="230886">
                <a:tc>
                  <a:txBody>
                    <a:bodyPr/>
                    <a:lstStyle/>
                    <a:p>
                      <a:pPr lvl="1"/>
                      <a:r>
                        <a:rPr lang="el-GR" sz="1050" b="0" noProof="0">
                          <a:solidFill>
                            <a:schemeClr val="tx2"/>
                          </a:solidFill>
                        </a:rPr>
                        <a:t xml:space="preserve">Άλλο</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other_policy</a:t>
                      </a:r>
                      <a:r>
                        <a:rPr lang="el-GR" sz="1050" b="0" i="0" u="none" strike="noStrike" noProof="0">
                          <a:solidFill>
                            <a:srgbClr val="1B4528"/>
                          </a:solidFill>
                          <a:effectLst/>
                          <a:latin typeface="Inter"/>
                        </a:rPr>
                        <a: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3969227"/>
                  </a:ext>
                </a:extLst>
              </a:tr>
              <a:tr h="230886">
                <a:tc gridSpan="2">
                  <a:txBody>
                    <a:bodyPr/>
                    <a:lstStyle/>
                    <a:p>
                      <a:r>
                        <a:rPr lang="el-GR" sz="1050" b="1" noProof="0">
                          <a:solidFill>
                            <a:schemeClr val="tx2"/>
                          </a:solidFill>
                        </a:rPr>
                        <a:t xml:space="preserve">Εάν ναι στο ”Άλλο”, προσδιορίστε</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775" b="0" noProof="0">
                        <a:solidFill>
                          <a:srgbClr val="1B4528"/>
                        </a:solidFill>
                        <a:latin typeface="+mn-lt"/>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240263137"/>
                  </a:ext>
                </a:extLst>
              </a:tr>
              <a:tr h="731142">
                <a:tc gridSpan="2">
                  <a:txBody>
                    <a:bodyPr/>
                    <a:lstStyle/>
                    <a:p>
                      <a:endParaRPr lang="el-GR" sz="1050" b="0" noProof="0">
                        <a:solidFill>
                          <a:schemeClr val="tx2"/>
                        </a:solidFill>
                      </a:endParaRPr>
                    </a:p>
                    <a:p>
                      <a:pPr lvl="0" algn="r">
                        <a:lnSpc>
                          <a:spcPct val="100000"/>
                        </a:lnSpc>
                        <a:spcBef>
                          <a:spcPts val="0"/>
                        </a:spcBef>
                        <a:spcAft>
                          <a:spcPts val="0"/>
                        </a:spcAft>
                        <a:buNone/>
                      </a:pPr>
                      <a:r>
                        <a:rPr lang="el-GR" sz="1050" b="0" i="0" u="none" strike="noStrike" kern="1200" noProof="0">
                          <a:solidFill>
                            <a:srgbClr val="1B4528"/>
                          </a:solidFill>
                          <a:latin typeface="Inter"/>
                          <a:ea typeface="+mn-ea"/>
                          <a:cs typeface="+mn-cs"/>
                        </a:rPr>
                        <a:t>{{C6_other_description}}</a:t>
                      </a:r>
                      <a:endParaRPr lang="el-GR" sz="1050" b="0" i="0" u="none" strike="noStrike" kern="1200" noProof="0">
                        <a:solidFill>
                          <a:srgbClr val="000000"/>
                        </a:solidFill>
                        <a:latin typeface="Inter"/>
                        <a:ea typeface="+mn-ea"/>
                        <a:cs typeface="+mn-cs"/>
                      </a:endParaRPr>
                    </a:p>
                    <a:p>
                      <a:endParaRPr lang="el-GR"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775" b="0" noProof="0">
                        <a:solidFill>
                          <a:srgbClr val="1B4528"/>
                        </a:solidFill>
                        <a:latin typeface="+mn-lt"/>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253903979"/>
                  </a:ext>
                </a:extLst>
              </a:tr>
            </a:tbl>
          </a:graphicData>
        </a:graphic>
      </p:graphicFrame>
      <p:graphicFrame>
        <p:nvGraphicFramePr>
          <p:cNvPr id="18" name="Table 12">
            <a:extLst>
              <a:ext uri="{FF2B5EF4-FFF2-40B4-BE49-F238E27FC236}">
                <a16:creationId xmlns:a16="http://schemas.microsoft.com/office/drawing/2014/main" id="{DB79A87E-D29B-1775-517F-11F70A44D342}"/>
              </a:ext>
            </a:extLst>
          </p:cNvPr>
          <p:cNvGraphicFramePr>
            <a:graphicFrameLocks noGrp="1"/>
          </p:cNvGraphicFramePr>
          <p:nvPr>
            <p:extLst>
              <p:ext uri="{D42A27DB-BD31-4B8C-83A1-F6EECF244321}">
                <p14:modId xmlns:p14="http://schemas.microsoft.com/office/powerpoint/2010/main" val="3266126802"/>
              </p:ext>
            </p:extLst>
          </p:nvPr>
        </p:nvGraphicFramePr>
        <p:xfrm>
          <a:off x="445499" y="4809230"/>
          <a:ext cx="9805817" cy="759520"/>
        </p:xfrm>
        <a:graphic>
          <a:graphicData uri="http://schemas.openxmlformats.org/drawingml/2006/table">
            <a:tbl>
              <a:tblPr firstRow="1">
                <a:tableStyleId>{2A488322-F2BA-4B5B-9748-0D474271808F}</a:tableStyleId>
              </a:tblPr>
              <a:tblGrid>
                <a:gridCol w="7538121">
                  <a:extLst>
                    <a:ext uri="{9D8B030D-6E8A-4147-A177-3AD203B41FA5}">
                      <a16:colId xmlns:a16="http://schemas.microsoft.com/office/drawing/2014/main" val="2698153288"/>
                    </a:ext>
                  </a:extLst>
                </a:gridCol>
                <a:gridCol w="2267696">
                  <a:extLst>
                    <a:ext uri="{9D8B030D-6E8A-4147-A177-3AD203B41FA5}">
                      <a16:colId xmlns:a16="http://schemas.microsoft.com/office/drawing/2014/main" val="2119413191"/>
                    </a:ext>
                  </a:extLst>
                </a:gridCol>
              </a:tblGrid>
              <a:tr h="759520">
                <a:tc>
                  <a:txBody>
                    <a:bodyPr/>
                    <a:lstStyle/>
                    <a:p>
                      <a:r>
                        <a:rPr lang="el-GR" sz="1050" b="1" noProof="0">
                          <a:solidFill>
                            <a:schemeClr val="tx2"/>
                          </a:solidFill>
                        </a:rPr>
                        <a:t xml:space="preserve">Η επιχείρηση διαθέτει μηχανισμό διαχείρισης καταγγελιών για το </a:t>
                      </a:r>
                      <a:r>
                        <a:rPr lang="el-GR" sz="1050" b="1" u="sng" noProof="0">
                          <a:solidFill>
                            <a:schemeClr val="tx2"/>
                          </a:solidFill>
                        </a:rPr>
                        <a:t xml:space="preserve">ίδιο εργατικό δυναμικό</a:t>
                      </a:r>
                      <a:r>
                        <a:rPr lang="el-GR" sz="1050" b="0" u="sng" noProof="0">
                          <a:solidFill>
                            <a:schemeClr val="tx2"/>
                          </a:solidFill>
                        </a:rPr>
                        <a:t> </a:t>
                      </a:r>
                      <a:r>
                        <a:rPr lang="el-GR" sz="1050" b="0" noProof="0">
                          <a:solidFill>
                            <a:schemeClr val="tx2"/>
                          </a:solidFill>
                        </a:rPr>
                        <a:t xml:space="preserve">(παρ. 61c)</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l-GR" sz="1050" b="0" noProof="0">
                          <a:solidFill>
                            <a:srgbClr val="1B4528"/>
                          </a:solidFill>
                          <a:latin typeface="+mn-lt"/>
                          <a:cs typeface="Calibri"/>
                        </a:rPr>
                        <a:t>{{whistleblower?}}</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903441729"/>
                  </a:ext>
                </a:extLst>
              </a:tr>
            </a:tbl>
          </a:graphicData>
        </a:graphic>
      </p:graphicFrame>
      <p:sp>
        <p:nvSpPr>
          <p:cNvPr id="11" name="Tekstfelt 10">
            <a:extLst>
              <a:ext uri="{FF2B5EF4-FFF2-40B4-BE49-F238E27FC236}">
                <a16:creationId xmlns:a16="http://schemas.microsoft.com/office/drawing/2014/main" id="{7C4038A4-75FD-FD52-35A4-14C7ED85BEEF}"/>
              </a:ext>
            </a:extLst>
          </p:cNvPr>
          <p:cNvSpPr txBox="1"/>
          <p:nvPr/>
        </p:nvSpPr>
        <p:spPr>
          <a:xfrm>
            <a:off x="452474" y="891000"/>
            <a:ext cx="9794026" cy="404866"/>
          </a:xfrm>
          <a:prstGeom prst="rect">
            <a:avLst/>
          </a:prstGeom>
          <a:noFill/>
        </p:spPr>
        <p:txBody>
          <a:bodyPr wrap="square">
            <a:spAutoFit/>
          </a:bodyPr>
          <a:lstStyle/>
          <a:p>
            <a:pPr>
              <a:spcBef>
                <a:spcPts val="789"/>
              </a:spcBef>
            </a:pPr>
            <a:r>
              <a:rPr lang="el-GR" sz="1050" b="0" i="0" u="none" strike="noStrike" noProof="0">
                <a:solidFill>
                  <a:schemeClr val="tx2"/>
                </a:solidFill>
                <a:effectLst/>
                <a:latin typeface="Inter"/>
              </a:rPr>
              <a:t xml:space="preserve">Κατωτέρω </a:t>
            </a:r>
            <a:r>
              <a:rPr lang="el-GR" sz="1050" noProof="0">
                <a:solidFill>
                  <a:schemeClr val="tx2"/>
                </a:solidFill>
                <a:latin typeface="Inter"/>
              </a:rPr>
              <a:t xml:space="preserve">παρατίθενται στοιχεία για </a:t>
            </a:r>
            <a:r>
              <a:rPr lang="el-GR" sz="1050" b="0" i="0" u="none" strike="noStrike" noProof="0">
                <a:solidFill>
                  <a:schemeClr val="tx2"/>
                </a:solidFill>
                <a:effectLst/>
                <a:latin typeface="Inter"/>
              </a:rPr>
              <a:t xml:space="preserve">τον κώδικα δεοντολογίας και/ή την πολιτική ανθρωπίνων δικαιωμάτων για το ίδιο εργατικό δυναμικ</a:t>
            </a:r>
            <a:r>
              <a:rPr lang="el-GR" sz="1050" noProof="0">
                <a:solidFill>
                  <a:schemeClr val="tx2"/>
                </a:solidFill>
                <a:latin typeface="Inter"/>
              </a:rPr>
              <a:t xml:space="preserve">ό. Αναφέρεται επίσης εάν η επιχείρηση διαθέτει μηχανισμό διαχείρισης καταγγελιών που επιτρέπει στους εργαζομένους να αναφέρουν περιστατικά παραβίασης ανθρωπίνων δικαιωμάτων, διακρίσεων, παρενόχλησης ή άλλων επιλήψιμων συμπεριφορών.</a:t>
            </a:r>
          </a:p>
        </p:txBody>
      </p:sp>
    </p:spTree>
    <p:extLst>
      <p:ext uri="{BB962C8B-B14F-4D97-AF65-F5344CB8AC3E}">
        <p14:creationId xmlns:p14="http://schemas.microsoft.com/office/powerpoint/2010/main" val="13866028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54796" y="450698"/>
            <a:ext cx="9791704" cy="218627"/>
          </a:xfrm>
        </p:spPr>
        <p:txBody>
          <a:bodyPr/>
          <a:lstStyle/>
          <a:p>
            <a:r>
              <a:rPr lang="el-GR" sz="1575" b="1" i="0" u="none" strike="noStrike" kern="1200" spc="-10" noProof="0">
                <a:solidFill>
                  <a:srgbClr val="1B4528"/>
                </a:solidFill>
                <a:latin typeface="+mn-lt"/>
                <a:ea typeface="+mn-ea"/>
                <a:cs typeface="+mn-cs"/>
              </a:rPr>
              <a:t xml:space="preserve">Σοβαρά αρνητικά περιστατικά ανθρωπίνων δικαιωμάτων (C7</a:t>
            </a:r>
            <a:r>
              <a:rPr lang="el-GR" noProof="0"/>
              <a:t xml:space="preserve">) – Ίδιο εργατικό δυναμικό</a:t>
            </a:r>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22</a:t>
            </a:fld>
            <a:endParaRPr lang="el-GR"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endParaRPr lang="el-GR"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257119581"/>
              </p:ext>
            </p:extLst>
          </p:nvPr>
        </p:nvGraphicFramePr>
        <p:xfrm>
          <a:off x="454794" y="1470645"/>
          <a:ext cx="9791703" cy="2723194"/>
        </p:xfrm>
        <a:graphic>
          <a:graphicData uri="http://schemas.openxmlformats.org/drawingml/2006/table">
            <a:tbl>
              <a:tblPr firstRow="1">
                <a:tableStyleId>{2A488322-F2BA-4B5B-9748-0D474271808F}</a:tableStyleId>
              </a:tblPr>
              <a:tblGrid>
                <a:gridCol w="3436664">
                  <a:extLst>
                    <a:ext uri="{9D8B030D-6E8A-4147-A177-3AD203B41FA5}">
                      <a16:colId xmlns:a16="http://schemas.microsoft.com/office/drawing/2014/main" val="1902117154"/>
                    </a:ext>
                  </a:extLst>
                </a:gridCol>
                <a:gridCol w="6355039">
                  <a:extLst>
                    <a:ext uri="{9D8B030D-6E8A-4147-A177-3AD203B41FA5}">
                      <a16:colId xmlns:a16="http://schemas.microsoft.com/office/drawing/2014/main" val="1904521774"/>
                    </a:ext>
                  </a:extLst>
                </a:gridCol>
              </a:tblGrid>
              <a:tr h="286383">
                <a:tc gridSpan="2">
                  <a:txBody>
                    <a:bodyPr/>
                    <a:lstStyle/>
                    <a:p>
                      <a:pPr algn="l"/>
                      <a:r>
                        <a:rPr lang="el-GR" sz="1050" b="1" kern="1200" spc="-10" noProof="0">
                          <a:solidFill>
                            <a:schemeClr val="tx2"/>
                          </a:solidFill>
                          <a:latin typeface="+mn-lt"/>
                          <a:ea typeface="+mn-ea"/>
                          <a:cs typeface="+mn-cs"/>
                        </a:rPr>
                        <a:t xml:space="preserve">Υπάρχουν, για το </a:t>
                      </a:r>
                      <a:r>
                        <a:rPr lang="el-GR" sz="1050" b="1" u="sng" kern="1200" spc="-10" noProof="0">
                          <a:solidFill>
                            <a:schemeClr val="tx2"/>
                          </a:solidFill>
                          <a:latin typeface="+mn-lt"/>
                          <a:ea typeface="+mn-ea"/>
                          <a:cs typeface="+mn-cs"/>
                        </a:rPr>
                        <a:t xml:space="preserve">ίδιο εργατικό δυναμικό</a:t>
                      </a:r>
                      <a:r>
                        <a:rPr lang="el-GR" sz="1050" b="1" u="none" kern="1200" spc="-10" noProof="0">
                          <a:solidFill>
                            <a:schemeClr val="tx2"/>
                          </a:solidFill>
                          <a:latin typeface="+mn-lt"/>
                          <a:ea typeface="+mn-ea"/>
                          <a:cs typeface="+mn-cs"/>
                        </a:rPr>
                        <a:t xml:space="preserve"> της επιχείρησης, </a:t>
                      </a:r>
                      <a:r>
                        <a:rPr lang="el-GR" sz="1050" b="1" kern="1200" spc="-10" noProof="0">
                          <a:solidFill>
                            <a:schemeClr val="tx2"/>
                          </a:solidFill>
                          <a:latin typeface="+mn-lt"/>
                          <a:ea typeface="+mn-ea"/>
                          <a:cs typeface="+mn-cs"/>
                        </a:rPr>
                        <a:t xml:space="preserve">επιβεβαιωμένα αρνητικά περιστατικά σχετικά με τα εξής </a:t>
                      </a:r>
                      <a:r>
                        <a:rPr lang="el-GR" sz="1050" b="0" kern="1200" spc="-10" noProof="0">
                          <a:solidFill>
                            <a:schemeClr val="tx2"/>
                          </a:solidFill>
                          <a:latin typeface="+mn-lt"/>
                          <a:ea typeface="+mn-ea"/>
                          <a:cs typeface="+mn-cs"/>
                        </a:rPr>
                        <a:t xml:space="preserve">(παρ. 62a-b)</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l-GR" sz="775" b="1" kern="1200" spc="-10" noProof="0">
                        <a:solidFill>
                          <a:schemeClr val="tx2"/>
                        </a:solidFill>
                        <a:latin typeface="+mn-lt"/>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513227">
                <a:tc>
                  <a:txBody>
                    <a:bodyPr/>
                    <a:lstStyle/>
                    <a:p>
                      <a:pPr algn="l"/>
                      <a:r>
                        <a:rPr lang="el-GR" sz="1050" b="1" kern="1200" spc="-10" noProof="0">
                          <a:solidFill>
                            <a:schemeClr val="tx2"/>
                          </a:solidFill>
                          <a:latin typeface="+mn-lt"/>
                          <a:ea typeface="+mn-ea"/>
                          <a:cs typeface="+mn-cs"/>
                        </a:rPr>
                        <a:t xml:space="preserve">Παιδική εργασία</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el-GR" sz="1050" b="0" i="0" u="none" strike="noStrike" noProof="0">
                          <a:solidFill>
                            <a:srgbClr val="1B4528"/>
                          </a:solidFill>
                        </a:rPr>
                        <a:t>{{child_labour_yes?}}</a:t>
                      </a:r>
                      <a:endParaRPr lang="el-GR"/>
                    </a:p>
                    <a:p>
                      <a:pPr lvl="0" algn="l">
                        <a:lnSpc>
                          <a:spcPct val="100000"/>
                        </a:lnSpc>
                        <a:spcBef>
                          <a:spcPts val="0"/>
                        </a:spcBef>
                        <a:spcAft>
                          <a:spcPts val="0"/>
                        </a:spcAft>
                        <a:buNone/>
                      </a:pPr>
                      <a:r>
                        <a:rPr lang="el-GR" sz="1050" b="0" i="0" u="none" strike="noStrike" noProof="0">
                          <a:solidFill>
                            <a:srgbClr val="1B4528"/>
                          </a:solidFill>
                        </a:rPr>
                        <a:t>{{child_labour_desc}}</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513227">
                <a:tc>
                  <a:txBody>
                    <a:bodyPr/>
                    <a:lstStyle/>
                    <a:p>
                      <a:pPr algn="l"/>
                      <a:r>
                        <a:rPr lang="el-GR" sz="1050" b="1" kern="1200" spc="-10" noProof="0">
                          <a:solidFill>
                            <a:schemeClr val="tx2"/>
                          </a:solidFill>
                          <a:latin typeface="+mn-lt"/>
                          <a:ea typeface="+mn-ea"/>
                          <a:cs typeface="+mn-cs"/>
                        </a:rPr>
                        <a:t xml:space="preserve">Καταναγκαστική εργασία</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el-GR" sz="1050" b="0" i="0" u="none" strike="noStrike" noProof="0">
                          <a:solidFill>
                            <a:srgbClr val="1B4528"/>
                          </a:solidFill>
                        </a:rPr>
                        <a:t>{{forced_labour_yes?}}</a:t>
                      </a:r>
                      <a:endParaRPr lang="el-GR"/>
                    </a:p>
                    <a:p>
                      <a:pPr lvl="0" algn="l" defTabSz="914400">
                        <a:lnSpc>
                          <a:spcPct val="100000"/>
                        </a:lnSpc>
                        <a:spcBef>
                          <a:spcPts val="0"/>
                        </a:spcBef>
                        <a:spcAft>
                          <a:spcPts val="0"/>
                        </a:spcAft>
                        <a:buNone/>
                        <a:tabLst/>
                        <a:defRPr/>
                      </a:pPr>
                      <a:r>
                        <a:rPr lang="el-GR" sz="1050" b="0" i="0" u="none" strike="noStrike" noProof="0">
                          <a:solidFill>
                            <a:srgbClr val="1B4528"/>
                          </a:solidFill>
                        </a:rPr>
                        <a:t>{{forced_labour_desc}}</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513227">
                <a:tc>
                  <a:txBody>
                    <a:bodyPr/>
                    <a:lstStyle/>
                    <a:p>
                      <a:pPr algn="l"/>
                      <a:r>
                        <a:rPr lang="el-GR" sz="1050" b="1" kern="1200" spc="-10" noProof="0">
                          <a:solidFill>
                            <a:schemeClr val="tx2"/>
                          </a:solidFill>
                          <a:latin typeface="+mn-lt"/>
                          <a:ea typeface="+mn-ea"/>
                          <a:cs typeface="+mn-cs"/>
                        </a:rPr>
                        <a:t xml:space="preserve">Εμπορία ανθρώπων</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el-GR" sz="1050" b="0" i="0" u="none" strike="noStrike" noProof="0">
                          <a:solidFill>
                            <a:srgbClr val="1B4528"/>
                          </a:solidFill>
                        </a:rPr>
                        <a:t>{{human_trafficking_yes?}}</a:t>
                      </a:r>
                      <a:endParaRPr lang="el-GR"/>
                    </a:p>
                    <a:p>
                      <a:pPr lvl="0" algn="l" defTabSz="914400">
                        <a:lnSpc>
                          <a:spcPct val="100000"/>
                        </a:lnSpc>
                        <a:spcBef>
                          <a:spcPts val="0"/>
                        </a:spcBef>
                        <a:spcAft>
                          <a:spcPts val="0"/>
                        </a:spcAft>
                        <a:buNone/>
                        <a:tabLst/>
                        <a:defRPr/>
                      </a:pPr>
                      <a:r>
                        <a:rPr lang="el-GR" sz="1050" b="0" i="0" u="none" strike="noStrike" noProof="0">
                          <a:solidFill>
                            <a:srgbClr val="1B4528"/>
                          </a:solidFill>
                        </a:rPr>
                        <a:t>{{human_trafficking_desc}}</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513227">
                <a:tc>
                  <a:txBody>
                    <a:bodyPr/>
                    <a:lstStyle/>
                    <a:p>
                      <a:pPr algn="l"/>
                      <a:r>
                        <a:rPr lang="el-GR" sz="1050" b="1" kern="1200" spc="-10" noProof="0">
                          <a:solidFill>
                            <a:schemeClr val="tx2"/>
                          </a:solidFill>
                          <a:latin typeface="+mn-lt"/>
                          <a:ea typeface="+mn-ea"/>
                          <a:cs typeface="+mn-cs"/>
                        </a:rPr>
                        <a:t xml:space="preserve">Διακρίσεις</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el-GR" sz="1050" b="0" i="0" u="none" strike="noStrike" noProof="0">
                          <a:solidFill>
                            <a:srgbClr val="1B4528"/>
                          </a:solidFill>
                        </a:rPr>
                        <a:t>{{discrimination_yes?}}</a:t>
                      </a:r>
                      <a:endParaRPr lang="el-GR"/>
                    </a:p>
                    <a:p>
                      <a:pPr lvl="0" algn="l" defTabSz="914400">
                        <a:lnSpc>
                          <a:spcPct val="100000"/>
                        </a:lnSpc>
                        <a:spcBef>
                          <a:spcPts val="0"/>
                        </a:spcBef>
                        <a:spcAft>
                          <a:spcPts val="0"/>
                        </a:spcAft>
                        <a:buNone/>
                        <a:tabLst/>
                        <a:defRPr/>
                      </a:pPr>
                      <a:r>
                        <a:rPr lang="el-GR" sz="1050" b="0" i="0" u="none" strike="noStrike" noProof="0">
                          <a:solidFill>
                            <a:srgbClr val="1B4528"/>
                          </a:solidFill>
                        </a:rPr>
                        <a:t>{{discrimination_desc}}</a:t>
                      </a:r>
                      <a:endParaRPr lang="el-G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361998">
                <a:tc>
                  <a:txBody>
                    <a:bodyPr/>
                    <a:lstStyle/>
                    <a:p>
                      <a:pPr lvl="0" algn="l">
                        <a:buNone/>
                      </a:pPr>
                      <a:r>
                        <a:rPr lang="el-GR" sz="1050" b="1" kern="1200" spc="-10" noProof="0">
                          <a:solidFill>
                            <a:schemeClr val="tx2"/>
                          </a:solidFill>
                          <a:latin typeface="+mn-lt"/>
                          <a:ea typeface="+mn-ea"/>
                          <a:cs typeface="+mn-cs"/>
                        </a:rPr>
                        <a:t xml:space="preserve">Άλλο </a:t>
                      </a:r>
                      <a:endParaRPr lang="en-US" b="1">
                        <a:latin typeface="+mn-lt"/>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el-GR" sz="1050" b="0" i="0" u="none" strike="noStrike" noProof="0">
                          <a:solidFill>
                            <a:srgbClr val="1B4528"/>
                          </a:solidFill>
                          <a:latin typeface="IBM Plex Sans"/>
                          <a:cs typeface="Calibri"/>
                        </a:rPr>
                        <a:t>{{other</a:t>
                      </a:r>
                      <a:r>
                        <a:rPr lang="el-GR" sz="1050" b="0" i="0" u="none" strike="noStrike" noProof="0">
                          <a:solidFill>
                            <a:srgbClr val="1B4528"/>
                          </a:solidFill>
                          <a:latin typeface="IBM Plex Sans"/>
                        </a:rPr>
                        <a:t>_yes?}}</a:t>
                      </a:r>
                      <a:endParaRPr lang="el-GR" sz="1050" b="0" i="0" u="none" strike="noStrike" noProof="0">
                        <a:solidFill>
                          <a:srgbClr val="000000"/>
                        </a:solidFill>
                        <a:latin typeface="IBM Plex Sans"/>
                      </a:endParaRPr>
                    </a:p>
                    <a:p>
                      <a:pPr lvl="0" algn="l" defTabSz="914400">
                        <a:lnSpc>
                          <a:spcPct val="100000"/>
                        </a:lnSpc>
                        <a:spcBef>
                          <a:spcPts val="0"/>
                        </a:spcBef>
                        <a:spcAft>
                          <a:spcPts val="0"/>
                        </a:spcAft>
                        <a:buNone/>
                        <a:tabLst/>
                        <a:defRPr/>
                      </a:pPr>
                      <a:r>
                        <a:rPr lang="el-GR" sz="1050" b="0" i="0" u="none" strike="noStrike" noProof="0">
                          <a:solidFill>
                            <a:srgbClr val="1B4528"/>
                          </a:solidFill>
                          <a:latin typeface="IBM Plex Sans"/>
                        </a:rPr>
                        <a:t>{{other_desc}}</a:t>
                      </a:r>
                      <a:endParaRPr lang="el-GR" sz="1050" b="0" i="0" u="none" strike="noStrike" noProof="0">
                        <a:solidFill>
                          <a:srgbClr val="000000"/>
                        </a:solidFill>
                        <a:latin typeface="IBM Plex San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bl>
          </a:graphicData>
        </a:graphic>
      </p:graphicFrame>
      <p:sp>
        <p:nvSpPr>
          <p:cNvPr id="14" name="Tekstfelt 13">
            <a:extLst>
              <a:ext uri="{FF2B5EF4-FFF2-40B4-BE49-F238E27FC236}">
                <a16:creationId xmlns:a16="http://schemas.microsoft.com/office/drawing/2014/main" id="{6621372E-99B2-9153-2F88-5157BF16DADB}"/>
              </a:ext>
            </a:extLst>
          </p:cNvPr>
          <p:cNvSpPr txBox="1"/>
          <p:nvPr/>
        </p:nvSpPr>
        <p:spPr>
          <a:xfrm>
            <a:off x="445499" y="891000"/>
            <a:ext cx="9791703" cy="728758"/>
          </a:xfrm>
          <a:prstGeom prst="rect">
            <a:avLst/>
          </a:prstGeom>
          <a:noFill/>
        </p:spPr>
        <p:txBody>
          <a:bodyPr wrap="square">
            <a:spAutoFit/>
          </a:bodyPr>
          <a:lstStyle/>
          <a:p>
            <a:pPr rtl="0">
              <a:buNone/>
            </a:pPr>
            <a:r>
              <a:rPr lang="el-GR" sz="1050" b="0" i="0" u="none" strike="noStrike" noProof="0">
                <a:solidFill>
                  <a:schemeClr val="tx2"/>
                </a:solidFill>
                <a:effectLst/>
                <a:latin typeface="Inter"/>
              </a:rPr>
              <a:t xml:space="preserve">Οι επόμενες γνωστοποιήσεις αφορούν την αναφορά από την επιχείρηση αρνητικών περιστατικών σχετικών με παιδική εργασία, καταναγκαστική εργασία, εμπορία ανθρώπων και διακρίσεις. Στην ενότητα αυτή η επιχείρηση αναφέρει εάν τα ανωτέρω αφορούν το ίδιο εργατικό δυναμικό.</a:t>
            </a:r>
            <a:endParaRPr lang="el-GR" sz="1050" b="0" noProof="0">
              <a:solidFill>
                <a:schemeClr val="tx2"/>
              </a:solidFill>
              <a:effectLst/>
              <a:latin typeface="Inter"/>
            </a:endParaRPr>
          </a:p>
          <a:p>
            <a:pPr>
              <a:buNone/>
            </a:pPr>
            <a:br>
              <a:rPr lang="el-GR" sz="1050" noProof="0">
                <a:solidFill>
                  <a:schemeClr val="tx2"/>
                </a:solidFill>
                <a:latin typeface="Inter"/>
              </a:rPr>
            </a:br>
            <a:endParaRPr lang="el-GR" sz="1050" noProof="0">
              <a:solidFill>
                <a:schemeClr val="tx2"/>
              </a:solidFill>
              <a:latin typeface="Inter"/>
            </a:endParaRPr>
          </a:p>
        </p:txBody>
      </p:sp>
    </p:spTree>
    <p:extLst>
      <p:ext uri="{BB962C8B-B14F-4D97-AF65-F5344CB8AC3E}">
        <p14:creationId xmlns:p14="http://schemas.microsoft.com/office/powerpoint/2010/main" val="37050683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54796" y="450698"/>
            <a:ext cx="9791704" cy="218627"/>
          </a:xfrm>
        </p:spPr>
        <p:txBody>
          <a:bodyPr/>
          <a:lstStyle/>
          <a:p>
            <a:r>
              <a:rPr lang="el-GR" sz="1575" b="1" i="0" u="none" strike="noStrike" kern="1200" spc="-10" noProof="0">
                <a:solidFill>
                  <a:srgbClr val="1B4528"/>
                </a:solidFill>
                <a:latin typeface="+mn-lt"/>
                <a:ea typeface="+mn-ea"/>
                <a:cs typeface="+mn-cs"/>
              </a:rPr>
              <a:t xml:space="preserve">Σοβαρά αρνητικά περιστατικά ανθρωπίνων δικαιωμάτων (C7</a:t>
            </a:r>
            <a:r>
              <a:rPr lang="el-GR" noProof="0"/>
              <a:t xml:space="preserve">) – Στην αλυσίδα αξίας</a:t>
            </a:r>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23</a:t>
            </a:fld>
            <a:endParaRPr lang="el-GR"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endParaRPr lang="el-GR" noProof="0"/>
          </a:p>
        </p:txBody>
      </p:sp>
      <p:pic>
        <p:nvPicPr>
          <p:cNvPr id="12" name="Graphic 9">
            <a:extLst>
              <a:ext uri="{FF2B5EF4-FFF2-40B4-BE49-F238E27FC236}">
                <a16:creationId xmlns:a16="http://schemas.microsoft.com/office/drawing/2014/main" id="{4B0E4A81-6D87-9920-AA37-8B4DE23275C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7761" y="4029576"/>
            <a:ext cx="181932" cy="203984"/>
          </a:xfrm>
          <a:prstGeom prst="rect">
            <a:avLst/>
          </a:prstGeom>
        </p:spPr>
      </p:pic>
      <p:graphicFrame>
        <p:nvGraphicFramePr>
          <p:cNvPr id="13" name="Table 2">
            <a:extLst>
              <a:ext uri="{FF2B5EF4-FFF2-40B4-BE49-F238E27FC236}">
                <a16:creationId xmlns:a16="http://schemas.microsoft.com/office/drawing/2014/main" id="{8F64AECA-5641-240D-7A32-215621E37E93}"/>
              </a:ext>
            </a:extLst>
          </p:cNvPr>
          <p:cNvGraphicFramePr>
            <a:graphicFrameLocks noGrp="1"/>
          </p:cNvGraphicFramePr>
          <p:nvPr>
            <p:extLst>
              <p:ext uri="{D42A27DB-BD31-4B8C-83A1-F6EECF244321}">
                <p14:modId xmlns:p14="http://schemas.microsoft.com/office/powerpoint/2010/main" val="643922417"/>
              </p:ext>
            </p:extLst>
          </p:nvPr>
        </p:nvGraphicFramePr>
        <p:xfrm>
          <a:off x="454795" y="1436935"/>
          <a:ext cx="9791703" cy="1634320"/>
        </p:xfrm>
        <a:graphic>
          <a:graphicData uri="http://schemas.openxmlformats.org/drawingml/2006/table">
            <a:tbl>
              <a:tblPr firstRow="1">
                <a:tableStyleId>{2A488322-F2BA-4B5B-9748-0D474271808F}</a:tableStyleId>
              </a:tblPr>
              <a:tblGrid>
                <a:gridCol w="2160129">
                  <a:extLst>
                    <a:ext uri="{9D8B030D-6E8A-4147-A177-3AD203B41FA5}">
                      <a16:colId xmlns:a16="http://schemas.microsoft.com/office/drawing/2014/main" val="1902117154"/>
                    </a:ext>
                  </a:extLst>
                </a:gridCol>
                <a:gridCol w="7631575">
                  <a:extLst>
                    <a:ext uri="{9D8B030D-6E8A-4147-A177-3AD203B41FA5}">
                      <a16:colId xmlns:a16="http://schemas.microsoft.com/office/drawing/2014/main" val="1904521774"/>
                    </a:ext>
                  </a:extLst>
                </a:gridCol>
              </a:tblGrid>
              <a:tr h="265187">
                <a:tc gridSpan="2">
                  <a:txBody>
                    <a:bodyPr/>
                    <a:lstStyle/>
                    <a:p>
                      <a:pPr algn="l"/>
                      <a:r>
                        <a:rPr lang="el-GR" sz="1050" b="1" kern="1200" spc="-10" noProof="0">
                          <a:solidFill>
                            <a:schemeClr val="tx2"/>
                          </a:solidFill>
                          <a:latin typeface="+mn-lt"/>
                          <a:ea typeface="+mn-ea"/>
                          <a:cs typeface="+mn-cs"/>
                        </a:rPr>
                        <a:t xml:space="preserve">Γνωρίζει η επιχείρηση επιβεβαιωμένα αρνητικά περιστατικά ανθρωπίνων δικαιωμάτων στην αλυσίδα αξίας της </a:t>
                      </a:r>
                      <a:r>
                        <a:rPr lang="el-GR" sz="1050" b="1" kern="1200" noProof="0">
                          <a:solidFill>
                            <a:srgbClr val="1B4528"/>
                          </a:solidFill>
                          <a:latin typeface="+mn-lt"/>
                          <a:ea typeface="+mn-ea"/>
                          <a:cs typeface="+mn-cs"/>
                        </a:rPr>
                        <a:t xml:space="preserve">{{company_name}}</a:t>
                      </a:r>
                      <a:r>
                        <a:rPr lang="el-GR" sz="1050" b="1" kern="1200" noProof="0">
                          <a:solidFill>
                            <a:schemeClr val="tx2"/>
                          </a:solidFill>
                          <a:latin typeface="+mn-lt"/>
                          <a:ea typeface="+mn-ea"/>
                          <a:cs typeface="+mn-cs"/>
                        </a:rPr>
                        <a:t> </a:t>
                      </a:r>
                      <a:r>
                        <a:rPr lang="el-GR" sz="1050" b="1" kern="1200" spc="-10" noProof="0">
                          <a:solidFill>
                            <a:schemeClr val="tx2"/>
                          </a:solidFill>
                          <a:latin typeface="+mn-lt"/>
                          <a:ea typeface="+mn-ea"/>
                          <a:cs typeface="+mn-cs"/>
                        </a:rPr>
                        <a:t xml:space="preserve"/>
                      </a:r>
                      <a:r>
                        <a:rPr lang="el-GR" sz="1050" b="0" kern="1200" spc="-10" noProof="0">
                          <a:solidFill>
                            <a:schemeClr val="tx2"/>
                          </a:solidFill>
                          <a:latin typeface="+mn-lt"/>
                          <a:ea typeface="+mn-ea"/>
                          <a:cs typeface="+mn-cs"/>
                        </a:rPr>
                        <a:t xml:space="preserve">(παρ. 62c)</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l-GR" sz="775" b="1" kern="1200" spc="-10" noProof="0">
                        <a:solidFill>
                          <a:schemeClr val="tx2"/>
                        </a:solidFill>
                        <a:latin typeface="+mn-lt"/>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456378">
                <a:tc>
                  <a:txBody>
                    <a:bodyPr/>
                    <a:lstStyle/>
                    <a:p>
                      <a:pPr algn="l"/>
                      <a:r>
                        <a:rPr lang="el-GR" sz="1050" b="1" kern="1200" spc="-10" noProof="0">
                          <a:solidFill>
                            <a:schemeClr val="tx2"/>
                          </a:solidFill>
                          <a:latin typeface="+mn-lt"/>
                          <a:ea typeface="+mn-ea"/>
                          <a:cs typeface="+mn-cs"/>
                        </a:rPr>
                        <a:t xml:space="preserve">Εργαζόμενοι στην αλυσίδα αξίας</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l">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incidents_workers_value_chain</a:t>
                      </a:r>
                      <a:r>
                        <a:rPr lang="el-GR" sz="1050" b="0" i="0" u="none" strike="noStrike" noProof="0">
                          <a:solidFill>
                            <a:srgbClr val="1B4528"/>
                          </a:solidFill>
                          <a:effectLst/>
                          <a:latin typeface="Inter"/>
                        </a:rPr>
                        <a:t>}}</a:t>
                      </a:r>
                      <a:endParaRPr lang="el-GR" sz="1050" noProof="0">
                        <a:solidFill>
                          <a:srgbClr val="1B4528"/>
                        </a:solidFill>
                        <a:latin typeface="+mn-lt"/>
                        <a:cs typeface="Calibri"/>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456378">
                <a:tc>
                  <a:txBody>
                    <a:bodyPr/>
                    <a:lstStyle/>
                    <a:p>
                      <a:pPr algn="l"/>
                      <a:r>
                        <a:rPr lang="el-GR" sz="1050" b="1" kern="1200" spc="-10" noProof="0">
                          <a:solidFill>
                            <a:schemeClr val="tx2"/>
                          </a:solidFill>
                          <a:latin typeface="+mn-lt"/>
                          <a:ea typeface="+mn-ea"/>
                          <a:cs typeface="+mn-cs"/>
                        </a:rPr>
                        <a:t xml:space="preserve">Επηρεαζόμενες κοινότητες</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l">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incidents_affected_communities</a:t>
                      </a:r>
                      <a:r>
                        <a:rPr lang="el-GR" sz="1050" b="0" i="0" u="none" strike="noStrike" noProof="0">
                          <a:solidFill>
                            <a:srgbClr val="1B4528"/>
                          </a:solidFill>
                          <a:effectLst/>
                          <a:latin typeface="Inter"/>
                        </a:rPr>
                        <a:t>}}</a:t>
                      </a:r>
                      <a:endParaRPr lang="el-GR" sz="1050" kern="1200" noProof="0">
                        <a:solidFill>
                          <a:srgbClr val="1B4528"/>
                        </a:solidFill>
                        <a:latin typeface="+mn-lt"/>
                        <a:ea typeface="+mn-ea"/>
                        <a:cs typeface="Calibri"/>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456378">
                <a:tc>
                  <a:txBody>
                    <a:bodyPr/>
                    <a:lstStyle/>
                    <a:p>
                      <a:pPr algn="l"/>
                      <a:r>
                        <a:rPr lang="el-GR" sz="1050" b="1" kern="1200" spc="-10" noProof="0">
                          <a:solidFill>
                            <a:schemeClr val="tx2"/>
                          </a:solidFill>
                          <a:latin typeface="+mn-lt"/>
                          <a:ea typeface="+mn-ea"/>
                          <a:cs typeface="+mn-cs"/>
                        </a:rPr>
                        <a:t xml:space="preserve">Καταναλωτές και τελικοί χρήστες</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l">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incidents_consumers</a:t>
                      </a:r>
                      <a:r>
                        <a:rPr lang="el-GR" sz="1050" b="0" i="0" u="none" strike="noStrike" noProof="0">
                          <a:solidFill>
                            <a:srgbClr val="1B4528"/>
                          </a:solidFill>
                          <a:effectLst/>
                          <a:latin typeface="Inter"/>
                        </a:rPr>
                        <a:t>}}</a:t>
                      </a:r>
                      <a:endParaRPr lang="el-GR"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414495947"/>
                  </a:ext>
                </a:extLst>
              </a:tr>
            </a:tbl>
          </a:graphicData>
        </a:graphic>
      </p:graphicFrame>
      <p:sp>
        <p:nvSpPr>
          <p:cNvPr id="14" name="Tekstfelt 13">
            <a:extLst>
              <a:ext uri="{FF2B5EF4-FFF2-40B4-BE49-F238E27FC236}">
                <a16:creationId xmlns:a16="http://schemas.microsoft.com/office/drawing/2014/main" id="{242457FC-408B-5451-1EF0-8D381F9C10EE}"/>
              </a:ext>
            </a:extLst>
          </p:cNvPr>
          <p:cNvSpPr txBox="1"/>
          <p:nvPr/>
        </p:nvSpPr>
        <p:spPr>
          <a:xfrm>
            <a:off x="452474" y="891000"/>
            <a:ext cx="9794026" cy="242919"/>
          </a:xfrm>
          <a:prstGeom prst="rect">
            <a:avLst/>
          </a:prstGeom>
          <a:noFill/>
        </p:spPr>
        <p:txBody>
          <a:bodyPr wrap="square">
            <a:spAutoFit/>
          </a:bodyPr>
          <a:lstStyle/>
          <a:p>
            <a:pPr>
              <a:spcBef>
                <a:spcPts val="789"/>
              </a:spcBef>
            </a:pPr>
            <a:r>
              <a:rPr lang="el-GR" sz="1050" b="0" i="0" u="none" strike="noStrike" noProof="0">
                <a:solidFill>
                  <a:schemeClr val="tx2"/>
                </a:solidFill>
                <a:effectLst/>
                <a:latin typeface="Inter"/>
              </a:rPr>
              <a:t xml:space="preserve">Κατωτέρω </a:t>
            </a:r>
            <a:r>
              <a:rPr lang="el-GR" sz="1050" noProof="0">
                <a:solidFill>
                  <a:schemeClr val="tx2"/>
                </a:solidFill>
                <a:latin typeface="Inter"/>
              </a:rPr>
              <a:t xml:space="preserve">παρατίθενται στοιχεία για </a:t>
            </a:r>
            <a:r>
              <a:rPr lang="el-GR" sz="1050" b="0" i="0" u="none" strike="noStrike" noProof="0">
                <a:solidFill>
                  <a:schemeClr val="tx2"/>
                </a:solidFill>
                <a:effectLst/>
                <a:latin typeface="Inter"/>
              </a:rPr>
              <a:t xml:space="preserve">τη γνώση της επιχείρησης σχετικά με επιβεβαιωμένα αρνητικά περιστατικά ανθρωπίνων δικαιωμάτων στην αλυσίδα αξίας της.</a:t>
            </a:r>
          </a:p>
        </p:txBody>
      </p:sp>
    </p:spTree>
    <p:extLst>
      <p:ext uri="{BB962C8B-B14F-4D97-AF65-F5344CB8AC3E}">
        <p14:creationId xmlns:p14="http://schemas.microsoft.com/office/powerpoint/2010/main" val="17397921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54796" y="450698"/>
            <a:ext cx="9791704" cy="218627"/>
          </a:xfrm>
        </p:spPr>
        <p:txBody>
          <a:bodyPr/>
          <a:lstStyle/>
          <a:p>
            <a:r>
              <a:rPr lang="el-GR" sz="1575" b="1" i="0" u="none" strike="noStrike" kern="1200" spc="-10" noProof="0">
                <a:solidFill>
                  <a:srgbClr val="1B4528"/>
                </a:solidFill>
              </a:rPr>
              <a:t xml:space="preserve">Έσοδα από ορισμένες δραστηριότητες (C8)</a:t>
            </a:r>
            <a:endParaRPr lang="el-GR"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24</a:t>
            </a:fld>
            <a:endParaRPr lang="el-GR"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a:t>
            </a:r>
            <a:r>
              <a:rPr lang="el-GR" noProof="0"/>
              <a:t>company_name</a:t>
            </a:r>
            <a:r>
              <a:rPr lang="el-GR" noProof="0"/>
              <a:t>}}</a:t>
            </a:r>
            <a:endParaRPr lang="el-GR" b="0" noProof="0"/>
          </a:p>
          <a:p>
            <a:endParaRPr lang="el-GR"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075469184"/>
              </p:ext>
            </p:extLst>
          </p:nvPr>
        </p:nvGraphicFramePr>
        <p:xfrm>
          <a:off x="454794" y="1250404"/>
          <a:ext cx="9791705" cy="2494617"/>
        </p:xfrm>
        <a:graphic>
          <a:graphicData uri="http://schemas.openxmlformats.org/drawingml/2006/table">
            <a:tbl>
              <a:tblPr firstRow="1">
                <a:tableStyleId>{2A488322-F2BA-4B5B-9748-0D474271808F}</a:tableStyleId>
              </a:tblPr>
              <a:tblGrid>
                <a:gridCol w="6711121">
                  <a:extLst>
                    <a:ext uri="{9D8B030D-6E8A-4147-A177-3AD203B41FA5}">
                      <a16:colId xmlns:a16="http://schemas.microsoft.com/office/drawing/2014/main" val="1902117154"/>
                    </a:ext>
                  </a:extLst>
                </a:gridCol>
                <a:gridCol w="3080584">
                  <a:extLst>
                    <a:ext uri="{9D8B030D-6E8A-4147-A177-3AD203B41FA5}">
                      <a16:colId xmlns:a16="http://schemas.microsoft.com/office/drawing/2014/main" val="1904521774"/>
                    </a:ext>
                  </a:extLst>
                </a:gridCol>
              </a:tblGrid>
              <a:tr h="301531">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050" b="1" kern="1200" spc="-10" noProof="0">
                          <a:solidFill>
                            <a:schemeClr val="tx2"/>
                          </a:solidFill>
                          <a:latin typeface="+mn-lt"/>
                          <a:ea typeface="+mn-ea"/>
                          <a:cs typeface="+mn-cs"/>
                        </a:rPr>
                        <a:t xml:space="preserve">Έσοδα από ορισμένους τομείς</a:t>
                      </a:r>
                      <a:r>
                        <a:rPr lang="el-GR" sz="1050" b="0" kern="1200" spc="-10" noProof="0">
                          <a:solidFill>
                            <a:schemeClr val="tx2"/>
                          </a:solidFill>
                          <a:latin typeface="+mn-lt"/>
                          <a:ea typeface="+mn-ea"/>
                          <a:cs typeface="+mn-cs"/>
                        </a:rPr>
                        <a:t xml:space="preserve"> (παρ. 63 a-d)</a:t>
                      </a:r>
                      <a:r>
                        <a:rPr lang="el-GR" sz="1050" b="0" kern="1200" spc="-10" noProof="0">
                          <a:solidFill>
                            <a:schemeClr val="tx2"/>
                          </a:solidFill>
                          <a:latin typeface="+mn-lt"/>
                          <a:ea typeface="+mn-ea"/>
                          <a:cs typeface="+mn-cs"/>
                        </a:rPr>
                        <a:t xml:space="preserve"/>
                      </a:r>
                      <a:r>
                        <a:rPr lang="el-GR" sz="1050" b="0" kern="1200" spc="-10" noProof="0">
                          <a:solidFill>
                            <a:schemeClr val="tx2"/>
                          </a:solidFill>
                          <a:latin typeface="+mn-lt"/>
                          <a:ea typeface="+mn-ea"/>
                          <a:cs typeface="+mn-cs"/>
                        </a:rPr>
                        <a:t xml:space="preserve"/>
                      </a:r>
                    </a:p>
                    <a:p>
                      <a:pPr algn="l"/>
                      <a:endParaRPr lang="el-GR" sz="1050" b="0" kern="1200" spc="-10" noProof="0">
                        <a:solidFill>
                          <a:schemeClr val="tx2"/>
                        </a:solidFill>
                        <a:latin typeface="+mn-lt"/>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775" noProof="0">
                        <a:solidFill>
                          <a:srgbClr val="1B4528"/>
                        </a:solidFill>
                        <a:latin typeface="+mn-lt"/>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1853461323"/>
                  </a:ext>
                </a:extLst>
              </a:tr>
              <a:tr h="301531">
                <a:tc>
                  <a:txBody>
                    <a:bodyPr/>
                    <a:lstStyle/>
                    <a:p>
                      <a:pPr algn="l"/>
                      <a:endParaRPr lang="el-GR" sz="1050" b="0" kern="1200" spc="-10" noProof="0">
                        <a:solidFill>
                          <a:schemeClr val="tx2"/>
                        </a:solidFill>
                        <a:latin typeface="+mn-lt"/>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el-GR" sz="1050" b="1" i="0" u="none" strike="noStrike" noProof="0">
                          <a:solidFill>
                            <a:srgbClr val="1B4528"/>
                          </a:solidFill>
                          <a:effectLst/>
                          <a:latin typeface="IBM Plex Sans" panose="020B0503050203000203" pitchFamily="34" charset="0"/>
                        </a:rPr>
                        <a:t xml:space="preserve">Έσοδα στο έτος </a:t>
                      </a:r>
                      <a:r>
                        <a:rPr lang="el-GR" sz="1050" b="1" i="0" u="none" strike="noStrike" noProof="0">
                          <a:solidFill>
                            <a:srgbClr val="1B4528"/>
                          </a:solidFill>
                          <a:effectLst/>
                          <a:latin typeface="Inter"/>
                        </a:rPr>
                        <a:t>{{</a:t>
                      </a:r>
                      <a:r>
                        <a:rPr lang="el-GR" sz="1050" b="1" i="0" u="none" strike="noStrike" noProof="0">
                          <a:solidFill>
                            <a:srgbClr val="1B4528"/>
                          </a:solidFill>
                          <a:effectLst/>
                          <a:latin typeface="Inter"/>
                        </a:rPr>
                        <a:t>Insert</a:t>
                      </a:r>
                      <a:r>
                        <a:rPr lang="el-GR" sz="1050" b="1" i="0" u="none" strike="noStrike" noProof="0">
                          <a:solidFill>
                            <a:srgbClr val="1B4528"/>
                          </a:solidFill>
                          <a:effectLst/>
                          <a:latin typeface="Inter"/>
                        </a:rPr>
                        <a:t> </a:t>
                      </a:r>
                      <a:r>
                        <a:rPr lang="el-GR" sz="1050" b="1" i="0" u="none" strike="noStrike" noProof="0">
                          <a:solidFill>
                            <a:srgbClr val="1B4528"/>
                          </a:solidFill>
                          <a:effectLst/>
                          <a:latin typeface="Inter"/>
                        </a:rPr>
                        <a:t>year</a:t>
                      </a:r>
                      <a:r>
                        <a:rPr lang="el-GR" sz="1050" b="1" i="0" u="none" strike="noStrike" noProof="0">
                          <a:solidFill>
                            <a:srgbClr val="1B4528"/>
                          </a:solidFill>
                          <a:effectLst/>
                          <a:latin typeface="Inter"/>
                        </a:rPr>
                        <a:t>}}</a:t>
                      </a:r>
                      <a:endParaRPr lang="el-GR" sz="1050" noProof="0">
                        <a:effectLst/>
                      </a:endParaRPr>
                    </a:p>
                  </a:txBody>
                  <a:tcPr marL="33412" marR="33412" marT="22275" marB="22275"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2680761105"/>
                  </a:ext>
                </a:extLst>
              </a:tr>
              <a:tr h="301531">
                <a:tc>
                  <a:txBody>
                    <a:bodyPr/>
                    <a:lstStyle/>
                    <a:p>
                      <a:pPr algn="l"/>
                      <a:r>
                        <a:rPr lang="el-GR" sz="1050" b="1" kern="1200" spc="-10" noProof="0">
                          <a:solidFill>
                            <a:schemeClr val="tx2"/>
                          </a:solidFill>
                          <a:latin typeface="+mn-lt"/>
                          <a:ea typeface="+mn-ea"/>
                          <a:cs typeface="+mn-cs"/>
                        </a:rPr>
                        <a:t xml:space="preserve">Αμφιλεγόμενα όπλα (αντιπροσωπικές μίνες, πυρομαχικά διασποράς, χημικά και βιολογικά όπλα)</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revenue_weapons</a:t>
                      </a:r>
                      <a:r>
                        <a:rPr lang="el-GR" sz="1050" b="0" i="0" u="none" strike="noStrike" noProof="0">
                          <a:solidFill>
                            <a:srgbClr val="1B4528"/>
                          </a:solidFill>
                          <a:effectLst/>
                          <a:latin typeface="Inter"/>
                        </a:rPr>
                        <a:t>}}</a:t>
                      </a:r>
                      <a:endParaRPr lang="el-GR" sz="105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01531">
                <a:tc>
                  <a:txBody>
                    <a:bodyPr/>
                    <a:lstStyle/>
                    <a:p>
                      <a:pPr algn="l"/>
                      <a:r>
                        <a:rPr lang="el-GR" sz="1050" b="1" kern="1200" spc="-10" noProof="0">
                          <a:solidFill>
                            <a:schemeClr val="tx2"/>
                          </a:solidFill>
                          <a:latin typeface="+mn-lt"/>
                          <a:ea typeface="+mn-ea"/>
                          <a:cs typeface="+mn-cs"/>
                        </a:rPr>
                        <a:t xml:space="preserve">Καλλιέργεια και/ή παραγωγή καπνού</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revenue_cultivation</a:t>
                      </a:r>
                      <a:r>
                        <a:rPr lang="el-GR" sz="1050" b="0" i="0" u="none" strike="noStrike" noProof="0">
                          <a:solidFill>
                            <a:srgbClr val="1B4528"/>
                          </a:solidFill>
                          <a:effectLst/>
                          <a:latin typeface="Inter"/>
                        </a:rPr>
                        <a:t>}}</a:t>
                      </a:r>
                      <a:endParaRPr lang="el-GR" sz="105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301531">
                <a:tc>
                  <a:txBody>
                    <a:bodyPr/>
                    <a:lstStyle/>
                    <a:p>
                      <a:pPr algn="l"/>
                      <a:r>
                        <a:rPr lang="el-GR" sz="1050" b="1" kern="1200" spc="-10" noProof="0">
                          <a:solidFill>
                            <a:schemeClr val="tx2"/>
                          </a:solidFill>
                          <a:latin typeface="+mn-lt"/>
                          <a:ea typeface="+mn-ea"/>
                          <a:cs typeface="+mn-cs"/>
                        </a:rPr>
                        <a:t xml:space="preserve">Ορυκτά καύσιμα: άνθρακας</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revenue_coal</a:t>
                      </a:r>
                      <a:r>
                        <a:rPr lang="el-GR" sz="1050" b="0" i="0" u="none" strike="noStrike" noProof="0">
                          <a:solidFill>
                            <a:srgbClr val="1B4528"/>
                          </a:solidFill>
                          <a:effectLst/>
                          <a:latin typeface="Inter"/>
                        </a:rPr>
                        <a:t>}}</a:t>
                      </a:r>
                      <a:endParaRPr lang="el-GR" sz="105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301531">
                <a:tc>
                  <a:txBody>
                    <a:bodyPr/>
                    <a:lstStyle/>
                    <a:p>
                      <a:pPr algn="l"/>
                      <a:r>
                        <a:rPr lang="el-GR" sz="1050" b="1" kern="1200" spc="-10" noProof="0">
                          <a:solidFill>
                            <a:schemeClr val="tx2"/>
                          </a:solidFill>
                          <a:latin typeface="+mn-lt"/>
                          <a:ea typeface="+mn-ea"/>
                          <a:cs typeface="+mn-cs"/>
                        </a:rPr>
                        <a:t xml:space="preserve">Ορυκτά καύσιμα: πετρέλαιο</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revenue_oil</a:t>
                      </a:r>
                      <a:r>
                        <a:rPr lang="el-GR" sz="1050" b="0" i="0" u="none" strike="noStrike" noProof="0">
                          <a:solidFill>
                            <a:srgbClr val="1B4528"/>
                          </a:solidFill>
                          <a:effectLst/>
                          <a:latin typeface="Inter"/>
                        </a:rPr>
                        <a:t>}}</a:t>
                      </a:r>
                      <a:endParaRPr lang="el-GR" sz="105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301531">
                <a:tc>
                  <a:txBody>
                    <a:bodyPr/>
                    <a:lstStyle/>
                    <a:p>
                      <a:pPr algn="l"/>
                      <a:r>
                        <a:rPr lang="el-GR" sz="1050" b="1" kern="1200" spc="-10" noProof="0">
                          <a:solidFill>
                            <a:schemeClr val="tx2"/>
                          </a:solidFill>
                          <a:latin typeface="+mn-lt"/>
                          <a:ea typeface="+mn-ea"/>
                          <a:cs typeface="+mn-cs"/>
                        </a:rPr>
                        <a:t xml:space="preserve">Ορυκτά καύσιμα: αέριο/φυσικό αέριο</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revenue_gas</a:t>
                      </a:r>
                      <a:r>
                        <a:rPr lang="el-GR" sz="1050" b="0" i="0" u="none" strike="noStrike" noProof="0">
                          <a:solidFill>
                            <a:srgbClr val="1B4528"/>
                          </a:solidFill>
                          <a:effectLst/>
                          <a:latin typeface="Inter"/>
                        </a:rPr>
                        <a:t>}}</a:t>
                      </a:r>
                      <a:endParaRPr lang="el-GR" sz="105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301531">
                <a:tc>
                  <a:txBody>
                    <a:bodyPr/>
                    <a:lstStyle/>
                    <a:p>
                      <a:pPr algn="l"/>
                      <a:r>
                        <a:rPr lang="el-GR" sz="1050" b="1" kern="1200" spc="-10" noProof="0">
                          <a:solidFill>
                            <a:schemeClr val="tx2"/>
                          </a:solidFill>
                          <a:latin typeface="+mn-lt"/>
                          <a:ea typeface="+mn-ea"/>
                          <a:cs typeface="+mn-cs"/>
                        </a:rPr>
                        <a:t xml:space="preserve">Παραγωγή χημικών για φυτοφάρμακα και άλλα αγροχημικά προϊόντα</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el-GR" sz="1050" b="0" i="0" u="none" strike="noStrike" noProof="0">
                          <a:solidFill>
                            <a:srgbClr val="1B4528"/>
                          </a:solidFill>
                          <a:effectLst/>
                          <a:latin typeface="Inter"/>
                        </a:rPr>
                        <a:t>{{</a:t>
                      </a:r>
                      <a:r>
                        <a:rPr lang="el-GR" sz="1050" b="0" i="0" u="none" strike="noStrike" noProof="0">
                          <a:solidFill>
                            <a:srgbClr val="1B4528"/>
                          </a:solidFill>
                          <a:effectLst/>
                          <a:latin typeface="Inter"/>
                        </a:rPr>
                        <a:t>revenue_chemichal</a:t>
                      </a:r>
                      <a:r>
                        <a:rPr lang="el-GR" sz="1050" b="0" i="0" u="none" strike="noStrike" noProof="0">
                          <a:solidFill>
                            <a:srgbClr val="1B4528"/>
                          </a:solidFill>
                          <a:effectLst/>
                          <a:latin typeface="Inter"/>
                        </a:rPr>
                        <a:t>}}</a:t>
                      </a:r>
                      <a:endParaRPr lang="el-GR" sz="105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4094391"/>
                  </a:ext>
                </a:extLst>
              </a:tr>
            </a:tbl>
          </a:graphicData>
        </a:graphic>
      </p:graphicFrame>
      <p:sp>
        <p:nvSpPr>
          <p:cNvPr id="9" name="Tekstfelt 8">
            <a:extLst>
              <a:ext uri="{FF2B5EF4-FFF2-40B4-BE49-F238E27FC236}">
                <a16:creationId xmlns:a16="http://schemas.microsoft.com/office/drawing/2014/main" id="{919C8F24-DB64-A6E9-713A-0D402DE90CB8}"/>
              </a:ext>
            </a:extLst>
          </p:cNvPr>
          <p:cNvSpPr txBox="1"/>
          <p:nvPr/>
        </p:nvSpPr>
        <p:spPr>
          <a:xfrm>
            <a:off x="454794" y="891000"/>
            <a:ext cx="9791705" cy="242919"/>
          </a:xfrm>
          <a:prstGeom prst="rect">
            <a:avLst/>
          </a:prstGeom>
          <a:noFill/>
        </p:spPr>
        <p:txBody>
          <a:bodyPr wrap="square">
            <a:spAutoFit/>
          </a:bodyPr>
          <a:lstStyle/>
          <a:p>
            <a:pPr rtl="0">
              <a:buNone/>
            </a:pPr>
            <a:r>
              <a:rPr lang="el-GR" sz="1050" noProof="0">
                <a:solidFill>
                  <a:schemeClr val="tx2"/>
                </a:solidFill>
                <a:latin typeface="Inter"/>
              </a:rPr>
              <a:t xml:space="preserve">Η</a:t>
            </a:r>
            <a:r>
              <a:rPr lang="el-GR" sz="1050" b="0" i="0" u="none" strike="noStrike" noProof="0">
                <a:solidFill>
                  <a:schemeClr val="tx2"/>
                </a:solidFill>
                <a:effectLst/>
                <a:latin typeface="Inter"/>
              </a:rPr>
              <a:t xml:space="preserve"> επιχείρηση ανέφερε τα έσοδα από ορισμένους τομείς και τα ποσά από τις δραστηριότητες αυτές.</a:t>
            </a:r>
            <a:endParaRPr lang="el-GR" noProof="0">
              <a:solidFill>
                <a:schemeClr val="tx2"/>
              </a:solidFill>
            </a:endParaRPr>
          </a:p>
        </p:txBody>
      </p:sp>
      <p:sp>
        <p:nvSpPr>
          <p:cNvPr id="12" name="Title 3">
            <a:extLst>
              <a:ext uri="{FF2B5EF4-FFF2-40B4-BE49-F238E27FC236}">
                <a16:creationId xmlns:a16="http://schemas.microsoft.com/office/drawing/2014/main" id="{36344292-9D49-4ECA-2BB5-0243CF820322}"/>
              </a:ext>
            </a:extLst>
          </p:cNvPr>
          <p:cNvSpPr txBox="1">
            <a:spLocks/>
          </p:cNvSpPr>
          <p:nvPr/>
        </p:nvSpPr>
        <p:spPr>
          <a:xfrm>
            <a:off x="454796" y="4164232"/>
            <a:ext cx="9791704" cy="218627"/>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575" b="1" kern="1200" spc="-10" baseline="0">
                <a:solidFill>
                  <a:schemeClr val="tx2"/>
                </a:solidFill>
                <a:latin typeface="+mj-lt"/>
                <a:ea typeface="+mj-ea"/>
                <a:cs typeface="+mj-cs"/>
              </a:defRPr>
            </a:lvl1pPr>
          </a:lstStyle>
          <a:p>
            <a:r>
              <a:rPr lang="el-GR" noProof="0">
                <a:solidFill>
                  <a:srgbClr val="1B4528"/>
                </a:solidFill>
              </a:rPr>
              <a:t xml:space="preserve">Έμφυλη πολυμορφία στο όργανο διοίκησης (C9)</a:t>
            </a:r>
            <a:endParaRPr lang="el-GR" noProof="0"/>
          </a:p>
        </p:txBody>
      </p:sp>
      <p:graphicFrame>
        <p:nvGraphicFramePr>
          <p:cNvPr id="13" name="Table 7">
            <a:extLst>
              <a:ext uri="{FF2B5EF4-FFF2-40B4-BE49-F238E27FC236}">
                <a16:creationId xmlns:a16="http://schemas.microsoft.com/office/drawing/2014/main" id="{5010B50D-163D-69DE-999C-3BC9FA39E2D0}"/>
              </a:ext>
            </a:extLst>
          </p:cNvPr>
          <p:cNvGraphicFramePr>
            <a:graphicFrameLocks noGrp="1"/>
          </p:cNvGraphicFramePr>
          <p:nvPr>
            <p:extLst>
              <p:ext uri="{D42A27DB-BD31-4B8C-83A1-F6EECF244321}">
                <p14:modId xmlns:p14="http://schemas.microsoft.com/office/powerpoint/2010/main" val="2206177221"/>
              </p:ext>
            </p:extLst>
          </p:nvPr>
        </p:nvGraphicFramePr>
        <p:xfrm>
          <a:off x="445498" y="4923932"/>
          <a:ext cx="9791703" cy="505134"/>
        </p:xfrm>
        <a:graphic>
          <a:graphicData uri="http://schemas.openxmlformats.org/drawingml/2006/table">
            <a:tbl>
              <a:tblPr firstRow="1">
                <a:tableStyleId>{2A488322-F2BA-4B5B-9748-0D474271808F}</a:tableStyleId>
              </a:tblPr>
              <a:tblGrid>
                <a:gridCol w="6756471">
                  <a:extLst>
                    <a:ext uri="{9D8B030D-6E8A-4147-A177-3AD203B41FA5}">
                      <a16:colId xmlns:a16="http://schemas.microsoft.com/office/drawing/2014/main" val="2698153288"/>
                    </a:ext>
                  </a:extLst>
                </a:gridCol>
                <a:gridCol w="3035232">
                  <a:extLst>
                    <a:ext uri="{9D8B030D-6E8A-4147-A177-3AD203B41FA5}">
                      <a16:colId xmlns:a16="http://schemas.microsoft.com/office/drawing/2014/main" val="2119413191"/>
                    </a:ext>
                  </a:extLst>
                </a:gridCol>
              </a:tblGrid>
              <a:tr h="252567">
                <a:tc rowSpan="2">
                  <a:txBody>
                    <a:bodyPr/>
                    <a:lstStyle/>
                    <a:p>
                      <a:r>
                        <a:rPr lang="el-GR" sz="1050" b="1" kern="1200" spc="-10" noProof="0">
                          <a:solidFill>
                            <a:schemeClr val="tx2"/>
                          </a:solidFill>
                          <a:latin typeface="+mj-lt"/>
                          <a:ea typeface="+mn-ea"/>
                          <a:cs typeface="+mn-cs"/>
                        </a:rPr>
                        <a:t xml:space="preserve">Αναλογία γυναικών προς άνδρες στο όργανο διοίκησης (</a:t>
                      </a:r>
                      <a:r>
                        <a:rPr lang="el-GR" sz="1050" b="0" kern="1200" spc="-10" noProof="0">
                          <a:solidFill>
                            <a:schemeClr val="tx2"/>
                          </a:solidFill>
                          <a:latin typeface="+mj-lt"/>
                          <a:ea typeface="+mn-ea"/>
                          <a:cs typeface="+mn-cs"/>
                        </a:rPr>
                        <a:t xml:space="preserve">παρ. 64</a:t>
                      </a:r>
                      <a:r>
                        <a:rPr lang="el-GR" sz="1050" b="1" kern="1200" spc="-10" noProof="0">
                          <a:solidFill>
                            <a:schemeClr val="tx2"/>
                          </a:solidFill>
                          <a:latin typeface="+mj-lt"/>
                          <a:ea typeface="+mn-ea"/>
                          <a:cs typeface="+mn-cs"/>
                        </a:rPr>
                        <a:t>)</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el-GR" sz="1050" b="1" noProof="0">
                          <a:solidFill>
                            <a:schemeClr val="tx2"/>
                          </a:solidFill>
                        </a:rPr>
                        <a:t xml:space="preserve">Έτος </a:t>
                      </a:r>
                      <a:r>
                        <a:rPr lang="el-GR" sz="1050" b="1" i="0" u="none" strike="noStrike" noProof="0">
                          <a:solidFill>
                            <a:srgbClr val="1B4528"/>
                          </a:solidFill>
                          <a:effectLst/>
                          <a:latin typeface="Inter"/>
                        </a:rPr>
                        <a:t>{{Insert year}}</a:t>
                      </a:r>
                      <a:endParaRPr lang="el-GR" sz="1050" b="1" noProof="0">
                        <a:solidFill>
                          <a:schemeClr val="tx2"/>
                        </a:solidFill>
                      </a:endParaRP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52567">
                <a:tc vMerge="1">
                  <a:txBody>
                    <a:bodyPr/>
                    <a:lstStyle/>
                    <a:p>
                      <a:endParaRPr lang="el-GR" sz="775" b="0" noProof="0">
                        <a:solidFill>
                          <a:schemeClr val="tx2"/>
                        </a:solidFill>
                      </a:endParaRP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a:r>
                        <a:rPr lang="el-GR" sz="1050" b="0" noProof="0">
                          <a:solidFill>
                            <a:srgbClr val="1B4528"/>
                          </a:solidFill>
                        </a:rPr>
                        <a:t>{{</a:t>
                      </a:r>
                      <a:r>
                        <a:rPr lang="el-GR" sz="1050" b="0" i="0" u="none" strike="noStrike" noProof="0">
                          <a:solidFill>
                            <a:srgbClr val="1B4528"/>
                          </a:solidFill>
                          <a:latin typeface="IBM Plex Sans"/>
                        </a:rPr>
                        <a:t>gender_supreme_body</a:t>
                      </a:r>
                      <a:r>
                        <a:rPr lang="el-GR" sz="1050" b="0" noProof="0">
                          <a:solidFill>
                            <a:srgbClr val="1B4528"/>
                          </a:solidFill>
                        </a:rPr>
                        <a:t>}}</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sp>
        <p:nvSpPr>
          <p:cNvPr id="19" name="Tekstfelt 18">
            <a:extLst>
              <a:ext uri="{FF2B5EF4-FFF2-40B4-BE49-F238E27FC236}">
                <a16:creationId xmlns:a16="http://schemas.microsoft.com/office/drawing/2014/main" id="{299A6B5A-11F5-BD48-FC7A-B6A967C62C71}"/>
              </a:ext>
            </a:extLst>
          </p:cNvPr>
          <p:cNvSpPr txBox="1"/>
          <p:nvPr/>
        </p:nvSpPr>
        <p:spPr>
          <a:xfrm>
            <a:off x="2674261" y="2848961"/>
            <a:ext cx="5348520" cy="323893"/>
          </a:xfrm>
          <a:prstGeom prst="rect">
            <a:avLst/>
          </a:prstGeom>
          <a:noFill/>
        </p:spPr>
        <p:txBody>
          <a:bodyPr wrap="square">
            <a:spAutoFit/>
          </a:bodyPr>
          <a:lstStyle/>
          <a:p>
            <a:r>
              <a:rPr lang="el-GR" b="0" noProof="0">
                <a:effectLst/>
              </a:rPr>
              <a:t> </a:t>
            </a:r>
            <a:endParaRPr lang="el-GR" noProof="0"/>
          </a:p>
        </p:txBody>
      </p:sp>
      <p:sp>
        <p:nvSpPr>
          <p:cNvPr id="22" name="Tekstfelt 21">
            <a:extLst>
              <a:ext uri="{FF2B5EF4-FFF2-40B4-BE49-F238E27FC236}">
                <a16:creationId xmlns:a16="http://schemas.microsoft.com/office/drawing/2014/main" id="{3F21186B-0691-91C9-5FC9-0771DBEFE852}"/>
              </a:ext>
            </a:extLst>
          </p:cNvPr>
          <p:cNvSpPr txBox="1"/>
          <p:nvPr/>
        </p:nvSpPr>
        <p:spPr>
          <a:xfrm>
            <a:off x="461316" y="4496286"/>
            <a:ext cx="9791705" cy="242919"/>
          </a:xfrm>
          <a:prstGeom prst="rect">
            <a:avLst/>
          </a:prstGeom>
          <a:noFill/>
        </p:spPr>
        <p:txBody>
          <a:bodyPr wrap="square">
            <a:spAutoFit/>
          </a:bodyPr>
          <a:lstStyle/>
          <a:p>
            <a:pPr rtl="0">
              <a:buNone/>
            </a:pPr>
            <a:r>
              <a:rPr lang="el-GR" sz="1050" noProof="0">
                <a:solidFill>
                  <a:schemeClr val="tx2"/>
                </a:solidFill>
                <a:latin typeface="Inter"/>
              </a:rPr>
              <a:t xml:space="preserve">Η</a:t>
            </a:r>
            <a:r>
              <a:rPr lang="el-GR" sz="1050" b="0" i="0" u="none" strike="noStrike" noProof="0">
                <a:solidFill>
                  <a:schemeClr val="tx2"/>
                </a:solidFill>
                <a:effectLst/>
                <a:latin typeface="Inter"/>
              </a:rPr>
              <a:t xml:space="preserve"> επιχείρηση ανέφερε την αναλογία γυναικών προς άνδρες στο όργανο διοίκησης.</a:t>
            </a:r>
          </a:p>
        </p:txBody>
      </p:sp>
    </p:spTree>
    <p:extLst>
      <p:ext uri="{BB962C8B-B14F-4D97-AF65-F5344CB8AC3E}">
        <p14:creationId xmlns:p14="http://schemas.microsoft.com/office/powerpoint/2010/main" val="3739817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237B3177-8AE4-2BCB-D392-E3B969EBBB7B}"/>
              </a:ext>
            </a:extLst>
          </p:cNvPr>
          <p:cNvSpPr>
            <a:spLocks noGrp="1"/>
          </p:cNvSpPr>
          <p:nvPr>
            <p:ph idx="1"/>
          </p:nvPr>
        </p:nvSpPr>
        <p:spPr>
          <a:xfrm>
            <a:off x="3860535" y="3900259"/>
            <a:ext cx="3025224" cy="907065"/>
          </a:xfrm>
          <a:noFill/>
        </p:spPr>
        <p:txBody>
          <a:bodyPr>
            <a:normAutofit/>
          </a:bodyPr>
          <a:lstStyle/>
          <a:p>
            <a:pPr algn="ctr"/>
            <a:r>
              <a:rPr lang="el-GR" sz="1575" b="1" noProof="0">
                <a:solidFill>
                  <a:srgbClr val="FFFFFF"/>
                </a:solidFill>
                <a:latin typeface="IBM Plex Sans" panose="020B0503050203000203" pitchFamily="34" charset="0"/>
              </a:rPr>
              <a:t>{{</a:t>
            </a:r>
            <a:r>
              <a:rPr lang="el-GR" sz="1575" b="1" noProof="0">
                <a:solidFill>
                  <a:srgbClr val="FFFFFF"/>
                </a:solidFill>
                <a:latin typeface="IBM Plex Sans" panose="020B0503050203000203" pitchFamily="34" charset="0"/>
              </a:rPr>
              <a:t>company_name</a:t>
            </a:r>
            <a:r>
              <a:rPr lang="el-GR" sz="1575" b="1" noProof="0">
                <a:solidFill>
                  <a:srgbClr val="FFFFFF"/>
                </a:solidFill>
                <a:latin typeface="IBM Plex Sans" panose="020B0503050203000203" pitchFamily="34" charset="0"/>
              </a:rPr>
              <a:t>}}</a:t>
            </a:r>
          </a:p>
          <a:p>
            <a:pPr algn="ctr"/>
            <a:r>
              <a:rPr lang="el-GR" sz="1575" b="1" noProof="0">
                <a:solidFill>
                  <a:srgbClr val="FFFFFF"/>
                </a:solidFill>
                <a:latin typeface="IBM Plex Sans" panose="020B0503050203000203" pitchFamily="34" charset="0"/>
              </a:rPr>
              <a:t>{{</a:t>
            </a:r>
            <a:r>
              <a:rPr lang="el-GR" sz="1575" b="1" noProof="0">
                <a:solidFill>
                  <a:srgbClr val="FFFFFF"/>
                </a:solidFill>
                <a:latin typeface="IBM Plex Sans" panose="020B0503050203000203" pitchFamily="34" charset="0"/>
              </a:rPr>
              <a:t>insert_year</a:t>
            </a:r>
            <a:r>
              <a:rPr lang="el-GR" sz="1575" b="1" noProof="0">
                <a:solidFill>
                  <a:srgbClr val="FFFFFF"/>
                </a:solidFill>
                <a:latin typeface="IBM Plex Sans" panose="020B0503050203000203" pitchFamily="34" charset="0"/>
              </a:rPr>
              <a:t>}}</a:t>
            </a:r>
            <a:br>
              <a:rPr lang="el-GR" sz="1575" b="1" noProof="0">
                <a:solidFill>
                  <a:srgbClr val="FFFFFF"/>
                </a:solidFill>
                <a:latin typeface="IBM Plex Sans" panose="020B0503050203000203" pitchFamily="34" charset="0"/>
              </a:rPr>
            </a:br>
            <a:endParaRPr lang="el-GR" sz="1575" noProof="0"/>
          </a:p>
        </p:txBody>
      </p:sp>
      <p:sp>
        <p:nvSpPr>
          <p:cNvPr id="4" name="Pladsholder til slidenummer 3">
            <a:extLst>
              <a:ext uri="{FF2B5EF4-FFF2-40B4-BE49-F238E27FC236}">
                <a16:creationId xmlns:a16="http://schemas.microsoft.com/office/drawing/2014/main" id="{48F46A40-E7BB-3909-2FA6-1A954E10A816}"/>
              </a:ext>
            </a:extLst>
          </p:cNvPr>
          <p:cNvSpPr>
            <a:spLocks noGrp="1"/>
          </p:cNvSpPr>
          <p:nvPr>
            <p:ph type="sldNum" sz="quarter" idx="16"/>
          </p:nvPr>
        </p:nvSpPr>
        <p:spPr>
          <a:xfrm>
            <a:off x="8050571" y="7202406"/>
            <a:ext cx="2405700" cy="134955"/>
          </a:xfrm>
        </p:spPr>
        <p:txBody>
          <a:bodyPr/>
          <a:lstStyle/>
          <a:p>
            <a:fld id="{5A0D23CF-C5A3-5445-819D-C647D180BB4B}" type="slidenum">
              <a:rPr lang="el-GR" noProof="0" smtClean="0"/>
              <a:pPr/>
              <a:t>25</a:t>
            </a:fld>
            <a:endParaRPr lang="el-GR" noProof="0"/>
          </a:p>
        </p:txBody>
      </p:sp>
    </p:spTree>
    <p:extLst>
      <p:ext uri="{BB962C8B-B14F-4D97-AF65-F5344CB8AC3E}">
        <p14:creationId xmlns:p14="http://schemas.microsoft.com/office/powerpoint/2010/main" val="3140708205"/>
      </p:ext>
    </p:extLst>
  </p:cSld>
  <p:clrMapOvr>
    <a:masterClrMapping/>
  </p:clrMapOvr>
</p:sld>
</file>

<file path=ppt/theme/theme1.xml><?xml version="1.0" encoding="utf-8"?>
<a:theme xmlns:a="http://schemas.openxmlformats.org/drawingml/2006/main" name="Tema ESG skabelon 2023">
  <a:themeElements>
    <a:clrScheme name="Custom 63">
      <a:dk1>
        <a:srgbClr val="000000"/>
      </a:dk1>
      <a:lt1>
        <a:srgbClr val="FFFFFF"/>
      </a:lt1>
      <a:dk2>
        <a:srgbClr val="1B4528"/>
      </a:dk2>
      <a:lt2>
        <a:srgbClr val="D1DAD4"/>
      </a:lt2>
      <a:accent1>
        <a:srgbClr val="1B4528"/>
      </a:accent1>
      <a:accent2>
        <a:srgbClr val="2D55FF"/>
      </a:accent2>
      <a:accent3>
        <a:srgbClr val="FCFC95"/>
      </a:accent3>
      <a:accent4>
        <a:srgbClr val="5F7D69"/>
      </a:accent4>
      <a:accent5>
        <a:srgbClr val="8DA294"/>
      </a:accent5>
      <a:accent6>
        <a:srgbClr val="BBC7BF"/>
      </a:accent6>
      <a:hlink>
        <a:srgbClr val="00A65A"/>
      </a:hlink>
      <a:folHlink>
        <a:srgbClr val="A6A6A6"/>
      </a:folHlink>
    </a:clrScheme>
    <a:fontScheme name="Custom 19">
      <a:majorFont>
        <a:latin typeface="IBM Plex Sans"/>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5F7D69"/>
        </a:solidFill>
        <a:ln>
          <a:noFill/>
        </a:ln>
      </a:spPr>
      <a:bodyPr lIns="126000" tIns="108000" rIns="108000" bIns="144000" rtlCol="0" anchor="t" anchorCtr="0"/>
      <a:lstStyle>
        <a:defPPr algn="l">
          <a:lnSpc>
            <a:spcPct val="106000"/>
          </a:lnSpc>
          <a:defRPr sz="900" spc="-10" dirty="0"/>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lnSpc>
            <a:spcPct val="120000"/>
          </a:lnSpc>
          <a:defRPr sz="900" spc="-10" dirty="0" smtClean="0">
            <a:solidFill>
              <a:schemeClr val="bg1"/>
            </a:solidFill>
          </a:defRPr>
        </a:defPPr>
      </a:lstStyle>
    </a:txDef>
  </a:objectDefaults>
  <a:extraClrSchemeLst/>
  <a:custClrLst>
    <a:custClr name="Grøn 100%">
      <a:srgbClr val="1B4529"/>
    </a:custClr>
    <a:custClr name="Grøn 90%">
      <a:srgbClr val="32583E"/>
    </a:custClr>
    <a:custClr name="Grøn 80%">
      <a:srgbClr val="496A54"/>
    </a:custClr>
    <a:custClr name="Grøn 70%">
      <a:srgbClr val="5F7D69"/>
    </a:custClr>
    <a:custClr name="Grøn 60%">
      <a:srgbClr val="768F7F"/>
    </a:custClr>
    <a:custClr name="Grøn 50%">
      <a:srgbClr val="8DA294"/>
    </a:custClr>
    <a:custClr name="Grøn 40%">
      <a:srgbClr val="A4B5A9"/>
    </a:custClr>
    <a:custClr name="Grøn 30%">
      <a:srgbClr val="BBC7BF"/>
    </a:custClr>
    <a:custClr name="Grøn 20%">
      <a:srgbClr val="D1DAD4"/>
    </a:custClr>
    <a:custClr name="Grøn 10%">
      <a:srgbClr val="E8ECEA"/>
    </a:custClr>
  </a:custClrLst>
  <a:extLst>
    <a:ext uri="{05A4C25C-085E-4340-85A3-A5531E510DB2}">
      <thm15:themeFamily xmlns:thm15="http://schemas.microsoft.com/office/thememl/2012/main" name="Tema ESG skabelon 2023" id="{4F616B44-E23C-9D4B-A414-B698B6CB0592}" vid="{C1CEAE3D-34EF-BE45-B60E-4DC3BCA22C44}"/>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4C5C98558ED72C4BBCB756F8247CFA4C" ma:contentTypeVersion="18" ma:contentTypeDescription="Opret et nyt dokument." ma:contentTypeScope="" ma:versionID="05a2f073985d4662672e64bc9a421606">
  <xsd:schema xmlns:xsd="http://www.w3.org/2001/XMLSchema" xmlns:xs="http://www.w3.org/2001/XMLSchema" xmlns:p="http://schemas.microsoft.com/office/2006/metadata/properties" xmlns:ns2="a1c42b88-5e29-4fe4-8139-416e072a19cb" xmlns:ns3="202ccbda-223a-4645-9097-be5f8cdf3aa6" xmlns:ns4="43a5b9ff-ef68-4e08-86c8-07b185fdc818" targetNamespace="http://schemas.microsoft.com/office/2006/metadata/properties" ma:root="true" ma:fieldsID="50f1595d426bd689bc07261444f354ae" ns2:_="" ns3:_="" ns4:_="">
    <xsd:import namespace="a1c42b88-5e29-4fe4-8139-416e072a19cb"/>
    <xsd:import namespace="202ccbda-223a-4645-9097-be5f8cdf3aa6"/>
    <xsd:import namespace="43a5b9ff-ef68-4e08-86c8-07b185fdc818"/>
    <xsd:element name="properties">
      <xsd:complexType>
        <xsd:sequence>
          <xsd:element name="documentManagement">
            <xsd:complexType>
              <xsd:all>
                <xsd:element ref="ns2:MediaServiceMetadata" minOccurs="0"/>
                <xsd:element ref="ns2:MediaServiceFastMetadata" minOccurs="0"/>
                <xsd:element ref="ns2:MediaLengthInSeconds" minOccurs="0"/>
                <xsd:element ref="ns3:SharedWithUsers" minOccurs="0"/>
                <xsd:element ref="ns3:SharedWithDetails" minOccurs="0"/>
                <xsd:element ref="ns2:MediaServiceAutoKeyPoints" minOccurs="0"/>
                <xsd:element ref="ns2:MediaServiceKeyPoints" minOccurs="0"/>
                <xsd:element ref="ns2:MediaServiceDateTaken"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indhold"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c42b88-5e29-4fe4-8139-416e072a19c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Length (seconds)" ma:internalName="MediaLengthInSeconds" ma:readOnly="true">
      <xsd:simpleType>
        <xsd:restriction base="dms:Unknow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Billedmærker" ma:readOnly="false" ma:fieldId="{5cf76f15-5ced-4ddc-b409-7134ff3c332f}" ma:taxonomyMulti="true" ma:sspId="5bc8fd69-a729-4468-93ff-8d64956d1ba4" ma:termSetId="09814cd3-568e-fe90-9814-8d621ff8fb84" ma:anchorId="fba54fb3-c3e1-fe81-a776-ca4b69148c4d" ma:open="true" ma:isKeyword="false">
      <xsd:complexType>
        <xsd:sequence>
          <xsd:element ref="pc:Terms" minOccurs="0" maxOccurs="1"/>
        </xsd:sequence>
      </xsd:complex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indhold" ma:index="22" nillable="true" ma:displayName="indhold" ma:format="Dropdown" ma:internalName="indhold">
      <xsd:simpleType>
        <xsd:restriction base="dms:Text">
          <xsd:maxLength value="255"/>
        </xsd:restrictio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02ccbda-223a-4645-9097-be5f8cdf3aa6" elementFormDefault="qualified">
    <xsd:import namespace="http://schemas.microsoft.com/office/2006/documentManagement/types"/>
    <xsd:import namespace="http://schemas.microsoft.com/office/infopath/2007/PartnerControls"/>
    <xsd:element name="SharedWithUsers" ma:index="11"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Delt med detaljer"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3a5b9ff-ef68-4e08-86c8-07b185fdc818"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a2a80f0-0fad-4372-b264-33bf0361a80c}" ma:internalName="TaxCatchAll" ma:showField="CatchAllData" ma:web="202ccbda-223a-4645-9097-be5f8cdf3a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dhol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43a5b9ff-ef68-4e08-86c8-07b185fdc818" xsi:nil="true"/>
    <indhold xmlns="a1c42b88-5e29-4fe4-8139-416e072a19cb" xsi:nil="true"/>
    <lcf76f155ced4ddcb4097134ff3c332f xmlns="a1c42b88-5e29-4fe4-8139-416e072a19cb">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C3C50CC-B1F2-4B3E-8326-2BA1B8993967}">
  <ds:schemaRefs>
    <ds:schemaRef ds:uri="202ccbda-223a-4645-9097-be5f8cdf3aa6"/>
    <ds:schemaRef ds:uri="43a5b9ff-ef68-4e08-86c8-07b185fdc818"/>
    <ds:schemaRef ds:uri="a1c42b88-5e29-4fe4-8139-416e072a19c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12C55C2-A88D-45C1-99A2-B6C1D18AED07}">
  <ds:schemaRefs>
    <ds:schemaRef ds:uri="43a5b9ff-ef68-4e08-86c8-07b185fdc818"/>
    <ds:schemaRef ds:uri="a1c42b88-5e29-4fe4-8139-416e072a19cb"/>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C7C2DE4E-10FC-4FD7-BA3A-6232093B728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25</Slides>
  <Notes>21</Notes>
  <HiddenSlides>0</HiddenSlides>
  <ScaleCrop>false</ScaleCrop>
  <HeadingPairs>
    <vt:vector size="4" baseType="variant">
      <vt:variant>
        <vt:lpstr>Tema</vt:lpstr>
      </vt:variant>
      <vt:variant>
        <vt:i4>1</vt:i4>
      </vt:variant>
      <vt:variant>
        <vt:lpstr>Slidetitler</vt:lpstr>
      </vt:variant>
      <vt:variant>
        <vt:i4>25</vt:i4>
      </vt:variant>
    </vt:vector>
  </HeadingPairs>
  <TitlesOfParts>
    <vt:vector size="26" baseType="lpstr">
      <vt:lpstr>Tema ESG skabelon 2023</vt:lpstr>
      <vt:lpstr>OPGØRELSE {{insert_year}}</vt:lpstr>
      <vt:lpstr>ESG opgørelse  </vt:lpstr>
      <vt:lpstr>Grundlag for udarbejdelse (B1) </vt:lpstr>
      <vt:lpstr>Grundlag for udarbejdelse (B1) - fortsat</vt:lpstr>
      <vt:lpstr>Indsatser, politikker og fremtidige initiativer for omstilling til en mere bæredygtig økonomi (B2)</vt:lpstr>
      <vt:lpstr>Energiforbrug (B3)</vt:lpstr>
      <vt:lpstr>Forurening af luft, vand og jord (B4)</vt:lpstr>
      <vt:lpstr>Vand (B6)</vt:lpstr>
      <vt:lpstr>Ressourceforbrug, cirkulær økonomi og affaldshåndtering (B7) – fortsat</vt:lpstr>
      <vt:lpstr>Egen arbejdsstyrke: Generelle karakteristika (B8) </vt:lpstr>
      <vt:lpstr>Egen arbejdsstyrke: Sundhed og sikkerhed (B9)</vt:lpstr>
      <vt:lpstr>Virksomhedsadfærd: Antal domme og bøder i relation til korruption &amp; bestikkelse (B11) </vt:lpstr>
      <vt:lpstr>PowerPoint-præsentation</vt:lpstr>
      <vt:lpstr>Strategi: Forretningsmodel og bæredygtighedsrelaterede initiativer (C1)</vt:lpstr>
      <vt:lpstr>Indsatser, politikker og fremtidige initiativer for omstilling til en mere bæredygtig økonomi (C2)</vt:lpstr>
      <vt:lpstr>CO₂e-udledning under B3 i Basismodulet</vt:lpstr>
      <vt:lpstr>Klimaomstilling (C3)</vt:lpstr>
      <vt:lpstr>Klimarisici (C4)</vt:lpstr>
      <vt:lpstr>Klimarisici (C4) - fortsat</vt:lpstr>
      <vt:lpstr>Supplerende (generelle) oplysninger om arbejdsstyrken (C5)</vt:lpstr>
      <vt:lpstr>Menneskerettighedspolitikker og -processer (C6) - Egen arbejdsstyrke</vt:lpstr>
      <vt:lpstr>Alvorlige negative menneskerettighedshændelser (C7) – Egen arbejdsstyrke</vt:lpstr>
      <vt:lpstr>Alvorlige negative menneskerettighedshændelser (C7) – I værdikæden</vt:lpstr>
      <vt:lpstr>Indtægter fra bestemte aktiviteter (C8)</vt:lpstr>
      <vt:lpstr>PowerPoint-præsentation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27</cp:revision>
  <dcterms:created xsi:type="dcterms:W3CDTF">2025-02-28T18:51:17Z</dcterms:created>
  <dcterms:modified xsi:type="dcterms:W3CDTF">2026-08-06T18:34:12Z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0x0101004C5C98558ED72C4BBCB756F8247CFA4C</vt:lpwstr>
  </property>
  <property fmtid="{D5CDD505-2E9C-101B-9397-08002B2CF9AE}" pid="3" name="MediaServiceImageTags">
    <vt:lpwstr/>
  </property>
</Properties>
</file>