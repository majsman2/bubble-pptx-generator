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4"/>
  </p:sldMasterIdLst>
  <p:notesMasterIdLst>
    <p:notesMasterId r:id="rId30"/>
  </p:notesMasterIdLst>
  <p:sldIdLst>
    <p:sldId id="258" r:id="rId5"/>
    <p:sldId id="331" r:id="rId6"/>
    <p:sldId id="355" r:id="rId7"/>
    <p:sldId id="326" r:id="rId8"/>
    <p:sldId id="314" r:id="rId9"/>
    <p:sldId id="327" r:id="rId10"/>
    <p:sldId id="316" r:id="rId11"/>
    <p:sldId id="297" r:id="rId12"/>
    <p:sldId id="300" r:id="rId13"/>
    <p:sldId id="301" r:id="rId14"/>
    <p:sldId id="302" r:id="rId15"/>
    <p:sldId id="307" r:id="rId16"/>
    <p:sldId id="272" r:id="rId29"/>
  </p:sldIdLst>
  <p:sldSz cx="10692000" cy="7560000" type="A4"/>
  <p:notesSz cx="6858000" cy="9144000"/>
  <p:defaultTextStyle>
    <a:defPPr>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Forfatter" initials="A" userId="Author" providerId="AD"/>
  <p188:author id="{5A717729-70A1-A95A-729B-0270D7318E5A}" name="Amanda Simonsen" initials="AS" userId="S::amanda.simonsen@cphchangery.dk::11aad7e9-3369-4d2e-bd33-a826dd209a06" providerId="AD"/>
  <p188:author id="{95582667-6102-27E7-ED8E-01A166EB4B6B}" name="Guest User" initials="GU" userId="Guest User" providerId="Windows Live"/>
  <p188:author id="{D710FB69-54CF-AFDB-ADF5-2ED737B81BDA}" name="Nicolai Petersen" initials="NP" userId="6925884bbfe4e3a6"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87477"/>
    <a:srgbClr val="D1DAD4"/>
    <a:srgbClr val="0000FF"/>
    <a:srgbClr val="1B4529"/>
    <a:srgbClr val="FFFF99"/>
    <a:srgbClr val="1B242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9383CF3-0F17-4DA7-AC5F-396DF6463070}" v="36" dt="2026-08-04T20:47:23.299"/>
    <p1510:client id="{9CB8CBE5-AFE3-AE0A-C576-FD9E7262F5DA}" v="153" dt="2026-08-05T15:04:12.209"/>
    <p1510:client id="{9F9C41D0-6860-4C95-9D1A-3405FEFCCBF5}" v="56" dt="2026-08-06T18:34:10.3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9.xml"/><Relationship Id="rId3" Type="http://schemas.openxmlformats.org/officeDocument/2006/relationships/customXml" Target="../customXml/item3.xml"/><Relationship Id="rId34"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32"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36" Type="http://schemas.microsoft.com/office/2018/10/relationships/authors" Target="authors.xml"/><Relationship Id="rId10" Type="http://schemas.openxmlformats.org/officeDocument/2006/relationships/slide" Target="slides/slide6.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30" Type="http://schemas.openxmlformats.org/officeDocument/2006/relationships/notesMaster" Target="notesMasters/notesMaster1.xml"/><Relationship Id="rId35" Type="http://schemas.microsoft.com/office/2015/10/relationships/revisionInfo" Target="revisionInfo.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IBM Plex Sans" panose="020B0503050203000203" pitchFamily="34" charset="0"/>
              </a:defRPr>
            </a:lvl1pPr>
          </a:lstStyle>
          <a:p>
            <a:endParaRPr lang="el-GR"/>
          </a:p>
        </p:txBody>
      </p:sp>
      <p:sp>
        <p:nvSpPr>
          <p:cNvPr id="3" name="Pladsholder til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IBM Plex Sans" panose="020B0503050203000203" pitchFamily="34" charset="0"/>
              </a:defRPr>
            </a:lvl1pPr>
          </a:lstStyle>
          <a:p>
            <a:fld id="{12DFE416-DAD6-D749-857D-2E29C861AEBD}" type="datetimeFigureOut">
              <a:rPr lang="el-GR" smtClean="0"/>
              <a:pPr/>
              <a:t xml:space="preserve">06-08-2026</a:t>
            </a:fld>
            <a:endParaRPr lang="el-GR"/>
          </a:p>
        </p:txBody>
      </p:sp>
      <p:sp>
        <p:nvSpPr>
          <p:cNvPr id="4" name="Pladsholder til slidebille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l-GR"/>
          </a:p>
        </p:txBody>
      </p:sp>
      <p:sp>
        <p:nvSpPr>
          <p:cNvPr id="5" name="Pladsholder til no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l-GR"/>
              <a:t xml:space="preserve">Κάντε κλικ για επεξεργασία των στυλ κειμένου του υποδείγματος</a:t>
            </a:r>
          </a:p>
          <a:p>
            <a:pPr lvl="1"/>
            <a:r>
              <a:rPr lang="el-GR"/>
              <a:t xml:space="preserve">Δεύτερο επίπεδο</a:t>
            </a:r>
          </a:p>
          <a:p>
            <a:pPr lvl="2"/>
            <a:r>
              <a:rPr lang="el-GR"/>
              <a:t xml:space="preserve">Τρίτο επίπεδο</a:t>
            </a:r>
          </a:p>
          <a:p>
            <a:pPr lvl="3"/>
            <a:r>
              <a:rPr lang="el-GR"/>
              <a:t xml:space="preserve">Τέταρτο επίπεδο</a:t>
            </a:r>
          </a:p>
          <a:p>
            <a:pPr lvl="4"/>
            <a:r>
              <a:rPr lang="el-GR"/>
              <a:t xml:space="preserve">Πέμπτο επίπεδο</a:t>
            </a:r>
          </a:p>
        </p:txBody>
      </p:sp>
      <p:sp>
        <p:nvSpPr>
          <p:cNvPr id="6" name="Pladsholder til sidefod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IBM Plex Sans" panose="020B0503050203000203" pitchFamily="34" charset="0"/>
              </a:defRPr>
            </a:lvl1pPr>
          </a:lstStyle>
          <a:p>
            <a:endParaRPr lang="el-GR"/>
          </a:p>
        </p:txBody>
      </p:sp>
      <p:sp>
        <p:nvSpPr>
          <p:cNvPr id="7" name="Pladsholder til sli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IBM Plex Sans" panose="020B0503050203000203" pitchFamily="34" charset="0"/>
              </a:defRPr>
            </a:lvl1pPr>
          </a:lstStyle>
          <a:p>
            <a:fld id="{45BFCFCE-5A78-CB4C-8592-F27D9484E3BD}" type="slidenum">
              <a:rPr lang="el-GR" smtClean="0"/>
              <a:pPr/>
              <a:t xml:space="preserve">‹#›</a:t>
            </a:fld>
            <a:endParaRPr lang="el-GR"/>
          </a:p>
        </p:txBody>
      </p:sp>
    </p:spTree>
    <p:extLst>
      <p:ext uri="{BB962C8B-B14F-4D97-AF65-F5344CB8AC3E}">
        <p14:creationId xmlns:p14="http://schemas.microsoft.com/office/powerpoint/2010/main" val="2960237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IBM Plex Sans" panose="020B0503050203000203" pitchFamily="34" charset="0"/>
        <a:ea typeface="+mn-ea"/>
        <a:cs typeface="+mn-cs"/>
      </a:defRPr>
    </a:lvl1pPr>
    <a:lvl2pPr marL="457200" algn="l" defTabSz="914400" rtl="0" eaLnBrk="1" latinLnBrk="0" hangingPunct="1">
      <a:defRPr sz="1200" kern="1200">
        <a:solidFill>
          <a:schemeClr val="tx1"/>
        </a:solidFill>
        <a:latin typeface="IBM Plex Sans" panose="020B0503050203000203" pitchFamily="34" charset="0"/>
        <a:ea typeface="+mn-ea"/>
        <a:cs typeface="+mn-cs"/>
      </a:defRPr>
    </a:lvl2pPr>
    <a:lvl3pPr marL="914400" algn="l" defTabSz="914400" rtl="0" eaLnBrk="1" latinLnBrk="0" hangingPunct="1">
      <a:defRPr sz="1200" kern="1200">
        <a:solidFill>
          <a:schemeClr val="tx1"/>
        </a:solidFill>
        <a:latin typeface="IBM Plex Sans" panose="020B0503050203000203" pitchFamily="34" charset="0"/>
        <a:ea typeface="+mn-ea"/>
        <a:cs typeface="+mn-cs"/>
      </a:defRPr>
    </a:lvl3pPr>
    <a:lvl4pPr marL="1371600" algn="l" defTabSz="914400" rtl="0" eaLnBrk="1" latinLnBrk="0" hangingPunct="1">
      <a:defRPr sz="1200" kern="1200">
        <a:solidFill>
          <a:schemeClr val="tx1"/>
        </a:solidFill>
        <a:latin typeface="IBM Plex Sans" panose="020B0503050203000203" pitchFamily="34" charset="0"/>
        <a:ea typeface="+mn-ea"/>
        <a:cs typeface="+mn-cs"/>
      </a:defRPr>
    </a:lvl4pPr>
    <a:lvl5pPr marL="1828800" algn="l" defTabSz="914400" rtl="0" eaLnBrk="1" latinLnBrk="0" hangingPunct="1">
      <a:defRPr sz="1200" kern="1200">
        <a:solidFill>
          <a:schemeClr val="tx1"/>
        </a:solidFill>
        <a:latin typeface="IBM Plex Sans"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1</a:t>
            </a:fld>
            <a:endParaRPr lang="el-GR"/>
          </a:p>
        </p:txBody>
      </p:sp>
    </p:spTree>
    <p:extLst>
      <p:ext uri="{BB962C8B-B14F-4D97-AF65-F5344CB8AC3E}">
        <p14:creationId xmlns:p14="http://schemas.microsoft.com/office/powerpoint/2010/main" val="804952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2</a:t>
            </a:fld>
            <a:endParaRPr lang="el-GR"/>
          </a:p>
        </p:txBody>
      </p:sp>
    </p:spTree>
    <p:extLst>
      <p:ext uri="{BB962C8B-B14F-4D97-AF65-F5344CB8AC3E}">
        <p14:creationId xmlns:p14="http://schemas.microsoft.com/office/powerpoint/2010/main" val="3631039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3</a:t>
            </a:fld>
            <a:endParaRPr lang="el-GR"/>
          </a:p>
        </p:txBody>
      </p:sp>
    </p:spTree>
    <p:extLst>
      <p:ext uri="{BB962C8B-B14F-4D97-AF65-F5344CB8AC3E}">
        <p14:creationId xmlns:p14="http://schemas.microsoft.com/office/powerpoint/2010/main" val="30596044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4</a:t>
            </a:fld>
            <a:endParaRPr lang="el-GR"/>
          </a:p>
        </p:txBody>
      </p:sp>
    </p:spTree>
    <p:extLst>
      <p:ext uri="{BB962C8B-B14F-4D97-AF65-F5344CB8AC3E}">
        <p14:creationId xmlns:p14="http://schemas.microsoft.com/office/powerpoint/2010/main" val="33859973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r>
              <a:rPr lang="el-GR"/>
              <a:t xml:space="preserve">Αφαιρέθηκε: </a:t>
            </a:r>
            <a:r>
              <a:rPr lang="en-GB" sz="1200" b="0" i="0" u="none" strike="noStrike" kern="1200">
                <a:solidFill>
                  <a:schemeClr val="tx1"/>
                </a:solidFill>
                <a:effectLst/>
                <a:latin typeface="IBM Plex Sans" panose="020B0503050203000203" pitchFamily="34" charset="0"/>
                <a:ea typeface="+mn-ea"/>
                <a:cs typeface="+mn-cs"/>
              </a:rPr>
              <a:t xml:space="preserve">{{documents_B2}}</a:t>
            </a:r>
          </a:p>
          <a:p>
            <a:r>
              <a:rPr lang="en-GB" sz="1200" b="0" i="0" u="none" strike="noStrike" kern="1200" err="1">
                <a:solidFill>
                  <a:schemeClr val="tx1"/>
                </a:solidFill>
                <a:effectLst/>
                <a:latin typeface="IBM Plex Sans" panose="020B0503050203000203" pitchFamily="34" charset="0"/>
                <a:ea typeface="+mn-ea"/>
                <a:cs typeface="+mn-cs"/>
              </a:rPr>
              <a:t xml:space="preserve">Προστέθηκε</a:t>
            </a:r>
            <a:r>
              <a:rPr lang="en-GB" sz="1200" b="0" i="0" u="none" strike="noStrike" kern="1200">
                <a:solidFill>
                  <a:schemeClr val="tx1"/>
                </a:solidFill>
                <a:effectLst/>
                <a:latin typeface="IBM Plex Sans" panose="020B0503050203000203" pitchFamily="34" charset="0"/>
                <a:ea typeface="+mn-ea"/>
                <a:cs typeface="+mn-cs"/>
              </a:rPr>
              <a:t xml:space="preserve">: </a:t>
            </a:r>
            <a:r>
              <a:rPr lang="en-GB" sz="1200" b="0" i="0" u="none" strike="noStrike" kern="1200" err="1">
                <a:solidFill>
                  <a:schemeClr val="tx1"/>
                </a:solidFill>
                <a:effectLst/>
                <a:latin typeface="IBM Plex Sans" panose="020B0503050203000203" pitchFamily="34" charset="0"/>
                <a:ea typeface="+mn-ea"/>
                <a:cs typeface="+mn-cs"/>
              </a:rPr>
              <a:t xml:space="preserve">στήλη</a:t>
            </a:r>
            <a:r>
              <a:rPr lang="en-GB" sz="1200" b="0" i="0" u="none" strike="noStrike" kern="1200">
                <a:solidFill>
                  <a:schemeClr val="tx1"/>
                </a:solidFill>
                <a:effectLst/>
                <a:latin typeface="IBM Plex Sans" panose="020B0503050203000203" pitchFamily="34" charset="0"/>
                <a:ea typeface="+mn-ea"/>
                <a:cs typeface="+mn-cs"/>
              </a:rPr>
              <a:t xml:space="preserve"> για </a:t>
            </a:r>
            <a:r>
              <a:rPr lang="en-GB" sz="1200" b="0" i="0" u="none" strike="noStrike" kern="1200" err="1">
                <a:solidFill>
                  <a:schemeClr val="tx1"/>
                </a:solidFill>
                <a:effectLst/>
                <a:latin typeface="IBM Plex Sans" panose="020B0503050203000203" pitchFamily="34" charset="0"/>
                <a:ea typeface="+mn-ea"/>
                <a:cs typeface="+mn-cs"/>
              </a:rPr>
              <a:t xml:space="preserve">παρακολούθηση</a:t>
            </a:r>
            <a:endParaRPr lang="en-GB"/>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5</a:t>
            </a:fld>
            <a:endParaRPr lang="el-GR"/>
          </a:p>
        </p:txBody>
      </p:sp>
    </p:spTree>
    <p:extLst>
      <p:ext uri="{BB962C8B-B14F-4D97-AF65-F5344CB8AC3E}">
        <p14:creationId xmlns:p14="http://schemas.microsoft.com/office/powerpoint/2010/main" val="34000920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el-GR"/>
          </a:p>
        </p:txBody>
      </p:sp>
      <p:sp>
        <p:nvSpPr>
          <p:cNvPr id="3" name="Pladsholder til noter 2"/>
          <p:cNvSpPr>
            <a:spLocks noGrp="1"/>
          </p:cNvSpPr>
          <p:nvPr>
            <p:ph type="body" idx="1"/>
          </p:nvPr>
        </p:nvSpPr>
        <p:spPr/>
        <p:txBody>
          <a:bodyPr/>
          <a:lstStyle/>
          <a:p>
            <a:pPr rtl="0"/>
            <a:r>
              <a:rPr lang="el-GR"/>
              <a:t xml:space="preserve">Αφαιρέθηκε: </a:t>
            </a:r>
            <a:r>
              <a:rPr lang="en-GB" sz="1200" b="0" i="0" u="none" strike="noStrike" kern="1200">
                <a:solidFill>
                  <a:schemeClr val="tx1"/>
                </a:solidFill>
                <a:effectLst/>
                <a:latin typeface="IBM Plex Sans" panose="020B0503050203000203" pitchFamily="34" charset="0"/>
                <a:ea typeface="+mn-ea"/>
                <a:cs typeface="+mn-cs"/>
              </a:rPr>
              <a:t xml:space="preserve">{{Insert_CO2e_intensity}}</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6</a:t>
            </a:fld>
            <a:endParaRPr lang="el-GR"/>
          </a:p>
        </p:txBody>
      </p:sp>
    </p:spTree>
    <p:extLst>
      <p:ext uri="{BB962C8B-B14F-4D97-AF65-F5344CB8AC3E}">
        <p14:creationId xmlns:p14="http://schemas.microsoft.com/office/powerpoint/2010/main" val="30983482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el-GR"/>
              <a:t xml:space="preserve">Αφαιρέθηκε: </a:t>
            </a:r>
            <a:r>
              <a:rPr lang="en-GB" sz="1200" b="0" i="0" u="none" strike="noStrike" kern="1200">
                <a:solidFill>
                  <a:schemeClr val="tx1"/>
                </a:solidFill>
                <a:effectLst/>
                <a:latin typeface="IBM Plex Sans" panose="020B0503050203000203" pitchFamily="34" charset="0"/>
                <a:ea typeface="+mn-ea"/>
                <a:cs typeface="+mn-cs"/>
              </a:rPr>
              <a:t xml:space="preserve">{{uploaded_documents_B4}}</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7</a:t>
            </a:fld>
            <a:endParaRPr lang="el-GR"/>
          </a:p>
        </p:txBody>
      </p:sp>
    </p:spTree>
    <p:extLst>
      <p:ext uri="{BB962C8B-B14F-4D97-AF65-F5344CB8AC3E}">
        <p14:creationId xmlns:p14="http://schemas.microsoft.com/office/powerpoint/2010/main" val="2474281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el-GR"/>
              <a:t xml:space="preserve">Αφαιρέθηκε: </a:t>
            </a:r>
            <a:r>
              <a:rPr lang="en-GB" sz="1200" b="0" i="0" u="none" strike="noStrike" kern="1200">
                <a:solidFill>
                  <a:schemeClr val="tx1"/>
                </a:solidFill>
                <a:effectLst/>
                <a:latin typeface="IBM Plex Sans" panose="020B0503050203000203" pitchFamily="34" charset="0"/>
                <a:ea typeface="+mn-ea"/>
                <a:cs typeface="+mn-cs"/>
              </a:rPr>
              <a:t xml:space="preserve">{{</a:t>
            </a:r>
            <a:r>
              <a:rPr lang="en-GB" sz="1200" b="0" i="0" u="none" strike="noStrike" kern="1200" err="1">
                <a:solidFill>
                  <a:schemeClr val="tx1"/>
                </a:solidFill>
                <a:effectLst/>
                <a:latin typeface="IBM Plex Sans" panose="020B0503050203000203" pitchFamily="34" charset="0"/>
                <a:ea typeface="+mn-ea"/>
                <a:cs typeface="+mn-cs"/>
              </a:rPr>
              <a:t xml:space="preserve">waterstress_withdrawal</a:t>
            </a:r>
            <a:r>
              <a:rPr lang="en-GB" sz="1200" b="0" i="0" u="none" strike="noStrike" kern="1200">
                <a:solidFill>
                  <a:schemeClr val="tx1"/>
                </a:solidFill>
                <a:effectLst/>
                <a:latin typeface="IBM Plex Sans" panose="020B0503050203000203" pitchFamily="34" charset="0"/>
                <a:ea typeface="+mn-ea"/>
                <a:cs typeface="+mn-cs"/>
              </a:rPr>
              <a:t xml:space="preserve">}}</a:t>
            </a:r>
            <a:endParaRPr lang="en-GB" b="0">
              <a:effectLst/>
            </a:endParaRPr>
          </a:p>
          <a:p>
            <a:br>
              <a:rPr lang="en-GB"/>
            </a:br>
            <a:endParaRPr lang="en-GB"/>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8</a:t>
            </a:fld>
            <a:endParaRPr lang="el-GR"/>
          </a:p>
        </p:txBody>
      </p:sp>
    </p:spTree>
    <p:extLst>
      <p:ext uri="{BB962C8B-B14F-4D97-AF65-F5344CB8AC3E}">
        <p14:creationId xmlns:p14="http://schemas.microsoft.com/office/powerpoint/2010/main" val="3112050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el-GR"/>
          </a:p>
        </p:txBody>
      </p:sp>
      <p:sp>
        <p:nvSpPr>
          <p:cNvPr id="3" name="Pladsholder til noter 2"/>
          <p:cNvSpPr>
            <a:spLocks noGrp="1"/>
          </p:cNvSpPr>
          <p:nvPr>
            <p:ph type="body" idx="1"/>
          </p:nvPr>
        </p:nvSpPr>
        <p:spPr/>
        <p:txBody>
          <a:bodyPr/>
          <a:lstStyle/>
          <a:p>
            <a:endParaRPr lang="el-GR"/>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9</a:t>
            </a:fld>
            <a:endParaRPr lang="el-GR"/>
          </a:p>
        </p:txBody>
      </p:sp>
    </p:spTree>
    <p:extLst>
      <p:ext uri="{BB962C8B-B14F-4D97-AF65-F5344CB8AC3E}">
        <p14:creationId xmlns:p14="http://schemas.microsoft.com/office/powerpoint/2010/main" val="22438095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el-GR"/>
              <a:t xml:space="preserve">Αφαιρέθηκε: </a:t>
            </a:r>
            <a:r>
              <a:rPr lang="en-GB" sz="1200" b="0" i="0" u="none" strike="noStrike" kern="1200">
                <a:solidFill>
                  <a:schemeClr val="tx1"/>
                </a:solidFill>
                <a:effectLst/>
                <a:latin typeface="IBM Plex Sans" panose="020B0503050203000203" pitchFamily="34" charset="0"/>
                <a:ea typeface="+mn-ea"/>
                <a:cs typeface="+mn-cs"/>
              </a:rPr>
              <a:t xml:space="preserve">{{</a:t>
            </a:r>
            <a:r>
              <a:rPr lang="en-GB" sz="1200" b="0" i="0" u="none" strike="noStrike" kern="1200" err="1">
                <a:solidFill>
                  <a:schemeClr val="tx1"/>
                </a:solidFill>
                <a:effectLst/>
                <a:latin typeface="IBM Plex Sans" panose="020B0503050203000203" pitchFamily="34" charset="0"/>
                <a:ea typeface="+mn-ea"/>
                <a:cs typeface="+mn-cs"/>
              </a:rPr>
              <a:t xml:space="preserve">omsatningsrate</a:t>
            </a:r>
            <a:r>
              <a:rPr lang="en-GB" sz="1200" b="0" i="0" u="none" strike="noStrike" kern="1200">
                <a:solidFill>
                  <a:schemeClr val="tx1"/>
                </a:solidFill>
                <a:effectLst/>
                <a:latin typeface="IBM Plex Sans" panose="020B0503050203000203" pitchFamily="34" charset="0"/>
                <a:ea typeface="+mn-ea"/>
                <a:cs typeface="+mn-cs"/>
              </a:rPr>
              <a:t xml:space="preserve">}}</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10</a:t>
            </a:fld>
            <a:endParaRPr lang="el-GR"/>
          </a:p>
        </p:txBody>
      </p:sp>
    </p:spTree>
    <p:extLst>
      <p:ext uri="{BB962C8B-B14F-4D97-AF65-F5344CB8AC3E}">
        <p14:creationId xmlns:p14="http://schemas.microsoft.com/office/powerpoint/2010/main" val="40643826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el-GR"/>
          </a:p>
        </p:txBody>
      </p:sp>
      <p:sp>
        <p:nvSpPr>
          <p:cNvPr id="3" name="Pladsholder til noter 2"/>
          <p:cNvSpPr>
            <a:spLocks noGrp="1"/>
          </p:cNvSpPr>
          <p:nvPr>
            <p:ph type="body" idx="1"/>
          </p:nvPr>
        </p:nvSpPr>
        <p:spPr/>
        <p:txBody>
          <a:bodyPr/>
          <a:lstStyle/>
          <a:p>
            <a:pPr rtl="0" eaLnBrk="1" fontAlgn="ctr" latinLnBrk="0" hangingPunct="1"/>
            <a:r>
              <a:rPr lang="el-GR" b="0">
                <a:effectLst/>
              </a:rPr>
              <a:t xml:space="preserve">Αφαιρέθηκε: </a:t>
            </a:r>
            <a:r>
              <a:rPr lang="el-GR" sz="1200" b="0" i="0" u="none" strike="noStrike" kern="1200">
                <a:solidFill>
                  <a:schemeClr val="tx1"/>
                </a:solidFill>
                <a:effectLst/>
                <a:latin typeface="IBM Plex Sans" panose="020B0503050203000203" pitchFamily="34" charset="0"/>
                <a:ea typeface="+mn-ea"/>
                <a:cs typeface="+mn-cs"/>
              </a:rPr>
              <a:t xml:space="preserve">{{</a:t>
            </a:r>
            <a:r>
              <a:rPr lang="el-GR" sz="1200" b="0" i="0" u="none" strike="noStrike" kern="1200" err="1">
                <a:solidFill>
                  <a:schemeClr val="tx1"/>
                </a:solidFill>
                <a:effectLst/>
                <a:latin typeface="IBM Plex Sans" panose="020B0503050203000203" pitchFamily="34" charset="0"/>
                <a:ea typeface="+mn-ea"/>
                <a:cs typeface="+mn-cs"/>
              </a:rPr>
              <a:t xml:space="preserve">men_gennemsnitstimer</a:t>
            </a:r>
            <a:r>
              <a:rPr lang="el-GR" sz="1200" b="0" i="0" u="none" strike="noStrike" kern="1200">
                <a:solidFill>
                  <a:schemeClr val="tx1"/>
                </a:solidFill>
                <a:effectLst/>
                <a:latin typeface="IBM Plex Sans" panose="020B0503050203000203" pitchFamily="34" charset="0"/>
                <a:ea typeface="+mn-ea"/>
                <a:cs typeface="+mn-cs"/>
              </a:rPr>
              <a:t xml:space="preserve">}}</a:t>
            </a:r>
            <a:endParaRPr lang="en-GB" sz="1200" b="0" i="0" u="none" strike="noStrike" kern="1200">
              <a:solidFill>
                <a:schemeClr val="tx1"/>
              </a:solidFill>
              <a:effectLst/>
              <a:latin typeface="IBM Plex Sans" panose="020B0503050203000203" pitchFamily="34" charset="0"/>
              <a:ea typeface="+mn-ea"/>
              <a:cs typeface="+mn-cs"/>
            </a:endParaRPr>
          </a:p>
          <a:p>
            <a:pPr rtl="0" eaLnBrk="1" fontAlgn="ctr" latinLnBrk="0" hangingPunct="1"/>
            <a:r>
              <a:rPr lang="el-GR" sz="1200" b="0" i="0" u="none" strike="noStrike" kern="1200">
                <a:solidFill>
                  <a:schemeClr val="tx1"/>
                </a:solidFill>
                <a:effectLst/>
                <a:latin typeface="IBM Plex Sans" panose="020B0503050203000203" pitchFamily="34" charset="0"/>
                <a:ea typeface="+mn-ea"/>
                <a:cs typeface="+mn-cs"/>
              </a:rPr>
              <a:t xml:space="preserve">{{</a:t>
            </a:r>
            <a:r>
              <a:rPr lang="el-GR" sz="1200" b="0" i="0" u="none" strike="noStrike" kern="1200" err="1">
                <a:solidFill>
                  <a:schemeClr val="tx1"/>
                </a:solidFill>
                <a:effectLst/>
                <a:latin typeface="IBM Plex Sans" panose="020B0503050203000203" pitchFamily="34" charset="0"/>
                <a:ea typeface="+mn-ea"/>
                <a:cs typeface="+mn-cs"/>
              </a:rPr>
              <a:t xml:space="preserve">women_gennemsnitstimer</a:t>
            </a:r>
            <a:r>
              <a:rPr lang="el-GR" sz="1200" b="0" i="0" u="none" strike="noStrike" kern="1200">
                <a:solidFill>
                  <a:schemeClr val="tx1"/>
                </a:solidFill>
                <a:effectLst/>
                <a:latin typeface="IBM Plex Sans" panose="020B0503050203000203" pitchFamily="34" charset="0"/>
                <a:ea typeface="+mn-ea"/>
                <a:cs typeface="+mn-cs"/>
              </a:rPr>
              <a:t xml:space="preserve">}}</a:t>
            </a:r>
            <a:endParaRPr lang="en-GB" sz="1200" b="0" i="0" u="none" strike="noStrike" kern="1200">
              <a:solidFill>
                <a:schemeClr val="tx1"/>
              </a:solidFill>
              <a:effectLst/>
              <a:latin typeface="IBM Plex Sans" panose="020B0503050203000203" pitchFamily="34" charset="0"/>
              <a:ea typeface="+mn-ea"/>
              <a:cs typeface="+mn-cs"/>
            </a:endParaRPr>
          </a:p>
          <a:p>
            <a:pPr rtl="0" eaLnBrk="1" fontAlgn="ctr" latinLnBrk="0" hangingPunct="1"/>
            <a:r>
              <a:rPr lang="el-GR" sz="1200" b="0" i="0" u="none" strike="noStrike" kern="1200">
                <a:solidFill>
                  <a:schemeClr val="tx1"/>
                </a:solidFill>
                <a:effectLst/>
                <a:latin typeface="IBM Plex Sans" panose="020B0503050203000203" pitchFamily="34" charset="0"/>
                <a:ea typeface="+mn-ea"/>
                <a:cs typeface="+mn-cs"/>
              </a:rPr>
              <a:t xml:space="preserve">{{</a:t>
            </a:r>
            <a:r>
              <a:rPr lang="el-GR" sz="1200" b="0" i="0" u="none" strike="noStrike" kern="1200" err="1">
                <a:solidFill>
                  <a:schemeClr val="tx1"/>
                </a:solidFill>
                <a:effectLst/>
                <a:latin typeface="IBM Plex Sans" panose="020B0503050203000203" pitchFamily="34" charset="0"/>
                <a:ea typeface="+mn-ea"/>
                <a:cs typeface="+mn-cs"/>
              </a:rPr>
              <a:t xml:space="preserve">other_gennemsnitstimer</a:t>
            </a:r>
            <a:r>
              <a:rPr lang="el-GR" sz="1200" b="0" i="0" u="none" strike="noStrike" kern="1200">
                <a:solidFill>
                  <a:schemeClr val="tx1"/>
                </a:solidFill>
                <a:effectLst/>
                <a:latin typeface="IBM Plex Sans" panose="020B0503050203000203" pitchFamily="34" charset="0"/>
                <a:ea typeface="+mn-ea"/>
                <a:cs typeface="+mn-cs"/>
              </a:rPr>
              <a:t xml:space="preserve">}}</a:t>
            </a:r>
            <a:endParaRPr lang="en-GB" sz="1200" b="0" i="0" u="none" strike="noStrike" kern="1200">
              <a:solidFill>
                <a:schemeClr val="tx1"/>
              </a:solidFill>
              <a:effectLst/>
              <a:latin typeface="IBM Plex Sans" panose="020B0503050203000203" pitchFamily="34" charset="0"/>
              <a:ea typeface="+mn-ea"/>
              <a:cs typeface="+mn-cs"/>
            </a:endParaRPr>
          </a:p>
          <a:p>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11</a:t>
            </a:fld>
            <a:endParaRPr lang="el-GR"/>
          </a:p>
        </p:txBody>
      </p:sp>
    </p:spTree>
    <p:extLst>
      <p:ext uri="{BB962C8B-B14F-4D97-AF65-F5344CB8AC3E}">
        <p14:creationId xmlns:p14="http://schemas.microsoft.com/office/powerpoint/2010/main" val="35998746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l-GR" smtClean="0"/>
              <a:pPr/>
              <a:t xml:space="preserve">12</a:t>
            </a:fld>
            <a:endParaRPr lang="el-GR"/>
          </a:p>
        </p:txBody>
      </p:sp>
    </p:spTree>
    <p:extLst>
      <p:ext uri="{BB962C8B-B14F-4D97-AF65-F5344CB8AC3E}">
        <p14:creationId xmlns:p14="http://schemas.microsoft.com/office/powerpoint/2010/main" val="3061253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jpe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tro templat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52E31B1D-D5FA-1144-A6D9-FDFA19DD3A3B}"/>
              </a:ext>
            </a:extLst>
          </p:cNvPr>
          <p:cNvSpPr>
            <a:spLocks noGrp="1"/>
          </p:cNvSpPr>
          <p:nvPr>
            <p:ph type="body" sz="quarter" idx="14"/>
          </p:nvPr>
        </p:nvSpPr>
        <p:spPr>
          <a:xfrm>
            <a:off x="445500" y="890814"/>
            <a:ext cx="3080911" cy="4672738"/>
          </a:xfrm>
        </p:spPr>
        <p:txBody>
          <a:bodyPr/>
          <a:lstStyle>
            <a:lvl1pPr marL="0" indent="0">
              <a:buNone/>
              <a:defRPr/>
            </a:lvl1pPr>
          </a:lstStyle>
          <a:p>
            <a:pPr lvl="0"/>
            <a:r>
              <a:rPr lang="el-GR" noProof="0" err="1"/>
              <a:t xml:space="preserve">Click</a:t>
            </a:r>
            <a:r>
              <a:rPr lang="el-GR" noProof="0"/>
              <a:t xml:space="preserve"> to </a:t>
            </a:r>
            <a:r>
              <a:rPr lang="el-GR" noProof="0" err="1"/>
              <a:t xml:space="preserve">edit</a:t>
            </a:r>
            <a:r>
              <a:rPr lang="el-GR" noProof="0"/>
              <a:t xml:space="preserve"> Master </a:t>
            </a:r>
            <a:r>
              <a:rPr lang="el-GR" noProof="0" err="1"/>
              <a:t xml:space="preserve">text</a:t>
            </a:r>
            <a:r>
              <a:rPr lang="el-GR" noProof="0"/>
              <a:t xml:space="preserve"> styles</a:t>
            </a:r>
          </a:p>
        </p:txBody>
      </p:sp>
      <p:sp>
        <p:nvSpPr>
          <p:cNvPr id="11" name="Text Placeholder 9">
            <a:extLst>
              <a:ext uri="{FF2B5EF4-FFF2-40B4-BE49-F238E27FC236}">
                <a16:creationId xmlns:a16="http://schemas.microsoft.com/office/drawing/2014/main" id="{F1EF6F5B-4C89-A089-DA32-6A1686CD0B74}"/>
              </a:ext>
            </a:extLst>
          </p:cNvPr>
          <p:cNvSpPr>
            <a:spLocks noGrp="1"/>
          </p:cNvSpPr>
          <p:nvPr>
            <p:ph type="body" sz="quarter" idx="15"/>
          </p:nvPr>
        </p:nvSpPr>
        <p:spPr>
          <a:xfrm>
            <a:off x="3804849" y="890815"/>
            <a:ext cx="3080910" cy="4672737"/>
          </a:xfrm>
        </p:spPr>
        <p:txBody>
          <a:bodyPr/>
          <a:lstStyle>
            <a:lvl1pPr marL="0" indent="0">
              <a:buNone/>
              <a:defRPr/>
            </a:lvl1pPr>
          </a:lstStyle>
          <a:p>
            <a:pPr lvl="0"/>
            <a:r>
              <a:rPr lang="el-GR" noProof="0" err="1"/>
              <a:t xml:space="preserve">Click</a:t>
            </a:r>
            <a:r>
              <a:rPr lang="el-GR" noProof="0"/>
              <a:t xml:space="preserve"> to </a:t>
            </a:r>
            <a:r>
              <a:rPr lang="el-GR" noProof="0" err="1"/>
              <a:t xml:space="preserve">edit</a:t>
            </a:r>
            <a:r>
              <a:rPr lang="el-GR" noProof="0"/>
              <a:t xml:space="preserve"> Master </a:t>
            </a:r>
            <a:r>
              <a:rPr lang="el-GR" noProof="0" err="1"/>
              <a:t xml:space="preserve">text</a:t>
            </a:r>
            <a:r>
              <a:rPr lang="el-GR" noProof="0"/>
              <a:t xml:space="preserve"> styles</a:t>
            </a:r>
          </a:p>
        </p:txBody>
      </p:sp>
      <p:sp>
        <p:nvSpPr>
          <p:cNvPr id="2" name="Title 1">
            <a:extLst>
              <a:ext uri="{FF2B5EF4-FFF2-40B4-BE49-F238E27FC236}">
                <a16:creationId xmlns:a16="http://schemas.microsoft.com/office/drawing/2014/main" id="{4149F0AB-3484-3BD8-5F17-C0910484351A}"/>
              </a:ext>
            </a:extLst>
          </p:cNvPr>
          <p:cNvSpPr>
            <a:spLocks noGrp="1"/>
          </p:cNvSpPr>
          <p:nvPr>
            <p:ph type="title"/>
          </p:nvPr>
        </p:nvSpPr>
        <p:spPr/>
        <p:txBody>
          <a:bodyPr/>
          <a:lstStyle/>
          <a:p>
            <a:r>
              <a:rPr lang="en-GB"/>
              <a:t xml:space="preserve">Click to edit Master title style</a:t>
            </a:r>
          </a:p>
        </p:txBody>
      </p:sp>
    </p:spTree>
    <p:extLst>
      <p:ext uri="{BB962C8B-B14F-4D97-AF65-F5344CB8AC3E}">
        <p14:creationId xmlns:p14="http://schemas.microsoft.com/office/powerpoint/2010/main" val="3469057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orside med billedebaggru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FE10D728-2F8E-9A79-A793-8FA18EC9AEF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01735" y="1873405"/>
            <a:ext cx="1223040" cy="1814175"/>
          </a:xfrm>
          <a:prstGeom prst="rect">
            <a:avLst/>
          </a:prstGeom>
        </p:spPr>
      </p:pic>
      <p:pic>
        <p:nvPicPr>
          <p:cNvPr id="3" name="Grafik 2">
            <a:extLst>
              <a:ext uri="{FF2B5EF4-FFF2-40B4-BE49-F238E27FC236}">
                <a16:creationId xmlns:a16="http://schemas.microsoft.com/office/drawing/2014/main" id="{AE996835-EDFE-BE3E-C688-CC762B1E391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50373" y="1828999"/>
            <a:ext cx="1561990" cy="1890830"/>
          </a:xfrm>
          <a:prstGeom prst="rect">
            <a:avLst/>
          </a:prstGeom>
        </p:spPr>
      </p:pic>
      <p:pic>
        <p:nvPicPr>
          <p:cNvPr id="4" name="Grafik 3">
            <a:extLst>
              <a:ext uri="{FF2B5EF4-FFF2-40B4-BE49-F238E27FC236}">
                <a16:creationId xmlns:a16="http://schemas.microsoft.com/office/drawing/2014/main" id="{A9BBDDF2-8BA5-B125-BDA8-EC3EA874D9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475450" y="1828999"/>
            <a:ext cx="1454017" cy="1938689"/>
          </a:xfrm>
          <a:prstGeom prst="rect">
            <a:avLst/>
          </a:prstGeom>
        </p:spPr>
      </p:pic>
      <p:sp>
        <p:nvSpPr>
          <p:cNvPr id="7" name="Footer Placeholder 6">
            <a:extLst>
              <a:ext uri="{FF2B5EF4-FFF2-40B4-BE49-F238E27FC236}">
                <a16:creationId xmlns:a16="http://schemas.microsoft.com/office/drawing/2014/main" id="{85E44590-AE8B-6098-6E3A-22BBF073CF8E}"/>
              </a:ext>
            </a:extLst>
          </p:cNvPr>
          <p:cNvSpPr>
            <a:spLocks noGrp="1"/>
          </p:cNvSpPr>
          <p:nvPr>
            <p:ph type="ftr" sz="quarter" idx="15"/>
          </p:nvPr>
        </p:nvSpPr>
        <p:spPr>
          <a:xfrm>
            <a:off x="3072658" y="4359745"/>
            <a:ext cx="4539794" cy="246616"/>
          </a:xfrm>
        </p:spPr>
        <p:txBody>
          <a:bodyPr/>
          <a:lstStyle>
            <a:lvl1pPr algn="ctr">
              <a:defRPr sz="1225">
                <a:solidFill>
                  <a:schemeClr val="bg1"/>
                </a:solidFill>
              </a:defRPr>
            </a:lvl1pPr>
          </a:lstStyle>
          <a:p>
            <a:r>
              <a:rPr lang="el-GR"/>
              <a:t xml:space="preserve">ΚΛΙΚ ΓΙΑ ΕΙΣΑΓΩΓΗ ΕΠΩΝΥΜΙΑΣ</a:t>
            </a:r>
          </a:p>
        </p:txBody>
      </p:sp>
      <p:sp>
        <p:nvSpPr>
          <p:cNvPr id="5" name="Titel 4">
            <a:extLst>
              <a:ext uri="{FF2B5EF4-FFF2-40B4-BE49-F238E27FC236}">
                <a16:creationId xmlns:a16="http://schemas.microsoft.com/office/drawing/2014/main" id="{A3676786-DF78-2A13-71BF-8354606B0D04}"/>
              </a:ext>
            </a:extLst>
          </p:cNvPr>
          <p:cNvSpPr>
            <a:spLocks noGrp="1"/>
          </p:cNvSpPr>
          <p:nvPr>
            <p:ph type="title" hasCustomPrompt="1"/>
          </p:nvPr>
        </p:nvSpPr>
        <p:spPr>
          <a:xfrm>
            <a:off x="946688" y="4051289"/>
            <a:ext cx="8798625" cy="160254"/>
          </a:xfrm>
        </p:spPr>
        <p:txBody>
          <a:bodyPr/>
          <a:lstStyle>
            <a:lvl1pPr algn="ctr">
              <a:defRPr sz="950" spc="300">
                <a:solidFill>
                  <a:schemeClr val="bg1"/>
                </a:solidFill>
              </a:defRPr>
            </a:lvl1pPr>
          </a:lstStyle>
          <a:p>
            <a:r>
              <a:rPr lang="el-GR"/>
              <a:t xml:space="preserve">ΕΙΣΑΓΩΓΗ ΤΙΤΛΟΥ</a:t>
            </a:r>
          </a:p>
        </p:txBody>
      </p:sp>
    </p:spTree>
    <p:extLst>
      <p:ext uri="{BB962C8B-B14F-4D97-AF65-F5344CB8AC3E}">
        <p14:creationId xmlns:p14="http://schemas.microsoft.com/office/powerpoint/2010/main" val="2290891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SG opgørels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9358A1A1-81A1-00B9-5F3F-17B9B899E502}"/>
              </a:ext>
            </a:extLst>
          </p:cNvPr>
          <p:cNvSpPr>
            <a:spLocks noGrp="1"/>
          </p:cNvSpPr>
          <p:nvPr>
            <p:ph type="body" sz="quarter" idx="17"/>
          </p:nvPr>
        </p:nvSpPr>
        <p:spPr>
          <a:xfrm>
            <a:off x="454795" y="864270"/>
            <a:ext cx="3997234" cy="4704480"/>
          </a:xfrm>
        </p:spPr>
        <p:txBody>
          <a:bodyPr/>
          <a:lstStyle>
            <a:lvl1pPr marL="0" indent="0">
              <a:lnSpc>
                <a:spcPct val="129000"/>
              </a:lnSpc>
              <a:spcAft>
                <a:spcPts val="0"/>
              </a:spcAft>
              <a:buNone/>
              <a:tabLst>
                <a:tab pos="252567" algn="l"/>
                <a:tab pos="410421" algn="l"/>
                <a:tab pos="3599079" algn="r"/>
              </a:tabLst>
              <a:defRPr sz="775">
                <a:solidFill>
                  <a:schemeClr val="tx2"/>
                </a:solidFill>
              </a:defRPr>
            </a:lvl1pPr>
          </a:lstStyle>
          <a:p>
            <a:pPr lvl="0"/>
            <a:r>
              <a:rPr lang="el-GR" noProof="0" err="1"/>
              <a:t xml:space="preserve">Click</a:t>
            </a:r>
            <a:r>
              <a:rPr lang="el-GR" noProof="0"/>
              <a:t xml:space="preserve"> to </a:t>
            </a:r>
            <a:r>
              <a:rPr lang="el-GR" noProof="0" err="1"/>
              <a:t xml:space="preserve">edit</a:t>
            </a:r>
            <a:r>
              <a:rPr lang="el-GR" noProof="0"/>
              <a:t xml:space="preserve"> Master </a:t>
            </a:r>
            <a:r>
              <a:rPr lang="el-GR" noProof="0" err="1"/>
              <a:t xml:space="preserve">text</a:t>
            </a:r>
            <a:r>
              <a:rPr lang="el-GR" noProof="0"/>
              <a:t xml:space="preserve"> styles</a:t>
            </a:r>
          </a:p>
        </p:txBody>
      </p:sp>
      <p:sp>
        <p:nvSpPr>
          <p:cNvPr id="2" name="Text Placeholder 9">
            <a:extLst>
              <a:ext uri="{FF2B5EF4-FFF2-40B4-BE49-F238E27FC236}">
                <a16:creationId xmlns:a16="http://schemas.microsoft.com/office/drawing/2014/main" id="{DDD3249A-9EA8-2D06-EED5-368B4A02469F}"/>
              </a:ext>
            </a:extLst>
          </p:cNvPr>
          <p:cNvSpPr>
            <a:spLocks noGrp="1"/>
          </p:cNvSpPr>
          <p:nvPr>
            <p:ph type="body" sz="quarter" idx="20"/>
          </p:nvPr>
        </p:nvSpPr>
        <p:spPr>
          <a:xfrm>
            <a:off x="5675750" y="859072"/>
            <a:ext cx="3997234" cy="4704479"/>
          </a:xfrm>
        </p:spPr>
        <p:txBody>
          <a:bodyPr/>
          <a:lstStyle>
            <a:lvl1pPr marL="0" indent="0">
              <a:lnSpc>
                <a:spcPct val="129000"/>
              </a:lnSpc>
              <a:spcAft>
                <a:spcPts val="0"/>
              </a:spcAft>
              <a:buNone/>
              <a:tabLst>
                <a:tab pos="252567" algn="l"/>
                <a:tab pos="410421" algn="l"/>
                <a:tab pos="3599079" algn="r"/>
              </a:tabLst>
              <a:defRPr sz="775">
                <a:solidFill>
                  <a:schemeClr val="tx2"/>
                </a:solidFill>
              </a:defRPr>
            </a:lvl1pPr>
          </a:lstStyle>
          <a:p>
            <a:pPr lvl="0"/>
            <a:r>
              <a:rPr lang="el-GR" noProof="0" err="1"/>
              <a:t xml:space="preserve">Click</a:t>
            </a:r>
            <a:r>
              <a:rPr lang="el-GR" noProof="0"/>
              <a:t xml:space="preserve"> to </a:t>
            </a:r>
            <a:r>
              <a:rPr lang="el-GR" noProof="0" err="1"/>
              <a:t xml:space="preserve">edit</a:t>
            </a:r>
            <a:r>
              <a:rPr lang="el-GR" noProof="0"/>
              <a:t xml:space="preserve"> Master </a:t>
            </a:r>
            <a:r>
              <a:rPr lang="el-GR" noProof="0" err="1"/>
              <a:t xml:space="preserve">text</a:t>
            </a:r>
            <a:r>
              <a:rPr lang="el-GR" noProof="0"/>
              <a:t xml:space="preserve"> styles</a:t>
            </a:r>
          </a:p>
        </p:txBody>
      </p:sp>
      <p:sp>
        <p:nvSpPr>
          <p:cNvPr id="6" name="Footer Placeholder 5">
            <a:extLst>
              <a:ext uri="{FF2B5EF4-FFF2-40B4-BE49-F238E27FC236}">
                <a16:creationId xmlns:a16="http://schemas.microsoft.com/office/drawing/2014/main" id="{CB27BA12-0C2B-874F-CB3D-A69B54828ED2}"/>
              </a:ext>
            </a:extLst>
          </p:cNvPr>
          <p:cNvSpPr>
            <a:spLocks noGrp="1"/>
          </p:cNvSpPr>
          <p:nvPr>
            <p:ph type="ftr" sz="quarter" idx="22"/>
          </p:nvPr>
        </p:nvSpPr>
        <p:spPr/>
        <p:txBody>
          <a:bodyPr/>
          <a:lstStyle/>
          <a:p>
            <a:r>
              <a:rPr lang="el-GR"/>
              <a:t xml:space="preserve">ΚΛΙΚ ΓΙΑ ΕΙΣΑΓΩΓΗ ΕΠΩΝΥΜΙΑΣ</a:t>
            </a:r>
          </a:p>
        </p:txBody>
      </p:sp>
      <p:sp>
        <p:nvSpPr>
          <p:cNvPr id="8" name="Slide Number Placeholder 7">
            <a:extLst>
              <a:ext uri="{FF2B5EF4-FFF2-40B4-BE49-F238E27FC236}">
                <a16:creationId xmlns:a16="http://schemas.microsoft.com/office/drawing/2014/main" id="{A28E22E3-1CE9-39F0-37B9-6694C2F99A83}"/>
              </a:ext>
            </a:extLst>
          </p:cNvPr>
          <p:cNvSpPr>
            <a:spLocks noGrp="1"/>
          </p:cNvSpPr>
          <p:nvPr>
            <p:ph type="sldNum" sz="quarter" idx="23"/>
          </p:nvPr>
        </p:nvSpPr>
        <p:spPr/>
        <p:txBody>
          <a:bodyPr/>
          <a:lstStyle/>
          <a:p>
            <a:fld id="{5A0D23CF-C5A3-5445-819D-C647D180BB4B}" type="slidenum">
              <a:rPr lang="el-GR" smtClean="0"/>
              <a:pPr/>
              <a:t xml:space="preserve">‹#›</a:t>
            </a:fld>
            <a:endParaRPr lang="el-GR"/>
          </a:p>
        </p:txBody>
      </p:sp>
      <p:sp>
        <p:nvSpPr>
          <p:cNvPr id="9" name="Title 8">
            <a:extLst>
              <a:ext uri="{FF2B5EF4-FFF2-40B4-BE49-F238E27FC236}">
                <a16:creationId xmlns:a16="http://schemas.microsoft.com/office/drawing/2014/main" id="{9EC510F1-C32E-301D-A9BE-CDD982DBFB2C}"/>
              </a:ext>
            </a:extLst>
          </p:cNvPr>
          <p:cNvSpPr>
            <a:spLocks noGrp="1"/>
          </p:cNvSpPr>
          <p:nvPr>
            <p:ph type="title"/>
          </p:nvPr>
        </p:nvSpPr>
        <p:spPr/>
        <p:txBody>
          <a:bodyPr/>
          <a:lstStyle/>
          <a:p>
            <a:r>
              <a:rPr lang="en-GB"/>
              <a:t xml:space="preserve">Click to edit Master title style</a:t>
            </a:r>
          </a:p>
        </p:txBody>
      </p:sp>
    </p:spTree>
    <p:extLst>
      <p:ext uri="{BB962C8B-B14F-4D97-AF65-F5344CB8AC3E}">
        <p14:creationId xmlns:p14="http://schemas.microsoft.com/office/powerpoint/2010/main" val="2992085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AB499-BDA0-E170-C4FB-7C73F109F59F}"/>
              </a:ext>
            </a:extLst>
          </p:cNvPr>
          <p:cNvSpPr>
            <a:spLocks noGrp="1"/>
          </p:cNvSpPr>
          <p:nvPr>
            <p:ph type="title"/>
          </p:nvPr>
        </p:nvSpPr>
        <p:spPr/>
        <p:txBody>
          <a:bodyPr/>
          <a:lstStyle/>
          <a:p>
            <a:r>
              <a:rPr lang="el-GR" noProof="0" err="1"/>
              <a:t xml:space="preserve">Click</a:t>
            </a:r>
            <a:r>
              <a:rPr lang="el-GR" noProof="0"/>
              <a:t xml:space="preserve"> to </a:t>
            </a:r>
            <a:r>
              <a:rPr lang="el-GR" noProof="0" err="1"/>
              <a:t xml:space="preserve">edit</a:t>
            </a:r>
            <a:r>
              <a:rPr lang="el-GR" noProof="0"/>
              <a:t xml:space="preserve"> Master </a:t>
            </a:r>
            <a:r>
              <a:rPr lang="el-GR" noProof="0" err="1"/>
              <a:t xml:space="preserve">title</a:t>
            </a:r>
            <a:r>
              <a:rPr lang="el-GR" noProof="0"/>
              <a:t xml:space="preserve"> style</a:t>
            </a:r>
          </a:p>
        </p:txBody>
      </p:sp>
      <p:sp>
        <p:nvSpPr>
          <p:cNvPr id="3" name="Date Placeholder 2">
            <a:extLst>
              <a:ext uri="{FF2B5EF4-FFF2-40B4-BE49-F238E27FC236}">
                <a16:creationId xmlns:a16="http://schemas.microsoft.com/office/drawing/2014/main" id="{85623CC7-2A44-6728-81B8-5D1C36C8A523}"/>
              </a:ext>
            </a:extLst>
          </p:cNvPr>
          <p:cNvSpPr>
            <a:spLocks noGrp="1"/>
          </p:cNvSpPr>
          <p:nvPr>
            <p:ph type="dt" sz="half" idx="10"/>
          </p:nvPr>
        </p:nvSpPr>
        <p:spPr/>
        <p:txBody>
          <a:bodyPr/>
          <a:lstStyle/>
          <a:p>
            <a:endParaRPr lang="el-GR" noProof="0"/>
          </a:p>
        </p:txBody>
      </p:sp>
      <p:sp>
        <p:nvSpPr>
          <p:cNvPr id="4" name="Footer Placeholder 3">
            <a:extLst>
              <a:ext uri="{FF2B5EF4-FFF2-40B4-BE49-F238E27FC236}">
                <a16:creationId xmlns:a16="http://schemas.microsoft.com/office/drawing/2014/main" id="{2B78E23B-9CAA-A290-D3B6-2404D06EC1A2}"/>
              </a:ext>
            </a:extLst>
          </p:cNvPr>
          <p:cNvSpPr>
            <a:spLocks noGrp="1"/>
          </p:cNvSpPr>
          <p:nvPr>
            <p:ph type="ftr" sz="quarter" idx="11"/>
          </p:nvPr>
        </p:nvSpPr>
        <p:spPr/>
        <p:txBody>
          <a:bodyPr/>
          <a:lstStyle/>
          <a:p>
            <a:r>
              <a:rPr lang="el-GR" noProof="0"/>
              <a:t xml:space="preserve">ΚΛΙΚ ΓΙΑ ΕΙΣΑΓΩΓΗ ΕΠΩΝΥΜΙΑΣ</a:t>
            </a:r>
          </a:p>
        </p:txBody>
      </p:sp>
      <p:sp>
        <p:nvSpPr>
          <p:cNvPr id="5" name="Slide Number Placeholder 4">
            <a:extLst>
              <a:ext uri="{FF2B5EF4-FFF2-40B4-BE49-F238E27FC236}">
                <a16:creationId xmlns:a16="http://schemas.microsoft.com/office/drawing/2014/main" id="{A316B95B-509A-04EA-4971-5BB7A30A29F3}"/>
              </a:ext>
            </a:extLst>
          </p:cNvPr>
          <p:cNvSpPr>
            <a:spLocks noGrp="1"/>
          </p:cNvSpPr>
          <p:nvPr>
            <p:ph type="sldNum" sz="quarter" idx="12"/>
          </p:nvPr>
        </p:nvSpPr>
        <p:spPr/>
        <p:txBody>
          <a:bodyPr/>
          <a:lstStyle/>
          <a:p>
            <a:fld id="{5A0D23CF-C5A3-5445-819D-C647D180BB4B}" type="slidenum">
              <a:rPr lang="el-GR" noProof="0" smtClean="0"/>
              <a:pPr/>
              <a:t xml:space="preserve">‹#›</a:t>
            </a:fld>
            <a:endParaRPr lang="el-GR" noProof="0"/>
          </a:p>
        </p:txBody>
      </p:sp>
    </p:spTree>
    <p:extLst>
      <p:ext uri="{BB962C8B-B14F-4D97-AF65-F5344CB8AC3E}">
        <p14:creationId xmlns:p14="http://schemas.microsoft.com/office/powerpoint/2010/main" val="18328529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fslutningsslide">
    <p:bg>
      <p:bgPr>
        <a:solidFill>
          <a:srgbClr val="1B4529"/>
        </a:solidFill>
        <a:effectLst/>
      </p:bgPr>
    </p:bg>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5FF3099D-2911-2DC2-30C9-600914A49C92}"/>
              </a:ext>
            </a:extLst>
          </p:cNvPr>
          <p:cNvSpPr>
            <a:spLocks noGrp="1"/>
          </p:cNvSpPr>
          <p:nvPr>
            <p:ph idx="1" hasCustomPrompt="1"/>
          </p:nvPr>
        </p:nvSpPr>
        <p:spPr>
          <a:xfrm>
            <a:off x="946688" y="1392188"/>
            <a:ext cx="8798625" cy="1280812"/>
          </a:xfrm>
          <a:solidFill>
            <a:srgbClr val="1B4529"/>
          </a:solidFill>
        </p:spPr>
        <p:txBody>
          <a:bodyPr>
            <a:normAutofit/>
          </a:bodyPr>
          <a:lstStyle>
            <a:lvl1pPr marL="0" indent="0">
              <a:lnSpc>
                <a:spcPct val="100000"/>
              </a:lnSpc>
              <a:spcBef>
                <a:spcPts val="175"/>
              </a:spcBef>
              <a:buFontTx/>
              <a:buNone/>
              <a:defRPr sz="950">
                <a:solidFill>
                  <a:schemeClr val="bg1"/>
                </a:solidFill>
              </a:defRPr>
            </a:lvl1pPr>
            <a:lvl2pPr marL="157854" indent="0">
              <a:buFontTx/>
              <a:buNone/>
              <a:defRPr sz="950">
                <a:solidFill>
                  <a:schemeClr val="bg1"/>
                </a:solidFill>
              </a:defRPr>
            </a:lvl2pPr>
            <a:lvl3pPr marL="441992" indent="-142069">
              <a:defRPr sz="950">
                <a:solidFill>
                  <a:schemeClr val="bg1"/>
                </a:solidFill>
              </a:defRPr>
            </a:lvl3pPr>
            <a:lvl4pPr marL="615632" indent="-142069">
              <a:defRPr sz="950">
                <a:solidFill>
                  <a:schemeClr val="bg1"/>
                </a:solidFill>
              </a:defRPr>
            </a:lvl4pPr>
            <a:lvl5pPr marL="757701" indent="-142069">
              <a:defRPr sz="950">
                <a:solidFill>
                  <a:schemeClr val="bg1"/>
                </a:solidFill>
              </a:defRPr>
            </a:lvl5pPr>
          </a:lstStyle>
          <a:p>
            <a:pPr lvl="0"/>
            <a:r>
              <a:rPr lang="el-GR" noProof="0"/>
              <a:t xml:space="preserve">Εισαγωγή στοιχείων επιχείρησης</a:t>
            </a:r>
          </a:p>
        </p:txBody>
      </p:sp>
      <p:sp>
        <p:nvSpPr>
          <p:cNvPr id="4" name="Title 3">
            <a:extLst>
              <a:ext uri="{FF2B5EF4-FFF2-40B4-BE49-F238E27FC236}">
                <a16:creationId xmlns:a16="http://schemas.microsoft.com/office/drawing/2014/main" id="{6DF97A03-6A5A-CE52-A825-964660171C82}"/>
              </a:ext>
            </a:extLst>
          </p:cNvPr>
          <p:cNvSpPr>
            <a:spLocks noGrp="1"/>
          </p:cNvSpPr>
          <p:nvPr>
            <p:ph type="title"/>
          </p:nvPr>
        </p:nvSpPr>
        <p:spPr/>
        <p:txBody>
          <a:bodyPr/>
          <a:lstStyle>
            <a:lvl1pPr>
              <a:defRPr>
                <a:solidFill>
                  <a:schemeClr val="bg1"/>
                </a:solidFill>
              </a:defRPr>
            </a:lvl1pPr>
          </a:lstStyle>
          <a:p>
            <a:r>
              <a:rPr lang="el-GR" noProof="0" err="1"/>
              <a:t xml:space="preserve">Click</a:t>
            </a:r>
            <a:r>
              <a:rPr lang="el-GR" noProof="0"/>
              <a:t xml:space="preserve"> to </a:t>
            </a:r>
            <a:r>
              <a:rPr lang="el-GR" noProof="0" err="1"/>
              <a:t xml:space="preserve">edit</a:t>
            </a:r>
            <a:r>
              <a:rPr lang="el-GR" noProof="0"/>
              <a:t xml:space="preserve"> Master </a:t>
            </a:r>
            <a:r>
              <a:rPr lang="el-GR" noProof="0" err="1"/>
              <a:t xml:space="preserve">title</a:t>
            </a:r>
            <a:r>
              <a:rPr lang="el-GR" noProof="0"/>
              <a:t xml:space="preserve"> style</a:t>
            </a:r>
          </a:p>
        </p:txBody>
      </p:sp>
      <p:sp>
        <p:nvSpPr>
          <p:cNvPr id="10" name="Footer Placeholder 9">
            <a:extLst>
              <a:ext uri="{FF2B5EF4-FFF2-40B4-BE49-F238E27FC236}">
                <a16:creationId xmlns:a16="http://schemas.microsoft.com/office/drawing/2014/main" id="{C0ED9E13-9DB5-7219-D300-DD32B15B25DA}"/>
              </a:ext>
            </a:extLst>
          </p:cNvPr>
          <p:cNvSpPr>
            <a:spLocks noGrp="1"/>
          </p:cNvSpPr>
          <p:nvPr>
            <p:ph type="ftr" sz="quarter" idx="15"/>
          </p:nvPr>
        </p:nvSpPr>
        <p:spPr/>
        <p:txBody>
          <a:bodyPr/>
          <a:lstStyle>
            <a:lvl1pPr>
              <a:defRPr>
                <a:solidFill>
                  <a:schemeClr val="bg1"/>
                </a:solidFill>
              </a:defRPr>
            </a:lvl1pPr>
          </a:lstStyle>
          <a:p>
            <a:r>
              <a:rPr lang="el-GR" noProof="0"/>
              <a:t xml:space="preserve">ΚΛΙΚ ΓΙΑ ΕΙΣΑΓΩΓΗ ΕΠΩΝΥΜΙΑΣ</a:t>
            </a:r>
          </a:p>
        </p:txBody>
      </p:sp>
      <p:sp>
        <p:nvSpPr>
          <p:cNvPr id="11" name="Slide Number Placeholder 10">
            <a:extLst>
              <a:ext uri="{FF2B5EF4-FFF2-40B4-BE49-F238E27FC236}">
                <a16:creationId xmlns:a16="http://schemas.microsoft.com/office/drawing/2014/main" id="{85AA5A7D-770A-67C5-6EFF-8AD1F28FC232}"/>
              </a:ext>
            </a:extLst>
          </p:cNvPr>
          <p:cNvSpPr>
            <a:spLocks noGrp="1"/>
          </p:cNvSpPr>
          <p:nvPr>
            <p:ph type="sldNum" sz="quarter" idx="16"/>
          </p:nvPr>
        </p:nvSpPr>
        <p:spPr/>
        <p:txBody>
          <a:bodyPr/>
          <a:lstStyle>
            <a:lvl1pPr>
              <a:defRPr>
                <a:solidFill>
                  <a:schemeClr val="bg1">
                    <a:alpha val="70000"/>
                  </a:schemeClr>
                </a:solidFill>
              </a:defRPr>
            </a:lvl1pPr>
          </a:lstStyle>
          <a:p>
            <a:fld id="{5A0D23CF-C5A3-5445-819D-C647D180BB4B}" type="slidenum">
              <a:rPr lang="el-GR" noProof="0" smtClean="0"/>
              <a:pPr/>
              <a:t xml:space="preserve">‹#›</a:t>
            </a:fld>
            <a:endParaRPr lang="el-GR" noProof="0"/>
          </a:p>
        </p:txBody>
      </p:sp>
    </p:spTree>
    <p:extLst>
      <p:ext uri="{BB962C8B-B14F-4D97-AF65-F5344CB8AC3E}">
        <p14:creationId xmlns:p14="http://schemas.microsoft.com/office/powerpoint/2010/main" val="2348340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Pladsholder til tekst 2">
            <a:extLst>
              <a:ext uri="{FF2B5EF4-FFF2-40B4-BE49-F238E27FC236}">
                <a16:creationId xmlns:a16="http://schemas.microsoft.com/office/drawing/2014/main" id="{3B61CC4E-F6A2-4C3F-CE7B-BB195B240393}"/>
              </a:ext>
            </a:extLst>
          </p:cNvPr>
          <p:cNvSpPr>
            <a:spLocks noGrp="1"/>
          </p:cNvSpPr>
          <p:nvPr>
            <p:ph type="body" idx="1"/>
          </p:nvPr>
        </p:nvSpPr>
        <p:spPr>
          <a:xfrm>
            <a:off x="454795" y="890999"/>
            <a:ext cx="9791703" cy="4672552"/>
          </a:xfrm>
          <a:prstGeom prst="rect">
            <a:avLst/>
          </a:prstGeom>
        </p:spPr>
        <p:txBody>
          <a:bodyPr vert="horz" lIns="0" tIns="0" rIns="0" bIns="0" rtlCol="0">
            <a:noAutofit/>
          </a:bodyPr>
          <a:lstStyle/>
          <a:p>
            <a:pPr lvl="0"/>
            <a:r>
              <a:rPr lang="el-GR" noProof="0"/>
              <a:t xml:space="preserve">Κάντε κλικ για επεξεργασία των στυλ κειμένου του υποδείγματος</a:t>
            </a:r>
          </a:p>
          <a:p>
            <a:pPr lvl="1"/>
            <a:r>
              <a:rPr lang="el-GR" noProof="0"/>
              <a:t xml:space="preserve">Δεύτερο επίπεδο</a:t>
            </a:r>
          </a:p>
          <a:p>
            <a:pPr lvl="2"/>
            <a:r>
              <a:rPr lang="el-GR" noProof="0"/>
              <a:t xml:space="preserve">Τρίτο επίπεδο</a:t>
            </a:r>
          </a:p>
          <a:p>
            <a:pPr lvl="3"/>
            <a:r>
              <a:rPr lang="el-GR" noProof="0"/>
              <a:t xml:space="preserve">Τέταρτο επίπεδο</a:t>
            </a:r>
          </a:p>
          <a:p>
            <a:pPr lvl="4"/>
            <a:r>
              <a:rPr lang="el-GR" noProof="0"/>
              <a:t xml:space="preserve">Πέμπτο επίπεδο</a:t>
            </a:r>
          </a:p>
        </p:txBody>
      </p:sp>
      <p:sp>
        <p:nvSpPr>
          <p:cNvPr id="4" name="Pladsholder til dato 3">
            <a:extLst>
              <a:ext uri="{FF2B5EF4-FFF2-40B4-BE49-F238E27FC236}">
                <a16:creationId xmlns:a16="http://schemas.microsoft.com/office/drawing/2014/main" id="{8550164C-751B-845B-9F9B-5F2B4F1FB4E6}"/>
              </a:ext>
            </a:extLst>
          </p:cNvPr>
          <p:cNvSpPr>
            <a:spLocks noGrp="1"/>
          </p:cNvSpPr>
          <p:nvPr>
            <p:ph type="dt" sz="half" idx="2"/>
          </p:nvPr>
        </p:nvSpPr>
        <p:spPr>
          <a:xfrm>
            <a:off x="235729" y="7202406"/>
            <a:ext cx="2405700" cy="134955"/>
          </a:xfrm>
          <a:prstGeom prst="rect">
            <a:avLst/>
          </a:prstGeom>
        </p:spPr>
        <p:txBody>
          <a:bodyPr vert="horz" lIns="0" tIns="0" rIns="0" bIns="0" rtlCol="0" anchor="t" anchorCtr="0">
            <a:noAutofit/>
          </a:bodyPr>
          <a:lstStyle>
            <a:lvl1pPr algn="l">
              <a:defRPr sz="875">
                <a:solidFill>
                  <a:srgbClr val="5F7D69"/>
                </a:solidFill>
                <a:latin typeface="IBM Plex Sans" panose="020B0503050203000203" pitchFamily="34" charset="0"/>
              </a:defRPr>
            </a:lvl1pPr>
          </a:lstStyle>
          <a:p>
            <a:endParaRPr lang="el-GR"/>
          </a:p>
        </p:txBody>
      </p:sp>
      <p:sp>
        <p:nvSpPr>
          <p:cNvPr id="5" name="Pladsholder til sidefod 4">
            <a:extLst>
              <a:ext uri="{FF2B5EF4-FFF2-40B4-BE49-F238E27FC236}">
                <a16:creationId xmlns:a16="http://schemas.microsoft.com/office/drawing/2014/main" id="{7AB68935-0A2D-A618-8989-FB93D31273FE}"/>
              </a:ext>
            </a:extLst>
          </p:cNvPr>
          <p:cNvSpPr>
            <a:spLocks noGrp="1"/>
          </p:cNvSpPr>
          <p:nvPr>
            <p:ph type="ftr" sz="quarter" idx="3"/>
          </p:nvPr>
        </p:nvSpPr>
        <p:spPr>
          <a:xfrm>
            <a:off x="7261741" y="197293"/>
            <a:ext cx="3194529" cy="134955"/>
          </a:xfrm>
          <a:prstGeom prst="rect">
            <a:avLst/>
          </a:prstGeom>
        </p:spPr>
        <p:txBody>
          <a:bodyPr vert="horz" lIns="0" tIns="0" rIns="0" bIns="0" rtlCol="0" anchor="t" anchorCtr="0">
            <a:noAutofit/>
          </a:bodyPr>
          <a:lstStyle>
            <a:lvl1pPr algn="r">
              <a:defRPr sz="875" b="1">
                <a:solidFill>
                  <a:srgbClr val="5F7D69"/>
                </a:solidFill>
                <a:latin typeface="IBM Plex Sans" panose="020B0503050203000203" pitchFamily="34" charset="0"/>
              </a:defRPr>
            </a:lvl1pPr>
          </a:lstStyle>
          <a:p>
            <a:r>
              <a:rPr lang="el-GR"/>
              <a:t xml:space="preserve">ΚΛΙΚ ΓΙΑ ΕΙΣΑΓΩΓΗ ΕΠΩΝΥΜΙΑΣ</a:t>
            </a:r>
          </a:p>
        </p:txBody>
      </p:sp>
      <p:sp>
        <p:nvSpPr>
          <p:cNvPr id="6" name="Pladsholder til slidenummer 5">
            <a:extLst>
              <a:ext uri="{FF2B5EF4-FFF2-40B4-BE49-F238E27FC236}">
                <a16:creationId xmlns:a16="http://schemas.microsoft.com/office/drawing/2014/main" id="{77E57B8E-CD4B-57B4-607F-20E2BE60DB5F}"/>
              </a:ext>
            </a:extLst>
          </p:cNvPr>
          <p:cNvSpPr>
            <a:spLocks noGrp="1"/>
          </p:cNvSpPr>
          <p:nvPr>
            <p:ph type="sldNum" sz="quarter" idx="4"/>
          </p:nvPr>
        </p:nvSpPr>
        <p:spPr>
          <a:xfrm>
            <a:off x="8050571" y="7202406"/>
            <a:ext cx="2405700" cy="134955"/>
          </a:xfrm>
          <a:prstGeom prst="rect">
            <a:avLst/>
          </a:prstGeom>
        </p:spPr>
        <p:txBody>
          <a:bodyPr vert="horz" lIns="0" tIns="0" rIns="0" bIns="0" rtlCol="0" anchor="t" anchorCtr="0">
            <a:noAutofit/>
          </a:bodyPr>
          <a:lstStyle>
            <a:lvl1pPr algn="r">
              <a:defRPr sz="875">
                <a:solidFill>
                  <a:schemeClr val="tx2">
                    <a:alpha val="70000"/>
                  </a:schemeClr>
                </a:solidFill>
                <a:latin typeface="IBM Plex Sans" panose="020B0503050203000203" pitchFamily="34" charset="0"/>
              </a:defRPr>
            </a:lvl1pPr>
          </a:lstStyle>
          <a:p>
            <a:fld id="{5A0D23CF-C5A3-5445-819D-C647D180BB4B}" type="slidenum">
              <a:rPr lang="el-GR" smtClean="0"/>
              <a:pPr/>
              <a:t xml:space="preserve">‹#›</a:t>
            </a:fld>
            <a:endParaRPr lang="el-GR"/>
          </a:p>
        </p:txBody>
      </p:sp>
      <p:sp>
        <p:nvSpPr>
          <p:cNvPr id="7" name="Title Placeholder 6">
            <a:extLst>
              <a:ext uri="{FF2B5EF4-FFF2-40B4-BE49-F238E27FC236}">
                <a16:creationId xmlns:a16="http://schemas.microsoft.com/office/drawing/2014/main" id="{8788DFCC-4D37-4C1B-5213-E1D68A373009}"/>
              </a:ext>
            </a:extLst>
          </p:cNvPr>
          <p:cNvSpPr>
            <a:spLocks noGrp="1"/>
          </p:cNvSpPr>
          <p:nvPr>
            <p:ph type="title"/>
          </p:nvPr>
        </p:nvSpPr>
        <p:spPr>
          <a:xfrm>
            <a:off x="454796" y="450698"/>
            <a:ext cx="9791704" cy="218627"/>
          </a:xfrm>
          <a:prstGeom prst="rect">
            <a:avLst/>
          </a:prstGeom>
        </p:spPr>
        <p:txBody>
          <a:bodyPr vert="horz" wrap="square" lIns="0" tIns="0" rIns="0" bIns="0" rtlCol="0" anchor="t" anchorCtr="0">
            <a:spAutoFit/>
          </a:bodyPr>
          <a:lstStyle/>
          <a:p>
            <a:r>
              <a:rPr lang="el-GR" noProof="0"/>
              <a:t xml:space="preserve">Κάντε κλικ για επεξεργασία του στυλ τίτλου</a:t>
            </a:r>
          </a:p>
        </p:txBody>
      </p:sp>
    </p:spTree>
    <p:extLst>
      <p:ext uri="{BB962C8B-B14F-4D97-AF65-F5344CB8AC3E}">
        <p14:creationId xmlns:p14="http://schemas.microsoft.com/office/powerpoint/2010/main" val="3535313756"/>
      </p:ext>
    </p:extLst>
  </p:cSld>
  <p:clrMap bg1="lt1" tx1="dk1" bg2="lt2" tx2="dk2" accent1="accent1" accent2="accent2" accent3="accent3" accent4="accent4" accent5="accent5" accent6="accent6" hlink="hlink" folHlink="folHlink"/>
  <p:sldLayoutIdLst>
    <p:sldLayoutId id="2147483678" r:id="rId1"/>
    <p:sldLayoutId id="2147483681" r:id="rId2"/>
    <p:sldLayoutId id="2147483694" r:id="rId3"/>
    <p:sldLayoutId id="2147483696" r:id="rId4"/>
    <p:sldLayoutId id="2147483690" r:id="rId5"/>
  </p:sldLayoutIdLst>
  <p:hf hdr="0" dt="0"/>
  <p:txStyles>
    <p:title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p:titleStyle>
    <p:bodyStyle>
      <a:lvl1pPr marL="63142" indent="-63142" algn="l" defTabSz="914400" rtl="0" eaLnBrk="1" latinLnBrk="0" hangingPunct="1">
        <a:lnSpc>
          <a:spcPct val="106000"/>
        </a:lnSpc>
        <a:spcBef>
          <a:spcPts val="0"/>
        </a:spcBef>
        <a:buFont typeface="Arial" panose="020B0604020202020204" pitchFamily="34" charset="0"/>
        <a:buChar char="•"/>
        <a:defRPr sz="775" b="0" kern="1200" spc="-10" baseline="0">
          <a:solidFill>
            <a:schemeClr val="tx2"/>
          </a:solidFill>
          <a:latin typeface="+mn-lt"/>
          <a:ea typeface="+mn-ea"/>
          <a:cs typeface="+mn-cs"/>
        </a:defRPr>
      </a:lvl1pPr>
      <a:lvl2pPr marL="126283"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2pPr>
      <a:lvl3pPr marL="189425"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3pPr>
      <a:lvl4pPr marL="252567"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4pPr>
      <a:lvl5pPr marL="315709"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5pPr>
      <a:lvl6pPr marL="22052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6pPr>
      <a:lvl7pPr marL="26061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7pPr>
      <a:lvl8pPr marL="30071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8pPr>
      <a:lvl9pPr marL="34080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9pPr>
    </p:bodyStyle>
    <p:otherStyle>
      <a:defPPr>
        <a:defRPr lang="el-GR"/>
      </a:defPPr>
      <a:lvl1pPr marL="0" algn="l" defTabSz="914400" rtl="0" eaLnBrk="1" latinLnBrk="0" hangingPunct="1">
        <a:defRPr sz="1575" kern="1200">
          <a:solidFill>
            <a:schemeClr val="tx1"/>
          </a:solidFill>
          <a:latin typeface="+mn-lt"/>
          <a:ea typeface="+mn-ea"/>
          <a:cs typeface="+mn-cs"/>
        </a:defRPr>
      </a:lvl1pPr>
      <a:lvl2pPr marL="400950" algn="l" defTabSz="914400" rtl="0" eaLnBrk="1" latinLnBrk="0" hangingPunct="1">
        <a:defRPr sz="1575" kern="1200">
          <a:solidFill>
            <a:schemeClr val="tx1"/>
          </a:solidFill>
          <a:latin typeface="+mn-lt"/>
          <a:ea typeface="+mn-ea"/>
          <a:cs typeface="+mn-cs"/>
        </a:defRPr>
      </a:lvl2pPr>
      <a:lvl3pPr marL="801900" algn="l" defTabSz="914400" rtl="0" eaLnBrk="1" latinLnBrk="0" hangingPunct="1">
        <a:defRPr sz="1575" kern="1200">
          <a:solidFill>
            <a:schemeClr val="tx1"/>
          </a:solidFill>
          <a:latin typeface="+mn-lt"/>
          <a:ea typeface="+mn-ea"/>
          <a:cs typeface="+mn-cs"/>
        </a:defRPr>
      </a:lvl3pPr>
      <a:lvl4pPr marL="1202850" algn="l" defTabSz="914400" rtl="0" eaLnBrk="1" latinLnBrk="0" hangingPunct="1">
        <a:defRPr sz="1575" kern="1200">
          <a:solidFill>
            <a:schemeClr val="tx1"/>
          </a:solidFill>
          <a:latin typeface="+mn-lt"/>
          <a:ea typeface="+mn-ea"/>
          <a:cs typeface="+mn-cs"/>
        </a:defRPr>
      </a:lvl4pPr>
      <a:lvl5pPr marL="1603800" algn="l" defTabSz="914400" rtl="0" eaLnBrk="1" latinLnBrk="0" hangingPunct="1">
        <a:defRPr sz="1575" kern="1200">
          <a:solidFill>
            <a:schemeClr val="tx1"/>
          </a:solidFill>
          <a:latin typeface="+mn-lt"/>
          <a:ea typeface="+mn-ea"/>
          <a:cs typeface="+mn-cs"/>
        </a:defRPr>
      </a:lvl5pPr>
      <a:lvl6pPr marL="2004750" algn="l" defTabSz="914400" rtl="0" eaLnBrk="1" latinLnBrk="0" hangingPunct="1">
        <a:defRPr sz="1575" kern="1200">
          <a:solidFill>
            <a:schemeClr val="tx1"/>
          </a:solidFill>
          <a:latin typeface="+mn-lt"/>
          <a:ea typeface="+mn-ea"/>
          <a:cs typeface="+mn-cs"/>
        </a:defRPr>
      </a:lvl6pPr>
      <a:lvl7pPr marL="2405700" algn="l" defTabSz="914400" rtl="0" eaLnBrk="1" latinLnBrk="0" hangingPunct="1">
        <a:defRPr sz="1575" kern="1200">
          <a:solidFill>
            <a:schemeClr val="tx1"/>
          </a:solidFill>
          <a:latin typeface="+mn-lt"/>
          <a:ea typeface="+mn-ea"/>
          <a:cs typeface="+mn-cs"/>
        </a:defRPr>
      </a:lvl7pPr>
      <a:lvl8pPr marL="2806650" algn="l" defTabSz="914400" rtl="0" eaLnBrk="1" latinLnBrk="0" hangingPunct="1">
        <a:defRPr sz="1575" kern="1200">
          <a:solidFill>
            <a:schemeClr val="tx1"/>
          </a:solidFill>
          <a:latin typeface="+mn-lt"/>
          <a:ea typeface="+mn-ea"/>
          <a:cs typeface="+mn-cs"/>
        </a:defRPr>
      </a:lvl8pPr>
      <a:lvl9pPr marL="3207600" algn="l" defTabSz="914400" rtl="0" eaLnBrk="1" latinLnBrk="0" hangingPunct="1">
        <a:defRPr sz="1575"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20" userDrawn="1">
          <p15:clr>
            <a:srgbClr val="F26B43"/>
          </p15:clr>
        </p15:guide>
        <p15:guide id="4" pos="2533" userDrawn="1">
          <p15:clr>
            <a:srgbClr val="F26B43"/>
          </p15:clr>
        </p15:guide>
        <p15:guide id="5" pos="2733" userDrawn="1">
          <p15:clr>
            <a:srgbClr val="F26B43"/>
          </p15:clr>
        </p15:guide>
        <p15:guide id="6" pos="4946" userDrawn="1">
          <p15:clr>
            <a:srgbClr val="F26B43"/>
          </p15:clr>
        </p15:guide>
        <p15:guide id="7" pos="5146" userDrawn="1">
          <p15:clr>
            <a:srgbClr val="F26B43"/>
          </p15:clr>
        </p15:guide>
        <p15:guide id="8" pos="7360" userDrawn="1">
          <p15:clr>
            <a:srgbClr val="F26B43"/>
          </p15:clr>
        </p15:guide>
        <p15:guide id="9" orient="horz" userDrawn="1">
          <p15:clr>
            <a:srgbClr val="F26B43"/>
          </p15:clr>
        </p15:guide>
        <p15:guide id="10" orient="horz" pos="4320" userDrawn="1">
          <p15:clr>
            <a:srgbClr val="F26B43"/>
          </p15:clr>
        </p15:guide>
        <p15:guide id="11" orient="horz" pos="320" userDrawn="1">
          <p15:clr>
            <a:srgbClr val="F26B43"/>
          </p15:clr>
        </p15:guide>
        <p15:guide id="12" orient="horz" pos="4000" userDrawn="1">
          <p15:clr>
            <a:srgbClr val="F26B43"/>
          </p15:clr>
        </p15:guide>
        <p15:guide id="13" orient="horz" pos="6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92A8525A-459C-C975-663E-23EF33D3BFBC}"/>
              </a:ext>
            </a:extLst>
          </p:cNvPr>
          <p:cNvSpPr>
            <a:spLocks noGrp="1"/>
          </p:cNvSpPr>
          <p:nvPr>
            <p:ph type="title"/>
          </p:nvPr>
        </p:nvSpPr>
        <p:spPr>
          <a:xfrm>
            <a:off x="946688" y="4051289"/>
            <a:ext cx="8798625" cy="133605"/>
          </a:xfrm>
        </p:spPr>
        <p:txBody>
          <a:bodyPr/>
          <a:lstStyle/>
          <a:p>
            <a:r>
              <a:rPr lang="el-GR" noProof="0"/>
              <a:t xml:space="preserve">ΕΚΘΕΣΗ ESG {{insert_year}}</a:t>
            </a:r>
            <a:r>
              <a:rPr lang="el-GR" noProof="0"/>
              <a:t xml:space="preserve"/>
            </a:r>
            <a:r>
              <a:rPr lang="el-GR" noProof="0"/>
              <a:t xml:space="preserve"/>
            </a:r>
          </a:p>
        </p:txBody>
      </p:sp>
      <p:sp>
        <p:nvSpPr>
          <p:cNvPr id="4" name="Footer Placeholder 3">
            <a:extLst>
              <a:ext uri="{FF2B5EF4-FFF2-40B4-BE49-F238E27FC236}">
                <a16:creationId xmlns:a16="http://schemas.microsoft.com/office/drawing/2014/main" id="{734E8629-539E-87AE-7B49-CC26832ADCE2}"/>
              </a:ext>
            </a:extLst>
          </p:cNvPr>
          <p:cNvSpPr>
            <a:spLocks noGrp="1"/>
          </p:cNvSpPr>
          <p:nvPr>
            <p:ph type="ftr" sz="quarter" idx="15"/>
          </p:nvPr>
        </p:nvSpPr>
        <p:spPr>
          <a:xfrm>
            <a:off x="3072658" y="4359745"/>
            <a:ext cx="4539794" cy="246616"/>
          </a:xfrm>
        </p:spPr>
        <p:txBody>
          <a:bodyPr/>
          <a:lstStyle/>
          <a:p>
            <a:r>
              <a:rPr lang="el-GR" noProof="0"/>
              <a:t>{{</a:t>
            </a:r>
            <a:r>
              <a:rPr lang="el-GR" noProof="0"/>
              <a:t>company_name</a:t>
            </a:r>
            <a:r>
              <a:rPr lang="el-GR" noProof="0"/>
              <a:t>}}</a:t>
            </a:r>
            <a:endParaRPr lang="el-GR" b="0" noProof="0"/>
          </a:p>
        </p:txBody>
      </p:sp>
    </p:spTree>
    <p:extLst>
      <p:ext uri="{BB962C8B-B14F-4D97-AF65-F5344CB8AC3E}">
        <p14:creationId xmlns:p14="http://schemas.microsoft.com/office/powerpoint/2010/main" val="24285577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41FDDEE7-C270-1824-E7E0-80B15F3FDDC2}"/>
              </a:ext>
            </a:extLst>
          </p:cNvPr>
          <p:cNvSpPr>
            <a:spLocks noGrp="1"/>
          </p:cNvSpPr>
          <p:nvPr>
            <p:ph type="title"/>
          </p:nvPr>
        </p:nvSpPr>
        <p:spPr>
          <a:xfrm>
            <a:off x="454796" y="450698"/>
            <a:ext cx="9791704" cy="437255"/>
          </a:xfrm>
        </p:spPr>
        <p:txBody>
          <a:bodyPr/>
          <a:lstStyle/>
          <a:p>
            <a:r>
              <a:rPr lang="el-GR" noProof="0"/>
              <a:t xml:space="preserve">Έκθεση ESG</a:t>
            </a:r>
            <a:r>
              <a:rPr lang="el-GR" b="0" noProof="0">
                <a:solidFill>
                  <a:schemeClr val="accent2"/>
                </a:solidFill>
                <a:ea typeface="+mn-ea"/>
                <a:cs typeface="+mn-cs"/>
              </a:rPr>
              <a:t> </a:t>
            </a:r>
            <a:br>
              <a:rPr lang="el-GR" b="0" noProof="0">
                <a:solidFill>
                  <a:schemeClr val="accent2"/>
                </a:solidFill>
                <a:ea typeface="+mn-ea"/>
                <a:cs typeface="+mn-cs"/>
              </a:rPr>
            </a:br>
            <a:endParaRPr lang="el-GR" b="0" noProof="0">
              <a:solidFill>
                <a:schemeClr val="accent2"/>
              </a:solidFill>
              <a:ea typeface="+mn-ea"/>
              <a:cs typeface="+mn-cs"/>
            </a:endParaRPr>
          </a:p>
        </p:txBody>
      </p:sp>
      <p:sp>
        <p:nvSpPr>
          <p:cNvPr id="4" name="Text Placeholder 2">
            <a:extLst>
              <a:ext uri="{FF2B5EF4-FFF2-40B4-BE49-F238E27FC236}">
                <a16:creationId xmlns:a16="http://schemas.microsoft.com/office/drawing/2014/main" id="{34D83B42-66BB-638E-55C1-84FD1F7A8354}"/>
              </a:ext>
            </a:extLst>
          </p:cNvPr>
          <p:cNvSpPr>
            <a:spLocks noGrp="1"/>
          </p:cNvSpPr>
          <p:nvPr>
            <p:ph type="body" sz="quarter" idx="17"/>
          </p:nvPr>
        </p:nvSpPr>
        <p:spPr>
          <a:xfrm>
            <a:off x="454793" y="864270"/>
            <a:ext cx="6880233" cy="4704480"/>
          </a:xfrm>
        </p:spPr>
        <p:txBody>
          <a:bodyPr/>
          <a:lstStyle/>
          <a:p>
            <a:pPr>
              <a:lnSpc>
                <a:spcPct val="150000"/>
              </a:lnSpc>
              <a:tabLst>
                <a:tab pos="251986" algn="l"/>
                <a:tab pos="409303" algn="l"/>
                <a:tab pos="3932930" algn="r"/>
              </a:tabLst>
            </a:pPr>
            <a:endParaRPr lang="el-GR" sz="1050" b="1" noProof="0">
              <a:latin typeface="+mj-lt"/>
            </a:endParaRPr>
          </a:p>
          <a:p>
            <a:pPr>
              <a:lnSpc>
                <a:spcPct val="150000"/>
              </a:lnSpc>
              <a:tabLst>
                <a:tab pos="251986" algn="l"/>
                <a:tab pos="409303" algn="l"/>
                <a:tab pos="3932930" algn="r"/>
              </a:tabLst>
            </a:pPr>
            <a:endParaRPr lang="el-GR" sz="1050" b="1" noProof="0">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Γενικές πληροφορίες				</a:t>
            </a:r>
            <a:endParaRPr lang="el-GR" sz="1050" noProof="0">
              <a:solidFill>
                <a:schemeClr val="accent2"/>
              </a:solidFill>
              <a:latin typeface="+mj-lt"/>
            </a:endParaRPr>
          </a:p>
          <a:p>
            <a:pPr marL="200475" indent="-233624">
              <a:lnSpc>
                <a:spcPct val="150000"/>
              </a:lnSpc>
              <a:buFont typeface="+mj-lt"/>
              <a:buAutoNum type="arabicPeriod"/>
              <a:tabLst>
                <a:tab pos="251986" algn="l"/>
                <a:tab pos="409303" algn="l"/>
                <a:tab pos="3932930" algn="r"/>
              </a:tabLst>
            </a:pPr>
            <a:r>
              <a:rPr lang="el-GR" sz="1050" b="1" kern="1200" spc="-10" noProof="0">
                <a:solidFill>
                  <a:schemeClr val="tx2"/>
                </a:solidFill>
                <a:latin typeface="+mn-lt"/>
                <a:ea typeface="+mn-ea"/>
                <a:cs typeface="+mn-cs"/>
              </a:rPr>
              <a:t xml:space="preserve">Πρακτικές, πολιτικές και πρωτοβουλίες για πιο βιώσιμη οικονομία	</a:t>
            </a:r>
            <a:endParaRPr lang="el-GR" sz="1050" b="1" noProof="0">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Κατανάλωση ενέργειας				</a:t>
            </a:r>
            <a:endParaRPr lang="el-GR" sz="1050" noProof="0">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Εκπομπές CO₂e 				</a:t>
            </a:r>
            <a:r>
              <a:rPr lang="el-GR" sz="1050" b="1" noProof="0">
                <a:latin typeface="+mj-lt"/>
              </a:rPr>
              <a:t xml:space="preserve"/>
            </a:r>
            <a:endParaRPr lang="el-GR" sz="1050" noProof="0">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Ρύπανση αέρα, νερού και εδάφους</a:t>
            </a:r>
            <a:r>
              <a:rPr lang="el-GR" sz="1050" noProof="0">
                <a:latin typeface="+mj-lt"/>
              </a:rPr>
              <a:t>				</a:t>
            </a: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Βιοποικιλότητα</a:t>
            </a:r>
            <a:r>
              <a:rPr lang="el-GR" sz="1050" noProof="0">
                <a:latin typeface="+mj-lt"/>
              </a:rPr>
              <a:t>				</a:t>
            </a: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Νερό	</a:t>
            </a:r>
            <a:r>
              <a:rPr lang="el-GR" sz="1050" noProof="0">
                <a:latin typeface="+mj-lt"/>
              </a:rPr>
              <a:t> 			</a:t>
            </a: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Χρήση πόρων, κυκλική οικονομία και διαχείριση αποβλήτων</a:t>
            </a:r>
            <a:r>
              <a:rPr lang="el-GR" sz="1050" noProof="0">
                <a:latin typeface="+mj-lt"/>
              </a:rPr>
              <a:t>				</a:t>
            </a:r>
            <a:endParaRPr lang="el-GR" sz="1050" noProof="0">
              <a:solidFill>
                <a:schemeClr val="accent2"/>
              </a:solidFill>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Ίδιο εργατικό δυναμικό: γενικά χαρακτηριστικά</a:t>
            </a:r>
            <a:r>
              <a:rPr lang="el-GR" sz="1050" noProof="0">
                <a:latin typeface="+mj-lt"/>
              </a:rPr>
              <a:t>				</a:t>
            </a:r>
            <a:endParaRPr lang="el-GR" sz="1050" noProof="0">
              <a:solidFill>
                <a:schemeClr val="accent2"/>
              </a:solidFill>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Ίδιο εργατικό δυναμικό: υγεία και ασφάλεια</a:t>
            </a:r>
            <a:r>
              <a:rPr lang="el-GR" sz="1050" noProof="0">
                <a:latin typeface="+mj-lt"/>
              </a:rPr>
              <a:t>				</a:t>
            </a:r>
            <a:endParaRPr lang="el-GR" sz="1050" noProof="0">
              <a:solidFill>
                <a:schemeClr val="accent2"/>
              </a:solidFill>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Εργατικό δυναμικό: αμοιβές, συλλογικές συμβάσεις, κατάρτιση</a:t>
            </a:r>
            <a:r>
              <a:rPr lang="el-GR" sz="1050" noProof="0">
                <a:latin typeface="+mj-lt"/>
              </a:rPr>
              <a:t>		</a:t>
            </a:r>
            <a:endParaRPr lang="el-GR" sz="1050" noProof="0">
              <a:solidFill>
                <a:schemeClr val="accent2"/>
              </a:solidFill>
              <a:latin typeface="+mj-lt"/>
            </a:endParaRPr>
          </a:p>
          <a:p>
            <a:pPr marL="200475" indent="-233624">
              <a:lnSpc>
                <a:spcPct val="150000"/>
              </a:lnSpc>
              <a:buFont typeface="+mj-lt"/>
              <a:buAutoNum type="arabicPeriod"/>
              <a:tabLst>
                <a:tab pos="251986" algn="l"/>
                <a:tab pos="409303" algn="l"/>
                <a:tab pos="3932930" algn="r"/>
              </a:tabLst>
            </a:pPr>
            <a:r>
              <a:rPr lang="el-GR" sz="1050" b="1" noProof="0">
                <a:latin typeface="+mj-lt"/>
              </a:rPr>
              <a:t xml:space="preserve">Επιχειρηματική δεοντολογία</a:t>
            </a:r>
            <a:r>
              <a:rPr lang="el-GR" sz="1050" noProof="0">
                <a:latin typeface="+mj-lt"/>
              </a:rPr>
              <a:t>	 			</a:t>
            </a:r>
            <a:endParaRPr lang="el-GR" sz="1050" noProof="0">
              <a:solidFill>
                <a:schemeClr val="accent2"/>
              </a:solidFill>
              <a:latin typeface="+mj-lt"/>
            </a:endParaRPr>
          </a:p>
          <a:p>
            <a:pPr>
              <a:tabLst>
                <a:tab pos="251986" algn="l"/>
                <a:tab pos="409303" algn="l"/>
                <a:tab pos="3932930" algn="r"/>
              </a:tabLst>
            </a:pPr>
            <a:endParaRPr lang="el-GR" sz="1050" noProof="0">
              <a:latin typeface="+mj-lt"/>
            </a:endParaRPr>
          </a:p>
          <a:p>
            <a:pPr>
              <a:tabLst>
                <a:tab pos="251986" algn="l"/>
                <a:tab pos="409303" algn="l"/>
                <a:tab pos="3932930" algn="r"/>
              </a:tabLst>
            </a:pPr>
            <a:endParaRPr lang="el-GR" sz="1050" noProof="0">
              <a:latin typeface="+mj-lt"/>
            </a:endParaRPr>
          </a:p>
          <a:p>
            <a:pPr>
              <a:tabLst>
                <a:tab pos="251986" algn="l"/>
                <a:tab pos="409303" algn="l"/>
                <a:tab pos="3932930" algn="r"/>
              </a:tabLst>
            </a:pPr>
            <a:endParaRPr lang="el-GR" noProof="0">
              <a:latin typeface="+mj-lt"/>
            </a:endParaRPr>
          </a:p>
          <a:p>
            <a:pPr>
              <a:tabLst>
                <a:tab pos="251986" algn="l"/>
                <a:tab pos="409303" algn="l"/>
                <a:tab pos="3932930" algn="r"/>
              </a:tabLst>
            </a:pPr>
            <a:endParaRPr lang="el-GR" noProof="0">
              <a:latin typeface="+mj-lt"/>
            </a:endParaRPr>
          </a:p>
        </p:txBody>
      </p:sp>
      <p:sp>
        <p:nvSpPr>
          <p:cNvPr id="5" name="Footer Placeholder 4">
            <a:extLst>
              <a:ext uri="{FF2B5EF4-FFF2-40B4-BE49-F238E27FC236}">
                <a16:creationId xmlns:a16="http://schemas.microsoft.com/office/drawing/2014/main" id="{663AAC2A-0E1A-03B9-5DD7-E396252E7CF3}"/>
              </a:ext>
              <a:ext uri="{C183D7F6-B498-43B3-948B-1728B52AA6E4}">
                <adec:decorative xmlns:adec="http://schemas.microsoft.com/office/drawing/2017/decorative" val="1"/>
              </a:ext>
            </a:extLst>
          </p:cNvPr>
          <p:cNvSpPr>
            <a:spLocks noGrp="1"/>
          </p:cNvSpPr>
          <p:nvPr>
            <p:ph type="ftr" sz="quarter" idx="22"/>
          </p:nvPr>
        </p:nvSpPr>
        <p:spPr>
          <a:xfrm>
            <a:off x="7261741" y="197293"/>
            <a:ext cx="3194529" cy="134955"/>
          </a:xfrm>
        </p:spPr>
        <p:txBody>
          <a:bodyPr/>
          <a:lstStyle/>
          <a:p>
            <a:r>
              <a:rPr lang="el-GR" noProof="0"/>
              <a:t>{{</a:t>
            </a:r>
            <a:r>
              <a:rPr lang="el-GR" noProof="0"/>
              <a:t>company_name</a:t>
            </a:r>
            <a:r>
              <a:rPr lang="el-GR" noProof="0"/>
              <a:t>}}</a:t>
            </a:r>
          </a:p>
        </p:txBody>
      </p:sp>
      <p:sp>
        <p:nvSpPr>
          <p:cNvPr id="2" name="Slide Number Placeholder 5">
            <a:extLst>
              <a:ext uri="{FF2B5EF4-FFF2-40B4-BE49-F238E27FC236}">
                <a16:creationId xmlns:a16="http://schemas.microsoft.com/office/drawing/2014/main" id="{EAF64D3B-AE78-BA15-5D3D-CEE3410664A0}"/>
              </a:ext>
              <a:ext uri="{C183D7F6-B498-43B3-948B-1728B52AA6E4}">
                <adec:decorative xmlns:adec="http://schemas.microsoft.com/office/drawing/2017/decorative" val="1"/>
              </a:ext>
            </a:extLst>
          </p:cNvPr>
          <p:cNvSpPr>
            <a:spLocks noGrp="1"/>
          </p:cNvSpPr>
          <p:nvPr>
            <p:ph type="sldNum" sz="quarter" idx="23"/>
          </p:nvPr>
        </p:nvSpPr>
        <p:spPr>
          <a:xfrm>
            <a:off x="8050571" y="7202406"/>
            <a:ext cx="2405700" cy="134955"/>
          </a:xfrm>
        </p:spPr>
        <p:txBody>
          <a:bodyPr/>
          <a:lstStyle/>
          <a:p>
            <a:fld id="{5A0D23CF-C5A3-5445-819D-C647D180BB4B}" type="slidenum">
              <a:rPr lang="el-GR" noProof="0" smtClean="0"/>
              <a:pPr/>
              <a:t>2</a:t>
            </a:fld>
            <a:endParaRPr lang="el-GR" noProof="0"/>
          </a:p>
        </p:txBody>
      </p:sp>
    </p:spTree>
    <p:extLst>
      <p:ext uri="{BB962C8B-B14F-4D97-AF65-F5344CB8AC3E}">
        <p14:creationId xmlns:p14="http://schemas.microsoft.com/office/powerpoint/2010/main" val="17205708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54796" y="450698"/>
            <a:ext cx="9791704" cy="218627"/>
          </a:xfrm>
        </p:spPr>
        <p:txBody>
          <a:bodyPr/>
          <a:lstStyle/>
          <a:p>
            <a:r>
              <a:rPr lang="el-GR" noProof="0"/>
              <a:t xml:space="preserve">Βάση κατάρτισης (B1) </a:t>
            </a:r>
          </a:p>
        </p:txBody>
      </p:sp>
      <p:sp>
        <p:nvSpPr>
          <p:cNvPr id="15" name="Text Placeholder 2">
            <a:extLst>
              <a:ext uri="{FF2B5EF4-FFF2-40B4-BE49-F238E27FC236}">
                <a16:creationId xmlns:a16="http://schemas.microsoft.com/office/drawing/2014/main" id="{BACC1DA0-DFDE-C844-7562-0528953EC068}"/>
              </a:ext>
            </a:extLst>
          </p:cNvPr>
          <p:cNvSpPr txBox="1">
            <a:spLocks/>
          </p:cNvSpPr>
          <p:nvPr/>
        </p:nvSpPr>
        <p:spPr>
          <a:xfrm>
            <a:off x="445500" y="2600430"/>
            <a:ext cx="3080911" cy="150659"/>
          </a:xfrm>
          <a:prstGeom prst="rect">
            <a:avLst/>
          </a:prstGeom>
        </p:spPr>
        <p:txBody>
          <a:bodyPr lIns="0" tIns="0" rIns="0" bIns="0"/>
          <a:lstStyle>
            <a:lvl1pPr marL="63142" indent="-63142" algn="l" defTabSz="914400" rtl="0" eaLnBrk="1" latinLnBrk="0" hangingPunct="1">
              <a:lnSpc>
                <a:spcPct val="106000"/>
              </a:lnSpc>
              <a:spcBef>
                <a:spcPts val="0"/>
              </a:spcBef>
              <a:buFont typeface="Arial" panose="020B0604020202020204" pitchFamily="34" charset="0"/>
              <a:buChar char="•"/>
              <a:defRPr sz="775" b="0" kern="1200" spc="-10" baseline="0">
                <a:solidFill>
                  <a:schemeClr val="tx2"/>
                </a:solidFill>
                <a:latin typeface="+mn-lt"/>
                <a:ea typeface="+mn-ea"/>
                <a:cs typeface="+mn-cs"/>
              </a:defRPr>
            </a:lvl1pPr>
            <a:lvl2pPr marL="126283"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2pPr>
            <a:lvl3pPr marL="189425"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3pPr>
            <a:lvl4pPr marL="252567"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4pPr>
            <a:lvl5pPr marL="315709"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5pPr>
            <a:lvl6pPr marL="22052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6pPr>
            <a:lvl7pPr marL="26061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7pPr>
            <a:lvl8pPr marL="30071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8pPr>
            <a:lvl9pPr marL="34080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9pPr>
          </a:lstStyle>
          <a:p>
            <a:pPr marL="0" indent="0">
              <a:buNone/>
            </a:pPr>
            <a:endParaRPr lang="el-GR" noProof="0">
              <a:solidFill>
                <a:schemeClr val="accent2"/>
              </a:solidFill>
            </a:endParaRPr>
          </a:p>
        </p:txBody>
      </p:sp>
      <p:graphicFrame>
        <p:nvGraphicFramePr>
          <p:cNvPr id="16" name="Table 2">
            <a:extLst>
              <a:ext uri="{FF2B5EF4-FFF2-40B4-BE49-F238E27FC236}">
                <a16:creationId xmlns:a16="http://schemas.microsoft.com/office/drawing/2014/main" id="{693470FC-B633-430A-0791-18B9C81D050C}"/>
              </a:ext>
            </a:extLst>
          </p:cNvPr>
          <p:cNvGraphicFramePr>
            <a:graphicFrameLocks noGrp="1"/>
          </p:cNvGraphicFramePr>
          <p:nvPr>
            <p:extLst>
              <p:ext uri="{D42A27DB-BD31-4B8C-83A1-F6EECF244321}">
                <p14:modId xmlns:p14="http://schemas.microsoft.com/office/powerpoint/2010/main" val="3677333342"/>
              </p:ext>
            </p:extLst>
          </p:nvPr>
        </p:nvGraphicFramePr>
        <p:xfrm>
          <a:off x="454795" y="4463906"/>
          <a:ext cx="6449555" cy="1295223"/>
        </p:xfrm>
        <a:graphic>
          <a:graphicData uri="http://schemas.openxmlformats.org/drawingml/2006/table">
            <a:tbl>
              <a:tblPr firstRow="1">
                <a:tableStyleId>{2A488322-F2BA-4B5B-9748-0D474271808F}</a:tableStyleId>
              </a:tblPr>
              <a:tblGrid>
                <a:gridCol w="2982453">
                  <a:extLst>
                    <a:ext uri="{9D8B030D-6E8A-4147-A177-3AD203B41FA5}">
                      <a16:colId xmlns:a16="http://schemas.microsoft.com/office/drawing/2014/main" val="1902117154"/>
                    </a:ext>
                  </a:extLst>
                </a:gridCol>
                <a:gridCol w="3467102">
                  <a:extLst>
                    <a:ext uri="{9D8B030D-6E8A-4147-A177-3AD203B41FA5}">
                      <a16:colId xmlns:a16="http://schemas.microsoft.com/office/drawing/2014/main" val="1904521774"/>
                    </a:ext>
                  </a:extLst>
                </a:gridCol>
              </a:tblGrid>
              <a:tr h="463168">
                <a:tc gridSpan="2">
                  <a:txBody>
                    <a:bodyPr/>
                    <a:lstStyle/>
                    <a:p>
                      <a:pPr marL="0" algn="l" defTabSz="914400" rtl="0" eaLnBrk="1" latinLnBrk="0" hangingPunct="1"/>
                      <a:r>
                        <a:rPr lang="el-GR" sz="1050" b="1" kern="1200" spc="-10" noProof="0">
                          <a:solidFill>
                            <a:schemeClr val="tx2"/>
                          </a:solidFill>
                          <a:latin typeface="+mn-lt"/>
                          <a:ea typeface="+mn-ea"/>
                          <a:cs typeface="+mn-cs"/>
                        </a:rPr>
                        <a:t xml:space="preserve">Κατάλογος θυγατρικών που περιλαμβάνονται στην παρούσα έκθεση ESG </a:t>
                      </a:r>
                      <a:r>
                        <a:rPr lang="el-GR" sz="1050" b="0" kern="1200" spc="-10" noProof="0">
                          <a:solidFill>
                            <a:schemeClr val="tx2"/>
                          </a:solidFill>
                          <a:latin typeface="+mn-lt"/>
                          <a:ea typeface="+mn-ea"/>
                          <a:cs typeface="+mn-cs"/>
                        </a:rPr>
                        <a:t xml:space="preserve">(παρ. 27d)</a:t>
                      </a:r>
                      <a:endParaRPr lang="el-GR" sz="1050" b="0" i="1" kern="1200" spc="-10" noProof="0">
                        <a:solidFill>
                          <a:schemeClr val="tx2"/>
                        </a:solidFill>
                        <a:latin typeface="+mn-lt"/>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417461">
                <a:tc>
                  <a:txBody>
                    <a:bodyPr/>
                    <a:lstStyle/>
                    <a:p>
                      <a:pPr algn="l"/>
                      <a:r>
                        <a:rPr lang="el-GR" sz="1050" b="1" kern="1200" spc="-10" noProof="0">
                          <a:solidFill>
                            <a:schemeClr val="tx2"/>
                          </a:solidFill>
                          <a:latin typeface="+mn-lt"/>
                          <a:ea typeface="+mn-ea"/>
                          <a:cs typeface="+mn-cs"/>
                        </a:rPr>
                        <a:t xml:space="preserve">Επωνυμία θυγατρικής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l-GR" sz="1050" b="1" kern="1200" spc="-10" noProof="0">
                          <a:solidFill>
                            <a:schemeClr val="tx2"/>
                          </a:solidFill>
                          <a:latin typeface="+mn-lt"/>
                          <a:ea typeface="+mn-ea"/>
                          <a:cs typeface="+mn-cs"/>
                        </a:rPr>
                        <a:t xml:space="preserve">Έδρα θυγατρικής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417461">
                <a:tc>
                  <a:txBody>
                    <a:bodyPr/>
                    <a:lstStyle/>
                    <a:p>
                      <a:pPr rtl="0" fontAlgn="t">
                        <a:buNone/>
                      </a:pPr>
                      <a:r>
                        <a:rPr lang="el-GR" sz="1050" b="0" i="0" u="none" strike="noStrike" noProof="0">
                          <a:solidFill>
                            <a:srgbClr val="2D55FF"/>
                          </a:solidFill>
                          <a:effectLst/>
                          <a:latin typeface="Inter"/>
                        </a:rPr>
                        <a:t>{{subsidiary}}</a:t>
                      </a:r>
                      <a:endParaRPr lang="el-G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1050" b="0" i="0" u="none" strike="noStrike" noProof="0">
                          <a:solidFill>
                            <a:srgbClr val="2D55FF"/>
                          </a:solidFill>
                          <a:effectLst/>
                          <a:latin typeface="Inter"/>
                        </a:rPr>
                        <a:t>{{subsidiary_address}}</a:t>
                      </a:r>
                      <a:endParaRPr lang="el-G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el-GR" noProof="0" smtClean="0"/>
              <a:pPr/>
              <a:t>3</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7261741" y="197293"/>
            <a:ext cx="3194529" cy="134955"/>
          </a:xfrm>
        </p:spPr>
        <p:txBody>
          <a:bodyPr/>
          <a:lstStyle/>
          <a:p>
            <a:r>
              <a:rPr lang="el-GR" noProof="0"/>
              <a:t>{{</a:t>
            </a:r>
            <a:r>
              <a:rPr lang="el-GR" noProof="0"/>
              <a:t>company_name</a:t>
            </a:r>
            <a:r>
              <a:rPr lang="el-GR" noProof="0"/>
              <a:t>}}</a:t>
            </a:r>
            <a:endParaRPr lang="el-GR" b="0" noProof="0"/>
          </a:p>
          <a:p>
            <a:br>
              <a:rPr lang="el-GR" noProof="0"/>
            </a:br>
            <a:endParaRPr lang="el-GR" noProof="0"/>
          </a:p>
        </p:txBody>
      </p:sp>
      <p:graphicFrame>
        <p:nvGraphicFramePr>
          <p:cNvPr id="2" name="Table 12">
            <a:extLst>
              <a:ext uri="{FF2B5EF4-FFF2-40B4-BE49-F238E27FC236}">
                <a16:creationId xmlns:a16="http://schemas.microsoft.com/office/drawing/2014/main" id="{AA61E98C-E974-CA6B-E7E0-7ED257077648}"/>
              </a:ext>
            </a:extLst>
          </p:cNvPr>
          <p:cNvGraphicFramePr>
            <a:graphicFrameLocks noGrp="1"/>
          </p:cNvGraphicFramePr>
          <p:nvPr>
            <p:extLst>
              <p:ext uri="{D42A27DB-BD31-4B8C-83A1-F6EECF244321}">
                <p14:modId xmlns:p14="http://schemas.microsoft.com/office/powerpoint/2010/main" val="3344848158"/>
              </p:ext>
            </p:extLst>
          </p:nvPr>
        </p:nvGraphicFramePr>
        <p:xfrm>
          <a:off x="454795" y="3387189"/>
          <a:ext cx="6449555" cy="991325"/>
        </p:xfrm>
        <a:graphic>
          <a:graphicData uri="http://schemas.openxmlformats.org/drawingml/2006/table">
            <a:tbl>
              <a:tblPr firstRow="1">
                <a:tableStyleId>{2A488322-F2BA-4B5B-9748-0D474271808F}</a:tableStyleId>
              </a:tblPr>
              <a:tblGrid>
                <a:gridCol w="5432324">
                  <a:extLst>
                    <a:ext uri="{9D8B030D-6E8A-4147-A177-3AD203B41FA5}">
                      <a16:colId xmlns:a16="http://schemas.microsoft.com/office/drawing/2014/main" val="2698153288"/>
                    </a:ext>
                  </a:extLst>
                </a:gridCol>
                <a:gridCol w="1017231">
                  <a:extLst>
                    <a:ext uri="{9D8B030D-6E8A-4147-A177-3AD203B41FA5}">
                      <a16:colId xmlns:a16="http://schemas.microsoft.com/office/drawing/2014/main" val="2119413191"/>
                    </a:ext>
                  </a:extLst>
                </a:gridCol>
              </a:tblGrid>
              <a:tr h="180387">
                <a:tc gridSpan="2">
                  <a:txBody>
                    <a:bodyPr/>
                    <a:lstStyle/>
                    <a:p>
                      <a:r>
                        <a:rPr lang="el-GR" sz="1050" b="1" noProof="0">
                          <a:solidFill>
                            <a:schemeClr val="tx2"/>
                          </a:solidFill>
                        </a:rPr>
                        <a:t xml:space="preserve">Ατομική ή ενοποιημένη αναφορά</a:t>
                      </a:r>
                      <a:r>
                        <a:rPr lang="el-GR" sz="1050" b="0" noProof="0">
                          <a:solidFill>
                            <a:schemeClr val="tx2"/>
                          </a:solidFill>
                        </a:rPr>
                        <a:t xml:space="preserve"> (παρ. 27c)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80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0" kern="1200" spc="-10" noProof="0">
                          <a:solidFill>
                            <a:schemeClr val="tx2"/>
                          </a:solidFill>
                          <a:latin typeface="+mn-lt"/>
                          <a:ea typeface="+mn-ea"/>
                          <a:cs typeface="+mn-cs"/>
                        </a:rPr>
                        <a:t xml:space="preserve">Η έκθεση καταρτίστηκε σε </a:t>
                      </a:r>
                      <a:r>
                        <a:rPr lang="el-GR" sz="1050" b="1" kern="1200" spc="-10" noProof="0">
                          <a:solidFill>
                            <a:schemeClr val="tx2"/>
                          </a:solidFill>
                          <a:latin typeface="+mn-lt"/>
                          <a:ea typeface="+mn-ea"/>
                          <a:cs typeface="+mn-cs"/>
                        </a:rPr>
                        <a:t xml:space="preserve">ατομική βάση </a:t>
                      </a:r>
                      <a:r>
                        <a:rPr lang="el-GR" sz="1050" b="0" kern="1200" spc="-10" noProof="0">
                          <a:solidFill>
                            <a:schemeClr val="tx2"/>
                          </a:solidFill>
                          <a:latin typeface="+mn-lt"/>
                          <a:ea typeface="+mn-ea"/>
                          <a:cs typeface="+mn-cs"/>
                        </a:rPr>
                        <a:t xml:space="preserve">(δηλ. δεν καλύπτει θυγατρικές)</a:t>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l-GR" sz="1050" b="0" i="0" u="none" strike="noStrike" noProof="0">
                          <a:solidFill>
                            <a:srgbClr val="2D55FF"/>
                          </a:solidFill>
                          <a:effectLst/>
                          <a:latin typeface="Inter"/>
                        </a:rPr>
                        <a:t>{{</a:t>
                      </a:r>
                      <a:r>
                        <a:rPr lang="el-GR" sz="1050" b="0" i="0" u="none" strike="noStrike" noProof="0">
                          <a:solidFill>
                            <a:srgbClr val="2D55FF"/>
                          </a:solidFill>
                          <a:effectLst/>
                          <a:latin typeface="Inter"/>
                        </a:rPr>
                        <a:t>yes_subsidiary</a:t>
                      </a:r>
                      <a:r>
                        <a:rPr lang="el-GR" sz="1050" b="0" i="0" u="none" strike="noStrike" noProof="0">
                          <a:solidFill>
                            <a:srgbClr val="2D55FF"/>
                          </a:solidFill>
                          <a:effectLst/>
                          <a:latin typeface="Inter"/>
                        </a:rPr>
                        <a:t>?}}</a:t>
                      </a:r>
                      <a:endParaRPr lang="el-G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2580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0" kern="1200" spc="-10" noProof="0">
                          <a:solidFill>
                            <a:schemeClr val="tx2"/>
                          </a:solidFill>
                          <a:latin typeface="+mn-lt"/>
                          <a:ea typeface="+mn-ea"/>
                          <a:cs typeface="+mn-cs"/>
                        </a:rPr>
                        <a:t xml:space="preserve">Η έκθεση καταρτίστηκε σε </a:t>
                      </a:r>
                      <a:r>
                        <a:rPr lang="el-GR" sz="1050" b="1" kern="1200" spc="-10" noProof="0">
                          <a:solidFill>
                            <a:schemeClr val="tx2"/>
                          </a:solidFill>
                          <a:latin typeface="+mn-lt"/>
                          <a:ea typeface="+mn-ea"/>
                          <a:cs typeface="+mn-cs"/>
                        </a:rPr>
                        <a:t xml:space="preserve">ενοποιημένη βάση </a:t>
                      </a:r>
                      <a:r>
                        <a:rPr lang="el-GR" sz="1050" b="0" kern="1200" spc="-10" noProof="0">
                          <a:solidFill>
                            <a:schemeClr val="tx2"/>
                          </a:solidFill>
                          <a:latin typeface="+mn-lt"/>
                          <a:ea typeface="+mn-ea"/>
                          <a:cs typeface="+mn-cs"/>
                        </a:rPr>
                        <a:t xml:space="preserve">(δηλ. περιλαμβάνει τις θυγατρικές της επιχείρησης) </a:t>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l-GR" sz="1050" b="0" i="0" u="none" strike="noStrike" noProof="0">
                          <a:solidFill>
                            <a:srgbClr val="2D55FF"/>
                          </a:solidFill>
                          <a:effectLst/>
                          <a:latin typeface="Inter"/>
                        </a:rPr>
                        <a:t>{{</a:t>
                      </a:r>
                      <a:r>
                        <a:rPr lang="el-GR" sz="1050" b="0" i="0" u="none" strike="noStrike" noProof="0">
                          <a:solidFill>
                            <a:srgbClr val="2D55FF"/>
                          </a:solidFill>
                          <a:effectLst/>
                          <a:latin typeface="Inter"/>
                        </a:rPr>
                        <a:t>no_subsidiary</a:t>
                      </a:r>
                      <a:r>
                        <a:rPr lang="el-GR" sz="1050" b="0" i="0" u="none" strike="noStrike" noProof="0">
                          <a:solidFill>
                            <a:srgbClr val="2D55FF"/>
                          </a:solidFill>
                          <a:effectLst/>
                          <a:latin typeface="Inter"/>
                        </a:rPr>
                        <a:t>?}}</a:t>
                      </a:r>
                      <a:endParaRPr lang="el-G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graphicFrame>
        <p:nvGraphicFramePr>
          <p:cNvPr id="8" name="Table 12">
            <a:extLst>
              <a:ext uri="{FF2B5EF4-FFF2-40B4-BE49-F238E27FC236}">
                <a16:creationId xmlns:a16="http://schemas.microsoft.com/office/drawing/2014/main" id="{C0F79360-A773-09D0-5119-A3FDBC3F6D97}"/>
              </a:ext>
            </a:extLst>
          </p:cNvPr>
          <p:cNvGraphicFramePr>
            <a:graphicFrameLocks noGrp="1"/>
          </p:cNvGraphicFramePr>
          <p:nvPr>
            <p:extLst>
              <p:ext uri="{D42A27DB-BD31-4B8C-83A1-F6EECF244321}">
                <p14:modId xmlns:p14="http://schemas.microsoft.com/office/powerpoint/2010/main" val="1534085072"/>
              </p:ext>
            </p:extLst>
          </p:nvPr>
        </p:nvGraphicFramePr>
        <p:xfrm>
          <a:off x="454796" y="2003380"/>
          <a:ext cx="6449555" cy="1167535"/>
        </p:xfrm>
        <a:graphic>
          <a:graphicData uri="http://schemas.openxmlformats.org/drawingml/2006/table">
            <a:tbl>
              <a:tblPr firstRow="1">
                <a:tableStyleId>{2A488322-F2BA-4B5B-9748-0D474271808F}</a:tableStyleId>
              </a:tblPr>
              <a:tblGrid>
                <a:gridCol w="5442103">
                  <a:extLst>
                    <a:ext uri="{9D8B030D-6E8A-4147-A177-3AD203B41FA5}">
                      <a16:colId xmlns:a16="http://schemas.microsoft.com/office/drawing/2014/main" val="2698153288"/>
                    </a:ext>
                  </a:extLst>
                </a:gridCol>
                <a:gridCol w="1007453">
                  <a:extLst>
                    <a:ext uri="{9D8B030D-6E8A-4147-A177-3AD203B41FA5}">
                      <a16:colId xmlns:a16="http://schemas.microsoft.com/office/drawing/2014/main" val="2119413191"/>
                    </a:ext>
                  </a:extLst>
                </a:gridCol>
              </a:tblGrid>
              <a:tr h="343061">
                <a:tc gridSpan="2">
                  <a:txBody>
                    <a:bodyPr/>
                    <a:lstStyle/>
                    <a:p>
                      <a:r>
                        <a:rPr lang="el-GR" sz="1050" b="1" kern="1200" spc="-10" noProof="0">
                          <a:solidFill>
                            <a:schemeClr val="tx2"/>
                          </a:solidFill>
                          <a:latin typeface="+mn-lt"/>
                          <a:ea typeface="+mn-ea"/>
                          <a:cs typeface="+mn-cs"/>
                        </a:rPr>
                        <a:t xml:space="preserve">Βασική ενότητα ή Βασική ενότητα +</a:t>
                      </a:r>
                      <a:r>
                        <a:rPr lang="el-GR" sz="1050" b="1" kern="1200" spc="-10" noProof="0">
                          <a:solidFill>
                            <a:schemeClr val="tx2"/>
                          </a:solidFill>
                          <a:latin typeface="+mn-lt"/>
                          <a:ea typeface="+mn-ea"/>
                          <a:cs typeface="+mn-cs"/>
                        </a:rPr>
                        <a:t xml:space="preserve"/>
                      </a:r>
                      <a:r>
                        <a:rPr lang="el-GR" sz="1050" b="1" kern="1200" spc="-10" noProof="0">
                          <a:solidFill>
                            <a:schemeClr val="tx2"/>
                          </a:solidFill>
                          <a:latin typeface="+mn-lt"/>
                          <a:ea typeface="+mn-ea"/>
                          <a:cs typeface="+mn-cs"/>
                        </a:rPr>
                        <a:t xml:space="preserve"/>
                      </a:r>
                      <a:r>
                        <a:rPr lang="el-GR" sz="1050" b="1" kern="1200" spc="-10" noProof="0">
                          <a:solidFill>
                            <a:schemeClr val="tx2"/>
                          </a:solidFill>
                          <a:latin typeface="+mn-lt"/>
                          <a:ea typeface="+mn-ea"/>
                          <a:cs typeface="+mn-cs"/>
                        </a:rPr>
                        <a:t xml:space="preserve"/>
                      </a:r>
                      <a:r>
                        <a:rPr lang="el-GR" sz="1050" b="0" kern="1200" spc="-10" noProof="0">
                          <a:solidFill>
                            <a:schemeClr val="tx2"/>
                          </a:solidFill>
                          <a:latin typeface="+mn-lt"/>
                          <a:ea typeface="+mn-ea"/>
                          <a:cs typeface="+mn-cs"/>
                        </a:rPr>
                        <a:t> </a:t>
                      </a:r>
                      <a:r>
                        <a:rPr lang="el-GR" sz="1050" b="1" kern="1200" spc="-10" noProof="0">
                          <a:solidFill>
                            <a:schemeClr val="tx2"/>
                          </a:solidFill>
                          <a:latin typeface="+mn-lt"/>
                          <a:ea typeface="+mn-ea"/>
                          <a:cs typeface="+mn-cs"/>
                        </a:rPr>
                        <a:t xml:space="preserve">Ολοκληρωμένη ενότητα </a:t>
                      </a:r>
                      <a:r>
                        <a:rPr lang="el-GR" sz="1050" b="0" kern="1200" spc="-10" noProof="0">
                          <a:solidFill>
                            <a:schemeClr val="tx2"/>
                          </a:solidFill>
                          <a:latin typeface="+mn-lt"/>
                          <a:ea typeface="+mn-ea"/>
                          <a:cs typeface="+mn-cs"/>
                        </a:rPr>
                        <a:t xml:space="preserve">(παρ. 27a)</a:t>
                      </a:r>
                      <a:r>
                        <a:rPr lang="el-GR" sz="1050" b="1" kern="1200" spc="-10" noProof="0">
                          <a:solidFill>
                            <a:schemeClr val="tx2"/>
                          </a:solidFill>
                          <a:latin typeface="+mn-lt"/>
                          <a:ea typeface="+mn-ea"/>
                          <a:cs typeface="+mn-cs"/>
                        </a:rPr>
                        <a:t> </a:t>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5854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0" kern="1200" spc="-10" noProof="0">
                          <a:solidFill>
                            <a:schemeClr val="tx2"/>
                          </a:solidFill>
                          <a:latin typeface="+mn-lt"/>
                          <a:ea typeface="+mn-ea"/>
                          <a:cs typeface="+mn-cs"/>
                        </a:rPr>
                        <a:t xml:space="preserve">Η έκθεση βασίζεται στη </a:t>
                      </a:r>
                      <a:r>
                        <a:rPr lang="el-GR" sz="1050" b="1" kern="1200" spc="-10" noProof="0">
                          <a:solidFill>
                            <a:schemeClr val="tx2"/>
                          </a:solidFill>
                          <a:latin typeface="+mn-lt"/>
                          <a:ea typeface="+mn-ea"/>
                          <a:cs typeface="+mn-cs"/>
                        </a:rPr>
                        <a:t xml:space="preserve">Βασική ενότητα</a:t>
                      </a:r>
                      <a:r>
                        <a:rPr lang="el-GR" sz="1050" b="0" kern="1200" spc="-10" noProof="0">
                          <a:solidFill>
                            <a:schemeClr val="tx2"/>
                          </a:solidFill>
                          <a:latin typeface="+mn-lt"/>
                          <a:ea typeface="+mn-ea"/>
                          <a:cs typeface="+mn-cs"/>
                        </a:rPr>
                        <a:t xml:space="preserve"> του προαιρετικού προτύπου για τις ΜμΕ </a:t>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l-GR" sz="1050" b="0" i="0" u="none" strike="noStrike" noProof="0">
                          <a:solidFill>
                            <a:srgbClr val="2D55FF"/>
                          </a:solidFill>
                          <a:effectLst/>
                          <a:latin typeface="Inter"/>
                        </a:rPr>
                        <a:t>{{</a:t>
                      </a:r>
                      <a:r>
                        <a:rPr lang="el-GR" sz="1050" b="0" i="0" u="none" strike="noStrike" noProof="0">
                          <a:solidFill>
                            <a:srgbClr val="2D55FF"/>
                          </a:solidFill>
                          <a:effectLst/>
                          <a:latin typeface="Inter"/>
                        </a:rPr>
                        <a:t>basic_module</a:t>
                      </a:r>
                      <a:r>
                        <a:rPr lang="el-GR" sz="1050" b="0" i="0" u="none" strike="noStrike" noProof="0">
                          <a:solidFill>
                            <a:srgbClr val="2D55FF"/>
                          </a:solidFill>
                          <a:effectLst/>
                          <a:latin typeface="Inter"/>
                        </a:rPr>
                        <a:t>?}}</a:t>
                      </a:r>
                      <a:endParaRPr lang="el-G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4659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0" kern="1200" spc="-10" noProof="0">
                          <a:solidFill>
                            <a:schemeClr val="tx2"/>
                          </a:solidFill>
                          <a:latin typeface="+mn-lt"/>
                          <a:ea typeface="+mn-ea"/>
                          <a:cs typeface="+mn-cs"/>
                        </a:rPr>
                        <a:t xml:space="preserve">Η έκθεση βασίζεται στη </a:t>
                      </a:r>
                      <a:r>
                        <a:rPr lang="el-GR" sz="1050" b="1" kern="1200" spc="-10" noProof="0">
                          <a:solidFill>
                            <a:schemeClr val="tx2"/>
                          </a:solidFill>
                          <a:latin typeface="+mn-lt"/>
                          <a:ea typeface="+mn-ea"/>
                          <a:cs typeface="+mn-cs"/>
                        </a:rPr>
                        <a:t xml:space="preserve">Βασική ενότητα</a:t>
                      </a:r>
                      <a:r>
                        <a:rPr lang="el-GR" sz="1050" b="0" kern="1200" spc="-10" noProof="0">
                          <a:solidFill>
                            <a:schemeClr val="tx2"/>
                          </a:solidFill>
                          <a:latin typeface="+mn-lt"/>
                          <a:ea typeface="+mn-ea"/>
                          <a:cs typeface="+mn-cs"/>
                        </a:rPr>
                        <a:t xml:space="preserve"> και την </a:t>
                      </a:r>
                      <a:r>
                        <a:rPr lang="el-GR" sz="1050" b="1" kern="1200" spc="-10" noProof="0">
                          <a:solidFill>
                            <a:schemeClr val="tx2"/>
                          </a:solidFill>
                          <a:latin typeface="+mn-lt"/>
                          <a:ea typeface="+mn-ea"/>
                          <a:cs typeface="+mn-cs"/>
                        </a:rPr>
                        <a:t xml:space="preserve">Ολοκληρωμένη ενότητα </a:t>
                      </a:r>
                      <a:r>
                        <a:rPr lang="el-GR" sz="1050" b="0" kern="1200" spc="-10" noProof="0">
                          <a:solidFill>
                            <a:schemeClr val="tx2"/>
                          </a:solidFill>
                          <a:latin typeface="+mn-lt"/>
                          <a:ea typeface="+mn-ea"/>
                          <a:cs typeface="+mn-cs"/>
                        </a:rPr>
                        <a:t xml:space="preserve">του προαιρετικού προτύπου για τις ΜμΕ</a:t>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l-GR" sz="1050" b="0" i="0" u="none" strike="noStrike" noProof="0">
                          <a:solidFill>
                            <a:srgbClr val="2D55FF"/>
                          </a:solidFill>
                          <a:effectLst/>
                          <a:latin typeface="Inter"/>
                        </a:rPr>
                        <a:t>{{</a:t>
                      </a:r>
                      <a:r>
                        <a:rPr lang="el-GR" sz="1050" b="0" i="0" u="none" strike="noStrike" noProof="0">
                          <a:solidFill>
                            <a:srgbClr val="2D55FF"/>
                          </a:solidFill>
                          <a:effectLst/>
                          <a:latin typeface="Inter"/>
                        </a:rPr>
                        <a:t>comprehensive</a:t>
                      </a:r>
                      <a:r>
                        <a:rPr lang="el-GR" sz="1050" b="0" i="0" u="none" strike="noStrike" noProof="0">
                          <a:solidFill>
                            <a:srgbClr val="2D55FF"/>
                          </a:solidFill>
                          <a:effectLst/>
                          <a:latin typeface="Inter"/>
                        </a:rPr>
                        <a:t>?}}</a:t>
                      </a:r>
                      <a:endParaRPr lang="el-G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sp>
        <p:nvSpPr>
          <p:cNvPr id="10" name="Tekstfelt 9">
            <a:extLst>
              <a:ext uri="{FF2B5EF4-FFF2-40B4-BE49-F238E27FC236}">
                <a16:creationId xmlns:a16="http://schemas.microsoft.com/office/drawing/2014/main" id="{08CE8BB8-760E-14A7-E273-1C19DEAB1C88}"/>
              </a:ext>
            </a:extLst>
          </p:cNvPr>
          <p:cNvSpPr txBox="1"/>
          <p:nvPr/>
        </p:nvSpPr>
        <p:spPr>
          <a:xfrm>
            <a:off x="445500" y="891000"/>
            <a:ext cx="9791704" cy="890704"/>
          </a:xfrm>
          <a:prstGeom prst="rect">
            <a:avLst/>
          </a:prstGeom>
          <a:noFill/>
        </p:spPr>
        <p:txBody>
          <a:bodyPr wrap="square">
            <a:spAutoFit/>
          </a:bodyPr>
          <a:lstStyle/>
          <a:p>
            <a:pPr rtl="0">
              <a:buNone/>
            </a:pPr>
            <a:r>
              <a:rPr lang="el-GR" sz="1050" b="0" i="0" u="none" strike="noStrike" noProof="0">
                <a:solidFill>
                  <a:schemeClr val="tx2"/>
                </a:solidFill>
                <a:effectLst/>
                <a:latin typeface="Inter"/>
              </a:rPr>
              <a:t xml:space="preserve">Η επιχείρηση κατάρτισε την έκθεση βιωσιμότητας βάσει του προτύπου VSME, το οποίο ακολουθεί δομημένη προσέγγιση ώστε οι απαιτούμενες πληροφορίες να αναφέρονται τυποποιημένα και με διαφάνεια. Η έκθεση αντικατοπτρίζει τις ενότητες βιωσιμότητας που επέλεξε και καλύπτει η επιχείρηση. Αναφέρεται επίσης εάν η έκθεση καταρτίζεται σε ατομική βάση (μόνο ίδια στοιχεία) ή σε ενοποιημένη βάση. Η ενότητα αυτή περιέχει βασικές πληροφορίες για την επιχείρηση, π.χ. τη νομική μορφή, τους κωδικούς NACE, το σύνολο ισολογισμού και τον κύκλο εργασιών, τον αριθμό εργαζομένων, καθώς και τη χώρα κύριας δραστηριότητας και τη θέση άλλων σημαντικών στοιχείων ενεργητικού.</a:t>
            </a:r>
            <a:endParaRPr lang="el-GR" sz="1050" b="0" noProof="0">
              <a:solidFill>
                <a:schemeClr val="tx2"/>
              </a:solidFill>
              <a:effectLst/>
            </a:endParaRPr>
          </a:p>
        </p:txBody>
      </p:sp>
      <p:graphicFrame>
        <p:nvGraphicFramePr>
          <p:cNvPr id="13" name="Table 2">
            <a:extLst>
              <a:ext uri="{FF2B5EF4-FFF2-40B4-BE49-F238E27FC236}">
                <a16:creationId xmlns:a16="http://schemas.microsoft.com/office/drawing/2014/main" id="{34E7B75C-B2E3-1B8A-2080-FEF363E738AC}"/>
              </a:ext>
            </a:extLst>
          </p:cNvPr>
          <p:cNvGraphicFramePr>
            <a:graphicFrameLocks noGrp="1"/>
          </p:cNvGraphicFramePr>
          <p:nvPr>
            <p:extLst>
              <p:ext uri="{D42A27DB-BD31-4B8C-83A1-F6EECF244321}">
                <p14:modId xmlns:p14="http://schemas.microsoft.com/office/powerpoint/2010/main" val="1997386540"/>
              </p:ext>
            </p:extLst>
          </p:nvPr>
        </p:nvGraphicFramePr>
        <p:xfrm>
          <a:off x="7164197" y="3387189"/>
          <a:ext cx="3073007" cy="2209548"/>
        </p:xfrm>
        <a:graphic>
          <a:graphicData uri="http://schemas.openxmlformats.org/drawingml/2006/table">
            <a:tbl>
              <a:tblPr firstRow="1">
                <a:tableStyleId>{2A488322-F2BA-4B5B-9748-0D474271808F}</a:tableStyleId>
              </a:tblPr>
              <a:tblGrid>
                <a:gridCol w="1421044">
                  <a:extLst>
                    <a:ext uri="{9D8B030D-6E8A-4147-A177-3AD203B41FA5}">
                      <a16:colId xmlns:a16="http://schemas.microsoft.com/office/drawing/2014/main" val="1902117154"/>
                    </a:ext>
                  </a:extLst>
                </a:gridCol>
                <a:gridCol w="1651963">
                  <a:extLst>
                    <a:ext uri="{9D8B030D-6E8A-4147-A177-3AD203B41FA5}">
                      <a16:colId xmlns:a16="http://schemas.microsoft.com/office/drawing/2014/main" val="1904521774"/>
                    </a:ext>
                  </a:extLst>
                </a:gridCol>
              </a:tblGrid>
              <a:tr h="217416">
                <a:tc gridSpan="2">
                  <a:txBody>
                    <a:bodyPr/>
                    <a:lstStyle/>
                    <a:p>
                      <a:pPr algn="l"/>
                      <a:r>
                        <a:rPr lang="el-GR" sz="1050" b="1" kern="1200" spc="-10" noProof="0">
                          <a:solidFill>
                            <a:schemeClr val="tx2"/>
                          </a:solidFill>
                          <a:latin typeface="+mn-lt"/>
                          <a:ea typeface="+mn-ea"/>
                          <a:cs typeface="+mn-cs"/>
                        </a:rPr>
                        <a:t xml:space="preserve">Βασικές πληροφορίες για την επιχείρηση</a:t>
                      </a:r>
                      <a:r>
                        <a:rPr lang="el-GR" sz="1050" b="0" kern="1200" spc="-10" noProof="0">
                          <a:solidFill>
                            <a:schemeClr val="tx2"/>
                          </a:solidFill>
                          <a:latin typeface="+mn-lt"/>
                          <a:ea typeface="+mn-ea"/>
                          <a:cs typeface="+mn-cs"/>
                        </a:rPr>
                        <a:t xml:space="preserve"> (παρ. 27e, i-v)</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616454">
                <a:tc>
                  <a:txBody>
                    <a:bodyPr/>
                    <a:lstStyle/>
                    <a:p>
                      <a:pPr algn="l"/>
                      <a:r>
                        <a:rPr lang="el-GR" sz="1050" b="1" kern="1200" spc="-10" noProof="0">
                          <a:solidFill>
                            <a:schemeClr val="tx2"/>
                          </a:solidFill>
                          <a:latin typeface="+mn-lt"/>
                          <a:ea typeface="+mn-ea"/>
                          <a:cs typeface="+mn-cs"/>
                        </a:rPr>
                        <a:t xml:space="preserve">Νομική μορφή</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l-GR" sz="1050" b="0" i="0" u="none" strike="noStrike" noProof="0">
                          <a:solidFill>
                            <a:srgbClr val="2D55FF"/>
                          </a:solidFill>
                          <a:effectLst/>
                          <a:latin typeface="Inter"/>
                        </a:rPr>
                        <a:t>{{branchekode}}</a:t>
                      </a:r>
                      <a:endParaRPr lang="el-GR" sz="1050" b="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7824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kern="1200" spc="-10" noProof="0">
                          <a:solidFill>
                            <a:schemeClr val="tx2"/>
                          </a:solidFill>
                          <a:latin typeface="+mn-lt"/>
                          <a:ea typeface="+mn-ea"/>
                          <a:cs typeface="+mn-cs"/>
                        </a:rPr>
                        <a:t xml:space="preserve">Κωδικοί NACE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l-GR" sz="1050" b="0" i="0" u="none" strike="noStrike" noProof="0">
                          <a:solidFill>
                            <a:srgbClr val="2D55FF"/>
                          </a:solidFill>
                          <a:effectLst/>
                          <a:latin typeface="Inter"/>
                        </a:rPr>
                        <a:t>{{NACE}}</a:t>
                      </a:r>
                      <a:endParaRPr lang="el-GR"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37341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kern="1200" spc="-10" noProof="0">
                          <a:solidFill>
                            <a:schemeClr val="tx2"/>
                          </a:solidFill>
                          <a:latin typeface="+mn-lt"/>
                          <a:ea typeface="+mn-ea"/>
                          <a:cs typeface="+mn-cs"/>
                        </a:rPr>
                        <a:t xml:space="preserve">Ισολογισμός (EUR)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l-GR" sz="1050" b="0" i="0" u="none" strike="noStrike" noProof="0">
                          <a:solidFill>
                            <a:srgbClr val="2D55FF"/>
                          </a:solidFill>
                          <a:effectLst/>
                          <a:latin typeface="Inter"/>
                        </a:rPr>
                        <a:t>{{balance}}</a:t>
                      </a:r>
                      <a:endParaRPr lang="el-GR"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373415">
                <a:tc>
                  <a:txBody>
                    <a:bodyPr/>
                    <a:lstStyle/>
                    <a:p>
                      <a:pPr algn="l"/>
                      <a:r>
                        <a:rPr lang="el-GR" sz="1050" b="1" kern="1200" spc="-10" noProof="0">
                          <a:solidFill>
                            <a:schemeClr val="tx2"/>
                          </a:solidFill>
                          <a:latin typeface="+mn-lt"/>
                          <a:ea typeface="+mn-ea"/>
                          <a:cs typeface="+mn-cs"/>
                        </a:rPr>
                        <a:t xml:space="preserve">Κύκλος εργασιών (EUR)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l-GR" sz="1050" b="0" i="0" u="none" strike="noStrike" noProof="0">
                          <a:solidFill>
                            <a:srgbClr val="2D55FF"/>
                          </a:solidFill>
                          <a:effectLst/>
                          <a:latin typeface="Inter"/>
                        </a:rPr>
                        <a:t>{{revenue}}</a:t>
                      </a:r>
                      <a:endParaRPr lang="el-GR"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75682954"/>
                  </a:ext>
                </a:extLst>
              </a:tr>
              <a:tr h="217416">
                <a:tc>
                  <a:txBody>
                    <a:bodyPr/>
                    <a:lstStyle/>
                    <a:p>
                      <a:pPr algn="l"/>
                      <a:r>
                        <a:rPr lang="el-GR" sz="1050" b="1" kern="1200" spc="-10" noProof="0">
                          <a:solidFill>
                            <a:schemeClr val="tx2"/>
                          </a:solidFill>
                          <a:latin typeface="+mn-lt"/>
                          <a:ea typeface="+mn-ea"/>
                          <a:cs typeface="+mn-cs"/>
                        </a:rPr>
                        <a:t xml:space="preserve">Εργαζόμενοι </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l-GR" sz="1050" b="0" i="0" u="none" strike="noStrike" noProof="0">
                          <a:solidFill>
                            <a:srgbClr val="2D55FF"/>
                          </a:solidFill>
                          <a:effectLst/>
                          <a:latin typeface="Inter"/>
                        </a:rPr>
                        <a:t>{{total_employees}}</a:t>
                      </a:r>
                      <a:endParaRPr lang="el-GR"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78571433"/>
                  </a:ext>
                </a:extLst>
              </a:tr>
            </a:tbl>
          </a:graphicData>
        </a:graphic>
      </p:graphicFrame>
      <p:graphicFrame>
        <p:nvGraphicFramePr>
          <p:cNvPr id="17" name="Tabel 16">
            <a:extLst>
              <a:ext uri="{FF2B5EF4-FFF2-40B4-BE49-F238E27FC236}">
                <a16:creationId xmlns:a16="http://schemas.microsoft.com/office/drawing/2014/main" id="{13BBF8C9-04F7-33C5-AAA0-F953F0D5DFD7}"/>
              </a:ext>
            </a:extLst>
          </p:cNvPr>
          <p:cNvGraphicFramePr>
            <a:graphicFrameLocks noGrp="1"/>
          </p:cNvGraphicFramePr>
          <p:nvPr>
            <p:extLst>
              <p:ext uri="{D42A27DB-BD31-4B8C-83A1-F6EECF244321}">
                <p14:modId xmlns:p14="http://schemas.microsoft.com/office/powerpoint/2010/main" val="1169491624"/>
              </p:ext>
            </p:extLst>
          </p:nvPr>
        </p:nvGraphicFramePr>
        <p:xfrm>
          <a:off x="7164197" y="2005523"/>
          <a:ext cx="3073007" cy="1167534"/>
        </p:xfrm>
        <a:graphic>
          <a:graphicData uri="http://schemas.openxmlformats.org/drawingml/2006/table">
            <a:tbl>
              <a:tblPr firstRow="1">
                <a:tableStyleId>{2A488322-F2BA-4B5B-9748-0D474271808F}</a:tableStyleId>
              </a:tblPr>
              <a:tblGrid>
                <a:gridCol w="1421044">
                  <a:extLst>
                    <a:ext uri="{9D8B030D-6E8A-4147-A177-3AD203B41FA5}">
                      <a16:colId xmlns:a16="http://schemas.microsoft.com/office/drawing/2014/main" val="613205895"/>
                    </a:ext>
                  </a:extLst>
                </a:gridCol>
                <a:gridCol w="1651963">
                  <a:extLst>
                    <a:ext uri="{9D8B030D-6E8A-4147-A177-3AD203B41FA5}">
                      <a16:colId xmlns:a16="http://schemas.microsoft.com/office/drawing/2014/main" val="2415866723"/>
                    </a:ext>
                  </a:extLst>
                </a:gridCol>
              </a:tblGrid>
              <a:tr h="437299">
                <a:tc gridSpan="2">
                  <a:txBody>
                    <a:bodyPr/>
                    <a:lstStyle/>
                    <a:p>
                      <a:pPr algn="l"/>
                      <a:r>
                        <a:rPr lang="el-GR" sz="1050" b="1" kern="1200" spc="-10" noProof="0">
                          <a:solidFill>
                            <a:schemeClr val="tx2"/>
                          </a:solidFill>
                          <a:latin typeface="+mn-lt"/>
                          <a:ea typeface="+mn-ea"/>
                          <a:cs typeface="+mn-cs"/>
                        </a:rPr>
                        <a:t xml:space="preserve">Η έκθεση ESG περιέχει παραλείψεις λόγω ευαίσθητων επιχειρηματικών πληροφοριών </a:t>
                      </a:r>
                      <a:r>
                        <a:rPr lang="el-GR" sz="1050" b="0" kern="1200" spc="-10" noProof="0">
                          <a:solidFill>
                            <a:schemeClr val="tx2"/>
                          </a:solidFill>
                          <a:latin typeface="+mn-lt"/>
                          <a:ea typeface="+mn-ea"/>
                          <a:cs typeface="+mn-cs"/>
                        </a:rPr>
                        <a:t xml:space="preserve">(παρ. 27b)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76069134"/>
                  </a:ext>
                </a:extLst>
              </a:tr>
              <a:tr h="73023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l-GR" sz="775" b="0" kern="1200" spc="-10" noProof="0">
                        <a:solidFill>
                          <a:schemeClr val="tx2"/>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l-GR" sz="1050" b="0" kern="1200" spc="-10" noProof="0">
                          <a:solidFill>
                            <a:schemeClr val="tx2"/>
                          </a:solidFill>
                          <a:latin typeface="+mn-lt"/>
                          <a:ea typeface="+mn-ea"/>
                          <a:cs typeface="+mn-cs"/>
                        </a:rPr>
                        <a:t xml:space="preserve">Παραλείφθηκαν οι εξής γνωστοποιήσεις</a:t>
                      </a:r>
                    </a:p>
                    <a:p>
                      <a:pPr algn="l"/>
                      <a:endParaRPr lang="el-GR" sz="775" b="1" kern="1200" spc="-10" noProof="0">
                        <a:solidFill>
                          <a:schemeClr val="tx2"/>
                        </a:solidFill>
                        <a:latin typeface="+mn-lt"/>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1050" noProof="0">
                          <a:solidFill>
                            <a:schemeClr val="accent2"/>
                          </a:solidFill>
                          <a:latin typeface="+mn-lt"/>
                          <a:cs typeface="Calibri" panose="020F0502020204030204" pitchFamily="34" charset="0"/>
                        </a:rPr>
                        <a:t>{{</a:t>
                      </a:r>
                      <a:r>
                        <a:rPr lang="el-GR" sz="1050" noProof="0">
                          <a:solidFill>
                            <a:schemeClr val="accent2"/>
                          </a:solidFill>
                          <a:latin typeface="+mn-lt"/>
                          <a:cs typeface="Calibri" panose="020F0502020204030204" pitchFamily="34" charset="0"/>
                        </a:rPr>
                        <a:t>confidentiality_info</a:t>
                      </a:r>
                      <a:r>
                        <a:rPr lang="el-GR" sz="1050" noProof="0">
                          <a:solidFill>
                            <a:schemeClr val="accent2"/>
                          </a:solidFill>
                          <a:latin typeface="+mn-lt"/>
                          <a:cs typeface="Calibri" panose="020F0502020204030204" pitchFamily="34" charset="0"/>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74898051"/>
                  </a:ext>
                </a:extLst>
              </a:tr>
            </a:tbl>
          </a:graphicData>
        </a:graphic>
      </p:graphicFrame>
    </p:spTree>
    <p:extLst>
      <p:ext uri="{BB962C8B-B14F-4D97-AF65-F5344CB8AC3E}">
        <p14:creationId xmlns:p14="http://schemas.microsoft.com/office/powerpoint/2010/main" val="41699884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54796" y="450698"/>
            <a:ext cx="9791704" cy="218627"/>
          </a:xfrm>
        </p:spPr>
        <p:txBody>
          <a:bodyPr/>
          <a:lstStyle/>
          <a:p>
            <a:r>
              <a:rPr lang="el-GR" noProof="0"/>
              <a:t xml:space="preserve">Βάση κατάρτισης (B1) - συνέχεια</a:t>
            </a:r>
          </a:p>
        </p:txBody>
      </p:sp>
      <p:pic>
        <p:nvPicPr>
          <p:cNvPr id="11" name="Graphic 10">
            <a:extLst>
              <a:ext uri="{FF2B5EF4-FFF2-40B4-BE49-F238E27FC236}">
                <a16:creationId xmlns:a16="http://schemas.microsoft.com/office/drawing/2014/main" id="{EC0A4FD9-CD66-4681-595B-4557A461B42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0364" y="972291"/>
            <a:ext cx="181932" cy="203984"/>
          </a:xfrm>
          <a:prstGeom prst="rect">
            <a:avLst/>
          </a:prstGeom>
        </p:spPr>
      </p:pic>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el-GR" noProof="0" smtClean="0"/>
              <a:pPr/>
              <a:t>4</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7261741" y="197293"/>
            <a:ext cx="3194529" cy="134955"/>
          </a:xfrm>
        </p:spPr>
        <p:txBody>
          <a:bodyPr/>
          <a:lstStyle/>
          <a:p>
            <a:r>
              <a:rPr lang="el-GR" noProof="0"/>
              <a:t>{{</a:t>
            </a:r>
            <a:r>
              <a:rPr lang="el-GR" noProof="0"/>
              <a:t>company_name</a:t>
            </a:r>
            <a:r>
              <a:rPr lang="el-GR" noProof="0"/>
              <a:t>}}</a:t>
            </a:r>
            <a:endParaRPr lang="el-GR" b="0" noProof="0"/>
          </a:p>
          <a:p>
            <a:endParaRPr lang="el-GR" noProof="0"/>
          </a:p>
        </p:txBody>
      </p:sp>
      <p:graphicFrame>
        <p:nvGraphicFramePr>
          <p:cNvPr id="2" name="Tabel 1">
            <a:extLst>
              <a:ext uri="{FF2B5EF4-FFF2-40B4-BE49-F238E27FC236}">
                <a16:creationId xmlns:a16="http://schemas.microsoft.com/office/drawing/2014/main" id="{7A907455-9CB7-376B-6B21-2E615B3A35EE}"/>
              </a:ext>
            </a:extLst>
          </p:cNvPr>
          <p:cNvGraphicFramePr>
            <a:graphicFrameLocks noGrp="1"/>
          </p:cNvGraphicFramePr>
          <p:nvPr>
            <p:extLst>
              <p:ext uri="{D42A27DB-BD31-4B8C-83A1-F6EECF244321}">
                <p14:modId xmlns:p14="http://schemas.microsoft.com/office/powerpoint/2010/main" val="748584387"/>
              </p:ext>
            </p:extLst>
          </p:nvPr>
        </p:nvGraphicFramePr>
        <p:xfrm>
          <a:off x="452474" y="4486588"/>
          <a:ext cx="9820006" cy="738074"/>
        </p:xfrm>
        <a:graphic>
          <a:graphicData uri="http://schemas.openxmlformats.org/drawingml/2006/table">
            <a:tbl>
              <a:tblPr firstRow="1">
                <a:tableStyleId>{2A488322-F2BA-4B5B-9748-0D474271808F}</a:tableStyleId>
              </a:tblPr>
              <a:tblGrid>
                <a:gridCol w="3375900">
                  <a:extLst>
                    <a:ext uri="{9D8B030D-6E8A-4147-A177-3AD203B41FA5}">
                      <a16:colId xmlns:a16="http://schemas.microsoft.com/office/drawing/2014/main" val="3746818765"/>
                    </a:ext>
                  </a:extLst>
                </a:gridCol>
                <a:gridCol w="3240094">
                  <a:extLst>
                    <a:ext uri="{9D8B030D-6E8A-4147-A177-3AD203B41FA5}">
                      <a16:colId xmlns:a16="http://schemas.microsoft.com/office/drawing/2014/main" val="465692987"/>
                    </a:ext>
                  </a:extLst>
                </a:gridCol>
                <a:gridCol w="1709097">
                  <a:extLst>
                    <a:ext uri="{9D8B030D-6E8A-4147-A177-3AD203B41FA5}">
                      <a16:colId xmlns:a16="http://schemas.microsoft.com/office/drawing/2014/main" val="857047578"/>
                    </a:ext>
                  </a:extLst>
                </a:gridCol>
                <a:gridCol w="1494915">
                  <a:extLst>
                    <a:ext uri="{9D8B030D-6E8A-4147-A177-3AD203B41FA5}">
                      <a16:colId xmlns:a16="http://schemas.microsoft.com/office/drawing/2014/main" val="1742107540"/>
                    </a:ext>
                  </a:extLst>
                </a:gridCol>
              </a:tblGrid>
              <a:tr h="220996">
                <a:tc>
                  <a:txBody>
                    <a:bodyPr/>
                    <a:lstStyle/>
                    <a:p>
                      <a:r>
                        <a:rPr lang="el-GR" sz="1050" b="1" kern="1200" spc="-10" noProof="0">
                          <a:solidFill>
                            <a:schemeClr val="tx2"/>
                          </a:solidFill>
                          <a:latin typeface="+mn-lt"/>
                          <a:ea typeface="+mn-ea"/>
                          <a:cs typeface="+mn-cs"/>
                        </a:rPr>
                        <a:t xml:space="preserve">Ονομασία πιστοποιητικού ESG/οικολογικού σήματος </a:t>
                      </a:r>
                      <a:r>
                        <a:rPr lang="el-GR" sz="1050" b="0" kern="1200" spc="-10" noProof="0">
                          <a:solidFill>
                            <a:schemeClr val="tx2"/>
                          </a:solidFill>
                          <a:latin typeface="+mn-lt"/>
                          <a:ea typeface="+mn-ea"/>
                          <a:cs typeface="+mn-cs"/>
                        </a:rPr>
                        <a:t xml:space="preserve">(παρ. 28)</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l-GR" sz="1050" b="1" kern="1200" spc="-10" noProof="0">
                          <a:solidFill>
                            <a:schemeClr val="tx2"/>
                          </a:solidFill>
                          <a:latin typeface="+mn-lt"/>
                          <a:ea typeface="+mn-ea"/>
                          <a:cs typeface="+mn-cs"/>
                        </a:rPr>
                        <a:t xml:space="preserve">Σύντομη περιγραφή</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l-GR" sz="1050" b="1" kern="1200" spc="-10" noProof="0">
                          <a:solidFill>
                            <a:schemeClr val="tx2"/>
                          </a:solidFill>
                          <a:latin typeface="+mn-lt"/>
                          <a:ea typeface="+mn-ea"/>
                          <a:cs typeface="+mn-cs"/>
                        </a:rPr>
                        <a:t xml:space="preserve">Ημερομηνία έκδοσης/</a:t>
                      </a:r>
                    </a:p>
                    <a:p>
                      <a:pPr algn="l"/>
                      <a:r>
                        <a:rPr lang="el-GR" sz="1050" b="1" kern="1200" spc="-10" noProof="0">
                          <a:solidFill>
                            <a:schemeClr val="tx2"/>
                          </a:solidFill>
                          <a:latin typeface="+mn-lt"/>
                          <a:ea typeface="+mn-ea"/>
                          <a:cs typeface="+mn-cs"/>
                        </a:rPr>
                        <a:t xml:space="preserve">ισχύος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l-GR" sz="1050" b="1" kern="1200" spc="-10" noProof="0">
                          <a:solidFill>
                            <a:schemeClr val="tx2"/>
                          </a:solidFill>
                          <a:latin typeface="+mn-lt"/>
                          <a:ea typeface="+mn-ea"/>
                          <a:cs typeface="+mn-cs"/>
                        </a:rPr>
                        <a:t xml:space="preserve">Τυχόν βαθμολογία</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613430332"/>
                  </a:ext>
                </a:extLst>
              </a:tr>
              <a:tr h="220996">
                <a:tc>
                  <a:txBody>
                    <a:bodyPr/>
                    <a:lstStyle/>
                    <a:p>
                      <a:pPr rtl="0" fontAlgn="ctr">
                        <a:buNone/>
                      </a:pPr>
                      <a:r>
                        <a:rPr lang="el-GR" sz="1050" b="0" i="0" u="none" strike="noStrike" noProof="0">
                          <a:solidFill>
                            <a:srgbClr val="2D55FF"/>
                          </a:solidFill>
                          <a:effectLst/>
                          <a:latin typeface="Inter"/>
                        </a:rPr>
                        <a:t>{{certificate_or_ecolabel}}</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buNone/>
                      </a:pPr>
                      <a:r>
                        <a:rPr lang="el-GR" sz="1050" b="0" i="0" u="none" strike="noStrike" noProof="0">
                          <a:solidFill>
                            <a:srgbClr val="2D55FF"/>
                          </a:solidFill>
                          <a:effectLst/>
                          <a:latin typeface="Inter"/>
                        </a:rPr>
                        <a:t>{{description_certificate}}</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buNone/>
                      </a:pPr>
                      <a:r>
                        <a:rPr lang="el-GR" sz="1050" b="0" i="0" u="none" strike="noStrike" noProof="0">
                          <a:solidFill>
                            <a:srgbClr val="2D55FF"/>
                          </a:solidFill>
                          <a:effectLst/>
                          <a:latin typeface="Inter"/>
                        </a:rPr>
                        <a:t>{{date_certicate}}</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buNone/>
                      </a:pPr>
                      <a:r>
                        <a:rPr lang="el-GR" sz="1050" b="0" i="0" u="none" strike="noStrike" noProof="0">
                          <a:solidFill>
                            <a:srgbClr val="2D55FF"/>
                          </a:solidFill>
                          <a:effectLst/>
                          <a:latin typeface="Inter"/>
                        </a:rPr>
                        <a:t>{{certiciate_possible_rating}}</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5006062"/>
                  </a:ext>
                </a:extLst>
              </a:tr>
            </a:tbl>
          </a:graphicData>
        </a:graphic>
      </p:graphicFrame>
      <p:graphicFrame>
        <p:nvGraphicFramePr>
          <p:cNvPr id="10" name="Tabel 9">
            <a:extLst>
              <a:ext uri="{FF2B5EF4-FFF2-40B4-BE49-F238E27FC236}">
                <a16:creationId xmlns:a16="http://schemas.microsoft.com/office/drawing/2014/main" id="{AA9D6142-7148-BA87-D929-D03B1323ACFD}"/>
              </a:ext>
            </a:extLst>
          </p:cNvPr>
          <p:cNvGraphicFramePr>
            <a:graphicFrameLocks noGrp="1"/>
          </p:cNvGraphicFramePr>
          <p:nvPr>
            <p:extLst>
              <p:ext uri="{D42A27DB-BD31-4B8C-83A1-F6EECF244321}">
                <p14:modId xmlns:p14="http://schemas.microsoft.com/office/powerpoint/2010/main" val="2461615557"/>
              </p:ext>
            </p:extLst>
          </p:nvPr>
        </p:nvGraphicFramePr>
        <p:xfrm>
          <a:off x="468741" y="1568148"/>
          <a:ext cx="9770785" cy="1051941"/>
        </p:xfrm>
        <a:graphic>
          <a:graphicData uri="http://schemas.openxmlformats.org/drawingml/2006/table">
            <a:tbl>
              <a:tblPr firstRow="1">
                <a:tableStyleId>{2A488322-F2BA-4B5B-9748-0D474271808F}</a:tableStyleId>
              </a:tblPr>
              <a:tblGrid>
                <a:gridCol w="1780760">
                  <a:extLst>
                    <a:ext uri="{9D8B030D-6E8A-4147-A177-3AD203B41FA5}">
                      <a16:colId xmlns:a16="http://schemas.microsoft.com/office/drawing/2014/main" val="2041236584"/>
                    </a:ext>
                  </a:extLst>
                </a:gridCol>
                <a:gridCol w="1890996">
                  <a:extLst>
                    <a:ext uri="{9D8B030D-6E8A-4147-A177-3AD203B41FA5}">
                      <a16:colId xmlns:a16="http://schemas.microsoft.com/office/drawing/2014/main" val="2637180759"/>
                    </a:ext>
                  </a:extLst>
                </a:gridCol>
                <a:gridCol w="1444903">
                  <a:extLst>
                    <a:ext uri="{9D8B030D-6E8A-4147-A177-3AD203B41FA5}">
                      <a16:colId xmlns:a16="http://schemas.microsoft.com/office/drawing/2014/main" val="1126871569"/>
                    </a:ext>
                  </a:extLst>
                </a:gridCol>
                <a:gridCol w="1412061">
                  <a:extLst>
                    <a:ext uri="{9D8B030D-6E8A-4147-A177-3AD203B41FA5}">
                      <a16:colId xmlns:a16="http://schemas.microsoft.com/office/drawing/2014/main" val="573454477"/>
                    </a:ext>
                  </a:extLst>
                </a:gridCol>
                <a:gridCol w="1565312">
                  <a:extLst>
                    <a:ext uri="{9D8B030D-6E8A-4147-A177-3AD203B41FA5}">
                      <a16:colId xmlns:a16="http://schemas.microsoft.com/office/drawing/2014/main" val="3277283369"/>
                    </a:ext>
                  </a:extLst>
                </a:gridCol>
                <a:gridCol w="1676753">
                  <a:extLst>
                    <a:ext uri="{9D8B030D-6E8A-4147-A177-3AD203B41FA5}">
                      <a16:colId xmlns:a16="http://schemas.microsoft.com/office/drawing/2014/main" val="3975353283"/>
                    </a:ext>
                  </a:extLst>
                </a:gridCol>
              </a:tblGrid>
              <a:tr h="284138">
                <a:tc gridSpan="6">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kern="1200" spc="-10" noProof="0">
                          <a:solidFill>
                            <a:schemeClr val="tx2"/>
                          </a:solidFill>
                          <a:latin typeface="+mn-lt"/>
                          <a:ea typeface="+mn-ea"/>
                          <a:cs typeface="+mn-cs"/>
                        </a:rPr>
                        <a:t xml:space="preserve">Διευθύνσεις και γεωεντοπισμός </a:t>
                      </a:r>
                      <a:r>
                        <a:rPr lang="el-GR" sz="1050" b="1" u="none" kern="1200" spc="-10" noProof="0">
                          <a:solidFill>
                            <a:schemeClr val="tx2"/>
                          </a:solidFill>
                          <a:latin typeface="+mn-lt"/>
                          <a:ea typeface="+mn-ea"/>
                          <a:cs typeface="+mn-cs"/>
                        </a:rPr>
                        <a:t xml:space="preserve">σημαντικών</a:t>
                      </a:r>
                      <a:r>
                        <a:rPr lang="el-GR" sz="1050" b="1" kern="1200" spc="-10" noProof="0">
                          <a:solidFill>
                            <a:schemeClr val="tx2"/>
                          </a:solidFill>
                          <a:latin typeface="+mn-lt"/>
                          <a:ea typeface="+mn-ea"/>
                          <a:cs typeface="+mn-cs"/>
                        </a:rPr>
                        <a:t xml:space="preserve"> στοιχείων ενεργητικού και εγκαταστάσεων που η επιχείρηση</a:t>
                      </a:r>
                      <a:r>
                        <a:rPr lang="el-GR" sz="1050" b="0" kern="1200" spc="-10" noProof="0">
                          <a:solidFill>
                            <a:schemeClr val="tx2"/>
                          </a:solidFill>
                          <a:latin typeface="+mn-lt"/>
                          <a:ea typeface="+mn-ea"/>
                          <a:cs typeface="+mn-cs"/>
                        </a:rPr>
                        <a:t> </a:t>
                      </a:r>
                      <a:r>
                        <a:rPr lang="el-GR" sz="1050" b="1" kern="1200" spc="-10" noProof="0">
                          <a:solidFill>
                            <a:schemeClr val="tx2"/>
                          </a:solidFill>
                          <a:latin typeface="+mn-lt"/>
                          <a:ea typeface="+mn-ea"/>
                          <a:cs typeface="+mn-cs"/>
                        </a:rPr>
                        <a:t xml:space="preserve">κατέχει, μισθώνει ή διαχειρίζεται </a:t>
                      </a:r>
                      <a:r>
                        <a:rPr lang="el-GR" sz="1050" b="0" kern="1200" spc="-10" noProof="0">
                          <a:solidFill>
                            <a:schemeClr val="tx2"/>
                          </a:solidFill>
                          <a:latin typeface="+mn-lt"/>
                          <a:ea typeface="+mn-ea"/>
                          <a:cs typeface="+mn-cs"/>
                        </a:rPr>
                        <a:t xml:space="preserve">(παρ. 27e, vi, vii)</a:t>
                      </a:r>
                    </a:p>
                    <a:p>
                      <a:pPr marL="0" marR="0" lvl="0" indent="0" algn="l" defTabSz="914400" rtl="0" eaLnBrk="1" fontAlgn="auto" latinLnBrk="0" hangingPunct="1">
                        <a:lnSpc>
                          <a:spcPct val="100000"/>
                        </a:lnSpc>
                        <a:spcBef>
                          <a:spcPts val="0"/>
                        </a:spcBef>
                        <a:spcAft>
                          <a:spcPts val="0"/>
                        </a:spcAft>
                        <a:buClrTx/>
                        <a:buSzTx/>
                        <a:buFontTx/>
                        <a:buNone/>
                        <a:tabLst/>
                        <a:defRPr/>
                      </a:pPr>
                      <a:endParaRPr lang="el-GR" sz="1050"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2108498375"/>
                  </a:ext>
                </a:extLst>
              </a:tr>
              <a:tr h="284138">
                <a:tc>
                  <a:txBody>
                    <a:bodyPr/>
                    <a:lstStyle/>
                    <a:p>
                      <a:pPr algn="l"/>
                      <a:r>
                        <a:rPr lang="el-GR" sz="1050" b="1" kern="1200" spc="-10" noProof="0">
                          <a:solidFill>
                            <a:schemeClr val="tx2"/>
                          </a:solidFill>
                          <a:latin typeface="+mn-lt"/>
                          <a:ea typeface="+mn-ea"/>
                          <a:cs typeface="+mn-cs"/>
                        </a:rPr>
                        <a:t xml:space="preserve">Τοποθεσία</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1050" b="1" kern="1200" spc="-10" noProof="0">
                          <a:solidFill>
                            <a:schemeClr val="tx2"/>
                          </a:solidFill>
                          <a:latin typeface="+mn-lt"/>
                          <a:ea typeface="+mn-ea"/>
                          <a:cs typeface="+mn-cs"/>
                        </a:rPr>
                        <a:t xml:space="preserve">Διεύθυνση</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1050" b="1" kern="1200" spc="-10" noProof="0">
                          <a:solidFill>
                            <a:schemeClr val="tx2"/>
                          </a:solidFill>
                          <a:latin typeface="+mn-lt"/>
                          <a:ea typeface="+mn-ea"/>
                          <a:cs typeface="+mn-cs"/>
                        </a:rPr>
                        <a:t xml:space="preserve">Τ.Κ.</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1050" b="1" kern="1200" spc="-10" noProof="0">
                          <a:solidFill>
                            <a:schemeClr val="tx2"/>
                          </a:solidFill>
                          <a:latin typeface="+mn-lt"/>
                          <a:ea typeface="+mn-ea"/>
                          <a:cs typeface="+mn-cs"/>
                        </a:rPr>
                        <a:t xml:space="preserve">Πόλη</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1050" b="1" kern="1200" spc="-10" noProof="0">
                          <a:solidFill>
                            <a:schemeClr val="tx2"/>
                          </a:solidFill>
                          <a:latin typeface="+mn-lt"/>
                          <a:ea typeface="+mn-ea"/>
                          <a:cs typeface="+mn-cs"/>
                        </a:rPr>
                        <a:t xml:space="preserve">Χώρα</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1050" b="1" kern="1200" spc="-10" noProof="0">
                          <a:solidFill>
                            <a:schemeClr val="tx2"/>
                          </a:solidFill>
                          <a:latin typeface="+mn-lt"/>
                          <a:ea typeface="+mn-ea"/>
                          <a:cs typeface="+mn-cs"/>
                        </a:rPr>
                        <a:t xml:space="preserve">Γεωεντοπισμός (συντεταγμένες)</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282431150"/>
                  </a:ext>
                </a:extLst>
              </a:tr>
              <a:tr h="284138">
                <a:tc>
                  <a:txBody>
                    <a:bodyPr/>
                    <a:lstStyle/>
                    <a:p>
                      <a:pPr rtl="0" fontAlgn="t">
                        <a:buNone/>
                      </a:pPr>
                      <a:r>
                        <a:rPr lang="el-GR" sz="1050" b="0" i="0" u="none" strike="noStrike" noProof="0">
                          <a:solidFill>
                            <a:srgbClr val="2D55FF"/>
                          </a:solidFill>
                          <a:effectLst/>
                          <a:latin typeface="Inter"/>
                        </a:rPr>
                        <a:t>{{geolocation}}</a:t>
                      </a:r>
                      <a:endParaRPr lang="el-GR"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1050" b="0" i="0" u="none" strike="noStrike" noProof="0">
                          <a:solidFill>
                            <a:srgbClr val="2D55FF"/>
                          </a:solidFill>
                          <a:effectLst/>
                          <a:latin typeface="Inter"/>
                        </a:rPr>
                        <a:t>{{geolocation_adress}}</a:t>
                      </a:r>
                      <a:endParaRPr lang="el-GR"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1050" b="0" i="0" u="none" strike="noStrike" noProof="0">
                          <a:solidFill>
                            <a:srgbClr val="2D55FF"/>
                          </a:solidFill>
                          <a:effectLst/>
                          <a:latin typeface="Inter"/>
                        </a:rPr>
                        <a:t>{{geolocation_postcode}}</a:t>
                      </a:r>
                      <a:endParaRPr lang="el-GR"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1050" b="0" i="0" u="none" strike="noStrike" noProof="0">
                          <a:solidFill>
                            <a:srgbClr val="2D55FF"/>
                          </a:solidFill>
                          <a:effectLst/>
                          <a:latin typeface="Inter"/>
                        </a:rPr>
                        <a:t>{{geolocation_city}}</a:t>
                      </a:r>
                      <a:endParaRPr lang="el-GR"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1050" b="0" i="0" u="none" strike="noStrike" noProof="0">
                          <a:solidFill>
                            <a:srgbClr val="2D55FF"/>
                          </a:solidFill>
                          <a:effectLst/>
                          <a:latin typeface="Inter"/>
                        </a:rPr>
                        <a:t>{{geolocation_country}}</a:t>
                      </a:r>
                      <a:endParaRPr lang="el-GR"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1050" b="0" i="0" u="none" strike="noStrike" noProof="0">
                          <a:solidFill>
                            <a:srgbClr val="2D55FF"/>
                          </a:solidFill>
                          <a:effectLst/>
                          <a:latin typeface="Inter"/>
                        </a:rPr>
                        <a:t>{{geolocation_coordinates}}</a:t>
                      </a:r>
                      <a:endParaRPr lang="el-GR"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669926511"/>
                  </a:ext>
                </a:extLst>
              </a:tr>
            </a:tbl>
          </a:graphicData>
        </a:graphic>
      </p:graphicFrame>
      <p:sp>
        <p:nvSpPr>
          <p:cNvPr id="8" name="Tekstfelt 7">
            <a:extLst>
              <a:ext uri="{FF2B5EF4-FFF2-40B4-BE49-F238E27FC236}">
                <a16:creationId xmlns:a16="http://schemas.microsoft.com/office/drawing/2014/main" id="{8424FC7C-5277-3C04-10E3-491713542923}"/>
              </a:ext>
            </a:extLst>
          </p:cNvPr>
          <p:cNvSpPr txBox="1"/>
          <p:nvPr/>
        </p:nvSpPr>
        <p:spPr>
          <a:xfrm>
            <a:off x="452474" y="891000"/>
            <a:ext cx="9794026" cy="566812"/>
          </a:xfrm>
          <a:prstGeom prst="rect">
            <a:avLst/>
          </a:prstGeom>
          <a:noFill/>
        </p:spPr>
        <p:txBody>
          <a:bodyPr wrap="square">
            <a:spAutoFit/>
          </a:bodyPr>
          <a:lstStyle/>
          <a:p>
            <a:pPr>
              <a:spcBef>
                <a:spcPts val="789"/>
              </a:spcBef>
            </a:pPr>
            <a:r>
              <a:rPr lang="el-GR" sz="1050" b="0" i="0" u="none" strike="noStrike" noProof="0">
                <a:solidFill>
                  <a:schemeClr val="tx2"/>
                </a:solidFill>
                <a:effectLst/>
                <a:latin typeface="Inter"/>
              </a:rPr>
              <a:t xml:space="preserve">Κατωτέρω περιγράφονται οι θέσεις της επιχείρησης και οι τόποι όπου δραστηριοποιείται. Τα στοιχεία αυτά μπορούν να χρησιμοποιηθούν για κλιματικές ζώνες κινδύνου και ενημερώνουν για τις εγκαταστάσεις και/ή την έδρα</a:t>
            </a:r>
            <a:r>
              <a:rPr lang="el-GR" sz="1050" noProof="0">
                <a:solidFill>
                  <a:schemeClr val="tx2"/>
                </a:solidFill>
                <a:latin typeface="Inter"/>
              </a:rPr>
              <a:t xml:space="preserve">. Αναφέρονται επίσης οι σχετικές πιστοποιήσεις ή σήματα βιωσιμότητας, με τον φορέα έκδοσης, την ημερομηνία και τυχόν βαθμολογία.</a:t>
            </a:r>
            <a:endParaRPr lang="el-GR" sz="1050" b="0" noProof="0">
              <a:solidFill>
                <a:schemeClr val="tx2"/>
              </a:solidFill>
              <a:effectLst/>
              <a:latin typeface="Inter"/>
            </a:endParaRPr>
          </a:p>
        </p:txBody>
      </p:sp>
      <p:sp>
        <p:nvSpPr>
          <p:cNvPr id="20" name="Tekstfelt 19">
            <a:extLst>
              <a:ext uri="{FF2B5EF4-FFF2-40B4-BE49-F238E27FC236}">
                <a16:creationId xmlns:a16="http://schemas.microsoft.com/office/drawing/2014/main" id="{EE6CA221-E8CE-159D-7634-30A647F356B9}"/>
              </a:ext>
            </a:extLst>
          </p:cNvPr>
          <p:cNvSpPr txBox="1"/>
          <p:nvPr/>
        </p:nvSpPr>
        <p:spPr>
          <a:xfrm>
            <a:off x="452474" y="4181436"/>
            <a:ext cx="7174107" cy="242919"/>
          </a:xfrm>
          <a:prstGeom prst="rect">
            <a:avLst/>
          </a:prstGeom>
          <a:noFill/>
        </p:spPr>
        <p:txBody>
          <a:bodyPr wrap="square">
            <a:spAutoFit/>
          </a:bodyPr>
          <a:lstStyle/>
          <a:p>
            <a:r>
              <a:rPr lang="el-GR" sz="1050" noProof="0">
                <a:solidFill>
                  <a:srgbClr val="487477"/>
                </a:solidFill>
                <a:latin typeface="Inter"/>
              </a:rPr>
              <a:t xml:space="preserve">Τα πιστοποιητικά και τα οικολογικά σήματα της επιχείρησης παρατίθενται κατωτέρω.</a:t>
            </a:r>
          </a:p>
        </p:txBody>
      </p:sp>
    </p:spTree>
    <p:extLst>
      <p:ext uri="{BB962C8B-B14F-4D97-AF65-F5344CB8AC3E}">
        <p14:creationId xmlns:p14="http://schemas.microsoft.com/office/powerpoint/2010/main" val="34395824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54796" y="450698"/>
            <a:ext cx="9791704" cy="218627"/>
          </a:xfrm>
        </p:spPr>
        <p:txBody>
          <a:bodyPr/>
          <a:lstStyle/>
          <a:p>
            <a:r>
              <a:rPr lang="el-GR" noProof="0"/>
              <a:t xml:space="preserve">Πρακτικές, πολιτικές και μελλοντικές πρωτοβουλίες για μετάβαση σε πιο βιώσιμη οικονομία (B2)</a:t>
            </a:r>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endParaRPr lang="el-GR"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877360368"/>
              </p:ext>
            </p:extLst>
          </p:nvPr>
        </p:nvGraphicFramePr>
        <p:xfrm>
          <a:off x="454796" y="1501175"/>
          <a:ext cx="9791705" cy="3360057"/>
        </p:xfrm>
        <a:graphic>
          <a:graphicData uri="http://schemas.openxmlformats.org/drawingml/2006/table">
            <a:tbl>
              <a:tblPr firstRow="1">
                <a:tableStyleId>{2A488322-F2BA-4B5B-9748-0D474271808F}</a:tableStyleId>
              </a:tblPr>
              <a:tblGrid>
                <a:gridCol w="1750429">
                  <a:extLst>
                    <a:ext uri="{9D8B030D-6E8A-4147-A177-3AD203B41FA5}">
                      <a16:colId xmlns:a16="http://schemas.microsoft.com/office/drawing/2014/main" val="1902117154"/>
                    </a:ext>
                  </a:extLst>
                </a:gridCol>
                <a:gridCol w="1848825">
                  <a:extLst>
                    <a:ext uri="{9D8B030D-6E8A-4147-A177-3AD203B41FA5}">
                      <a16:colId xmlns:a16="http://schemas.microsoft.com/office/drawing/2014/main" val="1904521774"/>
                    </a:ext>
                  </a:extLst>
                </a:gridCol>
                <a:gridCol w="1447875">
                  <a:extLst>
                    <a:ext uri="{9D8B030D-6E8A-4147-A177-3AD203B41FA5}">
                      <a16:colId xmlns:a16="http://schemas.microsoft.com/office/drawing/2014/main" val="3164053669"/>
                    </a:ext>
                  </a:extLst>
                </a:gridCol>
                <a:gridCol w="2027025">
                  <a:extLst>
                    <a:ext uri="{9D8B030D-6E8A-4147-A177-3AD203B41FA5}">
                      <a16:colId xmlns:a16="http://schemas.microsoft.com/office/drawing/2014/main" val="1484983729"/>
                    </a:ext>
                  </a:extLst>
                </a:gridCol>
                <a:gridCol w="2717551">
                  <a:extLst>
                    <a:ext uri="{9D8B030D-6E8A-4147-A177-3AD203B41FA5}">
                      <a16:colId xmlns:a16="http://schemas.microsoft.com/office/drawing/2014/main" val="3920544300"/>
                    </a:ext>
                  </a:extLst>
                </a:gridCol>
              </a:tblGrid>
              <a:tr h="417684">
                <a:tc>
                  <a:txBody>
                    <a:bodyPr/>
                    <a:lstStyle/>
                    <a:p>
                      <a:r>
                        <a:rPr lang="el-GR" sz="1050" b="1" kern="1200" spc="-10" noProof="0">
                          <a:solidFill>
                            <a:schemeClr val="tx2"/>
                          </a:solidFill>
                          <a:latin typeface="+mn-lt"/>
                          <a:ea typeface="+mn-ea"/>
                          <a:cs typeface="+mn-cs"/>
                        </a:rPr>
                        <a:t xml:space="preserve">Τομέας</a:t>
                      </a:r>
                    </a:p>
                    <a:p>
                      <a:r>
                        <a:rPr lang="el-GR" sz="1050" b="0" kern="1200" spc="-10" noProof="0">
                          <a:solidFill>
                            <a:schemeClr val="tx2"/>
                          </a:solidFill>
                          <a:latin typeface="+mn-lt"/>
                          <a:ea typeface="+mn-ea"/>
                          <a:cs typeface="+mn-cs"/>
                        </a:rPr>
                        <a:t xml:space="preserve">(παρ. 29a-d)</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1050" b="1" kern="1200" spc="-10" noProof="0">
                          <a:solidFill>
                            <a:schemeClr val="tx2"/>
                          </a:solidFill>
                          <a:latin typeface="+mn-lt"/>
                          <a:ea typeface="+mn-ea"/>
                          <a:cs typeface="+mn-cs"/>
                        </a:rPr>
                        <a:t xml:space="preserve">Υπάρχει συγκεκριμένη πρακτική ή πολιτική στον τομέα</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1050" b="1" kern="1200" spc="-10" noProof="0">
                          <a:solidFill>
                            <a:schemeClr val="tx2"/>
                          </a:solidFill>
                          <a:latin typeface="+mn-lt"/>
                          <a:ea typeface="+mn-ea"/>
                          <a:cs typeface="+mn-cs"/>
                        </a:rPr>
                        <a:t xml:space="preserve">Είναι η πολιτική δημόσια διαθέσιμη; </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1050" b="1" kern="1200" spc="-10" noProof="0">
                          <a:solidFill>
                            <a:schemeClr val="tx2"/>
                          </a:solidFill>
                          <a:latin typeface="+mn-lt"/>
                          <a:ea typeface="+mn-ea"/>
                          <a:cs typeface="+mn-cs"/>
                        </a:rPr>
                        <a:t xml:space="preserve">Η επιχείρηση έχει μελλοντικές πρωτοβουλίες και σχέδια</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1050" b="1" kern="1200" spc="-10" noProof="0">
                          <a:solidFill>
                            <a:schemeClr val="tx2"/>
                          </a:solidFill>
                          <a:latin typeface="+mn-lt"/>
                          <a:ea typeface="+mn-ea"/>
                          <a:cs typeface="+mn-cs"/>
                        </a:rPr>
                        <a:t xml:space="preserve">Υπάρχουν συγκεκριμένοι στόχοι παρακολούθησης της εφαρμογής πρακτικών και πολιτικών;</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267040">
                <a:tc>
                  <a:txBody>
                    <a:bodyPr/>
                    <a:lstStyle/>
                    <a:p>
                      <a:pPr algn="l"/>
                      <a:r>
                        <a:rPr lang="el-GR" sz="1050" b="1" kern="1200" spc="-10" noProof="0">
                          <a:solidFill>
                            <a:schemeClr val="tx2"/>
                          </a:solidFill>
                          <a:latin typeface="+mn-lt"/>
                          <a:ea typeface="+mn-ea"/>
                          <a:cs typeface="+mn-cs"/>
                        </a:rPr>
                        <a:t xml:space="preserve">Κλιματική αλλαγή</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l-GR" sz="1050" b="0" i="0" u="none" strike="noStrike" noProof="0">
                          <a:solidFill>
                            <a:srgbClr val="2D55FF"/>
                          </a:solidFill>
                          <a:effectLst/>
                          <a:latin typeface="Inter"/>
                        </a:rPr>
                        <a:t>{{climate_change_concrete}}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1050" b="0" i="0" u="none" strike="noStrike" noProof="0">
                          <a:solidFill>
                            <a:srgbClr val="2D55FF"/>
                          </a:solidFill>
                          <a:effectLst/>
                          <a:latin typeface="Inter"/>
                        </a:rPr>
                        <a:t>{{climate_change_publicly}}</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1050" b="0" i="0" u="none" strike="noStrike" noProof="0">
                          <a:solidFill>
                            <a:srgbClr val="2D55FF"/>
                          </a:solidFill>
                          <a:effectLst/>
                          <a:latin typeface="Inter"/>
                        </a:rPr>
                        <a:t>{{climate_change_future}}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chemeClr val="accent2"/>
                          </a:solidFill>
                          <a:latin typeface="Inter"/>
                        </a:rPr>
                        <a:t>{{climate_change_plan}}</a:t>
                      </a:r>
                      <a:endParaRPr lang="el-G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53415">
                <a:tc>
                  <a:txBody>
                    <a:bodyPr/>
                    <a:lstStyle/>
                    <a:p>
                      <a:pPr algn="l"/>
                      <a:r>
                        <a:rPr lang="el-GR" sz="1050" b="1" kern="1200" spc="-10" noProof="0">
                          <a:solidFill>
                            <a:schemeClr val="tx2"/>
                          </a:solidFill>
                          <a:latin typeface="+mn-lt"/>
                          <a:ea typeface="+mn-ea"/>
                          <a:cs typeface="+mn-cs"/>
                        </a:rPr>
                        <a:t xml:space="preserve">Ρύπανση</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l-GR" sz="1050" b="0" i="0" u="none" strike="noStrike" noProof="0">
                          <a:solidFill>
                            <a:srgbClr val="2D55FF"/>
                          </a:solidFill>
                          <a:effectLst/>
                          <a:latin typeface="Inter"/>
                        </a:rPr>
                        <a:t>{{pollution_concrete}}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1050" b="0" i="0" u="none" strike="noStrike" noProof="0">
                          <a:solidFill>
                            <a:srgbClr val="2D55FF"/>
                          </a:solidFill>
                          <a:effectLst/>
                          <a:latin typeface="Inter"/>
                        </a:rPr>
                        <a:t>{{pollution_publicly}}</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1050" b="0" i="0" u="none" strike="noStrike" noProof="0">
                          <a:solidFill>
                            <a:srgbClr val="2D55FF"/>
                          </a:solidFill>
                          <a:effectLst/>
                          <a:latin typeface="Inter"/>
                        </a:rPr>
                        <a:t>{{pollution_future}}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chemeClr val="accent2"/>
                          </a:solidFill>
                          <a:latin typeface="Inter"/>
                        </a:rPr>
                        <a:t>{{pollution_plan}}</a:t>
                      </a:r>
                      <a:endParaRPr lang="el-G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60612">
                <a:tc>
                  <a:txBody>
                    <a:bodyPr/>
                    <a:lstStyle/>
                    <a:p>
                      <a:pPr algn="l"/>
                      <a:r>
                        <a:rPr lang="el-GR" sz="1050" b="1" kern="1200" spc="-10" noProof="0">
                          <a:solidFill>
                            <a:schemeClr val="tx2"/>
                          </a:solidFill>
                          <a:latin typeface="+mn-lt"/>
                          <a:ea typeface="+mn-ea"/>
                          <a:cs typeface="+mn-cs"/>
                        </a:rPr>
                        <a:t xml:space="preserve">Υδάτινοι και θαλάσσιοι πόροι</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l-GR" sz="1050" b="0" i="0" u="none" strike="noStrike" noProof="0">
                          <a:solidFill>
                            <a:srgbClr val="2D55FF"/>
                          </a:solidFill>
                          <a:effectLst/>
                          <a:latin typeface="Inter"/>
                        </a:rPr>
                        <a:t>{{water_concrete}}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1050" b="0" i="0" u="none" strike="noStrike" noProof="0">
                          <a:solidFill>
                            <a:srgbClr val="2D55FF"/>
                          </a:solidFill>
                          <a:effectLst/>
                          <a:latin typeface="Inter"/>
                        </a:rPr>
                        <a:t>{{water_publicly}}</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1050" b="0" i="0" u="none" strike="noStrike" noProof="0">
                          <a:solidFill>
                            <a:srgbClr val="2D55FF"/>
                          </a:solidFill>
                          <a:effectLst/>
                          <a:latin typeface="Inter"/>
                        </a:rPr>
                        <a:t>{{water_future}}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chemeClr val="accent2"/>
                          </a:solidFill>
                          <a:latin typeface="Inter"/>
                        </a:rPr>
                        <a:t>{{water_plan}}</a:t>
                      </a:r>
                      <a:endParaRPr lang="el-G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260612">
                <a:tc>
                  <a:txBody>
                    <a:bodyPr/>
                    <a:lstStyle/>
                    <a:p>
                      <a:pPr algn="l"/>
                      <a:r>
                        <a:rPr lang="el-GR" sz="1050" b="1" kern="1200" spc="-10" noProof="0">
                          <a:solidFill>
                            <a:schemeClr val="tx2"/>
                          </a:solidFill>
                          <a:latin typeface="+mn-lt"/>
                          <a:ea typeface="+mn-ea"/>
                          <a:cs typeface="+mn-cs"/>
                        </a:rPr>
                        <a:t xml:space="preserve">Βιοποικιλότητα και οικοσυστήματα</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l-GR" sz="1050" b="0" i="0" u="none" strike="noStrike" noProof="0">
                          <a:solidFill>
                            <a:srgbClr val="2D55FF"/>
                          </a:solidFill>
                          <a:effectLst/>
                          <a:latin typeface="Inter"/>
                        </a:rPr>
                        <a:t>{{biodiversity_concrete}}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1050" b="0" i="0" u="none" strike="noStrike" noProof="0">
                          <a:solidFill>
                            <a:srgbClr val="2D55FF"/>
                          </a:solidFill>
                          <a:effectLst/>
                          <a:latin typeface="Inter"/>
                        </a:rPr>
                        <a:t>{{biodiversity_publicly}}</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1050" b="0" i="0" u="none" strike="noStrike" noProof="0">
                          <a:solidFill>
                            <a:srgbClr val="2D55FF"/>
                          </a:solidFill>
                          <a:effectLst/>
                          <a:latin typeface="Inter"/>
                        </a:rPr>
                        <a:t>{{biodiversity_future}}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chemeClr val="accent2"/>
                          </a:solidFill>
                          <a:latin typeface="Inter"/>
                        </a:rPr>
                        <a:t>{{biodiversity_plan}}</a:t>
                      </a:r>
                      <a:endParaRPr lang="el-G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60612">
                <a:tc>
                  <a:txBody>
                    <a:bodyPr/>
                    <a:lstStyle/>
                    <a:p>
                      <a:pPr algn="l"/>
                      <a:r>
                        <a:rPr lang="el-GR" sz="1050" b="1" kern="1200" spc="-10" noProof="0">
                          <a:solidFill>
                            <a:schemeClr val="tx2"/>
                          </a:solidFill>
                          <a:latin typeface="+mn-lt"/>
                          <a:ea typeface="+mn-ea"/>
                          <a:cs typeface="+mn-cs"/>
                        </a:rPr>
                        <a:t xml:space="preserve">Κυκλική οικονομία</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l-GR" sz="1050" b="0" i="0" u="none" strike="noStrike" noProof="0">
                          <a:solidFill>
                            <a:srgbClr val="2D55FF"/>
                          </a:solidFill>
                          <a:effectLst/>
                          <a:latin typeface="Inter"/>
                        </a:rPr>
                        <a:t>{{circular_concrete}}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1050" b="0" i="0" u="none" strike="noStrike" noProof="0">
                          <a:solidFill>
                            <a:srgbClr val="2D55FF"/>
                          </a:solidFill>
                          <a:effectLst/>
                          <a:latin typeface="Inter"/>
                        </a:rPr>
                        <a:t>{{circular_publicly}}</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1050" b="0" i="0" u="none" strike="noStrike" noProof="0">
                          <a:solidFill>
                            <a:srgbClr val="2D55FF"/>
                          </a:solidFill>
                          <a:effectLst/>
                          <a:latin typeface="Inter"/>
                        </a:rPr>
                        <a:t>{{circular_future}}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chemeClr val="accent2"/>
                          </a:solidFill>
                          <a:latin typeface="Inter"/>
                        </a:rPr>
                        <a:t>{{circular_plan}}</a:t>
                      </a:r>
                      <a:endParaRPr lang="el-G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60612">
                <a:tc>
                  <a:txBody>
                    <a:bodyPr/>
                    <a:lstStyle/>
                    <a:p>
                      <a:pPr algn="l"/>
                      <a:r>
                        <a:rPr lang="el-GR" sz="1050" b="1" kern="1200" spc="-10" noProof="0">
                          <a:solidFill>
                            <a:schemeClr val="tx2"/>
                          </a:solidFill>
                          <a:latin typeface="+mn-lt"/>
                          <a:ea typeface="+mn-ea"/>
                          <a:cs typeface="+mn-cs"/>
                        </a:rPr>
                        <a:t xml:space="preserve">Ίδιο εργατικό δυναμικό</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l-GR" sz="1050" b="0" i="0" u="none" strike="noStrike" noProof="0">
                          <a:solidFill>
                            <a:srgbClr val="2D55FF"/>
                          </a:solidFill>
                          <a:effectLst/>
                          <a:latin typeface="Inter"/>
                        </a:rPr>
                        <a:t>{{workforce_concrete}}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1050" b="0" i="0" u="none" strike="noStrike" noProof="0">
                          <a:solidFill>
                            <a:srgbClr val="2D55FF"/>
                          </a:solidFill>
                          <a:effectLst/>
                          <a:latin typeface="Inter"/>
                        </a:rPr>
                        <a:t>{{workforce_publicly}}</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1050" b="0" i="0" u="none" strike="noStrike" noProof="0">
                          <a:solidFill>
                            <a:srgbClr val="2D55FF"/>
                          </a:solidFill>
                          <a:effectLst/>
                          <a:latin typeface="Inter"/>
                        </a:rPr>
                        <a:t>{{workforce_future}}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chemeClr val="accent2"/>
                          </a:solidFill>
                          <a:latin typeface="Inter"/>
                        </a:rPr>
                        <a:t>{{workforce_plan}}</a:t>
                      </a:r>
                      <a:endParaRPr lang="el-G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7384999"/>
                  </a:ext>
                </a:extLst>
              </a:tr>
              <a:tr h="260612">
                <a:tc>
                  <a:txBody>
                    <a:bodyPr/>
                    <a:lstStyle/>
                    <a:p>
                      <a:pPr algn="l"/>
                      <a:r>
                        <a:rPr lang="el-GR" sz="1050" b="1" kern="1200" spc="-10" noProof="0">
                          <a:solidFill>
                            <a:schemeClr val="tx2"/>
                          </a:solidFill>
                          <a:latin typeface="+mn-lt"/>
                          <a:ea typeface="+mn-ea"/>
                          <a:cs typeface="+mn-cs"/>
                        </a:rPr>
                        <a:t xml:space="preserve">Εργαζόμενοι στην αλυσίδα αξίας</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l-GR" sz="1050" b="0" i="0" u="none" strike="noStrike" noProof="0">
                          <a:solidFill>
                            <a:srgbClr val="2D55FF"/>
                          </a:solidFill>
                          <a:effectLst/>
                          <a:latin typeface="Inter"/>
                        </a:rPr>
                        <a:t>{{workers_concrete}}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1050" b="0" i="0" u="none" strike="noStrike" noProof="0">
                          <a:solidFill>
                            <a:srgbClr val="2D55FF"/>
                          </a:solidFill>
                          <a:effectLst/>
                          <a:latin typeface="Inter"/>
                        </a:rPr>
                        <a:t>{{workers_publicly}}</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1050" b="0" i="0" u="none" strike="noStrike" noProof="0">
                          <a:solidFill>
                            <a:srgbClr val="2D55FF"/>
                          </a:solidFill>
                          <a:effectLst/>
                          <a:latin typeface="Inter"/>
                        </a:rPr>
                        <a:t>{{workers_future}}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chemeClr val="accent2"/>
                          </a:solidFill>
                          <a:latin typeface="Inter"/>
                        </a:rPr>
                        <a:t>{{workers_plan}}</a:t>
                      </a:r>
                      <a:endParaRPr lang="el-G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1919361"/>
                  </a:ext>
                </a:extLst>
              </a:tr>
              <a:tr h="260612">
                <a:tc>
                  <a:txBody>
                    <a:bodyPr/>
                    <a:lstStyle/>
                    <a:p>
                      <a:pPr algn="l"/>
                      <a:r>
                        <a:rPr lang="el-GR" sz="1050" b="1" kern="1200" spc="-10" noProof="0">
                          <a:solidFill>
                            <a:schemeClr val="tx2"/>
                          </a:solidFill>
                          <a:latin typeface="+mn-lt"/>
                          <a:ea typeface="+mn-ea"/>
                          <a:cs typeface="+mn-cs"/>
                        </a:rPr>
                        <a:t xml:space="preserve">Επηρεαζόμενες κοινότητες</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l-GR" sz="1050" b="0" i="0" u="none" strike="noStrike" noProof="0">
                          <a:solidFill>
                            <a:srgbClr val="2D55FF"/>
                          </a:solidFill>
                          <a:effectLst/>
                          <a:latin typeface="Inter"/>
                        </a:rPr>
                        <a:t>{{communities_concrete}}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1050" b="0" i="0" u="none" strike="noStrike" noProof="0">
                          <a:solidFill>
                            <a:srgbClr val="2D55FF"/>
                          </a:solidFill>
                          <a:effectLst/>
                          <a:latin typeface="Inter"/>
                        </a:rPr>
                        <a:t>{{communities_publicly}}</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1050" b="0" i="0" u="none" strike="noStrike" noProof="0">
                          <a:solidFill>
                            <a:srgbClr val="2D55FF"/>
                          </a:solidFill>
                          <a:effectLst/>
                          <a:latin typeface="Inter"/>
                        </a:rPr>
                        <a:t>{{communities_future}}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chemeClr val="accent2"/>
                          </a:solidFill>
                          <a:latin typeface="Inter"/>
                        </a:rPr>
                        <a:t>{{communities_plan}}</a:t>
                      </a:r>
                      <a:endParaRPr lang="el-G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36877917"/>
                  </a:ext>
                </a:extLst>
              </a:tr>
              <a:tr h="260612">
                <a:tc>
                  <a:txBody>
                    <a:bodyPr/>
                    <a:lstStyle/>
                    <a:p>
                      <a:pPr algn="l"/>
                      <a:r>
                        <a:rPr lang="el-GR" sz="1050" b="1" kern="1200" spc="-10" noProof="0">
                          <a:solidFill>
                            <a:schemeClr val="tx2"/>
                          </a:solidFill>
                          <a:latin typeface="+mn-lt"/>
                          <a:ea typeface="+mn-ea"/>
                          <a:cs typeface="+mn-cs"/>
                        </a:rPr>
                        <a:t xml:space="preserve">Καταναλωτές και τελικοί χρήστες</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l-GR" sz="1050" b="0" i="0" u="none" strike="noStrike" noProof="0">
                          <a:solidFill>
                            <a:srgbClr val="2D55FF"/>
                          </a:solidFill>
                          <a:effectLst/>
                          <a:latin typeface="Inter"/>
                        </a:rPr>
                        <a:t>{{consumers_concrete}}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1050" b="0" i="0" u="none" strike="noStrike" noProof="0">
                          <a:solidFill>
                            <a:srgbClr val="2D55FF"/>
                          </a:solidFill>
                          <a:effectLst/>
                          <a:latin typeface="Inter"/>
                        </a:rPr>
                        <a:t>{{consumers_publicly}}</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1050" b="0" i="0" u="none" strike="noStrike" noProof="0">
                          <a:solidFill>
                            <a:srgbClr val="2D55FF"/>
                          </a:solidFill>
                          <a:effectLst/>
                          <a:latin typeface="Inter"/>
                        </a:rPr>
                        <a:t>{{consumers_future}}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chemeClr val="accent2"/>
                          </a:solidFill>
                          <a:latin typeface="Inter"/>
                        </a:rPr>
                        <a:t>{{consumers_plan}}</a:t>
                      </a:r>
                      <a:endParaRPr lang="el-G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15053185"/>
                  </a:ext>
                </a:extLst>
              </a:tr>
              <a:tr h="260612">
                <a:tc>
                  <a:txBody>
                    <a:bodyPr/>
                    <a:lstStyle/>
                    <a:p>
                      <a:pPr algn="l"/>
                      <a:r>
                        <a:rPr lang="el-GR" sz="1050" b="1" kern="1200" spc="-10" noProof="0">
                          <a:solidFill>
                            <a:schemeClr val="tx2"/>
                          </a:solidFill>
                          <a:latin typeface="+mn-lt"/>
                          <a:ea typeface="+mn-ea"/>
                          <a:cs typeface="+mn-cs"/>
                        </a:rPr>
                        <a:t xml:space="preserve">Επιχειρηματική δεοντολογία</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l-GR" sz="1050" b="0" i="0" u="none" strike="noStrike" noProof="0">
                          <a:solidFill>
                            <a:srgbClr val="2D55FF"/>
                          </a:solidFill>
                          <a:effectLst/>
                          <a:latin typeface="Inter"/>
                        </a:rPr>
                        <a:t>{{governance_concrete}}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1050" b="0" i="0" u="none" strike="noStrike" noProof="0">
                          <a:solidFill>
                            <a:srgbClr val="2D55FF"/>
                          </a:solidFill>
                          <a:effectLst/>
                          <a:latin typeface="Inter"/>
                        </a:rPr>
                        <a:t>{{governance_publicly}}</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l-GR" sz="1050" b="0" i="0" u="none" strike="noStrike" noProof="0">
                          <a:solidFill>
                            <a:srgbClr val="2D55FF"/>
                          </a:solidFill>
                          <a:effectLst/>
                          <a:latin typeface="Inter"/>
                        </a:rPr>
                        <a:t>{{governance_future}}</a:t>
                      </a:r>
                      <a:endParaRPr lang="el-G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1050" b="0" i="0" u="none" strike="noStrike" noProof="0">
                          <a:solidFill>
                            <a:schemeClr val="accent2"/>
                          </a:solidFill>
                          <a:latin typeface="Inter"/>
                        </a:rPr>
                        <a:t>{{governance_plan}}</a:t>
                      </a:r>
                      <a:endParaRPr lang="el-G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04057792"/>
                  </a:ext>
                </a:extLst>
              </a:tr>
            </a:tbl>
          </a:graphicData>
        </a:graphic>
      </p:graphicFrame>
      <p:sp>
        <p:nvSpPr>
          <p:cNvPr id="16" name="Tekstfelt 15">
            <a:extLst>
              <a:ext uri="{FF2B5EF4-FFF2-40B4-BE49-F238E27FC236}">
                <a16:creationId xmlns:a16="http://schemas.microsoft.com/office/drawing/2014/main" id="{E7AD2C12-E6AC-4ADE-675B-7B86B0E0EA4B}"/>
              </a:ext>
            </a:extLst>
          </p:cNvPr>
          <p:cNvSpPr txBox="1"/>
          <p:nvPr/>
        </p:nvSpPr>
        <p:spPr>
          <a:xfrm>
            <a:off x="454796" y="891000"/>
            <a:ext cx="9782408" cy="566812"/>
          </a:xfrm>
          <a:prstGeom prst="rect">
            <a:avLst/>
          </a:prstGeom>
          <a:noFill/>
        </p:spPr>
        <p:txBody>
          <a:bodyPr wrap="square">
            <a:spAutoFit/>
          </a:bodyPr>
          <a:lstStyle/>
          <a:p>
            <a:pPr rtl="0">
              <a:spcBef>
                <a:spcPts val="789"/>
              </a:spcBef>
              <a:buNone/>
            </a:pPr>
            <a:r>
              <a:rPr lang="el-GR" sz="1050" b="0" i="0" u="none" strike="noStrike" noProof="0">
                <a:solidFill>
                  <a:schemeClr val="tx2"/>
                </a:solidFill>
                <a:effectLst/>
                <a:latin typeface="Inter"/>
              </a:rPr>
              <a:t xml:space="preserve">Η ενότητα αυτή παρουσιάζει τις πρακτικές, πολιτικές και μελλοντικές πρωτοβουλίες που εφάρμοσε η επιχείρηση για τη στήριξη μιας βιώσιμης οικονομίας. Περιλαμβάνει τα συγκεκριμένα μέτρα που έλαβε για τη μείωση των αρνητικών περιβαλλοντικών επιπτώσεων και τη βελτίωση των συνθηκών εργασίας και της ίσης μεταχείρισης (ΝΑΙ/ΟΧΙ).</a:t>
            </a:r>
            <a:br>
              <a:rPr lang="el-GR" sz="1050" noProof="0">
                <a:solidFill>
                  <a:schemeClr val="tx2"/>
                </a:solidFill>
              </a:rPr>
            </a:br>
            <a:endParaRPr lang="el-GR" sz="1050" noProof="0">
              <a:solidFill>
                <a:schemeClr val="tx2"/>
              </a:solidFill>
            </a:endParaRPr>
          </a:p>
        </p:txBody>
      </p:sp>
      <p:sp>
        <p:nvSpPr>
          <p:cNvPr id="17" name="Slide Number Placeholder 5">
            <a:extLst>
              <a:ext uri="{FF2B5EF4-FFF2-40B4-BE49-F238E27FC236}">
                <a16:creationId xmlns:a16="http://schemas.microsoft.com/office/drawing/2014/main" id="{9D599EAE-DDC4-5624-F234-BCDE014B0531}"/>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el-GR" noProof="0" smtClean="0"/>
              <a:pPr/>
              <a:t>5</a:t>
            </a:fld>
            <a:endParaRPr lang="el-GR" noProof="0"/>
          </a:p>
        </p:txBody>
      </p:sp>
    </p:spTree>
    <p:extLst>
      <p:ext uri="{BB962C8B-B14F-4D97-AF65-F5344CB8AC3E}">
        <p14:creationId xmlns:p14="http://schemas.microsoft.com/office/powerpoint/2010/main" val="20009755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Κατανάλωση ενέργειας (B3)</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21529703"/>
              </p:ext>
            </p:extLst>
          </p:nvPr>
        </p:nvGraphicFramePr>
        <p:xfrm>
          <a:off x="443369" y="1359604"/>
          <a:ext cx="9803131" cy="1687508"/>
        </p:xfrm>
        <a:graphic>
          <a:graphicData uri="http://schemas.openxmlformats.org/drawingml/2006/table">
            <a:tbl>
              <a:tblPr firstRow="1">
                <a:tableStyleId>{2A488322-F2BA-4B5B-9748-0D474271808F}</a:tableStyleId>
              </a:tblPr>
              <a:tblGrid>
                <a:gridCol w="2660545">
                  <a:extLst>
                    <a:ext uri="{9D8B030D-6E8A-4147-A177-3AD203B41FA5}">
                      <a16:colId xmlns:a16="http://schemas.microsoft.com/office/drawing/2014/main" val="2698153288"/>
                    </a:ext>
                  </a:extLst>
                </a:gridCol>
                <a:gridCol w="2469635">
                  <a:extLst>
                    <a:ext uri="{9D8B030D-6E8A-4147-A177-3AD203B41FA5}">
                      <a16:colId xmlns:a16="http://schemas.microsoft.com/office/drawing/2014/main" val="1451447067"/>
                    </a:ext>
                  </a:extLst>
                </a:gridCol>
                <a:gridCol w="2604428">
                  <a:extLst>
                    <a:ext uri="{9D8B030D-6E8A-4147-A177-3AD203B41FA5}">
                      <a16:colId xmlns:a16="http://schemas.microsoft.com/office/drawing/2014/main" val="2943870936"/>
                    </a:ext>
                  </a:extLst>
                </a:gridCol>
                <a:gridCol w="2068523">
                  <a:extLst>
                    <a:ext uri="{9D8B030D-6E8A-4147-A177-3AD203B41FA5}">
                      <a16:colId xmlns:a16="http://schemas.microsoft.com/office/drawing/2014/main" val="656209149"/>
                    </a:ext>
                  </a:extLst>
                </a:gridCol>
              </a:tblGrid>
              <a:tr h="218608">
                <a:tc gridSpan="4">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l-GR" sz="1050" b="1" noProof="0">
                          <a:solidFill>
                            <a:schemeClr val="tx2"/>
                          </a:solidFill>
                        </a:rPr>
                        <a:t xml:space="preserve">Κατανάλωση ενέργειας σε MWh </a:t>
                      </a:r>
                      <a:r>
                        <a:rPr lang="el-GR" sz="1050" b="0" noProof="0">
                          <a:solidFill>
                            <a:schemeClr val="tx2"/>
                          </a:solidFill>
                        </a:rPr>
                        <a:t xml:space="preserve">(παρ. 32)</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endParaRPr lang="el-GR" sz="775" b="1" noProof="0">
                        <a:solidFill>
                          <a:schemeClr val="accent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38440226"/>
                  </a:ext>
                </a:extLst>
              </a:tr>
              <a:tr h="347564">
                <a:tc>
                  <a:txBody>
                    <a:bodyPr/>
                    <a:lstStyle/>
                    <a:p>
                      <a:pPr>
                        <a:lnSpc>
                          <a:spcPct val="106000"/>
                        </a:lnSpc>
                      </a:pPr>
                      <a:endParaRPr lang="el-GR"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el-GR" sz="1050" b="1" noProof="0">
                          <a:solidFill>
                            <a:schemeClr val="tx2"/>
                          </a:solidFill>
                        </a:rPr>
                        <a:t xml:space="preserve">Ανανεώσιμη κατανάλωση</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el-GR" sz="1050" b="1" noProof="0">
                          <a:solidFill>
                            <a:schemeClr val="tx2"/>
                          </a:solidFill>
                        </a:rPr>
                        <a:t xml:space="preserve">Μη ανανεώσιμη κατανάλωση</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l-GR" sz="1050" b="1" noProof="0">
                          <a:solidFill>
                            <a:schemeClr val="tx2"/>
                          </a:solidFill>
                        </a:rPr>
                        <a:t xml:space="preserve">Συνολική κατανάλωση (MWh)</a:t>
                      </a:r>
                    </a:p>
                    <a:p>
                      <a:pPr marL="0" marR="0" lvl="0" indent="0" algn="ctr" defTabSz="914400" rtl="0" eaLnBrk="1" fontAlgn="auto" latinLnBrk="0" hangingPunct="1">
                        <a:lnSpc>
                          <a:spcPct val="106000"/>
                        </a:lnSpc>
                        <a:spcBef>
                          <a:spcPts val="0"/>
                        </a:spcBef>
                        <a:spcAft>
                          <a:spcPts val="0"/>
                        </a:spcAft>
                        <a:buClrTx/>
                        <a:buSzTx/>
                        <a:buFontTx/>
                        <a:buNone/>
                        <a:tabLst/>
                        <a:defRPr/>
                      </a:pPr>
                      <a:r>
                        <a:rPr lang="el-GR" sz="1050" b="1" noProof="0">
                          <a:solidFill>
                            <a:schemeClr val="accent2"/>
                          </a:solidFill>
                        </a:rPr>
                        <a:t>{{</a:t>
                      </a:r>
                      <a:r>
                        <a:rPr lang="el-GR" sz="1050" b="1" noProof="0">
                          <a:solidFill>
                            <a:schemeClr val="accent2"/>
                          </a:solidFill>
                        </a:rPr>
                        <a:t>insert_year</a:t>
                      </a:r>
                      <a:r>
                        <a:rPr lang="el-GR" sz="1050" b="1" noProof="0">
                          <a:solidFill>
                            <a:schemeClr val="accent2"/>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47564">
                <a:tc>
                  <a:txBody>
                    <a:bodyPr/>
                    <a:lstStyle/>
                    <a:p>
                      <a:pPr>
                        <a:lnSpc>
                          <a:spcPct val="106000"/>
                        </a:lnSpc>
                      </a:pPr>
                      <a:r>
                        <a:rPr lang="el-GR" sz="1050" b="1" noProof="0">
                          <a:solidFill>
                            <a:schemeClr val="tx2"/>
                          </a:solidFill>
                        </a:rPr>
                        <a:t xml:space="preserve">Ηλεκτρική ενέργεια </a:t>
                      </a:r>
                      <a:r>
                        <a:rPr lang="el-GR" sz="1050" b="0" noProof="0">
                          <a:solidFill>
                            <a:schemeClr val="tx2"/>
                          </a:solidFill>
                        </a:rPr>
                        <a:t xml:space="preserve">(όπως προκύπτει από τους λογαριασμούς παροχών)</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1050" b="0" i="0" u="none" strike="noStrike" noProof="0">
                          <a:solidFill>
                            <a:srgbClr val="2D55FF"/>
                          </a:solidFill>
                          <a:effectLst/>
                          <a:latin typeface="IBM Plex Sans" panose="020B0503050203000203" pitchFamily="34" charset="0"/>
                        </a:rPr>
                        <a:t>{{</a:t>
                      </a:r>
                      <a:r>
                        <a:rPr lang="el-GR" sz="1050" b="0" i="0" u="none" strike="noStrike" noProof="0">
                          <a:solidFill>
                            <a:srgbClr val="2D55FF"/>
                          </a:solidFill>
                          <a:effectLst/>
                          <a:latin typeface="IBM Plex Sans" panose="020B0503050203000203" pitchFamily="34" charset="0"/>
                        </a:rPr>
                        <a:t>electricity_renewable</a:t>
                      </a:r>
                      <a:r>
                        <a:rPr lang="el-GR" sz="1050" b="0" i="0" u="none" strike="noStrike" noProof="0">
                          <a:solidFill>
                            <a:srgbClr val="2D55FF"/>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l-GR" sz="1050" b="0" i="0" u="none" strike="noStrike" noProof="0">
                          <a:solidFill>
                            <a:srgbClr val="2D55FF"/>
                          </a:solidFill>
                          <a:effectLst/>
                          <a:latin typeface="IBM Plex Sans" panose="020B0503050203000203" pitchFamily="34" charset="0"/>
                        </a:rPr>
                        <a:t>{{</a:t>
                      </a:r>
                      <a:r>
                        <a:rPr lang="el-GR" sz="1050" b="0" i="0" u="none" strike="noStrike" noProof="0">
                          <a:solidFill>
                            <a:srgbClr val="2D55FF"/>
                          </a:solidFill>
                          <a:effectLst/>
                          <a:latin typeface="IBM Plex Sans" panose="020B0503050203000203" pitchFamily="34" charset="0"/>
                        </a:rPr>
                        <a:t>electricity_non_rewenable</a:t>
                      </a:r>
                      <a:r>
                        <a:rPr lang="el-GR" sz="1050" b="0" i="0" u="none" strike="noStrike" noProof="0">
                          <a:solidFill>
                            <a:srgbClr val="2D55FF"/>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l-GR" sz="1050" b="0" i="0" u="none" strike="noStrike" noProof="0">
                          <a:solidFill>
                            <a:srgbClr val="2D55FF"/>
                          </a:solidFill>
                          <a:effectLst/>
                          <a:latin typeface="IBM Plex Sans" panose="020B0503050203000203" pitchFamily="34" charset="0"/>
                        </a:rPr>
                        <a:t>{{</a:t>
                      </a:r>
                      <a:r>
                        <a:rPr lang="el-GR" sz="1050" b="0" i="0" u="none" strike="noStrike" noProof="0">
                          <a:solidFill>
                            <a:srgbClr val="2D55FF"/>
                          </a:solidFill>
                          <a:effectLst/>
                          <a:latin typeface="IBM Plex Sans" panose="020B0503050203000203" pitchFamily="34" charset="0"/>
                        </a:rPr>
                        <a:t>total_electricity</a:t>
                      </a:r>
                      <a:r>
                        <a:rPr lang="el-GR" sz="1050" b="0" i="0" u="none" strike="noStrike" noProof="0">
                          <a:solidFill>
                            <a:srgbClr val="2D55FF"/>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18608">
                <a:tc>
                  <a:txBody>
                    <a:bodyPr/>
                    <a:lstStyle/>
                    <a:p>
                      <a:pPr>
                        <a:lnSpc>
                          <a:spcPct val="106000"/>
                        </a:lnSpc>
                      </a:pPr>
                      <a:r>
                        <a:rPr lang="el-GR" sz="1050" b="1" noProof="0">
                          <a:solidFill>
                            <a:schemeClr val="tx2"/>
                          </a:solidFill>
                        </a:rPr>
                        <a:t xml:space="preserve">Καύσιμα</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1050" b="0" i="0" u="none" strike="noStrike" noProof="0">
                          <a:solidFill>
                            <a:srgbClr val="2D55FF"/>
                          </a:solidFill>
                          <a:effectLst/>
                          <a:latin typeface="IBM Plex Sans" panose="020B0503050203000203" pitchFamily="34" charset="0"/>
                        </a:rPr>
                        <a:t>{{</a:t>
                      </a:r>
                      <a:r>
                        <a:rPr lang="el-GR" sz="1050" b="0" i="0" u="none" strike="noStrike" noProof="0">
                          <a:solidFill>
                            <a:srgbClr val="2D55FF"/>
                          </a:solidFill>
                          <a:effectLst/>
                          <a:latin typeface="IBM Plex Sans" panose="020B0503050203000203" pitchFamily="34" charset="0"/>
                        </a:rPr>
                        <a:t>fuel_renewable</a:t>
                      </a:r>
                      <a:r>
                        <a:rPr lang="el-GR" sz="1050" b="0" i="0" u="none" strike="noStrike" noProof="0">
                          <a:solidFill>
                            <a:srgbClr val="2D55FF"/>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l-GR" sz="1050" b="0" i="0" u="none" strike="noStrike" noProof="0">
                          <a:solidFill>
                            <a:srgbClr val="2D55FF"/>
                          </a:solidFill>
                          <a:effectLst/>
                          <a:latin typeface="IBM Plex Sans" panose="020B0503050203000203" pitchFamily="34" charset="0"/>
                        </a:rPr>
                        <a:t>{{</a:t>
                      </a:r>
                      <a:r>
                        <a:rPr lang="el-GR" sz="1050" b="0" i="0" u="none" strike="noStrike" noProof="0">
                          <a:solidFill>
                            <a:srgbClr val="2D55FF"/>
                          </a:solidFill>
                          <a:effectLst/>
                          <a:latin typeface="IBM Plex Sans" panose="020B0503050203000203" pitchFamily="34" charset="0"/>
                        </a:rPr>
                        <a:t>fuel_non_rewenable</a:t>
                      </a:r>
                      <a:r>
                        <a:rPr lang="el-GR" sz="1050" b="0" i="0" u="none" strike="noStrike" noProof="0">
                          <a:solidFill>
                            <a:srgbClr val="2D55FF"/>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l-GR" sz="1050" b="0" i="0" u="none" strike="noStrike" noProof="0">
                          <a:solidFill>
                            <a:srgbClr val="2D55FF"/>
                          </a:solidFill>
                          <a:effectLst/>
                          <a:latin typeface="IBM Plex Sans" panose="020B0503050203000203" pitchFamily="34" charset="0"/>
                        </a:rPr>
                        <a:t>{{</a:t>
                      </a:r>
                      <a:r>
                        <a:rPr lang="el-GR" sz="1050" b="0" i="0" u="none" strike="noStrike" noProof="0">
                          <a:solidFill>
                            <a:srgbClr val="2D55FF"/>
                          </a:solidFill>
                          <a:effectLst/>
                          <a:latin typeface="IBM Plex Sans" panose="020B0503050203000203" pitchFamily="34" charset="0"/>
                        </a:rPr>
                        <a:t>total_fuel</a:t>
                      </a:r>
                      <a:r>
                        <a:rPr lang="el-GR" sz="1050" b="0" i="0" u="none" strike="noStrike" noProof="0">
                          <a:solidFill>
                            <a:srgbClr val="2D55FF"/>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228766998"/>
                  </a:ext>
                </a:extLst>
              </a:tr>
              <a:tr h="218608">
                <a:tc>
                  <a:txBody>
                    <a:bodyPr/>
                    <a:lstStyle/>
                    <a:p>
                      <a:pPr>
                        <a:lnSpc>
                          <a:spcPct val="106000"/>
                        </a:lnSpc>
                      </a:pPr>
                      <a:r>
                        <a:rPr lang="el-GR" sz="1050" b="1" noProof="0">
                          <a:solidFill>
                            <a:schemeClr val="tx2"/>
                          </a:solidFill>
                        </a:rPr>
                        <a:t xml:space="preserve">Άλλο (π.χ. τηλεθέρμανση)</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1050" b="0" i="0" u="none" strike="noStrike" noProof="0">
                          <a:solidFill>
                            <a:srgbClr val="2D55FF"/>
                          </a:solidFill>
                          <a:effectLst/>
                          <a:latin typeface="IBM Plex Sans" panose="020B0503050203000203" pitchFamily="34" charset="0"/>
                        </a:rPr>
                        <a:t>{{</a:t>
                      </a:r>
                      <a:r>
                        <a:rPr lang="el-GR" sz="1050" b="0" i="0" u="none" strike="noStrike" noProof="0">
                          <a:solidFill>
                            <a:srgbClr val="2D55FF"/>
                          </a:solidFill>
                          <a:effectLst/>
                          <a:latin typeface="IBM Plex Sans" panose="020B0503050203000203" pitchFamily="34" charset="0"/>
                        </a:rPr>
                        <a:t>district_heating_rewenable</a:t>
                      </a:r>
                      <a:r>
                        <a:rPr lang="el-GR" sz="1050" b="0" i="0" u="none" strike="noStrike" noProof="0">
                          <a:solidFill>
                            <a:srgbClr val="2D55FF"/>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l-GR" sz="1050" b="0" i="0" u="none" strike="noStrike" noProof="0">
                          <a:solidFill>
                            <a:srgbClr val="2D55FF"/>
                          </a:solidFill>
                          <a:effectLst/>
                          <a:latin typeface="IBM Plex Sans" panose="020B0503050203000203" pitchFamily="34" charset="0"/>
                        </a:rPr>
                        <a:t>{{</a:t>
                      </a:r>
                      <a:r>
                        <a:rPr lang="el-GR" sz="1050" b="0" i="0" u="none" strike="noStrike" noProof="0">
                          <a:solidFill>
                            <a:srgbClr val="2D55FF"/>
                          </a:solidFill>
                          <a:effectLst/>
                          <a:latin typeface="IBM Plex Sans" panose="020B0503050203000203" pitchFamily="34" charset="0"/>
                        </a:rPr>
                        <a:t>district_heating_non_rewenable</a:t>
                      </a:r>
                      <a:r>
                        <a:rPr lang="el-GR" sz="1050" b="0" i="0" u="none" strike="noStrike" noProof="0">
                          <a:solidFill>
                            <a:srgbClr val="2D55FF"/>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l-GR" sz="1050" b="0" i="0" u="none" strike="noStrike" noProof="0">
                          <a:solidFill>
                            <a:srgbClr val="2D55FF"/>
                          </a:solidFill>
                          <a:effectLst/>
                          <a:latin typeface="IBM Plex Sans" panose="020B0503050203000203" pitchFamily="34" charset="0"/>
                        </a:rPr>
                        <a:t>{{</a:t>
                      </a:r>
                      <a:r>
                        <a:rPr lang="el-GR" sz="1050" b="0" i="0" u="none" strike="noStrike" noProof="0">
                          <a:solidFill>
                            <a:srgbClr val="2D55FF"/>
                          </a:solidFill>
                          <a:effectLst/>
                          <a:latin typeface="IBM Plex Sans" panose="020B0503050203000203" pitchFamily="34" charset="0"/>
                        </a:rPr>
                        <a:t>total_district_heating</a:t>
                      </a:r>
                      <a:r>
                        <a:rPr lang="el-GR" sz="1050" b="0" i="0" u="none" strike="noStrike" noProof="0">
                          <a:solidFill>
                            <a:srgbClr val="2D55FF"/>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62237485"/>
                  </a:ext>
                </a:extLst>
              </a:tr>
              <a:tr h="218608">
                <a:tc>
                  <a:txBody>
                    <a:bodyPr/>
                    <a:lstStyle/>
                    <a:p>
                      <a:pPr>
                        <a:lnSpc>
                          <a:spcPct val="106000"/>
                        </a:lnSpc>
                      </a:pPr>
                      <a:r>
                        <a:rPr lang="el-GR" sz="1050" b="1" noProof="0">
                          <a:solidFill>
                            <a:schemeClr val="tx2"/>
                          </a:solidFill>
                        </a:rPr>
                        <a:t xml:space="preserve">Σύνολο</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1050" b="0" i="0" u="none" strike="noStrike" noProof="0">
                          <a:solidFill>
                            <a:srgbClr val="2D55FF"/>
                          </a:solidFill>
                          <a:effectLst/>
                          <a:latin typeface="IBM Plex Sans" panose="020B0503050203000203" pitchFamily="34" charset="0"/>
                        </a:rPr>
                        <a:t>{{</a:t>
                      </a:r>
                      <a:r>
                        <a:rPr lang="el-GR" sz="1050" b="0" i="0" u="none" strike="noStrike" noProof="0">
                          <a:solidFill>
                            <a:srgbClr val="2D55FF"/>
                          </a:solidFill>
                          <a:effectLst/>
                          <a:latin typeface="IBM Plex Sans" panose="020B0503050203000203" pitchFamily="34" charset="0"/>
                        </a:rPr>
                        <a:t>renewable_energy_total</a:t>
                      </a:r>
                      <a:r>
                        <a:rPr lang="el-GR" sz="1050" b="0" i="0" u="none" strike="noStrike" noProof="0">
                          <a:solidFill>
                            <a:srgbClr val="2D55FF"/>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l-GR" sz="1050" b="0" i="0" u="none" strike="noStrike" noProof="0">
                          <a:solidFill>
                            <a:srgbClr val="2D55FF"/>
                          </a:solidFill>
                          <a:effectLst/>
                          <a:latin typeface="IBM Plex Sans" panose="020B0503050203000203" pitchFamily="34" charset="0"/>
                        </a:rPr>
                        <a:t>{{</a:t>
                      </a:r>
                      <a:r>
                        <a:rPr lang="el-GR" sz="1050" b="0" i="0" u="none" strike="noStrike" noProof="0">
                          <a:solidFill>
                            <a:srgbClr val="2D55FF"/>
                          </a:solidFill>
                          <a:effectLst/>
                          <a:latin typeface="IBM Plex Sans" panose="020B0503050203000203" pitchFamily="34" charset="0"/>
                        </a:rPr>
                        <a:t>non_rewenable_energy_total</a:t>
                      </a:r>
                      <a:r>
                        <a:rPr lang="el-GR" sz="1050" b="0" i="0" u="none" strike="noStrike" noProof="0">
                          <a:solidFill>
                            <a:srgbClr val="2D55FF"/>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l-GR" sz="1050" b="0" i="0" u="none" strike="noStrike" noProof="0">
                          <a:solidFill>
                            <a:srgbClr val="2D55FF"/>
                          </a:solidFill>
                          <a:effectLst/>
                          <a:latin typeface="IBM Plex Sans" panose="020B0503050203000203" pitchFamily="34" charset="0"/>
                        </a:rPr>
                        <a:t>{{</a:t>
                      </a:r>
                      <a:r>
                        <a:rPr lang="el-GR" sz="1050" b="0" i="0" u="none" strike="noStrike" noProof="0">
                          <a:solidFill>
                            <a:srgbClr val="2D55FF"/>
                          </a:solidFill>
                          <a:effectLst/>
                          <a:latin typeface="IBM Plex Sans" panose="020B0503050203000203" pitchFamily="34" charset="0"/>
                        </a:rPr>
                        <a:t>total_energy_consumption</a:t>
                      </a:r>
                      <a:r>
                        <a:rPr lang="el-GR" sz="1050" b="0" i="0" u="none" strike="noStrike" noProof="0">
                          <a:solidFill>
                            <a:srgbClr val="2D55FF"/>
                          </a:solidFill>
                          <a:effectLst/>
                          <a:latin typeface="IBM Plex Sans" panose="020B0503050203000203" pitchFamily="34" charset="0"/>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855206388"/>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6</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br>
              <a:rPr lang="el-GR" noProof="0"/>
            </a:br>
            <a:endParaRPr lang="el-GR" noProof="0"/>
          </a:p>
        </p:txBody>
      </p:sp>
      <p:sp>
        <p:nvSpPr>
          <p:cNvPr id="12" name="Tekstfelt 11">
            <a:extLst>
              <a:ext uri="{FF2B5EF4-FFF2-40B4-BE49-F238E27FC236}">
                <a16:creationId xmlns:a16="http://schemas.microsoft.com/office/drawing/2014/main" id="{4EDC705C-923B-3F7B-2016-F3C31DC2828B}"/>
              </a:ext>
            </a:extLst>
          </p:cNvPr>
          <p:cNvSpPr txBox="1"/>
          <p:nvPr/>
        </p:nvSpPr>
        <p:spPr>
          <a:xfrm>
            <a:off x="443369" y="898217"/>
            <a:ext cx="9803131" cy="3616799"/>
          </a:xfrm>
          <a:prstGeom prst="rect">
            <a:avLst/>
          </a:prstGeom>
          <a:noFill/>
        </p:spPr>
        <p:txBody>
          <a:bodyPr wrap="square" lIns="80190" tIns="40095" rIns="80190" bIns="40095" anchor="t">
            <a:spAutoFit/>
          </a:bodyPr>
          <a:lstStyle/>
          <a:p>
            <a:r>
              <a:rPr lang="el-GR" sz="1050" b="0" i="0" u="none" strike="noStrike" noProof="0">
                <a:solidFill>
                  <a:schemeClr val="tx2"/>
                </a:solidFill>
                <a:effectLst/>
                <a:latin typeface="Inter"/>
              </a:rPr>
              <a:t xml:space="preserve">Η ενότητα αυτή αναφέρει τις εκπομπές CO2 από την κατανάλωση ενέργειας, με διάκριση ανανεώσιμης και μη ανανεώσιμης κατανάλωσης. </a:t>
            </a:r>
            <a:r>
              <a:rPr lang="el-GR" sz="1050" noProof="0">
                <a:solidFill>
                  <a:schemeClr val="tx2"/>
                </a:solidFill>
                <a:latin typeface="Inter"/>
              </a:rPr>
              <a:t xml:space="preserve">Οι εκπομπές αναφέρονται βάσει </a:t>
            </a:r>
            <a:r>
              <a:rPr lang="el-GR" sz="1050" b="0" i="0" u="none" strike="noStrike" noProof="0">
                <a:solidFill>
                  <a:schemeClr val="tx2"/>
                </a:solidFill>
                <a:effectLst/>
                <a:latin typeface="Inter"/>
              </a:rPr>
              <a:t xml:space="preserve">των ορισμών του Πρωτοκόλλου GHG για τις άμεσες και έμμεσες εκπομπές. </a:t>
            </a:r>
            <a:br>
              <a:rPr lang="el-GR" sz="1050" b="0" i="0" u="none" strike="noStrike" noProof="0" dirty="0">
                <a:effectLst/>
                <a:latin typeface="Inter"/>
              </a:rPr>
            </a:br>
            <a:br>
              <a:rPr lang="el-GR" sz="1050" dirty="0">
                <a:latin typeface="Inter"/>
              </a:rPr>
            </a:br>
            <a:r>
              <a:rPr lang="el-GR" sz="700" b="0" i="0" u="none" strike="noStrike" noProof="0">
                <a:solidFill>
                  <a:schemeClr val="tx2"/>
                </a:solidFill>
                <a:effectLst/>
                <a:latin typeface="Inter"/>
              </a:rPr>
              <a:t> </a:t>
            </a:r>
            <a:endParaRPr lang="el-GR" sz="1050" b="0" i="0" u="none" strike="noStrike" noProof="0" dirty="0">
              <a:solidFill>
                <a:schemeClr val="tx2"/>
              </a:solidFill>
              <a:effectLst/>
              <a:latin typeface="Inter"/>
            </a:endParaRPr>
          </a:p>
          <a:p>
            <a:pPr rtl="0">
              <a:buNone/>
            </a:pPr>
            <a:endParaRPr lang="el-GR" sz="1050" b="0" noProof="0">
              <a:solidFill>
                <a:schemeClr val="tx2"/>
              </a:solidFill>
              <a:effectLst/>
              <a:latin typeface="Inter"/>
            </a:endParaRPr>
          </a:p>
          <a:p>
            <a:pPr>
              <a:buNone/>
            </a:pPr>
            <a:endParaRPr lang="el-GR" b="0" noProof="0">
              <a:solidFill>
                <a:schemeClr val="tx2"/>
              </a:solidFill>
              <a:effectLst/>
              <a:latin typeface="Inter"/>
            </a:endParaRPr>
          </a:p>
          <a:p>
            <a:pPr>
              <a:buNone/>
            </a:pPr>
            <a:endParaRPr lang="el-GR" sz="1400" noProof="0">
              <a:solidFill>
                <a:schemeClr val="tx2"/>
              </a:solidFill>
              <a:latin typeface="Inter"/>
            </a:endParaRPr>
          </a:p>
          <a:p>
            <a:pPr>
              <a:buNone/>
            </a:pPr>
            <a:endParaRPr lang="el-GR" sz="1400" b="0" noProof="0">
              <a:solidFill>
                <a:schemeClr val="tx2"/>
              </a:solidFill>
              <a:effectLst/>
              <a:latin typeface="Inter"/>
            </a:endParaRPr>
          </a:p>
          <a:p>
            <a:pPr>
              <a:buNone/>
            </a:pPr>
            <a:endParaRPr lang="el-GR" sz="1400" noProof="0">
              <a:solidFill>
                <a:schemeClr val="tx2"/>
              </a:solidFill>
              <a:latin typeface="Inter"/>
            </a:endParaRPr>
          </a:p>
          <a:p>
            <a:pPr>
              <a:buNone/>
            </a:pPr>
            <a:endParaRPr lang="el-GR" sz="1400" b="0" noProof="0">
              <a:solidFill>
                <a:schemeClr val="tx2"/>
              </a:solidFill>
              <a:effectLst/>
              <a:latin typeface="Inter"/>
            </a:endParaRPr>
          </a:p>
          <a:p>
            <a:endParaRPr lang="el-GR" sz="1400" b="1">
              <a:latin typeface="+mj-lt"/>
            </a:endParaRPr>
          </a:p>
          <a:p>
            <a:endParaRPr lang="el-GR" sz="1400" b="1">
              <a:latin typeface="+mj-lt"/>
            </a:endParaRPr>
          </a:p>
          <a:p>
            <a:br>
              <a:rPr lang="el-GR" b="1" dirty="0">
                <a:latin typeface="+mj-lt"/>
              </a:rPr>
            </a:br>
            <a:r>
              <a:rPr lang="el-GR" b="1" i="0" u="none" strike="noStrike" noProof="0">
                <a:solidFill>
                  <a:schemeClr val="tx2"/>
                </a:solidFill>
                <a:effectLst/>
                <a:latin typeface="+mj-lt"/>
              </a:rPr>
              <a:t xml:space="preserve">Εκπομπές CO₂e (B3)</a:t>
            </a:r>
            <a:endParaRPr lang="el-GR" noProof="0">
              <a:solidFill>
                <a:schemeClr val="tx2"/>
              </a:solidFill>
              <a:effectLst/>
              <a:latin typeface="+mj-lt"/>
            </a:endParaRPr>
          </a:p>
          <a:p>
            <a:r>
              <a:rPr lang="el-GR" sz="700">
                <a:latin typeface="Inter"/>
              </a:rPr>
              <a:t> </a:t>
            </a:r>
            <a:br>
              <a:rPr lang="el-GR" sz="1050" dirty="0">
                <a:solidFill>
                  <a:schemeClr val="tx2"/>
                </a:solidFill>
                <a:latin typeface="Inter"/>
              </a:rPr>
            </a:br>
            <a:r>
              <a:rPr lang="el-GR" sz="1050" b="0" i="0" u="none" strike="noStrike" noProof="0">
                <a:solidFill>
                  <a:schemeClr val="tx2"/>
                </a:solidFill>
                <a:effectLst/>
                <a:latin typeface="Inter"/>
              </a:rPr>
              <a:t xml:space="preserve">Η παρ. 33 περιέχει στοιχεία για τις εκπομπές αερίων του θερμοκηπίου της επιχείρησης, βάσει των εκπομπών Scope 1 και Scope 2. Το Scope 1 αφορά τις άμεσες εκπομπές από πηγές που η επιχείρηση κατέχει ή ελέγχει άμεσα, π.χ. καύση καυσίμου σε εταιρικά οχήματα, θέρμανση κτιρίων με φυσικό αέριο, καθώς και εκπομπές από βιομηχανικές διεργασίες και διαρροές σε συστήματα όπως η ψύξη.</a:t>
            </a:r>
            <a:r>
              <a:rPr lang="el-GR" sz="1050" noProof="0">
                <a:solidFill>
                  <a:schemeClr val="tx2"/>
                </a:solidFill>
                <a:latin typeface="Inter"/>
              </a:rPr>
              <a:t> </a:t>
            </a:r>
            <a:r>
              <a:rPr lang="el-GR" sz="1050" b="0" i="0" u="none" strike="noStrike" noProof="0">
                <a:solidFill>
                  <a:schemeClr val="tx2"/>
                </a:solidFill>
                <a:effectLst/>
                <a:latin typeface="Inter"/>
              </a:rPr>
              <a:t xml:space="preserve">Το Scope 2</a:t>
            </a:r>
            <a:r>
              <a:rPr lang="el-GR" sz="1050" noProof="0">
                <a:solidFill>
                  <a:schemeClr val="tx2"/>
                </a:solidFill>
                <a:latin typeface="Inter"/>
              </a:rPr>
              <a:t xml:space="preserve"> αφορά τις έ</a:t>
            </a:r>
            <a:r>
              <a:rPr lang="el-GR" sz="1050" b="0" i="0" u="none" strike="noStrike" noProof="0">
                <a:solidFill>
                  <a:schemeClr val="tx2"/>
                </a:solidFill>
                <a:effectLst/>
                <a:latin typeface="Inter"/>
              </a:rPr>
              <a:t xml:space="preserve">μμεσες εκπομπές από αγορασθείσα ηλεκτρική ενέργεια, δηλ. εκπομπές από την παραγωγή ηλεκτρικής ενέργειας, ατμού, θερμότητας ή ψύξης που αγοράζει και χρησιμοποιεί η επιχείρηση. Παρότι προέρχονται από τους παραγωγούς ενέργειας, αποδίδονται στην επιχείρηση, καθώς αυτή καταναλώνει την ενέργεια.</a:t>
            </a:r>
            <a:endParaRPr lang="el-GR" sz="1050" b="0" noProof="0">
              <a:solidFill>
                <a:schemeClr val="tx2"/>
              </a:solidFill>
              <a:effectLst/>
              <a:latin typeface="Inter"/>
            </a:endParaRPr>
          </a:p>
        </p:txBody>
      </p:sp>
      <p:graphicFrame>
        <p:nvGraphicFramePr>
          <p:cNvPr id="15" name="Table 18">
            <a:extLst>
              <a:ext uri="{FF2B5EF4-FFF2-40B4-BE49-F238E27FC236}">
                <a16:creationId xmlns:a16="http://schemas.microsoft.com/office/drawing/2014/main" id="{550C2B5F-F365-2A58-DF02-C096E906DD7B}"/>
              </a:ext>
            </a:extLst>
          </p:cNvPr>
          <p:cNvGraphicFramePr>
            <a:graphicFrameLocks noGrp="1"/>
          </p:cNvGraphicFramePr>
          <p:nvPr>
            <p:extLst>
              <p:ext uri="{D42A27DB-BD31-4B8C-83A1-F6EECF244321}">
                <p14:modId xmlns:p14="http://schemas.microsoft.com/office/powerpoint/2010/main" val="4106924491"/>
              </p:ext>
            </p:extLst>
          </p:nvPr>
        </p:nvGraphicFramePr>
        <p:xfrm>
          <a:off x="445491" y="5125324"/>
          <a:ext cx="9801009" cy="950929"/>
        </p:xfrm>
        <a:graphic>
          <a:graphicData uri="http://schemas.openxmlformats.org/drawingml/2006/table">
            <a:tbl>
              <a:tblPr firstRow="1">
                <a:tableStyleId>{2A488322-F2BA-4B5B-9748-0D474271808F}</a:tableStyleId>
              </a:tblPr>
              <a:tblGrid>
                <a:gridCol w="7759816">
                  <a:extLst>
                    <a:ext uri="{9D8B030D-6E8A-4147-A177-3AD203B41FA5}">
                      <a16:colId xmlns:a16="http://schemas.microsoft.com/office/drawing/2014/main" val="2698153288"/>
                    </a:ext>
                  </a:extLst>
                </a:gridCol>
                <a:gridCol w="2041192">
                  <a:extLst>
                    <a:ext uri="{9D8B030D-6E8A-4147-A177-3AD203B41FA5}">
                      <a16:colId xmlns:a16="http://schemas.microsoft.com/office/drawing/2014/main" val="656209149"/>
                    </a:ext>
                  </a:extLst>
                </a:gridCol>
              </a:tblGrid>
              <a:tr h="238485">
                <a:tc>
                  <a:txBody>
                    <a:bodyPr/>
                    <a:lstStyle/>
                    <a:p>
                      <a:pPr>
                        <a:lnSpc>
                          <a:spcPct val="106000"/>
                        </a:lnSpc>
                      </a:pPr>
                      <a:r>
                        <a:rPr lang="el-GR" sz="1050" b="1" noProof="0">
                          <a:solidFill>
                            <a:schemeClr val="tx2"/>
                          </a:solidFill>
                        </a:rPr>
                        <a:t xml:space="preserve">Εκπομπές αερίων του θερμοκηπίου </a:t>
                      </a:r>
                      <a:r>
                        <a:rPr lang="el-GR" sz="1050" b="0" noProof="0">
                          <a:solidFill>
                            <a:schemeClr val="tx2"/>
                          </a:solidFill>
                        </a:rPr>
                        <a:t xml:space="preserve">(παρ. 33)</a:t>
                      </a:r>
                      <a:endParaRPr lang="el-GR"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l-GR" sz="1050" b="1" noProof="0">
                          <a:solidFill>
                            <a:schemeClr val="tx2"/>
                          </a:solidFill>
                        </a:rPr>
                        <a:t xml:space="preserve">Έτος </a:t>
                      </a:r>
                      <a:r>
                        <a:rPr lang="el-GR" sz="1050" b="1" noProof="0">
                          <a:solidFill>
                            <a:schemeClr val="accent2"/>
                          </a:solidFill>
                          <a:latin typeface="Calibri" panose="020F0502020204030204" pitchFamily="34" charset="0"/>
                          <a:cs typeface="Calibri" panose="020F0502020204030204" pitchFamily="34" charset="0"/>
                        </a:rPr>
                        <a:t>{{</a:t>
                      </a:r>
                      <a:r>
                        <a:rPr lang="el-GR" sz="1050" b="1" noProof="0">
                          <a:solidFill>
                            <a:schemeClr val="accent2"/>
                          </a:solidFill>
                          <a:latin typeface="Calibri" panose="020F0502020204030204" pitchFamily="34" charset="0"/>
                          <a:cs typeface="Calibri" panose="020F0502020204030204" pitchFamily="34" charset="0"/>
                        </a:rPr>
                        <a:t>insert_year</a:t>
                      </a:r>
                      <a:r>
                        <a:rPr lang="el-GR" sz="1050" b="1" noProof="0">
                          <a:solidFill>
                            <a:schemeClr val="accent2"/>
                          </a:solidFill>
                          <a:latin typeface="Calibri" panose="020F0502020204030204" pitchFamily="34" charset="0"/>
                          <a:cs typeface="Calibri" panose="020F0502020204030204" pitchFamily="34" charset="0"/>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7481">
                <a:tc>
                  <a:txBody>
                    <a:bodyPr/>
                    <a:lstStyle/>
                    <a:p>
                      <a:pPr>
                        <a:lnSpc>
                          <a:spcPct val="106000"/>
                        </a:lnSpc>
                      </a:pPr>
                      <a:r>
                        <a:rPr lang="el-GR" sz="1050" b="1" noProof="0">
                          <a:solidFill>
                            <a:schemeClr val="tx2"/>
                          </a:solidFill>
                        </a:rPr>
                        <a:t xml:space="preserve">Εκπομπές CO₂e Scope 1</a:t>
                      </a:r>
                      <a:r>
                        <a:rPr lang="el-GR" sz="1050" b="1" noProof="0">
                          <a:solidFill>
                            <a:schemeClr val="tx2"/>
                          </a:solidFill>
                        </a:rPr>
                        <a:t xml:space="preserve"/>
                      </a:r>
                      <a:r>
                        <a:rPr lang="el-GR" sz="1050" b="1" noProof="0">
                          <a:solidFill>
                            <a:schemeClr val="tx2"/>
                          </a:solidFill>
                        </a:rPr>
                        <a:t xml:space="preserve"/>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1050" b="0" i="0" u="none" strike="noStrike" noProof="0">
                          <a:solidFill>
                            <a:srgbClr val="2D55FF"/>
                          </a:solidFill>
                          <a:effectLst/>
                          <a:latin typeface="Inter"/>
                        </a:rPr>
                        <a:t>{{scope1}}</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37481">
                <a:tc>
                  <a:txBody>
                    <a:bodyPr/>
                    <a:lstStyle/>
                    <a:p>
                      <a:pPr>
                        <a:lnSpc>
                          <a:spcPct val="106000"/>
                        </a:lnSpc>
                      </a:pPr>
                      <a:r>
                        <a:rPr lang="el-GR" sz="1050" b="1" noProof="0">
                          <a:solidFill>
                            <a:schemeClr val="tx2"/>
                          </a:solidFill>
                        </a:rPr>
                        <a:t xml:space="preserve">Εκπομπές CO₂e Scope 2 (βάσει τοποθεσίας) </a:t>
                      </a:r>
                      <a:r>
                        <a:rPr lang="el-GR" sz="1050" b="1" noProof="0">
                          <a:solidFill>
                            <a:schemeClr val="tx2"/>
                          </a:solidFill>
                        </a:rPr>
                        <a:t xml:space="preserve"/>
                      </a:r>
                      <a:r>
                        <a:rPr lang="el-GR" sz="1050" b="1" noProof="0">
                          <a:solidFill>
                            <a:schemeClr val="tx2"/>
                          </a:solidFill>
                        </a:rPr>
                        <a:t xml:space="preserve"/>
                      </a:r>
                      <a:r>
                        <a:rPr lang="el-GR" sz="1050" b="1" noProof="0">
                          <a:solidFill>
                            <a:schemeClr val="tx2"/>
                          </a:solidFill>
                        </a:rPr>
                        <a:t xml:space="preserve"/>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1050" b="0" i="0" u="none" strike="noStrike" noProof="0">
                          <a:solidFill>
                            <a:srgbClr val="2D55FF"/>
                          </a:solidFill>
                          <a:effectLst/>
                          <a:latin typeface="Inter"/>
                        </a:rPr>
                        <a:t>{{scope2}}</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7481">
                <a:tc>
                  <a:txBody>
                    <a:bodyPr/>
                    <a:lstStyle/>
                    <a:p>
                      <a:pPr>
                        <a:lnSpc>
                          <a:spcPct val="106000"/>
                        </a:lnSpc>
                      </a:pPr>
                      <a:r>
                        <a:rPr lang="el-GR" sz="1050" b="1" noProof="0">
                          <a:solidFill>
                            <a:schemeClr val="tx2"/>
                          </a:solidFill>
                        </a:rPr>
                        <a:t xml:space="preserve">Συνολικές εκπομπές CO₂e Scope 1 και 2 </a:t>
                      </a:r>
                      <a:r>
                        <a:rPr lang="el-GR" sz="1050" b="1" noProof="0">
                          <a:solidFill>
                            <a:schemeClr val="tx2"/>
                          </a:solidFill>
                        </a:rPr>
                        <a:t xml:space="preserve"/>
                      </a:r>
                      <a:r>
                        <a:rPr lang="el-GR" sz="1050" b="1" noProof="0">
                          <a:solidFill>
                            <a:schemeClr val="tx2"/>
                          </a:solidFill>
                        </a:rPr>
                        <a:t xml:space="preserve"/>
                      </a:r>
                      <a:r>
                        <a:rPr lang="el-GR" sz="1050" b="1" noProof="0">
                          <a:solidFill>
                            <a:schemeClr val="tx2"/>
                          </a:solidFill>
                        </a:rPr>
                        <a:t xml:space="preserve"/>
                      </a:r>
                      <a:r>
                        <a:rPr lang="el-GR" sz="1050" b="1" noProof="0">
                          <a:solidFill>
                            <a:schemeClr val="tx2"/>
                          </a:solidFill>
                        </a:rPr>
                        <a:t xml:space="preserve"/>
                      </a:r>
                      <a:r>
                        <a:rPr lang="el-GR" sz="1050" b="1" noProof="0">
                          <a:solidFill>
                            <a:schemeClr val="tx2"/>
                          </a:solidFill>
                        </a:rPr>
                        <a:t xml:space="preserve"/>
                      </a:r>
                      <a:r>
                        <a:rPr lang="el-GR" sz="1050" b="1" noProof="0">
                          <a:solidFill>
                            <a:schemeClr val="tx2"/>
                          </a:solidFill>
                        </a:rPr>
                        <a:t xml:space="preserve"/>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1050" b="0" i="0" u="none" strike="noStrike" noProof="0">
                          <a:solidFill>
                            <a:srgbClr val="2D55FF"/>
                          </a:solidFill>
                          <a:effectLst/>
                          <a:latin typeface="Inter"/>
                        </a:rPr>
                        <a:t>{{</a:t>
                      </a:r>
                      <a:r>
                        <a:rPr lang="el-GR" sz="1050" b="0" i="0" u="none" strike="noStrike" noProof="0">
                          <a:solidFill>
                            <a:srgbClr val="2D55FF"/>
                          </a:solidFill>
                          <a:effectLst/>
                          <a:latin typeface="Inter"/>
                        </a:rPr>
                        <a:t>total_scope</a:t>
                      </a:r>
                      <a:r>
                        <a:rPr lang="el-GR" sz="1050" b="0" i="0" u="none" strike="noStrike" noProof="0">
                          <a:solidFill>
                            <a:srgbClr val="2D55FF"/>
                          </a:solidFill>
                          <a:effectLst/>
                          <a:latin typeface="Inter"/>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Tree>
    <p:extLst>
      <p:ext uri="{BB962C8B-B14F-4D97-AF65-F5344CB8AC3E}">
        <p14:creationId xmlns:p14="http://schemas.microsoft.com/office/powerpoint/2010/main" val="29107655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Ρύπανση του αέρα, του νερού και του εδάφους (B4)</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386996641"/>
              </p:ext>
            </p:extLst>
          </p:nvPr>
        </p:nvGraphicFramePr>
        <p:xfrm>
          <a:off x="445498" y="1458651"/>
          <a:ext cx="9784531" cy="701553"/>
        </p:xfrm>
        <a:graphic>
          <a:graphicData uri="http://schemas.openxmlformats.org/drawingml/2006/table">
            <a:tbl>
              <a:tblPr firstRow="1">
                <a:tableStyleId>{2A488322-F2BA-4B5B-9748-0D474271808F}</a:tableStyleId>
              </a:tblPr>
              <a:tblGrid>
                <a:gridCol w="3099832">
                  <a:extLst>
                    <a:ext uri="{9D8B030D-6E8A-4147-A177-3AD203B41FA5}">
                      <a16:colId xmlns:a16="http://schemas.microsoft.com/office/drawing/2014/main" val="2698153288"/>
                    </a:ext>
                  </a:extLst>
                </a:gridCol>
                <a:gridCol w="2988788">
                  <a:extLst>
                    <a:ext uri="{9D8B030D-6E8A-4147-A177-3AD203B41FA5}">
                      <a16:colId xmlns:a16="http://schemas.microsoft.com/office/drawing/2014/main" val="2119413191"/>
                    </a:ext>
                  </a:extLst>
                </a:gridCol>
                <a:gridCol w="3695912">
                  <a:extLst>
                    <a:ext uri="{9D8B030D-6E8A-4147-A177-3AD203B41FA5}">
                      <a16:colId xmlns:a16="http://schemas.microsoft.com/office/drawing/2014/main" val="683090399"/>
                    </a:ext>
                  </a:extLst>
                </a:gridCol>
              </a:tblGrid>
              <a:tr h="245049">
                <a:tc gridSpan="3">
                  <a:txBody>
                    <a:bodyPr/>
                    <a:lstStyle/>
                    <a:p>
                      <a:pPr>
                        <a:lnSpc>
                          <a:spcPct val="106000"/>
                        </a:lnSpc>
                      </a:pPr>
                      <a:r>
                        <a:rPr lang="el-GR" sz="1050" b="1" noProof="0">
                          <a:solidFill>
                            <a:schemeClr val="tx2"/>
                          </a:solidFill>
                        </a:rPr>
                        <a:t xml:space="preserve">Ρύπανση του αέρα, του νερού και του εδάφους </a:t>
                      </a:r>
                      <a:r>
                        <a:rPr lang="el-GR" sz="1050" b="0" noProof="0">
                          <a:solidFill>
                            <a:schemeClr val="tx2"/>
                          </a:solidFill>
                        </a:rPr>
                        <a:t xml:space="preserve">(παρ. 34)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l-GR"/>
                    </a:p>
                  </a:txBody>
                  <a:tcPr/>
                </a:tc>
                <a:extLst>
                  <a:ext uri="{0D108BD9-81ED-4DB2-BD59-A6C34878D82A}">
                    <a16:rowId xmlns:a16="http://schemas.microsoft.com/office/drawing/2014/main" val="625231048"/>
                  </a:ext>
                </a:extLst>
              </a:tr>
              <a:tr h="245049">
                <a:tc>
                  <a:txBody>
                    <a:bodyPr/>
                    <a:lstStyle/>
                    <a:p>
                      <a:pPr marL="0" marR="0" lvl="0" indent="0" algn="l" defTabSz="914400" rtl="0" eaLnBrk="1" fontAlgn="auto" latinLnBrk="0" hangingPunct="1">
                        <a:lnSpc>
                          <a:spcPct val="106000"/>
                        </a:lnSpc>
                        <a:spcBef>
                          <a:spcPts val="0"/>
                        </a:spcBef>
                        <a:spcAft>
                          <a:spcPts val="0"/>
                        </a:spcAft>
                        <a:buClrTx/>
                        <a:buSzTx/>
                        <a:buFontTx/>
                        <a:buNone/>
                        <a:tabLst/>
                        <a:defRPr/>
                      </a:pPr>
                      <a:r>
                        <a:rPr lang="el-GR" sz="1050" b="1" noProof="0">
                          <a:solidFill>
                            <a:schemeClr val="tx2"/>
                          </a:solidFill>
                        </a:rPr>
                        <a:t xml:space="preserve">Τύπος ρύπανσης </a:t>
                      </a:r>
                      <a:r>
                        <a:rPr lang="el-GR" sz="1050" b="0" noProof="0">
                          <a:solidFill>
                            <a:schemeClr val="tx2"/>
                          </a:solidFill>
                        </a:rPr>
                        <a:t xml:space="preserve">(π.χ. ουσία)</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el-GR" sz="1050" b="1" noProof="0">
                          <a:solidFill>
                            <a:schemeClr val="tx2"/>
                          </a:solidFill>
                        </a:rPr>
                        <a:t xml:space="preserve">Πού; </a:t>
                      </a:r>
                      <a:r>
                        <a:rPr lang="el-GR" sz="1050" b="0" noProof="0">
                          <a:solidFill>
                            <a:schemeClr val="tx2"/>
                          </a:solidFill>
                        </a:rPr>
                        <a:t xml:space="preserve">(αέρας, νερό, έδαφος)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el-GR" sz="1050" b="1" noProof="0">
                          <a:solidFill>
                            <a:schemeClr val="tx2"/>
                          </a:solidFill>
                        </a:rPr>
                        <a:t xml:space="preserve">Ποσότητα</a:t>
                      </a:r>
                      <a:endParaRPr lang="el-GR" sz="1050" b="0" noProof="0">
                        <a:solidFill>
                          <a:schemeClr val="accent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11456">
                <a:tc>
                  <a:txBody>
                    <a:bodyPr/>
                    <a:lstStyle/>
                    <a:p>
                      <a:pPr rtl="0" fontAlgn="ctr">
                        <a:buNone/>
                      </a:pPr>
                      <a:r>
                        <a:rPr lang="el-GR" sz="1050" b="0" i="0" u="none" strike="noStrike" noProof="0">
                          <a:solidFill>
                            <a:srgbClr val="2D55FF"/>
                          </a:solidFill>
                          <a:effectLst/>
                          <a:latin typeface="Inter"/>
                        </a:rPr>
                        <a:t>{{type_of_pollution}}</a:t>
                      </a:r>
                      <a:endParaRPr lang="el-G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algn="ctr" rtl="0" fontAlgn="ctr">
                        <a:buNone/>
                      </a:pPr>
                      <a:r>
                        <a:rPr lang="el-GR" sz="1050" b="0" i="0" u="none" strike="noStrike" noProof="0">
                          <a:solidFill>
                            <a:srgbClr val="2D55FF"/>
                          </a:solidFill>
                          <a:effectLst/>
                          <a:latin typeface="Inter"/>
                        </a:rPr>
                        <a:t>{{scope_pollution}}</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el-GR" sz="1050" b="0" i="0" u="none" strike="noStrike" noProof="0">
                          <a:solidFill>
                            <a:srgbClr val="2D55FF"/>
                          </a:solidFill>
                          <a:effectLst/>
                          <a:latin typeface="Inter"/>
                        </a:rPr>
                        <a:t>{{pollution_medium}}</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7</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br>
              <a:rPr lang="el-GR" noProof="0"/>
            </a:br>
            <a:endParaRPr lang="el-GR" noProof="0"/>
          </a:p>
        </p:txBody>
      </p:sp>
      <p:sp>
        <p:nvSpPr>
          <p:cNvPr id="10" name="Tekstfelt 9">
            <a:extLst>
              <a:ext uri="{FF2B5EF4-FFF2-40B4-BE49-F238E27FC236}">
                <a16:creationId xmlns:a16="http://schemas.microsoft.com/office/drawing/2014/main" id="{CADEAD42-343C-93CC-A8B0-E63EFFC56411}"/>
              </a:ext>
            </a:extLst>
          </p:cNvPr>
          <p:cNvSpPr txBox="1"/>
          <p:nvPr/>
        </p:nvSpPr>
        <p:spPr>
          <a:xfrm>
            <a:off x="461968" y="891000"/>
            <a:ext cx="9784532" cy="404866"/>
          </a:xfrm>
          <a:prstGeom prst="rect">
            <a:avLst/>
          </a:prstGeom>
          <a:noFill/>
        </p:spPr>
        <p:txBody>
          <a:bodyPr wrap="square">
            <a:spAutoFit/>
          </a:bodyPr>
          <a:lstStyle/>
          <a:p>
            <a:pPr rtl="0">
              <a:buNone/>
            </a:pPr>
            <a:r>
              <a:rPr lang="el-GR" sz="1050" b="0" i="0" u="none" strike="noStrike" noProof="0">
                <a:solidFill>
                  <a:schemeClr val="tx2"/>
                </a:solidFill>
                <a:effectLst/>
                <a:latin typeface="Inter"/>
              </a:rPr>
              <a:t xml:space="preserve">Η επιχείρηση αναφέρει τη συνολική ποσότητα ρύπων που εκπέμπονται από τις εγκαταστάσεις της. Οι συγκεκριμένοι ρύποι και οι ποσότητές τους στον αέρα, το νερό και το έδαφος</a:t>
            </a:r>
            <a:r>
              <a:rPr lang="el-GR" sz="1050" noProof="0">
                <a:solidFill>
                  <a:schemeClr val="tx2"/>
                </a:solidFill>
                <a:latin typeface="Inter"/>
              </a:rPr>
              <a:t xml:space="preserve"> παρατίθενται κατωτέρω.</a:t>
            </a:r>
          </a:p>
        </p:txBody>
      </p:sp>
      <p:sp>
        <p:nvSpPr>
          <p:cNvPr id="16" name="Title 3">
            <a:extLst>
              <a:ext uri="{FF2B5EF4-FFF2-40B4-BE49-F238E27FC236}">
                <a16:creationId xmlns:a16="http://schemas.microsoft.com/office/drawing/2014/main" id="{82FDC1C8-BB82-8F83-2FCB-640700A5A089}"/>
              </a:ext>
            </a:extLst>
          </p:cNvPr>
          <p:cNvSpPr txBox="1">
            <a:spLocks/>
          </p:cNvSpPr>
          <p:nvPr/>
        </p:nvSpPr>
        <p:spPr>
          <a:xfrm>
            <a:off x="454796" y="2945868"/>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el-GR" noProof="0"/>
              <a:t xml:space="preserve">Βιοποικιλότητα (B5) </a:t>
            </a:r>
          </a:p>
        </p:txBody>
      </p:sp>
      <p:graphicFrame>
        <p:nvGraphicFramePr>
          <p:cNvPr id="17" name="Table 12">
            <a:extLst>
              <a:ext uri="{FF2B5EF4-FFF2-40B4-BE49-F238E27FC236}">
                <a16:creationId xmlns:a16="http://schemas.microsoft.com/office/drawing/2014/main" id="{2F8CEDBC-7529-8ACB-98F8-C532E7876A9C}"/>
              </a:ext>
            </a:extLst>
          </p:cNvPr>
          <p:cNvGraphicFramePr>
            <a:graphicFrameLocks noGrp="1"/>
          </p:cNvGraphicFramePr>
          <p:nvPr>
            <p:extLst>
              <p:ext uri="{D42A27DB-BD31-4B8C-83A1-F6EECF244321}">
                <p14:modId xmlns:p14="http://schemas.microsoft.com/office/powerpoint/2010/main" val="3123879907"/>
              </p:ext>
            </p:extLst>
          </p:nvPr>
        </p:nvGraphicFramePr>
        <p:xfrm>
          <a:off x="454795" y="4100380"/>
          <a:ext cx="9791703" cy="845625"/>
        </p:xfrm>
        <a:graphic>
          <a:graphicData uri="http://schemas.openxmlformats.org/drawingml/2006/table">
            <a:tbl>
              <a:tblPr firstRow="1">
                <a:tableStyleId>{2A488322-F2BA-4B5B-9748-0D474271808F}</a:tableStyleId>
              </a:tblPr>
              <a:tblGrid>
                <a:gridCol w="1778433">
                  <a:extLst>
                    <a:ext uri="{9D8B030D-6E8A-4147-A177-3AD203B41FA5}">
                      <a16:colId xmlns:a16="http://schemas.microsoft.com/office/drawing/2014/main" val="2698153288"/>
                    </a:ext>
                  </a:extLst>
                </a:gridCol>
                <a:gridCol w="2671090">
                  <a:extLst>
                    <a:ext uri="{9D8B030D-6E8A-4147-A177-3AD203B41FA5}">
                      <a16:colId xmlns:a16="http://schemas.microsoft.com/office/drawing/2014/main" val="2119413191"/>
                    </a:ext>
                  </a:extLst>
                </a:gridCol>
                <a:gridCol w="2671090">
                  <a:extLst>
                    <a:ext uri="{9D8B030D-6E8A-4147-A177-3AD203B41FA5}">
                      <a16:colId xmlns:a16="http://schemas.microsoft.com/office/drawing/2014/main" val="656209149"/>
                    </a:ext>
                  </a:extLst>
                </a:gridCol>
                <a:gridCol w="2671090">
                  <a:extLst>
                    <a:ext uri="{9D8B030D-6E8A-4147-A177-3AD203B41FA5}">
                      <a16:colId xmlns:a16="http://schemas.microsoft.com/office/drawing/2014/main" val="1502960985"/>
                    </a:ext>
                  </a:extLst>
                </a:gridCol>
              </a:tblGrid>
              <a:tr h="202471">
                <a:tc gridSpan="4">
                  <a:txBody>
                    <a:bodyPr/>
                    <a:lstStyle/>
                    <a:p>
                      <a:r>
                        <a:rPr lang="el-GR" sz="1050" b="1" noProof="0">
                          <a:solidFill>
                            <a:schemeClr val="tx2"/>
                          </a:solidFill>
                        </a:rPr>
                        <a:t xml:space="preserve">Τοποθεσίες εντός ή πλησίον «περιοχών ευαίσθητων ως προς τη βιοποικιλότητα» που η επιχείρηση κατέχει, μισθώνει ή διαχειρίζεται </a:t>
                      </a:r>
                      <a:r>
                        <a:rPr lang="el-GR" sz="1050" b="0" noProof="0">
                          <a:solidFill>
                            <a:schemeClr val="tx2"/>
                          </a:solidFill>
                        </a:rPr>
                        <a:t xml:space="preserve">(παρ. 35)</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02743">
                <a:tc>
                  <a:txBody>
                    <a:bodyPr/>
                    <a:lstStyle/>
                    <a:p>
                      <a:r>
                        <a:rPr lang="el-GR" sz="1050" b="1" noProof="0">
                          <a:solidFill>
                            <a:schemeClr val="tx2"/>
                          </a:solidFill>
                        </a:rPr>
                        <a:t xml:space="preserve">Τοποθεσία</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1050" b="1" noProof="0">
                          <a:solidFill>
                            <a:schemeClr val="tx2"/>
                          </a:solidFill>
                        </a:rPr>
                        <a:t xml:space="preserve">Έκταση σε εκτάρια</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1050" b="1" noProof="0">
                          <a:solidFill>
                            <a:schemeClr val="tx2"/>
                          </a:solidFill>
                        </a:rPr>
                        <a:t xml:space="preserve">Ευαίσθητη περιοχή βιοποικιλότητας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1050" b="1" noProof="0">
                          <a:solidFill>
                            <a:schemeClr val="tx2"/>
                          </a:solidFill>
                        </a:rPr>
                        <a:t xml:space="preserve">Διευκρίνιση: εντός ή πλησίον ευαίσθητης περιοχής βιοποικιλότητας</a:t>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38201">
                <a:tc>
                  <a:txBody>
                    <a:bodyPr/>
                    <a:lstStyle/>
                    <a:p>
                      <a:pPr rtl="0" fontAlgn="ctr">
                        <a:buNone/>
                      </a:pPr>
                      <a:r>
                        <a:rPr lang="el-GR" sz="1050" b="0" i="0" u="none" strike="noStrike" noProof="0">
                          <a:solidFill>
                            <a:srgbClr val="2D55FF"/>
                          </a:solidFill>
                          <a:effectLst/>
                          <a:latin typeface="Inter"/>
                        </a:rPr>
                        <a:t>{{country_location}}</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buNone/>
                      </a:pPr>
                      <a:r>
                        <a:rPr lang="el-GR" sz="1050" b="0" i="0" u="none" strike="noStrike" noProof="0">
                          <a:solidFill>
                            <a:srgbClr val="2D55FF"/>
                          </a:solidFill>
                          <a:effectLst/>
                          <a:latin typeface="Inter"/>
                        </a:rPr>
                        <a:t> {{area_hect}}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l-GR" sz="1050" b="0" i="0" u="none" strike="noStrike" noProof="0">
                          <a:solidFill>
                            <a:srgbClr val="2D55FF"/>
                          </a:solidFill>
                          <a:effectLst/>
                          <a:latin typeface="Inter"/>
                        </a:rPr>
                        <a:t>{{area_name}}</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l-GR" sz="1050" b="0" i="0" u="none" strike="noStrike" noProof="0">
                          <a:solidFill>
                            <a:srgbClr val="2D55FF"/>
                          </a:solidFill>
                          <a:effectLst/>
                          <a:latin typeface="Inter"/>
                        </a:rPr>
                        <a:t>{{biosensitive_area}}</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8" name="Tekstfelt 17">
            <a:extLst>
              <a:ext uri="{FF2B5EF4-FFF2-40B4-BE49-F238E27FC236}">
                <a16:creationId xmlns:a16="http://schemas.microsoft.com/office/drawing/2014/main" id="{6378062B-84AF-684A-9726-0422CE54B0A8}"/>
              </a:ext>
            </a:extLst>
          </p:cNvPr>
          <p:cNvSpPr txBox="1"/>
          <p:nvPr/>
        </p:nvSpPr>
        <p:spPr>
          <a:xfrm>
            <a:off x="445499" y="3291561"/>
            <a:ext cx="9791703" cy="566812"/>
          </a:xfrm>
          <a:prstGeom prst="rect">
            <a:avLst/>
          </a:prstGeom>
          <a:noFill/>
        </p:spPr>
        <p:txBody>
          <a:bodyPr wrap="square">
            <a:spAutoFit/>
          </a:bodyPr>
          <a:lstStyle/>
          <a:p>
            <a:pPr rtl="0">
              <a:spcBef>
                <a:spcPts val="789"/>
              </a:spcBef>
              <a:spcAft>
                <a:spcPts val="789"/>
              </a:spcAft>
              <a:buNone/>
            </a:pPr>
            <a:r>
              <a:rPr lang="el-GR" sz="1050" b="0" i="0" u="none" strike="noStrike" noProof="0">
                <a:solidFill>
                  <a:schemeClr val="tx2"/>
                </a:solidFill>
                <a:effectLst/>
                <a:latin typeface="Inter"/>
              </a:rPr>
              <a:t xml:space="preserve">Τα στοιχεία της επιχείρησης αφορούν τις τοποθεσίες δραστηριότητας που βρίσκονται εντός ή πλησίον περιοχών ευαίσθητων ως προς τη βιοποικιλότητα. Οι περιοχές αυτές ορίζονται ως τέτοιες από ειδικές διατάξεις προστασίας της φύσης σε ευρωπαϊκό ή διεθνές επίπεδο. Περιλαμβάνουν περιοχές Natura 2000, UNESCO και βασικές περιοχές βιοποικιλότητας (KBA), καθώς και άλλες προστατευόμενες περιοχές.</a:t>
            </a:r>
            <a:r>
              <a:rPr lang="el-GR" sz="1050" b="0" i="0" u="none" strike="noStrike" noProof="0">
                <a:solidFill>
                  <a:schemeClr val="tx2"/>
                </a:solidFill>
                <a:effectLst/>
                <a:latin typeface="Inter"/>
              </a:rPr>
              <a:t xml:space="preserve"/>
            </a:r>
            <a:r>
              <a:rPr lang="el-GR" sz="1050" b="0" i="0" u="none" strike="noStrike" noProof="0">
                <a:solidFill>
                  <a:schemeClr val="tx2"/>
                </a:solidFill>
                <a:effectLst/>
                <a:latin typeface="Inter"/>
              </a:rPr>
              <a:t xml:space="preserve"/>
            </a:r>
            <a:endParaRPr lang="el-GR" sz="1050" noProof="0">
              <a:solidFill>
                <a:schemeClr val="tx2"/>
              </a:solidFill>
              <a:latin typeface="Inter"/>
            </a:endParaRPr>
          </a:p>
        </p:txBody>
      </p:sp>
    </p:spTree>
    <p:extLst>
      <p:ext uri="{BB962C8B-B14F-4D97-AF65-F5344CB8AC3E}">
        <p14:creationId xmlns:p14="http://schemas.microsoft.com/office/powerpoint/2010/main" val="27056463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Νερό (B6)</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405295352"/>
              </p:ext>
            </p:extLst>
          </p:nvPr>
        </p:nvGraphicFramePr>
        <p:xfrm>
          <a:off x="454796" y="1505077"/>
          <a:ext cx="4220433" cy="1109385"/>
        </p:xfrm>
        <a:graphic>
          <a:graphicData uri="http://schemas.openxmlformats.org/drawingml/2006/table">
            <a:tbl>
              <a:tblPr firstRow="1">
                <a:tableStyleId>{2A488322-F2BA-4B5B-9748-0D474271808F}</a:tableStyleId>
              </a:tblPr>
              <a:tblGrid>
                <a:gridCol w="2707414">
                  <a:extLst>
                    <a:ext uri="{9D8B030D-6E8A-4147-A177-3AD203B41FA5}">
                      <a16:colId xmlns:a16="http://schemas.microsoft.com/office/drawing/2014/main" val="2698153288"/>
                    </a:ext>
                  </a:extLst>
                </a:gridCol>
                <a:gridCol w="1513019">
                  <a:extLst>
                    <a:ext uri="{9D8B030D-6E8A-4147-A177-3AD203B41FA5}">
                      <a16:colId xmlns:a16="http://schemas.microsoft.com/office/drawing/2014/main" val="2119413191"/>
                    </a:ext>
                  </a:extLst>
                </a:gridCol>
              </a:tblGrid>
              <a:tr h="566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Άντληση νερού </a:t>
                      </a:r>
                      <a:r>
                        <a:rPr lang="el-GR" sz="1050" b="0" noProof="0">
                          <a:solidFill>
                            <a:schemeClr val="tx2"/>
                          </a:solidFill>
                        </a:rPr>
                        <a:t xml:space="preserve">(παρ. 36)</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l-GR" sz="1050" b="1" noProof="0">
                          <a:solidFill>
                            <a:schemeClr val="tx2"/>
                          </a:solidFill>
                        </a:rPr>
                        <a:t xml:space="preserve">Έτος </a:t>
                      </a:r>
                      <a:r>
                        <a:rPr lang="el-GR" sz="1050" b="1" noProof="0">
                          <a:solidFill>
                            <a:schemeClr val="accent2"/>
                          </a:solidFill>
                        </a:rPr>
                        <a:t>{{</a:t>
                      </a:r>
                      <a:r>
                        <a:rPr lang="el-GR" sz="1050" b="1" noProof="0">
                          <a:solidFill>
                            <a:schemeClr val="accent2"/>
                          </a:solidFill>
                        </a:rPr>
                        <a:t>insert_year</a:t>
                      </a:r>
                      <a:r>
                        <a:rPr lang="el-GR" sz="1050" b="1" noProof="0">
                          <a:solidFill>
                            <a:schemeClr val="accent2"/>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48489">
                <a:tc>
                  <a:txBody>
                    <a:bodyPr/>
                    <a:lstStyle/>
                    <a:p>
                      <a:r>
                        <a:rPr lang="el-GR" sz="1050" b="0" noProof="0">
                          <a:solidFill>
                            <a:schemeClr val="tx2"/>
                          </a:solidFill>
                        </a:rPr>
                        <a:t xml:space="preserve">Σύνολο για όλες τις τοποθεσίες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50" b="0" i="0" u="none" strike="noStrike" kern="1200" cap="none" spc="0" normalizeH="0" baseline="0" noProof="0">
                          <a:ln>
                            <a:noFill/>
                          </a:ln>
                          <a:solidFill>
                            <a:srgbClr val="2D55FF"/>
                          </a:solidFill>
                          <a:effectLst/>
                          <a:uLnTx/>
                          <a:uFillTx/>
                          <a:latin typeface="+mn-lt"/>
                          <a:ea typeface="+mn-ea"/>
                          <a:cs typeface="+mn-cs"/>
                        </a:rPr>
                        <a:t>{{</a:t>
                      </a:r>
                      <a:r>
                        <a:rPr kumimoji="0" lang="el-GR" sz="1050" b="0" i="0" u="none" strike="noStrike" kern="1200" cap="none" spc="0" normalizeH="0" baseline="0" noProof="0">
                          <a:ln>
                            <a:noFill/>
                          </a:ln>
                          <a:solidFill>
                            <a:srgbClr val="2D55FF"/>
                          </a:solidFill>
                          <a:effectLst/>
                          <a:uLnTx/>
                          <a:uFillTx/>
                          <a:latin typeface="+mn-lt"/>
                          <a:ea typeface="+mn-ea"/>
                          <a:cs typeface="+mn-cs"/>
                        </a:rPr>
                        <a:t>total_withdrawal</a:t>
                      </a:r>
                      <a:r>
                        <a:rPr kumimoji="0" lang="el-GR" sz="1050" b="0" i="0" u="none" strike="noStrike" kern="1200" cap="none" spc="0" normalizeH="0" baseline="0" noProof="0">
                          <a:ln>
                            <a:noFill/>
                          </a:ln>
                          <a:solidFill>
                            <a:srgbClr val="2D55FF"/>
                          </a:solidFill>
                          <a:effectLst/>
                          <a:uLnTx/>
                          <a:uFillTx/>
                          <a:latin typeface="+mn-lt"/>
                          <a:ea typeface="+mn-ea"/>
                          <a:cs typeface="+mn-cs"/>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17" name="Table 16">
            <a:extLst>
              <a:ext uri="{FF2B5EF4-FFF2-40B4-BE49-F238E27FC236}">
                <a16:creationId xmlns:a16="http://schemas.microsoft.com/office/drawing/2014/main" id="{129EF77F-F7DE-E3A9-5E62-3B0DED7F1A69}"/>
              </a:ext>
            </a:extLst>
          </p:cNvPr>
          <p:cNvGraphicFramePr>
            <a:graphicFrameLocks noGrp="1"/>
          </p:cNvGraphicFramePr>
          <p:nvPr>
            <p:extLst>
              <p:ext uri="{D42A27DB-BD31-4B8C-83A1-F6EECF244321}">
                <p14:modId xmlns:p14="http://schemas.microsoft.com/office/powerpoint/2010/main" val="44075883"/>
              </p:ext>
            </p:extLst>
          </p:nvPr>
        </p:nvGraphicFramePr>
        <p:xfrm>
          <a:off x="4856790" y="1505077"/>
          <a:ext cx="5389710" cy="859306"/>
        </p:xfrm>
        <a:graphic>
          <a:graphicData uri="http://schemas.openxmlformats.org/drawingml/2006/table">
            <a:tbl>
              <a:tblPr firstRow="1">
                <a:tableStyleId>{2A488322-F2BA-4B5B-9748-0D474271808F}</a:tableStyleId>
              </a:tblPr>
              <a:tblGrid>
                <a:gridCol w="4061893">
                  <a:extLst>
                    <a:ext uri="{9D8B030D-6E8A-4147-A177-3AD203B41FA5}">
                      <a16:colId xmlns:a16="http://schemas.microsoft.com/office/drawing/2014/main" val="2698153288"/>
                    </a:ext>
                  </a:extLst>
                </a:gridCol>
                <a:gridCol w="1327817">
                  <a:extLst>
                    <a:ext uri="{9D8B030D-6E8A-4147-A177-3AD203B41FA5}">
                      <a16:colId xmlns:a16="http://schemas.microsoft.com/office/drawing/2014/main" val="2119413191"/>
                    </a:ext>
                  </a:extLst>
                </a:gridCol>
              </a:tblGrid>
              <a:tr h="2525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Κατανάλωση νερού </a:t>
                      </a:r>
                      <a:r>
                        <a:rPr lang="el-GR" sz="1050" b="0" noProof="0">
                          <a:solidFill>
                            <a:schemeClr val="tx2"/>
                          </a:solidFill>
                        </a:rPr>
                        <a:t xml:space="preserve">(παρ. 37)</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l-GR" sz="1050" b="1" noProof="0">
                          <a:solidFill>
                            <a:schemeClr val="tx2"/>
                          </a:solidFill>
                        </a:rPr>
                        <a:t xml:space="preserve">Έτος </a:t>
                      </a:r>
                      <a:r>
                        <a:rPr lang="el-GR" sz="1050" b="1" noProof="0">
                          <a:solidFill>
                            <a:schemeClr val="accent2"/>
                          </a:solidFill>
                        </a:rPr>
                        <a:t>{{</a:t>
                      </a:r>
                      <a:r>
                        <a:rPr lang="el-GR" sz="1050" b="1" noProof="0">
                          <a:solidFill>
                            <a:schemeClr val="accent2"/>
                          </a:solidFill>
                        </a:rPr>
                        <a:t>insert_year</a:t>
                      </a:r>
                      <a:r>
                        <a:rPr lang="el-GR" sz="1050" b="1" noProof="0">
                          <a:solidFill>
                            <a:schemeClr val="accent2"/>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2567">
                <a:tc>
                  <a:txBody>
                    <a:bodyPr/>
                    <a:lstStyle/>
                    <a:p>
                      <a:r>
                        <a:rPr lang="el-GR" sz="1050" b="0" noProof="0">
                          <a:solidFill>
                            <a:schemeClr val="tx2"/>
                          </a:solidFill>
                        </a:rPr>
                        <a:t xml:space="preserve">Σύνολο για όλες τις τοποθεσίες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l-GR" sz="1050" b="0" i="0" u="none" strike="noStrike" noProof="0">
                          <a:solidFill>
                            <a:srgbClr val="2D55FF"/>
                          </a:solidFill>
                          <a:effectLst/>
                          <a:latin typeface="Inter"/>
                        </a:rPr>
                        <a:t>{{</a:t>
                      </a:r>
                      <a:r>
                        <a:rPr lang="el-GR" sz="1050" b="0" i="0" u="none" strike="noStrike" noProof="0">
                          <a:solidFill>
                            <a:srgbClr val="2D55FF"/>
                          </a:solidFill>
                          <a:effectLst/>
                          <a:latin typeface="Inter"/>
                        </a:rPr>
                        <a:t>consumption_total</a:t>
                      </a:r>
                      <a:r>
                        <a:rPr lang="el-GR" sz="1050" b="0" i="0" u="none" strike="noStrike" noProof="0">
                          <a:solidFill>
                            <a:srgbClr val="2D55FF"/>
                          </a:solidFill>
                          <a:effectLst/>
                          <a:latin typeface="Inter"/>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525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0" noProof="0">
                          <a:solidFill>
                            <a:schemeClr val="tx2"/>
                          </a:solidFill>
                        </a:rPr>
                        <a:t xml:space="preserve">Από τοποθεσίες σε περιοχές λειψυδρίας (υψηλή υδατική καταπόνηση)</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l-GR" sz="1050" b="0" i="0" u="none" strike="noStrike" noProof="0">
                          <a:solidFill>
                            <a:srgbClr val="2D55FF"/>
                          </a:solidFill>
                          <a:effectLst/>
                          <a:latin typeface="Inter"/>
                        </a:rPr>
                        <a:t>{{</a:t>
                      </a:r>
                      <a:r>
                        <a:rPr lang="el-GR" sz="1050" b="0" i="0" u="none" strike="noStrike" noProof="0">
                          <a:solidFill>
                            <a:srgbClr val="2D55FF"/>
                          </a:solidFill>
                          <a:effectLst/>
                          <a:latin typeface="Inter"/>
                        </a:rPr>
                        <a:t>consumption_waterstress</a:t>
                      </a:r>
                      <a:r>
                        <a:rPr lang="el-GR" sz="1050" b="0" i="0" u="none" strike="noStrike" noProof="0">
                          <a:solidFill>
                            <a:srgbClr val="2D55FF"/>
                          </a:solidFill>
                          <a:effectLst/>
                          <a:latin typeface="Inter"/>
                        </a:rPr>
                        <a:t>}}</a:t>
                      </a:r>
                      <a:endParaRPr lang="el-G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75797269"/>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8</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br>
              <a:rPr lang="el-GR" noProof="0"/>
            </a:br>
            <a:endParaRPr lang="el-GR" noProof="0"/>
          </a:p>
        </p:txBody>
      </p:sp>
      <p:sp>
        <p:nvSpPr>
          <p:cNvPr id="11" name="Tekstfelt 10">
            <a:extLst>
              <a:ext uri="{FF2B5EF4-FFF2-40B4-BE49-F238E27FC236}">
                <a16:creationId xmlns:a16="http://schemas.microsoft.com/office/drawing/2014/main" id="{ECB95649-80E1-C470-34F3-6ED206EE57AE}"/>
              </a:ext>
            </a:extLst>
          </p:cNvPr>
          <p:cNvSpPr txBox="1"/>
          <p:nvPr/>
        </p:nvSpPr>
        <p:spPr>
          <a:xfrm>
            <a:off x="445500" y="901932"/>
            <a:ext cx="9800999" cy="404866"/>
          </a:xfrm>
          <a:prstGeom prst="rect">
            <a:avLst/>
          </a:prstGeom>
          <a:noFill/>
        </p:spPr>
        <p:txBody>
          <a:bodyPr wrap="square">
            <a:spAutoFit/>
          </a:bodyPr>
          <a:lstStyle/>
          <a:p>
            <a:pPr rtl="0">
              <a:spcBef>
                <a:spcPts val="789"/>
              </a:spcBef>
              <a:buNone/>
            </a:pPr>
            <a:r>
              <a:rPr lang="el-GR" sz="1050" b="0" i="0" u="none" strike="noStrike" noProof="0">
                <a:solidFill>
                  <a:schemeClr val="tx2"/>
                </a:solidFill>
                <a:effectLst/>
                <a:latin typeface="Inter"/>
              </a:rPr>
              <a:t xml:space="preserve">Η άντληση νερού είναι η ποσότητα νερού που χρησιμοποιεί η επιχείρηση, όπου </a:t>
            </a:r>
            <a:r>
              <a:rPr lang="el-GR" sz="1050" noProof="0">
                <a:solidFill>
                  <a:schemeClr val="tx2"/>
                </a:solidFill>
                <a:latin typeface="Inter"/>
              </a:rPr>
              <a:t xml:space="preserve">η κατανάλωση δηλώνει το νερό που </a:t>
            </a:r>
            <a:r>
              <a:rPr lang="el-GR" sz="1050" b="0" i="0" u="none" strike="noStrike" noProof="0">
                <a:solidFill>
                  <a:schemeClr val="tx2"/>
                </a:solidFill>
                <a:effectLst/>
                <a:latin typeface="Inter"/>
              </a:rPr>
              <a:t xml:space="preserve">δεν απορρίπτεται, ούτε προβλέπεται να απορριφθεί, στο υδάτινο περιβάλλον ή σε τρίτους. Η ενότητα αυτή αναφέρει τη συνολική άντληση νερού. Η κατανάλωση</a:t>
            </a:r>
            <a:r>
              <a:rPr lang="el-GR" sz="1050" noProof="0">
                <a:solidFill>
                  <a:schemeClr val="tx2"/>
                </a:solidFill>
                <a:latin typeface="Inter"/>
              </a:rPr>
              <a:t> </a:t>
            </a:r>
            <a:r>
              <a:rPr lang="el-GR" sz="1050" b="0" i="0" u="none" strike="noStrike" noProof="0">
                <a:solidFill>
                  <a:schemeClr val="tx2"/>
                </a:solidFill>
                <a:effectLst/>
                <a:latin typeface="Inter"/>
              </a:rPr>
              <a:t xml:space="preserve">και η απόρριψη νερού από περιοχές υψηλής υδατικής καταπόνησης παρατίθενται κατωτέρω.</a:t>
            </a:r>
            <a:endParaRPr lang="el-GR" sz="1050" b="0" noProof="0">
              <a:solidFill>
                <a:schemeClr val="tx2"/>
              </a:solidFill>
              <a:effectLst/>
              <a:latin typeface="Inter"/>
            </a:endParaRPr>
          </a:p>
        </p:txBody>
      </p:sp>
      <p:sp>
        <p:nvSpPr>
          <p:cNvPr id="14" name="Title 3">
            <a:extLst>
              <a:ext uri="{FF2B5EF4-FFF2-40B4-BE49-F238E27FC236}">
                <a16:creationId xmlns:a16="http://schemas.microsoft.com/office/drawing/2014/main" id="{B30A223B-CD1E-62E4-7BF1-B5AAB10A8410}"/>
              </a:ext>
            </a:extLst>
          </p:cNvPr>
          <p:cNvSpPr txBox="1">
            <a:spLocks/>
          </p:cNvSpPr>
          <p:nvPr/>
        </p:nvSpPr>
        <p:spPr>
          <a:xfrm>
            <a:off x="454796" y="2742478"/>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el-GR" noProof="0"/>
              <a:t xml:space="preserve">Χρήση πόρων, κυκλική οικονομία και διαχείριση αποβλήτων (B7) </a:t>
            </a:r>
          </a:p>
        </p:txBody>
      </p:sp>
      <p:graphicFrame>
        <p:nvGraphicFramePr>
          <p:cNvPr id="15" name="Table 12">
            <a:extLst>
              <a:ext uri="{FF2B5EF4-FFF2-40B4-BE49-F238E27FC236}">
                <a16:creationId xmlns:a16="http://schemas.microsoft.com/office/drawing/2014/main" id="{DD005B21-4552-1869-0C74-C03ADA88E810}"/>
              </a:ext>
            </a:extLst>
          </p:cNvPr>
          <p:cNvGraphicFramePr>
            <a:graphicFrameLocks noGrp="1"/>
          </p:cNvGraphicFramePr>
          <p:nvPr>
            <p:extLst>
              <p:ext uri="{D42A27DB-BD31-4B8C-83A1-F6EECF244321}">
                <p14:modId xmlns:p14="http://schemas.microsoft.com/office/powerpoint/2010/main" val="1002212790"/>
              </p:ext>
            </p:extLst>
          </p:nvPr>
        </p:nvGraphicFramePr>
        <p:xfrm>
          <a:off x="4856790" y="3128095"/>
          <a:ext cx="5380408" cy="826615"/>
        </p:xfrm>
        <a:graphic>
          <a:graphicData uri="http://schemas.openxmlformats.org/drawingml/2006/table">
            <a:tbl>
              <a:tblPr firstRow="1">
                <a:tableStyleId>{2A488322-F2BA-4B5B-9748-0D474271808F}</a:tableStyleId>
              </a:tblPr>
              <a:tblGrid>
                <a:gridCol w="2128528">
                  <a:extLst>
                    <a:ext uri="{9D8B030D-6E8A-4147-A177-3AD203B41FA5}">
                      <a16:colId xmlns:a16="http://schemas.microsoft.com/office/drawing/2014/main" val="2698153288"/>
                    </a:ext>
                  </a:extLst>
                </a:gridCol>
                <a:gridCol w="1654020">
                  <a:extLst>
                    <a:ext uri="{9D8B030D-6E8A-4147-A177-3AD203B41FA5}">
                      <a16:colId xmlns:a16="http://schemas.microsoft.com/office/drawing/2014/main" val="2119413191"/>
                    </a:ext>
                  </a:extLst>
                </a:gridCol>
                <a:gridCol w="1597860">
                  <a:extLst>
                    <a:ext uri="{9D8B030D-6E8A-4147-A177-3AD203B41FA5}">
                      <a16:colId xmlns:a16="http://schemas.microsoft.com/office/drawing/2014/main" val="656209149"/>
                    </a:ext>
                  </a:extLst>
                </a:gridCol>
              </a:tblGrid>
              <a:tr h="236351">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Εφαρμογή αρχών κυκλικής οικονομίας </a:t>
                      </a:r>
                      <a:r>
                        <a:rPr lang="el-GR" sz="1050" b="0" noProof="0">
                          <a:solidFill>
                            <a:schemeClr val="tx2"/>
                          </a:solidFill>
                        </a:rPr>
                        <a:t xml:space="preserve">(παρ. 38)</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6091">
                <a:tc rowSpan="2">
                  <a:txBody>
                    <a:bodyPr/>
                    <a:lstStyle/>
                    <a:p>
                      <a:r>
                        <a:rPr lang="el-GR" sz="1050" b="0" noProof="0">
                          <a:solidFill>
                            <a:schemeClr val="tx2"/>
                          </a:solidFill>
                        </a:rPr>
                        <a:t xml:space="preserve">Η επιχείρησή μου εφαρμόζει αρχές κυκλικής οικονομίας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l-GR" sz="1050" b="1" noProof="0">
                          <a:solidFill>
                            <a:schemeClr val="tx2"/>
                          </a:solidFill>
                        </a:rPr>
                        <a:t xml:space="preserve">Ναι</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l-GR" sz="1050" b="1" noProof="0">
                          <a:solidFill>
                            <a:schemeClr val="tx2"/>
                          </a:solidFill>
                        </a:rPr>
                        <a:t xml:space="preserve">Όχι</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00880">
                <a:tc v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l-GR" sz="1050" b="0" i="0" u="none" strike="noStrike" noProof="0">
                          <a:solidFill>
                            <a:srgbClr val="2D55FF"/>
                          </a:solidFill>
                          <a:effectLst/>
                          <a:latin typeface="Inter"/>
                        </a:rPr>
                        <a:t>{{</a:t>
                      </a:r>
                      <a:r>
                        <a:rPr lang="el-GR" sz="1050" b="0" i="0" u="none" strike="noStrike" noProof="0">
                          <a:solidFill>
                            <a:srgbClr val="2D55FF"/>
                          </a:solidFill>
                          <a:effectLst/>
                          <a:latin typeface="Inter"/>
                        </a:rPr>
                        <a:t>circular_economy_princples_yes</a:t>
                      </a:r>
                      <a:r>
                        <a:rPr lang="el-GR" sz="1050" b="0" i="0" u="none" strike="noStrike" noProof="0">
                          <a:solidFill>
                            <a:srgbClr val="2D55FF"/>
                          </a:solidFill>
                          <a:effectLst/>
                          <a:latin typeface="Inter"/>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el-GR" sz="1050" b="0" i="0" u="none" strike="noStrike" noProof="0">
                          <a:solidFill>
                            <a:srgbClr val="2D55FF"/>
                          </a:solidFill>
                          <a:effectLst/>
                          <a:latin typeface="Inter"/>
                        </a:rPr>
                        <a:t>{{</a:t>
                      </a:r>
                      <a:r>
                        <a:rPr lang="el-GR" sz="1050" b="0" i="0" u="none" strike="noStrike" noProof="0">
                          <a:solidFill>
                            <a:srgbClr val="2D55FF"/>
                          </a:solidFill>
                          <a:effectLst/>
                          <a:latin typeface="Inter"/>
                        </a:rPr>
                        <a:t>circular_economy_princples_no</a:t>
                      </a:r>
                      <a:r>
                        <a:rPr lang="el-GR" sz="1050" b="0" i="0" u="none" strike="noStrike" noProof="0">
                          <a:solidFill>
                            <a:srgbClr val="2D55FF"/>
                          </a:solidFill>
                          <a:effectLst/>
                          <a:latin typeface="Inter"/>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16" name="Table 2">
            <a:extLst>
              <a:ext uri="{FF2B5EF4-FFF2-40B4-BE49-F238E27FC236}">
                <a16:creationId xmlns:a16="http://schemas.microsoft.com/office/drawing/2014/main" id="{2AA2F1F9-7A09-1805-85EA-A61B8CDF034E}"/>
              </a:ext>
            </a:extLst>
          </p:cNvPr>
          <p:cNvGraphicFramePr>
            <a:graphicFrameLocks noGrp="1"/>
          </p:cNvGraphicFramePr>
          <p:nvPr>
            <p:extLst>
              <p:ext uri="{D42A27DB-BD31-4B8C-83A1-F6EECF244321}">
                <p14:modId xmlns:p14="http://schemas.microsoft.com/office/powerpoint/2010/main" val="3358194059"/>
              </p:ext>
            </p:extLst>
          </p:nvPr>
        </p:nvGraphicFramePr>
        <p:xfrm>
          <a:off x="445498" y="4074564"/>
          <a:ext cx="9791701" cy="1549905"/>
        </p:xfrm>
        <a:graphic>
          <a:graphicData uri="http://schemas.openxmlformats.org/drawingml/2006/table">
            <a:tbl>
              <a:tblPr firstRow="1">
                <a:tableStyleId>{2A488322-F2BA-4B5B-9748-0D474271808F}</a:tableStyleId>
              </a:tblPr>
              <a:tblGrid>
                <a:gridCol w="9791701">
                  <a:extLst>
                    <a:ext uri="{9D8B030D-6E8A-4147-A177-3AD203B41FA5}">
                      <a16:colId xmlns:a16="http://schemas.microsoft.com/office/drawing/2014/main" val="2698153288"/>
                    </a:ext>
                  </a:extLst>
                </a:gridCol>
              </a:tblGrid>
              <a:tr h="256676">
                <a:tc>
                  <a:txBody>
                    <a:bodyPr/>
                    <a:lstStyle/>
                    <a:p>
                      <a:r>
                        <a:rPr lang="el-GR" sz="1050" b="1" noProof="0">
                          <a:solidFill>
                            <a:schemeClr val="tx2"/>
                          </a:solidFill>
                        </a:rPr>
                        <a:t xml:space="preserve">Περιγραφή του τρόπου εφαρμογής των αρχών κυκλικής οικονομίας </a:t>
                      </a:r>
                      <a:r>
                        <a:rPr lang="el-GR" sz="1050" b="0" noProof="0">
                          <a:solidFill>
                            <a:schemeClr val="tx2"/>
                          </a:solidFill>
                        </a:rPr>
                        <a:t xml:space="preserve">(παρ. 38 συνέχεια)</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1293229">
                <a:tc>
                  <a:txBody>
                    <a:bodyPr/>
                    <a:lstStyle/>
                    <a:p>
                      <a:pPr algn="l"/>
                      <a:r>
                        <a:rPr lang="el-GR" sz="1050" b="0" kern="1200" noProof="0">
                          <a:solidFill>
                            <a:schemeClr val="accent2"/>
                          </a:solidFill>
                          <a:latin typeface="+mn-lt"/>
                          <a:ea typeface="+mn-ea"/>
                          <a:cs typeface="+mn-cs"/>
                        </a:rPr>
                        <a:t>{{</a:t>
                      </a:r>
                      <a:r>
                        <a:rPr lang="el-GR" sz="1050" b="0" kern="1200" noProof="0">
                          <a:solidFill>
                            <a:schemeClr val="accent2"/>
                          </a:solidFill>
                          <a:latin typeface="+mn-lt"/>
                          <a:ea typeface="+mn-ea"/>
                          <a:cs typeface="+mn-cs"/>
                        </a:rPr>
                        <a:t>description_of_circular_economies</a:t>
                      </a:r>
                      <a:r>
                        <a:rPr lang="el-GR" sz="1050" b="0" kern="1200" noProof="0">
                          <a:solidFill>
                            <a:schemeClr val="accent2"/>
                          </a:solidFill>
                          <a:latin typeface="+mn-lt"/>
                          <a:ea typeface="+mn-ea"/>
                          <a:cs typeface="+mn-cs"/>
                        </a:rPr>
                        <a:t>}}</a:t>
                      </a:r>
                    </a:p>
                    <a:p>
                      <a:pPr algn="l"/>
                      <a:endParaRPr lang="el-GR" sz="1050" b="0" kern="1200" noProof="0">
                        <a:solidFill>
                          <a:schemeClr val="accent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sp>
        <p:nvSpPr>
          <p:cNvPr id="25" name="Tekstfelt 24">
            <a:extLst>
              <a:ext uri="{FF2B5EF4-FFF2-40B4-BE49-F238E27FC236}">
                <a16:creationId xmlns:a16="http://schemas.microsoft.com/office/drawing/2014/main" id="{02BB91A8-5ECA-5F09-CF3C-575CB2D07459}"/>
              </a:ext>
            </a:extLst>
          </p:cNvPr>
          <p:cNvSpPr txBox="1"/>
          <p:nvPr/>
        </p:nvSpPr>
        <p:spPr>
          <a:xfrm>
            <a:off x="445765" y="3147944"/>
            <a:ext cx="4247524" cy="728758"/>
          </a:xfrm>
          <a:prstGeom prst="rect">
            <a:avLst/>
          </a:prstGeom>
          <a:noFill/>
        </p:spPr>
        <p:txBody>
          <a:bodyPr wrap="square" lIns="80190" tIns="40095" rIns="80190" bIns="40095" anchor="t">
            <a:spAutoFit/>
          </a:bodyPr>
          <a:lstStyle/>
          <a:p>
            <a:pPr rtl="0">
              <a:buNone/>
            </a:pPr>
            <a:r>
              <a:rPr lang="el-GR" sz="1050" b="0" i="0" u="none" strike="noStrike" noProof="0">
                <a:solidFill>
                  <a:schemeClr val="tx2"/>
                </a:solidFill>
                <a:effectLst/>
                <a:latin typeface="Inter"/>
              </a:rPr>
              <a:t xml:space="preserve">Η γνωστοποίηση αυτή αναφέρει εάν η επιχείρηση</a:t>
            </a:r>
            <a:r>
              <a:rPr lang="el-GR" sz="1050" noProof="0">
                <a:solidFill>
                  <a:schemeClr val="tx2"/>
                </a:solidFill>
                <a:latin typeface="Inter"/>
              </a:rPr>
              <a:t xml:space="preserve"> εφαρμόζει αρχές κυκλικής οικονομίας, μεταξύ άλλων αρχές μείωσης αποβλήτων και ρύπανσης και έμφαση σε κυκλικά προϊόντα και υλικά.</a:t>
            </a:r>
          </a:p>
        </p:txBody>
      </p:sp>
    </p:spTree>
    <p:extLst>
      <p:ext uri="{BB962C8B-B14F-4D97-AF65-F5344CB8AC3E}">
        <p14:creationId xmlns:p14="http://schemas.microsoft.com/office/powerpoint/2010/main" val="9996588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Χρήση πόρων, κυκλική οικονομία και διαχείριση αποβλήτων (B7) – συνέχεια</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829584165"/>
              </p:ext>
            </p:extLst>
          </p:nvPr>
        </p:nvGraphicFramePr>
        <p:xfrm>
          <a:off x="445499" y="1442996"/>
          <a:ext cx="6440256" cy="1844980"/>
        </p:xfrm>
        <a:graphic>
          <a:graphicData uri="http://schemas.openxmlformats.org/drawingml/2006/table">
            <a:tbl>
              <a:tblPr firstRow="1">
                <a:tableStyleId>{2A488322-F2BA-4B5B-9748-0D474271808F}</a:tableStyleId>
              </a:tblPr>
              <a:tblGrid>
                <a:gridCol w="1995980">
                  <a:extLst>
                    <a:ext uri="{9D8B030D-6E8A-4147-A177-3AD203B41FA5}">
                      <a16:colId xmlns:a16="http://schemas.microsoft.com/office/drawing/2014/main" val="2698153288"/>
                    </a:ext>
                  </a:extLst>
                </a:gridCol>
                <a:gridCol w="2230323">
                  <a:extLst>
                    <a:ext uri="{9D8B030D-6E8A-4147-A177-3AD203B41FA5}">
                      <a16:colId xmlns:a16="http://schemas.microsoft.com/office/drawing/2014/main" val="2119413191"/>
                    </a:ext>
                  </a:extLst>
                </a:gridCol>
                <a:gridCol w="2213953">
                  <a:extLst>
                    <a:ext uri="{9D8B030D-6E8A-4147-A177-3AD203B41FA5}">
                      <a16:colId xmlns:a16="http://schemas.microsoft.com/office/drawing/2014/main" val="4075157689"/>
                    </a:ext>
                  </a:extLst>
                </a:gridCol>
              </a:tblGrid>
              <a:tr h="288168">
                <a:tc gridSpan="3">
                  <a:txBody>
                    <a:bodyPr/>
                    <a:lstStyle/>
                    <a:p>
                      <a:pPr algn="ctr"/>
                      <a:r>
                        <a:rPr lang="el-GR" sz="1050" b="1" noProof="0">
                          <a:solidFill>
                            <a:schemeClr val="tx2"/>
                          </a:solidFill>
                        </a:rPr>
                        <a:t xml:space="preserve">Συνολική ετήσια παραγωγή αποβλήτων</a:t>
                      </a:r>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301348">
                <a:tc>
                  <a:txBody>
                    <a:bodyPr/>
                    <a:lstStyle/>
                    <a:p>
                      <a:endParaRPr lang="el-GR"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1050" b="1" noProof="0">
                          <a:solidFill>
                            <a:schemeClr val="tx2"/>
                          </a:solidFill>
                        </a:rPr>
                        <a:t xml:space="preserve">Συνολική ποσότητα αποβλήτων </a:t>
                      </a:r>
                      <a:r>
                        <a:rPr lang="el-GR" sz="1050" b="0" noProof="0">
                          <a:solidFill>
                            <a:schemeClr val="tx2"/>
                          </a:solidFill>
                        </a:rPr>
                        <a:t xml:space="preserve">(παρ. 39a)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1050" b="1" noProof="0">
                          <a:solidFill>
                            <a:schemeClr val="tx2"/>
                          </a:solidFill>
                        </a:rPr>
                        <a:t xml:space="preserve">Απόβλητα που διοχετεύονται σε ανακύκλωση ή προετοιμασία επαναχρησιμοποίησης </a:t>
                      </a:r>
                      <a:r>
                        <a:rPr lang="el-GR" sz="1050" b="0" noProof="0">
                          <a:solidFill>
                            <a:schemeClr val="tx2"/>
                          </a:solidFill>
                        </a:rPr>
                        <a:t xml:space="preserve">(παρ. 39b)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0134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Μη επικίνδυνα απόβλητα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3316940764"/>
                  </a:ext>
                </a:extLst>
              </a:tr>
              <a:tr h="204917">
                <a:tc>
                  <a:txBody>
                    <a:bodyPr/>
                    <a:lstStyle/>
                    <a:p>
                      <a:pPr rtl="0" fontAlgn="ctr">
                        <a:buNone/>
                      </a:pPr>
                      <a:r>
                        <a:rPr lang="el-GR" sz="1050" b="0" i="0" u="none" strike="noStrike" noProof="0">
                          <a:solidFill>
                            <a:srgbClr val="2D55FF"/>
                          </a:solidFill>
                          <a:effectLst/>
                          <a:latin typeface="Inter"/>
                        </a:rPr>
                        <a:t>{{Type_af_affald}}</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1050" b="0" i="0" u="none" strike="noStrike" noProof="0">
                          <a:solidFill>
                            <a:srgbClr val="2D55FF"/>
                          </a:solidFill>
                          <a:effectLst/>
                          <a:latin typeface="Inter"/>
                        </a:rPr>
                        <a:t>{{kg_tons_total}}</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l-GR" sz="1050" b="0" i="0" u="none" strike="noStrike" noProof="0">
                          <a:solidFill>
                            <a:srgbClr val="2D55FF"/>
                          </a:solidFill>
                          <a:effectLst/>
                          <a:latin typeface="Inter"/>
                        </a:rPr>
                        <a:t>{{genbrug_kg_tons}}</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01348">
                <a:tc>
                  <a:txBody>
                    <a:bodyPr/>
                    <a:lstStyle/>
                    <a:p>
                      <a:r>
                        <a:rPr lang="el-GR" sz="1050" b="1" noProof="0">
                          <a:solidFill>
                            <a:schemeClr val="tx2"/>
                          </a:solidFill>
                        </a:rPr>
                        <a:t xml:space="preserve">Επικίνδυνα απόβλητα</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l-G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269942695"/>
                  </a:ext>
                </a:extLst>
              </a:tr>
              <a:tr h="204917">
                <a:tc>
                  <a:txBody>
                    <a:bodyPr/>
                    <a:lstStyle/>
                    <a:p>
                      <a:pPr rtl="0" fontAlgn="ctr">
                        <a:buNone/>
                      </a:pPr>
                      <a:r>
                        <a:rPr lang="el-GR" sz="1050" b="0" i="0" u="none" strike="noStrike" noProof="0">
                          <a:solidFill>
                            <a:srgbClr val="2D55FF"/>
                          </a:solidFill>
                          <a:effectLst/>
                          <a:latin typeface="Inter"/>
                        </a:rPr>
                        <a:t>{{Type_af_affald_farlig}}</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1050" b="0" i="0" u="none" strike="noStrike" noProof="0">
                          <a:solidFill>
                            <a:srgbClr val="2D55FF"/>
                          </a:solidFill>
                          <a:effectLst/>
                          <a:latin typeface="Inter"/>
                        </a:rPr>
                        <a:t>{{farlig_kg_tons}}</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l-GR" sz="1050" b="0" i="0" u="none" strike="noStrike" noProof="0">
                          <a:solidFill>
                            <a:srgbClr val="2D55FF"/>
                          </a:solidFill>
                          <a:effectLst/>
                          <a:latin typeface="Inter"/>
                        </a:rPr>
                        <a:t>{{farlig_genbrug_kg_tons}}</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02232709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9</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br>
              <a:rPr lang="el-GR" noProof="0"/>
            </a:br>
            <a:endParaRPr lang="el-GR" noProof="0"/>
          </a:p>
        </p:txBody>
      </p:sp>
      <p:sp>
        <p:nvSpPr>
          <p:cNvPr id="12" name="Tekstfelt 11">
            <a:extLst>
              <a:ext uri="{FF2B5EF4-FFF2-40B4-BE49-F238E27FC236}">
                <a16:creationId xmlns:a16="http://schemas.microsoft.com/office/drawing/2014/main" id="{482E45A0-0E1E-550D-794B-89296A5D4E7E}"/>
              </a:ext>
            </a:extLst>
          </p:cNvPr>
          <p:cNvSpPr txBox="1"/>
          <p:nvPr/>
        </p:nvSpPr>
        <p:spPr>
          <a:xfrm>
            <a:off x="454796" y="891000"/>
            <a:ext cx="9791704" cy="404866"/>
          </a:xfrm>
          <a:prstGeom prst="rect">
            <a:avLst/>
          </a:prstGeom>
          <a:noFill/>
        </p:spPr>
        <p:txBody>
          <a:bodyPr wrap="square">
            <a:spAutoFit/>
          </a:bodyPr>
          <a:lstStyle/>
          <a:p>
            <a:pPr rtl="0">
              <a:buNone/>
            </a:pPr>
            <a:r>
              <a:rPr lang="el-GR" sz="1050" b="0" i="0" u="none" strike="noStrike" noProof="0">
                <a:solidFill>
                  <a:schemeClr val="tx2"/>
                </a:solidFill>
                <a:effectLst/>
                <a:latin typeface="Inter"/>
              </a:rPr>
              <a:t xml:space="preserve">Η ενότητα που ακολουθεί περιέχει στοιχεία για τη χρήση υλικών και τη διαχείριση αποβλήτων. Τα στοιχεία αφορούν την κυκλική οικονομία και δείχνουν την κατανομή της συνολικής ετήσιας παραγωγής αποβλήτων (επικίνδυνα/μη επικίνδυνα), καθώς και τις ποσότητες σημαντικών υλικών. </a:t>
            </a:r>
            <a:endParaRPr lang="el-GR" sz="1050" noProof="0">
              <a:solidFill>
                <a:schemeClr val="tx2"/>
              </a:solidFill>
              <a:latin typeface="Inter"/>
            </a:endParaRPr>
          </a:p>
        </p:txBody>
      </p:sp>
      <p:graphicFrame>
        <p:nvGraphicFramePr>
          <p:cNvPr id="15" name="Table 12">
            <a:extLst>
              <a:ext uri="{FF2B5EF4-FFF2-40B4-BE49-F238E27FC236}">
                <a16:creationId xmlns:a16="http://schemas.microsoft.com/office/drawing/2014/main" id="{D0A6EC25-74E1-FBFB-6875-6CDF69A95318}"/>
              </a:ext>
            </a:extLst>
          </p:cNvPr>
          <p:cNvGraphicFramePr>
            <a:graphicFrameLocks noGrp="1"/>
          </p:cNvGraphicFramePr>
          <p:nvPr>
            <p:extLst>
              <p:ext uri="{D42A27DB-BD31-4B8C-83A1-F6EECF244321}">
                <p14:modId xmlns:p14="http://schemas.microsoft.com/office/powerpoint/2010/main" val="4113487528"/>
              </p:ext>
            </p:extLst>
          </p:nvPr>
        </p:nvGraphicFramePr>
        <p:xfrm>
          <a:off x="7156908" y="1473478"/>
          <a:ext cx="3080297" cy="2265385"/>
        </p:xfrm>
        <a:graphic>
          <a:graphicData uri="http://schemas.openxmlformats.org/drawingml/2006/table">
            <a:tbl>
              <a:tblPr firstRow="1">
                <a:tableStyleId>{2A488322-F2BA-4B5B-9748-0D474271808F}</a:tableStyleId>
              </a:tblPr>
              <a:tblGrid>
                <a:gridCol w="1976312">
                  <a:extLst>
                    <a:ext uri="{9D8B030D-6E8A-4147-A177-3AD203B41FA5}">
                      <a16:colId xmlns:a16="http://schemas.microsoft.com/office/drawing/2014/main" val="2698153288"/>
                    </a:ext>
                  </a:extLst>
                </a:gridCol>
                <a:gridCol w="1103985">
                  <a:extLst>
                    <a:ext uri="{9D8B030D-6E8A-4147-A177-3AD203B41FA5}">
                      <a16:colId xmlns:a16="http://schemas.microsoft.com/office/drawing/2014/main" val="2119413191"/>
                    </a:ext>
                  </a:extLst>
                </a:gridCol>
              </a:tblGrid>
              <a:tr h="1215816">
                <a:tc>
                  <a:txBody>
                    <a:bodyPr/>
                    <a:lstStyle/>
                    <a:p>
                      <a:r>
                        <a:rPr lang="el-GR" sz="1050" b="1" noProof="0">
                          <a:solidFill>
                            <a:schemeClr val="tx2"/>
                          </a:solidFill>
                        </a:rPr>
                        <a:t xml:space="preserve">Σημαντικά υλικά </a:t>
                      </a:r>
                      <a:r>
                        <a:rPr lang="el-GR" sz="1050" b="0" noProof="0">
                          <a:solidFill>
                            <a:schemeClr val="tx2"/>
                          </a:solidFill>
                        </a:rPr>
                        <a:t xml:space="preserve">(παρ. 39c)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1050" b="1" noProof="0">
                          <a:solidFill>
                            <a:schemeClr val="tx2"/>
                          </a:solidFill>
                        </a:rPr>
                        <a:t xml:space="preserve">Ετήσια ροή μάζας </a:t>
                      </a:r>
                      <a:r>
                        <a:rPr lang="el-GR" sz="1050" b="1" noProof="0">
                          <a:solidFill>
                            <a:schemeClr val="accent2"/>
                          </a:solidFill>
                        </a:rPr>
                        <a:t>{{insert_year}}</a:t>
                      </a:r>
                      <a:endParaRPr lang="el-GR" sz="1050" b="0" noProof="0">
                        <a:solidFill>
                          <a:schemeClr val="accent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1051270">
                <a:tc>
                  <a:txBody>
                    <a:bodyPr/>
                    <a:lstStyle/>
                    <a:p>
                      <a:r>
                        <a:rPr lang="el-GR" sz="1050" b="0" i="0" u="none" strike="noStrike" noProof="0">
                          <a:solidFill>
                            <a:srgbClr val="2D55FF"/>
                          </a:solidFill>
                          <a:latin typeface="Inter"/>
                        </a:rPr>
                        <a:t>{{significant_material}}</a:t>
                      </a:r>
                      <a:endParaRPr lang="el-GR" sz="1050" b="0" noProof="0">
                        <a:solidFill>
                          <a:schemeClr val="accent2"/>
                        </a:solidFill>
                        <a:latin typeface="Inter"/>
                        <a:cs typeface="Calibri"/>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lvl="0" algn="l">
                        <a:lnSpc>
                          <a:spcPct val="100000"/>
                        </a:lnSpc>
                        <a:spcBef>
                          <a:spcPts val="0"/>
                        </a:spcBef>
                        <a:spcAft>
                          <a:spcPts val="0"/>
                        </a:spcAft>
                        <a:buNone/>
                      </a:pPr>
                      <a:r>
                        <a:rPr lang="el-GR" sz="1050" b="0" i="0" u="none" strike="noStrike" noProof="0">
                          <a:solidFill>
                            <a:srgbClr val="2D55FF"/>
                          </a:solidFill>
                          <a:latin typeface="Inter"/>
                        </a:rPr>
                        <a:t>{{significant_material_unit}}</a:t>
                      </a:r>
                      <a:endParaRPr lang="el-GR" sz="1050" b="0" i="0" u="none" strike="noStrike" noProof="0">
                        <a:solidFill>
                          <a:srgbClr val="000000"/>
                        </a:solidFill>
                        <a:latin typeface="Inter"/>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Tree>
    <p:extLst>
      <p:ext uri="{BB962C8B-B14F-4D97-AF65-F5344CB8AC3E}">
        <p14:creationId xmlns:p14="http://schemas.microsoft.com/office/powerpoint/2010/main" val="20965089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Ίδιο εργατικό δυναμικό: γενικά χαρακτηριστικά (B8) </a:t>
            </a:r>
          </a:p>
        </p:txBody>
      </p:sp>
      <p:graphicFrame>
        <p:nvGraphicFramePr>
          <p:cNvPr id="8" name="Table 7">
            <a:extLst>
              <a:ext uri="{FF2B5EF4-FFF2-40B4-BE49-F238E27FC236}">
                <a16:creationId xmlns:a16="http://schemas.microsoft.com/office/drawing/2014/main" id="{CE6D2864-50B1-0967-9DFF-408DD8B377E5}"/>
              </a:ext>
            </a:extLst>
          </p:cNvPr>
          <p:cNvGraphicFramePr>
            <a:graphicFrameLocks noGrp="1"/>
          </p:cNvGraphicFramePr>
          <p:nvPr>
            <p:extLst>
              <p:ext uri="{D42A27DB-BD31-4B8C-83A1-F6EECF244321}">
                <p14:modId xmlns:p14="http://schemas.microsoft.com/office/powerpoint/2010/main" val="3894231013"/>
              </p:ext>
            </p:extLst>
          </p:nvPr>
        </p:nvGraphicFramePr>
        <p:xfrm>
          <a:off x="445493" y="1520475"/>
          <a:ext cx="4365905" cy="1761315"/>
        </p:xfrm>
        <a:graphic>
          <a:graphicData uri="http://schemas.openxmlformats.org/drawingml/2006/table">
            <a:tbl>
              <a:tblPr firstRow="1">
                <a:tableStyleId>{2A488322-F2BA-4B5B-9748-0D474271808F}</a:tableStyleId>
              </a:tblPr>
              <a:tblGrid>
                <a:gridCol w="2182953">
                  <a:extLst>
                    <a:ext uri="{9D8B030D-6E8A-4147-A177-3AD203B41FA5}">
                      <a16:colId xmlns:a16="http://schemas.microsoft.com/office/drawing/2014/main" val="2698153288"/>
                    </a:ext>
                  </a:extLst>
                </a:gridCol>
                <a:gridCol w="2182953">
                  <a:extLst>
                    <a:ext uri="{9D8B030D-6E8A-4147-A177-3AD203B41FA5}">
                      <a16:colId xmlns:a16="http://schemas.microsoft.com/office/drawing/2014/main" val="2119413191"/>
                    </a:ext>
                  </a:extLst>
                </a:gridCol>
              </a:tblGrid>
              <a:tr h="514208">
                <a:tc>
                  <a:txBody>
                    <a:bodyPr/>
                    <a:lstStyle/>
                    <a:p>
                      <a:r>
                        <a:rPr lang="el-GR" sz="1050" b="1" noProof="0">
                          <a:solidFill>
                            <a:schemeClr val="tx2"/>
                          </a:solidFill>
                        </a:rPr>
                        <a:t xml:space="preserve">Τύπος σύμβασης </a:t>
                      </a:r>
                      <a:r>
                        <a:rPr lang="el-GR" sz="1050" b="0" noProof="0">
                          <a:solidFill>
                            <a:schemeClr val="tx2"/>
                          </a:solidFill>
                        </a:rPr>
                        <a:t xml:space="preserve">(παρ. 40a)</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l-GR" sz="1050" b="1" noProof="0">
                          <a:solidFill>
                            <a:schemeClr val="tx2"/>
                          </a:solidFill>
                        </a:rPr>
                        <a:t xml:space="preserve">Αριθμός εργαζομένων (άτομα ή ισοδύναμα πλήρους απασχόλησης)</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413652">
                <a:tc>
                  <a:txBody>
                    <a:bodyPr/>
                    <a:lstStyle/>
                    <a:p>
                      <a:r>
                        <a:rPr lang="el-GR" sz="1050" b="0" noProof="0">
                          <a:solidFill>
                            <a:schemeClr val="tx2"/>
                          </a:solidFill>
                        </a:rPr>
                        <a:t xml:space="preserve">Προσωρινή απασχόληση</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1050" b="0" i="0" u="none" strike="noStrike" noProof="0">
                          <a:solidFill>
                            <a:srgbClr val="2D55FF"/>
                          </a:solidFill>
                          <a:effectLst/>
                          <a:latin typeface="Inter"/>
                        </a:rPr>
                        <a:t>{{</a:t>
                      </a:r>
                      <a:r>
                        <a:rPr lang="el-GR" sz="1050" b="0" i="0" u="none" strike="noStrike" noProof="0">
                          <a:solidFill>
                            <a:srgbClr val="2D55FF"/>
                          </a:solidFill>
                          <a:effectLst/>
                          <a:latin typeface="Inter"/>
                        </a:rPr>
                        <a:t>temporary</a:t>
                      </a:r>
                      <a:r>
                        <a:rPr lang="el-GR" sz="1050" b="0" i="0" u="none" strike="noStrike" noProof="0">
                          <a:solidFill>
                            <a:srgbClr val="2D55FF"/>
                          </a:solidFill>
                          <a:effectLst/>
                          <a:latin typeface="Inter"/>
                        </a:rPr>
                        <a:t>}}</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422793">
                <a:tc>
                  <a:txBody>
                    <a:bodyPr/>
                    <a:lstStyle/>
                    <a:p>
                      <a:r>
                        <a:rPr lang="el-GR" sz="1050" b="0" noProof="0">
                          <a:solidFill>
                            <a:schemeClr val="tx2"/>
                          </a:solidFill>
                        </a:rPr>
                        <a:t xml:space="preserve">Μόνιμη απασχόληση</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1050" b="0" i="0" u="none" strike="noStrike" noProof="0">
                          <a:solidFill>
                            <a:srgbClr val="2D55FF"/>
                          </a:solidFill>
                          <a:effectLst/>
                          <a:latin typeface="Inter"/>
                        </a:rPr>
                        <a:t>{{</a:t>
                      </a:r>
                      <a:r>
                        <a:rPr lang="el-GR" sz="1050" b="0" i="0" u="none" strike="noStrike" noProof="0">
                          <a:solidFill>
                            <a:srgbClr val="2D55FF"/>
                          </a:solidFill>
                          <a:effectLst/>
                          <a:latin typeface="Inter"/>
                        </a:rPr>
                        <a:t>fulltime</a:t>
                      </a:r>
                      <a:r>
                        <a:rPr lang="el-GR" sz="1050" b="0" i="0" u="none" strike="noStrike" noProof="0">
                          <a:solidFill>
                            <a:srgbClr val="2D55FF"/>
                          </a:solidFill>
                          <a:effectLst/>
                          <a:latin typeface="Inter"/>
                        </a:rPr>
                        <a:t>}}</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413652">
                <a:tc>
                  <a:txBody>
                    <a:bodyPr/>
                    <a:lstStyle/>
                    <a:p>
                      <a:r>
                        <a:rPr lang="el-GR" sz="1050" b="0" noProof="0">
                          <a:solidFill>
                            <a:schemeClr val="tx2"/>
                          </a:solidFill>
                        </a:rPr>
                        <a:t xml:space="preserve">Σύνολο εργαζομένων</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1050" b="0" i="0" u="none" strike="noStrike" noProof="0">
                          <a:solidFill>
                            <a:srgbClr val="2D55FF"/>
                          </a:solidFill>
                          <a:effectLst/>
                          <a:latin typeface="Inter"/>
                        </a:rPr>
                        <a:t>{{</a:t>
                      </a:r>
                      <a:r>
                        <a:rPr lang="el-GR" sz="1050" b="0" i="0" u="none" strike="noStrike" noProof="0">
                          <a:solidFill>
                            <a:srgbClr val="2D55FF"/>
                          </a:solidFill>
                          <a:effectLst/>
                          <a:latin typeface="Inter"/>
                        </a:rPr>
                        <a:t>total_employees</a:t>
                      </a:r>
                      <a:r>
                        <a:rPr lang="el-GR" sz="1050" b="0" i="0" u="none" strike="noStrike" noProof="0">
                          <a:solidFill>
                            <a:srgbClr val="2D55FF"/>
                          </a:solidFill>
                          <a:effectLst/>
                          <a:latin typeface="Inter"/>
                        </a:rPr>
                        <a:t>}}</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bl>
          </a:graphicData>
        </a:graphic>
      </p:graphicFrame>
      <p:graphicFrame>
        <p:nvGraphicFramePr>
          <p:cNvPr id="9" name="Table 8">
            <a:extLst>
              <a:ext uri="{FF2B5EF4-FFF2-40B4-BE49-F238E27FC236}">
                <a16:creationId xmlns:a16="http://schemas.microsoft.com/office/drawing/2014/main" id="{746843BE-938A-9316-3C8E-320134DF837C}"/>
              </a:ext>
            </a:extLst>
          </p:cNvPr>
          <p:cNvGraphicFramePr>
            <a:graphicFrameLocks noGrp="1"/>
          </p:cNvGraphicFramePr>
          <p:nvPr>
            <p:extLst>
              <p:ext uri="{D42A27DB-BD31-4B8C-83A1-F6EECF244321}">
                <p14:modId xmlns:p14="http://schemas.microsoft.com/office/powerpoint/2010/main" val="3482765489"/>
              </p:ext>
            </p:extLst>
          </p:nvPr>
        </p:nvGraphicFramePr>
        <p:xfrm>
          <a:off x="5008093" y="1520477"/>
          <a:ext cx="5238408" cy="1621480"/>
        </p:xfrm>
        <a:graphic>
          <a:graphicData uri="http://schemas.openxmlformats.org/drawingml/2006/table">
            <a:tbl>
              <a:tblPr firstRow="1">
                <a:tableStyleId>{2A488322-F2BA-4B5B-9748-0D474271808F}</a:tableStyleId>
              </a:tblPr>
              <a:tblGrid>
                <a:gridCol w="2619204">
                  <a:extLst>
                    <a:ext uri="{9D8B030D-6E8A-4147-A177-3AD203B41FA5}">
                      <a16:colId xmlns:a16="http://schemas.microsoft.com/office/drawing/2014/main" val="2698153288"/>
                    </a:ext>
                  </a:extLst>
                </a:gridCol>
                <a:gridCol w="2619204">
                  <a:extLst>
                    <a:ext uri="{9D8B030D-6E8A-4147-A177-3AD203B41FA5}">
                      <a16:colId xmlns:a16="http://schemas.microsoft.com/office/drawing/2014/main" val="2119413191"/>
                    </a:ext>
                  </a:extLst>
                </a:gridCol>
              </a:tblGrid>
              <a:tr h="252567">
                <a:tc>
                  <a:txBody>
                    <a:bodyPr/>
                    <a:lstStyle/>
                    <a:p>
                      <a:r>
                        <a:rPr lang="el-GR" sz="1050" b="1" noProof="0">
                          <a:solidFill>
                            <a:schemeClr val="tx2"/>
                          </a:solidFill>
                          <a:latin typeface="+mn-lt"/>
                        </a:rPr>
                        <a:t xml:space="preserve">Φύλο</a:t>
                      </a:r>
                      <a:r>
                        <a:rPr lang="el-GR" sz="1050" b="0" noProof="0">
                          <a:solidFill>
                            <a:schemeClr val="tx2"/>
                          </a:solidFill>
                          <a:latin typeface="+mn-lt"/>
                        </a:rPr>
                        <a:t xml:space="preserve"> (παρ. 40b)</a:t>
                      </a:r>
                      <a:r>
                        <a:rPr lang="el-GR" sz="1050" b="0" noProof="0">
                          <a:solidFill>
                            <a:schemeClr val="tx2"/>
                          </a:solidFill>
                        </a:rPr>
                        <a:t xml:space="preserve"/>
                      </a:r>
                      <a:endParaRPr lang="el-GR" sz="1050" b="0" noProof="0">
                        <a:solidFill>
                          <a:schemeClr val="tx2"/>
                        </a:solidFill>
                        <a:latin typeface="+mn-lt"/>
                      </a:endParaRP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l-GR" sz="1050" b="1" noProof="0">
                          <a:solidFill>
                            <a:schemeClr val="tx2"/>
                          </a:solidFill>
                          <a:latin typeface="+mn-lt"/>
                        </a:rPr>
                        <a:t xml:space="preserve">Αριθμός εργαζομένων (άτομα ή ισοδύναμα πλήρους απασχόλησης)</a:t>
                      </a:r>
                      <a:r>
                        <a:rPr lang="el-GR" sz="1050" b="1" noProof="0">
                          <a:solidFill>
                            <a:schemeClr val="tx2"/>
                          </a:solidFill>
                        </a:rPr>
                        <a:t xml:space="preserve"/>
                      </a:r>
                      <a:endParaRPr lang="el-GR" sz="1050" b="1" noProof="0">
                        <a:solidFill>
                          <a:schemeClr val="tx2"/>
                        </a:solidFill>
                        <a:latin typeface="+mn-lt"/>
                      </a:endParaRP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52567">
                <a:tc>
                  <a:txBody>
                    <a:bodyPr/>
                    <a:lstStyle/>
                    <a:p>
                      <a:r>
                        <a:rPr lang="el-GR" sz="1050" b="0" noProof="0">
                          <a:solidFill>
                            <a:schemeClr val="tx2"/>
                          </a:solidFill>
                          <a:latin typeface="+mn-lt"/>
                        </a:rPr>
                        <a:t xml:space="preserve">Άνδρας</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1050" b="0" i="0" u="none" strike="noStrike" noProof="0">
                          <a:solidFill>
                            <a:srgbClr val="2D55FF"/>
                          </a:solidFill>
                          <a:effectLst/>
                          <a:latin typeface="Inter"/>
                        </a:rPr>
                        <a:t>{{men}}</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52567">
                <a:tc>
                  <a:txBody>
                    <a:bodyPr/>
                    <a:lstStyle/>
                    <a:p>
                      <a:r>
                        <a:rPr lang="el-GR" sz="1050" b="0" noProof="0">
                          <a:solidFill>
                            <a:schemeClr val="tx2"/>
                          </a:solidFill>
                          <a:latin typeface="+mn-lt"/>
                        </a:rPr>
                        <a:t xml:space="preserve">Γυναίκα</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1050" b="0" i="0" u="none" strike="noStrike" noProof="0">
                          <a:solidFill>
                            <a:srgbClr val="2D55FF"/>
                          </a:solidFill>
                          <a:effectLst/>
                          <a:latin typeface="Inter"/>
                        </a:rPr>
                        <a:t>{{</a:t>
                      </a:r>
                      <a:r>
                        <a:rPr lang="el-GR" sz="1050" b="0" i="0" u="none" strike="noStrike" noProof="0">
                          <a:solidFill>
                            <a:srgbClr val="2D55FF"/>
                          </a:solidFill>
                          <a:effectLst/>
                          <a:latin typeface="Inter"/>
                        </a:rPr>
                        <a:t>women</a:t>
                      </a:r>
                      <a:r>
                        <a:rPr lang="el-GR" sz="1050" b="0" i="0" u="none" strike="noStrike" noProof="0">
                          <a:solidFill>
                            <a:srgbClr val="2D55FF"/>
                          </a:solidFill>
                          <a:effectLst/>
                          <a:latin typeface="Inter"/>
                        </a:rPr>
                        <a:t>}}</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r h="252567">
                <a:tc>
                  <a:txBody>
                    <a:bodyPr/>
                    <a:lstStyle/>
                    <a:p>
                      <a:r>
                        <a:rPr lang="el-GR" sz="1050" b="0" noProof="0">
                          <a:solidFill>
                            <a:schemeClr val="tx2"/>
                          </a:solidFill>
                          <a:latin typeface="+mn-lt"/>
                        </a:rPr>
                        <a:t xml:space="preserve">Άλλο</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1050" b="0" i="0" u="none" strike="noStrike" noProof="0">
                          <a:solidFill>
                            <a:srgbClr val="2D55FF"/>
                          </a:solidFill>
                          <a:effectLst/>
                          <a:latin typeface="Inter"/>
                        </a:rPr>
                        <a:t>{{</a:t>
                      </a:r>
                      <a:r>
                        <a:rPr lang="el-GR" sz="1050" b="0" i="0" u="none" strike="noStrike" noProof="0">
                          <a:solidFill>
                            <a:srgbClr val="2D55FF"/>
                          </a:solidFill>
                          <a:effectLst/>
                          <a:latin typeface="Inter"/>
                        </a:rPr>
                        <a:t>others</a:t>
                      </a:r>
                      <a:r>
                        <a:rPr lang="el-GR" sz="1050" b="0" i="0" u="none" strike="noStrike" noProof="0">
                          <a:solidFill>
                            <a:srgbClr val="2D55FF"/>
                          </a:solidFill>
                          <a:effectLst/>
                          <a:latin typeface="Inter"/>
                        </a:rPr>
                        <a:t>}}</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r h="252567">
                <a:tc>
                  <a:txBody>
                    <a:bodyPr/>
                    <a:lstStyle/>
                    <a:p>
                      <a:r>
                        <a:rPr lang="el-GR" sz="1050" b="0" noProof="0">
                          <a:solidFill>
                            <a:schemeClr val="tx2"/>
                          </a:solidFill>
                          <a:latin typeface="+mn-lt"/>
                        </a:rPr>
                        <a:t xml:space="preserve">Δεν καταγράφηκε</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1050" b="0" i="0" u="none" strike="noStrike" noProof="0">
                          <a:solidFill>
                            <a:srgbClr val="2D55FF"/>
                          </a:solidFill>
                          <a:effectLst/>
                          <a:latin typeface="Inter"/>
                        </a:rPr>
                        <a:t>{{</a:t>
                      </a:r>
                      <a:r>
                        <a:rPr lang="el-GR" sz="1050" b="0" i="0" u="none" strike="noStrike" noProof="0">
                          <a:solidFill>
                            <a:srgbClr val="2D55FF"/>
                          </a:solidFill>
                          <a:effectLst/>
                          <a:latin typeface="Inter"/>
                        </a:rPr>
                        <a:t>not_registeret</a:t>
                      </a:r>
                      <a:r>
                        <a:rPr lang="el-GR" sz="1050" b="0" i="0" u="none" strike="noStrike" noProof="0">
                          <a:solidFill>
                            <a:srgbClr val="2D55FF"/>
                          </a:solidFill>
                          <a:effectLst/>
                          <a:latin typeface="Inter"/>
                        </a:rPr>
                        <a:t>}}</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151098499"/>
                  </a:ext>
                </a:extLst>
              </a:tr>
              <a:tr h="252567">
                <a:tc>
                  <a:txBody>
                    <a:bodyPr/>
                    <a:lstStyle/>
                    <a:p>
                      <a:r>
                        <a:rPr lang="el-GR" sz="1050" b="0" noProof="0">
                          <a:solidFill>
                            <a:schemeClr val="tx2"/>
                          </a:solidFill>
                          <a:latin typeface="+mn-lt"/>
                        </a:rPr>
                        <a:t xml:space="preserve">Σύνολο εργαζομένων</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1050" b="0" i="0" u="none" strike="noStrike" noProof="0">
                          <a:solidFill>
                            <a:srgbClr val="2D55FF"/>
                          </a:solidFill>
                          <a:effectLst/>
                          <a:latin typeface="Inter"/>
                        </a:rPr>
                        <a:t>{{</a:t>
                      </a:r>
                      <a:r>
                        <a:rPr lang="el-GR" sz="1050" b="0" i="0" u="none" strike="noStrike" noProof="0">
                          <a:solidFill>
                            <a:srgbClr val="2D55FF"/>
                          </a:solidFill>
                          <a:effectLst/>
                          <a:latin typeface="Inter"/>
                        </a:rPr>
                        <a:t>total_employees</a:t>
                      </a:r>
                      <a:r>
                        <a:rPr lang="el-GR" sz="1050" b="0" i="0" u="none" strike="noStrike" noProof="0">
                          <a:solidFill>
                            <a:srgbClr val="2D55FF"/>
                          </a:solidFill>
                          <a:effectLst/>
                          <a:latin typeface="Inter"/>
                        </a:rPr>
                        <a:t>}}</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4190025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10</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br>
              <a:rPr lang="el-GR" noProof="0"/>
            </a:br>
            <a:endParaRPr lang="el-GR" noProof="0"/>
          </a:p>
        </p:txBody>
      </p:sp>
      <p:sp>
        <p:nvSpPr>
          <p:cNvPr id="3" name="Tekstfelt 2">
            <a:extLst>
              <a:ext uri="{FF2B5EF4-FFF2-40B4-BE49-F238E27FC236}">
                <a16:creationId xmlns:a16="http://schemas.microsoft.com/office/drawing/2014/main" id="{B45D574B-3D14-8531-DB71-2FD2A411CD63}"/>
              </a:ext>
            </a:extLst>
          </p:cNvPr>
          <p:cNvSpPr txBox="1"/>
          <p:nvPr/>
        </p:nvSpPr>
        <p:spPr>
          <a:xfrm>
            <a:off x="454796" y="913284"/>
            <a:ext cx="9791704" cy="728758"/>
          </a:xfrm>
          <a:prstGeom prst="rect">
            <a:avLst/>
          </a:prstGeom>
          <a:noFill/>
        </p:spPr>
        <p:txBody>
          <a:bodyPr wrap="square">
            <a:spAutoFit/>
          </a:bodyPr>
          <a:lstStyle/>
          <a:p>
            <a:pPr rtl="0">
              <a:buNone/>
            </a:pPr>
            <a:r>
              <a:rPr lang="el-GR" sz="1050" b="0" i="0" u="none" strike="noStrike" noProof="0">
                <a:solidFill>
                  <a:srgbClr val="25595D"/>
                </a:solidFill>
                <a:effectLst/>
                <a:latin typeface="Inter"/>
              </a:rPr>
              <a:t xml:space="preserve">Η επιχείρηση ανέφερε τον αριθμό εργαζομένων για τις εξής κατανομές: τύπος σύμβασης εργασίας, με διάκριση σε προσωρινές και μόνιμες συμβάσεις· φύλο, που δείχνει την κατανομή ανά φύλο· και χώρα σύναψης της σύμβασης εργασίας, που έχει σημασία εάν η επιχείρηση δραστηριοποιείται σε πολλές χώρες.</a:t>
            </a:r>
            <a:endParaRPr lang="el-GR" sz="1050" b="0" noProof="0">
              <a:effectLst/>
              <a:latin typeface="Inter"/>
            </a:endParaRPr>
          </a:p>
          <a:p>
            <a:pPr>
              <a:buNone/>
            </a:pPr>
            <a:br>
              <a:rPr lang="el-GR" sz="1050" noProof="0">
                <a:latin typeface="Inter"/>
              </a:rPr>
            </a:br>
            <a:endParaRPr lang="el-GR" sz="1050" noProof="0">
              <a:latin typeface="Inter"/>
            </a:endParaRPr>
          </a:p>
        </p:txBody>
      </p:sp>
      <p:graphicFrame>
        <p:nvGraphicFramePr>
          <p:cNvPr id="13" name="Table 13">
            <a:extLst>
              <a:ext uri="{FF2B5EF4-FFF2-40B4-BE49-F238E27FC236}">
                <a16:creationId xmlns:a16="http://schemas.microsoft.com/office/drawing/2014/main" id="{42F1F305-B426-7DDF-1FC3-46007564CD01}"/>
              </a:ext>
            </a:extLst>
          </p:cNvPr>
          <p:cNvGraphicFramePr>
            <a:graphicFrameLocks noGrp="1"/>
          </p:cNvGraphicFramePr>
          <p:nvPr>
            <p:extLst>
              <p:ext uri="{D42A27DB-BD31-4B8C-83A1-F6EECF244321}">
                <p14:modId xmlns:p14="http://schemas.microsoft.com/office/powerpoint/2010/main" val="2261046685"/>
              </p:ext>
            </p:extLst>
          </p:nvPr>
        </p:nvGraphicFramePr>
        <p:xfrm>
          <a:off x="447022" y="3446606"/>
          <a:ext cx="9790181" cy="1010268"/>
        </p:xfrm>
        <a:graphic>
          <a:graphicData uri="http://schemas.openxmlformats.org/drawingml/2006/table">
            <a:tbl>
              <a:tblPr firstRow="1">
                <a:tableStyleId>{2A488322-F2BA-4B5B-9748-0D474271808F}</a:tableStyleId>
              </a:tblPr>
              <a:tblGrid>
                <a:gridCol w="5233603">
                  <a:extLst>
                    <a:ext uri="{9D8B030D-6E8A-4147-A177-3AD203B41FA5}">
                      <a16:colId xmlns:a16="http://schemas.microsoft.com/office/drawing/2014/main" val="2698153288"/>
                    </a:ext>
                  </a:extLst>
                </a:gridCol>
                <a:gridCol w="4556578">
                  <a:extLst>
                    <a:ext uri="{9D8B030D-6E8A-4147-A177-3AD203B41FA5}">
                      <a16:colId xmlns:a16="http://schemas.microsoft.com/office/drawing/2014/main" val="2119413191"/>
                    </a:ext>
                  </a:extLst>
                </a:gridCol>
              </a:tblGrid>
              <a:tr h="252567">
                <a:tc>
                  <a:txBody>
                    <a:bodyPr/>
                    <a:lstStyle/>
                    <a:p>
                      <a:r>
                        <a:rPr lang="el-GR" sz="1050" b="1" noProof="0">
                          <a:solidFill>
                            <a:schemeClr val="tx2"/>
                          </a:solidFill>
                        </a:rPr>
                        <a:t xml:space="preserve">Χώρα (σύναψης της σύμβασης εργασίας) </a:t>
                      </a:r>
                      <a:r>
                        <a:rPr lang="el-GR" sz="1050" b="0" noProof="0">
                          <a:solidFill>
                            <a:schemeClr val="tx2"/>
                          </a:solidFill>
                        </a:rPr>
                        <a:t xml:space="preserve">(παρ. 40c)</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l-GR" sz="1050" b="1" noProof="0">
                          <a:solidFill>
                            <a:schemeClr val="tx2"/>
                          </a:solidFill>
                        </a:rPr>
                        <a:t xml:space="preserve">Αριθμός εργαζομένων (άτομα ή ισοδύναμα πλήρους απασχόλησης)</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52567">
                <a:tc>
                  <a:txBody>
                    <a:bodyPr/>
                    <a:lstStyle/>
                    <a:p>
                      <a:r>
                        <a:rPr lang="el-GR" sz="1050" b="0" noProof="0">
                          <a:solidFill>
                            <a:schemeClr val="tx2"/>
                          </a:solidFill>
                        </a:rPr>
                        <a:t xml:space="preserve">Δανία</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buNone/>
                      </a:pPr>
                      <a:r>
                        <a:rPr lang="el-GR" sz="1050" b="0" i="0" u="none" strike="noStrike" noProof="0">
                          <a:solidFill>
                            <a:srgbClr val="2D55FF"/>
                          </a:solidFill>
                          <a:effectLst/>
                          <a:latin typeface="Inter"/>
                        </a:rPr>
                        <a:t>{{Denmark}}</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52567">
                <a:tc>
                  <a:txBody>
                    <a:bodyPr/>
                    <a:lstStyle/>
                    <a:p>
                      <a:pPr rtl="0" fontAlgn="ctr">
                        <a:buNone/>
                      </a:pPr>
                      <a:r>
                        <a:rPr lang="el-GR" sz="1050" b="0" i="0" u="none" strike="noStrike" noProof="0">
                          <a:solidFill>
                            <a:srgbClr val="2D55FF"/>
                          </a:solidFill>
                          <a:effectLst/>
                          <a:latin typeface="Inter"/>
                        </a:rPr>
                        <a:t>{{Land_b}}</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buNone/>
                      </a:pPr>
                      <a:r>
                        <a:rPr lang="el-GR" sz="1050" b="0" i="0" u="none" strike="noStrike" noProof="0">
                          <a:solidFill>
                            <a:srgbClr val="2D55FF"/>
                          </a:solidFill>
                          <a:effectLst/>
                          <a:latin typeface="Inter"/>
                        </a:rPr>
                        <a:t>{{</a:t>
                      </a:r>
                      <a:r>
                        <a:rPr lang="el-GR" sz="1050" b="0" i="0" u="none" strike="noStrike" noProof="0">
                          <a:solidFill>
                            <a:srgbClr val="2D55FF"/>
                          </a:solidFill>
                          <a:effectLst/>
                        </a:rPr>
                        <a:t>FTE_eller_antal_personer_land_b</a:t>
                      </a:r>
                      <a:r>
                        <a:rPr lang="el-GR" sz="1050" b="0" i="0" u="none" strike="noStrike" noProof="0">
                          <a:solidFill>
                            <a:srgbClr val="2D55FF"/>
                          </a:solidFill>
                          <a:effectLst/>
                          <a:latin typeface="Inter"/>
                        </a:rPr>
                        <a:t>}}</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52567">
                <a:tc>
                  <a:txBody>
                    <a:bodyPr/>
                    <a:lstStyle/>
                    <a:p>
                      <a:r>
                        <a:rPr lang="el-GR" sz="1050" b="0" noProof="0">
                          <a:solidFill>
                            <a:schemeClr val="tx2"/>
                          </a:solidFill>
                        </a:rPr>
                        <a:t xml:space="preserve">Σύνολο εργαζομένων</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1050" b="0" i="0" u="none" strike="noStrike" noProof="0">
                          <a:solidFill>
                            <a:srgbClr val="2D55FF"/>
                          </a:solidFill>
                          <a:effectLst/>
                          <a:latin typeface="Inter"/>
                        </a:rPr>
                        <a:t>{{Total_out_of_countries}}</a:t>
                      </a:r>
                      <a:endParaRPr lang="el-G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bl>
          </a:graphicData>
        </a:graphic>
      </p:graphicFrame>
    </p:spTree>
    <p:extLst>
      <p:ext uri="{BB962C8B-B14F-4D97-AF65-F5344CB8AC3E}">
        <p14:creationId xmlns:p14="http://schemas.microsoft.com/office/powerpoint/2010/main" val="22989718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Ίδιο εργατικό δυναμικό: υγεία και ασφάλεια (B9)</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3735616830"/>
              </p:ext>
            </p:extLst>
          </p:nvPr>
        </p:nvGraphicFramePr>
        <p:xfrm>
          <a:off x="445500" y="1509220"/>
          <a:ext cx="4796551" cy="889036"/>
        </p:xfrm>
        <a:graphic>
          <a:graphicData uri="http://schemas.openxmlformats.org/drawingml/2006/table">
            <a:tbl>
              <a:tblPr firstRow="1">
                <a:tableStyleId>{2A488322-F2BA-4B5B-9748-0D474271808F}</a:tableStyleId>
              </a:tblPr>
              <a:tblGrid>
                <a:gridCol w="2656189">
                  <a:extLst>
                    <a:ext uri="{9D8B030D-6E8A-4147-A177-3AD203B41FA5}">
                      <a16:colId xmlns:a16="http://schemas.microsoft.com/office/drawing/2014/main" val="2698153288"/>
                    </a:ext>
                  </a:extLst>
                </a:gridCol>
                <a:gridCol w="2140363">
                  <a:extLst>
                    <a:ext uri="{9D8B030D-6E8A-4147-A177-3AD203B41FA5}">
                      <a16:colId xmlns:a16="http://schemas.microsoft.com/office/drawing/2014/main" val="2119413191"/>
                    </a:ext>
                  </a:extLst>
                </a:gridCol>
              </a:tblGrid>
              <a:tr h="29634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Καταγραπτέα εργατικά ατυχήματα </a:t>
                      </a:r>
                      <a:r>
                        <a:rPr lang="el-GR" sz="1050" b="0" noProof="0">
                          <a:solidFill>
                            <a:schemeClr val="tx2"/>
                          </a:solidFill>
                        </a:rPr>
                        <a:t xml:space="preserve">(παρ. 41a)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Έτος</a:t>
                      </a:r>
                      <a:r>
                        <a:rPr lang="el-GR" sz="1050" b="1" noProof="0">
                          <a:solidFill>
                            <a:schemeClr val="accent2"/>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96345">
                <a:tc>
                  <a:txBody>
                    <a:bodyPr/>
                    <a:lstStyle/>
                    <a:p>
                      <a:r>
                        <a:rPr lang="el-GR" sz="1050" b="0" noProof="0">
                          <a:solidFill>
                            <a:schemeClr val="tx2"/>
                          </a:solidFill>
                        </a:rPr>
                        <a:t xml:space="preserve">Αριθμός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0" i="0" u="none" strike="noStrike" kern="1200" cap="none" spc="0" normalizeH="0" baseline="0" noProof="0">
                          <a:ln>
                            <a:noFill/>
                          </a:ln>
                          <a:solidFill>
                            <a:srgbClr val="2D55FF"/>
                          </a:solidFill>
                          <a:effectLst/>
                          <a:uLnTx/>
                          <a:uFillTx/>
                          <a:latin typeface="Inter"/>
                          <a:ea typeface="+mn-ea"/>
                          <a:cs typeface="+mn-cs"/>
                        </a:rPr>
                        <a:t>{{</a:t>
                      </a:r>
                      <a:r>
                        <a:rPr lang="el-GR" sz="1050" b="0" i="0" u="none" strike="noStrike" kern="1200" cap="none" spc="0" normalizeH="0" baseline="0" noProof="0">
                          <a:ln>
                            <a:noFill/>
                          </a:ln>
                          <a:solidFill>
                            <a:srgbClr val="2D55FF"/>
                          </a:solidFill>
                          <a:effectLst/>
                          <a:uLnTx/>
                          <a:uFillTx/>
                          <a:latin typeface="Inter"/>
                        </a:rPr>
                        <a:t>indsat_antal_accidents</a:t>
                      </a:r>
                      <a:r>
                        <a:rPr lang="el-GR" sz="1050" b="0" i="0" u="none" strike="noStrike" kern="1200" cap="none" spc="0" normalizeH="0" baseline="0" noProof="0">
                          <a:ln>
                            <a:noFill/>
                          </a:ln>
                          <a:solidFill>
                            <a:srgbClr val="2D55FF"/>
                          </a:solidFill>
                          <a:effectLst/>
                          <a:uLnTx/>
                          <a:uFillTx/>
                          <a:latin typeface="Inter"/>
                          <a:ea typeface="+mn-ea"/>
                          <a:cs typeface="+mn-cs"/>
                        </a:rPr>
                        <a:t>}}</a:t>
                      </a:r>
                      <a:endParaRPr kumimoji="0" lang="el-GR" sz="1050" b="0" i="0" u="none" strike="noStrike" kern="1200" cap="none" spc="0" normalizeH="0" baseline="0" noProof="0">
                        <a:ln>
                          <a:noFill/>
                        </a:ln>
                        <a:solidFill>
                          <a:srgbClr val="2D55FF"/>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96345">
                <a:tc>
                  <a:txBody>
                    <a:bodyPr/>
                    <a:lstStyle/>
                    <a:p>
                      <a:r>
                        <a:rPr lang="el-GR" sz="1050" b="0" noProof="0">
                          <a:solidFill>
                            <a:schemeClr val="tx2"/>
                          </a:solidFill>
                        </a:rPr>
                        <a:t xml:space="preserve">Δείκτης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0" i="0" u="none" strike="noStrike" kern="1200" cap="none" spc="0" normalizeH="0" baseline="0" noProof="0">
                          <a:ln>
                            <a:noFill/>
                          </a:ln>
                          <a:solidFill>
                            <a:srgbClr val="2D55FF"/>
                          </a:solidFill>
                          <a:effectLst/>
                          <a:uLnTx/>
                          <a:uFillTx/>
                          <a:latin typeface="Inter"/>
                          <a:ea typeface="+mn-ea"/>
                          <a:cs typeface="+mn-cs"/>
                        </a:rPr>
                        <a:t>{{</a:t>
                      </a:r>
                      <a:r>
                        <a:rPr lang="el-GR" sz="1050" b="0" i="0" u="none" strike="noStrike" kern="1200" cap="none" spc="0" normalizeH="0" baseline="0" noProof="0">
                          <a:ln>
                            <a:noFill/>
                          </a:ln>
                          <a:solidFill>
                            <a:srgbClr val="2D55FF"/>
                          </a:solidFill>
                          <a:effectLst/>
                          <a:uLnTx/>
                          <a:uFillTx/>
                          <a:latin typeface="Inter"/>
                        </a:rPr>
                        <a:t>indsat_accidents_frequents</a:t>
                      </a:r>
                      <a:r>
                        <a:rPr lang="el-GR" sz="1050" b="0" i="0" u="none" strike="noStrike" kern="1200" cap="none" spc="0" normalizeH="0" baseline="0" noProof="0">
                          <a:ln>
                            <a:noFill/>
                          </a:ln>
                          <a:solidFill>
                            <a:srgbClr val="2D55FF"/>
                          </a:solidFill>
                          <a:effectLst/>
                          <a:uLnTx/>
                          <a:uFillTx/>
                          <a:latin typeface="Inter"/>
                          <a:ea typeface="+mn-ea"/>
                          <a:cs typeface="+mn-cs"/>
                        </a:rPr>
                        <a:t>}}</a:t>
                      </a:r>
                      <a:endParaRPr kumimoji="0" lang="el-GR" sz="1050" b="0" i="0" u="none" strike="noStrike" kern="1200" cap="none" spc="0" normalizeH="0" baseline="0" noProof="0">
                        <a:ln>
                          <a:noFill/>
                        </a:ln>
                        <a:solidFill>
                          <a:srgbClr val="2D55FF"/>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graphicFrame>
        <p:nvGraphicFramePr>
          <p:cNvPr id="9" name="Table 8">
            <a:extLst>
              <a:ext uri="{FF2B5EF4-FFF2-40B4-BE49-F238E27FC236}">
                <a16:creationId xmlns:a16="http://schemas.microsoft.com/office/drawing/2014/main" id="{F34D7173-AC05-2CA2-966F-6F3A8736B5C6}"/>
              </a:ext>
            </a:extLst>
          </p:cNvPr>
          <p:cNvGraphicFramePr>
            <a:graphicFrameLocks noGrp="1"/>
          </p:cNvGraphicFramePr>
          <p:nvPr>
            <p:extLst>
              <p:ext uri="{D42A27DB-BD31-4B8C-83A1-F6EECF244321}">
                <p14:modId xmlns:p14="http://schemas.microsoft.com/office/powerpoint/2010/main" val="3388670097"/>
              </p:ext>
            </p:extLst>
          </p:nvPr>
        </p:nvGraphicFramePr>
        <p:xfrm>
          <a:off x="5440653" y="1509221"/>
          <a:ext cx="4796551" cy="873842"/>
        </p:xfrm>
        <a:graphic>
          <a:graphicData uri="http://schemas.openxmlformats.org/drawingml/2006/table">
            <a:tbl>
              <a:tblPr firstRow="1">
                <a:tableStyleId>{2A488322-F2BA-4B5B-9748-0D474271808F}</a:tableStyleId>
              </a:tblPr>
              <a:tblGrid>
                <a:gridCol w="3313422">
                  <a:extLst>
                    <a:ext uri="{9D8B030D-6E8A-4147-A177-3AD203B41FA5}">
                      <a16:colId xmlns:a16="http://schemas.microsoft.com/office/drawing/2014/main" val="2698153288"/>
                    </a:ext>
                  </a:extLst>
                </a:gridCol>
                <a:gridCol w="1483129">
                  <a:extLst>
                    <a:ext uri="{9D8B030D-6E8A-4147-A177-3AD203B41FA5}">
                      <a16:colId xmlns:a16="http://schemas.microsoft.com/office/drawing/2014/main" val="2119413191"/>
                    </a:ext>
                  </a:extLst>
                </a:gridCol>
              </a:tblGrid>
              <a:tr h="29128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Θάνατοι λόγω εργασίας </a:t>
                      </a:r>
                      <a:r>
                        <a:rPr lang="el-GR" sz="1050" b="0" noProof="0">
                          <a:solidFill>
                            <a:schemeClr val="tx2"/>
                          </a:solidFill>
                        </a:rPr>
                        <a:t xml:space="preserve">(παρ. 41b)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Έτος</a:t>
                      </a:r>
                      <a:r>
                        <a:rPr lang="el-GR" sz="1050" b="1" noProof="0">
                          <a:solidFill>
                            <a:schemeClr val="accent2"/>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91281">
                <a:tc>
                  <a:txBody>
                    <a:bodyPr/>
                    <a:lstStyle/>
                    <a:p>
                      <a:r>
                        <a:rPr lang="el-GR" sz="1050" b="0" noProof="0">
                          <a:solidFill>
                            <a:schemeClr val="tx2"/>
                          </a:solidFill>
                        </a:rPr>
                        <a:t xml:space="preserve">Λόγω εργατικού τραυματισμού/ατυχήματος</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a:lnSpc>
                          <a:spcPct val="100000"/>
                        </a:lnSpc>
                        <a:spcBef>
                          <a:spcPts val="0"/>
                        </a:spcBef>
                        <a:spcAft>
                          <a:spcPts val="0"/>
                        </a:spcAft>
                        <a:buNone/>
                        <a:tabLst/>
                        <a:defRPr/>
                      </a:pPr>
                      <a:r>
                        <a:rPr lang="el-GR" sz="1050" b="0" i="0" u="none" strike="noStrike" kern="1200" cap="none" spc="0" normalizeH="0" baseline="0" noProof="0">
                          <a:ln>
                            <a:noFill/>
                          </a:ln>
                          <a:solidFill>
                            <a:srgbClr val="2D55FF"/>
                          </a:solidFill>
                          <a:effectLst/>
                          <a:uLnTx/>
                          <a:uFillTx/>
                          <a:latin typeface="Inter"/>
                          <a:ea typeface="+mn-ea"/>
                          <a:cs typeface="+mn-cs"/>
                        </a:rPr>
                        <a:t>{{</a:t>
                      </a:r>
                      <a:r>
                        <a:rPr lang="el-GR" sz="1050" b="0" i="0" u="none" strike="noStrike" kern="1200" cap="none" spc="0" normalizeH="0" baseline="0" noProof="0">
                          <a:ln>
                            <a:noFill/>
                          </a:ln>
                          <a:solidFill>
                            <a:srgbClr val="2D55FF"/>
                          </a:solidFill>
                          <a:effectLst/>
                          <a:uLnTx/>
                          <a:uFillTx/>
                          <a:latin typeface="Inter"/>
                        </a:rPr>
                        <a:t>deaths_by_accidents</a:t>
                      </a:r>
                      <a:r>
                        <a:rPr lang="el-GR" sz="1050" b="0" i="0" u="none" strike="noStrike" kern="1200" cap="none" spc="0" normalizeH="0" baseline="0" noProof="0">
                          <a:ln>
                            <a:noFill/>
                          </a:ln>
                          <a:solidFill>
                            <a:srgbClr val="2D55FF"/>
                          </a:solidFill>
                          <a:effectLst/>
                          <a:uLnTx/>
                          <a:uFillTx/>
                          <a:latin typeface="Inter"/>
                          <a:ea typeface="+mn-ea"/>
                          <a:cs typeface="+mn-cs"/>
                        </a:rPr>
                        <a:t>}}</a:t>
                      </a:r>
                      <a:endParaRPr kumimoji="0" lang="el-GR" sz="1050" b="0" i="0" u="none" strike="noStrike" kern="1200" cap="none" spc="0" normalizeH="0" baseline="0" noProof="0">
                        <a:ln>
                          <a:noFill/>
                        </a:ln>
                        <a:solidFill>
                          <a:srgbClr val="2D55FF"/>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91281">
                <a:tc>
                  <a:txBody>
                    <a:bodyPr/>
                    <a:lstStyle/>
                    <a:p>
                      <a:r>
                        <a:rPr lang="el-GR" sz="1050" b="0" noProof="0">
                          <a:solidFill>
                            <a:schemeClr val="tx2"/>
                          </a:solidFill>
                        </a:rPr>
                        <a:t xml:space="preserve">Λόγω ασθένειας σχετιζόμενης με την εργασία</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0" i="0" u="none" strike="noStrike" kern="1200" cap="none" spc="0" normalizeH="0" baseline="0" noProof="0">
                          <a:ln>
                            <a:noFill/>
                          </a:ln>
                          <a:solidFill>
                            <a:srgbClr val="2D55FF"/>
                          </a:solidFill>
                          <a:effectLst/>
                          <a:uLnTx/>
                          <a:uFillTx/>
                          <a:latin typeface="Inter"/>
                          <a:ea typeface="+mn-ea"/>
                          <a:cs typeface="+mn-cs"/>
                        </a:rPr>
                        <a:t>{{</a:t>
                      </a:r>
                      <a:r>
                        <a:rPr lang="el-GR" sz="1050" b="0" i="0" u="none" strike="noStrike" kern="1200" cap="none" spc="0" normalizeH="0" baseline="0" noProof="0">
                          <a:ln>
                            <a:noFill/>
                          </a:ln>
                          <a:solidFill>
                            <a:srgbClr val="2D55FF"/>
                          </a:solidFill>
                          <a:effectLst/>
                          <a:uLnTx/>
                          <a:uFillTx/>
                          <a:latin typeface="Inter"/>
                        </a:rPr>
                        <a:t>deaths_by_health</a:t>
                      </a:r>
                      <a:r>
                        <a:rPr lang="el-GR" sz="1050" b="0" i="0" u="none" strike="noStrike" kern="1200" cap="none" spc="0" normalizeH="0" baseline="0" noProof="0">
                          <a:ln>
                            <a:noFill/>
                          </a:ln>
                          <a:solidFill>
                            <a:srgbClr val="2D55FF"/>
                          </a:solidFill>
                          <a:effectLst/>
                          <a:uLnTx/>
                          <a:uFillTx/>
                          <a:latin typeface="Inter"/>
                          <a:ea typeface="+mn-ea"/>
                          <a:cs typeface="+mn-cs"/>
                        </a:rPr>
                        <a:t>}}</a:t>
                      </a:r>
                      <a:endParaRPr kumimoji="0" lang="el-GR" sz="1050" b="0" i="0" u="none" strike="noStrike" kern="1200" cap="none" spc="0" normalizeH="0" baseline="0" noProof="0">
                        <a:ln>
                          <a:noFill/>
                        </a:ln>
                        <a:solidFill>
                          <a:srgbClr val="2D55FF"/>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11</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br>
              <a:rPr lang="el-GR" noProof="0"/>
            </a:br>
            <a:endParaRPr lang="el-GR" noProof="0"/>
          </a:p>
        </p:txBody>
      </p:sp>
      <p:sp>
        <p:nvSpPr>
          <p:cNvPr id="23" name="Tekstfelt 22">
            <a:extLst>
              <a:ext uri="{FF2B5EF4-FFF2-40B4-BE49-F238E27FC236}">
                <a16:creationId xmlns:a16="http://schemas.microsoft.com/office/drawing/2014/main" id="{5D01A9BD-1028-6124-EDFA-F7528B760856}"/>
              </a:ext>
            </a:extLst>
          </p:cNvPr>
          <p:cNvSpPr txBox="1"/>
          <p:nvPr/>
        </p:nvSpPr>
        <p:spPr>
          <a:xfrm>
            <a:off x="454796" y="873256"/>
            <a:ext cx="9791704" cy="728758"/>
          </a:xfrm>
          <a:prstGeom prst="rect">
            <a:avLst/>
          </a:prstGeom>
          <a:noFill/>
        </p:spPr>
        <p:txBody>
          <a:bodyPr wrap="square">
            <a:spAutoFit/>
          </a:bodyPr>
          <a:lstStyle/>
          <a:p>
            <a:pPr rtl="0">
              <a:buNone/>
            </a:pPr>
            <a:r>
              <a:rPr lang="el-GR" sz="1050" b="0" i="0" u="none" strike="noStrike" noProof="0">
                <a:solidFill>
                  <a:schemeClr val="tx2"/>
                </a:solidFill>
                <a:effectLst/>
                <a:latin typeface="Inter"/>
              </a:rPr>
              <a:t xml:space="preserve">Η επιχείρηση ανέφερε στοιχεία για τον αριθμό καταγραπτέων εργατικών ατυχημάτων και θανάτων λόγω εργασίας για τις εξής κατανομές: αριθμός και δείκτης. Αναφέρει επίσης εάν οι θάνατοι οφείλονται σε τραυματισμούς/ατυχήματα ή σε ασθένεια.</a:t>
            </a:r>
            <a:endParaRPr lang="el-GR" sz="1050" b="0" noProof="0">
              <a:solidFill>
                <a:schemeClr val="tx2"/>
              </a:solidFill>
              <a:effectLst/>
              <a:latin typeface="Inter"/>
            </a:endParaRPr>
          </a:p>
          <a:p>
            <a:pPr>
              <a:buNone/>
            </a:pPr>
            <a:br>
              <a:rPr lang="el-GR" sz="1050" noProof="0">
                <a:solidFill>
                  <a:schemeClr val="tx2"/>
                </a:solidFill>
                <a:latin typeface="Inter"/>
              </a:rPr>
            </a:br>
            <a:endParaRPr lang="el-GR" sz="1050" noProof="0">
              <a:solidFill>
                <a:schemeClr val="tx2"/>
              </a:solidFill>
              <a:latin typeface="Inter"/>
            </a:endParaRPr>
          </a:p>
        </p:txBody>
      </p:sp>
      <p:sp>
        <p:nvSpPr>
          <p:cNvPr id="24" name="Title 3">
            <a:extLst>
              <a:ext uri="{FF2B5EF4-FFF2-40B4-BE49-F238E27FC236}">
                <a16:creationId xmlns:a16="http://schemas.microsoft.com/office/drawing/2014/main" id="{9671F0E7-ADFB-1E9D-A747-4277AC9D48F4}"/>
              </a:ext>
            </a:extLst>
          </p:cNvPr>
          <p:cNvSpPr txBox="1">
            <a:spLocks/>
          </p:cNvSpPr>
          <p:nvPr/>
        </p:nvSpPr>
        <p:spPr>
          <a:xfrm>
            <a:off x="454796" y="2676156"/>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el-GR" noProof="0"/>
              <a:t xml:space="preserve">Εργατικό δυναμικό: αμοιβές, συλλογικές συμβάσεις και κατάρτιση (B10)</a:t>
            </a:r>
          </a:p>
        </p:txBody>
      </p:sp>
      <p:graphicFrame>
        <p:nvGraphicFramePr>
          <p:cNvPr id="26" name="Table 14">
            <a:extLst>
              <a:ext uri="{FF2B5EF4-FFF2-40B4-BE49-F238E27FC236}">
                <a16:creationId xmlns:a16="http://schemas.microsoft.com/office/drawing/2014/main" id="{B9DC9ED6-A05A-D3CE-334F-D39DB9606395}"/>
              </a:ext>
            </a:extLst>
          </p:cNvPr>
          <p:cNvGraphicFramePr>
            <a:graphicFrameLocks noGrp="1"/>
          </p:cNvGraphicFramePr>
          <p:nvPr>
            <p:extLst>
              <p:ext uri="{D42A27DB-BD31-4B8C-83A1-F6EECF244321}">
                <p14:modId xmlns:p14="http://schemas.microsoft.com/office/powerpoint/2010/main" val="2949925802"/>
              </p:ext>
            </p:extLst>
          </p:nvPr>
        </p:nvGraphicFramePr>
        <p:xfrm>
          <a:off x="5449949" y="3922747"/>
          <a:ext cx="4796550" cy="767803"/>
        </p:xfrm>
        <a:graphic>
          <a:graphicData uri="http://schemas.openxmlformats.org/drawingml/2006/table">
            <a:tbl>
              <a:tblPr firstRow="1">
                <a:tableStyleId>{2A488322-F2BA-4B5B-9748-0D474271808F}</a:tableStyleId>
              </a:tblPr>
              <a:tblGrid>
                <a:gridCol w="3337539">
                  <a:extLst>
                    <a:ext uri="{9D8B030D-6E8A-4147-A177-3AD203B41FA5}">
                      <a16:colId xmlns:a16="http://schemas.microsoft.com/office/drawing/2014/main" val="2698153288"/>
                    </a:ext>
                  </a:extLst>
                </a:gridCol>
                <a:gridCol w="1459012">
                  <a:extLst>
                    <a:ext uri="{9D8B030D-6E8A-4147-A177-3AD203B41FA5}">
                      <a16:colId xmlns:a16="http://schemas.microsoft.com/office/drawing/2014/main" val="2119413191"/>
                    </a:ext>
                  </a:extLst>
                </a:gridCol>
              </a:tblGrid>
              <a:tr h="293941">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Μισθολογικό χάσμα ανδρών και γυναικών εργαζομένων </a:t>
                      </a:r>
                      <a:r>
                        <a:rPr lang="el-GR" sz="1050" b="0" noProof="0">
                          <a:solidFill>
                            <a:schemeClr val="tx2"/>
                          </a:solidFill>
                        </a:rPr>
                        <a:t xml:space="preserve">(παρ. 42b)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Έτος</a:t>
                      </a:r>
                      <a:r>
                        <a:rPr lang="el-GR" sz="1050" b="1" noProof="0">
                          <a:solidFill>
                            <a:schemeClr val="accent2"/>
                          </a:solidFill>
                          <a:latin typeface="Calibri" panose="020F0502020204030204" pitchFamily="34" charset="0"/>
                          <a:cs typeface="Calibri" panose="020F0502020204030204" pitchFamily="34" charset="0"/>
                        </a:rPr>
                        <a:t> </a:t>
                      </a:r>
                      <a:r>
                        <a:rPr lang="el-GR" sz="1050" b="1" noProof="0">
                          <a:solidFill>
                            <a:schemeClr val="accent2"/>
                          </a:solidFill>
                        </a:rPr>
                        <a:t>{{</a:t>
                      </a:r>
                      <a:r>
                        <a:rPr lang="el-GR" sz="1050" b="1" noProof="0">
                          <a:solidFill>
                            <a:schemeClr val="accent2"/>
                          </a:solidFill>
                        </a:rPr>
                        <a:t>insert_year</a:t>
                      </a:r>
                      <a:r>
                        <a:rPr lang="el-GR" sz="1050" b="1" noProof="0">
                          <a:solidFill>
                            <a:schemeClr val="accent2"/>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73862">
                <a:tc v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el-GR" sz="1050" b="0" noProof="0">
                          <a:solidFill>
                            <a:schemeClr val="accent2"/>
                          </a:solidFill>
                        </a:rPr>
                        <a:t>{{</a:t>
                      </a:r>
                      <a:r>
                        <a:rPr lang="el-GR" sz="1050" b="0" noProof="0">
                          <a:solidFill>
                            <a:schemeClr val="accent2"/>
                          </a:solidFill>
                        </a:rPr>
                        <a:t>indsat_procentvise_lonforskel</a:t>
                      </a:r>
                      <a:r>
                        <a:rPr lang="el-GR" sz="1050" b="0" noProof="0">
                          <a:solidFill>
                            <a:schemeClr val="accent2"/>
                          </a:solidFill>
                        </a:rPr>
                        <a:t>}}</a:t>
                      </a:r>
                    </a:p>
                  </a:txBody>
                  <a:tcPr marL="31571" marR="31571"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27" name="Tabel 26">
            <a:extLst>
              <a:ext uri="{FF2B5EF4-FFF2-40B4-BE49-F238E27FC236}">
                <a16:creationId xmlns:a16="http://schemas.microsoft.com/office/drawing/2014/main" id="{6746C932-5E3F-E60C-3154-F9D424D47444}"/>
              </a:ext>
            </a:extLst>
          </p:cNvPr>
          <p:cNvGraphicFramePr>
            <a:graphicFrameLocks noGrp="1"/>
          </p:cNvGraphicFramePr>
          <p:nvPr>
            <p:extLst>
              <p:ext uri="{D42A27DB-BD31-4B8C-83A1-F6EECF244321}">
                <p14:modId xmlns:p14="http://schemas.microsoft.com/office/powerpoint/2010/main" val="1071495807"/>
              </p:ext>
            </p:extLst>
          </p:nvPr>
        </p:nvGraphicFramePr>
        <p:xfrm>
          <a:off x="445496" y="3922749"/>
          <a:ext cx="4800267" cy="767803"/>
        </p:xfrm>
        <a:graphic>
          <a:graphicData uri="http://schemas.openxmlformats.org/drawingml/2006/table">
            <a:tbl>
              <a:tblPr firstRow="1">
                <a:tableStyleId>{2A488322-F2BA-4B5B-9748-0D474271808F}</a:tableStyleId>
              </a:tblPr>
              <a:tblGrid>
                <a:gridCol w="2633550">
                  <a:extLst>
                    <a:ext uri="{9D8B030D-6E8A-4147-A177-3AD203B41FA5}">
                      <a16:colId xmlns:a16="http://schemas.microsoft.com/office/drawing/2014/main" val="160727125"/>
                    </a:ext>
                  </a:extLst>
                </a:gridCol>
                <a:gridCol w="1111137">
                  <a:extLst>
                    <a:ext uri="{9D8B030D-6E8A-4147-A177-3AD203B41FA5}">
                      <a16:colId xmlns:a16="http://schemas.microsoft.com/office/drawing/2014/main" val="1767985329"/>
                    </a:ext>
                  </a:extLst>
                </a:gridCol>
                <a:gridCol w="1055580">
                  <a:extLst>
                    <a:ext uri="{9D8B030D-6E8A-4147-A177-3AD203B41FA5}">
                      <a16:colId xmlns:a16="http://schemas.microsoft.com/office/drawing/2014/main" val="1397164534"/>
                    </a:ext>
                  </a:extLst>
                </a:gridCol>
              </a:tblGrid>
              <a:tr h="181087">
                <a:tc>
                  <a:txBody>
                    <a:bodyPr/>
                    <a:lstStyle/>
                    <a:p>
                      <a:r>
                        <a:rPr lang="el-GR" sz="1050" b="1" noProof="0">
                          <a:solidFill>
                            <a:schemeClr val="tx2"/>
                          </a:solidFill>
                        </a:rPr>
                        <a:t xml:space="preserve">Στοιχεία για τον κατώτατο μισθό </a:t>
                      </a:r>
                      <a:r>
                        <a:rPr lang="el-GR" sz="1050" b="0" noProof="0">
                          <a:solidFill>
                            <a:schemeClr val="tx2"/>
                          </a:solidFill>
                        </a:rPr>
                        <a:t>(42a)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l-GR" sz="1050" b="1" noProof="0">
                          <a:solidFill>
                            <a:schemeClr val="tx2"/>
                          </a:solidFill>
                        </a:rPr>
                        <a:t xml:space="preserve">Ναι</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l-GR" sz="1050" b="1" noProof="0">
                          <a:solidFill>
                            <a:schemeClr val="tx2"/>
                          </a:solidFill>
                        </a:rPr>
                        <a:t xml:space="preserve">Όχι</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4203607533"/>
                  </a:ext>
                </a:extLst>
              </a:tr>
              <a:tr h="440951">
                <a:tc>
                  <a:txBody>
                    <a:bodyPr/>
                    <a:lstStyle/>
                    <a:p>
                      <a:r>
                        <a:rPr lang="el-GR" sz="1050" b="0" noProof="0">
                          <a:solidFill>
                            <a:schemeClr val="tx2"/>
                          </a:solidFill>
                        </a:rPr>
                        <a:t xml:space="preserve">Στην επιχείρηση όλοι οι εργαζόμενοι λαμβάνουν αμοιβή τουλάχιστον στο επίπεδο του κατώτατου μισθού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l-GR" sz="1050" b="0" i="0" u="none" strike="noStrike" noProof="0">
                          <a:solidFill>
                            <a:srgbClr val="2D55FF"/>
                          </a:solidFill>
                          <a:effectLst/>
                          <a:latin typeface="Inter"/>
                        </a:rPr>
                        <a:t>{{</a:t>
                      </a:r>
                      <a:r>
                        <a:rPr lang="el-GR" sz="1050" b="0" i="0" u="none" strike="noStrike" noProof="0">
                          <a:solidFill>
                            <a:srgbClr val="2D55FF"/>
                          </a:solidFill>
                          <a:effectLst/>
                          <a:latin typeface="Inter"/>
                        </a:rPr>
                        <a:t>minumum_wage_yes</a:t>
                      </a:r>
                      <a:r>
                        <a:rPr lang="el-GR" sz="1050" b="0" i="0" u="none" strike="noStrike" noProof="0">
                          <a:solidFill>
                            <a:srgbClr val="2D55FF"/>
                          </a:solidFill>
                          <a:effectLst/>
                          <a:latin typeface="Inter"/>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el-GR" sz="1050" b="0" i="0" u="none" strike="noStrike" noProof="0">
                          <a:solidFill>
                            <a:srgbClr val="2D55FF"/>
                          </a:solidFill>
                          <a:effectLst/>
                          <a:latin typeface="Inter"/>
                        </a:rPr>
                        <a:t>{{</a:t>
                      </a:r>
                      <a:r>
                        <a:rPr lang="el-GR" sz="1050" b="0" i="0" u="none" strike="noStrike" noProof="0">
                          <a:solidFill>
                            <a:srgbClr val="2D55FF"/>
                          </a:solidFill>
                          <a:effectLst/>
                          <a:latin typeface="Inter"/>
                        </a:rPr>
                        <a:t>minimum_wage_no</a:t>
                      </a:r>
                      <a:r>
                        <a:rPr lang="el-GR" sz="1050" b="0" i="0" u="none" strike="noStrike" noProof="0">
                          <a:solidFill>
                            <a:srgbClr val="2D55FF"/>
                          </a:solidFill>
                          <a:effectLst/>
                          <a:latin typeface="Inter"/>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393907362"/>
                  </a:ext>
                </a:extLst>
              </a:tr>
            </a:tbl>
          </a:graphicData>
        </a:graphic>
      </p:graphicFrame>
      <p:graphicFrame>
        <p:nvGraphicFramePr>
          <p:cNvPr id="29" name="Table 16">
            <a:extLst>
              <a:ext uri="{FF2B5EF4-FFF2-40B4-BE49-F238E27FC236}">
                <a16:creationId xmlns:a16="http://schemas.microsoft.com/office/drawing/2014/main" id="{9493B198-6182-0768-EF14-0EF37F9E9F4F}"/>
              </a:ext>
            </a:extLst>
          </p:cNvPr>
          <p:cNvGraphicFramePr>
            <a:graphicFrameLocks noGrp="1"/>
          </p:cNvGraphicFramePr>
          <p:nvPr>
            <p:extLst>
              <p:ext uri="{D42A27DB-BD31-4B8C-83A1-F6EECF244321}">
                <p14:modId xmlns:p14="http://schemas.microsoft.com/office/powerpoint/2010/main" val="654789346"/>
              </p:ext>
            </p:extLst>
          </p:nvPr>
        </p:nvGraphicFramePr>
        <p:xfrm>
          <a:off x="445498" y="4814802"/>
          <a:ext cx="4796552" cy="917805"/>
        </p:xfrm>
        <a:graphic>
          <a:graphicData uri="http://schemas.openxmlformats.org/drawingml/2006/table">
            <a:tbl>
              <a:tblPr firstRow="1">
                <a:tableStyleId>{2A488322-F2BA-4B5B-9748-0D474271808F}</a:tableStyleId>
              </a:tblPr>
              <a:tblGrid>
                <a:gridCol w="2650727">
                  <a:extLst>
                    <a:ext uri="{9D8B030D-6E8A-4147-A177-3AD203B41FA5}">
                      <a16:colId xmlns:a16="http://schemas.microsoft.com/office/drawing/2014/main" val="81046444"/>
                    </a:ext>
                  </a:extLst>
                </a:gridCol>
                <a:gridCol w="2145825">
                  <a:extLst>
                    <a:ext uri="{9D8B030D-6E8A-4147-A177-3AD203B41FA5}">
                      <a16:colId xmlns:a16="http://schemas.microsoft.com/office/drawing/2014/main" val="2119413191"/>
                    </a:ext>
                  </a:extLst>
                </a:gridCol>
              </a:tblGrid>
              <a:tr h="4780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Συλλογική σύμβαση εργασίας </a:t>
                      </a:r>
                      <a:r>
                        <a:rPr lang="el-GR" sz="1050" b="0" noProof="0">
                          <a:solidFill>
                            <a:schemeClr val="tx2"/>
                          </a:solidFill>
                        </a:rPr>
                        <a:t xml:space="preserve">(παρ. 42c)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Έτος</a:t>
                      </a:r>
                      <a:r>
                        <a:rPr lang="el-GR" sz="1050" b="1" noProof="0">
                          <a:solidFill>
                            <a:schemeClr val="accent2"/>
                          </a:solidFill>
                          <a:latin typeface="Calibri" panose="020F0502020204030204" pitchFamily="34" charset="0"/>
                          <a:cs typeface="Calibri" panose="020F0502020204030204" pitchFamily="34" charset="0"/>
                        </a:rPr>
                        <a:t> {{</a:t>
                      </a:r>
                      <a:r>
                        <a:rPr lang="el-GR" sz="1050" b="1" noProof="0">
                          <a:solidFill>
                            <a:schemeClr val="accent2"/>
                          </a:solidFill>
                          <a:latin typeface="Calibri" panose="020F0502020204030204" pitchFamily="34" charset="0"/>
                          <a:cs typeface="Calibri" panose="020F0502020204030204" pitchFamily="34" charset="0"/>
                        </a:rPr>
                        <a:t>insert_year</a:t>
                      </a:r>
                      <a:r>
                        <a:rPr lang="el-GR" sz="1050" b="1" noProof="0">
                          <a:solidFill>
                            <a:schemeClr val="accent2"/>
                          </a:solidFill>
                          <a:latin typeface="Calibri" panose="020F0502020204030204" pitchFamily="34" charset="0"/>
                          <a:cs typeface="Calibri" panose="020F0502020204030204" pitchFamily="34" charset="0"/>
                        </a:rPr>
                        <a:t>}}</a:t>
                      </a:r>
                      <a:endParaRPr lang="el-GR" sz="1050" b="1" noProof="0">
                        <a:solidFill>
                          <a:schemeClr val="accent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397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1050" b="0" noProof="0">
                          <a:solidFill>
                            <a:schemeClr val="tx2"/>
                          </a:solidFill>
                        </a:rPr>
                        <a:t xml:space="preserve">Ποσοστό εργαζομένων που καλύπτονται από συλλογική σύμβαση</a:t>
                      </a:r>
                      <a:endParaRPr kumimoji="0" lang="el-GR" sz="1050" b="0" i="0" u="none" strike="noStrike" kern="1200" cap="none" spc="0" normalizeH="0" baseline="0" noProof="0">
                        <a:ln>
                          <a:noFill/>
                        </a:ln>
                        <a:solidFill>
                          <a:srgbClr val="2D55FF"/>
                        </a:solidFill>
                        <a:effectLst/>
                        <a:uLnTx/>
                        <a:uFillTx/>
                        <a:latin typeface="IBM Plex Sans"/>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50" b="0" i="0" u="none" strike="noStrike" kern="1200" cap="none" spc="0" normalizeH="0" baseline="0" noProof="0">
                          <a:ln>
                            <a:noFill/>
                          </a:ln>
                          <a:solidFill>
                            <a:srgbClr val="2D55FF"/>
                          </a:solidFill>
                          <a:effectLst/>
                          <a:uLnTx/>
                          <a:uFillTx/>
                          <a:latin typeface="+mn-lt"/>
                          <a:ea typeface="+mn-ea"/>
                          <a:cs typeface="+mn-cs"/>
                        </a:rPr>
                        <a:t>{{</a:t>
                      </a:r>
                      <a:r>
                        <a:rPr kumimoji="0" lang="el-GR" sz="1050" b="0" i="0" u="none" strike="noStrike" kern="1200" cap="none" spc="0" normalizeH="0" baseline="0" noProof="0">
                          <a:ln>
                            <a:noFill/>
                          </a:ln>
                          <a:solidFill>
                            <a:srgbClr val="2D55FF"/>
                          </a:solidFill>
                          <a:effectLst/>
                          <a:uLnTx/>
                          <a:uFillTx/>
                          <a:latin typeface="+mn-lt"/>
                          <a:ea typeface="+mn-ea"/>
                          <a:cs typeface="+mn-cs"/>
                        </a:rPr>
                        <a:t>indsat_procentvis_ansatte</a:t>
                      </a:r>
                      <a:r>
                        <a:rPr kumimoji="0" lang="el-GR" sz="1050" b="0" i="0" u="none" strike="noStrike" kern="1200" cap="none" spc="0" normalizeH="0" baseline="0" noProof="0">
                          <a:ln>
                            <a:noFill/>
                          </a:ln>
                          <a:solidFill>
                            <a:srgbClr val="2D55FF"/>
                          </a:solidFill>
                          <a:effectLst/>
                          <a:uLnTx/>
                          <a:uFillTx/>
                          <a:latin typeface="+mn-lt"/>
                          <a:ea typeface="+mn-ea"/>
                          <a:cs typeface="+mn-cs"/>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31" name="Table 19">
            <a:extLst>
              <a:ext uri="{FF2B5EF4-FFF2-40B4-BE49-F238E27FC236}">
                <a16:creationId xmlns:a16="http://schemas.microsoft.com/office/drawing/2014/main" id="{12B3A72C-4031-E6CE-E541-98C8068B1C36}"/>
              </a:ext>
            </a:extLst>
          </p:cNvPr>
          <p:cNvGraphicFramePr>
            <a:graphicFrameLocks noGrp="1"/>
          </p:cNvGraphicFramePr>
          <p:nvPr>
            <p:extLst>
              <p:ext uri="{D42A27DB-BD31-4B8C-83A1-F6EECF244321}">
                <p14:modId xmlns:p14="http://schemas.microsoft.com/office/powerpoint/2010/main" val="469699691"/>
              </p:ext>
            </p:extLst>
          </p:nvPr>
        </p:nvGraphicFramePr>
        <p:xfrm>
          <a:off x="5448102" y="4814801"/>
          <a:ext cx="4796550" cy="915442"/>
        </p:xfrm>
        <a:graphic>
          <a:graphicData uri="http://schemas.openxmlformats.org/drawingml/2006/table">
            <a:tbl>
              <a:tblPr firstRow="1">
                <a:tableStyleId>{2A488322-F2BA-4B5B-9748-0D474271808F}</a:tableStyleId>
              </a:tblPr>
              <a:tblGrid>
                <a:gridCol w="3339386">
                  <a:extLst>
                    <a:ext uri="{9D8B030D-6E8A-4147-A177-3AD203B41FA5}">
                      <a16:colId xmlns:a16="http://schemas.microsoft.com/office/drawing/2014/main" val="2698153288"/>
                    </a:ext>
                  </a:extLst>
                </a:gridCol>
                <a:gridCol w="1457165">
                  <a:extLst>
                    <a:ext uri="{9D8B030D-6E8A-4147-A177-3AD203B41FA5}">
                      <a16:colId xmlns:a16="http://schemas.microsoft.com/office/drawing/2014/main" val="2119413191"/>
                    </a:ext>
                  </a:extLst>
                </a:gridCol>
              </a:tblGrid>
              <a:tr h="376946">
                <a:tc>
                  <a:txBody>
                    <a:bodyPr/>
                    <a:lstStyle/>
                    <a:p>
                      <a:r>
                        <a:rPr lang="el-GR" sz="1050" b="1" noProof="0">
                          <a:solidFill>
                            <a:schemeClr val="tx2"/>
                          </a:solidFill>
                        </a:rPr>
                        <a:t xml:space="preserve">Μέσες ώρες κατάρτισης ανά εργαζόμενο </a:t>
                      </a:r>
                      <a:r>
                        <a:rPr lang="el-GR" sz="1050" b="0" noProof="0">
                          <a:solidFill>
                            <a:schemeClr val="tx2"/>
                          </a:solidFill>
                        </a:rPr>
                        <a:t xml:space="preserve">(παρ. 42d)</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1050" b="1" noProof="0">
                          <a:solidFill>
                            <a:schemeClr val="tx2"/>
                          </a:solidFill>
                        </a:rPr>
                        <a:t xml:space="preserve">Έτος</a:t>
                      </a:r>
                      <a:r>
                        <a:rPr lang="el-GR" sz="1050" b="1" noProof="0">
                          <a:solidFill>
                            <a:schemeClr val="accent2"/>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38495">
                <a:tc>
                  <a:txBody>
                    <a:bodyPr/>
                    <a:lstStyle/>
                    <a:p>
                      <a:r>
                        <a:rPr lang="el-GR" sz="1050" b="0" noProof="0">
                          <a:solidFill>
                            <a:schemeClr val="tx2"/>
                          </a:solidFill>
                        </a:rPr>
                        <a:t xml:space="preserve">Ώρα/ες ανά εργαζόμενο</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l-GR" sz="1050" b="0" i="0" u="none" strike="noStrike" noProof="0">
                          <a:solidFill>
                            <a:srgbClr val="2D55FF"/>
                          </a:solidFill>
                          <a:effectLst/>
                          <a:latin typeface="Inter"/>
                        </a:rPr>
                        <a:t>{{gennemsnitstimer}}</a:t>
                      </a:r>
                      <a:endParaRPr lang="el-GR" sz="1050" b="0" noProof="0">
                        <a:effectLst/>
                      </a:endParaRPr>
                    </a:p>
                  </a:txBody>
                  <a:tcPr marL="16706" marR="16706"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00585068"/>
                  </a:ext>
                </a:extLst>
              </a:tr>
            </a:tbl>
          </a:graphicData>
        </a:graphic>
      </p:graphicFrame>
      <p:sp>
        <p:nvSpPr>
          <p:cNvPr id="32" name="Tekstfelt 31">
            <a:extLst>
              <a:ext uri="{FF2B5EF4-FFF2-40B4-BE49-F238E27FC236}">
                <a16:creationId xmlns:a16="http://schemas.microsoft.com/office/drawing/2014/main" id="{067FE542-2FEF-EE03-D854-E2D5CB1E1DB8}"/>
              </a:ext>
            </a:extLst>
          </p:cNvPr>
          <p:cNvSpPr txBox="1"/>
          <p:nvPr/>
        </p:nvSpPr>
        <p:spPr>
          <a:xfrm>
            <a:off x="465933" y="3022746"/>
            <a:ext cx="9791704" cy="890704"/>
          </a:xfrm>
          <a:prstGeom prst="rect">
            <a:avLst/>
          </a:prstGeom>
          <a:noFill/>
        </p:spPr>
        <p:txBody>
          <a:bodyPr wrap="square">
            <a:spAutoFit/>
          </a:bodyPr>
          <a:lstStyle/>
          <a:p>
            <a:pPr rtl="0">
              <a:buNone/>
            </a:pPr>
            <a:r>
              <a:rPr lang="el-GR" sz="1050" b="0" i="0" u="none" strike="noStrike" noProof="0">
                <a:solidFill>
                  <a:schemeClr val="tx2"/>
                </a:solidFill>
                <a:effectLst/>
                <a:latin typeface="Inter"/>
              </a:rPr>
              <a:t xml:space="preserve">Η επιχείρηση ανέφερε στοιχεία για τον κατώτατο μισθό, το ποσοστό εργαζομένων που καλύπτονται από συλλογικές συμβάσεις και τον μέσο ετήσιο αριθμό ωρών κατάρτισης ανά εργαζόμενο, ανά φύλο. Εάν η επιχείρηση υποχρεούται ήδη, βάσει της νομοθεσίας της ΕΕ 8 ή άλλων εθνικών διατάξεων, να αναφέρει το ποσοστιαίο μισθολογικό χάσμα μεταξύ γυναικών και ανδρών εργαζομένων, το γνωστοποιεί.</a:t>
            </a:r>
          </a:p>
          <a:p>
            <a:pPr>
              <a:buNone/>
            </a:pPr>
            <a:br>
              <a:rPr lang="el-GR" sz="1050" noProof="0">
                <a:solidFill>
                  <a:schemeClr val="tx2"/>
                </a:solidFill>
                <a:latin typeface="Inter"/>
              </a:rPr>
            </a:br>
            <a:endParaRPr lang="el-GR" sz="1050" noProof="0">
              <a:solidFill>
                <a:schemeClr val="tx2"/>
              </a:solidFill>
              <a:latin typeface="Inter"/>
            </a:endParaRPr>
          </a:p>
        </p:txBody>
      </p:sp>
    </p:spTree>
    <p:extLst>
      <p:ext uri="{BB962C8B-B14F-4D97-AF65-F5344CB8AC3E}">
        <p14:creationId xmlns:p14="http://schemas.microsoft.com/office/powerpoint/2010/main" val="10348620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Επιχειρηματική δεοντολογία: καταδίκες και πρόστιμα για διαφθορά &amp; δωροδοκία (B11) </a:t>
            </a:r>
          </a:p>
        </p:txBody>
      </p:sp>
      <p:graphicFrame>
        <p:nvGraphicFramePr>
          <p:cNvPr id="22" name="Table 21">
            <a:extLst>
              <a:ext uri="{FF2B5EF4-FFF2-40B4-BE49-F238E27FC236}">
                <a16:creationId xmlns:a16="http://schemas.microsoft.com/office/drawing/2014/main" id="{AF65586E-0EF1-899A-1FCC-C083408ADE09}"/>
              </a:ext>
            </a:extLst>
          </p:cNvPr>
          <p:cNvGraphicFramePr>
            <a:graphicFrameLocks noGrp="1"/>
          </p:cNvGraphicFramePr>
          <p:nvPr>
            <p:extLst>
              <p:ext uri="{D42A27DB-BD31-4B8C-83A1-F6EECF244321}">
                <p14:modId xmlns:p14="http://schemas.microsoft.com/office/powerpoint/2010/main" val="2655272026"/>
              </p:ext>
            </p:extLst>
          </p:nvPr>
        </p:nvGraphicFramePr>
        <p:xfrm>
          <a:off x="445498" y="1706309"/>
          <a:ext cx="9791704" cy="536705"/>
        </p:xfrm>
        <a:graphic>
          <a:graphicData uri="http://schemas.openxmlformats.org/drawingml/2006/table">
            <a:tbl>
              <a:tblPr firstRow="1">
                <a:tableStyleId>{2A488322-F2BA-4B5B-9748-0D474271808F}</a:tableStyleId>
              </a:tblPr>
              <a:tblGrid>
                <a:gridCol w="3263901">
                  <a:extLst>
                    <a:ext uri="{9D8B030D-6E8A-4147-A177-3AD203B41FA5}">
                      <a16:colId xmlns:a16="http://schemas.microsoft.com/office/drawing/2014/main" val="2698153288"/>
                    </a:ext>
                  </a:extLst>
                </a:gridCol>
                <a:gridCol w="3263901">
                  <a:extLst>
                    <a:ext uri="{9D8B030D-6E8A-4147-A177-3AD203B41FA5}">
                      <a16:colId xmlns:a16="http://schemas.microsoft.com/office/drawing/2014/main" val="2119413191"/>
                    </a:ext>
                  </a:extLst>
                </a:gridCol>
                <a:gridCol w="3263901">
                  <a:extLst>
                    <a:ext uri="{9D8B030D-6E8A-4147-A177-3AD203B41FA5}">
                      <a16:colId xmlns:a16="http://schemas.microsoft.com/office/drawing/2014/main" val="1502960985"/>
                    </a:ext>
                  </a:extLst>
                </a:gridCol>
              </a:tblGrid>
              <a:tr h="268352">
                <a:tc rowSpan="2">
                  <a:txBody>
                    <a:bodyPr/>
                    <a:lstStyle/>
                    <a:p>
                      <a:r>
                        <a:rPr lang="el-GR" sz="1050" b="1" noProof="0">
                          <a:solidFill>
                            <a:schemeClr val="tx2"/>
                          </a:solidFill>
                        </a:rPr>
                        <a:t xml:space="preserve">Διαφθορά και δωροδοκία </a:t>
                      </a:r>
                      <a:r>
                        <a:rPr lang="el-GR" sz="1050" b="0" noProof="0">
                          <a:solidFill>
                            <a:schemeClr val="tx2"/>
                          </a:solidFill>
                        </a:rPr>
                        <a:t xml:space="preserve">(παρ. 43)</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el-GR" sz="1050" b="1" noProof="0">
                          <a:solidFill>
                            <a:schemeClr val="tx2"/>
                          </a:solidFill>
                        </a:rPr>
                        <a:t xml:space="preserve">Αριθμός καταδικών</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l-GR" sz="1050" b="1" noProof="0">
                          <a:solidFill>
                            <a:schemeClr val="tx2"/>
                          </a:solidFill>
                        </a:rPr>
                        <a:t xml:space="preserve">Συνολικό ύψος προστίμων</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68352">
                <a:tc vMerge="1">
                  <a:txBody>
                    <a:bodyPr/>
                    <a:lstStyle/>
                    <a:p>
                      <a:endParaRPr lang="en-GB" sz="775" b="0">
                        <a:solidFill>
                          <a:schemeClr val="accent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rtl="0" fontAlgn="ctr">
                        <a:buNone/>
                      </a:pPr>
                      <a:r>
                        <a:rPr lang="el-GR" sz="1050" b="0" i="0" u="none" strike="noStrike" noProof="0">
                          <a:solidFill>
                            <a:srgbClr val="2D55FF"/>
                          </a:solidFill>
                          <a:effectLst/>
                          <a:latin typeface="Inter"/>
                        </a:rPr>
                        <a:t>{{domme}}</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el-GR" sz="1050" b="0" i="0" u="none" strike="noStrike" noProof="0">
                          <a:solidFill>
                            <a:srgbClr val="2D55FF"/>
                          </a:solidFill>
                          <a:effectLst/>
                          <a:latin typeface="Inter"/>
                        </a:rPr>
                        <a:t>{{</a:t>
                      </a:r>
                      <a:r>
                        <a:rPr lang="el-GR" sz="1050" b="0" i="0" u="none" strike="noStrike" noProof="0">
                          <a:solidFill>
                            <a:srgbClr val="2D55FF"/>
                          </a:solidFill>
                          <a:effectLst/>
                          <a:latin typeface="Inter"/>
                        </a:rPr>
                        <a:t>samlet_bodestorrelse</a:t>
                      </a:r>
                      <a:r>
                        <a:rPr lang="el-GR" sz="1050" b="0" i="0" u="none" strike="noStrike" noProof="0">
                          <a:solidFill>
                            <a:srgbClr val="2D55FF"/>
                          </a:solidFill>
                          <a:effectLst/>
                          <a:latin typeface="Inter"/>
                        </a:rPr>
                        <a:t>}}</a:t>
                      </a:r>
                      <a:endParaRPr lang="el-G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12</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endParaRPr lang="el-GR" noProof="0"/>
          </a:p>
        </p:txBody>
      </p:sp>
      <p:sp>
        <p:nvSpPr>
          <p:cNvPr id="9" name="Tekstfelt 8">
            <a:extLst>
              <a:ext uri="{FF2B5EF4-FFF2-40B4-BE49-F238E27FC236}">
                <a16:creationId xmlns:a16="http://schemas.microsoft.com/office/drawing/2014/main" id="{18D9DD8E-27FC-601F-5895-E2455B4CB3B0}"/>
              </a:ext>
            </a:extLst>
          </p:cNvPr>
          <p:cNvSpPr txBox="1"/>
          <p:nvPr/>
        </p:nvSpPr>
        <p:spPr>
          <a:xfrm>
            <a:off x="454796" y="891000"/>
            <a:ext cx="9869667" cy="890704"/>
          </a:xfrm>
          <a:prstGeom prst="rect">
            <a:avLst/>
          </a:prstGeom>
          <a:noFill/>
        </p:spPr>
        <p:txBody>
          <a:bodyPr wrap="square">
            <a:spAutoFit/>
          </a:bodyPr>
          <a:lstStyle/>
          <a:p>
            <a:pPr rtl="0">
              <a:buNone/>
            </a:pPr>
            <a:r>
              <a:rPr lang="el-GR" sz="1050" b="0" i="0" u="none" strike="noStrike" noProof="0">
                <a:solidFill>
                  <a:schemeClr val="tx2"/>
                </a:solidFill>
                <a:effectLst/>
                <a:latin typeface="Inter"/>
              </a:rPr>
              <a:t xml:space="preserve">Η επιχείρηση ανέφερε παραβάσεις της νομοθεσίας για την καταπολέμηση της διαφθοράς και της δωροδοκίας κατά την περίοδο αναφοράς. Εάν υπήρξαν καταδίκες ή πρόστιμα για τέτοιες παραβάσεις, γνωστοποιήθηκαν τα εξής: ο αριθμός των καταδικών και το συνολικό ύψος των επιβληθέντων προστίμων. Τα στοιχεία αυτά αφορούν την επιχειρηματική δεοντολογία και τη βιωσιμότητα της επιχείρησης, ιδίως τη διαχείριση της διαφθοράς, και παρατίθενται κατωτέρω.</a:t>
            </a:r>
            <a:r>
              <a:rPr lang="el-GR" sz="1050" b="0" i="0" u="none" strike="noStrike" noProof="0">
                <a:solidFill>
                  <a:schemeClr val="tx2"/>
                </a:solidFill>
                <a:effectLst/>
                <a:latin typeface="Inter"/>
              </a:rPr>
              <a:t xml:space="preserve"/>
            </a:r>
            <a:r>
              <a:rPr lang="el-GR" sz="1050" b="0" i="0" u="none" strike="noStrike" noProof="0">
                <a:solidFill>
                  <a:schemeClr val="tx2"/>
                </a:solidFill>
                <a:effectLst/>
                <a:latin typeface="Inter"/>
              </a:rPr>
              <a:t xml:space="preserve"/>
            </a:r>
            <a:endParaRPr lang="el-GR" sz="1050" b="0" noProof="0">
              <a:solidFill>
                <a:schemeClr val="tx2"/>
              </a:solidFill>
              <a:effectLst/>
              <a:latin typeface="Inter"/>
            </a:endParaRPr>
          </a:p>
          <a:p>
            <a:pPr>
              <a:buNone/>
            </a:pPr>
            <a:br>
              <a:rPr lang="el-GR" sz="1050" noProof="0">
                <a:solidFill>
                  <a:schemeClr val="tx2"/>
                </a:solidFill>
                <a:latin typeface="Inter"/>
              </a:rPr>
            </a:br>
            <a:endParaRPr lang="el-GR" sz="1050" noProof="0">
              <a:solidFill>
                <a:schemeClr val="tx2"/>
              </a:solidFill>
              <a:latin typeface="Inter"/>
            </a:endParaRPr>
          </a:p>
        </p:txBody>
      </p:sp>
    </p:spTree>
    <p:extLst>
      <p:ext uri="{BB962C8B-B14F-4D97-AF65-F5344CB8AC3E}">
        <p14:creationId xmlns:p14="http://schemas.microsoft.com/office/powerpoint/2010/main" val="26821186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237B3177-8AE4-2BCB-D392-E3B969EBBB7B}"/>
              </a:ext>
            </a:extLst>
          </p:cNvPr>
          <p:cNvSpPr>
            <a:spLocks noGrp="1"/>
          </p:cNvSpPr>
          <p:nvPr>
            <p:ph idx="1"/>
          </p:nvPr>
        </p:nvSpPr>
        <p:spPr>
          <a:xfrm>
            <a:off x="3860535" y="3900259"/>
            <a:ext cx="3025224" cy="907065"/>
          </a:xfrm>
          <a:noFill/>
        </p:spPr>
        <p:txBody>
          <a:bodyPr>
            <a:normAutofit/>
          </a:bodyPr>
          <a:lstStyle/>
          <a:p>
            <a:pPr algn="ctr"/>
            <a:r>
              <a:rPr lang="el-GR" sz="1575" b="1" noProof="0">
                <a:solidFill>
                  <a:srgbClr val="FFFFFF"/>
                </a:solidFill>
                <a:latin typeface="IBM Plex Sans" panose="020B0503050203000203" pitchFamily="34" charset="0"/>
              </a:rPr>
              <a:t>{{</a:t>
            </a:r>
            <a:r>
              <a:rPr lang="el-GR" sz="1575" b="1" noProof="0">
                <a:solidFill>
                  <a:srgbClr val="FFFFFF"/>
                </a:solidFill>
                <a:latin typeface="IBM Plex Sans" panose="020B0503050203000203" pitchFamily="34" charset="0"/>
              </a:rPr>
              <a:t>company_name</a:t>
            </a:r>
            <a:r>
              <a:rPr lang="el-GR" sz="1575" b="1" noProof="0">
                <a:solidFill>
                  <a:srgbClr val="FFFFFF"/>
                </a:solidFill>
                <a:latin typeface="IBM Plex Sans" panose="020B0503050203000203" pitchFamily="34" charset="0"/>
              </a:rPr>
              <a:t>}}</a:t>
            </a:r>
          </a:p>
          <a:p>
            <a:pPr algn="ctr"/>
            <a:r>
              <a:rPr lang="el-GR" sz="1575" b="1" noProof="0">
                <a:solidFill>
                  <a:srgbClr val="FFFFFF"/>
                </a:solidFill>
                <a:latin typeface="IBM Plex Sans" panose="020B0503050203000203" pitchFamily="34" charset="0"/>
              </a:rPr>
              <a:t>{{</a:t>
            </a:r>
            <a:r>
              <a:rPr lang="el-GR" sz="1575" b="1" noProof="0">
                <a:solidFill>
                  <a:srgbClr val="FFFFFF"/>
                </a:solidFill>
                <a:latin typeface="IBM Plex Sans" panose="020B0503050203000203" pitchFamily="34" charset="0"/>
              </a:rPr>
              <a:t>insert_year</a:t>
            </a:r>
            <a:r>
              <a:rPr lang="el-GR" sz="1575" b="1" noProof="0">
                <a:solidFill>
                  <a:srgbClr val="FFFFFF"/>
                </a:solidFill>
                <a:latin typeface="IBM Plex Sans" panose="020B0503050203000203" pitchFamily="34" charset="0"/>
              </a:rPr>
              <a:t>}}</a:t>
            </a:r>
            <a:br>
              <a:rPr lang="el-GR" sz="1575" b="1" noProof="0">
                <a:solidFill>
                  <a:srgbClr val="FFFFFF"/>
                </a:solidFill>
                <a:latin typeface="IBM Plex Sans" panose="020B0503050203000203" pitchFamily="34" charset="0"/>
              </a:rPr>
            </a:br>
            <a:endParaRPr lang="el-GR" sz="1575" noProof="0"/>
          </a:p>
        </p:txBody>
      </p:sp>
      <p:sp>
        <p:nvSpPr>
          <p:cNvPr id="4" name="Pladsholder til slidenummer 3">
            <a:extLst>
              <a:ext uri="{FF2B5EF4-FFF2-40B4-BE49-F238E27FC236}">
                <a16:creationId xmlns:a16="http://schemas.microsoft.com/office/drawing/2014/main" id="{48F46A40-E7BB-3909-2FA6-1A954E10A816}"/>
              </a:ext>
            </a:extLst>
          </p:cNvPr>
          <p:cNvSpPr>
            <a:spLocks noGrp="1"/>
          </p:cNvSpPr>
          <p:nvPr>
            <p:ph type="sldNum" sz="quarter" idx="16"/>
          </p:nvPr>
        </p:nvSpPr>
        <p:spPr>
          <a:xfrm>
            <a:off x="8050571" y="7202406"/>
            <a:ext cx="2405700" cy="134955"/>
          </a:xfrm>
        </p:spPr>
        <p:txBody>
          <a:bodyPr/>
          <a:lstStyle/>
          <a:p>
            <a:fld id="{5A0D23CF-C5A3-5445-819D-C647D180BB4B}" type="slidenum">
              <a:rPr lang="el-GR" noProof="0" smtClean="0"/>
              <a:pPr/>
              <a:t>25</a:t>
            </a:fld>
            <a:endParaRPr lang="el-GR" noProof="0"/>
          </a:p>
        </p:txBody>
      </p:sp>
    </p:spTree>
    <p:extLst>
      <p:ext uri="{BB962C8B-B14F-4D97-AF65-F5344CB8AC3E}">
        <p14:creationId xmlns:p14="http://schemas.microsoft.com/office/powerpoint/2010/main" val="3140708205"/>
      </p:ext>
    </p:extLst>
  </p:cSld>
  <p:clrMapOvr>
    <a:masterClrMapping/>
  </p:clrMapOvr>
</p:sld>
</file>

<file path=ppt/theme/theme1.xml><?xml version="1.0" encoding="utf-8"?>
<a:theme xmlns:a="http://schemas.openxmlformats.org/drawingml/2006/main" name="Tema ESG skabelon 2023">
  <a:themeElements>
    <a:clrScheme name="Custom 63">
      <a:dk1>
        <a:srgbClr val="000000"/>
      </a:dk1>
      <a:lt1>
        <a:srgbClr val="FFFFFF"/>
      </a:lt1>
      <a:dk2>
        <a:srgbClr val="1B4528"/>
      </a:dk2>
      <a:lt2>
        <a:srgbClr val="D1DAD4"/>
      </a:lt2>
      <a:accent1>
        <a:srgbClr val="1B4528"/>
      </a:accent1>
      <a:accent2>
        <a:srgbClr val="2D55FF"/>
      </a:accent2>
      <a:accent3>
        <a:srgbClr val="FCFC95"/>
      </a:accent3>
      <a:accent4>
        <a:srgbClr val="5F7D69"/>
      </a:accent4>
      <a:accent5>
        <a:srgbClr val="8DA294"/>
      </a:accent5>
      <a:accent6>
        <a:srgbClr val="BBC7BF"/>
      </a:accent6>
      <a:hlink>
        <a:srgbClr val="00A65A"/>
      </a:hlink>
      <a:folHlink>
        <a:srgbClr val="A6A6A6"/>
      </a:folHlink>
    </a:clrScheme>
    <a:fontScheme name="Custom 19">
      <a:majorFont>
        <a:latin typeface="IBM Plex Sans"/>
        <a:ea typeface=""/>
        <a:cs typeface=""/>
      </a:majorFont>
      <a:minorFont>
        <a:latin typeface="IBM Plex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5F7D69"/>
        </a:solidFill>
        <a:ln>
          <a:noFill/>
        </a:ln>
      </a:spPr>
      <a:bodyPr lIns="126000" tIns="108000" rIns="108000" bIns="144000" rtlCol="0" anchor="t" anchorCtr="0"/>
      <a:lstStyle>
        <a:defPPr algn="l">
          <a:lnSpc>
            <a:spcPct val="106000"/>
          </a:lnSpc>
          <a:defRPr sz="900" spc="-10" dirty="0"/>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lnSpc>
            <a:spcPct val="120000"/>
          </a:lnSpc>
          <a:defRPr sz="900" spc="-10" dirty="0" smtClean="0">
            <a:solidFill>
              <a:schemeClr val="bg1"/>
            </a:solidFill>
          </a:defRPr>
        </a:defPPr>
      </a:lstStyle>
    </a:txDef>
  </a:objectDefaults>
  <a:extraClrSchemeLst/>
  <a:custClrLst>
    <a:custClr name="Grøn 100%">
      <a:srgbClr val="1B4529"/>
    </a:custClr>
    <a:custClr name="Grøn 90%">
      <a:srgbClr val="32583E"/>
    </a:custClr>
    <a:custClr name="Grøn 80%">
      <a:srgbClr val="496A54"/>
    </a:custClr>
    <a:custClr name="Grøn 70%">
      <a:srgbClr val="5F7D69"/>
    </a:custClr>
    <a:custClr name="Grøn 60%">
      <a:srgbClr val="768F7F"/>
    </a:custClr>
    <a:custClr name="Grøn 50%">
      <a:srgbClr val="8DA294"/>
    </a:custClr>
    <a:custClr name="Grøn 40%">
      <a:srgbClr val="A4B5A9"/>
    </a:custClr>
    <a:custClr name="Grøn 30%">
      <a:srgbClr val="BBC7BF"/>
    </a:custClr>
    <a:custClr name="Grøn 20%">
      <a:srgbClr val="D1DAD4"/>
    </a:custClr>
    <a:custClr name="Grøn 10%">
      <a:srgbClr val="E8ECEA"/>
    </a:custClr>
  </a:custClrLst>
  <a:extLst>
    <a:ext uri="{05A4C25C-085E-4340-85A3-A5531E510DB2}">
      <thm15:themeFamily xmlns:thm15="http://schemas.microsoft.com/office/thememl/2012/main" name="Tema ESG skabelon 2023" id="{4F616B44-E23C-9D4B-A414-B698B6CB0592}" vid="{C1CEAE3D-34EF-BE45-B60E-4DC3BCA22C44}"/>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4C5C98558ED72C4BBCB756F8247CFA4C" ma:contentTypeVersion="18" ma:contentTypeDescription="Opret et nyt dokument." ma:contentTypeScope="" ma:versionID="05a2f073985d4662672e64bc9a421606">
  <xsd:schema xmlns:xsd="http://www.w3.org/2001/XMLSchema" xmlns:xs="http://www.w3.org/2001/XMLSchema" xmlns:p="http://schemas.microsoft.com/office/2006/metadata/properties" xmlns:ns2="a1c42b88-5e29-4fe4-8139-416e072a19cb" xmlns:ns3="202ccbda-223a-4645-9097-be5f8cdf3aa6" xmlns:ns4="43a5b9ff-ef68-4e08-86c8-07b185fdc818" targetNamespace="http://schemas.microsoft.com/office/2006/metadata/properties" ma:root="true" ma:fieldsID="50f1595d426bd689bc07261444f354ae" ns2:_="" ns3:_="" ns4:_="">
    <xsd:import namespace="a1c42b88-5e29-4fe4-8139-416e072a19cb"/>
    <xsd:import namespace="202ccbda-223a-4645-9097-be5f8cdf3aa6"/>
    <xsd:import namespace="43a5b9ff-ef68-4e08-86c8-07b185fdc818"/>
    <xsd:element name="properties">
      <xsd:complexType>
        <xsd:sequence>
          <xsd:element name="documentManagement">
            <xsd:complexType>
              <xsd:all>
                <xsd:element ref="ns2:MediaServiceMetadata" minOccurs="0"/>
                <xsd:element ref="ns2:MediaServiceFastMetadata" minOccurs="0"/>
                <xsd:element ref="ns2:MediaLengthInSeconds" minOccurs="0"/>
                <xsd:element ref="ns3:SharedWithUsers" minOccurs="0"/>
                <xsd:element ref="ns3:SharedWithDetails" minOccurs="0"/>
                <xsd:element ref="ns2:MediaServiceAutoKeyPoints" minOccurs="0"/>
                <xsd:element ref="ns2:MediaServiceKeyPoints" minOccurs="0"/>
                <xsd:element ref="ns2:MediaServiceDateTaken" minOccurs="0"/>
                <xsd:element ref="ns2:lcf76f155ced4ddcb4097134ff3c332f" minOccurs="0"/>
                <xsd:element ref="ns4:TaxCatchAll" minOccurs="0"/>
                <xsd:element ref="ns2:MediaServiceGenerationTime" minOccurs="0"/>
                <xsd:element ref="ns2:MediaServiceEventHashCode" minOccurs="0"/>
                <xsd:element ref="ns2:MediaServiceOCR" minOccurs="0"/>
                <xsd:element ref="ns2:indhold"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c42b88-5e29-4fe4-8139-416e072a19c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LengthInSeconds" ma:index="10" nillable="true" ma:displayName="Length (seconds)" ma:internalName="MediaLengthInSeconds" ma:readOnly="true">
      <xsd:simpleType>
        <xsd:restriction base="dms:Unknow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lcf76f155ced4ddcb4097134ff3c332f" ma:index="17" nillable="true" ma:taxonomy="true" ma:internalName="lcf76f155ced4ddcb4097134ff3c332f" ma:taxonomyFieldName="MediaServiceImageTags" ma:displayName="Billedmærker" ma:readOnly="false" ma:fieldId="{5cf76f15-5ced-4ddc-b409-7134ff3c332f}" ma:taxonomyMulti="true" ma:sspId="5bc8fd69-a729-4468-93ff-8d64956d1ba4" ma:termSetId="09814cd3-568e-fe90-9814-8d621ff8fb84" ma:anchorId="fba54fb3-c3e1-fe81-a776-ca4b69148c4d" ma:open="true" ma:isKeyword="false">
      <xsd:complexType>
        <xsd:sequence>
          <xsd:element ref="pc:Terms" minOccurs="0" maxOccurs="1"/>
        </xsd:sequence>
      </xsd:complex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CR" ma:index="21" nillable="true" ma:displayName="Extracted Text" ma:internalName="MediaServiceOCR" ma:readOnly="true">
      <xsd:simpleType>
        <xsd:restriction base="dms:Note">
          <xsd:maxLength value="255"/>
        </xsd:restriction>
      </xsd:simpleType>
    </xsd:element>
    <xsd:element name="indhold" ma:index="22" nillable="true" ma:displayName="indhold" ma:format="Dropdown" ma:internalName="indhold">
      <xsd:simpleType>
        <xsd:restriction base="dms:Text">
          <xsd:maxLength value="255"/>
        </xsd:restrictio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02ccbda-223a-4645-9097-be5f8cdf3aa6" elementFormDefault="qualified">
    <xsd:import namespace="http://schemas.microsoft.com/office/2006/documentManagement/types"/>
    <xsd:import namespace="http://schemas.microsoft.com/office/infopath/2007/PartnerControls"/>
    <xsd:element name="SharedWithUsers" ma:index="11" nillable="true" ma:displayName="Del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Delt med detaljer"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3a5b9ff-ef68-4e08-86c8-07b185fdc818"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1a2a80f0-0fad-4372-b264-33bf0361a80c}" ma:internalName="TaxCatchAll" ma:showField="CatchAllData" ma:web="202ccbda-223a-4645-9097-be5f8cdf3a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dhol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43a5b9ff-ef68-4e08-86c8-07b185fdc818" xsi:nil="true"/>
    <indhold xmlns="a1c42b88-5e29-4fe4-8139-416e072a19cb" xsi:nil="true"/>
    <lcf76f155ced4ddcb4097134ff3c332f xmlns="a1c42b88-5e29-4fe4-8139-416e072a19cb">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C3C50CC-B1F2-4B3E-8326-2BA1B8993967}">
  <ds:schemaRefs>
    <ds:schemaRef ds:uri="202ccbda-223a-4645-9097-be5f8cdf3aa6"/>
    <ds:schemaRef ds:uri="43a5b9ff-ef68-4e08-86c8-07b185fdc818"/>
    <ds:schemaRef ds:uri="a1c42b88-5e29-4fe4-8139-416e072a19c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B12C55C2-A88D-45C1-99A2-B6C1D18AED07}">
  <ds:schemaRefs>
    <ds:schemaRef ds:uri="43a5b9ff-ef68-4e08-86c8-07b185fdc818"/>
    <ds:schemaRef ds:uri="a1c42b88-5e29-4fe4-8139-416e072a19cb"/>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C7C2DE4E-10FC-4FD7-BA3A-6232093B728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Widescreen</PresentationFormat>
  <Slides>25</Slides>
  <Notes>21</Notes>
  <HiddenSlides>0</HiddenSlides>
  <ScaleCrop>false</ScaleCrop>
  <HeadingPairs>
    <vt:vector size="4" baseType="variant">
      <vt:variant>
        <vt:lpstr>Tema</vt:lpstr>
      </vt:variant>
      <vt:variant>
        <vt:i4>1</vt:i4>
      </vt:variant>
      <vt:variant>
        <vt:lpstr>Slidetitler</vt:lpstr>
      </vt:variant>
      <vt:variant>
        <vt:i4>25</vt:i4>
      </vt:variant>
    </vt:vector>
  </HeadingPairs>
  <TitlesOfParts>
    <vt:vector size="26" baseType="lpstr">
      <vt:lpstr>Tema ESG skabelon 2023</vt:lpstr>
      <vt:lpstr>OPGØRELSE {{insert_year}}</vt:lpstr>
      <vt:lpstr>ESG opgørelse  </vt:lpstr>
      <vt:lpstr>Grundlag for udarbejdelse (B1) </vt:lpstr>
      <vt:lpstr>Grundlag for udarbejdelse (B1) - fortsat</vt:lpstr>
      <vt:lpstr>Indsatser, politikker og fremtidige initiativer for omstilling til en mere bæredygtig økonomi (B2)</vt:lpstr>
      <vt:lpstr>Energiforbrug (B3)</vt:lpstr>
      <vt:lpstr>Forurening af luft, vand og jord (B4)</vt:lpstr>
      <vt:lpstr>Vand (B6)</vt:lpstr>
      <vt:lpstr>Ressourceforbrug, cirkulær økonomi og affaldshåndtering (B7) – fortsat</vt:lpstr>
      <vt:lpstr>Egen arbejdsstyrke: Generelle karakteristika (B8) </vt:lpstr>
      <vt:lpstr>Egen arbejdsstyrke: Sundhed og sikkerhed (B9)</vt:lpstr>
      <vt:lpstr>Virksomhedsadfærd: Antal domme og bøder i relation til korruption &amp; bestikkelse (B11) </vt:lpstr>
      <vt:lpstr>PowerPoint-præsentation</vt:lpstr>
      <vt:lpstr>Strategi: Forretningsmodel og bæredygtighedsrelaterede initiativer (C1)</vt:lpstr>
      <vt:lpstr>Indsatser, politikker og fremtidige initiativer for omstilling til en mere bæredygtig økonomi (C2)</vt:lpstr>
      <vt:lpstr>CO₂e-udledning under B3 i Basismodulet</vt:lpstr>
      <vt:lpstr>Klimaomstilling (C3)</vt:lpstr>
      <vt:lpstr>Klimarisici (C4)</vt:lpstr>
      <vt:lpstr>Klimarisici (C4) - fortsat</vt:lpstr>
      <vt:lpstr>Supplerende (generelle) oplysninger om arbejdsstyrken (C5)</vt:lpstr>
      <vt:lpstr>Menneskerettighedspolitikker og -processer (C6) - Egen arbejdsstyrke</vt:lpstr>
      <vt:lpstr>Alvorlige negative menneskerettighedshændelser (C7) – Egen arbejdsstyrke</vt:lpstr>
      <vt:lpstr>Alvorlige negative menneskerettighedshændelser (C7) – I værdikæden</vt:lpstr>
      <vt:lpstr>Indtægter fra bestemte aktiviteter (C8)</vt:lpstr>
      <vt:lpstr>PowerPoint-præsentation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revision>27</cp:revision>
  <dcterms:created xsi:type="dcterms:W3CDTF">2025-02-28T18:51:17Z</dcterms:created>
  <dcterms:modified xsi:type="dcterms:W3CDTF">2026-08-06T18:34:12Z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0x0101004C5C98558ED72C4BBCB756F8247CFA4C</vt:lpwstr>
  </property>
  <property fmtid="{D5CDD505-2E9C-101B-9397-08002B2CF9AE}" pid="3" name="MediaServiceImageTags">
    <vt:lpwstr/>
  </property>
</Properties>
</file>