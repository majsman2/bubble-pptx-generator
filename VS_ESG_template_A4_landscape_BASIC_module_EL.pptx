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272" r:id="rId29"/>
  </p:sldIdLst>
  <p:sldSz cx="10692000" cy="7560000" type="A4"/>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9.xml"/><Relationship Id="rId3" Type="http://schemas.openxmlformats.org/officeDocument/2006/relationships/customXml" Target="../customXml/item3.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36" Type="http://schemas.microsoft.com/office/2018/10/relationships/authors" Target="authors.xml"/><Relationship Id="rId10" Type="http://schemas.openxmlformats.org/officeDocument/2006/relationships/slide" Target="slides/slide6.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l-G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l-GR" smtClean="0"/>
              <a:pPr/>
              <a:t xml:space="preserve">06-08-2026</a:t>
            </a:fld>
            <a:endParaRPr lang="el-G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 xml:space="preserve">Κάντε κλικ για επεξεργασία των στυλ κειμένου του υποδείγματος</a:t>
            </a:r>
          </a:p>
          <a:p>
            <a:pPr lvl="1"/>
            <a:r>
              <a:rPr lang="el-GR"/>
              <a:t xml:space="preserve">Δεύτερο επίπεδο</a:t>
            </a:r>
          </a:p>
          <a:p>
            <a:pPr lvl="2"/>
            <a:r>
              <a:rPr lang="el-GR"/>
              <a:t xml:space="preserve">Τρίτο επίπεδο</a:t>
            </a:r>
          </a:p>
          <a:p>
            <a:pPr lvl="3"/>
            <a:r>
              <a:rPr lang="el-GR"/>
              <a:t xml:space="preserve">Τέταρτο επίπεδο</a:t>
            </a:r>
          </a:p>
          <a:p>
            <a:pPr lvl="4"/>
            <a:r>
              <a:rPr lang="el-GR"/>
              <a:t xml:space="preserve">Πέμπτο επίπεδο</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l-G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l-GR" smtClean="0"/>
              <a:pPr/>
              <a:t xml:space="preserve">‹#›</a:t>
            </a:fld>
            <a:endParaRPr lang="el-G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a:t>
            </a:fld>
            <a:endParaRPr lang="el-G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2</a:t>
            </a:fld>
            <a:endParaRPr lang="el-G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3</a:t>
            </a:fld>
            <a:endParaRPr lang="el-G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4</a:t>
            </a:fld>
            <a:endParaRPr lang="el-GR"/>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{{documents_B2}}</a:t>
            </a:r>
          </a:p>
          <a:p>
            <a:r>
              <a:rPr lang="en-GB" sz="1200" b="0" i="0" u="none" strike="noStrike" kern="1200" err="1">
                <a:solidFill>
                  <a:schemeClr val="tx1"/>
                </a:solidFill>
                <a:effectLst/>
                <a:latin typeface="IBM Plex Sans" panose="020B0503050203000203" pitchFamily="34" charset="0"/>
                <a:ea typeface="+mn-ea"/>
                <a:cs typeface="+mn-cs"/>
              </a:rPr>
              <a:t xml:space="preserve">Προστέθηκε</a:t>
            </a:r>
            <a:r>
              <a:rPr lang="en-GB" sz="1200" b="0" i="0" u="none" strike="noStrike" kern="1200">
                <a:solidFill>
                  <a:schemeClr val="tx1"/>
                </a:solidFill>
                <a:effectLst/>
                <a:latin typeface="IBM Plex Sans" panose="020B0503050203000203" pitchFamily="34" charset="0"/>
                <a:ea typeface="+mn-ea"/>
                <a:cs typeface="+mn-cs"/>
              </a:rPr>
              <a:t xml:space="preserve">: </a:t>
            </a:r>
            <a:r>
              <a:rPr lang="en-GB" sz="1200" b="0" i="0" u="none" strike="noStrike" kern="1200" err="1">
                <a:solidFill>
                  <a:schemeClr val="tx1"/>
                </a:solidFill>
                <a:effectLst/>
                <a:latin typeface="IBM Plex Sans" panose="020B0503050203000203" pitchFamily="34" charset="0"/>
                <a:ea typeface="+mn-ea"/>
                <a:cs typeface="+mn-cs"/>
              </a:rPr>
              <a:t xml:space="preserve">στήλη</a:t>
            </a:r>
            <a:r>
              <a:rPr lang="en-GB" sz="1200" b="0" i="0" u="none" strike="noStrike" kern="1200">
                <a:solidFill>
                  <a:schemeClr val="tx1"/>
                </a:solidFill>
                <a:effectLst/>
                <a:latin typeface="IBM Plex Sans" panose="020B0503050203000203" pitchFamily="34" charset="0"/>
                <a:ea typeface="+mn-ea"/>
                <a:cs typeface="+mn-cs"/>
              </a:rPr>
              <a:t xml:space="preserve"> για </a:t>
            </a:r>
            <a:r>
              <a:rPr lang="en-GB" sz="1200" b="0" i="0" u="none" strike="noStrike" kern="1200" err="1">
                <a:solidFill>
                  <a:schemeClr val="tx1"/>
                </a:solidFill>
                <a:effectLst/>
                <a:latin typeface="IBM Plex Sans" panose="020B0503050203000203" pitchFamily="34" charset="0"/>
                <a:ea typeface="+mn-ea"/>
                <a:cs typeface="+mn-cs"/>
              </a:rPr>
              <a:t xml:space="preserve">παρακολούθηση</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5</a:t>
            </a:fld>
            <a:endParaRPr lang="el-GR"/>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6</a:t>
            </a:fld>
            <a:endParaRPr lang="el-GR"/>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7</a:t>
            </a:fld>
            <a:endParaRPr lang="el-GR"/>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waterstress_withdrawal</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8</a:t>
            </a:fld>
            <a:endParaRPr lang="el-GR"/>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9</a:t>
            </a:fld>
            <a:endParaRPr lang="el-GR"/>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10</a:t>
            </a:fld>
            <a:endParaRPr lang="el-GR"/>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pPr rtl="0" eaLnBrk="1" fontAlgn="ctr" latinLnBrk="0" hangingPunct="1"/>
            <a:r>
              <a:rPr lang="el-GR" b="0">
                <a:effectLst/>
              </a:rPr>
              <a:t xml:space="preserve">Αφαιρέθηκε: </a:t>
            </a:r>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men_gennemsnitstimer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women_gennemsnitstimer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other_gennemsnitstimer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11</a:t>
            </a:fld>
            <a:endParaRPr lang="el-GR"/>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12</a:t>
            </a:fld>
            <a:endParaRPr lang="el-GR"/>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45500" y="890814"/>
            <a:ext cx="3080911" cy="4672738"/>
          </a:xfrm>
        </p:spPr>
        <p:txBody>
          <a:bodyPr/>
          <a:lstStyle>
            <a:lvl1pPr marL="0" indent="0">
              <a:buNone/>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3804849" y="890815"/>
            <a:ext cx="3080910" cy="4672737"/>
          </a:xfrm>
        </p:spPr>
        <p:txBody>
          <a:bodyPr/>
          <a:lstStyle>
            <a:lvl1pPr marL="0" indent="0">
              <a:buNone/>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20400" b="1" spc="-510" dirty="0">
                <a:solidFill>
                  <a:srgbClr val="FFFFFF"/>
                </a:solidFill>
                <a:latin typeface="+mn-lt"/>
              </a:rPr>
              <a:t>ESG</a:t>
            </a:r>
            <a:endParaRPr lang="en-GB" sz="20400" b="1" spc="-510"/>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072658" y="4359745"/>
            <a:ext cx="4539794" cy="246616"/>
          </a:xfrm>
        </p:spPr>
        <p:txBody>
          <a:bodyPr/>
          <a:lstStyle>
            <a:lvl1pPr algn="ctr">
              <a:defRPr sz="1225">
                <a:solidFill>
                  <a:schemeClr val="bg1"/>
                </a:solidFill>
              </a:defRPr>
            </a:lvl1pPr>
          </a:lstStyle>
          <a:p>
            <a:r>
              <a:rPr lang="el-GR"/>
              <a:t xml:space="preserve">ΚΛΙΚ ΓΙΑ ΕΙΣΑΓΩΓΗ ΕΠΩΝΥΜΙΑΣ</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946688" y="4051289"/>
            <a:ext cx="8798625" cy="160254"/>
          </a:xfrm>
        </p:spPr>
        <p:txBody>
          <a:bodyPr/>
          <a:lstStyle>
            <a:lvl1pPr algn="ctr">
              <a:defRPr sz="950" spc="300">
                <a:solidFill>
                  <a:schemeClr val="bg1"/>
                </a:solidFill>
              </a:defRPr>
            </a:lvl1pPr>
          </a:lstStyle>
          <a:p>
            <a:r>
              <a:rPr lang="el-GR"/>
              <a:t xml:space="preserve">ΕΙΣΑΓΩΓΗ ΤΙΤΛΟΥ</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54795" y="864270"/>
            <a:ext cx="3997234" cy="4704480"/>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5675750" y="859072"/>
            <a:ext cx="3997234" cy="4704479"/>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l-GR"/>
              <a:t xml:space="preserve">ΚΛΙΚ ΓΙΑ ΕΙΣΑΓΩΓΗ ΕΠΩΝΥΜΙΑΣ</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l-GR" smtClean="0"/>
              <a:pPr/>
              <a:t xml:space="preserve">‹#›</a:t>
            </a:fld>
            <a:endParaRPr lang="el-G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title</a:t>
            </a:r>
            <a:r>
              <a:rPr lang="el-GR" noProof="0"/>
              <a:t xml:space="preserve">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l-G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l-GR" noProof="0"/>
              <a:t xml:space="preserve">ΚΛΙΚ ΓΙΑ ΕΙΣΑΓΩΓΗ ΕΠΩΝΥΜΙΑΣ</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l-GR" noProof="0" smtClean="0"/>
              <a:pPr/>
              <a:t xml:space="preserve">‹#›</a:t>
            </a:fld>
            <a:endParaRPr lang="el-G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946688" y="1392188"/>
            <a:ext cx="8798625" cy="1280812"/>
          </a:xfrm>
          <a:solidFill>
            <a:srgbClr val="1B4529"/>
          </a:solidFill>
        </p:spPr>
        <p:txBody>
          <a:bodyPr>
            <a:normAutofit/>
          </a:bodyPr>
          <a:lstStyle>
            <a:lvl1pPr marL="0" indent="0">
              <a:lnSpc>
                <a:spcPct val="100000"/>
              </a:lnSpc>
              <a:spcBef>
                <a:spcPts val="175"/>
              </a:spcBef>
              <a:buFontTx/>
              <a:buNone/>
              <a:defRPr sz="950">
                <a:solidFill>
                  <a:schemeClr val="bg1"/>
                </a:solidFill>
              </a:defRPr>
            </a:lvl1pPr>
            <a:lvl2pPr marL="157854" indent="0">
              <a:buFontTx/>
              <a:buNone/>
              <a:defRPr sz="950">
                <a:solidFill>
                  <a:schemeClr val="bg1"/>
                </a:solidFill>
              </a:defRPr>
            </a:lvl2pPr>
            <a:lvl3pPr marL="441992" indent="-142069">
              <a:defRPr sz="950">
                <a:solidFill>
                  <a:schemeClr val="bg1"/>
                </a:solidFill>
              </a:defRPr>
            </a:lvl3pPr>
            <a:lvl4pPr marL="615632" indent="-142069">
              <a:defRPr sz="950">
                <a:solidFill>
                  <a:schemeClr val="bg1"/>
                </a:solidFill>
              </a:defRPr>
            </a:lvl4pPr>
            <a:lvl5pPr marL="757701" indent="-142069">
              <a:defRPr sz="950">
                <a:solidFill>
                  <a:schemeClr val="bg1"/>
                </a:solidFill>
              </a:defRPr>
            </a:lvl5pPr>
          </a:lstStyle>
          <a:p>
            <a:pPr lvl="0"/>
            <a:r>
              <a:rPr lang="el-GR" noProof="0"/>
              <a:t xml:space="preserve">Εισαγωγή στοιχείων επιχείρησης</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title</a:t>
            </a:r>
            <a:r>
              <a:rPr lang="el-GR" noProof="0"/>
              <a:t xml:space="preserve">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l-GR" noProof="0"/>
              <a:t xml:space="preserve">ΚΛΙΚ ΓΙΑ ΕΙΣΑΓΩΓΗ ΕΠΩΝΥΜΙΑΣ</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l-GR" noProof="0" smtClean="0"/>
              <a:pPr/>
              <a:t xml:space="preserve">‹#›</a:t>
            </a:fld>
            <a:endParaRPr lang="el-G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54795" y="890999"/>
            <a:ext cx="9791703" cy="4672552"/>
          </a:xfrm>
          <a:prstGeom prst="rect">
            <a:avLst/>
          </a:prstGeom>
        </p:spPr>
        <p:txBody>
          <a:bodyPr vert="horz" lIns="0" tIns="0" rIns="0" bIns="0" rtlCol="0">
            <a:noAutofit/>
          </a:bodyPr>
          <a:lstStyle/>
          <a:p>
            <a:pPr lvl="0"/>
            <a:r>
              <a:rPr lang="el-GR" noProof="0"/>
              <a:t xml:space="preserve">Κάντε κλικ για επεξεργασία των στυλ κειμένου του υποδείγματος</a:t>
            </a:r>
          </a:p>
          <a:p>
            <a:pPr lvl="1"/>
            <a:r>
              <a:rPr lang="el-GR" noProof="0"/>
              <a:t xml:space="preserve">Δεύτερο επίπεδο</a:t>
            </a:r>
          </a:p>
          <a:p>
            <a:pPr lvl="2"/>
            <a:r>
              <a:rPr lang="el-GR" noProof="0"/>
              <a:t xml:space="preserve">Τρίτο επίπεδο</a:t>
            </a:r>
          </a:p>
          <a:p>
            <a:pPr lvl="3"/>
            <a:r>
              <a:rPr lang="el-GR" noProof="0"/>
              <a:t xml:space="preserve">Τέταρτο επίπεδο</a:t>
            </a:r>
          </a:p>
          <a:p>
            <a:pPr lvl="4"/>
            <a:r>
              <a:rPr lang="el-GR" noProof="0"/>
              <a:t xml:space="preserve">Πέμπτο επίπεδο</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35729" y="7202406"/>
            <a:ext cx="2405700" cy="134955"/>
          </a:xfrm>
          <a:prstGeom prst="rect">
            <a:avLst/>
          </a:prstGeom>
        </p:spPr>
        <p:txBody>
          <a:bodyPr vert="horz" lIns="0" tIns="0" rIns="0" bIns="0" rtlCol="0" anchor="t" anchorCtr="0">
            <a:noAutofit/>
          </a:bodyPr>
          <a:lstStyle>
            <a:lvl1pPr algn="l">
              <a:defRPr sz="875">
                <a:solidFill>
                  <a:srgbClr val="5F7D69"/>
                </a:solidFill>
                <a:latin typeface="IBM Plex Sans" panose="020B0503050203000203" pitchFamily="34" charset="0"/>
              </a:defRPr>
            </a:lvl1pPr>
          </a:lstStyle>
          <a:p>
            <a:endParaRPr lang="el-G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7261741" y="197293"/>
            <a:ext cx="3194529" cy="134955"/>
          </a:xfrm>
          <a:prstGeom prst="rect">
            <a:avLst/>
          </a:prstGeom>
        </p:spPr>
        <p:txBody>
          <a:bodyPr vert="horz" lIns="0" tIns="0" rIns="0" bIns="0" rtlCol="0" anchor="t" anchorCtr="0">
            <a:noAutofit/>
          </a:bodyPr>
          <a:lstStyle>
            <a:lvl1pPr algn="r">
              <a:defRPr sz="875" b="1">
                <a:solidFill>
                  <a:srgbClr val="5F7D69"/>
                </a:solidFill>
                <a:latin typeface="IBM Plex Sans" panose="020B0503050203000203" pitchFamily="34" charset="0"/>
              </a:defRPr>
            </a:lvl1pPr>
          </a:lstStyle>
          <a:p>
            <a:r>
              <a:rPr lang="el-GR"/>
              <a:t xml:space="preserve">ΚΛΙΚ ΓΙΑ ΕΙΣΑΓΩΓΗ ΕΠΩΝΥΜΙΑΣ</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8050571" y="7202406"/>
            <a:ext cx="2405700" cy="134955"/>
          </a:xfrm>
          <a:prstGeom prst="rect">
            <a:avLst/>
          </a:prstGeom>
        </p:spPr>
        <p:txBody>
          <a:bodyPr vert="horz" lIns="0" tIns="0" rIns="0" bIns="0" rtlCol="0" anchor="t" anchorCtr="0">
            <a:noAutofit/>
          </a:bodyPr>
          <a:lstStyle>
            <a:lvl1pPr algn="r">
              <a:defRPr sz="875">
                <a:solidFill>
                  <a:schemeClr val="tx2">
                    <a:alpha val="70000"/>
                  </a:schemeClr>
                </a:solidFill>
                <a:latin typeface="IBM Plex Sans" panose="020B0503050203000203" pitchFamily="34" charset="0"/>
              </a:defRPr>
            </a:lvl1pPr>
          </a:lstStyle>
          <a:p>
            <a:fld id="{5A0D23CF-C5A3-5445-819D-C647D180BB4B}" type="slidenum">
              <a:rPr lang="el-GR" smtClean="0"/>
              <a:pPr/>
              <a:t xml:space="preserve">‹#›</a:t>
            </a:fld>
            <a:endParaRPr lang="el-G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54796" y="450698"/>
            <a:ext cx="9791704" cy="218627"/>
          </a:xfrm>
          <a:prstGeom prst="rect">
            <a:avLst/>
          </a:prstGeom>
        </p:spPr>
        <p:txBody>
          <a:bodyPr vert="horz" wrap="square" lIns="0" tIns="0" rIns="0" bIns="0" rtlCol="0" anchor="t" anchorCtr="0">
            <a:spAutoFit/>
          </a:bodyPr>
          <a:lstStyle/>
          <a:p>
            <a:r>
              <a:rPr lang="el-GR" noProof="0"/>
              <a:t xml:space="preserve">Κάντε κλικ για επεξεργασία του στυλ τίτλου</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p:titleStyle>
    <p:body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p:bodyStyle>
    <p:otherStyle>
      <a:defPPr>
        <a:defRPr lang="el-GR"/>
      </a:defPPr>
      <a:lvl1pPr marL="0" algn="l" defTabSz="914400" rtl="0" eaLnBrk="1" latinLnBrk="0" hangingPunct="1">
        <a:defRPr sz="1575" kern="1200">
          <a:solidFill>
            <a:schemeClr val="tx1"/>
          </a:solidFill>
          <a:latin typeface="+mn-lt"/>
          <a:ea typeface="+mn-ea"/>
          <a:cs typeface="+mn-cs"/>
        </a:defRPr>
      </a:lvl1pPr>
      <a:lvl2pPr marL="400950" algn="l" defTabSz="914400" rtl="0" eaLnBrk="1" latinLnBrk="0" hangingPunct="1">
        <a:defRPr sz="1575" kern="1200">
          <a:solidFill>
            <a:schemeClr val="tx1"/>
          </a:solidFill>
          <a:latin typeface="+mn-lt"/>
          <a:ea typeface="+mn-ea"/>
          <a:cs typeface="+mn-cs"/>
        </a:defRPr>
      </a:lvl2pPr>
      <a:lvl3pPr marL="801900" algn="l" defTabSz="914400" rtl="0" eaLnBrk="1" latinLnBrk="0" hangingPunct="1">
        <a:defRPr sz="1575" kern="1200">
          <a:solidFill>
            <a:schemeClr val="tx1"/>
          </a:solidFill>
          <a:latin typeface="+mn-lt"/>
          <a:ea typeface="+mn-ea"/>
          <a:cs typeface="+mn-cs"/>
        </a:defRPr>
      </a:lvl3pPr>
      <a:lvl4pPr marL="1202850" algn="l" defTabSz="914400" rtl="0" eaLnBrk="1" latinLnBrk="0" hangingPunct="1">
        <a:defRPr sz="1575" kern="1200">
          <a:solidFill>
            <a:schemeClr val="tx1"/>
          </a:solidFill>
          <a:latin typeface="+mn-lt"/>
          <a:ea typeface="+mn-ea"/>
          <a:cs typeface="+mn-cs"/>
        </a:defRPr>
      </a:lvl4pPr>
      <a:lvl5pPr marL="1603800" algn="l" defTabSz="914400" rtl="0" eaLnBrk="1" latinLnBrk="0" hangingPunct="1">
        <a:defRPr sz="1575" kern="1200">
          <a:solidFill>
            <a:schemeClr val="tx1"/>
          </a:solidFill>
          <a:latin typeface="+mn-lt"/>
          <a:ea typeface="+mn-ea"/>
          <a:cs typeface="+mn-cs"/>
        </a:defRPr>
      </a:lvl5pPr>
      <a:lvl6pPr marL="2004750" algn="l" defTabSz="914400" rtl="0" eaLnBrk="1" latinLnBrk="0" hangingPunct="1">
        <a:defRPr sz="1575" kern="1200">
          <a:solidFill>
            <a:schemeClr val="tx1"/>
          </a:solidFill>
          <a:latin typeface="+mn-lt"/>
          <a:ea typeface="+mn-ea"/>
          <a:cs typeface="+mn-cs"/>
        </a:defRPr>
      </a:lvl6pPr>
      <a:lvl7pPr marL="2405700" algn="l" defTabSz="914400" rtl="0" eaLnBrk="1" latinLnBrk="0" hangingPunct="1">
        <a:defRPr sz="1575" kern="1200">
          <a:solidFill>
            <a:schemeClr val="tx1"/>
          </a:solidFill>
          <a:latin typeface="+mn-lt"/>
          <a:ea typeface="+mn-ea"/>
          <a:cs typeface="+mn-cs"/>
        </a:defRPr>
      </a:lvl7pPr>
      <a:lvl8pPr marL="2806650" algn="l" defTabSz="914400" rtl="0" eaLnBrk="1" latinLnBrk="0" hangingPunct="1">
        <a:defRPr sz="1575" kern="1200">
          <a:solidFill>
            <a:schemeClr val="tx1"/>
          </a:solidFill>
          <a:latin typeface="+mn-lt"/>
          <a:ea typeface="+mn-ea"/>
          <a:cs typeface="+mn-cs"/>
        </a:defRPr>
      </a:lvl8pPr>
      <a:lvl9pPr marL="3207600" algn="l" defTabSz="914400" rtl="0" eaLnBrk="1" latinLnBrk="0" hangingPunct="1">
        <a:defRPr sz="15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946688" y="4051289"/>
            <a:ext cx="8798625" cy="133605"/>
          </a:xfrm>
        </p:spPr>
        <p:txBody>
          <a:bodyPr/>
          <a:lstStyle/>
          <a:p>
            <a:r>
              <a:rPr lang="el-GR" noProof="0"/>
              <a:t xml:space="preserve">ΕΚΘΕΣΗ ESG {{insert_year}}</a:t>
            </a:r>
            <a:r>
              <a:rPr lang="el-GR" noProof="0"/>
              <a:t xml:space="preserve"/>
            </a:r>
            <a:r>
              <a:rPr lang="el-GR" noProof="0"/>
              <a:t xml:space="preserve"/>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072658" y="4359745"/>
            <a:ext cx="4539794" cy="246616"/>
          </a:xfrm>
        </p:spPr>
        <p:txBody>
          <a:bodyPr/>
          <a:lstStyle/>
          <a:p>
            <a:r>
              <a:rPr lang="el-GR" noProof="0"/>
              <a:t>{{</a:t>
            </a:r>
            <a:r>
              <a:rPr lang="el-GR" noProof="0"/>
              <a:t>company_name</a:t>
            </a:r>
            <a:r>
              <a:rPr lang="el-GR" noProof="0"/>
              <a:t>}}</a:t>
            </a:r>
            <a:endParaRPr lang="el-G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54796" y="450698"/>
            <a:ext cx="9791704" cy="437255"/>
          </a:xfrm>
        </p:spPr>
        <p:txBody>
          <a:bodyPr/>
          <a:lstStyle/>
          <a:p>
            <a:r>
              <a:rPr lang="el-GR" noProof="0"/>
              <a:t xml:space="preserve">Έκθεση ESG</a:t>
            </a:r>
            <a:r>
              <a:rPr lang="el-GR" b="0" noProof="0">
                <a:solidFill>
                  <a:srgbClr val="1B4528"/>
                </a:solidFill>
                <a:ea typeface="+mn-ea"/>
                <a:cs typeface="+mn-cs"/>
              </a:rPr>
              <a:t> </a:t>
            </a:r>
            <a:br>
              <a:rPr lang="el-GR" b="0" noProof="0">
                <a:solidFill>
                  <a:srgbClr val="1B4528"/>
                </a:solidFill>
                <a:ea typeface="+mn-ea"/>
                <a:cs typeface="+mn-cs"/>
              </a:rPr>
            </a:br>
            <a:endParaRPr lang="el-GR"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54793" y="864270"/>
            <a:ext cx="6880233" cy="4704480"/>
          </a:xfrm>
        </p:spPr>
        <p:txBody>
          <a:bodyPr/>
          <a:lstStyle/>
          <a:p>
            <a:pPr>
              <a:lnSpc>
                <a:spcPct val="150000"/>
              </a:lnSpc>
              <a:tabLst>
                <a:tab pos="251986" algn="l"/>
                <a:tab pos="409303" algn="l"/>
                <a:tab pos="3932930" algn="r"/>
              </a:tabLst>
            </a:pPr>
            <a:endParaRPr lang="el-GR" sz="1050" b="1" noProof="0">
              <a:latin typeface="+mj-lt"/>
            </a:endParaRPr>
          </a:p>
          <a:p>
            <a:pPr>
              <a:lnSpc>
                <a:spcPct val="150000"/>
              </a:lnSpc>
              <a:tabLst>
                <a:tab pos="251986" algn="l"/>
                <a:tab pos="409303" algn="l"/>
                <a:tab pos="3932930" algn="r"/>
              </a:tabLst>
            </a:pPr>
            <a:endParaRPr lang="el-GR" sz="1050" b="1"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Γενικές πληροφορίες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kern="1200" spc="-10" noProof="0">
                <a:solidFill>
                  <a:schemeClr val="tx2"/>
                </a:solidFill>
                <a:latin typeface="+mn-lt"/>
                <a:ea typeface="+mn-ea"/>
                <a:cs typeface="+mn-cs"/>
              </a:rPr>
              <a:t xml:space="preserve">Πρακτικές, πολιτικές και πρωτοβουλίες για πιο βιώσιμη οικονομία	</a:t>
            </a:r>
            <a:endParaRPr lang="el-GR" sz="1050" b="1"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Κατανάλωση ενέργειας				</a:t>
            </a:r>
            <a:endParaRPr lang="el-GR" sz="1050"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Εκπομπές CO₂e 				</a:t>
            </a:r>
            <a:r>
              <a:rPr lang="el-GR" sz="1050" b="1" noProof="0">
                <a:latin typeface="+mj-lt"/>
              </a:rPr>
              <a:t xml:space="preserve"/>
            </a:r>
            <a:endParaRPr lang="el-GR" sz="1050"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Ρύπανση αέρα, νερού και εδάφους</a:t>
            </a:r>
            <a:r>
              <a:rPr lang="el-GR" sz="1050" noProof="0">
                <a:latin typeface="+mj-lt"/>
              </a:rPr>
              <a:t>				</a:t>
            </a: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Βιοποικιλότητα</a:t>
            </a:r>
            <a:r>
              <a:rPr lang="el-GR" sz="1050" noProof="0">
                <a:latin typeface="+mj-lt"/>
              </a:rPr>
              <a:t>				</a:t>
            </a: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Νερό	</a:t>
            </a:r>
            <a:r>
              <a:rPr lang="el-GR" sz="1050" noProof="0">
                <a:latin typeface="+mj-lt"/>
              </a:rPr>
              <a:t> 			</a:t>
            </a: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Χρήση πόρων, κυκλική οικονομία και διαχείριση αποβλήτων</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Ίδιο εργατικό δυναμικό: γενικά χαρακτηριστικά</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Ίδιο εργατικό δυναμικό: υγεία και ασφάλεια</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Εργατικό δυναμικό: αμοιβές, συλλογικές συμβάσεις, κατάρτιση</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Επιχειρηματική δεοντολογία</a:t>
            </a:r>
            <a:r>
              <a:rPr lang="el-GR" sz="1050" noProof="0">
                <a:latin typeface="+mj-lt"/>
              </a:rPr>
              <a:t>	 			</a:t>
            </a:r>
            <a:endParaRPr lang="el-GR" sz="1050" noProof="0">
              <a:solidFill>
                <a:srgbClr val="1B4528"/>
              </a:solidFill>
              <a:latin typeface="+mj-lt"/>
            </a:endParaRPr>
          </a:p>
          <a:p>
            <a:pPr>
              <a:tabLst>
                <a:tab pos="251986" algn="l"/>
                <a:tab pos="409303" algn="l"/>
                <a:tab pos="3932930" algn="r"/>
              </a:tabLst>
            </a:pPr>
            <a:endParaRPr lang="el-GR" sz="1050" noProof="0">
              <a:latin typeface="+mj-lt"/>
            </a:endParaRPr>
          </a:p>
          <a:p>
            <a:pPr>
              <a:tabLst>
                <a:tab pos="251986" algn="l"/>
                <a:tab pos="409303" algn="l"/>
                <a:tab pos="3932930" algn="r"/>
              </a:tabLst>
            </a:pPr>
            <a:endParaRPr lang="el-GR" sz="1050" noProof="0">
              <a:latin typeface="+mj-lt"/>
            </a:endParaRPr>
          </a:p>
          <a:p>
            <a:pPr>
              <a:tabLst>
                <a:tab pos="251986" algn="l"/>
                <a:tab pos="409303" algn="l"/>
                <a:tab pos="3932930" algn="r"/>
              </a:tabLst>
            </a:pPr>
            <a:endParaRPr lang="el-GR" noProof="0">
              <a:latin typeface="+mj-lt"/>
            </a:endParaRPr>
          </a:p>
          <a:p>
            <a:pPr>
              <a:tabLst>
                <a:tab pos="251986" algn="l"/>
                <a:tab pos="409303" algn="l"/>
                <a:tab pos="3932930" algn="r"/>
              </a:tabLst>
            </a:pPr>
            <a:endParaRPr lang="el-GR"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7261741" y="197293"/>
            <a:ext cx="3194529" cy="134955"/>
          </a:xfrm>
        </p:spPr>
        <p:txBody>
          <a:bodyPr/>
          <a:lstStyle/>
          <a:p>
            <a:r>
              <a:rPr lang="el-GR" noProof="0"/>
              <a:t>{{</a:t>
            </a:r>
            <a:r>
              <a:rPr lang="el-GR" noProof="0"/>
              <a:t>company_name</a:t>
            </a:r>
            <a:r>
              <a:rPr lang="el-GR"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8050571" y="7202406"/>
            <a:ext cx="2405700" cy="134955"/>
          </a:xfrm>
        </p:spPr>
        <p:txBody>
          <a:bodyPr/>
          <a:lstStyle/>
          <a:p>
            <a:fld id="{5A0D23CF-C5A3-5445-819D-C647D180BB4B}" type="slidenum">
              <a:rPr lang="el-GR" noProof="0" smtClean="0"/>
              <a:pPr/>
              <a:t>2</a:t>
            </a:fld>
            <a:endParaRPr lang="el-G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el-GR" noProof="0"/>
              <a:t xml:space="preserve">Βάση κατάρτισης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45500" y="2600430"/>
            <a:ext cx="3080911" cy="150659"/>
          </a:xfrm>
          <a:prstGeom prst="rect">
            <a:avLst/>
          </a:prstGeom>
        </p:spPr>
        <p:txBody>
          <a:bodyPr lIns="0" tIns="0" rIns="0" bIns="0"/>
          <a:lst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a:lstStyle>
          <a:p>
            <a:pPr marL="0" indent="0">
              <a:buNone/>
            </a:pPr>
            <a:endParaRPr lang="el-GR"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454795" y="4476714"/>
          <a:ext cx="6449555" cy="1078808"/>
        </p:xfrm>
        <a:graphic>
          <a:graphicData uri="http://schemas.openxmlformats.org/drawingml/2006/table">
            <a:tbl>
              <a:tblPr firstRow="1">
                <a:tableStyleId>{2A488322-F2BA-4B5B-9748-0D474271808F}</a:tableStyleId>
              </a:tblPr>
              <a:tblGrid>
                <a:gridCol w="2982453">
                  <a:extLst>
                    <a:ext uri="{9D8B030D-6E8A-4147-A177-3AD203B41FA5}">
                      <a16:colId xmlns:a16="http://schemas.microsoft.com/office/drawing/2014/main" val="1902117154"/>
                    </a:ext>
                  </a:extLst>
                </a:gridCol>
                <a:gridCol w="3467102">
                  <a:extLst>
                    <a:ext uri="{9D8B030D-6E8A-4147-A177-3AD203B41FA5}">
                      <a16:colId xmlns:a16="http://schemas.microsoft.com/office/drawing/2014/main" val="1904521774"/>
                    </a:ext>
                  </a:extLst>
                </a:gridCol>
              </a:tblGrid>
              <a:tr h="374838">
                <a:tc gridSpan="2">
                  <a:txBody>
                    <a:bodyPr/>
                    <a:lstStyle/>
                    <a:p>
                      <a:pPr marL="0" algn="l" defTabSz="914400" rtl="0" eaLnBrk="1" latinLnBrk="0" hangingPunct="1"/>
                      <a:r>
                        <a:rPr lang="el-GR" sz="1050" b="1" kern="1200" spc="-10" noProof="0">
                          <a:solidFill>
                            <a:schemeClr val="tx2"/>
                          </a:solidFill>
                          <a:latin typeface="+mn-lt"/>
                          <a:ea typeface="+mn-ea"/>
                          <a:cs typeface="+mn-cs"/>
                        </a:rPr>
                        <a:t xml:space="preserve">Κατάλογος θυγατρικών που περιλαμβάνονται στην παρούσα έκθεση ESG </a:t>
                      </a:r>
                      <a:r>
                        <a:rPr lang="el-GR" sz="1050" b="0" kern="1200" spc="-10" noProof="0">
                          <a:solidFill>
                            <a:schemeClr val="tx2"/>
                          </a:solidFill>
                          <a:latin typeface="+mn-lt"/>
                          <a:ea typeface="+mn-ea"/>
                          <a:cs typeface="+mn-cs"/>
                        </a:rPr>
                        <a:t xml:space="preserve">(παρ. 27d)</a:t>
                      </a:r>
                      <a:endParaRPr lang="el-GR" sz="1050" b="0" i="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65697">
                <a:tc>
                  <a:txBody>
                    <a:bodyPr/>
                    <a:lstStyle/>
                    <a:p>
                      <a:pPr algn="l"/>
                      <a:r>
                        <a:rPr lang="el-GR" sz="1050" b="1" kern="1200" spc="-10" noProof="0">
                          <a:solidFill>
                            <a:schemeClr val="tx2"/>
                          </a:solidFill>
                          <a:latin typeface="+mn-lt"/>
                          <a:ea typeface="+mn-ea"/>
                          <a:cs typeface="+mn-cs"/>
                        </a:rPr>
                        <a:t xml:space="preserve">Επωνυμία θυγατρικής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Έδρα θυγατρικής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38272">
                <a:tc>
                  <a:txBody>
                    <a:bodyPr/>
                    <a:lstStyle/>
                    <a:p>
                      <a:pPr rtl="0" fontAlgn="t" algn="l">
                        <a:buNone/>
                      </a:pPr>
                      <a:r>
                        <a:rPr lang="el-GR" sz="1050" b="0" i="0" u="none" strike="noStrike" noProof="0">
                          <a:solidFill>
                            <a:srgbClr val="1B4528"/>
                          </a:solidFill>
                          <a:effectLst/>
                          <a:latin typeface="Inter"/>
                        </a:rPr>
                        <a:t>{{subsidiary}}</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el-GR" sz="1050" b="0" i="0" u="none" strike="noStrike" noProof="0">
                          <a:solidFill>
                            <a:srgbClr val="1B4528"/>
                          </a:solidFill>
                          <a:effectLst/>
                          <a:latin typeface="Inter"/>
                        </a:rPr>
                        <a:t>{{subsidiary_address}}</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l-GR" noProof="0" smtClean="0"/>
              <a:pPr/>
              <a:t>3</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454795" y="3395154"/>
          <a:ext cx="6449555" cy="996421"/>
        </p:xfrm>
        <a:graphic>
          <a:graphicData uri="http://schemas.openxmlformats.org/drawingml/2006/table">
            <a:tbl>
              <a:tblPr firstRow="1">
                <a:tableStyleId>{2A488322-F2BA-4B5B-9748-0D474271808F}</a:tableStyleId>
              </a:tblPr>
              <a:tblGrid>
                <a:gridCol w="5432324">
                  <a:extLst>
                    <a:ext uri="{9D8B030D-6E8A-4147-A177-3AD203B41FA5}">
                      <a16:colId xmlns:a16="http://schemas.microsoft.com/office/drawing/2014/main" val="2698153288"/>
                    </a:ext>
                  </a:extLst>
                </a:gridCol>
                <a:gridCol w="1017231">
                  <a:extLst>
                    <a:ext uri="{9D8B030D-6E8A-4147-A177-3AD203B41FA5}">
                      <a16:colId xmlns:a16="http://schemas.microsoft.com/office/drawing/2014/main" val="2119413191"/>
                    </a:ext>
                  </a:extLst>
                </a:gridCol>
              </a:tblGrid>
              <a:tr h="237678">
                <a:tc gridSpan="2">
                  <a:txBody>
                    <a:bodyPr/>
                    <a:lstStyle/>
                    <a:p>
                      <a:r>
                        <a:rPr lang="el-GR" sz="1050" b="1" noProof="0">
                          <a:solidFill>
                            <a:schemeClr val="tx2"/>
                          </a:solidFill>
                        </a:rPr>
                        <a:t xml:space="preserve">Ατομική ή ενοποιημένη αναφορά</a:t>
                      </a:r>
                      <a:r>
                        <a:rPr lang="el-GR" sz="1050" b="0" noProof="0">
                          <a:solidFill>
                            <a:schemeClr val="tx2"/>
                          </a:solidFill>
                        </a:rPr>
                        <a:t xml:space="preserve"> (παρ. 27c)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καταρτίστηκε σε </a:t>
                      </a:r>
                      <a:r>
                        <a:rPr lang="el-GR" sz="1050" b="1" kern="1200" spc="-10" noProof="0">
                          <a:solidFill>
                            <a:schemeClr val="tx2"/>
                          </a:solidFill>
                          <a:latin typeface="+mn-lt"/>
                          <a:ea typeface="+mn-ea"/>
                          <a:cs typeface="+mn-cs"/>
                        </a:rPr>
                        <a:t xml:space="preserve">ατομική βάση </a:t>
                      </a:r>
                      <a:r>
                        <a:rPr lang="el-GR" sz="1050" b="0" kern="1200" spc="-10" noProof="0">
                          <a:solidFill>
                            <a:schemeClr val="tx2"/>
                          </a:solidFill>
                          <a:latin typeface="+mn-lt"/>
                          <a:ea typeface="+mn-ea"/>
                          <a:cs typeface="+mn-cs"/>
                        </a:rPr>
                        <a:t xml:space="preserve">(δηλ. δεν καλύπτει θυγατρικές)</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yes_subsidiary</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καταρτίστηκε σε </a:t>
                      </a:r>
                      <a:r>
                        <a:rPr lang="el-GR" sz="1050" b="1" kern="1200" spc="-10" noProof="0">
                          <a:solidFill>
                            <a:schemeClr val="tx2"/>
                          </a:solidFill>
                          <a:latin typeface="+mn-lt"/>
                          <a:ea typeface="+mn-ea"/>
                          <a:cs typeface="+mn-cs"/>
                        </a:rPr>
                        <a:t xml:space="preserve">ενοποιημένη βάση </a:t>
                      </a:r>
                      <a:r>
                        <a:rPr lang="el-GR" sz="1050" b="0" kern="1200" spc="-10" noProof="0">
                          <a:solidFill>
                            <a:schemeClr val="tx2"/>
                          </a:solidFill>
                          <a:latin typeface="+mn-lt"/>
                          <a:ea typeface="+mn-ea"/>
                          <a:cs typeface="+mn-cs"/>
                        </a:rPr>
                        <a:t xml:space="preserve">(δηλ. περιλαμβάνει τις θυγατρικές της επιχείρησης)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no_subsidiary</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454796" y="2003380"/>
          <a:ext cx="6449555" cy="1167535"/>
        </p:xfrm>
        <a:graphic>
          <a:graphicData uri="http://schemas.openxmlformats.org/drawingml/2006/table">
            <a:tbl>
              <a:tblPr firstRow="1">
                <a:tableStyleId>{2A488322-F2BA-4B5B-9748-0D474271808F}</a:tableStyleId>
              </a:tblPr>
              <a:tblGrid>
                <a:gridCol w="5442103">
                  <a:extLst>
                    <a:ext uri="{9D8B030D-6E8A-4147-A177-3AD203B41FA5}">
                      <a16:colId xmlns:a16="http://schemas.microsoft.com/office/drawing/2014/main" val="2698153288"/>
                    </a:ext>
                  </a:extLst>
                </a:gridCol>
                <a:gridCol w="1007453">
                  <a:extLst>
                    <a:ext uri="{9D8B030D-6E8A-4147-A177-3AD203B41FA5}">
                      <a16:colId xmlns:a16="http://schemas.microsoft.com/office/drawing/2014/main" val="2119413191"/>
                    </a:ext>
                  </a:extLst>
                </a:gridCol>
              </a:tblGrid>
              <a:tr h="343061">
                <a:tc gridSpan="2">
                  <a:txBody>
                    <a:bodyPr/>
                    <a:lstStyle/>
                    <a:p>
                      <a:r>
                        <a:rPr lang="el-GR" sz="1050" b="1" kern="1200" spc="-10" noProof="0">
                          <a:solidFill>
                            <a:schemeClr val="tx2"/>
                          </a:solidFill>
                          <a:latin typeface="+mn-lt"/>
                          <a:ea typeface="+mn-ea"/>
                          <a:cs typeface="+mn-cs"/>
                        </a:rPr>
                        <a:t xml:space="preserve">Βασική ενότητα ή Βασική ενότητα +</a:t>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a:t>
                      </a:r>
                      <a:r>
                        <a:rPr lang="el-GR" sz="1050" b="1" kern="1200" spc="-10" noProof="0">
                          <a:solidFill>
                            <a:schemeClr val="tx2"/>
                          </a:solidFill>
                          <a:latin typeface="+mn-lt"/>
                          <a:ea typeface="+mn-ea"/>
                          <a:cs typeface="+mn-cs"/>
                        </a:rPr>
                        <a:t xml:space="preserve">Ολοκληρωμένη ενότητα </a:t>
                      </a:r>
                      <a:r>
                        <a:rPr lang="el-GR" sz="1050" b="0" kern="1200" spc="-10" noProof="0">
                          <a:solidFill>
                            <a:schemeClr val="tx2"/>
                          </a:solidFill>
                          <a:latin typeface="+mn-lt"/>
                          <a:ea typeface="+mn-ea"/>
                          <a:cs typeface="+mn-cs"/>
                        </a:rPr>
                        <a:t xml:space="preserve">(παρ. 27a)</a:t>
                      </a:r>
                      <a:r>
                        <a:rPr lang="el-GR" sz="1050" b="1" kern="1200" spc="-10" noProof="0">
                          <a:solidFill>
                            <a:schemeClr val="tx2"/>
                          </a:solidFill>
                          <a:latin typeface="+mn-lt"/>
                          <a:ea typeface="+mn-ea"/>
                          <a:cs typeface="+mn-cs"/>
                        </a:rPr>
                        <a:t>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βασίζεται στη </a:t>
                      </a:r>
                      <a:r>
                        <a:rPr lang="el-GR" sz="1050" b="1" kern="1200" spc="-10" noProof="0">
                          <a:solidFill>
                            <a:schemeClr val="tx2"/>
                          </a:solidFill>
                          <a:latin typeface="+mn-lt"/>
                          <a:ea typeface="+mn-ea"/>
                          <a:cs typeface="+mn-cs"/>
                        </a:rPr>
                        <a:t xml:space="preserve">Βασική ενότητα</a:t>
                      </a:r>
                      <a:r>
                        <a:rPr lang="el-GR" sz="1050" b="0" kern="1200" spc="-10" noProof="0">
                          <a:solidFill>
                            <a:schemeClr val="tx2"/>
                          </a:solidFill>
                          <a:latin typeface="+mn-lt"/>
                          <a:ea typeface="+mn-ea"/>
                          <a:cs typeface="+mn-cs"/>
                        </a:rPr>
                        <a:t xml:space="preserve"> του προαιρετικού προτύπου για τις ΜμΕ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basic_module</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6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βασίζεται στη </a:t>
                      </a:r>
                      <a:r>
                        <a:rPr lang="el-GR" sz="1050" b="1" kern="1200" spc="-10" noProof="0">
                          <a:solidFill>
                            <a:schemeClr val="tx2"/>
                          </a:solidFill>
                          <a:latin typeface="+mn-lt"/>
                          <a:ea typeface="+mn-ea"/>
                          <a:cs typeface="+mn-cs"/>
                        </a:rPr>
                        <a:t xml:space="preserve">Βασική ενότητα</a:t>
                      </a:r>
                      <a:r>
                        <a:rPr lang="el-GR" sz="1050" b="0" kern="1200" spc="-10" noProof="0">
                          <a:solidFill>
                            <a:schemeClr val="tx2"/>
                          </a:solidFill>
                          <a:latin typeface="+mn-lt"/>
                          <a:ea typeface="+mn-ea"/>
                          <a:cs typeface="+mn-cs"/>
                        </a:rPr>
                        <a:t xml:space="preserve"> και την </a:t>
                      </a:r>
                      <a:r>
                        <a:rPr lang="el-GR" sz="1050" b="1" kern="1200" spc="-10" noProof="0">
                          <a:solidFill>
                            <a:schemeClr val="tx2"/>
                          </a:solidFill>
                          <a:latin typeface="+mn-lt"/>
                          <a:ea typeface="+mn-ea"/>
                          <a:cs typeface="+mn-cs"/>
                        </a:rPr>
                        <a:t xml:space="preserve">Ολοκληρωμένη ενότητα </a:t>
                      </a:r>
                      <a:r>
                        <a:rPr lang="el-GR" sz="1050" b="0" kern="1200" spc="-10" noProof="0">
                          <a:solidFill>
                            <a:schemeClr val="tx2"/>
                          </a:solidFill>
                          <a:latin typeface="+mn-lt"/>
                          <a:ea typeface="+mn-ea"/>
                          <a:cs typeface="+mn-cs"/>
                        </a:rPr>
                        <a:t xml:space="preserve">του προαιρετικού προτύπου για τις ΜμΕ</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comprehensive</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45500" y="891000"/>
            <a:ext cx="9791704" cy="890704"/>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κατάρτισε την έκθεση βιωσιμότητας βάσει του προτύπου VSME, το οποίο ακολουθεί δομημένη προσέγγιση ώστε οι απαιτούμενες πληροφορίες να αναφέρονται τυποποιημένα και με διαφάνεια. Η έκθεση αντικατοπτρίζει τις ενότητες βιωσιμότητας που επέλεξε και καλύπτει η επιχείρηση. Αναφέρεται επίσης εάν η έκθεση καταρτίζεται σε ατομική βάση (μόνο ίδια στοιχεία) ή σε ενοποιημένη βάση. Η ενότητα αυτή περιέχει βασικές πληροφορίες για την επιχείρηση, π.χ. τη νομική μορφή, τους κωδικούς NACE, το σύνολο ισολογισμού και τον κύκλο εργασιών, τον αριθμό εργαζομένων, καθώς και τη χώρα κύριας δραστηριότητας και τη θέση άλλων σημαντικών στοιχείων ενεργητικού.</a:t>
            </a:r>
            <a:endParaRPr lang="el-GR" sz="105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7164197" y="3389646"/>
          <a:ext cx="3073007" cy="2165876"/>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1902117154"/>
                    </a:ext>
                  </a:extLst>
                </a:gridCol>
                <a:gridCol w="1651963">
                  <a:extLst>
                    <a:ext uri="{9D8B030D-6E8A-4147-A177-3AD203B41FA5}">
                      <a16:colId xmlns:a16="http://schemas.microsoft.com/office/drawing/2014/main" val="1904521774"/>
                    </a:ext>
                  </a:extLst>
                </a:gridCol>
              </a:tblGrid>
              <a:tr h="400573">
                <a:tc gridSpan="2">
                  <a:txBody>
                    <a:bodyPr/>
                    <a:lstStyle/>
                    <a:p>
                      <a:pPr algn="l"/>
                      <a:r>
                        <a:rPr lang="el-GR" sz="1050" b="1" kern="1200" spc="-10" noProof="0">
                          <a:solidFill>
                            <a:schemeClr val="tx2"/>
                          </a:solidFill>
                          <a:latin typeface="+mn-lt"/>
                          <a:ea typeface="+mn-ea"/>
                          <a:cs typeface="+mn-cs"/>
                        </a:rPr>
                        <a:t xml:space="preserve">Βασικές πληροφορίες για την επιχείρηση</a:t>
                      </a:r>
                      <a:r>
                        <a:rPr lang="el-GR" sz="1050" b="0" kern="1200" spc="-10" noProof="0">
                          <a:solidFill>
                            <a:schemeClr val="tx2"/>
                          </a:solidFill>
                          <a:latin typeface="+mn-lt"/>
                          <a:ea typeface="+mn-ea"/>
                          <a:cs typeface="+mn-cs"/>
                        </a:rPr>
                        <a:t xml:space="preserve"> (παρ. 27e, i-v)</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73187">
                <a:tc>
                  <a:txBody>
                    <a:bodyPr/>
                    <a:lstStyle/>
                    <a:p>
                      <a:pPr algn="l"/>
                      <a:r>
                        <a:rPr lang="el-GR" sz="1050" b="1" kern="1200" spc="-10" noProof="0">
                          <a:solidFill>
                            <a:schemeClr val="tx2"/>
                          </a:solidFill>
                          <a:latin typeface="+mn-lt"/>
                          <a:ea typeface="+mn-ea"/>
                          <a:cs typeface="+mn-cs"/>
                        </a:rPr>
                        <a:t xml:space="preserve">Νομική μορφή</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{{branchekode}}</a:t>
                      </a:r>
                      <a:endParaRPr lang="el-GR" sz="1050" b="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Κωδικοί NACE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{{NACE}}</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73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Ισολογισμός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{{balance}}</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0573">
                <a:tc>
                  <a:txBody>
                    <a:bodyPr/>
                    <a:lstStyle/>
                    <a:p>
                      <a:pPr algn="l"/>
                      <a:r>
                        <a:rPr lang="el-GR" sz="1050" b="1" kern="1200" spc="-10" noProof="0">
                          <a:solidFill>
                            <a:schemeClr val="tx2"/>
                          </a:solidFill>
                          <a:latin typeface="+mn-lt"/>
                          <a:ea typeface="+mn-ea"/>
                          <a:cs typeface="+mn-cs"/>
                        </a:rPr>
                        <a:t xml:space="preserve">Κύκλος εργασιών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{{revenue}}</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36027">
                <a:tc>
                  <a:txBody>
                    <a:bodyPr/>
                    <a:lstStyle/>
                    <a:p>
                      <a:pPr algn="l"/>
                      <a:r>
                        <a:rPr lang="el-GR" sz="1050" b="1" kern="1200" spc="-10" noProof="0">
                          <a:solidFill>
                            <a:schemeClr val="tx2"/>
                          </a:solidFill>
                          <a:latin typeface="+mn-lt"/>
                          <a:ea typeface="+mn-ea"/>
                          <a:cs typeface="+mn-cs"/>
                        </a:rPr>
                        <a:t xml:space="preserve">Εργαζόμενοι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{{total_employees}}</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7164197" y="2005523"/>
          <a:ext cx="3073007" cy="1269582"/>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613205895"/>
                    </a:ext>
                  </a:extLst>
                </a:gridCol>
                <a:gridCol w="1651963">
                  <a:extLst>
                    <a:ext uri="{9D8B030D-6E8A-4147-A177-3AD203B41FA5}">
                      <a16:colId xmlns:a16="http://schemas.microsoft.com/office/drawing/2014/main" val="2415866723"/>
                    </a:ext>
                  </a:extLst>
                </a:gridCol>
              </a:tblGrid>
              <a:tr h="539347">
                <a:tc gridSpan="2">
                  <a:txBody>
                    <a:bodyPr/>
                    <a:lstStyle/>
                    <a:p>
                      <a:pPr algn="l"/>
                      <a:r>
                        <a:rPr lang="el-GR" sz="1050" b="1" kern="1200" spc="-10" noProof="0">
                          <a:solidFill>
                            <a:schemeClr val="tx2"/>
                          </a:solidFill>
                          <a:latin typeface="+mn-lt"/>
                          <a:ea typeface="+mn-ea"/>
                          <a:cs typeface="+mn-cs"/>
                        </a:rPr>
                        <a:t xml:space="preserve">Η έκθεση ESG περιέχει παραλείψεις λόγω ευαίσθητων επιχειρηματικών πληροφοριών </a:t>
                      </a:r>
                      <a:r>
                        <a:rPr lang="el-GR" sz="1050" b="0" kern="1200" spc="-10" noProof="0">
                          <a:solidFill>
                            <a:schemeClr val="tx2"/>
                          </a:solidFill>
                          <a:latin typeface="+mn-lt"/>
                          <a:ea typeface="+mn-ea"/>
                          <a:cs typeface="+mn-cs"/>
                        </a:rPr>
                        <a:t xml:space="preserve">(παρ. 27b)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730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Παραλείφθηκαν οι εξής γνωστοποιήσεις</a:t>
                      </a:r>
                    </a:p>
                    <a:p>
                      <a:pPr algn="l"/>
                      <a:endParaRPr lang="el-GR"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1050" noProof="0">
                          <a:solidFill>
                            <a:srgbClr val="1B4528"/>
                          </a:solidFill>
                          <a:latin typeface="+mn-lt"/>
                          <a:cs typeface="Calibri" panose="020F0502020204030204" pitchFamily="34" charset="0"/>
                        </a:rPr>
                        <a:t>{{</a:t>
                      </a:r>
                      <a:r>
                        <a:rPr lang="el-GR" sz="1050" noProof="0">
                          <a:solidFill>
                            <a:srgbClr val="1B4528"/>
                          </a:solidFill>
                          <a:latin typeface="+mn-lt"/>
                          <a:cs typeface="Calibri" panose="020F0502020204030204" pitchFamily="34" charset="0"/>
                        </a:rPr>
                        <a:t>confidentiality_info</a:t>
                      </a:r>
                      <a:r>
                        <a:rPr lang="el-GR" sz="1050" noProof="0">
                          <a:solidFill>
                            <a:srgbClr val="1B4528"/>
                          </a:solidFill>
                          <a:latin typeface="+mn-lt"/>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el-GR" noProof="0"/>
              <a:t xml:space="preserve">Βάση κατάρτισης (B1) - συνέχεια</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64" y="972291"/>
            <a:ext cx="181932" cy="203984"/>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l-GR" noProof="0" smtClean="0"/>
              <a:pPr/>
              <a:t>4</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el-GR" noProof="0"/>
              <a:t>{{</a:t>
            </a:r>
            <a:r>
              <a:rPr lang="el-GR" noProof="0"/>
              <a:t>company_name</a:t>
            </a:r>
            <a:r>
              <a:rPr lang="el-GR" noProof="0"/>
              <a:t>}}</a:t>
            </a:r>
            <a:endParaRPr lang="el-GR" b="0" noProof="0"/>
          </a:p>
          <a:p>
            <a:endParaRPr lang="el-GR"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452474" y="4486588"/>
          <a:ext cx="9820006" cy="738074"/>
        </p:xfrm>
        <a:graphic>
          <a:graphicData uri="http://schemas.openxmlformats.org/drawingml/2006/table">
            <a:tbl>
              <a:tblPr firstRow="1">
                <a:tableStyleId>{2A488322-F2BA-4B5B-9748-0D474271808F}</a:tableStyleId>
              </a:tblPr>
              <a:tblGrid>
                <a:gridCol w="3375900">
                  <a:extLst>
                    <a:ext uri="{9D8B030D-6E8A-4147-A177-3AD203B41FA5}">
                      <a16:colId xmlns:a16="http://schemas.microsoft.com/office/drawing/2014/main" val="3746818765"/>
                    </a:ext>
                  </a:extLst>
                </a:gridCol>
                <a:gridCol w="3240094">
                  <a:extLst>
                    <a:ext uri="{9D8B030D-6E8A-4147-A177-3AD203B41FA5}">
                      <a16:colId xmlns:a16="http://schemas.microsoft.com/office/drawing/2014/main" val="465692987"/>
                    </a:ext>
                  </a:extLst>
                </a:gridCol>
                <a:gridCol w="1709097">
                  <a:extLst>
                    <a:ext uri="{9D8B030D-6E8A-4147-A177-3AD203B41FA5}">
                      <a16:colId xmlns:a16="http://schemas.microsoft.com/office/drawing/2014/main" val="857047578"/>
                    </a:ext>
                  </a:extLst>
                </a:gridCol>
                <a:gridCol w="1494915">
                  <a:extLst>
                    <a:ext uri="{9D8B030D-6E8A-4147-A177-3AD203B41FA5}">
                      <a16:colId xmlns:a16="http://schemas.microsoft.com/office/drawing/2014/main" val="1742107540"/>
                    </a:ext>
                  </a:extLst>
                </a:gridCol>
              </a:tblGrid>
              <a:tr h="220996">
                <a:tc>
                  <a:txBody>
                    <a:bodyPr/>
                    <a:lstStyle/>
                    <a:p>
                      <a:r>
                        <a:rPr lang="el-GR" sz="1050" b="1" kern="1200" spc="-10" noProof="0">
                          <a:solidFill>
                            <a:schemeClr val="tx2"/>
                          </a:solidFill>
                          <a:latin typeface="+mn-lt"/>
                          <a:ea typeface="+mn-ea"/>
                          <a:cs typeface="+mn-cs"/>
                        </a:rPr>
                        <a:t xml:space="preserve">Ονομασία πιστοποιητικού ESG/οικολογικού σήματος </a:t>
                      </a:r>
                      <a:r>
                        <a:rPr lang="el-GR" sz="1050" b="0" kern="1200" spc="-10" noProof="0">
                          <a:solidFill>
                            <a:schemeClr val="tx2"/>
                          </a:solidFill>
                          <a:latin typeface="+mn-lt"/>
                          <a:ea typeface="+mn-ea"/>
                          <a:cs typeface="+mn-cs"/>
                        </a:rPr>
                        <a:t xml:space="preserve">(παρ. 28)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Σύντομη περιγραφή</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Ημερομηνία έκδοσης/</a:t>
                      </a:r>
                    </a:p>
                    <a:p>
                      <a:pPr algn="l"/>
                      <a:r>
                        <a:rPr lang="el-GR" sz="1050" b="1" kern="1200" spc="-10" noProof="0">
                          <a:solidFill>
                            <a:schemeClr val="tx2"/>
                          </a:solidFill>
                          <a:latin typeface="+mn-lt"/>
                          <a:ea typeface="+mn-ea"/>
                          <a:cs typeface="+mn-cs"/>
                        </a:rPr>
                        <a:t xml:space="preserve">ισχύος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Τυχόν βαθμολογία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20996">
                <a:tc>
                  <a:txBody>
                    <a:bodyPr/>
                    <a:lstStyle/>
                    <a:p>
                      <a:pPr rtl="0" fontAlgn="ctr" algn="l">
                        <a:buNone/>
                      </a:pPr>
                      <a:r>
                        <a:rPr lang="el-GR" sz="1050" b="0" i="0" u="none" strike="noStrike" noProof="0">
                          <a:solidFill>
                            <a:srgbClr val="1B4528"/>
                          </a:solidFill>
                          <a:effectLst/>
                          <a:latin typeface="Inter"/>
                        </a:rPr>
                        <a:t>{{certificate_or_ecolabel}}</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1050" b="0" i="0" u="none" strike="noStrike" noProof="0">
                          <a:solidFill>
                            <a:srgbClr val="1B4528"/>
                          </a:solidFill>
                          <a:effectLst/>
                          <a:latin typeface="Inter"/>
                        </a:rPr>
                        <a:t>{{description_certificate}}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1050" b="0" i="0" u="none" strike="noStrike" noProof="0">
                          <a:solidFill>
                            <a:srgbClr val="1B4528"/>
                          </a:solidFill>
                          <a:effectLst/>
                          <a:latin typeface="Inter"/>
                        </a:rPr>
                        <a:t>{{date_certicate}}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1050" b="0" i="0" u="none" strike="noStrike" noProof="0">
                          <a:solidFill>
                            <a:srgbClr val="1B4528"/>
                          </a:solidFill>
                          <a:effectLst/>
                          <a:latin typeface="Inter"/>
                        </a:rPr>
                        <a:t>{{certiciate_possible_rating}}</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468741" y="1568148"/>
          <a:ext cx="9770785" cy="1051941"/>
        </p:xfrm>
        <a:graphic>
          <a:graphicData uri="http://schemas.openxmlformats.org/drawingml/2006/table">
            <a:tbl>
              <a:tblPr firstRow="1">
                <a:tableStyleId>{2A488322-F2BA-4B5B-9748-0D474271808F}</a:tableStyleId>
              </a:tblPr>
              <a:tblGrid>
                <a:gridCol w="1780760">
                  <a:extLst>
                    <a:ext uri="{9D8B030D-6E8A-4147-A177-3AD203B41FA5}">
                      <a16:colId xmlns:a16="http://schemas.microsoft.com/office/drawing/2014/main" val="2041236584"/>
                    </a:ext>
                  </a:extLst>
                </a:gridCol>
                <a:gridCol w="1890996">
                  <a:extLst>
                    <a:ext uri="{9D8B030D-6E8A-4147-A177-3AD203B41FA5}">
                      <a16:colId xmlns:a16="http://schemas.microsoft.com/office/drawing/2014/main" val="2637180759"/>
                    </a:ext>
                  </a:extLst>
                </a:gridCol>
                <a:gridCol w="1444903">
                  <a:extLst>
                    <a:ext uri="{9D8B030D-6E8A-4147-A177-3AD203B41FA5}">
                      <a16:colId xmlns:a16="http://schemas.microsoft.com/office/drawing/2014/main" val="1126871569"/>
                    </a:ext>
                  </a:extLst>
                </a:gridCol>
                <a:gridCol w="1412061">
                  <a:extLst>
                    <a:ext uri="{9D8B030D-6E8A-4147-A177-3AD203B41FA5}">
                      <a16:colId xmlns:a16="http://schemas.microsoft.com/office/drawing/2014/main" val="573454477"/>
                    </a:ext>
                  </a:extLst>
                </a:gridCol>
                <a:gridCol w="1565312">
                  <a:extLst>
                    <a:ext uri="{9D8B030D-6E8A-4147-A177-3AD203B41FA5}">
                      <a16:colId xmlns:a16="http://schemas.microsoft.com/office/drawing/2014/main" val="3277283369"/>
                    </a:ext>
                  </a:extLst>
                </a:gridCol>
                <a:gridCol w="1676753">
                  <a:extLst>
                    <a:ext uri="{9D8B030D-6E8A-4147-A177-3AD203B41FA5}">
                      <a16:colId xmlns:a16="http://schemas.microsoft.com/office/drawing/2014/main" val="3975353283"/>
                    </a:ext>
                  </a:extLst>
                </a:gridCol>
              </a:tblGrid>
              <a:tr h="28413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Διευθύνσεις και γεωεντοπισμός </a:t>
                      </a:r>
                      <a:r>
                        <a:rPr lang="el-GR" sz="1050" b="1" u="none" kern="1200" spc="-10" noProof="0">
                          <a:solidFill>
                            <a:schemeClr val="tx2"/>
                          </a:solidFill>
                          <a:latin typeface="+mn-lt"/>
                          <a:ea typeface="+mn-ea"/>
                          <a:cs typeface="+mn-cs"/>
                        </a:rPr>
                        <a:t xml:space="preserve">σημαντικών</a:t>
                      </a:r>
                      <a:r>
                        <a:rPr lang="el-GR" sz="1050" b="1" kern="1200" spc="-10" noProof="0">
                          <a:solidFill>
                            <a:schemeClr val="tx2"/>
                          </a:solidFill>
                          <a:latin typeface="+mn-lt"/>
                          <a:ea typeface="+mn-ea"/>
                          <a:cs typeface="+mn-cs"/>
                        </a:rPr>
                        <a:t xml:space="preserve"> στοιχείων ενεργητικού και εγκαταστάσεων που η επιχείρηση</a:t>
                      </a:r>
                      <a:r>
                        <a:rPr lang="el-GR" sz="1050" b="0" kern="1200" spc="-10" noProof="0">
                          <a:solidFill>
                            <a:schemeClr val="tx2"/>
                          </a:solidFill>
                          <a:latin typeface="+mn-lt"/>
                          <a:ea typeface="+mn-ea"/>
                          <a:cs typeface="+mn-cs"/>
                        </a:rPr>
                        <a:t> </a:t>
                      </a:r>
                      <a:r>
                        <a:rPr lang="el-GR" sz="1050" b="1" kern="1200" spc="-10" noProof="0">
                          <a:solidFill>
                            <a:schemeClr val="tx2"/>
                          </a:solidFill>
                          <a:latin typeface="+mn-lt"/>
                          <a:ea typeface="+mn-ea"/>
                          <a:cs typeface="+mn-cs"/>
                        </a:rPr>
                        <a:t xml:space="preserve">κατέχει, μισθώνει ή διαχειρίζεται </a:t>
                      </a:r>
                      <a:r>
                        <a:rPr lang="el-GR" sz="1050" b="0" kern="1200" spc="-10" noProof="0">
                          <a:solidFill>
                            <a:schemeClr val="tx2"/>
                          </a:solidFill>
                          <a:latin typeface="+mn-lt"/>
                          <a:ea typeface="+mn-ea"/>
                          <a:cs typeface="+mn-cs"/>
                        </a:rPr>
                        <a:t xml:space="preserve">(παρ.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l-GR" sz="1050"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84138">
                <a:tc>
                  <a:txBody>
                    <a:bodyPr/>
                    <a:lstStyle/>
                    <a:p>
                      <a:pPr algn="l"/>
                      <a:r>
                        <a:rPr lang="el-GR" sz="1050" b="1" kern="1200" spc="-10" noProof="0">
                          <a:solidFill>
                            <a:schemeClr val="tx2"/>
                          </a:solidFill>
                          <a:latin typeface="+mn-lt"/>
                          <a:ea typeface="+mn-ea"/>
                          <a:cs typeface="+mn-cs"/>
                        </a:rPr>
                        <a:t xml:space="preserve">Τοποθεσία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Διεύθυνση</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Τ.Κ.</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Πόλη</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Χώρα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Γεωεντοπισμός (συντεταγμένες)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84138">
                <a:tc>
                  <a:txBody>
                    <a:bodyPr/>
                    <a:lstStyle/>
                    <a:p>
                      <a:pPr rtl="0" fontAlgn="t" algn="l">
                        <a:buNone/>
                      </a:pPr>
                      <a:r>
                        <a:rPr lang="el-GR" sz="1050" b="0" i="0" u="none" strike="noStrike" noProof="0">
                          <a:solidFill>
                            <a:srgbClr val="1B4528"/>
                          </a:solidFill>
                          <a:effectLst/>
                          <a:latin typeface="Inter"/>
                        </a:rPr>
                        <a:t>{{geolocation}}</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{{geolocation_adress}}</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{{geolocation_postcode}}</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{{geolocation_city}}</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{{geolocation_country}}</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{{geolocation_coordinates}}</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452474" y="891000"/>
            <a:ext cx="9794026" cy="566812"/>
          </a:xfrm>
          <a:prstGeom prst="rect">
            <a:avLst/>
          </a:prstGeom>
          <a:noFill/>
        </p:spPr>
        <p:txBody>
          <a:bodyPr wrap="square">
            <a:spAutoFit/>
          </a:bodyPr>
          <a:lstStyle/>
          <a:p>
            <a:pPr>
              <a:spcBef>
                <a:spcPts val="789"/>
              </a:spcBef>
            </a:pPr>
            <a:r>
              <a:rPr lang="el-GR" sz="1050" b="0" i="0" u="none" strike="noStrike" noProof="0">
                <a:solidFill>
                  <a:schemeClr val="tx2"/>
                </a:solidFill>
                <a:effectLst/>
                <a:latin typeface="Inter"/>
              </a:rPr>
              <a:t xml:space="preserve">Κατωτέρω περιγράφονται οι θέσεις της επιχείρησης και οι τόποι όπου δραστηριοποιείται. Τα στοιχεία αυτά μπορούν να χρησιμοποιηθούν για κλιματικές ζώνες κινδύνου και ενημερώνουν για τις εγκαταστάσεις και/ή την έδρα</a:t>
            </a:r>
            <a:r>
              <a:rPr lang="el-GR" sz="1050" noProof="0">
                <a:solidFill>
                  <a:schemeClr val="tx2"/>
                </a:solidFill>
                <a:latin typeface="Inter"/>
              </a:rPr>
              <a:t xml:space="preserve">. Αναφέρονται επίσης οι σχετικές πιστοποιήσεις ή σήματα βιωσιμότητας, με τον φορέα έκδοσης, την ημερομηνία και τυχόν βαθμολογία.</a:t>
            </a:r>
            <a:endParaRPr lang="el-GR" sz="105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452474" y="4181436"/>
            <a:ext cx="7174107" cy="242919"/>
          </a:xfrm>
          <a:prstGeom prst="rect">
            <a:avLst/>
          </a:prstGeom>
          <a:noFill/>
        </p:spPr>
        <p:txBody>
          <a:bodyPr wrap="square">
            <a:spAutoFit/>
          </a:bodyPr>
          <a:lstStyle/>
          <a:p>
            <a:r>
              <a:rPr lang="el-GR" sz="1050" noProof="0">
                <a:solidFill>
                  <a:srgbClr val="487477"/>
                </a:solidFill>
                <a:latin typeface="Inter"/>
              </a:rPr>
              <a:t xml:space="preserve">Τα πιστοποιητικά και τα οικολογικά σήματα της επιχείρησης παρατίθενται κατωτέρω.</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noProof="0"/>
              <a:t xml:space="preserve">Πρακτικές, πολιτικές και μελλοντικές πρωτοβουλίες για μετάβαση σε πιο βιώσιμη οικονομία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54796" y="1501175"/>
          <a:ext cx="9791705" cy="3360057"/>
        </p:xfrm>
        <a:graphic>
          <a:graphicData uri="http://schemas.openxmlformats.org/drawingml/2006/table">
            <a:tbl>
              <a:tblPr firstRow="1">
                <a:tableStyleId>{2A488322-F2BA-4B5B-9748-0D474271808F}</a:tableStyleId>
              </a:tblPr>
              <a:tblGrid>
                <a:gridCol w="1750429">
                  <a:extLst>
                    <a:ext uri="{9D8B030D-6E8A-4147-A177-3AD203B41FA5}">
                      <a16:colId xmlns:a16="http://schemas.microsoft.com/office/drawing/2014/main" val="1902117154"/>
                    </a:ext>
                  </a:extLst>
                </a:gridCol>
                <a:gridCol w="1848825">
                  <a:extLst>
                    <a:ext uri="{9D8B030D-6E8A-4147-A177-3AD203B41FA5}">
                      <a16:colId xmlns:a16="http://schemas.microsoft.com/office/drawing/2014/main" val="1904521774"/>
                    </a:ext>
                  </a:extLst>
                </a:gridCol>
                <a:gridCol w="1447875">
                  <a:extLst>
                    <a:ext uri="{9D8B030D-6E8A-4147-A177-3AD203B41FA5}">
                      <a16:colId xmlns:a16="http://schemas.microsoft.com/office/drawing/2014/main" val="3164053669"/>
                    </a:ext>
                  </a:extLst>
                </a:gridCol>
                <a:gridCol w="2027025">
                  <a:extLst>
                    <a:ext uri="{9D8B030D-6E8A-4147-A177-3AD203B41FA5}">
                      <a16:colId xmlns:a16="http://schemas.microsoft.com/office/drawing/2014/main" val="1484983729"/>
                    </a:ext>
                  </a:extLst>
                </a:gridCol>
                <a:gridCol w="2717551">
                  <a:extLst>
                    <a:ext uri="{9D8B030D-6E8A-4147-A177-3AD203B41FA5}">
                      <a16:colId xmlns:a16="http://schemas.microsoft.com/office/drawing/2014/main" val="3920544300"/>
                    </a:ext>
                  </a:extLst>
                </a:gridCol>
              </a:tblGrid>
              <a:tr h="417684">
                <a:tc>
                  <a:txBody>
                    <a:bodyPr/>
                    <a:lstStyle/>
                    <a:p>
                      <a:r>
                        <a:rPr lang="el-GR" sz="1050" b="1" kern="1200" spc="-10" noProof="0">
                          <a:solidFill>
                            <a:schemeClr val="tx2"/>
                          </a:solidFill>
                          <a:latin typeface="+mn-lt"/>
                          <a:ea typeface="+mn-ea"/>
                          <a:cs typeface="+mn-cs"/>
                        </a:rPr>
                        <a:t xml:space="preserve">Τομέας</a:t>
                      </a:r>
                    </a:p>
                    <a:p>
                      <a:r>
                        <a:rPr lang="el-GR" sz="1050" b="0" kern="1200" spc="-10" noProof="0">
                          <a:solidFill>
                            <a:schemeClr val="tx2"/>
                          </a:solidFill>
                          <a:latin typeface="+mn-lt"/>
                          <a:ea typeface="+mn-ea"/>
                          <a:cs typeface="+mn-cs"/>
                        </a:rPr>
                        <a:t xml:space="preserve">(παρ. 29a-d)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Υπάρχει συγκεκριμένη πρακτική ή πολιτική στον τομέα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Είναι η πολιτική δημόσια διαθέσιμη;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Η επιχείρηση έχει μελλοντικές πρωτοβουλίες και σχέδια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Υπάρχουν συγκεκριμένοι στόχοι παρακολούθησης της εφαρμογής πρακτικών και πολιτικών;</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67040">
                <a:tc>
                  <a:txBody>
                    <a:bodyPr/>
                    <a:lstStyle/>
                    <a:p>
                      <a:pPr algn="l"/>
                      <a:r>
                        <a:rPr lang="el-GR" sz="1050" b="1" kern="1200" spc="-10" noProof="0">
                          <a:solidFill>
                            <a:schemeClr val="tx2"/>
                          </a:solidFill>
                          <a:latin typeface="+mn-lt"/>
                          <a:ea typeface="+mn-ea"/>
                          <a:cs typeface="+mn-cs"/>
                        </a:rPr>
                        <a:t xml:space="preserve">Κλιματική αλλαγή</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{{climate_change_concrete}}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{{climate_change_publicly}}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{{climate_change_future}}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{{climate_change_plan}}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53415">
                <a:tc>
                  <a:txBody>
                    <a:bodyPr/>
                    <a:lstStyle/>
                    <a:p>
                      <a:pPr algn="l"/>
                      <a:r>
                        <a:rPr lang="el-GR" sz="1050" b="1" kern="1200" spc="-10" noProof="0">
                          <a:solidFill>
                            <a:schemeClr val="tx2"/>
                          </a:solidFill>
                          <a:latin typeface="+mn-lt"/>
                          <a:ea typeface="+mn-ea"/>
                          <a:cs typeface="+mn-cs"/>
                        </a:rPr>
                        <a:t xml:space="preserve">Ρύπανση</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{{pollution_concrete}}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{{pollution_publicly}}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{{pollution_future}}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{{pollution_plan}}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60612">
                <a:tc>
                  <a:txBody>
                    <a:bodyPr/>
                    <a:lstStyle/>
                    <a:p>
                      <a:pPr algn="l"/>
                      <a:r>
                        <a:rPr lang="el-GR" sz="1050" b="1" kern="1200" spc="-10" noProof="0">
                          <a:solidFill>
                            <a:schemeClr val="tx2"/>
                          </a:solidFill>
                          <a:latin typeface="+mn-lt"/>
                          <a:ea typeface="+mn-ea"/>
                          <a:cs typeface="+mn-cs"/>
                        </a:rPr>
                        <a:t xml:space="preserve">Υδάτινοι και θαλάσσιοι πόροι</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{{water_concrete}}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{{water_publicly}}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{{water_future}}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{{water_plan}}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60612">
                <a:tc>
                  <a:txBody>
                    <a:bodyPr/>
                    <a:lstStyle/>
                    <a:p>
                      <a:pPr algn="l"/>
                      <a:r>
                        <a:rPr lang="el-GR" sz="1050" b="1" kern="1200" spc="-10" noProof="0">
                          <a:solidFill>
                            <a:schemeClr val="tx2"/>
                          </a:solidFill>
                          <a:latin typeface="+mn-lt"/>
                          <a:ea typeface="+mn-ea"/>
                          <a:cs typeface="+mn-cs"/>
                        </a:rPr>
                        <a:t xml:space="preserve">Βιοποικιλότητα και οικοσυστήματα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{{biodiversity_concrete}}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{{biodiversity_publicly}}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{{biodiversity_future}}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{{biodiversity_plan}}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60612">
                <a:tc>
                  <a:txBody>
                    <a:bodyPr/>
                    <a:lstStyle/>
                    <a:p>
                      <a:pPr algn="l"/>
                      <a:r>
                        <a:rPr lang="el-GR" sz="1050" b="1" kern="1200" spc="-10" noProof="0">
                          <a:solidFill>
                            <a:schemeClr val="tx2"/>
                          </a:solidFill>
                          <a:latin typeface="+mn-lt"/>
                          <a:ea typeface="+mn-ea"/>
                          <a:cs typeface="+mn-cs"/>
                        </a:rPr>
                        <a:t xml:space="preserve">Κυκλική οικονομία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{{circular_concrete}}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{{circular_publicly}}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{{circular_future}}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{{circular_plan}}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60612">
                <a:tc>
                  <a:txBody>
                    <a:bodyPr/>
                    <a:lstStyle/>
                    <a:p>
                      <a:pPr algn="l"/>
                      <a:r>
                        <a:rPr lang="el-GR" sz="1050" b="1" kern="1200" spc="-10" noProof="0">
                          <a:solidFill>
                            <a:schemeClr val="tx2"/>
                          </a:solidFill>
                          <a:latin typeface="+mn-lt"/>
                          <a:ea typeface="+mn-ea"/>
                          <a:cs typeface="+mn-cs"/>
                        </a:rPr>
                        <a:t xml:space="preserve">Ίδιο εργατικό δυναμικό</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{{workforce_concrete}}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{{workforce_publicly}}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{{workforce_future}}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{{workforce_plan}}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60612">
                <a:tc>
                  <a:txBody>
                    <a:bodyPr/>
                    <a:lstStyle/>
                    <a:p>
                      <a:pPr algn="l"/>
                      <a:r>
                        <a:rPr lang="el-GR" sz="1050" b="1" kern="1200" spc="-10" noProof="0">
                          <a:solidFill>
                            <a:schemeClr val="tx2"/>
                          </a:solidFill>
                          <a:latin typeface="+mn-lt"/>
                          <a:ea typeface="+mn-ea"/>
                          <a:cs typeface="+mn-cs"/>
                        </a:rPr>
                        <a:t xml:space="preserve">Εργαζόμενοι στην αλυσίδα αξίας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{{workers_concrete}}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{{workers_publicly}}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{{workers_future}}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{{workers_plan}}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60612">
                <a:tc>
                  <a:txBody>
                    <a:bodyPr/>
                    <a:lstStyle/>
                    <a:p>
                      <a:pPr algn="l"/>
                      <a:r>
                        <a:rPr lang="el-GR" sz="1050" b="1" kern="1200" spc="-10" noProof="0">
                          <a:solidFill>
                            <a:schemeClr val="tx2"/>
                          </a:solidFill>
                          <a:latin typeface="+mn-lt"/>
                          <a:ea typeface="+mn-ea"/>
                          <a:cs typeface="+mn-cs"/>
                        </a:rPr>
                        <a:t xml:space="preserve">Επηρεαζόμενες κοινότητες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{{communities_concrete}}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{{communities_publicly}}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{{communities_future}}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{{communities_plan}}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60612">
                <a:tc>
                  <a:txBody>
                    <a:bodyPr/>
                    <a:lstStyle/>
                    <a:p>
                      <a:pPr algn="l"/>
                      <a:r>
                        <a:rPr lang="el-GR" sz="1050" b="1" kern="1200" spc="-10" noProof="0">
                          <a:solidFill>
                            <a:schemeClr val="tx2"/>
                          </a:solidFill>
                          <a:latin typeface="+mn-lt"/>
                          <a:ea typeface="+mn-ea"/>
                          <a:cs typeface="+mn-cs"/>
                        </a:rPr>
                        <a:t xml:space="preserve">Καταναλωτές και τελικοί χρήστες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{{consumers_concrete}}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{{consumers_publicly}}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{{consumers_future}}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{{consumers_plan}}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60612">
                <a:tc>
                  <a:txBody>
                    <a:bodyPr/>
                    <a:lstStyle/>
                    <a:p>
                      <a:pPr algn="l"/>
                      <a:r>
                        <a:rPr lang="el-GR" sz="1050" b="1" kern="1200" spc="-10" noProof="0">
                          <a:solidFill>
                            <a:schemeClr val="tx2"/>
                          </a:solidFill>
                          <a:latin typeface="+mn-lt"/>
                          <a:ea typeface="+mn-ea"/>
                          <a:cs typeface="+mn-cs"/>
                        </a:rPr>
                        <a:t xml:space="preserve">Επιχειρηματική δεοντολογία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{{governance_concrete}}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{{governance_publicly}}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{{governance_future}}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{{governance_plan}}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54796" y="891000"/>
            <a:ext cx="9782408" cy="566812"/>
          </a:xfrm>
          <a:prstGeom prst="rect">
            <a:avLst/>
          </a:prstGeom>
          <a:noFill/>
        </p:spPr>
        <p:txBody>
          <a:bodyPr wrap="square">
            <a:spAutoFit/>
          </a:bodyPr>
          <a:lstStyle/>
          <a:p>
            <a:pPr rtl="0">
              <a:spcBef>
                <a:spcPts val="789"/>
              </a:spcBef>
              <a:buNone/>
            </a:pPr>
            <a:r>
              <a:rPr lang="el-GR" sz="1050" b="0" i="0" u="none" strike="noStrike" noProof="0">
                <a:solidFill>
                  <a:schemeClr val="tx2"/>
                </a:solidFill>
                <a:effectLst/>
                <a:latin typeface="Inter"/>
              </a:rPr>
              <a:t xml:space="preserve">Η ενότητα αυτή παρουσιάζει τις πρακτικές, πολιτικές και μελλοντικές πρωτοβουλίες που εφάρμοσε η επιχείρηση για τη στήριξη μιας βιώσιμης οικονομίας. Περιλαμβάνει τα συγκεκριμένα μέτρα που έλαβε για τη μείωση των αρνητικών περιβαλλοντικών επιπτώσεων και τη βελτίωση των συνθηκών εργασίας και της ίσης μεταχείρισης (ΝΑΙ/ΟΧΙ).</a:t>
            </a:r>
            <a:br>
              <a:rPr lang="el-GR" sz="1050" noProof="0">
                <a:solidFill>
                  <a:schemeClr val="tx2"/>
                </a:solidFill>
              </a:rPr>
            </a:br>
            <a:endParaRPr lang="el-GR" sz="105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l-GR" noProof="0" smtClean="0"/>
              <a:pPr/>
              <a:t>5</a:t>
            </a:fld>
            <a:endParaRPr lang="el-GR"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Κατανάλωση ενέργειας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43369" y="1359604"/>
          <a:ext cx="9803131" cy="1687508"/>
        </p:xfrm>
        <a:graphic>
          <a:graphicData uri="http://schemas.openxmlformats.org/drawingml/2006/table">
            <a:tbl>
              <a:tblPr firstRow="1">
                <a:tableStyleId>{2A488322-F2BA-4B5B-9748-0D474271808F}</a:tableStyleId>
              </a:tblPr>
              <a:tblGrid>
                <a:gridCol w="2660545">
                  <a:extLst>
                    <a:ext uri="{9D8B030D-6E8A-4147-A177-3AD203B41FA5}">
                      <a16:colId xmlns:a16="http://schemas.microsoft.com/office/drawing/2014/main" val="2698153288"/>
                    </a:ext>
                  </a:extLst>
                </a:gridCol>
                <a:gridCol w="2469635">
                  <a:extLst>
                    <a:ext uri="{9D8B030D-6E8A-4147-A177-3AD203B41FA5}">
                      <a16:colId xmlns:a16="http://schemas.microsoft.com/office/drawing/2014/main" val="1451447067"/>
                    </a:ext>
                  </a:extLst>
                </a:gridCol>
                <a:gridCol w="2604428">
                  <a:extLst>
                    <a:ext uri="{9D8B030D-6E8A-4147-A177-3AD203B41FA5}">
                      <a16:colId xmlns:a16="http://schemas.microsoft.com/office/drawing/2014/main" val="2943870936"/>
                    </a:ext>
                  </a:extLst>
                </a:gridCol>
                <a:gridCol w="2068523">
                  <a:extLst>
                    <a:ext uri="{9D8B030D-6E8A-4147-A177-3AD203B41FA5}">
                      <a16:colId xmlns:a16="http://schemas.microsoft.com/office/drawing/2014/main" val="656209149"/>
                    </a:ext>
                  </a:extLst>
                </a:gridCol>
              </a:tblGrid>
              <a:tr h="218608">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Κατανάλωση ενέργειας σε MWh </a:t>
                      </a:r>
                      <a:r>
                        <a:rPr lang="el-GR" sz="1050" b="0" noProof="0">
                          <a:solidFill>
                            <a:schemeClr val="tx2"/>
                          </a:solidFill>
                        </a:rPr>
                        <a:t xml:space="preserve">(παρ. 32)</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l-GR" sz="775"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47564">
                <a:tc>
                  <a:txBody>
                    <a:bodyPr/>
                    <a:lstStyle/>
                    <a:p>
                      <a:pPr>
                        <a:lnSpc>
                          <a:spcPct val="106000"/>
                        </a:lnSpc>
                      </a:pPr>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1050" b="1" noProof="0">
                          <a:solidFill>
                            <a:schemeClr val="tx2"/>
                          </a:solidFill>
                        </a:rPr>
                        <a:t xml:space="preserve">Ανανεώσιμη κατανάλωση</a:t>
                      </a:r>
                      <a:r>
                        <a:rPr lang="el-GR"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1050" b="1" noProof="0">
                          <a:solidFill>
                            <a:schemeClr val="tx2"/>
                          </a:solidFill>
                        </a:rPr>
                        <a:t xml:space="preserve">Μη ανανεώσιμη κατανάλωση</a:t>
                      </a:r>
                      <a:r>
                        <a:rPr lang="el-GR"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Συνολική κατανάλωση (MWh)</a:t>
                      </a:r>
                    </a:p>
                    <a:p>
                      <a:pPr marL="0" marR="0" lvl="0" indent="0" algn="r" defTabSz="914400" rtl="0" eaLnBrk="1" fontAlgn="auto" latinLnBrk="0" hangingPunct="1">
                        <a:lnSpc>
                          <a:spcPct val="106000"/>
                        </a:lnSpc>
                        <a:spcBef>
                          <a:spcPts val="0"/>
                        </a:spcBef>
                        <a:spcAft>
                          <a:spcPts val="0"/>
                        </a:spcAft>
                        <a:buClrTx/>
                        <a:buSzTx/>
                        <a:buFontTx/>
                        <a:buNone/>
                        <a:tabLst/>
                        <a:defRPr/>
                      </a:pP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7564">
                <a:tc>
                  <a:txBody>
                    <a:bodyPr/>
                    <a:lstStyle/>
                    <a:p>
                      <a:pPr>
                        <a:lnSpc>
                          <a:spcPct val="106000"/>
                        </a:lnSpc>
                      </a:pPr>
                      <a:r>
                        <a:rPr lang="el-GR" sz="1050" b="1" noProof="0">
                          <a:solidFill>
                            <a:schemeClr val="tx2"/>
                          </a:solidFill>
                        </a:rPr>
                        <a:t xml:space="preserve">Ηλεκτρική ενέργεια </a:t>
                      </a:r>
                      <a:r>
                        <a:rPr lang="el-GR" sz="1050" b="0" noProof="0">
                          <a:solidFill>
                            <a:schemeClr val="tx2"/>
                          </a:solidFill>
                        </a:rPr>
                        <a:t xml:space="preserve">(όπως προκύπτει από τους λογαριασμούς παροχών)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electricity_renewable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electricity_non_rewenable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total_electricity</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18608">
                <a:tc>
                  <a:txBody>
                    <a:bodyPr/>
                    <a:lstStyle/>
                    <a:p>
                      <a:pPr>
                        <a:lnSpc>
                          <a:spcPct val="106000"/>
                        </a:lnSpc>
                      </a:pPr>
                      <a:r>
                        <a:rPr lang="el-GR" sz="1050" b="1" noProof="0">
                          <a:solidFill>
                            <a:schemeClr val="tx2"/>
                          </a:solidFill>
                        </a:rPr>
                        <a:t xml:space="preserve">Καύσιμα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fuel_renewable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fuel_non_rewenable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total_fuel</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18608">
                <a:tc>
                  <a:txBody>
                    <a:bodyPr/>
                    <a:lstStyle/>
                    <a:p>
                      <a:pPr>
                        <a:lnSpc>
                          <a:spcPct val="106000"/>
                        </a:lnSpc>
                      </a:pPr>
                      <a:r>
                        <a:rPr lang="el-GR" sz="1050" b="1" noProof="0">
                          <a:solidFill>
                            <a:schemeClr val="tx2"/>
                          </a:solidFill>
                        </a:rPr>
                        <a:t xml:space="preserve">Άλλο (π.χ. τηλεθέρμανση)</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district_heating_rewenable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district_heating_non_rewenable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total_district_heating</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18608">
                <a:tc>
                  <a:txBody>
                    <a:bodyPr/>
                    <a:lstStyle/>
                    <a:p>
                      <a:pPr>
                        <a:lnSpc>
                          <a:spcPct val="106000"/>
                        </a:lnSpc>
                      </a:pPr>
                      <a:r>
                        <a:rPr lang="el-GR" sz="1050" b="1" noProof="0">
                          <a:solidFill>
                            <a:schemeClr val="tx2"/>
                          </a:solidFill>
                        </a:rPr>
                        <a:t xml:space="preserve">Σύνολο</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renewable_energy_total</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non_rewenable_energy_total</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total_energy_consumption</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6</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43369" y="898217"/>
            <a:ext cx="9803131" cy="3616799"/>
          </a:xfrm>
          <a:prstGeom prst="rect">
            <a:avLst/>
          </a:prstGeom>
          <a:noFill/>
        </p:spPr>
        <p:txBody>
          <a:bodyPr wrap="square" lIns="80190" tIns="40095" rIns="80190" bIns="40095" anchor="t">
            <a:spAutoFit/>
          </a:bodyPr>
          <a:lstStyle/>
          <a:p>
            <a:r>
              <a:rPr lang="el-GR" sz="1050" b="0" i="0" u="none" strike="noStrike" noProof="0">
                <a:solidFill>
                  <a:schemeClr val="tx2"/>
                </a:solidFill>
                <a:effectLst/>
                <a:latin typeface="Inter"/>
              </a:rPr>
              <a:t xml:space="preserve">Η ενότητα αυτή αναφέρει τις εκπομπές CO2 από την κατανάλωση ενέργειας, με διάκριση ανανεώσιμης και μη ανανεώσιμης κατανάλωσης. </a:t>
            </a:r>
            <a:r>
              <a:rPr lang="el-GR" sz="1050" noProof="0">
                <a:solidFill>
                  <a:schemeClr val="tx2"/>
                </a:solidFill>
                <a:latin typeface="Inter"/>
              </a:rPr>
              <a:t xml:space="preserve">Οι εκπομπές αναφέρονται βάσει </a:t>
            </a:r>
            <a:r>
              <a:rPr lang="el-GR" sz="1050" b="0" i="0" u="none" strike="noStrike" noProof="0">
                <a:solidFill>
                  <a:schemeClr val="tx2"/>
                </a:solidFill>
                <a:effectLst/>
                <a:latin typeface="Inter"/>
              </a:rPr>
              <a:t xml:space="preserve">των ορισμών του Πρωτοκόλλου GHG για τις άμεσες και έμμεσες εκπομπές. </a:t>
            </a:r>
            <a:br>
              <a:rPr lang="el-GR" sz="1050" b="0" i="0" u="none" strike="noStrike" noProof="0" dirty="0">
                <a:effectLst/>
                <a:latin typeface="Inter"/>
              </a:rPr>
            </a:br>
            <a:br>
              <a:rPr lang="el-GR" sz="1050" dirty="0">
                <a:latin typeface="Inter"/>
              </a:rPr>
            </a:br>
            <a:r>
              <a:rPr lang="el-GR" sz="700" b="0" i="0" u="none" strike="noStrike" noProof="0">
                <a:solidFill>
                  <a:schemeClr val="tx2"/>
                </a:solidFill>
                <a:effectLst/>
                <a:latin typeface="Inter"/>
              </a:rPr>
              <a:t> </a:t>
            </a:r>
            <a:endParaRPr lang="el-GR" sz="1050" b="0" i="0" u="none" strike="noStrike" noProof="0" dirty="0">
              <a:solidFill>
                <a:schemeClr val="tx2"/>
              </a:solidFill>
              <a:effectLst/>
              <a:latin typeface="Inter"/>
            </a:endParaRPr>
          </a:p>
          <a:p>
            <a:pPr rtl="0">
              <a:buNone/>
            </a:pPr>
            <a:endParaRPr lang="el-GR" sz="1050" b="0" noProof="0">
              <a:solidFill>
                <a:schemeClr val="tx2"/>
              </a:solidFill>
              <a:effectLst/>
              <a:latin typeface="Inter"/>
            </a:endParaRPr>
          </a:p>
          <a:p>
            <a:pPr>
              <a:buNone/>
            </a:pPr>
            <a:endParaRPr lang="el-GR" b="0" noProof="0">
              <a:solidFill>
                <a:schemeClr val="tx2"/>
              </a:solidFill>
              <a:effectLst/>
              <a:latin typeface="Inter"/>
            </a:endParaRPr>
          </a:p>
          <a:p>
            <a:pPr>
              <a:buNone/>
            </a:pPr>
            <a:endParaRPr lang="el-GR" sz="1400" noProof="0">
              <a:solidFill>
                <a:schemeClr val="tx2"/>
              </a:solidFill>
              <a:latin typeface="Inter"/>
            </a:endParaRPr>
          </a:p>
          <a:p>
            <a:pPr>
              <a:buNone/>
            </a:pPr>
            <a:endParaRPr lang="el-GR" sz="1400" b="0" noProof="0">
              <a:solidFill>
                <a:schemeClr val="tx2"/>
              </a:solidFill>
              <a:effectLst/>
              <a:latin typeface="Inter"/>
            </a:endParaRPr>
          </a:p>
          <a:p>
            <a:pPr>
              <a:buNone/>
            </a:pPr>
            <a:endParaRPr lang="el-GR" sz="1400" noProof="0">
              <a:solidFill>
                <a:schemeClr val="tx2"/>
              </a:solidFill>
              <a:latin typeface="Inter"/>
            </a:endParaRPr>
          </a:p>
          <a:p>
            <a:pPr>
              <a:buNone/>
            </a:pPr>
            <a:endParaRPr lang="el-GR" sz="1400" b="0" noProof="0">
              <a:solidFill>
                <a:schemeClr val="tx2"/>
              </a:solidFill>
              <a:effectLst/>
              <a:latin typeface="Inter"/>
            </a:endParaRPr>
          </a:p>
          <a:p>
            <a:endParaRPr lang="el-GR" sz="1400" b="1">
              <a:latin typeface="+mj-lt"/>
            </a:endParaRPr>
          </a:p>
          <a:p>
            <a:endParaRPr lang="el-GR" sz="1400" b="1">
              <a:latin typeface="+mj-lt"/>
            </a:endParaRPr>
          </a:p>
          <a:p>
            <a:br>
              <a:rPr lang="el-GR" b="1" dirty="0">
                <a:latin typeface="+mj-lt"/>
              </a:rPr>
            </a:br>
            <a:r>
              <a:rPr lang="el-GR" b="1" i="0" u="none" strike="noStrike" noProof="0">
                <a:solidFill>
                  <a:schemeClr val="tx2"/>
                </a:solidFill>
                <a:effectLst/>
                <a:latin typeface="+mj-lt"/>
              </a:rPr>
              <a:t xml:space="preserve">Εκπομπές CO₂e (B3)</a:t>
            </a:r>
            <a:endParaRPr lang="el-GR" noProof="0">
              <a:solidFill>
                <a:schemeClr val="tx2"/>
              </a:solidFill>
              <a:effectLst/>
              <a:latin typeface="+mj-lt"/>
            </a:endParaRPr>
          </a:p>
          <a:p>
            <a:r>
              <a:rPr lang="el-GR" sz="700">
                <a:latin typeface="Inter"/>
              </a:rPr>
              <a:t> </a:t>
            </a:r>
            <a:br>
              <a:rPr lang="el-GR" sz="1050" dirty="0">
                <a:solidFill>
                  <a:schemeClr val="tx2"/>
                </a:solidFill>
                <a:latin typeface="Inter"/>
              </a:rPr>
            </a:br>
            <a:r>
              <a:rPr lang="el-GR" sz="1050" b="0" i="0" u="none" strike="noStrike" noProof="0">
                <a:solidFill>
                  <a:schemeClr val="tx2"/>
                </a:solidFill>
                <a:effectLst/>
                <a:latin typeface="Inter"/>
              </a:rPr>
              <a:t xml:space="preserve">Η παρ. 33 περιέχει στοιχεία για τις εκπομπές αερίων του θερμοκηπίου της επιχείρησης, βάσει των εκπομπών Scope 1 και Scope 2. Το Scope 1 αφορά τις άμεσες εκπομπές από πηγές που η επιχείρηση κατέχει ή ελέγχει άμεσα, π.χ. καύση καυσίμου σε εταιρικά οχήματα, θέρμανση κτιρίων με φυσικό αέριο, καθώς και εκπομπές από βιομηχανικές διεργασίες και διαρροές σε συστήματα όπως η ψύξη.</a:t>
            </a:r>
            <a:r>
              <a:rPr lang="el-GR" sz="1050" noProof="0">
                <a:solidFill>
                  <a:schemeClr val="tx2"/>
                </a:solidFill>
                <a:latin typeface="Inter"/>
              </a:rPr>
              <a:t> </a:t>
            </a:r>
            <a:r>
              <a:rPr lang="el-GR" sz="1050" b="0" i="0" u="none" strike="noStrike" noProof="0">
                <a:solidFill>
                  <a:schemeClr val="tx2"/>
                </a:solidFill>
                <a:effectLst/>
                <a:latin typeface="Inter"/>
              </a:rPr>
              <a:t xml:space="preserve">Το Scope 2</a:t>
            </a:r>
            <a:r>
              <a:rPr lang="el-GR" sz="1050" noProof="0">
                <a:solidFill>
                  <a:schemeClr val="tx2"/>
                </a:solidFill>
                <a:latin typeface="Inter"/>
              </a:rPr>
              <a:t xml:space="preserve"> αφορά τις έ</a:t>
            </a:r>
            <a:r>
              <a:rPr lang="el-GR" sz="1050" b="0" i="0" u="none" strike="noStrike" noProof="0">
                <a:solidFill>
                  <a:schemeClr val="tx2"/>
                </a:solidFill>
                <a:effectLst/>
                <a:latin typeface="Inter"/>
              </a:rPr>
              <a:t xml:space="preserve">μμεσες εκπομπές από αγορασθείσα ηλεκτρική ενέργεια, δηλ. εκπομπές από την παραγωγή ηλεκτρικής ενέργειας, ατμού, θερμότητας ή ψύξης που αγοράζει και χρησιμοποιεί η επιχείρηση. Παρότι προέρχονται από τους παραγωγούς ενέργειας, αποδίδονται στην επιχείρηση, καθώς αυτή καταναλώνει την ενέργεια.</a:t>
            </a:r>
            <a:endParaRPr lang="el-GR" sz="105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45491" y="5125324"/>
          <a:ext cx="9801009" cy="950929"/>
        </p:xfrm>
        <a:graphic>
          <a:graphicData uri="http://schemas.openxmlformats.org/drawingml/2006/table">
            <a:tbl>
              <a:tblPr firstRow="1">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8485">
                <a:tc>
                  <a:txBody>
                    <a:bodyPr/>
                    <a:lstStyle/>
                    <a:p>
                      <a:pPr>
                        <a:lnSpc>
                          <a:spcPct val="106000"/>
                        </a:lnSpc>
                      </a:pPr>
                      <a:r>
                        <a:rPr lang="el-GR" sz="1050" b="1" noProof="0">
                          <a:solidFill>
                            <a:schemeClr val="tx2"/>
                          </a:solidFill>
                        </a:rPr>
                        <a:t xml:space="preserve">Εκπομπές αερίων του θερμοκηπίου </a:t>
                      </a:r>
                      <a:r>
                        <a:rPr lang="el-GR" sz="1050" b="0" noProof="0">
                          <a:solidFill>
                            <a:schemeClr val="tx2"/>
                          </a:solidFill>
                        </a:rPr>
                        <a:t xml:space="preserve">(παρ. 33)</a:t>
                      </a:r>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Έτος </a:t>
                      </a:r>
                      <a:r>
                        <a:rPr lang="el-GR" sz="1050" b="1" noProof="0">
                          <a:solidFill>
                            <a:srgbClr val="1B4528"/>
                          </a:solidFill>
                          <a:latin typeface="Calibri" panose="020F0502020204030204" pitchFamily="34" charset="0"/>
                          <a:cs typeface="Calibri" panose="020F0502020204030204" pitchFamily="34" charset="0"/>
                        </a:rPr>
                        <a:t>{{</a:t>
                      </a:r>
                      <a:r>
                        <a:rPr lang="el-GR" sz="1050" b="1" noProof="0">
                          <a:solidFill>
                            <a:srgbClr val="1B4528"/>
                          </a:solidFill>
                          <a:latin typeface="Calibri" panose="020F0502020204030204" pitchFamily="34" charset="0"/>
                          <a:cs typeface="Calibri" panose="020F0502020204030204" pitchFamily="34" charset="0"/>
                        </a:rPr>
                        <a:t>insert_year</a:t>
                      </a:r>
                      <a:r>
                        <a:rPr lang="el-GR" sz="1050" b="1" noProof="0">
                          <a:solidFill>
                            <a:srgbClr val="1B4528"/>
                          </a:solidFill>
                          <a:latin typeface="Calibri" panose="020F0502020204030204" pitchFamily="34" charset="0"/>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7481">
                <a:tc>
                  <a:txBody>
                    <a:bodyPr/>
                    <a:lstStyle/>
                    <a:p>
                      <a:pPr>
                        <a:lnSpc>
                          <a:spcPct val="106000"/>
                        </a:lnSpc>
                      </a:pPr>
                      <a:r>
                        <a:rPr lang="el-GR" sz="1050" b="1" noProof="0">
                          <a:solidFill>
                            <a:schemeClr val="tx2"/>
                          </a:solidFill>
                        </a:rPr>
                        <a:t xml:space="preserve">Εκπομπές CO₂e Scope 1</a:t>
                      </a:r>
                      <a:r>
                        <a:rPr lang="el-GR" sz="1050" b="1" noProof="0">
                          <a:solidFill>
                            <a:schemeClr val="tx2"/>
                          </a:solidFill>
                        </a:rPr>
                        <a:t xml:space="preserve"/>
                      </a:r>
                      <a:r>
                        <a:rPr lang="el-GR" sz="1050" b="1" noProof="0">
                          <a:solidFill>
                            <a:schemeClr val="tx2"/>
                          </a:solidFill>
                        </a:rPr>
                        <a:t xml:space="preserve"/>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{{scope1}}</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7481">
                <a:tc>
                  <a:txBody>
                    <a:bodyPr/>
                    <a:lstStyle/>
                    <a:p>
                      <a:pPr>
                        <a:lnSpc>
                          <a:spcPct val="106000"/>
                        </a:lnSpc>
                      </a:pPr>
                      <a:r>
                        <a:rPr lang="el-GR" sz="1050" b="1" noProof="0">
                          <a:solidFill>
                            <a:schemeClr val="tx2"/>
                          </a:solidFill>
                        </a:rPr>
                        <a:t xml:space="preserve">Εκπομπές CO₂e Scope 2 (βάσει τοποθεσίας) </a:t>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{{scope2}}</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el-GR" sz="1050" b="1" noProof="0">
                          <a:solidFill>
                            <a:schemeClr val="tx2"/>
                          </a:solidFill>
                        </a:rPr>
                        <a:t xml:space="preserve">Συνολικές εκπομπές CO₂e Scope 1 και 2 </a:t>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total_scope</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16" name="B3 market-based (voluntary)"/>
          <p:cNvGraphicFramePr>
            <a:graphicFrameLocks noGrp="1"/>
          </p:cNvGraphicFramePr>
          <p:nvPr>
            <p:extLst>
              <p:ext uri="{D42A27DB-BD31-4B8C-83A1-F6EECF244321}">
                <p14:modId xmlns:p14="http://schemas.microsoft.com/office/powerpoint/2010/main" val="4106924491"/>
              </p:ext>
            </p:extLst>
          </p:nvPr>
        </p:nvGraphicFramePr>
        <p:xfrm>
          <a:off x="445491" y="6252820"/>
          <a:ext cx="9801009" cy="474962"/>
        </p:xfrm>
        <a:graphic>
          <a:graphicData uri="http://schemas.openxmlformats.org/drawingml/2006/table">
            <a:tbl>
              <a:tblPr firstRow="0">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7481">
                <a:tc>
                  <a:txBody>
                    <a:bodyPr/>
                    <a:lstStyle/>
                    <a:p>
                      <a:pPr>
                        <a:lnSpc>
                          <a:spcPct val="106000"/>
                        </a:lnSpc>
                      </a:pPr>
                      <a:r>
                        <a:rPr lang="el-GR" sz="1050" b="1" noProof="0">
                          <a:solidFill>
                            <a:schemeClr val="tx2"/>
                          </a:solidFill>
                        </a:rPr>
                        <a:t xml:space="preserve">Εκπομπές CO₂e Scope 2 (βάσει αγοράς) (προαιρετικό)</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{{scope1_marked}}</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el-GR" sz="1050" b="1" noProof="0">
                          <a:solidFill>
                            <a:schemeClr val="tx2"/>
                          </a:solidFill>
                        </a:rPr>
                        <a:t xml:space="preserve">Συνολικές εκπομπές CO₂e Scope 1 και 2 (βάσει αγοράς) (προαιρετικό)</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{{scope2_marked}}</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Ρύπανση του αέρα, του νερού και του εδάφους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445498" y="1458651"/>
          <a:ext cx="9784531" cy="701553"/>
        </p:xfrm>
        <a:graphic>
          <a:graphicData uri="http://schemas.openxmlformats.org/drawingml/2006/table">
            <a:tbl>
              <a:tblPr firstRow="1">
                <a:tableStyleId>{2A488322-F2BA-4B5B-9748-0D474271808F}</a:tableStyleId>
              </a:tblPr>
              <a:tblGrid>
                <a:gridCol w="3099832">
                  <a:extLst>
                    <a:ext uri="{9D8B030D-6E8A-4147-A177-3AD203B41FA5}">
                      <a16:colId xmlns:a16="http://schemas.microsoft.com/office/drawing/2014/main" val="2698153288"/>
                    </a:ext>
                  </a:extLst>
                </a:gridCol>
                <a:gridCol w="2988788">
                  <a:extLst>
                    <a:ext uri="{9D8B030D-6E8A-4147-A177-3AD203B41FA5}">
                      <a16:colId xmlns:a16="http://schemas.microsoft.com/office/drawing/2014/main" val="2119413191"/>
                    </a:ext>
                  </a:extLst>
                </a:gridCol>
                <a:gridCol w="3695912">
                  <a:extLst>
                    <a:ext uri="{9D8B030D-6E8A-4147-A177-3AD203B41FA5}">
                      <a16:colId xmlns:a16="http://schemas.microsoft.com/office/drawing/2014/main" val="683090399"/>
                    </a:ext>
                  </a:extLst>
                </a:gridCol>
              </a:tblGrid>
              <a:tr h="245049">
                <a:tc gridSpan="3">
                  <a:txBody>
                    <a:bodyPr/>
                    <a:lstStyle/>
                    <a:p>
                      <a:pPr>
                        <a:lnSpc>
                          <a:spcPct val="106000"/>
                        </a:lnSpc>
                      </a:pPr>
                      <a:r>
                        <a:rPr lang="el-GR" sz="1050" b="1" noProof="0">
                          <a:solidFill>
                            <a:schemeClr val="tx2"/>
                          </a:solidFill>
                        </a:rPr>
                        <a:t xml:space="preserve">Ρύπανση του αέρα, του νερού και του εδάφους </a:t>
                      </a:r>
                      <a:r>
                        <a:rPr lang="el-GR" sz="1050" b="0" noProof="0">
                          <a:solidFill>
                            <a:schemeClr val="tx2"/>
                          </a:solidFill>
                        </a:rPr>
                        <a:t xml:space="preserve">(παρ. 34)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45049">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Τύπος ρύπανσης </a:t>
                      </a:r>
                      <a:r>
                        <a:rPr lang="el-GR" sz="1050" b="0" noProof="0">
                          <a:solidFill>
                            <a:schemeClr val="tx2"/>
                          </a:solidFill>
                        </a:rPr>
                        <a:t xml:space="preserve">(π.χ. ουσία)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1050" b="1" noProof="0">
                          <a:solidFill>
                            <a:schemeClr val="tx2"/>
                          </a:solidFill>
                        </a:rPr>
                        <a:t xml:space="preserve">Πού; </a:t>
                      </a:r>
                      <a:r>
                        <a:rPr lang="el-GR" sz="1050" b="0" noProof="0">
                          <a:solidFill>
                            <a:schemeClr val="tx2"/>
                          </a:solidFill>
                        </a:rPr>
                        <a:t xml:space="preserve">(αέρας, νερό, έδαφος)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1050" b="1" noProof="0">
                          <a:solidFill>
                            <a:schemeClr val="tx2"/>
                          </a:solidFill>
                        </a:rPr>
                        <a:t xml:space="preserve">Ποσότητα</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11456">
                <a:tc>
                  <a:txBody>
                    <a:bodyPr/>
                    <a:lstStyle/>
                    <a:p>
                      <a:pPr rtl="0" fontAlgn="ctr" algn="l">
                        <a:buNone/>
                      </a:pPr>
                      <a:r>
                        <a:rPr lang="el-GR" sz="1050" b="0" i="0" u="none" strike="noStrike" noProof="0">
                          <a:solidFill>
                            <a:srgbClr val="1B4528"/>
                          </a:solidFill>
                          <a:effectLst/>
                          <a:latin typeface="Inter"/>
                        </a:rPr>
                        <a:t>{{type_of_pollution}}</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el-GR" sz="1050" b="0" i="0" u="none" strike="noStrike" noProof="0">
                          <a:solidFill>
                            <a:srgbClr val="1B4528"/>
                          </a:solidFill>
                          <a:effectLst/>
                          <a:latin typeface="Inter"/>
                        </a:rPr>
                        <a:t>{{scope_pollution}}</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{{pollution_medium}}</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7</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61968" y="891000"/>
            <a:ext cx="9784532"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αναφέρει τη συνολική ποσότητα ρύπων που εκπέμπονται από τις εγκαταστάσεις της. Οι συγκεκριμένοι ρύποι και οι ποσότητές τους στον αέρα, το νερό και το έδαφος</a:t>
            </a:r>
            <a:r>
              <a:rPr lang="el-GR" sz="1050" noProof="0">
                <a:solidFill>
                  <a:schemeClr val="tx2"/>
                </a:solidFill>
                <a:latin typeface="Inter"/>
              </a:rPr>
              <a:t xml:space="preserve"> παρατίθενται κατωτέρω.</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54796" y="294586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t xml:space="preserve">Βιοποικιλότητα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454795" y="4100380"/>
          <a:ext cx="9791703" cy="845625"/>
        </p:xfrm>
        <a:graphic>
          <a:graphicData uri="http://schemas.openxmlformats.org/drawingml/2006/table">
            <a:tbl>
              <a:tblPr firstRow="1">
                <a:tableStyleId>{2A488322-F2BA-4B5B-9748-0D474271808F}</a:tableStyleId>
              </a:tblPr>
              <a:tblGrid>
                <a:gridCol w="1778433">
                  <a:extLst>
                    <a:ext uri="{9D8B030D-6E8A-4147-A177-3AD203B41FA5}">
                      <a16:colId xmlns:a16="http://schemas.microsoft.com/office/drawing/2014/main" val="2698153288"/>
                    </a:ext>
                  </a:extLst>
                </a:gridCol>
                <a:gridCol w="2671090">
                  <a:extLst>
                    <a:ext uri="{9D8B030D-6E8A-4147-A177-3AD203B41FA5}">
                      <a16:colId xmlns:a16="http://schemas.microsoft.com/office/drawing/2014/main" val="2119413191"/>
                    </a:ext>
                  </a:extLst>
                </a:gridCol>
                <a:gridCol w="2671090">
                  <a:extLst>
                    <a:ext uri="{9D8B030D-6E8A-4147-A177-3AD203B41FA5}">
                      <a16:colId xmlns:a16="http://schemas.microsoft.com/office/drawing/2014/main" val="656209149"/>
                    </a:ext>
                  </a:extLst>
                </a:gridCol>
                <a:gridCol w="2671090">
                  <a:extLst>
                    <a:ext uri="{9D8B030D-6E8A-4147-A177-3AD203B41FA5}">
                      <a16:colId xmlns:a16="http://schemas.microsoft.com/office/drawing/2014/main" val="1502960985"/>
                    </a:ext>
                  </a:extLst>
                </a:gridCol>
              </a:tblGrid>
              <a:tr h="202471">
                <a:tc gridSpan="4">
                  <a:txBody>
                    <a:bodyPr/>
                    <a:lstStyle/>
                    <a:p>
                      <a:r>
                        <a:rPr lang="el-GR" sz="1050" b="1" noProof="0">
                          <a:solidFill>
                            <a:schemeClr val="tx2"/>
                          </a:solidFill>
                        </a:rPr>
                        <a:t xml:space="preserve">Τοποθεσίες εντός ή πλησίον «περιοχών ευαίσθητων ως προς τη βιοποικιλότητα» που η επιχείρηση κατέχει, μισθώνει ή διαχειρίζεται </a:t>
                      </a:r>
                      <a:r>
                        <a:rPr lang="el-GR" sz="1050" b="0" noProof="0">
                          <a:solidFill>
                            <a:schemeClr val="tx2"/>
                          </a:solidFill>
                        </a:rPr>
                        <a:t xml:space="preserve">(παρ. 35)</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2743">
                <a:tc>
                  <a:txBody>
                    <a:bodyPr/>
                    <a:lstStyle/>
                    <a:p>
                      <a:r>
                        <a:rPr lang="el-GR" sz="1050" b="1" noProof="0">
                          <a:solidFill>
                            <a:schemeClr val="tx2"/>
                          </a:solidFill>
                        </a:rPr>
                        <a:t xml:space="preserve">Τοποθεσία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Έκταση σε εκτάρια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Ευαίσθητη περιοχή βιοποικιλότητας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Διευκρίνιση: εντός ή πλησίον ευαίσθητης περιοχής βιοποικιλότητας</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8201">
                <a:tc>
                  <a:txBody>
                    <a:bodyPr/>
                    <a:lstStyle/>
                    <a:p>
                      <a:pPr rtl="0" fontAlgn="ctr" algn="l">
                        <a:buNone/>
                      </a:pPr>
                      <a:r>
                        <a:rPr lang="el-GR" sz="1050" b="0" i="0" u="none" strike="noStrike" noProof="0">
                          <a:solidFill>
                            <a:srgbClr val="1B4528"/>
                          </a:solidFill>
                          <a:effectLst/>
                          <a:latin typeface="Inter"/>
                        </a:rPr>
                        <a:t>{{country_location}}</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1050" b="0" i="0" u="none" strike="noStrike" noProof="0">
                          <a:solidFill>
                            <a:srgbClr val="1B4528"/>
                          </a:solidFill>
                          <a:effectLst/>
                          <a:latin typeface="Inter"/>
                        </a:rPr>
                        <a:t> {{area_hect}}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{{area_name}}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{{biosensitive_area}}</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45499" y="3291561"/>
            <a:ext cx="9791703" cy="566812"/>
          </a:xfrm>
          <a:prstGeom prst="rect">
            <a:avLst/>
          </a:prstGeom>
          <a:noFill/>
        </p:spPr>
        <p:txBody>
          <a:bodyPr wrap="square">
            <a:spAutoFit/>
          </a:bodyPr>
          <a:lstStyle/>
          <a:p>
            <a:pPr rtl="0">
              <a:spcBef>
                <a:spcPts val="789"/>
              </a:spcBef>
              <a:spcAft>
                <a:spcPts val="789"/>
              </a:spcAft>
              <a:buNone/>
            </a:pPr>
            <a:r>
              <a:rPr lang="el-GR" sz="1050" b="0" i="0" u="none" strike="noStrike" noProof="0">
                <a:solidFill>
                  <a:schemeClr val="tx2"/>
                </a:solidFill>
                <a:effectLst/>
                <a:latin typeface="Inter"/>
              </a:rPr>
              <a:t xml:space="preserve">Τα στοιχεία της επιχείρησης αφορούν τις τοποθεσίες δραστηριότητας που βρίσκονται εντός ή πλησίον περιοχών ευαίσθητων ως προς τη βιοποικιλότητα. Οι περιοχές αυτές ορίζονται ως τέτοιες από ειδικές διατάξεις προστασίας της φύσης σε ευρωπαϊκό ή διεθνές επίπεδο. Περιλαμβάνουν περιοχές Natura 2000, UNESCO και βασικές περιοχές βιοποικιλότητας (KBA), καθώς και άλλες προστατευόμενες περιοχές.</a:t>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endParaRPr lang="el-GR" sz="105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Νερό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454796" y="1505077"/>
          <a:ext cx="4220433" cy="1188392"/>
        </p:xfrm>
        <a:graphic>
          <a:graphicData uri="http://schemas.openxmlformats.org/drawingml/2006/table">
            <a:tbl>
              <a:tblPr firstRow="1">
                <a:tableStyleId>{2A488322-F2BA-4B5B-9748-0D474271808F}</a:tableStyleId>
              </a:tblPr>
              <a:tblGrid>
                <a:gridCol w="2707414">
                  <a:extLst>
                    <a:ext uri="{9D8B030D-6E8A-4147-A177-3AD203B41FA5}">
                      <a16:colId xmlns:a16="http://schemas.microsoft.com/office/drawing/2014/main" val="2698153288"/>
                    </a:ext>
                  </a:extLst>
                </a:gridCol>
                <a:gridCol w="1513019">
                  <a:extLst>
                    <a:ext uri="{9D8B030D-6E8A-4147-A177-3AD203B41FA5}">
                      <a16:colId xmlns:a16="http://schemas.microsoft.com/office/drawing/2014/main" val="2119413191"/>
                    </a:ext>
                  </a:extLst>
                </a:gridCol>
              </a:tblGrid>
              <a:tr h="5987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Άντληση νερού </a:t>
                      </a:r>
                      <a:r>
                        <a:rPr lang="el-GR" sz="1050" b="0" noProof="0">
                          <a:solidFill>
                            <a:schemeClr val="tx2"/>
                          </a:solidFill>
                        </a:rPr>
                        <a:t xml:space="preserve">(παρ. 36)</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Έτος </a:t>
                      </a: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89625">
                <a:tc>
                  <a:txBody>
                    <a:bodyPr/>
                    <a:lstStyle/>
                    <a:p>
                      <a:r>
                        <a:rPr lang="el-GR" sz="1050" b="0" noProof="0">
                          <a:solidFill>
                            <a:schemeClr val="tx2"/>
                          </a:solidFill>
                        </a:rPr>
                        <a:t xml:space="preserve">Σύνολο για όλες τις τοποθεσίες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050" b="0" i="0" u="none" strike="noStrike" kern="1200" cap="none" spc="0" normalizeH="0" baseline="0" noProof="0">
                          <a:ln>
                            <a:noFill/>
                          </a:ln>
                          <a:solidFill>
                            <a:srgbClr val="1B4528"/>
                          </a:solidFill>
                          <a:effectLst/>
                          <a:uLnTx/>
                          <a:uFillTx/>
                          <a:latin typeface="+mn-lt"/>
                          <a:ea typeface="+mn-ea"/>
                          <a:cs typeface="+mn-cs"/>
                        </a:rPr>
                        <a:t>{{</a:t>
                      </a:r>
                      <a:r>
                        <a:rPr kumimoji="0" lang="el-GR" sz="1050" b="0" i="0" u="none" strike="noStrike" kern="1200" cap="none" spc="0" normalizeH="0" baseline="0" noProof="0">
                          <a:ln>
                            <a:noFill/>
                          </a:ln>
                          <a:solidFill>
                            <a:srgbClr val="1B4528"/>
                          </a:solidFill>
                          <a:effectLst/>
                          <a:uLnTx/>
                          <a:uFillTx/>
                          <a:latin typeface="+mn-lt"/>
                          <a:ea typeface="+mn-ea"/>
                          <a:cs typeface="+mn-cs"/>
                        </a:rPr>
                        <a:t>total_withdrawal</a:t>
                      </a:r>
                      <a:r>
                        <a:rPr kumimoji="0" lang="el-GR"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4856790" y="1505077"/>
          <a:ext cx="5389710" cy="1188392"/>
        </p:xfrm>
        <a:graphic>
          <a:graphicData uri="http://schemas.openxmlformats.org/drawingml/2006/table">
            <a:tbl>
              <a:tblPr firstRow="1">
                <a:tableStyleId>{2A488322-F2BA-4B5B-9748-0D474271808F}</a:tableStyleId>
              </a:tblPr>
              <a:tblGrid>
                <a:gridCol w="4061893">
                  <a:extLst>
                    <a:ext uri="{9D8B030D-6E8A-4147-A177-3AD203B41FA5}">
                      <a16:colId xmlns:a16="http://schemas.microsoft.com/office/drawing/2014/main" val="2698153288"/>
                    </a:ext>
                  </a:extLst>
                </a:gridCol>
                <a:gridCol w="1327817">
                  <a:extLst>
                    <a:ext uri="{9D8B030D-6E8A-4147-A177-3AD203B41FA5}">
                      <a16:colId xmlns:a16="http://schemas.microsoft.com/office/drawing/2014/main" val="2119413191"/>
                    </a:ext>
                  </a:extLst>
                </a:gridCol>
              </a:tblGrid>
              <a:tr h="4296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Κατανάλωση νερού </a:t>
                      </a:r>
                      <a:r>
                        <a:rPr lang="el-GR" sz="1050" b="0" noProof="0">
                          <a:solidFill>
                            <a:schemeClr val="tx2"/>
                          </a:solidFill>
                        </a:rPr>
                        <a:t xml:space="preserve">(παρ. 37)</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Έτος </a:t>
                      </a: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r>
                        <a:rPr lang="el-GR" sz="1050" b="0" noProof="0">
                          <a:solidFill>
                            <a:schemeClr val="tx2"/>
                          </a:solidFill>
                        </a:rPr>
                        <a:t xml:space="preserve">Σύνολο για όλες τις τοποθεσίες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consumption_total</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noProof="0">
                          <a:solidFill>
                            <a:schemeClr val="tx2"/>
                          </a:solidFill>
                        </a:rPr>
                        <a:t xml:space="preserve">Από τοποθεσίες σε περιοχές λειψυδρίας (υψηλή υδατική καταπόνηση)</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consumption_waterstress</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8</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445500" y="901932"/>
            <a:ext cx="9800999" cy="404866"/>
          </a:xfrm>
          <a:prstGeom prst="rect">
            <a:avLst/>
          </a:prstGeom>
          <a:noFill/>
        </p:spPr>
        <p:txBody>
          <a:bodyPr wrap="square">
            <a:spAutoFit/>
          </a:bodyPr>
          <a:lstStyle/>
          <a:p>
            <a:pPr rtl="0">
              <a:spcBef>
                <a:spcPts val="789"/>
              </a:spcBef>
              <a:buNone/>
            </a:pPr>
            <a:r>
              <a:rPr lang="el-GR" sz="1050" b="0" i="0" u="none" strike="noStrike" noProof="0">
                <a:solidFill>
                  <a:schemeClr val="tx2"/>
                </a:solidFill>
                <a:effectLst/>
                <a:latin typeface="Inter"/>
              </a:rPr>
              <a:t xml:space="preserve">Η άντληση νερού είναι η ποσότητα νερού που χρησιμοποιεί η επιχείρηση, όπου </a:t>
            </a:r>
            <a:r>
              <a:rPr lang="el-GR" sz="1050" noProof="0">
                <a:solidFill>
                  <a:schemeClr val="tx2"/>
                </a:solidFill>
                <a:latin typeface="Inter"/>
              </a:rPr>
              <a:t xml:space="preserve">η κατανάλωση δηλώνει το νερό που </a:t>
            </a:r>
            <a:r>
              <a:rPr lang="el-GR" sz="1050" b="0" i="0" u="none" strike="noStrike" noProof="0">
                <a:solidFill>
                  <a:schemeClr val="tx2"/>
                </a:solidFill>
                <a:effectLst/>
                <a:latin typeface="Inter"/>
              </a:rPr>
              <a:t xml:space="preserve">δεν απορρίπτεται, ούτε προβλέπεται να απορριφθεί, στο υδάτινο περιβάλλον ή σε τρίτους. Η ενότητα αυτή αναφέρει τη συνολική άντληση νερού. Η κατανάλωση</a:t>
            </a:r>
            <a:r>
              <a:rPr lang="el-GR" sz="1050" noProof="0">
                <a:solidFill>
                  <a:schemeClr val="tx2"/>
                </a:solidFill>
                <a:latin typeface="Inter"/>
              </a:rPr>
              <a:t> </a:t>
            </a:r>
            <a:r>
              <a:rPr lang="el-GR" sz="1050" b="0" i="0" u="none" strike="noStrike" noProof="0">
                <a:solidFill>
                  <a:schemeClr val="tx2"/>
                </a:solidFill>
                <a:effectLst/>
                <a:latin typeface="Inter"/>
              </a:rPr>
              <a:t xml:space="preserve">και η απόρριψη νερού από περιοχές υψηλής υδατικής καταπόνησης παρατίθενται κατωτέρω.</a:t>
            </a:r>
            <a:endParaRPr lang="el-GR" sz="105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454796" y="2803197"/>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t xml:space="preserve">Χρήση πόρων, κυκλική οικονομία και διαχείριση αποβλήτων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4856790" y="3188814"/>
          <a:ext cx="5380408" cy="826615"/>
        </p:xfrm>
        <a:graphic>
          <a:graphicData uri="http://schemas.openxmlformats.org/drawingml/2006/table">
            <a:tbl>
              <a:tblPr firstRow="1">
                <a:tableStyleId>{2A488322-F2BA-4B5B-9748-0D474271808F}</a:tableStyleId>
              </a:tblPr>
              <a:tblGrid>
                <a:gridCol w="2128528">
                  <a:extLst>
                    <a:ext uri="{9D8B030D-6E8A-4147-A177-3AD203B41FA5}">
                      <a16:colId xmlns:a16="http://schemas.microsoft.com/office/drawing/2014/main" val="2698153288"/>
                    </a:ext>
                  </a:extLst>
                </a:gridCol>
                <a:gridCol w="1654020">
                  <a:extLst>
                    <a:ext uri="{9D8B030D-6E8A-4147-A177-3AD203B41FA5}">
                      <a16:colId xmlns:a16="http://schemas.microsoft.com/office/drawing/2014/main" val="2119413191"/>
                    </a:ext>
                  </a:extLst>
                </a:gridCol>
                <a:gridCol w="1597860">
                  <a:extLst>
                    <a:ext uri="{9D8B030D-6E8A-4147-A177-3AD203B41FA5}">
                      <a16:colId xmlns:a16="http://schemas.microsoft.com/office/drawing/2014/main" val="656209149"/>
                    </a:ext>
                  </a:extLst>
                </a:gridCol>
              </a:tblGrid>
              <a:tr h="23635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Εφαρμογή αρχών κυκλικής οικονομίας </a:t>
                      </a:r>
                      <a:r>
                        <a:rPr lang="el-GR" sz="1050" b="0" noProof="0">
                          <a:solidFill>
                            <a:schemeClr val="tx2"/>
                          </a:solidFill>
                        </a:rPr>
                        <a:t xml:space="preserve">(παρ. 38)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6091">
                <a:tc rowSpan="2">
                  <a:txBody>
                    <a:bodyPr/>
                    <a:lstStyle/>
                    <a:p>
                      <a:r>
                        <a:rPr lang="el-GR" sz="1050" b="0" noProof="0">
                          <a:solidFill>
                            <a:schemeClr val="tx2"/>
                          </a:solidFill>
                        </a:rPr>
                        <a:t xml:space="preserve">Η επιχείρησή μου εφαρμόζει αρχές κυκλικής οικονομίας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Ναι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Όχι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0880">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circular_economy_princples_yes</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circular_economy_princples_no</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445498" y="4135283"/>
          <a:ext cx="9791701" cy="1549905"/>
        </p:xfrm>
        <a:graphic>
          <a:graphicData uri="http://schemas.openxmlformats.org/drawingml/2006/table">
            <a:tbl>
              <a:tblPr firstRow="1">
                <a:tableStyleId>{2A488322-F2BA-4B5B-9748-0D474271808F}</a:tableStyleId>
              </a:tblPr>
              <a:tblGrid>
                <a:gridCol w="9791701">
                  <a:extLst>
                    <a:ext uri="{9D8B030D-6E8A-4147-A177-3AD203B41FA5}">
                      <a16:colId xmlns:a16="http://schemas.microsoft.com/office/drawing/2014/main" val="2698153288"/>
                    </a:ext>
                  </a:extLst>
                </a:gridCol>
              </a:tblGrid>
              <a:tr h="256676">
                <a:tc>
                  <a:txBody>
                    <a:bodyPr/>
                    <a:lstStyle/>
                    <a:p>
                      <a:r>
                        <a:rPr lang="el-GR" sz="1050" b="1" noProof="0">
                          <a:solidFill>
                            <a:schemeClr val="tx2"/>
                          </a:solidFill>
                        </a:rPr>
                        <a:t xml:space="preserve">Περιγραφή του τρόπου εφαρμογής των αρχών κυκλικής οικονομίας </a:t>
                      </a:r>
                      <a:r>
                        <a:rPr lang="el-GR" sz="1050" b="0" noProof="0">
                          <a:solidFill>
                            <a:schemeClr val="tx2"/>
                          </a:solidFill>
                        </a:rPr>
                        <a:t xml:space="preserve">(παρ. 38 συνέχεια)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293229">
                <a:tc>
                  <a:txBody>
                    <a:bodyPr/>
                    <a:lstStyle/>
                    <a:p>
                      <a:pPr algn="l"/>
                      <a:r>
                        <a:rPr lang="el-GR" sz="1050" b="0" kern="1200" noProof="0">
                          <a:solidFill>
                            <a:srgbClr val="1B4528"/>
                          </a:solidFill>
                          <a:latin typeface="+mn-lt"/>
                          <a:ea typeface="+mn-ea"/>
                          <a:cs typeface="+mn-cs"/>
                        </a:rPr>
                        <a:t>{{</a:t>
                      </a:r>
                      <a:r>
                        <a:rPr lang="el-GR" sz="1050" b="0" kern="1200" noProof="0">
                          <a:solidFill>
                            <a:srgbClr val="1B4528"/>
                          </a:solidFill>
                          <a:latin typeface="+mn-lt"/>
                          <a:ea typeface="+mn-ea"/>
                          <a:cs typeface="+mn-cs"/>
                        </a:rPr>
                        <a:t>description_of_circular_economies</a:t>
                      </a:r>
                      <a:r>
                        <a:rPr lang="el-GR" sz="1050" b="0" kern="1200" noProof="0">
                          <a:solidFill>
                            <a:srgbClr val="1B4528"/>
                          </a:solidFill>
                          <a:latin typeface="+mn-lt"/>
                          <a:ea typeface="+mn-ea"/>
                          <a:cs typeface="+mn-cs"/>
                        </a:rPr>
                        <a:t>}}</a:t>
                      </a:r>
                    </a:p>
                    <a:p>
                      <a:pPr algn="l"/>
                      <a:endParaRPr lang="el-GR"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445765" y="3208663"/>
            <a:ext cx="4247524" cy="728758"/>
          </a:xfrm>
          <a:prstGeom prst="rect">
            <a:avLst/>
          </a:prstGeom>
          <a:noFill/>
        </p:spPr>
        <p:txBody>
          <a:bodyPr wrap="square" lIns="80190" tIns="40095" rIns="80190" bIns="40095" anchor="t">
            <a:spAutoFit/>
          </a:bodyPr>
          <a:lstStyle/>
          <a:p>
            <a:pPr rtl="0">
              <a:buNone/>
            </a:pPr>
            <a:r>
              <a:rPr lang="el-GR" sz="1050" b="0" i="0" u="none" strike="noStrike" noProof="0">
                <a:solidFill>
                  <a:schemeClr val="tx2"/>
                </a:solidFill>
                <a:effectLst/>
                <a:latin typeface="Inter"/>
              </a:rPr>
              <a:t xml:space="preserve">Η γνωστοποίηση αυτή αναφέρει εάν η επιχείρηση</a:t>
            </a:r>
            <a:r>
              <a:rPr lang="el-GR" sz="1050" noProof="0">
                <a:solidFill>
                  <a:schemeClr val="tx2"/>
                </a:solidFill>
                <a:latin typeface="Inter"/>
              </a:rPr>
              <a:t xml:space="preserve"> εφαρμόζει αρχές κυκλικής οικονομίας, μεταξύ άλλων αρχές μείωσης αποβλήτων και ρύπανσης και έμφαση σε κυκλικά προϊόντα και υλικά.</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Χρήση πόρων, κυκλική οικονομία και διαχείριση αποβλήτων (B7) – συνέχεια</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445499" y="1442996"/>
          <a:ext cx="6440256" cy="1885752"/>
        </p:xfrm>
        <a:graphic>
          <a:graphicData uri="http://schemas.openxmlformats.org/drawingml/2006/table">
            <a:tbl>
              <a:tblPr firstRow="1">
                <a:tableStyleId>{2A488322-F2BA-4B5B-9748-0D474271808F}</a:tableStyleId>
              </a:tblPr>
              <a:tblGrid>
                <a:gridCol w="1995980">
                  <a:extLst>
                    <a:ext uri="{9D8B030D-6E8A-4147-A177-3AD203B41FA5}">
                      <a16:colId xmlns:a16="http://schemas.microsoft.com/office/drawing/2014/main" val="2698153288"/>
                    </a:ext>
                  </a:extLst>
                </a:gridCol>
                <a:gridCol w="2230323">
                  <a:extLst>
                    <a:ext uri="{9D8B030D-6E8A-4147-A177-3AD203B41FA5}">
                      <a16:colId xmlns:a16="http://schemas.microsoft.com/office/drawing/2014/main" val="2119413191"/>
                    </a:ext>
                  </a:extLst>
                </a:gridCol>
                <a:gridCol w="2213953">
                  <a:extLst>
                    <a:ext uri="{9D8B030D-6E8A-4147-A177-3AD203B41FA5}">
                      <a16:colId xmlns:a16="http://schemas.microsoft.com/office/drawing/2014/main" val="4075157689"/>
                    </a:ext>
                  </a:extLst>
                </a:gridCol>
              </a:tblGrid>
              <a:tr h="288168">
                <a:tc gridSpan="3">
                  <a:txBody>
                    <a:bodyPr/>
                    <a:lstStyle/>
                    <a:p>
                      <a:pPr algn="ctr"/>
                      <a:r>
                        <a:rPr lang="el-GR" sz="1050" b="1" noProof="0">
                          <a:solidFill>
                            <a:schemeClr val="tx2"/>
                          </a:solidFill>
                        </a:rPr>
                        <a:t xml:space="preserve">Συνολική ετήσια παραγωγή αποβλήτων</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585054">
                <a:tc>
                  <a:txBody>
                    <a:bodyPr/>
                    <a:lstStyle/>
                    <a:p>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Συνολική ποσότητα αποβλήτων </a:t>
                      </a:r>
                      <a:r>
                        <a:rPr lang="el-GR" sz="1050" b="0" noProof="0">
                          <a:solidFill>
                            <a:schemeClr val="tx2"/>
                          </a:solidFill>
                        </a:rPr>
                        <a:t xml:space="preserve">(παρ. 39a)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Απόβλητα που διοχετεύονται σε ανακύκλωση ή προετοιμασία επαναχρησιμοποίησης </a:t>
                      </a:r>
                      <a:r>
                        <a:rPr lang="el-GR" sz="1050" b="0" noProof="0">
                          <a:solidFill>
                            <a:schemeClr val="tx2"/>
                          </a:solidFill>
                        </a:rPr>
                        <a:t xml:space="preserve">(παρ. 39b)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1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Μη επικίνδυνα απόβλητα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04917">
                <a:tc>
                  <a:txBody>
                    <a:bodyPr/>
                    <a:lstStyle/>
                    <a:p>
                      <a:pPr rtl="0" fontAlgn="ctr" algn="l">
                        <a:buNone/>
                      </a:pPr>
                      <a:r>
                        <a:rPr lang="el-GR" sz="1050" b="0" i="0" u="none" strike="noStrike" noProof="0">
                          <a:solidFill>
                            <a:srgbClr val="1B4528"/>
                          </a:solidFill>
                          <a:effectLst/>
                          <a:latin typeface="Inter"/>
                        </a:rPr>
                        <a:t>{{Type_af_affald}}</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{{kg_tons_total}}</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{{genbrug_kg_tons}}</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1348">
                <a:tc>
                  <a:txBody>
                    <a:bodyPr/>
                    <a:lstStyle/>
                    <a:p>
                      <a:r>
                        <a:rPr lang="el-GR" sz="1050" b="1" noProof="0">
                          <a:solidFill>
                            <a:schemeClr val="tx2"/>
                          </a:solidFill>
                        </a:rPr>
                        <a:t xml:space="preserve">Επικίνδυνα απόβλητα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04917">
                <a:tc>
                  <a:txBody>
                    <a:bodyPr/>
                    <a:lstStyle/>
                    <a:p>
                      <a:pPr rtl="0" fontAlgn="ctr" algn="l">
                        <a:buNone/>
                      </a:pPr>
                      <a:r>
                        <a:rPr lang="el-GR" sz="1050" b="0" i="0" u="none" strike="noStrike" noProof="0">
                          <a:solidFill>
                            <a:srgbClr val="1B4528"/>
                          </a:solidFill>
                          <a:effectLst/>
                          <a:latin typeface="Inter"/>
                        </a:rPr>
                        <a:t>{{Type_af_affald_farlig}}</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{{farlig_kg_tons}}</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{{farlig_genbrug_kg_tons}}</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9</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54796" y="891000"/>
            <a:ext cx="9791704"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ενότητα που ακολουθεί περιέχει στοιχεία για τη χρήση υλικών και τη διαχείριση αποβλήτων. Τα στοιχεία αφορούν την κυκλική οικονομία και δείχνουν την κατανομή της συνολικής ετήσιας παραγωγής αποβλήτων (επικίνδυνα/μη επικίνδυνα), καθώς και τις ποσότητες σημαντικών υλικών. </a:t>
            </a:r>
            <a:endParaRPr lang="el-GR" sz="105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7156908" y="1442996"/>
          <a:ext cx="3080297" cy="1885752"/>
        </p:xfrm>
        <a:graphic>
          <a:graphicData uri="http://schemas.openxmlformats.org/drawingml/2006/table">
            <a:tbl>
              <a:tblPr firstRow="1">
                <a:tableStyleId>{2A488322-F2BA-4B5B-9748-0D474271808F}</a:tableStyleId>
              </a:tblPr>
              <a:tblGrid>
                <a:gridCol w="1976312">
                  <a:extLst>
                    <a:ext uri="{9D8B030D-6E8A-4147-A177-3AD203B41FA5}">
                      <a16:colId xmlns:a16="http://schemas.microsoft.com/office/drawing/2014/main" val="2698153288"/>
                    </a:ext>
                  </a:extLst>
                </a:gridCol>
                <a:gridCol w="1103985">
                  <a:extLst>
                    <a:ext uri="{9D8B030D-6E8A-4147-A177-3AD203B41FA5}">
                      <a16:colId xmlns:a16="http://schemas.microsoft.com/office/drawing/2014/main" val="2119413191"/>
                    </a:ext>
                  </a:extLst>
                </a:gridCol>
              </a:tblGrid>
              <a:tr h="1020579">
                <a:tc>
                  <a:txBody>
                    <a:bodyPr/>
                    <a:lstStyle/>
                    <a:p>
                      <a:r>
                        <a:rPr lang="el-GR" sz="1050" b="1" noProof="0">
                          <a:solidFill>
                            <a:schemeClr val="tx2"/>
                          </a:solidFill>
                        </a:rPr>
                        <a:t xml:space="preserve">Σημαντικά υλικά </a:t>
                      </a:r>
                      <a:r>
                        <a:rPr lang="el-GR" sz="1050" b="0" noProof="0">
                          <a:solidFill>
                            <a:schemeClr val="tx2"/>
                          </a:solidFill>
                        </a:rPr>
                        <a:t xml:space="preserve">(παρ. 39c)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Ετήσια ροή μάζας </a:t>
                      </a:r>
                      <a:r>
                        <a:rPr lang="el-GR" sz="1050" b="1" noProof="0">
                          <a:solidFill>
                            <a:srgbClr val="1B4528"/>
                          </a:solidFill>
                        </a:rPr>
                        <a:t>{{insert_year}}</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865174">
                <a:tc>
                  <a:txBody>
                    <a:bodyPr/>
                    <a:lstStyle/>
                    <a:p>
                      <a:pPr algn="l"/>
                      <a:r>
                        <a:rPr lang="el-GR" sz="1050" b="0" i="0" u="none" strike="noStrike" noProof="0">
                          <a:solidFill>
                            <a:srgbClr val="1B4528"/>
                          </a:solidFill>
                          <a:latin typeface="Inter"/>
                        </a:rPr>
                        <a:t>{{significant_material}}</a:t>
                      </a:r>
                      <a:endParaRPr lang="el-GR" sz="1050" b="0" noProof="0">
                        <a:solidFill>
                          <a:srgbClr val="1B4528"/>
                        </a:solidFill>
                        <a:latin typeface="Inter"/>
                        <a:cs typeface="Calibri"/>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nter"/>
                        </a:rPr>
                        <a:t>{{significant_material_unit}}</a:t>
                      </a:r>
                      <a:endParaRPr lang="el-GR" sz="1050" b="0" i="0" u="none" strike="noStrike" noProof="0">
                        <a:solidFill>
                          <a:srgbClr val="000000"/>
                        </a:solidFill>
                        <a:latin typeface="Inter"/>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γενικά χαρακτηριστικά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45493" y="1520475"/>
          <a:ext cx="4365905" cy="1646779"/>
        </p:xfrm>
        <a:graphic>
          <a:graphicData uri="http://schemas.openxmlformats.org/drawingml/2006/table">
            <a:tbl>
              <a:tblPr firstRow="1">
                <a:tableStyleId>{2A488322-F2BA-4B5B-9748-0D474271808F}</a:tableStyleId>
              </a:tblPr>
              <a:tblGrid>
                <a:gridCol w="2182953">
                  <a:extLst>
                    <a:ext uri="{9D8B030D-6E8A-4147-A177-3AD203B41FA5}">
                      <a16:colId xmlns:a16="http://schemas.microsoft.com/office/drawing/2014/main" val="2698153288"/>
                    </a:ext>
                  </a:extLst>
                </a:gridCol>
                <a:gridCol w="2182953">
                  <a:extLst>
                    <a:ext uri="{9D8B030D-6E8A-4147-A177-3AD203B41FA5}">
                      <a16:colId xmlns:a16="http://schemas.microsoft.com/office/drawing/2014/main" val="2119413191"/>
                    </a:ext>
                  </a:extLst>
                </a:gridCol>
              </a:tblGrid>
              <a:tr h="569357">
                <a:tc>
                  <a:txBody>
                    <a:bodyPr/>
                    <a:lstStyle/>
                    <a:p>
                      <a:r>
                        <a:rPr lang="el-GR" sz="1050" b="1" noProof="0">
                          <a:solidFill>
                            <a:schemeClr val="tx2"/>
                          </a:solidFill>
                        </a:rPr>
                        <a:t xml:space="preserve">Τύπος σύμβασης </a:t>
                      </a:r>
                      <a:r>
                        <a:rPr lang="el-GR" sz="1050" b="0" noProof="0">
                          <a:solidFill>
                            <a:schemeClr val="tx2"/>
                          </a:solidFill>
                        </a:rPr>
                        <a:t xml:space="preserve">(παρ. 40a)</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050" b="1" noProof="0">
                          <a:solidFill>
                            <a:schemeClr val="tx2"/>
                          </a:solidFill>
                        </a:rPr>
                        <a:t xml:space="preserve">Αριθμός εργαζομένων (άτομα ή ισοδύναμα πλήρους απασχόλησης)</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59141">
                <a:tc>
                  <a:txBody>
                    <a:bodyPr/>
                    <a:lstStyle/>
                    <a:p>
                      <a:r>
                        <a:rPr lang="el-GR" sz="1050" b="0" noProof="0">
                          <a:solidFill>
                            <a:schemeClr val="tx2"/>
                          </a:solidFill>
                        </a:rPr>
                        <a:t xml:space="preserve">Προσωρινή απασχόληση</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temporary</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59141">
                <a:tc>
                  <a:txBody>
                    <a:bodyPr/>
                    <a:lstStyle/>
                    <a:p>
                      <a:r>
                        <a:rPr lang="el-GR" sz="1050" b="0" noProof="0">
                          <a:solidFill>
                            <a:schemeClr val="tx2"/>
                          </a:solidFill>
                        </a:rPr>
                        <a:t xml:space="preserve">Μόνιμη απασχόληση</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fulltime</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9141">
                <a:tc>
                  <a:txBody>
                    <a:bodyPr/>
                    <a:lstStyle/>
                    <a:p>
                      <a:r>
                        <a:rPr lang="el-GR" sz="1050" b="0" noProof="0">
                          <a:solidFill>
                            <a:schemeClr val="tx2"/>
                          </a:solidFill>
                        </a:rPr>
                        <a:t xml:space="preserve">Σύνολο εργαζομένων</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total_employees</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008093" y="1520477"/>
          <a:ext cx="5238408" cy="1646777"/>
        </p:xfrm>
        <a:graphic>
          <a:graphicData uri="http://schemas.openxmlformats.org/drawingml/2006/table">
            <a:tbl>
              <a:tblPr firstRow="1">
                <a:tableStyleId>{2A488322-F2BA-4B5B-9748-0D474271808F}</a:tableStyleId>
              </a:tblPr>
              <a:tblGrid>
                <a:gridCol w="2619204">
                  <a:extLst>
                    <a:ext uri="{9D8B030D-6E8A-4147-A177-3AD203B41FA5}">
                      <a16:colId xmlns:a16="http://schemas.microsoft.com/office/drawing/2014/main" val="2698153288"/>
                    </a:ext>
                  </a:extLst>
                </a:gridCol>
                <a:gridCol w="2619204">
                  <a:extLst>
                    <a:ext uri="{9D8B030D-6E8A-4147-A177-3AD203B41FA5}">
                      <a16:colId xmlns:a16="http://schemas.microsoft.com/office/drawing/2014/main" val="2119413191"/>
                    </a:ext>
                  </a:extLst>
                </a:gridCol>
              </a:tblGrid>
              <a:tr h="383942">
                <a:tc>
                  <a:txBody>
                    <a:bodyPr/>
                    <a:lstStyle/>
                    <a:p>
                      <a:r>
                        <a:rPr lang="el-GR" sz="1050" b="1" noProof="0">
                          <a:solidFill>
                            <a:schemeClr val="tx2"/>
                          </a:solidFill>
                          <a:latin typeface="+mn-lt"/>
                        </a:rPr>
                        <a:t xml:space="preserve">Φύλο</a:t>
                      </a:r>
                      <a:r>
                        <a:rPr lang="el-GR" sz="1050" b="0" noProof="0">
                          <a:solidFill>
                            <a:schemeClr val="tx2"/>
                          </a:solidFill>
                          <a:latin typeface="+mn-lt"/>
                        </a:rPr>
                        <a:t xml:space="preserve"> (παρ. 40b)</a:t>
                      </a:r>
                      <a:r>
                        <a:rPr lang="el-GR" sz="1050" b="0" noProof="0">
                          <a:solidFill>
                            <a:schemeClr val="tx2"/>
                          </a:solidFill>
                        </a:rPr>
                        <a:t xml:space="preserve"/>
                      </a:r>
                      <a:endParaRPr lang="el-GR" sz="1050" b="0"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050" b="1" noProof="0">
                          <a:solidFill>
                            <a:schemeClr val="tx2"/>
                          </a:solidFill>
                          <a:latin typeface="+mn-lt"/>
                        </a:rPr>
                        <a:t xml:space="preserve">Αριθμός εργαζομένων (άτομα ή ισοδύναμα πλήρους απασχόλησης)</a:t>
                      </a:r>
                      <a:r>
                        <a:rPr lang="el-GR" sz="1050" b="1" noProof="0">
                          <a:solidFill>
                            <a:schemeClr val="tx2"/>
                          </a:solidFill>
                        </a:rPr>
                        <a:t xml:space="preserve"/>
                      </a:r>
                      <a:endParaRPr lang="el-GR" sz="1050" b="1"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el-GR" sz="1050" b="0" noProof="0">
                          <a:solidFill>
                            <a:schemeClr val="tx2"/>
                          </a:solidFill>
                          <a:latin typeface="+mn-lt"/>
                        </a:rPr>
                        <a:t xml:space="preserve">Άνδρας</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{{men}}</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el-GR" sz="1050" b="0" noProof="0">
                          <a:solidFill>
                            <a:schemeClr val="tx2"/>
                          </a:solidFill>
                          <a:latin typeface="+mn-lt"/>
                        </a:rPr>
                        <a:t xml:space="preserve">Γυναίκα</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women</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52567">
                <a:tc>
                  <a:txBody>
                    <a:bodyPr/>
                    <a:lstStyle/>
                    <a:p>
                      <a:r>
                        <a:rPr lang="el-GR" sz="1050" b="0" noProof="0">
                          <a:solidFill>
                            <a:schemeClr val="tx2"/>
                          </a:solidFill>
                          <a:latin typeface="+mn-lt"/>
                        </a:rPr>
                        <a:t xml:space="preserve">Άλλο</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others</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52567">
                <a:tc>
                  <a:txBody>
                    <a:bodyPr/>
                    <a:lstStyle/>
                    <a:p>
                      <a:r>
                        <a:rPr lang="el-GR" sz="1050" b="0" noProof="0">
                          <a:solidFill>
                            <a:schemeClr val="tx2"/>
                          </a:solidFill>
                          <a:latin typeface="+mn-lt"/>
                        </a:rPr>
                        <a:t xml:space="preserve">Δεν καταγράφηκε</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not_registeret</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52567">
                <a:tc>
                  <a:txBody>
                    <a:bodyPr/>
                    <a:lstStyle/>
                    <a:p>
                      <a:r>
                        <a:rPr lang="el-GR" sz="1050" b="0" noProof="0">
                          <a:solidFill>
                            <a:schemeClr val="tx2"/>
                          </a:solidFill>
                          <a:latin typeface="+mn-lt"/>
                        </a:rPr>
                        <a:t xml:space="preserve">Σύνολο εργαζομένων</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total_employees</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10</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54796" y="913284"/>
            <a:ext cx="9791704" cy="728758"/>
          </a:xfrm>
          <a:prstGeom prst="rect">
            <a:avLst/>
          </a:prstGeom>
          <a:noFill/>
        </p:spPr>
        <p:txBody>
          <a:bodyPr wrap="square">
            <a:spAutoFit/>
          </a:bodyPr>
          <a:lstStyle/>
          <a:p>
            <a:pPr rtl="0">
              <a:buNone/>
            </a:pPr>
            <a:r>
              <a:rPr lang="el-GR" sz="1050" b="0" i="0" u="none" strike="noStrike" noProof="0">
                <a:solidFill>
                  <a:srgbClr val="25595D"/>
                </a:solidFill>
                <a:effectLst/>
                <a:latin typeface="Inter"/>
              </a:rPr>
              <a:t xml:space="preserve">Η επιχείρηση ανέφερε τον αριθμό εργαζομένων για τις εξής κατανομές: τύπος σύμβασης εργασίας, με διάκριση σε προσωρινές και μόνιμες συμβάσεις· φύλο, που δείχνει την κατανομή ανά φύλο· και χώρα σύναψης της σύμβασης εργασίας, που έχει σημασία εάν η επιχείρηση δραστηριοποιείται σε πολλές χώρες.</a:t>
            </a:r>
            <a:endParaRPr lang="el-GR" sz="1050" b="0" noProof="0">
              <a:effectLst/>
              <a:latin typeface="Inter"/>
            </a:endParaRPr>
          </a:p>
          <a:p>
            <a:pPr>
              <a:buNone/>
            </a:pPr>
            <a:br>
              <a:rPr lang="el-GR" sz="1050" noProof="0">
                <a:latin typeface="Inter"/>
              </a:rPr>
            </a:br>
            <a:endParaRPr lang="el-GR" sz="105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47022" y="3446606"/>
          <a:ext cx="9790181" cy="1010268"/>
        </p:xfrm>
        <a:graphic>
          <a:graphicData uri="http://schemas.openxmlformats.org/drawingml/2006/table">
            <a:tbl>
              <a:tblPr firstRow="1">
                <a:tableStyleId>{2A488322-F2BA-4B5B-9748-0D474271808F}</a:tableStyleId>
              </a:tblPr>
              <a:tblGrid>
                <a:gridCol w="5233603">
                  <a:extLst>
                    <a:ext uri="{9D8B030D-6E8A-4147-A177-3AD203B41FA5}">
                      <a16:colId xmlns:a16="http://schemas.microsoft.com/office/drawing/2014/main" val="2698153288"/>
                    </a:ext>
                  </a:extLst>
                </a:gridCol>
                <a:gridCol w="4556578">
                  <a:extLst>
                    <a:ext uri="{9D8B030D-6E8A-4147-A177-3AD203B41FA5}">
                      <a16:colId xmlns:a16="http://schemas.microsoft.com/office/drawing/2014/main" val="2119413191"/>
                    </a:ext>
                  </a:extLst>
                </a:gridCol>
              </a:tblGrid>
              <a:tr h="252567">
                <a:tc>
                  <a:txBody>
                    <a:bodyPr/>
                    <a:lstStyle/>
                    <a:p>
                      <a:r>
                        <a:rPr lang="el-GR" sz="1050" b="1" noProof="0">
                          <a:solidFill>
                            <a:schemeClr val="tx2"/>
                          </a:solidFill>
                        </a:rPr>
                        <a:t xml:space="preserve">Χώρα (σύναψης της σύμβασης εργασίας) </a:t>
                      </a:r>
                      <a:r>
                        <a:rPr lang="el-GR" sz="1050" b="0" noProof="0">
                          <a:solidFill>
                            <a:schemeClr val="tx2"/>
                          </a:solidFill>
                        </a:rPr>
                        <a:t xml:space="preserve">(παρ. 40c)</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050" b="1" noProof="0">
                          <a:solidFill>
                            <a:schemeClr val="tx2"/>
                          </a:solidFill>
                        </a:rPr>
                        <a:t xml:space="preserve">Αριθμός εργαζομένων (άτομα ή ισοδύναμα πλήρους απασχόλησης)</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el-GR" sz="1050" b="0" noProof="0">
                          <a:solidFill>
                            <a:schemeClr val="tx2"/>
                          </a:solidFill>
                        </a:rPr>
                        <a:t xml:space="preserve">Δανία</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1050" b="0" i="0" u="none" strike="noStrike" noProof="0">
                          <a:solidFill>
                            <a:srgbClr val="1B4528"/>
                          </a:solidFill>
                          <a:effectLst/>
                          <a:latin typeface="Inter"/>
                        </a:rPr>
                        <a:t>{{Denmark}}</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52567">
                <a:tc>
                  <a:txBody>
                    <a:bodyPr/>
                    <a:lstStyle/>
                    <a:p>
                      <a:pPr rtl="0" fontAlgn="ctr" algn="l">
                        <a:buNone/>
                      </a:pPr>
                      <a:r>
                        <a:rPr lang="el-GR" sz="1050" b="0" i="0" u="none" strike="noStrike" noProof="0">
                          <a:solidFill>
                            <a:srgbClr val="1B4528"/>
                          </a:solidFill>
                          <a:effectLst/>
                          <a:latin typeface="Inter"/>
                        </a:rPr>
                        <a:t>{{Land_b}}</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FTE_eller_antal_personer_land_b</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el-GR" sz="1050" b="0" noProof="0">
                          <a:solidFill>
                            <a:schemeClr val="tx2"/>
                          </a:solidFill>
                        </a:rPr>
                        <a:t xml:space="preserve">Σύνολο εργαζομένων</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{{Total_out_of_countries}}</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υγεία και ασφάλεια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45500" y="1509220"/>
          <a:ext cx="4796551" cy="994915"/>
        </p:xfrm>
        <a:graphic>
          <a:graphicData uri="http://schemas.openxmlformats.org/drawingml/2006/table">
            <a:tbl>
              <a:tblPr firstRow="1">
                <a:tableStyleId>{2A488322-F2BA-4B5B-9748-0D474271808F}</a:tableStyleId>
              </a:tblPr>
              <a:tblGrid>
                <a:gridCol w="2656189">
                  <a:extLst>
                    <a:ext uri="{9D8B030D-6E8A-4147-A177-3AD203B41FA5}">
                      <a16:colId xmlns:a16="http://schemas.microsoft.com/office/drawing/2014/main" val="2698153288"/>
                    </a:ext>
                  </a:extLst>
                </a:gridCol>
                <a:gridCol w="2140363">
                  <a:extLst>
                    <a:ext uri="{9D8B030D-6E8A-4147-A177-3AD203B41FA5}">
                      <a16:colId xmlns:a16="http://schemas.microsoft.com/office/drawing/2014/main" val="2119413191"/>
                    </a:ext>
                  </a:extLst>
                </a:gridCol>
              </a:tblGrid>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Καταγραπτέα εργατικά ατυχήματα </a:t>
                      </a:r>
                      <a:r>
                        <a:rPr lang="el-GR" sz="1050" b="0" noProof="0">
                          <a:solidFill>
                            <a:schemeClr val="tx2"/>
                          </a:solidFill>
                        </a:rPr>
                        <a:t xml:space="preserve">(παρ. 41a)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6345">
                <a:tc>
                  <a:txBody>
                    <a:bodyPr/>
                    <a:lstStyle/>
                    <a:p>
                      <a:r>
                        <a:rPr lang="el-GR" sz="1050" b="0" noProof="0">
                          <a:solidFill>
                            <a:schemeClr val="tx2"/>
                          </a:solidFill>
                        </a:rPr>
                        <a:t xml:space="preserve">Αριθμός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indsat_antal_accidents</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6345">
                <a:tc>
                  <a:txBody>
                    <a:bodyPr/>
                    <a:lstStyle/>
                    <a:p>
                      <a:r>
                        <a:rPr lang="el-GR" sz="1050" b="0" noProof="0">
                          <a:solidFill>
                            <a:schemeClr val="tx2"/>
                          </a:solidFill>
                        </a:rPr>
                        <a:t xml:space="preserve">Δείκτης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indsat_accidents_frequents</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5440653" y="1509221"/>
          <a:ext cx="4796551" cy="994914"/>
        </p:xfrm>
        <a:graphic>
          <a:graphicData uri="http://schemas.openxmlformats.org/drawingml/2006/table">
            <a:tbl>
              <a:tblPr firstRow="1">
                <a:tableStyleId>{2A488322-F2BA-4B5B-9748-0D474271808F}</a:tableStyleId>
              </a:tblPr>
              <a:tblGrid>
                <a:gridCol w="3313422">
                  <a:extLst>
                    <a:ext uri="{9D8B030D-6E8A-4147-A177-3AD203B41FA5}">
                      <a16:colId xmlns:a16="http://schemas.microsoft.com/office/drawing/2014/main" val="2698153288"/>
                    </a:ext>
                  </a:extLst>
                </a:gridCol>
                <a:gridCol w="1483129">
                  <a:extLst>
                    <a:ext uri="{9D8B030D-6E8A-4147-A177-3AD203B41FA5}">
                      <a16:colId xmlns:a16="http://schemas.microsoft.com/office/drawing/2014/main" val="2119413191"/>
                    </a:ext>
                  </a:extLst>
                </a:gridCol>
              </a:tblGrid>
              <a:tr h="3007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Θάνατοι λόγω εργασίας </a:t>
                      </a:r>
                      <a:r>
                        <a:rPr lang="el-GR" sz="1050" b="0" noProof="0">
                          <a:solidFill>
                            <a:schemeClr val="tx2"/>
                          </a:solidFill>
                        </a:rPr>
                        <a:t xml:space="preserve">(παρ. 41b)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93412">
                <a:tc>
                  <a:txBody>
                    <a:bodyPr/>
                    <a:lstStyle/>
                    <a:p>
                      <a:r>
                        <a:rPr lang="el-GR" sz="1050" b="0" noProof="0">
                          <a:solidFill>
                            <a:schemeClr val="tx2"/>
                          </a:solidFill>
                        </a:rPr>
                        <a:t xml:space="preserve">Λόγω εργατικού τραυματισμού/ατυχήματος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deaths_by_accidents</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0751">
                <a:tc>
                  <a:txBody>
                    <a:bodyPr/>
                    <a:lstStyle/>
                    <a:p>
                      <a:r>
                        <a:rPr lang="el-GR" sz="1050" b="0" noProof="0">
                          <a:solidFill>
                            <a:schemeClr val="tx2"/>
                          </a:solidFill>
                        </a:rPr>
                        <a:t xml:space="preserve">Λόγω ασθένειας σχετιζόμενης με την εργασία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deaths_by_health</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11</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54796" y="873256"/>
            <a:ext cx="9791704" cy="728758"/>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ανέφερε στοιχεία για τον αριθμό καταγραπτέων εργατικών ατυχημάτων και θανάτων λόγω εργασίας για τις εξής κατανομές: αριθμός και δείκτης. Αναφέρει επίσης εάν οι θάνατοι οφείλονται σε τραυματισμούς/ατυχήματα ή σε ασθένεια.</a:t>
            </a:r>
            <a:endParaRPr lang="el-GR" sz="1050" b="0" noProof="0">
              <a:solidFill>
                <a:schemeClr val="tx2"/>
              </a:solidFill>
              <a:effectLst/>
              <a:latin typeface="Inter"/>
            </a:endParaRPr>
          </a:p>
          <a:p>
            <a:pPr>
              <a:buNone/>
            </a:pPr>
            <a:br>
              <a:rPr lang="el-GR" sz="1050" noProof="0">
                <a:solidFill>
                  <a:schemeClr val="tx2"/>
                </a:solidFill>
                <a:latin typeface="Inter"/>
              </a:rPr>
            </a:br>
            <a:endParaRPr lang="el-GR" sz="105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54796" y="2676156"/>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t xml:space="preserve">Εργατικό δυναμικό: αμοιβές, συλλογικές συμβάσεις και κατάρτιση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5449949" y="3922747"/>
          <a:ext cx="4796550" cy="767803"/>
        </p:xfrm>
        <a:graphic>
          <a:graphicData uri="http://schemas.openxmlformats.org/drawingml/2006/table">
            <a:tbl>
              <a:tblPr firstRow="1">
                <a:tableStyleId>{2A488322-F2BA-4B5B-9748-0D474271808F}</a:tableStyleId>
              </a:tblPr>
              <a:tblGrid>
                <a:gridCol w="3337539">
                  <a:extLst>
                    <a:ext uri="{9D8B030D-6E8A-4147-A177-3AD203B41FA5}">
                      <a16:colId xmlns:a16="http://schemas.microsoft.com/office/drawing/2014/main" val="2698153288"/>
                    </a:ext>
                  </a:extLst>
                </a:gridCol>
                <a:gridCol w="1459012">
                  <a:extLst>
                    <a:ext uri="{9D8B030D-6E8A-4147-A177-3AD203B41FA5}">
                      <a16:colId xmlns:a16="http://schemas.microsoft.com/office/drawing/2014/main" val="2119413191"/>
                    </a:ext>
                  </a:extLst>
                </a:gridCol>
              </a:tblGrid>
              <a:tr h="29394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Μισθολογικό χάσμα ανδρών και γυναικών εργαζομένων </a:t>
                      </a:r>
                      <a:r>
                        <a:rPr lang="el-GR" sz="1050" b="0" noProof="0">
                          <a:solidFill>
                            <a:schemeClr val="tx2"/>
                          </a:solidFill>
                        </a:rPr>
                        <a:t xml:space="preserve">(παρ. 42b)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panose="020F0502020204030204" pitchFamily="34" charset="0"/>
                          <a:cs typeface="Calibri" panose="020F0502020204030204" pitchFamily="34" charset="0"/>
                        </a:rPr>
                        <a:t> </a:t>
                      </a: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3862">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1050" b="0" noProof="0">
                          <a:solidFill>
                            <a:srgbClr val="1B4528"/>
                          </a:solidFill>
                        </a:rPr>
                        <a:t>{{</a:t>
                      </a:r>
                      <a:r>
                        <a:rPr lang="el-GR" sz="1050" b="0" noProof="0">
                          <a:solidFill>
                            <a:srgbClr val="1B4528"/>
                          </a:solidFill>
                        </a:rPr>
                        <a:t>indsat_procentvise_lonforskel</a:t>
                      </a:r>
                      <a:r>
                        <a:rPr lang="el-GR" sz="1050" b="0" noProof="0">
                          <a:solidFill>
                            <a:srgbClr val="1B4528"/>
                          </a:solidFill>
                        </a:rPr>
                        <a:t>}}</a:t>
                      </a:r>
                    </a:p>
                  </a:txBody>
                  <a:tcPr marL="31571" marR="31571"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45496" y="3922749"/>
          <a:ext cx="4800267" cy="758742"/>
        </p:xfrm>
        <a:graphic>
          <a:graphicData uri="http://schemas.openxmlformats.org/drawingml/2006/table">
            <a:tbl>
              <a:tblPr firstRow="1">
                <a:tableStyleId>{2A488322-F2BA-4B5B-9748-0D474271808F}</a:tableStyleId>
              </a:tblPr>
              <a:tblGrid>
                <a:gridCol w="2633550">
                  <a:extLst>
                    <a:ext uri="{9D8B030D-6E8A-4147-A177-3AD203B41FA5}">
                      <a16:colId xmlns:a16="http://schemas.microsoft.com/office/drawing/2014/main" val="160727125"/>
                    </a:ext>
                  </a:extLst>
                </a:gridCol>
                <a:gridCol w="1111137">
                  <a:extLst>
                    <a:ext uri="{9D8B030D-6E8A-4147-A177-3AD203B41FA5}">
                      <a16:colId xmlns:a16="http://schemas.microsoft.com/office/drawing/2014/main" val="1767985329"/>
                    </a:ext>
                  </a:extLst>
                </a:gridCol>
                <a:gridCol w="1055580">
                  <a:extLst>
                    <a:ext uri="{9D8B030D-6E8A-4147-A177-3AD203B41FA5}">
                      <a16:colId xmlns:a16="http://schemas.microsoft.com/office/drawing/2014/main" val="1397164534"/>
                    </a:ext>
                  </a:extLst>
                </a:gridCol>
              </a:tblGrid>
              <a:tr h="219395">
                <a:tc>
                  <a:txBody>
                    <a:bodyPr/>
                    <a:lstStyle/>
                    <a:p>
                      <a:r>
                        <a:rPr lang="el-GR" sz="1050" b="1" noProof="0">
                          <a:solidFill>
                            <a:schemeClr val="tx2"/>
                          </a:solidFill>
                        </a:rPr>
                        <a:t xml:space="preserve">Στοιχεία για τον κατώτατο μισθό </a:t>
                      </a:r>
                      <a:r>
                        <a:rPr lang="el-GR" sz="1050" b="0" noProof="0">
                          <a:solidFill>
                            <a:schemeClr val="tx2"/>
                          </a:solidFill>
                        </a:rPr>
                        <a:t>(42a)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Ναι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Όχι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39347">
                <a:tc>
                  <a:txBody>
                    <a:bodyPr/>
                    <a:lstStyle/>
                    <a:p>
                      <a:r>
                        <a:rPr lang="el-GR" sz="1050" b="0" noProof="0">
                          <a:solidFill>
                            <a:schemeClr val="tx2"/>
                          </a:solidFill>
                        </a:rPr>
                        <a:t xml:space="preserve">Στην επιχείρηση όλοι οι εργαζόμενοι λαμβάνουν αμοιβή τουλάχιστον στο επίπεδο του κατώτατου μισθού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minumum_wage_yes</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minimum_wage_no</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45498" y="4815858"/>
          <a:ext cx="4796552" cy="805477"/>
        </p:xfrm>
        <a:graphic>
          <a:graphicData uri="http://schemas.openxmlformats.org/drawingml/2006/table">
            <a:tbl>
              <a:tblPr firstRow="1">
                <a:tableStyleId>{2A488322-F2BA-4B5B-9748-0D474271808F}</a:tableStyleId>
              </a:tblPr>
              <a:tblGrid>
                <a:gridCol w="2650727">
                  <a:extLst>
                    <a:ext uri="{9D8B030D-6E8A-4147-A177-3AD203B41FA5}">
                      <a16:colId xmlns:a16="http://schemas.microsoft.com/office/drawing/2014/main" val="81046444"/>
                    </a:ext>
                  </a:extLst>
                </a:gridCol>
                <a:gridCol w="2145825">
                  <a:extLst>
                    <a:ext uri="{9D8B030D-6E8A-4147-A177-3AD203B41FA5}">
                      <a16:colId xmlns:a16="http://schemas.microsoft.com/office/drawing/2014/main" val="2119413191"/>
                    </a:ext>
                  </a:extLst>
                </a:gridCol>
              </a:tblGrid>
              <a:tr h="3656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Συλλογική σύμβαση εργασίας </a:t>
                      </a:r>
                      <a:r>
                        <a:rPr lang="el-GR" sz="1050" b="0" noProof="0">
                          <a:solidFill>
                            <a:schemeClr val="tx2"/>
                          </a:solidFill>
                        </a:rPr>
                        <a:t xml:space="preserve">(παρ. 42c)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panose="020F0502020204030204" pitchFamily="34" charset="0"/>
                          <a:cs typeface="Calibri" panose="020F0502020204030204" pitchFamily="34" charset="0"/>
                        </a:rPr>
                        <a:t> {{</a:t>
                      </a:r>
                      <a:r>
                        <a:rPr lang="el-GR" sz="1050" b="1" noProof="0">
                          <a:solidFill>
                            <a:srgbClr val="1B4528"/>
                          </a:solidFill>
                          <a:latin typeface="Calibri" panose="020F0502020204030204" pitchFamily="34" charset="0"/>
                          <a:cs typeface="Calibri" panose="020F0502020204030204" pitchFamily="34" charset="0"/>
                        </a:rPr>
                        <a:t>insert_year</a:t>
                      </a:r>
                      <a:r>
                        <a:rPr lang="el-GR" sz="1050" b="1" noProof="0">
                          <a:solidFill>
                            <a:srgbClr val="1B4528"/>
                          </a:solidFill>
                          <a:latin typeface="Calibri" panose="020F0502020204030204" pitchFamily="34" charset="0"/>
                          <a:cs typeface="Calibri" panose="020F0502020204030204" pitchFamily="34" charset="0"/>
                        </a:rPr>
                        <a:t>}}</a:t>
                      </a:r>
                      <a:endParaRPr lang="el-GR" sz="1050"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3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noProof="0">
                          <a:solidFill>
                            <a:schemeClr val="tx2"/>
                          </a:solidFill>
                        </a:rPr>
                        <a:t xml:space="preserve">Ποσοστό εργαζομένων που καλύπτονται από συλλογική σύμβαση</a:t>
                      </a:r>
                      <a:endParaRPr kumimoji="0" lang="el-GR" sz="1050" b="0" i="0" u="none" strike="noStrike" kern="1200" cap="none" spc="0" normalizeH="0" baseline="0" noProof="0">
                        <a:ln>
                          <a:noFill/>
                        </a:ln>
                        <a:solidFill>
                          <a:srgbClr val="1B4528"/>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050" b="0" i="0" u="none" strike="noStrike" kern="1200" cap="none" spc="0" normalizeH="0" baseline="0" noProof="0">
                          <a:ln>
                            <a:noFill/>
                          </a:ln>
                          <a:solidFill>
                            <a:srgbClr val="1B4528"/>
                          </a:solidFill>
                          <a:effectLst/>
                          <a:uLnTx/>
                          <a:uFillTx/>
                          <a:latin typeface="+mn-lt"/>
                          <a:ea typeface="+mn-ea"/>
                          <a:cs typeface="+mn-cs"/>
                        </a:rPr>
                        <a:t>{{</a:t>
                      </a:r>
                      <a:r>
                        <a:rPr kumimoji="0" lang="el-GR" sz="1050" b="0" i="0" u="none" strike="noStrike" kern="1200" cap="none" spc="0" normalizeH="0" baseline="0" noProof="0">
                          <a:ln>
                            <a:noFill/>
                          </a:ln>
                          <a:solidFill>
                            <a:srgbClr val="1B4528"/>
                          </a:solidFill>
                          <a:effectLst/>
                          <a:uLnTx/>
                          <a:uFillTx/>
                          <a:latin typeface="+mn-lt"/>
                          <a:ea typeface="+mn-ea"/>
                          <a:cs typeface="+mn-cs"/>
                        </a:rPr>
                        <a:t>indsat_procentvis_ansatte</a:t>
                      </a:r>
                      <a:r>
                        <a:rPr kumimoji="0" lang="el-GR"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5448102" y="4806633"/>
          <a:ext cx="4796550" cy="814702"/>
        </p:xfrm>
        <a:graphic>
          <a:graphicData uri="http://schemas.openxmlformats.org/drawingml/2006/table">
            <a:tbl>
              <a:tblPr firstRow="1">
                <a:tableStyleId>{2A488322-F2BA-4B5B-9748-0D474271808F}</a:tableStyleId>
              </a:tblPr>
              <a:tblGrid>
                <a:gridCol w="3339386">
                  <a:extLst>
                    <a:ext uri="{9D8B030D-6E8A-4147-A177-3AD203B41FA5}">
                      <a16:colId xmlns:a16="http://schemas.microsoft.com/office/drawing/2014/main" val="2698153288"/>
                    </a:ext>
                  </a:extLst>
                </a:gridCol>
                <a:gridCol w="1457165">
                  <a:extLst>
                    <a:ext uri="{9D8B030D-6E8A-4147-A177-3AD203B41FA5}">
                      <a16:colId xmlns:a16="http://schemas.microsoft.com/office/drawing/2014/main" val="2119413191"/>
                    </a:ext>
                  </a:extLst>
                </a:gridCol>
              </a:tblGrid>
              <a:tr h="411922">
                <a:tc>
                  <a:txBody>
                    <a:bodyPr/>
                    <a:lstStyle/>
                    <a:p>
                      <a:r>
                        <a:rPr lang="el-GR" sz="1050" b="1" noProof="0">
                          <a:solidFill>
                            <a:schemeClr val="tx2"/>
                          </a:solidFill>
                        </a:rPr>
                        <a:t xml:space="preserve">Μέσες ώρες κατάρτισης ανά εργαζόμενο </a:t>
                      </a:r>
                      <a:r>
                        <a:rPr lang="el-GR" sz="1050" b="0" noProof="0">
                          <a:solidFill>
                            <a:schemeClr val="tx2"/>
                          </a:solidFill>
                        </a:rPr>
                        <a:t xml:space="preserve">(παρ. 42d)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2780">
                <a:tc>
                  <a:txBody>
                    <a:bodyPr/>
                    <a:lstStyle/>
                    <a:p>
                      <a:r>
                        <a:rPr lang="el-GR" sz="1050" b="0" noProof="0">
                          <a:solidFill>
                            <a:schemeClr val="tx2"/>
                          </a:solidFill>
                        </a:rPr>
                        <a:t xml:space="preserve">Ώρα/ες ανά εργαζόμενο</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{{gennemsnitstimer}}</a:t>
                      </a:r>
                      <a:endParaRPr lang="el-GR" sz="1050" b="0" noProof="0">
                        <a:effectLst/>
                      </a:endParaRPr>
                    </a:p>
                  </a:txBody>
                  <a:tcPr marL="16706" marR="16706"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65933" y="3022746"/>
            <a:ext cx="9791704" cy="890704"/>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ανέφερε στοιχεία για τον κατώτατο μισθό, το ποσοστό εργαζομένων που καλύπτονται από συλλογικές συμβάσεις και τον μέσο ετήσιο αριθμό ωρών κατάρτισης ανά εργαζόμενο, ανά φύλο. Εάν η επιχείρηση υποχρεούται ήδη, βάσει της νομοθεσίας της ΕΕ 8 ή άλλων εθνικών διατάξεων, να αναφέρει το ποσοστιαίο μισθολογικό χάσμα μεταξύ γυναικών και ανδρών εργαζομένων, το γνωστοποιεί.</a:t>
            </a:r>
          </a:p>
          <a:p>
            <a:pPr>
              <a:buNone/>
            </a:pPr>
            <a:br>
              <a:rPr lang="el-GR" sz="1050" noProof="0">
                <a:solidFill>
                  <a:schemeClr val="tx2"/>
                </a:solidFill>
                <a:latin typeface="Inter"/>
              </a:rPr>
            </a:br>
            <a:endParaRPr lang="el-GR" sz="105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Επιχειρηματική δεοντολογία: καταδίκες και πρόστιμα για διαφθορά &amp; δωροδοκία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45498" y="1706309"/>
          <a:ext cx="9791704" cy="536705"/>
        </p:xfrm>
        <a:graphic>
          <a:graphicData uri="http://schemas.openxmlformats.org/drawingml/2006/table">
            <a:tbl>
              <a:tblPr firstRow="1">
                <a:tableStyleId>{2A488322-F2BA-4B5B-9748-0D474271808F}</a:tableStyleId>
              </a:tblPr>
              <a:tblGrid>
                <a:gridCol w="3263901">
                  <a:extLst>
                    <a:ext uri="{9D8B030D-6E8A-4147-A177-3AD203B41FA5}">
                      <a16:colId xmlns:a16="http://schemas.microsoft.com/office/drawing/2014/main" val="2698153288"/>
                    </a:ext>
                  </a:extLst>
                </a:gridCol>
                <a:gridCol w="3263901">
                  <a:extLst>
                    <a:ext uri="{9D8B030D-6E8A-4147-A177-3AD203B41FA5}">
                      <a16:colId xmlns:a16="http://schemas.microsoft.com/office/drawing/2014/main" val="2119413191"/>
                    </a:ext>
                  </a:extLst>
                </a:gridCol>
                <a:gridCol w="3263901">
                  <a:extLst>
                    <a:ext uri="{9D8B030D-6E8A-4147-A177-3AD203B41FA5}">
                      <a16:colId xmlns:a16="http://schemas.microsoft.com/office/drawing/2014/main" val="1502960985"/>
                    </a:ext>
                  </a:extLst>
                </a:gridCol>
              </a:tblGrid>
              <a:tr h="268352">
                <a:tc rowSpan="2">
                  <a:txBody>
                    <a:bodyPr/>
                    <a:lstStyle/>
                    <a:p>
                      <a:r>
                        <a:rPr lang="el-GR" sz="1050" b="1" noProof="0">
                          <a:solidFill>
                            <a:schemeClr val="tx2"/>
                          </a:solidFill>
                        </a:rPr>
                        <a:t xml:space="preserve">Διαφθορά και δωροδοκία </a:t>
                      </a:r>
                      <a:r>
                        <a:rPr lang="el-GR" sz="1050" b="0" noProof="0">
                          <a:solidFill>
                            <a:schemeClr val="tx2"/>
                          </a:solidFill>
                        </a:rPr>
                        <a:t xml:space="preserve">(παρ. 43)</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1050" b="1" noProof="0">
                          <a:solidFill>
                            <a:schemeClr val="tx2"/>
                          </a:solidFill>
                        </a:rPr>
                        <a:t xml:space="preserve">Αριθμός καταδικών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Συνολικό ύψος προστίμων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68352">
                <a:tc vMerge="1">
                  <a:txBody>
                    <a:bodyPr/>
                    <a:lstStyle/>
                    <a:p>
                      <a:endParaRPr lang="en-GB"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{{domme}}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samlet_bodestorrelse</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12</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54796" y="891000"/>
            <a:ext cx="9869667" cy="890704"/>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ανέφερε παραβάσεις της νομοθεσίας για την καταπολέμηση της διαφθοράς και της δωροδοκίας κατά την περίοδο αναφοράς. Εάν υπήρξαν καταδίκες ή πρόστιμα για τέτοιες παραβάσεις, γνωστοποιήθηκαν τα εξής: ο αριθμός των καταδικών και το συνολικό ύψος των επιβληθέντων προστίμων. Τα στοιχεία αυτά αφορούν την επιχειρηματική δεοντολογία και τη βιωσιμότητα της επιχείρησης, ιδίως τη διαχείριση της διαφθοράς, και παρατίθενται κατωτέρω.</a:t>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endParaRPr lang="el-GR" sz="1050" b="0" noProof="0">
              <a:solidFill>
                <a:schemeClr val="tx2"/>
              </a:solidFill>
              <a:effectLst/>
              <a:latin typeface="Inter"/>
            </a:endParaRPr>
          </a:p>
          <a:p>
            <a:pPr>
              <a:buNone/>
            </a:pPr>
            <a:br>
              <a:rPr lang="el-GR" sz="1050" noProof="0">
                <a:solidFill>
                  <a:schemeClr val="tx2"/>
                </a:solidFill>
                <a:latin typeface="Inter"/>
              </a:rPr>
            </a:br>
            <a:endParaRPr lang="el-GR" sz="105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3860535" y="3900259"/>
            <a:ext cx="3025224" cy="907065"/>
          </a:xfrm>
          <a:noFill/>
        </p:spPr>
        <p:txBody>
          <a:bodyPr>
            <a:normAutofit/>
          </a:bodyPr>
          <a:lstStyle/>
          <a:p>
            <a:pPr algn="ctr"/>
            <a:r>
              <a:rPr lang="el-GR" sz="1575" b="1" noProof="0">
                <a:solidFill>
                  <a:srgbClr val="FFFFFF"/>
                </a:solidFill>
                <a:latin typeface="IBM Plex Sans" panose="020B0503050203000203" pitchFamily="34" charset="0"/>
              </a:rPr>
              <a:t>{{</a:t>
            </a:r>
            <a:r>
              <a:rPr lang="el-GR" sz="1575" b="1" noProof="0">
                <a:solidFill>
                  <a:srgbClr val="FFFFFF"/>
                </a:solidFill>
                <a:latin typeface="IBM Plex Sans" panose="020B0503050203000203" pitchFamily="34" charset="0"/>
              </a:rPr>
              <a:t>company_name</a:t>
            </a:r>
            <a:r>
              <a:rPr lang="el-GR" sz="1575" b="1" noProof="0">
                <a:solidFill>
                  <a:srgbClr val="FFFFFF"/>
                </a:solidFill>
                <a:latin typeface="IBM Plex Sans" panose="020B0503050203000203" pitchFamily="34" charset="0"/>
              </a:rPr>
              <a:t>}}</a:t>
            </a:r>
          </a:p>
          <a:p>
            <a:pPr algn="ctr"/>
            <a:r>
              <a:rPr lang="el-GR" sz="1575" b="1" noProof="0">
                <a:solidFill>
                  <a:srgbClr val="FFFFFF"/>
                </a:solidFill>
                <a:latin typeface="IBM Plex Sans" panose="020B0503050203000203" pitchFamily="34" charset="0"/>
              </a:rPr>
              <a:t>{{</a:t>
            </a:r>
            <a:r>
              <a:rPr lang="el-GR" sz="1575" b="1" noProof="0">
                <a:solidFill>
                  <a:srgbClr val="FFFFFF"/>
                </a:solidFill>
                <a:latin typeface="IBM Plex Sans" panose="020B0503050203000203" pitchFamily="34" charset="0"/>
              </a:rPr>
              <a:t>insert_year</a:t>
            </a:r>
            <a:r>
              <a:rPr lang="el-GR" sz="1575" b="1" noProof="0">
                <a:solidFill>
                  <a:srgbClr val="FFFFFF"/>
                </a:solidFill>
                <a:latin typeface="IBM Plex Sans" panose="020B0503050203000203" pitchFamily="34" charset="0"/>
              </a:rPr>
              <a:t>}}</a:t>
            </a:r>
            <a:br>
              <a:rPr lang="el-GR" sz="1575" b="1" noProof="0">
                <a:solidFill>
                  <a:srgbClr val="FFFFFF"/>
                </a:solidFill>
                <a:latin typeface="IBM Plex Sans" panose="020B0503050203000203" pitchFamily="34" charset="0"/>
              </a:rPr>
            </a:br>
            <a:endParaRPr lang="el-GR" sz="15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8050571" y="7202406"/>
            <a:ext cx="2405700" cy="134955"/>
          </a:xfrm>
        </p:spPr>
        <p:txBody>
          <a:bodyPr/>
          <a:lstStyle/>
          <a:p>
            <a:fld id="{5A0D23CF-C5A3-5445-819D-C647D180BB4B}" type="slidenum">
              <a:rPr lang="el-GR" noProof="0" smtClean="0"/>
              <a:pPr/>
              <a:t>25</a:t>
            </a:fld>
            <a:endParaRPr lang="el-G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